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3"/>
  </p:notesMasterIdLst>
  <p:sldIdLst>
    <p:sldId id="257" r:id="rId2"/>
  </p:sldIdLst>
  <p:sldSz cx="6858000" cy="212407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DCCEA4"/>
    <a:srgbClr val="EFC487"/>
    <a:srgbClr val="630305"/>
    <a:srgbClr val="DCCDA5"/>
    <a:srgbClr val="4C240F"/>
    <a:srgbClr val="4403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23" autoAdjust="0"/>
    <p:restoredTop sz="94692"/>
  </p:normalViewPr>
  <p:slideViewPr>
    <p:cSldViewPr snapToGrid="0">
      <p:cViewPr varScale="1">
        <p:scale>
          <a:sx n="26" d="100"/>
          <a:sy n="26" d="100"/>
        </p:scale>
        <p:origin x="339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377DDE-CFF2-244C-8189-1D6B56C32BD8}" type="datetimeFigureOut">
              <a:rPr kumimoji="1" lang="zh-CN" altLang="en-US" smtClean="0"/>
              <a:t>2025/11/10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30525" y="1143000"/>
            <a:ext cx="9969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04E162-6C39-EE43-BD8D-D898BC6629C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2957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3476208"/>
            <a:ext cx="5829300" cy="739492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11156312"/>
            <a:ext cx="5143500" cy="512826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31A-0CFF-41AA-B263-2F568EF76ECA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208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91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31A-0CFF-41AA-B263-2F568EF76ECA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636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5295443"/>
            <a:ext cx="5915025" cy="883556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14214591"/>
            <a:ext cx="5915025" cy="4646413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31A-0CFF-41AA-B263-2F568EF76ECA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5875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5654366"/>
            <a:ext cx="2914650" cy="1347706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5654366"/>
            <a:ext cx="2914650" cy="1347706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31A-0CFF-41AA-B263-2F568EF76ECA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0355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1130878"/>
            <a:ext cx="5915025" cy="410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5206935"/>
            <a:ext cx="2901255" cy="255183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7758774"/>
            <a:ext cx="2901255" cy="11411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5206935"/>
            <a:ext cx="2915543" cy="255183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7758774"/>
            <a:ext cx="2915543" cy="11411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31A-0CFF-41AA-B263-2F568EF76ECA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4939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31A-0CFF-41AA-B263-2F568EF76ECA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1876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31A-0CFF-41AA-B263-2F568EF76ECA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2128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1416050"/>
            <a:ext cx="2211884" cy="495617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3058279"/>
            <a:ext cx="3471863" cy="150947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6372225"/>
            <a:ext cx="2211884" cy="11805335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31A-0CFF-41AA-B263-2F568EF76ECA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6359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1416050"/>
            <a:ext cx="2211884" cy="495617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3058279"/>
            <a:ext cx="3471863" cy="15094700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6372225"/>
            <a:ext cx="2211884" cy="11805335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31A-0CFF-41AA-B263-2F568EF76ECA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7224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31A-0CFF-41AA-B263-2F568EF76ECA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7714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1130873"/>
            <a:ext cx="1478756" cy="1800055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1130873"/>
            <a:ext cx="4350544" cy="1800055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31A-0CFF-41AA-B263-2F568EF76ECA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0266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1130878"/>
            <a:ext cx="5915025" cy="410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5654366"/>
            <a:ext cx="5915025" cy="134770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19687033"/>
            <a:ext cx="1543050" cy="11308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66731A-0CFF-41AA-B263-2F568EF76ECA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9687033"/>
            <a:ext cx="2314575" cy="11308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9687033"/>
            <a:ext cx="1543050" cy="11308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1480F280-FE05-5E3D-70E7-B87EFA611D8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6858000" cy="2124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513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/>
        </p:nvSpPr>
        <p:spPr>
          <a:xfrm>
            <a:off x="175020" y="14378173"/>
            <a:ext cx="6544959" cy="5628043"/>
          </a:xfrm>
          <a:prstGeom prst="rect">
            <a:avLst/>
          </a:prstGeom>
          <a:solidFill>
            <a:schemeClr val="tx1">
              <a:lumMod val="95000"/>
              <a:lumOff val="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-14695" y="-64479"/>
            <a:ext cx="6857999" cy="2123658"/>
            <a:chOff x="-14695" y="939994"/>
            <a:chExt cx="6857999" cy="2123658"/>
          </a:xfrm>
        </p:grpSpPr>
        <p:sp>
          <p:nvSpPr>
            <p:cNvPr id="4" name="矩形 3"/>
            <p:cNvSpPr/>
            <p:nvPr/>
          </p:nvSpPr>
          <p:spPr>
            <a:xfrm>
              <a:off x="-14695" y="1046238"/>
              <a:ext cx="6857999" cy="1948108"/>
            </a:xfrm>
            <a:prstGeom prst="rect">
              <a:avLst/>
            </a:prstGeom>
            <a:solidFill>
              <a:schemeClr val="tx1">
                <a:lumMod val="65000"/>
                <a:lumOff val="35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26604" y="939994"/>
              <a:ext cx="6765900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5400" b="1" dirty="0" smtClean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MTCV</a:t>
              </a:r>
              <a:r>
                <a:rPr lang="zh-CN" altLang="en-US" sz="5400" b="1" dirty="0" smtClean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流程实践</a:t>
              </a:r>
              <a:r>
                <a:rPr lang="zh-CN" altLang="en-US" sz="5400" b="1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案例</a:t>
              </a:r>
              <a:endParaRPr lang="en-US" altLang="zh-CN" sz="5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zh-CN" sz="2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M8.3 </a:t>
              </a:r>
              <a:r>
                <a:rPr lang="zh-CN" altLang="en-US" sz="2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推进</a:t>
              </a:r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客户回应与线索生成</a:t>
              </a:r>
              <a:r>
                <a:rPr lang="zh-CN" altLang="en-US" sz="2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流程</a:t>
              </a:r>
              <a:endPara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zh-CN" sz="2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-</a:t>
              </a:r>
              <a:r>
                <a:rPr lang="zh-CN" altLang="en-US" sz="2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线上直播活动</a:t>
              </a:r>
              <a:endParaRPr lang="en-US" altLang="zh-CN" sz="2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1130999" y="2231397"/>
            <a:ext cx="46330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rgbClr val="DCCE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 </a:t>
            </a:r>
            <a:r>
              <a:rPr lang="zh-CN" altLang="en-US" sz="2400" b="1" dirty="0" smtClean="0">
                <a:solidFill>
                  <a:srgbClr val="DCCE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线上直播活动流程实践成果</a:t>
            </a:r>
            <a:r>
              <a:rPr lang="en-US" altLang="zh-CN" sz="2400" b="1" dirty="0" smtClean="0">
                <a:solidFill>
                  <a:srgbClr val="DCCE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endParaRPr lang="en-US" altLang="zh-CN" sz="2400" b="1" dirty="0">
              <a:solidFill>
                <a:srgbClr val="DCCEA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82997" y="2716361"/>
            <a:ext cx="6318616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截止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月，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EBG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成功组织开展</a:t>
            </a:r>
            <a:r>
              <a:rPr lang="en-US" altLang="zh-CN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81</a:t>
            </a:r>
            <a:r>
              <a:rPr lang="zh-CN" altLang="en-US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场线上直播活动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，具体成果如下：</a:t>
            </a:r>
            <a:endParaRPr lang="en-US" altLang="zh-CN" sz="16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覆盖客户单位数：</a:t>
            </a:r>
            <a:r>
              <a:rPr lang="en-US" altLang="zh-CN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2003</a:t>
            </a:r>
            <a:r>
              <a:rPr lang="zh-CN" altLang="en-US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家</a:t>
            </a:r>
            <a:endParaRPr lang="en-US" altLang="zh-CN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客数（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CRM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创建客户）：</a:t>
            </a:r>
            <a:r>
              <a:rPr lang="en-US" altLang="zh-CN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810</a:t>
            </a:r>
            <a:r>
              <a:rPr lang="zh-CN" altLang="en-US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家</a:t>
            </a:r>
            <a:endParaRPr lang="en-US" altLang="zh-CN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正向回应率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愿意进一步交流率：</a:t>
            </a:r>
            <a:r>
              <a:rPr lang="en-US" altLang="zh-CN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36%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生成营销线索数：</a:t>
            </a:r>
            <a:r>
              <a:rPr lang="en-US" altLang="zh-CN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598</a:t>
            </a:r>
            <a:r>
              <a:rPr lang="zh-CN" altLang="en-US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endParaRPr lang="en-US" altLang="zh-CN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新建业务机会数（线索转化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销售创建）：</a:t>
            </a:r>
            <a:r>
              <a:rPr lang="en-US" altLang="zh-CN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455</a:t>
            </a:r>
            <a:r>
              <a:rPr lang="zh-CN" altLang="en-US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endParaRPr lang="en-US" altLang="zh-CN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613133" y="5771108"/>
            <a:ext cx="358463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rgbClr val="DCCE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  </a:t>
            </a:r>
            <a:r>
              <a:rPr lang="zh-CN" altLang="en-US" sz="2400" b="1" dirty="0" smtClean="0">
                <a:solidFill>
                  <a:srgbClr val="DCCE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如何实践流程的？ </a:t>
            </a:r>
            <a:r>
              <a:rPr lang="en-US" altLang="zh-CN" sz="2400" b="1" dirty="0" smtClean="0">
                <a:solidFill>
                  <a:srgbClr val="DCCE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endParaRPr lang="en-US" altLang="zh-CN" sz="2400" b="1" dirty="0">
              <a:solidFill>
                <a:srgbClr val="DCCEA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23786" y="2080192"/>
            <a:ext cx="6563331" cy="3340100"/>
          </a:xfrm>
          <a:prstGeom prst="rect">
            <a:avLst/>
          </a:prstGeom>
          <a:noFill/>
          <a:ln w="38100">
            <a:solidFill>
              <a:srgbClr val="DCCE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130977" y="5576512"/>
            <a:ext cx="6563331" cy="8637223"/>
          </a:xfrm>
          <a:prstGeom prst="rect">
            <a:avLst/>
          </a:prstGeom>
          <a:noFill/>
          <a:ln w="38100">
            <a:solidFill>
              <a:srgbClr val="DCCE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147332" y="9538761"/>
            <a:ext cx="6563332" cy="877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活动策划阶段</a:t>
            </a:r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增加启动会环节，拉通目标，议程，活动内容及明确责任分工</a:t>
            </a:r>
            <a:endParaRPr lang="en-US" altLang="zh-CN" sz="20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911269" y="14473729"/>
            <a:ext cx="30027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rgbClr val="DCCE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400" b="1" dirty="0" smtClean="0">
                <a:solidFill>
                  <a:srgbClr val="DCCE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流程使用者反馈</a:t>
            </a:r>
            <a:r>
              <a:rPr lang="en-US" altLang="zh-CN" sz="2400" b="1" dirty="0" smtClean="0">
                <a:solidFill>
                  <a:srgbClr val="DCCE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endParaRPr lang="en-US" altLang="zh-CN" sz="2400" b="1" dirty="0">
              <a:solidFill>
                <a:srgbClr val="DCCEA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23787" y="14369955"/>
            <a:ext cx="6569114" cy="5664675"/>
          </a:xfrm>
          <a:prstGeom prst="rect">
            <a:avLst/>
          </a:prstGeom>
          <a:noFill/>
          <a:ln w="38100">
            <a:solidFill>
              <a:srgbClr val="DCCE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148650" y="14996498"/>
            <a:ext cx="63881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李海燕</a:t>
            </a:r>
            <a:r>
              <a:rPr lang="en-US" altLang="zh-CN" sz="1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程智梅（流程</a:t>
            </a:r>
            <a:r>
              <a:rPr lang="en-US" altLang="zh-CN" sz="1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PO/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</a:t>
            </a:r>
            <a:r>
              <a:rPr lang="zh-CN" altLang="en-US" sz="1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组成员）</a:t>
            </a:r>
            <a:endParaRPr lang="en-US" altLang="zh-CN" sz="16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设计与执行是业务开展及持续优化的核心支撑。从当前流程落地情况来看，无论是流程效率的提升，还是业务结果的改善，均成效显著，这充分印证了流程对业务的赋能价值。后续计划进一步细化客户标签与档案、深化精准运营，让流程更贴合业务实际，持续提升线索生成质量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那迎春（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EBG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IMC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团队负责人）</a:t>
            </a:r>
            <a:endParaRPr lang="en-US" altLang="zh-CN" sz="16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直播活动在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年正式推行，旨在探索促进业务增长的新模式，并推动其向纵深、务实方向发展。通过规范化的落地执行流程与线索闭环的打通，该专项工作得以更高效、平稳地运行，同时有效促进了跨部门的高效协作。</a:t>
            </a:r>
            <a:endParaRPr lang="zh-CN" altLang="en-US" sz="16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23786" y="20120229"/>
            <a:ext cx="6412964" cy="978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M8.3 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推进客户回应与线索生成</a:t>
            </a:r>
            <a:r>
              <a:rPr lang="zh-CN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</a:t>
            </a:r>
            <a:r>
              <a:rPr lang="en-US" altLang="zh-CN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直播活动</a:t>
            </a:r>
            <a:r>
              <a:rPr lang="en-US" altLang="zh-CN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案例详情</a:t>
            </a:r>
            <a:endParaRPr lang="en-US" altLang="zh-CN" sz="1600" b="1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飞</a:t>
            </a:r>
            <a:r>
              <a:rPr lang="zh-CN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书云文档：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EBG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流程知识库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-&gt;MTCV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流程知识库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流程实践案例库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https://ruijie.feishu.cn/docx/Ecswd4ByJouiAxxERXyc7au9n2c</a:t>
            </a:r>
          </a:p>
        </p:txBody>
      </p:sp>
      <p:sp>
        <p:nvSpPr>
          <p:cNvPr id="28" name="矩形 27"/>
          <p:cNvSpPr/>
          <p:nvPr/>
        </p:nvSpPr>
        <p:spPr>
          <a:xfrm>
            <a:off x="130977" y="10366374"/>
            <a:ext cx="6563332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活动准备与执行阶段：</a:t>
            </a:r>
            <a:endParaRPr lang="en-US" altLang="zh-CN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加强管控，做好直播前准备工作，尤其对销售邀约做出明确要求和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规范，重点举措包括：发起活动拉通会、同步专属邀约二维码、提供工具包和转发文案，同时，进行邀约数据晾晒。</a:t>
            </a:r>
            <a:endParaRPr lang="en-US" altLang="zh-CN" sz="16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30976" y="11859244"/>
            <a:ext cx="6563332" cy="23544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活动后跟进：</a:t>
            </a:r>
            <a:endParaRPr lang="en-US" altLang="zh-CN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多维度收集与反馈活动信息，生成客户档案</a:t>
            </a:r>
            <a:endParaRPr lang="en-US" altLang="zh-CN" sz="16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新增客户推进与回访环节，对不同阶段的客户进行精准运营，从 “泛意向” 到 “高价值商机” 的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筛选</a:t>
            </a:r>
            <a:endParaRPr lang="en-US" altLang="zh-CN" sz="16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 “单次转化” 到 “长期价值复用”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，通过对私域客户的有效运营，延伸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活动价值，构建长期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协同效应</a:t>
            </a:r>
            <a:endParaRPr lang="en-US" altLang="zh-CN" sz="16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449" y="6337431"/>
            <a:ext cx="6283301" cy="3128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136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28883</TotalTime>
  <Words>439</Words>
  <Application>Microsoft Office PowerPoint</Application>
  <PresentationFormat>自定义</PresentationFormat>
  <Paragraphs>28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微软雅黑</vt:lpstr>
      <vt:lpstr>Arial</vt:lpstr>
      <vt:lpstr>Calibri</vt:lpstr>
      <vt:lpstr>Calibri Light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帐户</dc:creator>
  <cp:lastModifiedBy>Lenovo</cp:lastModifiedBy>
  <cp:revision>129</cp:revision>
  <dcterms:created xsi:type="dcterms:W3CDTF">2025-07-30T10:15:34Z</dcterms:created>
  <dcterms:modified xsi:type="dcterms:W3CDTF">2025-11-10T06:56:53Z</dcterms:modified>
</cp:coreProperties>
</file>