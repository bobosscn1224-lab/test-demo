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4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71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57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22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29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91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72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22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29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14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973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  <p:extLst>
      <p:ext uri="{BB962C8B-B14F-4D97-AF65-F5344CB8AC3E}">
        <p14:creationId xmlns:p14="http://schemas.microsoft.com/office/powerpoint/2010/main" val="113434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F8B27-DFAA-4160-A6B7-4A628ABBFA2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9C45C-4479-4DEA-A7F4-1C297768DE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54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8163189" cy="495935"/>
          </a:xfrm>
        </p:spPr>
        <p:txBody>
          <a:bodyPr/>
          <a:lstStyle/>
          <a:p>
            <a:r>
              <a:rPr lang="zh-CN" altLang="en-US" dirty="0" smtClean="0"/>
              <a:t>举措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：销售预测流程和机制</a:t>
            </a:r>
            <a:r>
              <a:rPr lang="en-US" altLang="zh-CN" dirty="0" smtClean="0"/>
              <a:t>-</a:t>
            </a:r>
            <a:r>
              <a:rPr lang="zh-CN" altLang="en-US" dirty="0" smtClean="0"/>
              <a:t>达到目标的做法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01" y="861726"/>
            <a:ext cx="7554251" cy="553890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99541" y="861726"/>
            <a:ext cx="36787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i="1" u="sng" dirty="0" smtClean="0">
                <a:solidFill>
                  <a:srgbClr val="245BDB"/>
                </a:solidFill>
              </a:rPr>
              <a:t>固化</a:t>
            </a:r>
            <a:r>
              <a:rPr lang="zh-CN" altLang="en-US" b="1" i="1" u="sng" dirty="0">
                <a:solidFill>
                  <a:srgbClr val="245BDB"/>
                </a:solidFill>
              </a:rPr>
              <a:t>流程</a:t>
            </a:r>
            <a:r>
              <a:rPr lang="en-US" altLang="zh-CN" b="1" i="1" u="sng" dirty="0">
                <a:solidFill>
                  <a:srgbClr val="245BDB"/>
                </a:solidFill>
              </a:rPr>
              <a:t>-</a:t>
            </a:r>
            <a:r>
              <a:rPr lang="zh-CN" altLang="en-US" b="1" i="1" u="sng" dirty="0">
                <a:solidFill>
                  <a:srgbClr val="D83931"/>
                </a:solidFill>
              </a:rPr>
              <a:t>增补</a:t>
            </a:r>
            <a:r>
              <a:rPr lang="zh-CN" altLang="en-US" dirty="0"/>
              <a:t>隔两个月预测及要货时间管理并推动流程落地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1605" y="1508057"/>
            <a:ext cx="393459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承诺预测标准：</a:t>
            </a:r>
            <a:endParaRPr lang="en-US" altLang="zh-CN" sz="1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b="1" dirty="0" smtClean="0"/>
              <a:t>1+1+1</a:t>
            </a:r>
            <a:r>
              <a:rPr lang="zh-CN" altLang="en-US" sz="1200" b="1" dirty="0"/>
              <a:t>承诺预测定义</a:t>
            </a:r>
            <a:r>
              <a:rPr lang="en-US" altLang="zh-CN" sz="1200" b="1" dirty="0" smtClean="0"/>
              <a:t>:</a:t>
            </a:r>
            <a:r>
              <a:rPr lang="zh-CN" altLang="en-US" sz="1200" dirty="0" smtClean="0"/>
              <a:t>每个月</a:t>
            </a:r>
            <a:r>
              <a:rPr lang="zh-CN" altLang="en-US" sz="1200" dirty="0"/>
              <a:t>的</a:t>
            </a:r>
            <a:r>
              <a:rPr lang="en-US" altLang="zh-CN" sz="1200" dirty="0"/>
              <a:t>20</a:t>
            </a:r>
            <a:r>
              <a:rPr lang="zh-CN" altLang="en-US" sz="1200" dirty="0"/>
              <a:t>日之前，销售、区域、系统部必须做好未来三个月的项目承诺及预测，第一个</a:t>
            </a:r>
            <a:r>
              <a:rPr lang="en-US" altLang="zh-CN" sz="1200" dirty="0"/>
              <a:t>1</a:t>
            </a:r>
            <a:r>
              <a:rPr lang="zh-CN" altLang="en-US" sz="1200" dirty="0"/>
              <a:t>是指当月承诺，第二个</a:t>
            </a:r>
            <a:r>
              <a:rPr lang="en-US" altLang="zh-CN" sz="1200" dirty="0"/>
              <a:t>1</a:t>
            </a:r>
            <a:r>
              <a:rPr lang="zh-CN" altLang="en-US" sz="1200" dirty="0"/>
              <a:t>是指隔月预测，第三个</a:t>
            </a:r>
            <a:r>
              <a:rPr lang="en-US" altLang="zh-CN" sz="1200" dirty="0"/>
              <a:t>1</a:t>
            </a:r>
            <a:r>
              <a:rPr lang="zh-CN" altLang="en-US" sz="1200" dirty="0"/>
              <a:t>是指隔</a:t>
            </a:r>
            <a:r>
              <a:rPr lang="en-US" altLang="zh-CN" sz="1200" dirty="0"/>
              <a:t>2</a:t>
            </a:r>
            <a:r>
              <a:rPr lang="zh-CN" altLang="en-US" sz="1200" dirty="0"/>
              <a:t>月预测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第一个</a:t>
            </a:r>
            <a:r>
              <a:rPr lang="en-US" altLang="zh-CN" sz="1200" b="1" dirty="0"/>
              <a:t>1</a:t>
            </a:r>
            <a:r>
              <a:rPr lang="zh-CN" altLang="en-US" sz="1200" dirty="0"/>
              <a:t>，当月承诺标准</a:t>
            </a:r>
            <a:r>
              <a:rPr lang="en-US" altLang="zh-CN" sz="1200" dirty="0" smtClean="0"/>
              <a:t>:</a:t>
            </a:r>
            <a:r>
              <a:rPr lang="zh-CN" altLang="en-US" sz="1200" dirty="0" smtClean="0"/>
              <a:t>正规</a:t>
            </a:r>
            <a:r>
              <a:rPr lang="zh-CN" altLang="en-US" sz="1200" dirty="0"/>
              <a:t>招投标项目已经中标，或</a:t>
            </a:r>
            <a:r>
              <a:rPr lang="en-US" altLang="zh-CN" sz="1200" dirty="0"/>
              <a:t>ICT</a:t>
            </a:r>
            <a:r>
              <a:rPr lang="zh-CN" altLang="en-US" sz="1200" dirty="0"/>
              <a:t>投融资</a:t>
            </a:r>
            <a:r>
              <a:rPr lang="en-US" altLang="zh-CN" sz="1200" dirty="0"/>
              <a:t>/</a:t>
            </a:r>
            <a:r>
              <a:rPr lang="zh-CN" altLang="en-US" sz="1200" dirty="0"/>
              <a:t>三头弱电项目必须是投资商</a:t>
            </a:r>
            <a:r>
              <a:rPr lang="en-US" altLang="zh-CN" sz="1200" dirty="0"/>
              <a:t>/</a:t>
            </a:r>
            <a:r>
              <a:rPr lang="zh-CN" altLang="en-US" sz="1200" dirty="0"/>
              <a:t>弱电商与我司签订合同，且确定在这个月要货的项目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第二个</a:t>
            </a:r>
            <a:r>
              <a:rPr lang="en-US" altLang="zh-CN" sz="1200" b="1" dirty="0"/>
              <a:t>1</a:t>
            </a:r>
            <a:r>
              <a:rPr lang="zh-CN" altLang="en-US" sz="1200" dirty="0"/>
              <a:t>，隔月预测标准</a:t>
            </a:r>
            <a:r>
              <a:rPr lang="en-US" altLang="zh-CN" sz="1200" dirty="0" smtClean="0"/>
              <a:t>:</a:t>
            </a:r>
            <a:r>
              <a:rPr lang="zh-CN" altLang="en-US" sz="1200" dirty="0" smtClean="0"/>
              <a:t>正规</a:t>
            </a:r>
            <a:r>
              <a:rPr lang="zh-CN" altLang="en-US" sz="1200" dirty="0"/>
              <a:t>招投标项目已经中标，或</a:t>
            </a:r>
            <a:r>
              <a:rPr lang="en-US" altLang="zh-CN" sz="1200" dirty="0"/>
              <a:t>ICT</a:t>
            </a:r>
            <a:r>
              <a:rPr lang="zh-CN" altLang="en-US" sz="1200" dirty="0"/>
              <a:t>投融资</a:t>
            </a:r>
            <a:r>
              <a:rPr lang="en-US" altLang="zh-CN" sz="1200" dirty="0"/>
              <a:t>/</a:t>
            </a:r>
            <a:r>
              <a:rPr lang="zh-CN" altLang="en-US" sz="1200" dirty="0"/>
              <a:t>三头弱电项目必须是投资商</a:t>
            </a:r>
            <a:r>
              <a:rPr lang="en-US" altLang="zh-CN" sz="1200" dirty="0"/>
              <a:t>/</a:t>
            </a:r>
            <a:r>
              <a:rPr lang="zh-CN" altLang="en-US" sz="1200" dirty="0"/>
              <a:t>弱电商与我司签订合同，且计划在这个月要货</a:t>
            </a:r>
            <a:r>
              <a:rPr lang="zh-CN" altLang="en-US" sz="1200" dirty="0" smtClean="0"/>
              <a:t>。或</a:t>
            </a:r>
            <a:r>
              <a:rPr lang="zh-CN" altLang="en-US" sz="1200" dirty="0"/>
              <a:t>，正规招投标项目已经发标，且在上个月</a:t>
            </a:r>
            <a:r>
              <a:rPr lang="en-US" altLang="zh-CN" sz="1200" dirty="0"/>
              <a:t>15</a:t>
            </a:r>
            <a:r>
              <a:rPr lang="zh-CN" altLang="en-US" sz="1200" dirty="0"/>
              <a:t>号之前能中标，且在这个月要货的项目。或，</a:t>
            </a:r>
            <a:r>
              <a:rPr lang="en-US" altLang="zh-CN" sz="1200" dirty="0"/>
              <a:t>ICT</a:t>
            </a:r>
            <a:r>
              <a:rPr lang="zh-CN" altLang="en-US" sz="1200" dirty="0"/>
              <a:t>投融资</a:t>
            </a:r>
            <a:r>
              <a:rPr lang="en-US" altLang="zh-CN" sz="1200" dirty="0"/>
              <a:t>/</a:t>
            </a:r>
            <a:r>
              <a:rPr lang="zh-CN" altLang="en-US" sz="1200" dirty="0"/>
              <a:t>三头弱电项目投资商</a:t>
            </a:r>
            <a:r>
              <a:rPr lang="en-US" altLang="zh-CN" sz="1200" dirty="0"/>
              <a:t>/</a:t>
            </a:r>
            <a:r>
              <a:rPr lang="zh-CN" altLang="en-US" sz="1200" dirty="0"/>
              <a:t>弱电商与我司已经签订合同，且投资商</a:t>
            </a:r>
            <a:r>
              <a:rPr lang="en-US" altLang="zh-CN" sz="1200" dirty="0"/>
              <a:t>/</a:t>
            </a:r>
            <a:r>
              <a:rPr lang="zh-CN" altLang="en-US" sz="1200" dirty="0"/>
              <a:t>弱电商明确以邮件</a:t>
            </a:r>
            <a:r>
              <a:rPr lang="en-US" altLang="zh-CN" sz="1200" dirty="0"/>
              <a:t>/</a:t>
            </a:r>
            <a:r>
              <a:rPr lang="zh-CN" altLang="en-US" sz="1200" dirty="0"/>
              <a:t>微信等书面形式确认在这个月要货的项目。注意，</a:t>
            </a:r>
            <a:r>
              <a:rPr lang="en-US" altLang="zh-CN" sz="1200" dirty="0"/>
              <a:t>ICT</a:t>
            </a:r>
            <a:r>
              <a:rPr lang="zh-CN" altLang="en-US" sz="1200" dirty="0"/>
              <a:t>投融资</a:t>
            </a:r>
            <a:r>
              <a:rPr lang="en-US" altLang="zh-CN" sz="1200" dirty="0"/>
              <a:t>/</a:t>
            </a:r>
            <a:r>
              <a:rPr lang="zh-CN" altLang="en-US" sz="1200" dirty="0"/>
              <a:t>三头弱电项目，如果当前投资商</a:t>
            </a:r>
            <a:r>
              <a:rPr lang="en-US" altLang="zh-CN" sz="1200" dirty="0"/>
              <a:t>/</a:t>
            </a:r>
            <a:r>
              <a:rPr lang="zh-CN" altLang="en-US" sz="1200" dirty="0"/>
              <a:t>弱电商与我司尚未签订合同，不得做隔月预测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第三个</a:t>
            </a:r>
            <a:r>
              <a:rPr lang="en-US" altLang="zh-CN" sz="1200" dirty="0"/>
              <a:t>1</a:t>
            </a:r>
            <a:r>
              <a:rPr lang="zh-CN" altLang="en-US" sz="1200" dirty="0"/>
              <a:t>，隔</a:t>
            </a:r>
            <a:r>
              <a:rPr lang="en-US" altLang="zh-CN" sz="1200" dirty="0"/>
              <a:t>2</a:t>
            </a:r>
            <a:r>
              <a:rPr lang="zh-CN" altLang="en-US" sz="1200" dirty="0"/>
              <a:t>月预测标准</a:t>
            </a:r>
            <a:r>
              <a:rPr lang="en-US" altLang="zh-CN" sz="1200" dirty="0" smtClean="0"/>
              <a:t>:</a:t>
            </a:r>
            <a:r>
              <a:rPr lang="zh-CN" altLang="en-US" sz="1200" dirty="0" smtClean="0"/>
              <a:t>正规</a:t>
            </a:r>
            <a:r>
              <a:rPr lang="zh-CN" altLang="en-US" sz="1200" dirty="0"/>
              <a:t>招投标项目已经中标，或</a:t>
            </a:r>
            <a:r>
              <a:rPr lang="en-US" altLang="zh-CN" sz="1200" dirty="0"/>
              <a:t>ICT</a:t>
            </a:r>
            <a:r>
              <a:rPr lang="zh-CN" altLang="en-US" sz="1200" dirty="0"/>
              <a:t>投融资</a:t>
            </a:r>
            <a:r>
              <a:rPr lang="en-US" altLang="zh-CN" sz="1200" dirty="0"/>
              <a:t>/</a:t>
            </a:r>
            <a:r>
              <a:rPr lang="zh-CN" altLang="en-US" sz="1200" dirty="0"/>
              <a:t>三头弱电项目必须是投资商</a:t>
            </a:r>
            <a:r>
              <a:rPr lang="en-US" altLang="zh-CN" sz="1200" dirty="0"/>
              <a:t>/</a:t>
            </a:r>
            <a:r>
              <a:rPr lang="zh-CN" altLang="en-US" sz="1200" dirty="0"/>
              <a:t>弱电商与我司签订合同，且计划在这个月要货</a:t>
            </a:r>
            <a:r>
              <a:rPr lang="zh-CN" altLang="en-US" sz="1200" dirty="0" smtClean="0"/>
              <a:t>。 </a:t>
            </a:r>
            <a:r>
              <a:rPr lang="zh-CN" altLang="en-US" sz="1200" dirty="0"/>
              <a:t>或，正规招投标项目已经递交招采部门，开始在走流程，且预估上个月</a:t>
            </a:r>
            <a:r>
              <a:rPr lang="en-US" altLang="zh-CN" sz="1200" dirty="0"/>
              <a:t>15</a:t>
            </a:r>
            <a:r>
              <a:rPr lang="zh-CN" altLang="en-US" sz="1200" dirty="0"/>
              <a:t>号之前能中标，且在这个月要货的项目</a:t>
            </a:r>
            <a:r>
              <a:rPr lang="zh-CN" altLang="en-US" sz="1200" dirty="0" smtClean="0"/>
              <a:t>。或</a:t>
            </a:r>
            <a:r>
              <a:rPr lang="zh-CN" altLang="en-US" sz="1200" dirty="0"/>
              <a:t>，</a:t>
            </a:r>
            <a:r>
              <a:rPr lang="en-US" altLang="zh-CN" sz="1200" dirty="0"/>
              <a:t>ICT</a:t>
            </a:r>
            <a:r>
              <a:rPr lang="zh-CN" altLang="en-US" sz="1200" dirty="0"/>
              <a:t>投融资项目投资方已经明确</a:t>
            </a:r>
            <a:r>
              <a:rPr lang="en-US" altLang="zh-CN" sz="1200" dirty="0"/>
              <a:t>/</a:t>
            </a:r>
            <a:r>
              <a:rPr lang="zh-CN" altLang="en-US" sz="1200" dirty="0"/>
              <a:t>中标，三头弱电项目必须是弱电商已经中标，在上个月</a:t>
            </a:r>
            <a:r>
              <a:rPr lang="en-US" altLang="zh-CN" sz="1200" dirty="0"/>
              <a:t>15</a:t>
            </a:r>
            <a:r>
              <a:rPr lang="zh-CN" altLang="en-US" sz="1200" dirty="0"/>
              <a:t>号之前能签订合同，且在这个月要贷的项目。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420257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8289938" cy="495935"/>
          </a:xfrm>
        </p:spPr>
        <p:txBody>
          <a:bodyPr/>
          <a:lstStyle/>
          <a:p>
            <a:r>
              <a:rPr lang="zh-CN" altLang="en-US" dirty="0" smtClean="0"/>
              <a:t>举措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：销售预测流程和机制</a:t>
            </a:r>
            <a:r>
              <a:rPr lang="en-US" altLang="zh-CN" dirty="0" smtClean="0"/>
              <a:t>-</a:t>
            </a:r>
            <a:r>
              <a:rPr lang="zh-CN" altLang="en-US" dirty="0" smtClean="0"/>
              <a:t>达到目标的管理机制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2095" y="1720158"/>
            <a:ext cx="1131683" cy="1557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奖惩机制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317687" y="1720158"/>
            <a:ext cx="8745647" cy="15571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ysClr val="windowText" lastClr="000000"/>
                </a:solidFill>
              </a:rPr>
              <a:t>过程指标达成牵引</a:t>
            </a:r>
            <a:r>
              <a:rPr lang="zh-CN" altLang="en-US" dirty="0">
                <a:solidFill>
                  <a:sysClr val="windowText" lastClr="000000"/>
                </a:solidFill>
              </a:rPr>
              <a:t>：各个承诺预测指标准确率奖罚的通告</a:t>
            </a:r>
            <a:r>
              <a:rPr lang="en-US" altLang="zh-CN" dirty="0">
                <a:solidFill>
                  <a:sysClr val="windowText" lastClr="000000"/>
                </a:solidFill>
              </a:rPr>
              <a:t>-</a:t>
            </a:r>
            <a:r>
              <a:rPr lang="zh-CN" altLang="en-US" dirty="0">
                <a:solidFill>
                  <a:sysClr val="windowText" lastClr="000000"/>
                </a:solidFill>
              </a:rPr>
              <a:t>参考四绿激励及不质量惩处</a:t>
            </a:r>
          </a:p>
          <a:p>
            <a:r>
              <a:rPr lang="en-US" altLang="zh-CN" b="1" dirty="0">
                <a:solidFill>
                  <a:sysClr val="windowText" lastClr="000000"/>
                </a:solidFill>
              </a:rPr>
              <a:t>KPI</a:t>
            </a:r>
            <a:r>
              <a:rPr lang="zh-CN" altLang="en-US" b="1" dirty="0">
                <a:solidFill>
                  <a:sysClr val="windowText" lastClr="000000"/>
                </a:solidFill>
              </a:rPr>
              <a:t>牵引：</a:t>
            </a:r>
            <a:r>
              <a:rPr lang="zh-CN" altLang="en-US" dirty="0">
                <a:solidFill>
                  <a:sysClr val="windowText" lastClr="000000"/>
                </a:solidFill>
              </a:rPr>
              <a:t>参考</a:t>
            </a:r>
            <a:r>
              <a:rPr lang="en-US" altLang="zh-CN" dirty="0">
                <a:solidFill>
                  <a:sysClr val="windowText" lastClr="000000"/>
                </a:solidFill>
              </a:rPr>
              <a:t>24</a:t>
            </a:r>
            <a:r>
              <a:rPr lang="zh-CN" altLang="en-US" dirty="0">
                <a:solidFill>
                  <a:sysClr val="windowText" lastClr="000000"/>
                </a:solidFill>
              </a:rPr>
              <a:t>年作为区域经理级管理者</a:t>
            </a:r>
            <a:r>
              <a:rPr lang="en-US" altLang="zh-CN" dirty="0">
                <a:solidFill>
                  <a:sysClr val="windowText" lastClr="000000"/>
                </a:solidFill>
              </a:rPr>
              <a:t>KPI</a:t>
            </a:r>
            <a:r>
              <a:rPr lang="zh-CN" altLang="en-US" dirty="0">
                <a:solidFill>
                  <a:sysClr val="windowText" lastClr="000000"/>
                </a:solidFill>
              </a:rPr>
              <a:t>的一部分，占比</a:t>
            </a:r>
            <a:r>
              <a:rPr lang="en-US" altLang="zh-CN" dirty="0">
                <a:solidFill>
                  <a:sysClr val="windowText" lastClr="000000"/>
                </a:solidFill>
              </a:rPr>
              <a:t>10%</a:t>
            </a:r>
            <a:r>
              <a:rPr lang="zh-CN" altLang="en-US" dirty="0">
                <a:solidFill>
                  <a:sysClr val="windowText" lastClr="000000"/>
                </a:solidFill>
              </a:rPr>
              <a:t>，待</a:t>
            </a:r>
            <a:r>
              <a:rPr lang="zh-CN" altLang="en-US" dirty="0" smtClean="0">
                <a:solidFill>
                  <a:sysClr val="windowText" lastClr="000000"/>
                </a:solidFill>
              </a:rPr>
              <a:t>公司</a:t>
            </a:r>
            <a:r>
              <a:rPr lang="en-US" altLang="zh-CN" dirty="0" smtClean="0">
                <a:solidFill>
                  <a:sysClr val="windowText" lastClr="000000"/>
                </a:solidFill>
              </a:rPr>
              <a:t>KPI</a:t>
            </a:r>
            <a:r>
              <a:rPr lang="zh-CN" altLang="en-US" dirty="0" smtClean="0">
                <a:solidFill>
                  <a:sysClr val="windowText" lastClr="000000"/>
                </a:solidFill>
              </a:rPr>
              <a:t>发布</a:t>
            </a:r>
            <a:r>
              <a:rPr lang="zh-CN" altLang="en-US" dirty="0">
                <a:solidFill>
                  <a:sysClr val="windowText" lastClr="000000"/>
                </a:solidFill>
              </a:rPr>
              <a:t>后确定</a:t>
            </a:r>
          </a:p>
          <a:p>
            <a:r>
              <a:rPr lang="zh-CN" altLang="en-US" b="1" dirty="0">
                <a:solidFill>
                  <a:sysClr val="windowText" lastClr="000000"/>
                </a:solidFill>
              </a:rPr>
              <a:t>销售信用关联：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</a:rPr>
              <a:t>明确细则后增补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2095" y="3594226"/>
            <a:ext cx="1131683" cy="1557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复盘机制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317687" y="3594225"/>
            <a:ext cx="8745648" cy="15571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</a:rPr>
              <a:t>部门</a:t>
            </a:r>
            <a:r>
              <a:rPr lang="zh-CN" altLang="en-US" dirty="0">
                <a:solidFill>
                  <a:schemeClr val="tx1"/>
                </a:solidFill>
              </a:rPr>
              <a:t>：每月</a:t>
            </a:r>
            <a:r>
              <a:rPr lang="en-US" altLang="zh-CN" dirty="0">
                <a:solidFill>
                  <a:schemeClr val="tx1"/>
                </a:solidFill>
              </a:rPr>
              <a:t>20</a:t>
            </a:r>
            <a:r>
              <a:rPr lang="zh-CN" altLang="en-US" dirty="0">
                <a:solidFill>
                  <a:schemeClr val="tx1"/>
                </a:solidFill>
              </a:rPr>
              <a:t>日</a:t>
            </a:r>
            <a:r>
              <a:rPr lang="en-US" altLang="zh-CN" dirty="0">
                <a:solidFill>
                  <a:schemeClr val="tx1"/>
                </a:solidFill>
              </a:rPr>
              <a:t>-30</a:t>
            </a:r>
            <a:r>
              <a:rPr lang="zh-CN" altLang="en-US" dirty="0">
                <a:solidFill>
                  <a:schemeClr val="tx1"/>
                </a:solidFill>
              </a:rPr>
              <a:t>日专项组织复盘，针对当月不准的区域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个人，针对项目联合平台总张毅涌晖复盘，并持续做跟踪改善，连续三个月不准的区域联合育辉做复盘改善</a:t>
            </a:r>
          </a:p>
          <a:p>
            <a:r>
              <a:rPr lang="zh-CN" altLang="en-US" b="1" dirty="0">
                <a:solidFill>
                  <a:schemeClr val="tx1"/>
                </a:solidFill>
              </a:rPr>
              <a:t>区域</a:t>
            </a:r>
            <a:r>
              <a:rPr lang="zh-CN" altLang="en-US" dirty="0">
                <a:solidFill>
                  <a:schemeClr val="tx1"/>
                </a:solidFill>
              </a:rPr>
              <a:t>：每月例会，第一环节晾晒累计个人的预测准确率，及不准确的项目教训</a:t>
            </a:r>
          </a:p>
        </p:txBody>
      </p:sp>
    </p:spTree>
    <p:extLst>
      <p:ext uri="{BB962C8B-B14F-4D97-AF65-F5344CB8AC3E}">
        <p14:creationId xmlns:p14="http://schemas.microsoft.com/office/powerpoint/2010/main" val="362143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8289938" cy="495935"/>
          </a:xfrm>
        </p:spPr>
        <p:txBody>
          <a:bodyPr/>
          <a:lstStyle/>
          <a:p>
            <a:r>
              <a:rPr lang="zh-CN" altLang="en-US" dirty="0" smtClean="0"/>
              <a:t>举措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：销售预测流程和机制</a:t>
            </a:r>
            <a:r>
              <a:rPr lang="en-US" altLang="zh-CN" dirty="0" smtClean="0"/>
              <a:t>-</a:t>
            </a:r>
            <a:r>
              <a:rPr lang="zh-CN" altLang="en-US" dirty="0" smtClean="0"/>
              <a:t>关键行动项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29373" y="838469"/>
          <a:ext cx="11730254" cy="5755170"/>
        </p:xfrm>
        <a:graphic>
          <a:graphicData uri="http://schemas.openxmlformats.org/drawingml/2006/table">
            <a:tbl>
              <a:tblPr/>
              <a:tblGrid>
                <a:gridCol w="1261240"/>
                <a:gridCol w="7310460"/>
                <a:gridCol w="1499513"/>
                <a:gridCol w="1659041"/>
              </a:tblGrid>
              <a:tr h="205191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b="1" dirty="0">
                          <a:effectLst/>
                          <a:latin typeface="+mj-ea"/>
                          <a:ea typeface="+mj-ea"/>
                        </a:rPr>
                        <a:t>举措</a:t>
                      </a: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b="1">
                          <a:effectLst/>
                          <a:latin typeface="+mj-ea"/>
                          <a:ea typeface="+mj-ea"/>
                        </a:rPr>
                        <a:t>行动项</a:t>
                      </a:r>
                      <a:endParaRPr lang="zh-CN" altLang="en-US" sz="120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  <a:latin typeface="+mj-ea"/>
                          <a:ea typeface="+mj-ea"/>
                        </a:rPr>
                        <a:t>完成时间</a:t>
                      </a: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b="1">
                          <a:effectLst/>
                          <a:latin typeface="+mj-ea"/>
                          <a:ea typeface="+mj-ea"/>
                        </a:rPr>
                        <a:t>责任人</a:t>
                      </a:r>
                      <a:endParaRPr lang="zh-CN" altLang="en-US" sz="120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9832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关键管控点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en-US" sz="1200" dirty="0">
                          <a:effectLst/>
                          <a:latin typeface="+mj-ea"/>
                          <a:ea typeface="+mj-ea"/>
                        </a:rPr>
                        <a:t>KCP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KCP1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：做隔两个月预测干预</a:t>
                      </a:r>
                    </a:p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控制符合标准的比例小于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40%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，超过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40%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的项目评估风险拦截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说明准入</a:t>
                      </a:r>
                      <a:r>
                        <a:rPr lang="zh-CN" altLang="en-US" sz="1200" dirty="0" smtClean="0">
                          <a:effectLst/>
                          <a:latin typeface="+mj-ea"/>
                          <a:ea typeface="+mj-ea"/>
                        </a:rPr>
                        <a:t>原因</a:t>
                      </a: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16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-18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</a:b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区域经理</a:t>
                      </a:r>
                    </a:p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运营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BP</a:t>
                      </a:r>
                    </a:p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销售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KCP2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：隔两个月预测转隔月预测干预</a:t>
                      </a:r>
                    </a:p>
                    <a:p>
                      <a:pPr algn="l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控制符合标准的比例小于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40%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，超过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40%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的项目评估风险拦截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说明准入原因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16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-18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区域经理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运营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BP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销售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KCP3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：隔月预测当月转承诺干预</a:t>
                      </a:r>
                    </a:p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未预测的项目，如果客户不着急要货尽量拦截不要做承诺</a:t>
                      </a:r>
                    </a:p>
                    <a:p>
                      <a:pPr algn="l" fontAlgn="ctr"/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16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-18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区域经理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运营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BP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销售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专项负责人与区域经理共识调出项目，并确人不符合标准比例、项目风险情况</a:t>
                      </a:r>
                    </a:p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汇总风险项目清单预警给平台总、何平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19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-20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张萌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区域经理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风险项目决策准</a:t>
                      </a:r>
                      <a:r>
                        <a:rPr lang="zh-CN" altLang="en-US" sz="1200" dirty="0" smtClean="0">
                          <a:effectLst/>
                          <a:latin typeface="+mj-ea"/>
                          <a:ea typeface="+mj-ea"/>
                        </a:rPr>
                        <a:t>入</a:t>
                      </a: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张萌、张毅、陈涌晖、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LV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、何平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6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KCP4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：未承诺下单干预</a:t>
                      </a:r>
                    </a:p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承诺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未预测的项目，重点关注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15-20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号之间要下单，如果不是影响到项目丢单，运营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BP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联合商务拦截到下个月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上月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21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本月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20</a:t>
                      </a:r>
                      <a:r>
                        <a:rPr lang="zh-CN" altLang="en-US" sz="1200" dirty="0" smtClean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</a:b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张萌、张毅、涌晖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区域经理</a:t>
                      </a:r>
                    </a:p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运营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BP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7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奖惩机制</a:t>
                      </a:r>
                    </a:p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zh-CN" altLang="en-US" sz="1200">
                          <a:effectLst/>
                          <a:latin typeface="+mj-ea"/>
                          <a:ea typeface="+mj-ea"/>
                        </a:rPr>
                      </a:br>
                      <a:endParaRPr lang="zh-CN" altLang="en-US" sz="120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dirty="0">
                          <a:solidFill>
                            <a:srgbClr val="6425D0"/>
                          </a:solidFill>
                          <a:effectLst/>
                          <a:latin typeface="+mj-ea"/>
                          <a:ea typeface="+mj-ea"/>
                        </a:rPr>
                        <a:t>过程指标达成牵引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：各个承诺预测指标准确率奖罚的通告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含四绿激励及不质量惩处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月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30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日前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何平、</a:t>
                      </a:r>
                      <a:r>
                        <a:rPr lang="zh-CN" altLang="en-US" sz="1200" dirty="0" smtClean="0">
                          <a:effectLst/>
                          <a:latin typeface="+mj-ea"/>
                          <a:ea typeface="+mj-ea"/>
                        </a:rPr>
                        <a:t>张萌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</a:b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7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dirty="0">
                          <a:solidFill>
                            <a:srgbClr val="6425D0"/>
                          </a:solidFill>
                          <a:effectLst/>
                          <a:latin typeface="+mj-ea"/>
                          <a:ea typeface="+mj-ea"/>
                        </a:rPr>
                        <a:t>销售信用</a:t>
                      </a:r>
                      <a:r>
                        <a:rPr lang="zh-CN" altLang="en-US" sz="1200" b="1" dirty="0" smtClean="0">
                          <a:solidFill>
                            <a:srgbClr val="6425D0"/>
                          </a:solidFill>
                          <a:effectLst/>
                          <a:latin typeface="+mj-ea"/>
                          <a:ea typeface="+mj-ea"/>
                        </a:rPr>
                        <a:t>关联</a:t>
                      </a: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30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日前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侯玉莲、张萌</a:t>
                      </a:r>
                    </a:p>
                    <a:p>
                      <a:pPr algn="ctr" fontAlgn="t"/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3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复盘机制</a:t>
                      </a:r>
                    </a:p>
                    <a:p>
                      <a:pPr algn="ctr" fontAlgn="ctr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zh-CN" altLang="en-US" sz="1200">
                          <a:effectLst/>
                          <a:latin typeface="+mj-ea"/>
                          <a:ea typeface="+mj-ea"/>
                        </a:rPr>
                      </a:br>
                      <a:endParaRPr lang="zh-CN" altLang="en-US" sz="120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部门：每月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-30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日专项组织复盘，针对当月不准的区域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个人做联合张毅及涌晖复盘并持续做跟踪改善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21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-30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张毅、陈涌晖、</a:t>
                      </a:r>
                      <a:r>
                        <a:rPr lang="en-US" altLang="zh-CN" sz="1200">
                          <a:effectLst/>
                          <a:latin typeface="+mj-ea"/>
                          <a:ea typeface="+mj-ea"/>
                        </a:rPr>
                        <a:t>LV</a:t>
                      </a:r>
                      <a:r>
                        <a:rPr lang="zh-CN" altLang="en-US" sz="1200">
                          <a:effectLst/>
                          <a:latin typeface="+mj-ea"/>
                          <a:ea typeface="+mj-ea"/>
                        </a:rPr>
                        <a:t>、何平、张萌、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7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区域：每月例会，第一环节晾晒累计个人的预测准确率，及不准确的项目教训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每月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21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-28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区域经理、运营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BP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、许佳乐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6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部门：每季度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-30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日专项组织复盘，针对连续三个月不准的区域联合育辉做复盘改善</a:t>
                      </a:r>
                    </a:p>
                    <a:p>
                      <a:pPr algn="l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</a:br>
                      <a:endParaRPr lang="zh-CN" altLang="en-US" sz="12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每季度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21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-30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日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育辉、张毅、陈涌晖、</a:t>
                      </a:r>
                      <a:r>
                        <a:rPr lang="en-US" altLang="zh-CN" sz="1200" dirty="0">
                          <a:effectLst/>
                          <a:latin typeface="+mj-ea"/>
                          <a:ea typeface="+mj-ea"/>
                        </a:rPr>
                        <a:t>LV</a:t>
                      </a:r>
                      <a:r>
                        <a:rPr lang="zh-CN" altLang="en-US" sz="1200" dirty="0">
                          <a:effectLst/>
                          <a:latin typeface="+mj-ea"/>
                          <a:ea typeface="+mj-ea"/>
                        </a:rPr>
                        <a:t>、李冰、何平、张萌、</a:t>
                      </a:r>
                    </a:p>
                  </a:txBody>
                  <a:tcPr marL="25372" marR="25372" marT="25372" marB="25372">
                    <a:lnL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70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zh-CN" altLang="en-US" dirty="0" smtClean="0"/>
              <a:t>举措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：建立销售，销管和供应链月度复盘机制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23815" y="2498757"/>
            <a:ext cx="3241141" cy="159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销管和供应链针对数据做分析和总结复盘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（下单时间准确率，要货时间准确率）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559602" y="2498757"/>
            <a:ext cx="3241141" cy="159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销售执行和调整</a:t>
            </a:r>
            <a:endParaRPr lang="zh-CN" altLang="en-US" dirty="0"/>
          </a:p>
        </p:txBody>
      </p:sp>
      <p:sp>
        <p:nvSpPr>
          <p:cNvPr id="7" name="左右箭头 6"/>
          <p:cNvSpPr/>
          <p:nvPr/>
        </p:nvSpPr>
        <p:spPr>
          <a:xfrm>
            <a:off x="5504873" y="3051018"/>
            <a:ext cx="814812" cy="48888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" y="4770468"/>
            <a:ext cx="10983942" cy="12048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02952" y="1141446"/>
            <a:ext cx="10650093" cy="1036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b="1" dirty="0">
                <a:solidFill>
                  <a:schemeClr val="tx1"/>
                </a:solidFill>
              </a:rPr>
              <a:t>复</a:t>
            </a:r>
            <a:r>
              <a:rPr lang="zh-CN" altLang="en-US" sz="1300" b="1" dirty="0" smtClean="0">
                <a:solidFill>
                  <a:schemeClr val="tx1"/>
                </a:solidFill>
              </a:rPr>
              <a:t>盘会议建议时间：</a:t>
            </a:r>
            <a:endParaRPr lang="en-US" altLang="zh-CN" sz="1300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b="1" dirty="0" smtClean="0">
                <a:solidFill>
                  <a:schemeClr val="tx1"/>
                </a:solidFill>
              </a:rPr>
              <a:t>参与角色与人员：</a:t>
            </a:r>
            <a:endParaRPr lang="en-US" altLang="zh-CN" sz="1300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b="1" dirty="0" smtClean="0">
                <a:solidFill>
                  <a:schemeClr val="tx1"/>
                </a:solidFill>
              </a:rPr>
              <a:t>关键议程：</a:t>
            </a:r>
            <a:endParaRPr lang="en-US" altLang="zh-CN" sz="1300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b="1" dirty="0" smtClean="0">
                <a:solidFill>
                  <a:schemeClr val="tx1"/>
                </a:solidFill>
              </a:rPr>
              <a:t>闭环机制：</a:t>
            </a:r>
            <a:endParaRPr lang="en-US" altLang="zh-CN" sz="1300" b="1" dirty="0" smtClean="0">
              <a:solidFill>
                <a:schemeClr val="tx1"/>
              </a:solidFill>
            </a:endParaRPr>
          </a:p>
          <a:p>
            <a:endParaRPr lang="zh-CN" alt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25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</Words>
  <Application>Microsoft Office PowerPoint</Application>
  <PresentationFormat>宽屏</PresentationFormat>
  <Paragraphs>82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1</cp:revision>
  <dcterms:created xsi:type="dcterms:W3CDTF">2025-12-03T03:58:10Z</dcterms:created>
  <dcterms:modified xsi:type="dcterms:W3CDTF">2025-12-03T03:58:25Z</dcterms:modified>
</cp:coreProperties>
</file>