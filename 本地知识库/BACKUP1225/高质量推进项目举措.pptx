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2"/>
  </p:sldMasterIdLst>
  <p:notesMasterIdLst>
    <p:notesMasterId r:id="rId18"/>
  </p:notesMasterIdLst>
  <p:sldIdLst>
    <p:sldId id="256" r:id="rId3"/>
    <p:sldId id="259" r:id="rId4"/>
    <p:sldId id="324" r:id="rId5"/>
    <p:sldId id="347" r:id="rId6"/>
    <p:sldId id="354" r:id="rId7"/>
    <p:sldId id="355" r:id="rId8"/>
    <p:sldId id="356" r:id="rId9"/>
    <p:sldId id="357" r:id="rId10"/>
    <p:sldId id="358" r:id="rId11"/>
    <p:sldId id="348" r:id="rId12"/>
    <p:sldId id="346" r:id="rId13"/>
    <p:sldId id="349" r:id="rId14"/>
    <p:sldId id="350" r:id="rId15"/>
    <p:sldId id="352" r:id="rId16"/>
    <p:sldId id="266" r:id="rId17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02753" initials="R" lastIdx="1" clrIdx="0"/>
  <p:cmAuthor id="7" name="wanghaizhen" initials="w" lastIdx="2" clrIdx="6"/>
  <p:cmAuthor id="1" name="HE JC" initials="HJ" lastIdx="1" clrIdx="0"/>
  <p:cmAuthor id="2" name="作者" initials="A" lastIdx="0" clrIdx="1"/>
  <p:cmAuthor id="3" name="米 羽" initials="米" lastIdx="1" clrIdx="2"/>
  <p:cmAuthor id="4" name="孙 喜桐" initials="孙" lastIdx="1" clrIdx="3"/>
  <p:cmAuthor id="5" name="R11988" initials="R" lastIdx="1" clrIdx="4"/>
  <p:cmAuthor id="6" name="Loda" initials="L" lastIdx="1" clrIdx="5"/>
  <p:cmAuthor id="76" name="dell" initials="d" lastIdx="2" clrIdx="2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53F"/>
    <a:srgbClr val="FFE3BB"/>
    <a:srgbClr val="FF9700"/>
    <a:srgbClr val="0070C0"/>
    <a:srgbClr val="3979C1"/>
    <a:srgbClr val="4F98EB"/>
    <a:srgbClr val="D0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70" autoAdjust="0"/>
    <p:restoredTop sz="90196" autoAdjust="0"/>
  </p:normalViewPr>
  <p:slideViewPr>
    <p:cSldViewPr snapToGrid="0">
      <p:cViewPr varScale="1">
        <p:scale>
          <a:sx n="84" d="100"/>
          <a:sy n="84" d="100"/>
        </p:scale>
        <p:origin x="58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50FCB-07F6-4B22-B162-6C5FE8368D04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951AD-B4A1-46FE-A52F-08C91A080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895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uijie.com.cn/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5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246"/>
          </a:xfrm>
          <a:prstGeom prst="rect">
            <a:avLst/>
          </a:prstGeom>
        </p:spPr>
      </p:pic>
      <p:pic>
        <p:nvPicPr>
          <p:cNvPr id="8" name="图片 7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sp>
        <p:nvSpPr>
          <p:cNvPr id="11" name="TextBox 6"/>
          <p:cNvSpPr>
            <a:spLocks noChangeArrowheads="1"/>
          </p:cNvSpPr>
          <p:nvPr userDrawn="1"/>
        </p:nvSpPr>
        <p:spPr bwMode="auto">
          <a:xfrm>
            <a:off x="573759" y="1771142"/>
            <a:ext cx="40481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THANKS.</a:t>
            </a:r>
          </a:p>
        </p:txBody>
      </p:sp>
      <p:sp>
        <p:nvSpPr>
          <p:cNvPr id="12" name="TextBox 7"/>
          <p:cNvSpPr>
            <a:spLocks noChangeArrowheads="1"/>
          </p:cNvSpPr>
          <p:nvPr userDrawn="1"/>
        </p:nvSpPr>
        <p:spPr bwMode="auto">
          <a:xfrm>
            <a:off x="573758" y="2502536"/>
            <a:ext cx="5323894" cy="84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欲了解更多信息，欢迎登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3"/>
              </a:rPr>
              <a:t>www.ruijie.com.cn</a:t>
            </a: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，咨询电话：400-620-8818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*本资料产品图片及技术数据仅供参考，如有更新恕不另行通知，具体内容解释权归锐捷网络所有。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3" name="图片 12" descr="徽标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的天空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9380-D657-8D4E-9A0F-A362142B5069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A8893-B06F-FA45-8416-383DCFC04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uijie.feishu.cn/wiki/FEHFwfdcBipTvzkEofsc1v8yn4f" TargetMode="External"/><Relationship Id="rId2" Type="http://schemas.openxmlformats.org/officeDocument/2006/relationships/hyperlink" Target="N&#21644;3T&#27969;&#31243;&#22521;&#35757;&#23459;&#36143;&#26448;&#26009;_V5.0.pptx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ruijie.feishu.cn/wiki/VSwIw2RBciydzxkNT2DcnqzAnKg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ruijie.feishu.cn/wiki/LLPjwTsVxilKFDkZ3uGcFv7gnpb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ruijie.feishu.cn/wiki/KCyrw4wtViAalrkgqMUcShBNn9e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864"/>
            <a:ext cx="12193538" cy="6857136"/>
          </a:xfrm>
          <a:prstGeom prst="rect">
            <a:avLst/>
          </a:prstGeom>
        </p:spPr>
      </p:pic>
      <p:pic>
        <p:nvPicPr>
          <p:cNvPr id="11" name="图片 10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18199" y="2670643"/>
            <a:ext cx="385233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kumimoji="1" lang="zh-CN" altLang="en-US" sz="2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高质量推进销售项目</a:t>
            </a:r>
            <a:endParaRPr kumimoji="1" lang="zh-CN" altLang="en-US" sz="2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2015" y="5806598"/>
            <a:ext cx="862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2025.11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520890" y="2442734"/>
            <a:ext cx="4497355" cy="5244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5" y="2368088"/>
            <a:ext cx="5073794" cy="3009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关键点识别与分析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如何输入准确的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和</a:t>
            </a:r>
            <a:r>
              <a:rPr lang="en-US" altLang="zh-CN" dirty="0" smtClean="0"/>
              <a:t>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销售预测流程中的下单承诺和要货计划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立项项目和一般项目与供应链的协同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渠道下单要货日期管理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351453" y="274320"/>
            <a:ext cx="7606768" cy="495935"/>
          </a:xfrm>
        </p:spPr>
        <p:txBody>
          <a:bodyPr/>
          <a:lstStyle/>
          <a:p>
            <a:r>
              <a:rPr lang="zh-CN" altLang="en-US" dirty="0" smtClean="0"/>
              <a:t>高质量推进销售项目要关注的核心点</a:t>
            </a:r>
            <a:endParaRPr lang="zh-CN" altLang="en-US" dirty="0"/>
          </a:p>
        </p:txBody>
      </p:sp>
      <p:sp>
        <p:nvSpPr>
          <p:cNvPr id="60" name="矩形 59"/>
          <p:cNvSpPr/>
          <p:nvPr/>
        </p:nvSpPr>
        <p:spPr>
          <a:xfrm>
            <a:off x="10118573" y="1327514"/>
            <a:ext cx="1933889" cy="47608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本次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9957802" y="892834"/>
            <a:ext cx="1688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85131" y="1566150"/>
            <a:ext cx="1967331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1</a:t>
            </a:r>
            <a:r>
              <a:rPr lang="zh-CN" altLang="en-US" sz="1400" dirty="0" smtClean="0"/>
              <a:t>）做准</a:t>
            </a:r>
            <a:r>
              <a:rPr lang="en-US" altLang="zh-CN" sz="1400" dirty="0" smtClean="0"/>
              <a:t>N</a:t>
            </a:r>
            <a:r>
              <a:rPr lang="zh-CN" altLang="en-US" sz="1400" dirty="0" smtClean="0"/>
              <a:t>和</a:t>
            </a:r>
            <a:r>
              <a:rPr lang="en-US" altLang="zh-CN" sz="1400" dirty="0" smtClean="0"/>
              <a:t>T</a:t>
            </a:r>
            <a:r>
              <a:rPr lang="zh-CN" altLang="en-US" sz="1400" dirty="0" smtClean="0"/>
              <a:t>直接影响销售预测，供应链备货和订单交付流程；</a:t>
            </a:r>
            <a:endParaRPr lang="en-US" altLang="zh-CN" sz="1400" dirty="0" smtClean="0"/>
          </a:p>
          <a:p>
            <a:endParaRPr lang="en-US" altLang="zh-CN" sz="1400" dirty="0"/>
          </a:p>
          <a:p>
            <a:r>
              <a:rPr lang="en-US" altLang="zh-CN" sz="1400" dirty="0"/>
              <a:t>2</a:t>
            </a:r>
            <a:r>
              <a:rPr lang="zh-CN" altLang="en-US" sz="1400" dirty="0" smtClean="0"/>
              <a:t>）为了更好的支持后端备货及交付，销售预测不光要管理下单承诺还需要关注要货时间；</a:t>
            </a:r>
            <a:endParaRPr lang="en-US" altLang="zh-CN" sz="1400" dirty="0" smtClean="0"/>
          </a:p>
          <a:p>
            <a:endParaRPr lang="en-US" altLang="zh-CN" sz="1400" dirty="0"/>
          </a:p>
          <a:p>
            <a:r>
              <a:rPr lang="en-US" altLang="zh-CN" sz="1400" dirty="0"/>
              <a:t>3</a:t>
            </a:r>
            <a:r>
              <a:rPr lang="zh-CN" altLang="en-US" sz="1400" dirty="0" smtClean="0"/>
              <a:t>）关键活动的高质量执行：解决方案评审，标前评审，赢丢单复盘</a:t>
            </a:r>
            <a:endParaRPr lang="en-US" altLang="zh-CN" sz="1400" dirty="0" smtClean="0"/>
          </a:p>
          <a:p>
            <a:endParaRPr lang="en-US" altLang="zh-CN" sz="1400" dirty="0" smtClean="0"/>
          </a:p>
          <a:p>
            <a:r>
              <a:rPr lang="en-US" altLang="zh-CN" sz="1400" dirty="0" smtClean="0"/>
              <a:t>4</a:t>
            </a:r>
            <a:r>
              <a:rPr lang="zh-CN" altLang="en-US" sz="1400" dirty="0" smtClean="0"/>
              <a:t>）关键活动中的供应链协同</a:t>
            </a:r>
            <a:endParaRPr lang="en-US" altLang="zh-CN" sz="1400" dirty="0" smtClean="0"/>
          </a:p>
          <a:p>
            <a:endParaRPr lang="en-US" altLang="zh-CN" sz="1400" dirty="0"/>
          </a:p>
          <a:p>
            <a:r>
              <a:rPr lang="en-US" altLang="zh-CN" sz="1400" dirty="0" smtClean="0"/>
              <a:t>5</a:t>
            </a:r>
            <a:r>
              <a:rPr lang="zh-CN" altLang="en-US" sz="1400" dirty="0" smtClean="0"/>
              <a:t>）渠道下单的管理，确保实际时间与预测保持一致</a:t>
            </a:r>
            <a:endParaRPr lang="en-US" altLang="zh-CN" sz="1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7500"/>
            <a:ext cx="10074513" cy="51210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508134" y="2994995"/>
            <a:ext cx="4497355" cy="5244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5" y="2368088"/>
            <a:ext cx="5073794" cy="3009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关键点识别与分析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高质量的执行</a:t>
            </a:r>
            <a:r>
              <a:rPr lang="en-US" altLang="zh-CN" dirty="0" smtClean="0"/>
              <a:t>MO</a:t>
            </a:r>
            <a:r>
              <a:rPr lang="zh-CN" altLang="en-US" dirty="0" smtClean="0"/>
              <a:t>关键活动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销售预测流程中的下单承诺和要货计划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立项项目和一般项目与供应链的协同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渠道下单要货日期管理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5160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7606768" cy="495935"/>
          </a:xfrm>
        </p:spPr>
        <p:txBody>
          <a:bodyPr/>
          <a:lstStyle/>
          <a:p>
            <a:r>
              <a:rPr lang="en-US" altLang="zh-CN" dirty="0" smtClean="0"/>
              <a:t>MO</a:t>
            </a:r>
            <a:r>
              <a:rPr lang="zh-CN" altLang="en-US" dirty="0" smtClean="0"/>
              <a:t>这个</a:t>
            </a:r>
            <a:r>
              <a:rPr lang="zh-CN" altLang="en-US" dirty="0"/>
              <a:t>业务是在干什么？</a:t>
            </a:r>
          </a:p>
        </p:txBody>
      </p:sp>
      <p:sp>
        <p:nvSpPr>
          <p:cNvPr id="12" name="圆角矩形 11"/>
          <p:cNvSpPr/>
          <p:nvPr/>
        </p:nvSpPr>
        <p:spPr bwMode="auto">
          <a:xfrm>
            <a:off x="6291301" y="3580702"/>
            <a:ext cx="5175895" cy="2832338"/>
          </a:xfrm>
          <a:prstGeom prst="roundRect">
            <a:avLst>
              <a:gd name="adj" fmla="val 6098"/>
            </a:avLst>
          </a:prstGeom>
          <a:solidFill>
            <a:srgbClr val="FBD8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6282226" y="3580702"/>
            <a:ext cx="5174253" cy="5283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868476" y="3566975"/>
            <a:ext cx="5273121" cy="2846065"/>
          </a:xfrm>
          <a:prstGeom prst="roundRect">
            <a:avLst>
              <a:gd name="adj" fmla="val 7017"/>
            </a:avLst>
          </a:prstGeom>
          <a:solidFill>
            <a:srgbClr val="FBD8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859435" y="3580702"/>
            <a:ext cx="5282161" cy="5283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7" name="AutoShape 16"/>
          <p:cNvSpPr>
            <a:spLocks noChangeArrowheads="1"/>
          </p:cNvSpPr>
          <p:nvPr/>
        </p:nvSpPr>
        <p:spPr bwMode="auto">
          <a:xfrm>
            <a:off x="870147" y="1142331"/>
            <a:ext cx="10597176" cy="1298899"/>
          </a:xfrm>
          <a:prstGeom prst="chevron">
            <a:avLst>
              <a:gd name="adj" fmla="val 11465"/>
            </a:avLst>
          </a:prstGeom>
          <a:solidFill>
            <a:srgbClr val="00ACE2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39" tIns="38970" rIns="77939" bIns="38970"/>
          <a:lstStyle/>
          <a:p>
            <a:pPr algn="ctr" defTabSz="582930">
              <a:defRPr/>
            </a:pPr>
            <a:r>
              <a:rPr lang="en-US" altLang="zh-CN" sz="16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MO</a:t>
            </a:r>
            <a:r>
              <a:rPr lang="zh-CN" altLang="en-US" sz="16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管理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机会点</a:t>
            </a:r>
            <a:endParaRPr lang="zh-HK" alt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8" name="AutoShape 12"/>
          <p:cNvSpPr>
            <a:spLocks noChangeArrowheads="1"/>
          </p:cNvSpPr>
          <p:nvPr/>
        </p:nvSpPr>
        <p:spPr bwMode="gray">
          <a:xfrm>
            <a:off x="3341557" y="1931895"/>
            <a:ext cx="2586134" cy="437462"/>
          </a:xfrm>
          <a:prstGeom prst="chevron">
            <a:avLst>
              <a:gd name="adj" fmla="val 15486"/>
            </a:avLst>
          </a:prstGeom>
          <a:solidFill>
            <a:schemeClr val="bg1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商机推进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9" name="AutoShape 13"/>
          <p:cNvSpPr>
            <a:spLocks noChangeArrowheads="1"/>
          </p:cNvSpPr>
          <p:nvPr/>
        </p:nvSpPr>
        <p:spPr bwMode="gray">
          <a:xfrm>
            <a:off x="5903744" y="1931895"/>
            <a:ext cx="2758542" cy="437462"/>
          </a:xfrm>
          <a:prstGeom prst="chevron">
            <a:avLst>
              <a:gd name="adj" fmla="val 16781"/>
            </a:avLst>
          </a:prstGeom>
          <a:solidFill>
            <a:schemeClr val="bg1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制定并执行投标策略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0" name="AutoShape 10"/>
          <p:cNvSpPr>
            <a:spLocks noChangeArrowheads="1"/>
          </p:cNvSpPr>
          <p:nvPr/>
        </p:nvSpPr>
        <p:spPr bwMode="gray">
          <a:xfrm>
            <a:off x="1016664" y="1931895"/>
            <a:ext cx="2348839" cy="437462"/>
          </a:xfrm>
          <a:prstGeom prst="chevron">
            <a:avLst>
              <a:gd name="adj" fmla="val 15711"/>
            </a:avLst>
          </a:prstGeom>
          <a:solidFill>
            <a:schemeClr val="bg1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验证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商机</a:t>
            </a:r>
          </a:p>
        </p:txBody>
      </p:sp>
      <p:sp>
        <p:nvSpPr>
          <p:cNvPr id="21" name="AutoShape 14"/>
          <p:cNvSpPr>
            <a:spLocks noChangeArrowheads="1"/>
          </p:cNvSpPr>
          <p:nvPr/>
        </p:nvSpPr>
        <p:spPr bwMode="gray">
          <a:xfrm>
            <a:off x="8638339" y="1931895"/>
            <a:ext cx="2658433" cy="437462"/>
          </a:xfrm>
          <a:prstGeom prst="chevron">
            <a:avLst>
              <a:gd name="adj" fmla="val 15684"/>
            </a:avLst>
          </a:prstGeom>
          <a:solidFill>
            <a:schemeClr val="bg1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谈判并签订合同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2" name="AutoShape 10"/>
          <p:cNvSpPr>
            <a:spLocks noChangeArrowheads="1"/>
          </p:cNvSpPr>
          <p:nvPr/>
        </p:nvSpPr>
        <p:spPr bwMode="gray">
          <a:xfrm>
            <a:off x="1122793" y="1565654"/>
            <a:ext cx="10173980" cy="289837"/>
          </a:xfrm>
          <a:prstGeom prst="chevron">
            <a:avLst>
              <a:gd name="adj" fmla="val 15711"/>
            </a:avLst>
          </a:prstGeom>
          <a:solidFill>
            <a:schemeClr val="bg1">
              <a:lumMod val="85000"/>
            </a:schemeClr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管理决策链</a:t>
            </a:r>
          </a:p>
        </p:txBody>
      </p:sp>
      <p:sp>
        <p:nvSpPr>
          <p:cNvPr id="24" name="AutoShape 47"/>
          <p:cNvSpPr>
            <a:spLocks noChangeArrowheads="1"/>
          </p:cNvSpPr>
          <p:nvPr/>
        </p:nvSpPr>
        <p:spPr bwMode="auto">
          <a:xfrm>
            <a:off x="7119235" y="1628849"/>
            <a:ext cx="613356" cy="259035"/>
          </a:xfrm>
          <a:prstGeom prst="diamond">
            <a:avLst/>
          </a:prstGeom>
          <a:solidFill>
            <a:srgbClr val="F7B021"/>
          </a:solidFill>
          <a:ln w="9525" algn="ctr">
            <a:noFill/>
            <a:miter lim="800000"/>
          </a:ln>
        </p:spPr>
        <p:txBody>
          <a:bodyPr lIns="0" tIns="0" rIns="0" bIns="0"/>
          <a:lstStyle/>
          <a:p>
            <a:pPr>
              <a:lnSpc>
                <a:spcPct val="80000"/>
              </a:lnSpc>
            </a:pPr>
            <a:endParaRPr lang="zh-CN" altLang="en-US" sz="1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5" name="Rectangle 76"/>
          <p:cNvSpPr>
            <a:spLocks noChangeArrowheads="1"/>
          </p:cNvSpPr>
          <p:nvPr/>
        </p:nvSpPr>
        <p:spPr bwMode="auto">
          <a:xfrm>
            <a:off x="7049580" y="1642254"/>
            <a:ext cx="752667" cy="23083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9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投标决策</a:t>
            </a:r>
            <a:endParaRPr lang="en-US" altLang="zh-CN" sz="9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7" name="AutoShape 80"/>
          <p:cNvSpPr>
            <a:spLocks noChangeArrowheads="1"/>
          </p:cNvSpPr>
          <p:nvPr/>
        </p:nvSpPr>
        <p:spPr bwMode="auto">
          <a:xfrm>
            <a:off x="9158198" y="1618743"/>
            <a:ext cx="656559" cy="275837"/>
          </a:xfrm>
          <a:prstGeom prst="diamond">
            <a:avLst/>
          </a:prstGeom>
          <a:solidFill>
            <a:srgbClr val="F7B021"/>
          </a:solidFill>
          <a:ln w="9525" algn="ctr">
            <a:noFill/>
            <a:miter lim="800000"/>
          </a:ln>
        </p:spPr>
        <p:txBody>
          <a:bodyPr lIns="0" tIns="0" rIns="0" bIns="0"/>
          <a:lstStyle/>
          <a:p>
            <a:pPr>
              <a:lnSpc>
                <a:spcPct val="80000"/>
              </a:lnSpc>
            </a:pPr>
            <a:endParaRPr lang="zh-CN" altLang="en-US" sz="1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8" name="Rectangle 81"/>
          <p:cNvSpPr>
            <a:spLocks noChangeArrowheads="1"/>
          </p:cNvSpPr>
          <p:nvPr/>
        </p:nvSpPr>
        <p:spPr bwMode="auto">
          <a:xfrm>
            <a:off x="9109218" y="1640548"/>
            <a:ext cx="754521" cy="23083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9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签约决策</a:t>
            </a:r>
            <a:endParaRPr lang="en-US" altLang="zh-CN" sz="9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0" name="AutoShape 47"/>
          <p:cNvSpPr>
            <a:spLocks noChangeArrowheads="1"/>
          </p:cNvSpPr>
          <p:nvPr/>
        </p:nvSpPr>
        <p:spPr bwMode="auto">
          <a:xfrm>
            <a:off x="2293640" y="1642325"/>
            <a:ext cx="613356" cy="259035"/>
          </a:xfrm>
          <a:prstGeom prst="diamond">
            <a:avLst/>
          </a:prstGeom>
          <a:solidFill>
            <a:srgbClr val="F7B021"/>
          </a:solidFill>
          <a:ln w="9525" algn="ctr">
            <a:noFill/>
            <a:miter lim="800000"/>
          </a:ln>
        </p:spPr>
        <p:txBody>
          <a:bodyPr lIns="0" tIns="0" rIns="0" bIns="0"/>
          <a:lstStyle/>
          <a:p>
            <a:pPr>
              <a:lnSpc>
                <a:spcPct val="80000"/>
              </a:lnSpc>
            </a:pPr>
            <a:endParaRPr lang="zh-CN" altLang="en-US" sz="1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1" name="Rectangle 76"/>
          <p:cNvSpPr>
            <a:spLocks noChangeArrowheads="1"/>
          </p:cNvSpPr>
          <p:nvPr/>
        </p:nvSpPr>
        <p:spPr bwMode="auto">
          <a:xfrm>
            <a:off x="2223984" y="1655730"/>
            <a:ext cx="752667" cy="23083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9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立项决策</a:t>
            </a:r>
            <a:endParaRPr lang="en-US" altLang="zh-CN" sz="9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2" name="Flowchart: Process 113"/>
          <p:cNvSpPr>
            <a:spLocks noChangeArrowheads="1"/>
          </p:cNvSpPr>
          <p:nvPr/>
        </p:nvSpPr>
        <p:spPr bwMode="auto">
          <a:xfrm>
            <a:off x="3562472" y="2407529"/>
            <a:ext cx="2384063" cy="1105003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77939" tIns="38970" rIns="77939" bIns="38970"/>
          <a:lstStyle/>
          <a:p>
            <a:pPr defTabSz="582930">
              <a:defRPr/>
            </a:pPr>
            <a:endParaRPr lang="en-US" altLang="zh-CN" sz="1400" dirty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3" name="Flowchart: Process 115"/>
          <p:cNvSpPr>
            <a:spLocks noChangeArrowheads="1"/>
          </p:cNvSpPr>
          <p:nvPr/>
        </p:nvSpPr>
        <p:spPr bwMode="auto">
          <a:xfrm>
            <a:off x="6152313" y="2407529"/>
            <a:ext cx="2382209" cy="1105003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77939" tIns="38970" rIns="77939" bIns="38970"/>
          <a:lstStyle/>
          <a:p>
            <a:pPr defTabSz="582930" fontAlgn="ctr">
              <a:defRPr/>
            </a:pPr>
            <a:endParaRPr lang="en-US" altLang="zh-CN" sz="1400" dirty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4" name="Flowchart: Process 117"/>
          <p:cNvSpPr>
            <a:spLocks noChangeArrowheads="1"/>
          </p:cNvSpPr>
          <p:nvPr/>
        </p:nvSpPr>
        <p:spPr bwMode="auto">
          <a:xfrm>
            <a:off x="8740300" y="2517493"/>
            <a:ext cx="2473048" cy="842228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77939" tIns="38970" rIns="77939" bIns="38970"/>
          <a:lstStyle/>
          <a:p>
            <a:pPr defTabSz="582930" fontAlgn="ctr">
              <a:defRPr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5" name="Flowchart: Process 109"/>
          <p:cNvSpPr>
            <a:spLocks noChangeArrowheads="1"/>
          </p:cNvSpPr>
          <p:nvPr/>
        </p:nvSpPr>
        <p:spPr bwMode="auto">
          <a:xfrm>
            <a:off x="823223" y="2615140"/>
            <a:ext cx="2652872" cy="722368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77939" tIns="38970" rIns="77939" bIns="38970"/>
          <a:lstStyle/>
          <a:p>
            <a:pPr defTabSz="582930" eaLnBrk="0" hangingPunct="0">
              <a:defRPr/>
            </a:pPr>
            <a:endParaRPr lang="en-US" altLang="zh-CN" sz="1400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6" name="Flowchart: Process 115"/>
          <p:cNvSpPr>
            <a:spLocks noChangeArrowheads="1"/>
          </p:cNvSpPr>
          <p:nvPr/>
        </p:nvSpPr>
        <p:spPr bwMode="auto">
          <a:xfrm>
            <a:off x="5973331" y="2594506"/>
            <a:ext cx="2436055" cy="765216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77939" tIns="38970" rIns="77939" bIns="38970"/>
          <a:lstStyle/>
          <a:p>
            <a:pPr defTabSz="582930" fontAlgn="ctr">
              <a:defRPr/>
            </a:pPr>
            <a:endParaRPr lang="en-US" altLang="zh-CN" sz="1400" dirty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7" name="TextBox 15"/>
          <p:cNvSpPr txBox="1"/>
          <p:nvPr/>
        </p:nvSpPr>
        <p:spPr bwMode="auto">
          <a:xfrm>
            <a:off x="2907257" y="3688976"/>
            <a:ext cx="2009800" cy="29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39" tIns="38970" rIns="77939" bIns="38970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关键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KCP/KDP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设计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8" name="TextBox 103"/>
          <p:cNvSpPr txBox="1"/>
          <p:nvPr/>
        </p:nvSpPr>
        <p:spPr bwMode="auto">
          <a:xfrm>
            <a:off x="8236622" y="3688976"/>
            <a:ext cx="1711268" cy="29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39" tIns="38970" rIns="77939" bIns="38970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业务价值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9" name="Rectangle 93"/>
          <p:cNvSpPr>
            <a:spLocks noChangeArrowheads="1"/>
          </p:cNvSpPr>
          <p:nvPr/>
        </p:nvSpPr>
        <p:spPr bwMode="auto">
          <a:xfrm>
            <a:off x="6452754" y="5893711"/>
            <a:ext cx="4058900" cy="347202"/>
          </a:xfrm>
          <a:prstGeom prst="rect">
            <a:avLst/>
          </a:prstGeom>
          <a:noFill/>
          <a:ln>
            <a:noFill/>
          </a:ln>
        </p:spPr>
        <p:txBody>
          <a:bodyPr wrap="square" lIns="77939" tIns="38970" rIns="77939" bIns="3897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9pPr>
          </a:lstStyle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后续交付、合同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/PO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处理效率提升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40" name="Rectangle 98"/>
          <p:cNvSpPr/>
          <p:nvPr/>
        </p:nvSpPr>
        <p:spPr>
          <a:xfrm>
            <a:off x="6452754" y="4583394"/>
            <a:ext cx="2078640" cy="347202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投标赢率得到提升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41" name="Rectangle 99"/>
          <p:cNvSpPr/>
          <p:nvPr/>
        </p:nvSpPr>
        <p:spPr>
          <a:xfrm>
            <a:off x="6452754" y="5572249"/>
            <a:ext cx="4414851" cy="347202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提升可交付性，保障交付质量，降低项目风险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42" name="Rectangle 100"/>
          <p:cNvSpPr/>
          <p:nvPr/>
        </p:nvSpPr>
        <p:spPr>
          <a:xfrm>
            <a:off x="6452754" y="4236193"/>
            <a:ext cx="2662693" cy="347202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提高销售项目成功把握度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43" name="Rectangle 104"/>
          <p:cNvSpPr>
            <a:spLocks noChangeArrowheads="1"/>
          </p:cNvSpPr>
          <p:nvPr/>
        </p:nvSpPr>
        <p:spPr bwMode="auto">
          <a:xfrm>
            <a:off x="6452754" y="4900435"/>
            <a:ext cx="4058900" cy="347202"/>
          </a:xfrm>
          <a:prstGeom prst="rect">
            <a:avLst/>
          </a:prstGeom>
          <a:noFill/>
          <a:ln>
            <a:noFill/>
          </a:ln>
        </p:spPr>
        <p:txBody>
          <a:bodyPr wrap="square" lIns="77939" tIns="38970" rIns="77939" bIns="3897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9pPr>
          </a:lstStyle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提升标书制作的效率和质量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44" name="Rectangle 105"/>
          <p:cNvSpPr>
            <a:spLocks noChangeArrowheads="1"/>
          </p:cNvSpPr>
          <p:nvPr/>
        </p:nvSpPr>
        <p:spPr bwMode="auto">
          <a:xfrm>
            <a:off x="6452754" y="5206058"/>
            <a:ext cx="4058900" cy="347202"/>
          </a:xfrm>
          <a:prstGeom prst="rect">
            <a:avLst/>
          </a:prstGeom>
          <a:noFill/>
          <a:ln>
            <a:noFill/>
          </a:ln>
        </p:spPr>
        <p:txBody>
          <a:bodyPr wrap="square" lIns="77939" tIns="38970" rIns="77939" bIns="3897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9pPr>
          </a:lstStyle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确保合同的合规性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46" name="Rectangle 81"/>
          <p:cNvSpPr/>
          <p:nvPr/>
        </p:nvSpPr>
        <p:spPr bwMode="auto">
          <a:xfrm>
            <a:off x="6171745" y="2552813"/>
            <a:ext cx="2459356" cy="95751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39" tIns="38970" rIns="77939" bIns="38970" numCol="1" rtlCol="0" anchor="t" anchorCtr="0" compatLnSpc="1">
            <a:noAutofit/>
          </a:bodyPr>
          <a:lstStyle/>
          <a:p>
            <a:pPr defTabSz="582930" fontAlgn="ctr">
              <a:defRPr/>
            </a:pP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291302" y="2704996"/>
            <a:ext cx="2220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82930" fontAlgn="ctr">
              <a:defRPr/>
            </a:pP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分析客户标书，制定有效投标策略，包括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: 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价格策略，商务策略等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49" name="Rectangle 86"/>
          <p:cNvSpPr/>
          <p:nvPr/>
        </p:nvSpPr>
        <p:spPr bwMode="auto">
          <a:xfrm>
            <a:off x="8811057" y="2552813"/>
            <a:ext cx="2459356" cy="95751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39" tIns="38970" rIns="77939" bIns="38970" numCol="1" rtlCol="0" anchor="t" anchorCtr="0" compatLnSpc="1">
            <a:noAutofit/>
          </a:bodyPr>
          <a:lstStyle/>
          <a:p>
            <a:pPr defTabSz="582930" fontAlgn="ctr">
              <a:defRPr/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799576" y="2704996"/>
            <a:ext cx="24823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82930" fontAlgn="ctr"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与客户谈判并签约，准备合同交接并关闭机会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点，同时，启动丢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/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赢单复盘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52" name="Rectangle 83"/>
          <p:cNvSpPr/>
          <p:nvPr/>
        </p:nvSpPr>
        <p:spPr bwMode="auto">
          <a:xfrm>
            <a:off x="868474" y="2552813"/>
            <a:ext cx="2459356" cy="95751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39" tIns="38970" rIns="77939" bIns="38970" numCol="1" rtlCol="0" anchor="t" anchorCtr="0" compatLnSpc="1">
            <a:noAutofit/>
          </a:bodyPr>
          <a:lstStyle/>
          <a:p>
            <a:pPr defTabSz="582930" eaLnBrk="0" hangingPunct="0">
              <a:defRPr/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23878" y="2704996"/>
            <a:ext cx="24515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82930" eaLnBrk="0" hangingPunct="0"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分析和评估机会点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，完成商机进漏斗审批，分级分层及立项决策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55" name="Rectangle 82"/>
          <p:cNvSpPr/>
          <p:nvPr/>
        </p:nvSpPr>
        <p:spPr bwMode="auto">
          <a:xfrm>
            <a:off x="3543915" y="2552813"/>
            <a:ext cx="2459356" cy="95751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39" tIns="38970" rIns="77939" bIns="38970" numCol="1" rtlCol="0" anchor="t" anchorCtr="0" compatLnSpc="1">
            <a:noAutofit/>
          </a:bodyPr>
          <a:lstStyle/>
          <a:p>
            <a:pPr defTabSz="582930" fontAlgn="ctr">
              <a:defRPr/>
            </a:pP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581561" y="2729001"/>
            <a:ext cx="23840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82930" fontAlgn="ctr">
              <a:defRPr/>
            </a:pP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制定解决方案和价值主张，影响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客户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的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购买构想并取得认可，引导客户标书和评标标准</a:t>
            </a:r>
          </a:p>
        </p:txBody>
      </p:sp>
      <p:sp>
        <p:nvSpPr>
          <p:cNvPr id="74" name="Rectangle 100"/>
          <p:cNvSpPr/>
          <p:nvPr/>
        </p:nvSpPr>
        <p:spPr>
          <a:xfrm>
            <a:off x="945048" y="4337981"/>
            <a:ext cx="2874170" cy="245413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验证商机：商机审批，立项评审决策</a:t>
            </a:r>
          </a:p>
        </p:txBody>
      </p:sp>
      <p:sp>
        <p:nvSpPr>
          <p:cNvPr id="75" name="Rectangle 100"/>
          <p:cNvSpPr/>
          <p:nvPr/>
        </p:nvSpPr>
        <p:spPr>
          <a:xfrm>
            <a:off x="952043" y="4761957"/>
            <a:ext cx="2104728" cy="245413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推进商机：解决方案评审</a:t>
            </a:r>
          </a:p>
        </p:txBody>
      </p:sp>
      <p:sp>
        <p:nvSpPr>
          <p:cNvPr id="76" name="Rectangle 100"/>
          <p:cNvSpPr/>
          <p:nvPr/>
        </p:nvSpPr>
        <p:spPr>
          <a:xfrm>
            <a:off x="952043" y="5226193"/>
            <a:ext cx="3335834" cy="245413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制定并执行投标策略：标前评审，特价审批</a:t>
            </a:r>
          </a:p>
        </p:txBody>
      </p:sp>
      <p:sp>
        <p:nvSpPr>
          <p:cNvPr id="77" name="Rectangle 100"/>
          <p:cNvSpPr/>
          <p:nvPr/>
        </p:nvSpPr>
        <p:spPr>
          <a:xfrm>
            <a:off x="962168" y="5709139"/>
            <a:ext cx="3863223" cy="245413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谈判并签订合同：直签项目合同评审，丢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赢单复盘</a:t>
            </a:r>
          </a:p>
        </p:txBody>
      </p:sp>
    </p:spTree>
    <p:extLst>
      <p:ext uri="{BB962C8B-B14F-4D97-AF65-F5344CB8AC3E}">
        <p14:creationId xmlns:p14="http://schemas.microsoft.com/office/powerpoint/2010/main" val="160633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61975" y="93222"/>
            <a:ext cx="8651062" cy="495935"/>
          </a:xfrm>
        </p:spPr>
        <p:txBody>
          <a:bodyPr/>
          <a:lstStyle/>
          <a:p>
            <a:r>
              <a:rPr lang="en-US" altLang="zh-CN" dirty="0" smtClean="0"/>
              <a:t>M11.1 </a:t>
            </a:r>
            <a:r>
              <a:rPr lang="zh-CN" altLang="en-US" dirty="0" smtClean="0"/>
              <a:t>验证商机</a:t>
            </a:r>
            <a:r>
              <a:rPr lang="en-US" altLang="zh-CN" dirty="0" smtClean="0"/>
              <a:t>-</a:t>
            </a:r>
            <a:r>
              <a:rPr lang="zh-CN" altLang="en-US" dirty="0" smtClean="0"/>
              <a:t>做准</a:t>
            </a:r>
            <a:r>
              <a:rPr lang="en-US" altLang="zh-CN" dirty="0" smtClean="0"/>
              <a:t>N</a:t>
            </a:r>
            <a:r>
              <a:rPr lang="zh-CN" altLang="en-US" dirty="0" smtClean="0"/>
              <a:t>和</a:t>
            </a:r>
            <a:r>
              <a:rPr lang="en-US" altLang="zh-CN" dirty="0" smtClean="0"/>
              <a:t>T</a:t>
            </a:r>
            <a:r>
              <a:rPr lang="zh-CN" altLang="en-US" dirty="0" smtClean="0"/>
              <a:t>的输入和审核</a:t>
            </a:r>
            <a:endParaRPr lang="zh-CN" altLang="en-US" dirty="0"/>
          </a:p>
        </p:txBody>
      </p:sp>
      <p:grpSp>
        <p:nvGrpSpPr>
          <p:cNvPr id="10" name="group 162"/>
          <p:cNvGrpSpPr/>
          <p:nvPr/>
        </p:nvGrpSpPr>
        <p:grpSpPr>
          <a:xfrm rot="21600000">
            <a:off x="784436" y="2292157"/>
            <a:ext cx="5935979" cy="4117269"/>
            <a:chOff x="-12700" y="-12700"/>
            <a:chExt cx="5935979" cy="4117269"/>
          </a:xfrm>
        </p:grpSpPr>
        <p:grpSp>
          <p:nvGrpSpPr>
            <p:cNvPr id="11" name="group 164"/>
            <p:cNvGrpSpPr/>
            <p:nvPr/>
          </p:nvGrpSpPr>
          <p:grpSpPr>
            <a:xfrm rot="21600000">
              <a:off x="0" y="0"/>
              <a:ext cx="5910071" cy="4104569"/>
              <a:chOff x="0" y="0"/>
              <a:chExt cx="5910071" cy="4104569"/>
            </a:xfrm>
          </p:grpSpPr>
          <p:sp>
            <p:nvSpPr>
              <p:cNvPr id="13" name="path 1550"/>
              <p:cNvSpPr/>
              <p:nvPr/>
            </p:nvSpPr>
            <p:spPr>
              <a:xfrm>
                <a:off x="0" y="0"/>
                <a:ext cx="5908548" cy="498347"/>
              </a:xfrm>
              <a:custGeom>
                <a:avLst/>
                <a:gdLst/>
                <a:ahLst/>
                <a:cxnLst/>
                <a:rect l="0" t="0" r="0" b="0"/>
                <a:pathLst>
                  <a:path w="9304" h="784">
                    <a:moveTo>
                      <a:pt x="0" y="0"/>
                    </a:moveTo>
                    <a:lnTo>
                      <a:pt x="9304" y="0"/>
                    </a:lnTo>
                    <a:lnTo>
                      <a:pt x="9304" y="784"/>
                    </a:lnTo>
                    <a:lnTo>
                      <a:pt x="0" y="7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A284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path 1552"/>
              <p:cNvSpPr/>
              <p:nvPr/>
            </p:nvSpPr>
            <p:spPr>
              <a:xfrm>
                <a:off x="0" y="478535"/>
                <a:ext cx="5910071" cy="3626034"/>
              </a:xfrm>
              <a:custGeom>
                <a:avLst/>
                <a:gdLst/>
                <a:ahLst/>
                <a:cxnLst/>
                <a:rect l="0" t="0" r="0" b="0"/>
                <a:pathLst>
                  <a:path w="9307" h="3820">
                    <a:moveTo>
                      <a:pt x="0" y="0"/>
                    </a:moveTo>
                    <a:lnTo>
                      <a:pt x="9307" y="0"/>
                    </a:lnTo>
                    <a:lnTo>
                      <a:pt x="9307" y="3820"/>
                    </a:lnTo>
                    <a:lnTo>
                      <a:pt x="0" y="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6E6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textbox 1554"/>
            <p:cNvSpPr/>
            <p:nvPr/>
          </p:nvSpPr>
          <p:spPr>
            <a:xfrm>
              <a:off x="-12700" y="-12700"/>
              <a:ext cx="5935979" cy="29305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sz="9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2513965" eaLnBrk="0">
                <a:lnSpc>
                  <a:spcPct val="95000"/>
                </a:lnSpc>
              </a:pPr>
              <a:r>
                <a:rPr lang="zh-CN" altLang="en-US" sz="1700" kern="0" spc="80" dirty="0" smtClean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流程</a:t>
              </a: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15" name="group 166"/>
          <p:cNvGrpSpPr/>
          <p:nvPr/>
        </p:nvGrpSpPr>
        <p:grpSpPr>
          <a:xfrm rot="21600000">
            <a:off x="6799665" y="2289869"/>
            <a:ext cx="4154170" cy="4119556"/>
            <a:chOff x="-12700" y="-12700"/>
            <a:chExt cx="4154170" cy="3491022"/>
          </a:xfrm>
        </p:grpSpPr>
        <p:grpSp>
          <p:nvGrpSpPr>
            <p:cNvPr id="16" name="group 168"/>
            <p:cNvGrpSpPr/>
            <p:nvPr/>
          </p:nvGrpSpPr>
          <p:grpSpPr>
            <a:xfrm rot="21600000">
              <a:off x="0" y="0"/>
              <a:ext cx="4126991" cy="3478322"/>
              <a:chOff x="0" y="0"/>
              <a:chExt cx="4126991" cy="3478322"/>
            </a:xfrm>
          </p:grpSpPr>
          <p:sp>
            <p:nvSpPr>
              <p:cNvPr id="18" name="path 1558"/>
              <p:cNvSpPr/>
              <p:nvPr/>
            </p:nvSpPr>
            <p:spPr>
              <a:xfrm>
                <a:off x="0" y="0"/>
                <a:ext cx="4126991" cy="498347"/>
              </a:xfrm>
              <a:custGeom>
                <a:avLst/>
                <a:gdLst/>
                <a:ahLst/>
                <a:cxnLst/>
                <a:rect l="0" t="0" r="0" b="0"/>
                <a:pathLst>
                  <a:path w="6499" h="784">
                    <a:moveTo>
                      <a:pt x="0" y="0"/>
                    </a:moveTo>
                    <a:lnTo>
                      <a:pt x="6499" y="0"/>
                    </a:lnTo>
                    <a:lnTo>
                      <a:pt x="6499" y="784"/>
                    </a:lnTo>
                    <a:lnTo>
                      <a:pt x="0" y="7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A284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path 1560"/>
              <p:cNvSpPr/>
              <p:nvPr/>
            </p:nvSpPr>
            <p:spPr>
              <a:xfrm>
                <a:off x="0" y="498346"/>
                <a:ext cx="4126991" cy="2979976"/>
              </a:xfrm>
              <a:custGeom>
                <a:avLst/>
                <a:gdLst/>
                <a:ahLst/>
                <a:cxnLst/>
                <a:rect l="0" t="0" r="0" b="0"/>
                <a:pathLst>
                  <a:path w="6499" h="2078">
                    <a:moveTo>
                      <a:pt x="0" y="0"/>
                    </a:moveTo>
                    <a:lnTo>
                      <a:pt x="6499" y="0"/>
                    </a:lnTo>
                    <a:lnTo>
                      <a:pt x="6499" y="2078"/>
                    </a:lnTo>
                    <a:lnTo>
                      <a:pt x="0" y="20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6E6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" name="textbox 1566"/>
            <p:cNvSpPr/>
            <p:nvPr/>
          </p:nvSpPr>
          <p:spPr>
            <a:xfrm>
              <a:off x="-12700" y="-12700"/>
              <a:ext cx="4154170" cy="29292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9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623060" algn="l" rtl="0" eaLnBrk="0">
                <a:lnSpc>
                  <a:spcPct val="96000"/>
                </a:lnSpc>
                <a:spcBef>
                  <a:spcPts val="5"/>
                </a:spcBef>
              </a:pPr>
              <a:r>
                <a:rPr lang="zh-CN" altLang="en-US" sz="1700" kern="0" spc="80" dirty="0" smtClean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注意事项</a:t>
              </a:r>
              <a:endParaRPr sz="1000" dirty="0" smtClean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9000"/>
                </a:lnSpc>
              </a:pPr>
              <a:endParaRPr sz="3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448027" y="866134"/>
            <a:ext cx="107059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/>
              <a:t>本流程专注于优化商机验证环节，其核心旨在确保进入销售漏斗的商机具备真实性和健康性。通过对符合条件的商机进行细致评估与分级分层管理，我们能够更精准地识别出重点商机。重点商机发起立项流程，经过立项评审决策后，一旦立项通过，即投入相应资源全力推进。</a:t>
            </a:r>
            <a:endParaRPr lang="zh-CN" altLang="en-US" sz="1600" dirty="0"/>
          </a:p>
        </p:txBody>
      </p:sp>
      <p:sp>
        <p:nvSpPr>
          <p:cNvPr id="31" name="矩形 30"/>
          <p:cNvSpPr/>
          <p:nvPr/>
        </p:nvSpPr>
        <p:spPr>
          <a:xfrm>
            <a:off x="6727594" y="3000147"/>
            <a:ext cx="4029546" cy="27687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3665" eaLnBrk="0">
              <a:lnSpc>
                <a:spcPct val="85000"/>
              </a:lnSpc>
              <a:spcBef>
                <a:spcPts val="425"/>
              </a:spcBef>
            </a:pPr>
            <a:r>
              <a:rPr lang="zh-CN" altLang="en-US" sz="1400" b="1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重点注意事项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、商机进漏斗时输入准确的配置清单和</a:t>
            </a: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3T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；售前做好配置可信度评分工作，销售负责</a:t>
            </a: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3T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的填写和及时刷新；具体方法参照做准</a:t>
            </a: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3T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的方法；</a:t>
            </a: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 action="ppaction://hlinkpres?slideindex=1&amp;slidetitle="/>
              </a:rPr>
              <a:t>N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 action="ppaction://hlinkpres?slideindex=1&amp;slidetitle="/>
              </a:rPr>
              <a:t>和</a:t>
            </a: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 action="ppaction://hlinkpres?slideindex=1&amp;slidetitle="/>
              </a:rPr>
              <a:t>3T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 action="ppaction://hlinkpres?slideindex=1&amp;slidetitle="/>
              </a:rPr>
              <a:t>流程培训宣贯材料</a:t>
            </a: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 action="ppaction://hlinkpres?slideindex=1&amp;slidetitle="/>
              </a:rPr>
              <a:t>_V5.0.pptx</a:t>
            </a: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、区域经理对于进漏斗的机会进行严格审批，具体审批规则参考</a:t>
            </a: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验证商机流程；</a:t>
            </a:r>
            <a:r>
              <a:rPr lang="en-US" altLang="zh-CN" sz="1400" dirty="0">
                <a:hlinkClick r:id="rId3"/>
              </a:rPr>
              <a:t>M11.1 </a:t>
            </a:r>
            <a:r>
              <a:rPr lang="zh-CN" altLang="en-US" sz="1400" dirty="0">
                <a:hlinkClick r:id="rId3"/>
              </a:rPr>
              <a:t>验证商机流程说明文件</a:t>
            </a:r>
            <a:r>
              <a:rPr lang="en-US" altLang="zh-CN" sz="1400" dirty="0">
                <a:hlinkClick r:id="rId3"/>
              </a:rPr>
              <a:t>-V1.0</a:t>
            </a:r>
            <a:endParaRPr lang="zh-CN" altLang="en-US" sz="1400" dirty="0"/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、项目分类分级和立项决策发起均由</a:t>
            </a: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CRM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自动功能支撑，对应的审批人做好项目立项审批决策工作，对于满足立项条件但决定不立项的项目要提供明确的说明；</a:t>
            </a: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endParaRPr lang="zh-CN" altLang="en-US" sz="300" dirty="0">
              <a:ea typeface="Arial" panose="020B0604020202090204"/>
              <a:cs typeface="Arial" panose="020B0604020202090204"/>
            </a:endParaRPr>
          </a:p>
        </p:txBody>
      </p:sp>
      <p:sp>
        <p:nvSpPr>
          <p:cNvPr id="38" name="AutoShape 12"/>
          <p:cNvSpPr>
            <a:spLocks noChangeArrowheads="1"/>
          </p:cNvSpPr>
          <p:nvPr/>
        </p:nvSpPr>
        <p:spPr bwMode="gray">
          <a:xfrm>
            <a:off x="3109329" y="1852407"/>
            <a:ext cx="2586134" cy="437462"/>
          </a:xfrm>
          <a:prstGeom prst="chevron">
            <a:avLst>
              <a:gd name="adj" fmla="val 15486"/>
            </a:avLst>
          </a:prstGeom>
          <a:solidFill>
            <a:schemeClr val="accent4">
              <a:lumMod val="40000"/>
              <a:lumOff val="60000"/>
            </a:schemeClr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商机推进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9" name="AutoShape 13"/>
          <p:cNvSpPr>
            <a:spLocks noChangeArrowheads="1"/>
          </p:cNvSpPr>
          <p:nvPr/>
        </p:nvSpPr>
        <p:spPr bwMode="gray">
          <a:xfrm>
            <a:off x="5671516" y="1852407"/>
            <a:ext cx="2758542" cy="437462"/>
          </a:xfrm>
          <a:prstGeom prst="chevron">
            <a:avLst>
              <a:gd name="adj" fmla="val 16781"/>
            </a:avLst>
          </a:prstGeom>
          <a:solidFill>
            <a:schemeClr val="accent4">
              <a:lumMod val="40000"/>
              <a:lumOff val="60000"/>
            </a:schemeClr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制定并执行投标策略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40" name="AutoShape 10"/>
          <p:cNvSpPr>
            <a:spLocks noChangeArrowheads="1"/>
          </p:cNvSpPr>
          <p:nvPr/>
        </p:nvSpPr>
        <p:spPr bwMode="gray">
          <a:xfrm>
            <a:off x="784436" y="1852407"/>
            <a:ext cx="2348839" cy="437462"/>
          </a:xfrm>
          <a:prstGeom prst="chevron">
            <a:avLst>
              <a:gd name="adj" fmla="val 15711"/>
            </a:avLst>
          </a:prstGeom>
          <a:solidFill>
            <a:schemeClr val="accent4">
              <a:lumMod val="75000"/>
            </a:schemeClr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验证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商机</a:t>
            </a:r>
          </a:p>
        </p:txBody>
      </p:sp>
      <p:sp>
        <p:nvSpPr>
          <p:cNvPr id="41" name="AutoShape 14"/>
          <p:cNvSpPr>
            <a:spLocks noChangeArrowheads="1"/>
          </p:cNvSpPr>
          <p:nvPr/>
        </p:nvSpPr>
        <p:spPr bwMode="gray">
          <a:xfrm>
            <a:off x="8406112" y="1852407"/>
            <a:ext cx="2547724" cy="437462"/>
          </a:xfrm>
          <a:prstGeom prst="chevron">
            <a:avLst>
              <a:gd name="adj" fmla="val 15684"/>
            </a:avLst>
          </a:prstGeom>
          <a:solidFill>
            <a:schemeClr val="accent4">
              <a:lumMod val="40000"/>
              <a:lumOff val="60000"/>
            </a:schemeClr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谈判并签订合同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792486" y="2962370"/>
            <a:ext cx="3964654" cy="10692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9415" indent="-285750" eaLnBrk="0">
              <a:lnSpc>
                <a:spcPct val="85000"/>
              </a:lnSpc>
              <a:spcBef>
                <a:spcPts val="425"/>
              </a:spcBef>
              <a:buFont typeface="Arial" panose="020B0604020202090204" pitchFamily="34" charset="0"/>
              <a:buChar char="•"/>
            </a:pPr>
            <a:endParaRPr lang="zh-CN" altLang="en-US" sz="1400" dirty="0" smtClean="0"/>
          </a:p>
          <a:p>
            <a:pPr marL="399415" indent="-285750" eaLnBrk="0">
              <a:lnSpc>
                <a:spcPct val="85000"/>
              </a:lnSpc>
              <a:spcBef>
                <a:spcPts val="425"/>
              </a:spcBef>
              <a:buFont typeface="Arial" panose="020B0604020202090204" pitchFamily="34" charset="0"/>
              <a:buChar char="•"/>
            </a:pPr>
            <a:endParaRPr lang="en-US" altLang="zh-CN" sz="1400" dirty="0" smtClean="0"/>
          </a:p>
          <a:p>
            <a:pPr marL="399415" indent="-285750" eaLnBrk="0">
              <a:lnSpc>
                <a:spcPct val="85000"/>
              </a:lnSpc>
              <a:spcBef>
                <a:spcPts val="425"/>
              </a:spcBef>
              <a:buFont typeface="Arial" panose="020B0604020202090204" pitchFamily="34" charset="0"/>
              <a:buChar char="•"/>
            </a:pPr>
            <a:endParaRPr lang="en-US" altLang="zh-CN" sz="1400" dirty="0"/>
          </a:p>
          <a:p>
            <a:pPr marL="399415" indent="-285750" eaLnBrk="0">
              <a:lnSpc>
                <a:spcPct val="85000"/>
              </a:lnSpc>
              <a:spcBef>
                <a:spcPts val="425"/>
              </a:spcBef>
              <a:buFont typeface="Arial" panose="020B0604020202090204" pitchFamily="34" charset="0"/>
              <a:buChar char="•"/>
            </a:pP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endParaRPr lang="zh-CN" altLang="en-US" sz="300" dirty="0">
              <a:ea typeface="Arial" panose="020B0604020202090204"/>
              <a:cs typeface="Arial" panose="020B060402020209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252" y="2840007"/>
            <a:ext cx="4990315" cy="351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46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61975" y="93222"/>
            <a:ext cx="8651062" cy="495935"/>
          </a:xfrm>
        </p:spPr>
        <p:txBody>
          <a:bodyPr/>
          <a:lstStyle/>
          <a:p>
            <a:r>
              <a:rPr lang="en-US" altLang="zh-CN" dirty="0" smtClean="0"/>
              <a:t>M11.2 </a:t>
            </a:r>
            <a:r>
              <a:rPr lang="zh-CN" altLang="en-US" dirty="0" smtClean="0"/>
              <a:t>推进商机</a:t>
            </a:r>
            <a:r>
              <a:rPr lang="en-US" altLang="zh-CN" dirty="0" smtClean="0"/>
              <a:t>-</a:t>
            </a:r>
            <a:r>
              <a:rPr lang="en-US" altLang="zh-CN" sz="1400" dirty="0">
                <a:hlinkClick r:id="rId2"/>
              </a:rPr>
              <a:t>M11.2 </a:t>
            </a:r>
            <a:r>
              <a:rPr lang="zh-CN" altLang="en-US" sz="1400" dirty="0">
                <a:hlinkClick r:id="rId2"/>
              </a:rPr>
              <a:t>推进商机流程说明文件</a:t>
            </a:r>
            <a:r>
              <a:rPr lang="en-US" altLang="zh-CN" sz="1400" dirty="0">
                <a:hlinkClick r:id="rId2"/>
              </a:rPr>
              <a:t>-V1.0</a:t>
            </a:r>
            <a:endParaRPr lang="zh-CN" altLang="en-US" sz="1400" dirty="0"/>
          </a:p>
          <a:p>
            <a:endParaRPr lang="zh-CN" altLang="en-US" dirty="0"/>
          </a:p>
        </p:txBody>
      </p:sp>
      <p:grpSp>
        <p:nvGrpSpPr>
          <p:cNvPr id="10" name="group 162"/>
          <p:cNvGrpSpPr/>
          <p:nvPr/>
        </p:nvGrpSpPr>
        <p:grpSpPr>
          <a:xfrm rot="21600000">
            <a:off x="784436" y="2136881"/>
            <a:ext cx="5935979" cy="4539963"/>
            <a:chOff x="-12700" y="-12700"/>
            <a:chExt cx="5935979" cy="4539963"/>
          </a:xfrm>
        </p:grpSpPr>
        <p:grpSp>
          <p:nvGrpSpPr>
            <p:cNvPr id="11" name="group 164"/>
            <p:cNvGrpSpPr/>
            <p:nvPr/>
          </p:nvGrpSpPr>
          <p:grpSpPr>
            <a:xfrm rot="21600000">
              <a:off x="0" y="0"/>
              <a:ext cx="5910071" cy="4527263"/>
              <a:chOff x="0" y="0"/>
              <a:chExt cx="5910071" cy="4527263"/>
            </a:xfrm>
          </p:grpSpPr>
          <p:sp>
            <p:nvSpPr>
              <p:cNvPr id="13" name="path 1550"/>
              <p:cNvSpPr/>
              <p:nvPr/>
            </p:nvSpPr>
            <p:spPr>
              <a:xfrm>
                <a:off x="0" y="0"/>
                <a:ext cx="5908548" cy="498347"/>
              </a:xfrm>
              <a:custGeom>
                <a:avLst/>
                <a:gdLst/>
                <a:ahLst/>
                <a:cxnLst/>
                <a:rect l="0" t="0" r="0" b="0"/>
                <a:pathLst>
                  <a:path w="9304" h="784">
                    <a:moveTo>
                      <a:pt x="0" y="0"/>
                    </a:moveTo>
                    <a:lnTo>
                      <a:pt x="9304" y="0"/>
                    </a:lnTo>
                    <a:lnTo>
                      <a:pt x="9304" y="784"/>
                    </a:lnTo>
                    <a:lnTo>
                      <a:pt x="0" y="7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A284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path 1552"/>
              <p:cNvSpPr/>
              <p:nvPr/>
            </p:nvSpPr>
            <p:spPr>
              <a:xfrm>
                <a:off x="0" y="478534"/>
                <a:ext cx="5910071" cy="4048729"/>
              </a:xfrm>
              <a:custGeom>
                <a:avLst/>
                <a:gdLst/>
                <a:ahLst/>
                <a:cxnLst/>
                <a:rect l="0" t="0" r="0" b="0"/>
                <a:pathLst>
                  <a:path w="9307" h="3820">
                    <a:moveTo>
                      <a:pt x="0" y="0"/>
                    </a:moveTo>
                    <a:lnTo>
                      <a:pt x="9307" y="0"/>
                    </a:lnTo>
                    <a:lnTo>
                      <a:pt x="9307" y="3820"/>
                    </a:lnTo>
                    <a:lnTo>
                      <a:pt x="0" y="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6E6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textbox 1554"/>
            <p:cNvSpPr/>
            <p:nvPr/>
          </p:nvSpPr>
          <p:spPr>
            <a:xfrm>
              <a:off x="-12700" y="-12700"/>
              <a:ext cx="5935979" cy="29305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sz="9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2513965" eaLnBrk="0">
                <a:lnSpc>
                  <a:spcPct val="95000"/>
                </a:lnSpc>
              </a:pPr>
              <a:r>
                <a:rPr lang="zh-CN" altLang="en-US" sz="1700" kern="0" spc="80" dirty="0" smtClean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流程</a:t>
              </a: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15" name="group 166"/>
          <p:cNvGrpSpPr/>
          <p:nvPr/>
        </p:nvGrpSpPr>
        <p:grpSpPr>
          <a:xfrm rot="21600000">
            <a:off x="6799665" y="2134593"/>
            <a:ext cx="4154170" cy="4542250"/>
            <a:chOff x="-12700" y="-12700"/>
            <a:chExt cx="4154170" cy="3849224"/>
          </a:xfrm>
        </p:grpSpPr>
        <p:grpSp>
          <p:nvGrpSpPr>
            <p:cNvPr id="16" name="group 168"/>
            <p:cNvGrpSpPr/>
            <p:nvPr/>
          </p:nvGrpSpPr>
          <p:grpSpPr>
            <a:xfrm rot="21600000">
              <a:off x="0" y="0"/>
              <a:ext cx="4126991" cy="3836524"/>
              <a:chOff x="0" y="0"/>
              <a:chExt cx="4126991" cy="3836524"/>
            </a:xfrm>
          </p:grpSpPr>
          <p:sp>
            <p:nvSpPr>
              <p:cNvPr id="18" name="path 1558"/>
              <p:cNvSpPr/>
              <p:nvPr/>
            </p:nvSpPr>
            <p:spPr>
              <a:xfrm>
                <a:off x="0" y="0"/>
                <a:ext cx="4126991" cy="498347"/>
              </a:xfrm>
              <a:custGeom>
                <a:avLst/>
                <a:gdLst/>
                <a:ahLst/>
                <a:cxnLst/>
                <a:rect l="0" t="0" r="0" b="0"/>
                <a:pathLst>
                  <a:path w="6499" h="784">
                    <a:moveTo>
                      <a:pt x="0" y="0"/>
                    </a:moveTo>
                    <a:lnTo>
                      <a:pt x="6499" y="0"/>
                    </a:lnTo>
                    <a:lnTo>
                      <a:pt x="6499" y="784"/>
                    </a:lnTo>
                    <a:lnTo>
                      <a:pt x="0" y="7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A284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path 1560"/>
              <p:cNvSpPr/>
              <p:nvPr/>
            </p:nvSpPr>
            <p:spPr>
              <a:xfrm>
                <a:off x="0" y="498345"/>
                <a:ext cx="4126991" cy="3338179"/>
              </a:xfrm>
              <a:custGeom>
                <a:avLst/>
                <a:gdLst/>
                <a:ahLst/>
                <a:cxnLst/>
                <a:rect l="0" t="0" r="0" b="0"/>
                <a:pathLst>
                  <a:path w="6499" h="2078">
                    <a:moveTo>
                      <a:pt x="0" y="0"/>
                    </a:moveTo>
                    <a:lnTo>
                      <a:pt x="6499" y="0"/>
                    </a:lnTo>
                    <a:lnTo>
                      <a:pt x="6499" y="2078"/>
                    </a:lnTo>
                    <a:lnTo>
                      <a:pt x="0" y="20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6E6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" name="textbox 1566"/>
            <p:cNvSpPr/>
            <p:nvPr/>
          </p:nvSpPr>
          <p:spPr>
            <a:xfrm>
              <a:off x="-12700" y="-12700"/>
              <a:ext cx="4154170" cy="29292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9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623060" eaLnBrk="0">
                <a:lnSpc>
                  <a:spcPct val="96000"/>
                </a:lnSpc>
                <a:spcBef>
                  <a:spcPts val="5"/>
                </a:spcBef>
              </a:pPr>
              <a:r>
                <a:rPr lang="zh-CN" altLang="en-US" sz="17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注意事项</a:t>
              </a:r>
              <a:endParaRPr lang="zh-CN" altLang="en-US" sz="1000" dirty="0"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38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9000"/>
                </a:lnSpc>
              </a:pPr>
              <a:endParaRPr sz="3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448027" y="866134"/>
            <a:ext cx="107059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推进商机流程是指一系列有计划、有组织的步骤和活动，旨在识别、评估、推进并最终转化销售机会为实际销售成果的过程。它涵盖了从初步接触客户到成功赢得订单的整个销售周期，包括制定价值主张、提供解决方案、引导客户决策以及执行相关销售策略等关键环节。</a:t>
            </a:r>
          </a:p>
        </p:txBody>
      </p:sp>
      <p:sp>
        <p:nvSpPr>
          <p:cNvPr id="31" name="矩形 30"/>
          <p:cNvSpPr/>
          <p:nvPr/>
        </p:nvSpPr>
        <p:spPr>
          <a:xfrm>
            <a:off x="6843140" y="2838087"/>
            <a:ext cx="4065440" cy="1996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3665" eaLnBrk="0">
              <a:lnSpc>
                <a:spcPct val="85000"/>
              </a:lnSpc>
              <a:spcBef>
                <a:spcPts val="425"/>
              </a:spcBef>
            </a:pPr>
            <a:r>
              <a:rPr lang="zh-CN" altLang="en-US" sz="1400" b="1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重点注意事项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、项目启动会及后续的项目分析会为商机推进工作稳步推进做保障。立项决策后</a:t>
            </a: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日内做好项目启动会工作；</a:t>
            </a: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、售后部门前置参与解决方案评审，确保方案交付落地可行性和解决方案质量</a:t>
            </a: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endParaRPr lang="en-US" altLang="zh-CN" sz="1400" kern="0" spc="-5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r>
              <a:rPr lang="zh-CN" altLang="en-US" sz="14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供应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链诉求。。。。</a:t>
            </a: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AutoShape 12"/>
          <p:cNvSpPr>
            <a:spLocks noChangeArrowheads="1"/>
          </p:cNvSpPr>
          <p:nvPr/>
        </p:nvSpPr>
        <p:spPr bwMode="gray">
          <a:xfrm>
            <a:off x="3109329" y="1697131"/>
            <a:ext cx="2586134" cy="437462"/>
          </a:xfrm>
          <a:prstGeom prst="chevron">
            <a:avLst>
              <a:gd name="adj" fmla="val 15486"/>
            </a:avLst>
          </a:prstGeom>
          <a:solidFill>
            <a:srgbClr val="FF9700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商机推进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9" name="AutoShape 13"/>
          <p:cNvSpPr>
            <a:spLocks noChangeArrowheads="1"/>
          </p:cNvSpPr>
          <p:nvPr/>
        </p:nvSpPr>
        <p:spPr bwMode="gray">
          <a:xfrm>
            <a:off x="5671516" y="1697131"/>
            <a:ext cx="2758542" cy="437462"/>
          </a:xfrm>
          <a:prstGeom prst="chevron">
            <a:avLst>
              <a:gd name="adj" fmla="val 16781"/>
            </a:avLst>
          </a:prstGeom>
          <a:solidFill>
            <a:schemeClr val="accent4">
              <a:lumMod val="40000"/>
              <a:lumOff val="60000"/>
            </a:schemeClr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制定并执行投标策略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40" name="AutoShape 10"/>
          <p:cNvSpPr>
            <a:spLocks noChangeArrowheads="1"/>
          </p:cNvSpPr>
          <p:nvPr/>
        </p:nvSpPr>
        <p:spPr bwMode="gray">
          <a:xfrm>
            <a:off x="784436" y="1697131"/>
            <a:ext cx="2348839" cy="437462"/>
          </a:xfrm>
          <a:prstGeom prst="chevron">
            <a:avLst>
              <a:gd name="adj" fmla="val 15711"/>
            </a:avLst>
          </a:prstGeom>
          <a:solidFill>
            <a:srgbClr val="FFE3BB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验证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商机</a:t>
            </a:r>
          </a:p>
        </p:txBody>
      </p:sp>
      <p:sp>
        <p:nvSpPr>
          <p:cNvPr id="41" name="AutoShape 14"/>
          <p:cNvSpPr>
            <a:spLocks noChangeArrowheads="1"/>
          </p:cNvSpPr>
          <p:nvPr/>
        </p:nvSpPr>
        <p:spPr bwMode="gray">
          <a:xfrm>
            <a:off x="8406112" y="1697131"/>
            <a:ext cx="2547724" cy="437462"/>
          </a:xfrm>
          <a:prstGeom prst="chevron">
            <a:avLst>
              <a:gd name="adj" fmla="val 15684"/>
            </a:avLst>
          </a:prstGeom>
          <a:solidFill>
            <a:schemeClr val="accent4">
              <a:lumMod val="40000"/>
              <a:lumOff val="60000"/>
            </a:schemeClr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谈判并签订合同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57" y="3029619"/>
            <a:ext cx="5906012" cy="284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61975" y="93222"/>
            <a:ext cx="8651062" cy="495935"/>
          </a:xfrm>
        </p:spPr>
        <p:txBody>
          <a:bodyPr/>
          <a:lstStyle/>
          <a:p>
            <a:r>
              <a:rPr lang="en-US" altLang="zh-CN" dirty="0" smtClean="0"/>
              <a:t>M11.3 </a:t>
            </a:r>
            <a:r>
              <a:rPr lang="zh-CN" altLang="en-US" dirty="0" smtClean="0"/>
              <a:t>制定并执行投标策略</a:t>
            </a:r>
            <a:r>
              <a:rPr lang="en-US" altLang="zh-CN" dirty="0" smtClean="0"/>
              <a:t>-</a:t>
            </a:r>
            <a:r>
              <a:rPr lang="en-US" altLang="zh-CN" sz="1400" dirty="0">
                <a:hlinkClick r:id="rId2"/>
              </a:rPr>
              <a:t>M11.3 </a:t>
            </a:r>
            <a:r>
              <a:rPr lang="zh-CN" altLang="en-US" sz="1400" dirty="0">
                <a:hlinkClick r:id="rId2"/>
              </a:rPr>
              <a:t>制定并执行投标策略流程说明文件</a:t>
            </a:r>
            <a:r>
              <a:rPr lang="en-US" altLang="zh-CN" sz="1400" dirty="0">
                <a:hlinkClick r:id="rId2"/>
              </a:rPr>
              <a:t>-V1.0</a:t>
            </a:r>
            <a:endParaRPr lang="zh-CN" altLang="en-US" sz="1400" dirty="0"/>
          </a:p>
          <a:p>
            <a:endParaRPr lang="zh-CN" altLang="en-US" dirty="0"/>
          </a:p>
        </p:txBody>
      </p:sp>
      <p:grpSp>
        <p:nvGrpSpPr>
          <p:cNvPr id="10" name="group 162"/>
          <p:cNvGrpSpPr/>
          <p:nvPr/>
        </p:nvGrpSpPr>
        <p:grpSpPr>
          <a:xfrm rot="21600000">
            <a:off x="784436" y="2292157"/>
            <a:ext cx="5935979" cy="4117269"/>
            <a:chOff x="-12700" y="-12700"/>
            <a:chExt cx="5935979" cy="4117269"/>
          </a:xfrm>
        </p:grpSpPr>
        <p:grpSp>
          <p:nvGrpSpPr>
            <p:cNvPr id="11" name="group 164"/>
            <p:cNvGrpSpPr/>
            <p:nvPr/>
          </p:nvGrpSpPr>
          <p:grpSpPr>
            <a:xfrm rot="21600000">
              <a:off x="0" y="0"/>
              <a:ext cx="5910071" cy="4104569"/>
              <a:chOff x="0" y="0"/>
              <a:chExt cx="5910071" cy="4104569"/>
            </a:xfrm>
          </p:grpSpPr>
          <p:sp>
            <p:nvSpPr>
              <p:cNvPr id="13" name="path 1550"/>
              <p:cNvSpPr/>
              <p:nvPr/>
            </p:nvSpPr>
            <p:spPr>
              <a:xfrm>
                <a:off x="0" y="0"/>
                <a:ext cx="5908548" cy="498347"/>
              </a:xfrm>
              <a:custGeom>
                <a:avLst/>
                <a:gdLst/>
                <a:ahLst/>
                <a:cxnLst/>
                <a:rect l="0" t="0" r="0" b="0"/>
                <a:pathLst>
                  <a:path w="9304" h="784">
                    <a:moveTo>
                      <a:pt x="0" y="0"/>
                    </a:moveTo>
                    <a:lnTo>
                      <a:pt x="9304" y="0"/>
                    </a:lnTo>
                    <a:lnTo>
                      <a:pt x="9304" y="784"/>
                    </a:lnTo>
                    <a:lnTo>
                      <a:pt x="0" y="7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A284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path 1552"/>
              <p:cNvSpPr/>
              <p:nvPr/>
            </p:nvSpPr>
            <p:spPr>
              <a:xfrm>
                <a:off x="0" y="478535"/>
                <a:ext cx="5910071" cy="3626034"/>
              </a:xfrm>
              <a:custGeom>
                <a:avLst/>
                <a:gdLst/>
                <a:ahLst/>
                <a:cxnLst/>
                <a:rect l="0" t="0" r="0" b="0"/>
                <a:pathLst>
                  <a:path w="9307" h="3820">
                    <a:moveTo>
                      <a:pt x="0" y="0"/>
                    </a:moveTo>
                    <a:lnTo>
                      <a:pt x="9307" y="0"/>
                    </a:lnTo>
                    <a:lnTo>
                      <a:pt x="9307" y="3820"/>
                    </a:lnTo>
                    <a:lnTo>
                      <a:pt x="0" y="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6E6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textbox 1554"/>
            <p:cNvSpPr/>
            <p:nvPr/>
          </p:nvSpPr>
          <p:spPr>
            <a:xfrm>
              <a:off x="-12700" y="-12700"/>
              <a:ext cx="5935979" cy="29305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sz="9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2513965" eaLnBrk="0">
                <a:lnSpc>
                  <a:spcPct val="95000"/>
                </a:lnSpc>
              </a:pPr>
              <a:r>
                <a:rPr lang="zh-CN" altLang="en-US" sz="1700" kern="0" spc="80" dirty="0" smtClean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流程</a:t>
              </a: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15" name="group 166"/>
          <p:cNvGrpSpPr/>
          <p:nvPr/>
        </p:nvGrpSpPr>
        <p:grpSpPr>
          <a:xfrm rot="21600000">
            <a:off x="6799665" y="2289869"/>
            <a:ext cx="4154170" cy="4119556"/>
            <a:chOff x="-12700" y="-12700"/>
            <a:chExt cx="4154170" cy="3491022"/>
          </a:xfrm>
        </p:grpSpPr>
        <p:grpSp>
          <p:nvGrpSpPr>
            <p:cNvPr id="16" name="group 168"/>
            <p:cNvGrpSpPr/>
            <p:nvPr/>
          </p:nvGrpSpPr>
          <p:grpSpPr>
            <a:xfrm rot="21600000">
              <a:off x="0" y="0"/>
              <a:ext cx="4126991" cy="3478322"/>
              <a:chOff x="0" y="0"/>
              <a:chExt cx="4126991" cy="3478322"/>
            </a:xfrm>
          </p:grpSpPr>
          <p:sp>
            <p:nvSpPr>
              <p:cNvPr id="18" name="path 1558"/>
              <p:cNvSpPr/>
              <p:nvPr/>
            </p:nvSpPr>
            <p:spPr>
              <a:xfrm>
                <a:off x="0" y="0"/>
                <a:ext cx="4126991" cy="498347"/>
              </a:xfrm>
              <a:custGeom>
                <a:avLst/>
                <a:gdLst/>
                <a:ahLst/>
                <a:cxnLst/>
                <a:rect l="0" t="0" r="0" b="0"/>
                <a:pathLst>
                  <a:path w="6499" h="784">
                    <a:moveTo>
                      <a:pt x="0" y="0"/>
                    </a:moveTo>
                    <a:lnTo>
                      <a:pt x="6499" y="0"/>
                    </a:lnTo>
                    <a:lnTo>
                      <a:pt x="6499" y="784"/>
                    </a:lnTo>
                    <a:lnTo>
                      <a:pt x="0" y="7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A284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path 1560"/>
              <p:cNvSpPr/>
              <p:nvPr/>
            </p:nvSpPr>
            <p:spPr>
              <a:xfrm>
                <a:off x="0" y="498346"/>
                <a:ext cx="4126991" cy="2979976"/>
              </a:xfrm>
              <a:custGeom>
                <a:avLst/>
                <a:gdLst/>
                <a:ahLst/>
                <a:cxnLst/>
                <a:rect l="0" t="0" r="0" b="0"/>
                <a:pathLst>
                  <a:path w="6499" h="2078">
                    <a:moveTo>
                      <a:pt x="0" y="0"/>
                    </a:moveTo>
                    <a:lnTo>
                      <a:pt x="6499" y="0"/>
                    </a:lnTo>
                    <a:lnTo>
                      <a:pt x="6499" y="2078"/>
                    </a:lnTo>
                    <a:lnTo>
                      <a:pt x="0" y="20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6E6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" name="textbox 1566"/>
            <p:cNvSpPr/>
            <p:nvPr/>
          </p:nvSpPr>
          <p:spPr>
            <a:xfrm>
              <a:off x="-12700" y="-12700"/>
              <a:ext cx="4154170" cy="29292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9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623060" algn="l" rtl="0" eaLnBrk="0">
                <a:lnSpc>
                  <a:spcPct val="96000"/>
                </a:lnSpc>
                <a:spcBef>
                  <a:spcPts val="5"/>
                </a:spcBef>
              </a:pPr>
              <a:r>
                <a:rPr lang="zh-CN" altLang="en-US" sz="1700" kern="0" spc="80" dirty="0" smtClean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注意事项</a:t>
              </a:r>
              <a:endParaRPr sz="1000" dirty="0" smtClean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9000"/>
                </a:lnSpc>
              </a:pPr>
              <a:endParaRPr sz="3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439400" y="786348"/>
            <a:ext cx="107059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制定并执行投标策略是参与市场竞争、提升中标率的重要手段。通过深入的市场调研与分析、明确投标目标、制定投标方案、建立投标团队等步骤，可以制定出一套科学、合理的投标策略。在执行投标策略的过程中，要密切关注市场动态和竞争对手的动向，及时调整策略，确保投标工作的顺利进行。同时，要对每次投标活动进行总结和反思，不断优化投标策略，提升我们的投标能力和水平。</a:t>
            </a:r>
          </a:p>
        </p:txBody>
      </p:sp>
      <p:sp>
        <p:nvSpPr>
          <p:cNvPr id="31" name="矩形 30"/>
          <p:cNvSpPr/>
          <p:nvPr/>
        </p:nvSpPr>
        <p:spPr>
          <a:xfrm>
            <a:off x="7050787" y="3083961"/>
            <a:ext cx="3506692" cy="2688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3665" eaLnBrk="0">
              <a:lnSpc>
                <a:spcPct val="85000"/>
              </a:lnSpc>
              <a:spcBef>
                <a:spcPts val="425"/>
              </a:spcBef>
            </a:pPr>
            <a:r>
              <a:rPr lang="zh-CN" altLang="en-US" sz="1400" b="1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重点注意事项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、分析</a:t>
            </a:r>
            <a:r>
              <a:rPr lang="zh-CN" altLang="en-US" sz="14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标书环节要吃透招标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需求，充分进行竞争对手与我司优劣势分析，同时要进行合规性自查与风险预判评估等工作。</a:t>
            </a: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、制定投标策略要锚定招标核心需求，进行差异化分析，价格策略，商务策略，风险兜底以及备选方案都必须充分关注与考虑。</a:t>
            </a: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1400" b="1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特价申请与审批严格执行</a:t>
            </a:r>
            <a:r>
              <a:rPr lang="en-US" altLang="zh-CN" sz="1400" b="1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EBG</a:t>
            </a:r>
            <a:r>
              <a:rPr lang="zh-CN" altLang="en-US" sz="1400" b="1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现有流程</a:t>
            </a:r>
            <a:endParaRPr lang="en-US" altLang="zh-CN" sz="1400" b="1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endParaRPr lang="en-US" altLang="zh-CN" sz="1400" b="1" kern="0" spc="-5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r>
              <a:rPr lang="zh-CN" altLang="en-US" sz="1400" b="1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供应链诉求：</a:t>
            </a:r>
            <a:endParaRPr lang="en-US" altLang="zh-CN" sz="1400" b="1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endParaRPr lang="zh-CN" altLang="en-US" sz="300" dirty="0">
              <a:ea typeface="Arial" panose="020B0604020202090204"/>
              <a:cs typeface="Arial" panose="020B0604020202090204"/>
            </a:endParaRPr>
          </a:p>
        </p:txBody>
      </p:sp>
      <p:sp>
        <p:nvSpPr>
          <p:cNvPr id="38" name="AutoShape 12"/>
          <p:cNvSpPr>
            <a:spLocks noChangeArrowheads="1"/>
          </p:cNvSpPr>
          <p:nvPr/>
        </p:nvSpPr>
        <p:spPr bwMode="gray">
          <a:xfrm>
            <a:off x="3109329" y="1852407"/>
            <a:ext cx="2586134" cy="437462"/>
          </a:xfrm>
          <a:prstGeom prst="chevron">
            <a:avLst>
              <a:gd name="adj" fmla="val 15486"/>
            </a:avLst>
          </a:prstGeom>
          <a:solidFill>
            <a:schemeClr val="accent4">
              <a:lumMod val="40000"/>
              <a:lumOff val="60000"/>
            </a:schemeClr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商机推进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9" name="AutoShape 13"/>
          <p:cNvSpPr>
            <a:spLocks noChangeArrowheads="1"/>
          </p:cNvSpPr>
          <p:nvPr/>
        </p:nvSpPr>
        <p:spPr bwMode="gray">
          <a:xfrm>
            <a:off x="5671516" y="1852407"/>
            <a:ext cx="2758542" cy="437462"/>
          </a:xfrm>
          <a:prstGeom prst="chevron">
            <a:avLst>
              <a:gd name="adj" fmla="val 16781"/>
            </a:avLst>
          </a:prstGeom>
          <a:solidFill>
            <a:srgbClr val="FF9700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制定并执行投标策略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40" name="AutoShape 10"/>
          <p:cNvSpPr>
            <a:spLocks noChangeArrowheads="1"/>
          </p:cNvSpPr>
          <p:nvPr/>
        </p:nvSpPr>
        <p:spPr bwMode="gray">
          <a:xfrm>
            <a:off x="784436" y="1852407"/>
            <a:ext cx="2348839" cy="437462"/>
          </a:xfrm>
          <a:prstGeom prst="chevron">
            <a:avLst>
              <a:gd name="adj" fmla="val 15711"/>
            </a:avLst>
          </a:prstGeom>
          <a:solidFill>
            <a:srgbClr val="FFE3BB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验证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商机</a:t>
            </a:r>
          </a:p>
        </p:txBody>
      </p:sp>
      <p:sp>
        <p:nvSpPr>
          <p:cNvPr id="41" name="AutoShape 14"/>
          <p:cNvSpPr>
            <a:spLocks noChangeArrowheads="1"/>
          </p:cNvSpPr>
          <p:nvPr/>
        </p:nvSpPr>
        <p:spPr bwMode="gray">
          <a:xfrm>
            <a:off x="8406112" y="1852407"/>
            <a:ext cx="2547724" cy="437462"/>
          </a:xfrm>
          <a:prstGeom prst="chevron">
            <a:avLst>
              <a:gd name="adj" fmla="val 15684"/>
            </a:avLst>
          </a:prstGeom>
          <a:solidFill>
            <a:schemeClr val="accent4">
              <a:lumMod val="40000"/>
              <a:lumOff val="60000"/>
            </a:schemeClr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谈判并签订合同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774" y="3070573"/>
            <a:ext cx="3010161" cy="291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6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61975" y="93222"/>
            <a:ext cx="8651062" cy="495935"/>
          </a:xfrm>
        </p:spPr>
        <p:txBody>
          <a:bodyPr/>
          <a:lstStyle/>
          <a:p>
            <a:r>
              <a:rPr lang="en-US" altLang="zh-CN" dirty="0" smtClean="0"/>
              <a:t>M11.4 </a:t>
            </a:r>
            <a:r>
              <a:rPr lang="zh-CN" altLang="en-US" dirty="0" smtClean="0"/>
              <a:t>谈判并签订合同</a:t>
            </a:r>
            <a:r>
              <a:rPr lang="en-US" altLang="zh-CN" dirty="0" smtClean="0"/>
              <a:t>-</a:t>
            </a:r>
            <a:r>
              <a:rPr lang="en-US" altLang="zh-CN" sz="1400" dirty="0">
                <a:hlinkClick r:id="rId2"/>
              </a:rPr>
              <a:t>M11.4 </a:t>
            </a:r>
            <a:r>
              <a:rPr lang="zh-CN" altLang="en-US" sz="1400" dirty="0">
                <a:hlinkClick r:id="rId2"/>
              </a:rPr>
              <a:t>谈判并签订合同流程说明文件</a:t>
            </a:r>
            <a:r>
              <a:rPr lang="en-US" altLang="zh-CN" sz="1400" dirty="0">
                <a:hlinkClick r:id="rId2"/>
              </a:rPr>
              <a:t>-V1.0</a:t>
            </a:r>
            <a:endParaRPr lang="zh-CN" altLang="en-US" sz="1400" dirty="0"/>
          </a:p>
          <a:p>
            <a:endParaRPr lang="zh-CN" altLang="en-US" dirty="0"/>
          </a:p>
        </p:txBody>
      </p:sp>
      <p:grpSp>
        <p:nvGrpSpPr>
          <p:cNvPr id="10" name="group 162"/>
          <p:cNvGrpSpPr/>
          <p:nvPr/>
        </p:nvGrpSpPr>
        <p:grpSpPr>
          <a:xfrm rot="21600000">
            <a:off x="784436" y="2292157"/>
            <a:ext cx="5935979" cy="4445073"/>
            <a:chOff x="-12700" y="-12700"/>
            <a:chExt cx="5935979" cy="4380823"/>
          </a:xfrm>
        </p:grpSpPr>
        <p:grpSp>
          <p:nvGrpSpPr>
            <p:cNvPr id="11" name="group 164"/>
            <p:cNvGrpSpPr/>
            <p:nvPr/>
          </p:nvGrpSpPr>
          <p:grpSpPr>
            <a:xfrm rot="21600000">
              <a:off x="0" y="0"/>
              <a:ext cx="5910071" cy="4368123"/>
              <a:chOff x="0" y="0"/>
              <a:chExt cx="5910071" cy="4368123"/>
            </a:xfrm>
          </p:grpSpPr>
          <p:sp>
            <p:nvSpPr>
              <p:cNvPr id="13" name="path 1550"/>
              <p:cNvSpPr/>
              <p:nvPr/>
            </p:nvSpPr>
            <p:spPr>
              <a:xfrm>
                <a:off x="0" y="0"/>
                <a:ext cx="5908548" cy="498347"/>
              </a:xfrm>
              <a:custGeom>
                <a:avLst/>
                <a:gdLst/>
                <a:ahLst/>
                <a:cxnLst/>
                <a:rect l="0" t="0" r="0" b="0"/>
                <a:pathLst>
                  <a:path w="9304" h="784">
                    <a:moveTo>
                      <a:pt x="0" y="0"/>
                    </a:moveTo>
                    <a:lnTo>
                      <a:pt x="9304" y="0"/>
                    </a:lnTo>
                    <a:lnTo>
                      <a:pt x="9304" y="784"/>
                    </a:lnTo>
                    <a:lnTo>
                      <a:pt x="0" y="7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A284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path 1552"/>
              <p:cNvSpPr/>
              <p:nvPr/>
            </p:nvSpPr>
            <p:spPr>
              <a:xfrm>
                <a:off x="0" y="478535"/>
                <a:ext cx="5910071" cy="3889588"/>
              </a:xfrm>
              <a:custGeom>
                <a:avLst/>
                <a:gdLst/>
                <a:ahLst/>
                <a:cxnLst/>
                <a:rect l="0" t="0" r="0" b="0"/>
                <a:pathLst>
                  <a:path w="9307" h="3820">
                    <a:moveTo>
                      <a:pt x="0" y="0"/>
                    </a:moveTo>
                    <a:lnTo>
                      <a:pt x="9307" y="0"/>
                    </a:lnTo>
                    <a:lnTo>
                      <a:pt x="9307" y="3820"/>
                    </a:lnTo>
                    <a:lnTo>
                      <a:pt x="0" y="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6E6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textbox 1554"/>
            <p:cNvSpPr/>
            <p:nvPr/>
          </p:nvSpPr>
          <p:spPr>
            <a:xfrm>
              <a:off x="-12700" y="-12700"/>
              <a:ext cx="5935979" cy="29305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sz="9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2513965" eaLnBrk="0">
                <a:lnSpc>
                  <a:spcPct val="95000"/>
                </a:lnSpc>
              </a:pPr>
              <a:r>
                <a:rPr lang="zh-CN" altLang="en-US" sz="17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关键活动</a:t>
              </a:r>
              <a:endPara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15" name="group 166"/>
          <p:cNvGrpSpPr/>
          <p:nvPr/>
        </p:nvGrpSpPr>
        <p:grpSpPr>
          <a:xfrm rot="21600000">
            <a:off x="6814129" y="2289869"/>
            <a:ext cx="4154170" cy="4385002"/>
            <a:chOff x="-12700" y="-12700"/>
            <a:chExt cx="4154170" cy="3715968"/>
          </a:xfrm>
        </p:grpSpPr>
        <p:grpSp>
          <p:nvGrpSpPr>
            <p:cNvPr id="16" name="group 168"/>
            <p:cNvGrpSpPr/>
            <p:nvPr/>
          </p:nvGrpSpPr>
          <p:grpSpPr>
            <a:xfrm rot="21600000">
              <a:off x="0" y="0"/>
              <a:ext cx="4126991" cy="3703268"/>
              <a:chOff x="0" y="0"/>
              <a:chExt cx="4126991" cy="3703268"/>
            </a:xfrm>
          </p:grpSpPr>
          <p:sp>
            <p:nvSpPr>
              <p:cNvPr id="18" name="path 1558"/>
              <p:cNvSpPr/>
              <p:nvPr/>
            </p:nvSpPr>
            <p:spPr>
              <a:xfrm>
                <a:off x="0" y="0"/>
                <a:ext cx="4126991" cy="498347"/>
              </a:xfrm>
              <a:custGeom>
                <a:avLst/>
                <a:gdLst/>
                <a:ahLst/>
                <a:cxnLst/>
                <a:rect l="0" t="0" r="0" b="0"/>
                <a:pathLst>
                  <a:path w="6499" h="784">
                    <a:moveTo>
                      <a:pt x="0" y="0"/>
                    </a:moveTo>
                    <a:lnTo>
                      <a:pt x="6499" y="0"/>
                    </a:lnTo>
                    <a:lnTo>
                      <a:pt x="6499" y="784"/>
                    </a:lnTo>
                    <a:lnTo>
                      <a:pt x="0" y="7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A284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path 1560"/>
              <p:cNvSpPr/>
              <p:nvPr/>
            </p:nvSpPr>
            <p:spPr>
              <a:xfrm>
                <a:off x="0" y="498345"/>
                <a:ext cx="4126991" cy="3204923"/>
              </a:xfrm>
              <a:custGeom>
                <a:avLst/>
                <a:gdLst/>
                <a:ahLst/>
                <a:cxnLst/>
                <a:rect l="0" t="0" r="0" b="0"/>
                <a:pathLst>
                  <a:path w="6499" h="2078">
                    <a:moveTo>
                      <a:pt x="0" y="0"/>
                    </a:moveTo>
                    <a:lnTo>
                      <a:pt x="6499" y="0"/>
                    </a:lnTo>
                    <a:lnTo>
                      <a:pt x="6499" y="2078"/>
                    </a:lnTo>
                    <a:lnTo>
                      <a:pt x="0" y="20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6E6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" name="textbox 1566"/>
            <p:cNvSpPr/>
            <p:nvPr/>
          </p:nvSpPr>
          <p:spPr>
            <a:xfrm>
              <a:off x="-12700" y="-12700"/>
              <a:ext cx="4154170" cy="29292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9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623060" algn="l" rtl="0" eaLnBrk="0">
                <a:lnSpc>
                  <a:spcPct val="96000"/>
                </a:lnSpc>
                <a:spcBef>
                  <a:spcPts val="5"/>
                </a:spcBef>
              </a:pPr>
              <a:r>
                <a:rPr lang="zh-CN" altLang="en-US" sz="1700" kern="0" spc="80" dirty="0" smtClean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注意事项</a:t>
              </a:r>
              <a:endParaRPr sz="1000" dirty="0" smtClean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9000"/>
                </a:lnSpc>
              </a:pPr>
              <a:endParaRPr sz="3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439400" y="786348"/>
            <a:ext cx="107059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谈判并签订合同流程是一个复杂而细致的过程，其中包括：</a:t>
            </a:r>
            <a:r>
              <a:rPr lang="zh-CN" altLang="en-US" sz="1600" b="1" dirty="0"/>
              <a:t>非直签项目中标后与下级渠道确认合同条款及二次谈判，</a:t>
            </a:r>
            <a:r>
              <a:rPr lang="zh-CN" altLang="en-US" sz="1600" dirty="0"/>
              <a:t>促成一级渠道与下级渠道签订合同；</a:t>
            </a:r>
            <a:r>
              <a:rPr lang="zh-CN" altLang="en-US" sz="1600" b="1" dirty="0"/>
              <a:t>直签项目中标后与最终用户确认合同条款及二次谈判；赢单</a:t>
            </a:r>
            <a:r>
              <a:rPr lang="en-US" altLang="zh-CN" sz="1600" b="1" dirty="0"/>
              <a:t>/</a:t>
            </a:r>
            <a:r>
              <a:rPr lang="zh-CN" altLang="en-US" sz="1600" b="1" dirty="0"/>
              <a:t>丢单总结复盘分析</a:t>
            </a:r>
            <a:r>
              <a:rPr lang="zh-CN" altLang="en-US" sz="1600" dirty="0"/>
              <a:t>等关键过程，特别是在</a:t>
            </a:r>
            <a:r>
              <a:rPr lang="zh-CN" altLang="en-US" sz="1600" b="1" dirty="0"/>
              <a:t>立项的大项目</a:t>
            </a:r>
            <a:r>
              <a:rPr lang="zh-CN" altLang="en-US" sz="1600" dirty="0"/>
              <a:t>中，它要求我司业务人员具备高度的专业素养、良好的沟通谈判能力以及持续学习的态度。通过不断优化与合作，我司将与各级渠道合作伙伴建立稳定而长久的合作关系，共同实现商业目标。</a:t>
            </a:r>
            <a:endParaRPr lang="zh-CN" altLang="en-US" sz="1600" dirty="0">
              <a:effectLst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800920" y="3051389"/>
            <a:ext cx="3963131" cy="1201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3665" eaLnBrk="0">
              <a:lnSpc>
                <a:spcPct val="85000"/>
              </a:lnSpc>
              <a:spcBef>
                <a:spcPts val="425"/>
              </a:spcBef>
            </a:pPr>
            <a:r>
              <a:rPr lang="zh-CN" altLang="en-US" sz="1400" b="1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重点注意事项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r>
              <a:rPr lang="en-US" altLang="zh-CN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400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、通过合同评审环节严控直签类合同签署，确保核心条款明确，合规合法。</a:t>
            </a: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r>
              <a:rPr lang="en-US" altLang="zh-CN" sz="1400" b="1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400" b="1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、确保每一个项目都做到丢</a:t>
            </a:r>
            <a:r>
              <a:rPr lang="en-US" altLang="zh-CN" sz="1400" b="1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400" b="1" kern="0" spc="-50" dirty="0" smtClean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赢单复盘，通过经验总结为后续工作提供指导。</a:t>
            </a:r>
            <a:endParaRPr lang="en-US" altLang="zh-CN" sz="1400" b="1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endParaRPr lang="zh-CN" altLang="en-US" sz="300" dirty="0">
              <a:ea typeface="Arial" panose="020B0604020202090204"/>
              <a:cs typeface="Arial" panose="020B0604020202090204"/>
            </a:endParaRPr>
          </a:p>
        </p:txBody>
      </p:sp>
      <p:sp>
        <p:nvSpPr>
          <p:cNvPr id="38" name="AutoShape 12"/>
          <p:cNvSpPr>
            <a:spLocks noChangeArrowheads="1"/>
          </p:cNvSpPr>
          <p:nvPr/>
        </p:nvSpPr>
        <p:spPr bwMode="gray">
          <a:xfrm>
            <a:off x="3109329" y="1852407"/>
            <a:ext cx="2586134" cy="437462"/>
          </a:xfrm>
          <a:prstGeom prst="chevron">
            <a:avLst>
              <a:gd name="adj" fmla="val 15486"/>
            </a:avLst>
          </a:prstGeom>
          <a:solidFill>
            <a:schemeClr val="accent4">
              <a:lumMod val="40000"/>
              <a:lumOff val="60000"/>
            </a:schemeClr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商机推进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9" name="AutoShape 13"/>
          <p:cNvSpPr>
            <a:spLocks noChangeArrowheads="1"/>
          </p:cNvSpPr>
          <p:nvPr/>
        </p:nvSpPr>
        <p:spPr bwMode="gray">
          <a:xfrm>
            <a:off x="5671516" y="1852407"/>
            <a:ext cx="2758542" cy="437462"/>
          </a:xfrm>
          <a:prstGeom prst="chevron">
            <a:avLst>
              <a:gd name="adj" fmla="val 16781"/>
            </a:avLst>
          </a:prstGeom>
          <a:solidFill>
            <a:srgbClr val="FFE3BB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制定并执行投标策略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40" name="AutoShape 10"/>
          <p:cNvSpPr>
            <a:spLocks noChangeArrowheads="1"/>
          </p:cNvSpPr>
          <p:nvPr/>
        </p:nvSpPr>
        <p:spPr bwMode="gray">
          <a:xfrm>
            <a:off x="784436" y="1852407"/>
            <a:ext cx="2348839" cy="437462"/>
          </a:xfrm>
          <a:prstGeom prst="chevron">
            <a:avLst>
              <a:gd name="adj" fmla="val 15711"/>
            </a:avLst>
          </a:prstGeom>
          <a:solidFill>
            <a:srgbClr val="FFE3BB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验证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商机</a:t>
            </a:r>
          </a:p>
        </p:txBody>
      </p:sp>
      <p:sp>
        <p:nvSpPr>
          <p:cNvPr id="41" name="AutoShape 14"/>
          <p:cNvSpPr>
            <a:spLocks noChangeArrowheads="1"/>
          </p:cNvSpPr>
          <p:nvPr/>
        </p:nvSpPr>
        <p:spPr bwMode="gray">
          <a:xfrm>
            <a:off x="8406112" y="1852407"/>
            <a:ext cx="2547724" cy="437462"/>
          </a:xfrm>
          <a:prstGeom prst="chevron">
            <a:avLst>
              <a:gd name="adj" fmla="val 15684"/>
            </a:avLst>
          </a:prstGeom>
          <a:solidFill>
            <a:srgbClr val="FF9700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谈判并签订合同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705684" y="2975434"/>
            <a:ext cx="3964654" cy="834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9415" indent="-285750" eaLnBrk="0">
              <a:lnSpc>
                <a:spcPct val="85000"/>
              </a:lnSpc>
              <a:spcBef>
                <a:spcPts val="425"/>
              </a:spcBef>
              <a:buFont typeface="Arial" panose="020B0604020202090204" pitchFamily="34" charset="0"/>
              <a:buChar char="•"/>
            </a:pPr>
            <a:endParaRPr lang="en-US" altLang="zh-CN" sz="1400" dirty="0" smtClean="0"/>
          </a:p>
          <a:p>
            <a:pPr marL="399415" indent="-285750" eaLnBrk="0">
              <a:lnSpc>
                <a:spcPct val="85000"/>
              </a:lnSpc>
              <a:spcBef>
                <a:spcPts val="425"/>
              </a:spcBef>
              <a:buFont typeface="Arial" panose="020B0604020202090204" pitchFamily="34" charset="0"/>
              <a:buChar char="•"/>
            </a:pPr>
            <a:endParaRPr lang="en-US" altLang="zh-CN" sz="1400" dirty="0"/>
          </a:p>
          <a:p>
            <a:pPr marL="399415" indent="-285750" eaLnBrk="0">
              <a:lnSpc>
                <a:spcPct val="85000"/>
              </a:lnSpc>
              <a:spcBef>
                <a:spcPts val="425"/>
              </a:spcBef>
              <a:buFont typeface="Arial" panose="020B0604020202090204" pitchFamily="34" charset="0"/>
              <a:buChar char="•"/>
            </a:pPr>
            <a:endParaRPr lang="en-US" altLang="zh-CN" sz="1400" kern="0" spc="-50" dirty="0" smtClean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3665" eaLnBrk="0">
              <a:lnSpc>
                <a:spcPct val="85000"/>
              </a:lnSpc>
              <a:spcBef>
                <a:spcPts val="425"/>
              </a:spcBef>
            </a:pPr>
            <a:endParaRPr lang="zh-CN" altLang="en-US" sz="300" dirty="0">
              <a:ea typeface="Arial" panose="020B0604020202090204"/>
              <a:cs typeface="Arial" panose="020B060402020209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268" y="3112876"/>
            <a:ext cx="5209934" cy="297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64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508134" y="3610721"/>
            <a:ext cx="4497355" cy="5244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5" y="2368088"/>
            <a:ext cx="5073794" cy="3009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关键点识别与分析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如何输入准确的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和</a:t>
            </a:r>
            <a:r>
              <a:rPr lang="en-US" altLang="zh-CN" dirty="0" smtClean="0"/>
              <a:t>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销售预测流程中的下单承诺和要货计划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立项项目和一般项目与供应链的协同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渠道下单要货日期管理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9368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7606768" cy="495935"/>
          </a:xfrm>
        </p:spPr>
        <p:txBody>
          <a:bodyPr/>
          <a:lstStyle/>
          <a:p>
            <a:r>
              <a:rPr lang="zh-CN" altLang="en-US" dirty="0" smtClean="0"/>
              <a:t>预测流程</a:t>
            </a:r>
            <a:endParaRPr lang="zh-CN" altLang="en-US" dirty="0"/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194" y="936747"/>
            <a:ext cx="8740897" cy="592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257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508134" y="4172036"/>
            <a:ext cx="4497355" cy="5244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5" y="2368088"/>
            <a:ext cx="5073794" cy="3009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关键点识别与分析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如何输入准确的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和</a:t>
            </a:r>
            <a:r>
              <a:rPr lang="en-US" altLang="zh-CN" dirty="0" smtClean="0"/>
              <a:t>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销售预测流程中的下单承诺和要货计划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立项项目和一般项目与供应链的协同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渠道下单要货日期管理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6071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508134" y="4715244"/>
            <a:ext cx="4497355" cy="5244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5" y="2368088"/>
            <a:ext cx="5073794" cy="3009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关键点识别与分析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如何输入准确的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和</a:t>
            </a:r>
            <a:r>
              <a:rPr lang="en-US" altLang="zh-CN" dirty="0" smtClean="0"/>
              <a:t>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销售预测流程中的下单承诺和要货计划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立项项目和一般项目与供应链的协同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渠道下单要货日期管理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1359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7606768" cy="495935"/>
          </a:xfrm>
        </p:spPr>
        <p:txBody>
          <a:bodyPr/>
          <a:lstStyle/>
          <a:p>
            <a:r>
              <a:rPr lang="zh-CN" altLang="en-US" dirty="0" smtClean="0"/>
              <a:t>渠道下单流程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31" y="1245669"/>
            <a:ext cx="11149026" cy="251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99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012293" y="5947150"/>
            <a:ext cx="1223412" cy="27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扫一扫了解更多资讯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764301" y="5154553"/>
            <a:ext cx="1082787" cy="108278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a5b54e7-09c9-4e3b-8074-73364de01119"/>
  <p:tag name="COMMONDATA" val="eyJoZGlkIjoiYTg1ODA4OWVjMjRhODZlMDEyMmFhZDlhODFjYTBiYzUifQ=="/>
  <p:tag name="RESOURCE_RECORD_KEY" val="{&quot;13&quot;:[436492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1358</Words>
  <Application>Microsoft Office PowerPoint</Application>
  <PresentationFormat>宽屏</PresentationFormat>
  <Paragraphs>147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等线</vt:lpstr>
      <vt:lpstr>等线 Light</vt:lpstr>
      <vt:lpstr>宋体</vt:lpstr>
      <vt:lpstr>微软雅黑</vt:lpstr>
      <vt:lpstr>Arial</vt:lpstr>
      <vt:lpstr>Calibri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1405</dc:creator>
  <cp:lastModifiedBy>Lenovo</cp:lastModifiedBy>
  <cp:revision>293</cp:revision>
  <dcterms:created xsi:type="dcterms:W3CDTF">2025-07-28T02:11:00Z</dcterms:created>
  <dcterms:modified xsi:type="dcterms:W3CDTF">2025-11-27T07:13:45Z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D94573FBE26046E28D578AEA2B965915_13</vt:lpwstr>
  </property>
  <property fmtid="{D5CDD505-2E9C-101B-9397-08002B2CF9AE}" pid="3" name="KSOProductBuildVer">
    <vt:lpwstr>2052-12.1.0.22529</vt:lpwstr>
  </property>
</Properties>
</file>