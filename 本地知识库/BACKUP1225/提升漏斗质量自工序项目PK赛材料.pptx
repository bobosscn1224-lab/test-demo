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3.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5" r:id="rId2"/>
  </p:sldMasterIdLst>
  <p:notesMasterIdLst>
    <p:notesMasterId r:id="rId35"/>
  </p:notesMasterIdLst>
  <p:sldIdLst>
    <p:sldId id="256" r:id="rId3"/>
    <p:sldId id="351" r:id="rId4"/>
    <p:sldId id="324" r:id="rId5"/>
    <p:sldId id="342" r:id="rId6"/>
    <p:sldId id="343" r:id="rId7"/>
    <p:sldId id="323" r:id="rId8"/>
    <p:sldId id="345" r:id="rId9"/>
    <p:sldId id="282" r:id="rId10"/>
    <p:sldId id="339" r:id="rId11"/>
    <p:sldId id="308" r:id="rId12"/>
    <p:sldId id="311" r:id="rId13"/>
    <p:sldId id="340" r:id="rId14"/>
    <p:sldId id="341" r:id="rId15"/>
    <p:sldId id="330" r:id="rId16"/>
    <p:sldId id="332" r:id="rId17"/>
    <p:sldId id="346" r:id="rId18"/>
    <p:sldId id="347" r:id="rId19"/>
    <p:sldId id="348" r:id="rId20"/>
    <p:sldId id="349" r:id="rId21"/>
    <p:sldId id="350" r:id="rId22"/>
    <p:sldId id="316" r:id="rId23"/>
    <p:sldId id="354" r:id="rId24"/>
    <p:sldId id="353" r:id="rId25"/>
    <p:sldId id="326" r:id="rId26"/>
    <p:sldId id="307" r:id="rId27"/>
    <p:sldId id="355" r:id="rId28"/>
    <p:sldId id="356" r:id="rId29"/>
    <p:sldId id="266" r:id="rId30"/>
    <p:sldId id="327" r:id="rId31"/>
    <p:sldId id="335" r:id="rId32"/>
    <p:sldId id="336" r:id="rId33"/>
    <p:sldId id="334" r:id="rId34"/>
  </p:sldIdLst>
  <p:sldSz cx="12192000" cy="6858000"/>
  <p:notesSz cx="6858000" cy="9144000"/>
  <p:custDataLst>
    <p:tags r:id="rId3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R02753" initials="R" lastIdx="1" clrIdx="0"/>
  <p:cmAuthor id="7" name="wanghaizhen" initials="w" lastIdx="2" clrIdx="6"/>
  <p:cmAuthor id="1" name="HE JC" initials="HJ" lastIdx="1" clrIdx="0"/>
  <p:cmAuthor id="2" name="作者" initials="A" lastIdx="0" clrIdx="1"/>
  <p:cmAuthor id="3" name="米 羽" initials="米" lastIdx="1" clrIdx="2"/>
  <p:cmAuthor id="4" name="孙 喜桐" initials="孙" lastIdx="1" clrIdx="3"/>
  <p:cmAuthor id="5" name="R11988" initials="R" lastIdx="1" clrIdx="4"/>
  <p:cmAuthor id="6" name="Loda" initials="L" lastIdx="1" clrIdx="5"/>
  <p:cmAuthor id="76" name="dell" initials="d" lastIdx="2" clrIdx="2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D53F"/>
    <a:srgbClr val="FFE3BB"/>
    <a:srgbClr val="FF9700"/>
    <a:srgbClr val="0070C0"/>
    <a:srgbClr val="3979C1"/>
    <a:srgbClr val="4F98EB"/>
    <a:srgbClr val="D0E4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270" autoAdjust="0"/>
    <p:restoredTop sz="90196" autoAdjust="0"/>
  </p:normalViewPr>
  <p:slideViewPr>
    <p:cSldViewPr snapToGrid="0">
      <p:cViewPr varScale="1">
        <p:scale>
          <a:sx n="84" d="100"/>
          <a:sy n="84" d="100"/>
        </p:scale>
        <p:origin x="581" y="62"/>
      </p:cViewPr>
      <p:guideLst/>
    </p:cSldViewPr>
  </p:slideViewPr>
  <p:notesTextViewPr>
    <p:cViewPr>
      <p:scale>
        <a:sx n="1" d="1"/>
        <a:sy n="1" d="1"/>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viewProps" Target="viewProps.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notesMaster" Target="notesMasters/notesMaster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050FCB-07F6-4B22-B162-6C5FE8368D04}" type="datetimeFigureOut">
              <a:rPr lang="zh-CN" altLang="en-US" smtClean="0"/>
              <a:t>2025/10/27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E951AD-B4A1-46FE-A52F-08C91A0806C2}" type="slidenum">
              <a:rPr lang="zh-CN" altLang="en-US" smtClean="0"/>
              <a:t>‹#›</a:t>
            </a:fld>
            <a:endParaRPr lang="zh-CN" altLang="en-US"/>
          </a:p>
        </p:txBody>
      </p:sp>
    </p:spTree>
    <p:extLst>
      <p:ext uri="{BB962C8B-B14F-4D97-AF65-F5344CB8AC3E}">
        <p14:creationId xmlns:p14="http://schemas.microsoft.com/office/powerpoint/2010/main" val="7252739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4.xml"/><Relationship Id="rId7"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9"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www.ruijie.com.cn/" TargetMode="External"/><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12.xml"/><Relationship Id="rId7" Type="http://schemas.openxmlformats.org/officeDocument/2006/relationships/image" Target="../media/image2.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slideMaster" Target="../slideMasters/slideMaster2.xml"/><Relationship Id="rId5" Type="http://schemas.openxmlformats.org/officeDocument/2006/relationships/tags" Target="../tags/tag14.xml"/><Relationship Id="rId4" Type="http://schemas.openxmlformats.org/officeDocument/2006/relationships/tags" Target="../tags/tag13.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1"/>
            </p:custDataLst>
          </p:nvPr>
        </p:nvPicPr>
        <p:blipFill>
          <a:blip r:embed="rId8" cstate="screen">
            <a:alphaModFix amt="35000"/>
          </a:blip>
          <a:stretch>
            <a:fillRect/>
          </a:stretch>
        </p:blipFill>
        <p:spPr>
          <a:xfrm>
            <a:off x="438" y="0"/>
            <a:ext cx="12191562" cy="6858000"/>
          </a:xfrm>
          <a:prstGeom prst="rect">
            <a:avLst/>
          </a:prstGeom>
        </p:spPr>
      </p:pic>
      <p:pic>
        <p:nvPicPr>
          <p:cNvPr id="7" name="图片 6"/>
          <p:cNvPicPr>
            <a:picLocks noChangeAspect="1"/>
          </p:cNvPicPr>
          <p:nvPr userDrawn="1">
            <p:custDataLst>
              <p:tags r:id="rId2"/>
            </p:custDataLst>
          </p:nvPr>
        </p:nvPicPr>
        <p:blipFill>
          <a:blip r:embed="rId9" cstate="screen"/>
          <a:stretch>
            <a:fillRect/>
          </a:stretch>
        </p:blipFill>
        <p:spPr>
          <a:xfrm>
            <a:off x="10144927" y="351797"/>
            <a:ext cx="1492890" cy="253694"/>
          </a:xfrm>
          <a:prstGeom prst="rect">
            <a:avLst/>
          </a:prstGeom>
        </p:spPr>
      </p:pic>
      <p:sp>
        <p:nvSpPr>
          <p:cNvPr id="10" name="矩形 9"/>
          <p:cNvSpPr/>
          <p:nvPr userDrawn="1">
            <p:custDataLst>
              <p:tags r:id="rId3"/>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灯片编号占位符 1"/>
          <p:cNvSpPr txBox="1"/>
          <p:nvPr userDrawn="1">
            <p:custDataLst>
              <p:tags r:id="rId4"/>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4" name="灯片编号占位符 1"/>
          <p:cNvSpPr txBox="1"/>
          <p:nvPr userDrawn="1">
            <p:custDataLst>
              <p:tags r:id="rId5"/>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6"/>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pic>
        <p:nvPicPr>
          <p:cNvPr id="7" name="图片 6" descr="图片包含 游戏机&#10;&#10;描述已自动生成"/>
          <p:cNvPicPr>
            <a:picLocks noChangeAspect="1"/>
          </p:cNvPicPr>
          <p:nvPr userDrawn="1"/>
        </p:nvPicPr>
        <p:blipFill>
          <a:blip r:embed="rId2" cstate="screen"/>
          <a:stretch>
            <a:fillRect/>
          </a:stretch>
        </p:blipFill>
        <p:spPr>
          <a:xfrm>
            <a:off x="439" y="0"/>
            <a:ext cx="12191124" cy="6858000"/>
          </a:xfrm>
          <a:prstGeom prst="rect">
            <a:avLst/>
          </a:prstGeom>
        </p:spPr>
      </p:pic>
      <p:pic>
        <p:nvPicPr>
          <p:cNvPr id="10" name="图片 9"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篇章页">
    <p:spTree>
      <p:nvGrpSpPr>
        <p:cNvPr id="1" name=""/>
        <p:cNvGrpSpPr/>
        <p:nvPr/>
      </p:nvGrpSpPr>
      <p:grpSpPr>
        <a:xfrm>
          <a:off x="0" y="0"/>
          <a:ext cx="0" cy="0"/>
          <a:chOff x="0" y="0"/>
          <a:chExt cx="0" cy="0"/>
        </a:xfrm>
      </p:grpSpPr>
      <p:pic>
        <p:nvPicPr>
          <p:cNvPr id="7" name="图片 6" descr="背景图案&#10;&#10;描述已自动生成"/>
          <p:cNvPicPr>
            <a:picLocks noChangeAspect="1"/>
          </p:cNvPicPr>
          <p:nvPr userDrawn="1"/>
        </p:nvPicPr>
        <p:blipFill>
          <a:blip r:embed="rId2" cstate="screen"/>
          <a:stretch>
            <a:fillRect/>
          </a:stretch>
        </p:blipFill>
        <p:spPr>
          <a:xfrm>
            <a:off x="438" y="0"/>
            <a:ext cx="12191561" cy="6858246"/>
          </a:xfrm>
          <a:prstGeom prst="rect">
            <a:avLst/>
          </a:prstGeom>
        </p:spPr>
      </p:pic>
      <p:pic>
        <p:nvPicPr>
          <p:cNvPr id="8" name="图片 7"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10" name="图片 9" descr="背景图案&#10;&#10;描述已自动生成"/>
          <p:cNvPicPr>
            <a:picLocks noChangeAspect="1"/>
          </p:cNvPicPr>
          <p:nvPr userDrawn="1"/>
        </p:nvPicPr>
        <p:blipFill>
          <a:blip r:embed="rId2" cstate="screen"/>
          <a:stretch>
            <a:fillRect/>
          </a:stretch>
        </p:blipFill>
        <p:spPr>
          <a:xfrm>
            <a:off x="438" y="0"/>
            <a:ext cx="12191561" cy="6858000"/>
          </a:xfrm>
          <a:prstGeom prst="rect">
            <a:avLst/>
          </a:prstGeom>
        </p:spPr>
      </p:pic>
      <p:sp>
        <p:nvSpPr>
          <p:cNvPr id="11" name="TextBox 6"/>
          <p:cNvSpPr>
            <a:spLocks noChangeArrowheads="1"/>
          </p:cNvSpPr>
          <p:nvPr userDrawn="1"/>
        </p:nvSpPr>
        <p:spPr bwMode="auto">
          <a:xfrm>
            <a:off x="573759" y="1771142"/>
            <a:ext cx="404812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eaLnBrk="1" hangingPunct="1">
              <a:spcBef>
                <a:spcPct val="0"/>
              </a:spcBef>
              <a:buFont typeface="Arial" panose="020B0604020202020204" pitchFamily="34" charset="0"/>
              <a:buNone/>
            </a:pPr>
            <a:r>
              <a:rPr lang="en-US" altLang="zh-CN" sz="4400" b="1" dirty="0">
                <a:solidFill>
                  <a:schemeClr val="bg1">
                    <a:lumMod val="50000"/>
                  </a:schemeClr>
                </a:solidFill>
                <a:latin typeface="Arial" panose="020B0604020202020204" pitchFamily="34" charset="0"/>
                <a:ea typeface="Arial" panose="020B0604020202020204" pitchFamily="34" charset="0"/>
                <a:cs typeface="Arial" panose="020B0604020202020204" pitchFamily="34" charset="0"/>
                <a:sym typeface="微软雅黑" panose="020B0503020204020204" pitchFamily="34" charset="-122"/>
              </a:rPr>
              <a:t>THANKS.</a:t>
            </a:r>
          </a:p>
        </p:txBody>
      </p:sp>
      <p:sp>
        <p:nvSpPr>
          <p:cNvPr id="12" name="TextBox 7"/>
          <p:cNvSpPr>
            <a:spLocks noChangeArrowheads="1"/>
          </p:cNvSpPr>
          <p:nvPr userDrawn="1"/>
        </p:nvSpPr>
        <p:spPr bwMode="auto">
          <a:xfrm>
            <a:off x="573758" y="2502536"/>
            <a:ext cx="5323894" cy="84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charset="0"/>
                <a:ea typeface="宋体" panose="02010600030101010101" pitchFamily="2" charset="-122"/>
              </a:defRPr>
            </a:lvl9pPr>
          </a:lstStyle>
          <a:p>
            <a:pPr eaLnBrk="1" hangingPunct="1">
              <a:lnSpc>
                <a:spcPct val="150000"/>
              </a:lnSpc>
              <a:spcBef>
                <a:spcPct val="0"/>
              </a:spcBef>
              <a:buFont typeface="Arial" panose="020B0604020202020204" pitchFamily="34" charset="0"/>
              <a:buNone/>
            </a:pPr>
            <a:r>
              <a:rPr lang="zh-CN" altLang="en-US" sz="1400" b="1"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锐捷网络股份有限公司</a:t>
            </a:r>
          </a:p>
          <a:p>
            <a:pPr eaLnBrk="1" hangingPunct="1">
              <a:lnSpc>
                <a:spcPct val="150000"/>
              </a:lnSpc>
              <a:spcBef>
                <a:spcPct val="0"/>
              </a:spcBef>
              <a:buFont typeface="Arial" panose="020B0604020202020204" pitchFamily="34" charset="0"/>
              <a:buNone/>
            </a:pPr>
            <a:r>
              <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欲了解更多信息，欢迎登</a:t>
            </a:r>
            <a:r>
              <a:rPr lang="zh-CN"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录</a:t>
            </a:r>
            <a:r>
              <a:rPr lang="en-US" altLang="zh-CN"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hlinkClick r:id="rId3"/>
              </a:rPr>
              <a:t>www.ruijie.com.cn</a:t>
            </a:r>
            <a:r>
              <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，咨询电话：400-620-8818</a:t>
            </a:r>
          </a:p>
          <a:p>
            <a:pPr eaLnBrk="1" hangingPunct="1">
              <a:lnSpc>
                <a:spcPct val="150000"/>
              </a:lnSpc>
              <a:spcBef>
                <a:spcPct val="0"/>
              </a:spcBef>
              <a:buFont typeface="Arial" panose="020B0604020202020204" pitchFamily="34" charset="0"/>
              <a:buNone/>
            </a:pPr>
            <a:r>
              <a:rPr lang="en-US"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*本资料产品图片及技术数据仅供参考，如有更新恕不另行通知，具体内容解释权归锐捷网络所有。</a:t>
            </a:r>
            <a:endParaRPr lang="en-US" altLang="zh-CN"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pic>
        <p:nvPicPr>
          <p:cNvPr id="13" name="图片 12" descr="徽标&#10;&#10;描述已自动生成"/>
          <p:cNvPicPr>
            <a:picLocks noChangeAspect="1"/>
          </p:cNvPicPr>
          <p:nvPr userDrawn="1"/>
        </p:nvPicPr>
        <p:blipFill>
          <a:blip r:embed="rId4" cstate="screen"/>
          <a:stretch>
            <a:fillRect/>
          </a:stretch>
        </p:blipFill>
        <p:spPr>
          <a:xfrm>
            <a:off x="592015" y="503702"/>
            <a:ext cx="2085672" cy="35442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pic>
        <p:nvPicPr>
          <p:cNvPr id="7" name="图片 6" descr="蓝色的天空&#10;&#10;描述已自动生成"/>
          <p:cNvPicPr>
            <a:picLocks noChangeAspect="1"/>
          </p:cNvPicPr>
          <p:nvPr userDrawn="1"/>
        </p:nvPicPr>
        <p:blipFill>
          <a:blip r:embed="rId2" cstate="screen">
            <a:alphaModFix amt="35000"/>
          </a:blip>
          <a:stretch>
            <a:fillRect/>
          </a:stretch>
        </p:blipFill>
        <p:spPr>
          <a:xfrm>
            <a:off x="438" y="0"/>
            <a:ext cx="12191562"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7" name="图片 6"/>
          <p:cNvPicPr>
            <a:picLocks noChangeAspect="1"/>
          </p:cNvPicPr>
          <p:nvPr userDrawn="1">
            <p:custDataLst>
              <p:tags r:id="rId1"/>
            </p:custDataLst>
          </p:nvPr>
        </p:nvPicPr>
        <p:blipFill>
          <a:blip r:embed="rId7" cstate="screen"/>
          <a:stretch>
            <a:fillRect/>
          </a:stretch>
        </p:blipFill>
        <p:spPr>
          <a:xfrm>
            <a:off x="10144927" y="351797"/>
            <a:ext cx="1492890" cy="253694"/>
          </a:xfrm>
          <a:prstGeom prst="rect">
            <a:avLst/>
          </a:prstGeom>
        </p:spPr>
      </p:pic>
      <p:sp>
        <p:nvSpPr>
          <p:cNvPr id="10" name="矩形 9"/>
          <p:cNvSpPr/>
          <p:nvPr userDrawn="1">
            <p:custDataLst>
              <p:tags r:id="rId2"/>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灯片编号占位符 1"/>
          <p:cNvSpPr txBox="1"/>
          <p:nvPr userDrawn="1">
            <p:custDataLst>
              <p:tags r:id="rId3"/>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4" name="灯片编号占位符 1"/>
          <p:cNvSpPr txBox="1"/>
          <p:nvPr userDrawn="1">
            <p:custDataLst>
              <p:tags r:id="rId4"/>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5"/>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目录">
    <p:spTree>
      <p:nvGrpSpPr>
        <p:cNvPr id="1" name=""/>
        <p:cNvGrpSpPr/>
        <p:nvPr/>
      </p:nvGrpSpPr>
      <p:grpSpPr>
        <a:xfrm>
          <a:off x="0" y="0"/>
          <a:ext cx="0" cy="0"/>
          <a:chOff x="0" y="0"/>
          <a:chExt cx="0" cy="0"/>
        </a:xfrm>
      </p:grpSpPr>
      <p:pic>
        <p:nvPicPr>
          <p:cNvPr id="7" name="图片 6" descr="图片包含 游戏机&#10;&#10;描述已自动生成"/>
          <p:cNvPicPr>
            <a:picLocks noChangeAspect="1"/>
          </p:cNvPicPr>
          <p:nvPr userDrawn="1"/>
        </p:nvPicPr>
        <p:blipFill>
          <a:blip r:embed="rId2" cstate="screen"/>
          <a:stretch>
            <a:fillRect/>
          </a:stretch>
        </p:blipFill>
        <p:spPr>
          <a:xfrm>
            <a:off x="439" y="0"/>
            <a:ext cx="12191124" cy="6858000"/>
          </a:xfrm>
          <a:prstGeom prst="rect">
            <a:avLst/>
          </a:prstGeom>
        </p:spPr>
      </p:pic>
      <p:pic>
        <p:nvPicPr>
          <p:cNvPr id="10" name="图片 9"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image" Target="../media/image1.jpeg"/><Relationship Id="rId5" Type="http://schemas.openxmlformats.org/officeDocument/2006/relationships/tags" Target="../tags/tag9.xml"/><Relationship Id="rId4" Type="http://schemas.openxmlformats.org/officeDocument/2006/relationships/tags" Target="../tags/tag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679380-D657-8D4E-9A0F-A362142B5069}" type="datetimeFigureOut">
              <a:rPr kumimoji="1" lang="zh-CN" altLang="en-US" smtClean="0"/>
              <a:t>2025/10/27</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5A8893-B06F-FA45-8416-383DCFC04A69}"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5"/>
            </p:custDataLst>
          </p:nvPr>
        </p:nvPicPr>
        <p:blipFill>
          <a:blip r:embed="rId6" cstate="screen">
            <a:alphaModFix amt="35000"/>
          </a:blip>
          <a:stretch>
            <a:fillRect/>
          </a:stretch>
        </p:blipFill>
        <p:spPr>
          <a:xfrm>
            <a:off x="438" y="0"/>
            <a:ext cx="12191562" cy="6858000"/>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56" r:id="rId1"/>
    <p:sldLayoutId id="2147483657" r:id="rId2"/>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slide" Target="slide30.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slide" Target="slide21.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slide" Target="slide23.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tags" Target="../tags/tag22.xml"/><Relationship Id="rId3" Type="http://schemas.openxmlformats.org/officeDocument/2006/relationships/tags" Target="../tags/tag17.xml"/><Relationship Id="rId7" Type="http://schemas.openxmlformats.org/officeDocument/2006/relationships/tags" Target="../tags/tag21.xml"/><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slideLayout" Target="../slideLayouts/slideLayout7.xml"/><Relationship Id="rId5" Type="http://schemas.openxmlformats.org/officeDocument/2006/relationships/tags" Target="../tags/tag19.xml"/><Relationship Id="rId10" Type="http://schemas.openxmlformats.org/officeDocument/2006/relationships/tags" Target="../tags/tag24.xml"/><Relationship Id="rId4" Type="http://schemas.openxmlformats.org/officeDocument/2006/relationships/tags" Target="../tags/tag18.xml"/><Relationship Id="rId9" Type="http://schemas.openxmlformats.org/officeDocument/2006/relationships/tags" Target="../tags/tag23.xml"/></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slideLayout" Target="../slideLayouts/slideLayout7.xml"/><Relationship Id="rId1" Type="http://schemas.openxmlformats.org/officeDocument/2006/relationships/tags" Target="../tags/tag25.xml"/><Relationship Id="rId4" Type="http://schemas.openxmlformats.org/officeDocument/2006/relationships/hyperlink" Target="https://ruijie.feishu.cn/wiki/TMaswNzy1i6SN4kapXkcL4LNnWf?sheet=2ac8c6"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p:txBody>
          <a:bodyPr/>
          <a:lstStyle/>
          <a:p>
            <a:endParaRPr lang="zh-CN" altLang="en-US"/>
          </a:p>
        </p:txBody>
      </p:sp>
      <p:pic>
        <p:nvPicPr>
          <p:cNvPr id="9" name="图片 8"/>
          <p:cNvPicPr>
            <a:picLocks noChangeAspect="1"/>
          </p:cNvPicPr>
          <p:nvPr/>
        </p:nvPicPr>
        <p:blipFill>
          <a:blip r:embed="rId2" cstate="screen"/>
          <a:stretch>
            <a:fillRect/>
          </a:stretch>
        </p:blipFill>
        <p:spPr>
          <a:xfrm>
            <a:off x="0" y="864"/>
            <a:ext cx="12193538" cy="6857136"/>
          </a:xfrm>
          <a:prstGeom prst="rect">
            <a:avLst/>
          </a:prstGeom>
        </p:spPr>
      </p:pic>
      <p:pic>
        <p:nvPicPr>
          <p:cNvPr id="11" name="图片 10" descr="徽标&#10;&#10;描述已自动生成"/>
          <p:cNvPicPr>
            <a:picLocks noChangeAspect="1"/>
          </p:cNvPicPr>
          <p:nvPr/>
        </p:nvPicPr>
        <p:blipFill>
          <a:blip r:embed="rId3" cstate="screen"/>
          <a:stretch>
            <a:fillRect/>
          </a:stretch>
        </p:blipFill>
        <p:spPr>
          <a:xfrm>
            <a:off x="592015" y="503702"/>
            <a:ext cx="2085672" cy="354428"/>
          </a:xfrm>
          <a:prstGeom prst="rect">
            <a:avLst/>
          </a:prstGeom>
        </p:spPr>
      </p:pic>
      <p:sp>
        <p:nvSpPr>
          <p:cNvPr id="13" name="文本框 12"/>
          <p:cNvSpPr txBox="1"/>
          <p:nvPr/>
        </p:nvSpPr>
        <p:spPr>
          <a:xfrm>
            <a:off x="518199" y="2670643"/>
            <a:ext cx="4488729" cy="892552"/>
          </a:xfrm>
          <a:prstGeom prst="rect">
            <a:avLst/>
          </a:prstGeom>
          <a:noFill/>
        </p:spPr>
        <p:txBody>
          <a:bodyPr wrap="none" rtlCol="0">
            <a:spAutoFit/>
          </a:bodyPr>
          <a:lstStyle/>
          <a:p>
            <a:r>
              <a:rPr kumimoji="1" lang="zh-CN" altLang="en-US" sz="2600" b="1" dirty="0" smtClean="0">
                <a:solidFill>
                  <a:schemeClr val="bg1">
                    <a:lumMod val="50000"/>
                  </a:schemeClr>
                </a:solidFill>
                <a:latin typeface="微软雅黑" panose="020B0503020204020204" pitchFamily="34" charset="-122"/>
                <a:ea typeface="微软雅黑" panose="020B0503020204020204" pitchFamily="34" charset="-122"/>
              </a:rPr>
              <a:t>自工序项目</a:t>
            </a:r>
            <a:endParaRPr kumimoji="1" lang="en-US" altLang="zh-CN" sz="2600" b="1" dirty="0" smtClean="0">
              <a:solidFill>
                <a:schemeClr val="bg1">
                  <a:lumMod val="50000"/>
                </a:schemeClr>
              </a:solidFill>
              <a:latin typeface="微软雅黑" panose="020B0503020204020204" pitchFamily="34" charset="-122"/>
              <a:ea typeface="微软雅黑" panose="020B0503020204020204" pitchFamily="34" charset="-122"/>
            </a:endParaRPr>
          </a:p>
          <a:p>
            <a:r>
              <a:rPr kumimoji="1" lang="zh-CN" altLang="en-US" sz="2600" b="1" dirty="0" smtClean="0">
                <a:solidFill>
                  <a:schemeClr val="bg1">
                    <a:lumMod val="50000"/>
                  </a:schemeClr>
                </a:solidFill>
                <a:latin typeface="微软雅黑" panose="020B0503020204020204" pitchFamily="34" charset="-122"/>
                <a:ea typeface="微软雅黑" panose="020B0503020204020204" pitchFamily="34" charset="-122"/>
              </a:rPr>
              <a:t>提升销售漏斗质量</a:t>
            </a:r>
            <a:r>
              <a:rPr kumimoji="1" lang="en-US" altLang="zh-CN" sz="2600" b="1" dirty="0" smtClean="0">
                <a:solidFill>
                  <a:schemeClr val="bg1">
                    <a:lumMod val="50000"/>
                  </a:schemeClr>
                </a:solidFill>
                <a:latin typeface="微软雅黑" panose="020B0503020204020204" pitchFamily="34" charset="-122"/>
                <a:ea typeface="微软雅黑" panose="020B0503020204020204" pitchFamily="34" charset="-122"/>
              </a:rPr>
              <a:t>-</a:t>
            </a:r>
            <a:r>
              <a:rPr kumimoji="1" lang="zh-CN" altLang="en-US" sz="2600" b="1" dirty="0" smtClean="0">
                <a:solidFill>
                  <a:schemeClr val="bg1">
                    <a:lumMod val="50000"/>
                  </a:schemeClr>
                </a:solidFill>
                <a:latin typeface="微软雅黑" panose="020B0503020204020204" pitchFamily="34" charset="-122"/>
                <a:ea typeface="微软雅黑" panose="020B0503020204020204" pitchFamily="34" charset="-122"/>
              </a:rPr>
              <a:t>做准</a:t>
            </a:r>
            <a:r>
              <a:rPr kumimoji="1" lang="en-US" altLang="zh-CN" sz="2600" b="1" dirty="0" smtClean="0">
                <a:solidFill>
                  <a:schemeClr val="bg1">
                    <a:lumMod val="50000"/>
                  </a:schemeClr>
                </a:solidFill>
                <a:latin typeface="微软雅黑" panose="020B0503020204020204" pitchFamily="34" charset="-122"/>
                <a:ea typeface="微软雅黑" panose="020B0503020204020204" pitchFamily="34" charset="-122"/>
              </a:rPr>
              <a:t>N</a:t>
            </a:r>
            <a:r>
              <a:rPr kumimoji="1" lang="zh-CN" altLang="en-US" sz="2600" b="1" dirty="0" smtClean="0">
                <a:solidFill>
                  <a:schemeClr val="bg1">
                    <a:lumMod val="50000"/>
                  </a:schemeClr>
                </a:solidFill>
                <a:latin typeface="微软雅黑" panose="020B0503020204020204" pitchFamily="34" charset="-122"/>
                <a:ea typeface="微软雅黑" panose="020B0503020204020204" pitchFamily="34" charset="-122"/>
              </a:rPr>
              <a:t>和</a:t>
            </a:r>
            <a:r>
              <a:rPr kumimoji="1" lang="en-US" altLang="zh-CN" sz="2600" b="1" dirty="0" smtClean="0">
                <a:solidFill>
                  <a:schemeClr val="bg1">
                    <a:lumMod val="50000"/>
                  </a:schemeClr>
                </a:solidFill>
                <a:latin typeface="微软雅黑" panose="020B0503020204020204" pitchFamily="34" charset="-122"/>
                <a:ea typeface="微软雅黑" panose="020B0503020204020204" pitchFamily="34" charset="-122"/>
              </a:rPr>
              <a:t>T</a:t>
            </a:r>
            <a:endParaRPr kumimoji="1" lang="zh-CN" altLang="en-US" sz="2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592015" y="5806598"/>
            <a:ext cx="862737" cy="307777"/>
          </a:xfrm>
          <a:prstGeom prst="rect">
            <a:avLst/>
          </a:prstGeom>
          <a:noFill/>
        </p:spPr>
        <p:txBody>
          <a:bodyPr wrap="none" rtlCol="0">
            <a:spAutoFit/>
          </a:bodyPr>
          <a:lstStyle/>
          <a:p>
            <a:r>
              <a:rPr kumimoji="1" lang="en-US" altLang="zh-CN" sz="1400" dirty="0">
                <a:solidFill>
                  <a:schemeClr val="bg1">
                    <a:lumMod val="50000"/>
                  </a:schemeClr>
                </a:solidFill>
                <a:latin typeface="微软雅黑" panose="020B0503020204020204" pitchFamily="34" charset="-122"/>
                <a:ea typeface="微软雅黑" panose="020B0503020204020204" pitchFamily="34" charset="-122"/>
              </a:rPr>
              <a:t>2025.08</a:t>
            </a:r>
            <a:endParaRPr kumimoji="1"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64118" y="2368089"/>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4" y="2368089"/>
            <a:ext cx="7317595" cy="3463544"/>
          </a:xfrm>
          <a:prstGeom prst="rect">
            <a:avLst/>
          </a:prstGeom>
        </p:spPr>
        <p:txBody>
          <a:bodyPr vert="horz" lIns="91440" tIns="45720" rIns="91440" bIns="45720" rtlCol="0">
            <a:normAutofit lnSpcReduction="10000"/>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smtClean="0"/>
              <a:t>背景与目标</a:t>
            </a:r>
            <a:endParaRPr lang="en-US" altLang="zh-CN" dirty="0"/>
          </a:p>
          <a:p>
            <a:pPr marL="342900" indent="-342900">
              <a:lnSpc>
                <a:spcPct val="150000"/>
              </a:lnSpc>
              <a:buFont typeface="Arial" panose="020B0604020202020204" pitchFamily="34" charset="0"/>
              <a:buChar char="•"/>
              <a:defRPr/>
            </a:pPr>
            <a:r>
              <a:rPr lang="zh-CN" altLang="en-US" dirty="0" smtClean="0"/>
              <a:t>实践举措</a:t>
            </a:r>
            <a:endParaRPr lang="en-US" altLang="zh-CN" dirty="0"/>
          </a:p>
          <a:p>
            <a:pPr marL="342900" indent="-342900">
              <a:lnSpc>
                <a:spcPct val="150000"/>
              </a:lnSpc>
              <a:buFont typeface="Arial" panose="020B0604020202020204" pitchFamily="34" charset="0"/>
              <a:buChar char="•"/>
              <a:defRPr/>
            </a:pPr>
            <a:r>
              <a:rPr lang="zh-CN" altLang="en-US" dirty="0" smtClean="0"/>
              <a:t>方案介绍：如何做准</a:t>
            </a:r>
            <a:r>
              <a:rPr lang="en-US" altLang="zh-CN" dirty="0" smtClean="0"/>
              <a:t>N</a:t>
            </a:r>
            <a:endParaRPr lang="en-US" altLang="zh-CN" dirty="0"/>
          </a:p>
          <a:p>
            <a:pPr marL="342900" indent="-342900">
              <a:lnSpc>
                <a:spcPct val="150000"/>
              </a:lnSpc>
              <a:buFont typeface="Arial" panose="020B0604020202020204" pitchFamily="34" charset="0"/>
              <a:buChar char="•"/>
              <a:defRPr/>
            </a:pPr>
            <a:r>
              <a:rPr lang="zh-CN" altLang="en-US" dirty="0" smtClean="0"/>
              <a:t>方案介绍：如何作准</a:t>
            </a:r>
            <a:r>
              <a:rPr lang="en-US" altLang="zh-CN" dirty="0" smtClean="0"/>
              <a:t>T</a:t>
            </a:r>
            <a:endParaRPr lang="en-US" altLang="zh-CN" dirty="0"/>
          </a:p>
          <a:p>
            <a:pPr marL="342900" indent="-342900">
              <a:lnSpc>
                <a:spcPct val="150000"/>
              </a:lnSpc>
              <a:buFont typeface="Arial" panose="020B0604020202020204" pitchFamily="34" charset="0"/>
              <a:buChar char="•"/>
              <a:defRPr/>
            </a:pPr>
            <a:r>
              <a:rPr lang="zh-CN" altLang="en-US" dirty="0" smtClean="0"/>
              <a:t>实践效果</a:t>
            </a:r>
            <a:r>
              <a:rPr lang="en-US" altLang="zh-CN" dirty="0" smtClean="0"/>
              <a:t>-</a:t>
            </a:r>
            <a:r>
              <a:rPr lang="zh-CN" altLang="en-US" dirty="0" smtClean="0"/>
              <a:t>试点区域验证结果</a:t>
            </a:r>
            <a:endParaRPr lang="en-US" altLang="zh-CN" dirty="0" smtClean="0"/>
          </a:p>
          <a:p>
            <a:pPr marL="342900" indent="-342900">
              <a:lnSpc>
                <a:spcPct val="150000"/>
              </a:lnSpc>
              <a:buFont typeface="Arial" panose="020B0604020202020204" pitchFamily="34" charset="0"/>
              <a:buChar char="•"/>
              <a:defRPr/>
            </a:pPr>
            <a:r>
              <a:rPr lang="zh-CN" altLang="en-US" dirty="0" smtClean="0"/>
              <a:t>心得体会，认知感悟</a:t>
            </a:r>
            <a:endParaRPr dirty="0"/>
          </a:p>
        </p:txBody>
      </p:sp>
    </p:spTree>
    <p:extLst>
      <p:ext uri="{BB962C8B-B14F-4D97-AF65-F5344CB8AC3E}">
        <p14:creationId xmlns:p14="http://schemas.microsoft.com/office/powerpoint/2010/main" val="2437460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1453" y="274320"/>
            <a:ext cx="7606768" cy="495935"/>
          </a:xfrm>
        </p:spPr>
        <p:txBody>
          <a:bodyPr/>
          <a:lstStyle/>
          <a:p>
            <a:r>
              <a:rPr lang="zh-CN" altLang="en-US" dirty="0"/>
              <a:t>背景</a:t>
            </a:r>
          </a:p>
        </p:txBody>
      </p:sp>
      <p:grpSp>
        <p:nvGrpSpPr>
          <p:cNvPr id="12" name="组合 11"/>
          <p:cNvGrpSpPr/>
          <p:nvPr/>
        </p:nvGrpSpPr>
        <p:grpSpPr>
          <a:xfrm>
            <a:off x="157833" y="903721"/>
            <a:ext cx="4438962" cy="5657791"/>
            <a:chOff x="356958" y="904534"/>
            <a:chExt cx="4438962" cy="5657791"/>
          </a:xfrm>
        </p:grpSpPr>
        <p:sp>
          <p:nvSpPr>
            <p:cNvPr id="13" name="文本框 12"/>
            <p:cNvSpPr txBox="1"/>
            <p:nvPr/>
          </p:nvSpPr>
          <p:spPr>
            <a:xfrm>
              <a:off x="933552" y="904534"/>
              <a:ext cx="3401587" cy="369332"/>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过去销售售前如何做“</a:t>
              </a:r>
              <a:r>
                <a:rPr lang="en-US" altLang="zh-CN" b="1" dirty="0">
                  <a:latin typeface="微软雅黑" panose="020B0503020204020204" pitchFamily="34" charset="-122"/>
                  <a:ea typeface="微软雅黑" panose="020B0503020204020204" pitchFamily="34" charset="-122"/>
                </a:rPr>
                <a:t>N</a:t>
              </a:r>
              <a:r>
                <a:rPr lang="zh-CN" altLang="en-US" b="1" dirty="0">
                  <a:latin typeface="微软雅黑" panose="020B0503020204020204" pitchFamily="34" charset="-122"/>
                  <a:ea typeface="微软雅黑" panose="020B0503020204020204" pitchFamily="34" charset="-122"/>
                </a:rPr>
                <a:t>”的？</a:t>
              </a:r>
            </a:p>
          </p:txBody>
        </p:sp>
        <p:sp>
          <p:nvSpPr>
            <p:cNvPr id="14" name="矩形 13"/>
            <p:cNvSpPr/>
            <p:nvPr/>
          </p:nvSpPr>
          <p:spPr>
            <a:xfrm>
              <a:off x="356958" y="1362474"/>
              <a:ext cx="4438962" cy="51998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nvGrpSpPr>
            <p:cNvPr id="15" name="组合 14"/>
            <p:cNvGrpSpPr/>
            <p:nvPr/>
          </p:nvGrpSpPr>
          <p:grpSpPr>
            <a:xfrm>
              <a:off x="515219" y="1527924"/>
              <a:ext cx="2219334" cy="4756058"/>
              <a:chOff x="543116" y="1697358"/>
              <a:chExt cx="2815695" cy="4383402"/>
            </a:xfrm>
          </p:grpSpPr>
          <p:sp>
            <p:nvSpPr>
              <p:cNvPr id="32" name="圆角矩形 31"/>
              <p:cNvSpPr/>
              <p:nvPr/>
            </p:nvSpPr>
            <p:spPr>
              <a:xfrm>
                <a:off x="2140518" y="2151186"/>
                <a:ext cx="1076336" cy="415906"/>
              </a:xfrm>
              <a:prstGeom prst="roundRect">
                <a:avLst>
                  <a:gd name="adj" fmla="val 49299"/>
                </a:avLst>
              </a:prstGeom>
              <a:solidFill>
                <a:srgbClr val="EAE2FF"/>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solidFill>
                      <a:schemeClr val="tx1"/>
                    </a:solidFill>
                    <a:latin typeface="微软雅黑" panose="020B0503020204020204" pitchFamily="34" charset="-122"/>
                    <a:ea typeface="微软雅黑" panose="020B0503020204020204" pitchFamily="34" charset="-122"/>
                  </a:rPr>
                  <a:t>线索满足进漏斗条件</a:t>
                </a:r>
              </a:p>
            </p:txBody>
          </p:sp>
          <p:sp>
            <p:nvSpPr>
              <p:cNvPr id="33" name="圆角矩形 32"/>
              <p:cNvSpPr/>
              <p:nvPr/>
            </p:nvSpPr>
            <p:spPr>
              <a:xfrm>
                <a:off x="2132737" y="3473153"/>
                <a:ext cx="1076336" cy="415906"/>
              </a:xfrm>
              <a:prstGeom prst="roundRect">
                <a:avLst/>
              </a:prstGeom>
              <a:solidFill>
                <a:schemeClr val="accent2">
                  <a:lumMod val="40000"/>
                  <a:lumOff val="6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solidFill>
                      <a:schemeClr val="tx1"/>
                    </a:solidFill>
                    <a:latin typeface="微软雅黑" panose="020B0503020204020204" pitchFamily="34" charset="-122"/>
                    <a:ea typeface="微软雅黑" panose="020B0503020204020204" pitchFamily="34" charset="-122"/>
                  </a:rPr>
                  <a:t>获取配置器清单</a:t>
                </a:r>
                <a:endParaRPr lang="en-US" altLang="zh-CN" sz="700" dirty="0">
                  <a:solidFill>
                    <a:schemeClr val="tx1"/>
                  </a:solidFill>
                  <a:latin typeface="微软雅黑" panose="020B0503020204020204" pitchFamily="34" charset="-122"/>
                  <a:ea typeface="微软雅黑" panose="020B0503020204020204" pitchFamily="34" charset="-122"/>
                </a:endParaRPr>
              </a:p>
              <a:p>
                <a:pPr algn="ctr"/>
                <a:r>
                  <a:rPr lang="zh-CN" altLang="en-US" sz="700" dirty="0">
                    <a:solidFill>
                      <a:schemeClr val="tx1"/>
                    </a:solidFill>
                    <a:latin typeface="微软雅黑" panose="020B0503020204020204" pitchFamily="34" charset="-122"/>
                    <a:ea typeface="微软雅黑" panose="020B0503020204020204" pitchFamily="34" charset="-122"/>
                  </a:rPr>
                  <a:t>（</a:t>
                </a:r>
                <a:r>
                  <a:rPr lang="en-US" altLang="zh-CN" sz="700" dirty="0">
                    <a:solidFill>
                      <a:schemeClr val="tx1"/>
                    </a:solidFill>
                    <a:latin typeface="微软雅黑" panose="020B0503020204020204" pitchFamily="34" charset="-122"/>
                    <a:ea typeface="微软雅黑" panose="020B0503020204020204" pitchFamily="34" charset="-122"/>
                  </a:rPr>
                  <a:t>ECP</a:t>
                </a:r>
                <a:r>
                  <a:rPr lang="zh-CN" altLang="en-US" sz="700" dirty="0">
                    <a:solidFill>
                      <a:schemeClr val="tx1"/>
                    </a:solidFill>
                    <a:latin typeface="微软雅黑" panose="020B0503020204020204" pitchFamily="34" charset="-122"/>
                    <a:ea typeface="微软雅黑" panose="020B0503020204020204" pitchFamily="34" charset="-122"/>
                  </a:rPr>
                  <a:t>）</a:t>
                </a:r>
              </a:p>
            </p:txBody>
          </p:sp>
          <p:sp>
            <p:nvSpPr>
              <p:cNvPr id="34" name="圆角矩形 33"/>
              <p:cNvSpPr/>
              <p:nvPr/>
            </p:nvSpPr>
            <p:spPr>
              <a:xfrm>
                <a:off x="2131743" y="4209462"/>
                <a:ext cx="1076336" cy="415906"/>
              </a:xfrm>
              <a:prstGeom prst="roundRect">
                <a:avLst/>
              </a:prstGeom>
              <a:solidFill>
                <a:schemeClr val="accent5">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solidFill>
                      <a:schemeClr val="tx1"/>
                    </a:solidFill>
                    <a:latin typeface="微软雅黑" panose="020B0503020204020204" pitchFamily="34" charset="-122"/>
                    <a:ea typeface="微软雅黑" panose="020B0503020204020204" pitchFamily="34" charset="-122"/>
                  </a:rPr>
                  <a:t>保存至</a:t>
                </a:r>
                <a:r>
                  <a:rPr lang="en-US" altLang="zh-CN" sz="700" dirty="0">
                    <a:solidFill>
                      <a:schemeClr val="tx1"/>
                    </a:solidFill>
                    <a:latin typeface="微软雅黑" panose="020B0503020204020204" pitchFamily="34" charset="-122"/>
                    <a:ea typeface="微软雅黑" panose="020B0503020204020204" pitchFamily="34" charset="-122"/>
                  </a:rPr>
                  <a:t>CRM</a:t>
                </a:r>
              </a:p>
              <a:p>
                <a:pPr algn="ctr"/>
                <a:r>
                  <a:rPr lang="zh-CN" altLang="en-US" sz="700" dirty="0">
                    <a:solidFill>
                      <a:schemeClr val="tx1"/>
                    </a:solidFill>
                    <a:latin typeface="微软雅黑" panose="020B0503020204020204" pitchFamily="34" charset="-122"/>
                    <a:ea typeface="微软雅黑" panose="020B0503020204020204" pitchFamily="34" charset="-122"/>
                  </a:rPr>
                  <a:t>（</a:t>
                </a:r>
                <a:r>
                  <a:rPr lang="en-US" altLang="zh-CN" sz="700" dirty="0">
                    <a:solidFill>
                      <a:schemeClr val="tx1"/>
                    </a:solidFill>
                    <a:latin typeface="微软雅黑" panose="020B0503020204020204" pitchFamily="34" charset="-122"/>
                    <a:ea typeface="微软雅黑" panose="020B0503020204020204" pitchFamily="34" charset="-122"/>
                  </a:rPr>
                  <a:t>ECP</a:t>
                </a:r>
                <a:r>
                  <a:rPr lang="zh-CN" altLang="en-US" sz="700" dirty="0">
                    <a:solidFill>
                      <a:schemeClr val="tx1"/>
                    </a:solidFill>
                    <a:latin typeface="微软雅黑" panose="020B0503020204020204" pitchFamily="34" charset="-122"/>
                    <a:ea typeface="微软雅黑" panose="020B0503020204020204" pitchFamily="34" charset="-122"/>
                  </a:rPr>
                  <a:t>）</a:t>
                </a:r>
              </a:p>
            </p:txBody>
          </p:sp>
          <p:sp>
            <p:nvSpPr>
              <p:cNvPr id="35" name="圆角矩形 34"/>
              <p:cNvSpPr/>
              <p:nvPr/>
            </p:nvSpPr>
            <p:spPr>
              <a:xfrm>
                <a:off x="682572" y="2776971"/>
                <a:ext cx="1076336" cy="415906"/>
              </a:xfrm>
              <a:prstGeom prst="roundRect">
                <a:avLst/>
              </a:prstGeom>
              <a:solidFill>
                <a:schemeClr val="accent2">
                  <a:lumMod val="40000"/>
                  <a:lumOff val="6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solidFill>
                      <a:schemeClr val="tx1"/>
                    </a:solidFill>
                    <a:latin typeface="微软雅黑" panose="020B0503020204020204" pitchFamily="34" charset="-122"/>
                    <a:ea typeface="微软雅黑" panose="020B0503020204020204" pitchFamily="34" charset="-122"/>
                  </a:rPr>
                  <a:t>配产品清单（产品配置器）</a:t>
                </a:r>
              </a:p>
            </p:txBody>
          </p:sp>
          <p:sp>
            <p:nvSpPr>
              <p:cNvPr id="36" name="圆角矩形 35"/>
              <p:cNvSpPr/>
              <p:nvPr/>
            </p:nvSpPr>
            <p:spPr>
              <a:xfrm>
                <a:off x="682570" y="3466192"/>
                <a:ext cx="1076336" cy="415906"/>
              </a:xfrm>
              <a:prstGeom prst="roundRect">
                <a:avLst/>
              </a:prstGeom>
              <a:solidFill>
                <a:schemeClr val="accent5">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solidFill>
                      <a:schemeClr val="tx1"/>
                    </a:solidFill>
                    <a:latin typeface="微软雅黑" panose="020B0503020204020204" pitchFamily="34" charset="-122"/>
                    <a:ea typeface="微软雅黑" panose="020B0503020204020204" pitchFamily="34" charset="-122"/>
                  </a:rPr>
                  <a:t>分享产品报价单</a:t>
                </a:r>
                <a:endParaRPr lang="en-US" altLang="zh-CN" sz="700" dirty="0">
                  <a:solidFill>
                    <a:schemeClr val="tx1"/>
                  </a:solidFill>
                  <a:latin typeface="微软雅黑" panose="020B0503020204020204" pitchFamily="34" charset="-122"/>
                  <a:ea typeface="微软雅黑" panose="020B0503020204020204" pitchFamily="34" charset="-122"/>
                </a:endParaRPr>
              </a:p>
              <a:p>
                <a:pPr algn="ctr"/>
                <a:r>
                  <a:rPr lang="zh-CN" altLang="en-US" sz="700" dirty="0">
                    <a:solidFill>
                      <a:schemeClr val="tx1"/>
                    </a:solidFill>
                    <a:latin typeface="微软雅黑" panose="020B0503020204020204" pitchFamily="34" charset="-122"/>
                    <a:ea typeface="微软雅黑" panose="020B0503020204020204" pitchFamily="34" charset="-122"/>
                  </a:rPr>
                  <a:t>（产品配置器）</a:t>
                </a:r>
              </a:p>
            </p:txBody>
          </p:sp>
          <p:sp>
            <p:nvSpPr>
              <p:cNvPr id="37" name="圆角矩形 36"/>
              <p:cNvSpPr/>
              <p:nvPr/>
            </p:nvSpPr>
            <p:spPr>
              <a:xfrm>
                <a:off x="683722" y="2151186"/>
                <a:ext cx="1076336" cy="415906"/>
              </a:xfrm>
              <a:prstGeom prst="roundRect">
                <a:avLst>
                  <a:gd name="adj" fmla="val 49299"/>
                </a:avLst>
              </a:prstGeom>
              <a:solidFill>
                <a:srgbClr val="EAE2FF"/>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solidFill>
                      <a:schemeClr val="tx1"/>
                    </a:solidFill>
                    <a:latin typeface="微软雅黑" panose="020B0503020204020204" pitchFamily="34" charset="-122"/>
                    <a:ea typeface="微软雅黑" panose="020B0503020204020204" pitchFamily="34" charset="-122"/>
                  </a:rPr>
                  <a:t>获取客户需求</a:t>
                </a:r>
              </a:p>
            </p:txBody>
          </p:sp>
          <p:cxnSp>
            <p:nvCxnSpPr>
              <p:cNvPr id="38" name="直接箭头连接符 37"/>
              <p:cNvCxnSpPr>
                <a:stCxn id="37" idx="2"/>
                <a:endCxn id="35" idx="0"/>
              </p:cNvCxnSpPr>
              <p:nvPr/>
            </p:nvCxnSpPr>
            <p:spPr>
              <a:xfrm flipH="1">
                <a:off x="1220740" y="2567091"/>
                <a:ext cx="1151" cy="209880"/>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a:stCxn id="35" idx="2"/>
                <a:endCxn id="36" idx="0"/>
              </p:cNvCxnSpPr>
              <p:nvPr/>
            </p:nvCxnSpPr>
            <p:spPr>
              <a:xfrm flipH="1">
                <a:off x="1220739" y="3192877"/>
                <a:ext cx="1" cy="273315"/>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0" name="圆角矩形 39"/>
              <p:cNvSpPr/>
              <p:nvPr/>
            </p:nvSpPr>
            <p:spPr>
              <a:xfrm>
                <a:off x="2135965" y="2775044"/>
                <a:ext cx="1076336" cy="415906"/>
              </a:xfrm>
              <a:prstGeom prst="roundRect">
                <a:avLst/>
              </a:prstGeom>
              <a:solidFill>
                <a:schemeClr val="accent5">
                  <a:lumMod val="20000"/>
                  <a:lumOff val="8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700" dirty="0">
                    <a:solidFill>
                      <a:schemeClr val="tx1"/>
                    </a:solidFill>
                    <a:latin typeface="微软雅黑" panose="020B0503020204020204" pitchFamily="34" charset="-122"/>
                    <a:ea typeface="微软雅黑" panose="020B0503020204020204" pitchFamily="34" charset="-122"/>
                  </a:rPr>
                  <a:t>创建报价单</a:t>
                </a:r>
                <a:endParaRPr lang="en-US" altLang="zh-CN" sz="700" dirty="0">
                  <a:solidFill>
                    <a:schemeClr val="tx1"/>
                  </a:solidFill>
                  <a:latin typeface="微软雅黑" panose="020B0503020204020204" pitchFamily="34" charset="-122"/>
                  <a:ea typeface="微软雅黑" panose="020B0503020204020204" pitchFamily="34" charset="-122"/>
                </a:endParaRPr>
              </a:p>
              <a:p>
                <a:pPr algn="ctr"/>
                <a:r>
                  <a:rPr lang="zh-CN" altLang="en-US" sz="700" dirty="0">
                    <a:solidFill>
                      <a:schemeClr val="tx1"/>
                    </a:solidFill>
                    <a:latin typeface="微软雅黑" panose="020B0503020204020204" pitchFamily="34" charset="-122"/>
                    <a:ea typeface="微软雅黑" panose="020B0503020204020204" pitchFamily="34" charset="-122"/>
                  </a:rPr>
                  <a:t>（</a:t>
                </a:r>
                <a:r>
                  <a:rPr lang="en-US" altLang="zh-CN" sz="700" dirty="0">
                    <a:solidFill>
                      <a:schemeClr val="tx1"/>
                    </a:solidFill>
                    <a:latin typeface="微软雅黑" panose="020B0503020204020204" pitchFamily="34" charset="-122"/>
                    <a:ea typeface="微软雅黑" panose="020B0503020204020204" pitchFamily="34" charset="-122"/>
                  </a:rPr>
                  <a:t>CRM</a:t>
                </a:r>
                <a:r>
                  <a:rPr lang="zh-CN" altLang="en-US" sz="700" dirty="0">
                    <a:solidFill>
                      <a:schemeClr val="tx1"/>
                    </a:solidFill>
                    <a:latin typeface="微软雅黑" panose="020B0503020204020204" pitchFamily="34" charset="-122"/>
                    <a:ea typeface="微软雅黑" panose="020B0503020204020204" pitchFamily="34" charset="-122"/>
                  </a:rPr>
                  <a:t>）</a:t>
                </a:r>
              </a:p>
            </p:txBody>
          </p:sp>
          <p:cxnSp>
            <p:nvCxnSpPr>
              <p:cNvPr id="41" name="直接箭头连接符 40"/>
              <p:cNvCxnSpPr>
                <a:stCxn id="32" idx="2"/>
                <a:endCxn id="40" idx="0"/>
              </p:cNvCxnSpPr>
              <p:nvPr/>
            </p:nvCxnSpPr>
            <p:spPr>
              <a:xfrm flipH="1">
                <a:off x="2674133" y="2567091"/>
                <a:ext cx="4553" cy="207953"/>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a:stCxn id="33" idx="2"/>
                <a:endCxn id="34" idx="0"/>
              </p:cNvCxnSpPr>
              <p:nvPr/>
            </p:nvCxnSpPr>
            <p:spPr>
              <a:xfrm flipH="1">
                <a:off x="2669912" y="3889059"/>
                <a:ext cx="993" cy="320403"/>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a:stCxn id="40" idx="2"/>
                <a:endCxn id="33" idx="0"/>
              </p:cNvCxnSpPr>
              <p:nvPr/>
            </p:nvCxnSpPr>
            <p:spPr>
              <a:xfrm flipH="1">
                <a:off x="2670905" y="3190950"/>
                <a:ext cx="3228" cy="282203"/>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900022" y="1782000"/>
                <a:ext cx="650498" cy="230832"/>
              </a:xfrm>
              <a:prstGeom prst="rect">
                <a:avLst/>
              </a:prstGeom>
              <a:solidFill>
                <a:schemeClr val="accent1">
                  <a:lumMod val="50000"/>
                </a:schemeClr>
              </a:solidFill>
              <a:ln>
                <a:solidFill>
                  <a:schemeClr val="tx1">
                    <a:lumMod val="50000"/>
                    <a:lumOff val="50000"/>
                  </a:schemeClr>
                </a:solidFill>
              </a:ln>
            </p:spPr>
            <p:txBody>
              <a:bodyPr wrap="square" rtlCol="0">
                <a:spAutoFit/>
              </a:bodyPr>
              <a:lstStyle/>
              <a:p>
                <a:pPr algn="ctr"/>
                <a:r>
                  <a:rPr lang="zh-CN" altLang="en-US" sz="900" dirty="0">
                    <a:solidFill>
                      <a:schemeClr val="bg1"/>
                    </a:solidFill>
                    <a:latin typeface="微软雅黑" panose="020B0503020204020204" pitchFamily="34" charset="-122"/>
                    <a:ea typeface="微软雅黑" panose="020B0503020204020204" pitchFamily="34" charset="-122"/>
                  </a:rPr>
                  <a:t>售前</a:t>
                </a:r>
              </a:p>
            </p:txBody>
          </p:sp>
          <p:sp>
            <p:nvSpPr>
              <p:cNvPr id="45" name="文本框 44"/>
              <p:cNvSpPr txBox="1"/>
              <p:nvPr/>
            </p:nvSpPr>
            <p:spPr>
              <a:xfrm>
                <a:off x="2378060" y="1775505"/>
                <a:ext cx="650498" cy="230832"/>
              </a:xfrm>
              <a:prstGeom prst="rect">
                <a:avLst/>
              </a:prstGeom>
              <a:solidFill>
                <a:schemeClr val="accent1">
                  <a:lumMod val="50000"/>
                </a:schemeClr>
              </a:solidFill>
              <a:ln>
                <a:solidFill>
                  <a:schemeClr val="tx1">
                    <a:lumMod val="50000"/>
                    <a:lumOff val="50000"/>
                  </a:schemeClr>
                </a:solidFill>
              </a:ln>
            </p:spPr>
            <p:txBody>
              <a:bodyPr wrap="square" rtlCol="0">
                <a:spAutoFit/>
              </a:bodyPr>
              <a:lstStyle/>
              <a:p>
                <a:pPr algn="ctr"/>
                <a:r>
                  <a:rPr lang="zh-CN" altLang="en-US" sz="900" dirty="0">
                    <a:solidFill>
                      <a:schemeClr val="bg1"/>
                    </a:solidFill>
                    <a:latin typeface="微软雅黑" panose="020B0503020204020204" pitchFamily="34" charset="-122"/>
                    <a:ea typeface="微软雅黑" panose="020B0503020204020204" pitchFamily="34" charset="-122"/>
                  </a:rPr>
                  <a:t>销售</a:t>
                </a:r>
              </a:p>
            </p:txBody>
          </p:sp>
          <p:sp>
            <p:nvSpPr>
              <p:cNvPr id="46" name="矩形 45"/>
              <p:cNvSpPr/>
              <p:nvPr/>
            </p:nvSpPr>
            <p:spPr>
              <a:xfrm>
                <a:off x="543116" y="1697358"/>
                <a:ext cx="1357549" cy="4383402"/>
              </a:xfrm>
              <a:prstGeom prst="rect">
                <a:avLst/>
              </a:prstGeom>
              <a:noFill/>
              <a:ln w="19050">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endParaRPr>
              </a:p>
            </p:txBody>
          </p:sp>
          <p:sp>
            <p:nvSpPr>
              <p:cNvPr id="47" name="矩形 46"/>
              <p:cNvSpPr/>
              <p:nvPr/>
            </p:nvSpPr>
            <p:spPr>
              <a:xfrm>
                <a:off x="2018779" y="1699201"/>
                <a:ext cx="1340032" cy="4381559"/>
              </a:xfrm>
              <a:prstGeom prst="rect">
                <a:avLst/>
              </a:prstGeom>
              <a:noFill/>
              <a:ln w="19050">
                <a:solidFill>
                  <a:schemeClr val="tx1">
                    <a:lumMod val="50000"/>
                    <a:lumOff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微软雅黑" panose="020B0503020204020204" pitchFamily="34" charset="-122"/>
                  <a:ea typeface="微软雅黑" panose="020B0503020204020204" pitchFamily="34" charset="-122"/>
                </a:endParaRPr>
              </a:p>
            </p:txBody>
          </p:sp>
        </p:grpSp>
        <p:sp>
          <p:nvSpPr>
            <p:cNvPr id="16" name="矩形 15"/>
            <p:cNvSpPr/>
            <p:nvPr/>
          </p:nvSpPr>
          <p:spPr>
            <a:xfrm>
              <a:off x="2961446" y="1996548"/>
              <a:ext cx="1724968" cy="136219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latin typeface="微软雅黑" panose="020B0503020204020204" pitchFamily="34" charset="-122"/>
                  <a:ea typeface="微软雅黑" panose="020B0503020204020204" pitchFamily="34" charset="-122"/>
                </a:rPr>
                <a:t>售前缺少在漏斗外进漏斗内时对</a:t>
              </a:r>
              <a:r>
                <a:rPr lang="zh-CN" altLang="en-US" sz="1200" dirty="0">
                  <a:solidFill>
                    <a:srgbClr val="FF0000"/>
                  </a:solidFill>
                  <a:latin typeface="微软雅黑" panose="020B0503020204020204" pitchFamily="34" charset="-122"/>
                  <a:ea typeface="微软雅黑" panose="020B0503020204020204" pitchFamily="34" charset="-122"/>
                </a:rPr>
                <a:t>“产品清单做准的”要求、标准、指导，存在根据历史项目产品清单简单调整，只匹配上总金额就提交的情况</a:t>
              </a:r>
            </a:p>
          </p:txBody>
        </p:sp>
        <p:sp>
          <p:nvSpPr>
            <p:cNvPr id="17" name="矩形 16"/>
            <p:cNvSpPr/>
            <p:nvPr/>
          </p:nvSpPr>
          <p:spPr>
            <a:xfrm>
              <a:off x="2938958" y="3761431"/>
              <a:ext cx="1747456" cy="145060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latin typeface="微软雅黑" panose="020B0503020204020204" pitchFamily="34" charset="-122"/>
                  <a:ea typeface="微软雅黑" panose="020B0503020204020204" pitchFamily="34" charset="-122"/>
                </a:rPr>
                <a:t>销售存在根据</a:t>
              </a:r>
              <a:r>
                <a:rPr lang="en-US" altLang="zh-CN" sz="1200" dirty="0">
                  <a:solidFill>
                    <a:schemeClr val="tx1"/>
                  </a:solidFill>
                  <a:latin typeface="微软雅黑" panose="020B0503020204020204" pitchFamily="34" charset="-122"/>
                  <a:ea typeface="微软雅黑" panose="020B0503020204020204" pitchFamily="34" charset="-122"/>
                </a:rPr>
                <a:t>ECP</a:t>
              </a:r>
              <a:r>
                <a:rPr lang="zh-CN" altLang="en-US" sz="1200" dirty="0">
                  <a:solidFill>
                    <a:schemeClr val="tx1"/>
                  </a:solidFill>
                  <a:latin typeface="微软雅黑" panose="020B0503020204020204" pitchFamily="34" charset="-122"/>
                  <a:ea typeface="微软雅黑" panose="020B0503020204020204" pitchFamily="34" charset="-122"/>
                </a:rPr>
                <a:t>系统里，</a:t>
              </a:r>
              <a:r>
                <a:rPr lang="zh-CN" altLang="en-US" sz="1200" dirty="0">
                  <a:solidFill>
                    <a:srgbClr val="FF0000"/>
                  </a:solidFill>
                  <a:latin typeface="微软雅黑" panose="020B0503020204020204" pitchFamily="34" charset="-122"/>
                  <a:ea typeface="微软雅黑" panose="020B0503020204020204" pitchFamily="34" charset="-122"/>
                </a:rPr>
                <a:t>使用历史存留的产品报价清单，简单修改，只要匹配上总金额，就提交</a:t>
              </a:r>
              <a:r>
                <a:rPr lang="zh-CN" altLang="en-US" sz="1200" dirty="0">
                  <a:solidFill>
                    <a:schemeClr val="tx1"/>
                  </a:solidFill>
                  <a:latin typeface="微软雅黑" panose="020B0503020204020204" pitchFamily="34" charset="-122"/>
                  <a:ea typeface="微软雅黑" panose="020B0503020204020204" pitchFamily="34" charset="-122"/>
                </a:rPr>
                <a:t>的情况，同时在漏斗外进漏斗内环节缺少检查产品清单的机制</a:t>
              </a:r>
            </a:p>
          </p:txBody>
        </p:sp>
        <p:sp>
          <p:nvSpPr>
            <p:cNvPr id="18" name="文本框 17"/>
            <p:cNvSpPr txBox="1"/>
            <p:nvPr/>
          </p:nvSpPr>
          <p:spPr>
            <a:xfrm>
              <a:off x="2971115" y="1604389"/>
              <a:ext cx="1438214" cy="338554"/>
            </a:xfrm>
            <a:prstGeom prst="rect">
              <a:avLst/>
            </a:prstGeom>
            <a:noFill/>
          </p:spPr>
          <p:txBody>
            <a:bodyPr wrap="none" rtlCol="0">
              <a:spAutoFit/>
            </a:bodyPr>
            <a:lstStyle/>
            <a:p>
              <a:r>
                <a:rPr lang="en-US" altLang="zh-CN" sz="1600" b="1" dirty="0">
                  <a:latin typeface="微软雅黑" panose="020B0503020204020204" pitchFamily="34" charset="-122"/>
                  <a:ea typeface="微软雅黑" panose="020B0503020204020204" pitchFamily="34" charset="-122"/>
                </a:rPr>
                <a:t>N </a:t>
              </a:r>
              <a:r>
                <a:rPr lang="zh-CN" altLang="en-US" sz="1600" b="1" dirty="0">
                  <a:latin typeface="微软雅黑" panose="020B0503020204020204" pitchFamily="34" charset="-122"/>
                  <a:ea typeface="微软雅黑" panose="020B0503020204020204" pitchFamily="34" charset="-122"/>
                </a:rPr>
                <a:t>为什么不准</a:t>
              </a:r>
            </a:p>
          </p:txBody>
        </p:sp>
        <p:cxnSp>
          <p:nvCxnSpPr>
            <p:cNvPr id="19" name="直接箭头连接符 18"/>
            <p:cNvCxnSpPr>
              <a:stCxn id="36" idx="3"/>
              <a:endCxn id="33" idx="1"/>
            </p:cNvCxnSpPr>
            <p:nvPr/>
          </p:nvCxnSpPr>
          <p:spPr>
            <a:xfrm>
              <a:off x="1473506" y="3672768"/>
              <a:ext cx="294654" cy="7553"/>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28" name="图片 2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18325" y="3262055"/>
              <a:ext cx="316228" cy="316228"/>
            </a:xfrm>
            <a:prstGeom prst="rect">
              <a:avLst/>
            </a:prstGeom>
          </p:spPr>
        </p:pic>
        <p:pic>
          <p:nvPicPr>
            <p:cNvPr id="29" name="图片 28"/>
            <p:cNvPicPr>
              <a:picLocks noChangeAspect="1"/>
            </p:cNvPicPr>
            <p:nvPr/>
          </p:nvPicPr>
          <p:blipFill>
            <a:blip r:embed="rId3" cstate="print">
              <a:extLst>
                <a:ext uri="{BEBA8EAE-BF5A-486C-A8C5-ECC9F3942E4B}">
                  <a14:imgProps xmlns:a14="http://schemas.microsoft.com/office/drawing/2010/main">
                    <a14:imgLayer r:embed="rId4">
                      <a14:imgEffect>
                        <a14:backgroundRemoval t="4182" b="90000" l="10000" r="90000"/>
                      </a14:imgEffect>
                    </a14:imgLayer>
                  </a14:imgProps>
                </a:ext>
                <a:ext uri="{28A0092B-C50C-407E-A947-70E740481C1C}">
                  <a14:useLocalDpi xmlns:a14="http://schemas.microsoft.com/office/drawing/2010/main" val="0"/>
                </a:ext>
              </a:extLst>
            </a:blip>
            <a:stretch>
              <a:fillRect/>
            </a:stretch>
          </p:blipFill>
          <p:spPr>
            <a:xfrm>
              <a:off x="1237193" y="2545837"/>
              <a:ext cx="316228" cy="316228"/>
            </a:xfrm>
            <a:prstGeom prst="rect">
              <a:avLst/>
            </a:prstGeom>
          </p:spPr>
        </p:pic>
        <p:cxnSp>
          <p:nvCxnSpPr>
            <p:cNvPr id="30" name="直接箭头连接符 29"/>
            <p:cNvCxnSpPr>
              <a:stCxn id="29" idx="3"/>
              <a:endCxn id="16" idx="1"/>
            </p:cNvCxnSpPr>
            <p:nvPr/>
          </p:nvCxnSpPr>
          <p:spPr>
            <a:xfrm flipV="1">
              <a:off x="1553421" y="2677644"/>
              <a:ext cx="1408025" cy="2630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a:stCxn id="28" idx="2"/>
              <a:endCxn id="17" idx="1"/>
            </p:cNvCxnSpPr>
            <p:nvPr/>
          </p:nvCxnSpPr>
          <p:spPr>
            <a:xfrm>
              <a:off x="2576439" y="3578283"/>
              <a:ext cx="362519" cy="90845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8" name="组合 47"/>
          <p:cNvGrpSpPr/>
          <p:nvPr/>
        </p:nvGrpSpPr>
        <p:grpSpPr>
          <a:xfrm>
            <a:off x="4878109" y="856790"/>
            <a:ext cx="5078064" cy="5807655"/>
            <a:chOff x="340538" y="982611"/>
            <a:chExt cx="5078064" cy="5807655"/>
          </a:xfrm>
        </p:grpSpPr>
        <p:sp>
          <p:nvSpPr>
            <p:cNvPr id="49" name="文本框 48"/>
            <p:cNvSpPr txBox="1"/>
            <p:nvPr/>
          </p:nvSpPr>
          <p:spPr>
            <a:xfrm>
              <a:off x="1401350" y="982611"/>
              <a:ext cx="3401587" cy="369332"/>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过去销售是如何做“</a:t>
              </a:r>
              <a:r>
                <a:rPr lang="en-US" altLang="zh-CN" b="1" dirty="0">
                  <a:latin typeface="微软雅黑" panose="020B0503020204020204" pitchFamily="34" charset="-122"/>
                  <a:ea typeface="微软雅黑" panose="020B0503020204020204" pitchFamily="34" charset="-122"/>
                </a:rPr>
                <a:t>T</a:t>
              </a:r>
              <a:r>
                <a:rPr lang="zh-CN" altLang="en-US" b="1" dirty="0">
                  <a:latin typeface="微软雅黑" panose="020B0503020204020204" pitchFamily="34" charset="-122"/>
                  <a:ea typeface="微软雅黑" panose="020B0503020204020204" pitchFamily="34" charset="-122"/>
                </a:rPr>
                <a:t>”的？</a:t>
              </a:r>
            </a:p>
          </p:txBody>
        </p:sp>
        <p:sp>
          <p:nvSpPr>
            <p:cNvPr id="50" name="矩形 49"/>
            <p:cNvSpPr/>
            <p:nvPr/>
          </p:nvSpPr>
          <p:spPr>
            <a:xfrm>
              <a:off x="340538" y="1439521"/>
              <a:ext cx="5078064" cy="535074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nvGrpSpPr>
            <p:cNvPr id="51" name="组合 50"/>
            <p:cNvGrpSpPr/>
            <p:nvPr/>
          </p:nvGrpSpPr>
          <p:grpSpPr>
            <a:xfrm>
              <a:off x="516651" y="1548453"/>
              <a:ext cx="4605309" cy="715951"/>
              <a:chOff x="516651" y="1548453"/>
              <a:chExt cx="4605309" cy="715951"/>
            </a:xfrm>
          </p:grpSpPr>
          <p:sp>
            <p:nvSpPr>
              <p:cNvPr id="57" name="圆角矩形 56"/>
              <p:cNvSpPr/>
              <p:nvPr/>
            </p:nvSpPr>
            <p:spPr>
              <a:xfrm>
                <a:off x="516651" y="1548453"/>
                <a:ext cx="4605309" cy="715951"/>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圆角矩形 57"/>
              <p:cNvSpPr/>
              <p:nvPr/>
            </p:nvSpPr>
            <p:spPr>
              <a:xfrm>
                <a:off x="757592" y="1740420"/>
                <a:ext cx="956863" cy="366021"/>
              </a:xfrm>
              <a:prstGeom prst="roundRect">
                <a:avLst/>
              </a:prstGeom>
              <a:solidFill>
                <a:srgbClr val="00206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400" b="1" dirty="0">
                    <a:solidFill>
                      <a:schemeClr val="bg1"/>
                    </a:solidFill>
                    <a:latin typeface="微软雅黑" panose="020B0503020204020204" pitchFamily="34" charset="-122"/>
                    <a:ea typeface="微软雅黑" panose="020B0503020204020204" pitchFamily="34" charset="-122"/>
                  </a:rPr>
                  <a:t>开标时间</a:t>
                </a:r>
              </a:p>
            </p:txBody>
          </p:sp>
          <p:sp>
            <p:nvSpPr>
              <p:cNvPr id="59" name="圆角矩形 58"/>
              <p:cNvSpPr/>
              <p:nvPr/>
            </p:nvSpPr>
            <p:spPr>
              <a:xfrm>
                <a:off x="2401037" y="1717921"/>
                <a:ext cx="956863" cy="366021"/>
              </a:xfrm>
              <a:prstGeom prst="roundRect">
                <a:avLst/>
              </a:prstGeom>
              <a:solidFill>
                <a:srgbClr val="002060"/>
              </a:solidFill>
              <a:ln>
                <a:noFill/>
              </a:ln>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400" b="1" dirty="0">
                    <a:solidFill>
                      <a:schemeClr val="bg1"/>
                    </a:solidFill>
                    <a:latin typeface="微软雅黑" panose="020B0503020204020204" pitchFamily="34" charset="-122"/>
                    <a:ea typeface="微软雅黑" panose="020B0503020204020204" pitchFamily="34" charset="-122"/>
                  </a:rPr>
                  <a:t>下单时间</a:t>
                </a:r>
              </a:p>
            </p:txBody>
          </p:sp>
        </p:grpSp>
        <p:sp>
          <p:nvSpPr>
            <p:cNvPr id="52" name="圆角矩形 51"/>
            <p:cNvSpPr/>
            <p:nvPr/>
          </p:nvSpPr>
          <p:spPr>
            <a:xfrm>
              <a:off x="4031461" y="1723417"/>
              <a:ext cx="956863" cy="366021"/>
            </a:xfrm>
            <a:prstGeom prst="roundRect">
              <a:avLst/>
            </a:prstGeom>
            <a:solidFill>
              <a:schemeClr val="bg1">
                <a:lumMod val="65000"/>
              </a:schemeClr>
            </a:solidFill>
            <a:ln w="12700">
              <a:solidFill>
                <a:srgbClr val="FF0000"/>
              </a:solidFill>
              <a:prstDash val="dash"/>
            </a:ln>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1400" b="1" dirty="0">
                  <a:solidFill>
                    <a:schemeClr val="bg1"/>
                  </a:solidFill>
                  <a:latin typeface="微软雅黑" panose="020B0503020204020204" pitchFamily="34" charset="-122"/>
                  <a:ea typeface="微软雅黑" panose="020B0503020204020204" pitchFamily="34" charset="-122"/>
                </a:rPr>
                <a:t>要货时间</a:t>
              </a:r>
            </a:p>
          </p:txBody>
        </p:sp>
        <p:sp>
          <p:nvSpPr>
            <p:cNvPr id="53" name="文本框 52"/>
            <p:cNvSpPr txBox="1"/>
            <p:nvPr/>
          </p:nvSpPr>
          <p:spPr>
            <a:xfrm>
              <a:off x="469497" y="3677130"/>
              <a:ext cx="4775804" cy="1015663"/>
            </a:xfrm>
            <a:prstGeom prst="rect">
              <a:avLst/>
            </a:prstGeom>
            <a:noFill/>
            <a:ln>
              <a:solidFill>
                <a:srgbClr val="C00000"/>
              </a:solidFill>
            </a:ln>
          </p:spPr>
          <p:txBody>
            <a:bodyPr wrap="square" rtlCol="0">
              <a:spAutoFit/>
            </a:bodyPr>
            <a:lstStyle/>
            <a:p>
              <a:pPr marL="171450" indent="-171450">
                <a:buFont typeface="Arial" panose="020B0604020202020204" pitchFamily="34" charset="0"/>
                <a:buChar char="•"/>
              </a:pPr>
              <a:r>
                <a:rPr lang="zh-CN" altLang="en-US" sz="1200" b="1" dirty="0">
                  <a:latin typeface="微软雅黑" panose="020B0503020204020204" pitchFamily="34" charset="-122"/>
                  <a:ea typeface="微软雅黑" panose="020B0503020204020204" pitchFamily="34" charset="-122"/>
                </a:rPr>
                <a:t>开标时间：</a:t>
              </a:r>
              <a:r>
                <a:rPr lang="zh-CN" altLang="en-US" sz="1200" dirty="0">
                  <a:latin typeface="微软雅黑" panose="020B0503020204020204" pitchFamily="34" charset="-122"/>
                  <a:ea typeface="微软雅黑" panose="020B0503020204020204" pitchFamily="34" charset="-122"/>
                </a:rPr>
                <a:t>进漏斗内仅要求预计开标时间明确，</a:t>
              </a:r>
              <a:r>
                <a:rPr lang="zh-CN" altLang="en-US" sz="1200" b="1" dirty="0">
                  <a:solidFill>
                    <a:schemeClr val="accent6"/>
                  </a:solidFill>
                  <a:latin typeface="微软雅黑" panose="020B0503020204020204" pitchFamily="34" charset="-122"/>
                  <a:ea typeface="微软雅黑" panose="020B0503020204020204" pitchFamily="34" charset="-122"/>
                </a:rPr>
                <a:t>到季度即可进漏斗</a:t>
              </a:r>
              <a:endParaRPr lang="en-US" altLang="zh-CN" sz="1200" b="1" dirty="0">
                <a:solidFill>
                  <a:schemeClr val="accent6"/>
                </a:solidFill>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1200" b="1" dirty="0">
                  <a:latin typeface="微软雅黑" panose="020B0503020204020204" pitchFamily="34" charset="-122"/>
                  <a:ea typeface="微软雅黑" panose="020B0503020204020204" pitchFamily="34" charset="-122"/>
                </a:rPr>
                <a:t>下单时间：</a:t>
              </a:r>
              <a:r>
                <a:rPr lang="zh-CN" altLang="en-US" sz="1200" dirty="0">
                  <a:latin typeface="微软雅黑" panose="020B0503020204020204" pitchFamily="34" charset="-122"/>
                  <a:ea typeface="微软雅黑" panose="020B0503020204020204" pitchFamily="34" charset="-122"/>
                </a:rPr>
                <a:t>根据项目类型，采用正推法，按客户采购流程估算。或用倒推法，按客户最晚要货时间倒推估算。下单时间估算，要考虑不同类型，如政采类、</a:t>
              </a:r>
              <a:r>
                <a:rPr lang="en-US" altLang="zh-CN" sz="1200" dirty="0">
                  <a:latin typeface="微软雅黑" panose="020B0503020204020204" pitchFamily="34" charset="-122"/>
                  <a:ea typeface="微软雅黑" panose="020B0503020204020204" pitchFamily="34" charset="-122"/>
                </a:rPr>
                <a:t>EPC</a:t>
              </a:r>
              <a:r>
                <a:rPr lang="zh-CN" altLang="en-US" sz="1200" dirty="0">
                  <a:latin typeface="微软雅黑" panose="020B0503020204020204" pitchFamily="34" charset="-122"/>
                  <a:ea typeface="微软雅黑" panose="020B0503020204020204" pitchFamily="34" charset="-122"/>
                </a:rPr>
                <a:t>、投融资等</a:t>
              </a:r>
              <a:endParaRPr lang="en-US" altLang="zh-CN" sz="1200" dirty="0">
                <a:latin typeface="微软雅黑" panose="020B0503020204020204" pitchFamily="34" charset="-122"/>
                <a:ea typeface="微软雅黑" panose="020B0503020204020204" pitchFamily="34" charset="-122"/>
              </a:endParaRPr>
            </a:p>
            <a:p>
              <a:pPr marL="171450" indent="-171450">
                <a:buFont typeface="Arial" panose="020B0604020202020204" pitchFamily="34" charset="0"/>
                <a:buChar char="•"/>
              </a:pPr>
              <a:r>
                <a:rPr lang="zh-CN" altLang="en-US" sz="1200" b="1" dirty="0">
                  <a:latin typeface="微软雅黑" panose="020B0503020204020204" pitchFamily="34" charset="-122"/>
                  <a:ea typeface="微软雅黑" panose="020B0503020204020204" pitchFamily="34" charset="-122"/>
                </a:rPr>
                <a:t>要货时间：</a:t>
              </a:r>
              <a:r>
                <a:rPr lang="zh-CN" altLang="en-US" sz="1200" dirty="0">
                  <a:latin typeface="微软雅黑" panose="020B0503020204020204" pitchFamily="34" charset="-122"/>
                  <a:ea typeface="微软雅黑" panose="020B0503020204020204" pitchFamily="34" charset="-122"/>
                </a:rPr>
                <a:t>对漏斗外进漏斗时</a:t>
              </a:r>
              <a:r>
                <a:rPr lang="zh-CN" altLang="en-US" sz="1200" b="1" dirty="0">
                  <a:solidFill>
                    <a:schemeClr val="accent6"/>
                  </a:solidFill>
                  <a:latin typeface="微软雅黑" panose="020B0503020204020204" pitchFamily="34" charset="-122"/>
                  <a:ea typeface="微软雅黑" panose="020B0503020204020204" pitchFamily="34" charset="-122"/>
                </a:rPr>
                <a:t>，要货时间没有明确要求</a:t>
              </a:r>
              <a:endParaRPr lang="en-US" altLang="zh-CN" sz="1200" b="1" dirty="0">
                <a:solidFill>
                  <a:schemeClr val="accent6"/>
                </a:solidFill>
                <a:latin typeface="微软雅黑" panose="020B0503020204020204" pitchFamily="34" charset="-122"/>
                <a:ea typeface="微软雅黑" panose="020B0503020204020204" pitchFamily="34" charset="-122"/>
              </a:endParaRPr>
            </a:p>
          </p:txBody>
        </p:sp>
        <p:pic>
          <p:nvPicPr>
            <p:cNvPr id="54" name="图片 53"/>
            <p:cNvPicPr>
              <a:picLocks noChangeAspect="1"/>
            </p:cNvPicPr>
            <p:nvPr/>
          </p:nvPicPr>
          <p:blipFill>
            <a:blip r:embed="rId5"/>
            <a:stretch>
              <a:fillRect/>
            </a:stretch>
          </p:blipFill>
          <p:spPr>
            <a:xfrm>
              <a:off x="469496" y="2404276"/>
              <a:ext cx="4775804" cy="1164102"/>
            </a:xfrm>
            <a:prstGeom prst="rect">
              <a:avLst/>
            </a:prstGeom>
            <a:ln>
              <a:solidFill>
                <a:schemeClr val="tx1">
                  <a:lumMod val="50000"/>
                  <a:lumOff val="50000"/>
                </a:schemeClr>
              </a:solidFill>
            </a:ln>
          </p:spPr>
        </p:pic>
        <p:pic>
          <p:nvPicPr>
            <p:cNvPr id="55" name="图片 54"/>
            <p:cNvPicPr>
              <a:picLocks noChangeAspect="1"/>
            </p:cNvPicPr>
            <p:nvPr/>
          </p:nvPicPr>
          <p:blipFill>
            <a:blip r:embed="rId6"/>
            <a:stretch>
              <a:fillRect/>
            </a:stretch>
          </p:blipFill>
          <p:spPr>
            <a:xfrm>
              <a:off x="469496" y="4895019"/>
              <a:ext cx="3429615" cy="1034507"/>
            </a:xfrm>
            <a:prstGeom prst="rect">
              <a:avLst/>
            </a:prstGeom>
          </p:spPr>
        </p:pic>
        <p:pic>
          <p:nvPicPr>
            <p:cNvPr id="56" name="图片 55"/>
            <p:cNvPicPr>
              <a:picLocks noChangeAspect="1"/>
            </p:cNvPicPr>
            <p:nvPr/>
          </p:nvPicPr>
          <p:blipFill>
            <a:blip r:embed="rId7"/>
            <a:stretch>
              <a:fillRect/>
            </a:stretch>
          </p:blipFill>
          <p:spPr>
            <a:xfrm>
              <a:off x="2262643" y="5633876"/>
              <a:ext cx="2982657" cy="1057840"/>
            </a:xfrm>
            <a:prstGeom prst="rect">
              <a:avLst/>
            </a:prstGeom>
          </p:spPr>
        </p:pic>
      </p:grpSp>
      <p:sp>
        <p:nvSpPr>
          <p:cNvPr id="60" name="矩形 59"/>
          <p:cNvSpPr/>
          <p:nvPr/>
        </p:nvSpPr>
        <p:spPr>
          <a:xfrm>
            <a:off x="10118573" y="1327514"/>
            <a:ext cx="1933889" cy="497321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本次</a:t>
            </a:r>
          </a:p>
        </p:txBody>
      </p:sp>
      <p:sp>
        <p:nvSpPr>
          <p:cNvPr id="61" name="文本框 60"/>
          <p:cNvSpPr txBox="1"/>
          <p:nvPr/>
        </p:nvSpPr>
        <p:spPr>
          <a:xfrm>
            <a:off x="10252029" y="903721"/>
            <a:ext cx="1688221" cy="369332"/>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造成的影响</a:t>
            </a:r>
          </a:p>
        </p:txBody>
      </p:sp>
      <p:sp>
        <p:nvSpPr>
          <p:cNvPr id="3" name="矩形 2"/>
          <p:cNvSpPr/>
          <p:nvPr/>
        </p:nvSpPr>
        <p:spPr>
          <a:xfrm>
            <a:off x="10085131" y="1566150"/>
            <a:ext cx="1932889" cy="4401205"/>
          </a:xfrm>
          <a:prstGeom prst="rect">
            <a:avLst/>
          </a:prstGeom>
        </p:spPr>
        <p:txBody>
          <a:bodyPr wrap="square">
            <a:spAutoFit/>
          </a:bodyPr>
          <a:lstStyle/>
          <a:p>
            <a:r>
              <a:rPr lang="en-US" altLang="zh-CN" sz="1400" dirty="0"/>
              <a:t>1</a:t>
            </a:r>
            <a:r>
              <a:rPr lang="zh-CN" altLang="en-US" sz="1400" dirty="0"/>
              <a:t>）输入的配置不准确，随意填配置凑金额，导致产品预测不准，形成呆滞料和库存</a:t>
            </a:r>
            <a:endParaRPr lang="en-US" altLang="zh-CN" sz="1400" dirty="0"/>
          </a:p>
          <a:p>
            <a:endParaRPr lang="en-US" altLang="zh-CN" sz="1400" dirty="0"/>
          </a:p>
          <a:p>
            <a:r>
              <a:rPr lang="en-US" altLang="zh-CN" sz="1400" dirty="0"/>
              <a:t>2</a:t>
            </a:r>
            <a:r>
              <a:rPr lang="zh-CN" altLang="en-US" sz="1400" dirty="0"/>
              <a:t>）时间输入不准，更新不及时，导致备货排产不及时，影响客户交付</a:t>
            </a:r>
            <a:endParaRPr lang="en-US" altLang="zh-CN" sz="1400" dirty="0"/>
          </a:p>
          <a:p>
            <a:endParaRPr lang="en-US" altLang="zh-CN" sz="1400" dirty="0"/>
          </a:p>
          <a:p>
            <a:r>
              <a:rPr lang="en-US" altLang="zh-CN" sz="1400" dirty="0"/>
              <a:t>3</a:t>
            </a:r>
            <a:r>
              <a:rPr lang="zh-CN" altLang="en-US" sz="1400" dirty="0"/>
              <a:t>）不质量的商机最后关头调出漏斗，漏斗抖动率大，影响业务决策</a:t>
            </a:r>
            <a:endParaRPr lang="en-US" altLang="zh-CN" sz="1400" dirty="0"/>
          </a:p>
          <a:p>
            <a:endParaRPr lang="en-US" altLang="zh-CN" sz="1400" dirty="0"/>
          </a:p>
          <a:p>
            <a:r>
              <a:rPr lang="zh-CN" altLang="en-US" sz="1400" b="1" dirty="0">
                <a:solidFill>
                  <a:schemeClr val="accent6"/>
                </a:solidFill>
              </a:rPr>
              <a:t>以上这些做法给</a:t>
            </a:r>
            <a:r>
              <a:rPr lang="en-US" altLang="zh-CN" sz="1400" b="1" dirty="0">
                <a:solidFill>
                  <a:schemeClr val="accent6"/>
                </a:solidFill>
              </a:rPr>
              <a:t>EBG</a:t>
            </a:r>
            <a:r>
              <a:rPr lang="zh-CN" altLang="en-US" sz="1400" b="1" dirty="0">
                <a:solidFill>
                  <a:schemeClr val="accent6"/>
                </a:solidFill>
              </a:rPr>
              <a:t>造成很大损失</a:t>
            </a:r>
            <a:r>
              <a:rPr lang="en-US" altLang="zh-CN" sz="1400" b="1" dirty="0">
                <a:solidFill>
                  <a:schemeClr val="accent6"/>
                </a:solidFill>
              </a:rPr>
              <a:t>,</a:t>
            </a:r>
            <a:r>
              <a:rPr lang="zh-CN" altLang="en-US" sz="1400" b="1" dirty="0">
                <a:solidFill>
                  <a:schemeClr val="accent6"/>
                </a:solidFill>
              </a:rPr>
              <a:t>公司计提扣除的净利润上千万，影响到了每个人的利益</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1453" y="274320"/>
            <a:ext cx="7606768" cy="495935"/>
          </a:xfrm>
        </p:spPr>
        <p:txBody>
          <a:bodyPr/>
          <a:lstStyle/>
          <a:p>
            <a:r>
              <a:rPr lang="zh-CN" altLang="en-US" dirty="0" smtClean="0"/>
              <a:t>目标</a:t>
            </a:r>
            <a:endParaRPr lang="zh-CN" altLang="en-US" dirty="0"/>
          </a:p>
        </p:txBody>
      </p:sp>
      <p:sp>
        <p:nvSpPr>
          <p:cNvPr id="5" name="矩形 4"/>
          <p:cNvSpPr/>
          <p:nvPr/>
        </p:nvSpPr>
        <p:spPr>
          <a:xfrm>
            <a:off x="6085115" y="1044342"/>
            <a:ext cx="184731" cy="369332"/>
          </a:xfrm>
          <a:prstGeom prst="rect">
            <a:avLst/>
          </a:prstGeom>
        </p:spPr>
        <p:txBody>
          <a:bodyPr wrap="none">
            <a:spAutoFit/>
          </a:bodyPr>
          <a:lstStyle/>
          <a:p>
            <a:r>
              <a:rPr lang="zh-CN" altLang="en-US" dirty="0">
                <a:latin typeface="LarkHackSafariFont"/>
              </a:rPr>
              <a:t>​</a:t>
            </a:r>
            <a:endParaRPr lang="zh-CN" altLang="en-US" dirty="0"/>
          </a:p>
        </p:txBody>
      </p:sp>
      <p:sp>
        <p:nvSpPr>
          <p:cNvPr id="62" name="Rectangle 4"/>
          <p:cNvSpPr>
            <a:spLocks noChangeArrowheads="1"/>
          </p:cNvSpPr>
          <p:nvPr/>
        </p:nvSpPr>
        <p:spPr bwMode="auto">
          <a:xfrm>
            <a:off x="819455" y="1784866"/>
            <a:ext cx="3229750" cy="695956"/>
          </a:xfrm>
          <a:prstGeom prst="roundRect">
            <a:avLst/>
          </a:prstGeom>
          <a:solidFill>
            <a:srgbClr val="0070C0"/>
          </a:solidFill>
          <a:ln w="9525" algn="ctr">
            <a:noFill/>
            <a:miter lim="800000"/>
          </a:ln>
          <a:effectLst/>
        </p:spPr>
        <p:txBody>
          <a:bodyPr lIns="77943" tIns="38972" rIns="77943" bIns="38972" anchor="ctr"/>
          <a:lstStyle/>
          <a:p>
            <a:pPr algn="ctr">
              <a:defRPr/>
            </a:pPr>
            <a:r>
              <a:rPr lang="zh-CN" altLang="en-US" b="1" dirty="0" smtClean="0">
                <a:solidFill>
                  <a:schemeClr val="bg1"/>
                </a:solidFill>
                <a:latin typeface="+mn-ea"/>
              </a:rPr>
              <a:t>识别问题</a:t>
            </a:r>
            <a:endParaRPr lang="en-US" b="1" dirty="0">
              <a:solidFill>
                <a:schemeClr val="bg1"/>
              </a:solidFill>
              <a:latin typeface="+mn-ea"/>
            </a:endParaRPr>
          </a:p>
        </p:txBody>
      </p:sp>
      <p:sp>
        <p:nvSpPr>
          <p:cNvPr id="63" name="Rectangle 10"/>
          <p:cNvSpPr>
            <a:spLocks noChangeArrowheads="1"/>
          </p:cNvSpPr>
          <p:nvPr/>
        </p:nvSpPr>
        <p:spPr bwMode="auto">
          <a:xfrm>
            <a:off x="4391969" y="1784866"/>
            <a:ext cx="3229749" cy="695956"/>
          </a:xfrm>
          <a:prstGeom prst="roundRect">
            <a:avLst/>
          </a:prstGeom>
          <a:solidFill>
            <a:srgbClr val="0070C0"/>
          </a:solidFill>
          <a:ln w="9525" algn="ctr">
            <a:noFill/>
            <a:miter lim="800000"/>
          </a:ln>
          <a:effectLst/>
        </p:spPr>
        <p:txBody>
          <a:bodyPr lIns="77943" tIns="38972" rIns="77943" bIns="38972" anchor="ctr"/>
          <a:lstStyle/>
          <a:p>
            <a:pPr algn="ctr">
              <a:defRPr/>
            </a:pPr>
            <a:r>
              <a:rPr lang="zh-CN" altLang="en-US" b="1" dirty="0" smtClean="0">
                <a:solidFill>
                  <a:schemeClr val="bg1"/>
                </a:solidFill>
                <a:latin typeface="+mn-ea"/>
              </a:rPr>
              <a:t>分析问题</a:t>
            </a:r>
            <a:endParaRPr lang="en-US" b="1" dirty="0">
              <a:solidFill>
                <a:schemeClr val="bg1"/>
              </a:solidFill>
              <a:latin typeface="+mn-ea"/>
            </a:endParaRPr>
          </a:p>
        </p:txBody>
      </p:sp>
      <p:sp>
        <p:nvSpPr>
          <p:cNvPr id="64" name="Rectangle 16"/>
          <p:cNvSpPr>
            <a:spLocks noChangeArrowheads="1"/>
          </p:cNvSpPr>
          <p:nvPr/>
        </p:nvSpPr>
        <p:spPr bwMode="auto">
          <a:xfrm>
            <a:off x="7916011" y="1784866"/>
            <a:ext cx="3227942" cy="695956"/>
          </a:xfrm>
          <a:prstGeom prst="roundRect">
            <a:avLst/>
          </a:prstGeom>
          <a:solidFill>
            <a:srgbClr val="0070C0"/>
          </a:solidFill>
          <a:ln w="9525" algn="ctr">
            <a:noFill/>
            <a:miter lim="800000"/>
          </a:ln>
          <a:effectLst/>
        </p:spPr>
        <p:txBody>
          <a:bodyPr lIns="77943" tIns="38972" rIns="77943" bIns="38972" anchor="ctr"/>
          <a:lstStyle/>
          <a:p>
            <a:pPr algn="ctr">
              <a:defRPr/>
            </a:pPr>
            <a:r>
              <a:rPr lang="zh-CN" altLang="en-US" b="1" dirty="0" smtClean="0">
                <a:solidFill>
                  <a:schemeClr val="bg1"/>
                </a:solidFill>
                <a:latin typeface="+mn-ea"/>
              </a:rPr>
              <a:t>解决问题</a:t>
            </a:r>
            <a:endParaRPr lang="en-US" b="1" dirty="0">
              <a:solidFill>
                <a:schemeClr val="bg1"/>
              </a:solidFill>
              <a:latin typeface="+mn-ea"/>
            </a:endParaRPr>
          </a:p>
        </p:txBody>
      </p:sp>
      <p:sp>
        <p:nvSpPr>
          <p:cNvPr id="65" name="Rectangle 5"/>
          <p:cNvSpPr>
            <a:spLocks noChangeArrowheads="1"/>
          </p:cNvSpPr>
          <p:nvPr/>
        </p:nvSpPr>
        <p:spPr bwMode="auto">
          <a:xfrm>
            <a:off x="819455" y="2560826"/>
            <a:ext cx="3229750" cy="1857266"/>
          </a:xfrm>
          <a:prstGeom prst="roundRect">
            <a:avLst>
              <a:gd name="adj" fmla="val 6701"/>
            </a:avLst>
          </a:prstGeom>
          <a:solidFill>
            <a:schemeClr val="bg1">
              <a:lumMod val="95000"/>
            </a:schemeClr>
          </a:solidFill>
          <a:ln w="12700" algn="ctr">
            <a:noFill/>
            <a:miter lim="800000"/>
          </a:ln>
          <a:effectLst/>
        </p:spPr>
        <p:txBody>
          <a:bodyPr lIns="77943" tIns="38972" rIns="77943" bIns="38972" anchor="t"/>
          <a:lstStyle/>
          <a:p>
            <a:pPr>
              <a:lnSpc>
                <a:spcPct val="150000"/>
              </a:lnSpc>
            </a:pPr>
            <a:endParaRPr lang="en-US" altLang="zh-CN" sz="1400" dirty="0" smtClean="0">
              <a:latin typeface="MonospacedNumber"/>
            </a:endParaRPr>
          </a:p>
          <a:p>
            <a:pPr>
              <a:lnSpc>
                <a:spcPct val="150000"/>
              </a:lnSpc>
            </a:pPr>
            <a:r>
              <a:rPr lang="zh-CN" altLang="en-US" sz="1400" dirty="0" smtClean="0">
                <a:latin typeface="MonospacedNumber"/>
              </a:rPr>
              <a:t>梳理</a:t>
            </a:r>
            <a:r>
              <a:rPr lang="zh-CN" altLang="en-US" sz="1400" dirty="0">
                <a:latin typeface="MonospacedNumber"/>
              </a:rPr>
              <a:t>漏斗填报和管理流程，识别漏斗质量管</a:t>
            </a:r>
            <a:r>
              <a:rPr lang="zh-CN" altLang="en-US" sz="1400" dirty="0" smtClean="0">
                <a:latin typeface="MonospacedNumber"/>
              </a:rPr>
              <a:t>控业务场景和关键环节，定位问题。</a:t>
            </a:r>
            <a:endParaRPr lang="zh-CN" altLang="en-US" sz="1400" dirty="0"/>
          </a:p>
        </p:txBody>
      </p:sp>
      <p:sp>
        <p:nvSpPr>
          <p:cNvPr id="66" name="Rectangle 5"/>
          <p:cNvSpPr>
            <a:spLocks noChangeArrowheads="1"/>
          </p:cNvSpPr>
          <p:nvPr/>
        </p:nvSpPr>
        <p:spPr bwMode="auto">
          <a:xfrm>
            <a:off x="4391969" y="2560826"/>
            <a:ext cx="3229750" cy="1857266"/>
          </a:xfrm>
          <a:prstGeom prst="roundRect">
            <a:avLst>
              <a:gd name="adj" fmla="val 6701"/>
            </a:avLst>
          </a:prstGeom>
          <a:solidFill>
            <a:schemeClr val="bg1">
              <a:lumMod val="95000"/>
            </a:schemeClr>
          </a:solidFill>
          <a:ln w="12700" algn="ctr">
            <a:noFill/>
            <a:miter lim="800000"/>
          </a:ln>
          <a:effectLst/>
        </p:spPr>
        <p:txBody>
          <a:bodyPr lIns="77943" tIns="38972" rIns="77943" bIns="38972" anchor="t"/>
          <a:lstStyle/>
          <a:p>
            <a:pPr>
              <a:lnSpc>
                <a:spcPct val="150000"/>
              </a:lnSpc>
            </a:pPr>
            <a:endParaRPr lang="en-US" altLang="zh-CN" sz="1400" dirty="0" smtClean="0">
              <a:latin typeface="MonospacedNumber"/>
            </a:endParaRPr>
          </a:p>
          <a:p>
            <a:pPr>
              <a:lnSpc>
                <a:spcPct val="150000"/>
              </a:lnSpc>
            </a:pPr>
            <a:r>
              <a:rPr lang="zh-CN" altLang="en-US" sz="1400" dirty="0">
                <a:latin typeface="MonospacedNumber"/>
              </a:rPr>
              <a:t>联合上下</a:t>
            </a:r>
            <a:r>
              <a:rPr lang="zh-CN" altLang="en-US" sz="1400" dirty="0" smtClean="0">
                <a:latin typeface="MonospacedNumber"/>
              </a:rPr>
              <a:t>工序，整理业务要素，剖析流程关键活动，定义</a:t>
            </a:r>
            <a:r>
              <a:rPr lang="zh-CN" altLang="en-US" sz="1400" dirty="0">
                <a:latin typeface="MonospacedNumber"/>
              </a:rPr>
              <a:t>输入输出及良品条件</a:t>
            </a:r>
            <a:endParaRPr lang="zh-CN" altLang="en-US" sz="1400" dirty="0"/>
          </a:p>
        </p:txBody>
      </p:sp>
      <p:sp>
        <p:nvSpPr>
          <p:cNvPr id="67" name="Rectangle 5"/>
          <p:cNvSpPr>
            <a:spLocks noChangeArrowheads="1"/>
          </p:cNvSpPr>
          <p:nvPr/>
        </p:nvSpPr>
        <p:spPr bwMode="auto">
          <a:xfrm>
            <a:off x="7916011" y="2560826"/>
            <a:ext cx="3229750" cy="1857266"/>
          </a:xfrm>
          <a:prstGeom prst="roundRect">
            <a:avLst>
              <a:gd name="adj" fmla="val 6701"/>
            </a:avLst>
          </a:prstGeom>
          <a:solidFill>
            <a:schemeClr val="bg1">
              <a:lumMod val="95000"/>
            </a:schemeClr>
          </a:solidFill>
          <a:ln w="12700" algn="ctr">
            <a:noFill/>
            <a:miter lim="800000"/>
          </a:ln>
          <a:effectLst/>
        </p:spPr>
        <p:txBody>
          <a:bodyPr lIns="77943" tIns="38972" rIns="77943" bIns="38972" anchor="t"/>
          <a:lstStyle/>
          <a:p>
            <a:pPr>
              <a:lnSpc>
                <a:spcPct val="150000"/>
              </a:lnSpc>
            </a:pPr>
            <a:endParaRPr lang="en-US" altLang="zh-CN" sz="1400" dirty="0" smtClean="0">
              <a:latin typeface="MonospacedNumber"/>
            </a:endParaRPr>
          </a:p>
          <a:p>
            <a:pPr>
              <a:lnSpc>
                <a:spcPct val="150000"/>
              </a:lnSpc>
            </a:pPr>
            <a:r>
              <a:rPr lang="zh-CN" altLang="en-US" sz="1400" dirty="0" smtClean="0">
                <a:latin typeface="MonospacedNumber"/>
              </a:rPr>
              <a:t>优化流程和机制，设计有效解决方案，落地执行提升</a:t>
            </a:r>
            <a:r>
              <a:rPr lang="zh-CN" altLang="en-US" sz="1400" dirty="0">
                <a:latin typeface="MonospacedNumber"/>
              </a:rPr>
              <a:t>漏斗质量</a:t>
            </a:r>
            <a:endParaRPr lang="zh-CN" altLang="en-US" sz="1400" dirty="0"/>
          </a:p>
        </p:txBody>
      </p:sp>
      <p:sp>
        <p:nvSpPr>
          <p:cNvPr id="9" name="矩形 8"/>
          <p:cNvSpPr/>
          <p:nvPr/>
        </p:nvSpPr>
        <p:spPr>
          <a:xfrm>
            <a:off x="819455" y="4626321"/>
            <a:ext cx="10324498" cy="7242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smtClean="0"/>
              <a:t>合意共识</a:t>
            </a:r>
            <a:endParaRPr lang="zh-CN" altLang="en-US" b="1" dirty="0"/>
          </a:p>
        </p:txBody>
      </p:sp>
    </p:spTree>
    <p:extLst>
      <p:ext uri="{BB962C8B-B14F-4D97-AF65-F5344CB8AC3E}">
        <p14:creationId xmlns:p14="http://schemas.microsoft.com/office/powerpoint/2010/main" val="3920936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08134" y="2976888"/>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4" y="2368089"/>
            <a:ext cx="7317595" cy="3463544"/>
          </a:xfrm>
          <a:prstGeom prst="rect">
            <a:avLst/>
          </a:prstGeom>
        </p:spPr>
        <p:txBody>
          <a:bodyPr vert="horz" lIns="91440" tIns="45720" rIns="91440" bIns="45720" rtlCol="0">
            <a:normAutofit lnSpcReduction="10000"/>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smtClean="0"/>
              <a:t>背景与目标</a:t>
            </a:r>
            <a:endParaRPr lang="en-US" altLang="zh-CN" dirty="0"/>
          </a:p>
          <a:p>
            <a:pPr marL="342900" indent="-342900">
              <a:lnSpc>
                <a:spcPct val="150000"/>
              </a:lnSpc>
              <a:buFont typeface="Arial" panose="020B0604020202020204" pitchFamily="34" charset="0"/>
              <a:buChar char="•"/>
              <a:defRPr/>
            </a:pPr>
            <a:r>
              <a:rPr lang="zh-CN" altLang="en-US" dirty="0" smtClean="0"/>
              <a:t>实践举措</a:t>
            </a:r>
            <a:endParaRPr lang="en-US" altLang="zh-CN" dirty="0"/>
          </a:p>
          <a:p>
            <a:pPr marL="342900" indent="-342900">
              <a:lnSpc>
                <a:spcPct val="150000"/>
              </a:lnSpc>
              <a:buFont typeface="Arial" panose="020B0604020202020204" pitchFamily="34" charset="0"/>
              <a:buChar char="•"/>
              <a:defRPr/>
            </a:pPr>
            <a:r>
              <a:rPr lang="zh-CN" altLang="en-US" dirty="0" smtClean="0"/>
              <a:t>方案介绍：如何做准</a:t>
            </a:r>
            <a:r>
              <a:rPr lang="en-US" altLang="zh-CN" dirty="0" smtClean="0"/>
              <a:t>N</a:t>
            </a:r>
            <a:endParaRPr lang="en-US" altLang="zh-CN" dirty="0"/>
          </a:p>
          <a:p>
            <a:pPr marL="342900" indent="-342900">
              <a:lnSpc>
                <a:spcPct val="150000"/>
              </a:lnSpc>
              <a:buFont typeface="Arial" panose="020B0604020202020204" pitchFamily="34" charset="0"/>
              <a:buChar char="•"/>
              <a:defRPr/>
            </a:pPr>
            <a:r>
              <a:rPr lang="zh-CN" altLang="en-US" dirty="0" smtClean="0"/>
              <a:t>方案介绍：如何作准</a:t>
            </a:r>
            <a:r>
              <a:rPr lang="en-US" altLang="zh-CN" dirty="0" smtClean="0"/>
              <a:t>T</a:t>
            </a:r>
            <a:endParaRPr lang="en-US" altLang="zh-CN" dirty="0"/>
          </a:p>
          <a:p>
            <a:pPr marL="342900" indent="-342900">
              <a:lnSpc>
                <a:spcPct val="150000"/>
              </a:lnSpc>
              <a:buFont typeface="Arial" panose="020B0604020202020204" pitchFamily="34" charset="0"/>
              <a:buChar char="•"/>
              <a:defRPr/>
            </a:pPr>
            <a:r>
              <a:rPr lang="zh-CN" altLang="en-US" dirty="0" smtClean="0"/>
              <a:t>实践效果</a:t>
            </a:r>
            <a:r>
              <a:rPr lang="en-US" altLang="zh-CN" dirty="0" smtClean="0"/>
              <a:t>-</a:t>
            </a:r>
            <a:r>
              <a:rPr lang="zh-CN" altLang="en-US" dirty="0" smtClean="0"/>
              <a:t>试点区域验证结果</a:t>
            </a:r>
            <a:endParaRPr lang="en-US" altLang="zh-CN" dirty="0" smtClean="0"/>
          </a:p>
          <a:p>
            <a:pPr marL="342900" indent="-342900">
              <a:lnSpc>
                <a:spcPct val="150000"/>
              </a:lnSpc>
              <a:buFont typeface="Arial" panose="020B0604020202020204" pitchFamily="34" charset="0"/>
              <a:buChar char="•"/>
              <a:defRPr/>
            </a:pPr>
            <a:r>
              <a:rPr lang="zh-CN" altLang="en-US" dirty="0" smtClean="0"/>
              <a:t>心得体会，认知感悟</a:t>
            </a:r>
            <a:endParaRPr dirty="0"/>
          </a:p>
        </p:txBody>
      </p:sp>
    </p:spTree>
    <p:extLst>
      <p:ext uri="{BB962C8B-B14F-4D97-AF65-F5344CB8AC3E}">
        <p14:creationId xmlns:p14="http://schemas.microsoft.com/office/powerpoint/2010/main" val="38472047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235369" y="210590"/>
            <a:ext cx="6353606" cy="495935"/>
          </a:xfrm>
        </p:spPr>
        <p:txBody>
          <a:bodyPr/>
          <a:lstStyle/>
          <a:p>
            <a:pPr>
              <a:lnSpc>
                <a:spcPct val="150000"/>
              </a:lnSpc>
              <a:defRPr/>
            </a:pPr>
            <a:r>
              <a:rPr lang="zh-CN" altLang="en-US" dirty="0"/>
              <a:t>实践</a:t>
            </a:r>
            <a:r>
              <a:rPr lang="zh-CN" altLang="en-US" dirty="0" smtClean="0"/>
              <a:t>举措</a:t>
            </a:r>
            <a:endParaRPr lang="en-US" altLang="zh-CN" dirty="0"/>
          </a:p>
        </p:txBody>
      </p:sp>
      <p:sp>
        <p:nvSpPr>
          <p:cNvPr id="25" name="矩形 24"/>
          <p:cNvSpPr/>
          <p:nvPr/>
        </p:nvSpPr>
        <p:spPr>
          <a:xfrm>
            <a:off x="573405" y="925325"/>
            <a:ext cx="1815744" cy="630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识别问题</a:t>
            </a:r>
            <a:endParaRPr lang="zh-CN" altLang="en-US" dirty="0"/>
          </a:p>
        </p:txBody>
      </p:sp>
      <p:sp>
        <p:nvSpPr>
          <p:cNvPr id="26" name="矩形 25"/>
          <p:cNvSpPr/>
          <p:nvPr/>
        </p:nvSpPr>
        <p:spPr>
          <a:xfrm>
            <a:off x="2551020" y="921334"/>
            <a:ext cx="2187902" cy="630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分析</a:t>
            </a:r>
            <a:r>
              <a:rPr lang="zh-CN" altLang="en-US" dirty="0" smtClean="0"/>
              <a:t>问题</a:t>
            </a:r>
            <a:endParaRPr lang="zh-CN" altLang="en-US" dirty="0"/>
          </a:p>
        </p:txBody>
      </p:sp>
      <p:sp>
        <p:nvSpPr>
          <p:cNvPr id="27" name="矩形 26"/>
          <p:cNvSpPr/>
          <p:nvPr/>
        </p:nvSpPr>
        <p:spPr>
          <a:xfrm>
            <a:off x="4900792" y="921333"/>
            <a:ext cx="6693791" cy="63042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解决问题（</a:t>
            </a:r>
            <a:r>
              <a:rPr lang="zh-CN" altLang="en-US" dirty="0" smtClean="0"/>
              <a:t>设计验证</a:t>
            </a:r>
            <a:r>
              <a:rPr lang="en-US" altLang="zh-CN" dirty="0" smtClean="0"/>
              <a:t>+</a:t>
            </a:r>
            <a:r>
              <a:rPr lang="zh-CN" altLang="en-US" dirty="0" smtClean="0"/>
              <a:t>执行监控）</a:t>
            </a:r>
            <a:endParaRPr lang="zh-CN" altLang="en-US" dirty="0"/>
          </a:p>
        </p:txBody>
      </p:sp>
      <p:sp>
        <p:nvSpPr>
          <p:cNvPr id="4" name="矩形 3"/>
          <p:cNvSpPr/>
          <p:nvPr/>
        </p:nvSpPr>
        <p:spPr>
          <a:xfrm>
            <a:off x="573405" y="1708984"/>
            <a:ext cx="4165517" cy="4785122"/>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zh-CN" sz="1400" dirty="0">
                <a:solidFill>
                  <a:schemeClr val="tx1"/>
                </a:solidFill>
              </a:rPr>
              <a:t>1</a:t>
            </a:r>
            <a:r>
              <a:rPr lang="zh-CN" altLang="en-US" sz="1400" dirty="0">
                <a:solidFill>
                  <a:schemeClr val="tx1"/>
                </a:solidFill>
              </a:rPr>
              <a:t>、流程梳理，了解现状：明确</a:t>
            </a:r>
            <a:r>
              <a:rPr lang="en-US" altLang="zh-CN" sz="1400" dirty="0">
                <a:solidFill>
                  <a:schemeClr val="tx1"/>
                </a:solidFill>
              </a:rPr>
              <a:t>N</a:t>
            </a:r>
            <a:r>
              <a:rPr lang="zh-CN" altLang="en-US" sz="1400" dirty="0">
                <a:solidFill>
                  <a:schemeClr val="tx1"/>
                </a:solidFill>
              </a:rPr>
              <a:t>和</a:t>
            </a:r>
            <a:r>
              <a:rPr lang="en-US" altLang="zh-CN" sz="1400" dirty="0">
                <a:solidFill>
                  <a:schemeClr val="tx1"/>
                </a:solidFill>
              </a:rPr>
              <a:t>T</a:t>
            </a:r>
            <a:r>
              <a:rPr lang="zh-CN" altLang="en-US" sz="1400" dirty="0">
                <a:solidFill>
                  <a:schemeClr val="tx1"/>
                </a:solidFill>
              </a:rPr>
              <a:t>的定义，流程关键环节的质量要求，关键的业务场景和卡点识别</a:t>
            </a:r>
            <a:r>
              <a:rPr lang="zh-CN" altLang="en-US" sz="1400" dirty="0" smtClean="0">
                <a:solidFill>
                  <a:schemeClr val="tx1"/>
                </a:solidFill>
              </a:rPr>
              <a:t>。</a:t>
            </a:r>
            <a:endParaRPr lang="en-US" altLang="zh-CN" sz="1400" dirty="0" smtClean="0">
              <a:solidFill>
                <a:schemeClr val="tx1"/>
              </a:solidFill>
            </a:endParaRPr>
          </a:p>
          <a:p>
            <a:endParaRPr lang="en-US" altLang="zh-CN" sz="1100" dirty="0" smtClean="0">
              <a:solidFill>
                <a:schemeClr val="tx1"/>
              </a:solidFill>
            </a:endParaRPr>
          </a:p>
          <a:p>
            <a:r>
              <a:rPr lang="zh-CN" altLang="en-US" sz="1100" b="1" dirty="0">
                <a:solidFill>
                  <a:schemeClr val="accent6"/>
                </a:solidFill>
              </a:rPr>
              <a:t>问题</a:t>
            </a:r>
            <a:r>
              <a:rPr lang="en-US" altLang="zh-CN" sz="1100" b="1" dirty="0">
                <a:solidFill>
                  <a:schemeClr val="accent6"/>
                </a:solidFill>
              </a:rPr>
              <a:t>1</a:t>
            </a:r>
            <a:r>
              <a:rPr lang="zh-CN" altLang="en-US" sz="1100" b="1" dirty="0">
                <a:solidFill>
                  <a:schemeClr val="accent6"/>
                </a:solidFill>
              </a:rPr>
              <a:t>：</a:t>
            </a:r>
            <a:r>
              <a:rPr lang="en-US" altLang="zh-CN" sz="1100" b="1" dirty="0">
                <a:solidFill>
                  <a:schemeClr val="accent6"/>
                </a:solidFill>
              </a:rPr>
              <a:t>N</a:t>
            </a:r>
            <a:r>
              <a:rPr lang="zh-CN" altLang="en-US" sz="1100" b="1" dirty="0">
                <a:solidFill>
                  <a:schemeClr val="accent6"/>
                </a:solidFill>
              </a:rPr>
              <a:t>（产品清单）存在不质量的</a:t>
            </a:r>
            <a:r>
              <a:rPr lang="zh-CN" altLang="en-US" sz="1100" b="1" dirty="0" smtClean="0">
                <a:solidFill>
                  <a:schemeClr val="accent6"/>
                </a:solidFill>
              </a:rPr>
              <a:t>配置</a:t>
            </a:r>
            <a:endParaRPr lang="en-US" altLang="zh-CN" sz="1100" b="1" dirty="0" smtClean="0">
              <a:solidFill>
                <a:schemeClr val="accent6"/>
              </a:solidFill>
            </a:endParaRPr>
          </a:p>
          <a:p>
            <a:r>
              <a:rPr lang="zh-CN" altLang="en-US" sz="1100" b="1" dirty="0">
                <a:solidFill>
                  <a:schemeClr val="accent6"/>
                </a:solidFill>
              </a:rPr>
              <a:t>业务</a:t>
            </a:r>
            <a:r>
              <a:rPr lang="zh-CN" altLang="en-US" sz="1100" b="1" dirty="0" smtClean="0">
                <a:solidFill>
                  <a:schemeClr val="accent6"/>
                </a:solidFill>
              </a:rPr>
              <a:t>场景：漏斗外进漏斗内配置清单上传、漏斗内商机推进（预测类别变化触发配置更新）</a:t>
            </a:r>
            <a:endParaRPr lang="zh-CN" altLang="en-US" sz="1100" b="1" dirty="0">
              <a:solidFill>
                <a:schemeClr val="accent6"/>
              </a:solidFill>
            </a:endParaRPr>
          </a:p>
          <a:p>
            <a:r>
              <a:rPr lang="zh-CN" altLang="en-US" sz="1100" dirty="0">
                <a:solidFill>
                  <a:schemeClr val="tx1"/>
                </a:solidFill>
              </a:rPr>
              <a:t>根因分析：</a:t>
            </a:r>
          </a:p>
          <a:p>
            <a:r>
              <a:rPr lang="zh-CN" altLang="en-US" sz="1100" dirty="0">
                <a:solidFill>
                  <a:schemeClr val="tx1"/>
                </a:solidFill>
              </a:rPr>
              <a:t>①销售售前对“做准”</a:t>
            </a:r>
            <a:r>
              <a:rPr lang="en-US" altLang="zh-CN" sz="1100" dirty="0">
                <a:solidFill>
                  <a:schemeClr val="tx1"/>
                </a:solidFill>
              </a:rPr>
              <a:t>N</a:t>
            </a:r>
            <a:r>
              <a:rPr lang="zh-CN" altLang="en-US" sz="1100" dirty="0">
                <a:solidFill>
                  <a:schemeClr val="tx1"/>
                </a:solidFill>
              </a:rPr>
              <a:t>的理解和认知有偏差：认为产品清单是动态变化的，是无法在漏斗外进漏斗内的时候”做准“的</a:t>
            </a:r>
          </a:p>
          <a:p>
            <a:r>
              <a:rPr lang="zh-CN" altLang="en-US" sz="1100" dirty="0">
                <a:solidFill>
                  <a:schemeClr val="tx1"/>
                </a:solidFill>
              </a:rPr>
              <a:t>②组织没有给出标准规范和要求：过去缺乏对</a:t>
            </a:r>
            <a:r>
              <a:rPr lang="en-US" altLang="zh-CN" sz="1100" dirty="0">
                <a:solidFill>
                  <a:schemeClr val="tx1"/>
                </a:solidFill>
              </a:rPr>
              <a:t>N</a:t>
            </a:r>
            <a:r>
              <a:rPr lang="zh-CN" altLang="en-US" sz="1100" dirty="0">
                <a:solidFill>
                  <a:schemeClr val="tx1"/>
                </a:solidFill>
              </a:rPr>
              <a:t>（产品清单）做准的质量标准和要求，因此售前不知道要做到什么样，没有评判标准</a:t>
            </a:r>
          </a:p>
          <a:p>
            <a:r>
              <a:rPr lang="zh-CN" altLang="en-US" sz="1100" dirty="0">
                <a:solidFill>
                  <a:schemeClr val="tx1"/>
                </a:solidFill>
              </a:rPr>
              <a:t>③缺少工具方法：因为没有质量标准和要求，也导致缺少对做准</a:t>
            </a:r>
            <a:r>
              <a:rPr lang="en-US" altLang="zh-CN" sz="1100" dirty="0">
                <a:solidFill>
                  <a:schemeClr val="tx1"/>
                </a:solidFill>
              </a:rPr>
              <a:t>N</a:t>
            </a:r>
            <a:r>
              <a:rPr lang="zh-CN" altLang="en-US" sz="1100" dirty="0">
                <a:solidFill>
                  <a:schemeClr val="tx1"/>
                </a:solidFill>
              </a:rPr>
              <a:t>的工具方法的指导</a:t>
            </a:r>
          </a:p>
          <a:p>
            <a:endParaRPr lang="zh-CN" altLang="en-US" sz="1100" dirty="0">
              <a:solidFill>
                <a:schemeClr val="tx1"/>
              </a:solidFill>
            </a:endParaRPr>
          </a:p>
          <a:p>
            <a:r>
              <a:rPr lang="zh-CN" altLang="en-US" sz="1100" b="1" dirty="0">
                <a:solidFill>
                  <a:schemeClr val="accent6"/>
                </a:solidFill>
              </a:rPr>
              <a:t>问题</a:t>
            </a:r>
            <a:r>
              <a:rPr lang="en-US" altLang="zh-CN" sz="1100" b="1" dirty="0">
                <a:solidFill>
                  <a:schemeClr val="accent6"/>
                </a:solidFill>
              </a:rPr>
              <a:t>2</a:t>
            </a:r>
            <a:r>
              <a:rPr lang="zh-CN" altLang="en-US" sz="1100" b="1" dirty="0">
                <a:solidFill>
                  <a:schemeClr val="accent6"/>
                </a:solidFill>
              </a:rPr>
              <a:t>：</a:t>
            </a:r>
            <a:r>
              <a:rPr lang="en-US" altLang="zh-CN" sz="1100" b="1" dirty="0">
                <a:solidFill>
                  <a:schemeClr val="accent6"/>
                </a:solidFill>
              </a:rPr>
              <a:t>T</a:t>
            </a:r>
            <a:r>
              <a:rPr lang="zh-CN" altLang="en-US" sz="1100" b="1" dirty="0">
                <a:solidFill>
                  <a:schemeClr val="accent6"/>
                </a:solidFill>
              </a:rPr>
              <a:t>（开标时间、下单时间、要货时间）存在不质量的</a:t>
            </a:r>
            <a:r>
              <a:rPr lang="zh-CN" altLang="en-US" sz="1100" b="1" dirty="0" smtClean="0">
                <a:solidFill>
                  <a:schemeClr val="accent6"/>
                </a:solidFill>
              </a:rPr>
              <a:t>情况</a:t>
            </a:r>
            <a:endParaRPr lang="en-US" altLang="zh-CN" sz="1100" b="1" dirty="0" smtClean="0">
              <a:solidFill>
                <a:schemeClr val="accent6"/>
              </a:solidFill>
            </a:endParaRPr>
          </a:p>
          <a:p>
            <a:r>
              <a:rPr lang="zh-CN" altLang="en-US" sz="1100" b="1" dirty="0" smtClean="0">
                <a:solidFill>
                  <a:schemeClr val="accent6"/>
                </a:solidFill>
              </a:rPr>
              <a:t>业务场景：进漏外进漏斗内填报时间、漏斗内商机推进（</a:t>
            </a:r>
            <a:r>
              <a:rPr lang="zh-CN" altLang="en-US" sz="1100" b="1" dirty="0">
                <a:solidFill>
                  <a:schemeClr val="accent6"/>
                </a:solidFill>
              </a:rPr>
              <a:t>时间</a:t>
            </a:r>
            <a:r>
              <a:rPr lang="zh-CN" altLang="en-US" sz="1100" b="1" dirty="0" smtClean="0">
                <a:solidFill>
                  <a:schemeClr val="accent6"/>
                </a:solidFill>
              </a:rPr>
              <a:t>变化触发刷新）</a:t>
            </a:r>
            <a:endParaRPr lang="zh-CN" altLang="en-US" sz="1100" b="1" dirty="0">
              <a:solidFill>
                <a:schemeClr val="accent6"/>
              </a:solidFill>
            </a:endParaRPr>
          </a:p>
          <a:p>
            <a:r>
              <a:rPr lang="zh-CN" altLang="en-US" sz="1100" dirty="0">
                <a:solidFill>
                  <a:schemeClr val="tx1"/>
                </a:solidFill>
              </a:rPr>
              <a:t>根因分析：</a:t>
            </a:r>
          </a:p>
          <a:p>
            <a:r>
              <a:rPr lang="zh-CN" altLang="en-US" sz="1100" dirty="0">
                <a:solidFill>
                  <a:schemeClr val="tx1"/>
                </a:solidFill>
              </a:rPr>
              <a:t>①销售对“做准”</a:t>
            </a:r>
            <a:r>
              <a:rPr lang="en-US" altLang="zh-CN" sz="1100" dirty="0">
                <a:solidFill>
                  <a:schemeClr val="tx1"/>
                </a:solidFill>
              </a:rPr>
              <a:t>T</a:t>
            </a:r>
            <a:r>
              <a:rPr lang="zh-CN" altLang="en-US" sz="1100" dirty="0">
                <a:solidFill>
                  <a:schemeClr val="tx1"/>
                </a:solidFill>
              </a:rPr>
              <a:t>的理解和认知有偏差：认为项目是动态变化的，时间不可能做准！</a:t>
            </a:r>
          </a:p>
          <a:p>
            <a:r>
              <a:rPr lang="zh-CN" altLang="en-US" sz="1100" dirty="0">
                <a:solidFill>
                  <a:schemeClr val="tx1"/>
                </a:solidFill>
              </a:rPr>
              <a:t>②组织对</a:t>
            </a:r>
            <a:r>
              <a:rPr lang="en-US" altLang="zh-CN" sz="1100" dirty="0">
                <a:solidFill>
                  <a:schemeClr val="tx1"/>
                </a:solidFill>
              </a:rPr>
              <a:t>T</a:t>
            </a:r>
            <a:r>
              <a:rPr lang="zh-CN" altLang="en-US" sz="1100" dirty="0">
                <a:solidFill>
                  <a:schemeClr val="tx1"/>
                </a:solidFill>
              </a:rPr>
              <a:t>的标准规范和要求是不够清晰的：过去对进漏斗的要求，</a:t>
            </a:r>
            <a:r>
              <a:rPr lang="en-US" altLang="zh-CN" sz="1100" dirty="0">
                <a:solidFill>
                  <a:schemeClr val="tx1"/>
                </a:solidFill>
              </a:rPr>
              <a:t>T</a:t>
            </a:r>
            <a:r>
              <a:rPr lang="zh-CN" altLang="en-US" sz="1100" dirty="0">
                <a:solidFill>
                  <a:schemeClr val="tx1"/>
                </a:solidFill>
              </a:rPr>
              <a:t>只强制要求开标时间和下单时间，对要货时间没有要求，对何为做准是没有质量标准的</a:t>
            </a:r>
          </a:p>
          <a:p>
            <a:r>
              <a:rPr lang="zh-CN" altLang="en-US" sz="1100" dirty="0">
                <a:solidFill>
                  <a:schemeClr val="tx1"/>
                </a:solidFill>
              </a:rPr>
              <a:t>③工具方法还不够有力：过去在如何做准开标时间、下单时间，是给了大家正推法、倒推法，但因为缺少质量标准，所以工具方法的有效性是不够的</a:t>
            </a:r>
          </a:p>
        </p:txBody>
      </p:sp>
      <p:sp>
        <p:nvSpPr>
          <p:cNvPr id="30" name="矩形 29"/>
          <p:cNvSpPr/>
          <p:nvPr/>
        </p:nvSpPr>
        <p:spPr>
          <a:xfrm>
            <a:off x="4909095" y="1713857"/>
            <a:ext cx="6685489" cy="478024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altLang="zh-CN" sz="1400" dirty="0">
                <a:solidFill>
                  <a:schemeClr val="tx1"/>
                </a:solidFill>
              </a:rPr>
              <a:t>1</a:t>
            </a:r>
            <a:r>
              <a:rPr lang="zh-CN" altLang="en-US" sz="1400" dirty="0" smtClean="0">
                <a:solidFill>
                  <a:schemeClr val="tx1"/>
                </a:solidFill>
              </a:rPr>
              <a:t>、优化流程，制定</a:t>
            </a:r>
            <a:r>
              <a:rPr lang="zh-CN" altLang="en-US" sz="1400" dirty="0">
                <a:solidFill>
                  <a:schemeClr val="tx1"/>
                </a:solidFill>
              </a:rPr>
              <a:t>良品条件和指导书：设计提升</a:t>
            </a:r>
            <a:r>
              <a:rPr lang="en-US" altLang="zh-CN" sz="1400" dirty="0">
                <a:solidFill>
                  <a:schemeClr val="tx1"/>
                </a:solidFill>
              </a:rPr>
              <a:t>N</a:t>
            </a:r>
            <a:r>
              <a:rPr lang="zh-CN" altLang="en-US" sz="1400" dirty="0">
                <a:solidFill>
                  <a:schemeClr val="tx1"/>
                </a:solidFill>
              </a:rPr>
              <a:t>和</a:t>
            </a:r>
            <a:r>
              <a:rPr lang="en-US" altLang="zh-CN" sz="1400" dirty="0">
                <a:solidFill>
                  <a:schemeClr val="tx1"/>
                </a:solidFill>
              </a:rPr>
              <a:t>T</a:t>
            </a:r>
            <a:r>
              <a:rPr lang="zh-CN" altLang="en-US" sz="1400" dirty="0">
                <a:solidFill>
                  <a:schemeClr val="tx1"/>
                </a:solidFill>
              </a:rPr>
              <a:t>质量的方法和应对</a:t>
            </a:r>
            <a:r>
              <a:rPr lang="zh-CN" altLang="en-US" sz="1400" dirty="0" smtClean="0">
                <a:solidFill>
                  <a:schemeClr val="tx1"/>
                </a:solidFill>
              </a:rPr>
              <a:t>流程：</a:t>
            </a:r>
            <a:endParaRPr lang="en-US" altLang="zh-CN" sz="1400" dirty="0" smtClean="0">
              <a:solidFill>
                <a:schemeClr val="tx1"/>
              </a:solidFill>
            </a:endParaRPr>
          </a:p>
          <a:p>
            <a:pPr marL="171450" indent="-171450">
              <a:buFont typeface="Arial" panose="020B0604020202020204" pitchFamily="34" charset="0"/>
              <a:buChar char="•"/>
            </a:pPr>
            <a:r>
              <a:rPr lang="zh-CN" altLang="en-US" sz="1100" dirty="0" smtClean="0">
                <a:solidFill>
                  <a:schemeClr val="tx1"/>
                </a:solidFill>
              </a:rPr>
              <a:t>通过</a:t>
            </a:r>
            <a:r>
              <a:rPr lang="zh-CN" altLang="en-US" sz="1100" dirty="0">
                <a:solidFill>
                  <a:schemeClr val="tx1"/>
                </a:solidFill>
              </a:rPr>
              <a:t>自工序方法，识别本工序，前工序及后工序，根据供应链及前端预测备货流程对</a:t>
            </a:r>
            <a:r>
              <a:rPr lang="en-US" altLang="zh-CN" sz="1100" dirty="0">
                <a:solidFill>
                  <a:schemeClr val="tx1"/>
                </a:solidFill>
              </a:rPr>
              <a:t>N</a:t>
            </a:r>
            <a:r>
              <a:rPr lang="zh-CN" altLang="en-US" sz="1100" dirty="0">
                <a:solidFill>
                  <a:schemeClr val="tx1"/>
                </a:solidFill>
              </a:rPr>
              <a:t>和</a:t>
            </a:r>
            <a:r>
              <a:rPr lang="en-US" altLang="zh-CN" sz="1100" dirty="0">
                <a:solidFill>
                  <a:schemeClr val="tx1"/>
                </a:solidFill>
              </a:rPr>
              <a:t>T</a:t>
            </a:r>
            <a:r>
              <a:rPr lang="zh-CN" altLang="en-US" sz="1100" dirty="0">
                <a:solidFill>
                  <a:schemeClr val="tx1"/>
                </a:solidFill>
              </a:rPr>
              <a:t>的要求设计对应的流程和</a:t>
            </a:r>
            <a:r>
              <a:rPr lang="zh-CN" altLang="en-US" sz="1100" dirty="0" smtClean="0">
                <a:solidFill>
                  <a:schemeClr val="tx1"/>
                </a:solidFill>
              </a:rPr>
              <a:t>质量标准</a:t>
            </a:r>
            <a:endParaRPr lang="en-US" altLang="zh-CN" sz="1100" dirty="0" smtClean="0">
              <a:solidFill>
                <a:schemeClr val="tx1"/>
              </a:solidFill>
            </a:endParaRPr>
          </a:p>
          <a:p>
            <a:pPr marL="171450" indent="-171450">
              <a:buFont typeface="Arial" panose="020B0604020202020204" pitchFamily="34" charset="0"/>
              <a:buChar char="•"/>
            </a:pPr>
            <a:r>
              <a:rPr lang="en-US" altLang="zh-CN" sz="1100" dirty="0">
                <a:solidFill>
                  <a:schemeClr val="tx1"/>
                </a:solidFill>
              </a:rPr>
              <a:t>N</a:t>
            </a:r>
            <a:r>
              <a:rPr lang="zh-CN" altLang="en-US" sz="1100" dirty="0">
                <a:solidFill>
                  <a:schemeClr val="tx1"/>
                </a:solidFill>
              </a:rPr>
              <a:t>：可信度自评打分表；漏斗外进漏斗内评分要求及操作流程；漏斗内变化项目如何持续更新配置清单及具体执行标准；</a:t>
            </a:r>
          </a:p>
          <a:p>
            <a:pPr marL="171450" indent="-171450">
              <a:buFont typeface="Arial" panose="020B0604020202020204" pitchFamily="34" charset="0"/>
              <a:buChar char="•"/>
            </a:pPr>
            <a:r>
              <a:rPr lang="en-US" altLang="zh-CN" sz="1100" dirty="0">
                <a:solidFill>
                  <a:schemeClr val="tx1"/>
                </a:solidFill>
              </a:rPr>
              <a:t>T</a:t>
            </a:r>
            <a:r>
              <a:rPr lang="zh-CN" altLang="en-US" sz="1100" dirty="0">
                <a:solidFill>
                  <a:schemeClr val="tx1"/>
                </a:solidFill>
              </a:rPr>
              <a:t>：三个时间的预测估算方法；流程不同环节对时间的具体要求和操作流程，供应链对时间逻辑校验的规则</a:t>
            </a:r>
            <a:r>
              <a:rPr lang="zh-CN" altLang="en-US" sz="1100" dirty="0" smtClean="0">
                <a:solidFill>
                  <a:schemeClr val="tx1"/>
                </a:solidFill>
              </a:rPr>
              <a:t>；</a:t>
            </a:r>
            <a:endParaRPr lang="en-US" altLang="zh-CN" sz="1100" dirty="0" smtClean="0">
              <a:solidFill>
                <a:schemeClr val="tx1"/>
              </a:solidFill>
            </a:endParaRPr>
          </a:p>
          <a:p>
            <a:pPr marL="171450" indent="-171450">
              <a:buFont typeface="Arial" panose="020B0604020202020204" pitchFamily="34" charset="0"/>
              <a:buChar char="•"/>
            </a:pPr>
            <a:endParaRPr lang="en-US" altLang="zh-CN" sz="1100" dirty="0" smtClean="0">
              <a:solidFill>
                <a:schemeClr val="tx1"/>
              </a:solidFill>
            </a:endParaRPr>
          </a:p>
          <a:p>
            <a:r>
              <a:rPr lang="en-US" altLang="zh-CN" sz="1400" dirty="0" smtClean="0">
                <a:solidFill>
                  <a:schemeClr val="tx1"/>
                </a:solidFill>
              </a:rPr>
              <a:t>2</a:t>
            </a:r>
            <a:r>
              <a:rPr lang="zh-CN" altLang="en-US" sz="1400" dirty="0">
                <a:solidFill>
                  <a:schemeClr val="tx1"/>
                </a:solidFill>
              </a:rPr>
              <a:t>、区域试点验证流程有效性：山东和上海区域试点</a:t>
            </a:r>
            <a:r>
              <a:rPr lang="en-US" altLang="zh-CN" sz="1400" dirty="0">
                <a:solidFill>
                  <a:schemeClr val="tx1"/>
                </a:solidFill>
              </a:rPr>
              <a:t>N</a:t>
            </a:r>
            <a:r>
              <a:rPr lang="zh-CN" altLang="en-US" sz="1400" dirty="0">
                <a:solidFill>
                  <a:schemeClr val="tx1"/>
                </a:solidFill>
              </a:rPr>
              <a:t>和</a:t>
            </a:r>
            <a:r>
              <a:rPr lang="en-US" altLang="zh-CN" sz="1400" dirty="0">
                <a:solidFill>
                  <a:schemeClr val="tx1"/>
                </a:solidFill>
              </a:rPr>
              <a:t>T</a:t>
            </a:r>
            <a:r>
              <a:rPr lang="zh-CN" altLang="en-US" sz="1400" dirty="0">
                <a:solidFill>
                  <a:schemeClr val="tx1"/>
                </a:solidFill>
              </a:rPr>
              <a:t>质量管理</a:t>
            </a:r>
            <a:r>
              <a:rPr lang="zh-CN" altLang="en-US" sz="1400" dirty="0" smtClean="0">
                <a:solidFill>
                  <a:schemeClr val="tx1"/>
                </a:solidFill>
              </a:rPr>
              <a:t>流程</a:t>
            </a:r>
            <a:endParaRPr lang="en-US" altLang="zh-CN" sz="1400" dirty="0" smtClean="0">
              <a:solidFill>
                <a:schemeClr val="tx1"/>
              </a:solidFill>
            </a:endParaRPr>
          </a:p>
          <a:p>
            <a:pPr marL="171450" indent="-171450">
              <a:buFont typeface="Arial" panose="020B0604020202020204" pitchFamily="34" charset="0"/>
              <a:buChar char="•"/>
            </a:pPr>
            <a:r>
              <a:rPr lang="zh-CN" altLang="en-US" sz="1100" dirty="0" smtClean="0">
                <a:solidFill>
                  <a:schemeClr val="tx1"/>
                </a:solidFill>
              </a:rPr>
              <a:t>试点</a:t>
            </a:r>
            <a:r>
              <a:rPr lang="zh-CN" altLang="en-US" sz="1100" dirty="0">
                <a:solidFill>
                  <a:schemeClr val="tx1"/>
                </a:solidFill>
              </a:rPr>
              <a:t>区域售前及销售对手头活动中的项目进行盘点，并按照要求进行调整和更新</a:t>
            </a:r>
          </a:p>
          <a:p>
            <a:pPr marL="171450" indent="-171450">
              <a:buFont typeface="Arial" panose="020B0604020202020204" pitchFamily="34" charset="0"/>
              <a:buChar char="•"/>
            </a:pPr>
            <a:r>
              <a:rPr lang="zh-CN" altLang="en-US" sz="1100" dirty="0" smtClean="0">
                <a:solidFill>
                  <a:schemeClr val="tx1"/>
                </a:solidFill>
              </a:rPr>
              <a:t>通过</a:t>
            </a:r>
            <a:r>
              <a:rPr lang="zh-CN" altLang="en-US" sz="1100" dirty="0">
                <a:solidFill>
                  <a:schemeClr val="tx1"/>
                </a:solidFill>
              </a:rPr>
              <a:t>试点项目进行抽样检查，判断是否按照要求执行流程，结果显示，流程执行率</a:t>
            </a:r>
            <a:r>
              <a:rPr lang="en-US" altLang="zh-CN" sz="1100" dirty="0">
                <a:solidFill>
                  <a:schemeClr val="tx1"/>
                </a:solidFill>
              </a:rPr>
              <a:t>100%</a:t>
            </a:r>
          </a:p>
          <a:p>
            <a:pPr marL="171450" indent="-171450">
              <a:buFont typeface="Arial" panose="020B0604020202020204" pitchFamily="34" charset="0"/>
              <a:buChar char="•"/>
            </a:pPr>
            <a:r>
              <a:rPr lang="zh-CN" altLang="en-US" sz="1100" dirty="0" smtClean="0">
                <a:solidFill>
                  <a:schemeClr val="tx1"/>
                </a:solidFill>
              </a:rPr>
              <a:t>通过</a:t>
            </a:r>
            <a:r>
              <a:rPr lang="zh-CN" altLang="en-US" sz="1100" dirty="0">
                <a:solidFill>
                  <a:schemeClr val="tx1"/>
                </a:solidFill>
              </a:rPr>
              <a:t>对准确率的监控，</a:t>
            </a:r>
            <a:r>
              <a:rPr lang="zh-CN" altLang="en-US" sz="1100" dirty="0" smtClean="0">
                <a:solidFill>
                  <a:schemeClr val="tx1"/>
                </a:solidFill>
              </a:rPr>
              <a:t>对数据</a:t>
            </a:r>
            <a:r>
              <a:rPr lang="zh-CN" altLang="en-US" sz="1100" dirty="0">
                <a:solidFill>
                  <a:schemeClr val="tx1"/>
                </a:solidFill>
              </a:rPr>
              <a:t>进行总结评估，均达成设计目标；</a:t>
            </a:r>
          </a:p>
          <a:p>
            <a:pPr marL="171450" indent="-171450">
              <a:buFont typeface="Arial" panose="020B0604020202020204" pitchFamily="34" charset="0"/>
              <a:buChar char="•"/>
            </a:pPr>
            <a:r>
              <a:rPr lang="zh-CN" altLang="en-US" sz="1100" dirty="0" smtClean="0">
                <a:solidFill>
                  <a:schemeClr val="tx1"/>
                </a:solidFill>
              </a:rPr>
              <a:t>关键</a:t>
            </a:r>
            <a:r>
              <a:rPr lang="zh-CN" altLang="en-US" sz="1100" dirty="0">
                <a:solidFill>
                  <a:schemeClr val="tx1"/>
                </a:solidFill>
              </a:rPr>
              <a:t>用户做了针对性的访谈，反馈结果显示大家对流程认可并接受，也提出很多反馈和建议</a:t>
            </a:r>
            <a:r>
              <a:rPr lang="zh-CN" altLang="en-US" sz="1100" dirty="0" smtClean="0">
                <a:solidFill>
                  <a:schemeClr val="tx1"/>
                </a:solidFill>
              </a:rPr>
              <a:t>；</a:t>
            </a:r>
            <a:endParaRPr lang="en-US" altLang="zh-CN" sz="1100" dirty="0" smtClean="0">
              <a:solidFill>
                <a:schemeClr val="tx1"/>
              </a:solidFill>
            </a:endParaRPr>
          </a:p>
          <a:p>
            <a:pPr marL="171450" indent="-171450">
              <a:buFont typeface="Arial" panose="020B0604020202020204" pitchFamily="34" charset="0"/>
              <a:buChar char="•"/>
            </a:pPr>
            <a:endParaRPr lang="en-US" altLang="zh-CN" sz="1100" dirty="0" smtClean="0">
              <a:solidFill>
                <a:schemeClr val="tx1"/>
              </a:solidFill>
            </a:endParaRPr>
          </a:p>
          <a:p>
            <a:r>
              <a:rPr lang="en-US" altLang="zh-CN" sz="1400" dirty="0" smtClean="0">
                <a:solidFill>
                  <a:schemeClr val="tx1"/>
                </a:solidFill>
              </a:rPr>
              <a:t>3</a:t>
            </a:r>
            <a:r>
              <a:rPr lang="zh-CN" altLang="en-US" sz="1400" dirty="0">
                <a:solidFill>
                  <a:schemeClr val="tx1"/>
                </a:solidFill>
              </a:rPr>
              <a:t>、通过</a:t>
            </a:r>
            <a:r>
              <a:rPr lang="en-US" altLang="zh-CN" sz="1400" dirty="0">
                <a:solidFill>
                  <a:schemeClr val="tx1"/>
                </a:solidFill>
              </a:rPr>
              <a:t>IT</a:t>
            </a:r>
            <a:r>
              <a:rPr lang="zh-CN" altLang="en-US" sz="1400" dirty="0">
                <a:solidFill>
                  <a:schemeClr val="tx1"/>
                </a:solidFill>
              </a:rPr>
              <a:t>手段保障流程落地执行：结合试点流程执行情况和用户反馈意见设计</a:t>
            </a:r>
            <a:r>
              <a:rPr lang="en-US" altLang="zh-CN" sz="1400" dirty="0">
                <a:solidFill>
                  <a:schemeClr val="tx1"/>
                </a:solidFill>
              </a:rPr>
              <a:t>IT</a:t>
            </a:r>
            <a:r>
              <a:rPr lang="zh-CN" altLang="en-US" sz="1400" dirty="0">
                <a:solidFill>
                  <a:schemeClr val="tx1"/>
                </a:solidFill>
              </a:rPr>
              <a:t>方案提高流程效率，保障后期流程大范围推广与</a:t>
            </a:r>
            <a:r>
              <a:rPr lang="zh-CN" altLang="en-US" sz="1400" dirty="0" smtClean="0">
                <a:solidFill>
                  <a:schemeClr val="tx1"/>
                </a:solidFill>
              </a:rPr>
              <a:t>落地：</a:t>
            </a:r>
            <a:endParaRPr lang="en-US" altLang="zh-CN" sz="1400" dirty="0" smtClean="0">
              <a:solidFill>
                <a:schemeClr val="tx1"/>
              </a:solidFill>
            </a:endParaRPr>
          </a:p>
          <a:p>
            <a:pPr marL="171450" indent="-171450">
              <a:buFont typeface="Arial" panose="020B0604020202020204" pitchFamily="34" charset="0"/>
              <a:buChar char="•"/>
            </a:pPr>
            <a:r>
              <a:rPr lang="en-US" altLang="zh-CN" sz="1100" dirty="0" smtClean="0">
                <a:solidFill>
                  <a:schemeClr val="tx1"/>
                </a:solidFill>
              </a:rPr>
              <a:t>IT</a:t>
            </a:r>
            <a:r>
              <a:rPr lang="zh-CN" altLang="en-US" sz="1100" dirty="0">
                <a:solidFill>
                  <a:schemeClr val="tx1"/>
                </a:solidFill>
              </a:rPr>
              <a:t>计划：明确业务优先级，分阶段上线；</a:t>
            </a:r>
            <a:r>
              <a:rPr lang="en-US" altLang="zh-CN" sz="1100" dirty="0">
                <a:solidFill>
                  <a:schemeClr val="tx1"/>
                </a:solidFill>
              </a:rPr>
              <a:t>9</a:t>
            </a:r>
            <a:r>
              <a:rPr lang="zh-CN" altLang="en-US" sz="1100" dirty="0">
                <a:solidFill>
                  <a:schemeClr val="tx1"/>
                </a:solidFill>
              </a:rPr>
              <a:t>月</a:t>
            </a:r>
            <a:r>
              <a:rPr lang="en-US" altLang="zh-CN" sz="1100" dirty="0">
                <a:solidFill>
                  <a:schemeClr val="tx1"/>
                </a:solidFill>
              </a:rPr>
              <a:t>10</a:t>
            </a:r>
            <a:r>
              <a:rPr lang="zh-CN" altLang="en-US" sz="1100" dirty="0">
                <a:solidFill>
                  <a:schemeClr val="tx1"/>
                </a:solidFill>
              </a:rPr>
              <a:t>日上第一波，接下来继续迭代上线其他功能</a:t>
            </a:r>
          </a:p>
          <a:p>
            <a:pPr marL="171450" indent="-171450">
              <a:buFont typeface="Arial" panose="020B0604020202020204" pitchFamily="34" charset="0"/>
              <a:buChar char="•"/>
            </a:pPr>
            <a:r>
              <a:rPr lang="zh-CN" altLang="en-US" sz="1100" dirty="0">
                <a:solidFill>
                  <a:schemeClr val="tx1"/>
                </a:solidFill>
              </a:rPr>
              <a:t>上线策略：识别上线前业务需要做的事情，比如历史数据补齐，</a:t>
            </a:r>
            <a:r>
              <a:rPr lang="en-US" altLang="zh-CN" sz="1100" dirty="0">
                <a:solidFill>
                  <a:schemeClr val="tx1"/>
                </a:solidFill>
              </a:rPr>
              <a:t>IT</a:t>
            </a:r>
            <a:r>
              <a:rPr lang="zh-CN" altLang="en-US" sz="1100" dirty="0">
                <a:solidFill>
                  <a:schemeClr val="tx1"/>
                </a:solidFill>
              </a:rPr>
              <a:t>培训，上线范围和节奏（部分区域线上，验证成功后大范围上线</a:t>
            </a:r>
            <a:r>
              <a:rPr lang="zh-CN" altLang="en-US" sz="1100" dirty="0" smtClean="0">
                <a:solidFill>
                  <a:schemeClr val="tx1"/>
                </a:solidFill>
              </a:rPr>
              <a:t>）</a:t>
            </a:r>
            <a:endParaRPr lang="en-US" altLang="zh-CN" sz="1100" dirty="0" smtClean="0">
              <a:solidFill>
                <a:schemeClr val="tx1"/>
              </a:solidFill>
            </a:endParaRPr>
          </a:p>
          <a:p>
            <a:r>
              <a:rPr lang="zh-CN" altLang="en-US" sz="1100" dirty="0" smtClean="0">
                <a:solidFill>
                  <a:schemeClr val="tx1"/>
                </a:solidFill>
                <a:hlinkClick r:id="rId2" action="ppaction://hlinksldjump"/>
              </a:rPr>
              <a:t>备注：</a:t>
            </a:r>
            <a:r>
              <a:rPr lang="en-US" altLang="zh-CN" sz="1100" dirty="0" smtClean="0">
                <a:solidFill>
                  <a:schemeClr val="tx1"/>
                </a:solidFill>
                <a:hlinkClick r:id="rId2" action="ppaction://hlinksldjump"/>
              </a:rPr>
              <a:t>IT</a:t>
            </a:r>
            <a:r>
              <a:rPr lang="zh-CN" altLang="en-US" sz="1100" dirty="0" smtClean="0">
                <a:solidFill>
                  <a:schemeClr val="tx1"/>
                </a:solidFill>
                <a:hlinkClick r:id="rId2" action="ppaction://hlinksldjump"/>
              </a:rPr>
              <a:t>上线计划</a:t>
            </a:r>
            <a:endParaRPr lang="en-US" altLang="zh-CN" sz="1100" dirty="0" smtClean="0">
              <a:solidFill>
                <a:schemeClr val="tx1"/>
              </a:solidFill>
            </a:endParaRPr>
          </a:p>
          <a:p>
            <a:pPr marL="171450" indent="-171450">
              <a:buFont typeface="Arial" panose="020B0604020202020204" pitchFamily="34" charset="0"/>
              <a:buChar char="•"/>
            </a:pPr>
            <a:endParaRPr lang="en-US" altLang="zh-CN" sz="1100" dirty="0" smtClean="0">
              <a:solidFill>
                <a:schemeClr val="tx1"/>
              </a:solidFill>
            </a:endParaRPr>
          </a:p>
          <a:p>
            <a:r>
              <a:rPr lang="en-US" altLang="zh-CN" sz="1400" dirty="0" smtClean="0">
                <a:solidFill>
                  <a:schemeClr val="tx1"/>
                </a:solidFill>
              </a:rPr>
              <a:t>4</a:t>
            </a:r>
            <a:r>
              <a:rPr lang="zh-CN" altLang="en-US" sz="1400" dirty="0">
                <a:solidFill>
                  <a:schemeClr val="tx1"/>
                </a:solidFill>
              </a:rPr>
              <a:t>、监控稽核闭环跟踪确保流程达到</a:t>
            </a:r>
            <a:r>
              <a:rPr lang="zh-CN" altLang="en-US" sz="1400" dirty="0" smtClean="0">
                <a:solidFill>
                  <a:schemeClr val="tx1"/>
                </a:solidFill>
              </a:rPr>
              <a:t>目的</a:t>
            </a:r>
            <a:endParaRPr lang="en-US" altLang="zh-CN" sz="1400" dirty="0" smtClean="0">
              <a:solidFill>
                <a:schemeClr val="tx1"/>
              </a:solidFill>
            </a:endParaRPr>
          </a:p>
          <a:p>
            <a:pPr marL="171450" indent="-171450">
              <a:buFont typeface="Arial" panose="020B0604020202020204" pitchFamily="34" charset="0"/>
              <a:buChar char="•"/>
            </a:pPr>
            <a:r>
              <a:rPr lang="zh-CN" altLang="en-US" sz="1100" dirty="0">
                <a:solidFill>
                  <a:schemeClr val="tx1"/>
                </a:solidFill>
              </a:rPr>
              <a:t>设计数据看板及流程运行机制确保流程能够按要求执行并达成业务目标</a:t>
            </a:r>
            <a:r>
              <a:rPr lang="zh-CN" altLang="en-US" sz="1100" dirty="0" smtClean="0">
                <a:solidFill>
                  <a:schemeClr val="tx1"/>
                </a:solidFill>
              </a:rPr>
              <a:t>：</a:t>
            </a:r>
            <a:endParaRPr lang="en-US" altLang="zh-CN" sz="1100" dirty="0" smtClean="0">
              <a:solidFill>
                <a:schemeClr val="tx1"/>
              </a:solidFill>
            </a:endParaRPr>
          </a:p>
          <a:p>
            <a:pPr marL="171450" indent="-171450">
              <a:buFont typeface="Arial" panose="020B0604020202020204" pitchFamily="34" charset="0"/>
              <a:buChar char="•"/>
            </a:pPr>
            <a:r>
              <a:rPr lang="zh-CN" altLang="en-US" sz="1100" dirty="0" smtClean="0">
                <a:solidFill>
                  <a:schemeClr val="tx1"/>
                </a:solidFill>
              </a:rPr>
              <a:t>提升</a:t>
            </a:r>
            <a:r>
              <a:rPr lang="zh-CN" altLang="en-US" sz="1100" dirty="0">
                <a:solidFill>
                  <a:schemeClr val="tx1"/>
                </a:solidFill>
              </a:rPr>
              <a:t>备货准确率和及时率；</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17465" y="3462080"/>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4" y="2368089"/>
            <a:ext cx="7317595" cy="3463544"/>
          </a:xfrm>
          <a:prstGeom prst="rect">
            <a:avLst/>
          </a:prstGeom>
        </p:spPr>
        <p:txBody>
          <a:bodyPr vert="horz" lIns="91440" tIns="45720" rIns="91440" bIns="45720" rtlCol="0">
            <a:normAutofit lnSpcReduction="10000"/>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smtClean="0"/>
              <a:t>背景与目标</a:t>
            </a:r>
            <a:endParaRPr lang="en-US" altLang="zh-CN" dirty="0"/>
          </a:p>
          <a:p>
            <a:pPr marL="342900" indent="-342900">
              <a:lnSpc>
                <a:spcPct val="150000"/>
              </a:lnSpc>
              <a:buFont typeface="Arial" panose="020B0604020202020204" pitchFamily="34" charset="0"/>
              <a:buChar char="•"/>
              <a:defRPr/>
            </a:pPr>
            <a:r>
              <a:rPr lang="zh-CN" altLang="en-US" dirty="0" smtClean="0"/>
              <a:t>实践举措</a:t>
            </a:r>
            <a:endParaRPr lang="en-US" altLang="zh-CN" dirty="0"/>
          </a:p>
          <a:p>
            <a:pPr marL="342900" indent="-342900">
              <a:lnSpc>
                <a:spcPct val="150000"/>
              </a:lnSpc>
              <a:buFont typeface="Arial" panose="020B0604020202020204" pitchFamily="34" charset="0"/>
              <a:buChar char="•"/>
              <a:defRPr/>
            </a:pPr>
            <a:r>
              <a:rPr lang="zh-CN" altLang="en-US" dirty="0" smtClean="0"/>
              <a:t>方案介绍：如何做准</a:t>
            </a:r>
            <a:r>
              <a:rPr lang="en-US" altLang="zh-CN" dirty="0" smtClean="0"/>
              <a:t>N</a:t>
            </a:r>
            <a:endParaRPr lang="en-US" altLang="zh-CN" dirty="0"/>
          </a:p>
          <a:p>
            <a:pPr marL="342900" indent="-342900">
              <a:lnSpc>
                <a:spcPct val="150000"/>
              </a:lnSpc>
              <a:buFont typeface="Arial" panose="020B0604020202020204" pitchFamily="34" charset="0"/>
              <a:buChar char="•"/>
              <a:defRPr/>
            </a:pPr>
            <a:r>
              <a:rPr lang="zh-CN" altLang="en-US" dirty="0" smtClean="0"/>
              <a:t>方案介绍：如何作准</a:t>
            </a:r>
            <a:r>
              <a:rPr lang="en-US" altLang="zh-CN" dirty="0" smtClean="0"/>
              <a:t>T</a:t>
            </a:r>
            <a:endParaRPr lang="en-US" altLang="zh-CN" dirty="0"/>
          </a:p>
          <a:p>
            <a:pPr marL="342900" indent="-342900">
              <a:lnSpc>
                <a:spcPct val="150000"/>
              </a:lnSpc>
              <a:buFont typeface="Arial" panose="020B0604020202020204" pitchFamily="34" charset="0"/>
              <a:buChar char="•"/>
              <a:defRPr/>
            </a:pPr>
            <a:r>
              <a:rPr lang="zh-CN" altLang="en-US" dirty="0" smtClean="0"/>
              <a:t>实践效果</a:t>
            </a:r>
            <a:r>
              <a:rPr lang="en-US" altLang="zh-CN" dirty="0" smtClean="0"/>
              <a:t>-</a:t>
            </a:r>
            <a:r>
              <a:rPr lang="zh-CN" altLang="en-US" dirty="0" smtClean="0"/>
              <a:t>试点区域验证结果</a:t>
            </a:r>
            <a:endParaRPr lang="en-US" altLang="zh-CN" dirty="0" smtClean="0"/>
          </a:p>
          <a:p>
            <a:pPr marL="342900" indent="-342900">
              <a:lnSpc>
                <a:spcPct val="150000"/>
              </a:lnSpc>
              <a:buFont typeface="Arial" panose="020B0604020202020204" pitchFamily="34" charset="0"/>
              <a:buChar char="•"/>
              <a:defRPr/>
            </a:pPr>
            <a:r>
              <a:rPr lang="zh-CN" altLang="en-US" dirty="0" smtClean="0"/>
              <a:t>心得体会，认知感悟</a:t>
            </a:r>
            <a:endParaRPr dirty="0"/>
          </a:p>
        </p:txBody>
      </p:sp>
    </p:spTree>
    <p:extLst>
      <p:ext uri="{BB962C8B-B14F-4D97-AF65-F5344CB8AC3E}">
        <p14:creationId xmlns:p14="http://schemas.microsoft.com/office/powerpoint/2010/main" val="38860936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a:t>N</a:t>
            </a:r>
            <a:r>
              <a:rPr lang="zh-CN" altLang="en-US" dirty="0"/>
              <a:t>的</a:t>
            </a:r>
            <a:r>
              <a:rPr lang="zh-CN" altLang="en-US" dirty="0" smtClean="0"/>
              <a:t>定义</a:t>
            </a:r>
            <a:endParaRPr lang="zh-CN" altLang="en-US" dirty="0"/>
          </a:p>
        </p:txBody>
      </p:sp>
      <p:sp>
        <p:nvSpPr>
          <p:cNvPr id="45" name="矩形 44"/>
          <p:cNvSpPr/>
          <p:nvPr/>
        </p:nvSpPr>
        <p:spPr>
          <a:xfrm>
            <a:off x="497205" y="1286896"/>
            <a:ext cx="5093283" cy="2215991"/>
          </a:xfrm>
          <a:prstGeom prst="rect">
            <a:avLst/>
          </a:prstGeom>
        </p:spPr>
        <p:txBody>
          <a:bodyPr wrap="square">
            <a:spAutoFit/>
          </a:bodyPr>
          <a:lstStyle/>
          <a:p>
            <a:pPr>
              <a:lnSpc>
                <a:spcPct val="150000"/>
              </a:lnSpc>
            </a:pPr>
            <a:r>
              <a:rPr lang="en-US" altLang="zh-CN" sz="1600" b="1" dirty="0">
                <a:latin typeface="+mn-ea"/>
              </a:rPr>
              <a:t>N</a:t>
            </a:r>
            <a:r>
              <a:rPr lang="zh-CN" altLang="en-US" sz="1600" b="1" dirty="0">
                <a:latin typeface="+mn-ea"/>
              </a:rPr>
              <a:t>就是指项目的产品清单</a:t>
            </a:r>
            <a:r>
              <a:rPr lang="zh-CN" altLang="en-US" sz="1600" dirty="0">
                <a:latin typeface="+mn-ea"/>
              </a:rPr>
              <a:t>，产品清单是客户需求的最终体现，把清单做准就是把</a:t>
            </a:r>
            <a:r>
              <a:rPr lang="en-US" altLang="zh-CN" sz="1600" dirty="0">
                <a:latin typeface="+mn-ea"/>
              </a:rPr>
              <a:t>N</a:t>
            </a:r>
            <a:r>
              <a:rPr lang="zh-CN" altLang="en-US" sz="1600" dirty="0">
                <a:latin typeface="+mn-ea"/>
              </a:rPr>
              <a:t>做准。</a:t>
            </a:r>
            <a:endParaRPr lang="en-US" altLang="zh-CN" sz="1600" dirty="0">
              <a:latin typeface="+mn-ea"/>
            </a:endParaRPr>
          </a:p>
          <a:p>
            <a:pPr>
              <a:lnSpc>
                <a:spcPct val="150000"/>
              </a:lnSpc>
            </a:pPr>
            <a:r>
              <a:rPr lang="zh-CN" altLang="en-US" sz="1600" dirty="0">
                <a:latin typeface="+mn-ea"/>
              </a:rPr>
              <a:t>它有两个条件：</a:t>
            </a:r>
            <a:endParaRPr lang="en-US" altLang="zh-CN" sz="1600" dirty="0">
              <a:latin typeface="+mn-ea"/>
            </a:endParaRPr>
          </a:p>
          <a:p>
            <a:pPr marL="285750" indent="-285750">
              <a:lnSpc>
                <a:spcPct val="150000"/>
              </a:lnSpc>
              <a:buFont typeface="Wingdings" panose="05000000000000000000" pitchFamily="2" charset="2"/>
              <a:buChar char="n"/>
            </a:pPr>
            <a:r>
              <a:rPr lang="zh-CN" altLang="en-US" sz="1400" dirty="0">
                <a:latin typeface="+mn-ea"/>
              </a:rPr>
              <a:t>一是产品清单</a:t>
            </a:r>
            <a:r>
              <a:rPr lang="zh-CN" altLang="en-US" sz="1400" b="1" dirty="0">
                <a:latin typeface="+mn-ea"/>
              </a:rPr>
              <a:t>配置准确</a:t>
            </a:r>
            <a:r>
              <a:rPr lang="zh-CN" altLang="en-US" sz="1400" dirty="0">
                <a:latin typeface="+mn-ea"/>
              </a:rPr>
              <a:t>，适配客户需求（</a:t>
            </a:r>
            <a:r>
              <a:rPr lang="en-US" altLang="zh-CN" sz="1400" dirty="0">
                <a:latin typeface="+mn-ea"/>
              </a:rPr>
              <a:t>PMF</a:t>
            </a:r>
            <a:r>
              <a:rPr lang="zh-CN" altLang="en-US" sz="1400" dirty="0">
                <a:latin typeface="+mn-ea"/>
              </a:rPr>
              <a:t>策略）；</a:t>
            </a:r>
            <a:endParaRPr lang="en-US" altLang="zh-CN" sz="1400" dirty="0">
              <a:latin typeface="+mn-ea"/>
            </a:endParaRPr>
          </a:p>
          <a:p>
            <a:pPr marL="285750" indent="-285750">
              <a:lnSpc>
                <a:spcPct val="150000"/>
              </a:lnSpc>
              <a:buFont typeface="Wingdings" panose="05000000000000000000" pitchFamily="2" charset="2"/>
              <a:buChar char="n"/>
            </a:pPr>
            <a:r>
              <a:rPr lang="zh-CN" altLang="en-US" sz="1400" dirty="0">
                <a:latin typeface="+mn-ea"/>
              </a:rPr>
              <a:t>二是产品清单</a:t>
            </a:r>
            <a:r>
              <a:rPr lang="zh-CN" altLang="en-US" sz="1400" b="1" dirty="0">
                <a:latin typeface="+mn-ea"/>
              </a:rPr>
              <a:t>及时更新</a:t>
            </a:r>
            <a:r>
              <a:rPr lang="zh-CN" altLang="en-US" sz="1400" dirty="0">
                <a:latin typeface="+mn-ea"/>
              </a:rPr>
              <a:t>到</a:t>
            </a:r>
            <a:r>
              <a:rPr lang="en-US" altLang="zh-CN" sz="1400" dirty="0">
                <a:latin typeface="+mn-ea"/>
              </a:rPr>
              <a:t>CRM</a:t>
            </a:r>
            <a:r>
              <a:rPr lang="zh-CN" altLang="en-US" sz="1400" dirty="0">
                <a:latin typeface="+mn-ea"/>
              </a:rPr>
              <a:t>系统中</a:t>
            </a:r>
            <a:r>
              <a:rPr lang="zh-CN" altLang="en-US" sz="1400" dirty="0" smtClean="0">
                <a:latin typeface="+mn-ea"/>
              </a:rPr>
              <a:t>；</a:t>
            </a:r>
            <a:endParaRPr lang="en-US" altLang="zh-CN" sz="1200" dirty="0">
              <a:latin typeface="+mn-ea"/>
            </a:endParaRPr>
          </a:p>
          <a:p>
            <a:pPr>
              <a:lnSpc>
                <a:spcPct val="150000"/>
              </a:lnSpc>
            </a:pPr>
            <a:endParaRPr lang="zh-CN" altLang="en-US" sz="1600" dirty="0">
              <a:latin typeface="+mn-ea"/>
            </a:endParaRPr>
          </a:p>
        </p:txBody>
      </p:sp>
      <p:sp>
        <p:nvSpPr>
          <p:cNvPr id="6" name="矩形 5">
            <a:extLst>
              <a:ext uri="{FF2B5EF4-FFF2-40B4-BE49-F238E27FC236}">
                <a16:creationId xmlns="" xmlns:a16="http://schemas.microsoft.com/office/drawing/2014/main" id="{05AEF057-8047-5F33-B283-D10B05284498}"/>
              </a:ext>
            </a:extLst>
          </p:cNvPr>
          <p:cNvSpPr/>
          <p:nvPr/>
        </p:nvSpPr>
        <p:spPr>
          <a:xfrm>
            <a:off x="5881198" y="1648878"/>
            <a:ext cx="5836496" cy="1023742"/>
          </a:xfrm>
          <a:prstGeom prst="rect">
            <a:avLst/>
          </a:prstGeom>
          <a:ln>
            <a:solidFill>
              <a:schemeClr val="accent1"/>
            </a:solidFill>
          </a:ln>
        </p:spPr>
        <p:txBody>
          <a:bodyPr wrap="square">
            <a:spAutoFit/>
          </a:bodyPr>
          <a:lstStyle/>
          <a:p>
            <a:pPr marL="171450" indent="-171450">
              <a:lnSpc>
                <a:spcPct val="150000"/>
              </a:lnSpc>
              <a:buFont typeface="Wingdings" panose="05000000000000000000" pitchFamily="2" charset="2"/>
              <a:buChar char="l"/>
            </a:pPr>
            <a:r>
              <a:rPr lang="zh-CN" altLang="en-US" sz="1400" dirty="0">
                <a:latin typeface="+mn-ea"/>
              </a:rPr>
              <a:t>把</a:t>
            </a:r>
            <a:r>
              <a:rPr lang="en-US" altLang="zh-CN" sz="1400" dirty="0">
                <a:latin typeface="+mn-ea"/>
              </a:rPr>
              <a:t>N</a:t>
            </a:r>
            <a:r>
              <a:rPr lang="zh-CN" altLang="en-US" sz="1400" dirty="0">
                <a:latin typeface="+mn-ea"/>
              </a:rPr>
              <a:t>做准，提升整体漏斗质量，夯实（产品）销售预测；</a:t>
            </a:r>
          </a:p>
          <a:p>
            <a:pPr marL="171450" indent="-171450">
              <a:lnSpc>
                <a:spcPct val="150000"/>
              </a:lnSpc>
              <a:buFont typeface="Wingdings" panose="05000000000000000000" pitchFamily="2" charset="2"/>
              <a:buChar char="l"/>
            </a:pPr>
            <a:r>
              <a:rPr lang="zh-CN" altLang="en-US" sz="1400" dirty="0">
                <a:latin typeface="+mn-ea"/>
              </a:rPr>
              <a:t>把</a:t>
            </a:r>
            <a:r>
              <a:rPr lang="en-US" altLang="zh-CN" sz="1400" dirty="0">
                <a:latin typeface="+mn-ea"/>
              </a:rPr>
              <a:t>N</a:t>
            </a:r>
            <a:r>
              <a:rPr lang="zh-CN" altLang="en-US" sz="1400" dirty="0">
                <a:latin typeface="+mn-ea"/>
              </a:rPr>
              <a:t>做准，准确反馈市场需求、夯实（产品）要货预测；</a:t>
            </a:r>
          </a:p>
          <a:p>
            <a:pPr marL="171450" indent="-171450">
              <a:lnSpc>
                <a:spcPct val="150000"/>
              </a:lnSpc>
              <a:buFont typeface="Wingdings" panose="05000000000000000000" pitchFamily="2" charset="2"/>
              <a:buChar char="l"/>
            </a:pPr>
            <a:r>
              <a:rPr lang="zh-CN" altLang="en-US" sz="1400" dirty="0">
                <a:latin typeface="+mn-ea"/>
              </a:rPr>
              <a:t>把</a:t>
            </a:r>
            <a:r>
              <a:rPr lang="en-US" altLang="zh-CN" sz="1400" dirty="0">
                <a:latin typeface="+mn-ea"/>
              </a:rPr>
              <a:t>N</a:t>
            </a:r>
            <a:r>
              <a:rPr lang="zh-CN" altLang="en-US" sz="1400" dirty="0">
                <a:latin typeface="+mn-ea"/>
              </a:rPr>
              <a:t>做准，主体责任人是售前，销售为及时更新到</a:t>
            </a:r>
            <a:r>
              <a:rPr lang="en-US" altLang="zh-CN" sz="1400" dirty="0">
                <a:latin typeface="+mn-ea"/>
              </a:rPr>
              <a:t>CRM</a:t>
            </a:r>
            <a:r>
              <a:rPr lang="zh-CN" altLang="en-US" sz="1400" dirty="0">
                <a:latin typeface="+mn-ea"/>
              </a:rPr>
              <a:t>系统负责。</a:t>
            </a:r>
          </a:p>
        </p:txBody>
      </p:sp>
      <p:pic>
        <p:nvPicPr>
          <p:cNvPr id="13" name="图片 12"/>
          <p:cNvPicPr>
            <a:picLocks noChangeAspect="1"/>
          </p:cNvPicPr>
          <p:nvPr/>
        </p:nvPicPr>
        <p:blipFill>
          <a:blip r:embed="rId2"/>
          <a:stretch>
            <a:fillRect/>
          </a:stretch>
        </p:blipFill>
        <p:spPr>
          <a:xfrm>
            <a:off x="1617818" y="4019528"/>
            <a:ext cx="1501270" cy="1005927"/>
          </a:xfrm>
          <a:prstGeom prst="rect">
            <a:avLst/>
          </a:prstGeom>
        </p:spPr>
      </p:pic>
      <p:sp>
        <p:nvSpPr>
          <p:cNvPr id="21" name="文本占位符 1">
            <a:extLst>
              <a:ext uri="{FF2B5EF4-FFF2-40B4-BE49-F238E27FC236}">
                <a16:creationId xmlns="" xmlns:a16="http://schemas.microsoft.com/office/drawing/2014/main" id="{876DED28-08CD-A724-FC25-A52DFBDC70AB}"/>
              </a:ext>
            </a:extLst>
          </p:cNvPr>
          <p:cNvSpPr txBox="1">
            <a:spLocks/>
          </p:cNvSpPr>
          <p:nvPr/>
        </p:nvSpPr>
        <p:spPr>
          <a:xfrm>
            <a:off x="1400104" y="5126598"/>
            <a:ext cx="2109873" cy="415498"/>
          </a:xfrm>
          <a:prstGeom prst="rect">
            <a:avLst/>
          </a:prstGeom>
          <a:noFill/>
        </p:spPr>
        <p:txBody>
          <a:bodyPr wrap="none" rtlCol="0">
            <a:spAutoFit/>
          </a:bodyPr>
          <a:lstStyle>
            <a:defPPr>
              <a:defRPr lang="zh-CN"/>
            </a:defPPr>
            <a:lvl1pPr marL="342900" indent="-342900">
              <a:lnSpc>
                <a:spcPct val="150000"/>
              </a:lnSpc>
              <a:buFont typeface="+mj-lt"/>
              <a:buAutoNum type="arabicPeriod"/>
              <a:defRPr sz="1400"/>
            </a:lvl1pPr>
          </a:lstStyle>
          <a:p>
            <a:pPr marL="0" indent="0">
              <a:buNone/>
            </a:pPr>
            <a:r>
              <a:rPr lang="zh-CN" altLang="en-US" b="1" dirty="0" smtClean="0"/>
              <a:t>售前做准</a:t>
            </a:r>
            <a:r>
              <a:rPr lang="en-US" altLang="zh-CN" b="1" dirty="0" smtClean="0"/>
              <a:t>N</a:t>
            </a:r>
            <a:r>
              <a:rPr lang="zh-CN" altLang="en-US" b="1" dirty="0" smtClean="0"/>
              <a:t>（</a:t>
            </a:r>
            <a:r>
              <a:rPr lang="zh-CN" altLang="en-US" b="1" dirty="0"/>
              <a:t>配置清单</a:t>
            </a:r>
            <a:r>
              <a:rPr lang="zh-CN" altLang="en-US" b="1" dirty="0" smtClean="0"/>
              <a:t>）</a:t>
            </a:r>
            <a:endParaRPr lang="zh-CN" altLang="en-US" b="1" dirty="0"/>
          </a:p>
        </p:txBody>
      </p:sp>
      <p:pic>
        <p:nvPicPr>
          <p:cNvPr id="15" name="图片 14"/>
          <p:cNvPicPr>
            <a:picLocks noChangeAspect="1"/>
          </p:cNvPicPr>
          <p:nvPr/>
        </p:nvPicPr>
        <p:blipFill>
          <a:blip r:embed="rId3"/>
          <a:stretch>
            <a:fillRect/>
          </a:stretch>
        </p:blipFill>
        <p:spPr>
          <a:xfrm>
            <a:off x="5434884" y="3771289"/>
            <a:ext cx="1517063" cy="1603547"/>
          </a:xfrm>
          <a:prstGeom prst="rect">
            <a:avLst/>
          </a:prstGeom>
        </p:spPr>
      </p:pic>
      <p:sp>
        <p:nvSpPr>
          <p:cNvPr id="16" name="左右箭头 15"/>
          <p:cNvSpPr/>
          <p:nvPr/>
        </p:nvSpPr>
        <p:spPr>
          <a:xfrm>
            <a:off x="3633583" y="4408667"/>
            <a:ext cx="1486411" cy="616788"/>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t>沟通反馈</a:t>
            </a:r>
            <a:endParaRPr lang="zh-CN" altLang="en-US" sz="1400" dirty="0"/>
          </a:p>
        </p:txBody>
      </p:sp>
      <p:pic>
        <p:nvPicPr>
          <p:cNvPr id="17" name="图片 16"/>
          <p:cNvPicPr>
            <a:picLocks noChangeAspect="1"/>
          </p:cNvPicPr>
          <p:nvPr/>
        </p:nvPicPr>
        <p:blipFill>
          <a:blip r:embed="rId4"/>
          <a:stretch>
            <a:fillRect/>
          </a:stretch>
        </p:blipFill>
        <p:spPr>
          <a:xfrm>
            <a:off x="8417912" y="3678485"/>
            <a:ext cx="2565773" cy="2260324"/>
          </a:xfrm>
          <a:prstGeom prst="rect">
            <a:avLst/>
          </a:prstGeom>
        </p:spPr>
      </p:pic>
      <p:sp>
        <p:nvSpPr>
          <p:cNvPr id="18" name="右箭头 17"/>
          <p:cNvSpPr/>
          <p:nvPr/>
        </p:nvSpPr>
        <p:spPr>
          <a:xfrm>
            <a:off x="7037956" y="4408667"/>
            <a:ext cx="1130426" cy="6167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t>及时更新</a:t>
            </a:r>
            <a:endParaRPr lang="zh-CN" altLang="en-US" sz="1400" dirty="0"/>
          </a:p>
        </p:txBody>
      </p:sp>
      <p:sp>
        <p:nvSpPr>
          <p:cNvPr id="27" name="文本占位符 1">
            <a:extLst>
              <a:ext uri="{FF2B5EF4-FFF2-40B4-BE49-F238E27FC236}">
                <a16:creationId xmlns="" xmlns:a16="http://schemas.microsoft.com/office/drawing/2014/main" id="{876DED28-08CD-A724-FC25-A52DFBDC70AB}"/>
              </a:ext>
            </a:extLst>
          </p:cNvPr>
          <p:cNvSpPr txBox="1">
            <a:spLocks/>
          </p:cNvSpPr>
          <p:nvPr/>
        </p:nvSpPr>
        <p:spPr>
          <a:xfrm>
            <a:off x="5562473" y="5543363"/>
            <a:ext cx="1261884" cy="415498"/>
          </a:xfrm>
          <a:prstGeom prst="rect">
            <a:avLst/>
          </a:prstGeom>
          <a:noFill/>
        </p:spPr>
        <p:txBody>
          <a:bodyPr wrap="none" rtlCol="0">
            <a:spAutoFit/>
          </a:bodyPr>
          <a:lstStyle>
            <a:defPPr>
              <a:defRPr lang="zh-CN"/>
            </a:defPPr>
            <a:lvl1pPr marL="342900" indent="-342900">
              <a:lnSpc>
                <a:spcPct val="150000"/>
              </a:lnSpc>
              <a:buFont typeface="+mj-lt"/>
              <a:buAutoNum type="arabicPeriod"/>
              <a:defRPr sz="1400"/>
            </a:lvl1pPr>
          </a:lstStyle>
          <a:p>
            <a:pPr marL="0" indent="0">
              <a:buNone/>
            </a:pPr>
            <a:r>
              <a:rPr lang="zh-CN" altLang="en-US" b="1" dirty="0" smtClean="0"/>
              <a:t>销售及时跟进</a:t>
            </a:r>
            <a:endParaRPr lang="zh-CN" altLang="en-US"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EC1D12F-B95D-EADC-48B5-8512AA32356B}"/>
            </a:ext>
          </a:extLst>
        </p:cNvPr>
        <p:cNvGrpSpPr/>
        <p:nvPr/>
      </p:nvGrpSpPr>
      <p:grpSpPr>
        <a:xfrm>
          <a:off x="0" y="0"/>
          <a:ext cx="0" cy="0"/>
          <a:chOff x="0" y="0"/>
          <a:chExt cx="0" cy="0"/>
        </a:xfrm>
      </p:grpSpPr>
      <p:sp>
        <p:nvSpPr>
          <p:cNvPr id="42" name="矩形 41"/>
          <p:cNvSpPr/>
          <p:nvPr/>
        </p:nvSpPr>
        <p:spPr>
          <a:xfrm>
            <a:off x="729883" y="886408"/>
            <a:ext cx="10519380" cy="1763486"/>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矩形 38"/>
          <p:cNvSpPr/>
          <p:nvPr/>
        </p:nvSpPr>
        <p:spPr>
          <a:xfrm>
            <a:off x="729883" y="2755249"/>
            <a:ext cx="4399068" cy="3908625"/>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占位符 1">
            <a:extLst>
              <a:ext uri="{FF2B5EF4-FFF2-40B4-BE49-F238E27FC236}">
                <a16:creationId xmlns="" xmlns:a16="http://schemas.microsoft.com/office/drawing/2014/main" id="{876DED28-08CD-A724-FC25-A52DFBDC70AB}"/>
              </a:ext>
            </a:extLst>
          </p:cNvPr>
          <p:cNvSpPr>
            <a:spLocks noGrp="1"/>
          </p:cNvSpPr>
          <p:nvPr>
            <p:ph type="body" sz="quarter" idx="13"/>
          </p:nvPr>
        </p:nvSpPr>
        <p:spPr>
          <a:xfrm>
            <a:off x="4493094" y="1575660"/>
            <a:ext cx="3535243" cy="495935"/>
          </a:xfrm>
        </p:spPr>
        <p:txBody>
          <a:bodyPr/>
          <a:lstStyle/>
          <a:p>
            <a:pPr algn="ctr"/>
            <a:r>
              <a:rPr lang="zh-CN" altLang="en-US" dirty="0"/>
              <a:t>四个标准，两类业务</a:t>
            </a:r>
          </a:p>
        </p:txBody>
      </p:sp>
      <p:sp>
        <p:nvSpPr>
          <p:cNvPr id="8" name="文本框 7">
            <a:extLst>
              <a:ext uri="{FF2B5EF4-FFF2-40B4-BE49-F238E27FC236}">
                <a16:creationId xmlns="" xmlns:a16="http://schemas.microsoft.com/office/drawing/2014/main" id="{E2874AC4-4A17-3587-98F1-1C81914A8EFD}"/>
              </a:ext>
            </a:extLst>
          </p:cNvPr>
          <p:cNvSpPr txBox="1"/>
          <p:nvPr/>
        </p:nvSpPr>
        <p:spPr>
          <a:xfrm>
            <a:off x="1934415" y="1111191"/>
            <a:ext cx="2146742" cy="1346522"/>
          </a:xfrm>
          <a:prstGeom prst="rect">
            <a:avLst/>
          </a:prstGeom>
          <a:noFill/>
        </p:spPr>
        <p:txBody>
          <a:bodyPr wrap="none" rtlCol="0">
            <a:spAutoFit/>
          </a:bodyPr>
          <a:lstStyle/>
          <a:p>
            <a:pPr marL="342900" indent="-342900">
              <a:lnSpc>
                <a:spcPct val="150000"/>
              </a:lnSpc>
              <a:buFont typeface="+mj-lt"/>
              <a:buAutoNum type="arabicPeriod"/>
            </a:pPr>
            <a:r>
              <a:rPr lang="zh-CN" altLang="en-US" sz="1400" dirty="0"/>
              <a:t>可信度自评打分标准</a:t>
            </a:r>
            <a:endParaRPr lang="en-US" altLang="zh-CN" sz="1400" dirty="0"/>
          </a:p>
          <a:p>
            <a:pPr marL="342900" indent="-342900">
              <a:lnSpc>
                <a:spcPct val="150000"/>
              </a:lnSpc>
              <a:buFont typeface="+mj-lt"/>
              <a:buAutoNum type="arabicPeriod"/>
            </a:pPr>
            <a:r>
              <a:rPr lang="zh-CN" altLang="en-US" sz="1400" dirty="0"/>
              <a:t>进漏斗内可信度标准</a:t>
            </a:r>
            <a:endParaRPr lang="en-US" altLang="zh-CN" sz="1400" dirty="0"/>
          </a:p>
          <a:p>
            <a:pPr marL="342900" indent="-342900">
              <a:lnSpc>
                <a:spcPct val="150000"/>
              </a:lnSpc>
              <a:buFont typeface="+mj-lt"/>
              <a:buAutoNum type="arabicPeriod"/>
            </a:pPr>
            <a:r>
              <a:rPr lang="zh-CN" altLang="en-US" sz="1400" dirty="0"/>
              <a:t>预测类别可信度标准</a:t>
            </a:r>
            <a:endParaRPr lang="en-US" altLang="zh-CN" sz="1400" dirty="0"/>
          </a:p>
          <a:p>
            <a:pPr marL="342900" indent="-342900">
              <a:lnSpc>
                <a:spcPct val="150000"/>
              </a:lnSpc>
              <a:buFont typeface="+mj-lt"/>
              <a:buAutoNum type="arabicPeriod"/>
            </a:pPr>
            <a:r>
              <a:rPr lang="zh-CN" altLang="en-US" sz="1400" dirty="0"/>
              <a:t>开标时间可信度标准</a:t>
            </a:r>
          </a:p>
        </p:txBody>
      </p:sp>
      <p:sp>
        <p:nvSpPr>
          <p:cNvPr id="9" name="右大括号 8">
            <a:extLst>
              <a:ext uri="{FF2B5EF4-FFF2-40B4-BE49-F238E27FC236}">
                <a16:creationId xmlns="" xmlns:a16="http://schemas.microsoft.com/office/drawing/2014/main" id="{F86F1A72-0B0D-1958-D49F-A9625B7A80A2}"/>
              </a:ext>
            </a:extLst>
          </p:cNvPr>
          <p:cNvSpPr/>
          <p:nvPr/>
        </p:nvSpPr>
        <p:spPr>
          <a:xfrm>
            <a:off x="4493094" y="1337525"/>
            <a:ext cx="94967" cy="1023357"/>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文本框 9">
            <a:extLst>
              <a:ext uri="{FF2B5EF4-FFF2-40B4-BE49-F238E27FC236}">
                <a16:creationId xmlns="" xmlns:a16="http://schemas.microsoft.com/office/drawing/2014/main" id="{63564102-76D9-2A8D-BFFF-C1B4E13F0C01}"/>
              </a:ext>
            </a:extLst>
          </p:cNvPr>
          <p:cNvSpPr txBox="1"/>
          <p:nvPr/>
        </p:nvSpPr>
        <p:spPr>
          <a:xfrm>
            <a:off x="8241661" y="1371403"/>
            <a:ext cx="1787669" cy="700192"/>
          </a:xfrm>
          <a:prstGeom prst="rect">
            <a:avLst/>
          </a:prstGeom>
          <a:noFill/>
        </p:spPr>
        <p:txBody>
          <a:bodyPr wrap="none" rtlCol="0">
            <a:spAutoFit/>
          </a:bodyPr>
          <a:lstStyle/>
          <a:p>
            <a:pPr marL="342900" indent="-342900">
              <a:lnSpc>
                <a:spcPct val="150000"/>
              </a:lnSpc>
              <a:buFont typeface="+mj-lt"/>
              <a:buAutoNum type="arabicPeriod"/>
            </a:pPr>
            <a:r>
              <a:rPr lang="zh-CN" altLang="en-US" sz="1400" dirty="0"/>
              <a:t>漏斗外进漏斗内</a:t>
            </a:r>
            <a:endParaRPr lang="en-US" altLang="zh-CN" sz="1400" dirty="0"/>
          </a:p>
          <a:p>
            <a:pPr marL="342900" indent="-342900">
              <a:lnSpc>
                <a:spcPct val="150000"/>
              </a:lnSpc>
              <a:buFont typeface="+mj-lt"/>
              <a:buAutoNum type="arabicPeriod"/>
            </a:pPr>
            <a:r>
              <a:rPr lang="zh-CN" altLang="en-US" sz="1400" dirty="0"/>
              <a:t>漏斗内项目跟进</a:t>
            </a:r>
          </a:p>
        </p:txBody>
      </p:sp>
      <p:sp>
        <p:nvSpPr>
          <p:cNvPr id="11" name="左大括号 10">
            <a:extLst>
              <a:ext uri="{FF2B5EF4-FFF2-40B4-BE49-F238E27FC236}">
                <a16:creationId xmlns="" xmlns:a16="http://schemas.microsoft.com/office/drawing/2014/main" id="{0BB77BDE-AA6B-C55E-BDA5-B37573D09B31}"/>
              </a:ext>
            </a:extLst>
          </p:cNvPr>
          <p:cNvSpPr/>
          <p:nvPr/>
        </p:nvSpPr>
        <p:spPr>
          <a:xfrm>
            <a:off x="7911719" y="1284384"/>
            <a:ext cx="129289" cy="1023356"/>
          </a:xfrm>
          <a:prstGeom prst="lef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矩形 4"/>
          <p:cNvSpPr/>
          <p:nvPr/>
        </p:nvSpPr>
        <p:spPr>
          <a:xfrm>
            <a:off x="1160344" y="3083058"/>
            <a:ext cx="1548142" cy="5069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商机填报</a:t>
            </a:r>
            <a:endParaRPr lang="zh-CN" altLang="en-US" dirty="0"/>
          </a:p>
        </p:txBody>
      </p:sp>
      <p:sp>
        <p:nvSpPr>
          <p:cNvPr id="12" name="矩形 11"/>
          <p:cNvSpPr/>
          <p:nvPr/>
        </p:nvSpPr>
        <p:spPr>
          <a:xfrm>
            <a:off x="1160344" y="3998396"/>
            <a:ext cx="1548142" cy="5069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商机审批</a:t>
            </a:r>
            <a:endParaRPr lang="zh-CN" altLang="en-US" dirty="0"/>
          </a:p>
        </p:txBody>
      </p:sp>
      <p:cxnSp>
        <p:nvCxnSpPr>
          <p:cNvPr id="16" name="直接箭头连接符 15"/>
          <p:cNvCxnSpPr>
            <a:stCxn id="5" idx="2"/>
            <a:endCxn id="12" idx="0"/>
          </p:cNvCxnSpPr>
          <p:nvPr/>
        </p:nvCxnSpPr>
        <p:spPr>
          <a:xfrm>
            <a:off x="1934415" y="3590052"/>
            <a:ext cx="0" cy="408344"/>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1160344" y="4913734"/>
            <a:ext cx="1548142" cy="5069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商机推进</a:t>
            </a:r>
            <a:endParaRPr lang="zh-CN" altLang="en-US" dirty="0"/>
          </a:p>
        </p:txBody>
      </p:sp>
      <p:sp>
        <p:nvSpPr>
          <p:cNvPr id="19" name="矩形 18"/>
          <p:cNvSpPr/>
          <p:nvPr/>
        </p:nvSpPr>
        <p:spPr>
          <a:xfrm>
            <a:off x="1160344" y="5873799"/>
            <a:ext cx="1548142" cy="5069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开标</a:t>
            </a:r>
            <a:endParaRPr lang="zh-CN" altLang="en-US" dirty="0"/>
          </a:p>
        </p:txBody>
      </p:sp>
      <p:cxnSp>
        <p:nvCxnSpPr>
          <p:cNvPr id="20" name="直接箭头连接符 19"/>
          <p:cNvCxnSpPr>
            <a:stCxn id="12" idx="2"/>
            <a:endCxn id="18" idx="0"/>
          </p:cNvCxnSpPr>
          <p:nvPr/>
        </p:nvCxnSpPr>
        <p:spPr>
          <a:xfrm>
            <a:off x="1934415" y="4505390"/>
            <a:ext cx="0" cy="408344"/>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a:stCxn id="18" idx="2"/>
            <a:endCxn id="19" idx="0"/>
          </p:cNvCxnSpPr>
          <p:nvPr/>
        </p:nvCxnSpPr>
        <p:spPr>
          <a:xfrm>
            <a:off x="1934415" y="5420728"/>
            <a:ext cx="0" cy="453071"/>
          </a:xfrm>
          <a:prstGeom prst="straightConnector1">
            <a:avLst/>
          </a:prstGeom>
          <a:ln w="25400">
            <a:tailEnd type="triangle"/>
          </a:ln>
        </p:spPr>
        <p:style>
          <a:lnRef idx="1">
            <a:schemeClr val="accent1"/>
          </a:lnRef>
          <a:fillRef idx="0">
            <a:schemeClr val="accent1"/>
          </a:fillRef>
          <a:effectRef idx="0">
            <a:schemeClr val="accent1"/>
          </a:effectRef>
          <a:fontRef idx="minor">
            <a:schemeClr val="tx1"/>
          </a:fontRef>
        </p:style>
      </p:cxnSp>
      <p:sp>
        <p:nvSpPr>
          <p:cNvPr id="28" name="右箭头 27"/>
          <p:cNvSpPr/>
          <p:nvPr/>
        </p:nvSpPr>
        <p:spPr>
          <a:xfrm>
            <a:off x="2848815" y="3146393"/>
            <a:ext cx="354563" cy="3803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占位符 1">
            <a:extLst>
              <a:ext uri="{FF2B5EF4-FFF2-40B4-BE49-F238E27FC236}">
                <a16:creationId xmlns="" xmlns:a16="http://schemas.microsoft.com/office/drawing/2014/main" id="{876DED28-08CD-A724-FC25-A52DFBDC70AB}"/>
              </a:ext>
            </a:extLst>
          </p:cNvPr>
          <p:cNvSpPr txBox="1">
            <a:spLocks/>
          </p:cNvSpPr>
          <p:nvPr/>
        </p:nvSpPr>
        <p:spPr>
          <a:xfrm>
            <a:off x="3328458" y="3111218"/>
            <a:ext cx="1800493" cy="415498"/>
          </a:xfrm>
          <a:prstGeom prst="rect">
            <a:avLst/>
          </a:prstGeom>
          <a:noFill/>
        </p:spPr>
        <p:txBody>
          <a:bodyPr wrap="none" rtlCol="0">
            <a:spAutoFit/>
          </a:bodyPr>
          <a:lstStyle>
            <a:defPPr>
              <a:defRPr lang="zh-CN"/>
            </a:defPPr>
            <a:lvl1pPr marL="342900" indent="-342900">
              <a:lnSpc>
                <a:spcPct val="150000"/>
              </a:lnSpc>
              <a:buFont typeface="+mj-lt"/>
              <a:buAutoNum type="arabicPeriod"/>
              <a:defRPr sz="1400"/>
            </a:lvl1pPr>
          </a:lstStyle>
          <a:p>
            <a:pPr marL="0" indent="0">
              <a:buNone/>
            </a:pPr>
            <a:r>
              <a:rPr lang="zh-CN" altLang="en-US" b="1" dirty="0"/>
              <a:t>可信度自评打分标准</a:t>
            </a:r>
          </a:p>
        </p:txBody>
      </p:sp>
      <p:sp>
        <p:nvSpPr>
          <p:cNvPr id="34" name="右箭头 33"/>
          <p:cNvSpPr/>
          <p:nvPr/>
        </p:nvSpPr>
        <p:spPr>
          <a:xfrm>
            <a:off x="2848814" y="4065613"/>
            <a:ext cx="354563" cy="3803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占位符 1">
            <a:extLst>
              <a:ext uri="{FF2B5EF4-FFF2-40B4-BE49-F238E27FC236}">
                <a16:creationId xmlns="" xmlns:a16="http://schemas.microsoft.com/office/drawing/2014/main" id="{876DED28-08CD-A724-FC25-A52DFBDC70AB}"/>
              </a:ext>
            </a:extLst>
          </p:cNvPr>
          <p:cNvSpPr txBox="1">
            <a:spLocks/>
          </p:cNvSpPr>
          <p:nvPr/>
        </p:nvSpPr>
        <p:spPr>
          <a:xfrm>
            <a:off x="3328459" y="4004031"/>
            <a:ext cx="1800493" cy="415498"/>
          </a:xfrm>
          <a:prstGeom prst="rect">
            <a:avLst/>
          </a:prstGeom>
          <a:noFill/>
        </p:spPr>
        <p:txBody>
          <a:bodyPr wrap="none" rtlCol="0">
            <a:spAutoFit/>
          </a:bodyPr>
          <a:lstStyle>
            <a:defPPr>
              <a:defRPr lang="zh-CN"/>
            </a:defPPr>
            <a:lvl1pPr marL="342900" indent="-342900">
              <a:lnSpc>
                <a:spcPct val="150000"/>
              </a:lnSpc>
              <a:buFont typeface="+mj-lt"/>
              <a:buAutoNum type="arabicPeriod"/>
              <a:defRPr sz="1400"/>
            </a:lvl1pPr>
          </a:lstStyle>
          <a:p>
            <a:pPr marL="0" indent="0">
              <a:buNone/>
            </a:pPr>
            <a:r>
              <a:rPr lang="zh-CN" altLang="en-US" b="1" dirty="0" smtClean="0"/>
              <a:t>进漏斗内可信度标准</a:t>
            </a:r>
            <a:endParaRPr lang="zh-CN" altLang="en-US" b="1" dirty="0"/>
          </a:p>
        </p:txBody>
      </p:sp>
      <p:sp>
        <p:nvSpPr>
          <p:cNvPr id="36" name="右大括号 35"/>
          <p:cNvSpPr/>
          <p:nvPr/>
        </p:nvSpPr>
        <p:spPr>
          <a:xfrm>
            <a:off x="2821841" y="4985461"/>
            <a:ext cx="204254" cy="1323603"/>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7" name="右箭头 36"/>
          <p:cNvSpPr/>
          <p:nvPr/>
        </p:nvSpPr>
        <p:spPr>
          <a:xfrm>
            <a:off x="2973897" y="5420728"/>
            <a:ext cx="354563" cy="38032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占位符 1">
            <a:extLst>
              <a:ext uri="{FF2B5EF4-FFF2-40B4-BE49-F238E27FC236}">
                <a16:creationId xmlns="" xmlns:a16="http://schemas.microsoft.com/office/drawing/2014/main" id="{876DED28-08CD-A724-FC25-A52DFBDC70AB}"/>
              </a:ext>
            </a:extLst>
          </p:cNvPr>
          <p:cNvSpPr txBox="1">
            <a:spLocks/>
          </p:cNvSpPr>
          <p:nvPr/>
        </p:nvSpPr>
        <p:spPr>
          <a:xfrm>
            <a:off x="3328460" y="5241557"/>
            <a:ext cx="1800493" cy="738664"/>
          </a:xfrm>
          <a:prstGeom prst="rect">
            <a:avLst/>
          </a:prstGeom>
          <a:noFill/>
        </p:spPr>
        <p:txBody>
          <a:bodyPr wrap="none" rtlCol="0">
            <a:spAutoFit/>
          </a:bodyPr>
          <a:lstStyle>
            <a:defPPr>
              <a:defRPr lang="zh-CN"/>
            </a:defPPr>
            <a:lvl1pPr marL="342900" indent="-342900">
              <a:lnSpc>
                <a:spcPct val="150000"/>
              </a:lnSpc>
              <a:buFont typeface="+mj-lt"/>
              <a:buAutoNum type="arabicPeriod"/>
              <a:defRPr sz="1400"/>
            </a:lvl1pPr>
          </a:lstStyle>
          <a:p>
            <a:pPr marL="0" indent="0">
              <a:buNone/>
            </a:pPr>
            <a:r>
              <a:rPr lang="zh-CN" altLang="en-US" b="1" dirty="0" smtClean="0"/>
              <a:t>预测类别可信度标准</a:t>
            </a:r>
            <a:endParaRPr lang="en-US" altLang="zh-CN" b="1" dirty="0" smtClean="0"/>
          </a:p>
          <a:p>
            <a:pPr marL="0" indent="0">
              <a:buNone/>
            </a:pPr>
            <a:r>
              <a:rPr lang="zh-CN" altLang="en-US" b="1" dirty="0" smtClean="0"/>
              <a:t>开标时间可信度标准</a:t>
            </a:r>
            <a:endParaRPr lang="zh-CN" altLang="en-US" b="1" dirty="0"/>
          </a:p>
        </p:txBody>
      </p:sp>
      <p:sp>
        <p:nvSpPr>
          <p:cNvPr id="40" name="矩形 39"/>
          <p:cNvSpPr/>
          <p:nvPr/>
        </p:nvSpPr>
        <p:spPr>
          <a:xfrm>
            <a:off x="5242306" y="2755248"/>
            <a:ext cx="6006957" cy="3908625"/>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p:nvSpPr>
        <p:spPr>
          <a:xfrm>
            <a:off x="8896927" y="3446742"/>
            <a:ext cx="2264806" cy="2862322"/>
          </a:xfrm>
          <a:prstGeom prst="rect">
            <a:avLst/>
          </a:prstGeom>
        </p:spPr>
        <p:txBody>
          <a:bodyPr wrap="square">
            <a:spAutoFit/>
          </a:bodyPr>
          <a:lstStyle/>
          <a:p>
            <a:pPr>
              <a:lnSpc>
                <a:spcPct val="150000"/>
              </a:lnSpc>
            </a:pPr>
            <a:r>
              <a:rPr lang="en-US" altLang="zh-CN" sz="1200" b="1" dirty="0">
                <a:latin typeface="+mn-ea"/>
              </a:rPr>
              <a:t>1</a:t>
            </a:r>
            <a:r>
              <a:rPr lang="zh-CN" altLang="en-US" sz="1200" b="1" dirty="0" smtClean="0">
                <a:latin typeface="+mn-ea"/>
              </a:rPr>
              <a:t>、漏斗外进</a:t>
            </a:r>
            <a:r>
              <a:rPr lang="zh-CN" altLang="en-US" sz="1200" b="1" dirty="0">
                <a:latin typeface="+mn-ea"/>
              </a:rPr>
              <a:t>漏斗内</a:t>
            </a:r>
            <a:r>
              <a:rPr lang="zh-CN" altLang="en-US" sz="1200" dirty="0">
                <a:latin typeface="+mn-ea"/>
              </a:rPr>
              <a:t>：项目由漏斗外转漏斗内时，</a:t>
            </a:r>
            <a:r>
              <a:rPr lang="zh-CN" altLang="en-US" sz="1200" dirty="0">
                <a:solidFill>
                  <a:schemeClr val="accent4">
                    <a:lumMod val="50000"/>
                  </a:schemeClr>
                </a:solidFill>
                <a:latin typeface="+mn-ea"/>
              </a:rPr>
              <a:t>产品清单中的产品系列</a:t>
            </a:r>
            <a:r>
              <a:rPr lang="zh-CN" altLang="en-US" sz="1200" dirty="0">
                <a:latin typeface="+mn-ea"/>
              </a:rPr>
              <a:t>须是明确的，否则不允许转漏斗内；</a:t>
            </a:r>
          </a:p>
          <a:p>
            <a:pPr>
              <a:lnSpc>
                <a:spcPct val="150000"/>
              </a:lnSpc>
            </a:pPr>
            <a:r>
              <a:rPr lang="en-US" altLang="zh-CN" sz="1200" b="1" dirty="0">
                <a:latin typeface="+mn-ea"/>
              </a:rPr>
              <a:t>2</a:t>
            </a:r>
            <a:r>
              <a:rPr lang="zh-CN" altLang="en-US" sz="1200" b="1" dirty="0">
                <a:latin typeface="+mn-ea"/>
              </a:rPr>
              <a:t>、漏斗内</a:t>
            </a:r>
            <a:r>
              <a:rPr lang="zh-CN" altLang="en-US" sz="1200" b="1" dirty="0" smtClean="0">
                <a:latin typeface="+mn-ea"/>
              </a:rPr>
              <a:t>项目</a:t>
            </a:r>
            <a:r>
              <a:rPr lang="zh-CN" altLang="en-US" sz="1200" b="1" dirty="0">
                <a:latin typeface="+mn-ea"/>
              </a:rPr>
              <a:t>跟进</a:t>
            </a:r>
            <a:r>
              <a:rPr lang="zh-CN" altLang="en-US" sz="1200" dirty="0" smtClean="0">
                <a:latin typeface="+mn-ea"/>
              </a:rPr>
              <a:t>：</a:t>
            </a:r>
            <a:r>
              <a:rPr lang="zh-CN" altLang="en-US" sz="1200" dirty="0">
                <a:latin typeface="+mn-ea"/>
              </a:rPr>
              <a:t>项目的预测类别、距离开标天数，分别对应不同的</a:t>
            </a:r>
            <a:r>
              <a:rPr lang="zh-CN" altLang="en-US" sz="1200" dirty="0">
                <a:solidFill>
                  <a:schemeClr val="accent4">
                    <a:lumMod val="50000"/>
                  </a:schemeClr>
                </a:solidFill>
                <a:latin typeface="+mn-ea"/>
              </a:rPr>
              <a:t>清单可信度</a:t>
            </a:r>
            <a:r>
              <a:rPr lang="zh-CN" altLang="en-US" sz="1200" dirty="0">
                <a:latin typeface="+mn-ea"/>
              </a:rPr>
              <a:t>要求，清单可信度低于对应要求时，应在规定时间内提升清单可信度达标。</a:t>
            </a:r>
          </a:p>
        </p:txBody>
      </p:sp>
      <p:grpSp>
        <p:nvGrpSpPr>
          <p:cNvPr id="61" name="组合 60"/>
          <p:cNvGrpSpPr/>
          <p:nvPr/>
        </p:nvGrpSpPr>
        <p:grpSpPr>
          <a:xfrm>
            <a:off x="5281007" y="3339145"/>
            <a:ext cx="3620397" cy="2837679"/>
            <a:chOff x="5914849" y="1771276"/>
            <a:chExt cx="5670468" cy="4270656"/>
          </a:xfrm>
        </p:grpSpPr>
        <p:sp>
          <p:nvSpPr>
            <p:cNvPr id="52" name="流程图: 合并 51"/>
            <p:cNvSpPr/>
            <p:nvPr/>
          </p:nvSpPr>
          <p:spPr>
            <a:xfrm>
              <a:off x="5923476" y="2565487"/>
              <a:ext cx="3200400" cy="3476445"/>
            </a:xfrm>
            <a:prstGeom prst="flowChartMerg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53" name="弧形 52"/>
            <p:cNvSpPr/>
            <p:nvPr/>
          </p:nvSpPr>
          <p:spPr>
            <a:xfrm>
              <a:off x="5949355" y="2554273"/>
              <a:ext cx="3183147" cy="45719"/>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200"/>
            </a:p>
          </p:txBody>
        </p:sp>
        <p:sp>
          <p:nvSpPr>
            <p:cNvPr id="54" name="任意多边形 53"/>
            <p:cNvSpPr/>
            <p:nvPr/>
          </p:nvSpPr>
          <p:spPr>
            <a:xfrm>
              <a:off x="5914849" y="2591366"/>
              <a:ext cx="3209027" cy="310574"/>
            </a:xfrm>
            <a:custGeom>
              <a:avLst/>
              <a:gdLst>
                <a:gd name="connsiteX0" fmla="*/ 0 w 3209027"/>
                <a:gd name="connsiteY0" fmla="*/ 0 h 310574"/>
                <a:gd name="connsiteX1" fmla="*/ 1682151 w 3209027"/>
                <a:gd name="connsiteY1" fmla="*/ 310551 h 310574"/>
                <a:gd name="connsiteX2" fmla="*/ 3209027 w 3209027"/>
                <a:gd name="connsiteY2" fmla="*/ 17253 h 310574"/>
              </a:gdLst>
              <a:ahLst/>
              <a:cxnLst>
                <a:cxn ang="0">
                  <a:pos x="connsiteX0" y="connsiteY0"/>
                </a:cxn>
                <a:cxn ang="0">
                  <a:pos x="connsiteX1" y="connsiteY1"/>
                </a:cxn>
                <a:cxn ang="0">
                  <a:pos x="connsiteX2" y="connsiteY2"/>
                </a:cxn>
              </a:cxnLst>
              <a:rect l="l" t="t" r="r" b="b"/>
              <a:pathLst>
                <a:path w="3209027" h="310574">
                  <a:moveTo>
                    <a:pt x="0" y="0"/>
                  </a:moveTo>
                  <a:cubicBezTo>
                    <a:pt x="573656" y="153838"/>
                    <a:pt x="1147313" y="307676"/>
                    <a:pt x="1682151" y="310551"/>
                  </a:cubicBezTo>
                  <a:cubicBezTo>
                    <a:pt x="2216989" y="313426"/>
                    <a:pt x="2859657" y="51759"/>
                    <a:pt x="3209027" y="17253"/>
                  </a:cubicBez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cxnSp>
          <p:nvCxnSpPr>
            <p:cNvPr id="55" name="曲线连接符 54"/>
            <p:cNvCxnSpPr/>
            <p:nvPr/>
          </p:nvCxnSpPr>
          <p:spPr>
            <a:xfrm rot="10800000" flipV="1">
              <a:off x="8042055" y="2230823"/>
              <a:ext cx="1116326" cy="411712"/>
            </a:xfrm>
            <a:prstGeom prst="curvedConnector3">
              <a:avLst>
                <a:gd name="adj1" fmla="val 88448"/>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56" name="菱形 55"/>
            <p:cNvSpPr/>
            <p:nvPr/>
          </p:nvSpPr>
          <p:spPr>
            <a:xfrm>
              <a:off x="6767753" y="2286351"/>
              <a:ext cx="1497706" cy="1084324"/>
            </a:xfrm>
            <a:prstGeom prst="diamond">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dirty="0">
                  <a:solidFill>
                    <a:schemeClr val="tx1"/>
                  </a:solidFill>
                </a:rPr>
                <a:t>进漏斗商机</a:t>
              </a:r>
            </a:p>
          </p:txBody>
        </p:sp>
        <p:sp>
          <p:nvSpPr>
            <p:cNvPr id="57" name="右箭头 56"/>
            <p:cNvSpPr/>
            <p:nvPr/>
          </p:nvSpPr>
          <p:spPr>
            <a:xfrm>
              <a:off x="8265459" y="4229340"/>
              <a:ext cx="858417" cy="48519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a:p>
          </p:txBody>
        </p:sp>
        <p:sp>
          <p:nvSpPr>
            <p:cNvPr id="58" name="椭圆 57"/>
            <p:cNvSpPr/>
            <p:nvPr/>
          </p:nvSpPr>
          <p:spPr>
            <a:xfrm>
              <a:off x="7013748" y="4003492"/>
              <a:ext cx="1054359" cy="936886"/>
            </a:xfrm>
            <a:prstGeom prst="ellipse">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050" dirty="0">
                  <a:solidFill>
                    <a:schemeClr val="tx1"/>
                  </a:solidFill>
                </a:rPr>
                <a:t>漏斗内项目发生变化</a:t>
              </a:r>
            </a:p>
          </p:txBody>
        </p:sp>
        <p:sp>
          <p:nvSpPr>
            <p:cNvPr id="59" name="圆角矩形 58"/>
            <p:cNvSpPr/>
            <p:nvPr/>
          </p:nvSpPr>
          <p:spPr>
            <a:xfrm>
              <a:off x="9287777" y="4020085"/>
              <a:ext cx="2297540" cy="956209"/>
            </a:xfrm>
            <a:prstGeom prst="roundRect">
              <a:avLst/>
            </a:prstGeom>
            <a:solidFill>
              <a:srgbClr val="FDD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清单可信度是否达标</a:t>
              </a:r>
              <a:r>
                <a:rPr lang="en-US" altLang="zh-CN" sz="1200" dirty="0">
                  <a:solidFill>
                    <a:schemeClr val="tx1"/>
                  </a:solidFill>
                </a:rPr>
                <a:t>?</a:t>
              </a:r>
              <a:endParaRPr lang="zh-CN" altLang="en-US" sz="1200" dirty="0">
                <a:solidFill>
                  <a:schemeClr val="tx1"/>
                </a:solidFill>
              </a:endParaRPr>
            </a:p>
          </p:txBody>
        </p:sp>
        <p:sp>
          <p:nvSpPr>
            <p:cNvPr id="60" name="圆角矩形 59"/>
            <p:cNvSpPr/>
            <p:nvPr/>
          </p:nvSpPr>
          <p:spPr>
            <a:xfrm>
              <a:off x="9287777" y="1771276"/>
              <a:ext cx="2217697" cy="956209"/>
            </a:xfrm>
            <a:prstGeom prst="roundRect">
              <a:avLst/>
            </a:prstGeom>
            <a:solidFill>
              <a:srgbClr val="FDD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rPr>
                <a:t>产品系列是否明确</a:t>
              </a:r>
              <a:r>
                <a:rPr lang="en-US" altLang="zh-CN" sz="1200" dirty="0">
                  <a:solidFill>
                    <a:schemeClr val="tx1"/>
                  </a:solidFill>
                </a:rPr>
                <a:t>?</a:t>
              </a:r>
              <a:endParaRPr lang="zh-CN" altLang="en-US" sz="1200" dirty="0">
                <a:solidFill>
                  <a:schemeClr val="tx1"/>
                </a:solidFill>
              </a:endParaRPr>
            </a:p>
          </p:txBody>
        </p:sp>
      </p:grpSp>
      <p:sp>
        <p:nvSpPr>
          <p:cNvPr id="62" name="矩形 61"/>
          <p:cNvSpPr/>
          <p:nvPr/>
        </p:nvSpPr>
        <p:spPr>
          <a:xfrm>
            <a:off x="399847" y="189633"/>
            <a:ext cx="3681310" cy="488980"/>
          </a:xfrm>
          <a:prstGeom prst="rect">
            <a:avLst/>
          </a:prstGeom>
        </p:spPr>
        <p:txBody>
          <a:bodyPr>
            <a:noAutofit/>
          </a:bodyPr>
          <a:lstStyle/>
          <a:p>
            <a:pPr>
              <a:lnSpc>
                <a:spcPct val="130000"/>
              </a:lnSpc>
              <a:spcAft>
                <a:spcPts val="1000"/>
              </a:spcAft>
              <a:buFont typeface="Arial" panose="020B0604020202020204" pitchFamily="34" charset="0"/>
              <a:buNone/>
            </a:pPr>
            <a:r>
              <a:rPr kumimoji="1" lang="zh-CN" altLang="en-US" sz="2200" b="1" spc="150" dirty="0">
                <a:solidFill>
                  <a:schemeClr val="tx1">
                    <a:lumMod val="50000"/>
                    <a:lumOff val="50000"/>
                  </a:schemeClr>
                </a:solidFill>
                <a:latin typeface="微软雅黑" panose="020B0503020204020204" pitchFamily="34" charset="-122"/>
                <a:ea typeface="微软雅黑" panose="020B0503020204020204" pitchFamily="34" charset="-122"/>
              </a:rPr>
              <a:t>关键</a:t>
            </a:r>
            <a:r>
              <a:rPr kumimoji="1" lang="zh-CN" altLang="en-US" sz="2200" b="1" spc="150" dirty="0" smtClean="0">
                <a:solidFill>
                  <a:schemeClr val="tx1">
                    <a:lumMod val="50000"/>
                    <a:lumOff val="50000"/>
                  </a:schemeClr>
                </a:solidFill>
                <a:latin typeface="微软雅黑" panose="020B0503020204020204" pitchFamily="34" charset="-122"/>
                <a:ea typeface="微软雅黑" panose="020B0503020204020204" pitchFamily="34" charset="-122"/>
              </a:rPr>
              <a:t>影响因素和场景</a:t>
            </a:r>
            <a:endParaRPr kumimoji="1" lang="zh-CN" altLang="en-US" sz="2200" b="1" spc="150" dirty="0">
              <a:solidFill>
                <a:schemeClr val="tx1">
                  <a:lumMod val="50000"/>
                  <a:lumOff val="50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96470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a:t>标准一：可信度自评打分标准</a:t>
            </a:r>
          </a:p>
        </p:txBody>
      </p:sp>
      <p:graphicFrame>
        <p:nvGraphicFramePr>
          <p:cNvPr id="6" name="表格 5"/>
          <p:cNvGraphicFramePr>
            <a:graphicFrameLocks noGrp="1"/>
          </p:cNvGraphicFramePr>
          <p:nvPr/>
        </p:nvGraphicFramePr>
        <p:xfrm>
          <a:off x="573405" y="898822"/>
          <a:ext cx="11046913" cy="5790735"/>
        </p:xfrm>
        <a:graphic>
          <a:graphicData uri="http://schemas.openxmlformats.org/drawingml/2006/table">
            <a:tbl>
              <a:tblPr/>
              <a:tblGrid>
                <a:gridCol w="858156">
                  <a:extLst>
                    <a:ext uri="{9D8B030D-6E8A-4147-A177-3AD203B41FA5}">
                      <a16:colId xmlns="" xmlns:a16="http://schemas.microsoft.com/office/drawing/2014/main" val="20000"/>
                    </a:ext>
                  </a:extLst>
                </a:gridCol>
                <a:gridCol w="480366">
                  <a:extLst>
                    <a:ext uri="{9D8B030D-6E8A-4147-A177-3AD203B41FA5}">
                      <a16:colId xmlns="" xmlns:a16="http://schemas.microsoft.com/office/drawing/2014/main" val="20001"/>
                    </a:ext>
                  </a:extLst>
                </a:gridCol>
                <a:gridCol w="888150">
                  <a:extLst>
                    <a:ext uri="{9D8B030D-6E8A-4147-A177-3AD203B41FA5}">
                      <a16:colId xmlns="" xmlns:a16="http://schemas.microsoft.com/office/drawing/2014/main" val="20002"/>
                    </a:ext>
                  </a:extLst>
                </a:gridCol>
                <a:gridCol w="963242">
                  <a:extLst>
                    <a:ext uri="{9D8B030D-6E8A-4147-A177-3AD203B41FA5}">
                      <a16:colId xmlns="" xmlns:a16="http://schemas.microsoft.com/office/drawing/2014/main" val="20003"/>
                    </a:ext>
                  </a:extLst>
                </a:gridCol>
                <a:gridCol w="3243971">
                  <a:extLst>
                    <a:ext uri="{9D8B030D-6E8A-4147-A177-3AD203B41FA5}">
                      <a16:colId xmlns="" xmlns:a16="http://schemas.microsoft.com/office/drawing/2014/main" val="20004"/>
                    </a:ext>
                  </a:extLst>
                </a:gridCol>
                <a:gridCol w="774441">
                  <a:extLst>
                    <a:ext uri="{9D8B030D-6E8A-4147-A177-3AD203B41FA5}">
                      <a16:colId xmlns="" xmlns:a16="http://schemas.microsoft.com/office/drawing/2014/main" val="20005"/>
                    </a:ext>
                  </a:extLst>
                </a:gridCol>
                <a:gridCol w="914400">
                  <a:extLst>
                    <a:ext uri="{9D8B030D-6E8A-4147-A177-3AD203B41FA5}">
                      <a16:colId xmlns="" xmlns:a16="http://schemas.microsoft.com/office/drawing/2014/main" val="20006"/>
                    </a:ext>
                  </a:extLst>
                </a:gridCol>
                <a:gridCol w="2924187">
                  <a:extLst>
                    <a:ext uri="{9D8B030D-6E8A-4147-A177-3AD203B41FA5}">
                      <a16:colId xmlns="" xmlns:a16="http://schemas.microsoft.com/office/drawing/2014/main" val="20007"/>
                    </a:ext>
                  </a:extLst>
                </a:gridCol>
              </a:tblGrid>
              <a:tr h="523190">
                <a:tc>
                  <a:txBody>
                    <a:bodyPr/>
                    <a:lstStyle/>
                    <a:p>
                      <a:pPr algn="ctr" fontAlgn="ctr" latinLnBrk="0"/>
                      <a:r>
                        <a:rPr lang="zh-CN" altLang="en-US" sz="1200" b="1" i="0" dirty="0">
                          <a:solidFill>
                            <a:srgbClr val="000000"/>
                          </a:solidFill>
                          <a:effectLst/>
                          <a:latin typeface="+mn-ea"/>
                          <a:ea typeface="+mn-ea"/>
                        </a:rPr>
                        <a:t>打分类别 </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200" b="1" i="0" dirty="0">
                          <a:solidFill>
                            <a:srgbClr val="000000"/>
                          </a:solidFill>
                          <a:effectLst/>
                          <a:latin typeface="+mn-ea"/>
                          <a:ea typeface="+mn-ea"/>
                        </a:rPr>
                        <a:t>序号</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200" b="1" i="0" dirty="0">
                          <a:solidFill>
                            <a:srgbClr val="000000"/>
                          </a:solidFill>
                          <a:effectLst/>
                          <a:latin typeface="+mn-ea"/>
                          <a:ea typeface="+mn-ea"/>
                        </a:rPr>
                        <a:t>打分项</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200" b="1" i="0" dirty="0">
                          <a:solidFill>
                            <a:srgbClr val="000000"/>
                          </a:solidFill>
                          <a:effectLst/>
                          <a:latin typeface="+mn-ea"/>
                          <a:ea typeface="+mn-ea"/>
                        </a:rPr>
                        <a:t>自评打分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200" b="1" i="0" dirty="0">
                          <a:solidFill>
                            <a:srgbClr val="000000"/>
                          </a:solidFill>
                          <a:effectLst/>
                          <a:latin typeface="+mn-ea"/>
                          <a:ea typeface="+mn-ea"/>
                        </a:rPr>
                        <a:t>自评打分依据</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200" b="1" i="0">
                          <a:solidFill>
                            <a:srgbClr val="000000"/>
                          </a:solidFill>
                          <a:effectLst/>
                          <a:latin typeface="+mn-ea"/>
                          <a:ea typeface="+mn-ea"/>
                        </a:rPr>
                        <a:t>权重</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200" b="1" i="0">
                          <a:solidFill>
                            <a:srgbClr val="000000"/>
                          </a:solidFill>
                          <a:effectLst/>
                          <a:latin typeface="+mn-ea"/>
                          <a:ea typeface="+mn-ea"/>
                        </a:rPr>
                        <a:t>打分结果</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200" b="1" i="0" dirty="0">
                          <a:solidFill>
                            <a:srgbClr val="000000"/>
                          </a:solidFill>
                          <a:effectLst/>
                          <a:latin typeface="+mn-ea"/>
                          <a:ea typeface="+mn-ea"/>
                        </a:rPr>
                        <a:t>核查依据</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extLst>
                  <a:ext uri="{0D108BD9-81ED-4DB2-BD59-A6C34878D82A}">
                    <a16:rowId xmlns="" xmlns:a16="http://schemas.microsoft.com/office/drawing/2014/main" val="10000"/>
                  </a:ext>
                </a:extLst>
              </a:tr>
              <a:tr h="1442843">
                <a:tc>
                  <a:txBody>
                    <a:bodyPr/>
                    <a:lstStyle/>
                    <a:p>
                      <a:pPr algn="ctr" fontAlgn="ctr" latinLnBrk="0"/>
                      <a:r>
                        <a:rPr lang="zh-CN" altLang="en-US" sz="1200" b="0" i="0" dirty="0">
                          <a:solidFill>
                            <a:srgbClr val="000000"/>
                          </a:solidFill>
                          <a:effectLst/>
                          <a:latin typeface="+mn-ea"/>
                          <a:ea typeface="+mn-ea"/>
                        </a:rPr>
                        <a:t>项目预算</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200" b="0" i="0" dirty="0">
                          <a:solidFill>
                            <a:srgbClr val="000000"/>
                          </a:solidFill>
                          <a:effectLst/>
                          <a:latin typeface="+mn-ea"/>
                          <a:ea typeface="+mn-ea"/>
                        </a:rPr>
                        <a:t>1</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200" b="0" i="0" dirty="0">
                          <a:solidFill>
                            <a:srgbClr val="000000"/>
                          </a:solidFill>
                          <a:effectLst/>
                          <a:latin typeface="+mn-ea"/>
                          <a:ea typeface="+mn-ea"/>
                        </a:rPr>
                        <a:t>预算金额</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r>
                        <a:rPr lang="en-US" altLang="zh-CN" sz="1200" b="0" i="0" dirty="0">
                          <a:solidFill>
                            <a:srgbClr val="000000"/>
                          </a:solidFill>
                          <a:effectLst/>
                          <a:latin typeface="+mn-ea"/>
                          <a:ea typeface="+mn-ea"/>
                        </a:rPr>
                        <a:t>3</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fontAlgn="ctr" latinLnBrk="0"/>
                      <a:r>
                        <a:rPr lang="en-US" altLang="zh-CN" sz="1200" b="0" i="0" dirty="0">
                          <a:solidFill>
                            <a:srgbClr val="000000"/>
                          </a:solidFill>
                          <a:effectLst/>
                          <a:latin typeface="+mn-ea"/>
                          <a:ea typeface="+mn-ea"/>
                        </a:rPr>
                        <a:t>5</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我司相关预算，采购规则、历史采购价格及竞手价格策略确认。</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4</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我司相关预算明确。</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3</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项目整体预算确认，我司相关预算可估算。</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0</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latin typeface="+mn-ea"/>
                          <a:ea typeface="+mn-ea"/>
                        </a:rPr>
                        <a:t>20%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latin typeface="+mn-ea"/>
                          <a:ea typeface="+mn-ea"/>
                        </a:rPr>
                        <a:t>0.6</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200" b="0" i="0" dirty="0">
                          <a:solidFill>
                            <a:srgbClr val="000000"/>
                          </a:solidFill>
                          <a:effectLst/>
                          <a:latin typeface="+mn-ea"/>
                          <a:ea typeface="+mn-ea"/>
                        </a:rPr>
                        <a:t>以销售判断为准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 xmlns:a16="http://schemas.microsoft.com/office/drawing/2014/main" val="10001"/>
                  </a:ext>
                </a:extLst>
              </a:tr>
              <a:tr h="1501808">
                <a:tc rowSpan="2">
                  <a:txBody>
                    <a:bodyPr/>
                    <a:lstStyle/>
                    <a:p>
                      <a:pPr algn="ctr" fontAlgn="ctr" latinLnBrk="0"/>
                      <a:r>
                        <a:rPr lang="zh-CN" altLang="en-US" sz="1200" b="0" i="0" dirty="0">
                          <a:solidFill>
                            <a:srgbClr val="000000"/>
                          </a:solidFill>
                          <a:effectLst/>
                          <a:latin typeface="+mn-ea"/>
                          <a:ea typeface="+mn-ea"/>
                        </a:rPr>
                        <a:t>技术路线</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200" b="0" i="0">
                          <a:solidFill>
                            <a:srgbClr val="000000"/>
                          </a:solidFill>
                          <a:effectLst/>
                          <a:latin typeface="+mn-ea"/>
                          <a:ea typeface="+mn-ea"/>
                        </a:rPr>
                        <a:t>2</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200" b="0" i="0" dirty="0">
                          <a:solidFill>
                            <a:srgbClr val="000000"/>
                          </a:solidFill>
                          <a:effectLst/>
                          <a:latin typeface="+mn-ea"/>
                          <a:ea typeface="+mn-ea"/>
                        </a:rPr>
                        <a:t>产品系列</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r>
                        <a:rPr lang="en-US" altLang="zh-CN" sz="1200" b="0" i="0" dirty="0">
                          <a:solidFill>
                            <a:srgbClr val="000000"/>
                          </a:solidFill>
                          <a:effectLst/>
                          <a:latin typeface="+mn-ea"/>
                          <a:ea typeface="+mn-ea"/>
                        </a:rPr>
                        <a:t>3</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fontAlgn="ctr" latinLnBrk="0"/>
                      <a:r>
                        <a:rPr lang="en-US" altLang="zh-CN" sz="1200" b="0" i="0" dirty="0">
                          <a:solidFill>
                            <a:srgbClr val="000000"/>
                          </a:solidFill>
                          <a:effectLst/>
                          <a:latin typeface="+mn-ea"/>
                          <a:ea typeface="+mn-ea"/>
                        </a:rPr>
                        <a:t>5</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所有产品系列均可以确定；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4</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产品系列</a:t>
                      </a:r>
                      <a:r>
                        <a:rPr lang="en-US" altLang="zh-CN" sz="1200" b="0" i="0" dirty="0">
                          <a:solidFill>
                            <a:srgbClr val="000000"/>
                          </a:solidFill>
                          <a:effectLst/>
                          <a:latin typeface="+mn-ea"/>
                          <a:ea typeface="+mn-ea"/>
                        </a:rPr>
                        <a:t>80%</a:t>
                      </a:r>
                      <a:r>
                        <a:rPr lang="zh-CN" altLang="en-US" sz="1200" b="0" i="0" dirty="0">
                          <a:solidFill>
                            <a:srgbClr val="000000"/>
                          </a:solidFill>
                          <a:effectLst/>
                          <a:latin typeface="+mn-ea"/>
                          <a:ea typeface="+mn-ea"/>
                        </a:rPr>
                        <a:t>以上可以确定；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3</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产品系列</a:t>
                      </a:r>
                      <a:r>
                        <a:rPr lang="en-US" altLang="zh-CN" sz="1200" b="0" i="0" dirty="0">
                          <a:solidFill>
                            <a:srgbClr val="000000"/>
                          </a:solidFill>
                          <a:effectLst/>
                          <a:latin typeface="+mn-ea"/>
                          <a:ea typeface="+mn-ea"/>
                        </a:rPr>
                        <a:t>50%</a:t>
                      </a:r>
                      <a:r>
                        <a:rPr lang="zh-CN" altLang="en-US" sz="1200" b="0" i="0" dirty="0">
                          <a:solidFill>
                            <a:srgbClr val="000000"/>
                          </a:solidFill>
                          <a:effectLst/>
                          <a:latin typeface="+mn-ea"/>
                          <a:ea typeface="+mn-ea"/>
                        </a:rPr>
                        <a:t>以上可以确定；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0</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FFF"/>
                    </a:solidFill>
                  </a:tcPr>
                </a:tc>
                <a:tc>
                  <a:txBody>
                    <a:bodyPr/>
                    <a:lstStyle/>
                    <a:p>
                      <a:pPr algn="ctr" fontAlgn="ctr" latinLnBrk="0"/>
                      <a:r>
                        <a:rPr lang="en-US" altLang="zh-CN" sz="1200" b="0" i="0">
                          <a:solidFill>
                            <a:srgbClr val="000000"/>
                          </a:solidFill>
                          <a:effectLst/>
                          <a:latin typeface="+mn-ea"/>
                          <a:ea typeface="+mn-ea"/>
                        </a:rPr>
                        <a:t>20%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a:solidFill>
                            <a:srgbClr val="000000"/>
                          </a:solidFill>
                          <a:effectLst/>
                          <a:latin typeface="+mn-ea"/>
                          <a:ea typeface="+mn-ea"/>
                        </a:rPr>
                        <a:t>0.6</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200" b="0" i="0" dirty="0">
                          <a:solidFill>
                            <a:srgbClr val="000000"/>
                          </a:solidFill>
                          <a:effectLst/>
                          <a:latin typeface="+mn-ea"/>
                          <a:ea typeface="+mn-ea"/>
                        </a:rPr>
                        <a:t>5</a:t>
                      </a:r>
                      <a:r>
                        <a:rPr lang="zh-CN" altLang="en-US" sz="1200" b="0" i="0" dirty="0">
                          <a:solidFill>
                            <a:srgbClr val="000000"/>
                          </a:solidFill>
                          <a:effectLst/>
                          <a:latin typeface="+mn-ea"/>
                          <a:ea typeface="+mn-ea"/>
                        </a:rPr>
                        <a:t>分：技术路线已写进招标文件。</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4</a:t>
                      </a:r>
                      <a:r>
                        <a:rPr lang="zh-CN" altLang="en-US" sz="1200" b="0" i="0" dirty="0">
                          <a:solidFill>
                            <a:srgbClr val="000000"/>
                          </a:solidFill>
                          <a:effectLst/>
                          <a:latin typeface="+mn-ea"/>
                          <a:ea typeface="+mn-ea"/>
                        </a:rPr>
                        <a:t>分：决策者已经确定技术路线。</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3</a:t>
                      </a:r>
                      <a:r>
                        <a:rPr lang="zh-CN" altLang="en-US" sz="1200" b="0" i="0" dirty="0">
                          <a:solidFill>
                            <a:srgbClr val="000000"/>
                          </a:solidFill>
                          <a:effectLst/>
                          <a:latin typeface="+mn-ea"/>
                          <a:ea typeface="+mn-ea"/>
                        </a:rPr>
                        <a:t>分：我司主推技术路线已经明确。</a:t>
                      </a:r>
                      <a:br>
                        <a:rPr lang="zh-CN" altLang="en-US" sz="1200" b="0" i="0" dirty="0">
                          <a:solidFill>
                            <a:srgbClr val="000000"/>
                          </a:solidFill>
                          <a:effectLst/>
                          <a:latin typeface="+mn-ea"/>
                          <a:ea typeface="+mn-ea"/>
                        </a:rPr>
                      </a:br>
                      <a:endParaRPr lang="en-US" altLang="zh-CN" sz="1200" b="0" i="0" dirty="0">
                        <a:solidFill>
                          <a:srgbClr val="000000"/>
                        </a:solidFill>
                        <a:effectLst/>
                        <a:latin typeface="+mn-ea"/>
                        <a:ea typeface="+mn-ea"/>
                      </a:endParaRPr>
                    </a:p>
                    <a:p>
                      <a:pPr fontAlgn="ctr" latinLnBrk="0"/>
                      <a:r>
                        <a:rPr lang="zh-CN" altLang="en-US" sz="900" b="0" i="0" dirty="0">
                          <a:solidFill>
                            <a:srgbClr val="000000"/>
                          </a:solidFill>
                          <a:effectLst/>
                          <a:latin typeface="+mn-ea"/>
                          <a:ea typeface="+mn-ea"/>
                        </a:rPr>
                        <a:t>注：产品系列的定义以配置器为准。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 xmlns:a16="http://schemas.microsoft.com/office/drawing/2014/main" val="10002"/>
                  </a:ext>
                </a:extLst>
              </a:tr>
              <a:tr h="983017">
                <a:tc vMerge="1">
                  <a:txBody>
                    <a:bodyPr/>
                    <a:lstStyle/>
                    <a:p>
                      <a:endParaRPr lang="zh-CN" altLang="en-US"/>
                    </a:p>
                  </a:txBody>
                  <a:tcPr/>
                </a:tc>
                <a:tc>
                  <a:txBody>
                    <a:bodyPr/>
                    <a:lstStyle/>
                    <a:p>
                      <a:pPr algn="ctr" fontAlgn="ctr" latinLnBrk="0"/>
                      <a:r>
                        <a:rPr lang="en-US" altLang="zh-CN" sz="1200" b="0" i="0">
                          <a:solidFill>
                            <a:srgbClr val="000000"/>
                          </a:solidFill>
                          <a:effectLst/>
                          <a:latin typeface="+mn-ea"/>
                          <a:ea typeface="+mn-ea"/>
                        </a:rPr>
                        <a:t>3</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200" b="0" i="0">
                          <a:solidFill>
                            <a:srgbClr val="000000"/>
                          </a:solidFill>
                          <a:effectLst/>
                          <a:latin typeface="+mn-ea"/>
                          <a:ea typeface="+mn-ea"/>
                        </a:rPr>
                        <a:t>产品型号</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latin typeface="+mn-ea"/>
                          <a:ea typeface="+mn-ea"/>
                        </a:rPr>
                        <a:t>3</a:t>
                      </a:r>
                      <a:endParaRPr lang="zh-CN" altLang="en-US" sz="120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200" b="0" i="0" dirty="0">
                          <a:solidFill>
                            <a:srgbClr val="000000"/>
                          </a:solidFill>
                          <a:effectLst/>
                          <a:latin typeface="+mn-ea"/>
                          <a:ea typeface="+mn-ea"/>
                        </a:rPr>
                        <a:t>5</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所有产品型号均可以确定；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4</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产品型号</a:t>
                      </a:r>
                      <a:r>
                        <a:rPr lang="en-US" altLang="zh-CN" sz="1200" b="0" i="0" dirty="0">
                          <a:solidFill>
                            <a:srgbClr val="000000"/>
                          </a:solidFill>
                          <a:effectLst/>
                          <a:latin typeface="+mn-ea"/>
                          <a:ea typeface="+mn-ea"/>
                        </a:rPr>
                        <a:t>80%</a:t>
                      </a:r>
                      <a:r>
                        <a:rPr lang="zh-CN" altLang="en-US" sz="1200" b="0" i="0" dirty="0">
                          <a:solidFill>
                            <a:srgbClr val="000000"/>
                          </a:solidFill>
                          <a:effectLst/>
                          <a:latin typeface="+mn-ea"/>
                          <a:ea typeface="+mn-ea"/>
                        </a:rPr>
                        <a:t>以上可以确定；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3</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产品型号</a:t>
                      </a:r>
                      <a:r>
                        <a:rPr lang="en-US" altLang="zh-CN" sz="1200" b="0" i="0" dirty="0">
                          <a:solidFill>
                            <a:srgbClr val="000000"/>
                          </a:solidFill>
                          <a:effectLst/>
                          <a:latin typeface="+mn-ea"/>
                          <a:ea typeface="+mn-ea"/>
                        </a:rPr>
                        <a:t>50%</a:t>
                      </a:r>
                      <a:r>
                        <a:rPr lang="zh-CN" altLang="en-US" sz="1200" b="0" i="0" dirty="0">
                          <a:solidFill>
                            <a:srgbClr val="000000"/>
                          </a:solidFill>
                          <a:effectLst/>
                          <a:latin typeface="+mn-ea"/>
                          <a:ea typeface="+mn-ea"/>
                        </a:rPr>
                        <a:t>以上可以确定；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0</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a:solidFill>
                            <a:srgbClr val="000000"/>
                          </a:solidFill>
                          <a:effectLst/>
                          <a:latin typeface="+mn-ea"/>
                          <a:ea typeface="+mn-ea"/>
                        </a:rPr>
                        <a:t>30%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latin typeface="+mn-ea"/>
                          <a:ea typeface="+mn-ea"/>
                        </a:rPr>
                        <a:t>0.9</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200" b="0" i="0">
                          <a:solidFill>
                            <a:srgbClr val="000000"/>
                          </a:solidFill>
                          <a:effectLst/>
                          <a:latin typeface="+mn-ea"/>
                          <a:ea typeface="+mn-ea"/>
                        </a:rPr>
                        <a:t>5</a:t>
                      </a:r>
                      <a:r>
                        <a:rPr lang="zh-CN" altLang="en-US" sz="1200" b="0" i="0">
                          <a:solidFill>
                            <a:srgbClr val="000000"/>
                          </a:solidFill>
                          <a:effectLst/>
                          <a:latin typeface="+mn-ea"/>
                          <a:ea typeface="+mn-ea"/>
                        </a:rPr>
                        <a:t>分：产品技术参数已写进招标文件。</a:t>
                      </a:r>
                      <a:br>
                        <a:rPr lang="zh-CN" altLang="en-US" sz="1200" b="0" i="0">
                          <a:solidFill>
                            <a:srgbClr val="000000"/>
                          </a:solidFill>
                          <a:effectLst/>
                          <a:latin typeface="+mn-ea"/>
                          <a:ea typeface="+mn-ea"/>
                        </a:rPr>
                      </a:br>
                      <a:r>
                        <a:rPr lang="en-US" altLang="zh-CN" sz="1200" b="0" i="0">
                          <a:solidFill>
                            <a:srgbClr val="000000"/>
                          </a:solidFill>
                          <a:effectLst/>
                          <a:latin typeface="+mn-ea"/>
                          <a:ea typeface="+mn-ea"/>
                        </a:rPr>
                        <a:t>4</a:t>
                      </a:r>
                      <a:r>
                        <a:rPr lang="zh-CN" altLang="en-US" sz="1200" b="0" i="0">
                          <a:solidFill>
                            <a:srgbClr val="000000"/>
                          </a:solidFill>
                          <a:effectLst/>
                          <a:latin typeface="+mn-ea"/>
                          <a:ea typeface="+mn-ea"/>
                        </a:rPr>
                        <a:t>分：评估者已经确定产品技术要求。</a:t>
                      </a:r>
                      <a:br>
                        <a:rPr lang="zh-CN" altLang="en-US" sz="1200" b="0" i="0">
                          <a:solidFill>
                            <a:srgbClr val="000000"/>
                          </a:solidFill>
                          <a:effectLst/>
                          <a:latin typeface="+mn-ea"/>
                          <a:ea typeface="+mn-ea"/>
                        </a:rPr>
                      </a:br>
                      <a:r>
                        <a:rPr lang="en-US" altLang="zh-CN" sz="1200" b="0" i="0">
                          <a:solidFill>
                            <a:srgbClr val="000000"/>
                          </a:solidFill>
                          <a:effectLst/>
                          <a:latin typeface="+mn-ea"/>
                          <a:ea typeface="+mn-ea"/>
                        </a:rPr>
                        <a:t>3</a:t>
                      </a:r>
                      <a:r>
                        <a:rPr lang="zh-CN" altLang="en-US" sz="1200" b="0" i="0">
                          <a:solidFill>
                            <a:srgbClr val="000000"/>
                          </a:solidFill>
                          <a:effectLst/>
                          <a:latin typeface="+mn-ea"/>
                          <a:ea typeface="+mn-ea"/>
                        </a:rPr>
                        <a:t>分：我司主推产品型号已经明确。</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 xmlns:a16="http://schemas.microsoft.com/office/drawing/2014/main" val="10003"/>
                  </a:ext>
                </a:extLst>
              </a:tr>
              <a:tr h="983017">
                <a:tc>
                  <a:txBody>
                    <a:bodyPr/>
                    <a:lstStyle/>
                    <a:p>
                      <a:pPr algn="ctr" fontAlgn="ctr" latinLnBrk="0"/>
                      <a:r>
                        <a:rPr lang="zh-CN" altLang="en-US" sz="1200" b="0" i="0">
                          <a:solidFill>
                            <a:srgbClr val="000000"/>
                          </a:solidFill>
                          <a:effectLst/>
                          <a:latin typeface="+mn-ea"/>
                          <a:ea typeface="+mn-ea"/>
                        </a:rPr>
                        <a:t>性能容量</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200" b="0" i="0">
                          <a:effectLst/>
                          <a:latin typeface="+mn-ea"/>
                          <a:ea typeface="+mn-ea"/>
                        </a:rPr>
                        <a:t>4</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200" b="0" i="0">
                          <a:solidFill>
                            <a:srgbClr val="000000"/>
                          </a:solidFill>
                          <a:effectLst/>
                          <a:latin typeface="+mn-ea"/>
                          <a:ea typeface="+mn-ea"/>
                        </a:rPr>
                        <a:t>产品数量</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latin typeface="+mn-ea"/>
                          <a:ea typeface="+mn-ea"/>
                        </a:rPr>
                        <a:t>3</a:t>
                      </a:r>
                      <a:endParaRPr lang="zh-CN" altLang="en-US" sz="120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en-US" altLang="zh-CN" sz="1200" b="0" i="0" dirty="0">
                          <a:solidFill>
                            <a:srgbClr val="000000"/>
                          </a:solidFill>
                          <a:effectLst/>
                          <a:latin typeface="+mn-ea"/>
                          <a:ea typeface="+mn-ea"/>
                        </a:rPr>
                        <a:t>5</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所有产品数量均确定；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4</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产品数量</a:t>
                      </a:r>
                      <a:r>
                        <a:rPr lang="en-US" altLang="zh-CN" sz="1200" b="0" i="0" dirty="0">
                          <a:solidFill>
                            <a:srgbClr val="000000"/>
                          </a:solidFill>
                          <a:effectLst/>
                          <a:latin typeface="+mn-ea"/>
                          <a:ea typeface="+mn-ea"/>
                        </a:rPr>
                        <a:t>80%</a:t>
                      </a:r>
                      <a:r>
                        <a:rPr lang="zh-CN" altLang="en-US" sz="1200" b="0" i="0" dirty="0">
                          <a:solidFill>
                            <a:srgbClr val="000000"/>
                          </a:solidFill>
                          <a:effectLst/>
                          <a:latin typeface="+mn-ea"/>
                          <a:ea typeface="+mn-ea"/>
                        </a:rPr>
                        <a:t>以上可以确定；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3</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产品数量</a:t>
                      </a:r>
                      <a:r>
                        <a:rPr lang="en-US" altLang="zh-CN" sz="1200" b="0" i="0" dirty="0">
                          <a:solidFill>
                            <a:srgbClr val="000000"/>
                          </a:solidFill>
                          <a:effectLst/>
                          <a:latin typeface="+mn-ea"/>
                          <a:ea typeface="+mn-ea"/>
                        </a:rPr>
                        <a:t>50%</a:t>
                      </a:r>
                      <a:r>
                        <a:rPr lang="zh-CN" altLang="en-US" sz="1200" b="0" i="0" dirty="0">
                          <a:solidFill>
                            <a:srgbClr val="000000"/>
                          </a:solidFill>
                          <a:effectLst/>
                          <a:latin typeface="+mn-ea"/>
                          <a:ea typeface="+mn-ea"/>
                        </a:rPr>
                        <a:t>以上可以确定；</a:t>
                      </a:r>
                      <a:br>
                        <a:rPr lang="zh-CN" altLang="en-US" sz="1200" b="0" i="0" dirty="0">
                          <a:solidFill>
                            <a:srgbClr val="000000"/>
                          </a:solidFill>
                          <a:effectLst/>
                          <a:latin typeface="+mn-ea"/>
                          <a:ea typeface="+mn-ea"/>
                        </a:rPr>
                      </a:br>
                      <a:r>
                        <a:rPr lang="en-US" altLang="zh-CN" sz="1200" b="0" i="0" dirty="0">
                          <a:solidFill>
                            <a:srgbClr val="000000"/>
                          </a:solidFill>
                          <a:effectLst/>
                          <a:latin typeface="+mn-ea"/>
                          <a:ea typeface="+mn-ea"/>
                        </a:rPr>
                        <a:t>0</a:t>
                      </a:r>
                      <a:r>
                        <a:rPr lang="zh-CN" altLang="en-US" sz="1200" b="0" i="0" dirty="0">
                          <a:solidFill>
                            <a:srgbClr val="000000"/>
                          </a:solidFill>
                          <a:effectLst/>
                          <a:latin typeface="+mn-ea"/>
                          <a:ea typeface="+mn-ea"/>
                        </a:rPr>
                        <a:t>分</a:t>
                      </a:r>
                      <a:r>
                        <a:rPr lang="en-US" altLang="zh-CN" sz="1200" b="0" i="0" dirty="0">
                          <a:solidFill>
                            <a:srgbClr val="000000"/>
                          </a:solidFill>
                          <a:effectLst/>
                          <a:latin typeface="+mn-ea"/>
                          <a:ea typeface="+mn-ea"/>
                        </a:rPr>
                        <a:t>--</a:t>
                      </a:r>
                      <a:r>
                        <a:rPr lang="zh-CN" altLang="en-US" sz="1200" b="0" i="0" dirty="0">
                          <a:solidFill>
                            <a:srgbClr val="000000"/>
                          </a:solidFill>
                          <a:effectLst/>
                          <a:latin typeface="+mn-ea"/>
                          <a:ea typeface="+mn-ea"/>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latin typeface="+mn-ea"/>
                          <a:ea typeface="+mn-ea"/>
                        </a:rPr>
                        <a:t>30%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latin typeface="+mn-ea"/>
                          <a:ea typeface="+mn-ea"/>
                        </a:rPr>
                        <a:t>0.9</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200" b="0" i="0">
                          <a:solidFill>
                            <a:srgbClr val="000000"/>
                          </a:solidFill>
                          <a:effectLst/>
                          <a:latin typeface="+mn-ea"/>
                          <a:ea typeface="+mn-ea"/>
                        </a:rPr>
                        <a:t>5</a:t>
                      </a:r>
                      <a:r>
                        <a:rPr lang="zh-CN" altLang="en-US" sz="1200" b="0" i="0">
                          <a:solidFill>
                            <a:srgbClr val="000000"/>
                          </a:solidFill>
                          <a:effectLst/>
                          <a:latin typeface="+mn-ea"/>
                          <a:ea typeface="+mn-ea"/>
                        </a:rPr>
                        <a:t>分：产品数量已写进招标文件。</a:t>
                      </a:r>
                      <a:br>
                        <a:rPr lang="zh-CN" altLang="en-US" sz="1200" b="0" i="0">
                          <a:solidFill>
                            <a:srgbClr val="000000"/>
                          </a:solidFill>
                          <a:effectLst/>
                          <a:latin typeface="+mn-ea"/>
                          <a:ea typeface="+mn-ea"/>
                        </a:rPr>
                      </a:br>
                      <a:r>
                        <a:rPr lang="en-US" altLang="zh-CN" sz="1200" b="0" i="0">
                          <a:solidFill>
                            <a:srgbClr val="000000"/>
                          </a:solidFill>
                          <a:effectLst/>
                          <a:latin typeface="+mn-ea"/>
                          <a:ea typeface="+mn-ea"/>
                        </a:rPr>
                        <a:t>4</a:t>
                      </a:r>
                      <a:r>
                        <a:rPr lang="zh-CN" altLang="en-US" sz="1200" b="0" i="0">
                          <a:solidFill>
                            <a:srgbClr val="000000"/>
                          </a:solidFill>
                          <a:effectLst/>
                          <a:latin typeface="+mn-ea"/>
                          <a:ea typeface="+mn-ea"/>
                        </a:rPr>
                        <a:t>分：评估者已经确定产品数量。</a:t>
                      </a:r>
                      <a:br>
                        <a:rPr lang="zh-CN" altLang="en-US" sz="1200" b="0" i="0">
                          <a:solidFill>
                            <a:srgbClr val="000000"/>
                          </a:solidFill>
                          <a:effectLst/>
                          <a:latin typeface="+mn-ea"/>
                          <a:ea typeface="+mn-ea"/>
                        </a:rPr>
                      </a:br>
                      <a:r>
                        <a:rPr lang="en-US" altLang="zh-CN" sz="1200" b="0" i="0">
                          <a:solidFill>
                            <a:srgbClr val="000000"/>
                          </a:solidFill>
                          <a:effectLst/>
                          <a:latin typeface="+mn-ea"/>
                          <a:ea typeface="+mn-ea"/>
                        </a:rPr>
                        <a:t>3</a:t>
                      </a:r>
                      <a:r>
                        <a:rPr lang="zh-CN" altLang="en-US" sz="1200" b="0" i="0">
                          <a:solidFill>
                            <a:srgbClr val="000000"/>
                          </a:solidFill>
                          <a:effectLst/>
                          <a:latin typeface="+mn-ea"/>
                          <a:ea typeface="+mn-ea"/>
                        </a:rPr>
                        <a:t>分：我司已经评估出产品数量。</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 xmlns:a16="http://schemas.microsoft.com/office/drawing/2014/main" val="10004"/>
                  </a:ext>
                </a:extLst>
              </a:tr>
              <a:tr h="356860">
                <a:tc gridSpan="6">
                  <a:txBody>
                    <a:bodyPr/>
                    <a:lstStyle/>
                    <a:p>
                      <a:pPr algn="ctr" fontAlgn="ctr" latinLnBrk="0"/>
                      <a:r>
                        <a:rPr lang="zh-CN" altLang="en-US" sz="1200" b="0" i="0" dirty="0">
                          <a:solidFill>
                            <a:srgbClr val="000000"/>
                          </a:solidFill>
                          <a:effectLst/>
                          <a:latin typeface="+mn-ea"/>
                          <a:ea typeface="+mn-ea"/>
                        </a:rPr>
                        <a:t>自评可信度合计得分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E7802"/>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latinLnBrk="0"/>
                      <a:r>
                        <a:rPr lang="en-US" altLang="zh-CN" sz="1200" b="0" i="0" dirty="0">
                          <a:solidFill>
                            <a:srgbClr val="000000"/>
                          </a:solidFill>
                          <a:effectLst/>
                          <a:latin typeface="+mn-ea"/>
                          <a:ea typeface="+mn-ea"/>
                        </a:rPr>
                        <a:t>60.00%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endParaRPr lang="zh-CN" altLang="en-US" sz="120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 xmlns:a16="http://schemas.microsoft.com/office/drawing/2014/main" val="10005"/>
                  </a:ext>
                </a:extLst>
              </a:tr>
            </a:tbl>
          </a:graphicData>
        </a:graphic>
      </p:graphicFrame>
    </p:spTree>
    <p:extLst>
      <p:ext uri="{BB962C8B-B14F-4D97-AF65-F5344CB8AC3E}">
        <p14:creationId xmlns:p14="http://schemas.microsoft.com/office/powerpoint/2010/main" val="1687910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410119" y="165463"/>
            <a:ext cx="4513580" cy="495935"/>
          </a:xfrm>
        </p:spPr>
        <p:txBody>
          <a:bodyPr/>
          <a:lstStyle/>
          <a:p>
            <a:r>
              <a:rPr lang="zh-CN" altLang="en-US" dirty="0"/>
              <a:t>标准二：</a:t>
            </a:r>
            <a:r>
              <a:rPr lang="zh-CN" altLang="en-US" sz="2400" dirty="0"/>
              <a:t>进漏斗内可信度标准</a:t>
            </a:r>
            <a:endParaRPr lang="en-US" altLang="zh-CN" sz="2400" dirty="0"/>
          </a:p>
        </p:txBody>
      </p:sp>
      <p:sp>
        <p:nvSpPr>
          <p:cNvPr id="7" name="矩形 6"/>
          <p:cNvSpPr/>
          <p:nvPr/>
        </p:nvSpPr>
        <p:spPr>
          <a:xfrm>
            <a:off x="410119" y="1113532"/>
            <a:ext cx="11442929" cy="111243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519763" y="1232772"/>
            <a:ext cx="11133375" cy="873957"/>
          </a:xfrm>
          <a:prstGeom prst="rect">
            <a:avLst/>
          </a:prstGeom>
          <a:noFill/>
        </p:spPr>
        <p:txBody>
          <a:bodyPr wrap="square" rtlCol="0">
            <a:spAutoFit/>
          </a:bodyPr>
          <a:lstStyle/>
          <a:p>
            <a:pPr>
              <a:lnSpc>
                <a:spcPct val="150000"/>
              </a:lnSpc>
            </a:pPr>
            <a:r>
              <a:rPr lang="zh-CN" altLang="en-US" dirty="0"/>
              <a:t>进漏斗时售前根据“可信度自评打分标准”对产品清单做可信度自评， 当“</a:t>
            </a:r>
            <a:r>
              <a:rPr lang="zh-CN" altLang="en-US" dirty="0">
                <a:solidFill>
                  <a:schemeClr val="accent4">
                    <a:lumMod val="50000"/>
                  </a:schemeClr>
                </a:solidFill>
              </a:rPr>
              <a:t>预算金额</a:t>
            </a:r>
            <a:r>
              <a:rPr lang="zh-CN" altLang="en-US" dirty="0"/>
              <a:t>”和“</a:t>
            </a:r>
            <a:r>
              <a:rPr lang="zh-CN" altLang="en-US" dirty="0">
                <a:solidFill>
                  <a:schemeClr val="accent4">
                    <a:lumMod val="50000"/>
                  </a:schemeClr>
                </a:solidFill>
              </a:rPr>
              <a:t>产品系列</a:t>
            </a:r>
            <a:r>
              <a:rPr lang="zh-CN" altLang="en-US" dirty="0"/>
              <a:t>”两项均不低于</a:t>
            </a:r>
            <a:r>
              <a:rPr lang="en-US" altLang="zh-CN" dirty="0"/>
              <a:t>3</a:t>
            </a:r>
            <a:r>
              <a:rPr lang="zh-CN" altLang="en-US" dirty="0"/>
              <a:t>分时，才可以把产品清单分享销售。销售导入售前分享的清单后提交漏斗申请。</a:t>
            </a:r>
          </a:p>
        </p:txBody>
      </p:sp>
      <p:graphicFrame>
        <p:nvGraphicFramePr>
          <p:cNvPr id="10" name="表格 9">
            <a:extLst>
              <a:ext uri="{FF2B5EF4-FFF2-40B4-BE49-F238E27FC236}">
                <a16:creationId xmlns="" xmlns:a16="http://schemas.microsoft.com/office/drawing/2014/main" id="{04A3B24D-8728-83A6-045D-CF1CEFE691CA}"/>
              </a:ext>
            </a:extLst>
          </p:cNvPr>
          <p:cNvGraphicFramePr>
            <a:graphicFrameLocks noGrp="1"/>
          </p:cNvGraphicFramePr>
          <p:nvPr>
            <p:extLst>
              <p:ext uri="{D42A27DB-BD31-4B8C-83A1-F6EECF244321}">
                <p14:modId xmlns:p14="http://schemas.microsoft.com/office/powerpoint/2010/main" val="776736760"/>
              </p:ext>
            </p:extLst>
          </p:nvPr>
        </p:nvGraphicFramePr>
        <p:xfrm>
          <a:off x="749071" y="2444595"/>
          <a:ext cx="11046913" cy="4173431"/>
        </p:xfrm>
        <a:graphic>
          <a:graphicData uri="http://schemas.openxmlformats.org/drawingml/2006/table">
            <a:tbl>
              <a:tblPr/>
              <a:tblGrid>
                <a:gridCol w="858156">
                  <a:extLst>
                    <a:ext uri="{9D8B030D-6E8A-4147-A177-3AD203B41FA5}">
                      <a16:colId xmlns="" xmlns:a16="http://schemas.microsoft.com/office/drawing/2014/main" val="20000"/>
                    </a:ext>
                  </a:extLst>
                </a:gridCol>
                <a:gridCol w="480366">
                  <a:extLst>
                    <a:ext uri="{9D8B030D-6E8A-4147-A177-3AD203B41FA5}">
                      <a16:colId xmlns="" xmlns:a16="http://schemas.microsoft.com/office/drawing/2014/main" val="20001"/>
                    </a:ext>
                  </a:extLst>
                </a:gridCol>
                <a:gridCol w="888150">
                  <a:extLst>
                    <a:ext uri="{9D8B030D-6E8A-4147-A177-3AD203B41FA5}">
                      <a16:colId xmlns="" xmlns:a16="http://schemas.microsoft.com/office/drawing/2014/main" val="20002"/>
                    </a:ext>
                  </a:extLst>
                </a:gridCol>
                <a:gridCol w="963242">
                  <a:extLst>
                    <a:ext uri="{9D8B030D-6E8A-4147-A177-3AD203B41FA5}">
                      <a16:colId xmlns="" xmlns:a16="http://schemas.microsoft.com/office/drawing/2014/main" val="20003"/>
                    </a:ext>
                  </a:extLst>
                </a:gridCol>
                <a:gridCol w="3243971">
                  <a:extLst>
                    <a:ext uri="{9D8B030D-6E8A-4147-A177-3AD203B41FA5}">
                      <a16:colId xmlns="" xmlns:a16="http://schemas.microsoft.com/office/drawing/2014/main" val="20004"/>
                    </a:ext>
                  </a:extLst>
                </a:gridCol>
                <a:gridCol w="774441">
                  <a:extLst>
                    <a:ext uri="{9D8B030D-6E8A-4147-A177-3AD203B41FA5}">
                      <a16:colId xmlns="" xmlns:a16="http://schemas.microsoft.com/office/drawing/2014/main" val="20005"/>
                    </a:ext>
                  </a:extLst>
                </a:gridCol>
                <a:gridCol w="914400">
                  <a:extLst>
                    <a:ext uri="{9D8B030D-6E8A-4147-A177-3AD203B41FA5}">
                      <a16:colId xmlns="" xmlns:a16="http://schemas.microsoft.com/office/drawing/2014/main" val="20006"/>
                    </a:ext>
                  </a:extLst>
                </a:gridCol>
                <a:gridCol w="2924187">
                  <a:extLst>
                    <a:ext uri="{9D8B030D-6E8A-4147-A177-3AD203B41FA5}">
                      <a16:colId xmlns="" xmlns:a16="http://schemas.microsoft.com/office/drawing/2014/main" val="20007"/>
                    </a:ext>
                  </a:extLst>
                </a:gridCol>
              </a:tblGrid>
              <a:tr h="368182">
                <a:tc>
                  <a:txBody>
                    <a:bodyPr/>
                    <a:lstStyle/>
                    <a:p>
                      <a:pPr algn="ctr" fontAlgn="ctr" latinLnBrk="0"/>
                      <a:r>
                        <a:rPr lang="zh-CN" altLang="en-US" sz="1050" b="1" i="0" dirty="0">
                          <a:solidFill>
                            <a:srgbClr val="000000"/>
                          </a:solidFill>
                          <a:effectLst/>
                          <a:latin typeface="+mn-ea"/>
                          <a:ea typeface="+mn-ea"/>
                        </a:rPr>
                        <a:t>打分类别 </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50" b="1" i="0" dirty="0">
                          <a:solidFill>
                            <a:srgbClr val="000000"/>
                          </a:solidFill>
                          <a:effectLst/>
                          <a:latin typeface="+mn-ea"/>
                          <a:ea typeface="+mn-ea"/>
                        </a:rPr>
                        <a:t>序号</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50" b="1" i="0" dirty="0">
                          <a:solidFill>
                            <a:srgbClr val="000000"/>
                          </a:solidFill>
                          <a:effectLst/>
                          <a:latin typeface="+mn-ea"/>
                          <a:ea typeface="+mn-ea"/>
                        </a:rPr>
                        <a:t>打分项</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50" b="1" i="0" dirty="0">
                          <a:solidFill>
                            <a:srgbClr val="000000"/>
                          </a:solidFill>
                          <a:effectLst/>
                          <a:latin typeface="+mn-ea"/>
                          <a:ea typeface="+mn-ea"/>
                        </a:rPr>
                        <a:t>自评打分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50" b="1" i="0" dirty="0">
                          <a:solidFill>
                            <a:srgbClr val="000000"/>
                          </a:solidFill>
                          <a:effectLst/>
                          <a:latin typeface="+mn-ea"/>
                          <a:ea typeface="+mn-ea"/>
                        </a:rPr>
                        <a:t>自评打分依据</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50" b="1" i="0">
                          <a:solidFill>
                            <a:srgbClr val="000000"/>
                          </a:solidFill>
                          <a:effectLst/>
                          <a:latin typeface="+mn-ea"/>
                          <a:ea typeface="+mn-ea"/>
                        </a:rPr>
                        <a:t>权重</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50" b="1" i="0">
                          <a:solidFill>
                            <a:srgbClr val="000000"/>
                          </a:solidFill>
                          <a:effectLst/>
                          <a:latin typeface="+mn-ea"/>
                          <a:ea typeface="+mn-ea"/>
                        </a:rPr>
                        <a:t>打分结果</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050" b="1" i="0" dirty="0">
                          <a:solidFill>
                            <a:srgbClr val="000000"/>
                          </a:solidFill>
                          <a:effectLst/>
                          <a:latin typeface="+mn-ea"/>
                          <a:ea typeface="+mn-ea"/>
                        </a:rPr>
                        <a:t>核查依据</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extLst>
                  <a:ext uri="{0D108BD9-81ED-4DB2-BD59-A6C34878D82A}">
                    <a16:rowId xmlns="" xmlns:a16="http://schemas.microsoft.com/office/drawing/2014/main" val="10000"/>
                  </a:ext>
                </a:extLst>
              </a:tr>
              <a:tr h="1015364">
                <a:tc>
                  <a:txBody>
                    <a:bodyPr/>
                    <a:lstStyle/>
                    <a:p>
                      <a:pPr algn="ctr" fontAlgn="ctr" latinLnBrk="0"/>
                      <a:r>
                        <a:rPr lang="zh-CN" altLang="en-US" sz="1050" b="0" i="0" dirty="0">
                          <a:solidFill>
                            <a:srgbClr val="000000"/>
                          </a:solidFill>
                          <a:effectLst/>
                          <a:latin typeface="+mn-ea"/>
                          <a:ea typeface="+mn-ea"/>
                        </a:rPr>
                        <a:t>项目预算</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050" b="0" i="0" dirty="0">
                          <a:solidFill>
                            <a:srgbClr val="000000"/>
                          </a:solidFill>
                          <a:effectLst/>
                          <a:latin typeface="+mn-ea"/>
                          <a:ea typeface="+mn-ea"/>
                        </a:rPr>
                        <a:t>1</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050" b="1" i="0" dirty="0">
                          <a:solidFill>
                            <a:srgbClr val="000000"/>
                          </a:solidFill>
                          <a:effectLst/>
                          <a:latin typeface="+mn-ea"/>
                          <a:ea typeface="+mn-ea"/>
                        </a:rPr>
                        <a:t>预算金额</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a:txBody>
                    <a:bodyPr/>
                    <a:lstStyle/>
                    <a:p>
                      <a:pPr algn="ctr" fontAlgn="ctr" latinLnBrk="0"/>
                      <a:r>
                        <a:rPr lang="en-US" altLang="zh-CN" sz="1050" b="0" i="0" dirty="0">
                          <a:solidFill>
                            <a:srgbClr val="000000"/>
                          </a:solidFill>
                          <a:effectLst/>
                          <a:latin typeface="+mn-ea"/>
                          <a:ea typeface="+mn-ea"/>
                        </a:rPr>
                        <a:t>3</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a:txBody>
                    <a:bodyPr/>
                    <a:lstStyle/>
                    <a:p>
                      <a:pPr fontAlgn="ctr" latinLnBrk="0"/>
                      <a:r>
                        <a:rPr lang="en-US" altLang="zh-CN" sz="1050" b="0" i="0" dirty="0">
                          <a:solidFill>
                            <a:srgbClr val="000000"/>
                          </a:solidFill>
                          <a:effectLst/>
                          <a:latin typeface="+mn-ea"/>
                          <a:ea typeface="+mn-ea"/>
                        </a:rPr>
                        <a:t>5</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我司相关预算，采购规则、历史采购价格及竞手价格策略确认。</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4</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我司相关预算明确。</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3</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项目整体预算确认，我司相关预算可估算。</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0</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050" b="0" i="0" dirty="0">
                          <a:solidFill>
                            <a:srgbClr val="000000"/>
                          </a:solidFill>
                          <a:effectLst/>
                          <a:latin typeface="+mn-ea"/>
                          <a:ea typeface="+mn-ea"/>
                        </a:rPr>
                        <a:t>20%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50" b="0" i="0" dirty="0">
                          <a:solidFill>
                            <a:srgbClr val="000000"/>
                          </a:solidFill>
                          <a:effectLst/>
                          <a:latin typeface="+mn-ea"/>
                          <a:ea typeface="+mn-ea"/>
                        </a:rPr>
                        <a:t>NA</a:t>
                      </a:r>
                      <a:endParaRPr lang="zh-CN" altLang="en-US" sz="105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050" b="0" i="0" dirty="0">
                          <a:solidFill>
                            <a:srgbClr val="000000"/>
                          </a:solidFill>
                          <a:effectLst/>
                          <a:latin typeface="+mn-ea"/>
                          <a:ea typeface="+mn-ea"/>
                        </a:rPr>
                        <a:t>以销售判断为准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 xmlns:a16="http://schemas.microsoft.com/office/drawing/2014/main" val="10001"/>
                  </a:ext>
                </a:extLst>
              </a:tr>
              <a:tr h="1056858">
                <a:tc rowSpan="2">
                  <a:txBody>
                    <a:bodyPr/>
                    <a:lstStyle/>
                    <a:p>
                      <a:pPr algn="ctr" fontAlgn="ctr" latinLnBrk="0"/>
                      <a:r>
                        <a:rPr lang="zh-CN" altLang="en-US" sz="1050" b="0" i="0" dirty="0">
                          <a:solidFill>
                            <a:srgbClr val="000000"/>
                          </a:solidFill>
                          <a:effectLst/>
                          <a:latin typeface="+mn-ea"/>
                          <a:ea typeface="+mn-ea"/>
                        </a:rPr>
                        <a:t>技术路线</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050" b="0" i="0">
                          <a:solidFill>
                            <a:srgbClr val="000000"/>
                          </a:solidFill>
                          <a:effectLst/>
                          <a:latin typeface="+mn-ea"/>
                          <a:ea typeface="+mn-ea"/>
                        </a:rPr>
                        <a:t>2</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050" b="1" i="0" dirty="0">
                          <a:solidFill>
                            <a:srgbClr val="000000"/>
                          </a:solidFill>
                          <a:effectLst/>
                          <a:latin typeface="+mn-ea"/>
                          <a:ea typeface="+mn-ea"/>
                        </a:rPr>
                        <a:t>产品系列</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a:txBody>
                    <a:bodyPr/>
                    <a:lstStyle/>
                    <a:p>
                      <a:pPr algn="ctr" fontAlgn="ctr" latinLnBrk="0"/>
                      <a:r>
                        <a:rPr lang="en-US" altLang="zh-CN" sz="1050" b="0" i="0" dirty="0">
                          <a:solidFill>
                            <a:srgbClr val="000000"/>
                          </a:solidFill>
                          <a:effectLst/>
                          <a:latin typeface="+mn-ea"/>
                          <a:ea typeface="+mn-ea"/>
                        </a:rPr>
                        <a:t>3</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a:txBody>
                    <a:bodyPr/>
                    <a:lstStyle/>
                    <a:p>
                      <a:pPr fontAlgn="ctr" latinLnBrk="0"/>
                      <a:r>
                        <a:rPr lang="en-US" altLang="zh-CN" sz="1050" b="0" i="0" dirty="0">
                          <a:solidFill>
                            <a:srgbClr val="000000"/>
                          </a:solidFill>
                          <a:effectLst/>
                          <a:latin typeface="+mn-ea"/>
                          <a:ea typeface="+mn-ea"/>
                        </a:rPr>
                        <a:t>5</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所有产品系列均可以确定；</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4</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产品系列</a:t>
                      </a:r>
                      <a:r>
                        <a:rPr lang="en-US" altLang="zh-CN" sz="1050" b="0" i="0" dirty="0">
                          <a:solidFill>
                            <a:srgbClr val="000000"/>
                          </a:solidFill>
                          <a:effectLst/>
                          <a:latin typeface="+mn-ea"/>
                          <a:ea typeface="+mn-ea"/>
                        </a:rPr>
                        <a:t>80%</a:t>
                      </a:r>
                      <a:r>
                        <a:rPr lang="zh-CN" altLang="en-US" sz="1050" b="0" i="0" dirty="0">
                          <a:solidFill>
                            <a:srgbClr val="000000"/>
                          </a:solidFill>
                          <a:effectLst/>
                          <a:latin typeface="+mn-ea"/>
                          <a:ea typeface="+mn-ea"/>
                        </a:rPr>
                        <a:t>以上可以确定；</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3</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产品系列</a:t>
                      </a:r>
                      <a:r>
                        <a:rPr lang="en-US" altLang="zh-CN" sz="1050" b="0" i="0" dirty="0">
                          <a:solidFill>
                            <a:srgbClr val="000000"/>
                          </a:solidFill>
                          <a:effectLst/>
                          <a:latin typeface="+mn-ea"/>
                          <a:ea typeface="+mn-ea"/>
                        </a:rPr>
                        <a:t>50%</a:t>
                      </a:r>
                      <a:r>
                        <a:rPr lang="zh-CN" altLang="en-US" sz="1050" b="0" i="0" dirty="0">
                          <a:solidFill>
                            <a:srgbClr val="000000"/>
                          </a:solidFill>
                          <a:effectLst/>
                          <a:latin typeface="+mn-ea"/>
                          <a:ea typeface="+mn-ea"/>
                        </a:rPr>
                        <a:t>以上可以确定；</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0</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FFF"/>
                    </a:solidFill>
                  </a:tcPr>
                </a:tc>
                <a:tc>
                  <a:txBody>
                    <a:bodyPr/>
                    <a:lstStyle/>
                    <a:p>
                      <a:pPr algn="ctr" fontAlgn="ctr" latinLnBrk="0"/>
                      <a:r>
                        <a:rPr lang="en-US" altLang="zh-CN" sz="1050" b="0" i="0">
                          <a:solidFill>
                            <a:srgbClr val="000000"/>
                          </a:solidFill>
                          <a:effectLst/>
                          <a:latin typeface="+mn-ea"/>
                          <a:ea typeface="+mn-ea"/>
                        </a:rPr>
                        <a:t>20%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50" b="0" i="0" dirty="0">
                          <a:solidFill>
                            <a:srgbClr val="000000"/>
                          </a:solidFill>
                          <a:effectLst/>
                          <a:latin typeface="+mn-ea"/>
                          <a:ea typeface="+mn-ea"/>
                        </a:rPr>
                        <a:t>NA</a:t>
                      </a:r>
                      <a:endParaRPr lang="zh-CN" altLang="en-US" sz="105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50" b="0" i="0" dirty="0">
                          <a:solidFill>
                            <a:srgbClr val="000000"/>
                          </a:solidFill>
                          <a:effectLst/>
                          <a:latin typeface="+mn-ea"/>
                          <a:ea typeface="+mn-ea"/>
                        </a:rPr>
                        <a:t>5</a:t>
                      </a:r>
                      <a:r>
                        <a:rPr lang="zh-CN" altLang="en-US" sz="1050" b="0" i="0" dirty="0">
                          <a:solidFill>
                            <a:srgbClr val="000000"/>
                          </a:solidFill>
                          <a:effectLst/>
                          <a:latin typeface="+mn-ea"/>
                          <a:ea typeface="+mn-ea"/>
                        </a:rPr>
                        <a:t>分：技术路线已写进招标文件。</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4</a:t>
                      </a:r>
                      <a:r>
                        <a:rPr lang="zh-CN" altLang="en-US" sz="1050" b="0" i="0" dirty="0">
                          <a:solidFill>
                            <a:srgbClr val="000000"/>
                          </a:solidFill>
                          <a:effectLst/>
                          <a:latin typeface="+mn-ea"/>
                          <a:ea typeface="+mn-ea"/>
                        </a:rPr>
                        <a:t>分：决策者已经确定技术路线。</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3</a:t>
                      </a:r>
                      <a:r>
                        <a:rPr lang="zh-CN" altLang="en-US" sz="1050" b="0" i="0" dirty="0">
                          <a:solidFill>
                            <a:srgbClr val="000000"/>
                          </a:solidFill>
                          <a:effectLst/>
                          <a:latin typeface="+mn-ea"/>
                          <a:ea typeface="+mn-ea"/>
                        </a:rPr>
                        <a:t>分：我司主推技术路线已经明确。</a:t>
                      </a:r>
                      <a:br>
                        <a:rPr lang="zh-CN" altLang="en-US" sz="1050" b="0" i="0" dirty="0">
                          <a:solidFill>
                            <a:srgbClr val="000000"/>
                          </a:solidFill>
                          <a:effectLst/>
                          <a:latin typeface="+mn-ea"/>
                          <a:ea typeface="+mn-ea"/>
                        </a:rPr>
                      </a:br>
                      <a:endParaRPr lang="en-US" altLang="zh-CN" sz="1050" b="0" i="0" dirty="0">
                        <a:solidFill>
                          <a:srgbClr val="000000"/>
                        </a:solidFill>
                        <a:effectLst/>
                        <a:latin typeface="+mn-ea"/>
                        <a:ea typeface="+mn-ea"/>
                      </a:endParaRPr>
                    </a:p>
                    <a:p>
                      <a:pPr fontAlgn="ctr" latinLnBrk="0"/>
                      <a:r>
                        <a:rPr lang="zh-CN" altLang="en-US" sz="700" b="0" i="0" dirty="0">
                          <a:solidFill>
                            <a:srgbClr val="000000"/>
                          </a:solidFill>
                          <a:effectLst/>
                          <a:latin typeface="+mn-ea"/>
                          <a:ea typeface="+mn-ea"/>
                        </a:rPr>
                        <a:t>注：产品系列的定义以配置器为准。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 xmlns:a16="http://schemas.microsoft.com/office/drawing/2014/main" val="10002"/>
                  </a:ext>
                </a:extLst>
              </a:tr>
              <a:tr h="740948">
                <a:tc vMerge="1">
                  <a:txBody>
                    <a:bodyPr/>
                    <a:lstStyle/>
                    <a:p>
                      <a:endParaRPr lang="zh-CN" altLang="en-US"/>
                    </a:p>
                  </a:txBody>
                  <a:tcPr/>
                </a:tc>
                <a:tc>
                  <a:txBody>
                    <a:bodyPr/>
                    <a:lstStyle/>
                    <a:p>
                      <a:pPr algn="ctr" fontAlgn="ctr" latinLnBrk="0"/>
                      <a:r>
                        <a:rPr lang="en-US" altLang="zh-CN" sz="1050" b="0" i="0">
                          <a:solidFill>
                            <a:srgbClr val="000000"/>
                          </a:solidFill>
                          <a:effectLst/>
                          <a:latin typeface="+mn-ea"/>
                          <a:ea typeface="+mn-ea"/>
                        </a:rPr>
                        <a:t>3</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050" b="0" i="0">
                          <a:solidFill>
                            <a:srgbClr val="000000"/>
                          </a:solidFill>
                          <a:effectLst/>
                          <a:latin typeface="+mn-ea"/>
                          <a:ea typeface="+mn-ea"/>
                        </a:rPr>
                        <a:t>产品型号</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050" b="0" i="0" dirty="0">
                          <a:solidFill>
                            <a:srgbClr val="000000"/>
                          </a:solidFill>
                          <a:effectLst/>
                          <a:latin typeface="+mn-ea"/>
                          <a:ea typeface="+mn-ea"/>
                        </a:rPr>
                        <a:t>NA</a:t>
                      </a:r>
                      <a:endParaRPr lang="zh-CN" altLang="en-US" sz="105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50" b="0" i="0" dirty="0">
                          <a:solidFill>
                            <a:srgbClr val="000000"/>
                          </a:solidFill>
                          <a:effectLst/>
                          <a:latin typeface="+mn-ea"/>
                          <a:ea typeface="+mn-ea"/>
                        </a:rPr>
                        <a:t>5</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所有产品型号均可以确定；</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4</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产品型号</a:t>
                      </a:r>
                      <a:r>
                        <a:rPr lang="en-US" altLang="zh-CN" sz="1050" b="0" i="0" dirty="0">
                          <a:solidFill>
                            <a:srgbClr val="000000"/>
                          </a:solidFill>
                          <a:effectLst/>
                          <a:latin typeface="+mn-ea"/>
                          <a:ea typeface="+mn-ea"/>
                        </a:rPr>
                        <a:t>80%</a:t>
                      </a:r>
                      <a:r>
                        <a:rPr lang="zh-CN" altLang="en-US" sz="1050" b="0" i="0" dirty="0">
                          <a:solidFill>
                            <a:srgbClr val="000000"/>
                          </a:solidFill>
                          <a:effectLst/>
                          <a:latin typeface="+mn-ea"/>
                          <a:ea typeface="+mn-ea"/>
                        </a:rPr>
                        <a:t>以上可以确定；</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3</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产品型号</a:t>
                      </a:r>
                      <a:r>
                        <a:rPr lang="en-US" altLang="zh-CN" sz="1050" b="0" i="0" dirty="0">
                          <a:solidFill>
                            <a:srgbClr val="000000"/>
                          </a:solidFill>
                          <a:effectLst/>
                          <a:latin typeface="+mn-ea"/>
                          <a:ea typeface="+mn-ea"/>
                        </a:rPr>
                        <a:t>50%</a:t>
                      </a:r>
                      <a:r>
                        <a:rPr lang="zh-CN" altLang="en-US" sz="1050" b="0" i="0" dirty="0">
                          <a:solidFill>
                            <a:srgbClr val="000000"/>
                          </a:solidFill>
                          <a:effectLst/>
                          <a:latin typeface="+mn-ea"/>
                          <a:ea typeface="+mn-ea"/>
                        </a:rPr>
                        <a:t>以上可以确定；</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0</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050" b="0" i="0">
                          <a:solidFill>
                            <a:srgbClr val="000000"/>
                          </a:solidFill>
                          <a:effectLst/>
                          <a:latin typeface="+mn-ea"/>
                          <a:ea typeface="+mn-ea"/>
                        </a:rPr>
                        <a:t>30%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50" b="0" i="0" dirty="0">
                          <a:solidFill>
                            <a:srgbClr val="000000"/>
                          </a:solidFill>
                          <a:effectLst/>
                          <a:latin typeface="+mn-ea"/>
                          <a:ea typeface="+mn-ea"/>
                        </a:rPr>
                        <a:t>NA</a:t>
                      </a:r>
                      <a:endParaRPr lang="zh-CN" altLang="en-US" sz="105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50" b="0" i="0" dirty="0">
                          <a:solidFill>
                            <a:srgbClr val="000000"/>
                          </a:solidFill>
                          <a:effectLst/>
                          <a:latin typeface="+mn-ea"/>
                          <a:ea typeface="+mn-ea"/>
                        </a:rPr>
                        <a:t>5</a:t>
                      </a:r>
                      <a:r>
                        <a:rPr lang="zh-CN" altLang="en-US" sz="1050" b="0" i="0" dirty="0">
                          <a:solidFill>
                            <a:srgbClr val="000000"/>
                          </a:solidFill>
                          <a:effectLst/>
                          <a:latin typeface="+mn-ea"/>
                          <a:ea typeface="+mn-ea"/>
                        </a:rPr>
                        <a:t>分：产品技术参数已写进招标文件。</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4</a:t>
                      </a:r>
                      <a:r>
                        <a:rPr lang="zh-CN" altLang="en-US" sz="1050" b="0" i="0" dirty="0">
                          <a:solidFill>
                            <a:srgbClr val="000000"/>
                          </a:solidFill>
                          <a:effectLst/>
                          <a:latin typeface="+mn-ea"/>
                          <a:ea typeface="+mn-ea"/>
                        </a:rPr>
                        <a:t>分：评估者已经确定产品技术要求。</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3</a:t>
                      </a:r>
                      <a:r>
                        <a:rPr lang="zh-CN" altLang="en-US" sz="1050" b="0" i="0" dirty="0">
                          <a:solidFill>
                            <a:srgbClr val="000000"/>
                          </a:solidFill>
                          <a:effectLst/>
                          <a:latin typeface="+mn-ea"/>
                          <a:ea typeface="+mn-ea"/>
                        </a:rPr>
                        <a:t>分：我司主推产品型号已经明确。</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 xmlns:a16="http://schemas.microsoft.com/office/drawing/2014/main" val="10003"/>
                  </a:ext>
                </a:extLst>
              </a:tr>
              <a:tr h="740948">
                <a:tc>
                  <a:txBody>
                    <a:bodyPr/>
                    <a:lstStyle/>
                    <a:p>
                      <a:pPr algn="ctr" fontAlgn="ctr" latinLnBrk="0"/>
                      <a:r>
                        <a:rPr lang="zh-CN" altLang="en-US" sz="1050" b="0" i="0">
                          <a:solidFill>
                            <a:srgbClr val="000000"/>
                          </a:solidFill>
                          <a:effectLst/>
                          <a:latin typeface="+mn-ea"/>
                          <a:ea typeface="+mn-ea"/>
                        </a:rPr>
                        <a:t>性能容量</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050" b="0" i="0">
                          <a:effectLst/>
                          <a:latin typeface="+mn-ea"/>
                          <a:ea typeface="+mn-ea"/>
                        </a:rPr>
                        <a:t>4</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zh-CN" altLang="en-US" sz="1050" b="0" i="0">
                          <a:solidFill>
                            <a:srgbClr val="000000"/>
                          </a:solidFill>
                          <a:effectLst/>
                          <a:latin typeface="+mn-ea"/>
                          <a:ea typeface="+mn-ea"/>
                        </a:rPr>
                        <a:t>产品数量</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050" b="0" i="0" dirty="0">
                          <a:solidFill>
                            <a:srgbClr val="000000"/>
                          </a:solidFill>
                          <a:effectLst/>
                          <a:latin typeface="+mn-ea"/>
                          <a:ea typeface="+mn-ea"/>
                        </a:rPr>
                        <a:t>NA</a:t>
                      </a:r>
                      <a:endParaRPr lang="zh-CN" altLang="en-US" sz="105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r>
                        <a:rPr lang="en-US" altLang="zh-CN" sz="1050" b="0" i="0" dirty="0">
                          <a:solidFill>
                            <a:srgbClr val="000000"/>
                          </a:solidFill>
                          <a:effectLst/>
                          <a:latin typeface="+mn-ea"/>
                          <a:ea typeface="+mn-ea"/>
                        </a:rPr>
                        <a:t>5</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所有产品数量均确定；</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4</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产品数量</a:t>
                      </a:r>
                      <a:r>
                        <a:rPr lang="en-US" altLang="zh-CN" sz="1050" b="0" i="0" dirty="0">
                          <a:solidFill>
                            <a:srgbClr val="000000"/>
                          </a:solidFill>
                          <a:effectLst/>
                          <a:latin typeface="+mn-ea"/>
                          <a:ea typeface="+mn-ea"/>
                        </a:rPr>
                        <a:t>80%</a:t>
                      </a:r>
                      <a:r>
                        <a:rPr lang="zh-CN" altLang="en-US" sz="1050" b="0" i="0" dirty="0">
                          <a:solidFill>
                            <a:srgbClr val="000000"/>
                          </a:solidFill>
                          <a:effectLst/>
                          <a:latin typeface="+mn-ea"/>
                          <a:ea typeface="+mn-ea"/>
                        </a:rPr>
                        <a:t>以上可以确定；</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3</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产品数量</a:t>
                      </a:r>
                      <a:r>
                        <a:rPr lang="en-US" altLang="zh-CN" sz="1050" b="0" i="0" dirty="0">
                          <a:solidFill>
                            <a:srgbClr val="000000"/>
                          </a:solidFill>
                          <a:effectLst/>
                          <a:latin typeface="+mn-ea"/>
                          <a:ea typeface="+mn-ea"/>
                        </a:rPr>
                        <a:t>50%</a:t>
                      </a:r>
                      <a:r>
                        <a:rPr lang="zh-CN" altLang="en-US" sz="1050" b="0" i="0" dirty="0">
                          <a:solidFill>
                            <a:srgbClr val="000000"/>
                          </a:solidFill>
                          <a:effectLst/>
                          <a:latin typeface="+mn-ea"/>
                          <a:ea typeface="+mn-ea"/>
                        </a:rPr>
                        <a:t>以上可以确定；</a:t>
                      </a:r>
                      <a:br>
                        <a:rPr lang="zh-CN" altLang="en-US" sz="1050" b="0" i="0" dirty="0">
                          <a:solidFill>
                            <a:srgbClr val="000000"/>
                          </a:solidFill>
                          <a:effectLst/>
                          <a:latin typeface="+mn-ea"/>
                          <a:ea typeface="+mn-ea"/>
                        </a:rPr>
                      </a:br>
                      <a:r>
                        <a:rPr lang="en-US" altLang="zh-CN" sz="1050" b="0" i="0" dirty="0">
                          <a:solidFill>
                            <a:srgbClr val="000000"/>
                          </a:solidFill>
                          <a:effectLst/>
                          <a:latin typeface="+mn-ea"/>
                          <a:ea typeface="+mn-ea"/>
                        </a:rPr>
                        <a:t>0</a:t>
                      </a:r>
                      <a:r>
                        <a:rPr lang="zh-CN" altLang="en-US" sz="1050" b="0" i="0" dirty="0">
                          <a:solidFill>
                            <a:srgbClr val="000000"/>
                          </a:solidFill>
                          <a:effectLst/>
                          <a:latin typeface="+mn-ea"/>
                          <a:ea typeface="+mn-ea"/>
                        </a:rPr>
                        <a:t>分</a:t>
                      </a:r>
                      <a:r>
                        <a:rPr lang="en-US" altLang="zh-CN" sz="1050" b="0" i="0" dirty="0">
                          <a:solidFill>
                            <a:srgbClr val="000000"/>
                          </a:solidFill>
                          <a:effectLst/>
                          <a:latin typeface="+mn-ea"/>
                          <a:ea typeface="+mn-ea"/>
                        </a:rPr>
                        <a:t>--</a:t>
                      </a:r>
                      <a:r>
                        <a:rPr lang="zh-CN" altLang="en-US" sz="1050" b="0" i="0" dirty="0">
                          <a:solidFill>
                            <a:srgbClr val="000000"/>
                          </a:solidFill>
                          <a:effectLst/>
                          <a:latin typeface="+mn-ea"/>
                          <a:ea typeface="+mn-ea"/>
                        </a:rPr>
                        <a:t>其它。</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050" b="0" i="0" dirty="0">
                          <a:solidFill>
                            <a:srgbClr val="000000"/>
                          </a:solidFill>
                          <a:effectLst/>
                          <a:latin typeface="+mn-ea"/>
                          <a:ea typeface="+mn-ea"/>
                        </a:rPr>
                        <a:t>30%</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050" b="0" i="0" dirty="0">
                          <a:solidFill>
                            <a:srgbClr val="000000"/>
                          </a:solidFill>
                          <a:effectLst/>
                          <a:latin typeface="+mn-ea"/>
                          <a:ea typeface="+mn-ea"/>
                        </a:rPr>
                        <a:t>NA</a:t>
                      </a:r>
                      <a:endParaRPr lang="zh-CN" altLang="en-US" sz="105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en-US" altLang="zh-CN" sz="1050" b="0" i="0">
                          <a:solidFill>
                            <a:srgbClr val="000000"/>
                          </a:solidFill>
                          <a:effectLst/>
                          <a:latin typeface="+mn-ea"/>
                          <a:ea typeface="+mn-ea"/>
                        </a:rPr>
                        <a:t>5</a:t>
                      </a:r>
                      <a:r>
                        <a:rPr lang="zh-CN" altLang="en-US" sz="1050" b="0" i="0">
                          <a:solidFill>
                            <a:srgbClr val="000000"/>
                          </a:solidFill>
                          <a:effectLst/>
                          <a:latin typeface="+mn-ea"/>
                          <a:ea typeface="+mn-ea"/>
                        </a:rPr>
                        <a:t>分：产品数量已写进招标文件。</a:t>
                      </a:r>
                      <a:br>
                        <a:rPr lang="zh-CN" altLang="en-US" sz="1050" b="0" i="0">
                          <a:solidFill>
                            <a:srgbClr val="000000"/>
                          </a:solidFill>
                          <a:effectLst/>
                          <a:latin typeface="+mn-ea"/>
                          <a:ea typeface="+mn-ea"/>
                        </a:rPr>
                      </a:br>
                      <a:r>
                        <a:rPr lang="en-US" altLang="zh-CN" sz="1050" b="0" i="0">
                          <a:solidFill>
                            <a:srgbClr val="000000"/>
                          </a:solidFill>
                          <a:effectLst/>
                          <a:latin typeface="+mn-ea"/>
                          <a:ea typeface="+mn-ea"/>
                        </a:rPr>
                        <a:t>4</a:t>
                      </a:r>
                      <a:r>
                        <a:rPr lang="zh-CN" altLang="en-US" sz="1050" b="0" i="0">
                          <a:solidFill>
                            <a:srgbClr val="000000"/>
                          </a:solidFill>
                          <a:effectLst/>
                          <a:latin typeface="+mn-ea"/>
                          <a:ea typeface="+mn-ea"/>
                        </a:rPr>
                        <a:t>分：评估者已经确定产品数量。</a:t>
                      </a:r>
                      <a:br>
                        <a:rPr lang="zh-CN" altLang="en-US" sz="1050" b="0" i="0">
                          <a:solidFill>
                            <a:srgbClr val="000000"/>
                          </a:solidFill>
                          <a:effectLst/>
                          <a:latin typeface="+mn-ea"/>
                          <a:ea typeface="+mn-ea"/>
                        </a:rPr>
                      </a:br>
                      <a:r>
                        <a:rPr lang="en-US" altLang="zh-CN" sz="1050" b="0" i="0">
                          <a:solidFill>
                            <a:srgbClr val="000000"/>
                          </a:solidFill>
                          <a:effectLst/>
                          <a:latin typeface="+mn-ea"/>
                          <a:ea typeface="+mn-ea"/>
                        </a:rPr>
                        <a:t>3</a:t>
                      </a:r>
                      <a:r>
                        <a:rPr lang="zh-CN" altLang="en-US" sz="1050" b="0" i="0">
                          <a:solidFill>
                            <a:srgbClr val="000000"/>
                          </a:solidFill>
                          <a:effectLst/>
                          <a:latin typeface="+mn-ea"/>
                          <a:ea typeface="+mn-ea"/>
                        </a:rPr>
                        <a:t>分：我司已经评估出产品数量。</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 xmlns:a16="http://schemas.microsoft.com/office/drawing/2014/main" val="10004"/>
                  </a:ext>
                </a:extLst>
              </a:tr>
              <a:tr h="251131">
                <a:tc gridSpan="6">
                  <a:txBody>
                    <a:bodyPr/>
                    <a:lstStyle/>
                    <a:p>
                      <a:pPr algn="ctr" fontAlgn="ctr" latinLnBrk="0"/>
                      <a:r>
                        <a:rPr lang="zh-CN" altLang="en-US" sz="1050" b="0" i="0" dirty="0">
                          <a:solidFill>
                            <a:srgbClr val="000000"/>
                          </a:solidFill>
                          <a:effectLst/>
                          <a:latin typeface="+mn-ea"/>
                          <a:ea typeface="+mn-ea"/>
                        </a:rPr>
                        <a:t>自评可信度合计得分</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DE7802"/>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a:txBody>
                    <a:bodyPr/>
                    <a:lstStyle/>
                    <a:p>
                      <a:pPr algn="ctr" fontAlgn="ctr" latinLnBrk="0"/>
                      <a:r>
                        <a:rPr lang="en-US" altLang="zh-CN" sz="1050" b="0" i="0" dirty="0">
                          <a:solidFill>
                            <a:srgbClr val="000000"/>
                          </a:solidFill>
                          <a:effectLst/>
                          <a:latin typeface="+mn-ea"/>
                          <a:ea typeface="+mn-ea"/>
                        </a:rPr>
                        <a:t>NA</a:t>
                      </a: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l" fontAlgn="ctr" latinLnBrk="0"/>
                      <a:endParaRPr lang="zh-CN" altLang="en-US" sz="1050" b="0" i="0" dirty="0">
                        <a:solidFill>
                          <a:srgbClr val="000000"/>
                        </a:solidFill>
                        <a:effectLst/>
                        <a:latin typeface="+mn-ea"/>
                        <a:ea typeface="+mn-ea"/>
                      </a:endParaRPr>
                    </a:p>
                  </a:txBody>
                  <a:tcPr marL="58802" marR="58802" marT="29401" marB="2940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 xmlns:a16="http://schemas.microsoft.com/office/drawing/2014/main" val="10005"/>
                  </a:ext>
                </a:extLst>
              </a:tr>
            </a:tbl>
          </a:graphicData>
        </a:graphic>
      </p:graphicFrame>
      <p:sp>
        <p:nvSpPr>
          <p:cNvPr id="11" name="矩形 10">
            <a:extLst>
              <a:ext uri="{FF2B5EF4-FFF2-40B4-BE49-F238E27FC236}">
                <a16:creationId xmlns="" xmlns:a16="http://schemas.microsoft.com/office/drawing/2014/main" id="{45806659-68A7-B6CB-C4C4-34C4B924D86B}"/>
              </a:ext>
            </a:extLst>
          </p:cNvPr>
          <p:cNvSpPr/>
          <p:nvPr/>
        </p:nvSpPr>
        <p:spPr>
          <a:xfrm>
            <a:off x="2070073" y="2444595"/>
            <a:ext cx="1853403" cy="2414338"/>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984971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A125E63-3B73-80D4-0DD7-C5B0AA54B478}"/>
            </a:ext>
          </a:extLst>
        </p:cNvPr>
        <p:cNvGrpSpPr/>
        <p:nvPr/>
      </p:nvGrpSpPr>
      <p:grpSpPr>
        <a:xfrm>
          <a:off x="0" y="0"/>
          <a:ext cx="0" cy="0"/>
          <a:chOff x="0" y="0"/>
          <a:chExt cx="0" cy="0"/>
        </a:xfrm>
      </p:grpSpPr>
      <p:sp>
        <p:nvSpPr>
          <p:cNvPr id="2" name="文本占位符 1">
            <a:extLst>
              <a:ext uri="{FF2B5EF4-FFF2-40B4-BE49-F238E27FC236}">
                <a16:creationId xmlns="" xmlns:a16="http://schemas.microsoft.com/office/drawing/2014/main" id="{A7B4E690-876C-14CC-977C-CE218B19FC64}"/>
              </a:ext>
            </a:extLst>
          </p:cNvPr>
          <p:cNvSpPr>
            <a:spLocks noGrp="1"/>
          </p:cNvSpPr>
          <p:nvPr>
            <p:ph type="body" sz="quarter" idx="13"/>
          </p:nvPr>
        </p:nvSpPr>
        <p:spPr/>
        <p:txBody>
          <a:bodyPr/>
          <a:lstStyle/>
          <a:p>
            <a:r>
              <a:rPr lang="zh-CN" altLang="en-US" dirty="0"/>
              <a:t>标准三：</a:t>
            </a:r>
            <a:r>
              <a:rPr lang="zh-CN" altLang="en-US" sz="2400" dirty="0"/>
              <a:t>预测类别可信度标准</a:t>
            </a:r>
            <a:endParaRPr lang="en-US" altLang="zh-CN" sz="2400" dirty="0"/>
          </a:p>
        </p:txBody>
      </p:sp>
      <p:graphicFrame>
        <p:nvGraphicFramePr>
          <p:cNvPr id="10" name="表格 9">
            <a:extLst>
              <a:ext uri="{FF2B5EF4-FFF2-40B4-BE49-F238E27FC236}">
                <a16:creationId xmlns="" xmlns:a16="http://schemas.microsoft.com/office/drawing/2014/main" id="{E7337CDF-5CC9-C3C8-B96D-98232DC074B8}"/>
              </a:ext>
            </a:extLst>
          </p:cNvPr>
          <p:cNvGraphicFramePr>
            <a:graphicFrameLocks noGrp="1"/>
          </p:cNvGraphicFramePr>
          <p:nvPr>
            <p:extLst>
              <p:ext uri="{D42A27DB-BD31-4B8C-83A1-F6EECF244321}">
                <p14:modId xmlns:p14="http://schemas.microsoft.com/office/powerpoint/2010/main" val="1704079996"/>
              </p:ext>
            </p:extLst>
          </p:nvPr>
        </p:nvGraphicFramePr>
        <p:xfrm>
          <a:off x="3002407" y="1356845"/>
          <a:ext cx="5822245" cy="1926015"/>
        </p:xfrm>
        <a:graphic>
          <a:graphicData uri="http://schemas.openxmlformats.org/drawingml/2006/table">
            <a:tbl>
              <a:tblPr/>
              <a:tblGrid>
                <a:gridCol w="2001397">
                  <a:extLst>
                    <a:ext uri="{9D8B030D-6E8A-4147-A177-3AD203B41FA5}">
                      <a16:colId xmlns="" xmlns:a16="http://schemas.microsoft.com/office/drawing/2014/main" val="3965880924"/>
                    </a:ext>
                  </a:extLst>
                </a:gridCol>
                <a:gridCol w="1273616">
                  <a:extLst>
                    <a:ext uri="{9D8B030D-6E8A-4147-A177-3AD203B41FA5}">
                      <a16:colId xmlns="" xmlns:a16="http://schemas.microsoft.com/office/drawing/2014/main" val="2554890528"/>
                    </a:ext>
                  </a:extLst>
                </a:gridCol>
                <a:gridCol w="1273616">
                  <a:extLst>
                    <a:ext uri="{9D8B030D-6E8A-4147-A177-3AD203B41FA5}">
                      <a16:colId xmlns="" xmlns:a16="http://schemas.microsoft.com/office/drawing/2014/main" val="3988217625"/>
                    </a:ext>
                  </a:extLst>
                </a:gridCol>
                <a:gridCol w="1273616">
                  <a:extLst>
                    <a:ext uri="{9D8B030D-6E8A-4147-A177-3AD203B41FA5}">
                      <a16:colId xmlns="" xmlns:a16="http://schemas.microsoft.com/office/drawing/2014/main" val="3446891013"/>
                    </a:ext>
                  </a:extLst>
                </a:gridCol>
              </a:tblGrid>
              <a:tr h="557333">
                <a:tc gridSpan="4">
                  <a:txBody>
                    <a:bodyPr/>
                    <a:lstStyle/>
                    <a:p>
                      <a:pPr algn="ctr" fontAlgn="ctr" latinLnBrk="0">
                        <a:buNone/>
                      </a:pPr>
                      <a:r>
                        <a:rPr lang="zh-CN" altLang="en-US" sz="1200" b="0" i="0" dirty="0">
                          <a:solidFill>
                            <a:srgbClr val="000000"/>
                          </a:solidFill>
                          <a:effectLst/>
                        </a:rPr>
                        <a:t>预测类别对应的产品清单可信度</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 xmlns:a16="http://schemas.microsoft.com/office/drawing/2014/main" val="1752954404"/>
                  </a:ext>
                </a:extLst>
              </a:tr>
              <a:tr h="676574">
                <a:tc>
                  <a:txBody>
                    <a:bodyPr/>
                    <a:lstStyle/>
                    <a:p>
                      <a:pPr algn="ctr" fontAlgn="ctr" latinLnBrk="0">
                        <a:buNone/>
                      </a:pPr>
                      <a:r>
                        <a:rPr lang="zh-CN" altLang="en-US" sz="1200" b="0" i="0">
                          <a:solidFill>
                            <a:srgbClr val="000000"/>
                          </a:solidFill>
                          <a:effectLst/>
                        </a:rPr>
                        <a:t>预测类别</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F6C6"/>
                    </a:solidFill>
                  </a:tcPr>
                </a:tc>
                <a:tc>
                  <a:txBody>
                    <a:bodyPr/>
                    <a:lstStyle/>
                    <a:p>
                      <a:pPr algn="ctr" fontAlgn="ctr" latinLnBrk="0">
                        <a:buNone/>
                      </a:pPr>
                      <a:r>
                        <a:rPr lang="zh-CN" altLang="en-US" sz="1200" b="0" i="0">
                          <a:solidFill>
                            <a:srgbClr val="000000"/>
                          </a:solidFill>
                          <a:effectLst/>
                        </a:rPr>
                        <a:t>可能</a:t>
                      </a:r>
                      <a:r>
                        <a:rPr lang="en-US" altLang="zh-CN" sz="1200" b="0" i="0">
                          <a:solidFill>
                            <a:srgbClr val="000000"/>
                          </a:solidFill>
                          <a:effectLst/>
                        </a:rPr>
                        <a: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F6C6"/>
                    </a:solidFill>
                  </a:tcPr>
                </a:tc>
                <a:tc>
                  <a:txBody>
                    <a:bodyPr/>
                    <a:lstStyle/>
                    <a:p>
                      <a:pPr algn="ctr" fontAlgn="ctr" latinLnBrk="0">
                        <a:buNone/>
                      </a:pPr>
                      <a:r>
                        <a:rPr lang="zh-CN" altLang="en-US" sz="1200" b="0" i="0">
                          <a:solidFill>
                            <a:srgbClr val="000000"/>
                          </a:solidFill>
                          <a:effectLst/>
                        </a:rPr>
                        <a:t>可能</a:t>
                      </a:r>
                      <a:r>
                        <a:rPr lang="en-US" altLang="zh-CN" sz="1200" b="0" i="0">
                          <a:solidFill>
                            <a:srgbClr val="000000"/>
                          </a:solidFill>
                          <a:effectLst/>
                        </a:rPr>
                        <a:t>+</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F6C6"/>
                    </a:solidFill>
                  </a:tcPr>
                </a:tc>
                <a:tc>
                  <a:txBody>
                    <a:bodyPr/>
                    <a:lstStyle/>
                    <a:p>
                      <a:pPr algn="ctr" fontAlgn="ctr" latinLnBrk="0">
                        <a:buNone/>
                      </a:pPr>
                      <a:r>
                        <a:rPr lang="zh-CN" altLang="en-US" sz="1200" b="0" i="0">
                          <a:solidFill>
                            <a:srgbClr val="000000"/>
                          </a:solidFill>
                          <a:effectLst/>
                        </a:rPr>
                        <a:t>优势</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F6C6"/>
                    </a:solidFill>
                  </a:tcPr>
                </a:tc>
                <a:extLst>
                  <a:ext uri="{0D108BD9-81ED-4DB2-BD59-A6C34878D82A}">
                    <a16:rowId xmlns="" xmlns:a16="http://schemas.microsoft.com/office/drawing/2014/main" val="3805497502"/>
                  </a:ext>
                </a:extLst>
              </a:tr>
              <a:tr h="692108">
                <a:tc>
                  <a:txBody>
                    <a:bodyPr/>
                    <a:lstStyle/>
                    <a:p>
                      <a:pPr algn="ctr" fontAlgn="ctr" latinLnBrk="0">
                        <a:buNone/>
                      </a:pPr>
                      <a:r>
                        <a:rPr lang="zh-CN" altLang="en-US" sz="1200" b="0" i="0" dirty="0">
                          <a:solidFill>
                            <a:srgbClr val="000000"/>
                          </a:solidFill>
                          <a:effectLst/>
                        </a:rPr>
                        <a:t>可信度</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F6C6"/>
                    </a:solidFill>
                  </a:tcPr>
                </a:tc>
                <a:tc>
                  <a:txBody>
                    <a:bodyPr/>
                    <a:lstStyle/>
                    <a:p>
                      <a:pPr algn="ctr" fontAlgn="ctr" latinLnBrk="0">
                        <a:buNone/>
                      </a:pPr>
                      <a:r>
                        <a:rPr lang="en-US" altLang="zh-CN" sz="1200" b="0" i="0" dirty="0">
                          <a:solidFill>
                            <a:srgbClr val="000000"/>
                          </a:solidFill>
                          <a:effectLst/>
                        </a:rPr>
                        <a:t>24%</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buNone/>
                      </a:pPr>
                      <a:r>
                        <a:rPr lang="en-US" altLang="zh-CN" sz="1200" b="0" i="0" dirty="0">
                          <a:solidFill>
                            <a:srgbClr val="000000"/>
                          </a:solidFill>
                          <a:effectLst/>
                        </a:rPr>
                        <a:t>60%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latinLnBrk="0">
                        <a:buNone/>
                      </a:pPr>
                      <a:r>
                        <a:rPr lang="en-US" altLang="zh-CN" sz="1200" b="0" i="0" dirty="0">
                          <a:solidFill>
                            <a:srgbClr val="000000"/>
                          </a:solidFill>
                          <a:effectLst/>
                        </a:rPr>
                        <a:t>80%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502859330"/>
                  </a:ext>
                </a:extLst>
              </a:tr>
            </a:tbl>
          </a:graphicData>
        </a:graphic>
      </p:graphicFrame>
      <p:sp>
        <p:nvSpPr>
          <p:cNvPr id="11" name="Rectangle 1">
            <a:extLst>
              <a:ext uri="{FF2B5EF4-FFF2-40B4-BE49-F238E27FC236}">
                <a16:creationId xmlns="" xmlns:a16="http://schemas.microsoft.com/office/drawing/2014/main" id="{A2542151-B2B1-6495-DA8A-50C545E6BCBE}"/>
              </a:ext>
            </a:extLst>
          </p:cNvPr>
          <p:cNvSpPr>
            <a:spLocks noChangeArrowheads="1"/>
          </p:cNvSpPr>
          <p:nvPr/>
        </p:nvSpPr>
        <p:spPr bwMode="auto">
          <a:xfrm>
            <a:off x="4789488" y="340677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410119" y="3856732"/>
            <a:ext cx="11442929" cy="164055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519763" y="3975972"/>
            <a:ext cx="11133375" cy="1338828"/>
          </a:xfrm>
          <a:prstGeom prst="rect">
            <a:avLst/>
          </a:prstGeom>
          <a:noFill/>
        </p:spPr>
        <p:txBody>
          <a:bodyPr wrap="square" rtlCol="0">
            <a:spAutoFit/>
          </a:bodyPr>
          <a:lstStyle/>
          <a:p>
            <a:pPr>
              <a:lnSpc>
                <a:spcPct val="150000"/>
              </a:lnSpc>
            </a:pPr>
            <a:r>
              <a:rPr lang="zh-CN" altLang="en-US" dirty="0" smtClean="0"/>
              <a:t>当漏斗内商机预测类别发生变化时说明商机推进到了新的阶段，此时客户需求可能会发生一定变化，销售需要结合项目实际情况及时跟售前沟通进行配置清单的刷新。不同预测类别对可信度的要求见上表，系统会根据这个标准进行定期检测，对于不符合标准的项目会主动提醒。</a:t>
            </a:r>
            <a:endParaRPr lang="zh-CN" altLang="en-US" dirty="0"/>
          </a:p>
        </p:txBody>
      </p:sp>
    </p:spTree>
    <p:extLst>
      <p:ext uri="{BB962C8B-B14F-4D97-AF65-F5344CB8AC3E}">
        <p14:creationId xmlns:p14="http://schemas.microsoft.com/office/powerpoint/2010/main" val="30757036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47B75552-EB6D-20E6-58A0-79C792805EBC}"/>
            </a:ext>
          </a:extLst>
        </p:cNvPr>
        <p:cNvGrpSpPr/>
        <p:nvPr/>
      </p:nvGrpSpPr>
      <p:grpSpPr>
        <a:xfrm>
          <a:off x="0" y="0"/>
          <a:ext cx="0" cy="0"/>
          <a:chOff x="0" y="0"/>
          <a:chExt cx="0" cy="0"/>
        </a:xfrm>
      </p:grpSpPr>
      <p:sp>
        <p:nvSpPr>
          <p:cNvPr id="2" name="文本占位符 1">
            <a:extLst>
              <a:ext uri="{FF2B5EF4-FFF2-40B4-BE49-F238E27FC236}">
                <a16:creationId xmlns="" xmlns:a16="http://schemas.microsoft.com/office/drawing/2014/main" id="{3E890377-E2B3-9200-F5D9-E8C3112EEF21}"/>
              </a:ext>
            </a:extLst>
          </p:cNvPr>
          <p:cNvSpPr>
            <a:spLocks noGrp="1"/>
          </p:cNvSpPr>
          <p:nvPr>
            <p:ph type="body" sz="quarter" idx="13"/>
          </p:nvPr>
        </p:nvSpPr>
        <p:spPr/>
        <p:txBody>
          <a:bodyPr/>
          <a:lstStyle/>
          <a:p>
            <a:r>
              <a:rPr lang="zh-CN" altLang="en-US" dirty="0"/>
              <a:t>标准四：</a:t>
            </a:r>
            <a:r>
              <a:rPr lang="zh-CN" altLang="en-US" sz="2400" dirty="0"/>
              <a:t>开标时间可信度标准</a:t>
            </a:r>
          </a:p>
        </p:txBody>
      </p:sp>
      <p:graphicFrame>
        <p:nvGraphicFramePr>
          <p:cNvPr id="10" name="表格 9">
            <a:extLst>
              <a:ext uri="{FF2B5EF4-FFF2-40B4-BE49-F238E27FC236}">
                <a16:creationId xmlns="" xmlns:a16="http://schemas.microsoft.com/office/drawing/2014/main" id="{7559D63B-9E33-8916-8A13-F40F6E52106A}"/>
              </a:ext>
            </a:extLst>
          </p:cNvPr>
          <p:cNvGraphicFramePr>
            <a:graphicFrameLocks noGrp="1"/>
          </p:cNvGraphicFramePr>
          <p:nvPr>
            <p:extLst>
              <p:ext uri="{D42A27DB-BD31-4B8C-83A1-F6EECF244321}">
                <p14:modId xmlns:p14="http://schemas.microsoft.com/office/powerpoint/2010/main" val="3993136555"/>
              </p:ext>
            </p:extLst>
          </p:nvPr>
        </p:nvGraphicFramePr>
        <p:xfrm>
          <a:off x="3423192" y="1337576"/>
          <a:ext cx="5117359" cy="2517675"/>
        </p:xfrm>
        <a:graphic>
          <a:graphicData uri="http://schemas.openxmlformats.org/drawingml/2006/table">
            <a:tbl>
              <a:tblPr/>
              <a:tblGrid>
                <a:gridCol w="2148509">
                  <a:extLst>
                    <a:ext uri="{9D8B030D-6E8A-4147-A177-3AD203B41FA5}">
                      <a16:colId xmlns="" xmlns:a16="http://schemas.microsoft.com/office/drawing/2014/main" val="4290358819"/>
                    </a:ext>
                  </a:extLst>
                </a:gridCol>
                <a:gridCol w="2968850">
                  <a:extLst>
                    <a:ext uri="{9D8B030D-6E8A-4147-A177-3AD203B41FA5}">
                      <a16:colId xmlns="" xmlns:a16="http://schemas.microsoft.com/office/drawing/2014/main" val="513514917"/>
                    </a:ext>
                  </a:extLst>
                </a:gridCol>
              </a:tblGrid>
              <a:tr h="839225">
                <a:tc gridSpan="2">
                  <a:txBody>
                    <a:bodyPr/>
                    <a:lstStyle/>
                    <a:p>
                      <a:pPr algn="ctr" fontAlgn="ctr" latinLnBrk="0">
                        <a:buNone/>
                      </a:pPr>
                      <a:r>
                        <a:rPr lang="zh-CN" altLang="en-US" sz="1200" b="0" i="0" dirty="0">
                          <a:solidFill>
                            <a:srgbClr val="000000"/>
                          </a:solidFill>
                          <a:effectLst/>
                        </a:rPr>
                        <a:t>距离开标</a:t>
                      </a:r>
                      <a:r>
                        <a:rPr lang="en-US" altLang="zh-CN" sz="1200" b="0" i="0" dirty="0">
                          <a:solidFill>
                            <a:srgbClr val="000000"/>
                          </a:solidFill>
                          <a:effectLst/>
                        </a:rPr>
                        <a:t>30</a:t>
                      </a:r>
                      <a:r>
                        <a:rPr lang="zh-CN" altLang="en-US" sz="1200" b="0" i="0" dirty="0">
                          <a:solidFill>
                            <a:srgbClr val="000000"/>
                          </a:solidFill>
                          <a:effectLst/>
                        </a:rPr>
                        <a:t>天以内对应的清单可信度</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zh-CN" altLang="en-US"/>
                    </a:p>
                  </a:txBody>
                  <a:tcPr/>
                </a:tc>
                <a:extLst>
                  <a:ext uri="{0D108BD9-81ED-4DB2-BD59-A6C34878D82A}">
                    <a16:rowId xmlns="" xmlns:a16="http://schemas.microsoft.com/office/drawing/2014/main" val="3282005789"/>
                  </a:ext>
                </a:extLst>
              </a:tr>
              <a:tr h="839225">
                <a:tc>
                  <a:txBody>
                    <a:bodyPr/>
                    <a:lstStyle/>
                    <a:p>
                      <a:pPr algn="ctr" fontAlgn="ctr" latinLnBrk="0">
                        <a:buNone/>
                      </a:pPr>
                      <a:r>
                        <a:rPr lang="zh-CN" altLang="en-US" sz="1200" b="0" i="0">
                          <a:solidFill>
                            <a:srgbClr val="000000"/>
                          </a:solidFill>
                          <a:effectLst/>
                        </a:rPr>
                        <a:t>非弱电</a:t>
                      </a:r>
                      <a:r>
                        <a:rPr lang="en-US" altLang="zh-CN" sz="1200" b="0" i="0">
                          <a:solidFill>
                            <a:srgbClr val="000000"/>
                          </a:solidFill>
                          <a:effectLst/>
                        </a:rPr>
                        <a:t>&amp;</a:t>
                      </a:r>
                      <a:r>
                        <a:rPr lang="en-US" sz="1200" b="0" i="0">
                          <a:solidFill>
                            <a:srgbClr val="000000"/>
                          </a:solidFill>
                          <a:effectLst/>
                        </a:rPr>
                        <a:t>ICT</a:t>
                      </a:r>
                      <a:r>
                        <a:rPr lang="zh-CN" altLang="en-US" sz="1200" b="0" i="0">
                          <a:solidFill>
                            <a:srgbClr val="000000"/>
                          </a:solidFill>
                          <a:effectLst/>
                        </a:rPr>
                        <a:t>项目</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F6C6"/>
                    </a:solidFill>
                  </a:tcPr>
                </a:tc>
                <a:tc>
                  <a:txBody>
                    <a:bodyPr/>
                    <a:lstStyle/>
                    <a:p>
                      <a:pPr algn="ctr" fontAlgn="ctr" latinLnBrk="0">
                        <a:buNone/>
                      </a:pPr>
                      <a:r>
                        <a:rPr lang="en-US" altLang="zh-CN" sz="1200" b="0" i="0">
                          <a:solidFill>
                            <a:srgbClr val="000000"/>
                          </a:solidFill>
                          <a:effectLst/>
                        </a:rPr>
                        <a:t>100%</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2742244116"/>
                  </a:ext>
                </a:extLst>
              </a:tr>
              <a:tr h="839225">
                <a:tc>
                  <a:txBody>
                    <a:bodyPr/>
                    <a:lstStyle/>
                    <a:p>
                      <a:pPr algn="ctr" fontAlgn="ctr" latinLnBrk="0">
                        <a:buNone/>
                      </a:pPr>
                      <a:r>
                        <a:rPr lang="zh-CN" altLang="en-US" sz="1200" b="0" i="0">
                          <a:solidFill>
                            <a:srgbClr val="000000"/>
                          </a:solidFill>
                          <a:effectLst/>
                        </a:rPr>
                        <a:t>弱电</a:t>
                      </a:r>
                      <a:r>
                        <a:rPr lang="en-US" altLang="zh-CN" sz="1200" b="0" i="0">
                          <a:solidFill>
                            <a:srgbClr val="000000"/>
                          </a:solidFill>
                          <a:effectLst/>
                        </a:rPr>
                        <a:t>/</a:t>
                      </a:r>
                      <a:r>
                        <a:rPr lang="en-US" sz="1200" b="0" i="0">
                          <a:solidFill>
                            <a:srgbClr val="000000"/>
                          </a:solidFill>
                          <a:effectLst/>
                        </a:rPr>
                        <a:t>ICT</a:t>
                      </a:r>
                      <a:r>
                        <a:rPr lang="zh-CN" altLang="en-US" sz="1200" b="0" i="0">
                          <a:solidFill>
                            <a:srgbClr val="000000"/>
                          </a:solidFill>
                          <a:effectLst/>
                        </a:rPr>
                        <a:t>项目</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EF6C6"/>
                    </a:solidFill>
                  </a:tcPr>
                </a:tc>
                <a:tc>
                  <a:txBody>
                    <a:bodyPr/>
                    <a:lstStyle/>
                    <a:p>
                      <a:pPr algn="ctr" fontAlgn="ctr" latinLnBrk="0">
                        <a:buNone/>
                      </a:pPr>
                      <a:r>
                        <a:rPr lang="en-US" altLang="zh-CN" sz="1200" b="0" i="0" dirty="0">
                          <a:solidFill>
                            <a:srgbClr val="000000"/>
                          </a:solidFill>
                          <a:effectLst/>
                        </a:rPr>
                        <a:t>65%</a:t>
                      </a: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 xmlns:a16="http://schemas.microsoft.com/office/drawing/2014/main" val="1450714906"/>
                  </a:ext>
                </a:extLst>
              </a:tr>
            </a:tbl>
          </a:graphicData>
        </a:graphic>
      </p:graphicFrame>
      <p:sp>
        <p:nvSpPr>
          <p:cNvPr id="11" name="Rectangle 1">
            <a:extLst>
              <a:ext uri="{FF2B5EF4-FFF2-40B4-BE49-F238E27FC236}">
                <a16:creationId xmlns="" xmlns:a16="http://schemas.microsoft.com/office/drawing/2014/main" id="{3C20F3BF-EAEE-C7FD-81F4-DF2B2224E7A0}"/>
              </a:ext>
            </a:extLst>
          </p:cNvPr>
          <p:cNvSpPr>
            <a:spLocks noChangeArrowheads="1"/>
          </p:cNvSpPr>
          <p:nvPr/>
        </p:nvSpPr>
        <p:spPr bwMode="auto">
          <a:xfrm>
            <a:off x="5026025" y="33162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5" name="矩形 4"/>
          <p:cNvSpPr/>
          <p:nvPr/>
        </p:nvSpPr>
        <p:spPr>
          <a:xfrm>
            <a:off x="453662" y="4085332"/>
            <a:ext cx="11442929" cy="164055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573405" y="4346087"/>
            <a:ext cx="11133375" cy="923330"/>
          </a:xfrm>
          <a:prstGeom prst="rect">
            <a:avLst/>
          </a:prstGeom>
          <a:noFill/>
        </p:spPr>
        <p:txBody>
          <a:bodyPr wrap="square" rtlCol="0">
            <a:spAutoFit/>
          </a:bodyPr>
          <a:lstStyle/>
          <a:p>
            <a:pPr>
              <a:lnSpc>
                <a:spcPct val="150000"/>
              </a:lnSpc>
            </a:pPr>
            <a:r>
              <a:rPr lang="zh-CN" altLang="en-US" dirty="0" smtClean="0"/>
              <a:t>当漏斗内商机距离项目开标</a:t>
            </a:r>
            <a:r>
              <a:rPr lang="en-US" altLang="zh-CN" dirty="0" smtClean="0"/>
              <a:t>30</a:t>
            </a:r>
            <a:r>
              <a:rPr lang="zh-CN" altLang="en-US" dirty="0" smtClean="0"/>
              <a:t>天以内，系统会自动监测，并根据不同项目对可信度评分的要求进行比对，对于不满足要求的项目，系统会触发自动提醒。</a:t>
            </a:r>
            <a:endParaRPr lang="zh-CN" altLang="en-US" dirty="0"/>
          </a:p>
        </p:txBody>
      </p:sp>
    </p:spTree>
    <p:extLst>
      <p:ext uri="{BB962C8B-B14F-4D97-AF65-F5344CB8AC3E}">
        <p14:creationId xmlns:p14="http://schemas.microsoft.com/office/powerpoint/2010/main" val="3655033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214F20E0-6A92-CD5E-697C-3E087CB974B4}"/>
            </a:ext>
          </a:extLst>
        </p:cNvPr>
        <p:cNvGrpSpPr/>
        <p:nvPr/>
      </p:nvGrpSpPr>
      <p:grpSpPr>
        <a:xfrm>
          <a:off x="0" y="0"/>
          <a:ext cx="0" cy="0"/>
          <a:chOff x="0" y="0"/>
          <a:chExt cx="0" cy="0"/>
        </a:xfrm>
      </p:grpSpPr>
      <p:sp>
        <p:nvSpPr>
          <p:cNvPr id="2" name="文本占位符 1">
            <a:extLst>
              <a:ext uri="{FF2B5EF4-FFF2-40B4-BE49-F238E27FC236}">
                <a16:creationId xmlns="" xmlns:a16="http://schemas.microsoft.com/office/drawing/2014/main" id="{AEA9122C-4849-5D0C-6D8C-84E6BD5DAE81}"/>
              </a:ext>
            </a:extLst>
          </p:cNvPr>
          <p:cNvSpPr>
            <a:spLocks noGrp="1"/>
          </p:cNvSpPr>
          <p:nvPr>
            <p:ph type="body" sz="quarter" idx="13"/>
          </p:nvPr>
        </p:nvSpPr>
        <p:spPr>
          <a:xfrm>
            <a:off x="573405" y="274320"/>
            <a:ext cx="7606768" cy="495935"/>
          </a:xfrm>
        </p:spPr>
        <p:txBody>
          <a:bodyPr/>
          <a:lstStyle/>
          <a:p>
            <a:r>
              <a:rPr lang="zh-CN" altLang="en-US" dirty="0"/>
              <a:t>业务流程</a:t>
            </a:r>
            <a:r>
              <a:rPr lang="en-US" altLang="zh-CN" dirty="0"/>
              <a:t>1-</a:t>
            </a:r>
            <a:r>
              <a:rPr lang="zh-CN" altLang="en-US" dirty="0"/>
              <a:t>漏斗外进漏斗内</a:t>
            </a:r>
          </a:p>
        </p:txBody>
      </p:sp>
      <p:sp>
        <p:nvSpPr>
          <p:cNvPr id="13" name="Rectangle 1">
            <a:extLst>
              <a:ext uri="{FF2B5EF4-FFF2-40B4-BE49-F238E27FC236}">
                <a16:creationId xmlns="" xmlns:a16="http://schemas.microsoft.com/office/drawing/2014/main" id="{333CB7A5-7029-0FE4-51A3-CC62EDD2EBA7}"/>
              </a:ext>
            </a:extLst>
          </p:cNvPr>
          <p:cNvSpPr>
            <a:spLocks noChangeArrowheads="1"/>
          </p:cNvSpPr>
          <p:nvPr/>
        </p:nvSpPr>
        <p:spPr bwMode="auto">
          <a:xfrm>
            <a:off x="4560888" y="25606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6" name="Rectangle 2">
            <a:extLst>
              <a:ext uri="{FF2B5EF4-FFF2-40B4-BE49-F238E27FC236}">
                <a16:creationId xmlns="" xmlns:a16="http://schemas.microsoft.com/office/drawing/2014/main" id="{F805F899-66D5-3C11-2F57-A80046BE7191}"/>
              </a:ext>
            </a:extLst>
          </p:cNvPr>
          <p:cNvSpPr>
            <a:spLocks noChangeArrowheads="1"/>
          </p:cNvSpPr>
          <p:nvPr/>
        </p:nvSpPr>
        <p:spPr bwMode="auto">
          <a:xfrm>
            <a:off x="4692650" y="30416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表格 2">
            <a:extLst>
              <a:ext uri="{FF2B5EF4-FFF2-40B4-BE49-F238E27FC236}">
                <a16:creationId xmlns="" xmlns:a16="http://schemas.microsoft.com/office/drawing/2014/main" id="{F5E32523-284A-8B63-6CEA-0A9B21D65A82}"/>
              </a:ext>
            </a:extLst>
          </p:cNvPr>
          <p:cNvGraphicFramePr>
            <a:graphicFrameLocks noGrp="1"/>
          </p:cNvGraphicFramePr>
          <p:nvPr/>
        </p:nvGraphicFramePr>
        <p:xfrm>
          <a:off x="331911" y="936541"/>
          <a:ext cx="10275949" cy="5153184"/>
        </p:xfrm>
        <a:graphic>
          <a:graphicData uri="http://schemas.openxmlformats.org/drawingml/2006/table">
            <a:tbl>
              <a:tblPr/>
              <a:tblGrid>
                <a:gridCol w="748858">
                  <a:extLst>
                    <a:ext uri="{9D8B030D-6E8A-4147-A177-3AD203B41FA5}">
                      <a16:colId xmlns="" xmlns:a16="http://schemas.microsoft.com/office/drawing/2014/main" val="1424276263"/>
                    </a:ext>
                  </a:extLst>
                </a:gridCol>
                <a:gridCol w="1118012">
                  <a:extLst>
                    <a:ext uri="{9D8B030D-6E8A-4147-A177-3AD203B41FA5}">
                      <a16:colId xmlns="" xmlns:a16="http://schemas.microsoft.com/office/drawing/2014/main" val="579850757"/>
                    </a:ext>
                  </a:extLst>
                </a:gridCol>
                <a:gridCol w="1065276">
                  <a:extLst>
                    <a:ext uri="{9D8B030D-6E8A-4147-A177-3AD203B41FA5}">
                      <a16:colId xmlns="" xmlns:a16="http://schemas.microsoft.com/office/drawing/2014/main" val="1952244882"/>
                    </a:ext>
                  </a:extLst>
                </a:gridCol>
                <a:gridCol w="7343803">
                  <a:extLst>
                    <a:ext uri="{9D8B030D-6E8A-4147-A177-3AD203B41FA5}">
                      <a16:colId xmlns="" xmlns:a16="http://schemas.microsoft.com/office/drawing/2014/main" val="3847008033"/>
                    </a:ext>
                  </a:extLst>
                </a:gridCol>
              </a:tblGrid>
              <a:tr h="445997">
                <a:tc gridSpan="4">
                  <a:txBody>
                    <a:bodyPr/>
                    <a:lstStyle/>
                    <a:p>
                      <a:pPr algn="ctr" fontAlgn="ctr" latinLnBrk="0">
                        <a:buNone/>
                      </a:pPr>
                      <a:r>
                        <a:rPr lang="zh-CN" altLang="en-US" sz="1100" b="0" i="0" dirty="0">
                          <a:solidFill>
                            <a:srgbClr val="000000"/>
                          </a:solidFill>
                          <a:effectLst/>
                        </a:rPr>
                        <a:t>项目进漏斗时做准清单</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lnL w="6350" cap="flat" cmpd="sng" algn="ctr">
                      <a:solidFill>
                        <a:srgbClr val="1F2329"/>
                      </a:solidFill>
                      <a:prstDash val="solid"/>
                      <a:round/>
                      <a:headEnd type="none" w="med" len="med"/>
                      <a:tailEnd type="none" w="med" len="med"/>
                    </a:lnL>
                  </a:tcPr>
                </a:tc>
                <a:extLst>
                  <a:ext uri="{0D108BD9-81ED-4DB2-BD59-A6C34878D82A}">
                    <a16:rowId xmlns="" xmlns:a16="http://schemas.microsoft.com/office/drawing/2014/main" val="2299279229"/>
                  </a:ext>
                </a:extLst>
              </a:tr>
              <a:tr h="479066">
                <a:tc>
                  <a:txBody>
                    <a:bodyPr/>
                    <a:lstStyle/>
                    <a:p>
                      <a:pPr algn="ctr" fontAlgn="ctr" latinLnBrk="0">
                        <a:buNone/>
                      </a:pPr>
                      <a:r>
                        <a:rPr lang="zh-CN" altLang="en-US" sz="1100" b="0" i="0" dirty="0">
                          <a:solidFill>
                            <a:srgbClr val="000000"/>
                          </a:solidFill>
                          <a:effectLst/>
                        </a:rPr>
                        <a:t>工序步骤</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buNone/>
                      </a:pPr>
                      <a:r>
                        <a:rPr lang="zh-CN" altLang="en-US" sz="1100" b="0" i="0" dirty="0">
                          <a:solidFill>
                            <a:srgbClr val="000000"/>
                          </a:solidFill>
                          <a:effectLst/>
                        </a:rPr>
                        <a:t>工序名称</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buNone/>
                      </a:pPr>
                      <a:r>
                        <a:rPr lang="zh-CN" altLang="en-US" sz="1100" b="0" i="0" dirty="0">
                          <a:solidFill>
                            <a:srgbClr val="000000"/>
                          </a:solidFill>
                          <a:effectLst/>
                        </a:rPr>
                        <a:t>工序角色</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buNone/>
                      </a:pPr>
                      <a:r>
                        <a:rPr lang="zh-CN" altLang="en-US" sz="1100" b="0" i="0" dirty="0">
                          <a:solidFill>
                            <a:srgbClr val="000000"/>
                          </a:solidFill>
                          <a:effectLst/>
                        </a:rPr>
                        <a:t>操作指导</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B w="6350" cap="flat" cmpd="sng" algn="ctr">
                      <a:solidFill>
                        <a:srgbClr val="1F2329"/>
                      </a:solidFill>
                      <a:prstDash val="solid"/>
                      <a:round/>
                      <a:headEnd type="none" w="med" len="med"/>
                      <a:tailEnd type="none" w="med" len="med"/>
                    </a:lnB>
                    <a:solidFill>
                      <a:srgbClr val="8EE085"/>
                    </a:solidFill>
                  </a:tcPr>
                </a:tc>
                <a:extLst>
                  <a:ext uri="{0D108BD9-81ED-4DB2-BD59-A6C34878D82A}">
                    <a16:rowId xmlns="" xmlns:a16="http://schemas.microsoft.com/office/drawing/2014/main" val="2300142081"/>
                  </a:ext>
                </a:extLst>
              </a:tr>
              <a:tr h="968202">
                <a:tc>
                  <a:txBody>
                    <a:bodyPr/>
                    <a:lstStyle/>
                    <a:p>
                      <a:pPr algn="ctr" fontAlgn="ctr" latinLnBrk="0">
                        <a:lnSpc>
                          <a:spcPct val="150000"/>
                        </a:lnSpc>
                        <a:buNone/>
                      </a:pPr>
                      <a:r>
                        <a:rPr lang="en-US" altLang="zh-CN" sz="1200" b="0" i="0" dirty="0">
                          <a:solidFill>
                            <a:srgbClr val="000000"/>
                          </a:solidFill>
                          <a:effectLst/>
                        </a:rPr>
                        <a:t>1</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dirty="0">
                          <a:solidFill>
                            <a:srgbClr val="000000"/>
                          </a:solidFill>
                          <a:effectLst/>
                        </a:rPr>
                        <a:t>配置清单</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dirty="0">
                          <a:solidFill>
                            <a:srgbClr val="000000"/>
                          </a:solidFill>
                          <a:effectLst/>
                        </a:rPr>
                        <a:t>售前</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lnSpc>
                          <a:spcPct val="150000"/>
                        </a:lnSpc>
                        <a:buNone/>
                      </a:pPr>
                      <a:r>
                        <a:rPr lang="en-US" altLang="zh-CN" sz="1100" b="0" i="0" dirty="0">
                          <a:solidFill>
                            <a:srgbClr val="000000"/>
                          </a:solidFill>
                          <a:effectLst/>
                        </a:rPr>
                        <a:t>1</a:t>
                      </a:r>
                      <a:r>
                        <a:rPr lang="zh-CN" altLang="en-US" sz="1100" b="0" i="0" dirty="0">
                          <a:solidFill>
                            <a:srgbClr val="000000"/>
                          </a:solidFill>
                          <a:effectLst/>
                        </a:rPr>
                        <a:t>、接到销售需求，售前根据需求配置产品清单。</a:t>
                      </a:r>
                      <a:br>
                        <a:rPr lang="zh-CN" altLang="en-US" sz="1100" b="0" i="0" dirty="0">
                          <a:solidFill>
                            <a:srgbClr val="000000"/>
                          </a:solidFill>
                          <a:effectLst/>
                        </a:rPr>
                      </a:br>
                      <a:r>
                        <a:rPr lang="en-US" altLang="zh-CN" sz="1100" b="0" i="0" dirty="0">
                          <a:solidFill>
                            <a:srgbClr val="000000"/>
                          </a:solidFill>
                          <a:effectLst/>
                        </a:rPr>
                        <a:t>2</a:t>
                      </a:r>
                      <a:r>
                        <a:rPr lang="zh-CN" altLang="en-US" sz="1100" b="0" i="0" dirty="0">
                          <a:solidFill>
                            <a:srgbClr val="000000"/>
                          </a:solidFill>
                          <a:effectLst/>
                        </a:rPr>
                        <a:t>、按照清单可信度自评打分标准，</a:t>
                      </a:r>
                      <a:r>
                        <a:rPr lang="zh-CN" altLang="en-US" sz="1100" b="1" i="0" dirty="0">
                          <a:solidFill>
                            <a:srgbClr val="000000"/>
                          </a:solidFill>
                          <a:effectLst/>
                        </a:rPr>
                        <a:t>在系统中填写可信度评分</a:t>
                      </a:r>
                      <a:r>
                        <a:rPr lang="zh-CN" altLang="en-US" sz="1100" b="0" i="0" dirty="0">
                          <a:solidFill>
                            <a:srgbClr val="000000"/>
                          </a:solidFill>
                          <a:effectLst/>
                        </a:rPr>
                        <a:t>。</a:t>
                      </a:r>
                      <a:br>
                        <a:rPr lang="zh-CN" altLang="en-US" sz="1100" b="0" i="0" dirty="0">
                          <a:solidFill>
                            <a:srgbClr val="000000"/>
                          </a:solidFill>
                          <a:effectLst/>
                        </a:rPr>
                      </a:br>
                      <a:r>
                        <a:rPr lang="en-US" altLang="zh-CN" sz="1100" b="0" i="0" dirty="0">
                          <a:solidFill>
                            <a:srgbClr val="000000"/>
                          </a:solidFill>
                          <a:effectLst/>
                        </a:rPr>
                        <a:t>3</a:t>
                      </a:r>
                      <a:r>
                        <a:rPr lang="zh-CN" altLang="en-US" sz="1100" b="0" i="0" dirty="0">
                          <a:solidFill>
                            <a:srgbClr val="000000"/>
                          </a:solidFill>
                          <a:effectLst/>
                        </a:rPr>
                        <a:t>、把达标的产品清单分享给销售，</a:t>
                      </a:r>
                      <a:r>
                        <a:rPr lang="zh-CN" altLang="en-US" sz="1100" b="1" i="0" dirty="0">
                          <a:solidFill>
                            <a:srgbClr val="000000"/>
                          </a:solidFill>
                          <a:effectLst/>
                        </a:rPr>
                        <a:t>未达标无法分享</a:t>
                      </a:r>
                      <a:r>
                        <a:rPr lang="zh-CN" altLang="en-US" sz="1100" b="0" i="0" dirty="0">
                          <a:solidFill>
                            <a:srgbClr val="000000"/>
                          </a:solidFill>
                          <a:effectLst/>
                        </a:rPr>
                        <a:t>。</a:t>
                      </a:r>
                    </a:p>
                  </a:txBody>
                  <a:tcPr marL="82883" marR="82883" marT="41441" marB="41441">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extLst>
                  <a:ext uri="{0D108BD9-81ED-4DB2-BD59-A6C34878D82A}">
                    <a16:rowId xmlns="" xmlns:a16="http://schemas.microsoft.com/office/drawing/2014/main" val="2728066998"/>
                  </a:ext>
                </a:extLst>
              </a:tr>
              <a:tr h="1142773">
                <a:tc>
                  <a:txBody>
                    <a:bodyPr/>
                    <a:lstStyle/>
                    <a:p>
                      <a:pPr algn="ctr" fontAlgn="ctr" latinLnBrk="0">
                        <a:lnSpc>
                          <a:spcPct val="150000"/>
                        </a:lnSpc>
                        <a:buNone/>
                      </a:pPr>
                      <a:r>
                        <a:rPr lang="en-US" altLang="zh-CN" sz="1200" b="0" i="0">
                          <a:solidFill>
                            <a:srgbClr val="000000"/>
                          </a:solidFill>
                          <a:effectLst/>
                        </a:rPr>
                        <a:t>2</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dirty="0">
                          <a:solidFill>
                            <a:srgbClr val="000000"/>
                          </a:solidFill>
                          <a:effectLst/>
                        </a:rPr>
                        <a:t>录入清单</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dirty="0">
                          <a:solidFill>
                            <a:srgbClr val="000000"/>
                          </a:solidFill>
                          <a:effectLst/>
                        </a:rPr>
                        <a:t>销售</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lnSpc>
                          <a:spcPct val="150000"/>
                        </a:lnSpc>
                        <a:buNone/>
                      </a:pPr>
                      <a:r>
                        <a:rPr lang="en-US" altLang="zh-CN" sz="1100" b="0" i="0" dirty="0">
                          <a:solidFill>
                            <a:srgbClr val="000000"/>
                          </a:solidFill>
                          <a:effectLst/>
                        </a:rPr>
                        <a:t>1</a:t>
                      </a:r>
                      <a:r>
                        <a:rPr lang="zh-CN" altLang="en-US" sz="1100" b="0" i="0" dirty="0">
                          <a:solidFill>
                            <a:srgbClr val="000000"/>
                          </a:solidFill>
                          <a:effectLst/>
                        </a:rPr>
                        <a:t>、通知售前，</a:t>
                      </a:r>
                      <a:r>
                        <a:rPr lang="en-US" altLang="zh-CN" sz="1100" b="0" i="0" dirty="0">
                          <a:solidFill>
                            <a:srgbClr val="000000"/>
                          </a:solidFill>
                          <a:effectLst/>
                        </a:rPr>
                        <a:t>XX</a:t>
                      </a:r>
                      <a:r>
                        <a:rPr lang="zh-CN" altLang="en-US" sz="1100" b="0" i="0" dirty="0">
                          <a:solidFill>
                            <a:srgbClr val="000000"/>
                          </a:solidFill>
                          <a:effectLst/>
                        </a:rPr>
                        <a:t>项目准备进漏斗，需要更新一版清单。</a:t>
                      </a:r>
                      <a:br>
                        <a:rPr lang="zh-CN" altLang="en-US" sz="1100" b="0" i="0" dirty="0">
                          <a:solidFill>
                            <a:srgbClr val="000000"/>
                          </a:solidFill>
                          <a:effectLst/>
                        </a:rPr>
                      </a:br>
                      <a:r>
                        <a:rPr lang="en-US" altLang="zh-CN" sz="1100" b="0" i="0" dirty="0">
                          <a:solidFill>
                            <a:srgbClr val="000000"/>
                          </a:solidFill>
                          <a:effectLst/>
                        </a:rPr>
                        <a:t>2</a:t>
                      </a:r>
                      <a:r>
                        <a:rPr lang="zh-CN" altLang="en-US" sz="1100" b="0" i="0" dirty="0">
                          <a:solidFill>
                            <a:srgbClr val="000000"/>
                          </a:solidFill>
                          <a:effectLst/>
                        </a:rPr>
                        <a:t>、只能导入售前分享的最新清单（</a:t>
                      </a:r>
                      <a:r>
                        <a:rPr lang="zh-CN" altLang="en-US" sz="1100" b="1" i="0" dirty="0">
                          <a:solidFill>
                            <a:srgbClr val="000000"/>
                          </a:solidFill>
                          <a:effectLst/>
                        </a:rPr>
                        <a:t>唯一匹配且携带可信度评分</a:t>
                      </a:r>
                      <a:r>
                        <a:rPr lang="zh-CN" altLang="en-US" sz="1100" b="0" i="0" dirty="0">
                          <a:solidFill>
                            <a:srgbClr val="000000"/>
                          </a:solidFill>
                          <a:effectLst/>
                        </a:rPr>
                        <a:t>）。</a:t>
                      </a:r>
                      <a:br>
                        <a:rPr lang="zh-CN" altLang="en-US" sz="1100" b="0" i="0" dirty="0">
                          <a:solidFill>
                            <a:srgbClr val="000000"/>
                          </a:solidFill>
                          <a:effectLst/>
                        </a:rPr>
                      </a:br>
                      <a:r>
                        <a:rPr lang="en-US" altLang="zh-CN" sz="1100" b="0" i="0" dirty="0">
                          <a:solidFill>
                            <a:srgbClr val="000000"/>
                          </a:solidFill>
                          <a:effectLst/>
                        </a:rPr>
                        <a:t>3</a:t>
                      </a:r>
                      <a:r>
                        <a:rPr lang="zh-CN" altLang="en-US" sz="1100" b="0" i="0" dirty="0">
                          <a:solidFill>
                            <a:srgbClr val="000000"/>
                          </a:solidFill>
                          <a:effectLst/>
                        </a:rPr>
                        <a:t>、保存至</a:t>
                      </a:r>
                      <a:r>
                        <a:rPr lang="en-US" altLang="zh-CN" sz="1100" b="0" i="0" dirty="0">
                          <a:solidFill>
                            <a:srgbClr val="000000"/>
                          </a:solidFill>
                          <a:effectLst/>
                        </a:rPr>
                        <a:t>CRM</a:t>
                      </a:r>
                      <a:r>
                        <a:rPr lang="zh-CN" altLang="en-US" sz="1100" b="0" i="0" dirty="0">
                          <a:solidFill>
                            <a:srgbClr val="000000"/>
                          </a:solidFill>
                          <a:effectLst/>
                        </a:rPr>
                        <a:t>。</a:t>
                      </a:r>
                      <a:endParaRPr lang="en-US" altLang="zh-CN" sz="1100" b="0" i="0" dirty="0">
                        <a:solidFill>
                          <a:srgbClr val="000000"/>
                        </a:solidFill>
                        <a:effectLst/>
                      </a:endParaRPr>
                    </a:p>
                    <a:p>
                      <a:pPr algn="l" fontAlgn="ctr" latinLnBrk="0">
                        <a:lnSpc>
                          <a:spcPct val="150000"/>
                        </a:lnSpc>
                        <a:buNone/>
                      </a:pPr>
                      <a:r>
                        <a:rPr lang="zh-CN" altLang="en-US" sz="1000" b="0" i="0" dirty="0">
                          <a:solidFill>
                            <a:schemeClr val="tx1">
                              <a:lumMod val="50000"/>
                              <a:lumOff val="50000"/>
                            </a:schemeClr>
                          </a:solidFill>
                          <a:effectLst/>
                        </a:rPr>
                        <a:t>注：如果是销售自己配置的清单或渠道工程师配置的清单，需交由售前核准，售前核准后通过产品配置器分享给销售。</a:t>
                      </a:r>
                    </a:p>
                  </a:txBody>
                  <a:tcPr marL="82883" marR="82883" marT="41441" marB="41441">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extLst>
                  <a:ext uri="{0D108BD9-81ED-4DB2-BD59-A6C34878D82A}">
                    <a16:rowId xmlns="" xmlns:a16="http://schemas.microsoft.com/office/drawing/2014/main" val="690673922"/>
                  </a:ext>
                </a:extLst>
              </a:tr>
              <a:tr h="669098">
                <a:tc>
                  <a:txBody>
                    <a:bodyPr/>
                    <a:lstStyle/>
                    <a:p>
                      <a:pPr algn="ctr" fontAlgn="ctr" latinLnBrk="0">
                        <a:lnSpc>
                          <a:spcPct val="150000"/>
                        </a:lnSpc>
                        <a:buNone/>
                      </a:pPr>
                      <a:r>
                        <a:rPr lang="en-US" altLang="zh-CN" sz="1200" b="0" i="0">
                          <a:solidFill>
                            <a:srgbClr val="000000"/>
                          </a:solidFill>
                          <a:effectLst/>
                        </a:rPr>
                        <a:t>3</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dirty="0">
                          <a:solidFill>
                            <a:srgbClr val="000000"/>
                          </a:solidFill>
                          <a:effectLst/>
                        </a:rPr>
                        <a:t>提交申请</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dirty="0">
                          <a:solidFill>
                            <a:srgbClr val="000000"/>
                          </a:solidFill>
                          <a:effectLst/>
                        </a:rPr>
                        <a:t>销售</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lnSpc>
                          <a:spcPct val="150000"/>
                        </a:lnSpc>
                        <a:buNone/>
                      </a:pPr>
                      <a:r>
                        <a:rPr lang="en-US" altLang="zh-CN" sz="1100" b="0" i="0" dirty="0">
                          <a:solidFill>
                            <a:srgbClr val="000000"/>
                          </a:solidFill>
                          <a:effectLst/>
                        </a:rPr>
                        <a:t>1</a:t>
                      </a:r>
                      <a:r>
                        <a:rPr lang="zh-CN" altLang="en-US" sz="1100" b="0" i="0" dirty="0">
                          <a:solidFill>
                            <a:srgbClr val="000000"/>
                          </a:solidFill>
                          <a:effectLst/>
                        </a:rPr>
                        <a:t>、提交漏斗申请时，</a:t>
                      </a:r>
                      <a:r>
                        <a:rPr lang="en-US" altLang="zh-CN" sz="1100" b="1" i="0" dirty="0">
                          <a:solidFill>
                            <a:srgbClr val="000000"/>
                          </a:solidFill>
                          <a:effectLst/>
                        </a:rPr>
                        <a:t>CRM</a:t>
                      </a:r>
                      <a:r>
                        <a:rPr lang="zh-CN" altLang="en-US" sz="1100" b="1" i="0" dirty="0">
                          <a:solidFill>
                            <a:srgbClr val="000000"/>
                          </a:solidFill>
                          <a:effectLst/>
                        </a:rPr>
                        <a:t>系统自动判断产品清单可信度，不达标不允许提交</a:t>
                      </a:r>
                      <a:r>
                        <a:rPr lang="zh-CN" altLang="en-US" sz="1100" b="0" i="0" dirty="0">
                          <a:solidFill>
                            <a:srgbClr val="000000"/>
                          </a:solidFill>
                          <a:effectLst/>
                        </a:rPr>
                        <a:t>。</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extLst>
                  <a:ext uri="{0D108BD9-81ED-4DB2-BD59-A6C34878D82A}">
                    <a16:rowId xmlns="" xmlns:a16="http://schemas.microsoft.com/office/drawing/2014/main" val="509154941"/>
                  </a:ext>
                </a:extLst>
              </a:tr>
              <a:tr h="564274">
                <a:tc>
                  <a:txBody>
                    <a:bodyPr/>
                    <a:lstStyle/>
                    <a:p>
                      <a:pPr algn="ctr" fontAlgn="ctr" latinLnBrk="0">
                        <a:lnSpc>
                          <a:spcPct val="150000"/>
                        </a:lnSpc>
                        <a:buNone/>
                      </a:pPr>
                      <a:r>
                        <a:rPr lang="en-US" altLang="zh-CN" sz="1200" b="0" i="0">
                          <a:solidFill>
                            <a:srgbClr val="000000"/>
                          </a:solidFill>
                          <a:effectLst/>
                        </a:rPr>
                        <a:t>4</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dirty="0">
                          <a:solidFill>
                            <a:srgbClr val="000000"/>
                          </a:solidFill>
                          <a:effectLst/>
                        </a:rPr>
                        <a:t>审批漏斗</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a:solidFill>
                            <a:srgbClr val="000000"/>
                          </a:solidFill>
                          <a:effectLst/>
                        </a:rPr>
                        <a:t>区域经理</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lnSpc>
                          <a:spcPct val="150000"/>
                        </a:lnSpc>
                        <a:buNone/>
                      </a:pPr>
                      <a:r>
                        <a:rPr lang="en-US" altLang="zh-CN" sz="1100" b="0" i="0" dirty="0">
                          <a:solidFill>
                            <a:srgbClr val="000000"/>
                          </a:solidFill>
                          <a:effectLst/>
                        </a:rPr>
                        <a:t>1</a:t>
                      </a:r>
                      <a:r>
                        <a:rPr lang="zh-CN" altLang="en-US" sz="1100" b="0" i="0" dirty="0">
                          <a:solidFill>
                            <a:srgbClr val="000000"/>
                          </a:solidFill>
                          <a:effectLst/>
                        </a:rPr>
                        <a:t>、审批漏斗时，</a:t>
                      </a:r>
                      <a:r>
                        <a:rPr lang="zh-CN" altLang="en-US" sz="1100" b="1" i="0" dirty="0">
                          <a:solidFill>
                            <a:srgbClr val="000000"/>
                          </a:solidFill>
                          <a:effectLst/>
                        </a:rPr>
                        <a:t>可以看到产品清单可信度评分</a:t>
                      </a:r>
                      <a:r>
                        <a:rPr lang="zh-CN" altLang="en-US" sz="1100" b="0" i="0" dirty="0">
                          <a:solidFill>
                            <a:srgbClr val="000000"/>
                          </a:solidFill>
                          <a:effectLst/>
                        </a:rPr>
                        <a:t>。</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extLst>
                  <a:ext uri="{0D108BD9-81ED-4DB2-BD59-A6C34878D82A}">
                    <a16:rowId xmlns="" xmlns:a16="http://schemas.microsoft.com/office/drawing/2014/main" val="1630124422"/>
                  </a:ext>
                </a:extLst>
              </a:tr>
              <a:tr h="883774">
                <a:tc>
                  <a:txBody>
                    <a:bodyPr/>
                    <a:lstStyle/>
                    <a:p>
                      <a:pPr algn="ctr" fontAlgn="ctr" latinLnBrk="0">
                        <a:lnSpc>
                          <a:spcPct val="150000"/>
                        </a:lnSpc>
                        <a:buNone/>
                      </a:pPr>
                      <a:r>
                        <a:rPr lang="en-US" altLang="zh-CN" sz="1200" b="0" i="0">
                          <a:solidFill>
                            <a:srgbClr val="000000"/>
                          </a:solidFill>
                          <a:effectLst/>
                        </a:rPr>
                        <a:t>5</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a:solidFill>
                            <a:srgbClr val="000000"/>
                          </a:solidFill>
                          <a:effectLst/>
                        </a:rPr>
                        <a:t>清单校准</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100" b="0" i="0">
                          <a:solidFill>
                            <a:srgbClr val="000000"/>
                          </a:solidFill>
                          <a:effectLst/>
                        </a:rPr>
                        <a:t>售前</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l" fontAlgn="ctr" latinLnBrk="0">
                        <a:lnSpc>
                          <a:spcPct val="150000"/>
                        </a:lnSpc>
                        <a:buNone/>
                      </a:pPr>
                      <a:r>
                        <a:rPr lang="en-US" altLang="zh-CN" sz="1100" b="0" i="0" dirty="0">
                          <a:solidFill>
                            <a:srgbClr val="000000"/>
                          </a:solidFill>
                          <a:effectLst/>
                        </a:rPr>
                        <a:t>1</a:t>
                      </a:r>
                      <a:r>
                        <a:rPr lang="zh-CN" altLang="en-US" sz="1100" b="0" i="0" dirty="0">
                          <a:solidFill>
                            <a:srgbClr val="000000"/>
                          </a:solidFill>
                          <a:effectLst/>
                        </a:rPr>
                        <a:t>、进入</a:t>
                      </a:r>
                      <a:r>
                        <a:rPr lang="en-US" altLang="zh-CN" sz="1100" b="0" i="0" dirty="0">
                          <a:solidFill>
                            <a:srgbClr val="000000"/>
                          </a:solidFill>
                          <a:effectLst/>
                        </a:rPr>
                        <a:t>ECP</a:t>
                      </a:r>
                      <a:r>
                        <a:rPr lang="zh-CN" altLang="en-US" sz="1100" b="0" i="0" dirty="0">
                          <a:solidFill>
                            <a:srgbClr val="000000"/>
                          </a:solidFill>
                          <a:effectLst/>
                        </a:rPr>
                        <a:t>系统，检查配置器、</a:t>
                      </a:r>
                      <a:r>
                        <a:rPr lang="en-US" altLang="zh-CN" sz="1100" b="0" i="0" dirty="0">
                          <a:solidFill>
                            <a:srgbClr val="000000"/>
                          </a:solidFill>
                          <a:effectLst/>
                        </a:rPr>
                        <a:t>ECP</a:t>
                      </a:r>
                      <a:r>
                        <a:rPr lang="zh-CN" altLang="en-US" sz="1100" b="0" i="0" dirty="0">
                          <a:solidFill>
                            <a:srgbClr val="000000"/>
                          </a:solidFill>
                          <a:effectLst/>
                        </a:rPr>
                        <a:t>、</a:t>
                      </a:r>
                      <a:r>
                        <a:rPr lang="en-US" altLang="zh-CN" sz="1100" b="0" i="0" dirty="0">
                          <a:solidFill>
                            <a:srgbClr val="000000"/>
                          </a:solidFill>
                          <a:effectLst/>
                        </a:rPr>
                        <a:t>CRM</a:t>
                      </a:r>
                      <a:r>
                        <a:rPr lang="zh-CN" altLang="en-US" sz="1100" b="0" i="0" dirty="0">
                          <a:solidFill>
                            <a:srgbClr val="000000"/>
                          </a:solidFill>
                          <a:effectLst/>
                        </a:rPr>
                        <a:t>三者清单是否一致</a:t>
                      </a:r>
                    </a:p>
                  </a:txBody>
                  <a:tcPr marL="82883" marR="82883" marT="41441" marB="41441"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extLst>
                  <a:ext uri="{0D108BD9-81ED-4DB2-BD59-A6C34878D82A}">
                    <a16:rowId xmlns="" xmlns:a16="http://schemas.microsoft.com/office/drawing/2014/main" val="2268522579"/>
                  </a:ext>
                </a:extLst>
              </a:tr>
            </a:tbl>
          </a:graphicData>
        </a:graphic>
      </p:graphicFrame>
      <p:sp>
        <p:nvSpPr>
          <p:cNvPr id="4" name="Rectangle 1">
            <a:extLst>
              <a:ext uri="{FF2B5EF4-FFF2-40B4-BE49-F238E27FC236}">
                <a16:creationId xmlns="" xmlns:a16="http://schemas.microsoft.com/office/drawing/2014/main" id="{816253C5-A85F-B186-E021-EF531BED654B}"/>
              </a:ext>
            </a:extLst>
          </p:cNvPr>
          <p:cNvSpPr>
            <a:spLocks noChangeArrowheads="1"/>
          </p:cNvSpPr>
          <p:nvPr/>
        </p:nvSpPr>
        <p:spPr bwMode="auto">
          <a:xfrm>
            <a:off x="3998913" y="18240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8333045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61805A87-4C27-191E-28CF-51DB1CB3B306}"/>
            </a:ext>
          </a:extLst>
        </p:cNvPr>
        <p:cNvGrpSpPr/>
        <p:nvPr/>
      </p:nvGrpSpPr>
      <p:grpSpPr>
        <a:xfrm>
          <a:off x="0" y="0"/>
          <a:ext cx="0" cy="0"/>
          <a:chOff x="0" y="0"/>
          <a:chExt cx="0" cy="0"/>
        </a:xfrm>
      </p:grpSpPr>
      <p:sp>
        <p:nvSpPr>
          <p:cNvPr id="2" name="文本占位符 1">
            <a:extLst>
              <a:ext uri="{FF2B5EF4-FFF2-40B4-BE49-F238E27FC236}">
                <a16:creationId xmlns="" xmlns:a16="http://schemas.microsoft.com/office/drawing/2014/main" id="{ABEAB8F8-61D2-45C4-2679-5F236402DAAB}"/>
              </a:ext>
            </a:extLst>
          </p:cNvPr>
          <p:cNvSpPr>
            <a:spLocks noGrp="1"/>
          </p:cNvSpPr>
          <p:nvPr>
            <p:ph type="body" sz="quarter" idx="13"/>
          </p:nvPr>
        </p:nvSpPr>
        <p:spPr>
          <a:xfrm>
            <a:off x="573405" y="274320"/>
            <a:ext cx="7606768" cy="495935"/>
          </a:xfrm>
        </p:spPr>
        <p:txBody>
          <a:bodyPr/>
          <a:lstStyle/>
          <a:p>
            <a:r>
              <a:rPr lang="zh-CN" altLang="en-US" dirty="0"/>
              <a:t>业务流程</a:t>
            </a:r>
            <a:r>
              <a:rPr lang="en-US" altLang="zh-CN" dirty="0"/>
              <a:t>2-</a:t>
            </a:r>
            <a:r>
              <a:rPr lang="zh-CN" altLang="en-US" dirty="0"/>
              <a:t>漏斗内项目管理</a:t>
            </a:r>
          </a:p>
        </p:txBody>
      </p:sp>
      <p:sp>
        <p:nvSpPr>
          <p:cNvPr id="13" name="Rectangle 1">
            <a:extLst>
              <a:ext uri="{FF2B5EF4-FFF2-40B4-BE49-F238E27FC236}">
                <a16:creationId xmlns="" xmlns:a16="http://schemas.microsoft.com/office/drawing/2014/main" id="{E159B7D8-9C99-8CAF-256C-D01B96B54737}"/>
              </a:ext>
            </a:extLst>
          </p:cNvPr>
          <p:cNvSpPr>
            <a:spLocks noChangeArrowheads="1"/>
          </p:cNvSpPr>
          <p:nvPr/>
        </p:nvSpPr>
        <p:spPr bwMode="auto">
          <a:xfrm>
            <a:off x="4560888" y="256063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26" name="Rectangle 2">
            <a:extLst>
              <a:ext uri="{FF2B5EF4-FFF2-40B4-BE49-F238E27FC236}">
                <a16:creationId xmlns="" xmlns:a16="http://schemas.microsoft.com/office/drawing/2014/main" id="{E9090F20-03E6-4F10-CF12-D9844403489E}"/>
              </a:ext>
            </a:extLst>
          </p:cNvPr>
          <p:cNvSpPr>
            <a:spLocks noChangeArrowheads="1"/>
          </p:cNvSpPr>
          <p:nvPr/>
        </p:nvSpPr>
        <p:spPr bwMode="auto">
          <a:xfrm>
            <a:off x="4692650" y="30416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3" name="表格 2">
            <a:extLst>
              <a:ext uri="{FF2B5EF4-FFF2-40B4-BE49-F238E27FC236}">
                <a16:creationId xmlns="" xmlns:a16="http://schemas.microsoft.com/office/drawing/2014/main" id="{A238EAA0-6A4F-2D5B-8E11-8D71D505B339}"/>
              </a:ext>
            </a:extLst>
          </p:cNvPr>
          <p:cNvGraphicFramePr>
            <a:graphicFrameLocks noGrp="1"/>
          </p:cNvGraphicFramePr>
          <p:nvPr>
            <p:extLst>
              <p:ext uri="{D42A27DB-BD31-4B8C-83A1-F6EECF244321}">
                <p14:modId xmlns:p14="http://schemas.microsoft.com/office/powerpoint/2010/main" val="1980319396"/>
              </p:ext>
            </p:extLst>
          </p:nvPr>
        </p:nvGraphicFramePr>
        <p:xfrm>
          <a:off x="332593" y="1069338"/>
          <a:ext cx="11238872" cy="5098595"/>
        </p:xfrm>
        <a:graphic>
          <a:graphicData uri="http://schemas.openxmlformats.org/drawingml/2006/table">
            <a:tbl>
              <a:tblPr/>
              <a:tblGrid>
                <a:gridCol w="785435">
                  <a:extLst>
                    <a:ext uri="{9D8B030D-6E8A-4147-A177-3AD203B41FA5}">
                      <a16:colId xmlns="" xmlns:a16="http://schemas.microsoft.com/office/drawing/2014/main" val="3888131057"/>
                    </a:ext>
                  </a:extLst>
                </a:gridCol>
                <a:gridCol w="1054137">
                  <a:extLst>
                    <a:ext uri="{9D8B030D-6E8A-4147-A177-3AD203B41FA5}">
                      <a16:colId xmlns="" xmlns:a16="http://schemas.microsoft.com/office/drawing/2014/main" val="2282877473"/>
                    </a:ext>
                  </a:extLst>
                </a:gridCol>
                <a:gridCol w="1043804">
                  <a:extLst>
                    <a:ext uri="{9D8B030D-6E8A-4147-A177-3AD203B41FA5}">
                      <a16:colId xmlns="" xmlns:a16="http://schemas.microsoft.com/office/drawing/2014/main" val="2172044278"/>
                    </a:ext>
                  </a:extLst>
                </a:gridCol>
                <a:gridCol w="8355496">
                  <a:extLst>
                    <a:ext uri="{9D8B030D-6E8A-4147-A177-3AD203B41FA5}">
                      <a16:colId xmlns="" xmlns:a16="http://schemas.microsoft.com/office/drawing/2014/main" val="3166024810"/>
                    </a:ext>
                  </a:extLst>
                </a:gridCol>
              </a:tblGrid>
              <a:tr h="436682">
                <a:tc gridSpan="4">
                  <a:txBody>
                    <a:bodyPr/>
                    <a:lstStyle/>
                    <a:p>
                      <a:pPr algn="ctr" fontAlgn="ctr" latinLnBrk="0">
                        <a:lnSpc>
                          <a:spcPct val="150000"/>
                        </a:lnSpc>
                        <a:buNone/>
                      </a:pPr>
                      <a:r>
                        <a:rPr lang="zh-CN" altLang="en-US" sz="1100" b="0" i="0" dirty="0">
                          <a:solidFill>
                            <a:srgbClr val="000000"/>
                          </a:solidFill>
                          <a:effectLst/>
                        </a:rPr>
                        <a:t>漏内项目做准清单</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FFF258"/>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lnL w="6350" cap="flat" cmpd="sng" algn="ctr">
                      <a:solidFill>
                        <a:srgbClr val="1F2329"/>
                      </a:solidFill>
                      <a:prstDash val="solid"/>
                      <a:round/>
                      <a:headEnd type="none" w="med" len="med"/>
                      <a:tailEnd type="none" w="med" len="med"/>
                    </a:lnL>
                  </a:tcPr>
                </a:tc>
                <a:extLst>
                  <a:ext uri="{0D108BD9-81ED-4DB2-BD59-A6C34878D82A}">
                    <a16:rowId xmlns="" xmlns:a16="http://schemas.microsoft.com/office/drawing/2014/main" val="2800951906"/>
                  </a:ext>
                </a:extLst>
              </a:tr>
              <a:tr h="450424">
                <a:tc>
                  <a:txBody>
                    <a:bodyPr/>
                    <a:lstStyle/>
                    <a:p>
                      <a:pPr algn="ctr" fontAlgn="ctr" latinLnBrk="0">
                        <a:lnSpc>
                          <a:spcPct val="150000"/>
                        </a:lnSpc>
                        <a:buNone/>
                      </a:pPr>
                      <a:r>
                        <a:rPr lang="zh-CN" altLang="en-US" sz="1000" b="0" i="0">
                          <a:solidFill>
                            <a:srgbClr val="000000"/>
                          </a:solidFill>
                          <a:effectLst/>
                        </a:rPr>
                        <a:t>工序步骤</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lnSpc>
                          <a:spcPct val="150000"/>
                        </a:lnSpc>
                        <a:buNone/>
                      </a:pPr>
                      <a:r>
                        <a:rPr lang="zh-CN" altLang="en-US" sz="1000" b="0" i="0">
                          <a:solidFill>
                            <a:srgbClr val="000000"/>
                          </a:solidFill>
                          <a:effectLst/>
                        </a:rPr>
                        <a:t>工序名称</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lnSpc>
                          <a:spcPct val="150000"/>
                        </a:lnSpc>
                        <a:buNone/>
                      </a:pPr>
                      <a:r>
                        <a:rPr lang="zh-CN" altLang="en-US" sz="1000" b="0" i="0">
                          <a:solidFill>
                            <a:srgbClr val="000000"/>
                          </a:solidFill>
                          <a:effectLst/>
                        </a:rPr>
                        <a:t>工序角色</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lnSpc>
                          <a:spcPct val="150000"/>
                        </a:lnSpc>
                        <a:buNone/>
                      </a:pPr>
                      <a:r>
                        <a:rPr lang="zh-CN" altLang="en-US" sz="1000" b="0" i="0" dirty="0">
                          <a:solidFill>
                            <a:srgbClr val="000000"/>
                          </a:solidFill>
                          <a:effectLst/>
                        </a:rPr>
                        <a:t>操作指导</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B w="6350" cap="flat" cmpd="sng" algn="ctr">
                      <a:solidFill>
                        <a:srgbClr val="1F2329"/>
                      </a:solidFill>
                      <a:prstDash val="solid"/>
                      <a:round/>
                      <a:headEnd type="none" w="med" len="med"/>
                      <a:tailEnd type="none" w="med" len="med"/>
                    </a:lnB>
                    <a:solidFill>
                      <a:srgbClr val="8EE085"/>
                    </a:solidFill>
                  </a:tcPr>
                </a:tc>
                <a:extLst>
                  <a:ext uri="{0D108BD9-81ED-4DB2-BD59-A6C34878D82A}">
                    <a16:rowId xmlns="" xmlns:a16="http://schemas.microsoft.com/office/drawing/2014/main" val="1635360056"/>
                  </a:ext>
                </a:extLst>
              </a:tr>
              <a:tr h="1433383">
                <a:tc>
                  <a:txBody>
                    <a:bodyPr/>
                    <a:lstStyle/>
                    <a:p>
                      <a:pPr algn="ctr" fontAlgn="ctr" latinLnBrk="0">
                        <a:lnSpc>
                          <a:spcPct val="150000"/>
                        </a:lnSpc>
                        <a:buNone/>
                      </a:pPr>
                      <a:r>
                        <a:rPr lang="en-US" altLang="zh-CN" sz="1000" b="0" i="0" dirty="0">
                          <a:solidFill>
                            <a:srgbClr val="000000"/>
                          </a:solidFill>
                          <a:effectLst/>
                        </a:rPr>
                        <a:t>1</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000" b="0" i="0" dirty="0">
                          <a:solidFill>
                            <a:srgbClr val="000000"/>
                          </a:solidFill>
                          <a:effectLst/>
                        </a:rPr>
                        <a:t>日常项目自盘</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售前</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marL="0" marR="0" lvl="0" indent="0" algn="l" defTabSz="914400" rtl="0" eaLnBrk="1" fontAlgn="ctr" latinLnBrk="0" hangingPunct="1">
                        <a:lnSpc>
                          <a:spcPct val="150000"/>
                        </a:lnSpc>
                        <a:spcBef>
                          <a:spcPts val="0"/>
                        </a:spcBef>
                        <a:spcAft>
                          <a:spcPts val="0"/>
                        </a:spcAft>
                        <a:buClrTx/>
                        <a:buSzTx/>
                        <a:buFontTx/>
                        <a:buNone/>
                        <a:tabLst/>
                        <a:defRPr/>
                      </a:pPr>
                      <a:r>
                        <a:rPr lang="en-US" altLang="zh-CN" sz="1000" b="0" i="0" dirty="0">
                          <a:solidFill>
                            <a:srgbClr val="000000"/>
                          </a:solidFill>
                          <a:effectLst/>
                        </a:rPr>
                        <a:t>1</a:t>
                      </a:r>
                      <a:r>
                        <a:rPr lang="zh-CN" altLang="en-US" sz="1000" b="0" i="0" dirty="0">
                          <a:solidFill>
                            <a:srgbClr val="000000"/>
                          </a:solidFill>
                          <a:effectLst/>
                        </a:rPr>
                        <a:t>、项目的产品清单可信度自评打分，</a:t>
                      </a:r>
                      <a:r>
                        <a:rPr lang="zh-CN" altLang="en-US" sz="1000" b="1" i="0" dirty="0">
                          <a:solidFill>
                            <a:srgbClr val="000000"/>
                          </a:solidFill>
                          <a:effectLst/>
                        </a:rPr>
                        <a:t>记录在配置器</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t>
                      </a:r>
                      <a:r>
                        <a:rPr lang="zh-CN" altLang="en-US" sz="1000" b="0" i="0" dirty="0">
                          <a:solidFill>
                            <a:srgbClr val="000000"/>
                          </a:solidFill>
                          <a:effectLst/>
                        </a:rPr>
                        <a:t>；</a:t>
                      </a:r>
                      <a:endParaRPr lang="en-US" altLang="zh-CN" sz="1000" b="0" i="0" dirty="0">
                        <a:solidFill>
                          <a:srgbClr val="000000"/>
                        </a:solidFill>
                        <a:effectLst/>
                      </a:endParaRPr>
                    </a:p>
                    <a:p>
                      <a:pPr marL="0" marR="0" lvl="0" indent="0" algn="l" defTabSz="914400" rtl="0" eaLnBrk="1" fontAlgn="ctr" latinLnBrk="0" hangingPunct="1">
                        <a:lnSpc>
                          <a:spcPct val="150000"/>
                        </a:lnSpc>
                        <a:spcBef>
                          <a:spcPts val="0"/>
                        </a:spcBef>
                        <a:spcAft>
                          <a:spcPts val="0"/>
                        </a:spcAft>
                        <a:buClrTx/>
                        <a:buSzTx/>
                        <a:buFontTx/>
                        <a:buNone/>
                        <a:tabLst/>
                        <a:defRPr/>
                      </a:pPr>
                      <a:r>
                        <a:rPr lang="en-US" altLang="zh-CN" sz="1000" b="0" i="0" dirty="0">
                          <a:solidFill>
                            <a:srgbClr val="000000"/>
                          </a:solidFill>
                          <a:effectLst/>
                        </a:rPr>
                        <a:t>2</a:t>
                      </a:r>
                      <a:r>
                        <a:rPr lang="zh-CN" altLang="en-US" sz="1000" b="0" i="0" dirty="0">
                          <a:solidFill>
                            <a:srgbClr val="000000"/>
                          </a:solidFill>
                          <a:effectLst/>
                        </a:rPr>
                        <a:t>、产品清单（更新）分享销售，</a:t>
                      </a:r>
                      <a:r>
                        <a:rPr lang="zh-CN" altLang="en-US" sz="1000" b="1" i="0" dirty="0">
                          <a:solidFill>
                            <a:srgbClr val="000000"/>
                          </a:solidFill>
                          <a:effectLst/>
                        </a:rPr>
                        <a:t>带可信度评分</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t>
                      </a:r>
                      <a:r>
                        <a:rPr lang="zh-CN" altLang="en-US" sz="1000" b="0" i="0" dirty="0">
                          <a:solidFill>
                            <a:srgbClr val="000000"/>
                          </a:solidFill>
                          <a:effectLst/>
                        </a:rPr>
                        <a:t>；</a:t>
                      </a:r>
                      <a:endParaRPr lang="en-US" altLang="zh-CN" sz="1000" b="0" i="0" dirty="0">
                        <a:solidFill>
                          <a:srgbClr val="000000"/>
                        </a:solidFill>
                        <a:effectLst/>
                      </a:endParaRPr>
                    </a:p>
                    <a:p>
                      <a:pPr marL="0" marR="0" lvl="0" indent="0" algn="l" defTabSz="914400" rtl="0" eaLnBrk="1" fontAlgn="ctr" latinLnBrk="0" hangingPunct="1">
                        <a:lnSpc>
                          <a:spcPct val="150000"/>
                        </a:lnSpc>
                        <a:spcBef>
                          <a:spcPts val="0"/>
                        </a:spcBef>
                        <a:spcAft>
                          <a:spcPts val="0"/>
                        </a:spcAft>
                        <a:buClrTx/>
                        <a:buSzTx/>
                        <a:buFontTx/>
                        <a:buNone/>
                        <a:tabLst/>
                        <a:defRPr/>
                      </a:pPr>
                      <a:r>
                        <a:rPr lang="en-US" altLang="zh-CN" sz="1000" b="0" i="0" dirty="0">
                          <a:solidFill>
                            <a:srgbClr val="000000"/>
                          </a:solidFill>
                          <a:effectLst/>
                        </a:rPr>
                        <a:t>3</a:t>
                      </a:r>
                      <a:r>
                        <a:rPr lang="zh-CN" altLang="en-US" sz="1000" b="0" i="0" dirty="0">
                          <a:solidFill>
                            <a:srgbClr val="000000"/>
                          </a:solidFill>
                          <a:effectLst/>
                        </a:rPr>
                        <a:t>、</a:t>
                      </a:r>
                      <a:r>
                        <a:rPr lang="en-US" altLang="zh-CN" sz="1000" b="0" i="0" dirty="0">
                          <a:solidFill>
                            <a:srgbClr val="000000"/>
                          </a:solidFill>
                          <a:effectLst/>
                        </a:rPr>
                        <a:t>ECP</a:t>
                      </a:r>
                      <a:r>
                        <a:rPr lang="zh-CN" altLang="en-US" sz="1000" b="0" i="0" dirty="0">
                          <a:solidFill>
                            <a:srgbClr val="000000"/>
                          </a:solidFill>
                          <a:effectLst/>
                        </a:rPr>
                        <a:t>导入产品清单（唯一匹配），保存至</a:t>
                      </a:r>
                      <a:r>
                        <a:rPr lang="en-US" altLang="zh-CN" sz="1000" b="0" i="0" dirty="0">
                          <a:solidFill>
                            <a:srgbClr val="000000"/>
                          </a:solidFill>
                          <a:effectLst/>
                        </a:rPr>
                        <a:t>CRM</a:t>
                      </a:r>
                      <a:r>
                        <a:rPr lang="zh-CN" altLang="en-US" sz="1000" b="0" i="0" dirty="0">
                          <a:solidFill>
                            <a:srgbClr val="000000"/>
                          </a:solidFill>
                          <a:effectLst/>
                        </a:rPr>
                        <a:t>，带可信度评分</a:t>
                      </a:r>
                      <a:r>
                        <a:rPr lang="en-US" altLang="zh-CN" sz="1000" b="0" i="0" dirty="0">
                          <a:solidFill>
                            <a:srgbClr val="000000"/>
                          </a:solidFill>
                          <a:effectLst/>
                        </a:rPr>
                        <a:t>【</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4</a:t>
                      </a:r>
                      <a:r>
                        <a:rPr lang="zh-CN" altLang="en-US" sz="1000" b="0" i="0" dirty="0">
                          <a:solidFill>
                            <a:srgbClr val="000000"/>
                          </a:solidFill>
                          <a:effectLst/>
                        </a:rPr>
                        <a:t>、</a:t>
                      </a:r>
                      <a:r>
                        <a:rPr lang="en-US" altLang="zh-CN" sz="1000" b="0" i="0" dirty="0">
                          <a:solidFill>
                            <a:srgbClr val="000000"/>
                          </a:solidFill>
                          <a:effectLst/>
                        </a:rPr>
                        <a:t>CRM</a:t>
                      </a:r>
                      <a:r>
                        <a:rPr lang="zh-CN" altLang="en-US" sz="1000" b="0" i="0" dirty="0">
                          <a:solidFill>
                            <a:srgbClr val="000000"/>
                          </a:solidFill>
                          <a:effectLst/>
                        </a:rPr>
                        <a:t>系统自动比对项目的产品清单可信度是否达标</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5</a:t>
                      </a:r>
                      <a:r>
                        <a:rPr lang="zh-CN" altLang="en-US" sz="1000" b="0" i="0" dirty="0">
                          <a:solidFill>
                            <a:srgbClr val="000000"/>
                          </a:solidFill>
                          <a:effectLst/>
                        </a:rPr>
                        <a:t>、</a:t>
                      </a:r>
                      <a:r>
                        <a:rPr lang="zh-CN" altLang="en-US" sz="1000" b="1" i="0" dirty="0">
                          <a:solidFill>
                            <a:srgbClr val="000000"/>
                          </a:solidFill>
                          <a:effectLst/>
                        </a:rPr>
                        <a:t>如果未达标</a:t>
                      </a:r>
                      <a:r>
                        <a:rPr lang="zh-CN" altLang="en-US" sz="1000" b="0" i="0" dirty="0">
                          <a:solidFill>
                            <a:srgbClr val="000000"/>
                          </a:solidFill>
                          <a:effectLst/>
                        </a:rPr>
                        <a:t>，每日邮件提醒销售和售前，</a:t>
                      </a:r>
                      <a:r>
                        <a:rPr lang="en-US" altLang="zh-CN" sz="1000" b="0" i="0" dirty="0">
                          <a:solidFill>
                            <a:srgbClr val="000000"/>
                          </a:solidFill>
                          <a:effectLst/>
                        </a:rPr>
                        <a:t>30</a:t>
                      </a:r>
                      <a:r>
                        <a:rPr lang="zh-CN" altLang="en-US" sz="1000" b="0" i="0" dirty="0">
                          <a:solidFill>
                            <a:srgbClr val="000000"/>
                          </a:solidFill>
                          <a:effectLst/>
                        </a:rPr>
                        <a:t>天内必达标</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6</a:t>
                      </a:r>
                      <a:r>
                        <a:rPr lang="zh-CN" altLang="en-US" sz="1000" b="0" i="0" dirty="0">
                          <a:solidFill>
                            <a:srgbClr val="000000"/>
                          </a:solidFill>
                          <a:effectLst/>
                        </a:rPr>
                        <a:t>、售前更新产品清单分享销售，销售更新到</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&amp;</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7</a:t>
                      </a:r>
                      <a:r>
                        <a:rPr lang="zh-CN" altLang="en-US" sz="1000" b="0" i="0" dirty="0">
                          <a:solidFill>
                            <a:srgbClr val="000000"/>
                          </a:solidFill>
                          <a:effectLst/>
                        </a:rPr>
                        <a:t>、校准清单是否准确</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t>
                      </a:r>
                      <a:r>
                        <a:rPr lang="zh-CN" altLang="en-US" sz="1000" b="0" i="0" dirty="0">
                          <a:solidFill>
                            <a:srgbClr val="000000"/>
                          </a:solidFill>
                          <a:effectLst/>
                        </a:rPr>
                        <a:t>。</a:t>
                      </a:r>
                      <a:endParaRPr lang="en-US" altLang="zh-CN" sz="1000" b="0" i="0" dirty="0">
                        <a:solidFill>
                          <a:srgbClr val="000000"/>
                        </a:solidFill>
                        <a:effectLst/>
                      </a:endParaRP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extLst>
                  <a:ext uri="{0D108BD9-81ED-4DB2-BD59-A6C34878D82A}">
                    <a16:rowId xmlns="" xmlns:a16="http://schemas.microsoft.com/office/drawing/2014/main" val="580977653"/>
                  </a:ext>
                </a:extLst>
              </a:tr>
              <a:tr h="1233784">
                <a:tc>
                  <a:txBody>
                    <a:bodyPr/>
                    <a:lstStyle/>
                    <a:p>
                      <a:pPr algn="ctr" fontAlgn="ctr" latinLnBrk="0">
                        <a:lnSpc>
                          <a:spcPct val="150000"/>
                        </a:lnSpc>
                        <a:buNone/>
                      </a:pPr>
                      <a:r>
                        <a:rPr lang="en-US" altLang="zh-CN" sz="1000" b="0" i="0" dirty="0">
                          <a:solidFill>
                            <a:srgbClr val="000000"/>
                          </a:solidFill>
                          <a:effectLst/>
                        </a:rPr>
                        <a:t>2</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000" b="0" i="0" dirty="0">
                          <a:solidFill>
                            <a:srgbClr val="000000"/>
                          </a:solidFill>
                          <a:effectLst/>
                        </a:rPr>
                        <a:t>提升预测类别</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售前</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marL="0" marR="0" lvl="0" indent="0" algn="l" defTabSz="914400" rtl="0" eaLnBrk="1" fontAlgn="ctr" latinLnBrk="0" hangingPunct="1">
                        <a:lnSpc>
                          <a:spcPct val="150000"/>
                        </a:lnSpc>
                        <a:spcBef>
                          <a:spcPts val="0"/>
                        </a:spcBef>
                        <a:spcAft>
                          <a:spcPts val="0"/>
                        </a:spcAft>
                        <a:buClrTx/>
                        <a:buSzTx/>
                        <a:buFontTx/>
                        <a:buNone/>
                        <a:tabLst/>
                        <a:defRPr/>
                      </a:pPr>
                      <a:r>
                        <a:rPr lang="en-US" altLang="zh-CN" sz="1000" b="0" i="0" dirty="0">
                          <a:solidFill>
                            <a:srgbClr val="000000"/>
                          </a:solidFill>
                          <a:effectLst/>
                        </a:rPr>
                        <a:t>1</a:t>
                      </a:r>
                      <a:r>
                        <a:rPr lang="zh-CN" altLang="en-US" sz="1000" b="0" i="0" dirty="0">
                          <a:solidFill>
                            <a:srgbClr val="000000"/>
                          </a:solidFill>
                          <a:effectLst/>
                        </a:rPr>
                        <a:t>、项目预测类别变化</a:t>
                      </a:r>
                      <a:r>
                        <a:rPr lang="en-US" altLang="zh-CN" sz="1000" b="0" i="0" dirty="0">
                          <a:solidFill>
                            <a:srgbClr val="000000"/>
                          </a:solidFill>
                          <a:effectLst/>
                        </a:rPr>
                        <a:t>【</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a:t>
                      </a:r>
                      <a:endParaRPr lang="en-US" altLang="zh-CN" sz="1000" b="0" i="0" dirty="0">
                        <a:solidFill>
                          <a:srgbClr val="000000"/>
                        </a:solidFill>
                        <a:effectLst/>
                      </a:endParaRPr>
                    </a:p>
                    <a:p>
                      <a:pPr algn="l" fontAlgn="ctr" latinLnBrk="0">
                        <a:lnSpc>
                          <a:spcPct val="150000"/>
                        </a:lnSpc>
                        <a:buNone/>
                      </a:pPr>
                      <a:r>
                        <a:rPr lang="en-US" altLang="zh-CN" sz="1000" b="0" i="0" dirty="0">
                          <a:solidFill>
                            <a:srgbClr val="000000"/>
                          </a:solidFill>
                          <a:effectLst/>
                        </a:rPr>
                        <a:t>2</a:t>
                      </a:r>
                      <a:r>
                        <a:rPr lang="zh-CN" altLang="en-US" sz="1000" b="0" i="0" dirty="0">
                          <a:solidFill>
                            <a:srgbClr val="000000"/>
                          </a:solidFill>
                          <a:effectLst/>
                        </a:rPr>
                        <a:t>、</a:t>
                      </a:r>
                      <a:r>
                        <a:rPr lang="en-US" altLang="zh-CN" sz="1000" b="1" i="0" dirty="0">
                          <a:solidFill>
                            <a:srgbClr val="000000"/>
                          </a:solidFill>
                          <a:effectLst/>
                        </a:rPr>
                        <a:t>CRM</a:t>
                      </a:r>
                      <a:r>
                        <a:rPr lang="zh-CN" altLang="en-US" sz="1000" b="1" i="0" dirty="0">
                          <a:solidFill>
                            <a:srgbClr val="000000"/>
                          </a:solidFill>
                          <a:effectLst/>
                        </a:rPr>
                        <a:t>系统自动比对</a:t>
                      </a:r>
                      <a:r>
                        <a:rPr lang="zh-CN" altLang="en-US" sz="1000" b="0" i="0" dirty="0">
                          <a:solidFill>
                            <a:srgbClr val="000000"/>
                          </a:solidFill>
                          <a:effectLst/>
                        </a:rPr>
                        <a:t>项目的产品清单可信度是否达标</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3</a:t>
                      </a:r>
                      <a:r>
                        <a:rPr lang="zh-CN" altLang="en-US" sz="1000" b="0" i="0" dirty="0">
                          <a:solidFill>
                            <a:srgbClr val="000000"/>
                          </a:solidFill>
                          <a:effectLst/>
                        </a:rPr>
                        <a:t>、</a:t>
                      </a:r>
                      <a:r>
                        <a:rPr lang="zh-CN" altLang="en-US" sz="1000" b="1" i="0" dirty="0">
                          <a:solidFill>
                            <a:srgbClr val="000000"/>
                          </a:solidFill>
                          <a:effectLst/>
                        </a:rPr>
                        <a:t>如果未达标</a:t>
                      </a:r>
                      <a:r>
                        <a:rPr lang="zh-CN" altLang="en-US" sz="1000" b="0" i="0" dirty="0">
                          <a:solidFill>
                            <a:srgbClr val="000000"/>
                          </a:solidFill>
                          <a:effectLst/>
                        </a:rPr>
                        <a:t>，每日邮件提醒销售和售前，</a:t>
                      </a:r>
                      <a:r>
                        <a:rPr lang="en-US" altLang="zh-CN" sz="1000" b="1" i="0" dirty="0">
                          <a:solidFill>
                            <a:srgbClr val="000000"/>
                          </a:solidFill>
                          <a:effectLst/>
                        </a:rPr>
                        <a:t>30</a:t>
                      </a:r>
                      <a:r>
                        <a:rPr lang="zh-CN" altLang="en-US" sz="1000" b="1" i="0" dirty="0">
                          <a:solidFill>
                            <a:srgbClr val="000000"/>
                          </a:solidFill>
                          <a:effectLst/>
                        </a:rPr>
                        <a:t>天内</a:t>
                      </a:r>
                      <a:r>
                        <a:rPr lang="zh-CN" altLang="en-US" sz="1000" b="0" i="0" dirty="0">
                          <a:solidFill>
                            <a:srgbClr val="000000"/>
                          </a:solidFill>
                          <a:effectLst/>
                        </a:rPr>
                        <a:t>必达标</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4</a:t>
                      </a:r>
                      <a:r>
                        <a:rPr lang="zh-CN" altLang="en-US" sz="1000" b="0" i="0" dirty="0">
                          <a:solidFill>
                            <a:srgbClr val="000000"/>
                          </a:solidFill>
                          <a:effectLst/>
                        </a:rPr>
                        <a:t>、售前更新产品清单分享销售，销售更新到</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&amp;</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5</a:t>
                      </a:r>
                      <a:r>
                        <a:rPr lang="zh-CN" altLang="en-US" sz="1000" b="0" i="0" dirty="0">
                          <a:solidFill>
                            <a:srgbClr val="000000"/>
                          </a:solidFill>
                          <a:effectLst/>
                        </a:rPr>
                        <a:t>、校准清单是否准确</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t>
                      </a:r>
                      <a:r>
                        <a:rPr lang="zh-CN" altLang="en-US" sz="1000" b="0" i="0" dirty="0">
                          <a:solidFill>
                            <a:srgbClr val="000000"/>
                          </a:solidFill>
                          <a:effectLst/>
                        </a:rPr>
                        <a:t>。</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extLst>
                  <a:ext uri="{0D108BD9-81ED-4DB2-BD59-A6C34878D82A}">
                    <a16:rowId xmlns="" xmlns:a16="http://schemas.microsoft.com/office/drawing/2014/main" val="3767137226"/>
                  </a:ext>
                </a:extLst>
              </a:tr>
              <a:tr h="1319097">
                <a:tc>
                  <a:txBody>
                    <a:bodyPr/>
                    <a:lstStyle/>
                    <a:p>
                      <a:pPr algn="ctr" fontAlgn="ctr" latinLnBrk="0">
                        <a:lnSpc>
                          <a:spcPct val="150000"/>
                        </a:lnSpc>
                        <a:buNone/>
                      </a:pPr>
                      <a:r>
                        <a:rPr lang="en-US" altLang="zh-CN" sz="1000" b="0" i="0">
                          <a:solidFill>
                            <a:srgbClr val="000000"/>
                          </a:solidFill>
                          <a:effectLst/>
                        </a:rPr>
                        <a:t>3</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000" b="0" i="0" dirty="0">
                          <a:solidFill>
                            <a:srgbClr val="000000"/>
                          </a:solidFill>
                          <a:effectLst/>
                        </a:rPr>
                        <a:t>更新开标时间</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algn="ctr" fontAlgn="ctr" latinLnBrk="0">
                        <a:lnSpc>
                          <a:spcPct val="150000"/>
                        </a:lnSpc>
                        <a:buNone/>
                      </a:pP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售前</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tc>
                  <a:txBody>
                    <a:bodyPr/>
                    <a:lstStyle/>
                    <a:p>
                      <a:pPr marL="0" marR="0" lvl="0" indent="0" algn="l" defTabSz="914400" rtl="0" eaLnBrk="1" fontAlgn="ctr" latinLnBrk="0" hangingPunct="1">
                        <a:lnSpc>
                          <a:spcPct val="150000"/>
                        </a:lnSpc>
                        <a:spcBef>
                          <a:spcPts val="0"/>
                        </a:spcBef>
                        <a:spcAft>
                          <a:spcPts val="0"/>
                        </a:spcAft>
                        <a:buClrTx/>
                        <a:buSzTx/>
                        <a:buFontTx/>
                        <a:buNone/>
                        <a:tabLst/>
                        <a:defRPr/>
                      </a:pPr>
                      <a:r>
                        <a:rPr lang="en-US" altLang="zh-CN" sz="1000" b="0" i="0" dirty="0">
                          <a:solidFill>
                            <a:srgbClr val="000000"/>
                          </a:solidFill>
                          <a:effectLst/>
                        </a:rPr>
                        <a:t>1</a:t>
                      </a:r>
                      <a:r>
                        <a:rPr lang="zh-CN" altLang="en-US" sz="1000" b="0" i="0" dirty="0">
                          <a:solidFill>
                            <a:srgbClr val="000000"/>
                          </a:solidFill>
                          <a:effectLst/>
                        </a:rPr>
                        <a:t>、项目开标时间变化</a:t>
                      </a:r>
                      <a:r>
                        <a:rPr lang="en-US" altLang="zh-CN" sz="1000" b="0" i="0" dirty="0">
                          <a:solidFill>
                            <a:srgbClr val="000000"/>
                          </a:solidFill>
                          <a:effectLst/>
                        </a:rPr>
                        <a:t>【</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2</a:t>
                      </a:r>
                      <a:r>
                        <a:rPr lang="zh-CN" altLang="en-US" sz="1000" b="0" i="0" dirty="0">
                          <a:solidFill>
                            <a:srgbClr val="000000"/>
                          </a:solidFill>
                          <a:effectLst/>
                        </a:rPr>
                        <a:t>、</a:t>
                      </a:r>
                      <a:r>
                        <a:rPr lang="en-US" altLang="zh-CN" sz="1000" b="1" i="0" dirty="0">
                          <a:solidFill>
                            <a:srgbClr val="000000"/>
                          </a:solidFill>
                          <a:effectLst/>
                        </a:rPr>
                        <a:t>CRM</a:t>
                      </a:r>
                      <a:r>
                        <a:rPr lang="zh-CN" altLang="en-US" sz="1000" b="1" i="0" dirty="0">
                          <a:solidFill>
                            <a:srgbClr val="000000"/>
                          </a:solidFill>
                          <a:effectLst/>
                        </a:rPr>
                        <a:t>系统自动比对</a:t>
                      </a:r>
                      <a:r>
                        <a:rPr lang="zh-CN" altLang="en-US" sz="1000" b="0" i="0" dirty="0">
                          <a:solidFill>
                            <a:srgbClr val="000000"/>
                          </a:solidFill>
                          <a:effectLst/>
                        </a:rPr>
                        <a:t>项目的产品清单可信度是否达标</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3</a:t>
                      </a:r>
                      <a:r>
                        <a:rPr lang="zh-CN" altLang="en-US" sz="1000" b="0" i="0" dirty="0">
                          <a:solidFill>
                            <a:srgbClr val="000000"/>
                          </a:solidFill>
                          <a:effectLst/>
                        </a:rPr>
                        <a:t>、</a:t>
                      </a:r>
                      <a:r>
                        <a:rPr lang="zh-CN" altLang="en-US" sz="1000" b="1" i="0" dirty="0">
                          <a:solidFill>
                            <a:srgbClr val="000000"/>
                          </a:solidFill>
                          <a:effectLst/>
                        </a:rPr>
                        <a:t>如果未达标</a:t>
                      </a:r>
                      <a:r>
                        <a:rPr lang="zh-CN" altLang="en-US" sz="1000" b="0" i="0" dirty="0">
                          <a:solidFill>
                            <a:srgbClr val="000000"/>
                          </a:solidFill>
                          <a:effectLst/>
                        </a:rPr>
                        <a:t>，每日邮件提醒销售和售前，</a:t>
                      </a:r>
                      <a:r>
                        <a:rPr lang="en-US" altLang="zh-CN" sz="1000" b="1" i="0" dirty="0">
                          <a:solidFill>
                            <a:srgbClr val="000000"/>
                          </a:solidFill>
                          <a:effectLst/>
                        </a:rPr>
                        <a:t>7</a:t>
                      </a:r>
                      <a:r>
                        <a:rPr lang="zh-CN" altLang="en-US" sz="1000" b="1" i="0" dirty="0">
                          <a:solidFill>
                            <a:srgbClr val="000000"/>
                          </a:solidFill>
                          <a:effectLst/>
                        </a:rPr>
                        <a:t>天内</a:t>
                      </a:r>
                      <a:r>
                        <a:rPr lang="zh-CN" altLang="en-US" sz="1000" b="0" i="0" dirty="0">
                          <a:solidFill>
                            <a:srgbClr val="000000"/>
                          </a:solidFill>
                          <a:effectLst/>
                        </a:rPr>
                        <a:t>必达标</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4</a:t>
                      </a:r>
                      <a:r>
                        <a:rPr lang="zh-CN" altLang="en-US" sz="1000" b="0" i="0" dirty="0">
                          <a:solidFill>
                            <a:srgbClr val="000000"/>
                          </a:solidFill>
                          <a:effectLst/>
                        </a:rPr>
                        <a:t>、售前更新产品清单分享销售，销售更新到</a:t>
                      </a:r>
                      <a:r>
                        <a:rPr lang="en-US" altLang="zh-CN" sz="1000" b="0" i="0" dirty="0">
                          <a:solidFill>
                            <a:srgbClr val="000000"/>
                          </a:solidFill>
                          <a:effectLst/>
                        </a:rPr>
                        <a:t>CRM</a:t>
                      </a:r>
                      <a:r>
                        <a:rPr lang="zh-CN" altLang="en-US" sz="1000" b="0" i="0" dirty="0">
                          <a:solidFill>
                            <a:srgbClr val="000000"/>
                          </a:solidFill>
                          <a:effectLst/>
                        </a:rPr>
                        <a:t>系统</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&amp;</a:t>
                      </a:r>
                      <a:r>
                        <a:rPr lang="zh-CN" altLang="en-US" sz="1000" b="0" i="0" dirty="0">
                          <a:solidFill>
                            <a:srgbClr val="000000"/>
                          </a:solidFill>
                          <a:effectLst/>
                        </a:rPr>
                        <a:t>销售</a:t>
                      </a:r>
                      <a:r>
                        <a:rPr lang="en-US" altLang="zh-CN" sz="1000" b="0" i="0" dirty="0">
                          <a:solidFill>
                            <a:srgbClr val="000000"/>
                          </a:solidFill>
                          <a:effectLst/>
                        </a:rPr>
                        <a:t>】</a:t>
                      </a:r>
                      <a:r>
                        <a:rPr lang="zh-CN" altLang="en-US" sz="1000" b="0" i="0" dirty="0">
                          <a:solidFill>
                            <a:srgbClr val="000000"/>
                          </a:solidFill>
                          <a:effectLst/>
                        </a:rPr>
                        <a:t>；</a:t>
                      </a:r>
                      <a:br>
                        <a:rPr lang="zh-CN" altLang="en-US" sz="1000" b="0" i="0" dirty="0">
                          <a:solidFill>
                            <a:srgbClr val="000000"/>
                          </a:solidFill>
                          <a:effectLst/>
                        </a:rPr>
                      </a:br>
                      <a:r>
                        <a:rPr lang="en-US" altLang="zh-CN" sz="1000" b="0" i="0" dirty="0">
                          <a:solidFill>
                            <a:srgbClr val="000000"/>
                          </a:solidFill>
                          <a:effectLst/>
                        </a:rPr>
                        <a:t>5</a:t>
                      </a:r>
                      <a:r>
                        <a:rPr lang="zh-CN" altLang="en-US" sz="1000" b="0" i="0" dirty="0">
                          <a:solidFill>
                            <a:srgbClr val="000000"/>
                          </a:solidFill>
                          <a:effectLst/>
                        </a:rPr>
                        <a:t>、校准清单是否准确</a:t>
                      </a:r>
                      <a:r>
                        <a:rPr lang="en-US" altLang="zh-CN" sz="1000" b="0" i="0" dirty="0">
                          <a:solidFill>
                            <a:srgbClr val="000000"/>
                          </a:solidFill>
                          <a:effectLst/>
                        </a:rPr>
                        <a:t>【</a:t>
                      </a:r>
                      <a:r>
                        <a:rPr lang="zh-CN" altLang="en-US" sz="1000" b="0" i="0" dirty="0">
                          <a:solidFill>
                            <a:srgbClr val="000000"/>
                          </a:solidFill>
                          <a:effectLst/>
                        </a:rPr>
                        <a:t>售前</a:t>
                      </a:r>
                      <a:r>
                        <a:rPr lang="en-US" altLang="zh-CN" sz="1000" b="0" i="0" dirty="0">
                          <a:solidFill>
                            <a:srgbClr val="000000"/>
                          </a:solidFill>
                          <a:effectLst/>
                        </a:rPr>
                        <a:t>】</a:t>
                      </a:r>
                      <a:r>
                        <a:rPr lang="zh-CN" altLang="en-US" sz="1000" b="0" i="0" dirty="0">
                          <a:solidFill>
                            <a:srgbClr val="000000"/>
                          </a:solidFill>
                          <a:effectLst/>
                        </a:rPr>
                        <a:t>。</a:t>
                      </a:r>
                    </a:p>
                  </a:txBody>
                  <a:tcPr marL="58407" marR="58407" marT="29204" marB="29204"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noFill/>
                  </a:tcPr>
                </a:tc>
                <a:extLst>
                  <a:ext uri="{0D108BD9-81ED-4DB2-BD59-A6C34878D82A}">
                    <a16:rowId xmlns="" xmlns:a16="http://schemas.microsoft.com/office/drawing/2014/main" val="1881572835"/>
                  </a:ext>
                </a:extLst>
              </a:tr>
            </a:tbl>
          </a:graphicData>
        </a:graphic>
      </p:graphicFrame>
      <p:sp>
        <p:nvSpPr>
          <p:cNvPr id="4" name="Rectangle 1">
            <a:extLst>
              <a:ext uri="{FF2B5EF4-FFF2-40B4-BE49-F238E27FC236}">
                <a16:creationId xmlns="" xmlns:a16="http://schemas.microsoft.com/office/drawing/2014/main" id="{DE354879-F838-3B2F-1128-7576190C7D42}"/>
              </a:ext>
            </a:extLst>
          </p:cNvPr>
          <p:cNvSpPr>
            <a:spLocks noChangeArrowheads="1"/>
          </p:cNvSpPr>
          <p:nvPr/>
        </p:nvSpPr>
        <p:spPr bwMode="auto">
          <a:xfrm>
            <a:off x="4610100" y="16906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Tree>
    <p:extLst>
      <p:ext uri="{BB962C8B-B14F-4D97-AF65-F5344CB8AC3E}">
        <p14:creationId xmlns:p14="http://schemas.microsoft.com/office/powerpoint/2010/main" val="16167878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26796" y="3993925"/>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4" y="2368089"/>
            <a:ext cx="7317595" cy="3463544"/>
          </a:xfrm>
          <a:prstGeom prst="rect">
            <a:avLst/>
          </a:prstGeom>
        </p:spPr>
        <p:txBody>
          <a:bodyPr vert="horz" lIns="91440" tIns="45720" rIns="91440" bIns="45720" rtlCol="0">
            <a:normAutofit lnSpcReduction="10000"/>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smtClean="0"/>
              <a:t>背景与目标</a:t>
            </a:r>
            <a:endParaRPr lang="en-US" altLang="zh-CN" dirty="0"/>
          </a:p>
          <a:p>
            <a:pPr marL="342900" indent="-342900">
              <a:lnSpc>
                <a:spcPct val="150000"/>
              </a:lnSpc>
              <a:buFont typeface="Arial" panose="020B0604020202020204" pitchFamily="34" charset="0"/>
              <a:buChar char="•"/>
              <a:defRPr/>
            </a:pPr>
            <a:r>
              <a:rPr lang="zh-CN" altLang="en-US" dirty="0" smtClean="0"/>
              <a:t>实践举措</a:t>
            </a:r>
            <a:endParaRPr lang="en-US" altLang="zh-CN" dirty="0"/>
          </a:p>
          <a:p>
            <a:pPr marL="342900" indent="-342900">
              <a:lnSpc>
                <a:spcPct val="150000"/>
              </a:lnSpc>
              <a:buFont typeface="Arial" panose="020B0604020202020204" pitchFamily="34" charset="0"/>
              <a:buChar char="•"/>
              <a:defRPr/>
            </a:pPr>
            <a:r>
              <a:rPr lang="zh-CN" altLang="en-US" dirty="0" smtClean="0"/>
              <a:t>方案介绍：如何做准</a:t>
            </a:r>
            <a:r>
              <a:rPr lang="en-US" altLang="zh-CN" dirty="0" smtClean="0"/>
              <a:t>N</a:t>
            </a:r>
            <a:endParaRPr lang="en-US" altLang="zh-CN" dirty="0"/>
          </a:p>
          <a:p>
            <a:pPr marL="342900" indent="-342900">
              <a:lnSpc>
                <a:spcPct val="150000"/>
              </a:lnSpc>
              <a:buFont typeface="Arial" panose="020B0604020202020204" pitchFamily="34" charset="0"/>
              <a:buChar char="•"/>
              <a:defRPr/>
            </a:pPr>
            <a:r>
              <a:rPr lang="zh-CN" altLang="en-US" dirty="0" smtClean="0"/>
              <a:t>方案介绍：如何作准</a:t>
            </a:r>
            <a:r>
              <a:rPr lang="en-US" altLang="zh-CN" dirty="0" smtClean="0"/>
              <a:t>T</a:t>
            </a:r>
            <a:endParaRPr lang="en-US" altLang="zh-CN" dirty="0"/>
          </a:p>
          <a:p>
            <a:pPr marL="342900" indent="-342900">
              <a:lnSpc>
                <a:spcPct val="150000"/>
              </a:lnSpc>
              <a:buFont typeface="Arial" panose="020B0604020202020204" pitchFamily="34" charset="0"/>
              <a:buChar char="•"/>
              <a:defRPr/>
            </a:pPr>
            <a:r>
              <a:rPr lang="zh-CN" altLang="en-US" dirty="0" smtClean="0"/>
              <a:t>实践效果</a:t>
            </a:r>
            <a:r>
              <a:rPr lang="en-US" altLang="zh-CN" dirty="0" smtClean="0"/>
              <a:t>-</a:t>
            </a:r>
            <a:r>
              <a:rPr lang="zh-CN" altLang="en-US" dirty="0" smtClean="0"/>
              <a:t>试点区域验证结果</a:t>
            </a:r>
            <a:endParaRPr lang="en-US" altLang="zh-CN" dirty="0" smtClean="0"/>
          </a:p>
          <a:p>
            <a:pPr marL="342900" indent="-342900">
              <a:lnSpc>
                <a:spcPct val="150000"/>
              </a:lnSpc>
              <a:buFont typeface="Arial" panose="020B0604020202020204" pitchFamily="34" charset="0"/>
              <a:buChar char="•"/>
              <a:defRPr/>
            </a:pPr>
            <a:r>
              <a:rPr lang="zh-CN" altLang="en-US" dirty="0" smtClean="0"/>
              <a:t>心得体会，认知感悟</a:t>
            </a:r>
            <a:endParaRPr dirty="0"/>
          </a:p>
        </p:txBody>
      </p:sp>
    </p:spTree>
    <p:extLst>
      <p:ext uri="{BB962C8B-B14F-4D97-AF65-F5344CB8AC3E}">
        <p14:creationId xmlns:p14="http://schemas.microsoft.com/office/powerpoint/2010/main" val="20591833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a:t>3T</a:t>
            </a:r>
            <a:r>
              <a:rPr lang="zh-CN" altLang="en-US" dirty="0"/>
              <a:t>的定义</a:t>
            </a:r>
          </a:p>
        </p:txBody>
      </p:sp>
      <p:graphicFrame>
        <p:nvGraphicFramePr>
          <p:cNvPr id="8" name="表格 7"/>
          <p:cNvGraphicFramePr>
            <a:graphicFrameLocks noGrp="1"/>
          </p:cNvGraphicFramePr>
          <p:nvPr/>
        </p:nvGraphicFramePr>
        <p:xfrm>
          <a:off x="923732" y="2584867"/>
          <a:ext cx="10067728" cy="4229849"/>
        </p:xfrm>
        <a:graphic>
          <a:graphicData uri="http://schemas.openxmlformats.org/drawingml/2006/table">
            <a:tbl>
              <a:tblPr/>
              <a:tblGrid>
                <a:gridCol w="836322">
                  <a:extLst>
                    <a:ext uri="{9D8B030D-6E8A-4147-A177-3AD203B41FA5}">
                      <a16:colId xmlns="" xmlns:a16="http://schemas.microsoft.com/office/drawing/2014/main" val="20000"/>
                    </a:ext>
                  </a:extLst>
                </a:gridCol>
                <a:gridCol w="1168702">
                  <a:extLst>
                    <a:ext uri="{9D8B030D-6E8A-4147-A177-3AD203B41FA5}">
                      <a16:colId xmlns="" xmlns:a16="http://schemas.microsoft.com/office/drawing/2014/main" val="20001"/>
                    </a:ext>
                  </a:extLst>
                </a:gridCol>
                <a:gridCol w="2584011">
                  <a:extLst>
                    <a:ext uri="{9D8B030D-6E8A-4147-A177-3AD203B41FA5}">
                      <a16:colId xmlns="" xmlns:a16="http://schemas.microsoft.com/office/drawing/2014/main" val="20002"/>
                    </a:ext>
                  </a:extLst>
                </a:gridCol>
                <a:gridCol w="5478693">
                  <a:extLst>
                    <a:ext uri="{9D8B030D-6E8A-4147-A177-3AD203B41FA5}">
                      <a16:colId xmlns="" xmlns:a16="http://schemas.microsoft.com/office/drawing/2014/main" val="20003"/>
                    </a:ext>
                  </a:extLst>
                </a:gridCol>
              </a:tblGrid>
              <a:tr h="324315">
                <a:tc>
                  <a:txBody>
                    <a:bodyPr/>
                    <a:lstStyle/>
                    <a:p>
                      <a:pPr algn="ctr" fontAlgn="ctr" latinLnBrk="0"/>
                      <a:r>
                        <a:rPr lang="zh-CN" altLang="en-US" sz="1400" b="1" i="0" dirty="0">
                          <a:solidFill>
                            <a:srgbClr val="000000"/>
                          </a:solidFill>
                          <a:effectLst/>
                        </a:rPr>
                        <a:t>序号</a:t>
                      </a:r>
                    </a:p>
                  </a:txBody>
                  <a:tcPr anchor="ctr">
                    <a:lnL w="6350" cap="flat" cmpd="sng" algn="ctr">
                      <a:solidFill>
                        <a:srgbClr val="8072FA"/>
                      </a:solidFill>
                      <a:prstDash val="solid"/>
                      <a:round/>
                      <a:headEnd type="none" w="med" len="med"/>
                      <a:tailEnd type="none" w="med" len="med"/>
                    </a:lnL>
                    <a:lnR w="6350" cap="flat" cmpd="sng" algn="ctr">
                      <a:solidFill>
                        <a:srgbClr val="C074FA"/>
                      </a:solidFill>
                      <a:prstDash val="solid"/>
                      <a:round/>
                      <a:headEnd type="none" w="med" len="med"/>
                      <a:tailEnd type="none" w="med" len="med"/>
                    </a:lnR>
                    <a:lnT w="6350" cap="flat" cmpd="sng" algn="ctr">
                      <a:solidFill>
                        <a:srgbClr val="8072FA"/>
                      </a:solidFill>
                      <a:prstDash val="solid"/>
                      <a:round/>
                      <a:headEnd type="none" w="med" len="med"/>
                      <a:tailEnd type="none" w="med" len="med"/>
                    </a:lnT>
                    <a:lnB w="6350" cap="flat" cmpd="sng" algn="ctr">
                      <a:solidFill>
                        <a:srgbClr val="A070FA"/>
                      </a:solidFill>
                      <a:prstDash val="solid"/>
                      <a:round/>
                      <a:headEnd type="none" w="med" len="med"/>
                      <a:tailEnd type="none" w="med" len="med"/>
                    </a:lnB>
                    <a:solidFill>
                      <a:srgbClr val="FBE2D5"/>
                    </a:solidFill>
                  </a:tcPr>
                </a:tc>
                <a:tc>
                  <a:txBody>
                    <a:bodyPr/>
                    <a:lstStyle/>
                    <a:p>
                      <a:pPr algn="ctr" fontAlgn="ctr" latinLnBrk="0"/>
                      <a:r>
                        <a:rPr lang="en-US" sz="1400" b="1" i="0" dirty="0">
                          <a:solidFill>
                            <a:srgbClr val="000000"/>
                          </a:solidFill>
                          <a:effectLst/>
                        </a:rPr>
                        <a:t>3T</a:t>
                      </a:r>
                    </a:p>
                  </a:txBody>
                  <a:tcPr anchor="ctr">
                    <a:lnL w="6350" cap="flat" cmpd="sng" algn="ctr">
                      <a:solidFill>
                        <a:srgbClr val="C074FA"/>
                      </a:solidFill>
                      <a:prstDash val="solid"/>
                      <a:round/>
                      <a:headEnd type="none" w="med" len="med"/>
                      <a:tailEnd type="none" w="med" len="med"/>
                    </a:lnL>
                    <a:lnR w="6350" cap="flat" cmpd="sng" algn="ctr">
                      <a:solidFill>
                        <a:srgbClr val="D073FA"/>
                      </a:solidFill>
                      <a:prstDash val="solid"/>
                      <a:round/>
                      <a:headEnd type="none" w="med" len="med"/>
                      <a:tailEnd type="none" w="med" len="med"/>
                    </a:lnR>
                    <a:lnT w="6350" cap="flat" cmpd="sng" algn="ctr">
                      <a:solidFill>
                        <a:srgbClr val="C074FA"/>
                      </a:solidFill>
                      <a:prstDash val="solid"/>
                      <a:round/>
                      <a:headEnd type="none" w="med" len="med"/>
                      <a:tailEnd type="none" w="med" len="med"/>
                    </a:lnT>
                    <a:lnB w="6350" cap="flat" cmpd="sng" algn="ctr">
                      <a:solidFill>
                        <a:srgbClr val="206CFA"/>
                      </a:solidFill>
                      <a:prstDash val="solid"/>
                      <a:round/>
                      <a:headEnd type="none" w="med" len="med"/>
                      <a:tailEnd type="none" w="med" len="med"/>
                    </a:lnB>
                    <a:solidFill>
                      <a:srgbClr val="FBE2D5"/>
                    </a:solidFill>
                  </a:tcPr>
                </a:tc>
                <a:tc>
                  <a:txBody>
                    <a:bodyPr/>
                    <a:lstStyle/>
                    <a:p>
                      <a:pPr algn="ctr" fontAlgn="ctr" latinLnBrk="0"/>
                      <a:r>
                        <a:rPr lang="zh-CN" altLang="en-US" sz="1400" b="1" i="0">
                          <a:solidFill>
                            <a:srgbClr val="000000"/>
                          </a:solidFill>
                          <a:effectLst/>
                        </a:rPr>
                        <a:t>项目分类</a:t>
                      </a:r>
                    </a:p>
                  </a:txBody>
                  <a:tcPr anchor="ctr">
                    <a:lnL w="6350" cap="flat" cmpd="sng" algn="ctr">
                      <a:solidFill>
                        <a:srgbClr val="D073FA"/>
                      </a:solidFill>
                      <a:prstDash val="solid"/>
                      <a:round/>
                      <a:headEnd type="none" w="med" len="med"/>
                      <a:tailEnd type="none" w="med" len="med"/>
                    </a:lnL>
                    <a:lnR w="6350" cap="flat" cmpd="sng" algn="ctr">
                      <a:solidFill>
                        <a:srgbClr val="F074FA"/>
                      </a:solidFill>
                      <a:prstDash val="solid"/>
                      <a:round/>
                      <a:headEnd type="none" w="med" len="med"/>
                      <a:tailEnd type="none" w="med" len="med"/>
                    </a:lnR>
                    <a:lnT w="6350" cap="flat" cmpd="sng" algn="ctr">
                      <a:solidFill>
                        <a:srgbClr val="D073FA"/>
                      </a:solidFill>
                      <a:prstDash val="solid"/>
                      <a:round/>
                      <a:headEnd type="none" w="med" len="med"/>
                      <a:tailEnd type="none" w="med" len="med"/>
                    </a:lnT>
                    <a:lnB w="6350" cap="flat" cmpd="sng" algn="ctr">
                      <a:solidFill>
                        <a:srgbClr val="B072FA"/>
                      </a:solidFill>
                      <a:prstDash val="solid"/>
                      <a:round/>
                      <a:headEnd type="none" w="med" len="med"/>
                      <a:tailEnd type="none" w="med" len="med"/>
                    </a:lnB>
                    <a:solidFill>
                      <a:srgbClr val="FBE2D5"/>
                    </a:solidFill>
                  </a:tcPr>
                </a:tc>
                <a:tc>
                  <a:txBody>
                    <a:bodyPr/>
                    <a:lstStyle/>
                    <a:p>
                      <a:pPr algn="ctr" fontAlgn="ctr" latinLnBrk="0"/>
                      <a:r>
                        <a:rPr lang="zh-CN" altLang="en-US" sz="1400" b="1" i="0" dirty="0">
                          <a:solidFill>
                            <a:srgbClr val="000000"/>
                          </a:solidFill>
                          <a:effectLst/>
                        </a:rPr>
                        <a:t>定义</a:t>
                      </a:r>
                      <a:r>
                        <a:rPr lang="en-US" sz="1400" b="1" i="0" dirty="0">
                          <a:solidFill>
                            <a:srgbClr val="000000"/>
                          </a:solidFill>
                          <a:effectLst/>
                        </a:rPr>
                        <a:t>V1.0</a:t>
                      </a:r>
                    </a:p>
                  </a:txBody>
                  <a:tcPr anchor="ctr">
                    <a:lnL w="6350" cap="flat" cmpd="sng" algn="ctr">
                      <a:solidFill>
                        <a:srgbClr val="F074FA"/>
                      </a:solidFill>
                      <a:prstDash val="solid"/>
                      <a:round/>
                      <a:headEnd type="none" w="med" len="med"/>
                      <a:tailEnd type="none" w="med" len="med"/>
                    </a:lnL>
                    <a:lnR w="6350" cap="flat" cmpd="sng" algn="ctr">
                      <a:solidFill>
                        <a:srgbClr val="F074FA"/>
                      </a:solidFill>
                      <a:prstDash val="solid"/>
                      <a:round/>
                      <a:headEnd type="none" w="med" len="med"/>
                      <a:tailEnd type="none" w="med" len="med"/>
                    </a:lnR>
                    <a:lnT w="6350" cap="flat" cmpd="sng" algn="ctr">
                      <a:solidFill>
                        <a:srgbClr val="F074FA"/>
                      </a:solidFill>
                      <a:prstDash val="solid"/>
                      <a:round/>
                      <a:headEnd type="none" w="med" len="med"/>
                      <a:tailEnd type="none" w="med" len="med"/>
                    </a:lnT>
                    <a:lnB w="6350" cap="flat" cmpd="sng" algn="ctr">
                      <a:solidFill>
                        <a:srgbClr val="C06EFA"/>
                      </a:solidFill>
                      <a:prstDash val="solid"/>
                      <a:round/>
                      <a:headEnd type="none" w="med" len="med"/>
                      <a:tailEnd type="none" w="med" len="med"/>
                    </a:lnB>
                    <a:solidFill>
                      <a:srgbClr val="FBE2D5"/>
                    </a:solidFill>
                  </a:tcPr>
                </a:tc>
                <a:extLst>
                  <a:ext uri="{0D108BD9-81ED-4DB2-BD59-A6C34878D82A}">
                    <a16:rowId xmlns="" xmlns:a16="http://schemas.microsoft.com/office/drawing/2014/main" val="10000"/>
                  </a:ext>
                </a:extLst>
              </a:tr>
              <a:tr h="551336">
                <a:tc>
                  <a:txBody>
                    <a:bodyPr/>
                    <a:lstStyle/>
                    <a:p>
                      <a:pPr algn="ctr" fontAlgn="ctr" latinLnBrk="0"/>
                      <a:r>
                        <a:rPr lang="en-US" altLang="zh-CN" sz="1400" b="0" i="0" dirty="0">
                          <a:solidFill>
                            <a:srgbClr val="000000"/>
                          </a:solidFill>
                          <a:effectLst/>
                        </a:rPr>
                        <a:t>1</a:t>
                      </a:r>
                    </a:p>
                  </a:txBody>
                  <a:tcPr anchor="ctr">
                    <a:lnL w="6350" cap="flat" cmpd="sng" algn="ctr">
                      <a:solidFill>
                        <a:srgbClr val="A070FA"/>
                      </a:solidFill>
                      <a:prstDash val="solid"/>
                      <a:round/>
                      <a:headEnd type="none" w="med" len="med"/>
                      <a:tailEnd type="none" w="med" len="med"/>
                    </a:lnL>
                    <a:lnR w="6350" cap="flat" cmpd="sng" algn="ctr">
                      <a:solidFill>
                        <a:srgbClr val="206CFA"/>
                      </a:solidFill>
                      <a:prstDash val="solid"/>
                      <a:round/>
                      <a:headEnd type="none" w="med" len="med"/>
                      <a:tailEnd type="none" w="med" len="med"/>
                    </a:lnR>
                    <a:lnT w="6350" cap="flat" cmpd="sng" algn="ctr">
                      <a:solidFill>
                        <a:srgbClr val="A070FA"/>
                      </a:solidFill>
                      <a:prstDash val="solid"/>
                      <a:round/>
                      <a:headEnd type="none" w="med" len="med"/>
                      <a:tailEnd type="none" w="med" len="med"/>
                    </a:lnT>
                    <a:lnB w="6350" cap="flat" cmpd="sng" algn="ctr">
                      <a:solidFill>
                        <a:srgbClr val="0074FA"/>
                      </a:solidFill>
                      <a:prstDash val="solid"/>
                      <a:round/>
                      <a:headEnd type="none" w="med" len="med"/>
                      <a:tailEnd type="none" w="med" len="med"/>
                    </a:lnB>
                  </a:tcPr>
                </a:tc>
                <a:tc>
                  <a:txBody>
                    <a:bodyPr/>
                    <a:lstStyle/>
                    <a:p>
                      <a:pPr algn="ctr" fontAlgn="ctr" latinLnBrk="0"/>
                      <a:r>
                        <a:rPr lang="zh-CN" altLang="en-US" sz="1400" b="0" i="0" dirty="0">
                          <a:solidFill>
                            <a:srgbClr val="000000"/>
                          </a:solidFill>
                          <a:effectLst/>
                        </a:rPr>
                        <a:t>要求到货时间</a:t>
                      </a:r>
                    </a:p>
                  </a:txBody>
                  <a:tcPr anchor="ctr">
                    <a:lnL w="6350" cap="flat" cmpd="sng" algn="ctr">
                      <a:solidFill>
                        <a:srgbClr val="206CFA"/>
                      </a:solidFill>
                      <a:prstDash val="solid"/>
                      <a:round/>
                      <a:headEnd type="none" w="med" len="med"/>
                      <a:tailEnd type="none" w="med" len="med"/>
                    </a:lnL>
                    <a:lnR w="6350" cap="flat" cmpd="sng" algn="ctr">
                      <a:solidFill>
                        <a:srgbClr val="B072FA"/>
                      </a:solidFill>
                      <a:prstDash val="solid"/>
                      <a:round/>
                      <a:headEnd type="none" w="med" len="med"/>
                      <a:tailEnd type="none" w="med" len="med"/>
                    </a:lnR>
                    <a:lnT w="6350" cap="flat" cmpd="sng" algn="ctr">
                      <a:solidFill>
                        <a:srgbClr val="206CFA"/>
                      </a:solidFill>
                      <a:prstDash val="solid"/>
                      <a:round/>
                      <a:headEnd type="none" w="med" len="med"/>
                      <a:tailEnd type="none" w="med" len="med"/>
                    </a:lnT>
                    <a:lnB w="6350" cap="flat" cmpd="sng" algn="ctr">
                      <a:solidFill>
                        <a:srgbClr val="707CFA"/>
                      </a:solidFill>
                      <a:prstDash val="solid"/>
                      <a:round/>
                      <a:headEnd type="none" w="med" len="med"/>
                      <a:tailEnd type="none" w="med" len="med"/>
                    </a:lnB>
                  </a:tcPr>
                </a:tc>
                <a:tc>
                  <a:txBody>
                    <a:bodyPr/>
                    <a:lstStyle/>
                    <a:p>
                      <a:pPr algn="l" fontAlgn="ctr" latinLnBrk="0"/>
                      <a:r>
                        <a:rPr lang="zh-CN" altLang="en-US" sz="1400" b="0" i="0">
                          <a:solidFill>
                            <a:srgbClr val="000000"/>
                          </a:solidFill>
                          <a:effectLst/>
                        </a:rPr>
                        <a:t>所有项目</a:t>
                      </a:r>
                    </a:p>
                  </a:txBody>
                  <a:tcPr anchor="ctr">
                    <a:lnL w="6350" cap="flat" cmpd="sng" algn="ctr">
                      <a:solidFill>
                        <a:srgbClr val="B072FA"/>
                      </a:solidFill>
                      <a:prstDash val="solid"/>
                      <a:round/>
                      <a:headEnd type="none" w="med" len="med"/>
                      <a:tailEnd type="none" w="med" len="med"/>
                    </a:lnL>
                    <a:lnR w="6350" cap="flat" cmpd="sng" algn="ctr">
                      <a:solidFill>
                        <a:srgbClr val="C06EFA"/>
                      </a:solidFill>
                      <a:prstDash val="solid"/>
                      <a:round/>
                      <a:headEnd type="none" w="med" len="med"/>
                      <a:tailEnd type="none" w="med" len="med"/>
                    </a:lnR>
                    <a:lnT w="6350" cap="flat" cmpd="sng" algn="ctr">
                      <a:solidFill>
                        <a:srgbClr val="B072FA"/>
                      </a:solidFill>
                      <a:prstDash val="solid"/>
                      <a:round/>
                      <a:headEnd type="none" w="med" len="med"/>
                      <a:tailEnd type="none" w="med" len="med"/>
                    </a:lnT>
                    <a:lnB w="6350" cap="flat" cmpd="sng" algn="ctr">
                      <a:solidFill>
                        <a:srgbClr val="C07AFA"/>
                      </a:solidFill>
                      <a:prstDash val="solid"/>
                      <a:round/>
                      <a:headEnd type="none" w="med" len="med"/>
                      <a:tailEnd type="none" w="med" len="med"/>
                    </a:lnB>
                  </a:tcPr>
                </a:tc>
                <a:tc>
                  <a:txBody>
                    <a:bodyPr/>
                    <a:lstStyle/>
                    <a:p>
                      <a:pPr algn="l" fontAlgn="ctr" latinLnBrk="0">
                        <a:lnSpc>
                          <a:spcPct val="150000"/>
                        </a:lnSpc>
                      </a:pPr>
                      <a:r>
                        <a:rPr lang="zh-CN" altLang="en-US" sz="1400" b="0" i="0" dirty="0">
                          <a:solidFill>
                            <a:srgbClr val="000000"/>
                          </a:solidFill>
                          <a:effectLst/>
                        </a:rPr>
                        <a:t>以最终设备使用或者上线时间来倒推（</a:t>
                      </a:r>
                      <a:r>
                        <a:rPr lang="zh-CN" altLang="en-US" sz="1400" b="0" i="0" dirty="0">
                          <a:solidFill>
                            <a:srgbClr val="000000"/>
                          </a:solidFill>
                        </a:rPr>
                        <a:t>客户希望货到现场的时间，不限于我司，而是客户针对这个项目要求到货时间。备注：“要求到货时间”跟“是否备货”不再强关联）</a:t>
                      </a:r>
                      <a:r>
                        <a:rPr lang="zh-CN" altLang="en-US" sz="1400" b="0" i="0" dirty="0">
                          <a:solidFill>
                            <a:srgbClr val="000000"/>
                          </a:solidFill>
                          <a:effectLst/>
                        </a:rPr>
                        <a:t>）</a:t>
                      </a:r>
                    </a:p>
                  </a:txBody>
                  <a:tcPr anchor="ctr">
                    <a:lnL w="6350" cap="flat" cmpd="sng" algn="ctr">
                      <a:solidFill>
                        <a:srgbClr val="C06EFA"/>
                      </a:solidFill>
                      <a:prstDash val="solid"/>
                      <a:round/>
                      <a:headEnd type="none" w="med" len="med"/>
                      <a:tailEnd type="none" w="med" len="med"/>
                    </a:lnL>
                    <a:lnR w="6350" cap="flat" cmpd="sng" algn="ctr">
                      <a:solidFill>
                        <a:srgbClr val="C06EFA"/>
                      </a:solidFill>
                      <a:prstDash val="solid"/>
                      <a:round/>
                      <a:headEnd type="none" w="med" len="med"/>
                      <a:tailEnd type="none" w="med" len="med"/>
                    </a:lnR>
                    <a:lnT w="6350" cap="flat" cmpd="sng" algn="ctr">
                      <a:solidFill>
                        <a:srgbClr val="C06EFA"/>
                      </a:solidFill>
                      <a:prstDash val="solid"/>
                      <a:round/>
                      <a:headEnd type="none" w="med" len="med"/>
                      <a:tailEnd type="none" w="med" len="med"/>
                    </a:lnT>
                    <a:lnB w="6350" cap="flat" cmpd="sng" algn="ctr">
                      <a:solidFill>
                        <a:srgbClr val="C07AFA"/>
                      </a:solidFill>
                      <a:prstDash val="solid"/>
                      <a:round/>
                      <a:headEnd type="none" w="med" len="med"/>
                      <a:tailEnd type="none" w="med" len="med"/>
                    </a:lnB>
                  </a:tcPr>
                </a:tc>
                <a:extLst>
                  <a:ext uri="{0D108BD9-81ED-4DB2-BD59-A6C34878D82A}">
                    <a16:rowId xmlns="" xmlns:a16="http://schemas.microsoft.com/office/drawing/2014/main" val="10001"/>
                  </a:ext>
                </a:extLst>
              </a:tr>
              <a:tr h="551336">
                <a:tc>
                  <a:txBody>
                    <a:bodyPr/>
                    <a:lstStyle/>
                    <a:p>
                      <a:pPr algn="ctr" fontAlgn="ctr" latinLnBrk="0"/>
                      <a:r>
                        <a:rPr lang="en-US" altLang="zh-CN" sz="1400" b="0" i="0">
                          <a:solidFill>
                            <a:srgbClr val="000000"/>
                          </a:solidFill>
                          <a:effectLst/>
                        </a:rPr>
                        <a:t>2</a:t>
                      </a:r>
                    </a:p>
                  </a:txBody>
                  <a:tcPr anchor="ctr">
                    <a:lnL w="6350" cap="flat" cmpd="sng" algn="ctr">
                      <a:solidFill>
                        <a:srgbClr val="0074FA"/>
                      </a:solidFill>
                      <a:prstDash val="solid"/>
                      <a:round/>
                      <a:headEnd type="none" w="med" len="med"/>
                      <a:tailEnd type="none" w="med" len="med"/>
                    </a:lnL>
                    <a:lnR w="6350" cap="flat" cmpd="sng" algn="ctr">
                      <a:solidFill>
                        <a:srgbClr val="707CFA"/>
                      </a:solidFill>
                      <a:prstDash val="solid"/>
                      <a:round/>
                      <a:headEnd type="none" w="med" len="med"/>
                      <a:tailEnd type="none" w="med" len="med"/>
                    </a:lnR>
                    <a:lnT w="6350" cap="flat" cmpd="sng" algn="ctr">
                      <a:solidFill>
                        <a:srgbClr val="0074FA"/>
                      </a:solidFill>
                      <a:prstDash val="solid"/>
                      <a:round/>
                      <a:headEnd type="none" w="med" len="med"/>
                      <a:tailEnd type="none" w="med" len="med"/>
                    </a:lnT>
                    <a:lnB w="6350" cap="flat" cmpd="sng" algn="ctr">
                      <a:solidFill>
                        <a:srgbClr val="D085FA"/>
                      </a:solidFill>
                      <a:prstDash val="solid"/>
                      <a:round/>
                      <a:headEnd type="none" w="med" len="med"/>
                      <a:tailEnd type="none" w="med" len="med"/>
                    </a:lnB>
                  </a:tcPr>
                </a:tc>
                <a:tc>
                  <a:txBody>
                    <a:bodyPr/>
                    <a:lstStyle/>
                    <a:p>
                      <a:pPr algn="ctr" fontAlgn="ctr" latinLnBrk="0"/>
                      <a:r>
                        <a:rPr lang="zh-CN" altLang="en-US" sz="1400" b="0" i="0" dirty="0">
                          <a:solidFill>
                            <a:srgbClr val="000000"/>
                          </a:solidFill>
                          <a:effectLst/>
                        </a:rPr>
                        <a:t>预计下单日期</a:t>
                      </a:r>
                    </a:p>
                  </a:txBody>
                  <a:tcPr anchor="ctr">
                    <a:lnL w="6350" cap="flat" cmpd="sng" algn="ctr">
                      <a:solidFill>
                        <a:srgbClr val="707CFA"/>
                      </a:solidFill>
                      <a:prstDash val="solid"/>
                      <a:round/>
                      <a:headEnd type="none" w="med" len="med"/>
                      <a:tailEnd type="none" w="med" len="med"/>
                    </a:lnL>
                    <a:lnR w="6350" cap="flat" cmpd="sng" algn="ctr">
                      <a:solidFill>
                        <a:srgbClr val="C07AFA"/>
                      </a:solidFill>
                      <a:prstDash val="solid"/>
                      <a:round/>
                      <a:headEnd type="none" w="med" len="med"/>
                      <a:tailEnd type="none" w="med" len="med"/>
                    </a:lnR>
                    <a:lnT w="6350" cap="flat" cmpd="sng" algn="ctr">
                      <a:solidFill>
                        <a:srgbClr val="707CFA"/>
                      </a:solidFill>
                      <a:prstDash val="solid"/>
                      <a:round/>
                      <a:headEnd type="none" w="med" len="med"/>
                      <a:tailEnd type="none" w="med" len="med"/>
                    </a:lnT>
                    <a:lnB w="6350" cap="flat" cmpd="sng" algn="ctr">
                      <a:solidFill>
                        <a:srgbClr val="9083FA"/>
                      </a:solidFill>
                      <a:prstDash val="solid"/>
                      <a:round/>
                      <a:headEnd type="none" w="med" len="med"/>
                      <a:tailEnd type="none" w="med" len="med"/>
                    </a:lnB>
                  </a:tcPr>
                </a:tc>
                <a:tc>
                  <a:txBody>
                    <a:bodyPr/>
                    <a:lstStyle/>
                    <a:p>
                      <a:pPr algn="l" fontAlgn="ctr" latinLnBrk="0"/>
                      <a:r>
                        <a:rPr lang="zh-CN" altLang="en-US" sz="1400" b="0" i="0">
                          <a:solidFill>
                            <a:srgbClr val="000000"/>
                          </a:solidFill>
                          <a:effectLst/>
                        </a:rPr>
                        <a:t>所有项目</a:t>
                      </a:r>
                    </a:p>
                  </a:txBody>
                  <a:tcPr anchor="ctr">
                    <a:lnL w="6350" cap="flat" cmpd="sng" algn="ctr">
                      <a:solidFill>
                        <a:srgbClr val="C07AFA"/>
                      </a:solidFill>
                      <a:prstDash val="solid"/>
                      <a:round/>
                      <a:headEnd type="none" w="med" len="med"/>
                      <a:tailEnd type="none" w="med" len="med"/>
                    </a:lnL>
                    <a:lnR w="6350" cap="flat" cmpd="sng" algn="ctr">
                      <a:solidFill>
                        <a:srgbClr val="C07AFA"/>
                      </a:solidFill>
                      <a:prstDash val="solid"/>
                      <a:round/>
                      <a:headEnd type="none" w="med" len="med"/>
                      <a:tailEnd type="none" w="med" len="med"/>
                    </a:lnR>
                    <a:lnT w="6350" cap="flat" cmpd="sng" algn="ctr">
                      <a:solidFill>
                        <a:srgbClr val="C07AFA"/>
                      </a:solidFill>
                      <a:prstDash val="solid"/>
                      <a:round/>
                      <a:headEnd type="none" w="med" len="med"/>
                      <a:tailEnd type="none" w="med" len="med"/>
                    </a:lnT>
                    <a:lnB w="6350" cap="flat" cmpd="sng" algn="ctr">
                      <a:solidFill>
                        <a:srgbClr val="8084FA"/>
                      </a:solidFill>
                      <a:prstDash val="solid"/>
                      <a:round/>
                      <a:headEnd type="none" w="med" len="med"/>
                      <a:tailEnd type="none" w="med" len="med"/>
                    </a:lnB>
                  </a:tcPr>
                </a:tc>
                <a:tc>
                  <a:txBody>
                    <a:bodyPr/>
                    <a:lstStyle/>
                    <a:p>
                      <a:pPr algn="l" fontAlgn="ctr" latinLnBrk="0"/>
                      <a:r>
                        <a:rPr lang="zh-CN" altLang="en-US" sz="1400" b="0" i="0" dirty="0">
                          <a:solidFill>
                            <a:srgbClr val="000000"/>
                          </a:solidFill>
                          <a:effectLst/>
                        </a:rPr>
                        <a:t>“预计要货时间” 减去 </a:t>
                      </a:r>
                      <a:r>
                        <a:rPr lang="en-US" altLang="zh-CN" sz="1400" b="0" i="0" dirty="0">
                          <a:solidFill>
                            <a:srgbClr val="000000"/>
                          </a:solidFill>
                          <a:effectLst/>
                        </a:rPr>
                        <a:t>SLA </a:t>
                      </a:r>
                      <a:r>
                        <a:rPr lang="zh-CN" altLang="en-US" sz="1400" b="0" i="0" dirty="0">
                          <a:solidFill>
                            <a:srgbClr val="000000"/>
                          </a:solidFill>
                          <a:effectLst/>
                        </a:rPr>
                        <a:t>（</a:t>
                      </a:r>
                      <a:r>
                        <a:rPr lang="en-US" altLang="zh-CN" sz="1400" b="0" i="0" dirty="0">
                          <a:solidFill>
                            <a:srgbClr val="000000"/>
                          </a:solidFill>
                          <a:effectLst/>
                        </a:rPr>
                        <a:t>ERP</a:t>
                      </a:r>
                      <a:r>
                        <a:rPr lang="zh-CN" altLang="en-US" sz="1400" b="0" i="0" dirty="0">
                          <a:solidFill>
                            <a:srgbClr val="000000"/>
                          </a:solidFill>
                          <a:effectLst/>
                        </a:rPr>
                        <a:t>系统里面下单流程结束的时间）</a:t>
                      </a:r>
                    </a:p>
                  </a:txBody>
                  <a:tcPr anchor="ctr">
                    <a:lnL w="6350" cap="flat" cmpd="sng" algn="ctr">
                      <a:solidFill>
                        <a:srgbClr val="C07AFA"/>
                      </a:solidFill>
                      <a:prstDash val="solid"/>
                      <a:round/>
                      <a:headEnd type="none" w="med" len="med"/>
                      <a:tailEnd type="none" w="med" len="med"/>
                    </a:lnL>
                    <a:lnR w="6350" cap="flat" cmpd="sng" algn="ctr">
                      <a:solidFill>
                        <a:srgbClr val="C07AFA"/>
                      </a:solidFill>
                      <a:prstDash val="solid"/>
                      <a:round/>
                      <a:headEnd type="none" w="med" len="med"/>
                      <a:tailEnd type="none" w="med" len="med"/>
                    </a:lnR>
                    <a:lnT w="6350" cap="flat" cmpd="sng" algn="ctr">
                      <a:solidFill>
                        <a:srgbClr val="C07AFA"/>
                      </a:solidFill>
                      <a:prstDash val="solid"/>
                      <a:round/>
                      <a:headEnd type="none" w="med" len="med"/>
                      <a:tailEnd type="none" w="med" len="med"/>
                    </a:lnT>
                    <a:lnB w="6350" cap="flat" cmpd="sng" algn="ctr">
                      <a:solidFill>
                        <a:srgbClr val="808AFA"/>
                      </a:solidFill>
                      <a:prstDash val="solid"/>
                      <a:round/>
                      <a:headEnd type="none" w="med" len="med"/>
                      <a:tailEnd type="none" w="med" len="med"/>
                    </a:lnB>
                  </a:tcPr>
                </a:tc>
                <a:extLst>
                  <a:ext uri="{0D108BD9-81ED-4DB2-BD59-A6C34878D82A}">
                    <a16:rowId xmlns="" xmlns:a16="http://schemas.microsoft.com/office/drawing/2014/main" val="10002"/>
                  </a:ext>
                </a:extLst>
              </a:tr>
              <a:tr h="551336">
                <a:tc rowSpan="5">
                  <a:txBody>
                    <a:bodyPr/>
                    <a:lstStyle/>
                    <a:p>
                      <a:pPr algn="ctr" fontAlgn="ctr" latinLnBrk="0"/>
                      <a:r>
                        <a:rPr lang="en-US" altLang="zh-CN" sz="1400" b="0" i="0">
                          <a:solidFill>
                            <a:srgbClr val="000000"/>
                          </a:solidFill>
                          <a:effectLst/>
                        </a:rPr>
                        <a:t>3</a:t>
                      </a:r>
                    </a:p>
                  </a:txBody>
                  <a:tcPr anchor="ctr">
                    <a:lnL w="6350" cap="flat" cmpd="sng" algn="ctr">
                      <a:solidFill>
                        <a:srgbClr val="D085FA"/>
                      </a:solidFill>
                      <a:prstDash val="solid"/>
                      <a:round/>
                      <a:headEnd type="none" w="med" len="med"/>
                      <a:tailEnd type="none" w="med" len="med"/>
                    </a:lnL>
                    <a:lnR w="6350" cap="flat" cmpd="sng" algn="ctr">
                      <a:solidFill>
                        <a:srgbClr val="9083FA"/>
                      </a:solidFill>
                      <a:prstDash val="solid"/>
                      <a:round/>
                      <a:headEnd type="none" w="med" len="med"/>
                      <a:tailEnd type="none" w="med" len="med"/>
                    </a:lnR>
                    <a:lnT w="6350" cap="flat" cmpd="sng" algn="ctr">
                      <a:solidFill>
                        <a:srgbClr val="D085FA"/>
                      </a:solidFill>
                      <a:prstDash val="solid"/>
                      <a:round/>
                      <a:headEnd type="none" w="med" len="med"/>
                      <a:tailEnd type="none" w="med" len="med"/>
                    </a:lnT>
                    <a:lnB w="6350" cap="flat" cmpd="sng" algn="ctr">
                      <a:solidFill>
                        <a:srgbClr val="D085FA"/>
                      </a:solidFill>
                      <a:prstDash val="solid"/>
                      <a:round/>
                      <a:headEnd type="none" w="med" len="med"/>
                      <a:tailEnd type="none" w="med" len="med"/>
                    </a:lnB>
                  </a:tcPr>
                </a:tc>
                <a:tc rowSpan="5">
                  <a:txBody>
                    <a:bodyPr/>
                    <a:lstStyle/>
                    <a:p>
                      <a:pPr algn="ctr" fontAlgn="ctr" latinLnBrk="0"/>
                      <a:r>
                        <a:rPr lang="zh-CN" altLang="en-US" sz="1400" b="0" i="0" dirty="0">
                          <a:solidFill>
                            <a:srgbClr val="000000"/>
                          </a:solidFill>
                          <a:effectLst/>
                        </a:rPr>
                        <a:t>预计开标日期</a:t>
                      </a:r>
                    </a:p>
                  </a:txBody>
                  <a:tcPr anchor="ctr">
                    <a:lnL w="6350" cap="flat" cmpd="sng" algn="ctr">
                      <a:solidFill>
                        <a:srgbClr val="9083FA"/>
                      </a:solidFill>
                      <a:prstDash val="solid"/>
                      <a:round/>
                      <a:headEnd type="none" w="med" len="med"/>
                      <a:tailEnd type="none" w="med" len="med"/>
                    </a:lnL>
                    <a:lnR w="6350" cap="flat" cmpd="sng" algn="ctr">
                      <a:solidFill>
                        <a:srgbClr val="8084FA"/>
                      </a:solidFill>
                      <a:prstDash val="solid"/>
                      <a:round/>
                      <a:headEnd type="none" w="med" len="med"/>
                      <a:tailEnd type="none" w="med" len="med"/>
                    </a:lnR>
                    <a:lnT w="6350" cap="flat" cmpd="sng" algn="ctr">
                      <a:solidFill>
                        <a:srgbClr val="9083FA"/>
                      </a:solidFill>
                      <a:prstDash val="solid"/>
                      <a:round/>
                      <a:headEnd type="none" w="med" len="med"/>
                      <a:tailEnd type="none" w="med" len="med"/>
                    </a:lnT>
                    <a:lnB w="6350" cap="flat" cmpd="sng" algn="ctr">
                      <a:solidFill>
                        <a:srgbClr val="9083FA"/>
                      </a:solidFill>
                      <a:prstDash val="solid"/>
                      <a:round/>
                      <a:headEnd type="none" w="med" len="med"/>
                      <a:tailEnd type="none" w="med" len="med"/>
                    </a:lnB>
                  </a:tcPr>
                </a:tc>
                <a:tc>
                  <a:txBody>
                    <a:bodyPr/>
                    <a:lstStyle/>
                    <a:p>
                      <a:pPr algn="l" fontAlgn="ctr" latinLnBrk="0"/>
                      <a:r>
                        <a:rPr lang="zh-CN" altLang="en-US" sz="1400" b="0" i="0" dirty="0">
                          <a:solidFill>
                            <a:srgbClr val="000000"/>
                          </a:solidFill>
                          <a:effectLst/>
                        </a:rPr>
                        <a:t>财政资金</a:t>
                      </a:r>
                      <a:r>
                        <a:rPr lang="en-US" altLang="zh-CN" sz="1400" b="0" i="0" dirty="0">
                          <a:solidFill>
                            <a:srgbClr val="000000"/>
                          </a:solidFill>
                          <a:effectLst/>
                        </a:rPr>
                        <a:t>/</a:t>
                      </a:r>
                      <a:r>
                        <a:rPr lang="zh-CN" altLang="en-US" sz="1400" b="0" i="0" dirty="0">
                          <a:solidFill>
                            <a:srgbClr val="000000"/>
                          </a:solidFill>
                          <a:effectLst/>
                        </a:rPr>
                        <a:t>标准政采项目</a:t>
                      </a:r>
                    </a:p>
                  </a:txBody>
                  <a:tcPr anchor="ctr">
                    <a:lnL w="6350" cap="flat" cmpd="sng" algn="ctr">
                      <a:solidFill>
                        <a:srgbClr val="8084FA"/>
                      </a:solidFill>
                      <a:prstDash val="solid"/>
                      <a:round/>
                      <a:headEnd type="none" w="med" len="med"/>
                      <a:tailEnd type="none" w="med" len="med"/>
                    </a:lnL>
                    <a:lnR w="6350" cap="flat" cmpd="sng" algn="ctr">
                      <a:solidFill>
                        <a:srgbClr val="808AFA"/>
                      </a:solidFill>
                      <a:prstDash val="solid"/>
                      <a:round/>
                      <a:headEnd type="none" w="med" len="med"/>
                      <a:tailEnd type="none" w="med" len="med"/>
                    </a:lnR>
                    <a:lnT w="6350" cap="flat" cmpd="sng" algn="ctr">
                      <a:solidFill>
                        <a:srgbClr val="8084FA"/>
                      </a:solidFill>
                      <a:prstDash val="solid"/>
                      <a:round/>
                      <a:headEnd type="none" w="med" len="med"/>
                      <a:tailEnd type="none" w="med" len="med"/>
                    </a:lnT>
                    <a:lnB w="6350" cap="flat" cmpd="sng" algn="ctr">
                      <a:solidFill>
                        <a:srgbClr val="F095FA"/>
                      </a:solidFill>
                      <a:prstDash val="solid"/>
                      <a:round/>
                      <a:headEnd type="none" w="med" len="med"/>
                      <a:tailEnd type="none" w="med" len="med"/>
                    </a:lnB>
                  </a:tcPr>
                </a:tc>
                <a:tc>
                  <a:txBody>
                    <a:bodyPr/>
                    <a:lstStyle/>
                    <a:p>
                      <a:pPr algn="l" fontAlgn="ctr" latinLnBrk="0"/>
                      <a:r>
                        <a:rPr lang="zh-CN" altLang="en-US" sz="1400" b="0" i="0">
                          <a:solidFill>
                            <a:srgbClr val="000000"/>
                          </a:solidFill>
                          <a:effectLst/>
                        </a:rPr>
                        <a:t>发出中标公告</a:t>
                      </a:r>
                      <a:r>
                        <a:rPr lang="en-US" altLang="zh-CN" sz="1400" b="0" i="0">
                          <a:solidFill>
                            <a:srgbClr val="000000"/>
                          </a:solidFill>
                          <a:effectLst/>
                        </a:rPr>
                        <a:t>/</a:t>
                      </a:r>
                      <a:r>
                        <a:rPr lang="zh-CN" altLang="en-US" sz="1400" b="0" i="0">
                          <a:solidFill>
                            <a:srgbClr val="000000"/>
                          </a:solidFill>
                          <a:effectLst/>
                        </a:rPr>
                        <a:t>中标通知书的时间</a:t>
                      </a:r>
                      <a:r>
                        <a:rPr lang="en-US" altLang="zh-CN" sz="1400" b="0" i="0">
                          <a:solidFill>
                            <a:srgbClr val="000000"/>
                          </a:solidFill>
                          <a:effectLst/>
                        </a:rPr>
                        <a:t>/</a:t>
                      </a:r>
                      <a:r>
                        <a:rPr lang="zh-CN" altLang="en-US" sz="1400" b="0" i="0">
                          <a:solidFill>
                            <a:srgbClr val="000000"/>
                          </a:solidFill>
                          <a:effectLst/>
                        </a:rPr>
                        <a:t>开标结果的时间，而不是投标时间</a:t>
                      </a:r>
                    </a:p>
                  </a:txBody>
                  <a:tcPr anchor="ctr">
                    <a:lnL w="6350" cap="flat" cmpd="sng" algn="ctr">
                      <a:solidFill>
                        <a:srgbClr val="808AFA"/>
                      </a:solidFill>
                      <a:prstDash val="solid"/>
                      <a:round/>
                      <a:headEnd type="none" w="med" len="med"/>
                      <a:tailEnd type="none" w="med" len="med"/>
                    </a:lnL>
                    <a:lnR w="6350" cap="flat" cmpd="sng" algn="ctr">
                      <a:solidFill>
                        <a:srgbClr val="808AFA"/>
                      </a:solidFill>
                      <a:prstDash val="solid"/>
                      <a:round/>
                      <a:headEnd type="none" w="med" len="med"/>
                      <a:tailEnd type="none" w="med" len="med"/>
                    </a:lnR>
                    <a:lnT w="6350" cap="flat" cmpd="sng" algn="ctr">
                      <a:solidFill>
                        <a:srgbClr val="808AFA"/>
                      </a:solidFill>
                      <a:prstDash val="solid"/>
                      <a:round/>
                      <a:headEnd type="none" w="med" len="med"/>
                      <a:tailEnd type="none" w="med" len="med"/>
                    </a:lnT>
                    <a:lnB w="6350" cap="flat" cmpd="sng" algn="ctr">
                      <a:solidFill>
                        <a:srgbClr val="4097FA"/>
                      </a:solidFill>
                      <a:prstDash val="solid"/>
                      <a:round/>
                      <a:headEnd type="none" w="med" len="med"/>
                      <a:tailEnd type="none" w="med" len="med"/>
                    </a:lnB>
                    <a:solidFill>
                      <a:srgbClr val="FFFFFF"/>
                    </a:solidFill>
                  </a:tcPr>
                </a:tc>
                <a:extLst>
                  <a:ext uri="{0D108BD9-81ED-4DB2-BD59-A6C34878D82A}">
                    <a16:rowId xmlns="" xmlns:a16="http://schemas.microsoft.com/office/drawing/2014/main" val="10003"/>
                  </a:ext>
                </a:extLst>
              </a:tr>
              <a:tr h="324315">
                <a:tc vMerge="1">
                  <a:txBody>
                    <a:bodyPr/>
                    <a:lstStyle/>
                    <a:p>
                      <a:endParaRPr lang="zh-CN"/>
                    </a:p>
                  </a:txBody>
                  <a:tcPr/>
                </a:tc>
                <a:tc vMerge="1">
                  <a:txBody>
                    <a:bodyPr/>
                    <a:lstStyle/>
                    <a:p>
                      <a:endParaRPr lang="zh-CN"/>
                    </a:p>
                  </a:txBody>
                  <a:tcPr/>
                </a:tc>
                <a:tc>
                  <a:txBody>
                    <a:bodyPr/>
                    <a:lstStyle/>
                    <a:p>
                      <a:pPr algn="l" fontAlgn="ctr" latinLnBrk="0"/>
                      <a:r>
                        <a:rPr lang="zh-CN" altLang="en-US" sz="1400" b="0" i="0" dirty="0">
                          <a:solidFill>
                            <a:srgbClr val="000000"/>
                          </a:solidFill>
                          <a:effectLst/>
                        </a:rPr>
                        <a:t>弱电</a:t>
                      </a:r>
                      <a:r>
                        <a:rPr lang="en-US" altLang="zh-CN" sz="1400" b="0" i="0" dirty="0">
                          <a:solidFill>
                            <a:srgbClr val="000000"/>
                          </a:solidFill>
                          <a:effectLst/>
                        </a:rPr>
                        <a:t>&amp;EPC</a:t>
                      </a:r>
                      <a:r>
                        <a:rPr lang="zh-CN" altLang="en-US" sz="1400" b="0" i="0" dirty="0">
                          <a:solidFill>
                            <a:srgbClr val="000000"/>
                          </a:solidFill>
                          <a:effectLst/>
                        </a:rPr>
                        <a:t>总包项目</a:t>
                      </a:r>
                    </a:p>
                  </a:txBody>
                  <a:tcPr anchor="ctr">
                    <a:lnL w="6350" cap="flat" cmpd="sng" algn="ctr">
                      <a:solidFill>
                        <a:srgbClr val="F095FA"/>
                      </a:solidFill>
                      <a:prstDash val="solid"/>
                      <a:round/>
                      <a:headEnd type="none" w="med" len="med"/>
                      <a:tailEnd type="none" w="med" len="med"/>
                    </a:lnL>
                    <a:lnR w="6350" cap="flat" cmpd="sng" algn="ctr">
                      <a:solidFill>
                        <a:srgbClr val="4097FA"/>
                      </a:solidFill>
                      <a:prstDash val="solid"/>
                      <a:round/>
                      <a:headEnd type="none" w="med" len="med"/>
                      <a:tailEnd type="none" w="med" len="med"/>
                    </a:lnR>
                    <a:lnT w="6350" cap="flat" cmpd="sng" algn="ctr">
                      <a:solidFill>
                        <a:srgbClr val="F095FA"/>
                      </a:solidFill>
                      <a:prstDash val="solid"/>
                      <a:round/>
                      <a:headEnd type="none" w="med" len="med"/>
                      <a:tailEnd type="none" w="med" len="med"/>
                    </a:lnT>
                    <a:lnB w="6350" cap="flat" cmpd="sng" algn="ctr">
                      <a:solidFill>
                        <a:srgbClr val="4094FA"/>
                      </a:solidFill>
                      <a:prstDash val="solid"/>
                      <a:round/>
                      <a:headEnd type="none" w="med" len="med"/>
                      <a:tailEnd type="none" w="med" len="med"/>
                    </a:lnB>
                  </a:tcPr>
                </a:tc>
                <a:tc>
                  <a:txBody>
                    <a:bodyPr/>
                    <a:lstStyle/>
                    <a:p>
                      <a:pPr algn="l" fontAlgn="ctr" latinLnBrk="0"/>
                      <a:r>
                        <a:rPr lang="zh-CN" altLang="en-US" sz="1400" b="0" i="0">
                          <a:solidFill>
                            <a:srgbClr val="000000"/>
                          </a:solidFill>
                          <a:effectLst/>
                        </a:rPr>
                        <a:t>弱电商和我司或者我司代理商签订合同的时间</a:t>
                      </a:r>
                    </a:p>
                  </a:txBody>
                  <a:tcPr anchor="ctr">
                    <a:lnL w="6350" cap="flat" cmpd="sng" algn="ctr">
                      <a:solidFill>
                        <a:srgbClr val="4097FA"/>
                      </a:solidFill>
                      <a:prstDash val="solid"/>
                      <a:round/>
                      <a:headEnd type="none" w="med" len="med"/>
                      <a:tailEnd type="none" w="med" len="med"/>
                    </a:lnL>
                    <a:lnR w="6350" cap="flat" cmpd="sng" algn="ctr">
                      <a:solidFill>
                        <a:srgbClr val="4097FA"/>
                      </a:solidFill>
                      <a:prstDash val="solid"/>
                      <a:round/>
                      <a:headEnd type="none" w="med" len="med"/>
                      <a:tailEnd type="none" w="med" len="med"/>
                    </a:lnR>
                    <a:lnT w="6350" cap="flat" cmpd="sng" algn="ctr">
                      <a:solidFill>
                        <a:srgbClr val="4097FA"/>
                      </a:solidFill>
                      <a:prstDash val="solid"/>
                      <a:round/>
                      <a:headEnd type="none" w="med" len="med"/>
                      <a:tailEnd type="none" w="med" len="med"/>
                    </a:lnT>
                    <a:lnB w="6350" cap="flat" cmpd="sng" algn="ctr">
                      <a:solidFill>
                        <a:srgbClr val="5090FA"/>
                      </a:solidFill>
                      <a:prstDash val="solid"/>
                      <a:round/>
                      <a:headEnd type="none" w="med" len="med"/>
                      <a:tailEnd type="none" w="med" len="med"/>
                    </a:lnB>
                  </a:tcPr>
                </a:tc>
                <a:extLst>
                  <a:ext uri="{0D108BD9-81ED-4DB2-BD59-A6C34878D82A}">
                    <a16:rowId xmlns="" xmlns:a16="http://schemas.microsoft.com/office/drawing/2014/main" val="10004"/>
                  </a:ext>
                </a:extLst>
              </a:tr>
              <a:tr h="551336">
                <a:tc vMerge="1">
                  <a:txBody>
                    <a:bodyPr/>
                    <a:lstStyle/>
                    <a:p>
                      <a:endParaRPr lang="zh-CN"/>
                    </a:p>
                  </a:txBody>
                  <a:tcPr/>
                </a:tc>
                <a:tc vMerge="1">
                  <a:txBody>
                    <a:bodyPr/>
                    <a:lstStyle/>
                    <a:p>
                      <a:endParaRPr lang="zh-CN"/>
                    </a:p>
                  </a:txBody>
                  <a:tcPr/>
                </a:tc>
                <a:tc>
                  <a:txBody>
                    <a:bodyPr/>
                    <a:lstStyle/>
                    <a:p>
                      <a:pPr algn="l" fontAlgn="ctr" latinLnBrk="0"/>
                      <a:r>
                        <a:rPr lang="en-US" sz="1400" b="0" i="0">
                          <a:solidFill>
                            <a:srgbClr val="000000"/>
                          </a:solidFill>
                          <a:effectLst/>
                        </a:rPr>
                        <a:t>ICT&amp;</a:t>
                      </a:r>
                      <a:r>
                        <a:rPr lang="zh-CN" altLang="en-US" sz="1400" b="0" i="0">
                          <a:solidFill>
                            <a:srgbClr val="000000"/>
                          </a:solidFill>
                          <a:effectLst/>
                        </a:rPr>
                        <a:t>投融资项目</a:t>
                      </a:r>
                    </a:p>
                  </a:txBody>
                  <a:tcPr anchor="ctr">
                    <a:lnL w="6350" cap="flat" cmpd="sng" algn="ctr">
                      <a:solidFill>
                        <a:srgbClr val="4094FA"/>
                      </a:solidFill>
                      <a:prstDash val="solid"/>
                      <a:round/>
                      <a:headEnd type="none" w="med" len="med"/>
                      <a:tailEnd type="none" w="med" len="med"/>
                    </a:lnL>
                    <a:lnR w="6350" cap="flat" cmpd="sng" algn="ctr">
                      <a:solidFill>
                        <a:srgbClr val="5090FA"/>
                      </a:solidFill>
                      <a:prstDash val="solid"/>
                      <a:round/>
                      <a:headEnd type="none" w="med" len="med"/>
                      <a:tailEnd type="none" w="med" len="med"/>
                    </a:lnR>
                    <a:lnT w="6350" cap="flat" cmpd="sng" algn="ctr">
                      <a:solidFill>
                        <a:srgbClr val="4094FA"/>
                      </a:solidFill>
                      <a:prstDash val="solid"/>
                      <a:round/>
                      <a:headEnd type="none" w="med" len="med"/>
                      <a:tailEnd type="none" w="med" len="med"/>
                    </a:lnT>
                    <a:lnB w="6350" cap="flat" cmpd="sng" algn="ctr">
                      <a:solidFill>
                        <a:srgbClr val="008FFA"/>
                      </a:solidFill>
                      <a:prstDash val="solid"/>
                      <a:round/>
                      <a:headEnd type="none" w="med" len="med"/>
                      <a:tailEnd type="none" w="med" len="med"/>
                    </a:lnB>
                  </a:tcPr>
                </a:tc>
                <a:tc>
                  <a:txBody>
                    <a:bodyPr/>
                    <a:lstStyle/>
                    <a:p>
                      <a:pPr algn="l" fontAlgn="ctr" latinLnBrk="0"/>
                      <a:r>
                        <a:rPr lang="zh-CN" altLang="en-US" sz="1400" b="0" i="0" dirty="0">
                          <a:solidFill>
                            <a:srgbClr val="000000"/>
                          </a:solidFill>
                          <a:effectLst/>
                        </a:rPr>
                        <a:t>投资方或者投资方指定的垫资渠道和我司或者我司代理商签订合同的时间</a:t>
                      </a:r>
                    </a:p>
                  </a:txBody>
                  <a:tcPr anchor="ctr">
                    <a:lnL w="6350" cap="flat" cmpd="sng" algn="ctr">
                      <a:solidFill>
                        <a:srgbClr val="5090FA"/>
                      </a:solidFill>
                      <a:prstDash val="solid"/>
                      <a:round/>
                      <a:headEnd type="none" w="med" len="med"/>
                      <a:tailEnd type="none" w="med" len="med"/>
                    </a:lnL>
                    <a:lnR w="6350" cap="flat" cmpd="sng" algn="ctr">
                      <a:solidFill>
                        <a:srgbClr val="5090FA"/>
                      </a:solidFill>
                      <a:prstDash val="solid"/>
                      <a:round/>
                      <a:headEnd type="none" w="med" len="med"/>
                      <a:tailEnd type="none" w="med" len="med"/>
                    </a:lnR>
                    <a:lnT w="6350" cap="flat" cmpd="sng" algn="ctr">
                      <a:solidFill>
                        <a:srgbClr val="5090FA"/>
                      </a:solidFill>
                      <a:prstDash val="solid"/>
                      <a:round/>
                      <a:headEnd type="none" w="med" len="med"/>
                      <a:tailEnd type="none" w="med" len="med"/>
                    </a:lnT>
                    <a:lnB w="6350" cap="flat" cmpd="sng" algn="ctr">
                      <a:solidFill>
                        <a:srgbClr val="E090FA"/>
                      </a:solidFill>
                      <a:prstDash val="solid"/>
                      <a:round/>
                      <a:headEnd type="none" w="med" len="med"/>
                      <a:tailEnd type="none" w="med" len="med"/>
                    </a:lnB>
                  </a:tcPr>
                </a:tc>
                <a:extLst>
                  <a:ext uri="{0D108BD9-81ED-4DB2-BD59-A6C34878D82A}">
                    <a16:rowId xmlns="" xmlns:a16="http://schemas.microsoft.com/office/drawing/2014/main" val="10005"/>
                  </a:ext>
                </a:extLst>
              </a:tr>
              <a:tr h="551336">
                <a:tc vMerge="1">
                  <a:txBody>
                    <a:bodyPr/>
                    <a:lstStyle/>
                    <a:p>
                      <a:endParaRPr lang="zh-CN"/>
                    </a:p>
                  </a:txBody>
                  <a:tcPr/>
                </a:tc>
                <a:tc vMerge="1">
                  <a:txBody>
                    <a:bodyPr/>
                    <a:lstStyle/>
                    <a:p>
                      <a:endParaRPr lang="zh-CN"/>
                    </a:p>
                  </a:txBody>
                  <a:tcPr/>
                </a:tc>
                <a:tc>
                  <a:txBody>
                    <a:bodyPr/>
                    <a:lstStyle/>
                    <a:p>
                      <a:pPr algn="l" fontAlgn="ctr" latinLnBrk="0"/>
                      <a:r>
                        <a:rPr lang="zh-CN" altLang="en-US" sz="1400" b="0" i="0">
                          <a:solidFill>
                            <a:srgbClr val="000000"/>
                          </a:solidFill>
                          <a:effectLst/>
                        </a:rPr>
                        <a:t>中大企业集采框架</a:t>
                      </a:r>
                      <a:r>
                        <a:rPr lang="en-US" altLang="zh-CN" sz="1400" b="0" i="0">
                          <a:solidFill>
                            <a:srgbClr val="000000"/>
                          </a:solidFill>
                          <a:effectLst/>
                        </a:rPr>
                        <a:t>OC</a:t>
                      </a:r>
                      <a:r>
                        <a:rPr lang="zh-CN" altLang="en-US" sz="1400" b="0" i="0">
                          <a:solidFill>
                            <a:srgbClr val="000000"/>
                          </a:solidFill>
                          <a:effectLst/>
                        </a:rPr>
                        <a:t>子项目</a:t>
                      </a:r>
                    </a:p>
                  </a:txBody>
                  <a:tcPr anchor="ctr">
                    <a:lnL w="6350" cap="flat" cmpd="sng" algn="ctr">
                      <a:solidFill>
                        <a:srgbClr val="008FFA"/>
                      </a:solidFill>
                      <a:prstDash val="solid"/>
                      <a:round/>
                      <a:headEnd type="none" w="med" len="med"/>
                      <a:tailEnd type="none" w="med" len="med"/>
                    </a:lnL>
                    <a:lnR w="6350" cap="flat" cmpd="sng" algn="ctr">
                      <a:solidFill>
                        <a:srgbClr val="E090FA"/>
                      </a:solidFill>
                      <a:prstDash val="solid"/>
                      <a:round/>
                      <a:headEnd type="none" w="med" len="med"/>
                      <a:tailEnd type="none" w="med" len="med"/>
                    </a:lnR>
                    <a:lnT w="6350" cap="flat" cmpd="sng" algn="ctr">
                      <a:solidFill>
                        <a:srgbClr val="008FFA"/>
                      </a:solidFill>
                      <a:prstDash val="solid"/>
                      <a:round/>
                      <a:headEnd type="none" w="med" len="med"/>
                      <a:tailEnd type="none" w="med" len="med"/>
                    </a:lnT>
                    <a:lnB w="6350" cap="flat" cmpd="sng" algn="ctr">
                      <a:solidFill>
                        <a:srgbClr val="2093FA"/>
                      </a:solidFill>
                      <a:prstDash val="solid"/>
                      <a:round/>
                      <a:headEnd type="none" w="med" len="med"/>
                      <a:tailEnd type="none" w="med" len="med"/>
                    </a:lnB>
                  </a:tcPr>
                </a:tc>
                <a:tc>
                  <a:txBody>
                    <a:bodyPr/>
                    <a:lstStyle/>
                    <a:p>
                      <a:pPr algn="l" fontAlgn="ctr" latinLnBrk="0"/>
                      <a:r>
                        <a:rPr lang="en-US" altLang="zh-CN" sz="1400" b="0" i="0" dirty="0">
                          <a:solidFill>
                            <a:srgbClr val="000000"/>
                          </a:solidFill>
                          <a:effectLst/>
                        </a:rPr>
                        <a:t>PO</a:t>
                      </a:r>
                      <a:r>
                        <a:rPr lang="zh-CN" altLang="en-US" sz="1400" b="0" i="0" dirty="0">
                          <a:solidFill>
                            <a:srgbClr val="000000"/>
                          </a:solidFill>
                          <a:effectLst/>
                        </a:rPr>
                        <a:t>单生产的时间</a:t>
                      </a:r>
                    </a:p>
                  </a:txBody>
                  <a:tcPr anchor="ctr">
                    <a:lnL w="6350" cap="flat" cmpd="sng" algn="ctr">
                      <a:solidFill>
                        <a:srgbClr val="E090FA"/>
                      </a:solidFill>
                      <a:prstDash val="solid"/>
                      <a:round/>
                      <a:headEnd type="none" w="med" len="med"/>
                      <a:tailEnd type="none" w="med" len="med"/>
                    </a:lnL>
                    <a:lnR w="6350" cap="flat" cmpd="sng" algn="ctr">
                      <a:solidFill>
                        <a:srgbClr val="E090FA"/>
                      </a:solidFill>
                      <a:prstDash val="solid"/>
                      <a:round/>
                      <a:headEnd type="none" w="med" len="med"/>
                      <a:tailEnd type="none" w="med" len="med"/>
                    </a:lnR>
                    <a:lnT w="6350" cap="flat" cmpd="sng" algn="ctr">
                      <a:solidFill>
                        <a:srgbClr val="E090FA"/>
                      </a:solidFill>
                      <a:prstDash val="solid"/>
                      <a:round/>
                      <a:headEnd type="none" w="med" len="med"/>
                      <a:tailEnd type="none" w="med" len="med"/>
                    </a:lnT>
                    <a:lnB w="6350" cap="flat" cmpd="sng" algn="ctr">
                      <a:solidFill>
                        <a:srgbClr val="C09BFA"/>
                      </a:solidFill>
                      <a:prstDash val="solid"/>
                      <a:round/>
                      <a:headEnd type="none" w="med" len="med"/>
                      <a:tailEnd type="none" w="med" len="med"/>
                    </a:lnB>
                  </a:tcPr>
                </a:tc>
                <a:extLst>
                  <a:ext uri="{0D108BD9-81ED-4DB2-BD59-A6C34878D82A}">
                    <a16:rowId xmlns="" xmlns:a16="http://schemas.microsoft.com/office/drawing/2014/main" val="10006"/>
                  </a:ext>
                </a:extLst>
              </a:tr>
              <a:tr h="324315">
                <a:tc vMerge="1">
                  <a:txBody>
                    <a:bodyPr/>
                    <a:lstStyle/>
                    <a:p>
                      <a:endParaRPr lang="zh-CN"/>
                    </a:p>
                  </a:txBody>
                  <a:tcPr/>
                </a:tc>
                <a:tc vMerge="1">
                  <a:txBody>
                    <a:bodyPr/>
                    <a:lstStyle/>
                    <a:p>
                      <a:endParaRPr lang="zh-CN"/>
                    </a:p>
                  </a:txBody>
                  <a:tcPr/>
                </a:tc>
                <a:tc>
                  <a:txBody>
                    <a:bodyPr/>
                    <a:lstStyle/>
                    <a:p>
                      <a:pPr algn="l" fontAlgn="ctr" latinLnBrk="0"/>
                      <a:r>
                        <a:rPr lang="zh-CN" altLang="en-US" sz="1400" b="0" i="0" dirty="0">
                          <a:solidFill>
                            <a:srgbClr val="000000"/>
                          </a:solidFill>
                          <a:effectLst/>
                        </a:rPr>
                        <a:t>金融行业框架</a:t>
                      </a:r>
                      <a:r>
                        <a:rPr lang="en-US" altLang="zh-CN" sz="1400" b="0" i="0" dirty="0">
                          <a:solidFill>
                            <a:srgbClr val="000000"/>
                          </a:solidFill>
                          <a:effectLst/>
                        </a:rPr>
                        <a:t>OC</a:t>
                      </a:r>
                      <a:r>
                        <a:rPr lang="zh-CN" altLang="en-US" sz="1400" b="0" i="0" dirty="0">
                          <a:solidFill>
                            <a:srgbClr val="000000"/>
                          </a:solidFill>
                          <a:effectLst/>
                        </a:rPr>
                        <a:t>子项目</a:t>
                      </a:r>
                    </a:p>
                  </a:txBody>
                  <a:tcPr anchor="ctr">
                    <a:lnL w="6350" cap="flat" cmpd="sng" algn="ctr">
                      <a:solidFill>
                        <a:srgbClr val="2093FA"/>
                      </a:solidFill>
                      <a:prstDash val="solid"/>
                      <a:round/>
                      <a:headEnd type="none" w="med" len="med"/>
                      <a:tailEnd type="none" w="med" len="med"/>
                    </a:lnL>
                    <a:lnR w="6350" cap="flat" cmpd="sng" algn="ctr">
                      <a:solidFill>
                        <a:srgbClr val="C09BFA"/>
                      </a:solidFill>
                      <a:prstDash val="solid"/>
                      <a:round/>
                      <a:headEnd type="none" w="med" len="med"/>
                      <a:tailEnd type="none" w="med" len="med"/>
                    </a:lnR>
                    <a:lnT w="6350" cap="flat" cmpd="sng" algn="ctr">
                      <a:solidFill>
                        <a:srgbClr val="2093FA"/>
                      </a:solidFill>
                      <a:prstDash val="solid"/>
                      <a:round/>
                      <a:headEnd type="none" w="med" len="med"/>
                      <a:tailEnd type="none" w="med" len="med"/>
                    </a:lnT>
                    <a:lnB w="6350" cap="flat" cmpd="sng" algn="ctr">
                      <a:solidFill>
                        <a:srgbClr val="2093FA"/>
                      </a:solidFill>
                      <a:prstDash val="solid"/>
                      <a:round/>
                      <a:headEnd type="none" w="med" len="med"/>
                      <a:tailEnd type="none" w="med" len="med"/>
                    </a:lnB>
                  </a:tcPr>
                </a:tc>
                <a:tc>
                  <a:txBody>
                    <a:bodyPr/>
                    <a:lstStyle/>
                    <a:p>
                      <a:pPr algn="l" fontAlgn="ctr" latinLnBrk="0"/>
                      <a:r>
                        <a:rPr lang="en-US" altLang="zh-CN" sz="1400" b="0" i="0" dirty="0">
                          <a:solidFill>
                            <a:srgbClr val="000000"/>
                          </a:solidFill>
                          <a:effectLst/>
                        </a:rPr>
                        <a:t>PO</a:t>
                      </a:r>
                      <a:r>
                        <a:rPr lang="zh-CN" altLang="en-US" sz="1400" b="0" i="0" dirty="0">
                          <a:solidFill>
                            <a:srgbClr val="000000"/>
                          </a:solidFill>
                          <a:effectLst/>
                        </a:rPr>
                        <a:t>单生产的时间</a:t>
                      </a:r>
                    </a:p>
                  </a:txBody>
                  <a:tcPr anchor="ctr">
                    <a:lnL w="6350" cap="flat" cmpd="sng" algn="ctr">
                      <a:solidFill>
                        <a:srgbClr val="C09BFA"/>
                      </a:solidFill>
                      <a:prstDash val="solid"/>
                      <a:round/>
                      <a:headEnd type="none" w="med" len="med"/>
                      <a:tailEnd type="none" w="med" len="med"/>
                    </a:lnL>
                    <a:lnR w="6350" cap="flat" cmpd="sng" algn="ctr">
                      <a:solidFill>
                        <a:srgbClr val="C09BFA"/>
                      </a:solidFill>
                      <a:prstDash val="solid"/>
                      <a:round/>
                      <a:headEnd type="none" w="med" len="med"/>
                      <a:tailEnd type="none" w="med" len="med"/>
                    </a:lnR>
                    <a:lnT w="6350" cap="flat" cmpd="sng" algn="ctr">
                      <a:solidFill>
                        <a:srgbClr val="C09BFA"/>
                      </a:solidFill>
                      <a:prstDash val="solid"/>
                      <a:round/>
                      <a:headEnd type="none" w="med" len="med"/>
                      <a:tailEnd type="none" w="med" len="med"/>
                    </a:lnT>
                    <a:lnB w="6350" cap="flat" cmpd="sng" algn="ctr">
                      <a:solidFill>
                        <a:srgbClr val="C09BFA"/>
                      </a:solidFill>
                      <a:prstDash val="solid"/>
                      <a:round/>
                      <a:headEnd type="none" w="med" len="med"/>
                      <a:tailEnd type="none" w="med" len="med"/>
                    </a:lnB>
                  </a:tcPr>
                </a:tc>
                <a:extLst>
                  <a:ext uri="{0D108BD9-81ED-4DB2-BD59-A6C34878D82A}">
                    <a16:rowId xmlns="" xmlns:a16="http://schemas.microsoft.com/office/drawing/2014/main" val="10007"/>
                  </a:ext>
                </a:extLst>
              </a:tr>
            </a:tbl>
          </a:graphicData>
        </a:graphic>
      </p:graphicFrame>
      <p:cxnSp>
        <p:nvCxnSpPr>
          <p:cNvPr id="10" name="直接箭头连接符 9"/>
          <p:cNvCxnSpPr/>
          <p:nvPr/>
        </p:nvCxnSpPr>
        <p:spPr>
          <a:xfrm>
            <a:off x="1474237" y="1567542"/>
            <a:ext cx="8966718"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11" name="等腰三角形 10"/>
          <p:cNvSpPr/>
          <p:nvPr/>
        </p:nvSpPr>
        <p:spPr>
          <a:xfrm>
            <a:off x="8265208" y="1350993"/>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7713643" y="1894112"/>
            <a:ext cx="1569660" cy="369332"/>
          </a:xfrm>
          <a:prstGeom prst="rect">
            <a:avLst/>
          </a:prstGeom>
          <a:noFill/>
        </p:spPr>
        <p:txBody>
          <a:bodyPr wrap="none" rtlCol="0">
            <a:spAutoFit/>
          </a:bodyPr>
          <a:lstStyle/>
          <a:p>
            <a:r>
              <a:rPr lang="zh-CN" altLang="en-US" dirty="0"/>
              <a:t>要求到货时间</a:t>
            </a:r>
          </a:p>
        </p:txBody>
      </p:sp>
      <p:sp>
        <p:nvSpPr>
          <p:cNvPr id="13" name="菱形 12"/>
          <p:cNvSpPr/>
          <p:nvPr/>
        </p:nvSpPr>
        <p:spPr>
          <a:xfrm>
            <a:off x="9965094" y="1371599"/>
            <a:ext cx="475861"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p:cNvSpPr txBox="1"/>
          <p:nvPr/>
        </p:nvSpPr>
        <p:spPr>
          <a:xfrm>
            <a:off x="10431953" y="1403482"/>
            <a:ext cx="1569660" cy="369332"/>
          </a:xfrm>
          <a:prstGeom prst="rect">
            <a:avLst/>
          </a:prstGeom>
          <a:noFill/>
        </p:spPr>
        <p:txBody>
          <a:bodyPr wrap="none" rtlCol="0">
            <a:spAutoFit/>
          </a:bodyPr>
          <a:lstStyle/>
          <a:p>
            <a:r>
              <a:rPr lang="zh-CN" altLang="en-US" dirty="0"/>
              <a:t>正式上线使用</a:t>
            </a:r>
          </a:p>
        </p:txBody>
      </p:sp>
      <p:sp>
        <p:nvSpPr>
          <p:cNvPr id="23" name="等腰三角形 22"/>
          <p:cNvSpPr/>
          <p:nvPr/>
        </p:nvSpPr>
        <p:spPr>
          <a:xfrm>
            <a:off x="5957596" y="1306284"/>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5492957" y="1894112"/>
            <a:ext cx="1569660" cy="369332"/>
          </a:xfrm>
          <a:prstGeom prst="rect">
            <a:avLst/>
          </a:prstGeom>
          <a:noFill/>
        </p:spPr>
        <p:txBody>
          <a:bodyPr wrap="none" rtlCol="0">
            <a:spAutoFit/>
          </a:bodyPr>
          <a:lstStyle/>
          <a:p>
            <a:r>
              <a:rPr lang="zh-CN" altLang="en-US" dirty="0"/>
              <a:t>预计下单日期</a:t>
            </a:r>
          </a:p>
        </p:txBody>
      </p:sp>
      <p:sp>
        <p:nvSpPr>
          <p:cNvPr id="25" name="等腰三角形 24"/>
          <p:cNvSpPr/>
          <p:nvPr/>
        </p:nvSpPr>
        <p:spPr>
          <a:xfrm>
            <a:off x="3417224" y="1306284"/>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2865659" y="1894112"/>
            <a:ext cx="1569660" cy="369332"/>
          </a:xfrm>
          <a:prstGeom prst="rect">
            <a:avLst/>
          </a:prstGeom>
          <a:noFill/>
        </p:spPr>
        <p:txBody>
          <a:bodyPr wrap="none" rtlCol="0">
            <a:spAutoFit/>
          </a:bodyPr>
          <a:lstStyle/>
          <a:p>
            <a:r>
              <a:rPr lang="zh-CN" altLang="en-US" dirty="0"/>
              <a:t>预计开标日期</a:t>
            </a:r>
          </a:p>
        </p:txBody>
      </p:sp>
      <p:sp>
        <p:nvSpPr>
          <p:cNvPr id="27" name="文本框 26"/>
          <p:cNvSpPr txBox="1"/>
          <p:nvPr/>
        </p:nvSpPr>
        <p:spPr>
          <a:xfrm>
            <a:off x="303561" y="1350993"/>
            <a:ext cx="1107996" cy="369332"/>
          </a:xfrm>
          <a:prstGeom prst="rect">
            <a:avLst/>
          </a:prstGeom>
          <a:noFill/>
        </p:spPr>
        <p:txBody>
          <a:bodyPr wrap="none" rtlCol="0">
            <a:spAutoFit/>
          </a:bodyPr>
          <a:lstStyle/>
          <a:p>
            <a:r>
              <a:rPr lang="zh-CN" altLang="en-US" dirty="0"/>
              <a:t>获取商机</a:t>
            </a:r>
          </a:p>
        </p:txBody>
      </p:sp>
    </p:spTree>
    <p:extLst>
      <p:ext uri="{BB962C8B-B14F-4D97-AF65-F5344CB8AC3E}">
        <p14:creationId xmlns:p14="http://schemas.microsoft.com/office/powerpoint/2010/main" val="4077232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a:t>要求到货时间的估算方法和填写标准</a:t>
            </a:r>
          </a:p>
        </p:txBody>
      </p:sp>
      <p:cxnSp>
        <p:nvCxnSpPr>
          <p:cNvPr id="5" name="直接箭头连接符 4"/>
          <p:cNvCxnSpPr/>
          <p:nvPr/>
        </p:nvCxnSpPr>
        <p:spPr>
          <a:xfrm>
            <a:off x="3918856" y="1772818"/>
            <a:ext cx="6363478"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6" name="菱形 5"/>
          <p:cNvSpPr/>
          <p:nvPr/>
        </p:nvSpPr>
        <p:spPr>
          <a:xfrm>
            <a:off x="9806473" y="1576875"/>
            <a:ext cx="475861"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p:nvSpPr>
        <p:spPr>
          <a:xfrm>
            <a:off x="10282334" y="1599429"/>
            <a:ext cx="1569660" cy="369332"/>
          </a:xfrm>
          <a:prstGeom prst="rect">
            <a:avLst/>
          </a:prstGeom>
          <a:noFill/>
        </p:spPr>
        <p:txBody>
          <a:bodyPr wrap="none" rtlCol="0">
            <a:spAutoFit/>
          </a:bodyPr>
          <a:lstStyle/>
          <a:p>
            <a:r>
              <a:rPr lang="zh-CN" altLang="en-US" dirty="0"/>
              <a:t>正式上线使用</a:t>
            </a:r>
          </a:p>
        </p:txBody>
      </p:sp>
      <p:sp>
        <p:nvSpPr>
          <p:cNvPr id="9" name="等腰三角形 8"/>
          <p:cNvSpPr/>
          <p:nvPr/>
        </p:nvSpPr>
        <p:spPr>
          <a:xfrm>
            <a:off x="6902937" y="1894117"/>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p:nvSpPr>
        <p:spPr>
          <a:xfrm rot="10800000">
            <a:off x="4918627" y="1378214"/>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圆角矩形 19"/>
          <p:cNvSpPr/>
          <p:nvPr/>
        </p:nvSpPr>
        <p:spPr>
          <a:xfrm>
            <a:off x="7656464" y="2232111"/>
            <a:ext cx="3255388" cy="937398"/>
          </a:xfrm>
          <a:prstGeom prst="roundRect">
            <a:avLst/>
          </a:prstGeom>
          <a:solidFill>
            <a:srgbClr val="FDD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rPr>
              <a:t>要求到货时间估算场景</a:t>
            </a:r>
            <a:r>
              <a:rPr lang="en-US" altLang="zh-CN" sz="1400" b="1" dirty="0">
                <a:solidFill>
                  <a:schemeClr val="tx1"/>
                </a:solidFill>
              </a:rPr>
              <a:t>1</a:t>
            </a:r>
            <a:r>
              <a:rPr lang="zh-CN" altLang="en-US" sz="1400" b="1" dirty="0">
                <a:solidFill>
                  <a:schemeClr val="tx1"/>
                </a:solidFill>
              </a:rPr>
              <a:t>：</a:t>
            </a:r>
          </a:p>
          <a:p>
            <a:r>
              <a:rPr lang="zh-CN" altLang="en-US" sz="1400" dirty="0">
                <a:solidFill>
                  <a:schemeClr val="tx1"/>
                </a:solidFill>
              </a:rPr>
              <a:t>不需要大量施工布线的项目，从正式上线使用时间倒推</a:t>
            </a:r>
            <a:r>
              <a:rPr lang="en-US" altLang="zh-CN" sz="1400" dirty="0">
                <a:solidFill>
                  <a:schemeClr val="tx1"/>
                </a:solidFill>
              </a:rPr>
              <a:t>15</a:t>
            </a:r>
            <a:r>
              <a:rPr lang="zh-CN" altLang="en-US" sz="1400" dirty="0">
                <a:solidFill>
                  <a:schemeClr val="tx1"/>
                </a:solidFill>
              </a:rPr>
              <a:t>天</a:t>
            </a:r>
          </a:p>
        </p:txBody>
      </p:sp>
      <p:cxnSp>
        <p:nvCxnSpPr>
          <p:cNvPr id="22" name="直接连接符 21"/>
          <p:cNvCxnSpPr/>
          <p:nvPr/>
        </p:nvCxnSpPr>
        <p:spPr>
          <a:xfrm>
            <a:off x="7100595" y="1968761"/>
            <a:ext cx="2978180"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8102803" y="1862780"/>
            <a:ext cx="1133644" cy="369332"/>
          </a:xfrm>
          <a:prstGeom prst="rect">
            <a:avLst/>
          </a:prstGeom>
          <a:solidFill>
            <a:schemeClr val="bg2"/>
          </a:solidFill>
        </p:spPr>
        <p:txBody>
          <a:bodyPr wrap="none" rtlCol="0">
            <a:spAutoFit/>
          </a:bodyPr>
          <a:lstStyle/>
          <a:p>
            <a:r>
              <a:rPr lang="en-US" altLang="zh-CN" b="1" dirty="0">
                <a:solidFill>
                  <a:srgbClr val="C00000"/>
                </a:solidFill>
              </a:rPr>
              <a:t>15</a:t>
            </a:r>
            <a:r>
              <a:rPr lang="zh-CN" altLang="en-US" b="1" dirty="0">
                <a:solidFill>
                  <a:srgbClr val="C00000"/>
                </a:solidFill>
              </a:rPr>
              <a:t>天左右</a:t>
            </a:r>
          </a:p>
        </p:txBody>
      </p:sp>
      <p:cxnSp>
        <p:nvCxnSpPr>
          <p:cNvPr id="25" name="直接连接符 24"/>
          <p:cNvCxnSpPr>
            <a:stCxn id="11" idx="1"/>
            <a:endCxn id="6" idx="0"/>
          </p:cNvCxnSpPr>
          <p:nvPr/>
        </p:nvCxnSpPr>
        <p:spPr>
          <a:xfrm>
            <a:off x="5268524" y="1574157"/>
            <a:ext cx="4775880" cy="2718"/>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sp>
        <p:nvSpPr>
          <p:cNvPr id="28" name="文本框 27"/>
          <p:cNvSpPr txBox="1"/>
          <p:nvPr/>
        </p:nvSpPr>
        <p:spPr>
          <a:xfrm>
            <a:off x="7028993" y="1250158"/>
            <a:ext cx="1133644" cy="369332"/>
          </a:xfrm>
          <a:prstGeom prst="rect">
            <a:avLst/>
          </a:prstGeom>
          <a:solidFill>
            <a:schemeClr val="bg2"/>
          </a:solidFill>
        </p:spPr>
        <p:txBody>
          <a:bodyPr wrap="none" rtlCol="0">
            <a:spAutoFit/>
          </a:bodyPr>
          <a:lstStyle/>
          <a:p>
            <a:r>
              <a:rPr lang="en-US" altLang="zh-CN" b="1" dirty="0">
                <a:solidFill>
                  <a:srgbClr val="C00000"/>
                </a:solidFill>
              </a:rPr>
              <a:t>30</a:t>
            </a:r>
            <a:r>
              <a:rPr lang="zh-CN" altLang="en-US" b="1" dirty="0">
                <a:solidFill>
                  <a:srgbClr val="C00000"/>
                </a:solidFill>
              </a:rPr>
              <a:t>天左右</a:t>
            </a:r>
          </a:p>
        </p:txBody>
      </p:sp>
      <p:sp>
        <p:nvSpPr>
          <p:cNvPr id="29" name="圆角矩形 28"/>
          <p:cNvSpPr/>
          <p:nvPr/>
        </p:nvSpPr>
        <p:spPr>
          <a:xfrm>
            <a:off x="2934708" y="1862780"/>
            <a:ext cx="3255388" cy="937398"/>
          </a:xfrm>
          <a:prstGeom prst="roundRect">
            <a:avLst/>
          </a:prstGeom>
          <a:solidFill>
            <a:srgbClr val="FDD5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b="1" dirty="0">
                <a:solidFill>
                  <a:schemeClr val="tx1"/>
                </a:solidFill>
              </a:rPr>
              <a:t>要求到货时间估算场景</a:t>
            </a:r>
            <a:r>
              <a:rPr lang="en-US" altLang="zh-CN" sz="1400" b="1" dirty="0">
                <a:solidFill>
                  <a:schemeClr val="tx1"/>
                </a:solidFill>
              </a:rPr>
              <a:t>2</a:t>
            </a:r>
            <a:r>
              <a:rPr lang="zh-CN" altLang="en-US" sz="1400" b="1" dirty="0">
                <a:solidFill>
                  <a:schemeClr val="tx1"/>
                </a:solidFill>
              </a:rPr>
              <a:t>：</a:t>
            </a:r>
          </a:p>
          <a:p>
            <a:r>
              <a:rPr lang="zh-CN" altLang="en-US" sz="1400" dirty="0">
                <a:solidFill>
                  <a:schemeClr val="tx1"/>
                </a:solidFill>
              </a:rPr>
              <a:t>涉及到大量的施工布线的项目：最终设备使用和上线时间往前倒推</a:t>
            </a:r>
            <a:r>
              <a:rPr lang="en-US" altLang="zh-CN" sz="1400" dirty="0">
                <a:solidFill>
                  <a:schemeClr val="tx1"/>
                </a:solidFill>
              </a:rPr>
              <a:t>30</a:t>
            </a:r>
            <a:r>
              <a:rPr lang="zh-CN" altLang="en-US" sz="1400" dirty="0">
                <a:solidFill>
                  <a:schemeClr val="tx1"/>
                </a:solidFill>
              </a:rPr>
              <a:t>天来确定预计要货时间；</a:t>
            </a:r>
          </a:p>
        </p:txBody>
      </p:sp>
      <p:sp>
        <p:nvSpPr>
          <p:cNvPr id="30" name="矩形 29"/>
          <p:cNvSpPr/>
          <p:nvPr/>
        </p:nvSpPr>
        <p:spPr>
          <a:xfrm>
            <a:off x="353197" y="1101015"/>
            <a:ext cx="1829161" cy="3032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rPr>
              <a:t>针对财政资金</a:t>
            </a:r>
            <a:r>
              <a:rPr lang="en-US" altLang="zh-CN" sz="1400" dirty="0">
                <a:solidFill>
                  <a:schemeClr val="bg1"/>
                </a:solidFill>
              </a:rPr>
              <a:t>/</a:t>
            </a:r>
            <a:r>
              <a:rPr lang="zh-CN" altLang="en-US" sz="1400" dirty="0">
                <a:solidFill>
                  <a:schemeClr val="bg1"/>
                </a:solidFill>
              </a:rPr>
              <a:t>标准政采项目、弱电</a:t>
            </a:r>
            <a:r>
              <a:rPr lang="en-US" altLang="zh-CN" sz="1400" dirty="0">
                <a:solidFill>
                  <a:schemeClr val="bg1"/>
                </a:solidFill>
              </a:rPr>
              <a:t>&amp;EPC</a:t>
            </a:r>
            <a:r>
              <a:rPr lang="zh-CN" altLang="en-US" sz="1400" dirty="0">
                <a:solidFill>
                  <a:schemeClr val="bg1"/>
                </a:solidFill>
              </a:rPr>
              <a:t>总包项目、</a:t>
            </a:r>
            <a:r>
              <a:rPr lang="en-US" altLang="zh-CN" sz="1400" dirty="0">
                <a:solidFill>
                  <a:schemeClr val="bg1"/>
                </a:solidFill>
              </a:rPr>
              <a:t>ICT&amp;</a:t>
            </a:r>
            <a:r>
              <a:rPr lang="zh-CN" altLang="en-US" sz="1400" dirty="0">
                <a:solidFill>
                  <a:schemeClr val="bg1"/>
                </a:solidFill>
              </a:rPr>
              <a:t>投融资项目、中大企业集采框架</a:t>
            </a:r>
            <a:r>
              <a:rPr lang="en-US" altLang="zh-CN" sz="1400" dirty="0">
                <a:solidFill>
                  <a:schemeClr val="bg1"/>
                </a:solidFill>
              </a:rPr>
              <a:t>OC</a:t>
            </a:r>
            <a:r>
              <a:rPr lang="zh-CN" altLang="en-US" sz="1400" dirty="0">
                <a:solidFill>
                  <a:schemeClr val="bg1"/>
                </a:solidFill>
              </a:rPr>
              <a:t>子项目、金融行业框架</a:t>
            </a:r>
            <a:r>
              <a:rPr lang="en-US" altLang="zh-CN" sz="1400" dirty="0">
                <a:solidFill>
                  <a:schemeClr val="bg1"/>
                </a:solidFill>
              </a:rPr>
              <a:t>OC</a:t>
            </a:r>
            <a:r>
              <a:rPr lang="zh-CN" altLang="en-US" sz="1400" dirty="0">
                <a:solidFill>
                  <a:schemeClr val="bg1"/>
                </a:solidFill>
              </a:rPr>
              <a:t>子项目等</a:t>
            </a:r>
          </a:p>
        </p:txBody>
      </p:sp>
      <p:sp>
        <p:nvSpPr>
          <p:cNvPr id="31" name="等腰三角形 30"/>
          <p:cNvSpPr/>
          <p:nvPr/>
        </p:nvSpPr>
        <p:spPr>
          <a:xfrm rot="5400000">
            <a:off x="2184127" y="2476306"/>
            <a:ext cx="849086" cy="22393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2864498" y="944193"/>
            <a:ext cx="9060023" cy="339454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2964414" y="3493690"/>
            <a:ext cx="8887580" cy="738664"/>
          </a:xfrm>
          <a:prstGeom prst="rect">
            <a:avLst/>
          </a:prstGeom>
        </p:spPr>
        <p:txBody>
          <a:bodyPr wrap="square">
            <a:spAutoFit/>
          </a:bodyPr>
          <a:lstStyle/>
          <a:p>
            <a:r>
              <a:rPr lang="zh-CN" altLang="en-US" sz="1400" dirty="0">
                <a:solidFill>
                  <a:srgbClr val="000000"/>
                </a:solidFill>
                <a:latin typeface="MonospacedNumber"/>
              </a:rPr>
              <a:t>如上为建议时间是跟根据项目施工复杂程度来的，重点还是需要销售要提前跟客户</a:t>
            </a:r>
            <a:r>
              <a:rPr lang="en-US" altLang="zh-CN" sz="1400" dirty="0">
                <a:solidFill>
                  <a:srgbClr val="000000"/>
                </a:solidFill>
                <a:latin typeface="MonospacedNumber"/>
              </a:rPr>
              <a:t>/</a:t>
            </a:r>
            <a:r>
              <a:rPr lang="zh-CN" altLang="en-US" sz="1400" dirty="0">
                <a:solidFill>
                  <a:srgbClr val="000000"/>
                </a:solidFill>
                <a:latin typeface="MonospacedNumber"/>
              </a:rPr>
              <a:t>渠道沟通好最终设备使用或者上线时间以及施工周期在系统及时更新好“预计要货时间”，需要特殊支持的务必提前跟供应链对应的同事保持沟通。</a:t>
            </a:r>
            <a:endParaRPr lang="zh-CN" altLang="en-US" sz="1400" dirty="0">
              <a:effectLst/>
            </a:endParaRPr>
          </a:p>
        </p:txBody>
      </p:sp>
      <p:sp>
        <p:nvSpPr>
          <p:cNvPr id="34" name="矩形 33"/>
          <p:cNvSpPr/>
          <p:nvPr/>
        </p:nvSpPr>
        <p:spPr>
          <a:xfrm>
            <a:off x="353197" y="4417020"/>
            <a:ext cx="1829161" cy="22543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chemeClr val="bg1"/>
                </a:solidFill>
              </a:rPr>
              <a:t>填写标准</a:t>
            </a:r>
          </a:p>
        </p:txBody>
      </p:sp>
      <p:sp>
        <p:nvSpPr>
          <p:cNvPr id="35" name="等腰三角形 34"/>
          <p:cNvSpPr/>
          <p:nvPr/>
        </p:nvSpPr>
        <p:spPr>
          <a:xfrm rot="5400000">
            <a:off x="2072159" y="5245624"/>
            <a:ext cx="849086" cy="22393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2864498" y="4362335"/>
            <a:ext cx="9060023" cy="230905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2976800" y="4400078"/>
            <a:ext cx="8785333" cy="2308324"/>
          </a:xfrm>
          <a:prstGeom prst="rect">
            <a:avLst/>
          </a:prstGeom>
        </p:spPr>
        <p:txBody>
          <a:bodyPr wrap="square">
            <a:spAutoFit/>
          </a:bodyPr>
          <a:lstStyle/>
          <a:p>
            <a:r>
              <a:rPr lang="zh-CN" altLang="en-US" sz="1200" b="1" dirty="0">
                <a:solidFill>
                  <a:srgbClr val="000000"/>
                </a:solidFill>
                <a:latin typeface="MonospacedNumber"/>
              </a:rPr>
              <a:t>销售填写“要求到货时间”，并且根据“预计要货时间”的判断说明在“备货说明”里面填写清楚要货时间根据（销售易</a:t>
            </a:r>
            <a:r>
              <a:rPr lang="en-US" altLang="zh-CN" sz="1200" b="1" dirty="0">
                <a:solidFill>
                  <a:srgbClr val="000000"/>
                </a:solidFill>
                <a:latin typeface="MonospacedNumber"/>
              </a:rPr>
              <a:t>CRM</a:t>
            </a:r>
            <a:r>
              <a:rPr lang="zh-CN" altLang="en-US" sz="1200" b="1" dirty="0">
                <a:solidFill>
                  <a:srgbClr val="000000"/>
                </a:solidFill>
                <a:latin typeface="MonospacedNumber"/>
              </a:rPr>
              <a:t>里面的位置以及相关示意如下）；“备货说明”不填写清楚的情况，“要求到货日期”是无法填写的；</a:t>
            </a:r>
            <a:r>
              <a:rPr lang="zh-CN" altLang="en-US" sz="1200" dirty="0"/>
              <a:t/>
            </a:r>
            <a:br>
              <a:rPr lang="zh-CN" altLang="en-US" sz="1200" dirty="0"/>
            </a:br>
            <a:endParaRPr lang="zh-CN" altLang="en-US" sz="1200" dirty="0"/>
          </a:p>
          <a:p>
            <a:r>
              <a:rPr lang="en-US" altLang="zh-CN" sz="1200" dirty="0">
                <a:solidFill>
                  <a:srgbClr val="000000"/>
                </a:solidFill>
                <a:latin typeface="MonospacedNumber"/>
              </a:rPr>
              <a:t>- “</a:t>
            </a:r>
            <a:r>
              <a:rPr lang="zh-CN" altLang="en-US" sz="1200" dirty="0">
                <a:solidFill>
                  <a:srgbClr val="000000"/>
                </a:solidFill>
                <a:latin typeface="MonospacedNumber"/>
              </a:rPr>
              <a:t>备货说明”填写示范：</a:t>
            </a:r>
            <a:endParaRPr lang="zh-CN" altLang="en-US" sz="1200" dirty="0"/>
          </a:p>
          <a:p>
            <a:r>
              <a:rPr lang="zh-CN" altLang="en-US" sz="1200" dirty="0">
                <a:solidFill>
                  <a:srgbClr val="000000"/>
                </a:solidFill>
                <a:latin typeface="MonospacedNumber"/>
              </a:rPr>
              <a:t>（</a:t>
            </a:r>
            <a:r>
              <a:rPr lang="en-US" altLang="zh-CN" sz="1200" dirty="0">
                <a:solidFill>
                  <a:srgbClr val="000000"/>
                </a:solidFill>
                <a:latin typeface="MonospacedNumber"/>
              </a:rPr>
              <a:t>1</a:t>
            </a:r>
            <a:r>
              <a:rPr lang="zh-CN" altLang="en-US" sz="1200" dirty="0">
                <a:solidFill>
                  <a:srgbClr val="000000"/>
                </a:solidFill>
                <a:latin typeface="MonospacedNumber"/>
              </a:rPr>
              <a:t>）不需要大量施工布线的项目按照最终设备使用和上线时间至少倒推</a:t>
            </a:r>
            <a:r>
              <a:rPr lang="en-US" altLang="zh-CN" sz="1200" dirty="0">
                <a:solidFill>
                  <a:srgbClr val="000000"/>
                </a:solidFill>
                <a:latin typeface="MonospacedNumber"/>
              </a:rPr>
              <a:t>15</a:t>
            </a:r>
            <a:r>
              <a:rPr lang="zh-CN" altLang="en-US" sz="1200" dirty="0">
                <a:solidFill>
                  <a:srgbClr val="000000"/>
                </a:solidFill>
                <a:latin typeface="MonospacedNumber"/>
              </a:rPr>
              <a:t>天来填写“要求到货时间”，填写范本：与客户端信息办王主任确认，项目预计</a:t>
            </a:r>
            <a:r>
              <a:rPr lang="en-US" altLang="zh-CN" sz="1200" dirty="0">
                <a:solidFill>
                  <a:srgbClr val="000000"/>
                </a:solidFill>
                <a:latin typeface="MonospacedNumber"/>
              </a:rPr>
              <a:t>9</a:t>
            </a:r>
            <a:r>
              <a:rPr lang="zh-CN" altLang="en-US" sz="1200" dirty="0">
                <a:solidFill>
                  <a:srgbClr val="000000"/>
                </a:solidFill>
                <a:latin typeface="MonospacedNumber"/>
              </a:rPr>
              <a:t>月</a:t>
            </a:r>
            <a:r>
              <a:rPr lang="en-US" altLang="zh-CN" sz="1200" dirty="0">
                <a:solidFill>
                  <a:srgbClr val="000000"/>
                </a:solidFill>
                <a:latin typeface="MonospacedNumber"/>
              </a:rPr>
              <a:t>30</a:t>
            </a:r>
            <a:r>
              <a:rPr lang="zh-CN" altLang="en-US" sz="1200" dirty="0">
                <a:solidFill>
                  <a:srgbClr val="000000"/>
                </a:solidFill>
                <a:latin typeface="MonospacedNumber"/>
              </a:rPr>
              <a:t>日最终上线，且项目不涉及到大量的施工布线，按照上线</a:t>
            </a:r>
            <a:r>
              <a:rPr lang="en-US" altLang="zh-CN" sz="1200" dirty="0">
                <a:solidFill>
                  <a:srgbClr val="000000"/>
                </a:solidFill>
                <a:latin typeface="MonospacedNumber"/>
              </a:rPr>
              <a:t>15</a:t>
            </a:r>
            <a:r>
              <a:rPr lang="zh-CN" altLang="en-US" sz="1200" dirty="0">
                <a:solidFill>
                  <a:srgbClr val="000000"/>
                </a:solidFill>
                <a:latin typeface="MonospacedNumber"/>
              </a:rPr>
              <a:t>天也就是</a:t>
            </a:r>
            <a:r>
              <a:rPr lang="en-US" altLang="zh-CN" sz="1200" dirty="0">
                <a:solidFill>
                  <a:srgbClr val="000000"/>
                </a:solidFill>
                <a:latin typeface="MonospacedNumber"/>
              </a:rPr>
              <a:t>9</a:t>
            </a:r>
            <a:r>
              <a:rPr lang="zh-CN" altLang="en-US" sz="1200" dirty="0">
                <a:solidFill>
                  <a:srgbClr val="000000"/>
                </a:solidFill>
                <a:latin typeface="MonospacedNumber"/>
              </a:rPr>
              <a:t>月</a:t>
            </a:r>
            <a:r>
              <a:rPr lang="en-US" altLang="zh-CN" sz="1200" dirty="0">
                <a:solidFill>
                  <a:srgbClr val="000000"/>
                </a:solidFill>
                <a:latin typeface="MonospacedNumber"/>
              </a:rPr>
              <a:t>15</a:t>
            </a:r>
            <a:r>
              <a:rPr lang="zh-CN" altLang="en-US" sz="1200" dirty="0">
                <a:solidFill>
                  <a:srgbClr val="000000"/>
                </a:solidFill>
                <a:latin typeface="MonospacedNumber"/>
              </a:rPr>
              <a:t>日填写“要求到货时间”，并且与王主任确认，这个要求到货时间是可以满足的；</a:t>
            </a:r>
            <a:endParaRPr lang="zh-CN" altLang="en-US" sz="1200" dirty="0"/>
          </a:p>
          <a:p>
            <a:r>
              <a:rPr lang="zh-CN" altLang="en-US" sz="1200" dirty="0">
                <a:solidFill>
                  <a:srgbClr val="000000"/>
                </a:solidFill>
                <a:latin typeface="MonospacedNumber"/>
              </a:rPr>
              <a:t>（</a:t>
            </a:r>
            <a:r>
              <a:rPr lang="en-US" altLang="zh-CN" sz="1200" dirty="0">
                <a:solidFill>
                  <a:srgbClr val="000000"/>
                </a:solidFill>
                <a:latin typeface="MonospacedNumber"/>
              </a:rPr>
              <a:t>2</a:t>
            </a:r>
            <a:r>
              <a:rPr lang="zh-CN" altLang="en-US" sz="1200" dirty="0">
                <a:solidFill>
                  <a:srgbClr val="000000"/>
                </a:solidFill>
                <a:latin typeface="MonospacedNumber"/>
              </a:rPr>
              <a:t>）涉及到大量的施工布线的项目：最终设备使用和上线时间往前倒推</a:t>
            </a:r>
            <a:r>
              <a:rPr lang="en-US" altLang="zh-CN" sz="1200" dirty="0">
                <a:solidFill>
                  <a:srgbClr val="000000"/>
                </a:solidFill>
                <a:latin typeface="MonospacedNumber"/>
              </a:rPr>
              <a:t>30</a:t>
            </a:r>
            <a:r>
              <a:rPr lang="zh-CN" altLang="en-US" sz="1200" dirty="0">
                <a:solidFill>
                  <a:srgbClr val="000000"/>
                </a:solidFill>
                <a:latin typeface="MonospacedNumber"/>
              </a:rPr>
              <a:t>天来确定预计要货时间，填写范本：与现场实施的项目经理王经理确认，项目预计</a:t>
            </a:r>
            <a:r>
              <a:rPr lang="en-US" altLang="zh-CN" sz="1200" dirty="0">
                <a:solidFill>
                  <a:srgbClr val="000000"/>
                </a:solidFill>
                <a:latin typeface="MonospacedNumber"/>
              </a:rPr>
              <a:t>9</a:t>
            </a:r>
            <a:r>
              <a:rPr lang="zh-CN" altLang="en-US" sz="1200" dirty="0">
                <a:solidFill>
                  <a:srgbClr val="000000"/>
                </a:solidFill>
                <a:latin typeface="MonospacedNumber"/>
              </a:rPr>
              <a:t>月</a:t>
            </a:r>
            <a:r>
              <a:rPr lang="en-US" altLang="zh-CN" sz="1200" dirty="0">
                <a:solidFill>
                  <a:srgbClr val="000000"/>
                </a:solidFill>
                <a:latin typeface="MonospacedNumber"/>
              </a:rPr>
              <a:t>30</a:t>
            </a:r>
            <a:r>
              <a:rPr lang="zh-CN" altLang="en-US" sz="1200" dirty="0">
                <a:solidFill>
                  <a:srgbClr val="000000"/>
                </a:solidFill>
                <a:latin typeface="MonospacedNumber"/>
              </a:rPr>
              <a:t>日最终上线，因项目涉及到大量的布线工作，按照上线</a:t>
            </a:r>
            <a:r>
              <a:rPr lang="en-US" altLang="zh-CN" sz="1200" dirty="0">
                <a:solidFill>
                  <a:srgbClr val="000000"/>
                </a:solidFill>
                <a:latin typeface="MonospacedNumber"/>
              </a:rPr>
              <a:t>30</a:t>
            </a:r>
            <a:r>
              <a:rPr lang="zh-CN" altLang="en-US" sz="1200" dirty="0">
                <a:solidFill>
                  <a:srgbClr val="000000"/>
                </a:solidFill>
                <a:latin typeface="MonospacedNumber"/>
              </a:rPr>
              <a:t>天也就是</a:t>
            </a:r>
            <a:r>
              <a:rPr lang="en-US" altLang="zh-CN" sz="1200" dirty="0">
                <a:solidFill>
                  <a:srgbClr val="000000"/>
                </a:solidFill>
                <a:latin typeface="MonospacedNumber"/>
              </a:rPr>
              <a:t>9</a:t>
            </a:r>
            <a:r>
              <a:rPr lang="zh-CN" altLang="en-US" sz="1200" dirty="0">
                <a:solidFill>
                  <a:srgbClr val="000000"/>
                </a:solidFill>
                <a:latin typeface="MonospacedNumber"/>
              </a:rPr>
              <a:t>月</a:t>
            </a:r>
            <a:r>
              <a:rPr lang="en-US" altLang="zh-CN" sz="1200" dirty="0">
                <a:solidFill>
                  <a:srgbClr val="000000"/>
                </a:solidFill>
                <a:latin typeface="MonospacedNumber"/>
              </a:rPr>
              <a:t>1</a:t>
            </a:r>
            <a:r>
              <a:rPr lang="zh-CN" altLang="en-US" sz="1200" dirty="0">
                <a:solidFill>
                  <a:srgbClr val="000000"/>
                </a:solidFill>
                <a:latin typeface="MonospacedNumber"/>
              </a:rPr>
              <a:t>日填写“要求到货时间”，并且与王经理确认，这个要求到货时间是可以满足的；</a:t>
            </a:r>
            <a:endParaRPr lang="zh-CN" altLang="en-US" sz="1200" dirty="0"/>
          </a:p>
          <a:p>
            <a:r>
              <a:rPr lang="zh-CN" altLang="en-US" sz="1200" dirty="0">
                <a:solidFill>
                  <a:srgbClr val="000000"/>
                </a:solidFill>
                <a:latin typeface="MonospacedNumber"/>
              </a:rPr>
              <a:t>（</a:t>
            </a:r>
            <a:r>
              <a:rPr lang="en-US" altLang="zh-CN" sz="1200" dirty="0">
                <a:solidFill>
                  <a:srgbClr val="000000"/>
                </a:solidFill>
                <a:latin typeface="MonospacedNumber"/>
              </a:rPr>
              <a:t>3</a:t>
            </a:r>
            <a:r>
              <a:rPr lang="zh-CN" altLang="en-US" sz="1200" dirty="0">
                <a:solidFill>
                  <a:srgbClr val="000000"/>
                </a:solidFill>
                <a:latin typeface="MonospacedNumber"/>
              </a:rPr>
              <a:t>）流水或者紧急项目（含翻盘项目等），根据项目的实际情况填写“要求到货日期”，同时，要与供应链的同事保持密切沟通，做相关到货的协调；</a:t>
            </a:r>
            <a:endParaRPr lang="zh-CN" altLang="en-US" sz="1200" dirty="0">
              <a:effectLst/>
            </a:endParaRPr>
          </a:p>
        </p:txBody>
      </p:sp>
      <p:sp>
        <p:nvSpPr>
          <p:cNvPr id="38" name="文本框 37"/>
          <p:cNvSpPr txBox="1"/>
          <p:nvPr/>
        </p:nvSpPr>
        <p:spPr>
          <a:xfrm>
            <a:off x="2864498" y="936115"/>
            <a:ext cx="1569660" cy="369332"/>
          </a:xfrm>
          <a:prstGeom prst="rect">
            <a:avLst/>
          </a:prstGeom>
          <a:noFill/>
        </p:spPr>
        <p:txBody>
          <a:bodyPr wrap="none" rtlCol="0">
            <a:spAutoFit/>
          </a:bodyPr>
          <a:lstStyle/>
          <a:p>
            <a:r>
              <a:rPr lang="zh-CN" altLang="en-US" b="1" dirty="0"/>
              <a:t>要求到货时间</a:t>
            </a:r>
          </a:p>
        </p:txBody>
      </p:sp>
    </p:spTree>
    <p:extLst>
      <p:ext uri="{BB962C8B-B14F-4D97-AF65-F5344CB8AC3E}">
        <p14:creationId xmlns:p14="http://schemas.microsoft.com/office/powerpoint/2010/main" val="92470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a:t>预计下单时间的估算方法和填写标准</a:t>
            </a:r>
          </a:p>
        </p:txBody>
      </p:sp>
      <p:sp>
        <p:nvSpPr>
          <p:cNvPr id="4" name="矩形 3"/>
          <p:cNvSpPr/>
          <p:nvPr/>
        </p:nvSpPr>
        <p:spPr>
          <a:xfrm>
            <a:off x="321576" y="1039150"/>
            <a:ext cx="4245428" cy="5632311"/>
          </a:xfrm>
          <a:prstGeom prst="rect">
            <a:avLst/>
          </a:prstGeom>
        </p:spPr>
        <p:txBody>
          <a:bodyPr wrap="square">
            <a:spAutoFit/>
          </a:bodyPr>
          <a:lstStyle/>
          <a:p>
            <a:pPr>
              <a:lnSpc>
                <a:spcPct val="150000"/>
              </a:lnSpc>
            </a:pPr>
            <a:r>
              <a:rPr lang="zh-CN" altLang="en-US" sz="1600" dirty="0">
                <a:solidFill>
                  <a:srgbClr val="000000"/>
                </a:solidFill>
                <a:latin typeface="MonospacedNumber"/>
              </a:rPr>
              <a:t>针对财政资金</a:t>
            </a:r>
            <a:r>
              <a:rPr lang="en-US" altLang="zh-CN" sz="1600" dirty="0">
                <a:solidFill>
                  <a:srgbClr val="000000"/>
                </a:solidFill>
                <a:latin typeface="MonospacedNumber"/>
              </a:rPr>
              <a:t>/</a:t>
            </a:r>
            <a:r>
              <a:rPr lang="zh-CN" altLang="en-US" sz="1600" dirty="0">
                <a:solidFill>
                  <a:srgbClr val="000000"/>
                </a:solidFill>
                <a:latin typeface="MonospacedNumber"/>
              </a:rPr>
              <a:t>标准政采项目、弱电</a:t>
            </a:r>
            <a:r>
              <a:rPr lang="en-US" altLang="zh-CN" sz="1600" dirty="0">
                <a:solidFill>
                  <a:srgbClr val="000000"/>
                </a:solidFill>
                <a:latin typeface="MonospacedNumber"/>
              </a:rPr>
              <a:t>&amp;EPC</a:t>
            </a:r>
            <a:r>
              <a:rPr lang="zh-CN" altLang="en-US" sz="1600" dirty="0">
                <a:solidFill>
                  <a:srgbClr val="000000"/>
                </a:solidFill>
                <a:latin typeface="MonospacedNumber"/>
              </a:rPr>
              <a:t>总包项目、</a:t>
            </a:r>
            <a:r>
              <a:rPr lang="en-US" altLang="zh-CN" sz="1600" dirty="0">
                <a:solidFill>
                  <a:srgbClr val="000000"/>
                </a:solidFill>
                <a:latin typeface="MonospacedNumber"/>
              </a:rPr>
              <a:t>ICT&amp;</a:t>
            </a:r>
            <a:r>
              <a:rPr lang="zh-CN" altLang="en-US" sz="1600" dirty="0">
                <a:solidFill>
                  <a:srgbClr val="000000"/>
                </a:solidFill>
                <a:latin typeface="MonospacedNumber"/>
              </a:rPr>
              <a:t>投融资项目、中大企业集采框架</a:t>
            </a:r>
            <a:r>
              <a:rPr lang="en-US" altLang="zh-CN" sz="1600" dirty="0">
                <a:solidFill>
                  <a:srgbClr val="000000"/>
                </a:solidFill>
                <a:latin typeface="MonospacedNumber"/>
              </a:rPr>
              <a:t>OC</a:t>
            </a:r>
            <a:r>
              <a:rPr lang="zh-CN" altLang="en-US" sz="1600" dirty="0">
                <a:solidFill>
                  <a:srgbClr val="000000"/>
                </a:solidFill>
                <a:latin typeface="MonospacedNumber"/>
              </a:rPr>
              <a:t>子项目、金融行业框架</a:t>
            </a:r>
            <a:r>
              <a:rPr lang="en-US" altLang="zh-CN" sz="1600" dirty="0">
                <a:solidFill>
                  <a:srgbClr val="000000"/>
                </a:solidFill>
                <a:latin typeface="MonospacedNumber"/>
              </a:rPr>
              <a:t>OC</a:t>
            </a:r>
            <a:r>
              <a:rPr lang="zh-CN" altLang="en-US" sz="1600" dirty="0">
                <a:solidFill>
                  <a:srgbClr val="000000"/>
                </a:solidFill>
                <a:latin typeface="MonospacedNumber"/>
              </a:rPr>
              <a:t>子项目等所有项目的“预计下单时间”均以“预计要货时间”</a:t>
            </a:r>
            <a:r>
              <a:rPr lang="en-US" altLang="zh-CN" sz="1600" dirty="0">
                <a:solidFill>
                  <a:srgbClr val="000000"/>
                </a:solidFill>
                <a:latin typeface="MonospacedNumber"/>
              </a:rPr>
              <a:t>-“</a:t>
            </a:r>
            <a:r>
              <a:rPr lang="zh-CN" altLang="en-US" sz="1600" dirty="0">
                <a:solidFill>
                  <a:srgbClr val="000000"/>
                </a:solidFill>
                <a:latin typeface="MonospacedNumber"/>
              </a:rPr>
              <a:t>订单</a:t>
            </a:r>
            <a:r>
              <a:rPr lang="en-US" altLang="zh-CN" sz="1600" dirty="0">
                <a:solidFill>
                  <a:srgbClr val="000000"/>
                </a:solidFill>
                <a:latin typeface="MonospacedNumber"/>
              </a:rPr>
              <a:t>SLA”</a:t>
            </a:r>
            <a:r>
              <a:rPr lang="zh-CN" altLang="en-US" sz="1600" dirty="0">
                <a:solidFill>
                  <a:srgbClr val="000000"/>
                </a:solidFill>
                <a:latin typeface="MonospacedNumber"/>
              </a:rPr>
              <a:t>来做依据；</a:t>
            </a:r>
            <a:endParaRPr lang="zh-CN" altLang="en-US" sz="1600" dirty="0"/>
          </a:p>
          <a:p>
            <a:pPr marL="285750" indent="-285750">
              <a:lnSpc>
                <a:spcPct val="150000"/>
              </a:lnSpc>
              <a:buFontTx/>
              <a:buChar char="-"/>
            </a:pPr>
            <a:r>
              <a:rPr lang="zh-CN" altLang="en-US" sz="1600" b="1" dirty="0">
                <a:solidFill>
                  <a:srgbClr val="000000"/>
                </a:solidFill>
                <a:latin typeface="MonospacedNumber"/>
              </a:rPr>
              <a:t>一个订单里面如果涉及多款产品，每款产品</a:t>
            </a:r>
            <a:r>
              <a:rPr lang="en-US" altLang="zh-CN" sz="1600" b="1" dirty="0">
                <a:solidFill>
                  <a:srgbClr val="000000"/>
                </a:solidFill>
                <a:latin typeface="MonospacedNumber"/>
              </a:rPr>
              <a:t>SLA</a:t>
            </a:r>
            <a:r>
              <a:rPr lang="zh-CN" altLang="en-US" sz="1600" b="1" dirty="0">
                <a:solidFill>
                  <a:srgbClr val="000000"/>
                </a:solidFill>
                <a:latin typeface="MonospacedNumber"/>
              </a:rPr>
              <a:t>不同，最终订单的</a:t>
            </a:r>
            <a:r>
              <a:rPr lang="en-US" altLang="zh-CN" sz="1600" b="1" dirty="0">
                <a:solidFill>
                  <a:srgbClr val="000000"/>
                </a:solidFill>
                <a:latin typeface="MonospacedNumber"/>
              </a:rPr>
              <a:t>SLA</a:t>
            </a:r>
            <a:r>
              <a:rPr lang="zh-CN" altLang="en-US" sz="1600" b="1" dirty="0">
                <a:solidFill>
                  <a:srgbClr val="000000"/>
                </a:solidFill>
                <a:latin typeface="MonospacedNumber"/>
              </a:rPr>
              <a:t>是取大值，比如</a:t>
            </a:r>
            <a:r>
              <a:rPr lang="en-US" altLang="zh-CN" sz="1600" b="1" dirty="0">
                <a:solidFill>
                  <a:srgbClr val="000000"/>
                </a:solidFill>
                <a:latin typeface="MonospacedNumber"/>
              </a:rPr>
              <a:t>A 3</a:t>
            </a:r>
            <a:r>
              <a:rPr lang="zh-CN" altLang="en-US" sz="1600" b="1" dirty="0">
                <a:solidFill>
                  <a:srgbClr val="000000"/>
                </a:solidFill>
                <a:latin typeface="MonospacedNumber"/>
              </a:rPr>
              <a:t>天，</a:t>
            </a:r>
            <a:r>
              <a:rPr lang="en-US" altLang="zh-CN" sz="1600" b="1" dirty="0">
                <a:solidFill>
                  <a:srgbClr val="000000"/>
                </a:solidFill>
                <a:latin typeface="MonospacedNumber"/>
              </a:rPr>
              <a:t>B7</a:t>
            </a:r>
            <a:r>
              <a:rPr lang="zh-CN" altLang="en-US" sz="1600" b="1" dirty="0">
                <a:solidFill>
                  <a:srgbClr val="000000"/>
                </a:solidFill>
                <a:latin typeface="MonospacedNumber"/>
              </a:rPr>
              <a:t>天，</a:t>
            </a:r>
            <a:r>
              <a:rPr lang="en-US" altLang="zh-CN" sz="1600" b="1" dirty="0">
                <a:solidFill>
                  <a:srgbClr val="000000"/>
                </a:solidFill>
                <a:latin typeface="MonospacedNumber"/>
              </a:rPr>
              <a:t>C 14</a:t>
            </a:r>
            <a:r>
              <a:rPr lang="zh-CN" altLang="en-US" sz="1600" b="1" dirty="0">
                <a:solidFill>
                  <a:srgbClr val="000000"/>
                </a:solidFill>
                <a:latin typeface="MonospacedNumber"/>
              </a:rPr>
              <a:t>天，那么订单的</a:t>
            </a:r>
            <a:r>
              <a:rPr lang="en-US" altLang="zh-CN" sz="1600" b="1" dirty="0">
                <a:solidFill>
                  <a:srgbClr val="000000"/>
                </a:solidFill>
                <a:latin typeface="MonospacedNumber"/>
              </a:rPr>
              <a:t>SLA</a:t>
            </a:r>
            <a:r>
              <a:rPr lang="zh-CN" altLang="en-US" sz="1600" b="1" dirty="0">
                <a:solidFill>
                  <a:srgbClr val="000000"/>
                </a:solidFill>
                <a:latin typeface="MonospacedNumber"/>
              </a:rPr>
              <a:t>是</a:t>
            </a:r>
            <a:r>
              <a:rPr lang="en-US" altLang="zh-CN" sz="1600" b="1" dirty="0">
                <a:solidFill>
                  <a:srgbClr val="000000"/>
                </a:solidFill>
                <a:latin typeface="MonospacedNumber"/>
              </a:rPr>
              <a:t>14</a:t>
            </a:r>
            <a:r>
              <a:rPr lang="zh-CN" altLang="en-US" sz="1600" b="1" dirty="0">
                <a:solidFill>
                  <a:srgbClr val="000000"/>
                </a:solidFill>
                <a:latin typeface="MonospacedNumber"/>
              </a:rPr>
              <a:t>天；</a:t>
            </a:r>
            <a:endParaRPr lang="en-US" altLang="zh-CN" sz="1600" b="1" dirty="0">
              <a:solidFill>
                <a:srgbClr val="000000"/>
              </a:solidFill>
              <a:latin typeface="MonospacedNumber"/>
            </a:endParaRPr>
          </a:p>
          <a:p>
            <a:pPr>
              <a:lnSpc>
                <a:spcPct val="150000"/>
              </a:lnSpc>
            </a:pPr>
            <a:endParaRPr lang="en-US" altLang="zh-CN" sz="1600" dirty="0"/>
          </a:p>
          <a:p>
            <a:pPr>
              <a:lnSpc>
                <a:spcPct val="150000"/>
              </a:lnSpc>
            </a:pPr>
            <a:r>
              <a:rPr lang="zh-CN" altLang="en-US" sz="1600" dirty="0"/>
              <a:t>跟据预计要货时间以及订单的</a:t>
            </a:r>
            <a:r>
              <a:rPr lang="en-US" altLang="zh-CN" sz="1600" dirty="0"/>
              <a:t>SLA</a:t>
            </a:r>
            <a:r>
              <a:rPr lang="zh-CN" altLang="en-US" sz="1600" dirty="0"/>
              <a:t>来设置预计下单时间的底线范围；（目前销售填写的预计下单日期在</a:t>
            </a:r>
            <a:r>
              <a:rPr lang="en-US" altLang="zh-CN" sz="1600" dirty="0"/>
              <a:t>SLA</a:t>
            </a:r>
            <a:r>
              <a:rPr lang="zh-CN" altLang="en-US" sz="1600" dirty="0"/>
              <a:t>测算出来之后的，视为质量</a:t>
            </a:r>
            <a:r>
              <a:rPr lang="en-US" altLang="zh-CN" sz="1600" dirty="0"/>
              <a:t>OK</a:t>
            </a:r>
            <a:r>
              <a:rPr lang="zh-CN" altLang="en-US" sz="1600" dirty="0"/>
              <a:t>）</a:t>
            </a:r>
          </a:p>
          <a:p>
            <a:pPr marL="285750" indent="-285750">
              <a:lnSpc>
                <a:spcPct val="150000"/>
              </a:lnSpc>
              <a:buFontTx/>
              <a:buChar char="-"/>
            </a:pPr>
            <a:endParaRPr lang="zh-CN" altLang="en-US" sz="1600" dirty="0">
              <a:effectLst/>
            </a:endParaRPr>
          </a:p>
        </p:txBody>
      </p:sp>
      <p:pic>
        <p:nvPicPr>
          <p:cNvPr id="8" name="图片 7"/>
          <p:cNvPicPr>
            <a:picLocks noChangeAspect="1"/>
          </p:cNvPicPr>
          <p:nvPr/>
        </p:nvPicPr>
        <p:blipFill>
          <a:blip r:embed="rId2"/>
          <a:stretch>
            <a:fillRect/>
          </a:stretch>
        </p:blipFill>
        <p:spPr>
          <a:xfrm>
            <a:off x="5313452" y="1039150"/>
            <a:ext cx="5724661" cy="3002336"/>
          </a:xfrm>
          <a:prstGeom prst="rect">
            <a:avLst/>
          </a:prstGeom>
        </p:spPr>
      </p:pic>
      <p:pic>
        <p:nvPicPr>
          <p:cNvPr id="7" name="图片 6"/>
          <p:cNvPicPr>
            <a:picLocks noChangeAspect="1"/>
          </p:cNvPicPr>
          <p:nvPr/>
        </p:nvPicPr>
        <p:blipFill>
          <a:blip r:embed="rId3"/>
          <a:stretch>
            <a:fillRect/>
          </a:stretch>
        </p:blipFill>
        <p:spPr>
          <a:xfrm>
            <a:off x="5192156" y="3614463"/>
            <a:ext cx="6359142" cy="3159204"/>
          </a:xfrm>
          <a:prstGeom prst="rect">
            <a:avLst/>
          </a:prstGeom>
        </p:spPr>
      </p:pic>
      <p:sp>
        <p:nvSpPr>
          <p:cNvPr id="9" name="矩形 8"/>
          <p:cNvSpPr/>
          <p:nvPr/>
        </p:nvSpPr>
        <p:spPr>
          <a:xfrm>
            <a:off x="5080189" y="955175"/>
            <a:ext cx="6471109" cy="59028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643594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zh-CN" altLang="en-US" dirty="0"/>
              <a:t>预计开标时间的估算方法和填写标准</a:t>
            </a:r>
          </a:p>
        </p:txBody>
      </p:sp>
      <p:sp>
        <p:nvSpPr>
          <p:cNvPr id="4" name="矩形 3"/>
          <p:cNvSpPr/>
          <p:nvPr/>
        </p:nvSpPr>
        <p:spPr>
          <a:xfrm>
            <a:off x="510115" y="2526078"/>
            <a:ext cx="2683132" cy="1938992"/>
          </a:xfrm>
          <a:prstGeom prst="rect">
            <a:avLst/>
          </a:prstGeom>
          <a:ln>
            <a:solidFill>
              <a:schemeClr val="accent1">
                <a:shade val="50000"/>
              </a:schemeClr>
            </a:solidFill>
          </a:ln>
        </p:spPr>
        <p:txBody>
          <a:bodyPr wrap="square">
            <a:spAutoFit/>
          </a:bodyPr>
          <a:lstStyle/>
          <a:p>
            <a:pPr fontAlgn="ctr">
              <a:lnSpc>
                <a:spcPct val="150000"/>
              </a:lnSpc>
            </a:pPr>
            <a:r>
              <a:rPr lang="zh-CN" altLang="en-US" sz="1600" dirty="0">
                <a:solidFill>
                  <a:srgbClr val="000000"/>
                </a:solidFill>
              </a:rPr>
              <a:t>针对“预计开标日期”以“正推法”和“倒推法”，重点以正推法作为指导。</a:t>
            </a:r>
            <a:endParaRPr lang="en-US" altLang="zh-CN" sz="1600" dirty="0">
              <a:solidFill>
                <a:srgbClr val="000000"/>
              </a:solidFill>
            </a:endParaRPr>
          </a:p>
          <a:p>
            <a:pPr fontAlgn="ctr">
              <a:lnSpc>
                <a:spcPct val="150000"/>
              </a:lnSpc>
            </a:pPr>
            <a:endParaRPr lang="en-US" altLang="zh-CN" sz="1600" dirty="0">
              <a:solidFill>
                <a:srgbClr val="000000"/>
              </a:solidFill>
              <a:effectLst/>
            </a:endParaRPr>
          </a:p>
          <a:p>
            <a:pPr fontAlgn="ctr">
              <a:lnSpc>
                <a:spcPct val="150000"/>
              </a:lnSpc>
            </a:pPr>
            <a:r>
              <a:rPr lang="zh-CN" altLang="en-US" sz="1600" dirty="0">
                <a:effectLst/>
                <a:hlinkClick r:id="rId2" action="ppaction://hlinksldjump"/>
              </a:rPr>
              <a:t>填写示范与标准</a:t>
            </a:r>
            <a:endParaRPr lang="zh-CN" altLang="en-US" sz="1600" dirty="0">
              <a:effectLst/>
            </a:endParaRPr>
          </a:p>
        </p:txBody>
      </p:sp>
      <p:sp>
        <p:nvSpPr>
          <p:cNvPr id="5" name="矩形 4"/>
          <p:cNvSpPr/>
          <p:nvPr/>
        </p:nvSpPr>
        <p:spPr>
          <a:xfrm>
            <a:off x="4146829" y="932169"/>
            <a:ext cx="3750906" cy="553998"/>
          </a:xfrm>
          <a:prstGeom prst="rect">
            <a:avLst/>
          </a:prstGeom>
        </p:spPr>
        <p:txBody>
          <a:bodyPr wrap="square">
            <a:spAutoFit/>
          </a:bodyPr>
          <a:lstStyle/>
          <a:p>
            <a:pPr fontAlgn="ctr">
              <a:lnSpc>
                <a:spcPct val="150000"/>
              </a:lnSpc>
            </a:pPr>
            <a:r>
              <a:rPr lang="zh-CN" altLang="en-US" sz="2000" b="1" dirty="0">
                <a:solidFill>
                  <a:srgbClr val="000000"/>
                </a:solidFill>
              </a:rPr>
              <a:t>正推法：</a:t>
            </a:r>
            <a:endParaRPr lang="zh-CN" altLang="en-US" sz="2000" b="1" dirty="0">
              <a:effectLst/>
            </a:endParaRPr>
          </a:p>
        </p:txBody>
      </p:sp>
      <p:cxnSp>
        <p:nvCxnSpPr>
          <p:cNvPr id="6" name="直接箭头连接符 5"/>
          <p:cNvCxnSpPr/>
          <p:nvPr/>
        </p:nvCxnSpPr>
        <p:spPr>
          <a:xfrm>
            <a:off x="5215812" y="2102410"/>
            <a:ext cx="6363478"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8" name="等腰三角形 7"/>
          <p:cNvSpPr/>
          <p:nvPr/>
        </p:nvSpPr>
        <p:spPr>
          <a:xfrm>
            <a:off x="10411248" y="1895189"/>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10435728" y="2461491"/>
            <a:ext cx="1569660" cy="369332"/>
          </a:xfrm>
          <a:prstGeom prst="rect">
            <a:avLst/>
          </a:prstGeom>
          <a:solidFill>
            <a:schemeClr val="bg2"/>
          </a:solidFill>
        </p:spPr>
        <p:txBody>
          <a:bodyPr wrap="none" rtlCol="0">
            <a:spAutoFit/>
          </a:bodyPr>
          <a:lstStyle/>
          <a:p>
            <a:r>
              <a:rPr lang="zh-CN" altLang="en-US" b="1" dirty="0">
                <a:solidFill>
                  <a:srgbClr val="C00000"/>
                </a:solidFill>
              </a:rPr>
              <a:t>预计开标日期</a:t>
            </a:r>
          </a:p>
        </p:txBody>
      </p:sp>
      <p:sp>
        <p:nvSpPr>
          <p:cNvPr id="10" name="文本框 9"/>
          <p:cNvSpPr txBox="1"/>
          <p:nvPr/>
        </p:nvSpPr>
        <p:spPr>
          <a:xfrm>
            <a:off x="4251847" y="1955905"/>
            <a:ext cx="902811" cy="307777"/>
          </a:xfrm>
          <a:prstGeom prst="rect">
            <a:avLst/>
          </a:prstGeom>
          <a:noFill/>
        </p:spPr>
        <p:txBody>
          <a:bodyPr wrap="none" rtlCol="0">
            <a:spAutoFit/>
          </a:bodyPr>
          <a:lstStyle/>
          <a:p>
            <a:r>
              <a:rPr lang="zh-CN" altLang="en-US" sz="1400" dirty="0"/>
              <a:t>当前时间</a:t>
            </a:r>
          </a:p>
        </p:txBody>
      </p:sp>
      <p:sp>
        <p:nvSpPr>
          <p:cNvPr id="3" name="菱形 2"/>
          <p:cNvSpPr/>
          <p:nvPr/>
        </p:nvSpPr>
        <p:spPr>
          <a:xfrm>
            <a:off x="5766323" y="1913851"/>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5337453" y="2373972"/>
            <a:ext cx="1540806" cy="307777"/>
          </a:xfrm>
          <a:prstGeom prst="rect">
            <a:avLst/>
          </a:prstGeom>
          <a:noFill/>
        </p:spPr>
        <p:txBody>
          <a:bodyPr wrap="none" rtlCol="0">
            <a:spAutoFit/>
          </a:bodyPr>
          <a:lstStyle/>
          <a:p>
            <a:r>
              <a:rPr lang="zh-CN" altLang="en-US" sz="1400" dirty="0"/>
              <a:t>客户采购时间点</a:t>
            </a:r>
            <a:r>
              <a:rPr lang="en-US" altLang="zh-CN" sz="1400" dirty="0"/>
              <a:t>1</a:t>
            </a:r>
            <a:endParaRPr lang="zh-CN" altLang="en-US" sz="1400" dirty="0"/>
          </a:p>
        </p:txBody>
      </p:sp>
      <p:sp>
        <p:nvSpPr>
          <p:cNvPr id="12" name="菱形 11"/>
          <p:cNvSpPr/>
          <p:nvPr/>
        </p:nvSpPr>
        <p:spPr>
          <a:xfrm>
            <a:off x="7308979" y="1913851"/>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p:cNvSpPr txBox="1"/>
          <p:nvPr/>
        </p:nvSpPr>
        <p:spPr>
          <a:xfrm>
            <a:off x="6958454" y="2380569"/>
            <a:ext cx="1540806" cy="307777"/>
          </a:xfrm>
          <a:prstGeom prst="rect">
            <a:avLst/>
          </a:prstGeom>
          <a:noFill/>
        </p:spPr>
        <p:txBody>
          <a:bodyPr wrap="none" rtlCol="0">
            <a:spAutoFit/>
          </a:bodyPr>
          <a:lstStyle/>
          <a:p>
            <a:r>
              <a:rPr lang="zh-CN" altLang="en-US" sz="1400" dirty="0"/>
              <a:t>客户采购时间点</a:t>
            </a:r>
            <a:r>
              <a:rPr lang="en-US" altLang="zh-CN" sz="1400" dirty="0"/>
              <a:t>2</a:t>
            </a:r>
            <a:endParaRPr lang="zh-CN" altLang="en-US" sz="1400" dirty="0"/>
          </a:p>
        </p:txBody>
      </p:sp>
      <p:sp>
        <p:nvSpPr>
          <p:cNvPr id="14" name="菱形 13"/>
          <p:cNvSpPr/>
          <p:nvPr/>
        </p:nvSpPr>
        <p:spPr>
          <a:xfrm>
            <a:off x="8959827" y="1895189"/>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8579455" y="2380570"/>
            <a:ext cx="1540806" cy="307777"/>
          </a:xfrm>
          <a:prstGeom prst="rect">
            <a:avLst/>
          </a:prstGeom>
          <a:noFill/>
        </p:spPr>
        <p:txBody>
          <a:bodyPr wrap="none" rtlCol="0">
            <a:spAutoFit/>
          </a:bodyPr>
          <a:lstStyle/>
          <a:p>
            <a:r>
              <a:rPr lang="zh-CN" altLang="en-US" sz="1400" dirty="0"/>
              <a:t>客户采购时间点</a:t>
            </a:r>
            <a:r>
              <a:rPr lang="en-US" altLang="zh-CN" sz="1400" dirty="0"/>
              <a:t>n</a:t>
            </a:r>
            <a:endParaRPr lang="zh-CN" altLang="en-US" sz="1400" dirty="0"/>
          </a:p>
        </p:txBody>
      </p:sp>
      <p:sp>
        <p:nvSpPr>
          <p:cNvPr id="16" name="文本框 15"/>
          <p:cNvSpPr txBox="1"/>
          <p:nvPr/>
        </p:nvSpPr>
        <p:spPr>
          <a:xfrm>
            <a:off x="5664098" y="2967227"/>
            <a:ext cx="5032147" cy="338554"/>
          </a:xfrm>
          <a:prstGeom prst="rect">
            <a:avLst/>
          </a:prstGeom>
          <a:noFill/>
        </p:spPr>
        <p:txBody>
          <a:bodyPr wrap="none" rtlCol="0">
            <a:spAutoFit/>
          </a:bodyPr>
          <a:lstStyle/>
          <a:p>
            <a:r>
              <a:rPr lang="zh-CN" altLang="en-US" sz="1600" b="1" dirty="0">
                <a:solidFill>
                  <a:schemeClr val="accent6"/>
                </a:solidFill>
              </a:rPr>
              <a:t>预计开标时间</a:t>
            </a:r>
            <a:r>
              <a:rPr lang="en-US" altLang="zh-CN" sz="1600" b="1" dirty="0">
                <a:solidFill>
                  <a:schemeClr val="accent6"/>
                </a:solidFill>
              </a:rPr>
              <a:t>=</a:t>
            </a:r>
            <a:r>
              <a:rPr lang="zh-CN" altLang="en-US" sz="1600" b="1" dirty="0">
                <a:solidFill>
                  <a:schemeClr val="accent6"/>
                </a:solidFill>
              </a:rPr>
              <a:t>当前时间</a:t>
            </a:r>
            <a:r>
              <a:rPr lang="en-US" altLang="zh-CN" sz="1600" b="1" dirty="0">
                <a:solidFill>
                  <a:schemeClr val="accent6"/>
                </a:solidFill>
              </a:rPr>
              <a:t>+ 【</a:t>
            </a:r>
            <a:r>
              <a:rPr lang="zh-CN" altLang="en-US" sz="1600" b="1" dirty="0">
                <a:solidFill>
                  <a:schemeClr val="accent6"/>
                </a:solidFill>
              </a:rPr>
              <a:t>客户采购周期（</a:t>
            </a:r>
            <a:r>
              <a:rPr lang="en-US" altLang="zh-CN" sz="1600" b="1" dirty="0">
                <a:solidFill>
                  <a:schemeClr val="accent6"/>
                </a:solidFill>
              </a:rPr>
              <a:t>1---n</a:t>
            </a:r>
            <a:r>
              <a:rPr lang="zh-CN" altLang="en-US" sz="1600" b="1" dirty="0">
                <a:solidFill>
                  <a:schemeClr val="accent6"/>
                </a:solidFill>
              </a:rPr>
              <a:t>）</a:t>
            </a:r>
            <a:r>
              <a:rPr lang="en-US" altLang="zh-CN" sz="1600" b="1" dirty="0">
                <a:solidFill>
                  <a:schemeClr val="accent6"/>
                </a:solidFill>
              </a:rPr>
              <a:t>】</a:t>
            </a:r>
            <a:endParaRPr lang="zh-CN" altLang="en-US" sz="1600" b="1" dirty="0">
              <a:solidFill>
                <a:schemeClr val="accent6"/>
              </a:solidFill>
            </a:endParaRPr>
          </a:p>
        </p:txBody>
      </p:sp>
      <p:sp>
        <p:nvSpPr>
          <p:cNvPr id="17" name="右大括号 16"/>
          <p:cNvSpPr/>
          <p:nvPr/>
        </p:nvSpPr>
        <p:spPr>
          <a:xfrm rot="16200000">
            <a:off x="6565855" y="896640"/>
            <a:ext cx="319702" cy="162776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8" name="文本框 17"/>
          <p:cNvSpPr txBox="1"/>
          <p:nvPr/>
        </p:nvSpPr>
        <p:spPr>
          <a:xfrm>
            <a:off x="6306082" y="1150036"/>
            <a:ext cx="1002197" cy="307777"/>
          </a:xfrm>
          <a:prstGeom prst="rect">
            <a:avLst/>
          </a:prstGeom>
          <a:noFill/>
        </p:spPr>
        <p:txBody>
          <a:bodyPr wrap="none" rtlCol="0">
            <a:spAutoFit/>
          </a:bodyPr>
          <a:lstStyle/>
          <a:p>
            <a:r>
              <a:rPr lang="zh-CN" altLang="en-US" sz="1400" dirty="0"/>
              <a:t>采购周期</a:t>
            </a:r>
            <a:r>
              <a:rPr lang="en-US" altLang="zh-CN" sz="1400" dirty="0"/>
              <a:t>1</a:t>
            </a:r>
            <a:endParaRPr lang="zh-CN" altLang="en-US" sz="1400" dirty="0"/>
          </a:p>
        </p:txBody>
      </p:sp>
      <p:sp>
        <p:nvSpPr>
          <p:cNvPr id="19" name="右大括号 18"/>
          <p:cNvSpPr/>
          <p:nvPr/>
        </p:nvSpPr>
        <p:spPr>
          <a:xfrm rot="16200000">
            <a:off x="8237700" y="896640"/>
            <a:ext cx="319702" cy="162776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文本框 19"/>
          <p:cNvSpPr txBox="1"/>
          <p:nvPr/>
        </p:nvSpPr>
        <p:spPr>
          <a:xfrm>
            <a:off x="7897735" y="1139285"/>
            <a:ext cx="1002197" cy="307777"/>
          </a:xfrm>
          <a:prstGeom prst="rect">
            <a:avLst/>
          </a:prstGeom>
          <a:noFill/>
        </p:spPr>
        <p:txBody>
          <a:bodyPr wrap="none" rtlCol="0">
            <a:spAutoFit/>
          </a:bodyPr>
          <a:lstStyle/>
          <a:p>
            <a:r>
              <a:rPr lang="zh-CN" altLang="en-US" sz="1400" dirty="0"/>
              <a:t>采购周期</a:t>
            </a:r>
            <a:r>
              <a:rPr lang="en-US" altLang="zh-CN" sz="1400" dirty="0"/>
              <a:t>2</a:t>
            </a:r>
            <a:endParaRPr lang="zh-CN" altLang="en-US" sz="1400" dirty="0"/>
          </a:p>
        </p:txBody>
      </p:sp>
      <p:sp>
        <p:nvSpPr>
          <p:cNvPr id="21" name="右大括号 20"/>
          <p:cNvSpPr/>
          <p:nvPr/>
        </p:nvSpPr>
        <p:spPr>
          <a:xfrm rot="16200000">
            <a:off x="9786356" y="1019830"/>
            <a:ext cx="319702" cy="138138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文本框 21"/>
          <p:cNvSpPr txBox="1"/>
          <p:nvPr/>
        </p:nvSpPr>
        <p:spPr>
          <a:xfrm>
            <a:off x="9379705" y="1148616"/>
            <a:ext cx="1002197" cy="307777"/>
          </a:xfrm>
          <a:prstGeom prst="rect">
            <a:avLst/>
          </a:prstGeom>
          <a:noFill/>
        </p:spPr>
        <p:txBody>
          <a:bodyPr wrap="none" rtlCol="0">
            <a:spAutoFit/>
          </a:bodyPr>
          <a:lstStyle/>
          <a:p>
            <a:r>
              <a:rPr lang="zh-CN" altLang="en-US" sz="1400" dirty="0"/>
              <a:t>采购周期</a:t>
            </a:r>
            <a:r>
              <a:rPr lang="en-US" altLang="zh-CN" sz="1400" dirty="0"/>
              <a:t>n</a:t>
            </a:r>
            <a:endParaRPr lang="zh-CN" altLang="en-US" sz="1400" dirty="0"/>
          </a:p>
        </p:txBody>
      </p:sp>
      <p:sp>
        <p:nvSpPr>
          <p:cNvPr id="23" name="矩形 22"/>
          <p:cNvSpPr/>
          <p:nvPr/>
        </p:nvSpPr>
        <p:spPr>
          <a:xfrm>
            <a:off x="4058817" y="1038719"/>
            <a:ext cx="7946571" cy="24166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p:cNvSpPr/>
          <p:nvPr/>
        </p:nvSpPr>
        <p:spPr>
          <a:xfrm>
            <a:off x="4146829" y="3603297"/>
            <a:ext cx="3750906" cy="553998"/>
          </a:xfrm>
          <a:prstGeom prst="rect">
            <a:avLst/>
          </a:prstGeom>
        </p:spPr>
        <p:txBody>
          <a:bodyPr wrap="square">
            <a:spAutoFit/>
          </a:bodyPr>
          <a:lstStyle/>
          <a:p>
            <a:pPr fontAlgn="ctr">
              <a:lnSpc>
                <a:spcPct val="150000"/>
              </a:lnSpc>
            </a:pPr>
            <a:r>
              <a:rPr lang="zh-CN" altLang="en-US" sz="2000" b="1" dirty="0">
                <a:solidFill>
                  <a:srgbClr val="000000"/>
                </a:solidFill>
              </a:rPr>
              <a:t>倒推法：</a:t>
            </a:r>
            <a:endParaRPr lang="zh-CN" altLang="en-US" sz="2000" b="1" dirty="0">
              <a:effectLst/>
            </a:endParaRPr>
          </a:p>
        </p:txBody>
      </p:sp>
      <p:cxnSp>
        <p:nvCxnSpPr>
          <p:cNvPr id="25" name="直接箭头连接符 24"/>
          <p:cNvCxnSpPr/>
          <p:nvPr/>
        </p:nvCxnSpPr>
        <p:spPr>
          <a:xfrm flipH="1">
            <a:off x="5443785" y="4777186"/>
            <a:ext cx="5776773"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4703252" y="5061813"/>
            <a:ext cx="1569660" cy="369332"/>
          </a:xfrm>
          <a:prstGeom prst="rect">
            <a:avLst/>
          </a:prstGeom>
          <a:solidFill>
            <a:schemeClr val="bg2"/>
          </a:solidFill>
        </p:spPr>
        <p:txBody>
          <a:bodyPr wrap="none" rtlCol="0">
            <a:spAutoFit/>
          </a:bodyPr>
          <a:lstStyle/>
          <a:p>
            <a:r>
              <a:rPr lang="zh-CN" altLang="en-US" b="1" dirty="0">
                <a:solidFill>
                  <a:srgbClr val="C00000"/>
                </a:solidFill>
              </a:rPr>
              <a:t>预计开标日期</a:t>
            </a:r>
          </a:p>
        </p:txBody>
      </p:sp>
      <p:sp>
        <p:nvSpPr>
          <p:cNvPr id="28" name="文本框 27"/>
          <p:cNvSpPr txBox="1"/>
          <p:nvPr/>
        </p:nvSpPr>
        <p:spPr>
          <a:xfrm>
            <a:off x="4251847" y="4627033"/>
            <a:ext cx="902811" cy="307777"/>
          </a:xfrm>
          <a:prstGeom prst="rect">
            <a:avLst/>
          </a:prstGeom>
          <a:noFill/>
        </p:spPr>
        <p:txBody>
          <a:bodyPr wrap="none" rtlCol="0">
            <a:spAutoFit/>
          </a:bodyPr>
          <a:lstStyle/>
          <a:p>
            <a:r>
              <a:rPr lang="zh-CN" altLang="en-US" sz="1400" dirty="0"/>
              <a:t>当前时间</a:t>
            </a:r>
          </a:p>
        </p:txBody>
      </p:sp>
      <p:sp>
        <p:nvSpPr>
          <p:cNvPr id="29" name="菱形 28"/>
          <p:cNvSpPr/>
          <p:nvPr/>
        </p:nvSpPr>
        <p:spPr>
          <a:xfrm>
            <a:off x="10486212" y="4578339"/>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菱形 30"/>
          <p:cNvSpPr/>
          <p:nvPr/>
        </p:nvSpPr>
        <p:spPr>
          <a:xfrm>
            <a:off x="7156348" y="4584979"/>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菱形 32"/>
          <p:cNvSpPr/>
          <p:nvPr/>
        </p:nvSpPr>
        <p:spPr>
          <a:xfrm>
            <a:off x="8883504" y="4556739"/>
            <a:ext cx="419878" cy="391886"/>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p:cNvSpPr txBox="1"/>
          <p:nvPr/>
        </p:nvSpPr>
        <p:spPr>
          <a:xfrm>
            <a:off x="8580494" y="5089301"/>
            <a:ext cx="1261884" cy="307777"/>
          </a:xfrm>
          <a:prstGeom prst="rect">
            <a:avLst/>
          </a:prstGeom>
          <a:noFill/>
        </p:spPr>
        <p:txBody>
          <a:bodyPr wrap="none" rtlCol="0">
            <a:spAutoFit/>
          </a:bodyPr>
          <a:lstStyle/>
          <a:p>
            <a:r>
              <a:rPr lang="zh-CN" altLang="en-US" sz="1400" dirty="0"/>
              <a:t>预计下单日期</a:t>
            </a:r>
          </a:p>
        </p:txBody>
      </p:sp>
      <p:sp>
        <p:nvSpPr>
          <p:cNvPr id="35" name="文本框 34"/>
          <p:cNvSpPr txBox="1"/>
          <p:nvPr/>
        </p:nvSpPr>
        <p:spPr>
          <a:xfrm>
            <a:off x="5764494" y="5684139"/>
            <a:ext cx="4535216" cy="338554"/>
          </a:xfrm>
          <a:prstGeom prst="rect">
            <a:avLst/>
          </a:prstGeom>
          <a:noFill/>
        </p:spPr>
        <p:txBody>
          <a:bodyPr wrap="none" rtlCol="0">
            <a:spAutoFit/>
          </a:bodyPr>
          <a:lstStyle/>
          <a:p>
            <a:r>
              <a:rPr lang="zh-CN" altLang="en-US" sz="1600" b="1" dirty="0">
                <a:solidFill>
                  <a:schemeClr val="accent6"/>
                </a:solidFill>
              </a:rPr>
              <a:t>预计开标时间</a:t>
            </a:r>
            <a:r>
              <a:rPr lang="en-US" altLang="zh-CN" sz="1600" b="1" dirty="0">
                <a:solidFill>
                  <a:schemeClr val="accent6"/>
                </a:solidFill>
              </a:rPr>
              <a:t>=</a:t>
            </a:r>
            <a:r>
              <a:rPr lang="zh-CN" altLang="en-US" sz="1600" b="1" dirty="0">
                <a:solidFill>
                  <a:schemeClr val="accent6"/>
                </a:solidFill>
              </a:rPr>
              <a:t>客户要货日期</a:t>
            </a:r>
            <a:r>
              <a:rPr lang="en-US" altLang="zh-CN" sz="1600" b="1" dirty="0">
                <a:solidFill>
                  <a:schemeClr val="accent6"/>
                </a:solidFill>
              </a:rPr>
              <a:t> -【</a:t>
            </a:r>
            <a:r>
              <a:rPr lang="zh-CN" altLang="en-US" sz="1600" b="1" dirty="0">
                <a:solidFill>
                  <a:schemeClr val="accent6"/>
                </a:solidFill>
              </a:rPr>
              <a:t>关键活动耗时</a:t>
            </a:r>
            <a:r>
              <a:rPr lang="en-US" altLang="zh-CN" sz="1600" b="1" dirty="0">
                <a:solidFill>
                  <a:schemeClr val="accent6"/>
                </a:solidFill>
              </a:rPr>
              <a:t>】</a:t>
            </a:r>
            <a:endParaRPr lang="zh-CN" altLang="en-US" sz="1600" b="1" dirty="0">
              <a:solidFill>
                <a:schemeClr val="accent6"/>
              </a:solidFill>
            </a:endParaRPr>
          </a:p>
        </p:txBody>
      </p:sp>
      <p:sp>
        <p:nvSpPr>
          <p:cNvPr id="36" name="右大括号 35"/>
          <p:cNvSpPr/>
          <p:nvPr/>
        </p:nvSpPr>
        <p:spPr>
          <a:xfrm rot="16200000">
            <a:off x="8020321" y="3547273"/>
            <a:ext cx="319702" cy="162776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7" name="文本框 36"/>
          <p:cNvSpPr txBox="1"/>
          <p:nvPr/>
        </p:nvSpPr>
        <p:spPr>
          <a:xfrm>
            <a:off x="7250822" y="3746829"/>
            <a:ext cx="1800493" cy="307777"/>
          </a:xfrm>
          <a:prstGeom prst="rect">
            <a:avLst/>
          </a:prstGeom>
          <a:noFill/>
        </p:spPr>
        <p:txBody>
          <a:bodyPr wrap="none" rtlCol="0">
            <a:spAutoFit/>
          </a:bodyPr>
          <a:lstStyle/>
          <a:p>
            <a:r>
              <a:rPr lang="zh-CN" altLang="en-US" sz="1400" dirty="0"/>
              <a:t>合同签订及下单周期</a:t>
            </a:r>
          </a:p>
        </p:txBody>
      </p:sp>
      <p:sp>
        <p:nvSpPr>
          <p:cNvPr id="38" name="右大括号 37"/>
          <p:cNvSpPr/>
          <p:nvPr/>
        </p:nvSpPr>
        <p:spPr>
          <a:xfrm rot="16200000">
            <a:off x="9720952" y="3550198"/>
            <a:ext cx="319702" cy="162776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9" name="文本框 38"/>
          <p:cNvSpPr txBox="1"/>
          <p:nvPr/>
        </p:nvSpPr>
        <p:spPr>
          <a:xfrm>
            <a:off x="9320647" y="3746829"/>
            <a:ext cx="1261884" cy="307777"/>
          </a:xfrm>
          <a:prstGeom prst="rect">
            <a:avLst/>
          </a:prstGeom>
          <a:noFill/>
        </p:spPr>
        <p:txBody>
          <a:bodyPr wrap="none" rtlCol="0">
            <a:spAutoFit/>
          </a:bodyPr>
          <a:lstStyle/>
          <a:p>
            <a:r>
              <a:rPr lang="zh-CN" altLang="en-US" sz="1400" dirty="0"/>
              <a:t>项目复杂程度</a:t>
            </a:r>
          </a:p>
        </p:txBody>
      </p:sp>
      <p:sp>
        <p:nvSpPr>
          <p:cNvPr id="42" name="矩形 41"/>
          <p:cNvSpPr/>
          <p:nvPr/>
        </p:nvSpPr>
        <p:spPr>
          <a:xfrm>
            <a:off x="4058817" y="3709847"/>
            <a:ext cx="7946571" cy="241662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等腰三角形 44"/>
          <p:cNvSpPr/>
          <p:nvPr/>
        </p:nvSpPr>
        <p:spPr>
          <a:xfrm>
            <a:off x="5894246" y="4582610"/>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右大括号 45"/>
          <p:cNvSpPr/>
          <p:nvPr/>
        </p:nvSpPr>
        <p:spPr>
          <a:xfrm rot="16200000">
            <a:off x="6587050" y="3741768"/>
            <a:ext cx="319702" cy="1238777"/>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7" name="文本框 46"/>
          <p:cNvSpPr txBox="1"/>
          <p:nvPr/>
        </p:nvSpPr>
        <p:spPr>
          <a:xfrm>
            <a:off x="6214635" y="3726407"/>
            <a:ext cx="902811" cy="307777"/>
          </a:xfrm>
          <a:prstGeom prst="rect">
            <a:avLst/>
          </a:prstGeom>
          <a:noFill/>
        </p:spPr>
        <p:txBody>
          <a:bodyPr wrap="none" rtlCol="0">
            <a:spAutoFit/>
          </a:bodyPr>
          <a:lstStyle/>
          <a:p>
            <a:r>
              <a:rPr lang="zh-CN" altLang="en-US" sz="1400" dirty="0"/>
              <a:t>中标公示</a:t>
            </a:r>
          </a:p>
        </p:txBody>
      </p:sp>
      <p:sp>
        <p:nvSpPr>
          <p:cNvPr id="49" name="文本框 48"/>
          <p:cNvSpPr txBox="1"/>
          <p:nvPr/>
        </p:nvSpPr>
        <p:spPr>
          <a:xfrm>
            <a:off x="10133161" y="5099729"/>
            <a:ext cx="1620957" cy="307777"/>
          </a:xfrm>
          <a:prstGeom prst="rect">
            <a:avLst/>
          </a:prstGeom>
          <a:noFill/>
        </p:spPr>
        <p:txBody>
          <a:bodyPr wrap="none" rtlCol="0">
            <a:spAutoFit/>
          </a:bodyPr>
          <a:lstStyle/>
          <a:p>
            <a:r>
              <a:rPr lang="zh-CN" altLang="en-US" sz="1400" dirty="0"/>
              <a:t>客户最晚要货日期</a:t>
            </a:r>
          </a:p>
        </p:txBody>
      </p:sp>
      <p:sp>
        <p:nvSpPr>
          <p:cNvPr id="50" name="等腰三角形 49"/>
          <p:cNvSpPr/>
          <p:nvPr/>
        </p:nvSpPr>
        <p:spPr>
          <a:xfrm rot="5400000">
            <a:off x="3107588" y="3042228"/>
            <a:ext cx="849086" cy="223935"/>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31630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a:t>3T</a:t>
            </a:r>
            <a:r>
              <a:rPr lang="zh-CN" altLang="en-US" dirty="0"/>
              <a:t>的判断标准和质量要求</a:t>
            </a:r>
          </a:p>
        </p:txBody>
      </p:sp>
      <p:graphicFrame>
        <p:nvGraphicFramePr>
          <p:cNvPr id="3" name="表格 2"/>
          <p:cNvGraphicFramePr>
            <a:graphicFrameLocks noGrp="1"/>
          </p:cNvGraphicFramePr>
          <p:nvPr/>
        </p:nvGraphicFramePr>
        <p:xfrm>
          <a:off x="149287" y="770255"/>
          <a:ext cx="11930744" cy="5978028"/>
        </p:xfrm>
        <a:graphic>
          <a:graphicData uri="http://schemas.openxmlformats.org/drawingml/2006/table">
            <a:tbl>
              <a:tblPr/>
              <a:tblGrid>
                <a:gridCol w="367100">
                  <a:extLst>
                    <a:ext uri="{9D8B030D-6E8A-4147-A177-3AD203B41FA5}">
                      <a16:colId xmlns="" xmlns:a16="http://schemas.microsoft.com/office/drawing/2014/main" val="20000"/>
                    </a:ext>
                  </a:extLst>
                </a:gridCol>
                <a:gridCol w="803031">
                  <a:extLst>
                    <a:ext uri="{9D8B030D-6E8A-4147-A177-3AD203B41FA5}">
                      <a16:colId xmlns="" xmlns:a16="http://schemas.microsoft.com/office/drawing/2014/main" val="20001"/>
                    </a:ext>
                  </a:extLst>
                </a:gridCol>
                <a:gridCol w="3980370">
                  <a:extLst>
                    <a:ext uri="{9D8B030D-6E8A-4147-A177-3AD203B41FA5}">
                      <a16:colId xmlns="" xmlns:a16="http://schemas.microsoft.com/office/drawing/2014/main" val="20002"/>
                    </a:ext>
                  </a:extLst>
                </a:gridCol>
                <a:gridCol w="6780243">
                  <a:extLst>
                    <a:ext uri="{9D8B030D-6E8A-4147-A177-3AD203B41FA5}">
                      <a16:colId xmlns="" xmlns:a16="http://schemas.microsoft.com/office/drawing/2014/main" val="20003"/>
                    </a:ext>
                  </a:extLst>
                </a:gridCol>
              </a:tblGrid>
              <a:tr h="322824">
                <a:tc>
                  <a:txBody>
                    <a:bodyPr/>
                    <a:lstStyle/>
                    <a:p>
                      <a:pPr algn="ctr" fontAlgn="ctr" latinLnBrk="0"/>
                      <a:r>
                        <a:rPr lang="zh-CN" altLang="en-US" sz="900" b="1" i="0" dirty="0">
                          <a:solidFill>
                            <a:srgbClr val="000000"/>
                          </a:solidFill>
                          <a:effectLst/>
                        </a:rPr>
                        <a:t>序号</a:t>
                      </a:r>
                    </a:p>
                  </a:txBody>
                  <a:tcPr marL="56267" marR="56267" marT="28134" marB="28134" anchor="ctr">
                    <a:lnL w="6350" cap="flat" cmpd="sng" algn="ctr">
                      <a:solidFill>
                        <a:srgbClr val="D0112D"/>
                      </a:solidFill>
                      <a:prstDash val="solid"/>
                      <a:round/>
                      <a:headEnd type="none" w="med" len="med"/>
                      <a:tailEnd type="none" w="med" len="med"/>
                    </a:lnL>
                    <a:lnR w="6350" cap="flat" cmpd="sng" algn="ctr">
                      <a:solidFill>
                        <a:srgbClr val="50162D"/>
                      </a:solidFill>
                      <a:prstDash val="solid"/>
                      <a:round/>
                      <a:headEnd type="none" w="med" len="med"/>
                      <a:tailEnd type="none" w="med" len="med"/>
                    </a:lnR>
                    <a:lnT w="6350" cap="flat" cmpd="sng" algn="ctr">
                      <a:solidFill>
                        <a:srgbClr val="D0112D"/>
                      </a:solidFill>
                      <a:prstDash val="solid"/>
                      <a:round/>
                      <a:headEnd type="none" w="med" len="med"/>
                      <a:tailEnd type="none" w="med" len="med"/>
                    </a:lnT>
                    <a:lnB w="6350" cap="flat" cmpd="sng" algn="ctr">
                      <a:solidFill>
                        <a:srgbClr val="A01D2D"/>
                      </a:solidFill>
                      <a:prstDash val="solid"/>
                      <a:round/>
                      <a:headEnd type="none" w="med" len="med"/>
                      <a:tailEnd type="none" w="med" len="med"/>
                    </a:lnB>
                    <a:solidFill>
                      <a:srgbClr val="FBE2D5"/>
                    </a:solidFill>
                  </a:tcPr>
                </a:tc>
                <a:tc>
                  <a:txBody>
                    <a:bodyPr/>
                    <a:lstStyle/>
                    <a:p>
                      <a:pPr algn="ctr" fontAlgn="ctr" latinLnBrk="0"/>
                      <a:r>
                        <a:rPr lang="en-US" sz="900" b="1" i="0">
                          <a:solidFill>
                            <a:srgbClr val="000000"/>
                          </a:solidFill>
                          <a:effectLst/>
                        </a:rPr>
                        <a:t>3T</a:t>
                      </a:r>
                    </a:p>
                  </a:txBody>
                  <a:tcPr marL="56267" marR="56267" marT="28134" marB="28134" anchor="ctr">
                    <a:lnL w="6350" cap="flat" cmpd="sng" algn="ctr">
                      <a:solidFill>
                        <a:srgbClr val="50162D"/>
                      </a:solidFill>
                      <a:prstDash val="solid"/>
                      <a:round/>
                      <a:headEnd type="none" w="med" len="med"/>
                      <a:tailEnd type="none" w="med" len="med"/>
                    </a:lnL>
                    <a:lnR w="6350" cap="flat" cmpd="sng" algn="ctr">
                      <a:solidFill>
                        <a:srgbClr val="D0202D"/>
                      </a:solidFill>
                      <a:prstDash val="solid"/>
                      <a:round/>
                      <a:headEnd type="none" w="med" len="med"/>
                      <a:tailEnd type="none" w="med" len="med"/>
                    </a:lnR>
                    <a:lnT w="6350" cap="flat" cmpd="sng" algn="ctr">
                      <a:solidFill>
                        <a:srgbClr val="50162D"/>
                      </a:solidFill>
                      <a:prstDash val="solid"/>
                      <a:round/>
                      <a:headEnd type="none" w="med" len="med"/>
                      <a:tailEnd type="none" w="med" len="med"/>
                    </a:lnT>
                    <a:lnB w="6350" cap="flat" cmpd="sng" algn="ctr">
                      <a:solidFill>
                        <a:srgbClr val="602A2D"/>
                      </a:solidFill>
                      <a:prstDash val="solid"/>
                      <a:round/>
                      <a:headEnd type="none" w="med" len="med"/>
                      <a:tailEnd type="none" w="med" len="med"/>
                    </a:lnB>
                    <a:solidFill>
                      <a:srgbClr val="FBE2D5"/>
                    </a:solidFill>
                  </a:tcPr>
                </a:tc>
                <a:tc>
                  <a:txBody>
                    <a:bodyPr/>
                    <a:lstStyle/>
                    <a:p>
                      <a:pPr algn="ctr" fontAlgn="ctr" latinLnBrk="0"/>
                      <a:r>
                        <a:rPr lang="zh-CN" altLang="en-US" sz="900" b="1" i="0">
                          <a:solidFill>
                            <a:srgbClr val="000000"/>
                          </a:solidFill>
                          <a:effectLst/>
                        </a:rPr>
                        <a:t>判断（质量）标准</a:t>
                      </a:r>
                    </a:p>
                  </a:txBody>
                  <a:tcPr marL="56267" marR="56267" marT="28134" marB="28134" anchor="ctr">
                    <a:lnL w="6350" cap="flat" cmpd="sng" algn="ctr">
                      <a:solidFill>
                        <a:srgbClr val="D0202D"/>
                      </a:solidFill>
                      <a:prstDash val="solid"/>
                      <a:round/>
                      <a:headEnd type="none" w="med" len="med"/>
                      <a:tailEnd type="none" w="med" len="med"/>
                    </a:lnL>
                    <a:lnR w="6350" cap="flat" cmpd="sng" algn="ctr">
                      <a:solidFill>
                        <a:srgbClr val="701D2D"/>
                      </a:solidFill>
                      <a:prstDash val="solid"/>
                      <a:round/>
                      <a:headEnd type="none" w="med" len="med"/>
                      <a:tailEnd type="none" w="med" len="med"/>
                    </a:lnR>
                    <a:lnT w="6350" cap="flat" cmpd="sng" algn="ctr">
                      <a:solidFill>
                        <a:srgbClr val="D0202D"/>
                      </a:solidFill>
                      <a:prstDash val="solid"/>
                      <a:round/>
                      <a:headEnd type="none" w="med" len="med"/>
                      <a:tailEnd type="none" w="med" len="med"/>
                    </a:lnT>
                    <a:lnB w="6350" cap="flat" cmpd="sng" algn="ctr">
                      <a:solidFill>
                        <a:srgbClr val="B0342D"/>
                      </a:solidFill>
                      <a:prstDash val="solid"/>
                      <a:round/>
                      <a:headEnd type="none" w="med" len="med"/>
                      <a:tailEnd type="none" w="med" len="med"/>
                    </a:lnB>
                    <a:solidFill>
                      <a:srgbClr val="FBE2D5"/>
                    </a:solidFill>
                  </a:tcPr>
                </a:tc>
                <a:tc>
                  <a:txBody>
                    <a:bodyPr/>
                    <a:lstStyle/>
                    <a:p>
                      <a:pPr algn="ctr" fontAlgn="ctr" latinLnBrk="0"/>
                      <a:r>
                        <a:rPr lang="zh-CN" altLang="en-US" sz="900" b="1" i="0">
                          <a:solidFill>
                            <a:srgbClr val="000000"/>
                          </a:solidFill>
                          <a:effectLst/>
                        </a:rPr>
                        <a:t>质量把控</a:t>
                      </a:r>
                    </a:p>
                  </a:txBody>
                  <a:tcPr marL="56267" marR="56267" marT="28134" marB="28134" anchor="ctr">
                    <a:lnL w="6350" cap="flat" cmpd="sng" algn="ctr">
                      <a:solidFill>
                        <a:srgbClr val="701D2D"/>
                      </a:solidFill>
                      <a:prstDash val="solid"/>
                      <a:round/>
                      <a:headEnd type="none" w="med" len="med"/>
                      <a:tailEnd type="none" w="med" len="med"/>
                    </a:lnL>
                    <a:lnR w="6350" cap="flat" cmpd="sng" algn="ctr">
                      <a:solidFill>
                        <a:srgbClr val="701D2D"/>
                      </a:solidFill>
                      <a:prstDash val="solid"/>
                      <a:round/>
                      <a:headEnd type="none" w="med" len="med"/>
                      <a:tailEnd type="none" w="med" len="med"/>
                    </a:lnR>
                    <a:lnT w="6350" cap="flat" cmpd="sng" algn="ctr">
                      <a:solidFill>
                        <a:srgbClr val="701D2D"/>
                      </a:solidFill>
                      <a:prstDash val="solid"/>
                      <a:round/>
                      <a:headEnd type="none" w="med" len="med"/>
                      <a:tailEnd type="none" w="med" len="med"/>
                    </a:lnT>
                    <a:lnB w="6350" cap="flat" cmpd="sng" algn="ctr">
                      <a:solidFill>
                        <a:srgbClr val="00302D"/>
                      </a:solidFill>
                      <a:prstDash val="solid"/>
                      <a:round/>
                      <a:headEnd type="none" w="med" len="med"/>
                      <a:tailEnd type="none" w="med" len="med"/>
                    </a:lnB>
                    <a:solidFill>
                      <a:srgbClr val="FBE2D5"/>
                    </a:solidFill>
                  </a:tcPr>
                </a:tc>
                <a:extLst>
                  <a:ext uri="{0D108BD9-81ED-4DB2-BD59-A6C34878D82A}">
                    <a16:rowId xmlns="" xmlns:a16="http://schemas.microsoft.com/office/drawing/2014/main" val="10000"/>
                  </a:ext>
                </a:extLst>
              </a:tr>
              <a:tr h="1564457">
                <a:tc>
                  <a:txBody>
                    <a:bodyPr/>
                    <a:lstStyle/>
                    <a:p>
                      <a:pPr algn="ctr" fontAlgn="ctr" latinLnBrk="0"/>
                      <a:r>
                        <a:rPr lang="en-US" altLang="zh-CN" sz="900" b="0" i="0">
                          <a:solidFill>
                            <a:srgbClr val="000000"/>
                          </a:solidFill>
                          <a:effectLst/>
                        </a:rPr>
                        <a:t>1</a:t>
                      </a:r>
                    </a:p>
                  </a:txBody>
                  <a:tcPr marL="56267" marR="56267" marT="28134" marB="28134" anchor="ctr">
                    <a:lnL w="6350" cap="flat" cmpd="sng" algn="ctr">
                      <a:solidFill>
                        <a:srgbClr val="A01D2D"/>
                      </a:solidFill>
                      <a:prstDash val="solid"/>
                      <a:round/>
                      <a:headEnd type="none" w="med" len="med"/>
                      <a:tailEnd type="none" w="med" len="med"/>
                    </a:lnL>
                    <a:lnR w="6350" cap="flat" cmpd="sng" algn="ctr">
                      <a:solidFill>
                        <a:srgbClr val="602A2D"/>
                      </a:solidFill>
                      <a:prstDash val="solid"/>
                      <a:round/>
                      <a:headEnd type="none" w="med" len="med"/>
                      <a:tailEnd type="none" w="med" len="med"/>
                    </a:lnR>
                    <a:lnT w="6350" cap="flat" cmpd="sng" algn="ctr">
                      <a:solidFill>
                        <a:srgbClr val="A01D2D"/>
                      </a:solidFill>
                      <a:prstDash val="solid"/>
                      <a:round/>
                      <a:headEnd type="none" w="med" len="med"/>
                      <a:tailEnd type="none" w="med" len="med"/>
                    </a:lnT>
                    <a:lnB w="6350" cap="flat" cmpd="sng" algn="ctr">
                      <a:solidFill>
                        <a:srgbClr val="F02D2D"/>
                      </a:solidFill>
                      <a:prstDash val="solid"/>
                      <a:round/>
                      <a:headEnd type="none" w="med" len="med"/>
                      <a:tailEnd type="none" w="med" len="med"/>
                    </a:lnB>
                  </a:tcPr>
                </a:tc>
                <a:tc>
                  <a:txBody>
                    <a:bodyPr/>
                    <a:lstStyle/>
                    <a:p>
                      <a:pPr algn="ctr" fontAlgn="ctr" latinLnBrk="0"/>
                      <a:r>
                        <a:rPr lang="zh-CN" altLang="en-US" sz="900" b="0" i="0" dirty="0">
                          <a:solidFill>
                            <a:srgbClr val="000000"/>
                          </a:solidFill>
                          <a:effectLst/>
                        </a:rPr>
                        <a:t>要求到货时间</a:t>
                      </a:r>
                    </a:p>
                  </a:txBody>
                  <a:tcPr marL="56267" marR="56267" marT="28134" marB="28134" anchor="ctr">
                    <a:lnL w="6350" cap="flat" cmpd="sng" algn="ctr">
                      <a:solidFill>
                        <a:srgbClr val="602A2D"/>
                      </a:solidFill>
                      <a:prstDash val="solid"/>
                      <a:round/>
                      <a:headEnd type="none" w="med" len="med"/>
                      <a:tailEnd type="none" w="med" len="med"/>
                    </a:lnL>
                    <a:lnR w="6350" cap="flat" cmpd="sng" algn="ctr">
                      <a:solidFill>
                        <a:srgbClr val="B0342D"/>
                      </a:solidFill>
                      <a:prstDash val="solid"/>
                      <a:round/>
                      <a:headEnd type="none" w="med" len="med"/>
                      <a:tailEnd type="none" w="med" len="med"/>
                    </a:lnR>
                    <a:lnT w="6350" cap="flat" cmpd="sng" algn="ctr">
                      <a:solidFill>
                        <a:srgbClr val="602A2D"/>
                      </a:solidFill>
                      <a:prstDash val="solid"/>
                      <a:round/>
                      <a:headEnd type="none" w="med" len="med"/>
                      <a:tailEnd type="none" w="med" len="med"/>
                    </a:lnT>
                    <a:lnB w="6350" cap="flat" cmpd="sng" algn="ctr">
                      <a:solidFill>
                        <a:srgbClr val="40322D"/>
                      </a:solidFill>
                      <a:prstDash val="solid"/>
                      <a:round/>
                      <a:headEnd type="none" w="med" len="med"/>
                      <a:tailEnd type="none" w="med" len="med"/>
                    </a:lnB>
                  </a:tcPr>
                </a:tc>
                <a:tc>
                  <a:txBody>
                    <a:bodyPr/>
                    <a:lstStyle/>
                    <a:p>
                      <a:pPr algn="l" fontAlgn="ctr" latinLnBrk="0"/>
                      <a:r>
                        <a:rPr lang="zh-CN" altLang="en-US" sz="900" b="0" i="0" dirty="0">
                          <a:solidFill>
                            <a:srgbClr val="000000"/>
                          </a:solidFill>
                          <a:effectLst/>
                        </a:rPr>
                        <a:t>针对财政资金</a:t>
                      </a:r>
                      <a:r>
                        <a:rPr lang="en-US" altLang="zh-CN" sz="900" b="0" i="0" dirty="0">
                          <a:solidFill>
                            <a:srgbClr val="000000"/>
                          </a:solidFill>
                          <a:effectLst/>
                        </a:rPr>
                        <a:t>/</a:t>
                      </a:r>
                      <a:r>
                        <a:rPr lang="zh-CN" altLang="en-US" sz="900" b="0" i="0" dirty="0">
                          <a:solidFill>
                            <a:srgbClr val="000000"/>
                          </a:solidFill>
                          <a:effectLst/>
                        </a:rPr>
                        <a:t>标准政采项目、弱电</a:t>
                      </a:r>
                      <a:r>
                        <a:rPr lang="en-US" altLang="zh-CN" sz="900" b="0" i="0" dirty="0">
                          <a:solidFill>
                            <a:srgbClr val="000000"/>
                          </a:solidFill>
                          <a:effectLst/>
                        </a:rPr>
                        <a:t>&amp;EPC</a:t>
                      </a:r>
                      <a:r>
                        <a:rPr lang="zh-CN" altLang="en-US" sz="900" b="0" i="0" dirty="0">
                          <a:solidFill>
                            <a:srgbClr val="000000"/>
                          </a:solidFill>
                          <a:effectLst/>
                        </a:rPr>
                        <a:t>总包项目、</a:t>
                      </a:r>
                      <a:r>
                        <a:rPr lang="en-US" altLang="zh-CN" sz="900" b="0" i="0" dirty="0">
                          <a:solidFill>
                            <a:srgbClr val="000000"/>
                          </a:solidFill>
                          <a:effectLst/>
                        </a:rPr>
                        <a:t>ICT&amp;</a:t>
                      </a:r>
                      <a:r>
                        <a:rPr lang="zh-CN" altLang="en-US" sz="900" b="0" i="0" dirty="0">
                          <a:solidFill>
                            <a:srgbClr val="000000"/>
                          </a:solidFill>
                          <a:effectLst/>
                        </a:rPr>
                        <a:t>投融资项目、中大企业集采框架</a:t>
                      </a:r>
                      <a:r>
                        <a:rPr lang="en-US" altLang="zh-CN" sz="900" b="0" i="0" dirty="0">
                          <a:solidFill>
                            <a:srgbClr val="000000"/>
                          </a:solidFill>
                          <a:effectLst/>
                        </a:rPr>
                        <a:t>OC</a:t>
                      </a:r>
                      <a:r>
                        <a:rPr lang="zh-CN" altLang="en-US" sz="900" b="0" i="0" dirty="0">
                          <a:solidFill>
                            <a:srgbClr val="000000"/>
                          </a:solidFill>
                          <a:effectLst/>
                        </a:rPr>
                        <a:t>子项目、金融行业框架</a:t>
                      </a:r>
                      <a:r>
                        <a:rPr lang="en-US" altLang="zh-CN" sz="900" b="0" i="0" dirty="0">
                          <a:solidFill>
                            <a:srgbClr val="000000"/>
                          </a:solidFill>
                          <a:effectLst/>
                        </a:rPr>
                        <a:t>OC</a:t>
                      </a:r>
                      <a:r>
                        <a:rPr lang="zh-CN" altLang="en-US" sz="900" b="0" i="0" dirty="0">
                          <a:solidFill>
                            <a:srgbClr val="000000"/>
                          </a:solidFill>
                          <a:effectLst/>
                        </a:rPr>
                        <a:t>子项目等所有项目均以最终设备使用或者上线时间来倒推“预计要货时间”，主要考虑了如下两种情况：</a:t>
                      </a:r>
                      <a:br>
                        <a:rPr lang="zh-CN" altLang="en-US" sz="900" b="0" i="0" dirty="0">
                          <a:solidFill>
                            <a:srgbClr val="000000"/>
                          </a:solidFill>
                          <a:effectLst/>
                        </a:rPr>
                      </a:br>
                      <a:r>
                        <a:rPr lang="en-US" altLang="zh-CN" sz="900" b="0" i="0" dirty="0">
                          <a:solidFill>
                            <a:srgbClr val="000000"/>
                          </a:solidFill>
                          <a:effectLst/>
                        </a:rPr>
                        <a:t>- </a:t>
                      </a:r>
                      <a:r>
                        <a:rPr lang="zh-CN" altLang="en-US" sz="900" b="0" i="0" dirty="0">
                          <a:solidFill>
                            <a:srgbClr val="000000"/>
                          </a:solidFill>
                          <a:effectLst/>
                        </a:rPr>
                        <a:t>不需要大量施工布线的项目：最终设备使用和上线时间至少倒推</a:t>
                      </a:r>
                      <a:r>
                        <a:rPr lang="en-US" altLang="zh-CN" sz="900" b="0" i="0" dirty="0">
                          <a:solidFill>
                            <a:srgbClr val="000000"/>
                          </a:solidFill>
                          <a:effectLst/>
                        </a:rPr>
                        <a:t>15</a:t>
                      </a:r>
                      <a:r>
                        <a:rPr lang="zh-CN" altLang="en-US" sz="900" b="0" i="0" dirty="0">
                          <a:solidFill>
                            <a:srgbClr val="000000"/>
                          </a:solidFill>
                          <a:effectLst/>
                        </a:rPr>
                        <a:t>天来确定预计要货时间；</a:t>
                      </a:r>
                      <a:r>
                        <a:rPr lang="en-US" altLang="zh-CN" sz="900" b="0" i="0" dirty="0">
                          <a:solidFill>
                            <a:srgbClr val="000000"/>
                          </a:solidFill>
                          <a:effectLst/>
                        </a:rPr>
                        <a:t>——</a:t>
                      </a:r>
                      <a:r>
                        <a:rPr lang="zh-CN" altLang="en-US" sz="900" b="0" i="0" dirty="0">
                          <a:solidFill>
                            <a:srgbClr val="000000"/>
                          </a:solidFill>
                          <a:effectLst/>
                        </a:rPr>
                        <a:t>找实施人员确认；</a:t>
                      </a:r>
                      <a:br>
                        <a:rPr lang="zh-CN" altLang="en-US" sz="900" b="0" i="0" dirty="0">
                          <a:solidFill>
                            <a:srgbClr val="000000"/>
                          </a:solidFill>
                          <a:effectLst/>
                        </a:rPr>
                      </a:br>
                      <a:r>
                        <a:rPr lang="en-US" altLang="zh-CN" sz="900" b="0" i="0" dirty="0">
                          <a:solidFill>
                            <a:srgbClr val="000000"/>
                          </a:solidFill>
                          <a:effectLst/>
                        </a:rPr>
                        <a:t>- </a:t>
                      </a:r>
                      <a:r>
                        <a:rPr lang="zh-CN" altLang="en-US" sz="900" b="0" i="0" dirty="0">
                          <a:solidFill>
                            <a:srgbClr val="000000"/>
                          </a:solidFill>
                          <a:effectLst/>
                        </a:rPr>
                        <a:t>涉及到大量的施工布线的项目：最终设备使用和上线时间往前倒推</a:t>
                      </a:r>
                      <a:r>
                        <a:rPr lang="en-US" altLang="zh-CN" sz="900" b="0" i="0" dirty="0">
                          <a:solidFill>
                            <a:srgbClr val="000000"/>
                          </a:solidFill>
                          <a:effectLst/>
                        </a:rPr>
                        <a:t>30</a:t>
                      </a:r>
                      <a:r>
                        <a:rPr lang="zh-CN" altLang="en-US" sz="900" b="0" i="0" dirty="0">
                          <a:solidFill>
                            <a:srgbClr val="000000"/>
                          </a:solidFill>
                          <a:effectLst/>
                        </a:rPr>
                        <a:t>天来确定预计要货时间；</a:t>
                      </a:r>
                      <a:br>
                        <a:rPr lang="zh-CN" altLang="en-US" sz="900" b="0" i="0" dirty="0">
                          <a:solidFill>
                            <a:srgbClr val="000000"/>
                          </a:solidFill>
                          <a:effectLst/>
                        </a:rPr>
                      </a:br>
                      <a:r>
                        <a:rPr lang="zh-CN" altLang="en-US" sz="900" b="0" i="0" dirty="0">
                          <a:solidFill>
                            <a:srgbClr val="000000"/>
                          </a:solidFill>
                          <a:effectLst/>
                        </a:rPr>
                        <a:t>如上为建议时间是跟根据项目施工复杂程度来的，重点还是需要销售要提前跟客户</a:t>
                      </a:r>
                      <a:r>
                        <a:rPr lang="en-US" altLang="zh-CN" sz="900" b="0" i="0" dirty="0">
                          <a:solidFill>
                            <a:srgbClr val="000000"/>
                          </a:solidFill>
                          <a:effectLst/>
                        </a:rPr>
                        <a:t>/</a:t>
                      </a:r>
                      <a:r>
                        <a:rPr lang="zh-CN" altLang="en-US" sz="900" b="0" i="0" dirty="0">
                          <a:solidFill>
                            <a:srgbClr val="000000"/>
                          </a:solidFill>
                          <a:effectLst/>
                        </a:rPr>
                        <a:t>渠道沟通好最终设备使用或者上线时间以及施工周期在系统及时更新好“预计要货时间”，需要特殊支持的务必提前跟供应链对应的同事保持沟通。</a:t>
                      </a:r>
                    </a:p>
                  </a:txBody>
                  <a:tcPr marL="56267" marR="56267" marT="28134" marB="28134" anchor="ctr">
                    <a:lnL w="6350" cap="flat" cmpd="sng" algn="ctr">
                      <a:solidFill>
                        <a:srgbClr val="B0342D"/>
                      </a:solidFill>
                      <a:prstDash val="solid"/>
                      <a:round/>
                      <a:headEnd type="none" w="med" len="med"/>
                      <a:tailEnd type="none" w="med" len="med"/>
                    </a:lnL>
                    <a:lnR w="6350" cap="flat" cmpd="sng" algn="ctr">
                      <a:solidFill>
                        <a:srgbClr val="00302D"/>
                      </a:solidFill>
                      <a:prstDash val="solid"/>
                      <a:round/>
                      <a:headEnd type="none" w="med" len="med"/>
                      <a:tailEnd type="none" w="med" len="med"/>
                    </a:lnR>
                    <a:lnT w="6350" cap="flat" cmpd="sng" algn="ctr">
                      <a:solidFill>
                        <a:srgbClr val="B0342D"/>
                      </a:solidFill>
                      <a:prstDash val="solid"/>
                      <a:round/>
                      <a:headEnd type="none" w="med" len="med"/>
                      <a:tailEnd type="none" w="med" len="med"/>
                    </a:lnT>
                    <a:lnB w="6350" cap="flat" cmpd="sng" algn="ctr">
                      <a:solidFill>
                        <a:srgbClr val="B02E2D"/>
                      </a:solidFill>
                      <a:prstDash val="solid"/>
                      <a:round/>
                      <a:headEnd type="none" w="med" len="med"/>
                      <a:tailEnd type="none" w="med" len="med"/>
                    </a:lnB>
                  </a:tcPr>
                </a:tc>
                <a:tc>
                  <a:txBody>
                    <a:bodyPr/>
                    <a:lstStyle/>
                    <a:p>
                      <a:pPr algn="l" fontAlgn="ctr" latinLnBrk="0"/>
                      <a:r>
                        <a:rPr lang="zh-CN" altLang="en-US" sz="900" b="0" i="0">
                          <a:solidFill>
                            <a:srgbClr val="000000"/>
                          </a:solidFill>
                          <a:effectLst/>
                        </a:rPr>
                        <a:t>销售填写“要求到货时间”，并且根据“预计要货时间”的判断说明在“备货说明”里面填写清楚要货时间根据（销售易</a:t>
                      </a:r>
                      <a:r>
                        <a:rPr lang="en-US" altLang="zh-CN" sz="900" b="0" i="0">
                          <a:solidFill>
                            <a:srgbClr val="000000"/>
                          </a:solidFill>
                          <a:effectLst/>
                        </a:rPr>
                        <a:t>CRM</a:t>
                      </a:r>
                      <a:r>
                        <a:rPr lang="zh-CN" altLang="en-US" sz="900" b="0" i="0">
                          <a:solidFill>
                            <a:srgbClr val="000000"/>
                          </a:solidFill>
                          <a:effectLst/>
                        </a:rPr>
                        <a:t>里面的位置以及相关示意如下）；“备货说明”不填写清楚的情况，“要求到货日期”是无法填写的；</a:t>
                      </a:r>
                      <a:br>
                        <a:rPr lang="zh-CN" altLang="en-US" sz="900" b="0" i="0">
                          <a:solidFill>
                            <a:srgbClr val="000000"/>
                          </a:solidFill>
                          <a:effectLst/>
                        </a:rPr>
                      </a:br>
                      <a:r>
                        <a:rPr lang="zh-CN" altLang="en-US" sz="900" b="0" i="0">
                          <a:solidFill>
                            <a:srgbClr val="000000"/>
                          </a:solidFill>
                          <a:effectLst/>
                        </a:rPr>
                        <a:t/>
                      </a:r>
                      <a:br>
                        <a:rPr lang="zh-CN" altLang="en-US" sz="900" b="0" i="0">
                          <a:solidFill>
                            <a:srgbClr val="000000"/>
                          </a:solidFill>
                          <a:effectLst/>
                        </a:rPr>
                      </a:br>
                      <a:r>
                        <a:rPr lang="en-US" altLang="zh-CN" sz="900" b="0" i="0">
                          <a:solidFill>
                            <a:srgbClr val="000000"/>
                          </a:solidFill>
                          <a:effectLst/>
                        </a:rPr>
                        <a:t>- “</a:t>
                      </a:r>
                      <a:r>
                        <a:rPr lang="zh-CN" altLang="en-US" sz="900" b="0" i="0">
                          <a:solidFill>
                            <a:srgbClr val="000000"/>
                          </a:solidFill>
                          <a:effectLst/>
                        </a:rPr>
                        <a:t>备货说明”填写示范：</a:t>
                      </a:r>
                      <a:br>
                        <a:rPr lang="zh-CN" altLang="en-US" sz="900" b="0" i="0">
                          <a:solidFill>
                            <a:srgbClr val="000000"/>
                          </a:solidFill>
                          <a:effectLst/>
                        </a:rPr>
                      </a:br>
                      <a:r>
                        <a:rPr lang="zh-CN" altLang="en-US" sz="900" b="0" i="0">
                          <a:solidFill>
                            <a:srgbClr val="000000"/>
                          </a:solidFill>
                          <a:effectLst/>
                        </a:rPr>
                        <a:t>（</a:t>
                      </a:r>
                      <a:r>
                        <a:rPr lang="en-US" altLang="zh-CN" sz="900" b="0" i="0">
                          <a:solidFill>
                            <a:srgbClr val="000000"/>
                          </a:solidFill>
                          <a:effectLst/>
                        </a:rPr>
                        <a:t>1</a:t>
                      </a:r>
                      <a:r>
                        <a:rPr lang="zh-CN" altLang="en-US" sz="900" b="0" i="0">
                          <a:solidFill>
                            <a:srgbClr val="000000"/>
                          </a:solidFill>
                          <a:effectLst/>
                        </a:rPr>
                        <a:t>）不需要大量施工布线的项目按照最终设备使用和上线时间至少倒推</a:t>
                      </a:r>
                      <a:r>
                        <a:rPr lang="en-US" altLang="zh-CN" sz="900" b="0" i="0">
                          <a:solidFill>
                            <a:srgbClr val="000000"/>
                          </a:solidFill>
                          <a:effectLst/>
                        </a:rPr>
                        <a:t>15</a:t>
                      </a:r>
                      <a:r>
                        <a:rPr lang="zh-CN" altLang="en-US" sz="900" b="0" i="0">
                          <a:solidFill>
                            <a:srgbClr val="000000"/>
                          </a:solidFill>
                          <a:effectLst/>
                        </a:rPr>
                        <a:t>天来填写“要求到货时间”，填写范本：与客户端信息办王主任确认，项目预计</a:t>
                      </a:r>
                      <a:r>
                        <a:rPr lang="en-US" altLang="zh-CN" sz="900" b="0" i="0">
                          <a:solidFill>
                            <a:srgbClr val="000000"/>
                          </a:solidFill>
                          <a:effectLst/>
                        </a:rPr>
                        <a:t>9</a:t>
                      </a:r>
                      <a:r>
                        <a:rPr lang="zh-CN" altLang="en-US" sz="900" b="0" i="0">
                          <a:solidFill>
                            <a:srgbClr val="000000"/>
                          </a:solidFill>
                          <a:effectLst/>
                        </a:rPr>
                        <a:t>月</a:t>
                      </a:r>
                      <a:r>
                        <a:rPr lang="en-US" altLang="zh-CN" sz="900" b="0" i="0">
                          <a:solidFill>
                            <a:srgbClr val="000000"/>
                          </a:solidFill>
                          <a:effectLst/>
                        </a:rPr>
                        <a:t>30</a:t>
                      </a:r>
                      <a:r>
                        <a:rPr lang="zh-CN" altLang="en-US" sz="900" b="0" i="0">
                          <a:solidFill>
                            <a:srgbClr val="000000"/>
                          </a:solidFill>
                          <a:effectLst/>
                        </a:rPr>
                        <a:t>日最终上线，且项目不涉及到大量的施工布线，按照上线</a:t>
                      </a:r>
                      <a:r>
                        <a:rPr lang="en-US" altLang="zh-CN" sz="900" b="0" i="0">
                          <a:solidFill>
                            <a:srgbClr val="000000"/>
                          </a:solidFill>
                          <a:effectLst/>
                        </a:rPr>
                        <a:t>15</a:t>
                      </a:r>
                      <a:r>
                        <a:rPr lang="zh-CN" altLang="en-US" sz="900" b="0" i="0">
                          <a:solidFill>
                            <a:srgbClr val="000000"/>
                          </a:solidFill>
                          <a:effectLst/>
                        </a:rPr>
                        <a:t>天也就是</a:t>
                      </a:r>
                      <a:r>
                        <a:rPr lang="en-US" altLang="zh-CN" sz="900" b="0" i="0">
                          <a:solidFill>
                            <a:srgbClr val="000000"/>
                          </a:solidFill>
                          <a:effectLst/>
                        </a:rPr>
                        <a:t>9</a:t>
                      </a:r>
                      <a:r>
                        <a:rPr lang="zh-CN" altLang="en-US" sz="900" b="0" i="0">
                          <a:solidFill>
                            <a:srgbClr val="000000"/>
                          </a:solidFill>
                          <a:effectLst/>
                        </a:rPr>
                        <a:t>月</a:t>
                      </a:r>
                      <a:r>
                        <a:rPr lang="en-US" altLang="zh-CN" sz="900" b="0" i="0">
                          <a:solidFill>
                            <a:srgbClr val="000000"/>
                          </a:solidFill>
                          <a:effectLst/>
                        </a:rPr>
                        <a:t>15</a:t>
                      </a:r>
                      <a:r>
                        <a:rPr lang="zh-CN" altLang="en-US" sz="900" b="0" i="0">
                          <a:solidFill>
                            <a:srgbClr val="000000"/>
                          </a:solidFill>
                          <a:effectLst/>
                        </a:rPr>
                        <a:t>日填写“要求到货时间”，并且与王主任确认，这个要求到货时间是可以满足的；</a:t>
                      </a:r>
                      <a:br>
                        <a:rPr lang="zh-CN" altLang="en-US" sz="900" b="0" i="0">
                          <a:solidFill>
                            <a:srgbClr val="000000"/>
                          </a:solidFill>
                          <a:effectLst/>
                        </a:rPr>
                      </a:br>
                      <a:r>
                        <a:rPr lang="zh-CN" altLang="en-US" sz="900" b="0" i="0">
                          <a:solidFill>
                            <a:srgbClr val="000000"/>
                          </a:solidFill>
                          <a:effectLst/>
                        </a:rPr>
                        <a:t>（</a:t>
                      </a:r>
                      <a:r>
                        <a:rPr lang="en-US" altLang="zh-CN" sz="900" b="0" i="0">
                          <a:solidFill>
                            <a:srgbClr val="000000"/>
                          </a:solidFill>
                          <a:effectLst/>
                        </a:rPr>
                        <a:t>2</a:t>
                      </a:r>
                      <a:r>
                        <a:rPr lang="zh-CN" altLang="en-US" sz="900" b="0" i="0">
                          <a:solidFill>
                            <a:srgbClr val="000000"/>
                          </a:solidFill>
                          <a:effectLst/>
                        </a:rPr>
                        <a:t>）涉及到大量的施工布线的项目：最终设备使用和上线时间往前倒推</a:t>
                      </a:r>
                      <a:r>
                        <a:rPr lang="en-US" altLang="zh-CN" sz="900" b="0" i="0">
                          <a:solidFill>
                            <a:srgbClr val="000000"/>
                          </a:solidFill>
                          <a:effectLst/>
                        </a:rPr>
                        <a:t>30</a:t>
                      </a:r>
                      <a:r>
                        <a:rPr lang="zh-CN" altLang="en-US" sz="900" b="0" i="0">
                          <a:solidFill>
                            <a:srgbClr val="000000"/>
                          </a:solidFill>
                          <a:effectLst/>
                        </a:rPr>
                        <a:t>天来确定预计要货时间，填写范本：与现场实施的项目经理王经理确认，项目预计</a:t>
                      </a:r>
                      <a:r>
                        <a:rPr lang="en-US" altLang="zh-CN" sz="900" b="0" i="0">
                          <a:solidFill>
                            <a:srgbClr val="000000"/>
                          </a:solidFill>
                          <a:effectLst/>
                        </a:rPr>
                        <a:t>9</a:t>
                      </a:r>
                      <a:r>
                        <a:rPr lang="zh-CN" altLang="en-US" sz="900" b="0" i="0">
                          <a:solidFill>
                            <a:srgbClr val="000000"/>
                          </a:solidFill>
                          <a:effectLst/>
                        </a:rPr>
                        <a:t>月</a:t>
                      </a:r>
                      <a:r>
                        <a:rPr lang="en-US" altLang="zh-CN" sz="900" b="0" i="0">
                          <a:solidFill>
                            <a:srgbClr val="000000"/>
                          </a:solidFill>
                          <a:effectLst/>
                        </a:rPr>
                        <a:t>30</a:t>
                      </a:r>
                      <a:r>
                        <a:rPr lang="zh-CN" altLang="en-US" sz="900" b="0" i="0">
                          <a:solidFill>
                            <a:srgbClr val="000000"/>
                          </a:solidFill>
                          <a:effectLst/>
                        </a:rPr>
                        <a:t>日最终上线，因项目涉及到大量的布线工作，按照上线</a:t>
                      </a:r>
                      <a:r>
                        <a:rPr lang="en-US" altLang="zh-CN" sz="900" b="0" i="0">
                          <a:solidFill>
                            <a:srgbClr val="000000"/>
                          </a:solidFill>
                          <a:effectLst/>
                        </a:rPr>
                        <a:t>30</a:t>
                      </a:r>
                      <a:r>
                        <a:rPr lang="zh-CN" altLang="en-US" sz="900" b="0" i="0">
                          <a:solidFill>
                            <a:srgbClr val="000000"/>
                          </a:solidFill>
                          <a:effectLst/>
                        </a:rPr>
                        <a:t>天也就是</a:t>
                      </a:r>
                      <a:r>
                        <a:rPr lang="en-US" altLang="zh-CN" sz="900" b="0" i="0">
                          <a:solidFill>
                            <a:srgbClr val="000000"/>
                          </a:solidFill>
                          <a:effectLst/>
                        </a:rPr>
                        <a:t>9</a:t>
                      </a:r>
                      <a:r>
                        <a:rPr lang="zh-CN" altLang="en-US" sz="900" b="0" i="0">
                          <a:solidFill>
                            <a:srgbClr val="000000"/>
                          </a:solidFill>
                          <a:effectLst/>
                        </a:rPr>
                        <a:t>月</a:t>
                      </a:r>
                      <a:r>
                        <a:rPr lang="en-US" altLang="zh-CN" sz="900" b="0" i="0">
                          <a:solidFill>
                            <a:srgbClr val="000000"/>
                          </a:solidFill>
                          <a:effectLst/>
                        </a:rPr>
                        <a:t>1</a:t>
                      </a:r>
                      <a:r>
                        <a:rPr lang="zh-CN" altLang="en-US" sz="900" b="0" i="0">
                          <a:solidFill>
                            <a:srgbClr val="000000"/>
                          </a:solidFill>
                          <a:effectLst/>
                        </a:rPr>
                        <a:t>日填写“要求到货时间”，并且与王经理确认，这个要求到货时间是可以满足的；</a:t>
                      </a:r>
                      <a:br>
                        <a:rPr lang="zh-CN" altLang="en-US" sz="900" b="0" i="0">
                          <a:solidFill>
                            <a:srgbClr val="000000"/>
                          </a:solidFill>
                          <a:effectLst/>
                        </a:rPr>
                      </a:br>
                      <a:r>
                        <a:rPr lang="zh-CN" altLang="en-US" sz="900" b="0" i="0">
                          <a:solidFill>
                            <a:srgbClr val="000000"/>
                          </a:solidFill>
                          <a:effectLst/>
                        </a:rPr>
                        <a:t>（</a:t>
                      </a:r>
                      <a:r>
                        <a:rPr lang="en-US" altLang="zh-CN" sz="900" b="0" i="0">
                          <a:solidFill>
                            <a:srgbClr val="000000"/>
                          </a:solidFill>
                          <a:effectLst/>
                        </a:rPr>
                        <a:t>3</a:t>
                      </a:r>
                      <a:r>
                        <a:rPr lang="zh-CN" altLang="en-US" sz="900" b="0" i="0">
                          <a:solidFill>
                            <a:srgbClr val="000000"/>
                          </a:solidFill>
                          <a:effectLst/>
                        </a:rPr>
                        <a:t>）流水或者紧急项目（含翻盘项目等），根据项目的实际情况填写“要求到货日期”，同时，要与供应链的同事保持密切沟通，做相关到货的协调；</a:t>
                      </a:r>
                    </a:p>
                  </a:txBody>
                  <a:tcPr marL="56267" marR="56267" marT="28134" marB="28134" anchor="ctr">
                    <a:lnL w="6350" cap="flat" cmpd="sng" algn="ctr">
                      <a:solidFill>
                        <a:srgbClr val="00302D"/>
                      </a:solidFill>
                      <a:prstDash val="solid"/>
                      <a:round/>
                      <a:headEnd type="none" w="med" len="med"/>
                      <a:tailEnd type="none" w="med" len="med"/>
                    </a:lnL>
                    <a:lnR w="6350" cap="flat" cmpd="sng" algn="ctr">
                      <a:solidFill>
                        <a:srgbClr val="00302D"/>
                      </a:solidFill>
                      <a:prstDash val="solid"/>
                      <a:round/>
                      <a:headEnd type="none" w="med" len="med"/>
                      <a:tailEnd type="none" w="med" len="med"/>
                    </a:lnR>
                    <a:lnT w="6350" cap="flat" cmpd="sng" algn="ctr">
                      <a:solidFill>
                        <a:srgbClr val="00302D"/>
                      </a:solidFill>
                      <a:prstDash val="solid"/>
                      <a:round/>
                      <a:headEnd type="none" w="med" len="med"/>
                      <a:tailEnd type="none" w="med" len="med"/>
                    </a:lnT>
                    <a:lnB w="6350" cap="flat" cmpd="sng" algn="ctr">
                      <a:solidFill>
                        <a:srgbClr val="F02D2D"/>
                      </a:solidFill>
                      <a:prstDash val="solid"/>
                      <a:round/>
                      <a:headEnd type="none" w="med" len="med"/>
                      <a:tailEnd type="none" w="med" len="med"/>
                    </a:lnB>
                  </a:tcPr>
                </a:tc>
                <a:extLst>
                  <a:ext uri="{0D108BD9-81ED-4DB2-BD59-A6C34878D82A}">
                    <a16:rowId xmlns="" xmlns:a16="http://schemas.microsoft.com/office/drawing/2014/main" val="10001"/>
                  </a:ext>
                </a:extLst>
              </a:tr>
              <a:tr h="695313">
                <a:tc>
                  <a:txBody>
                    <a:bodyPr/>
                    <a:lstStyle/>
                    <a:p>
                      <a:pPr algn="ctr" fontAlgn="ctr" latinLnBrk="0"/>
                      <a:r>
                        <a:rPr lang="en-US" altLang="zh-CN" sz="900" b="0" i="0">
                          <a:solidFill>
                            <a:srgbClr val="000000"/>
                          </a:solidFill>
                          <a:effectLst/>
                        </a:rPr>
                        <a:t>2</a:t>
                      </a:r>
                    </a:p>
                  </a:txBody>
                  <a:tcPr marL="56267" marR="56267" marT="28134" marB="28134" anchor="ctr">
                    <a:lnL w="6350" cap="flat" cmpd="sng" algn="ctr">
                      <a:solidFill>
                        <a:srgbClr val="F02D2D"/>
                      </a:solidFill>
                      <a:prstDash val="solid"/>
                      <a:round/>
                      <a:headEnd type="none" w="med" len="med"/>
                      <a:tailEnd type="none" w="med" len="med"/>
                    </a:lnL>
                    <a:lnR w="6350" cap="flat" cmpd="sng" algn="ctr">
                      <a:solidFill>
                        <a:srgbClr val="40322D"/>
                      </a:solidFill>
                      <a:prstDash val="solid"/>
                      <a:round/>
                      <a:headEnd type="none" w="med" len="med"/>
                      <a:tailEnd type="none" w="med" len="med"/>
                    </a:lnR>
                    <a:lnT w="6350" cap="flat" cmpd="sng" algn="ctr">
                      <a:solidFill>
                        <a:srgbClr val="F02D2D"/>
                      </a:solidFill>
                      <a:prstDash val="solid"/>
                      <a:round/>
                      <a:headEnd type="none" w="med" len="med"/>
                      <a:tailEnd type="none" w="med" len="med"/>
                    </a:lnT>
                    <a:lnB w="6350" cap="flat" cmpd="sng" algn="ctr">
                      <a:solidFill>
                        <a:srgbClr val="D02C2D"/>
                      </a:solidFill>
                      <a:prstDash val="solid"/>
                      <a:round/>
                      <a:headEnd type="none" w="med" len="med"/>
                      <a:tailEnd type="none" w="med" len="med"/>
                    </a:lnB>
                  </a:tcPr>
                </a:tc>
                <a:tc>
                  <a:txBody>
                    <a:bodyPr/>
                    <a:lstStyle/>
                    <a:p>
                      <a:pPr algn="ctr" fontAlgn="ctr" latinLnBrk="0"/>
                      <a:r>
                        <a:rPr lang="zh-CN" altLang="en-US" sz="900" b="0" i="0">
                          <a:solidFill>
                            <a:srgbClr val="000000"/>
                          </a:solidFill>
                          <a:effectLst/>
                        </a:rPr>
                        <a:t>预计下单时间</a:t>
                      </a:r>
                    </a:p>
                  </a:txBody>
                  <a:tcPr marL="56267" marR="56267" marT="28134" marB="28134" anchor="ctr">
                    <a:lnL w="6350" cap="flat" cmpd="sng" algn="ctr">
                      <a:solidFill>
                        <a:srgbClr val="40322D"/>
                      </a:solidFill>
                      <a:prstDash val="solid"/>
                      <a:round/>
                      <a:headEnd type="none" w="med" len="med"/>
                      <a:tailEnd type="none" w="med" len="med"/>
                    </a:lnL>
                    <a:lnR w="6350" cap="flat" cmpd="sng" algn="ctr">
                      <a:solidFill>
                        <a:srgbClr val="B02E2D"/>
                      </a:solidFill>
                      <a:prstDash val="solid"/>
                      <a:round/>
                      <a:headEnd type="none" w="med" len="med"/>
                      <a:tailEnd type="none" w="med" len="med"/>
                    </a:lnR>
                    <a:lnT w="6350" cap="flat" cmpd="sng" algn="ctr">
                      <a:solidFill>
                        <a:srgbClr val="40322D"/>
                      </a:solidFill>
                      <a:prstDash val="solid"/>
                      <a:round/>
                      <a:headEnd type="none" w="med" len="med"/>
                      <a:tailEnd type="none" w="med" len="med"/>
                    </a:lnT>
                    <a:lnB w="6350" cap="flat" cmpd="sng" algn="ctr">
                      <a:solidFill>
                        <a:srgbClr val="60332D"/>
                      </a:solidFill>
                      <a:prstDash val="solid"/>
                      <a:round/>
                      <a:headEnd type="none" w="med" len="med"/>
                      <a:tailEnd type="none" w="med" len="med"/>
                    </a:lnB>
                  </a:tcPr>
                </a:tc>
                <a:tc>
                  <a:txBody>
                    <a:bodyPr/>
                    <a:lstStyle/>
                    <a:p>
                      <a:pPr algn="l" fontAlgn="ctr" latinLnBrk="0"/>
                      <a:r>
                        <a:rPr lang="zh-CN" altLang="en-US" sz="900" b="0" i="0">
                          <a:solidFill>
                            <a:srgbClr val="000000"/>
                          </a:solidFill>
                          <a:effectLst/>
                        </a:rPr>
                        <a:t>针对财政资金</a:t>
                      </a:r>
                      <a:r>
                        <a:rPr lang="en-US" altLang="zh-CN" sz="900" b="0" i="0">
                          <a:solidFill>
                            <a:srgbClr val="000000"/>
                          </a:solidFill>
                          <a:effectLst/>
                        </a:rPr>
                        <a:t>/</a:t>
                      </a:r>
                      <a:r>
                        <a:rPr lang="zh-CN" altLang="en-US" sz="900" b="0" i="0">
                          <a:solidFill>
                            <a:srgbClr val="000000"/>
                          </a:solidFill>
                          <a:effectLst/>
                        </a:rPr>
                        <a:t>标准政采项目、弱电</a:t>
                      </a:r>
                      <a:r>
                        <a:rPr lang="en-US" altLang="zh-CN" sz="900" b="0" i="0">
                          <a:solidFill>
                            <a:srgbClr val="000000"/>
                          </a:solidFill>
                          <a:effectLst/>
                        </a:rPr>
                        <a:t>&amp;EPC</a:t>
                      </a:r>
                      <a:r>
                        <a:rPr lang="zh-CN" altLang="en-US" sz="900" b="0" i="0">
                          <a:solidFill>
                            <a:srgbClr val="000000"/>
                          </a:solidFill>
                          <a:effectLst/>
                        </a:rPr>
                        <a:t>总包项目、</a:t>
                      </a:r>
                      <a:r>
                        <a:rPr lang="en-US" altLang="zh-CN" sz="900" b="0" i="0">
                          <a:solidFill>
                            <a:srgbClr val="000000"/>
                          </a:solidFill>
                          <a:effectLst/>
                        </a:rPr>
                        <a:t>ICT&amp;</a:t>
                      </a:r>
                      <a:r>
                        <a:rPr lang="zh-CN" altLang="en-US" sz="900" b="0" i="0">
                          <a:solidFill>
                            <a:srgbClr val="000000"/>
                          </a:solidFill>
                          <a:effectLst/>
                        </a:rPr>
                        <a:t>投融资项目、中大企业集采框架</a:t>
                      </a:r>
                      <a:r>
                        <a:rPr lang="en-US" altLang="zh-CN" sz="900" b="0" i="0">
                          <a:solidFill>
                            <a:srgbClr val="000000"/>
                          </a:solidFill>
                          <a:effectLst/>
                        </a:rPr>
                        <a:t>OC</a:t>
                      </a:r>
                      <a:r>
                        <a:rPr lang="zh-CN" altLang="en-US" sz="900" b="0" i="0">
                          <a:solidFill>
                            <a:srgbClr val="000000"/>
                          </a:solidFill>
                          <a:effectLst/>
                        </a:rPr>
                        <a:t>子项目、金融行业框架</a:t>
                      </a:r>
                      <a:r>
                        <a:rPr lang="en-US" altLang="zh-CN" sz="900" b="0" i="0">
                          <a:solidFill>
                            <a:srgbClr val="000000"/>
                          </a:solidFill>
                          <a:effectLst/>
                        </a:rPr>
                        <a:t>OC</a:t>
                      </a:r>
                      <a:r>
                        <a:rPr lang="zh-CN" altLang="en-US" sz="900" b="0" i="0">
                          <a:solidFill>
                            <a:srgbClr val="000000"/>
                          </a:solidFill>
                          <a:effectLst/>
                        </a:rPr>
                        <a:t>子项目等所有项目的“预计下单时间”均以“预计要货时间”</a:t>
                      </a:r>
                      <a:r>
                        <a:rPr lang="en-US" altLang="zh-CN" sz="900" b="0" i="0">
                          <a:solidFill>
                            <a:srgbClr val="000000"/>
                          </a:solidFill>
                          <a:effectLst/>
                        </a:rPr>
                        <a:t>-“</a:t>
                      </a:r>
                      <a:r>
                        <a:rPr lang="zh-CN" altLang="en-US" sz="900" b="0" i="0">
                          <a:solidFill>
                            <a:srgbClr val="000000"/>
                          </a:solidFill>
                          <a:effectLst/>
                        </a:rPr>
                        <a:t>订单</a:t>
                      </a:r>
                      <a:r>
                        <a:rPr lang="en-US" altLang="zh-CN" sz="900" b="0" i="0">
                          <a:solidFill>
                            <a:srgbClr val="000000"/>
                          </a:solidFill>
                          <a:effectLst/>
                        </a:rPr>
                        <a:t>SLA”</a:t>
                      </a:r>
                      <a:r>
                        <a:rPr lang="zh-CN" altLang="en-US" sz="900" b="0" i="0">
                          <a:solidFill>
                            <a:srgbClr val="000000"/>
                          </a:solidFill>
                          <a:effectLst/>
                        </a:rPr>
                        <a:t>来做依据；</a:t>
                      </a:r>
                      <a:br>
                        <a:rPr lang="zh-CN" altLang="en-US" sz="900" b="0" i="0">
                          <a:solidFill>
                            <a:srgbClr val="000000"/>
                          </a:solidFill>
                          <a:effectLst/>
                        </a:rPr>
                      </a:br>
                      <a:r>
                        <a:rPr lang="en-US" altLang="zh-CN" sz="900" b="0" i="0">
                          <a:solidFill>
                            <a:srgbClr val="000000"/>
                          </a:solidFill>
                          <a:effectLst/>
                        </a:rPr>
                        <a:t>- </a:t>
                      </a:r>
                      <a:r>
                        <a:rPr lang="zh-CN" altLang="en-US" sz="900" b="0" i="0">
                          <a:solidFill>
                            <a:srgbClr val="000000"/>
                          </a:solidFill>
                          <a:effectLst/>
                        </a:rPr>
                        <a:t>一个订单里面如果涉及多款产品，每款产品</a:t>
                      </a:r>
                      <a:r>
                        <a:rPr lang="en-US" altLang="zh-CN" sz="900" b="0" i="0">
                          <a:solidFill>
                            <a:srgbClr val="000000"/>
                          </a:solidFill>
                          <a:effectLst/>
                        </a:rPr>
                        <a:t>SLA</a:t>
                      </a:r>
                      <a:r>
                        <a:rPr lang="zh-CN" altLang="en-US" sz="900" b="0" i="0">
                          <a:solidFill>
                            <a:srgbClr val="000000"/>
                          </a:solidFill>
                          <a:effectLst/>
                        </a:rPr>
                        <a:t>不同，最终订单的</a:t>
                      </a:r>
                      <a:r>
                        <a:rPr lang="en-US" altLang="zh-CN" sz="900" b="0" i="0">
                          <a:solidFill>
                            <a:srgbClr val="000000"/>
                          </a:solidFill>
                          <a:effectLst/>
                        </a:rPr>
                        <a:t>SLA</a:t>
                      </a:r>
                      <a:r>
                        <a:rPr lang="zh-CN" altLang="en-US" sz="900" b="0" i="0">
                          <a:solidFill>
                            <a:srgbClr val="000000"/>
                          </a:solidFill>
                          <a:effectLst/>
                        </a:rPr>
                        <a:t>是取大值，比如</a:t>
                      </a:r>
                      <a:r>
                        <a:rPr lang="en-US" altLang="zh-CN" sz="900" b="0" i="0">
                          <a:solidFill>
                            <a:srgbClr val="000000"/>
                          </a:solidFill>
                          <a:effectLst/>
                        </a:rPr>
                        <a:t>A 3</a:t>
                      </a:r>
                      <a:r>
                        <a:rPr lang="zh-CN" altLang="en-US" sz="900" b="0" i="0">
                          <a:solidFill>
                            <a:srgbClr val="000000"/>
                          </a:solidFill>
                          <a:effectLst/>
                        </a:rPr>
                        <a:t>天，</a:t>
                      </a:r>
                      <a:r>
                        <a:rPr lang="en-US" altLang="zh-CN" sz="900" b="0" i="0">
                          <a:solidFill>
                            <a:srgbClr val="000000"/>
                          </a:solidFill>
                          <a:effectLst/>
                        </a:rPr>
                        <a:t>B7</a:t>
                      </a:r>
                      <a:r>
                        <a:rPr lang="zh-CN" altLang="en-US" sz="900" b="0" i="0">
                          <a:solidFill>
                            <a:srgbClr val="000000"/>
                          </a:solidFill>
                          <a:effectLst/>
                        </a:rPr>
                        <a:t>天，</a:t>
                      </a:r>
                      <a:r>
                        <a:rPr lang="en-US" altLang="zh-CN" sz="900" b="0" i="0">
                          <a:solidFill>
                            <a:srgbClr val="000000"/>
                          </a:solidFill>
                          <a:effectLst/>
                        </a:rPr>
                        <a:t>C 14</a:t>
                      </a:r>
                      <a:r>
                        <a:rPr lang="zh-CN" altLang="en-US" sz="900" b="0" i="0">
                          <a:solidFill>
                            <a:srgbClr val="000000"/>
                          </a:solidFill>
                          <a:effectLst/>
                        </a:rPr>
                        <a:t>天，那么订单的</a:t>
                      </a:r>
                      <a:r>
                        <a:rPr lang="en-US" altLang="zh-CN" sz="900" b="0" i="0">
                          <a:solidFill>
                            <a:srgbClr val="000000"/>
                          </a:solidFill>
                          <a:effectLst/>
                        </a:rPr>
                        <a:t>SLA</a:t>
                      </a:r>
                      <a:r>
                        <a:rPr lang="zh-CN" altLang="en-US" sz="900" b="0" i="0">
                          <a:solidFill>
                            <a:srgbClr val="000000"/>
                          </a:solidFill>
                          <a:effectLst/>
                        </a:rPr>
                        <a:t>是</a:t>
                      </a:r>
                      <a:r>
                        <a:rPr lang="en-US" altLang="zh-CN" sz="900" b="0" i="0">
                          <a:solidFill>
                            <a:srgbClr val="000000"/>
                          </a:solidFill>
                          <a:effectLst/>
                        </a:rPr>
                        <a:t>14</a:t>
                      </a:r>
                      <a:r>
                        <a:rPr lang="zh-CN" altLang="en-US" sz="900" b="0" i="0">
                          <a:solidFill>
                            <a:srgbClr val="000000"/>
                          </a:solidFill>
                          <a:effectLst/>
                        </a:rPr>
                        <a:t>天；</a:t>
                      </a:r>
                    </a:p>
                  </a:txBody>
                  <a:tcPr marL="56267" marR="56267" marT="28134" marB="28134" anchor="ctr">
                    <a:lnL w="6350" cap="flat" cmpd="sng" algn="ctr">
                      <a:solidFill>
                        <a:srgbClr val="B02E2D"/>
                      </a:solidFill>
                      <a:prstDash val="solid"/>
                      <a:round/>
                      <a:headEnd type="none" w="med" len="med"/>
                      <a:tailEnd type="none" w="med" len="med"/>
                    </a:lnL>
                    <a:lnR w="6350" cap="flat" cmpd="sng" algn="ctr">
                      <a:solidFill>
                        <a:srgbClr val="F02D2D"/>
                      </a:solidFill>
                      <a:prstDash val="solid"/>
                      <a:round/>
                      <a:headEnd type="none" w="med" len="med"/>
                      <a:tailEnd type="none" w="med" len="med"/>
                    </a:lnR>
                    <a:lnT w="6350" cap="flat" cmpd="sng" algn="ctr">
                      <a:solidFill>
                        <a:srgbClr val="B02E2D"/>
                      </a:solidFill>
                      <a:prstDash val="solid"/>
                      <a:round/>
                      <a:headEnd type="none" w="med" len="med"/>
                      <a:tailEnd type="none" w="med" len="med"/>
                    </a:lnT>
                    <a:lnB w="6350" cap="flat" cmpd="sng" algn="ctr">
                      <a:solidFill>
                        <a:srgbClr val="F0332D"/>
                      </a:solidFill>
                      <a:prstDash val="solid"/>
                      <a:round/>
                      <a:headEnd type="none" w="med" len="med"/>
                      <a:tailEnd type="none" w="med" len="med"/>
                    </a:lnB>
                  </a:tcPr>
                </a:tc>
                <a:tc>
                  <a:txBody>
                    <a:bodyPr/>
                    <a:lstStyle/>
                    <a:p>
                      <a:pPr algn="l" fontAlgn="ctr" latinLnBrk="0"/>
                      <a:r>
                        <a:rPr lang="zh-CN" altLang="en-US" sz="900" b="0" i="0">
                          <a:solidFill>
                            <a:srgbClr val="000000"/>
                          </a:solidFill>
                          <a:effectLst/>
                        </a:rPr>
                        <a:t>确保到销售执行：跟据预计要货时间以及订单的</a:t>
                      </a:r>
                      <a:r>
                        <a:rPr lang="en-US" altLang="zh-CN" sz="900" b="0" i="0">
                          <a:solidFill>
                            <a:srgbClr val="000000"/>
                          </a:solidFill>
                          <a:effectLst/>
                        </a:rPr>
                        <a:t>SLA</a:t>
                      </a:r>
                      <a:r>
                        <a:rPr lang="zh-CN" altLang="en-US" sz="900" b="0" i="0">
                          <a:solidFill>
                            <a:srgbClr val="000000"/>
                          </a:solidFill>
                          <a:effectLst/>
                        </a:rPr>
                        <a:t>来设置预计下单时间的底线范围；（目前销售填写的预计下单日期在</a:t>
                      </a:r>
                      <a:r>
                        <a:rPr lang="en-US" altLang="zh-CN" sz="900" b="0" i="0">
                          <a:solidFill>
                            <a:srgbClr val="000000"/>
                          </a:solidFill>
                          <a:effectLst/>
                        </a:rPr>
                        <a:t>SLA</a:t>
                      </a:r>
                      <a:r>
                        <a:rPr lang="zh-CN" altLang="en-US" sz="900" b="0" i="0">
                          <a:solidFill>
                            <a:srgbClr val="000000"/>
                          </a:solidFill>
                          <a:effectLst/>
                        </a:rPr>
                        <a:t>测算出来之后的，视为质量</a:t>
                      </a:r>
                      <a:r>
                        <a:rPr lang="en-US" altLang="zh-CN" sz="900" b="0" i="0">
                          <a:solidFill>
                            <a:srgbClr val="000000"/>
                          </a:solidFill>
                          <a:effectLst/>
                        </a:rPr>
                        <a:t>OK</a:t>
                      </a:r>
                      <a:r>
                        <a:rPr lang="zh-CN" altLang="en-US" sz="900" b="0" i="0">
                          <a:solidFill>
                            <a:srgbClr val="000000"/>
                          </a:solidFill>
                          <a:effectLst/>
                        </a:rPr>
                        <a:t>）</a:t>
                      </a:r>
                    </a:p>
                  </a:txBody>
                  <a:tcPr marL="56267" marR="56267" marT="28134" marB="28134" anchor="ctr">
                    <a:lnL w="6350" cap="flat" cmpd="sng" algn="ctr">
                      <a:solidFill>
                        <a:srgbClr val="F02D2D"/>
                      </a:solidFill>
                      <a:prstDash val="solid"/>
                      <a:round/>
                      <a:headEnd type="none" w="med" len="med"/>
                      <a:tailEnd type="none" w="med" len="med"/>
                    </a:lnL>
                    <a:lnR w="6350" cap="flat" cmpd="sng" algn="ctr">
                      <a:solidFill>
                        <a:srgbClr val="F02D2D"/>
                      </a:solidFill>
                      <a:prstDash val="solid"/>
                      <a:round/>
                      <a:headEnd type="none" w="med" len="med"/>
                      <a:tailEnd type="none" w="med" len="med"/>
                    </a:lnR>
                    <a:lnT w="6350" cap="flat" cmpd="sng" algn="ctr">
                      <a:solidFill>
                        <a:srgbClr val="F02D2D"/>
                      </a:solidFill>
                      <a:prstDash val="solid"/>
                      <a:round/>
                      <a:headEnd type="none" w="med" len="med"/>
                      <a:tailEnd type="none" w="med" len="med"/>
                    </a:lnT>
                    <a:lnB w="6350" cap="flat" cmpd="sng" algn="ctr">
                      <a:solidFill>
                        <a:srgbClr val="20342D"/>
                      </a:solidFill>
                      <a:prstDash val="solid"/>
                      <a:round/>
                      <a:headEnd type="none" w="med" len="med"/>
                      <a:tailEnd type="none" w="med" len="med"/>
                    </a:lnB>
                  </a:tcPr>
                </a:tc>
                <a:extLst>
                  <a:ext uri="{0D108BD9-81ED-4DB2-BD59-A6C34878D82A}">
                    <a16:rowId xmlns="" xmlns:a16="http://schemas.microsoft.com/office/drawing/2014/main" val="10002"/>
                  </a:ext>
                </a:extLst>
              </a:tr>
              <a:tr h="3178579">
                <a:tc>
                  <a:txBody>
                    <a:bodyPr/>
                    <a:lstStyle/>
                    <a:p>
                      <a:pPr algn="ctr" fontAlgn="ctr" latinLnBrk="0"/>
                      <a:r>
                        <a:rPr lang="en-US" altLang="zh-CN" sz="900" b="0" i="0">
                          <a:solidFill>
                            <a:srgbClr val="000000"/>
                          </a:solidFill>
                          <a:effectLst/>
                        </a:rPr>
                        <a:t>3</a:t>
                      </a:r>
                    </a:p>
                  </a:txBody>
                  <a:tcPr marL="56267" marR="56267" marT="28134" marB="28134" anchor="ctr">
                    <a:lnL w="6350" cap="flat" cmpd="sng" algn="ctr">
                      <a:solidFill>
                        <a:srgbClr val="D02C2D"/>
                      </a:solidFill>
                      <a:prstDash val="solid"/>
                      <a:round/>
                      <a:headEnd type="none" w="med" len="med"/>
                      <a:tailEnd type="none" w="med" len="med"/>
                    </a:lnL>
                    <a:lnR w="6350" cap="flat" cmpd="sng" algn="ctr">
                      <a:solidFill>
                        <a:srgbClr val="60332D"/>
                      </a:solidFill>
                      <a:prstDash val="solid"/>
                      <a:round/>
                      <a:headEnd type="none" w="med" len="med"/>
                      <a:tailEnd type="none" w="med" len="med"/>
                    </a:lnR>
                    <a:lnT w="6350" cap="flat" cmpd="sng" algn="ctr">
                      <a:solidFill>
                        <a:srgbClr val="D02C2D"/>
                      </a:solidFill>
                      <a:prstDash val="solid"/>
                      <a:round/>
                      <a:headEnd type="none" w="med" len="med"/>
                      <a:tailEnd type="none" w="med" len="med"/>
                    </a:lnT>
                    <a:lnB w="6350" cap="flat" cmpd="sng" algn="ctr">
                      <a:solidFill>
                        <a:srgbClr val="D02C2D"/>
                      </a:solidFill>
                      <a:prstDash val="solid"/>
                      <a:round/>
                      <a:headEnd type="none" w="med" len="med"/>
                      <a:tailEnd type="none" w="med" len="med"/>
                    </a:lnB>
                  </a:tcPr>
                </a:tc>
                <a:tc>
                  <a:txBody>
                    <a:bodyPr/>
                    <a:lstStyle/>
                    <a:p>
                      <a:pPr algn="ctr" fontAlgn="ctr" latinLnBrk="0"/>
                      <a:r>
                        <a:rPr lang="zh-CN" altLang="en-US" sz="900" b="0" i="0" dirty="0">
                          <a:solidFill>
                            <a:srgbClr val="000000"/>
                          </a:solidFill>
                          <a:effectLst/>
                        </a:rPr>
                        <a:t>预计开标时间</a:t>
                      </a:r>
                    </a:p>
                  </a:txBody>
                  <a:tcPr marL="56267" marR="56267" marT="28134" marB="28134" anchor="ctr">
                    <a:lnL w="6350" cap="flat" cmpd="sng" algn="ctr">
                      <a:solidFill>
                        <a:srgbClr val="60332D"/>
                      </a:solidFill>
                      <a:prstDash val="solid"/>
                      <a:round/>
                      <a:headEnd type="none" w="med" len="med"/>
                      <a:tailEnd type="none" w="med" len="med"/>
                    </a:lnL>
                    <a:lnR w="6350" cap="flat" cmpd="sng" algn="ctr">
                      <a:solidFill>
                        <a:srgbClr val="F0332D"/>
                      </a:solidFill>
                      <a:prstDash val="solid"/>
                      <a:round/>
                      <a:headEnd type="none" w="med" len="med"/>
                      <a:tailEnd type="none" w="med" len="med"/>
                    </a:lnR>
                    <a:lnT w="6350" cap="flat" cmpd="sng" algn="ctr">
                      <a:solidFill>
                        <a:srgbClr val="60332D"/>
                      </a:solidFill>
                      <a:prstDash val="solid"/>
                      <a:round/>
                      <a:headEnd type="none" w="med" len="med"/>
                      <a:tailEnd type="none" w="med" len="med"/>
                    </a:lnT>
                    <a:lnB w="6350" cap="flat" cmpd="sng" algn="ctr">
                      <a:solidFill>
                        <a:srgbClr val="60332D"/>
                      </a:solidFill>
                      <a:prstDash val="solid"/>
                      <a:round/>
                      <a:headEnd type="none" w="med" len="med"/>
                      <a:tailEnd type="none" w="med" len="med"/>
                    </a:lnB>
                  </a:tcPr>
                </a:tc>
                <a:tc>
                  <a:txBody>
                    <a:bodyPr/>
                    <a:lstStyle/>
                    <a:p>
                      <a:pPr fontAlgn="ctr" latinLnBrk="0"/>
                      <a:r>
                        <a:rPr lang="zh-CN" altLang="en-US" sz="900" b="0" i="0" dirty="0">
                          <a:solidFill>
                            <a:srgbClr val="000000"/>
                          </a:solidFill>
                          <a:effectLst/>
                        </a:rPr>
                        <a:t>针对“预计开标日期”以“正推法”和“倒推法”，重点以正推法作为指导</a:t>
                      </a:r>
                      <a:br>
                        <a:rPr lang="zh-CN" altLang="en-US" sz="900" b="0" i="0" dirty="0">
                          <a:solidFill>
                            <a:srgbClr val="000000"/>
                          </a:solidFill>
                          <a:effectLst/>
                        </a:rPr>
                      </a:br>
                      <a:r>
                        <a:rPr lang="zh-CN" altLang="en-US" sz="900" b="0" i="0" dirty="0">
                          <a:solidFill>
                            <a:srgbClr val="000000"/>
                          </a:solidFill>
                          <a:effectLst/>
                        </a:rPr>
                        <a:t>（试点过程中的复盘，销售基本都在用“正推法”和“倒推法”，沟通充分的情况下，盘点基本</a:t>
                      </a:r>
                      <a:r>
                        <a:rPr lang="en-US" altLang="zh-CN" sz="900" b="0" i="0" dirty="0">
                          <a:solidFill>
                            <a:srgbClr val="000000"/>
                          </a:solidFill>
                          <a:effectLst/>
                        </a:rPr>
                        <a:t>ok</a:t>
                      </a:r>
                      <a:r>
                        <a:rPr lang="zh-CN" altLang="en-US" sz="900" b="0" i="0" dirty="0">
                          <a:solidFill>
                            <a:srgbClr val="000000"/>
                          </a:solidFill>
                          <a:effectLst/>
                        </a:rPr>
                        <a:t>）</a:t>
                      </a:r>
                    </a:p>
                  </a:txBody>
                  <a:tcPr marL="56267" marR="56267" marT="28134" marB="28134" anchor="ctr">
                    <a:lnL w="6350" cap="flat" cmpd="sng" algn="ctr">
                      <a:solidFill>
                        <a:srgbClr val="F0332D"/>
                      </a:solidFill>
                      <a:prstDash val="solid"/>
                      <a:round/>
                      <a:headEnd type="none" w="med" len="med"/>
                      <a:tailEnd type="none" w="med" len="med"/>
                    </a:lnL>
                    <a:lnR w="6350" cap="flat" cmpd="sng" algn="ctr">
                      <a:solidFill>
                        <a:srgbClr val="20342D"/>
                      </a:solidFill>
                      <a:prstDash val="solid"/>
                      <a:round/>
                      <a:headEnd type="none" w="med" len="med"/>
                      <a:tailEnd type="none" w="med" len="med"/>
                    </a:lnR>
                    <a:lnT w="6350" cap="flat" cmpd="sng" algn="ctr">
                      <a:solidFill>
                        <a:srgbClr val="F0332D"/>
                      </a:solidFill>
                      <a:prstDash val="solid"/>
                      <a:round/>
                      <a:headEnd type="none" w="med" len="med"/>
                      <a:tailEnd type="none" w="med" len="med"/>
                    </a:lnT>
                    <a:lnB w="6350" cap="flat" cmpd="sng" algn="ctr">
                      <a:solidFill>
                        <a:srgbClr val="F0332D"/>
                      </a:solidFill>
                      <a:prstDash val="solid"/>
                      <a:round/>
                      <a:headEnd type="none" w="med" len="med"/>
                      <a:tailEnd type="none" w="med" len="med"/>
                    </a:lnB>
                  </a:tcPr>
                </a:tc>
                <a:tc>
                  <a:txBody>
                    <a:bodyPr/>
                    <a:lstStyle/>
                    <a:p>
                      <a:pPr fontAlgn="ctr" latinLnBrk="0"/>
                      <a:r>
                        <a:rPr lang="zh-CN" altLang="en-US" sz="900" b="0" i="0" dirty="0">
                          <a:solidFill>
                            <a:srgbClr val="000000"/>
                          </a:solidFill>
                          <a:effectLst/>
                        </a:rPr>
                        <a:t>项目在申请进入漏斗内的时候，需要销售参考“预计开标时间”的判断标准，填写清楚“预计开标日期填写依据”（销售易</a:t>
                      </a:r>
                      <a:r>
                        <a:rPr lang="en-US" altLang="zh-CN" sz="900" b="0" i="0" dirty="0">
                          <a:solidFill>
                            <a:srgbClr val="000000"/>
                          </a:solidFill>
                          <a:effectLst/>
                        </a:rPr>
                        <a:t>CRM</a:t>
                      </a:r>
                      <a:r>
                        <a:rPr lang="zh-CN" altLang="en-US" sz="900" b="0" i="0" dirty="0">
                          <a:solidFill>
                            <a:srgbClr val="000000"/>
                          </a:solidFill>
                          <a:effectLst/>
                        </a:rPr>
                        <a:t>里面的位置以及相关示意如下），系统会做设置，如果该字段未填写，系统无法提交漏斗内的申请，漏斗内申请成功之后，区域经理需要针对“预计开标日期填写依据”做核对，没问题才可以审批同意进入漏斗内；</a:t>
                      </a:r>
                      <a:br>
                        <a:rPr lang="zh-CN" altLang="en-US" sz="900" b="0" i="0" dirty="0">
                          <a:solidFill>
                            <a:srgbClr val="000000"/>
                          </a:solidFill>
                          <a:effectLst/>
                        </a:rPr>
                      </a:br>
                      <a:r>
                        <a:rPr lang="zh-CN" altLang="en-US" sz="900" b="0" i="0" dirty="0">
                          <a:solidFill>
                            <a:srgbClr val="000000"/>
                          </a:solidFill>
                          <a:effectLst/>
                        </a:rPr>
                        <a:t/>
                      </a:r>
                      <a:br>
                        <a:rPr lang="zh-CN" altLang="en-US" sz="900" b="0" i="0" dirty="0">
                          <a:solidFill>
                            <a:srgbClr val="000000"/>
                          </a:solidFill>
                          <a:effectLst/>
                        </a:rPr>
                      </a:br>
                      <a:r>
                        <a:rPr lang="en-US" altLang="zh-CN" sz="900" b="0" i="0" dirty="0">
                          <a:solidFill>
                            <a:srgbClr val="000000"/>
                          </a:solidFill>
                          <a:effectLst/>
                        </a:rPr>
                        <a:t>- “</a:t>
                      </a:r>
                      <a:r>
                        <a:rPr lang="zh-CN" altLang="en-US" sz="900" b="0" i="0" dirty="0">
                          <a:solidFill>
                            <a:srgbClr val="000000"/>
                          </a:solidFill>
                          <a:effectLst/>
                        </a:rPr>
                        <a:t>预计开标日期填写依据”填写示范：</a:t>
                      </a:r>
                      <a:br>
                        <a:rPr lang="zh-CN" altLang="en-US" sz="900" b="0" i="0" dirty="0">
                          <a:solidFill>
                            <a:srgbClr val="000000"/>
                          </a:solidFill>
                          <a:effectLst/>
                        </a:rPr>
                      </a:br>
                      <a:r>
                        <a:rPr lang="zh-CN" altLang="en-US" sz="900" b="0" i="0" dirty="0">
                          <a:solidFill>
                            <a:srgbClr val="000000"/>
                          </a:solidFill>
                          <a:effectLst/>
                        </a:rPr>
                        <a:t>（</a:t>
                      </a:r>
                      <a:r>
                        <a:rPr lang="en-US" altLang="zh-CN" sz="900" b="0" i="0" dirty="0">
                          <a:solidFill>
                            <a:srgbClr val="000000"/>
                          </a:solidFill>
                          <a:effectLst/>
                        </a:rPr>
                        <a:t>1</a:t>
                      </a:r>
                      <a:r>
                        <a:rPr lang="zh-CN" altLang="en-US" sz="900" b="0" i="0" dirty="0">
                          <a:solidFill>
                            <a:srgbClr val="000000"/>
                          </a:solidFill>
                          <a:effectLst/>
                        </a:rPr>
                        <a:t>）如果已经发标的项目，填写范本如下：项目已经发出标书，招标文件里面写的投标时间是</a:t>
                      </a:r>
                      <a:r>
                        <a:rPr lang="en-US" altLang="zh-CN" sz="900" b="0" i="0" dirty="0">
                          <a:solidFill>
                            <a:srgbClr val="000000"/>
                          </a:solidFill>
                          <a:effectLst/>
                        </a:rPr>
                        <a:t>7</a:t>
                      </a:r>
                      <a:r>
                        <a:rPr lang="zh-CN" altLang="en-US" sz="900" b="0" i="0" dirty="0">
                          <a:solidFill>
                            <a:srgbClr val="000000"/>
                          </a:solidFill>
                          <a:effectLst/>
                        </a:rPr>
                        <a:t>月</a:t>
                      </a:r>
                      <a:r>
                        <a:rPr lang="en-US" altLang="zh-CN" sz="900" b="0" i="0" dirty="0">
                          <a:solidFill>
                            <a:srgbClr val="000000"/>
                          </a:solidFill>
                          <a:effectLst/>
                        </a:rPr>
                        <a:t>20</a:t>
                      </a:r>
                      <a:r>
                        <a:rPr lang="zh-CN" altLang="en-US" sz="900" b="0" i="0" dirty="0">
                          <a:solidFill>
                            <a:srgbClr val="000000"/>
                          </a:solidFill>
                          <a:effectLst/>
                        </a:rPr>
                        <a:t>日，与信息办王主任沟通，项目计划在</a:t>
                      </a:r>
                      <a:r>
                        <a:rPr lang="en-US" altLang="zh-CN" sz="900" b="0" i="0" dirty="0">
                          <a:solidFill>
                            <a:srgbClr val="000000"/>
                          </a:solidFill>
                          <a:effectLst/>
                        </a:rPr>
                        <a:t>7</a:t>
                      </a:r>
                      <a:r>
                        <a:rPr lang="zh-CN" altLang="en-US" sz="900" b="0" i="0" dirty="0">
                          <a:solidFill>
                            <a:srgbClr val="000000"/>
                          </a:solidFill>
                          <a:effectLst/>
                        </a:rPr>
                        <a:t>月</a:t>
                      </a:r>
                      <a:r>
                        <a:rPr lang="en-US" altLang="zh-CN" sz="900" b="0" i="0" dirty="0">
                          <a:solidFill>
                            <a:srgbClr val="000000"/>
                          </a:solidFill>
                          <a:effectLst/>
                        </a:rPr>
                        <a:t>25</a:t>
                      </a:r>
                      <a:r>
                        <a:rPr lang="zh-CN" altLang="en-US" sz="900" b="0" i="0" dirty="0">
                          <a:solidFill>
                            <a:srgbClr val="000000"/>
                          </a:solidFill>
                          <a:effectLst/>
                        </a:rPr>
                        <a:t>日评标，并且当天能出结果，所以预计开标时间时间填写</a:t>
                      </a:r>
                      <a:r>
                        <a:rPr lang="en-US" altLang="zh-CN" sz="900" b="0" i="0" dirty="0">
                          <a:solidFill>
                            <a:srgbClr val="000000"/>
                          </a:solidFill>
                          <a:effectLst/>
                        </a:rPr>
                        <a:t>7</a:t>
                      </a:r>
                      <a:r>
                        <a:rPr lang="zh-CN" altLang="en-US" sz="900" b="0" i="0" dirty="0">
                          <a:solidFill>
                            <a:srgbClr val="000000"/>
                          </a:solidFill>
                          <a:effectLst/>
                        </a:rPr>
                        <a:t>月</a:t>
                      </a:r>
                      <a:r>
                        <a:rPr lang="en-US" altLang="zh-CN" sz="900" b="0" i="0" dirty="0">
                          <a:solidFill>
                            <a:srgbClr val="000000"/>
                          </a:solidFill>
                          <a:effectLst/>
                        </a:rPr>
                        <a:t>25</a:t>
                      </a:r>
                      <a:r>
                        <a:rPr lang="zh-CN" altLang="en-US" sz="900" b="0" i="0" dirty="0">
                          <a:solidFill>
                            <a:srgbClr val="000000"/>
                          </a:solidFill>
                          <a:effectLst/>
                        </a:rPr>
                        <a:t>日；</a:t>
                      </a:r>
                      <a:br>
                        <a:rPr lang="zh-CN" altLang="en-US" sz="900" b="0" i="0" dirty="0">
                          <a:solidFill>
                            <a:srgbClr val="000000"/>
                          </a:solidFill>
                          <a:effectLst/>
                        </a:rPr>
                      </a:br>
                      <a:r>
                        <a:rPr lang="zh-CN" altLang="en-US" sz="900" b="0" i="0" dirty="0">
                          <a:solidFill>
                            <a:srgbClr val="000000"/>
                          </a:solidFill>
                          <a:effectLst/>
                        </a:rPr>
                        <a:t>（</a:t>
                      </a:r>
                      <a:r>
                        <a:rPr lang="en-US" altLang="zh-CN" sz="900" b="0" i="0" dirty="0">
                          <a:solidFill>
                            <a:srgbClr val="000000"/>
                          </a:solidFill>
                          <a:effectLst/>
                        </a:rPr>
                        <a:t>2</a:t>
                      </a:r>
                      <a:r>
                        <a:rPr lang="zh-CN" altLang="en-US" sz="900" b="0" i="0" dirty="0">
                          <a:solidFill>
                            <a:srgbClr val="000000"/>
                          </a:solidFill>
                          <a:effectLst/>
                        </a:rPr>
                        <a:t>）如果项目还没有发标，重点依据“正推法”或者“倒推法”里面的：</a:t>
                      </a:r>
                      <a:br>
                        <a:rPr lang="zh-CN" altLang="en-US" sz="900" b="0" i="0" dirty="0">
                          <a:solidFill>
                            <a:srgbClr val="000000"/>
                          </a:solidFill>
                          <a:effectLst/>
                        </a:rPr>
                      </a:br>
                      <a:r>
                        <a:rPr lang="en-US" altLang="zh-CN" sz="900" b="0" i="0" dirty="0">
                          <a:solidFill>
                            <a:srgbClr val="000000"/>
                          </a:solidFill>
                          <a:effectLst/>
                        </a:rPr>
                        <a:t>- </a:t>
                      </a:r>
                      <a:r>
                        <a:rPr lang="zh-CN" altLang="en-US" sz="900" b="0" i="0" dirty="0">
                          <a:solidFill>
                            <a:srgbClr val="000000"/>
                          </a:solidFill>
                          <a:effectLst/>
                        </a:rPr>
                        <a:t>例如按照“正推法”的填写范本如下：该项目的客户是</a:t>
                      </a:r>
                      <a:r>
                        <a:rPr lang="en-US" altLang="zh-CN" sz="900" b="0" i="0" dirty="0">
                          <a:solidFill>
                            <a:srgbClr val="000000"/>
                          </a:solidFill>
                          <a:effectLst/>
                        </a:rPr>
                        <a:t>2025</a:t>
                      </a:r>
                      <a:r>
                        <a:rPr lang="zh-CN" altLang="en-US" sz="900" b="0" i="0" dirty="0">
                          <a:solidFill>
                            <a:srgbClr val="000000"/>
                          </a:solidFill>
                          <a:effectLst/>
                        </a:rPr>
                        <a:t>年</a:t>
                      </a:r>
                      <a:r>
                        <a:rPr lang="en-US" altLang="zh-CN" sz="900" b="0" i="0" dirty="0">
                          <a:solidFill>
                            <a:srgbClr val="000000"/>
                          </a:solidFill>
                          <a:effectLst/>
                        </a:rPr>
                        <a:t>6</a:t>
                      </a:r>
                      <a:r>
                        <a:rPr lang="zh-CN" altLang="en-US" sz="900" b="0" i="0" dirty="0">
                          <a:solidFill>
                            <a:srgbClr val="000000"/>
                          </a:solidFill>
                          <a:effectLst/>
                        </a:rPr>
                        <a:t>月中旬正在进行方案评估工作，与信息办王主任确认他们还要进行测试和样板考察，这大概需要</a:t>
                      </a:r>
                      <a:r>
                        <a:rPr lang="en-US" altLang="zh-CN" sz="900" b="0" i="0" dirty="0">
                          <a:solidFill>
                            <a:srgbClr val="000000"/>
                          </a:solidFill>
                          <a:effectLst/>
                        </a:rPr>
                        <a:t>1</a:t>
                      </a:r>
                      <a:r>
                        <a:rPr lang="zh-CN" altLang="en-US" sz="900" b="0" i="0" dirty="0">
                          <a:solidFill>
                            <a:srgbClr val="000000"/>
                          </a:solidFill>
                          <a:effectLst/>
                        </a:rPr>
                        <a:t>个半月的时间，时间就到了</a:t>
                      </a:r>
                      <a:r>
                        <a:rPr lang="en-US" altLang="zh-CN" sz="900" b="0" i="0" dirty="0">
                          <a:solidFill>
                            <a:srgbClr val="000000"/>
                          </a:solidFill>
                          <a:effectLst/>
                        </a:rPr>
                        <a:t>8</a:t>
                      </a:r>
                      <a:r>
                        <a:rPr lang="zh-CN" altLang="en-US" sz="900" b="0" i="0" dirty="0">
                          <a:solidFill>
                            <a:srgbClr val="000000"/>
                          </a:solidFill>
                          <a:effectLst/>
                        </a:rPr>
                        <a:t>月初；然后信息办确定方案和最终预算，要上院办会评审报批，院办会每</a:t>
                      </a:r>
                      <a:r>
                        <a:rPr lang="en-US" altLang="zh-CN" sz="900" b="0" i="0" dirty="0">
                          <a:solidFill>
                            <a:srgbClr val="000000"/>
                          </a:solidFill>
                          <a:effectLst/>
                        </a:rPr>
                        <a:t>2</a:t>
                      </a:r>
                      <a:r>
                        <a:rPr lang="zh-CN" altLang="en-US" sz="900" b="0" i="0" dirty="0">
                          <a:solidFill>
                            <a:srgbClr val="000000"/>
                          </a:solidFill>
                          <a:effectLst/>
                        </a:rPr>
                        <a:t>周一次，顺利排上过会需要至少</a:t>
                      </a:r>
                      <a:r>
                        <a:rPr lang="en-US" altLang="zh-CN" sz="900" b="0" i="0" dirty="0">
                          <a:solidFill>
                            <a:srgbClr val="000000"/>
                          </a:solidFill>
                          <a:effectLst/>
                        </a:rPr>
                        <a:t>2</a:t>
                      </a:r>
                      <a:r>
                        <a:rPr lang="zh-CN" altLang="en-US" sz="900" b="0" i="0" dirty="0">
                          <a:solidFill>
                            <a:srgbClr val="000000"/>
                          </a:solidFill>
                          <a:effectLst/>
                        </a:rPr>
                        <a:t>周时间，时间就到了</a:t>
                      </a:r>
                      <a:r>
                        <a:rPr lang="en-US" altLang="zh-CN" sz="900" b="0" i="0" dirty="0">
                          <a:solidFill>
                            <a:srgbClr val="000000"/>
                          </a:solidFill>
                          <a:effectLst/>
                        </a:rPr>
                        <a:t>8</a:t>
                      </a:r>
                      <a:r>
                        <a:rPr lang="zh-CN" altLang="en-US" sz="900" b="0" i="0" dirty="0">
                          <a:solidFill>
                            <a:srgbClr val="000000"/>
                          </a:solidFill>
                          <a:effectLst/>
                        </a:rPr>
                        <a:t>月中旬；方案预算过了之后，信息中心需要起草招标文件这需要</a:t>
                      </a:r>
                      <a:r>
                        <a:rPr lang="en-US" altLang="zh-CN" sz="900" b="0" i="0" dirty="0">
                          <a:solidFill>
                            <a:srgbClr val="000000"/>
                          </a:solidFill>
                          <a:effectLst/>
                        </a:rPr>
                        <a:t>1</a:t>
                      </a:r>
                      <a:r>
                        <a:rPr lang="zh-CN" altLang="en-US" sz="900" b="0" i="0" dirty="0">
                          <a:solidFill>
                            <a:srgbClr val="000000"/>
                          </a:solidFill>
                          <a:effectLst/>
                        </a:rPr>
                        <a:t>周时间，然后报国资处审核又需要至少</a:t>
                      </a:r>
                      <a:r>
                        <a:rPr lang="en-US" altLang="zh-CN" sz="900" b="0" i="0" dirty="0">
                          <a:solidFill>
                            <a:srgbClr val="000000"/>
                          </a:solidFill>
                          <a:effectLst/>
                        </a:rPr>
                        <a:t>2</a:t>
                      </a:r>
                      <a:r>
                        <a:rPr lang="zh-CN" altLang="en-US" sz="900" b="0" i="0" dirty="0">
                          <a:solidFill>
                            <a:srgbClr val="000000"/>
                          </a:solidFill>
                          <a:effectLst/>
                        </a:rPr>
                        <a:t>周时间，这就到了</a:t>
                      </a:r>
                      <a:r>
                        <a:rPr lang="en-US" altLang="zh-CN" sz="900" b="0" i="0" dirty="0">
                          <a:solidFill>
                            <a:srgbClr val="000000"/>
                          </a:solidFill>
                          <a:effectLst/>
                        </a:rPr>
                        <a:t>9</a:t>
                      </a:r>
                      <a:r>
                        <a:rPr lang="zh-CN" altLang="en-US" sz="900" b="0" i="0" dirty="0">
                          <a:solidFill>
                            <a:srgbClr val="000000"/>
                          </a:solidFill>
                          <a:effectLst/>
                        </a:rPr>
                        <a:t>月上旬；然后国资处会整理好招标文件报招标公司，招标公司排队</a:t>
                      </a:r>
                      <a:r>
                        <a:rPr lang="en-US" altLang="zh-CN" sz="900" b="0" i="0" dirty="0">
                          <a:solidFill>
                            <a:srgbClr val="000000"/>
                          </a:solidFill>
                          <a:effectLst/>
                        </a:rPr>
                        <a:t>2</a:t>
                      </a:r>
                      <a:r>
                        <a:rPr lang="zh-CN" altLang="en-US" sz="900" b="0" i="0" dirty="0">
                          <a:solidFill>
                            <a:srgbClr val="000000"/>
                          </a:solidFill>
                          <a:effectLst/>
                        </a:rPr>
                        <a:t>周时间发标，预计发标日期就到了</a:t>
                      </a:r>
                      <a:r>
                        <a:rPr lang="en-US" altLang="zh-CN" sz="900" b="0" i="0" dirty="0">
                          <a:solidFill>
                            <a:srgbClr val="000000"/>
                          </a:solidFill>
                          <a:effectLst/>
                        </a:rPr>
                        <a:t>9</a:t>
                      </a:r>
                      <a:r>
                        <a:rPr lang="zh-CN" altLang="en-US" sz="900" b="0" i="0" dirty="0">
                          <a:solidFill>
                            <a:srgbClr val="000000"/>
                          </a:solidFill>
                          <a:effectLst/>
                        </a:rPr>
                        <a:t>月底；按照该客户以往的项目看，发标后大概率有人质疑，</a:t>
                      </a:r>
                      <a:r>
                        <a:rPr lang="en-US" altLang="zh-CN" sz="900" b="0" i="0" dirty="0">
                          <a:solidFill>
                            <a:srgbClr val="000000"/>
                          </a:solidFill>
                          <a:effectLst/>
                        </a:rPr>
                        <a:t>21</a:t>
                      </a:r>
                      <a:r>
                        <a:rPr lang="zh-CN" altLang="en-US" sz="900" b="0" i="0" dirty="0">
                          <a:solidFill>
                            <a:srgbClr val="000000"/>
                          </a:solidFill>
                          <a:effectLst/>
                        </a:rPr>
                        <a:t>天肯定开不了标，预计开标日期可能在</a:t>
                      </a:r>
                      <a:r>
                        <a:rPr lang="en-US" altLang="zh-CN" sz="900" b="0" i="0" dirty="0">
                          <a:solidFill>
                            <a:srgbClr val="000000"/>
                          </a:solidFill>
                          <a:effectLst/>
                        </a:rPr>
                        <a:t>9</a:t>
                      </a:r>
                      <a:r>
                        <a:rPr lang="zh-CN" altLang="en-US" sz="900" b="0" i="0" dirty="0">
                          <a:solidFill>
                            <a:srgbClr val="000000"/>
                          </a:solidFill>
                          <a:effectLst/>
                        </a:rPr>
                        <a:t>月</a:t>
                      </a:r>
                      <a:r>
                        <a:rPr lang="en-US" altLang="zh-CN" sz="900" b="0" i="0" dirty="0">
                          <a:solidFill>
                            <a:srgbClr val="000000"/>
                          </a:solidFill>
                          <a:effectLst/>
                        </a:rPr>
                        <a:t>30</a:t>
                      </a:r>
                      <a:r>
                        <a:rPr lang="zh-CN" altLang="en-US" sz="900" b="0" i="0" dirty="0">
                          <a:solidFill>
                            <a:srgbClr val="000000"/>
                          </a:solidFill>
                          <a:effectLst/>
                        </a:rPr>
                        <a:t>日，所以开标日期写</a:t>
                      </a:r>
                      <a:r>
                        <a:rPr lang="en-US" altLang="zh-CN" sz="900" b="0" i="0" dirty="0">
                          <a:solidFill>
                            <a:srgbClr val="000000"/>
                          </a:solidFill>
                          <a:effectLst/>
                        </a:rPr>
                        <a:t>9</a:t>
                      </a:r>
                      <a:r>
                        <a:rPr lang="zh-CN" altLang="en-US" sz="900" b="0" i="0" dirty="0">
                          <a:solidFill>
                            <a:srgbClr val="000000"/>
                          </a:solidFill>
                          <a:effectLst/>
                        </a:rPr>
                        <a:t>月</a:t>
                      </a:r>
                      <a:r>
                        <a:rPr lang="en-US" altLang="zh-CN" sz="900" b="0" i="0" dirty="0">
                          <a:solidFill>
                            <a:srgbClr val="000000"/>
                          </a:solidFill>
                          <a:effectLst/>
                        </a:rPr>
                        <a:t>30</a:t>
                      </a:r>
                      <a:r>
                        <a:rPr lang="zh-CN" altLang="en-US" sz="900" b="0" i="0" dirty="0">
                          <a:solidFill>
                            <a:srgbClr val="000000"/>
                          </a:solidFill>
                          <a:effectLst/>
                        </a:rPr>
                        <a:t>日；（范本里面内容是假设，大家参考这个格式按照实际情况来填写，并且随着项目的推进及时的修订项目的预计开标时间）</a:t>
                      </a:r>
                      <a:br>
                        <a:rPr lang="zh-CN" altLang="en-US" sz="900" b="0" i="0" dirty="0">
                          <a:solidFill>
                            <a:srgbClr val="000000"/>
                          </a:solidFill>
                          <a:effectLst/>
                        </a:rPr>
                      </a:br>
                      <a:r>
                        <a:rPr lang="en-US" altLang="zh-CN" sz="900" b="0" i="0" dirty="0">
                          <a:solidFill>
                            <a:srgbClr val="000000"/>
                          </a:solidFill>
                          <a:effectLst/>
                        </a:rPr>
                        <a:t>- </a:t>
                      </a:r>
                      <a:r>
                        <a:rPr lang="zh-CN" altLang="en-US" sz="900" b="0" i="0" dirty="0">
                          <a:solidFill>
                            <a:srgbClr val="000000"/>
                          </a:solidFill>
                          <a:effectLst/>
                        </a:rPr>
                        <a:t>例如按照“倒推法”的填写范本如下：项目前期规划要在</a:t>
                      </a:r>
                      <a:r>
                        <a:rPr lang="en-US" altLang="zh-CN" sz="900" b="0" i="0" dirty="0">
                          <a:solidFill>
                            <a:srgbClr val="000000"/>
                          </a:solidFill>
                          <a:effectLst/>
                        </a:rPr>
                        <a:t>2025</a:t>
                      </a:r>
                      <a:r>
                        <a:rPr lang="zh-CN" altLang="en-US" sz="900" b="0" i="0" dirty="0">
                          <a:solidFill>
                            <a:srgbClr val="000000"/>
                          </a:solidFill>
                          <a:effectLst/>
                        </a:rPr>
                        <a:t>年</a:t>
                      </a:r>
                      <a:r>
                        <a:rPr lang="en-US" altLang="zh-CN" sz="900" b="0" i="0" dirty="0">
                          <a:solidFill>
                            <a:srgbClr val="000000"/>
                          </a:solidFill>
                          <a:effectLst/>
                        </a:rPr>
                        <a:t>10</a:t>
                      </a:r>
                      <a:r>
                        <a:rPr lang="zh-CN" altLang="en-US" sz="900" b="0" i="0" dirty="0">
                          <a:solidFill>
                            <a:srgbClr val="000000"/>
                          </a:solidFill>
                          <a:effectLst/>
                        </a:rPr>
                        <a:t>月底竣工验收，根据目前与客户谁谁（或者渠道谁谁）安装实施调试至少</a:t>
                      </a:r>
                      <a:r>
                        <a:rPr lang="en-US" altLang="zh-CN" sz="900" b="0" i="0" dirty="0">
                          <a:solidFill>
                            <a:srgbClr val="000000"/>
                          </a:solidFill>
                          <a:effectLst/>
                        </a:rPr>
                        <a:t>1</a:t>
                      </a:r>
                      <a:r>
                        <a:rPr lang="zh-CN" altLang="en-US" sz="900" b="0" i="0" dirty="0">
                          <a:solidFill>
                            <a:srgbClr val="000000"/>
                          </a:solidFill>
                          <a:effectLst/>
                        </a:rPr>
                        <a:t>个月的时间，那么客户到货日期就在</a:t>
                      </a:r>
                      <a:r>
                        <a:rPr lang="en-US" altLang="zh-CN" sz="900" b="0" i="0" dirty="0">
                          <a:solidFill>
                            <a:srgbClr val="000000"/>
                          </a:solidFill>
                          <a:effectLst/>
                        </a:rPr>
                        <a:t>9</a:t>
                      </a:r>
                      <a:r>
                        <a:rPr lang="zh-CN" altLang="en-US" sz="900" b="0" i="0" dirty="0">
                          <a:solidFill>
                            <a:srgbClr val="000000"/>
                          </a:solidFill>
                          <a:effectLst/>
                        </a:rPr>
                        <a:t>月</a:t>
                      </a:r>
                      <a:r>
                        <a:rPr lang="en-US" altLang="zh-CN" sz="900" b="0" i="0" dirty="0">
                          <a:solidFill>
                            <a:srgbClr val="000000"/>
                          </a:solidFill>
                          <a:effectLst/>
                        </a:rPr>
                        <a:t>30</a:t>
                      </a:r>
                      <a:r>
                        <a:rPr lang="zh-CN" altLang="en-US" sz="900" b="0" i="0" dirty="0">
                          <a:solidFill>
                            <a:srgbClr val="000000"/>
                          </a:solidFill>
                          <a:effectLst/>
                        </a:rPr>
                        <a:t>日左右；从下完单发货到客户收货，估计要持续至少</a:t>
                      </a:r>
                      <a:r>
                        <a:rPr lang="en-US" altLang="zh-CN" sz="900" b="0" i="0" dirty="0">
                          <a:solidFill>
                            <a:srgbClr val="000000"/>
                          </a:solidFill>
                          <a:effectLst/>
                        </a:rPr>
                        <a:t>2</a:t>
                      </a:r>
                      <a:r>
                        <a:rPr lang="zh-CN" altLang="en-US" sz="900" b="0" i="0" dirty="0">
                          <a:solidFill>
                            <a:srgbClr val="000000"/>
                          </a:solidFill>
                          <a:effectLst/>
                        </a:rPr>
                        <a:t>周时间，那预计下单日期就在</a:t>
                      </a:r>
                      <a:r>
                        <a:rPr lang="en-US" altLang="zh-CN" sz="900" b="0" i="0" dirty="0">
                          <a:solidFill>
                            <a:srgbClr val="000000"/>
                          </a:solidFill>
                          <a:effectLst/>
                        </a:rPr>
                        <a:t>9</a:t>
                      </a:r>
                      <a:r>
                        <a:rPr lang="zh-CN" altLang="en-US" sz="900" b="0" i="0" dirty="0">
                          <a:solidFill>
                            <a:srgbClr val="000000"/>
                          </a:solidFill>
                          <a:effectLst/>
                        </a:rPr>
                        <a:t>月</a:t>
                      </a:r>
                      <a:r>
                        <a:rPr lang="en-US" altLang="zh-CN" sz="900" b="0" i="0" dirty="0">
                          <a:solidFill>
                            <a:srgbClr val="000000"/>
                          </a:solidFill>
                          <a:effectLst/>
                        </a:rPr>
                        <a:t>15</a:t>
                      </a:r>
                      <a:r>
                        <a:rPr lang="zh-CN" altLang="en-US" sz="900" b="0" i="0" dirty="0">
                          <a:solidFill>
                            <a:srgbClr val="000000"/>
                          </a:solidFill>
                          <a:effectLst/>
                        </a:rPr>
                        <a:t>日左右；项目属于财政招标项目，客户中完标就要货，中标渠道与客户签订合同加上各级渠道的下单商务流程至少要</a:t>
                      </a:r>
                      <a:r>
                        <a:rPr lang="en-US" altLang="zh-CN" sz="900" b="0" i="0" dirty="0">
                          <a:solidFill>
                            <a:srgbClr val="000000"/>
                          </a:solidFill>
                          <a:effectLst/>
                        </a:rPr>
                        <a:t>1</a:t>
                      </a:r>
                      <a:r>
                        <a:rPr lang="zh-CN" altLang="en-US" sz="900" b="0" i="0" dirty="0">
                          <a:solidFill>
                            <a:srgbClr val="000000"/>
                          </a:solidFill>
                          <a:effectLst/>
                        </a:rPr>
                        <a:t>周时间，那中标渠道与客户合同签订日期就要在</a:t>
                      </a:r>
                      <a:r>
                        <a:rPr lang="en-US" altLang="zh-CN" sz="900" b="0" i="0" dirty="0">
                          <a:solidFill>
                            <a:srgbClr val="000000"/>
                          </a:solidFill>
                          <a:effectLst/>
                        </a:rPr>
                        <a:t>9</a:t>
                      </a:r>
                      <a:r>
                        <a:rPr lang="zh-CN" altLang="en-US" sz="900" b="0" i="0" dirty="0">
                          <a:solidFill>
                            <a:srgbClr val="000000"/>
                          </a:solidFill>
                          <a:effectLst/>
                        </a:rPr>
                        <a:t>月</a:t>
                      </a:r>
                      <a:r>
                        <a:rPr lang="en-US" altLang="zh-CN" sz="900" b="0" i="0" dirty="0">
                          <a:solidFill>
                            <a:srgbClr val="000000"/>
                          </a:solidFill>
                          <a:effectLst/>
                        </a:rPr>
                        <a:t>8</a:t>
                      </a:r>
                      <a:r>
                        <a:rPr lang="zh-CN" altLang="en-US" sz="900" b="0" i="0" dirty="0">
                          <a:solidFill>
                            <a:srgbClr val="000000"/>
                          </a:solidFill>
                          <a:effectLst/>
                        </a:rPr>
                        <a:t>日左右；中标渠道签客户合同需要</a:t>
                      </a:r>
                      <a:r>
                        <a:rPr lang="en-US" altLang="zh-CN" sz="900" b="0" i="0" dirty="0">
                          <a:solidFill>
                            <a:srgbClr val="000000"/>
                          </a:solidFill>
                          <a:effectLst/>
                        </a:rPr>
                        <a:t>1</a:t>
                      </a:r>
                      <a:r>
                        <a:rPr lang="zh-CN" altLang="en-US" sz="900" b="0" i="0" dirty="0">
                          <a:solidFill>
                            <a:srgbClr val="000000"/>
                          </a:solidFill>
                          <a:effectLst/>
                        </a:rPr>
                        <a:t>周时间，预计拿到中标通知书的时间在</a:t>
                      </a:r>
                      <a:r>
                        <a:rPr lang="en-US" altLang="zh-CN" sz="900" b="0" i="0" dirty="0">
                          <a:solidFill>
                            <a:srgbClr val="000000"/>
                          </a:solidFill>
                          <a:effectLst/>
                        </a:rPr>
                        <a:t>9</a:t>
                      </a:r>
                      <a:r>
                        <a:rPr lang="zh-CN" altLang="en-US" sz="900" b="0" i="0" dirty="0">
                          <a:solidFill>
                            <a:srgbClr val="000000"/>
                          </a:solidFill>
                          <a:effectLst/>
                        </a:rPr>
                        <a:t>月</a:t>
                      </a:r>
                      <a:r>
                        <a:rPr lang="en-US" altLang="zh-CN" sz="900" b="0" i="0" dirty="0">
                          <a:solidFill>
                            <a:srgbClr val="000000"/>
                          </a:solidFill>
                          <a:effectLst/>
                        </a:rPr>
                        <a:t>1</a:t>
                      </a:r>
                      <a:r>
                        <a:rPr lang="zh-CN" altLang="en-US" sz="900" b="0" i="0" dirty="0">
                          <a:solidFill>
                            <a:srgbClr val="000000"/>
                          </a:solidFill>
                          <a:effectLst/>
                        </a:rPr>
                        <a:t>日左右；中标公示</a:t>
                      </a:r>
                      <a:r>
                        <a:rPr lang="en-US" altLang="zh-CN" sz="900" b="0" i="0" dirty="0">
                          <a:solidFill>
                            <a:srgbClr val="000000"/>
                          </a:solidFill>
                          <a:effectLst/>
                        </a:rPr>
                        <a:t>7</a:t>
                      </a:r>
                      <a:r>
                        <a:rPr lang="zh-CN" altLang="en-US" sz="900" b="0" i="0" dirty="0">
                          <a:solidFill>
                            <a:srgbClr val="000000"/>
                          </a:solidFill>
                          <a:effectLst/>
                        </a:rPr>
                        <a:t>天，那预计开标日期就应该在</a:t>
                      </a:r>
                      <a:r>
                        <a:rPr lang="en-US" altLang="zh-CN" sz="900" b="0" i="0" dirty="0">
                          <a:solidFill>
                            <a:srgbClr val="000000"/>
                          </a:solidFill>
                          <a:effectLst/>
                        </a:rPr>
                        <a:t>8</a:t>
                      </a:r>
                      <a:r>
                        <a:rPr lang="zh-CN" altLang="en-US" sz="900" b="0" i="0" dirty="0">
                          <a:solidFill>
                            <a:srgbClr val="000000"/>
                          </a:solidFill>
                          <a:effectLst/>
                        </a:rPr>
                        <a:t>月</a:t>
                      </a:r>
                      <a:r>
                        <a:rPr lang="en-US" altLang="zh-CN" sz="900" b="0" i="0" dirty="0">
                          <a:solidFill>
                            <a:srgbClr val="000000"/>
                          </a:solidFill>
                          <a:effectLst/>
                        </a:rPr>
                        <a:t>24</a:t>
                      </a:r>
                      <a:r>
                        <a:rPr lang="zh-CN" altLang="en-US" sz="900" b="0" i="0" dirty="0">
                          <a:solidFill>
                            <a:srgbClr val="000000"/>
                          </a:solidFill>
                          <a:effectLst/>
                        </a:rPr>
                        <a:t>日左右；（每一个节点都应该是找到相关人员做过核实的）</a:t>
                      </a:r>
                      <a:br>
                        <a:rPr lang="zh-CN" altLang="en-US" sz="900" b="0" i="0" dirty="0">
                          <a:solidFill>
                            <a:srgbClr val="000000"/>
                          </a:solidFill>
                          <a:effectLst/>
                        </a:rPr>
                      </a:br>
                      <a:r>
                        <a:rPr lang="zh-CN" altLang="en-US" sz="900" b="0" i="0" dirty="0">
                          <a:solidFill>
                            <a:srgbClr val="000000"/>
                          </a:solidFill>
                          <a:effectLst/>
                        </a:rPr>
                        <a:t/>
                      </a:r>
                      <a:br>
                        <a:rPr lang="zh-CN" altLang="en-US" sz="900" b="0" i="0" dirty="0">
                          <a:solidFill>
                            <a:srgbClr val="000000"/>
                          </a:solidFill>
                          <a:effectLst/>
                        </a:rPr>
                      </a:br>
                      <a:r>
                        <a:rPr lang="en-US" altLang="zh-CN" sz="900" b="0" i="0" dirty="0">
                          <a:solidFill>
                            <a:srgbClr val="000000"/>
                          </a:solidFill>
                          <a:effectLst/>
                        </a:rPr>
                        <a:t>- </a:t>
                      </a:r>
                      <a:r>
                        <a:rPr lang="zh-CN" altLang="en-US" sz="900" b="0" i="0" dirty="0">
                          <a:solidFill>
                            <a:srgbClr val="000000"/>
                          </a:solidFill>
                          <a:effectLst/>
                        </a:rPr>
                        <a:t>如果是</a:t>
                      </a:r>
                      <a:r>
                        <a:rPr lang="en-US" altLang="zh-CN" sz="900" b="0" i="0" dirty="0">
                          <a:solidFill>
                            <a:srgbClr val="000000"/>
                          </a:solidFill>
                          <a:effectLst/>
                        </a:rPr>
                        <a:t>30</a:t>
                      </a:r>
                      <a:r>
                        <a:rPr lang="zh-CN" altLang="en-US" sz="900" b="0" i="0" dirty="0">
                          <a:solidFill>
                            <a:srgbClr val="000000"/>
                          </a:solidFill>
                          <a:effectLst/>
                        </a:rPr>
                        <a:t>万以下流水且不招标项目，可以简化填写，填写范本如下：与上海**渠道采购经理王**确认，合同以及</a:t>
                      </a:r>
                      <a:r>
                        <a:rPr lang="en-US" altLang="zh-CN" sz="900" b="0" i="0" dirty="0">
                          <a:solidFill>
                            <a:srgbClr val="000000"/>
                          </a:solidFill>
                          <a:effectLst/>
                        </a:rPr>
                        <a:t>7</a:t>
                      </a:r>
                      <a:r>
                        <a:rPr lang="zh-CN" altLang="en-US" sz="900" b="0" i="0" dirty="0">
                          <a:solidFill>
                            <a:srgbClr val="000000"/>
                          </a:solidFill>
                          <a:effectLst/>
                        </a:rPr>
                        <a:t>月</a:t>
                      </a:r>
                      <a:r>
                        <a:rPr lang="en-US" altLang="zh-CN" sz="900" b="0" i="0" dirty="0">
                          <a:solidFill>
                            <a:srgbClr val="000000"/>
                          </a:solidFill>
                          <a:effectLst/>
                        </a:rPr>
                        <a:t>30</a:t>
                      </a:r>
                      <a:r>
                        <a:rPr lang="zh-CN" altLang="en-US" sz="900" b="0" i="0" dirty="0">
                          <a:solidFill>
                            <a:srgbClr val="000000"/>
                          </a:solidFill>
                          <a:effectLst/>
                        </a:rPr>
                        <a:t>日能完成签约，考虑到之前跟他们公司签约合同总会拖几天，所以综合考虑因素往后推出</a:t>
                      </a:r>
                      <a:r>
                        <a:rPr lang="en-US" altLang="zh-CN" sz="900" b="0" i="0" dirty="0">
                          <a:solidFill>
                            <a:srgbClr val="000000"/>
                          </a:solidFill>
                          <a:effectLst/>
                        </a:rPr>
                        <a:t>5</a:t>
                      </a:r>
                      <a:r>
                        <a:rPr lang="zh-CN" altLang="en-US" sz="900" b="0" i="0" dirty="0">
                          <a:solidFill>
                            <a:srgbClr val="000000"/>
                          </a:solidFill>
                          <a:effectLst/>
                        </a:rPr>
                        <a:t>天，所以预计开标日期写</a:t>
                      </a:r>
                      <a:r>
                        <a:rPr lang="en-US" altLang="zh-CN" sz="900" b="0" i="0" dirty="0">
                          <a:solidFill>
                            <a:srgbClr val="000000"/>
                          </a:solidFill>
                          <a:effectLst/>
                        </a:rPr>
                        <a:t>8</a:t>
                      </a:r>
                      <a:r>
                        <a:rPr lang="zh-CN" altLang="en-US" sz="900" b="0" i="0" dirty="0">
                          <a:solidFill>
                            <a:srgbClr val="000000"/>
                          </a:solidFill>
                          <a:effectLst/>
                        </a:rPr>
                        <a:t>月</a:t>
                      </a:r>
                      <a:r>
                        <a:rPr lang="en-US" altLang="zh-CN" sz="900" b="0" i="0" dirty="0">
                          <a:solidFill>
                            <a:srgbClr val="000000"/>
                          </a:solidFill>
                          <a:effectLst/>
                        </a:rPr>
                        <a:t>30</a:t>
                      </a:r>
                      <a:r>
                        <a:rPr lang="zh-CN" altLang="en-US" sz="900" b="0" i="0" dirty="0">
                          <a:solidFill>
                            <a:srgbClr val="000000"/>
                          </a:solidFill>
                          <a:effectLst/>
                        </a:rPr>
                        <a:t>日；</a:t>
                      </a:r>
                    </a:p>
                  </a:txBody>
                  <a:tcPr marL="56267" marR="56267" marT="28134" marB="28134" anchor="ctr">
                    <a:lnL w="6350" cap="flat" cmpd="sng" algn="ctr">
                      <a:solidFill>
                        <a:srgbClr val="20342D"/>
                      </a:solidFill>
                      <a:prstDash val="solid"/>
                      <a:round/>
                      <a:headEnd type="none" w="med" len="med"/>
                      <a:tailEnd type="none" w="med" len="med"/>
                    </a:lnL>
                    <a:lnR w="6350" cap="flat" cmpd="sng" algn="ctr">
                      <a:solidFill>
                        <a:srgbClr val="20342D"/>
                      </a:solidFill>
                      <a:prstDash val="solid"/>
                      <a:round/>
                      <a:headEnd type="none" w="med" len="med"/>
                      <a:tailEnd type="none" w="med" len="med"/>
                    </a:lnR>
                    <a:lnT w="6350" cap="flat" cmpd="sng" algn="ctr">
                      <a:solidFill>
                        <a:srgbClr val="20342D"/>
                      </a:solidFill>
                      <a:prstDash val="solid"/>
                      <a:round/>
                      <a:headEnd type="none" w="med" len="med"/>
                      <a:tailEnd type="none" w="med" len="med"/>
                    </a:lnT>
                    <a:lnB w="6350" cap="flat" cmpd="sng" algn="ctr">
                      <a:solidFill>
                        <a:srgbClr val="20342D"/>
                      </a:solidFill>
                      <a:prstDash val="solid"/>
                      <a:round/>
                      <a:headEnd type="none" w="med" len="med"/>
                      <a:tailEnd type="none" w="med" len="med"/>
                    </a:lnB>
                  </a:tcPr>
                </a:tc>
                <a:extLst>
                  <a:ext uri="{0D108BD9-81ED-4DB2-BD59-A6C34878D82A}">
                    <a16:rowId xmlns="" xmlns:a16="http://schemas.microsoft.com/office/drawing/2014/main" val="10003"/>
                  </a:ext>
                </a:extLst>
              </a:tr>
            </a:tbl>
          </a:graphicData>
        </a:graphic>
      </p:graphicFrame>
      <p:sp>
        <p:nvSpPr>
          <p:cNvPr id="4" name="左箭头 3">
            <a:hlinkClick r:id="rId2" action="ppaction://hlinksldjump"/>
          </p:cNvPr>
          <p:cNvSpPr/>
          <p:nvPr/>
        </p:nvSpPr>
        <p:spPr>
          <a:xfrm>
            <a:off x="11038114" y="205275"/>
            <a:ext cx="978408" cy="48463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t>返回</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517465" y="4628407"/>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4" y="2368089"/>
            <a:ext cx="7317595" cy="3463544"/>
          </a:xfrm>
          <a:prstGeom prst="rect">
            <a:avLst/>
          </a:prstGeom>
        </p:spPr>
        <p:txBody>
          <a:bodyPr vert="horz" lIns="91440" tIns="45720" rIns="91440" bIns="45720" rtlCol="0">
            <a:normAutofit lnSpcReduction="10000"/>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smtClean="0"/>
              <a:t>背景与目标</a:t>
            </a:r>
            <a:endParaRPr lang="en-US" altLang="zh-CN" dirty="0"/>
          </a:p>
          <a:p>
            <a:pPr marL="342900" indent="-342900">
              <a:lnSpc>
                <a:spcPct val="150000"/>
              </a:lnSpc>
              <a:buFont typeface="Arial" panose="020B0604020202020204" pitchFamily="34" charset="0"/>
              <a:buChar char="•"/>
              <a:defRPr/>
            </a:pPr>
            <a:r>
              <a:rPr lang="zh-CN" altLang="en-US" dirty="0" smtClean="0"/>
              <a:t>实践举措</a:t>
            </a:r>
            <a:endParaRPr lang="en-US" altLang="zh-CN" dirty="0"/>
          </a:p>
          <a:p>
            <a:pPr marL="342900" indent="-342900">
              <a:lnSpc>
                <a:spcPct val="150000"/>
              </a:lnSpc>
              <a:buFont typeface="Arial" panose="020B0604020202020204" pitchFamily="34" charset="0"/>
              <a:buChar char="•"/>
              <a:defRPr/>
            </a:pPr>
            <a:r>
              <a:rPr lang="zh-CN" altLang="en-US" dirty="0" smtClean="0"/>
              <a:t>方案介绍：如何做准</a:t>
            </a:r>
            <a:r>
              <a:rPr lang="en-US" altLang="zh-CN" dirty="0" smtClean="0"/>
              <a:t>N</a:t>
            </a:r>
            <a:endParaRPr lang="en-US" altLang="zh-CN" dirty="0"/>
          </a:p>
          <a:p>
            <a:pPr marL="342900" indent="-342900">
              <a:lnSpc>
                <a:spcPct val="150000"/>
              </a:lnSpc>
              <a:buFont typeface="Arial" panose="020B0604020202020204" pitchFamily="34" charset="0"/>
              <a:buChar char="•"/>
              <a:defRPr/>
            </a:pPr>
            <a:r>
              <a:rPr lang="zh-CN" altLang="en-US" dirty="0" smtClean="0"/>
              <a:t>方案介绍：如何作准</a:t>
            </a:r>
            <a:r>
              <a:rPr lang="en-US" altLang="zh-CN" dirty="0" smtClean="0"/>
              <a:t>T</a:t>
            </a:r>
            <a:endParaRPr lang="en-US" altLang="zh-CN" dirty="0"/>
          </a:p>
          <a:p>
            <a:pPr marL="342900" indent="-342900">
              <a:lnSpc>
                <a:spcPct val="150000"/>
              </a:lnSpc>
              <a:buFont typeface="Arial" panose="020B0604020202020204" pitchFamily="34" charset="0"/>
              <a:buChar char="•"/>
              <a:defRPr/>
            </a:pPr>
            <a:r>
              <a:rPr lang="zh-CN" altLang="en-US" dirty="0" smtClean="0"/>
              <a:t>实践效果</a:t>
            </a:r>
            <a:r>
              <a:rPr lang="en-US" altLang="zh-CN" dirty="0" smtClean="0"/>
              <a:t>-</a:t>
            </a:r>
            <a:r>
              <a:rPr lang="zh-CN" altLang="en-US" dirty="0" smtClean="0"/>
              <a:t>试点区域验证结果</a:t>
            </a:r>
            <a:endParaRPr lang="en-US" altLang="zh-CN" dirty="0" smtClean="0"/>
          </a:p>
          <a:p>
            <a:pPr marL="342900" indent="-342900">
              <a:lnSpc>
                <a:spcPct val="150000"/>
              </a:lnSpc>
              <a:buFont typeface="Arial" panose="020B0604020202020204" pitchFamily="34" charset="0"/>
              <a:buChar char="•"/>
              <a:defRPr/>
            </a:pPr>
            <a:r>
              <a:rPr lang="zh-CN" altLang="en-US" dirty="0" smtClean="0"/>
              <a:t>心得体会，认知感悟</a:t>
            </a:r>
            <a:endParaRPr dirty="0"/>
          </a:p>
        </p:txBody>
      </p:sp>
    </p:spTree>
    <p:extLst>
      <p:ext uri="{BB962C8B-B14F-4D97-AF65-F5344CB8AC3E}">
        <p14:creationId xmlns:p14="http://schemas.microsoft.com/office/powerpoint/2010/main" val="12187299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702E65E-E6BD-D5B6-1EDB-D38409A47866}"/>
            </a:ext>
          </a:extLst>
        </p:cNvPr>
        <p:cNvGrpSpPr/>
        <p:nvPr/>
      </p:nvGrpSpPr>
      <p:grpSpPr>
        <a:xfrm>
          <a:off x="0" y="0"/>
          <a:ext cx="0" cy="0"/>
          <a:chOff x="0" y="0"/>
          <a:chExt cx="0" cy="0"/>
        </a:xfrm>
      </p:grpSpPr>
      <p:sp>
        <p:nvSpPr>
          <p:cNvPr id="2" name="文本占位符 1">
            <a:extLst>
              <a:ext uri="{FF2B5EF4-FFF2-40B4-BE49-F238E27FC236}">
                <a16:creationId xmlns="" xmlns:a16="http://schemas.microsoft.com/office/drawing/2014/main" id="{F6EC77A5-0F31-B134-9488-AA2298E14F79}"/>
              </a:ext>
            </a:extLst>
          </p:cNvPr>
          <p:cNvSpPr>
            <a:spLocks noGrp="1"/>
          </p:cNvSpPr>
          <p:nvPr>
            <p:ph type="body" sz="quarter" idx="13"/>
          </p:nvPr>
        </p:nvSpPr>
        <p:spPr/>
        <p:txBody>
          <a:bodyPr/>
          <a:lstStyle/>
          <a:p>
            <a:r>
              <a:rPr lang="en-US" altLang="zh-CN" dirty="0"/>
              <a:t>N</a:t>
            </a:r>
            <a:r>
              <a:rPr lang="zh-CN" altLang="en-US" dirty="0"/>
              <a:t>的质量提升</a:t>
            </a:r>
            <a:r>
              <a:rPr lang="zh-CN" altLang="en-US" dirty="0" smtClean="0"/>
              <a:t>目标与关键指标</a:t>
            </a:r>
            <a:endParaRPr lang="zh-CN" altLang="en-US" dirty="0"/>
          </a:p>
        </p:txBody>
      </p:sp>
      <p:pic>
        <p:nvPicPr>
          <p:cNvPr id="6" name="图片 5"/>
          <p:cNvPicPr>
            <a:picLocks noChangeAspect="1"/>
          </p:cNvPicPr>
          <p:nvPr/>
        </p:nvPicPr>
        <p:blipFill>
          <a:blip r:embed="rId2"/>
          <a:stretch>
            <a:fillRect/>
          </a:stretch>
        </p:blipFill>
        <p:spPr>
          <a:xfrm>
            <a:off x="573405" y="988678"/>
            <a:ext cx="10944784" cy="3075193"/>
          </a:xfrm>
          <a:prstGeom prst="rect">
            <a:avLst/>
          </a:prstGeom>
        </p:spPr>
      </p:pic>
      <p:pic>
        <p:nvPicPr>
          <p:cNvPr id="7" name="图片 6">
            <a:extLst>
              <a:ext uri="{FF2B5EF4-FFF2-40B4-BE49-F238E27FC236}">
                <a16:creationId xmlns="" xmlns:a16="http://schemas.microsoft.com/office/drawing/2014/main" id="{EE7E97EF-1A5A-83D7-879A-9A1B6A765586}"/>
              </a:ext>
            </a:extLst>
          </p:cNvPr>
          <p:cNvPicPr>
            <a:picLocks noChangeAspect="1"/>
          </p:cNvPicPr>
          <p:nvPr/>
        </p:nvPicPr>
        <p:blipFill>
          <a:blip r:embed="rId3"/>
          <a:srcRect l="19062"/>
          <a:stretch>
            <a:fillRect/>
          </a:stretch>
        </p:blipFill>
        <p:spPr>
          <a:xfrm>
            <a:off x="169498" y="4282295"/>
            <a:ext cx="7988970" cy="2399776"/>
          </a:xfrm>
          <a:prstGeom prst="rect">
            <a:avLst/>
          </a:prstGeom>
        </p:spPr>
      </p:pic>
      <p:sp>
        <p:nvSpPr>
          <p:cNvPr id="8" name="文本框 7">
            <a:extLst>
              <a:ext uri="{FF2B5EF4-FFF2-40B4-BE49-F238E27FC236}">
                <a16:creationId xmlns="" xmlns:a16="http://schemas.microsoft.com/office/drawing/2014/main" id="{AD888B32-0CCC-CD73-BFB7-B209E6ADFEF0}"/>
              </a:ext>
            </a:extLst>
          </p:cNvPr>
          <p:cNvSpPr txBox="1"/>
          <p:nvPr/>
        </p:nvSpPr>
        <p:spPr>
          <a:xfrm>
            <a:off x="8320345" y="4332689"/>
            <a:ext cx="3225557" cy="2120452"/>
          </a:xfrm>
          <a:prstGeom prst="rect">
            <a:avLst/>
          </a:prstGeom>
          <a:noFill/>
        </p:spPr>
        <p:txBody>
          <a:bodyPr wrap="square">
            <a:spAutoFit/>
          </a:bodyPr>
          <a:lstStyle/>
          <a:p>
            <a:pPr>
              <a:lnSpc>
                <a:spcPct val="150000"/>
              </a:lnSpc>
              <a:buNone/>
            </a:pPr>
            <a:r>
              <a:rPr lang="zh-CN" altLang="en-US" dirty="0"/>
              <a:t>举例说明：</a:t>
            </a:r>
          </a:p>
          <a:p>
            <a:pPr>
              <a:lnSpc>
                <a:spcPct val="150000"/>
              </a:lnSpc>
              <a:buNone/>
            </a:pPr>
            <a:r>
              <a:rPr lang="zh-CN" altLang="en-US" dirty="0"/>
              <a:t>某项目开标时间是</a:t>
            </a:r>
            <a:r>
              <a:rPr lang="en-US" altLang="zh-CN" dirty="0"/>
              <a:t>8</a:t>
            </a:r>
            <a:r>
              <a:rPr lang="zh-CN" altLang="en-US" dirty="0"/>
              <a:t>月</a:t>
            </a:r>
            <a:r>
              <a:rPr lang="en-US" altLang="zh-CN" dirty="0"/>
              <a:t>12</a:t>
            </a:r>
            <a:r>
              <a:rPr lang="zh-CN" altLang="en-US" dirty="0"/>
              <a:t>日，</a:t>
            </a:r>
          </a:p>
          <a:p>
            <a:pPr>
              <a:lnSpc>
                <a:spcPct val="150000"/>
              </a:lnSpc>
              <a:buNone/>
            </a:pPr>
            <a:r>
              <a:rPr lang="zh-CN" altLang="en-US" dirty="0"/>
              <a:t>则项目财月是</a:t>
            </a:r>
            <a:r>
              <a:rPr lang="en-US" altLang="zh-CN" dirty="0"/>
              <a:t>8</a:t>
            </a:r>
            <a:r>
              <a:rPr lang="zh-CN" altLang="en-US" dirty="0"/>
              <a:t>月（</a:t>
            </a:r>
            <a:r>
              <a:rPr lang="en-US" altLang="zh-CN" dirty="0"/>
              <a:t>7.21-8.20</a:t>
            </a:r>
            <a:r>
              <a:rPr lang="zh-CN" altLang="en-US" dirty="0"/>
              <a:t>）</a:t>
            </a:r>
          </a:p>
          <a:p>
            <a:pPr>
              <a:lnSpc>
                <a:spcPct val="150000"/>
              </a:lnSpc>
              <a:buNone/>
            </a:pPr>
            <a:r>
              <a:rPr lang="en-US" altLang="zh-CN" dirty="0"/>
              <a:t>(M-1)</a:t>
            </a:r>
            <a:r>
              <a:rPr lang="zh-CN" altLang="en-US" dirty="0"/>
              <a:t>月则是</a:t>
            </a:r>
            <a:r>
              <a:rPr lang="en-US" altLang="zh-CN" dirty="0"/>
              <a:t>7</a:t>
            </a:r>
            <a:r>
              <a:rPr lang="zh-CN" altLang="en-US" dirty="0"/>
              <a:t>月（</a:t>
            </a:r>
            <a:r>
              <a:rPr lang="en-US" altLang="zh-CN" dirty="0"/>
              <a:t>6.21-7.20</a:t>
            </a:r>
            <a:r>
              <a:rPr lang="zh-CN" altLang="en-US" dirty="0"/>
              <a:t>）</a:t>
            </a:r>
          </a:p>
          <a:p>
            <a:pPr>
              <a:lnSpc>
                <a:spcPct val="150000"/>
              </a:lnSpc>
              <a:buNone/>
            </a:pPr>
            <a:r>
              <a:rPr lang="en-US" altLang="zh-CN" dirty="0"/>
              <a:t>(M-2)</a:t>
            </a:r>
            <a:r>
              <a:rPr lang="zh-CN" altLang="en-US" dirty="0"/>
              <a:t>月则是</a:t>
            </a:r>
            <a:r>
              <a:rPr lang="en-US" altLang="zh-CN" dirty="0"/>
              <a:t>6</a:t>
            </a:r>
            <a:r>
              <a:rPr lang="zh-CN" altLang="en-US" dirty="0"/>
              <a:t>月（</a:t>
            </a:r>
            <a:r>
              <a:rPr lang="en-US" altLang="zh-CN" dirty="0"/>
              <a:t>5.21-6.20</a:t>
            </a:r>
            <a:r>
              <a:rPr lang="zh-CN" altLang="en-US" dirty="0"/>
              <a:t>）</a:t>
            </a:r>
          </a:p>
        </p:txBody>
      </p:sp>
    </p:spTree>
    <p:extLst>
      <p:ext uri="{BB962C8B-B14F-4D97-AF65-F5344CB8AC3E}">
        <p14:creationId xmlns:p14="http://schemas.microsoft.com/office/powerpoint/2010/main" val="8501861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190849" y="210817"/>
            <a:ext cx="7606768" cy="495935"/>
          </a:xfrm>
        </p:spPr>
        <p:txBody>
          <a:bodyPr/>
          <a:lstStyle/>
          <a:p>
            <a:r>
              <a:rPr lang="en-US" altLang="zh-CN" dirty="0" smtClean="0"/>
              <a:t>3T</a:t>
            </a:r>
            <a:r>
              <a:rPr lang="zh-CN" altLang="en-US" dirty="0" smtClean="0"/>
              <a:t>监控</a:t>
            </a:r>
            <a:r>
              <a:rPr lang="zh-CN" altLang="en-US" dirty="0"/>
              <a:t>指标</a:t>
            </a:r>
          </a:p>
        </p:txBody>
      </p:sp>
      <p:sp>
        <p:nvSpPr>
          <p:cNvPr id="6"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4" name="图片 3"/>
          <p:cNvPicPr>
            <a:picLocks noChangeAspect="1"/>
          </p:cNvPicPr>
          <p:nvPr/>
        </p:nvPicPr>
        <p:blipFill>
          <a:blip r:embed="rId2"/>
          <a:stretch>
            <a:fillRect/>
          </a:stretch>
        </p:blipFill>
        <p:spPr>
          <a:xfrm>
            <a:off x="444327" y="1240971"/>
            <a:ext cx="11176757" cy="3023118"/>
          </a:xfrm>
          <a:prstGeom prst="rect">
            <a:avLst/>
          </a:prstGeom>
        </p:spPr>
      </p:pic>
      <p:sp>
        <p:nvSpPr>
          <p:cNvPr id="5" name="矩形 4"/>
          <p:cNvSpPr/>
          <p:nvPr/>
        </p:nvSpPr>
        <p:spPr>
          <a:xfrm>
            <a:off x="6096000" y="4798308"/>
            <a:ext cx="4108817" cy="369332"/>
          </a:xfrm>
          <a:prstGeom prst="rect">
            <a:avLst/>
          </a:prstGeom>
        </p:spPr>
        <p:txBody>
          <a:bodyPr wrap="none">
            <a:spAutoFit/>
          </a:bodyPr>
          <a:lstStyle/>
          <a:p>
            <a:r>
              <a:rPr lang="en-US" altLang="zh-CN" dirty="0">
                <a:solidFill>
                  <a:srgbClr val="000000"/>
                </a:solidFill>
                <a:latin typeface="MonospacedNumber"/>
              </a:rPr>
              <a:t>30</a:t>
            </a:r>
            <a:r>
              <a:rPr lang="zh-CN" altLang="en-US" dirty="0">
                <a:solidFill>
                  <a:srgbClr val="000000"/>
                </a:solidFill>
                <a:latin typeface="MonospacedNumber"/>
              </a:rPr>
              <a:t>万以上（非固折）预测项目下单个数</a:t>
            </a:r>
            <a:endParaRPr lang="zh-CN" altLang="en-US" dirty="0">
              <a:effectLst/>
            </a:endParaRPr>
          </a:p>
        </p:txBody>
      </p:sp>
      <p:sp>
        <p:nvSpPr>
          <p:cNvPr id="7" name="矩形 6"/>
          <p:cNvSpPr/>
          <p:nvPr/>
        </p:nvSpPr>
        <p:spPr>
          <a:xfrm>
            <a:off x="6196204" y="5432790"/>
            <a:ext cx="3647152" cy="369332"/>
          </a:xfrm>
          <a:prstGeom prst="rect">
            <a:avLst/>
          </a:prstGeom>
        </p:spPr>
        <p:txBody>
          <a:bodyPr wrap="none">
            <a:spAutoFit/>
          </a:bodyPr>
          <a:lstStyle/>
          <a:p>
            <a:r>
              <a:rPr lang="en-US" altLang="zh-CN" dirty="0">
                <a:solidFill>
                  <a:srgbClr val="000000"/>
                </a:solidFill>
                <a:latin typeface="MonospacedNumber"/>
              </a:rPr>
              <a:t>30</a:t>
            </a:r>
            <a:r>
              <a:rPr lang="zh-CN" altLang="en-US" dirty="0">
                <a:solidFill>
                  <a:srgbClr val="000000"/>
                </a:solidFill>
                <a:latin typeface="MonospacedNumber"/>
              </a:rPr>
              <a:t>万以上（非固折）预测项目个数</a:t>
            </a:r>
            <a:endParaRPr lang="zh-CN" altLang="en-US" dirty="0">
              <a:effectLst/>
            </a:endParaRPr>
          </a:p>
        </p:txBody>
      </p:sp>
      <p:cxnSp>
        <p:nvCxnSpPr>
          <p:cNvPr id="9" name="直接连接符 8"/>
          <p:cNvCxnSpPr/>
          <p:nvPr/>
        </p:nvCxnSpPr>
        <p:spPr>
          <a:xfrm>
            <a:off x="5698131" y="5298231"/>
            <a:ext cx="4833257"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1159793" y="5113565"/>
            <a:ext cx="4570482" cy="369332"/>
          </a:xfrm>
          <a:prstGeom prst="rect">
            <a:avLst/>
          </a:prstGeom>
        </p:spPr>
        <p:txBody>
          <a:bodyPr wrap="none">
            <a:spAutoFit/>
          </a:bodyPr>
          <a:lstStyle/>
          <a:p>
            <a:r>
              <a:rPr lang="en-US" altLang="zh-CN" dirty="0">
                <a:solidFill>
                  <a:srgbClr val="000000"/>
                </a:solidFill>
                <a:latin typeface="MonospacedNumber"/>
              </a:rPr>
              <a:t>30</a:t>
            </a:r>
            <a:r>
              <a:rPr lang="zh-CN" altLang="en-US" dirty="0">
                <a:solidFill>
                  <a:srgbClr val="000000"/>
                </a:solidFill>
                <a:latin typeface="MonospacedNumber"/>
              </a:rPr>
              <a:t>万以上（非固折）预测项目个数兑现</a:t>
            </a:r>
            <a:r>
              <a:rPr lang="zh-CN" altLang="en-US" dirty="0" smtClean="0">
                <a:solidFill>
                  <a:srgbClr val="000000"/>
                </a:solidFill>
                <a:latin typeface="MonospacedNumber"/>
              </a:rPr>
              <a:t>率 </a:t>
            </a:r>
            <a:r>
              <a:rPr lang="en-US" altLang="zh-CN" dirty="0" smtClean="0">
                <a:solidFill>
                  <a:srgbClr val="000000"/>
                </a:solidFill>
                <a:latin typeface="MonospacedNumber"/>
              </a:rPr>
              <a:t>=</a:t>
            </a:r>
            <a:endParaRPr lang="zh-CN" altLang="en-US" dirty="0">
              <a:effectLst/>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6353606" cy="495935"/>
          </a:xfrm>
        </p:spPr>
        <p:txBody>
          <a:bodyPr/>
          <a:lstStyle/>
          <a:p>
            <a:r>
              <a:rPr lang="en-US" altLang="zh-CN" dirty="0"/>
              <a:t>N</a:t>
            </a:r>
            <a:r>
              <a:rPr lang="zh-CN" altLang="en-US" dirty="0"/>
              <a:t>和</a:t>
            </a:r>
            <a:r>
              <a:rPr lang="en-US" altLang="zh-CN" dirty="0"/>
              <a:t>3T</a:t>
            </a:r>
            <a:r>
              <a:rPr lang="zh-CN" altLang="en-US" dirty="0"/>
              <a:t>的试点</a:t>
            </a:r>
            <a:r>
              <a:rPr lang="zh-CN" altLang="en-US" dirty="0" smtClean="0"/>
              <a:t>结果</a:t>
            </a:r>
            <a:r>
              <a:rPr lang="en-US" altLang="zh-CN" dirty="0" smtClean="0"/>
              <a:t>-8</a:t>
            </a:r>
            <a:r>
              <a:rPr lang="zh-CN" altLang="en-US" dirty="0" smtClean="0"/>
              <a:t>月份数据</a:t>
            </a:r>
            <a:endParaRPr lang="zh-CN" altLang="en-US" dirty="0"/>
          </a:p>
        </p:txBody>
      </p:sp>
      <p:graphicFrame>
        <p:nvGraphicFramePr>
          <p:cNvPr id="35" name="表格 34"/>
          <p:cNvGraphicFramePr>
            <a:graphicFrameLocks noGrp="1"/>
          </p:cNvGraphicFramePr>
          <p:nvPr/>
        </p:nvGraphicFramePr>
        <p:xfrm>
          <a:off x="2733517" y="1235690"/>
          <a:ext cx="6748047" cy="2019940"/>
        </p:xfrm>
        <a:graphic>
          <a:graphicData uri="http://schemas.openxmlformats.org/drawingml/2006/table">
            <a:tbl>
              <a:tblPr/>
              <a:tblGrid>
                <a:gridCol w="1458568">
                  <a:extLst>
                    <a:ext uri="{9D8B030D-6E8A-4147-A177-3AD203B41FA5}">
                      <a16:colId xmlns="" xmlns:a16="http://schemas.microsoft.com/office/drawing/2014/main" val="20000"/>
                    </a:ext>
                  </a:extLst>
                </a:gridCol>
                <a:gridCol w="1229391">
                  <a:extLst>
                    <a:ext uri="{9D8B030D-6E8A-4147-A177-3AD203B41FA5}">
                      <a16:colId xmlns="" xmlns:a16="http://schemas.microsoft.com/office/drawing/2014/main" val="20001"/>
                    </a:ext>
                  </a:extLst>
                </a:gridCol>
                <a:gridCol w="857474">
                  <a:extLst>
                    <a:ext uri="{9D8B030D-6E8A-4147-A177-3AD203B41FA5}">
                      <a16:colId xmlns="" xmlns:a16="http://schemas.microsoft.com/office/drawing/2014/main" val="20002"/>
                    </a:ext>
                  </a:extLst>
                </a:gridCol>
                <a:gridCol w="812240">
                  <a:extLst>
                    <a:ext uri="{9D8B030D-6E8A-4147-A177-3AD203B41FA5}">
                      <a16:colId xmlns="" xmlns:a16="http://schemas.microsoft.com/office/drawing/2014/main" val="20003"/>
                    </a:ext>
                  </a:extLst>
                </a:gridCol>
                <a:gridCol w="1195187">
                  <a:extLst>
                    <a:ext uri="{9D8B030D-6E8A-4147-A177-3AD203B41FA5}">
                      <a16:colId xmlns="" xmlns:a16="http://schemas.microsoft.com/office/drawing/2014/main" val="20004"/>
                    </a:ext>
                  </a:extLst>
                </a:gridCol>
                <a:gridCol w="1195187">
                  <a:extLst>
                    <a:ext uri="{9D8B030D-6E8A-4147-A177-3AD203B41FA5}">
                      <a16:colId xmlns="" xmlns:a16="http://schemas.microsoft.com/office/drawing/2014/main" val="20005"/>
                    </a:ext>
                  </a:extLst>
                </a:gridCol>
              </a:tblGrid>
              <a:tr h="509704">
                <a:tc>
                  <a:txBody>
                    <a:bodyPr/>
                    <a:lstStyle/>
                    <a:p>
                      <a:pPr algn="l" fontAlgn="ctr" latinLnBrk="0"/>
                      <a:r>
                        <a:rPr lang="zh-CN" altLang="en-US" sz="1100" b="1" i="0" dirty="0">
                          <a:solidFill>
                            <a:srgbClr val="000000"/>
                          </a:solidFill>
                          <a:effectLst/>
                        </a:rPr>
                        <a:t>区域</a:t>
                      </a:r>
                      <a:r>
                        <a:rPr lang="en-US" altLang="zh-CN" sz="1100" b="1" i="0" dirty="0">
                          <a:solidFill>
                            <a:srgbClr val="000000"/>
                          </a:solidFill>
                          <a:effectLst/>
                        </a:rPr>
                        <a:t>\</a:t>
                      </a:r>
                      <a:r>
                        <a:rPr lang="zh-CN" altLang="en-US" sz="1100" b="1" i="0" dirty="0">
                          <a:solidFill>
                            <a:srgbClr val="000000"/>
                          </a:solidFill>
                          <a:effectLst/>
                        </a:rPr>
                        <a:t>月度</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100" b="1" i="0" dirty="0">
                          <a:solidFill>
                            <a:srgbClr val="000000"/>
                          </a:solidFill>
                          <a:effectLst/>
                        </a:rPr>
                        <a:t>2025</a:t>
                      </a:r>
                      <a:r>
                        <a:rPr lang="zh-CN" altLang="en-US" sz="1100" b="1" i="0" dirty="0">
                          <a:solidFill>
                            <a:srgbClr val="000000"/>
                          </a:solidFill>
                          <a:effectLst/>
                        </a:rPr>
                        <a:t>年</a:t>
                      </a:r>
                      <a:r>
                        <a:rPr lang="en-US" altLang="zh-CN" sz="1100" b="1" i="0" dirty="0">
                          <a:solidFill>
                            <a:srgbClr val="000000"/>
                          </a:solidFill>
                          <a:effectLst/>
                        </a:rPr>
                        <a:t>8</a:t>
                      </a:r>
                      <a:r>
                        <a:rPr lang="zh-CN" altLang="en-US" sz="1100" b="1" i="0" dirty="0">
                          <a:solidFill>
                            <a:srgbClr val="000000"/>
                          </a:solidFill>
                          <a:effectLst/>
                        </a:rPr>
                        <a:t>月</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100" b="1" i="0" dirty="0">
                          <a:solidFill>
                            <a:srgbClr val="000000"/>
                          </a:solidFill>
                          <a:effectLst/>
                        </a:rPr>
                        <a:t>2025</a:t>
                      </a:r>
                      <a:r>
                        <a:rPr lang="zh-CN" altLang="en-US" sz="1100" b="1" i="0" dirty="0">
                          <a:solidFill>
                            <a:srgbClr val="000000"/>
                          </a:solidFill>
                          <a:effectLst/>
                        </a:rPr>
                        <a:t>年</a:t>
                      </a:r>
                      <a:r>
                        <a:rPr lang="en-US" altLang="zh-CN" sz="1100" b="1" i="0" dirty="0">
                          <a:solidFill>
                            <a:srgbClr val="000000"/>
                          </a:solidFill>
                          <a:effectLst/>
                        </a:rPr>
                        <a:t>7</a:t>
                      </a:r>
                      <a:r>
                        <a:rPr lang="zh-CN" altLang="en-US" sz="1100" b="1" i="0" dirty="0">
                          <a:solidFill>
                            <a:srgbClr val="000000"/>
                          </a:solidFill>
                          <a:effectLst/>
                        </a:rPr>
                        <a:t>月</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100" b="1" i="0" dirty="0">
                          <a:solidFill>
                            <a:srgbClr val="000000"/>
                          </a:solidFill>
                          <a:effectLst/>
                        </a:rPr>
                        <a:t>2024</a:t>
                      </a:r>
                      <a:r>
                        <a:rPr lang="zh-CN" altLang="en-US" sz="1100" b="1" i="0" dirty="0">
                          <a:solidFill>
                            <a:srgbClr val="000000"/>
                          </a:solidFill>
                          <a:effectLst/>
                        </a:rPr>
                        <a:t>年</a:t>
                      </a:r>
                      <a:r>
                        <a:rPr lang="en-US" altLang="zh-CN" sz="1100" b="1" i="0" dirty="0">
                          <a:solidFill>
                            <a:srgbClr val="000000"/>
                          </a:solidFill>
                          <a:effectLst/>
                        </a:rPr>
                        <a:t>8</a:t>
                      </a:r>
                      <a:r>
                        <a:rPr lang="zh-CN" altLang="en-US" sz="1100" b="1" i="0" dirty="0">
                          <a:solidFill>
                            <a:srgbClr val="000000"/>
                          </a:solidFill>
                          <a:effectLst/>
                        </a:rPr>
                        <a:t>月</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100" b="1" i="0" dirty="0">
                          <a:solidFill>
                            <a:srgbClr val="000000"/>
                          </a:solidFill>
                          <a:effectLst/>
                        </a:rPr>
                        <a:t>环比</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100" b="1" i="0" dirty="0">
                          <a:solidFill>
                            <a:srgbClr val="000000"/>
                          </a:solidFill>
                          <a:effectLst/>
                        </a:rPr>
                        <a:t>同比</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extLst>
                  <a:ext uri="{0D108BD9-81ED-4DB2-BD59-A6C34878D82A}">
                    <a16:rowId xmlns="" xmlns:a16="http://schemas.microsoft.com/office/drawing/2014/main" val="10000"/>
                  </a:ext>
                </a:extLst>
              </a:tr>
              <a:tr h="377559">
                <a:tc>
                  <a:txBody>
                    <a:bodyPr/>
                    <a:lstStyle/>
                    <a:p>
                      <a:pPr algn="l" fontAlgn="ctr" latinLnBrk="0"/>
                      <a:r>
                        <a:rPr lang="zh-CN" altLang="en-US" sz="1100" b="0" i="0">
                          <a:solidFill>
                            <a:srgbClr val="000000"/>
                          </a:solidFill>
                          <a:effectLst/>
                        </a:rPr>
                        <a:t>山东（产品）</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a:solidFill>
                            <a:srgbClr val="000000"/>
                          </a:solidFill>
                          <a:effectLst/>
                        </a:rPr>
                        <a:t>86%</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28%</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75%</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dirty="0">
                          <a:solidFill>
                            <a:srgbClr val="F54A45"/>
                          </a:solidFill>
                          <a:effectLst/>
                        </a:rPr>
                        <a:t>↑</a:t>
                      </a:r>
                      <a:r>
                        <a:rPr lang="en-US" altLang="zh-CN" sz="1600" b="0" i="0" dirty="0">
                          <a:solidFill>
                            <a:srgbClr val="F54A45"/>
                          </a:solidFill>
                          <a:effectLst/>
                        </a:rPr>
                        <a:t>58%</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a:solidFill>
                            <a:srgbClr val="F54A45"/>
                          </a:solidFill>
                          <a:effectLst/>
                        </a:rPr>
                        <a:t>↑</a:t>
                      </a:r>
                      <a:r>
                        <a:rPr lang="en-US" altLang="zh-CN" sz="1600" b="0" i="0">
                          <a:solidFill>
                            <a:srgbClr val="F54A45"/>
                          </a:solidFill>
                          <a:effectLst/>
                        </a:rPr>
                        <a:t>11%</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 xmlns:a16="http://schemas.microsoft.com/office/drawing/2014/main" val="10001"/>
                  </a:ext>
                </a:extLst>
              </a:tr>
              <a:tr h="377559">
                <a:tc>
                  <a:txBody>
                    <a:bodyPr/>
                    <a:lstStyle/>
                    <a:p>
                      <a:pPr algn="l" fontAlgn="ctr" latinLnBrk="0"/>
                      <a:r>
                        <a:rPr lang="zh-CN" altLang="en-US" sz="1100" b="0" i="0">
                          <a:solidFill>
                            <a:srgbClr val="000000"/>
                          </a:solidFill>
                          <a:effectLst/>
                        </a:rPr>
                        <a:t>上海 （产品）</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rPr>
                        <a:t>76%</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46%</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dirty="0">
                          <a:solidFill>
                            <a:srgbClr val="000000"/>
                          </a:solidFill>
                          <a:effectLst/>
                        </a:rPr>
                        <a:t>61%</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dirty="0">
                          <a:solidFill>
                            <a:srgbClr val="F54A45"/>
                          </a:solidFill>
                          <a:effectLst/>
                        </a:rPr>
                        <a:t>↑</a:t>
                      </a:r>
                      <a:r>
                        <a:rPr lang="en-US" altLang="zh-CN" sz="1600" b="0" i="0" dirty="0">
                          <a:solidFill>
                            <a:srgbClr val="F54A45"/>
                          </a:solidFill>
                          <a:effectLst/>
                        </a:rPr>
                        <a:t>30%</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a:solidFill>
                            <a:srgbClr val="F54A45"/>
                          </a:solidFill>
                          <a:effectLst/>
                        </a:rPr>
                        <a:t>↑</a:t>
                      </a:r>
                      <a:r>
                        <a:rPr lang="en-US" altLang="zh-CN" sz="1600" b="0" i="0">
                          <a:solidFill>
                            <a:srgbClr val="F54A45"/>
                          </a:solidFill>
                          <a:effectLst/>
                        </a:rPr>
                        <a:t>15%</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 xmlns:a16="http://schemas.microsoft.com/office/drawing/2014/main" val="10002"/>
                  </a:ext>
                </a:extLst>
              </a:tr>
              <a:tr h="377559">
                <a:tc>
                  <a:txBody>
                    <a:bodyPr/>
                    <a:lstStyle/>
                    <a:p>
                      <a:pPr algn="l" fontAlgn="ctr" latinLnBrk="0"/>
                      <a:r>
                        <a:rPr lang="zh-CN" altLang="en-US" sz="1100" b="0" i="0" dirty="0">
                          <a:solidFill>
                            <a:srgbClr val="000000"/>
                          </a:solidFill>
                          <a:effectLst/>
                        </a:rPr>
                        <a:t>山东（金额）</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rPr>
                        <a:t>90%</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32%</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70%</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a:solidFill>
                            <a:srgbClr val="F54A45"/>
                          </a:solidFill>
                          <a:effectLst/>
                        </a:rPr>
                        <a:t>↑</a:t>
                      </a:r>
                      <a:r>
                        <a:rPr lang="en-US" altLang="zh-CN" sz="1600" b="0" i="0">
                          <a:solidFill>
                            <a:srgbClr val="F54A45"/>
                          </a:solidFill>
                          <a:effectLst/>
                        </a:rPr>
                        <a:t>58%</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dirty="0">
                          <a:solidFill>
                            <a:srgbClr val="F54A45"/>
                          </a:solidFill>
                          <a:effectLst/>
                        </a:rPr>
                        <a:t>↑</a:t>
                      </a:r>
                      <a:r>
                        <a:rPr lang="en-US" altLang="zh-CN" sz="1600" b="0" i="0" dirty="0">
                          <a:solidFill>
                            <a:srgbClr val="F54A45"/>
                          </a:solidFill>
                          <a:effectLst/>
                        </a:rPr>
                        <a:t>20%</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 xmlns:a16="http://schemas.microsoft.com/office/drawing/2014/main" val="10003"/>
                  </a:ext>
                </a:extLst>
              </a:tr>
              <a:tr h="377559">
                <a:tc>
                  <a:txBody>
                    <a:bodyPr/>
                    <a:lstStyle/>
                    <a:p>
                      <a:pPr algn="l" fontAlgn="ctr" latinLnBrk="0"/>
                      <a:r>
                        <a:rPr lang="zh-CN" altLang="en-US" sz="1100" b="0" i="0" dirty="0">
                          <a:solidFill>
                            <a:srgbClr val="000000"/>
                          </a:solidFill>
                          <a:effectLst/>
                        </a:rPr>
                        <a:t>上海 （金额）</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a:solidFill>
                            <a:srgbClr val="000000"/>
                          </a:solidFill>
                          <a:effectLst/>
                        </a:rPr>
                        <a:t>92%</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51%</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a:solidFill>
                            <a:srgbClr val="000000"/>
                          </a:solidFill>
                          <a:effectLst/>
                        </a:rPr>
                        <a:t>69%</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dirty="0">
                          <a:solidFill>
                            <a:srgbClr val="F54A45"/>
                          </a:solidFill>
                          <a:effectLst/>
                        </a:rPr>
                        <a:t>↑</a:t>
                      </a:r>
                      <a:r>
                        <a:rPr lang="en-US" altLang="zh-CN" sz="1600" b="0" i="0" dirty="0">
                          <a:solidFill>
                            <a:srgbClr val="F54A45"/>
                          </a:solidFill>
                          <a:effectLst/>
                        </a:rPr>
                        <a:t>41%</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dirty="0">
                          <a:solidFill>
                            <a:srgbClr val="F54A45"/>
                          </a:solidFill>
                          <a:effectLst/>
                        </a:rPr>
                        <a:t>↑</a:t>
                      </a:r>
                      <a:r>
                        <a:rPr lang="en-US" altLang="zh-CN" sz="1600" b="0" i="0" dirty="0">
                          <a:solidFill>
                            <a:srgbClr val="F54A45"/>
                          </a:solidFill>
                          <a:effectLst/>
                        </a:rPr>
                        <a:t>23%</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 xmlns:a16="http://schemas.microsoft.com/office/drawing/2014/main" val="10004"/>
                  </a:ext>
                </a:extLst>
              </a:tr>
            </a:tbl>
          </a:graphicData>
        </a:graphic>
      </p:graphicFrame>
      <p:sp>
        <p:nvSpPr>
          <p:cNvPr id="36" name="文本框 35"/>
          <p:cNvSpPr txBox="1"/>
          <p:nvPr/>
        </p:nvSpPr>
        <p:spPr>
          <a:xfrm>
            <a:off x="353800" y="866358"/>
            <a:ext cx="1736373" cy="369332"/>
          </a:xfrm>
          <a:prstGeom prst="rect">
            <a:avLst/>
          </a:prstGeom>
          <a:noFill/>
        </p:spPr>
        <p:txBody>
          <a:bodyPr wrap="none" rtlCol="0">
            <a:spAutoFit/>
          </a:bodyPr>
          <a:lstStyle/>
          <a:p>
            <a:r>
              <a:rPr lang="en-US" altLang="zh-CN" b="1" dirty="0"/>
              <a:t>N</a:t>
            </a:r>
            <a:r>
              <a:rPr lang="zh-CN" altLang="en-US" b="1" dirty="0"/>
              <a:t>的试点结果：</a:t>
            </a:r>
          </a:p>
        </p:txBody>
      </p:sp>
      <p:sp>
        <p:nvSpPr>
          <p:cNvPr id="37" name="文本框 36"/>
          <p:cNvSpPr txBox="1"/>
          <p:nvPr/>
        </p:nvSpPr>
        <p:spPr>
          <a:xfrm>
            <a:off x="353800" y="3507354"/>
            <a:ext cx="1710725" cy="369332"/>
          </a:xfrm>
          <a:prstGeom prst="rect">
            <a:avLst/>
          </a:prstGeom>
          <a:noFill/>
        </p:spPr>
        <p:txBody>
          <a:bodyPr wrap="none" rtlCol="0">
            <a:spAutoFit/>
          </a:bodyPr>
          <a:lstStyle/>
          <a:p>
            <a:r>
              <a:rPr lang="en-US" altLang="zh-CN" b="1" dirty="0"/>
              <a:t>T</a:t>
            </a:r>
            <a:r>
              <a:rPr lang="zh-CN" altLang="en-US" b="1" dirty="0"/>
              <a:t>的试点结果：</a:t>
            </a:r>
          </a:p>
        </p:txBody>
      </p:sp>
      <p:graphicFrame>
        <p:nvGraphicFramePr>
          <p:cNvPr id="12" name="表格 11"/>
          <p:cNvGraphicFramePr>
            <a:graphicFrameLocks noGrp="1"/>
          </p:cNvGraphicFramePr>
          <p:nvPr>
            <p:extLst>
              <p:ext uri="{D42A27DB-BD31-4B8C-83A1-F6EECF244321}">
                <p14:modId xmlns:p14="http://schemas.microsoft.com/office/powerpoint/2010/main" val="3679942994"/>
              </p:ext>
            </p:extLst>
          </p:nvPr>
        </p:nvGraphicFramePr>
        <p:xfrm>
          <a:off x="2671313" y="4047314"/>
          <a:ext cx="6748047" cy="2019940"/>
        </p:xfrm>
        <a:graphic>
          <a:graphicData uri="http://schemas.openxmlformats.org/drawingml/2006/table">
            <a:tbl>
              <a:tblPr/>
              <a:tblGrid>
                <a:gridCol w="1458568">
                  <a:extLst>
                    <a:ext uri="{9D8B030D-6E8A-4147-A177-3AD203B41FA5}">
                      <a16:colId xmlns="" xmlns:a16="http://schemas.microsoft.com/office/drawing/2014/main" val="20000"/>
                    </a:ext>
                  </a:extLst>
                </a:gridCol>
                <a:gridCol w="1229391">
                  <a:extLst>
                    <a:ext uri="{9D8B030D-6E8A-4147-A177-3AD203B41FA5}">
                      <a16:colId xmlns="" xmlns:a16="http://schemas.microsoft.com/office/drawing/2014/main" val="20001"/>
                    </a:ext>
                  </a:extLst>
                </a:gridCol>
                <a:gridCol w="857474">
                  <a:extLst>
                    <a:ext uri="{9D8B030D-6E8A-4147-A177-3AD203B41FA5}">
                      <a16:colId xmlns="" xmlns:a16="http://schemas.microsoft.com/office/drawing/2014/main" val="20002"/>
                    </a:ext>
                  </a:extLst>
                </a:gridCol>
                <a:gridCol w="812240">
                  <a:extLst>
                    <a:ext uri="{9D8B030D-6E8A-4147-A177-3AD203B41FA5}">
                      <a16:colId xmlns="" xmlns:a16="http://schemas.microsoft.com/office/drawing/2014/main" val="20003"/>
                    </a:ext>
                  </a:extLst>
                </a:gridCol>
                <a:gridCol w="1195187">
                  <a:extLst>
                    <a:ext uri="{9D8B030D-6E8A-4147-A177-3AD203B41FA5}">
                      <a16:colId xmlns="" xmlns:a16="http://schemas.microsoft.com/office/drawing/2014/main" val="20004"/>
                    </a:ext>
                  </a:extLst>
                </a:gridCol>
                <a:gridCol w="1195187">
                  <a:extLst>
                    <a:ext uri="{9D8B030D-6E8A-4147-A177-3AD203B41FA5}">
                      <a16:colId xmlns="" xmlns:a16="http://schemas.microsoft.com/office/drawing/2014/main" val="20005"/>
                    </a:ext>
                  </a:extLst>
                </a:gridCol>
              </a:tblGrid>
              <a:tr h="509704">
                <a:tc>
                  <a:txBody>
                    <a:bodyPr/>
                    <a:lstStyle/>
                    <a:p>
                      <a:pPr algn="l" fontAlgn="ctr" latinLnBrk="0"/>
                      <a:r>
                        <a:rPr lang="zh-CN" altLang="en-US" sz="1100" b="1" i="0" dirty="0">
                          <a:solidFill>
                            <a:srgbClr val="000000"/>
                          </a:solidFill>
                          <a:effectLst/>
                        </a:rPr>
                        <a:t>区域</a:t>
                      </a:r>
                      <a:r>
                        <a:rPr lang="en-US" altLang="zh-CN" sz="1100" b="1" i="0" dirty="0">
                          <a:solidFill>
                            <a:srgbClr val="000000"/>
                          </a:solidFill>
                          <a:effectLst/>
                        </a:rPr>
                        <a:t>\</a:t>
                      </a:r>
                      <a:r>
                        <a:rPr lang="zh-CN" altLang="en-US" sz="1100" b="1" i="0" dirty="0">
                          <a:solidFill>
                            <a:srgbClr val="000000"/>
                          </a:solidFill>
                          <a:effectLst/>
                        </a:rPr>
                        <a:t>月度</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100" b="1" i="0" dirty="0">
                          <a:solidFill>
                            <a:srgbClr val="000000"/>
                          </a:solidFill>
                          <a:effectLst/>
                        </a:rPr>
                        <a:t>2025</a:t>
                      </a:r>
                      <a:r>
                        <a:rPr lang="zh-CN" altLang="en-US" sz="1100" b="1" i="0" dirty="0">
                          <a:solidFill>
                            <a:srgbClr val="000000"/>
                          </a:solidFill>
                          <a:effectLst/>
                        </a:rPr>
                        <a:t>年</a:t>
                      </a:r>
                      <a:r>
                        <a:rPr lang="en-US" altLang="zh-CN" sz="1100" b="1" i="0" dirty="0">
                          <a:solidFill>
                            <a:srgbClr val="000000"/>
                          </a:solidFill>
                          <a:effectLst/>
                        </a:rPr>
                        <a:t>8</a:t>
                      </a:r>
                      <a:r>
                        <a:rPr lang="zh-CN" altLang="en-US" sz="1100" b="1" i="0" dirty="0">
                          <a:solidFill>
                            <a:srgbClr val="000000"/>
                          </a:solidFill>
                          <a:effectLst/>
                        </a:rPr>
                        <a:t>月</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100" b="1" i="0" dirty="0">
                          <a:solidFill>
                            <a:srgbClr val="000000"/>
                          </a:solidFill>
                          <a:effectLst/>
                        </a:rPr>
                        <a:t>2025</a:t>
                      </a:r>
                      <a:r>
                        <a:rPr lang="zh-CN" altLang="en-US" sz="1100" b="1" i="0" dirty="0">
                          <a:solidFill>
                            <a:srgbClr val="000000"/>
                          </a:solidFill>
                          <a:effectLst/>
                        </a:rPr>
                        <a:t>年</a:t>
                      </a:r>
                      <a:r>
                        <a:rPr lang="en-US" altLang="zh-CN" sz="1100" b="1" i="0" dirty="0">
                          <a:solidFill>
                            <a:srgbClr val="000000"/>
                          </a:solidFill>
                          <a:effectLst/>
                        </a:rPr>
                        <a:t>7</a:t>
                      </a:r>
                      <a:r>
                        <a:rPr lang="zh-CN" altLang="en-US" sz="1100" b="1" i="0" dirty="0">
                          <a:solidFill>
                            <a:srgbClr val="000000"/>
                          </a:solidFill>
                          <a:effectLst/>
                        </a:rPr>
                        <a:t>月</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en-US" altLang="zh-CN" sz="1100" b="1" i="0" dirty="0">
                          <a:solidFill>
                            <a:srgbClr val="000000"/>
                          </a:solidFill>
                          <a:effectLst/>
                        </a:rPr>
                        <a:t>2024</a:t>
                      </a:r>
                      <a:r>
                        <a:rPr lang="zh-CN" altLang="en-US" sz="1100" b="1" i="0" dirty="0">
                          <a:solidFill>
                            <a:srgbClr val="000000"/>
                          </a:solidFill>
                          <a:effectLst/>
                        </a:rPr>
                        <a:t>年</a:t>
                      </a:r>
                      <a:r>
                        <a:rPr lang="en-US" altLang="zh-CN" sz="1100" b="1" i="0" dirty="0">
                          <a:solidFill>
                            <a:srgbClr val="000000"/>
                          </a:solidFill>
                          <a:effectLst/>
                        </a:rPr>
                        <a:t>8</a:t>
                      </a:r>
                      <a:r>
                        <a:rPr lang="zh-CN" altLang="en-US" sz="1100" b="1" i="0" dirty="0">
                          <a:solidFill>
                            <a:srgbClr val="000000"/>
                          </a:solidFill>
                          <a:effectLst/>
                        </a:rPr>
                        <a:t>月</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100" b="1" i="0" dirty="0">
                          <a:solidFill>
                            <a:srgbClr val="000000"/>
                          </a:solidFill>
                          <a:effectLst/>
                        </a:rPr>
                        <a:t>环比</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tc>
                  <a:txBody>
                    <a:bodyPr/>
                    <a:lstStyle/>
                    <a:p>
                      <a:pPr algn="ctr" fontAlgn="ctr" latinLnBrk="0"/>
                      <a:r>
                        <a:rPr lang="zh-CN" altLang="en-US" sz="1100" b="1" i="0" dirty="0">
                          <a:solidFill>
                            <a:srgbClr val="000000"/>
                          </a:solidFill>
                          <a:effectLst/>
                        </a:rPr>
                        <a:t>同比</a:t>
                      </a: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solidFill>
                      <a:srgbClr val="8EE085"/>
                    </a:solidFill>
                  </a:tcPr>
                </a:tc>
                <a:extLst>
                  <a:ext uri="{0D108BD9-81ED-4DB2-BD59-A6C34878D82A}">
                    <a16:rowId xmlns="" xmlns:a16="http://schemas.microsoft.com/office/drawing/2014/main" val="10000"/>
                  </a:ext>
                </a:extLst>
              </a:tr>
              <a:tr h="377559">
                <a:tc>
                  <a:txBody>
                    <a:bodyPr/>
                    <a:lstStyle/>
                    <a:p>
                      <a:pPr algn="l" fontAlgn="ctr" latinLnBrk="0"/>
                      <a:r>
                        <a:rPr lang="zh-CN" altLang="en-US" sz="1100" b="0" i="0" dirty="0">
                          <a:solidFill>
                            <a:srgbClr val="000000"/>
                          </a:solidFill>
                          <a:effectLst/>
                        </a:rPr>
                        <a:t>山东</a:t>
                      </a:r>
                      <a:r>
                        <a:rPr lang="zh-CN" altLang="en-US" sz="1100" b="0" i="0" dirty="0" smtClean="0">
                          <a:solidFill>
                            <a:srgbClr val="000000"/>
                          </a:solidFill>
                          <a:effectLst/>
                        </a:rPr>
                        <a:t>（下单时间）</a:t>
                      </a:r>
                      <a:endParaRPr lang="zh-CN" altLang="en-US" sz="1100" b="0" i="0" dirty="0">
                        <a:solidFill>
                          <a:srgbClr val="000000"/>
                        </a:solidFill>
                        <a:effectLst/>
                      </a:endParaRP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smtClean="0">
                          <a:solidFill>
                            <a:srgbClr val="000000"/>
                          </a:solidFill>
                          <a:effectLst/>
                        </a:rPr>
                        <a:t>92%</a:t>
                      </a:r>
                      <a:endParaRPr lang="en-US" altLang="zh-CN" sz="1200" b="0" i="0" dirty="0">
                        <a:solidFill>
                          <a:srgbClr val="000000"/>
                        </a:solidFill>
                        <a:effectLst/>
                      </a:endParaRP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dirty="0" smtClean="0">
                          <a:solidFill>
                            <a:srgbClr val="000000"/>
                          </a:solidFill>
                          <a:effectLst/>
                        </a:rPr>
                        <a:t>100%</a:t>
                      </a:r>
                      <a:endParaRPr lang="en-US" altLang="zh-CN" sz="1100" b="0" i="0" dirty="0">
                        <a:solidFill>
                          <a:srgbClr val="000000"/>
                        </a:solidFill>
                        <a:effectLst/>
                      </a:endParaRP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dirty="0" smtClean="0">
                          <a:solidFill>
                            <a:srgbClr val="000000"/>
                          </a:solidFill>
                          <a:effectLst/>
                        </a:rPr>
                        <a:t>83%</a:t>
                      </a:r>
                      <a:endParaRPr lang="en-US" altLang="zh-CN" sz="1100" b="0" i="0" dirty="0">
                        <a:solidFill>
                          <a:srgbClr val="000000"/>
                        </a:solidFill>
                        <a:effectLst/>
                      </a:endParaRP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dirty="0" smtClean="0">
                          <a:solidFill>
                            <a:srgbClr val="F54A45"/>
                          </a:solidFill>
                          <a:effectLst/>
                        </a:rPr>
                        <a:t>↓</a:t>
                      </a:r>
                      <a:r>
                        <a:rPr lang="en-US" altLang="zh-CN" sz="1600" b="0" i="0" dirty="0" smtClean="0">
                          <a:solidFill>
                            <a:srgbClr val="F54A45"/>
                          </a:solidFill>
                          <a:effectLst/>
                        </a:rPr>
                        <a:t>8%</a:t>
                      </a:r>
                      <a:endParaRPr lang="en-US" altLang="zh-CN" sz="1600" b="0" i="0" dirty="0">
                        <a:solidFill>
                          <a:srgbClr val="F54A45"/>
                        </a:solidFill>
                        <a:effectLst/>
                      </a:endParaRP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dirty="0" smtClean="0">
                          <a:solidFill>
                            <a:srgbClr val="F54A45"/>
                          </a:solidFill>
                          <a:effectLst/>
                        </a:rPr>
                        <a:t>↑</a:t>
                      </a:r>
                      <a:r>
                        <a:rPr lang="en-US" altLang="zh-CN" sz="1600" b="0" i="0" dirty="0" smtClean="0">
                          <a:solidFill>
                            <a:srgbClr val="F54A45"/>
                          </a:solidFill>
                          <a:effectLst/>
                        </a:rPr>
                        <a:t>9%</a:t>
                      </a:r>
                      <a:endParaRPr lang="en-US" altLang="zh-CN" sz="1600" b="0" i="0" dirty="0">
                        <a:solidFill>
                          <a:srgbClr val="F54A45"/>
                        </a:solidFill>
                        <a:effectLst/>
                      </a:endParaRP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 xmlns:a16="http://schemas.microsoft.com/office/drawing/2014/main" val="10001"/>
                  </a:ext>
                </a:extLst>
              </a:tr>
              <a:tr h="377559">
                <a:tc>
                  <a:txBody>
                    <a:bodyPr/>
                    <a:lstStyle/>
                    <a:p>
                      <a:pPr algn="l" fontAlgn="ctr" latinLnBrk="0"/>
                      <a:r>
                        <a:rPr lang="zh-CN" altLang="en-US" sz="1100" b="0" i="0" dirty="0">
                          <a:solidFill>
                            <a:srgbClr val="000000"/>
                          </a:solidFill>
                          <a:effectLst/>
                        </a:rPr>
                        <a:t>上海 </a:t>
                      </a:r>
                      <a:r>
                        <a:rPr lang="zh-CN" altLang="en-US" sz="1100" b="0" i="0" dirty="0" smtClean="0">
                          <a:solidFill>
                            <a:srgbClr val="000000"/>
                          </a:solidFill>
                          <a:effectLst/>
                        </a:rPr>
                        <a:t>（下单时间）</a:t>
                      </a:r>
                      <a:endParaRPr lang="zh-CN" altLang="en-US" sz="1100" b="0" i="0" dirty="0">
                        <a:solidFill>
                          <a:srgbClr val="000000"/>
                        </a:solidFill>
                        <a:effectLst/>
                      </a:endParaRP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smtClean="0">
                          <a:solidFill>
                            <a:srgbClr val="000000"/>
                          </a:solidFill>
                          <a:effectLst/>
                        </a:rPr>
                        <a:t>92%</a:t>
                      </a:r>
                      <a:endParaRPr lang="en-US" altLang="zh-CN" sz="1200" b="0" i="0" dirty="0">
                        <a:solidFill>
                          <a:srgbClr val="000000"/>
                        </a:solidFill>
                        <a:effectLst/>
                      </a:endParaRP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dirty="0" smtClean="0">
                          <a:solidFill>
                            <a:srgbClr val="000000"/>
                          </a:solidFill>
                          <a:effectLst/>
                        </a:rPr>
                        <a:t>80%</a:t>
                      </a:r>
                      <a:endParaRPr lang="en-US" altLang="zh-CN" sz="1100" b="0" i="0" dirty="0">
                        <a:solidFill>
                          <a:srgbClr val="000000"/>
                        </a:solidFill>
                        <a:effectLst/>
                      </a:endParaRP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dirty="0" smtClean="0">
                          <a:solidFill>
                            <a:srgbClr val="000000"/>
                          </a:solidFill>
                          <a:effectLst/>
                        </a:rPr>
                        <a:t>100%</a:t>
                      </a:r>
                      <a:endParaRPr lang="en-US" altLang="zh-CN" sz="1100" b="0" i="0" dirty="0">
                        <a:solidFill>
                          <a:srgbClr val="000000"/>
                        </a:solidFill>
                        <a:effectLst/>
                      </a:endParaRP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dirty="0" smtClean="0">
                          <a:solidFill>
                            <a:srgbClr val="F54A45"/>
                          </a:solidFill>
                          <a:effectLst/>
                        </a:rPr>
                        <a:t>↑</a:t>
                      </a:r>
                      <a:r>
                        <a:rPr lang="en-US" altLang="zh-CN" sz="1600" b="0" i="0" dirty="0" smtClean="0">
                          <a:solidFill>
                            <a:srgbClr val="F54A45"/>
                          </a:solidFill>
                          <a:effectLst/>
                        </a:rPr>
                        <a:t>12%</a:t>
                      </a:r>
                      <a:endParaRPr lang="en-US" altLang="zh-CN" sz="1600" b="0" i="0" dirty="0">
                        <a:solidFill>
                          <a:srgbClr val="F54A45"/>
                        </a:solidFill>
                        <a:effectLst/>
                      </a:endParaRP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dirty="0" smtClean="0">
                          <a:solidFill>
                            <a:srgbClr val="F54A45"/>
                          </a:solidFill>
                          <a:effectLst/>
                        </a:rPr>
                        <a:t>↓</a:t>
                      </a:r>
                      <a:r>
                        <a:rPr lang="en-US" altLang="zh-CN" sz="1600" b="0" i="0" dirty="0" smtClean="0">
                          <a:solidFill>
                            <a:srgbClr val="F54A45"/>
                          </a:solidFill>
                          <a:effectLst/>
                        </a:rPr>
                        <a:t>8%</a:t>
                      </a:r>
                      <a:endParaRPr lang="en-US" altLang="zh-CN" sz="1600" b="0" i="0" dirty="0">
                        <a:solidFill>
                          <a:srgbClr val="F54A45"/>
                        </a:solidFill>
                        <a:effectLst/>
                      </a:endParaRP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 xmlns:a16="http://schemas.microsoft.com/office/drawing/2014/main" val="10002"/>
                  </a:ext>
                </a:extLst>
              </a:tr>
              <a:tr h="377559">
                <a:tc>
                  <a:txBody>
                    <a:bodyPr/>
                    <a:lstStyle/>
                    <a:p>
                      <a:pPr algn="l" fontAlgn="ctr" latinLnBrk="0"/>
                      <a:r>
                        <a:rPr lang="zh-CN" altLang="en-US" sz="1100" b="0" i="0" dirty="0">
                          <a:solidFill>
                            <a:srgbClr val="000000"/>
                          </a:solidFill>
                          <a:effectLst/>
                        </a:rPr>
                        <a:t>山东</a:t>
                      </a:r>
                      <a:r>
                        <a:rPr lang="zh-CN" altLang="en-US" sz="1100" b="0" i="0" dirty="0" smtClean="0">
                          <a:solidFill>
                            <a:srgbClr val="000000"/>
                          </a:solidFill>
                          <a:effectLst/>
                        </a:rPr>
                        <a:t>（要货时间）</a:t>
                      </a:r>
                      <a:endParaRPr lang="zh-CN" altLang="en-US" sz="1100" b="0" i="0" dirty="0">
                        <a:solidFill>
                          <a:srgbClr val="000000"/>
                        </a:solidFill>
                        <a:effectLst/>
                      </a:endParaRP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smtClean="0">
                          <a:solidFill>
                            <a:srgbClr val="000000"/>
                          </a:solidFill>
                          <a:effectLst/>
                        </a:rPr>
                        <a:t>25%</a:t>
                      </a:r>
                      <a:endParaRPr lang="en-US" altLang="zh-CN" sz="1200" b="0" i="0" dirty="0">
                        <a:solidFill>
                          <a:srgbClr val="000000"/>
                        </a:solidFill>
                        <a:effectLst/>
                      </a:endParaRP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dirty="0" smtClean="0">
                          <a:solidFill>
                            <a:srgbClr val="000000"/>
                          </a:solidFill>
                          <a:effectLst/>
                        </a:rPr>
                        <a:t>20%</a:t>
                      </a:r>
                      <a:endParaRPr lang="en-US" altLang="zh-CN" sz="1100" b="0" i="0" dirty="0">
                        <a:solidFill>
                          <a:srgbClr val="000000"/>
                        </a:solidFill>
                        <a:effectLst/>
                      </a:endParaRP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dirty="0" smtClean="0">
                          <a:solidFill>
                            <a:srgbClr val="000000"/>
                          </a:solidFill>
                          <a:effectLst/>
                        </a:rPr>
                        <a:t>42%</a:t>
                      </a:r>
                      <a:endParaRPr lang="en-US" altLang="zh-CN" sz="1100" b="0" i="0" dirty="0">
                        <a:solidFill>
                          <a:srgbClr val="000000"/>
                        </a:solidFill>
                        <a:effectLst/>
                      </a:endParaRP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dirty="0" smtClean="0">
                          <a:solidFill>
                            <a:srgbClr val="F54A45"/>
                          </a:solidFill>
                          <a:effectLst/>
                        </a:rPr>
                        <a:t>↑</a:t>
                      </a:r>
                      <a:r>
                        <a:rPr lang="en-US" altLang="zh-CN" sz="1600" b="0" i="0" dirty="0" smtClean="0">
                          <a:solidFill>
                            <a:srgbClr val="F54A45"/>
                          </a:solidFill>
                          <a:effectLst/>
                        </a:rPr>
                        <a:t>5%</a:t>
                      </a:r>
                      <a:endParaRPr lang="en-US" altLang="zh-CN" sz="1600" b="0" i="0" dirty="0">
                        <a:solidFill>
                          <a:srgbClr val="F54A45"/>
                        </a:solidFill>
                        <a:effectLst/>
                      </a:endParaRP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dirty="0" smtClean="0">
                          <a:solidFill>
                            <a:srgbClr val="F54A45"/>
                          </a:solidFill>
                          <a:effectLst/>
                        </a:rPr>
                        <a:t>↓</a:t>
                      </a:r>
                      <a:r>
                        <a:rPr lang="en-US" altLang="zh-CN" sz="1600" b="0" i="0" dirty="0" smtClean="0">
                          <a:solidFill>
                            <a:srgbClr val="F54A45"/>
                          </a:solidFill>
                          <a:effectLst/>
                        </a:rPr>
                        <a:t>17%</a:t>
                      </a:r>
                      <a:endParaRPr lang="en-US" altLang="zh-CN" sz="1600" b="0" i="0" dirty="0">
                        <a:solidFill>
                          <a:srgbClr val="F54A45"/>
                        </a:solidFill>
                        <a:effectLst/>
                      </a:endParaRP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 xmlns:a16="http://schemas.microsoft.com/office/drawing/2014/main" val="10003"/>
                  </a:ext>
                </a:extLst>
              </a:tr>
              <a:tr h="377559">
                <a:tc>
                  <a:txBody>
                    <a:bodyPr/>
                    <a:lstStyle/>
                    <a:p>
                      <a:pPr algn="l" fontAlgn="ctr" latinLnBrk="0"/>
                      <a:r>
                        <a:rPr lang="zh-CN" altLang="en-US" sz="1100" b="0" i="0" dirty="0">
                          <a:solidFill>
                            <a:srgbClr val="000000"/>
                          </a:solidFill>
                          <a:effectLst/>
                        </a:rPr>
                        <a:t>上海 </a:t>
                      </a:r>
                      <a:r>
                        <a:rPr lang="zh-CN" altLang="en-US" sz="1100" b="0" i="0" dirty="0" smtClean="0">
                          <a:solidFill>
                            <a:srgbClr val="000000"/>
                          </a:solidFill>
                          <a:effectLst/>
                        </a:rPr>
                        <a:t>（要货时间）</a:t>
                      </a:r>
                      <a:endParaRPr lang="zh-CN" altLang="en-US" sz="1100" b="0" i="0" dirty="0">
                        <a:solidFill>
                          <a:srgbClr val="000000"/>
                        </a:solidFill>
                        <a:effectLst/>
                      </a:endParaRP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200" b="0" i="0" dirty="0" smtClean="0">
                          <a:solidFill>
                            <a:srgbClr val="000000"/>
                          </a:solidFill>
                          <a:effectLst/>
                        </a:rPr>
                        <a:t>67%</a:t>
                      </a:r>
                      <a:endParaRPr lang="en-US" altLang="zh-CN" sz="1200" b="0" i="0" dirty="0">
                        <a:solidFill>
                          <a:srgbClr val="000000"/>
                        </a:solidFill>
                        <a:effectLst/>
                      </a:endParaRP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dirty="0" smtClean="0">
                          <a:solidFill>
                            <a:srgbClr val="000000"/>
                          </a:solidFill>
                          <a:effectLst/>
                        </a:rPr>
                        <a:t>60%</a:t>
                      </a:r>
                      <a:endParaRPr lang="en-US" altLang="zh-CN" sz="1100" b="0" i="0" dirty="0">
                        <a:solidFill>
                          <a:srgbClr val="000000"/>
                        </a:solidFill>
                        <a:effectLst/>
                      </a:endParaRP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algn="ctr" fontAlgn="ctr" latinLnBrk="0"/>
                      <a:r>
                        <a:rPr lang="en-US" altLang="zh-CN" sz="1100" b="0" i="0" dirty="0" smtClean="0">
                          <a:solidFill>
                            <a:srgbClr val="000000"/>
                          </a:solidFill>
                          <a:effectLst/>
                        </a:rPr>
                        <a:t>67%</a:t>
                      </a:r>
                      <a:endParaRPr lang="en-US" altLang="zh-CN" sz="1100" b="0" i="0" dirty="0">
                        <a:solidFill>
                          <a:srgbClr val="000000"/>
                        </a:solidFill>
                        <a:effectLst/>
                      </a:endParaRP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dirty="0" smtClean="0">
                          <a:solidFill>
                            <a:srgbClr val="F54A45"/>
                          </a:solidFill>
                          <a:effectLst/>
                        </a:rPr>
                        <a:t>↑</a:t>
                      </a:r>
                      <a:r>
                        <a:rPr lang="en-US" altLang="zh-CN" sz="1600" b="0" i="0" dirty="0" smtClean="0">
                          <a:solidFill>
                            <a:srgbClr val="F54A45"/>
                          </a:solidFill>
                          <a:effectLst/>
                        </a:rPr>
                        <a:t>7%</a:t>
                      </a:r>
                      <a:endParaRPr lang="en-US" altLang="zh-CN" sz="1600" b="0" i="0" dirty="0">
                        <a:solidFill>
                          <a:srgbClr val="F54A45"/>
                        </a:solidFill>
                        <a:effectLst/>
                      </a:endParaRP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tc>
                  <a:txBody>
                    <a:bodyPr/>
                    <a:lstStyle/>
                    <a:p>
                      <a:pPr fontAlgn="ctr" latinLnBrk="0"/>
                      <a:r>
                        <a:rPr lang="zh-CN" altLang="en-US" sz="1600" b="0" i="0" dirty="0" smtClean="0">
                          <a:solidFill>
                            <a:srgbClr val="F54A45"/>
                          </a:solidFill>
                          <a:effectLst/>
                        </a:rPr>
                        <a:t>持平</a:t>
                      </a:r>
                      <a:endParaRPr lang="en-US" altLang="zh-CN" sz="1600" b="0" i="0" dirty="0">
                        <a:solidFill>
                          <a:srgbClr val="F54A45"/>
                        </a:solidFill>
                        <a:effectLst/>
                      </a:endParaRPr>
                    </a:p>
                  </a:txBody>
                  <a:tcPr anchor="ctr">
                    <a:lnL w="6350" cap="flat" cmpd="sng" algn="ctr">
                      <a:solidFill>
                        <a:srgbClr val="1F2329"/>
                      </a:solidFill>
                      <a:prstDash val="solid"/>
                      <a:round/>
                      <a:headEnd type="none" w="med" len="med"/>
                      <a:tailEnd type="none" w="med" len="med"/>
                    </a:lnL>
                    <a:lnR w="6350" cap="flat" cmpd="sng" algn="ctr">
                      <a:solidFill>
                        <a:srgbClr val="1F2329"/>
                      </a:solidFill>
                      <a:prstDash val="solid"/>
                      <a:round/>
                      <a:headEnd type="none" w="med" len="med"/>
                      <a:tailEnd type="none" w="med" len="med"/>
                    </a:lnR>
                    <a:lnT w="6350" cap="flat" cmpd="sng" algn="ctr">
                      <a:solidFill>
                        <a:srgbClr val="1F2329"/>
                      </a:solidFill>
                      <a:prstDash val="solid"/>
                      <a:round/>
                      <a:headEnd type="none" w="med" len="med"/>
                      <a:tailEnd type="none" w="med" len="med"/>
                    </a:lnT>
                    <a:lnB w="6350" cap="flat" cmpd="sng" algn="ctr">
                      <a:solidFill>
                        <a:srgbClr val="1F2329"/>
                      </a:solidFill>
                      <a:prstDash val="solid"/>
                      <a:round/>
                      <a:headEnd type="none" w="med" len="med"/>
                      <a:tailEnd type="none" w="med" len="med"/>
                    </a:lnB>
                  </a:tcPr>
                </a:tc>
                <a:extLst>
                  <a:ext uri="{0D108BD9-81ED-4DB2-BD59-A6C34878D82A}">
                    <a16:rowId xmlns="" xmlns:a16="http://schemas.microsoft.com/office/drawing/2014/main" val="10004"/>
                  </a:ext>
                </a:extLst>
              </a:tr>
            </a:tbl>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1498804" y="5178913"/>
            <a:ext cx="4497355" cy="5244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4" y="2368089"/>
            <a:ext cx="7317595" cy="3463544"/>
          </a:xfrm>
          <a:prstGeom prst="rect">
            <a:avLst/>
          </a:prstGeom>
        </p:spPr>
        <p:txBody>
          <a:bodyPr vert="horz" lIns="91440" tIns="45720" rIns="91440" bIns="45720" rtlCol="0">
            <a:normAutofit lnSpcReduction="10000"/>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20204" pitchFamily="34" charset="0"/>
              <a:buChar char="•"/>
              <a:defRPr/>
            </a:pPr>
            <a:r>
              <a:rPr lang="zh-CN" altLang="en-US" dirty="0" smtClean="0"/>
              <a:t>背景与目标</a:t>
            </a:r>
            <a:endParaRPr lang="en-US" altLang="zh-CN" dirty="0"/>
          </a:p>
          <a:p>
            <a:pPr marL="342900" indent="-342900">
              <a:lnSpc>
                <a:spcPct val="150000"/>
              </a:lnSpc>
              <a:buFont typeface="Arial" panose="020B0604020202020204" pitchFamily="34" charset="0"/>
              <a:buChar char="•"/>
              <a:defRPr/>
            </a:pPr>
            <a:r>
              <a:rPr lang="zh-CN" altLang="en-US" dirty="0" smtClean="0"/>
              <a:t>实践举措</a:t>
            </a:r>
            <a:endParaRPr lang="en-US" altLang="zh-CN" dirty="0"/>
          </a:p>
          <a:p>
            <a:pPr marL="342900" indent="-342900">
              <a:lnSpc>
                <a:spcPct val="150000"/>
              </a:lnSpc>
              <a:buFont typeface="Arial" panose="020B0604020202020204" pitchFamily="34" charset="0"/>
              <a:buChar char="•"/>
              <a:defRPr/>
            </a:pPr>
            <a:r>
              <a:rPr lang="zh-CN" altLang="en-US" dirty="0" smtClean="0"/>
              <a:t>方案介绍：如何做准</a:t>
            </a:r>
            <a:r>
              <a:rPr lang="en-US" altLang="zh-CN" dirty="0" smtClean="0"/>
              <a:t>N</a:t>
            </a:r>
            <a:endParaRPr lang="en-US" altLang="zh-CN" dirty="0"/>
          </a:p>
          <a:p>
            <a:pPr marL="342900" indent="-342900">
              <a:lnSpc>
                <a:spcPct val="150000"/>
              </a:lnSpc>
              <a:buFont typeface="Arial" panose="020B0604020202020204" pitchFamily="34" charset="0"/>
              <a:buChar char="•"/>
              <a:defRPr/>
            </a:pPr>
            <a:r>
              <a:rPr lang="zh-CN" altLang="en-US" dirty="0" smtClean="0"/>
              <a:t>方案介绍：如何作准</a:t>
            </a:r>
            <a:r>
              <a:rPr lang="en-US" altLang="zh-CN" dirty="0" smtClean="0"/>
              <a:t>T</a:t>
            </a:r>
            <a:endParaRPr lang="en-US" altLang="zh-CN" dirty="0"/>
          </a:p>
          <a:p>
            <a:pPr marL="342900" indent="-342900">
              <a:lnSpc>
                <a:spcPct val="150000"/>
              </a:lnSpc>
              <a:buFont typeface="Arial" panose="020B0604020202020204" pitchFamily="34" charset="0"/>
              <a:buChar char="•"/>
              <a:defRPr/>
            </a:pPr>
            <a:r>
              <a:rPr lang="zh-CN" altLang="en-US" dirty="0" smtClean="0"/>
              <a:t>实践效果</a:t>
            </a:r>
            <a:r>
              <a:rPr lang="en-US" altLang="zh-CN" dirty="0" smtClean="0"/>
              <a:t>-</a:t>
            </a:r>
            <a:r>
              <a:rPr lang="zh-CN" altLang="en-US" dirty="0" smtClean="0"/>
              <a:t>试点区域验证结果</a:t>
            </a:r>
            <a:endParaRPr lang="en-US" altLang="zh-CN" dirty="0" smtClean="0"/>
          </a:p>
          <a:p>
            <a:pPr marL="342900" indent="-342900">
              <a:lnSpc>
                <a:spcPct val="150000"/>
              </a:lnSpc>
              <a:buFont typeface="Arial" panose="020B0604020202020204" pitchFamily="34" charset="0"/>
              <a:buChar char="•"/>
              <a:defRPr/>
            </a:pPr>
            <a:r>
              <a:rPr lang="zh-CN" altLang="en-US" dirty="0" smtClean="0"/>
              <a:t>心得体会，认知感悟</a:t>
            </a:r>
            <a:endParaRPr dirty="0"/>
          </a:p>
        </p:txBody>
      </p:sp>
    </p:spTree>
    <p:extLst>
      <p:ext uri="{BB962C8B-B14F-4D97-AF65-F5344CB8AC3E}">
        <p14:creationId xmlns:p14="http://schemas.microsoft.com/office/powerpoint/2010/main" val="138519323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6353606" cy="495935"/>
          </a:xfrm>
        </p:spPr>
        <p:txBody>
          <a:bodyPr/>
          <a:lstStyle/>
          <a:p>
            <a:r>
              <a:rPr lang="zh-CN" altLang="en-US" dirty="0" smtClean="0"/>
              <a:t>心得体会</a:t>
            </a:r>
            <a:endParaRPr lang="zh-CN" altLang="en-US" dirty="0"/>
          </a:p>
        </p:txBody>
      </p:sp>
      <p:sp>
        <p:nvSpPr>
          <p:cNvPr id="3" name="矩形 2"/>
          <p:cNvSpPr/>
          <p:nvPr/>
        </p:nvSpPr>
        <p:spPr>
          <a:xfrm>
            <a:off x="304800" y="1086758"/>
            <a:ext cx="6086668" cy="5262979"/>
          </a:xfrm>
          <a:prstGeom prst="rect">
            <a:avLst/>
          </a:prstGeom>
        </p:spPr>
        <p:txBody>
          <a:bodyPr wrap="square">
            <a:spAutoFit/>
          </a:bodyPr>
          <a:lstStyle/>
          <a:p>
            <a:r>
              <a:rPr lang="zh-CN" altLang="en-US" sz="1400" dirty="0"/>
              <a:t>在 </a:t>
            </a:r>
            <a:r>
              <a:rPr lang="en-US" altLang="zh-CN" sz="1400" dirty="0"/>
              <a:t>MO </a:t>
            </a:r>
            <a:r>
              <a:rPr lang="zh-CN" altLang="en-US" sz="1400" dirty="0"/>
              <a:t>流程 “做准 </a:t>
            </a:r>
            <a:r>
              <a:rPr lang="en-US" altLang="zh-CN" sz="1400" dirty="0"/>
              <a:t>N </a:t>
            </a:r>
            <a:r>
              <a:rPr lang="zh-CN" altLang="en-US" sz="1400" dirty="0"/>
              <a:t>和 </a:t>
            </a:r>
            <a:r>
              <a:rPr lang="en-US" altLang="zh-CN" sz="1400" dirty="0"/>
              <a:t>T </a:t>
            </a:r>
            <a:r>
              <a:rPr lang="zh-CN" altLang="en-US" sz="1400" dirty="0"/>
              <a:t>提升漏斗质量” 项目中，运用自工序理念、方法及工具（如数据看板监控指标、检查表梳理漏斗问题等），对自工序形成新认知：其并非单一工具应用，而是 “工具组合 </a:t>
            </a:r>
            <a:r>
              <a:rPr lang="en-US" altLang="zh-CN" sz="1400" dirty="0"/>
              <a:t>+ </a:t>
            </a:r>
            <a:r>
              <a:rPr lang="zh-CN" altLang="en-US" sz="1400" dirty="0"/>
              <a:t>业务融合 </a:t>
            </a:r>
            <a:r>
              <a:rPr lang="en-US" altLang="zh-CN" sz="1400" dirty="0"/>
              <a:t>+ </a:t>
            </a:r>
            <a:r>
              <a:rPr lang="zh-CN" altLang="en-US" sz="1400" dirty="0"/>
              <a:t>协同共识” 的系统方法论</a:t>
            </a:r>
            <a:r>
              <a:rPr lang="zh-CN" altLang="en-US" sz="1400" dirty="0" smtClean="0"/>
              <a:t>。</a:t>
            </a:r>
            <a:endParaRPr lang="en-US" altLang="zh-CN" sz="1400" dirty="0" smtClean="0"/>
          </a:p>
          <a:p>
            <a:endParaRPr lang="zh-CN" altLang="en-US" sz="1400" dirty="0"/>
          </a:p>
          <a:p>
            <a:r>
              <a:rPr lang="zh-CN" altLang="en-US" sz="1400" b="1" dirty="0"/>
              <a:t>自工序从意识与能力双维度提供科学指引</a:t>
            </a:r>
            <a:r>
              <a:rPr lang="zh-CN" altLang="en-US" sz="1400" b="1" dirty="0" smtClean="0"/>
              <a:t>：</a:t>
            </a:r>
            <a:endParaRPr lang="en-US" altLang="zh-CN" sz="1400" b="1" dirty="0" smtClean="0"/>
          </a:p>
          <a:p>
            <a:r>
              <a:rPr lang="en-US" altLang="zh-CN" sz="1400" dirty="0" smtClean="0"/>
              <a:t>1</a:t>
            </a:r>
            <a:r>
              <a:rPr lang="zh-CN" altLang="en-US" sz="1400" dirty="0" smtClean="0"/>
              <a:t>、意识</a:t>
            </a:r>
            <a:r>
              <a:rPr lang="zh-CN" altLang="en-US" sz="1400" dirty="0"/>
              <a:t>上，推动项目成员重视漏斗数据梳理、</a:t>
            </a:r>
            <a:r>
              <a:rPr lang="en-US" altLang="zh-CN" sz="1400" dirty="0"/>
              <a:t>N/T </a:t>
            </a:r>
            <a:r>
              <a:rPr lang="zh-CN" altLang="en-US" sz="1400" dirty="0"/>
              <a:t>值校准等自身工序，做到 “自己的工作自己做好、问题自主解决”，避免将数据偏差、校准滞后等问题传递至后道（如影响客户订单交付、供应链规划）</a:t>
            </a:r>
            <a:r>
              <a:rPr lang="zh-CN" altLang="en-US" sz="1400" dirty="0" smtClean="0"/>
              <a:t>；</a:t>
            </a:r>
            <a:endParaRPr lang="en-US" altLang="zh-CN" sz="1400" dirty="0" smtClean="0"/>
          </a:p>
          <a:p>
            <a:r>
              <a:rPr lang="en-US" altLang="zh-CN" sz="1400" dirty="0" smtClean="0"/>
              <a:t>2</a:t>
            </a:r>
            <a:r>
              <a:rPr lang="zh-CN" altLang="en-US" sz="1400" dirty="0" smtClean="0"/>
              <a:t>、能力</a:t>
            </a:r>
            <a:r>
              <a:rPr lang="zh-CN" altLang="en-US" sz="1400" dirty="0"/>
              <a:t>上，依托自工序工具（如 </a:t>
            </a:r>
            <a:r>
              <a:rPr lang="en-US" altLang="zh-CN" sz="1400" dirty="0"/>
              <a:t>5Why </a:t>
            </a:r>
            <a:r>
              <a:rPr lang="zh-CN" altLang="en-US" sz="1400" dirty="0"/>
              <a:t>分析法定位数据不准根因、控制图监控 </a:t>
            </a:r>
            <a:r>
              <a:rPr lang="en-US" altLang="zh-CN" sz="1400" dirty="0"/>
              <a:t>N/T </a:t>
            </a:r>
            <a:r>
              <a:rPr lang="zh-CN" altLang="en-US" sz="1400" dirty="0"/>
              <a:t>值波动），助力掌握 “发现 </a:t>
            </a:r>
            <a:r>
              <a:rPr lang="en-US" altLang="zh-CN" sz="1400" dirty="0"/>
              <a:t>- </a:t>
            </a:r>
            <a:r>
              <a:rPr lang="zh-CN" altLang="en-US" sz="1400" dirty="0"/>
              <a:t>分析 </a:t>
            </a:r>
            <a:r>
              <a:rPr lang="en-US" altLang="zh-CN" sz="1400" dirty="0"/>
              <a:t>- </a:t>
            </a:r>
            <a:r>
              <a:rPr lang="zh-CN" altLang="en-US" sz="1400" dirty="0"/>
              <a:t>解决” 问题的标准化方法，有效提升漏斗数据可信度（如 </a:t>
            </a:r>
            <a:r>
              <a:rPr lang="en-US" altLang="zh-CN" sz="1400" dirty="0"/>
              <a:t>25 </a:t>
            </a:r>
            <a:r>
              <a:rPr lang="zh-CN" altLang="en-US" sz="1400" dirty="0"/>
              <a:t>年山东区域下单清单准确率从 </a:t>
            </a:r>
            <a:r>
              <a:rPr lang="en-US" altLang="zh-CN" sz="1400" dirty="0"/>
              <a:t>66% </a:t>
            </a:r>
            <a:r>
              <a:rPr lang="zh-CN" altLang="en-US" sz="1400" dirty="0"/>
              <a:t>升至 </a:t>
            </a:r>
            <a:r>
              <a:rPr lang="en-US" altLang="zh-CN" sz="1400" dirty="0"/>
              <a:t>71%</a:t>
            </a:r>
            <a:r>
              <a:rPr lang="zh-CN" altLang="en-US" sz="1400" dirty="0"/>
              <a:t>）与工作质量</a:t>
            </a:r>
            <a:r>
              <a:rPr lang="zh-CN" altLang="en-US" sz="1400" dirty="0" smtClean="0"/>
              <a:t>。</a:t>
            </a:r>
            <a:endParaRPr lang="en-US" altLang="zh-CN" sz="1400" dirty="0" smtClean="0"/>
          </a:p>
          <a:p>
            <a:endParaRPr lang="zh-CN" altLang="en-US" sz="1400" dirty="0"/>
          </a:p>
          <a:p>
            <a:r>
              <a:rPr lang="zh-CN" altLang="en-US" sz="1400" b="1" dirty="0"/>
              <a:t>可复用实践经验为 “三步骤落地法”</a:t>
            </a:r>
            <a:r>
              <a:rPr lang="zh-CN" altLang="en-US" sz="1400" b="1" dirty="0" smtClean="0"/>
              <a:t>：</a:t>
            </a:r>
            <a:endParaRPr lang="en-US" altLang="zh-CN" sz="1400" b="1" dirty="0" smtClean="0"/>
          </a:p>
          <a:p>
            <a:r>
              <a:rPr lang="zh-CN" altLang="en-US" sz="1400" dirty="0" smtClean="0"/>
              <a:t>一</a:t>
            </a:r>
            <a:r>
              <a:rPr lang="zh-CN" altLang="en-US" sz="1400" dirty="0"/>
              <a:t>是结合漏斗质量痛点（如预测不准）选工具（用数据看板跟踪 </a:t>
            </a:r>
            <a:r>
              <a:rPr lang="en-US" altLang="zh-CN" sz="1400" dirty="0"/>
              <a:t>N/T </a:t>
            </a:r>
            <a:r>
              <a:rPr lang="zh-CN" altLang="en-US" sz="1400" dirty="0"/>
              <a:t>指标）</a:t>
            </a:r>
            <a:r>
              <a:rPr lang="zh-CN" altLang="en-US" sz="1400" dirty="0" smtClean="0"/>
              <a:t>；</a:t>
            </a:r>
            <a:endParaRPr lang="en-US" altLang="zh-CN" sz="1400" dirty="0" smtClean="0"/>
          </a:p>
          <a:p>
            <a:r>
              <a:rPr lang="zh-CN" altLang="en-US" sz="1400" dirty="0" smtClean="0"/>
              <a:t>二</a:t>
            </a:r>
            <a:r>
              <a:rPr lang="zh-CN" altLang="en-US" sz="1400" dirty="0"/>
              <a:t>是将工具嵌入 </a:t>
            </a:r>
            <a:r>
              <a:rPr lang="en-US" altLang="zh-CN" sz="1400" dirty="0"/>
              <a:t>MO </a:t>
            </a:r>
            <a:r>
              <a:rPr lang="zh-CN" altLang="en-US" sz="1400" dirty="0"/>
              <a:t>流程（在商机推进环节同步开展 </a:t>
            </a:r>
            <a:r>
              <a:rPr lang="en-US" altLang="zh-CN" sz="1400" dirty="0"/>
              <a:t>N/T </a:t>
            </a:r>
            <a:r>
              <a:rPr lang="zh-CN" altLang="en-US" sz="1400" dirty="0"/>
              <a:t>值自检）</a:t>
            </a:r>
            <a:r>
              <a:rPr lang="zh-CN" altLang="en-US" sz="1400" dirty="0" smtClean="0"/>
              <a:t>；</a:t>
            </a:r>
            <a:endParaRPr lang="en-US" altLang="zh-CN" sz="1400" dirty="0" smtClean="0"/>
          </a:p>
          <a:p>
            <a:r>
              <a:rPr lang="zh-CN" altLang="en-US" sz="1400" dirty="0" smtClean="0"/>
              <a:t>三</a:t>
            </a:r>
            <a:r>
              <a:rPr lang="zh-CN" altLang="en-US" sz="1400" dirty="0"/>
              <a:t>是通过培训宣贯达成团队共识，保障自工序动作落地</a:t>
            </a:r>
            <a:r>
              <a:rPr lang="zh-CN" altLang="en-US" sz="1400" dirty="0" smtClean="0"/>
              <a:t>。</a:t>
            </a:r>
            <a:endParaRPr lang="en-US" altLang="zh-CN" sz="1400" dirty="0" smtClean="0"/>
          </a:p>
          <a:p>
            <a:endParaRPr lang="zh-CN" altLang="en-US" sz="1400" dirty="0"/>
          </a:p>
          <a:p>
            <a:r>
              <a:rPr lang="zh-CN" altLang="en-US" sz="1400" b="1" dirty="0"/>
              <a:t>试点反思与改进方向有二</a:t>
            </a:r>
            <a:r>
              <a:rPr lang="zh-CN" altLang="en-US" sz="1400" b="1" dirty="0" smtClean="0"/>
              <a:t>：</a:t>
            </a:r>
            <a:endParaRPr lang="en-US" altLang="zh-CN" sz="1400" b="1" dirty="0" smtClean="0"/>
          </a:p>
          <a:p>
            <a:r>
              <a:rPr lang="zh-CN" altLang="en-US" sz="1400" dirty="0" smtClean="0"/>
              <a:t>一</a:t>
            </a:r>
            <a:r>
              <a:rPr lang="zh-CN" altLang="en-US" sz="1400" dirty="0"/>
              <a:t>是部分自工序工具（如 </a:t>
            </a:r>
            <a:r>
              <a:rPr lang="en-US" altLang="zh-CN" sz="1400" dirty="0"/>
              <a:t>N/T </a:t>
            </a:r>
            <a:r>
              <a:rPr lang="zh-CN" altLang="en-US" sz="1400" dirty="0"/>
              <a:t>值校准检查表）依赖人工记录，效率低，后续需结合 </a:t>
            </a:r>
            <a:r>
              <a:rPr lang="en-US" altLang="zh-CN" sz="1400" dirty="0"/>
              <a:t>MO </a:t>
            </a:r>
            <a:r>
              <a:rPr lang="zh-CN" altLang="en-US" sz="1400" dirty="0"/>
              <a:t>流程数字化规划，将校准标准、数据记录嵌入 </a:t>
            </a:r>
            <a:r>
              <a:rPr lang="en-US" altLang="zh-CN" sz="1400" dirty="0"/>
              <a:t>CRM </a:t>
            </a:r>
            <a:r>
              <a:rPr lang="zh-CN" altLang="en-US" sz="1400" dirty="0"/>
              <a:t>或看板系统</a:t>
            </a:r>
            <a:r>
              <a:rPr lang="zh-CN" altLang="en-US" sz="1400" dirty="0" smtClean="0"/>
              <a:t>；</a:t>
            </a:r>
            <a:endParaRPr lang="en-US" altLang="zh-CN" sz="1400" dirty="0" smtClean="0"/>
          </a:p>
          <a:p>
            <a:r>
              <a:rPr lang="zh-CN" altLang="en-US" sz="1400" dirty="0" smtClean="0"/>
              <a:t>二</a:t>
            </a:r>
            <a:r>
              <a:rPr lang="zh-CN" altLang="en-US" sz="1400" dirty="0"/>
              <a:t>是个别区域对自工序自主执行意识不足，需借高绩效区域经验（如山东区域准确率提升案例）强化认知，减少外部推动。</a:t>
            </a:r>
          </a:p>
        </p:txBody>
      </p:sp>
      <p:sp>
        <p:nvSpPr>
          <p:cNvPr id="4" name="AutoShape 1"/>
          <p:cNvSpPr>
            <a:spLocks noChangeAspect="1" noChangeArrowheads="1"/>
          </p:cNvSpPr>
          <p:nvPr/>
        </p:nvSpPr>
        <p:spPr bwMode="auto">
          <a:xfrm>
            <a:off x="0" y="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8" name="AutoShape 5"/>
          <p:cNvSpPr>
            <a:spLocks noChangeAspect="1" noChangeArrowheads="1"/>
          </p:cNvSpPr>
          <p:nvPr/>
        </p:nvSpPr>
        <p:spPr bwMode="auto">
          <a:xfrm>
            <a:off x="152400" y="1524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AutoShape 7"/>
          <p:cNvSpPr>
            <a:spLocks noChangeAspect="1" noChangeArrowheads="1"/>
          </p:cNvSpPr>
          <p:nvPr/>
        </p:nvSpPr>
        <p:spPr bwMode="auto">
          <a:xfrm>
            <a:off x="304800" y="3048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Rectangle 8"/>
          <p:cNvSpPr>
            <a:spLocks noChangeArrowheads="1"/>
          </p:cNvSpPr>
          <p:nvPr/>
        </p:nvSpPr>
        <p:spPr bwMode="auto">
          <a:xfrm>
            <a:off x="304800" y="3048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4" name="图片 13"/>
          <p:cNvPicPr>
            <a:picLocks noChangeAspect="1"/>
          </p:cNvPicPr>
          <p:nvPr/>
        </p:nvPicPr>
        <p:blipFill>
          <a:blip r:embed="rId2"/>
          <a:stretch>
            <a:fillRect/>
          </a:stretch>
        </p:blipFill>
        <p:spPr>
          <a:xfrm>
            <a:off x="6561978" y="1257388"/>
            <a:ext cx="5508786" cy="4921718"/>
          </a:xfrm>
          <a:prstGeom prst="rect">
            <a:avLst/>
          </a:prstGeom>
        </p:spPr>
      </p:pic>
    </p:spTree>
    <p:extLst>
      <p:ext uri="{BB962C8B-B14F-4D97-AF65-F5344CB8AC3E}">
        <p14:creationId xmlns:p14="http://schemas.microsoft.com/office/powerpoint/2010/main" val="21338501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2012293" y="5947150"/>
            <a:ext cx="1223412" cy="275588"/>
          </a:xfrm>
          <a:prstGeom prst="rect">
            <a:avLst/>
          </a:prstGeom>
          <a:noFill/>
        </p:spPr>
        <p:txBody>
          <a:bodyPr wrap="none" rtlCol="0">
            <a:spAutoFit/>
          </a:bodyPr>
          <a:lstStyle/>
          <a:p>
            <a:pPr>
              <a:lnSpc>
                <a:spcPct val="150000"/>
              </a:lnSpc>
            </a:pPr>
            <a:r>
              <a:rPr kumimoji="1" lang="zh-CN"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扫一扫了解更多资讯</a:t>
            </a:r>
          </a:p>
        </p:txBody>
      </p:sp>
      <p:pic>
        <p:nvPicPr>
          <p:cNvPr id="27" name="图片 26"/>
          <p:cNvPicPr>
            <a:picLocks noChangeAspect="1"/>
          </p:cNvPicPr>
          <p:nvPr/>
        </p:nvPicPr>
        <p:blipFill>
          <a:blip r:embed="rId2" cstate="screen"/>
          <a:stretch>
            <a:fillRect/>
          </a:stretch>
        </p:blipFill>
        <p:spPr>
          <a:xfrm>
            <a:off x="764301" y="5154553"/>
            <a:ext cx="1082787" cy="1082787"/>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190849" y="210817"/>
            <a:ext cx="7606768" cy="495935"/>
          </a:xfrm>
        </p:spPr>
        <p:txBody>
          <a:bodyPr/>
          <a:lstStyle/>
          <a:p>
            <a:r>
              <a:rPr lang="zh-CN" altLang="en-US" dirty="0"/>
              <a:t>要求到货时间</a:t>
            </a:r>
            <a:r>
              <a:rPr lang="en-US" altLang="zh-CN" dirty="0"/>
              <a:t>-</a:t>
            </a:r>
            <a:r>
              <a:rPr lang="zh-CN" altLang="en-US" dirty="0"/>
              <a:t>要素整理表（良品）</a:t>
            </a:r>
          </a:p>
        </p:txBody>
      </p:sp>
      <p:sp>
        <p:nvSpPr>
          <p:cNvPr id="6"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0" name="文本框 9"/>
          <p:cNvSpPr txBox="1"/>
          <p:nvPr/>
        </p:nvSpPr>
        <p:spPr>
          <a:xfrm>
            <a:off x="356716" y="917568"/>
            <a:ext cx="6099348" cy="824200"/>
          </a:xfrm>
          <a:prstGeom prst="rect">
            <a:avLst/>
          </a:prstGeom>
          <a:noFill/>
        </p:spPr>
        <p:txBody>
          <a:bodyPr wrap="square">
            <a:spAutoFit/>
          </a:bodyPr>
          <a:lstStyle/>
          <a:p>
            <a:pPr algn="l">
              <a:lnSpc>
                <a:spcPct val="150000"/>
              </a:lnSpc>
              <a:buNone/>
            </a:pPr>
            <a:r>
              <a:rPr lang="en-US" altLang="zh-CN" sz="1100" b="1" i="0" u="none" strike="noStrike" dirty="0">
                <a:solidFill>
                  <a:srgbClr val="000000"/>
                </a:solidFill>
                <a:effectLst/>
                <a:latin typeface="+mj-ea"/>
                <a:ea typeface="+mj-ea"/>
              </a:rPr>
              <a:t>《</a:t>
            </a:r>
            <a:r>
              <a:rPr lang="zh-CN" altLang="en-US" sz="1100" b="1" i="0" u="none" strike="noStrike" dirty="0">
                <a:solidFill>
                  <a:srgbClr val="000000"/>
                </a:solidFill>
                <a:effectLst/>
                <a:latin typeface="+mj-ea"/>
                <a:ea typeface="+mj-ea"/>
              </a:rPr>
              <a:t>业务名称：提升要货时间准确性</a:t>
            </a:r>
            <a:r>
              <a:rPr lang="en-US" altLang="zh-CN" sz="1100" b="1" i="0" u="none" strike="noStrike" dirty="0">
                <a:solidFill>
                  <a:srgbClr val="000000"/>
                </a:solidFill>
                <a:effectLst/>
                <a:latin typeface="+mj-ea"/>
                <a:ea typeface="+mj-ea"/>
              </a:rPr>
              <a:t>》</a:t>
            </a:r>
            <a:endParaRPr lang="zh-CN" altLang="en-US" sz="1100" b="0" i="0" u="none" strike="noStrike" dirty="0">
              <a:solidFill>
                <a:srgbClr val="000000"/>
              </a:solidFill>
              <a:effectLst/>
              <a:latin typeface="+mj-ea"/>
              <a:ea typeface="+mj-ea"/>
            </a:endParaRPr>
          </a:p>
          <a:p>
            <a:pPr algn="l">
              <a:lnSpc>
                <a:spcPct val="150000"/>
              </a:lnSpc>
              <a:buNone/>
            </a:pPr>
            <a:r>
              <a:rPr lang="zh-CN" altLang="en-US" sz="1100" b="1" i="0" u="none" strike="noStrike" dirty="0">
                <a:solidFill>
                  <a:srgbClr val="000000"/>
                </a:solidFill>
                <a:effectLst/>
                <a:latin typeface="+mj-ea"/>
                <a:ea typeface="+mj-ea"/>
              </a:rPr>
              <a:t>目的：进漏斗的时候把要货时间定准</a:t>
            </a:r>
            <a:r>
              <a:rPr lang="en-US" altLang="zh-CN" sz="1100" b="1" i="0" u="none" strike="noStrike" dirty="0">
                <a:solidFill>
                  <a:srgbClr val="000000"/>
                </a:solidFill>
                <a:effectLst/>
                <a:latin typeface="+mj-ea"/>
                <a:ea typeface="+mj-ea"/>
              </a:rPr>
              <a:t>/</a:t>
            </a:r>
            <a:r>
              <a:rPr lang="zh-CN" altLang="en-US" sz="1100" b="1" i="0" u="none" strike="noStrike" dirty="0">
                <a:solidFill>
                  <a:srgbClr val="000000"/>
                </a:solidFill>
                <a:effectLst/>
                <a:latin typeface="+mj-ea"/>
                <a:ea typeface="+mj-ea"/>
              </a:rPr>
              <a:t>随着商机推进去勾选备货</a:t>
            </a:r>
            <a:endParaRPr lang="zh-CN" altLang="en-US" sz="1100" b="0" i="0" u="none" strike="noStrike" dirty="0">
              <a:solidFill>
                <a:srgbClr val="000000"/>
              </a:solidFill>
              <a:effectLst/>
              <a:latin typeface="+mj-ea"/>
              <a:ea typeface="+mj-ea"/>
            </a:endParaRPr>
          </a:p>
          <a:p>
            <a:pPr algn="l">
              <a:lnSpc>
                <a:spcPct val="150000"/>
              </a:lnSpc>
              <a:buNone/>
            </a:pPr>
            <a:r>
              <a:rPr lang="zh-CN" altLang="en-US" sz="1100" b="1" i="0" u="none" strike="noStrike" dirty="0">
                <a:solidFill>
                  <a:srgbClr val="000000"/>
                </a:solidFill>
                <a:effectLst/>
                <a:latin typeface="+mj-ea"/>
                <a:ea typeface="+mj-ea"/>
              </a:rPr>
              <a:t>项目发生</a:t>
            </a:r>
            <a:r>
              <a:rPr lang="en-US" altLang="zh-CN" sz="1100" b="1" i="0" u="none" strike="noStrike" dirty="0">
                <a:solidFill>
                  <a:srgbClr val="000000"/>
                </a:solidFill>
                <a:effectLst/>
                <a:latin typeface="+mj-ea"/>
                <a:ea typeface="+mj-ea"/>
              </a:rPr>
              <a:t>-</a:t>
            </a:r>
            <a:r>
              <a:rPr lang="zh-CN" altLang="en-US" sz="1100" b="1" i="0" u="none" strike="noStrike" dirty="0">
                <a:solidFill>
                  <a:srgbClr val="000000"/>
                </a:solidFill>
                <a:effectLst/>
                <a:latin typeface="+mj-ea"/>
                <a:ea typeface="+mj-ea"/>
              </a:rPr>
              <a:t>进漏斗</a:t>
            </a:r>
            <a:r>
              <a:rPr lang="en-US" altLang="zh-CN" sz="1100" b="1" i="0" u="none" strike="noStrike" dirty="0">
                <a:solidFill>
                  <a:srgbClr val="000000"/>
                </a:solidFill>
                <a:effectLst/>
                <a:latin typeface="+mj-ea"/>
                <a:ea typeface="+mj-ea"/>
              </a:rPr>
              <a:t>-</a:t>
            </a:r>
            <a:r>
              <a:rPr lang="zh-CN" altLang="en-US" sz="1100" b="1" i="0" u="none" strike="noStrike" dirty="0">
                <a:solidFill>
                  <a:srgbClr val="000000"/>
                </a:solidFill>
                <a:effectLst/>
                <a:latin typeface="+mj-ea"/>
                <a:ea typeface="+mj-ea"/>
              </a:rPr>
              <a:t>关键活动</a:t>
            </a:r>
            <a:endParaRPr lang="zh-CN" altLang="en-US" sz="1100" b="0" i="0" u="none" strike="noStrike" dirty="0">
              <a:solidFill>
                <a:srgbClr val="000000"/>
              </a:solidFill>
              <a:effectLst/>
              <a:latin typeface="+mj-ea"/>
              <a:ea typeface="+mj-ea"/>
            </a:endParaRPr>
          </a:p>
        </p:txBody>
      </p:sp>
      <p:graphicFrame>
        <p:nvGraphicFramePr>
          <p:cNvPr id="11" name="表格 10"/>
          <p:cNvGraphicFramePr>
            <a:graphicFrameLocks noGrp="1"/>
          </p:cNvGraphicFramePr>
          <p:nvPr/>
        </p:nvGraphicFramePr>
        <p:xfrm>
          <a:off x="356716" y="1854123"/>
          <a:ext cx="11409906" cy="4817110"/>
        </p:xfrm>
        <a:graphic>
          <a:graphicData uri="http://schemas.openxmlformats.org/drawingml/2006/table">
            <a:tbl>
              <a:tblPr/>
              <a:tblGrid>
                <a:gridCol w="346655">
                  <a:extLst>
                    <a:ext uri="{9D8B030D-6E8A-4147-A177-3AD203B41FA5}">
                      <a16:colId xmlns="" xmlns:a16="http://schemas.microsoft.com/office/drawing/2014/main" val="20000"/>
                    </a:ext>
                  </a:extLst>
                </a:gridCol>
                <a:gridCol w="346655">
                  <a:extLst>
                    <a:ext uri="{9D8B030D-6E8A-4147-A177-3AD203B41FA5}">
                      <a16:colId xmlns="" xmlns:a16="http://schemas.microsoft.com/office/drawing/2014/main" val="20001"/>
                    </a:ext>
                  </a:extLst>
                </a:gridCol>
                <a:gridCol w="346655">
                  <a:extLst>
                    <a:ext uri="{9D8B030D-6E8A-4147-A177-3AD203B41FA5}">
                      <a16:colId xmlns="" xmlns:a16="http://schemas.microsoft.com/office/drawing/2014/main" val="20002"/>
                    </a:ext>
                  </a:extLst>
                </a:gridCol>
                <a:gridCol w="346655">
                  <a:extLst>
                    <a:ext uri="{9D8B030D-6E8A-4147-A177-3AD203B41FA5}">
                      <a16:colId xmlns="" xmlns:a16="http://schemas.microsoft.com/office/drawing/2014/main" val="20003"/>
                    </a:ext>
                  </a:extLst>
                </a:gridCol>
                <a:gridCol w="346655">
                  <a:extLst>
                    <a:ext uri="{9D8B030D-6E8A-4147-A177-3AD203B41FA5}">
                      <a16:colId xmlns="" xmlns:a16="http://schemas.microsoft.com/office/drawing/2014/main" val="20004"/>
                    </a:ext>
                  </a:extLst>
                </a:gridCol>
                <a:gridCol w="346655">
                  <a:extLst>
                    <a:ext uri="{9D8B030D-6E8A-4147-A177-3AD203B41FA5}">
                      <a16:colId xmlns="" xmlns:a16="http://schemas.microsoft.com/office/drawing/2014/main" val="20005"/>
                    </a:ext>
                  </a:extLst>
                </a:gridCol>
                <a:gridCol w="346655">
                  <a:extLst>
                    <a:ext uri="{9D8B030D-6E8A-4147-A177-3AD203B41FA5}">
                      <a16:colId xmlns="" xmlns:a16="http://schemas.microsoft.com/office/drawing/2014/main" val="20006"/>
                    </a:ext>
                  </a:extLst>
                </a:gridCol>
                <a:gridCol w="1076282">
                  <a:extLst>
                    <a:ext uri="{9D8B030D-6E8A-4147-A177-3AD203B41FA5}">
                      <a16:colId xmlns="" xmlns:a16="http://schemas.microsoft.com/office/drawing/2014/main" val="20007"/>
                    </a:ext>
                  </a:extLst>
                </a:gridCol>
                <a:gridCol w="795656">
                  <a:extLst>
                    <a:ext uri="{9D8B030D-6E8A-4147-A177-3AD203B41FA5}">
                      <a16:colId xmlns="" xmlns:a16="http://schemas.microsoft.com/office/drawing/2014/main" val="20008"/>
                    </a:ext>
                  </a:extLst>
                </a:gridCol>
                <a:gridCol w="1132407">
                  <a:extLst>
                    <a:ext uri="{9D8B030D-6E8A-4147-A177-3AD203B41FA5}">
                      <a16:colId xmlns="" xmlns:a16="http://schemas.microsoft.com/office/drawing/2014/main" val="20009"/>
                    </a:ext>
                  </a:extLst>
                </a:gridCol>
                <a:gridCol w="1201738">
                  <a:extLst>
                    <a:ext uri="{9D8B030D-6E8A-4147-A177-3AD203B41FA5}">
                      <a16:colId xmlns="" xmlns:a16="http://schemas.microsoft.com/office/drawing/2014/main" val="20010"/>
                    </a:ext>
                  </a:extLst>
                </a:gridCol>
                <a:gridCol w="808863">
                  <a:extLst>
                    <a:ext uri="{9D8B030D-6E8A-4147-A177-3AD203B41FA5}">
                      <a16:colId xmlns="" xmlns:a16="http://schemas.microsoft.com/office/drawing/2014/main" val="20011"/>
                    </a:ext>
                  </a:extLst>
                </a:gridCol>
                <a:gridCol w="1082884">
                  <a:extLst>
                    <a:ext uri="{9D8B030D-6E8A-4147-A177-3AD203B41FA5}">
                      <a16:colId xmlns="" xmlns:a16="http://schemas.microsoft.com/office/drawing/2014/main" val="20012"/>
                    </a:ext>
                  </a:extLst>
                </a:gridCol>
                <a:gridCol w="346655">
                  <a:extLst>
                    <a:ext uri="{9D8B030D-6E8A-4147-A177-3AD203B41FA5}">
                      <a16:colId xmlns="" xmlns:a16="http://schemas.microsoft.com/office/drawing/2014/main" val="20013"/>
                    </a:ext>
                  </a:extLst>
                </a:gridCol>
                <a:gridCol w="346655">
                  <a:extLst>
                    <a:ext uri="{9D8B030D-6E8A-4147-A177-3AD203B41FA5}">
                      <a16:colId xmlns="" xmlns:a16="http://schemas.microsoft.com/office/drawing/2014/main" val="20014"/>
                    </a:ext>
                  </a:extLst>
                </a:gridCol>
                <a:gridCol w="346655">
                  <a:extLst>
                    <a:ext uri="{9D8B030D-6E8A-4147-A177-3AD203B41FA5}">
                      <a16:colId xmlns="" xmlns:a16="http://schemas.microsoft.com/office/drawing/2014/main" val="20015"/>
                    </a:ext>
                  </a:extLst>
                </a:gridCol>
                <a:gridCol w="346655">
                  <a:extLst>
                    <a:ext uri="{9D8B030D-6E8A-4147-A177-3AD203B41FA5}">
                      <a16:colId xmlns="" xmlns:a16="http://schemas.microsoft.com/office/drawing/2014/main" val="20016"/>
                    </a:ext>
                  </a:extLst>
                </a:gridCol>
                <a:gridCol w="1498871">
                  <a:extLst>
                    <a:ext uri="{9D8B030D-6E8A-4147-A177-3AD203B41FA5}">
                      <a16:colId xmlns="" xmlns:a16="http://schemas.microsoft.com/office/drawing/2014/main" val="20017"/>
                    </a:ext>
                  </a:extLst>
                </a:gridCol>
              </a:tblGrid>
              <a:tr h="0">
                <a:tc rowSpan="2" gridSpan="4">
                  <a:txBody>
                    <a:bodyPr/>
                    <a:lstStyle/>
                    <a:p>
                      <a:pPr algn="ctr" fontAlgn="ctr">
                        <a:buNone/>
                      </a:pPr>
                      <a:r>
                        <a:rPr lang="zh-CN" altLang="en-US" sz="500" b="1" i="0" dirty="0">
                          <a:solidFill>
                            <a:srgbClr val="000000"/>
                          </a:solidFill>
                          <a:effectLst/>
                          <a:latin typeface="+mn-ea"/>
                          <a:ea typeface="+mn-ea"/>
                        </a:rPr>
                        <a:t>任务要素</a:t>
                      </a:r>
                    </a:p>
                  </a:txBody>
                  <a:tcPr marL="29210" marR="29210" marT="14605" marB="14605" anchor="ctr">
                    <a:lnL w="6350" cap="flat" cmpd="sng" algn="ctr">
                      <a:solidFill>
                        <a:srgbClr val="00000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99CCFF"/>
                    </a:solidFill>
                  </a:tcPr>
                </a:tc>
                <a:tc rowSpan="2" hMerge="1">
                  <a:txBody>
                    <a:bodyPr/>
                    <a:lstStyle/>
                    <a:p>
                      <a:endParaRPr lang="zh-CN"/>
                    </a:p>
                  </a:txBody>
                  <a:tcPr/>
                </a:tc>
                <a:tc rowSpan="2" hMerge="1">
                  <a:txBody>
                    <a:bodyPr/>
                    <a:lstStyle/>
                    <a:p>
                      <a:endParaRPr lang="zh-CN"/>
                    </a:p>
                  </a:txBody>
                  <a:tcPr/>
                </a:tc>
                <a:tc rowSpan="2" hMerge="1">
                  <a:txBody>
                    <a:bodyPr/>
                    <a:lstStyle/>
                    <a:p>
                      <a:endParaRPr lang="zh-CN"/>
                    </a:p>
                  </a:txBody>
                  <a:tcPr/>
                </a:tc>
                <a:tc gridSpan="9">
                  <a:txBody>
                    <a:bodyPr/>
                    <a:lstStyle/>
                    <a:p>
                      <a:pPr algn="ctr" fontAlgn="ctr">
                        <a:buNone/>
                      </a:pPr>
                      <a:r>
                        <a:rPr lang="zh-CN" altLang="en-US" sz="500" b="1" i="0">
                          <a:solidFill>
                            <a:srgbClr val="000000"/>
                          </a:solidFill>
                          <a:effectLst/>
                          <a:latin typeface="+mn-ea"/>
                          <a:ea typeface="+mn-ea"/>
                        </a:rPr>
                        <a:t>良品条件</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00D6B9"/>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gridSpan="5">
                  <a:txBody>
                    <a:bodyPr/>
                    <a:lstStyle/>
                    <a:p>
                      <a:pPr algn="ctr" fontAlgn="ctr">
                        <a:buNone/>
                      </a:pPr>
                      <a:r>
                        <a:rPr lang="zh-CN" altLang="en-US" sz="500" b="1" i="0">
                          <a:solidFill>
                            <a:srgbClr val="000000"/>
                          </a:solidFill>
                          <a:effectLst/>
                          <a:latin typeface="+mn-ea"/>
                          <a:ea typeface="+mn-ea"/>
                        </a:rPr>
                        <a:t>工作输出</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76964"/>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 xmlns:a16="http://schemas.microsoft.com/office/drawing/2014/main" val="10000"/>
                  </a:ext>
                </a:extLst>
              </a:tr>
              <a:tr h="0">
                <a:tc gridSpan="4" vMerge="1">
                  <a:txBody>
                    <a:bodyPr/>
                    <a:lstStyle/>
                    <a:p>
                      <a:endParaRPr lang="zh-CN"/>
                    </a:p>
                  </a:txBody>
                  <a:tcPr/>
                </a:tc>
                <a:tc hMerge="1" vMerge="1">
                  <a:txBody>
                    <a:bodyPr/>
                    <a:lstStyle/>
                    <a:p>
                      <a:endParaRPr lang="zh-CN"/>
                    </a:p>
                  </a:txBody>
                  <a:tcPr/>
                </a:tc>
                <a:tc hMerge="1" vMerge="1">
                  <a:txBody>
                    <a:bodyPr/>
                    <a:lstStyle/>
                    <a:p>
                      <a:endParaRPr lang="zh-CN"/>
                    </a:p>
                  </a:txBody>
                  <a:tcPr/>
                </a:tc>
                <a:tc hMerge="1" vMerge="1">
                  <a:txBody>
                    <a:bodyPr/>
                    <a:lstStyle/>
                    <a:p>
                      <a:endParaRPr lang="zh-CN"/>
                    </a:p>
                  </a:txBody>
                  <a:tcPr/>
                </a:tc>
                <a:tc gridSpan="5">
                  <a:txBody>
                    <a:bodyPr/>
                    <a:lstStyle/>
                    <a:p>
                      <a:pPr algn="ctr" fontAlgn="ctr">
                        <a:buNone/>
                      </a:pPr>
                      <a:r>
                        <a:rPr lang="zh-CN" altLang="en-US" sz="500" b="1" i="0">
                          <a:solidFill>
                            <a:srgbClr val="000000"/>
                          </a:solidFill>
                          <a:effectLst/>
                          <a:latin typeface="+mn-ea"/>
                          <a:ea typeface="+mn-ea"/>
                        </a:rPr>
                        <a:t>工作输入</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00D6B9"/>
                    </a:solidFill>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rowSpan="3">
                  <a:txBody>
                    <a:bodyPr/>
                    <a:lstStyle/>
                    <a:p>
                      <a:pPr algn="ctr" fontAlgn="ctr">
                        <a:buNone/>
                      </a:pPr>
                      <a:r>
                        <a:rPr lang="zh-CN" altLang="en-US" sz="500" b="1" i="0">
                          <a:solidFill>
                            <a:srgbClr val="000000"/>
                          </a:solidFill>
                          <a:effectLst/>
                          <a:latin typeface="+mn-ea"/>
                          <a:ea typeface="+mn-ea"/>
                        </a:rPr>
                        <a:t>工具</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00D6B9"/>
                    </a:solidFill>
                  </a:tcPr>
                </a:tc>
                <a:tc rowSpan="3">
                  <a:txBody>
                    <a:bodyPr/>
                    <a:lstStyle/>
                    <a:p>
                      <a:pPr algn="ctr" fontAlgn="ctr">
                        <a:buNone/>
                      </a:pPr>
                      <a:r>
                        <a:rPr lang="zh-CN" altLang="en-US" sz="500" b="1" i="0">
                          <a:solidFill>
                            <a:srgbClr val="000000"/>
                          </a:solidFill>
                          <a:effectLst/>
                          <a:latin typeface="+mn-ea"/>
                          <a:ea typeface="+mn-ea"/>
                        </a:rPr>
                        <a:t>方法</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00D6B9"/>
                    </a:solidFill>
                  </a:tcPr>
                </a:tc>
                <a:tc rowSpan="3">
                  <a:txBody>
                    <a:bodyPr/>
                    <a:lstStyle/>
                    <a:p>
                      <a:pPr algn="ctr" fontAlgn="ctr">
                        <a:buNone/>
                      </a:pPr>
                      <a:r>
                        <a:rPr lang="zh-CN" altLang="en-US" sz="500" b="1" i="0">
                          <a:solidFill>
                            <a:srgbClr val="000000"/>
                          </a:solidFill>
                          <a:effectLst/>
                          <a:latin typeface="+mn-ea"/>
                          <a:ea typeface="+mn-ea"/>
                        </a:rPr>
                        <a:t>能力</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00D6B9"/>
                    </a:solidFill>
                  </a:tcPr>
                </a:tc>
                <a:tc rowSpan="3">
                  <a:txBody>
                    <a:bodyPr/>
                    <a:lstStyle/>
                    <a:p>
                      <a:pPr algn="ctr" fontAlgn="ctr">
                        <a:buNone/>
                      </a:pPr>
                      <a:r>
                        <a:rPr lang="zh-CN" altLang="en-US" sz="500" b="1" i="0">
                          <a:solidFill>
                            <a:srgbClr val="000000"/>
                          </a:solidFill>
                          <a:effectLst/>
                          <a:latin typeface="+mn-ea"/>
                          <a:ea typeface="+mn-ea"/>
                        </a:rPr>
                        <a:t>注意要点・理由</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00D6B9"/>
                    </a:solidFill>
                  </a:tcPr>
                </a:tc>
                <a:tc>
                  <a:txBody>
                    <a:bodyPr/>
                    <a:lstStyle/>
                    <a:p>
                      <a:pPr algn="ctr" fontAlgn="ctr">
                        <a:buNone/>
                      </a:pPr>
                      <a:r>
                        <a:rPr lang="zh-CN" altLang="en-US" sz="500" b="1" i="0">
                          <a:solidFill>
                            <a:srgbClr val="000000"/>
                          </a:solidFill>
                          <a:effectLst/>
                          <a:latin typeface="+mn-ea"/>
                          <a:ea typeface="+mn-ea"/>
                        </a:rPr>
                        <a:t>到哪里</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76964"/>
                    </a:solidFill>
                  </a:tcPr>
                </a:tc>
                <a:tc>
                  <a:txBody>
                    <a:bodyPr/>
                    <a:lstStyle/>
                    <a:p>
                      <a:pPr algn="ctr" fontAlgn="ctr">
                        <a:buNone/>
                      </a:pPr>
                      <a:endParaRPr lang="zh-CN" altLang="en-US" sz="500" b="1" i="0">
                        <a:solidFill>
                          <a:srgbClr val="000000"/>
                        </a:solidFill>
                        <a:effectLst/>
                        <a:latin typeface="+mn-ea"/>
                        <a:ea typeface="+mn-ea"/>
                      </a:endParaRP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F76964"/>
                    </a:solidFill>
                  </a:tcPr>
                </a:tc>
                <a:tc rowSpan="3">
                  <a:txBody>
                    <a:bodyPr/>
                    <a:lstStyle/>
                    <a:p>
                      <a:pPr algn="ctr" fontAlgn="ctr">
                        <a:buNone/>
                      </a:pPr>
                      <a:r>
                        <a:rPr lang="zh-CN" altLang="en-US" sz="500" b="1" i="0">
                          <a:solidFill>
                            <a:srgbClr val="000000"/>
                          </a:solidFill>
                          <a:effectLst/>
                          <a:latin typeface="+mn-ea"/>
                          <a:ea typeface="+mn-ea"/>
                        </a:rPr>
                        <a:t>什么</a:t>
                      </a:r>
                      <a:br>
                        <a:rPr lang="zh-CN" altLang="en-US" sz="500" b="1" i="0">
                          <a:solidFill>
                            <a:srgbClr val="000000"/>
                          </a:solidFill>
                          <a:effectLst/>
                          <a:latin typeface="+mn-ea"/>
                          <a:ea typeface="+mn-ea"/>
                        </a:rPr>
                      </a:br>
                      <a:r>
                        <a:rPr lang="zh-CN" altLang="en-US" sz="500" b="1" i="0">
                          <a:solidFill>
                            <a:srgbClr val="000000"/>
                          </a:solidFill>
                          <a:effectLst/>
                          <a:latin typeface="+mn-ea"/>
                          <a:ea typeface="+mn-ea"/>
                        </a:rPr>
                        <a:t>期限</a:t>
                      </a:r>
                      <a:br>
                        <a:rPr lang="zh-CN" altLang="en-US" sz="500" b="1" i="0">
                          <a:solidFill>
                            <a:srgbClr val="000000"/>
                          </a:solidFill>
                          <a:effectLst/>
                          <a:latin typeface="+mn-ea"/>
                          <a:ea typeface="+mn-ea"/>
                        </a:rPr>
                      </a:br>
                      <a:r>
                        <a:rPr lang="en-US" altLang="zh-CN" sz="500" b="1" i="0">
                          <a:solidFill>
                            <a:srgbClr val="000000"/>
                          </a:solidFill>
                          <a:effectLst/>
                          <a:latin typeface="+mn-ea"/>
                          <a:ea typeface="+mn-ea"/>
                        </a:rPr>
                        <a:t>(</a:t>
                      </a:r>
                      <a:r>
                        <a:rPr lang="zh-CN" altLang="en-US" sz="500" b="1" i="0">
                          <a:solidFill>
                            <a:srgbClr val="000000"/>
                          </a:solidFill>
                          <a:effectLst/>
                          <a:latin typeface="+mn-ea"/>
                          <a:ea typeface="+mn-ea"/>
                        </a:rPr>
                        <a:t>时机</a:t>
                      </a:r>
                      <a:r>
                        <a:rPr lang="en-US" altLang="zh-CN" sz="500" b="1" i="0">
                          <a:solidFill>
                            <a:srgbClr val="000000"/>
                          </a:solidFill>
                          <a:effectLst/>
                          <a:latin typeface="+mn-ea"/>
                          <a:ea typeface="+mn-ea"/>
                        </a:rPr>
                        <a:t>)</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F76964"/>
                    </a:solidFill>
                  </a:tcPr>
                </a:tc>
                <a:tc rowSpan="3">
                  <a:txBody>
                    <a:bodyPr/>
                    <a:lstStyle/>
                    <a:p>
                      <a:pPr algn="ctr" fontAlgn="ctr">
                        <a:buNone/>
                      </a:pPr>
                      <a:r>
                        <a:rPr lang="zh-CN" altLang="en-US" sz="500" b="1" i="0">
                          <a:solidFill>
                            <a:srgbClr val="000000"/>
                          </a:solidFill>
                          <a:effectLst/>
                          <a:latin typeface="+mn-ea"/>
                          <a:ea typeface="+mn-ea"/>
                        </a:rPr>
                        <a:t>把什么</a:t>
                      </a:r>
                      <a:r>
                        <a:rPr lang="en-US" altLang="zh-CN" sz="500" b="1" i="0">
                          <a:solidFill>
                            <a:srgbClr val="000000"/>
                          </a:solidFill>
                          <a:effectLst/>
                          <a:latin typeface="+mn-ea"/>
                          <a:ea typeface="+mn-ea"/>
                        </a:rPr>
                        <a:t>(</a:t>
                      </a:r>
                      <a:r>
                        <a:rPr lang="zh-CN" altLang="en-US" sz="500" b="1" i="0">
                          <a:solidFill>
                            <a:srgbClr val="000000"/>
                          </a:solidFill>
                          <a:effectLst/>
                          <a:latin typeface="+mn-ea"/>
                          <a:ea typeface="+mn-ea"/>
                        </a:rPr>
                        <a:t>信息等）</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F76964"/>
                    </a:solidFill>
                  </a:tcPr>
                </a:tc>
                <a:tc rowSpan="3">
                  <a:txBody>
                    <a:bodyPr/>
                    <a:lstStyle/>
                    <a:p>
                      <a:pPr algn="ctr" fontAlgn="ctr">
                        <a:buNone/>
                      </a:pPr>
                      <a:r>
                        <a:rPr lang="zh-CN" altLang="en-US" sz="500" b="1" i="0">
                          <a:solidFill>
                            <a:srgbClr val="000000"/>
                          </a:solidFill>
                          <a:effectLst/>
                          <a:latin typeface="+mn-ea"/>
                          <a:ea typeface="+mn-ea"/>
                        </a:rPr>
                        <a:t>输出标准</a:t>
                      </a:r>
                      <a:br>
                        <a:rPr lang="zh-CN" altLang="en-US" sz="500" b="1" i="0">
                          <a:solidFill>
                            <a:srgbClr val="000000"/>
                          </a:solidFill>
                          <a:effectLst/>
                          <a:latin typeface="+mn-ea"/>
                          <a:ea typeface="+mn-ea"/>
                        </a:rPr>
                      </a:br>
                      <a:r>
                        <a:rPr lang="zh-CN" altLang="en-US" sz="500" b="1" i="0">
                          <a:solidFill>
                            <a:srgbClr val="000000"/>
                          </a:solidFill>
                          <a:effectLst/>
                          <a:latin typeface="+mn-ea"/>
                          <a:ea typeface="+mn-ea"/>
                        </a:rPr>
                        <a:t>（搞明白客户要什么）</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F76964"/>
                    </a:solidFill>
                  </a:tcPr>
                </a:tc>
                <a:extLst>
                  <a:ext uri="{0D108BD9-81ED-4DB2-BD59-A6C34878D82A}">
                    <a16:rowId xmlns="" xmlns:a16="http://schemas.microsoft.com/office/drawing/2014/main" val="10001"/>
                  </a:ext>
                </a:extLst>
              </a:tr>
              <a:tr h="0">
                <a:tc rowSpan="2">
                  <a:txBody>
                    <a:bodyPr/>
                    <a:lstStyle/>
                    <a:p>
                      <a:pPr algn="ctr" fontAlgn="ctr">
                        <a:buNone/>
                      </a:pPr>
                      <a:r>
                        <a:rPr lang="zh-CN" altLang="en-US" sz="500" b="1" i="0">
                          <a:solidFill>
                            <a:srgbClr val="000000"/>
                          </a:solidFill>
                          <a:effectLst/>
                          <a:latin typeface="+mn-ea"/>
                          <a:ea typeface="+mn-ea"/>
                        </a:rPr>
                        <a:t>大分类</a:t>
                      </a:r>
                    </a:p>
                  </a:txBody>
                  <a:tcPr marL="29210" marR="29210" marT="14605" marB="14605" anchor="ctr">
                    <a:lnL w="6350" cap="flat" cmpd="sng" algn="ctr">
                      <a:solidFill>
                        <a:srgbClr val="00000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99CCFF"/>
                    </a:solidFill>
                  </a:tcPr>
                </a:tc>
                <a:tc rowSpan="2">
                  <a:txBody>
                    <a:bodyPr/>
                    <a:lstStyle/>
                    <a:p>
                      <a:pPr algn="ctr" fontAlgn="ctr">
                        <a:buNone/>
                      </a:pPr>
                      <a:r>
                        <a:rPr lang="zh-CN" altLang="en-US" sz="500" b="1" i="0">
                          <a:solidFill>
                            <a:srgbClr val="000000"/>
                          </a:solidFill>
                          <a:effectLst/>
                          <a:latin typeface="+mn-ea"/>
                          <a:ea typeface="+mn-ea"/>
                        </a:rPr>
                        <a:t>中分类</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99CCFF"/>
                    </a:solidFill>
                  </a:tcPr>
                </a:tc>
                <a:tc rowSpan="2">
                  <a:txBody>
                    <a:bodyPr/>
                    <a:lstStyle/>
                    <a:p>
                      <a:pPr algn="ctr" fontAlgn="ctr">
                        <a:buNone/>
                      </a:pPr>
                      <a:r>
                        <a:rPr lang="en-GB" sz="500" b="1" i="0">
                          <a:solidFill>
                            <a:srgbClr val="000000"/>
                          </a:solidFill>
                          <a:effectLst/>
                          <a:latin typeface="+mn-ea"/>
                          <a:ea typeface="+mn-ea"/>
                        </a:rPr>
                        <a:t>No.</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99CCFF"/>
                    </a:solidFill>
                  </a:tcPr>
                </a:tc>
                <a:tc rowSpan="2">
                  <a:txBody>
                    <a:bodyPr/>
                    <a:lstStyle/>
                    <a:p>
                      <a:pPr algn="ctr" fontAlgn="ctr">
                        <a:buNone/>
                      </a:pPr>
                      <a:r>
                        <a:rPr lang="zh-CN" altLang="en-US" sz="500" b="1" i="0">
                          <a:solidFill>
                            <a:srgbClr val="000000"/>
                          </a:solidFill>
                          <a:effectLst/>
                          <a:latin typeface="+mn-ea"/>
                          <a:ea typeface="+mn-ea"/>
                        </a:rPr>
                        <a:t>作业要素</a:t>
                      </a:r>
                      <a:br>
                        <a:rPr lang="zh-CN" altLang="en-US" sz="500" b="1" i="0">
                          <a:solidFill>
                            <a:srgbClr val="000000"/>
                          </a:solidFill>
                          <a:effectLst/>
                          <a:latin typeface="+mn-ea"/>
                          <a:ea typeface="+mn-ea"/>
                        </a:rPr>
                      </a:br>
                      <a:r>
                        <a:rPr lang="zh-CN" altLang="en-US" sz="500" b="1" i="0">
                          <a:solidFill>
                            <a:srgbClr val="000000"/>
                          </a:solidFill>
                          <a:effectLst/>
                          <a:latin typeface="+mn-ea"/>
                          <a:ea typeface="+mn-ea"/>
                        </a:rPr>
                        <a:t>（小分类）</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99CCFF"/>
                    </a:solidFill>
                  </a:tcPr>
                </a:tc>
                <a:tc rowSpan="2">
                  <a:txBody>
                    <a:bodyPr/>
                    <a:lstStyle/>
                    <a:p>
                      <a:pPr algn="ctr" fontAlgn="ctr">
                        <a:buNone/>
                      </a:pPr>
                      <a:r>
                        <a:rPr lang="zh-CN" altLang="en-US" sz="500" b="1" i="0" dirty="0">
                          <a:solidFill>
                            <a:srgbClr val="000000"/>
                          </a:solidFill>
                          <a:effectLst/>
                          <a:latin typeface="+mn-ea"/>
                          <a:ea typeface="+mn-ea"/>
                        </a:rPr>
                        <a:t>什么时候</a:t>
                      </a:r>
                      <a:br>
                        <a:rPr lang="zh-CN" altLang="en-US" sz="500" b="1" i="0" dirty="0">
                          <a:solidFill>
                            <a:srgbClr val="000000"/>
                          </a:solidFill>
                          <a:effectLst/>
                          <a:latin typeface="+mn-ea"/>
                          <a:ea typeface="+mn-ea"/>
                        </a:rPr>
                      </a:br>
                      <a:r>
                        <a:rPr lang="en-US" altLang="zh-CN" sz="500" b="1" i="0" dirty="0">
                          <a:solidFill>
                            <a:srgbClr val="000000"/>
                          </a:solidFill>
                          <a:effectLst/>
                          <a:latin typeface="+mn-ea"/>
                          <a:ea typeface="+mn-ea"/>
                        </a:rPr>
                        <a:t>(</a:t>
                      </a:r>
                      <a:r>
                        <a:rPr lang="zh-CN" altLang="en-US" sz="500" b="1" i="0" dirty="0">
                          <a:solidFill>
                            <a:srgbClr val="000000"/>
                          </a:solidFill>
                          <a:effectLst/>
                          <a:latin typeface="+mn-ea"/>
                          <a:ea typeface="+mn-ea"/>
                        </a:rPr>
                        <a:t>时机</a:t>
                      </a:r>
                      <a:r>
                        <a:rPr lang="en-US" altLang="zh-CN" sz="500" b="1" i="0" dirty="0">
                          <a:solidFill>
                            <a:srgbClr val="000000"/>
                          </a:solidFill>
                          <a:effectLst/>
                          <a:latin typeface="+mn-ea"/>
                          <a:ea typeface="+mn-ea"/>
                        </a:rPr>
                        <a:t>)</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00D6B9"/>
                    </a:solidFill>
                  </a:tcPr>
                </a:tc>
                <a:tc>
                  <a:txBody>
                    <a:bodyPr/>
                    <a:lstStyle/>
                    <a:p>
                      <a:pPr algn="ctr" fontAlgn="ctr">
                        <a:buNone/>
                      </a:pPr>
                      <a:r>
                        <a:rPr lang="zh-CN" altLang="en-US" sz="500" b="1" i="0">
                          <a:solidFill>
                            <a:srgbClr val="000000"/>
                          </a:solidFill>
                          <a:effectLst/>
                          <a:latin typeface="+mn-ea"/>
                          <a:ea typeface="+mn-ea"/>
                        </a:rPr>
                        <a:t>从哪里</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00D6B9"/>
                    </a:solidFill>
                  </a:tcPr>
                </a:tc>
                <a:tc>
                  <a:txBody>
                    <a:bodyPr/>
                    <a:lstStyle/>
                    <a:p>
                      <a:pPr algn="ctr" fontAlgn="ctr">
                        <a:buNone/>
                      </a:pPr>
                      <a:endParaRPr lang="zh-CN" altLang="en-US" sz="500" b="1" i="0">
                        <a:solidFill>
                          <a:srgbClr val="000000"/>
                        </a:solidFill>
                        <a:effectLst/>
                        <a:latin typeface="+mn-ea"/>
                        <a:ea typeface="+mn-ea"/>
                      </a:endParaRP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808080"/>
                      </a:solidFill>
                      <a:prstDash val="solid"/>
                      <a:round/>
                      <a:headEnd type="none" w="med" len="med"/>
                      <a:tailEnd type="none" w="med" len="med"/>
                    </a:lnB>
                    <a:solidFill>
                      <a:srgbClr val="00D6B9"/>
                    </a:solidFill>
                  </a:tcPr>
                </a:tc>
                <a:tc rowSpan="2">
                  <a:txBody>
                    <a:bodyPr/>
                    <a:lstStyle/>
                    <a:p>
                      <a:pPr algn="ctr" fontAlgn="ctr">
                        <a:buNone/>
                      </a:pPr>
                      <a:r>
                        <a:rPr lang="zh-CN" altLang="en-US" sz="500" b="1" i="0">
                          <a:solidFill>
                            <a:srgbClr val="000000"/>
                          </a:solidFill>
                          <a:effectLst/>
                          <a:latin typeface="+mn-ea"/>
                          <a:ea typeface="+mn-ea"/>
                        </a:rPr>
                        <a:t>把什么</a:t>
                      </a:r>
                      <a:r>
                        <a:rPr lang="en-US" altLang="zh-CN" sz="500" b="1" i="0">
                          <a:solidFill>
                            <a:srgbClr val="000000"/>
                          </a:solidFill>
                          <a:effectLst/>
                          <a:latin typeface="+mn-ea"/>
                          <a:ea typeface="+mn-ea"/>
                        </a:rPr>
                        <a:t>(</a:t>
                      </a:r>
                      <a:r>
                        <a:rPr lang="zh-CN" altLang="en-US" sz="500" b="1" i="0">
                          <a:solidFill>
                            <a:srgbClr val="000000"/>
                          </a:solidFill>
                          <a:effectLst/>
                          <a:latin typeface="+mn-ea"/>
                          <a:ea typeface="+mn-ea"/>
                        </a:rPr>
                        <a:t>信息等）</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00D6B9"/>
                    </a:solidFill>
                  </a:tcPr>
                </a:tc>
                <a:tc rowSpan="2">
                  <a:txBody>
                    <a:bodyPr/>
                    <a:lstStyle/>
                    <a:p>
                      <a:pPr algn="ctr" fontAlgn="ctr">
                        <a:buNone/>
                      </a:pPr>
                      <a:r>
                        <a:rPr lang="zh-CN" altLang="en-US" sz="500" b="1" i="0">
                          <a:solidFill>
                            <a:srgbClr val="000000"/>
                          </a:solidFill>
                          <a:effectLst/>
                          <a:latin typeface="+mn-ea"/>
                          <a:ea typeface="+mn-ea"/>
                        </a:rPr>
                        <a:t>输入标准</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00D6B9"/>
                    </a:solidFill>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rowSpan="2">
                  <a:txBody>
                    <a:bodyPr/>
                    <a:lstStyle/>
                    <a:p>
                      <a:pPr algn="ctr" fontAlgn="ctr">
                        <a:buNone/>
                      </a:pPr>
                      <a:r>
                        <a:rPr lang="zh-CN" altLang="en-US" sz="500" b="1" i="0">
                          <a:solidFill>
                            <a:srgbClr val="000000"/>
                          </a:solidFill>
                          <a:effectLst/>
                          <a:latin typeface="+mn-ea"/>
                          <a:ea typeface="+mn-ea"/>
                        </a:rPr>
                        <a:t>后工序</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F76964"/>
                    </a:solidFill>
                  </a:tcPr>
                </a:tc>
                <a:tc rowSpan="2">
                  <a:txBody>
                    <a:bodyPr/>
                    <a:lstStyle/>
                    <a:p>
                      <a:pPr algn="ctr" fontAlgn="ctr">
                        <a:buNone/>
                      </a:pPr>
                      <a:r>
                        <a:rPr lang="zh-CN" altLang="en-US" sz="500" b="1" i="0">
                          <a:solidFill>
                            <a:srgbClr val="000000"/>
                          </a:solidFill>
                          <a:effectLst/>
                          <a:latin typeface="+mn-ea"/>
                          <a:ea typeface="+mn-ea"/>
                        </a:rPr>
                        <a:t>任务</a:t>
                      </a:r>
                      <a:br>
                        <a:rPr lang="zh-CN" altLang="en-US" sz="500" b="1" i="0">
                          <a:solidFill>
                            <a:srgbClr val="000000"/>
                          </a:solidFill>
                          <a:effectLst/>
                          <a:latin typeface="+mn-ea"/>
                          <a:ea typeface="+mn-ea"/>
                        </a:rPr>
                      </a:br>
                      <a:r>
                        <a:rPr lang="en-GB" sz="500" b="1" i="0">
                          <a:solidFill>
                            <a:srgbClr val="000000"/>
                          </a:solidFill>
                          <a:effectLst/>
                          <a:latin typeface="+mn-ea"/>
                          <a:ea typeface="+mn-ea"/>
                        </a:rPr>
                        <a:t>No.</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F76964"/>
                    </a:solidFill>
                  </a:tcPr>
                </a:tc>
                <a:tc vMerge="1">
                  <a:txBody>
                    <a:bodyPr/>
                    <a:lstStyle/>
                    <a:p>
                      <a:endParaRPr lang="zh-CN"/>
                    </a:p>
                  </a:txBody>
                  <a:tcPr/>
                </a:tc>
                <a:tc vMerge="1">
                  <a:txBody>
                    <a:bodyPr/>
                    <a:lstStyle/>
                    <a:p>
                      <a:endParaRPr lang="zh-CN"/>
                    </a:p>
                  </a:txBody>
                  <a:tcPr/>
                </a:tc>
                <a:tc vMerge="1">
                  <a:txBody>
                    <a:bodyPr/>
                    <a:lstStyle/>
                    <a:p>
                      <a:endParaRPr lang="zh-CN"/>
                    </a:p>
                  </a:txBody>
                  <a:tcPr/>
                </a:tc>
                <a:extLst>
                  <a:ext uri="{0D108BD9-81ED-4DB2-BD59-A6C34878D82A}">
                    <a16:rowId xmlns="" xmlns:a16="http://schemas.microsoft.com/office/drawing/2014/main" val="10002"/>
                  </a:ext>
                </a:extLst>
              </a:tr>
              <a:tr h="154589">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a:txBody>
                    <a:bodyPr/>
                    <a:lstStyle/>
                    <a:p>
                      <a:pPr algn="ctr" fontAlgn="ctr">
                        <a:buNone/>
                      </a:pPr>
                      <a:r>
                        <a:rPr lang="zh-CN" altLang="en-US" sz="500" b="1" i="0">
                          <a:solidFill>
                            <a:srgbClr val="000000"/>
                          </a:solidFill>
                          <a:effectLst/>
                          <a:latin typeface="+mn-ea"/>
                          <a:ea typeface="+mn-ea"/>
                        </a:rPr>
                        <a:t>前工序</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00D6B9"/>
                    </a:solidFill>
                  </a:tcPr>
                </a:tc>
                <a:tc>
                  <a:txBody>
                    <a:bodyPr/>
                    <a:lstStyle/>
                    <a:p>
                      <a:pPr algn="ctr" fontAlgn="ctr">
                        <a:buNone/>
                      </a:pPr>
                      <a:r>
                        <a:rPr lang="zh-CN" altLang="en-US" sz="500" b="1" i="0" dirty="0">
                          <a:solidFill>
                            <a:srgbClr val="000000"/>
                          </a:solidFill>
                          <a:effectLst/>
                          <a:latin typeface="+mn-ea"/>
                          <a:ea typeface="+mn-ea"/>
                        </a:rPr>
                        <a:t>任务</a:t>
                      </a:r>
                      <a:br>
                        <a:rPr lang="zh-CN" altLang="en-US" sz="500" b="1" i="0" dirty="0">
                          <a:solidFill>
                            <a:srgbClr val="000000"/>
                          </a:solidFill>
                          <a:effectLst/>
                          <a:latin typeface="+mn-ea"/>
                          <a:ea typeface="+mn-ea"/>
                        </a:rPr>
                      </a:br>
                      <a:r>
                        <a:rPr lang="en-GB" sz="500" b="1" i="0" dirty="0">
                          <a:solidFill>
                            <a:srgbClr val="000000"/>
                          </a:solidFill>
                          <a:effectLst/>
                          <a:latin typeface="+mn-ea"/>
                          <a:ea typeface="+mn-ea"/>
                        </a:rPr>
                        <a:t>No.</a:t>
                      </a:r>
                    </a:p>
                  </a:txBody>
                  <a:tcPr marL="29210" marR="29210" marT="14605" marB="14605" anchor="ctr">
                    <a:lnL w="6350" cap="flat" cmpd="sng" algn="ctr">
                      <a:solidFill>
                        <a:srgbClr val="808080"/>
                      </a:solidFill>
                      <a:prstDash val="solid"/>
                      <a:round/>
                      <a:headEnd type="none" w="med" len="med"/>
                      <a:tailEnd type="none" w="med" len="med"/>
                    </a:lnL>
                    <a:lnR w="6350" cap="flat" cmpd="sng" algn="ctr">
                      <a:solidFill>
                        <a:srgbClr val="808080"/>
                      </a:solidFill>
                      <a:prstDash val="solid"/>
                      <a:round/>
                      <a:headEnd type="none" w="med" len="med"/>
                      <a:tailEnd type="none" w="med" len="med"/>
                    </a:lnR>
                    <a:lnT w="6350" cap="flat" cmpd="sng" algn="ctr">
                      <a:solidFill>
                        <a:srgbClr val="808080"/>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00D6B9"/>
                    </a:solidFill>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tc vMerge="1">
                  <a:txBody>
                    <a:bodyPr/>
                    <a:lstStyle/>
                    <a:p>
                      <a:endParaRPr lang="zh-CN"/>
                    </a:p>
                  </a:txBody>
                  <a:tcPr/>
                </a:tc>
                <a:extLst>
                  <a:ext uri="{0D108BD9-81ED-4DB2-BD59-A6C34878D82A}">
                    <a16:rowId xmlns="" xmlns:a16="http://schemas.microsoft.com/office/drawing/2014/main" val="10003"/>
                  </a:ext>
                </a:extLst>
              </a:tr>
              <a:tr h="349317">
                <a:tc rowSpan="7">
                  <a:txBody>
                    <a:bodyPr/>
                    <a:lstStyle/>
                    <a:p>
                      <a:pPr algn="ctr" fontAlgn="ctr">
                        <a:buNone/>
                      </a:pPr>
                      <a:r>
                        <a:rPr lang="zh-CN" altLang="en-US" sz="500" b="0" i="0">
                          <a:solidFill>
                            <a:srgbClr val="000000"/>
                          </a:solidFill>
                          <a:effectLst/>
                          <a:latin typeface="+mn-ea"/>
                          <a:ea typeface="+mn-ea"/>
                        </a:rPr>
                        <a:t>备货时间</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algn="ctr" fontAlgn="ctr">
                        <a:buNone/>
                      </a:pPr>
                      <a:r>
                        <a:rPr lang="zh-CN" altLang="en-US" sz="500" b="0" i="0">
                          <a:solidFill>
                            <a:srgbClr val="1F2329"/>
                          </a:solidFill>
                          <a:effectLst/>
                          <a:latin typeface="+mn-ea"/>
                          <a:ea typeface="+mn-ea"/>
                        </a:rPr>
                        <a:t>获取项目计划</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algn="ctr" fontAlgn="ctr">
                        <a:buNone/>
                      </a:pPr>
                      <a:endParaRPr lang="zh-CN" altLang="en-US" sz="500" b="0" i="0">
                        <a:solidFill>
                          <a:srgbClr val="1F2329"/>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1" i="0">
                          <a:solidFill>
                            <a:srgbClr val="1F2329"/>
                          </a:solidFill>
                          <a:effectLst/>
                          <a:latin typeface="+mn-ea"/>
                          <a:ea typeface="+mn-ea"/>
                        </a:rPr>
                        <a:t>确认客户项目目标与计划</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1F2329"/>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1F2329"/>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algn="ctr" fontAlgn="ctr">
                        <a:buNone/>
                      </a:pPr>
                      <a:endParaRPr lang="zh-CN" altLang="en-US" sz="500" b="0" i="0">
                        <a:solidFill>
                          <a:srgbClr val="1F2329"/>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dirty="0">
                          <a:solidFill>
                            <a:srgbClr val="1F2329"/>
                          </a:solidFill>
                          <a:effectLst/>
                          <a:latin typeface="+mn-ea"/>
                          <a:ea typeface="+mn-ea"/>
                        </a:rPr>
                        <a:t>1</a:t>
                      </a:r>
                      <a:r>
                        <a:rPr lang="zh-CN" altLang="en-US" sz="500" b="0" i="0" dirty="0">
                          <a:solidFill>
                            <a:srgbClr val="1F2329"/>
                          </a:solidFill>
                          <a:effectLst/>
                          <a:latin typeface="+mn-ea"/>
                          <a:ea typeface="+mn-ea"/>
                        </a:rPr>
                        <a:t>、新建总部大楼、新建产线，客户在进行新的园区、校区、大楼的建设，相关的信息</a:t>
                      </a:r>
                      <a:br>
                        <a:rPr lang="zh-CN" altLang="en-US" sz="500" b="0" i="0" dirty="0">
                          <a:solidFill>
                            <a:srgbClr val="1F2329"/>
                          </a:solidFill>
                          <a:effectLst/>
                          <a:latin typeface="+mn-ea"/>
                          <a:ea typeface="+mn-ea"/>
                        </a:rPr>
                      </a:br>
                      <a:r>
                        <a:rPr lang="en-US" altLang="zh-CN" sz="500" b="0" i="0" dirty="0">
                          <a:solidFill>
                            <a:srgbClr val="1F2329"/>
                          </a:solidFill>
                          <a:effectLst/>
                          <a:latin typeface="+mn-ea"/>
                          <a:ea typeface="+mn-ea"/>
                        </a:rPr>
                        <a:t>2</a:t>
                      </a:r>
                      <a:r>
                        <a:rPr lang="zh-CN" altLang="en-US" sz="500" b="0" i="0" dirty="0">
                          <a:solidFill>
                            <a:srgbClr val="1F2329"/>
                          </a:solidFill>
                          <a:effectLst/>
                          <a:latin typeface="+mn-ea"/>
                          <a:ea typeface="+mn-ea"/>
                        </a:rPr>
                        <a:t>、通过客户合作明确收益目标</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dirty="0">
                          <a:solidFill>
                            <a:srgbClr val="1F2329"/>
                          </a:solidFill>
                          <a:effectLst/>
                          <a:latin typeface="+mn-ea"/>
                          <a:ea typeface="+mn-ea"/>
                        </a:rPr>
                        <a:t>1</a:t>
                      </a:r>
                      <a:r>
                        <a:rPr lang="zh-CN" altLang="en-US" sz="500" b="0" i="0" dirty="0">
                          <a:solidFill>
                            <a:srgbClr val="1F2329"/>
                          </a:solidFill>
                          <a:effectLst/>
                          <a:latin typeface="+mn-ea"/>
                          <a:ea typeface="+mn-ea"/>
                        </a:rPr>
                        <a:t>、把对客户业务的支撑说清楚（弱电预算金额、产品方案、决策链、在什么时间做什么事）</a:t>
                      </a:r>
                      <a:br>
                        <a:rPr lang="zh-CN" altLang="en-US" sz="500" b="0" i="0" dirty="0">
                          <a:solidFill>
                            <a:srgbClr val="1F2329"/>
                          </a:solidFill>
                          <a:effectLst/>
                          <a:latin typeface="+mn-ea"/>
                          <a:ea typeface="+mn-ea"/>
                        </a:rPr>
                      </a:br>
                      <a:r>
                        <a:rPr lang="en-US" altLang="zh-CN" sz="500" b="0" i="0" dirty="0">
                          <a:solidFill>
                            <a:srgbClr val="1F2329"/>
                          </a:solidFill>
                          <a:effectLst/>
                          <a:latin typeface="+mn-ea"/>
                          <a:ea typeface="+mn-ea"/>
                        </a:rPr>
                        <a:t>2</a:t>
                      </a:r>
                      <a:r>
                        <a:rPr lang="zh-CN" altLang="en-US" sz="500" b="0" i="0" dirty="0">
                          <a:solidFill>
                            <a:srgbClr val="1F2329"/>
                          </a:solidFill>
                          <a:effectLst/>
                          <a:latin typeface="+mn-ea"/>
                          <a:ea typeface="+mn-ea"/>
                        </a:rPr>
                        <a:t>、现阶段明确蓝图、后续</a:t>
                      </a:r>
                      <a:r>
                        <a:rPr lang="en-GB" sz="500" b="0" i="0" dirty="0">
                          <a:solidFill>
                            <a:srgbClr val="1F2329"/>
                          </a:solidFill>
                          <a:effectLst/>
                          <a:latin typeface="+mn-ea"/>
                          <a:ea typeface="+mn-ea"/>
                        </a:rPr>
                        <a:t>MANT</a:t>
                      </a:r>
                      <a:r>
                        <a:rPr lang="zh-CN" altLang="en-US" sz="500" b="0" i="0" dirty="0">
                          <a:solidFill>
                            <a:srgbClr val="1F2329"/>
                          </a:solidFill>
                          <a:effectLst/>
                          <a:latin typeface="+mn-ea"/>
                          <a:ea typeface="+mn-ea"/>
                        </a:rPr>
                        <a:t>再逐步细化</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dirty="0">
                          <a:solidFill>
                            <a:srgbClr val="1F2329"/>
                          </a:solidFill>
                          <a:effectLst/>
                          <a:latin typeface="+mn-ea"/>
                          <a:ea typeface="+mn-ea"/>
                        </a:rPr>
                        <a:t>1</a:t>
                      </a:r>
                      <a:r>
                        <a:rPr lang="zh-CN" altLang="en-US" sz="500" b="0" i="0" dirty="0">
                          <a:solidFill>
                            <a:srgbClr val="1F2329"/>
                          </a:solidFill>
                          <a:effectLst/>
                          <a:latin typeface="+mn-ea"/>
                          <a:ea typeface="+mn-ea"/>
                        </a:rPr>
                        <a:t>、</a:t>
                      </a:r>
                      <a:r>
                        <a:rPr lang="en-US" altLang="zh-CN" sz="500" b="0" i="0" dirty="0">
                          <a:solidFill>
                            <a:srgbClr val="1F2329"/>
                          </a:solidFill>
                          <a:effectLst/>
                          <a:latin typeface="+mn-ea"/>
                          <a:ea typeface="+mn-ea"/>
                        </a:rPr>
                        <a:t>《</a:t>
                      </a:r>
                      <a:r>
                        <a:rPr lang="zh-CN" altLang="en-US" sz="500" b="0" i="0" dirty="0">
                          <a:solidFill>
                            <a:srgbClr val="1F2329"/>
                          </a:solidFill>
                          <a:effectLst/>
                          <a:latin typeface="+mn-ea"/>
                          <a:ea typeface="+mn-ea"/>
                        </a:rPr>
                        <a:t>锐捷兵法 </a:t>
                      </a:r>
                      <a:r>
                        <a:rPr lang="en-GB" sz="500" b="0" i="0" dirty="0">
                          <a:solidFill>
                            <a:srgbClr val="1F2329"/>
                          </a:solidFill>
                          <a:effectLst/>
                          <a:latin typeface="+mn-ea"/>
                          <a:ea typeface="+mn-ea"/>
                        </a:rPr>
                        <a:t>V2.0》</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GB" sz="500" b="0" i="0">
                          <a:solidFill>
                            <a:srgbClr val="1F2329"/>
                          </a:solidFill>
                          <a:effectLst/>
                          <a:latin typeface="+mn-ea"/>
                          <a:ea typeface="+mn-ea"/>
                        </a:rPr>
                        <a:t>1、MANT</a:t>
                      </a:r>
                      <a:r>
                        <a:rPr lang="zh-CN" altLang="en-US" sz="500" b="0" i="0">
                          <a:solidFill>
                            <a:srgbClr val="1F2329"/>
                          </a:solidFill>
                          <a:effectLst/>
                          <a:latin typeface="+mn-ea"/>
                          <a:ea typeface="+mn-ea"/>
                        </a:rPr>
                        <a:t>信息搜集方法</a:t>
                      </a:r>
                      <a:br>
                        <a:rPr lang="zh-CN" altLang="en-US" sz="500" b="0" i="0">
                          <a:solidFill>
                            <a:srgbClr val="1F2329"/>
                          </a:solidFill>
                          <a:effectLst/>
                          <a:latin typeface="+mn-ea"/>
                          <a:ea typeface="+mn-ea"/>
                        </a:rPr>
                      </a:br>
                      <a:r>
                        <a:rPr lang="en-US" altLang="zh-CN" sz="500" b="0" i="0">
                          <a:solidFill>
                            <a:srgbClr val="1F2329"/>
                          </a:solidFill>
                          <a:effectLst/>
                          <a:latin typeface="+mn-ea"/>
                          <a:ea typeface="+mn-ea"/>
                        </a:rPr>
                        <a:t>2</a:t>
                      </a:r>
                      <a:r>
                        <a:rPr lang="zh-CN" altLang="en-US" sz="500" b="0" i="0">
                          <a:solidFill>
                            <a:srgbClr val="1F2329"/>
                          </a:solidFill>
                          <a:effectLst/>
                          <a:latin typeface="+mn-ea"/>
                          <a:ea typeface="+mn-ea"/>
                        </a:rPr>
                        <a:t>、</a:t>
                      </a:r>
                      <a:r>
                        <a:rPr lang="en-US" altLang="zh-CN" sz="500" b="0" i="0">
                          <a:solidFill>
                            <a:srgbClr val="1F2329"/>
                          </a:solidFill>
                          <a:effectLst/>
                          <a:latin typeface="+mn-ea"/>
                          <a:ea typeface="+mn-ea"/>
                        </a:rPr>
                        <a:t>《</a:t>
                      </a:r>
                      <a:r>
                        <a:rPr lang="zh-CN" altLang="en-US" sz="500" b="0" i="0">
                          <a:solidFill>
                            <a:srgbClr val="1F2329"/>
                          </a:solidFill>
                          <a:effectLst/>
                          <a:latin typeface="+mn-ea"/>
                          <a:ea typeface="+mn-ea"/>
                        </a:rPr>
                        <a:t>客户计划</a:t>
                      </a:r>
                      <a:r>
                        <a:rPr lang="en-US" altLang="zh-CN" sz="500" b="0" i="0">
                          <a:solidFill>
                            <a:srgbClr val="1F2329"/>
                          </a:solidFill>
                          <a:effectLst/>
                          <a:latin typeface="+mn-ea"/>
                          <a:ea typeface="+mn-ea"/>
                        </a:rPr>
                        <a:t>》</a:t>
                      </a:r>
                      <a:r>
                        <a:rPr lang="zh-CN" altLang="en-US" sz="500" b="0" i="0">
                          <a:solidFill>
                            <a:srgbClr val="1F2329"/>
                          </a:solidFill>
                          <a:effectLst/>
                          <a:latin typeface="+mn-ea"/>
                          <a:ea typeface="+mn-ea"/>
                        </a:rPr>
                        <a:t>工具：用于分析客户业务及现状，辅助判断时间节点合理性</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1F2329"/>
                          </a:solidFill>
                          <a:effectLst/>
                          <a:latin typeface="+mn-ea"/>
                          <a:ea typeface="+mn-ea"/>
                        </a:rPr>
                        <a:t>1</a:t>
                      </a:r>
                      <a:r>
                        <a:rPr lang="zh-CN" altLang="en-US" sz="500" b="0" i="0">
                          <a:solidFill>
                            <a:srgbClr val="1F2329"/>
                          </a:solidFill>
                          <a:effectLst/>
                          <a:latin typeface="+mn-ea"/>
                          <a:ea typeface="+mn-ea"/>
                        </a:rPr>
                        <a:t>、信息梳理能力：能从客户多部门（信息部门、业务部门等）搜集并整合项目目标与计划信息</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1F2329"/>
                          </a:solidFill>
                          <a:effectLst/>
                          <a:latin typeface="+mn-ea"/>
                          <a:ea typeface="+mn-ea"/>
                        </a:rPr>
                        <a:t>1</a:t>
                      </a:r>
                      <a:r>
                        <a:rPr lang="zh-CN" altLang="en-US" sz="500" b="0" i="0">
                          <a:solidFill>
                            <a:srgbClr val="1F2329"/>
                          </a:solidFill>
                          <a:effectLst/>
                          <a:latin typeface="+mn-ea"/>
                          <a:ea typeface="+mn-ea"/>
                        </a:rPr>
                        <a:t>、项目计划的时间节点需与执行能力匹配，避免因计划过于激进或滞后影响备货时间预测；</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1F2329"/>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1F2329"/>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1F2329"/>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0" i="0">
                          <a:solidFill>
                            <a:srgbClr val="1F2329"/>
                          </a:solidFill>
                          <a:effectLst/>
                          <a:latin typeface="+mn-ea"/>
                          <a:ea typeface="+mn-ea"/>
                        </a:rPr>
                        <a:t>客户项目目标与计划</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1F2329"/>
                          </a:solidFill>
                          <a:effectLst/>
                          <a:latin typeface="+mn-ea"/>
                          <a:ea typeface="+mn-ea"/>
                        </a:rPr>
                        <a:t>1</a:t>
                      </a:r>
                      <a:r>
                        <a:rPr lang="zh-CN" altLang="en-US" sz="500" b="0" i="0">
                          <a:solidFill>
                            <a:srgbClr val="1F2329"/>
                          </a:solidFill>
                          <a:effectLst/>
                          <a:latin typeface="+mn-ea"/>
                          <a:ea typeface="+mn-ea"/>
                        </a:rPr>
                        <a:t>、项目目标明确具体：明确项目需解决的问题、客户期望达成的价值</a:t>
                      </a:r>
                      <a:br>
                        <a:rPr lang="zh-CN" altLang="en-US" sz="500" b="0" i="0">
                          <a:solidFill>
                            <a:srgbClr val="1F2329"/>
                          </a:solidFill>
                          <a:effectLst/>
                          <a:latin typeface="+mn-ea"/>
                          <a:ea typeface="+mn-ea"/>
                        </a:rPr>
                      </a:br>
                      <a:r>
                        <a:rPr lang="en-US" altLang="zh-CN" sz="500" b="0" i="0">
                          <a:solidFill>
                            <a:srgbClr val="1F2329"/>
                          </a:solidFill>
                          <a:effectLst/>
                          <a:latin typeface="+mn-ea"/>
                          <a:ea typeface="+mn-ea"/>
                        </a:rPr>
                        <a:t>2</a:t>
                      </a:r>
                      <a:r>
                        <a:rPr lang="zh-CN" altLang="en-US" sz="500" b="0" i="0">
                          <a:solidFill>
                            <a:srgbClr val="1F2329"/>
                          </a:solidFill>
                          <a:effectLst/>
                          <a:latin typeface="+mn-ea"/>
                          <a:ea typeface="+mn-ea"/>
                        </a:rPr>
                        <a:t>、项目计划完整：包含各阶段工作目标、时间节点、同各阶段进度匹配；</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extLst>
                  <a:ext uri="{0D108BD9-81ED-4DB2-BD59-A6C34878D82A}">
                    <a16:rowId xmlns="" xmlns:a16="http://schemas.microsoft.com/office/drawing/2014/main" val="10004"/>
                  </a:ext>
                </a:extLst>
              </a:tr>
              <a:tr h="536451">
                <a:tc vMerge="1">
                  <a:txBody>
                    <a:bodyPr/>
                    <a:lstStyle/>
                    <a:p>
                      <a:endParaRPr lang="zh-CN"/>
                    </a:p>
                  </a:txBody>
                  <a:tcPr/>
                </a:tc>
                <a:tc rowSpan="4">
                  <a:txBody>
                    <a:bodyPr/>
                    <a:lstStyle/>
                    <a:p>
                      <a:pPr algn="ctr" fontAlgn="ctr">
                        <a:buNone/>
                      </a:pPr>
                      <a:r>
                        <a:rPr lang="zh-CN" altLang="en-US" sz="500" b="0" i="0">
                          <a:solidFill>
                            <a:srgbClr val="000000"/>
                          </a:solidFill>
                          <a:effectLst/>
                          <a:latin typeface="+mn-ea"/>
                          <a:ea typeface="+mn-ea"/>
                        </a:rPr>
                        <a:t>客户需求与项目稳定性</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algn="ct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1" i="0">
                          <a:solidFill>
                            <a:srgbClr val="000000"/>
                          </a:solidFill>
                          <a:effectLst/>
                          <a:latin typeface="+mn-ea"/>
                          <a:ea typeface="+mn-ea"/>
                        </a:rPr>
                        <a:t>明确沟通角色，客户决策链与组织架构</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0" i="0">
                          <a:solidFill>
                            <a:srgbClr val="000000"/>
                          </a:solidFill>
                          <a:effectLst/>
                          <a:latin typeface="+mn-ea"/>
                          <a:ea typeface="+mn-ea"/>
                        </a:rPr>
                        <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、重点客户信息（渠道、最终客户），以及谁是最核心的关键人物。</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、客户决策链信息，参与决策的内部角色：</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3</a:t>
                      </a:r>
                      <a:r>
                        <a:rPr lang="zh-CN" altLang="en-US" sz="500" b="0" i="0">
                          <a:solidFill>
                            <a:srgbClr val="000000"/>
                          </a:solidFill>
                          <a:effectLst/>
                          <a:latin typeface="+mn-ea"/>
                          <a:ea typeface="+mn-ea"/>
                        </a:rPr>
                        <a:t>、客户组织结构，确定项目的主导部门</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、识别重点客户关系，优势渠道与核心客户（如项目建设负责人）</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、明确客户职务，完成决策链显性与隐形分析</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3</a:t>
                      </a:r>
                      <a:r>
                        <a:rPr lang="zh-CN" altLang="en-US" sz="500" b="0" i="0">
                          <a:solidFill>
                            <a:srgbClr val="000000"/>
                          </a:solidFill>
                          <a:effectLst/>
                          <a:latin typeface="+mn-ea"/>
                          <a:ea typeface="+mn-ea"/>
                        </a:rPr>
                        <a:t>、建立客户联系，摸清客户组织结构</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、通过 </a:t>
                      </a:r>
                      <a:r>
                        <a:rPr lang="en-GB" sz="500" b="0" i="0">
                          <a:solidFill>
                            <a:srgbClr val="000000"/>
                          </a:solidFill>
                          <a:effectLst/>
                          <a:latin typeface="+mn-ea"/>
                          <a:ea typeface="+mn-ea"/>
                        </a:rPr>
                        <a:t>MANT </a:t>
                      </a:r>
                      <a:r>
                        <a:rPr lang="zh-CN" altLang="en-US" sz="500" b="0" i="0">
                          <a:solidFill>
                            <a:srgbClr val="000000"/>
                          </a:solidFill>
                          <a:effectLst/>
                          <a:latin typeface="+mn-ea"/>
                          <a:ea typeface="+mn-ea"/>
                        </a:rPr>
                        <a:t>中的 “</a:t>
                      </a:r>
                      <a:r>
                        <a:rPr lang="en-GB" sz="500" b="0" i="0">
                          <a:solidFill>
                            <a:srgbClr val="000000"/>
                          </a:solidFill>
                          <a:effectLst/>
                          <a:latin typeface="+mn-ea"/>
                          <a:ea typeface="+mn-ea"/>
                        </a:rPr>
                        <a:t>Authority” </a:t>
                      </a:r>
                      <a:r>
                        <a:rPr lang="zh-CN" altLang="en-US" sz="500" b="0" i="0">
                          <a:solidFill>
                            <a:srgbClr val="000000"/>
                          </a:solidFill>
                          <a:effectLst/>
                          <a:latin typeface="+mn-ea"/>
                          <a:ea typeface="+mn-ea"/>
                        </a:rPr>
                        <a:t>要素搜集决策链信息，确保 “哪些部门 </a:t>
                      </a:r>
                      <a:r>
                        <a:rPr lang="en-US" altLang="zh-CN" sz="500" b="0" i="0">
                          <a:solidFill>
                            <a:srgbClr val="000000"/>
                          </a:solidFill>
                          <a:effectLst/>
                          <a:latin typeface="+mn-ea"/>
                          <a:ea typeface="+mn-ea"/>
                        </a:rPr>
                        <a:t>/ </a:t>
                      </a:r>
                      <a:r>
                        <a:rPr lang="zh-CN" altLang="en-US" sz="500" b="0" i="0">
                          <a:solidFill>
                            <a:srgbClr val="000000"/>
                          </a:solidFill>
                          <a:effectLst/>
                          <a:latin typeface="+mn-ea"/>
                          <a:ea typeface="+mn-ea"/>
                        </a:rPr>
                        <a:t>人参与、角色是什么、关键人物是谁” 等核心信息齐备；</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、招标信息平台，获取招标接口人员信息</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3</a:t>
                      </a:r>
                      <a:r>
                        <a:rPr lang="zh-CN" altLang="en-US" sz="500" b="0" i="0">
                          <a:solidFill>
                            <a:srgbClr val="000000"/>
                          </a:solidFill>
                          <a:effectLst/>
                          <a:latin typeface="+mn-ea"/>
                          <a:ea typeface="+mn-ea"/>
                        </a:rPr>
                        <a:t>、</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项目分析会模板</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及项目分析指导手册</a:t>
                      </a:r>
                      <a:r>
                        <a:rPr lang="en-US" altLang="zh-CN" sz="500" b="0" i="0">
                          <a:solidFill>
                            <a:srgbClr val="000000"/>
                          </a:solidFill>
                          <a:effectLst/>
                          <a:latin typeface="+mn-ea"/>
                          <a:ea typeface="+mn-ea"/>
                        </a:rPr>
                        <a:t>》</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、拜访客户：（关键决策者客户有效覆盖率，方案汇报</a:t>
                      </a:r>
                      <a:r>
                        <a:rPr lang="en-US" altLang="zh-CN" sz="500" b="0" i="0">
                          <a:solidFill>
                            <a:srgbClr val="000000"/>
                          </a:solidFill>
                          <a:effectLst/>
                          <a:latin typeface="+mn-ea"/>
                          <a:ea typeface="+mn-ea"/>
                        </a:rPr>
                        <a:t>/</a:t>
                      </a:r>
                      <a:r>
                        <a:rPr lang="en-GB" sz="500" b="0" i="0">
                          <a:solidFill>
                            <a:srgbClr val="000000"/>
                          </a:solidFill>
                          <a:effectLst/>
                          <a:latin typeface="+mn-ea"/>
                          <a:ea typeface="+mn-ea"/>
                        </a:rPr>
                        <a:t>POC</a:t>
                      </a:r>
                      <a:r>
                        <a:rPr lang="zh-CN" altLang="en-US" sz="500" b="0" i="0">
                          <a:solidFill>
                            <a:srgbClr val="000000"/>
                          </a:solidFill>
                          <a:effectLst/>
                          <a:latin typeface="+mn-ea"/>
                          <a:ea typeface="+mn-ea"/>
                        </a:rPr>
                        <a:t>测试</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总部参观，在</a:t>
                      </a:r>
                      <a:r>
                        <a:rPr lang="en-GB" sz="500" b="0" i="0">
                          <a:solidFill>
                            <a:srgbClr val="000000"/>
                          </a:solidFill>
                          <a:effectLst/>
                          <a:latin typeface="+mn-ea"/>
                          <a:ea typeface="+mn-ea"/>
                        </a:rPr>
                        <a:t>CRM</a:t>
                      </a:r>
                      <a:r>
                        <a:rPr lang="zh-CN" altLang="en-US" sz="500" b="0" i="0">
                          <a:solidFill>
                            <a:srgbClr val="000000"/>
                          </a:solidFill>
                          <a:effectLst/>
                          <a:latin typeface="+mn-ea"/>
                          <a:ea typeface="+mn-ea"/>
                        </a:rPr>
                        <a:t>上记录留痕）</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、多点验证：信息需经客户多部门（如信息部、采购部）、多角色交叉验证，避免依赖单一来源；</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3</a:t>
                      </a:r>
                      <a:r>
                        <a:rPr lang="zh-CN" altLang="en-US" sz="500" b="0" i="0">
                          <a:solidFill>
                            <a:srgbClr val="000000"/>
                          </a:solidFill>
                          <a:effectLst/>
                          <a:latin typeface="+mn-ea"/>
                          <a:ea typeface="+mn-ea"/>
                        </a:rPr>
                        <a:t>、动态更新：在</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项目分析会</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中定期复盘决策链变化（如人员变动、权力调整），并调整策略。</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dirty="0">
                          <a:solidFill>
                            <a:srgbClr val="000000"/>
                          </a:solidFill>
                          <a:effectLst/>
                          <a:latin typeface="+mn-ea"/>
                          <a:ea typeface="+mn-ea"/>
                        </a:rPr>
                        <a:t>1</a:t>
                      </a:r>
                      <a:r>
                        <a:rPr lang="zh-CN" altLang="en-US" sz="500" b="0" i="0" dirty="0">
                          <a:solidFill>
                            <a:srgbClr val="000000"/>
                          </a:solidFill>
                          <a:effectLst/>
                          <a:latin typeface="+mn-ea"/>
                          <a:ea typeface="+mn-ea"/>
                        </a:rPr>
                        <a:t>、决策链分析能力</a:t>
                      </a:r>
                      <a:br>
                        <a:rPr lang="zh-CN" altLang="en-US" sz="500" b="0" i="0" dirty="0">
                          <a:solidFill>
                            <a:srgbClr val="000000"/>
                          </a:solidFill>
                          <a:effectLst/>
                          <a:latin typeface="+mn-ea"/>
                          <a:ea typeface="+mn-ea"/>
                        </a:rPr>
                      </a:br>
                      <a:r>
                        <a:rPr lang="en-US" altLang="zh-CN" sz="500" b="0" i="0" dirty="0">
                          <a:solidFill>
                            <a:srgbClr val="000000"/>
                          </a:solidFill>
                          <a:effectLst/>
                          <a:latin typeface="+mn-ea"/>
                          <a:ea typeface="+mn-ea"/>
                        </a:rPr>
                        <a:t>2</a:t>
                      </a:r>
                      <a:r>
                        <a:rPr lang="zh-CN" altLang="en-US" sz="500" b="0" i="0" dirty="0">
                          <a:solidFill>
                            <a:srgbClr val="000000"/>
                          </a:solidFill>
                          <a:effectLst/>
                          <a:latin typeface="+mn-ea"/>
                          <a:ea typeface="+mn-ea"/>
                        </a:rPr>
                        <a:t>、信息搜集与多源验证能力：能从客户内部多部门（信息、采购、财务等）获取时间信息并交叉验证</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、客户组织架构调整及决策链变化，及时同步供应链调整备货时间</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、需全面纳入客户内部及外部所有影响决策的角色，不能仅聚焦于表面可见的职位。</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3</a:t>
                      </a:r>
                      <a:r>
                        <a:rPr lang="zh-CN" altLang="en-US" sz="500" b="0" i="0">
                          <a:solidFill>
                            <a:srgbClr val="000000"/>
                          </a:solidFill>
                          <a:effectLst/>
                          <a:latin typeface="+mn-ea"/>
                          <a:ea typeface="+mn-ea"/>
                        </a:rPr>
                        <a:t>、需通过 “多点验证” 确保决策链信息的准确性，不能仅依赖单一渠道或角色的表述。</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0" i="0">
                          <a:solidFill>
                            <a:srgbClr val="000000"/>
                          </a:solidFill>
                          <a:effectLst/>
                          <a:latin typeface="+mn-ea"/>
                          <a:ea typeface="+mn-ea"/>
                        </a:rPr>
                        <a:t>收集历史项目数据，识别高风险客户和行业特征</a:t>
                      </a:r>
                      <a:br>
                        <a:rPr lang="zh-CN" altLang="en-US" sz="500" b="0" i="0">
                          <a:solidFill>
                            <a:srgbClr val="000000"/>
                          </a:solidFill>
                          <a:effectLst/>
                          <a:latin typeface="+mn-ea"/>
                          <a:ea typeface="+mn-ea"/>
                        </a:rPr>
                      </a:b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0" i="0">
                          <a:solidFill>
                            <a:srgbClr val="000000"/>
                          </a:solidFill>
                          <a:effectLst/>
                          <a:latin typeface="+mn-ea"/>
                          <a:ea typeface="+mn-ea"/>
                        </a:rPr>
                        <a:t>关键客户沟通角色，决策者及决策链</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、关键决策者及决策链的 “全面性” 标准：需明确各角色在决策链中的位置（如审批环节、建设环节）及相互关系（如关系圈、历史合作偏好），沟通对象需要到拍板者</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决策者，如果是渠道至少联合拜访到位，尤其是大项目；</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、关键决策者及决策链的 “精准性” 标准：</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）权力明确：明确谁是最终拍板者</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决策者（如客户高层）</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）影响力评估：判断各角色对决策的实际影响程度（如某技术权威虽非领导，但能左右方案走向），交叉验证；</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extLst>
                  <a:ext uri="{0D108BD9-81ED-4DB2-BD59-A6C34878D82A}">
                    <a16:rowId xmlns="" xmlns:a16="http://schemas.microsoft.com/office/drawing/2014/main" val="10005"/>
                  </a:ext>
                </a:extLst>
              </a:tr>
              <a:tr h="349317">
                <a:tc vMerge="1">
                  <a:txBody>
                    <a:bodyPr/>
                    <a:lstStyle/>
                    <a:p>
                      <a:endParaRPr lang="zh-CN"/>
                    </a:p>
                  </a:txBody>
                  <a:tcPr/>
                </a:tc>
                <a:tc vMerge="1">
                  <a:txBody>
                    <a:bodyPr/>
                    <a:lstStyle/>
                    <a:p>
                      <a:endParaRPr lang="zh-CN"/>
                    </a:p>
                  </a:txBody>
                  <a:tcPr/>
                </a:tc>
                <a:tc>
                  <a:txBody>
                    <a:bodyPr/>
                    <a:lstStyle/>
                    <a:p>
                      <a:pPr algn="ct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1" i="0">
                          <a:solidFill>
                            <a:srgbClr val="000000"/>
                          </a:solidFill>
                          <a:effectLst/>
                          <a:latin typeface="+mn-ea"/>
                          <a:ea typeface="+mn-ea"/>
                        </a:rPr>
                        <a:t>明确项目时间节点与施工进度</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、客户业务规划书、施工进度表</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、明确可研批复时间、竣工、交付、总包</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分包招标时间</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、明确当前项目状态、施工进度、所处阶段</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、信息获取：招投标信息公示平台</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政府官方网站</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单位公众号获取信息</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、信息确认：</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漏斗质量管理标准</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项目分析会</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，结合项目整体进度评估时间节点可行性，支撑时间预测</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、现地现物：去到客户现场、施工现场确认项目进度</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、客户信息交叉验证：通过与客户信息部门、决策者多角色沟通，直接获取时间规划</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3</a:t>
                      </a:r>
                      <a:r>
                        <a:rPr lang="zh-CN" altLang="en-US" sz="500" b="0" i="0">
                          <a:solidFill>
                            <a:srgbClr val="000000"/>
                          </a:solidFill>
                          <a:effectLst/>
                          <a:latin typeface="+mn-ea"/>
                          <a:ea typeface="+mn-ea"/>
                        </a:rPr>
                        <a:t>、往年同类项目时间点对比验证</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、熟悉招标流程</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、销售预判能力</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、多方验证确认客户的业务规划、施工进度（装修）</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、实地确认项目环境（如楼宇封顶、内装进度），评估是否具备进场条件</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弱电项目：要和客户、弱电商共同达成一致的时间点</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0" i="0">
                          <a:solidFill>
                            <a:srgbClr val="000000"/>
                          </a:solidFill>
                          <a:effectLst/>
                          <a:latin typeface="+mn-ea"/>
                          <a:ea typeface="+mn-ea"/>
                        </a:rPr>
                        <a:t>项目时间节点信息</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、夯实</a:t>
                      </a:r>
                      <a:r>
                        <a:rPr lang="en-GB" sz="500" b="0" i="0">
                          <a:solidFill>
                            <a:srgbClr val="000000"/>
                          </a:solidFill>
                          <a:effectLst/>
                          <a:latin typeface="+mn-ea"/>
                          <a:ea typeface="+mn-ea"/>
                        </a:rPr>
                        <a:t>CRM</a:t>
                      </a:r>
                      <a:r>
                        <a:rPr lang="zh-CN" altLang="en-US" sz="500" b="0" i="0">
                          <a:solidFill>
                            <a:srgbClr val="000000"/>
                          </a:solidFill>
                          <a:effectLst/>
                          <a:latin typeface="+mn-ea"/>
                          <a:ea typeface="+mn-ea"/>
                        </a:rPr>
                        <a:t>中的</a:t>
                      </a:r>
                      <a:r>
                        <a:rPr lang="en-US" altLang="zh-CN" sz="500" b="0" i="0">
                          <a:solidFill>
                            <a:srgbClr val="000000"/>
                          </a:solidFill>
                          <a:effectLst/>
                          <a:latin typeface="+mn-ea"/>
                          <a:ea typeface="+mn-ea"/>
                        </a:rPr>
                        <a:t>3</a:t>
                      </a:r>
                      <a:r>
                        <a:rPr lang="en-GB" sz="500" b="0" i="0">
                          <a:solidFill>
                            <a:srgbClr val="000000"/>
                          </a:solidFill>
                          <a:effectLst/>
                          <a:latin typeface="+mn-ea"/>
                          <a:ea typeface="+mn-ea"/>
                        </a:rPr>
                        <a:t>T</a:t>
                      </a:r>
                      <a:r>
                        <a:rPr lang="zh-CN" altLang="en-US" sz="500" b="0" i="0">
                          <a:solidFill>
                            <a:srgbClr val="000000"/>
                          </a:solidFill>
                          <a:effectLst/>
                          <a:latin typeface="+mn-ea"/>
                          <a:ea typeface="+mn-ea"/>
                        </a:rPr>
                        <a:t>信息，项目信息变化（涉及道备货实时同步，新建项目长周期项目按月为单位更新），必须沟通到拍板者</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决策者；</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extLst>
                  <a:ext uri="{0D108BD9-81ED-4DB2-BD59-A6C34878D82A}">
                    <a16:rowId xmlns="" xmlns:a16="http://schemas.microsoft.com/office/drawing/2014/main" val="10006"/>
                  </a:ext>
                </a:extLst>
              </a:tr>
              <a:tr h="286938">
                <a:tc vMerge="1">
                  <a:txBody>
                    <a:bodyPr/>
                    <a:lstStyle/>
                    <a:p>
                      <a:endParaRPr lang="zh-CN"/>
                    </a:p>
                  </a:txBody>
                  <a:tcPr/>
                </a:tc>
                <a:tc vMerge="1">
                  <a:txBody>
                    <a:bodyPr/>
                    <a:lstStyle/>
                    <a:p>
                      <a:endParaRPr lang="zh-CN"/>
                    </a:p>
                  </a:txBody>
                  <a:tcPr/>
                </a:tc>
                <a:tc>
                  <a:txBody>
                    <a:bodyPr/>
                    <a:lstStyle/>
                    <a:p>
                      <a:pPr algn="ct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1" i="0">
                          <a:solidFill>
                            <a:srgbClr val="000000"/>
                          </a:solidFill>
                          <a:effectLst/>
                          <a:latin typeface="+mn-ea"/>
                          <a:ea typeface="+mn-ea"/>
                        </a:rPr>
                        <a:t>明确客户预算资金状态</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algn="ct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、客户项目预算信息：资金到位证明、预算批复文件、付款计划等</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、项目预算资金通过审批且已到位</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、资金总额及细分分配：明确和我们项目相关的预算金额或者比例</a:t>
                      </a:r>
                      <a:br>
                        <a:rPr lang="zh-CN" altLang="en-US" sz="500" b="0" i="0">
                          <a:solidFill>
                            <a:srgbClr val="000000"/>
                          </a:solidFill>
                          <a:effectLst/>
                          <a:latin typeface="+mn-ea"/>
                          <a:ea typeface="+mn-ea"/>
                        </a:rPr>
                      </a:b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、通过 </a:t>
                      </a:r>
                      <a:r>
                        <a:rPr lang="en-GB" sz="500" b="0" i="0">
                          <a:solidFill>
                            <a:srgbClr val="000000"/>
                          </a:solidFill>
                          <a:effectLst/>
                          <a:latin typeface="+mn-ea"/>
                          <a:ea typeface="+mn-ea"/>
                        </a:rPr>
                        <a:t>MANT </a:t>
                      </a:r>
                      <a:r>
                        <a:rPr lang="zh-CN" altLang="en-US" sz="500" b="0" i="0">
                          <a:solidFill>
                            <a:srgbClr val="000000"/>
                          </a:solidFill>
                          <a:effectLst/>
                          <a:latin typeface="+mn-ea"/>
                          <a:ea typeface="+mn-ea"/>
                        </a:rPr>
                        <a:t>中的 “</a:t>
                      </a:r>
                      <a:r>
                        <a:rPr lang="en-GB" sz="500" b="0" i="0">
                          <a:solidFill>
                            <a:srgbClr val="000000"/>
                          </a:solidFill>
                          <a:effectLst/>
                          <a:latin typeface="+mn-ea"/>
                          <a:ea typeface="+mn-ea"/>
                        </a:rPr>
                        <a:t>Money” </a:t>
                      </a:r>
                      <a:r>
                        <a:rPr lang="zh-CN" altLang="en-US" sz="500" b="0" i="0">
                          <a:solidFill>
                            <a:srgbClr val="000000"/>
                          </a:solidFill>
                          <a:effectLst/>
                          <a:latin typeface="+mn-ea"/>
                          <a:ea typeface="+mn-ea"/>
                        </a:rPr>
                        <a:t>为核心要素，确认资金状况及预算信息的基础工具</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、询问业主、设计院、优势集成商（相关干系人），搜集预算及资金信息，并交叉确认确保准确性</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、信息搜集与验证能力：能从客户财务、采购等多部门获取资金信息，并通过多源交叉验证确保真实性</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、避免依赖口头承诺，定期（如每月）与客户确认项目进度和资金状态（如投融资项目：垫资方资金明确）</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0" i="0">
                          <a:solidFill>
                            <a:srgbClr val="000000"/>
                          </a:solidFill>
                          <a:effectLst/>
                          <a:latin typeface="+mn-ea"/>
                          <a:ea typeface="+mn-ea"/>
                        </a:rPr>
                        <a:t>项目预算资金信息</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、项目里面与我司项目内容部分的预算到位，且跟拍板者</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决策者做过确认；</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、资金预算是动态调整的过程，至少拜访</a:t>
                      </a: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拍板者</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决策者；</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extLst>
                  <a:ext uri="{0D108BD9-81ED-4DB2-BD59-A6C34878D82A}">
                    <a16:rowId xmlns="" xmlns:a16="http://schemas.microsoft.com/office/drawing/2014/main" val="10007"/>
                  </a:ext>
                </a:extLst>
              </a:tr>
              <a:tr h="411695">
                <a:tc vMerge="1">
                  <a:txBody>
                    <a:bodyPr/>
                    <a:lstStyle/>
                    <a:p>
                      <a:endParaRPr lang="zh-CN"/>
                    </a:p>
                  </a:txBody>
                  <a:tcPr/>
                </a:tc>
                <a:tc vMerge="1">
                  <a:txBody>
                    <a:bodyPr/>
                    <a:lstStyle/>
                    <a:p>
                      <a:endParaRPr lang="zh-CN"/>
                    </a:p>
                  </a:txBody>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1" i="0">
                          <a:solidFill>
                            <a:srgbClr val="000000"/>
                          </a:solidFill>
                          <a:effectLst/>
                          <a:latin typeface="+mn-ea"/>
                          <a:ea typeface="+mn-ea"/>
                        </a:rPr>
                        <a:t>明确招标流程与政策，并动态跟踪</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、招标公告、流标通知</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、行业政策文件</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、招标公告时间与实际供货的时间做准确预判（新建招标）</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、客户确定的采购方式（公开招标、邀请招标、竞争性谈判等）及对应政策规定的招标流程时限（如招标公示期、投标截止时间、评标周期等）</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、通过 </a:t>
                      </a:r>
                      <a:r>
                        <a:rPr lang="en-GB" sz="500" b="0" i="0">
                          <a:solidFill>
                            <a:srgbClr val="000000"/>
                          </a:solidFill>
                          <a:effectLst/>
                          <a:latin typeface="+mn-ea"/>
                          <a:ea typeface="+mn-ea"/>
                        </a:rPr>
                        <a:t>MANT </a:t>
                      </a:r>
                      <a:r>
                        <a:rPr lang="zh-CN" altLang="en-US" sz="500" b="0" i="0">
                          <a:solidFill>
                            <a:srgbClr val="000000"/>
                          </a:solidFill>
                          <a:effectLst/>
                          <a:latin typeface="+mn-ea"/>
                          <a:ea typeface="+mn-ea"/>
                        </a:rPr>
                        <a:t>中的 “</a:t>
                      </a:r>
                      <a:r>
                        <a:rPr lang="en-GB" sz="500" b="0" i="0">
                          <a:solidFill>
                            <a:srgbClr val="000000"/>
                          </a:solidFill>
                          <a:effectLst/>
                          <a:latin typeface="+mn-ea"/>
                          <a:ea typeface="+mn-ea"/>
                        </a:rPr>
                        <a:t>Time” </a:t>
                      </a:r>
                      <a:r>
                        <a:rPr lang="zh-CN" altLang="en-US" sz="500" b="0" i="0">
                          <a:solidFill>
                            <a:srgbClr val="000000"/>
                          </a:solidFill>
                          <a:effectLst/>
                          <a:latin typeface="+mn-ea"/>
                          <a:ea typeface="+mn-ea"/>
                        </a:rPr>
                        <a:t>要素搜集招标相关时间节点（如招标投标时间、预计下单时间），作为追踪基础</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、判断客户行为（如是否启动招标、是否签订合同）分析当前招标流程阶段，辅助预测后续时间节点；</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、切实客户接触拜访：定期拜访客户信息部门、采购部门，跟踪流程进度（如标书审批是否完成、招标公告是否发布）</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、跟踪招标机构发布的公开信息（如招标公告、公示结果），验证客户提供的流程节点</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、熟悉招标流程的能力：能根据采购文件判断各环节耗时及政策要求，预判流程推进节奏。</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、招标流程及时跟踪，动态刷新</a:t>
                      </a:r>
                      <a:r>
                        <a:rPr lang="en-GB" sz="500" b="0" i="0">
                          <a:solidFill>
                            <a:srgbClr val="000000"/>
                          </a:solidFill>
                          <a:effectLst/>
                          <a:latin typeface="+mn-ea"/>
                          <a:ea typeface="+mn-ea"/>
                        </a:rPr>
                        <a:t>CRM</a:t>
                      </a:r>
                      <a:r>
                        <a:rPr lang="zh-CN" altLang="en-US" sz="500" b="0" i="0">
                          <a:solidFill>
                            <a:srgbClr val="000000"/>
                          </a:solidFill>
                          <a:effectLst/>
                          <a:latin typeface="+mn-ea"/>
                          <a:ea typeface="+mn-ea"/>
                        </a:rPr>
                        <a:t>状态</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、流标后</a:t>
                      </a:r>
                      <a:r>
                        <a:rPr lang="en-US" altLang="zh-CN" sz="500" b="0" i="0">
                          <a:solidFill>
                            <a:srgbClr val="000000"/>
                          </a:solidFill>
                          <a:effectLst/>
                          <a:latin typeface="+mn-ea"/>
                          <a:ea typeface="+mn-ea"/>
                        </a:rPr>
                        <a:t>24</a:t>
                      </a:r>
                      <a:r>
                        <a:rPr lang="zh-CN" altLang="en-US" sz="500" b="0" i="0">
                          <a:solidFill>
                            <a:srgbClr val="000000"/>
                          </a:solidFill>
                          <a:effectLst/>
                          <a:latin typeface="+mn-ea"/>
                          <a:ea typeface="+mn-ea"/>
                        </a:rPr>
                        <a:t>小时内确认重发标时间</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3</a:t>
                      </a:r>
                      <a:r>
                        <a:rPr lang="zh-CN" altLang="en-US" sz="500" b="0" i="0">
                          <a:solidFill>
                            <a:srgbClr val="000000"/>
                          </a:solidFill>
                          <a:effectLst/>
                          <a:latin typeface="+mn-ea"/>
                          <a:ea typeface="+mn-ea"/>
                        </a:rPr>
                        <a:t>、定期跟踪客户决策链变化（每两周？）</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dirty="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1" i="0" dirty="0">
                          <a:solidFill>
                            <a:srgbClr val="1F2329"/>
                          </a:solidFill>
                          <a:effectLst/>
                          <a:latin typeface="+mn-ea"/>
                          <a:ea typeface="+mn-ea"/>
                        </a:rPr>
                        <a:t>开标时间信息</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dirty="0">
                          <a:solidFill>
                            <a:srgbClr val="1F2329"/>
                          </a:solidFill>
                          <a:effectLst/>
                          <a:latin typeface="+mn-ea"/>
                          <a:ea typeface="+mn-ea"/>
                        </a:rPr>
                        <a:t>1</a:t>
                      </a:r>
                      <a:r>
                        <a:rPr lang="zh-CN" altLang="en-US" sz="500" b="0" i="0" dirty="0">
                          <a:solidFill>
                            <a:srgbClr val="1F2329"/>
                          </a:solidFill>
                          <a:effectLst/>
                          <a:latin typeface="+mn-ea"/>
                          <a:ea typeface="+mn-ea"/>
                        </a:rPr>
                        <a:t>、时间节点明确且具体</a:t>
                      </a:r>
                      <a:br>
                        <a:rPr lang="zh-CN" altLang="en-US" sz="500" b="0" i="0" dirty="0">
                          <a:solidFill>
                            <a:srgbClr val="1F2329"/>
                          </a:solidFill>
                          <a:effectLst/>
                          <a:latin typeface="+mn-ea"/>
                          <a:ea typeface="+mn-ea"/>
                        </a:rPr>
                      </a:br>
                      <a:r>
                        <a:rPr lang="en-US" altLang="zh-CN" sz="500" b="0" i="0" dirty="0">
                          <a:solidFill>
                            <a:srgbClr val="1F2329"/>
                          </a:solidFill>
                          <a:effectLst/>
                          <a:latin typeface="+mn-ea"/>
                          <a:ea typeface="+mn-ea"/>
                        </a:rPr>
                        <a:t>1</a:t>
                      </a:r>
                      <a:r>
                        <a:rPr lang="zh-CN" altLang="en-US" sz="500" b="0" i="0" dirty="0">
                          <a:solidFill>
                            <a:srgbClr val="1F2329"/>
                          </a:solidFill>
                          <a:effectLst/>
                          <a:latin typeface="+mn-ea"/>
                          <a:ea typeface="+mn-ea"/>
                        </a:rPr>
                        <a:t>）需精确到具体日期或时间段而非模糊表述</a:t>
                      </a:r>
                      <a:br>
                        <a:rPr lang="zh-CN" altLang="en-US" sz="500" b="0" i="0" dirty="0">
                          <a:solidFill>
                            <a:srgbClr val="1F2329"/>
                          </a:solidFill>
                          <a:effectLst/>
                          <a:latin typeface="+mn-ea"/>
                          <a:ea typeface="+mn-ea"/>
                        </a:rPr>
                      </a:br>
                      <a:r>
                        <a:rPr lang="en-US" altLang="zh-CN" sz="500" b="0" i="0" dirty="0">
                          <a:solidFill>
                            <a:srgbClr val="1F2329"/>
                          </a:solidFill>
                          <a:effectLst/>
                          <a:latin typeface="+mn-ea"/>
                          <a:ea typeface="+mn-ea"/>
                        </a:rPr>
                        <a:t>2</a:t>
                      </a:r>
                      <a:r>
                        <a:rPr lang="zh-CN" altLang="en-US" sz="500" b="0" i="0" dirty="0">
                          <a:solidFill>
                            <a:srgbClr val="1F2329"/>
                          </a:solidFill>
                          <a:effectLst/>
                          <a:latin typeface="+mn-ea"/>
                          <a:ea typeface="+mn-ea"/>
                        </a:rPr>
                        <a:t>）需与客户沟通的招标书书写时间、投标截止时间等前置节点逻辑自洽</a:t>
                      </a:r>
                      <a:br>
                        <a:rPr lang="zh-CN" altLang="en-US" sz="500" b="0" i="0" dirty="0">
                          <a:solidFill>
                            <a:srgbClr val="1F2329"/>
                          </a:solidFill>
                          <a:effectLst/>
                          <a:latin typeface="+mn-ea"/>
                          <a:ea typeface="+mn-ea"/>
                        </a:rPr>
                      </a:br>
                      <a:r>
                        <a:rPr lang="en-US" altLang="zh-CN" sz="500" b="0" i="0" dirty="0">
                          <a:solidFill>
                            <a:srgbClr val="1F2329"/>
                          </a:solidFill>
                          <a:effectLst/>
                          <a:latin typeface="+mn-ea"/>
                          <a:ea typeface="+mn-ea"/>
                        </a:rPr>
                        <a:t>//</a:t>
                      </a:r>
                      <a:r>
                        <a:rPr lang="zh-CN" altLang="en-US" sz="500" b="0" i="0" dirty="0">
                          <a:solidFill>
                            <a:srgbClr val="1F2329"/>
                          </a:solidFill>
                          <a:effectLst/>
                          <a:latin typeface="+mn-ea"/>
                          <a:ea typeface="+mn-ea"/>
                        </a:rPr>
                        <a:t>从要货时间倒推开标时间偏差不超过</a:t>
                      </a:r>
                      <a:r>
                        <a:rPr lang="en-US" altLang="zh-CN" sz="500" b="0" i="0" dirty="0">
                          <a:solidFill>
                            <a:srgbClr val="1F2329"/>
                          </a:solidFill>
                          <a:effectLst/>
                          <a:latin typeface="+mn-ea"/>
                          <a:ea typeface="+mn-ea"/>
                        </a:rPr>
                        <a:t>2</a:t>
                      </a:r>
                      <a:r>
                        <a:rPr lang="zh-CN" altLang="en-US" sz="500" b="0" i="0" dirty="0">
                          <a:solidFill>
                            <a:srgbClr val="1F2329"/>
                          </a:solidFill>
                          <a:effectLst/>
                          <a:latin typeface="+mn-ea"/>
                          <a:ea typeface="+mn-ea"/>
                        </a:rPr>
                        <a:t>个月？合理？</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extLst>
                  <a:ext uri="{0D108BD9-81ED-4DB2-BD59-A6C34878D82A}">
                    <a16:rowId xmlns="" xmlns:a16="http://schemas.microsoft.com/office/drawing/2014/main" val="10008"/>
                  </a:ext>
                </a:extLst>
              </a:tr>
              <a:tr h="411695">
                <a:tc vMerge="1">
                  <a:txBody>
                    <a:bodyPr/>
                    <a:lstStyle/>
                    <a:p>
                      <a:endParaRPr lang="zh-CN"/>
                    </a:p>
                  </a:txBody>
                  <a:tcPr/>
                </a:tc>
                <a:tc rowSpan="2">
                  <a:txBody>
                    <a:bodyPr/>
                    <a:lstStyle/>
                    <a:p>
                      <a:pPr algn="ctr" fontAlgn="ctr">
                        <a:buNone/>
                      </a:pPr>
                      <a:r>
                        <a:rPr lang="zh-CN" altLang="en-US" sz="500" b="0" i="0">
                          <a:solidFill>
                            <a:srgbClr val="000000"/>
                          </a:solidFill>
                          <a:effectLst/>
                          <a:latin typeface="+mn-ea"/>
                          <a:ea typeface="+mn-ea"/>
                        </a:rPr>
                        <a:t>前后端协同</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1" i="0">
                          <a:solidFill>
                            <a:srgbClr val="000000"/>
                          </a:solidFill>
                          <a:effectLst/>
                          <a:latin typeface="+mn-ea"/>
                          <a:ea typeface="+mn-ea"/>
                        </a:rPr>
                        <a:t>跟供应链协作沟通</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、项目订单信息</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、供应链相关部门的备货周期、发货时效要求</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、订单信息准确（详细产品类型、数量、客户要求到货的时间）</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GB" sz="500" b="0" i="0">
                          <a:solidFill>
                            <a:srgbClr val="000000"/>
                          </a:solidFill>
                          <a:effectLst/>
                          <a:latin typeface="+mn-ea"/>
                          <a:ea typeface="+mn-ea"/>
                        </a:rPr>
                        <a:t>1、CRM</a:t>
                      </a:r>
                      <a:r>
                        <a:rPr lang="zh-CN" altLang="en-US" sz="500" b="0" i="0">
                          <a:solidFill>
                            <a:srgbClr val="000000"/>
                          </a:solidFill>
                          <a:effectLst/>
                          <a:latin typeface="+mn-ea"/>
                          <a:ea typeface="+mn-ea"/>
                        </a:rPr>
                        <a:t>系统：下单信息录入（如产品型号、数量、到货时间等），确保供应链部门准确接收需求；</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、看板：实时更新备货状态和风险预警</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、与供应链部门提前沟通客户需求（如设备型号、数量、供货时间），明确备货与发货的时间节点；</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、备货异常沟通、大宗货物备货沟通、退市报备或者高风险货物备货</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、信息同步能力：及时将客户需求、订单信息、时间要求同步至供应链部门，保障信息传递准确；</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、风险预判能力：与供应链沟通，识别供应链环节可能出现的风险并制定对策</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、建立销售</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供应链月度协同会议，同步重点项目进展</a:t>
                      </a:r>
                      <a:br>
                        <a:rPr lang="zh-CN" altLang="en-US" sz="500" b="0" i="0">
                          <a:solidFill>
                            <a:srgbClr val="000000"/>
                          </a:solidFill>
                          <a:effectLst/>
                          <a:latin typeface="+mn-ea"/>
                          <a:ea typeface="+mn-ea"/>
                        </a:rPr>
                      </a:br>
                      <a:r>
                        <a:rPr lang="zh-CN" altLang="en-US" sz="500" b="0" i="0">
                          <a:solidFill>
                            <a:srgbClr val="000000"/>
                          </a:solidFill>
                          <a:effectLst/>
                          <a:latin typeface="+mn-ea"/>
                          <a:ea typeface="+mn-ea"/>
                        </a:rPr>
                        <a:t>区分不同类型的项目，可信度的评分办法不一样（弱电、点采、招投标等）</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、完善分类预测模型：市场计划部需按项目类型（政府</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企业</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医疗</a:t>
                      </a:r>
                      <a:r>
                        <a:rPr lang="en-US" altLang="zh-CN" sz="500" b="0" i="0">
                          <a:solidFill>
                            <a:srgbClr val="000000"/>
                          </a:solidFill>
                          <a:effectLst/>
                          <a:latin typeface="+mn-ea"/>
                          <a:ea typeface="+mn-ea"/>
                        </a:rPr>
                        <a:t>/</a:t>
                      </a:r>
                      <a:r>
                        <a:rPr lang="zh-CN" altLang="en-US" sz="500" b="0" i="0">
                          <a:solidFill>
                            <a:srgbClr val="000000"/>
                          </a:solidFill>
                          <a:effectLst/>
                          <a:latin typeface="+mn-ea"/>
                          <a:ea typeface="+mn-ea"/>
                        </a:rPr>
                        <a:t>教育）制定差异化备货指导标准</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0" i="0">
                          <a:solidFill>
                            <a:srgbClr val="000000"/>
                          </a:solidFill>
                          <a:effectLst/>
                          <a:latin typeface="+mn-ea"/>
                          <a:ea typeface="+mn-ea"/>
                        </a:rPr>
                        <a:t>项目订单信息</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dirty="0">
                          <a:solidFill>
                            <a:srgbClr val="000000"/>
                          </a:solidFill>
                          <a:effectLst/>
                          <a:latin typeface="+mn-ea"/>
                          <a:ea typeface="+mn-ea"/>
                        </a:rPr>
                        <a:t>1</a:t>
                      </a:r>
                      <a:r>
                        <a:rPr lang="zh-CN" altLang="en-US" sz="500" b="0" i="0" dirty="0">
                          <a:solidFill>
                            <a:srgbClr val="000000"/>
                          </a:solidFill>
                          <a:effectLst/>
                          <a:latin typeface="+mn-ea"/>
                          <a:ea typeface="+mn-ea"/>
                        </a:rPr>
                        <a:t>、订单信息准确：产品清单的准确率，设备型号、数量、到货时间等确认无误，影响因素以</a:t>
                      </a:r>
                      <a:r>
                        <a:rPr lang="en-GB" sz="500" b="0" i="0" dirty="0">
                          <a:solidFill>
                            <a:srgbClr val="000000"/>
                          </a:solidFill>
                          <a:effectLst/>
                          <a:latin typeface="+mn-ea"/>
                          <a:ea typeface="+mn-ea"/>
                        </a:rPr>
                        <a:t>N</a:t>
                      </a:r>
                      <a:r>
                        <a:rPr lang="zh-CN" altLang="en-US" sz="500" b="0" i="0" dirty="0">
                          <a:solidFill>
                            <a:srgbClr val="000000"/>
                          </a:solidFill>
                          <a:effectLst/>
                          <a:latin typeface="+mn-ea"/>
                          <a:ea typeface="+mn-ea"/>
                        </a:rPr>
                        <a:t>的为准；</a:t>
                      </a:r>
                      <a:br>
                        <a:rPr lang="zh-CN" altLang="en-US" sz="500" b="0" i="0" dirty="0">
                          <a:solidFill>
                            <a:srgbClr val="000000"/>
                          </a:solidFill>
                          <a:effectLst/>
                          <a:latin typeface="+mn-ea"/>
                          <a:ea typeface="+mn-ea"/>
                        </a:rPr>
                      </a:br>
                      <a:r>
                        <a:rPr lang="en-US" altLang="zh-CN" sz="500" b="0" i="0" dirty="0">
                          <a:solidFill>
                            <a:srgbClr val="000000"/>
                          </a:solidFill>
                          <a:effectLst/>
                          <a:latin typeface="+mn-ea"/>
                          <a:ea typeface="+mn-ea"/>
                        </a:rPr>
                        <a:t>2</a:t>
                      </a:r>
                      <a:r>
                        <a:rPr lang="zh-CN" altLang="en-US" sz="500" b="0" i="0" dirty="0">
                          <a:solidFill>
                            <a:srgbClr val="000000"/>
                          </a:solidFill>
                          <a:effectLst/>
                          <a:latin typeface="+mn-ea"/>
                          <a:ea typeface="+mn-ea"/>
                        </a:rPr>
                        <a:t>、明确项目可能性、发货具体时间节点</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extLst>
                  <a:ext uri="{0D108BD9-81ED-4DB2-BD59-A6C34878D82A}">
                    <a16:rowId xmlns="" xmlns:a16="http://schemas.microsoft.com/office/drawing/2014/main" val="10009"/>
                  </a:ext>
                </a:extLst>
              </a:tr>
              <a:tr h="474072">
                <a:tc vMerge="1">
                  <a:txBody>
                    <a:bodyPr/>
                    <a:lstStyle/>
                    <a:p>
                      <a:endParaRPr lang="zh-CN"/>
                    </a:p>
                  </a:txBody>
                  <a:tcPr/>
                </a:tc>
                <a:tc vMerge="1">
                  <a:txBody>
                    <a:bodyPr/>
                    <a:lstStyle/>
                    <a:p>
                      <a:endParaRPr lang="zh-CN"/>
                    </a:p>
                  </a:txBody>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1" i="0">
                          <a:solidFill>
                            <a:srgbClr val="000000"/>
                          </a:solidFill>
                          <a:effectLst/>
                          <a:latin typeface="+mn-ea"/>
                          <a:ea typeface="+mn-ea"/>
                        </a:rPr>
                        <a:t>动态追踪与预警调整</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GB" sz="500" b="0" i="0">
                          <a:solidFill>
                            <a:srgbClr val="000000"/>
                          </a:solidFill>
                          <a:effectLst/>
                          <a:latin typeface="+mn-ea"/>
                          <a:ea typeface="+mn-ea"/>
                        </a:rPr>
                        <a:t>1、CRM</a:t>
                      </a:r>
                      <a:r>
                        <a:rPr lang="zh-CN" altLang="en-US" sz="500" b="0" i="0">
                          <a:solidFill>
                            <a:srgbClr val="000000"/>
                          </a:solidFill>
                          <a:effectLst/>
                          <a:latin typeface="+mn-ea"/>
                          <a:ea typeface="+mn-ea"/>
                        </a:rPr>
                        <a:t>项目状态变更记录、风险报告</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、供应链给前端的反馈（如：库存芯片不同替换同类型产品、供应风险预警）</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GB" sz="500" b="0" i="0">
                          <a:solidFill>
                            <a:srgbClr val="000000"/>
                          </a:solidFill>
                          <a:effectLst/>
                          <a:latin typeface="+mn-ea"/>
                          <a:ea typeface="+mn-ea"/>
                        </a:rPr>
                        <a:t>1、CRM</a:t>
                      </a:r>
                      <a:r>
                        <a:rPr lang="zh-CN" altLang="en-US" sz="500" b="0" i="0">
                          <a:solidFill>
                            <a:srgbClr val="000000"/>
                          </a:solidFill>
                          <a:effectLst/>
                          <a:latin typeface="+mn-ea"/>
                          <a:ea typeface="+mn-ea"/>
                        </a:rPr>
                        <a:t>系统：订单信息变更录入</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 </a:t>
                      </a:r>
                      <a:r>
                        <a:rPr lang="zh-CN" altLang="en-US" sz="500" b="0" i="0">
                          <a:solidFill>
                            <a:srgbClr val="000000"/>
                          </a:solidFill>
                          <a:effectLst/>
                          <a:latin typeface="+mn-ea"/>
                          <a:ea typeface="+mn-ea"/>
                        </a:rPr>
                        <a:t>定期复盘，统计共性原因</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 </a:t>
                      </a:r>
                      <a:r>
                        <a:rPr lang="zh-CN" altLang="en-US" sz="500" b="0" i="0">
                          <a:solidFill>
                            <a:srgbClr val="000000"/>
                          </a:solidFill>
                          <a:effectLst/>
                          <a:latin typeface="+mn-ea"/>
                          <a:ea typeface="+mn-ea"/>
                        </a:rPr>
                        <a:t>建立“项目风险库”</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、项目风险分析能力</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、客户反馈收集能力</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a:solidFill>
                            <a:srgbClr val="000000"/>
                          </a:solidFill>
                          <a:effectLst/>
                          <a:latin typeface="+mn-ea"/>
                          <a:ea typeface="+mn-ea"/>
                        </a:rPr>
                        <a:t>1</a:t>
                      </a:r>
                      <a:r>
                        <a:rPr lang="zh-CN" altLang="en-US" sz="500" b="0" i="0">
                          <a:solidFill>
                            <a:srgbClr val="000000"/>
                          </a:solidFill>
                          <a:effectLst/>
                          <a:latin typeface="+mn-ea"/>
                          <a:ea typeface="+mn-ea"/>
                        </a:rPr>
                        <a:t>、避免“事后补录”：项目状态变更需</a:t>
                      </a:r>
                      <a:r>
                        <a:rPr lang="en-US" altLang="zh-CN" sz="500" b="0" i="0">
                          <a:solidFill>
                            <a:srgbClr val="000000"/>
                          </a:solidFill>
                          <a:effectLst/>
                          <a:latin typeface="+mn-ea"/>
                          <a:ea typeface="+mn-ea"/>
                        </a:rPr>
                        <a:t>24</a:t>
                      </a:r>
                      <a:r>
                        <a:rPr lang="zh-CN" altLang="en-US" sz="500" b="0" i="0">
                          <a:solidFill>
                            <a:srgbClr val="000000"/>
                          </a:solidFill>
                          <a:effectLst/>
                          <a:latin typeface="+mn-ea"/>
                          <a:ea typeface="+mn-ea"/>
                        </a:rPr>
                        <a:t>小时内更新至</a:t>
                      </a:r>
                      <a:r>
                        <a:rPr lang="en-GB" sz="500" b="0" i="0">
                          <a:solidFill>
                            <a:srgbClr val="000000"/>
                          </a:solidFill>
                          <a:effectLst/>
                          <a:latin typeface="+mn-ea"/>
                          <a:ea typeface="+mn-ea"/>
                        </a:rPr>
                        <a:t>CRM，</a:t>
                      </a:r>
                      <a:r>
                        <a:rPr lang="zh-CN" altLang="en-US" sz="500" b="0" i="0">
                          <a:solidFill>
                            <a:srgbClr val="000000"/>
                          </a:solidFill>
                          <a:effectLst/>
                          <a:latin typeface="+mn-ea"/>
                          <a:ea typeface="+mn-ea"/>
                        </a:rPr>
                        <a:t>防止无效备货；</a:t>
                      </a:r>
                      <a:br>
                        <a:rPr lang="zh-CN" altLang="en-US" sz="500" b="0" i="0">
                          <a:solidFill>
                            <a:srgbClr val="000000"/>
                          </a:solidFill>
                          <a:effectLst/>
                          <a:latin typeface="+mn-ea"/>
                          <a:ea typeface="+mn-ea"/>
                        </a:rPr>
                      </a:br>
                      <a:r>
                        <a:rPr lang="en-US" altLang="zh-CN" sz="500" b="0" i="0">
                          <a:solidFill>
                            <a:srgbClr val="000000"/>
                          </a:solidFill>
                          <a:effectLst/>
                          <a:latin typeface="+mn-ea"/>
                          <a:ea typeface="+mn-ea"/>
                        </a:rPr>
                        <a:t>2</a:t>
                      </a:r>
                      <a:r>
                        <a:rPr lang="zh-CN" altLang="en-US" sz="500" b="0" i="0">
                          <a:solidFill>
                            <a:srgbClr val="000000"/>
                          </a:solidFill>
                          <a:effectLst/>
                          <a:latin typeface="+mn-ea"/>
                          <a:ea typeface="+mn-ea"/>
                        </a:rPr>
                        <a:t>、关注趋势性风险：如“低空经济政策影响”、“信创、国产话化”，调整同类项目的备货策略</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endParaRPr lang="zh-CN" altLang="en-US" sz="500" b="0" i="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zh-CN" altLang="en-US" sz="500" b="0" i="0">
                          <a:solidFill>
                            <a:srgbClr val="000000"/>
                          </a:solidFill>
                          <a:effectLst/>
                          <a:latin typeface="+mn-ea"/>
                          <a:ea typeface="+mn-ea"/>
                        </a:rPr>
                        <a:t>项目订单变化与风险信息</a:t>
                      </a: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tc>
                  <a:txBody>
                    <a:bodyPr/>
                    <a:lstStyle/>
                    <a:p>
                      <a:pPr fontAlgn="ctr">
                        <a:buNone/>
                      </a:pPr>
                      <a:r>
                        <a:rPr lang="en-US" altLang="zh-CN" sz="500" b="0" i="0" dirty="0">
                          <a:solidFill>
                            <a:srgbClr val="000000"/>
                          </a:solidFill>
                          <a:effectLst/>
                          <a:latin typeface="+mn-ea"/>
                          <a:ea typeface="+mn-ea"/>
                        </a:rPr>
                        <a:t>1</a:t>
                      </a:r>
                      <a:r>
                        <a:rPr lang="zh-CN" altLang="en-US" sz="500" b="0" i="0" dirty="0">
                          <a:solidFill>
                            <a:srgbClr val="000000"/>
                          </a:solidFill>
                          <a:effectLst/>
                          <a:latin typeface="+mn-ea"/>
                          <a:ea typeface="+mn-ea"/>
                        </a:rPr>
                        <a:t>、配置器中设置备货周期，</a:t>
                      </a:r>
                      <a:r>
                        <a:rPr lang="en-GB" sz="500" b="0" i="0" dirty="0">
                          <a:solidFill>
                            <a:srgbClr val="000000"/>
                          </a:solidFill>
                          <a:effectLst/>
                          <a:latin typeface="+mn-ea"/>
                          <a:ea typeface="+mn-ea"/>
                        </a:rPr>
                        <a:t>SLA</a:t>
                      </a:r>
                      <a:r>
                        <a:rPr lang="zh-CN" altLang="en-US" sz="500" b="0" i="0" dirty="0">
                          <a:solidFill>
                            <a:srgbClr val="000000"/>
                          </a:solidFill>
                          <a:effectLst/>
                          <a:latin typeface="+mn-ea"/>
                          <a:ea typeface="+mn-ea"/>
                        </a:rPr>
                        <a:t>等信息，确保导出清单的相关备货信息及时传递到客户或者渠道；</a:t>
                      </a:r>
                      <a:br>
                        <a:rPr lang="zh-CN" altLang="en-US" sz="500" b="0" i="0" dirty="0">
                          <a:solidFill>
                            <a:srgbClr val="000000"/>
                          </a:solidFill>
                          <a:effectLst/>
                          <a:latin typeface="+mn-ea"/>
                          <a:ea typeface="+mn-ea"/>
                        </a:rPr>
                      </a:br>
                      <a:r>
                        <a:rPr lang="en-US" altLang="zh-CN" sz="500" b="0" i="0" dirty="0">
                          <a:solidFill>
                            <a:srgbClr val="000000"/>
                          </a:solidFill>
                          <a:effectLst/>
                          <a:latin typeface="+mn-ea"/>
                          <a:ea typeface="+mn-ea"/>
                        </a:rPr>
                        <a:t>2</a:t>
                      </a:r>
                      <a:r>
                        <a:rPr lang="zh-CN" altLang="en-US" sz="500" b="0" i="0" dirty="0">
                          <a:solidFill>
                            <a:srgbClr val="000000"/>
                          </a:solidFill>
                          <a:effectLst/>
                          <a:latin typeface="+mn-ea"/>
                          <a:ea typeface="+mn-ea"/>
                        </a:rPr>
                        <a:t>、</a:t>
                      </a:r>
                      <a:r>
                        <a:rPr lang="en-GB" sz="500" b="0" i="0" dirty="0">
                          <a:solidFill>
                            <a:srgbClr val="000000"/>
                          </a:solidFill>
                          <a:effectLst/>
                          <a:latin typeface="+mn-ea"/>
                          <a:ea typeface="+mn-ea"/>
                        </a:rPr>
                        <a:t>ECP</a:t>
                      </a:r>
                      <a:r>
                        <a:rPr lang="zh-CN" altLang="en-US" sz="500" b="0" i="0" dirty="0">
                          <a:solidFill>
                            <a:srgbClr val="000000"/>
                          </a:solidFill>
                          <a:effectLst/>
                          <a:latin typeface="+mn-ea"/>
                          <a:ea typeface="+mn-ea"/>
                        </a:rPr>
                        <a:t>电子流程系统</a:t>
                      </a:r>
                      <a:r>
                        <a:rPr lang="en-US" altLang="zh-CN" sz="500" b="0" i="0" dirty="0">
                          <a:solidFill>
                            <a:srgbClr val="000000"/>
                          </a:solidFill>
                          <a:effectLst/>
                          <a:latin typeface="+mn-ea"/>
                          <a:ea typeface="+mn-ea"/>
                        </a:rPr>
                        <a:t>\</a:t>
                      </a:r>
                      <a:r>
                        <a:rPr lang="en-GB" sz="500" b="0" i="0" dirty="0">
                          <a:solidFill>
                            <a:srgbClr val="000000"/>
                          </a:solidFill>
                          <a:effectLst/>
                          <a:latin typeface="+mn-ea"/>
                          <a:ea typeface="+mn-ea"/>
                        </a:rPr>
                        <a:t>CRM\</a:t>
                      </a:r>
                      <a:r>
                        <a:rPr lang="zh-CN" altLang="en-US" sz="500" b="0" i="0" dirty="0">
                          <a:solidFill>
                            <a:srgbClr val="000000"/>
                          </a:solidFill>
                          <a:effectLst/>
                          <a:latin typeface="+mn-ea"/>
                          <a:ea typeface="+mn-ea"/>
                        </a:rPr>
                        <a:t>飞书系统</a:t>
                      </a:r>
                      <a:r>
                        <a:rPr lang="en-US" altLang="zh-CN" sz="500" b="0" i="0" dirty="0">
                          <a:solidFill>
                            <a:srgbClr val="000000"/>
                          </a:solidFill>
                          <a:effectLst/>
                          <a:latin typeface="+mn-ea"/>
                          <a:ea typeface="+mn-ea"/>
                        </a:rPr>
                        <a:t>\</a:t>
                      </a:r>
                      <a:r>
                        <a:rPr lang="zh-CN" altLang="en-US" sz="500" b="0" i="0" dirty="0">
                          <a:solidFill>
                            <a:srgbClr val="000000"/>
                          </a:solidFill>
                          <a:effectLst/>
                          <a:latin typeface="+mn-ea"/>
                          <a:ea typeface="+mn-ea"/>
                        </a:rPr>
                        <a:t>邮件上，进行高风险货物提示（拿不到芯片、供应紧张、交期长），在投标前进行置换降低风险；</a:t>
                      </a:r>
                      <a:br>
                        <a:rPr lang="zh-CN" altLang="en-US" sz="500" b="0" i="0" dirty="0">
                          <a:solidFill>
                            <a:srgbClr val="000000"/>
                          </a:solidFill>
                          <a:effectLst/>
                          <a:latin typeface="+mn-ea"/>
                          <a:ea typeface="+mn-ea"/>
                        </a:rPr>
                      </a:br>
                      <a:r>
                        <a:rPr lang="en-US" altLang="zh-CN" sz="500" b="0" i="0" dirty="0">
                          <a:solidFill>
                            <a:srgbClr val="000000"/>
                          </a:solidFill>
                          <a:effectLst/>
                          <a:latin typeface="+mn-ea"/>
                          <a:ea typeface="+mn-ea"/>
                        </a:rPr>
                        <a:t>3</a:t>
                      </a:r>
                      <a:r>
                        <a:rPr lang="zh-CN" altLang="en-US" sz="500" b="0" i="0" dirty="0">
                          <a:solidFill>
                            <a:srgbClr val="000000"/>
                          </a:solidFill>
                          <a:effectLst/>
                          <a:latin typeface="+mn-ea"/>
                          <a:ea typeface="+mn-ea"/>
                        </a:rPr>
                        <a:t>、按照目前供应链建议</a:t>
                      </a:r>
                      <a:r>
                        <a:rPr lang="en-US" altLang="zh-CN" sz="500" b="0" i="0" dirty="0">
                          <a:solidFill>
                            <a:srgbClr val="000000"/>
                          </a:solidFill>
                          <a:effectLst/>
                          <a:latin typeface="+mn-ea"/>
                          <a:ea typeface="+mn-ea"/>
                        </a:rPr>
                        <a:t>3</a:t>
                      </a:r>
                      <a:r>
                        <a:rPr lang="zh-CN" altLang="en-US" sz="500" b="0" i="0" dirty="0">
                          <a:solidFill>
                            <a:srgbClr val="000000"/>
                          </a:solidFill>
                          <a:effectLst/>
                          <a:latin typeface="+mn-ea"/>
                          <a:ea typeface="+mn-ea"/>
                        </a:rPr>
                        <a:t>个月的备货周期，必须针对</a:t>
                      </a:r>
                      <a:r>
                        <a:rPr lang="en-US" altLang="zh-CN" sz="500" b="0" i="0" dirty="0">
                          <a:solidFill>
                            <a:srgbClr val="000000"/>
                          </a:solidFill>
                          <a:effectLst/>
                          <a:latin typeface="+mn-ea"/>
                          <a:ea typeface="+mn-ea"/>
                        </a:rPr>
                        <a:t>3</a:t>
                      </a:r>
                      <a:r>
                        <a:rPr lang="zh-CN" altLang="en-US" sz="500" b="0" i="0" dirty="0">
                          <a:solidFill>
                            <a:srgbClr val="000000"/>
                          </a:solidFill>
                          <a:effectLst/>
                          <a:latin typeface="+mn-ea"/>
                          <a:ea typeface="+mn-ea"/>
                        </a:rPr>
                        <a:t>个月内没有备货项目做异常拉通沟通。</a:t>
                      </a:r>
                      <a:br>
                        <a:rPr lang="zh-CN" altLang="en-US" sz="500" b="0" i="0" dirty="0">
                          <a:solidFill>
                            <a:srgbClr val="000000"/>
                          </a:solidFill>
                          <a:effectLst/>
                          <a:latin typeface="+mn-ea"/>
                          <a:ea typeface="+mn-ea"/>
                        </a:rPr>
                      </a:br>
                      <a:endParaRPr lang="zh-CN" altLang="en-US" sz="500" b="0" i="0" dirty="0">
                        <a:solidFill>
                          <a:srgbClr val="000000"/>
                        </a:solidFill>
                        <a:effectLst/>
                        <a:latin typeface="+mn-ea"/>
                        <a:ea typeface="+mn-ea"/>
                      </a:endParaRPr>
                    </a:p>
                  </a:txBody>
                  <a:tcPr marL="29210" marR="29210" marT="14605" marB="14605" anchor="ctr">
                    <a:lnL w="6350" cap="flat" cmpd="sng" algn="ctr">
                      <a:solidFill>
                        <a:srgbClr val="DEE0E3"/>
                      </a:solidFill>
                      <a:prstDash val="solid"/>
                      <a:round/>
                      <a:headEnd type="none" w="med" len="med"/>
                      <a:tailEnd type="none" w="med" len="med"/>
                    </a:lnL>
                    <a:lnR w="6350" cap="flat" cmpd="sng" algn="ctr">
                      <a:solidFill>
                        <a:srgbClr val="DEE0E3"/>
                      </a:solidFill>
                      <a:prstDash val="solid"/>
                      <a:round/>
                      <a:headEnd type="none" w="med" len="med"/>
                      <a:tailEnd type="none" w="med" len="med"/>
                    </a:lnR>
                    <a:lnT w="6350" cap="flat" cmpd="sng" algn="ctr">
                      <a:solidFill>
                        <a:srgbClr val="DEE0E3"/>
                      </a:solidFill>
                      <a:prstDash val="solid"/>
                      <a:round/>
                      <a:headEnd type="none" w="med" len="med"/>
                      <a:tailEnd type="none" w="med" len="med"/>
                    </a:lnT>
                    <a:lnB w="6350" cap="flat" cmpd="sng" algn="ctr">
                      <a:solidFill>
                        <a:srgbClr val="DEE0E3"/>
                      </a:solidFill>
                      <a:prstDash val="solid"/>
                      <a:round/>
                      <a:headEnd type="none" w="med" len="med"/>
                      <a:tailEnd type="none" w="med" len="med"/>
                    </a:lnB>
                    <a:solidFill>
                      <a:srgbClr val="D9F5D6"/>
                    </a:solidFill>
                  </a:tcPr>
                </a:tc>
                <a:extLst>
                  <a:ext uri="{0D108BD9-81ED-4DB2-BD59-A6C34878D82A}">
                    <a16:rowId xmlns="" xmlns:a16="http://schemas.microsoft.com/office/drawing/2014/main" val="10010"/>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custDataLst>
              <p:tags r:id="rId1"/>
            </p:custDataLst>
          </p:nvPr>
        </p:nvSpPr>
        <p:spPr/>
        <p:txBody>
          <a:bodyPr/>
          <a:lstStyle/>
          <a:p>
            <a:r>
              <a:rPr lang="en-US" altLang="zh-CN"/>
              <a:t>IT</a:t>
            </a:r>
            <a:r>
              <a:t>上线关键活动与计划</a:t>
            </a:r>
          </a:p>
        </p:txBody>
      </p:sp>
      <p:sp>
        <p:nvSpPr>
          <p:cNvPr id="9" name="矩形: 圆角 8"/>
          <p:cNvSpPr/>
          <p:nvPr>
            <p:custDataLst>
              <p:tags r:id="rId2"/>
            </p:custDataLst>
          </p:nvPr>
        </p:nvSpPr>
        <p:spPr>
          <a:xfrm>
            <a:off x="1059180" y="2124710"/>
            <a:ext cx="1365885" cy="453390"/>
          </a:xfrm>
          <a:prstGeom prst="roundRect">
            <a:avLst/>
          </a:prstGeom>
          <a:gradFill flip="none" rotWithShape="1">
            <a:gsLst>
              <a:gs pos="11000">
                <a:schemeClr val="accent1">
                  <a:lumMod val="60000"/>
                  <a:lumOff val="40000"/>
                  <a:alpha val="100000"/>
                </a:schemeClr>
              </a:gs>
              <a:gs pos="100000">
                <a:schemeClr val="accent1">
                  <a:alpha val="100000"/>
                </a:schemeClr>
              </a:gs>
            </a:gsLst>
            <a:lin ang="0" scaled="1"/>
            <a:tileRect/>
          </a:gradFill>
          <a:ln>
            <a:noFill/>
          </a:ln>
          <a:effectLst>
            <a:outerShdw blurRad="76200" dist="38100" dir="2700000" algn="tl" rotWithShape="0">
              <a:schemeClr val="accent1">
                <a:lumMod val="7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sz="1000" b="1" dirty="0">
                <a:solidFill>
                  <a:srgbClr val="FFFFFF"/>
                </a:solidFill>
                <a:latin typeface="微软雅黑" panose="020B0503020204020204" pitchFamily="34" charset="-122"/>
                <a:ea typeface="微软雅黑" panose="020B0503020204020204" pitchFamily="34" charset="-122"/>
                <a:sym typeface="+mn-ea"/>
              </a:rPr>
              <a:t>9月11日一期IT上线</a:t>
            </a:r>
          </a:p>
        </p:txBody>
      </p:sp>
      <p:sp>
        <p:nvSpPr>
          <p:cNvPr id="13" name="文本框 12"/>
          <p:cNvSpPr txBox="1"/>
          <p:nvPr>
            <p:custDataLst>
              <p:tags r:id="rId3"/>
            </p:custDataLst>
          </p:nvPr>
        </p:nvSpPr>
        <p:spPr>
          <a:xfrm>
            <a:off x="573405" y="2759075"/>
            <a:ext cx="2585085" cy="3550285"/>
          </a:xfrm>
          <a:prstGeom prst="rect">
            <a:avLst/>
          </a:prstGeom>
          <a:solidFill>
            <a:schemeClr val="accent3">
              <a:lumMod val="40000"/>
              <a:lumOff val="60000"/>
            </a:schemeClr>
          </a:solidFill>
          <a:ln>
            <a:solidFill>
              <a:schemeClr val="accent1"/>
            </a:solidFill>
          </a:ln>
        </p:spPr>
        <p:txBody>
          <a:bodyPr wrap="square" lIns="90170" tIns="46990" rIns="90170" bIns="46990" rtlCol="0" anchor="t" anchorCtr="0">
            <a:noAutofit/>
          </a:bodyPr>
          <a:lstStyle/>
          <a:p>
            <a:pPr lvl="0" indent="0" algn="l">
              <a:lnSpc>
                <a:spcPct val="115000"/>
              </a:lnSpc>
              <a:spcBef>
                <a:spcPts val="0"/>
              </a:spcBef>
              <a:spcAft>
                <a:spcPts val="300"/>
              </a:spcAft>
              <a:buClrTx/>
              <a:buSzTx/>
              <a:buFont typeface="Arial" panose="020B0604020202020204" pitchFamily="34" charset="0"/>
              <a:buNone/>
            </a:pPr>
            <a:r>
              <a:rPr lang="zh-CN" altLang="en-US" sz="1200" b="1" spc="100" dirty="0">
                <a:solidFill>
                  <a:schemeClr val="tx1"/>
                </a:solidFill>
                <a:latin typeface="微软雅黑" panose="020B0503020204020204" pitchFamily="34" charset="-122"/>
                <a:ea typeface="微软雅黑" panose="020B0503020204020204" pitchFamily="34" charset="-122"/>
                <a:sym typeface="+mn-ea"/>
              </a:rPr>
              <a:t>配置器：</a:t>
            </a:r>
          </a:p>
          <a:p>
            <a:pPr marL="140335" lvl="0" indent="-140335" algn="l">
              <a:lnSpc>
                <a:spcPct val="115000"/>
              </a:lnSpc>
              <a:spcBef>
                <a:spcPts val="0"/>
              </a:spcBef>
              <a:spcAft>
                <a:spcPts val="300"/>
              </a:spcAft>
              <a:buClrTx/>
              <a:buSzTx/>
              <a:buFont typeface="Arial" panose="020B0604020202020204" pitchFamily="34" charset="0"/>
              <a:buChar char="•"/>
            </a:pPr>
            <a:r>
              <a:rPr lang="zh-CN" altLang="en-US" sz="1200" b="1" spc="100" dirty="0">
                <a:solidFill>
                  <a:schemeClr val="tx1"/>
                </a:solidFill>
                <a:latin typeface="微软雅黑" panose="020B0503020204020204" pitchFamily="34" charset="-122"/>
                <a:ea typeface="微软雅黑" panose="020B0503020204020204" pitchFamily="34" charset="-122"/>
                <a:sym typeface="+mn-ea"/>
              </a:rPr>
              <a:t>关联</a:t>
            </a:r>
            <a:r>
              <a:rPr lang="en-US" altLang="zh-CN" sz="1200" b="1" spc="100" dirty="0">
                <a:solidFill>
                  <a:schemeClr val="tx1"/>
                </a:solidFill>
                <a:latin typeface="微软雅黑" panose="020B0503020204020204" pitchFamily="34" charset="-122"/>
                <a:ea typeface="微软雅黑" panose="020B0503020204020204" pitchFamily="34" charset="-122"/>
                <a:sym typeface="+mn-ea"/>
              </a:rPr>
              <a:t>CRM</a:t>
            </a:r>
            <a:r>
              <a:rPr lang="zh-CN" altLang="en-US" sz="1200" b="1" spc="100" dirty="0">
                <a:solidFill>
                  <a:schemeClr val="tx1"/>
                </a:solidFill>
                <a:latin typeface="微软雅黑" panose="020B0503020204020204" pitchFamily="34" charset="-122"/>
                <a:ea typeface="微软雅黑" panose="020B0503020204020204" pitchFamily="34" charset="-122"/>
                <a:sym typeface="+mn-ea"/>
              </a:rPr>
              <a:t>列表</a:t>
            </a:r>
          </a:p>
          <a:p>
            <a:pPr marL="140335" lvl="0" indent="-140335" algn="l">
              <a:lnSpc>
                <a:spcPct val="115000"/>
              </a:lnSpc>
              <a:spcBef>
                <a:spcPts val="0"/>
              </a:spcBef>
              <a:spcAft>
                <a:spcPts val="300"/>
              </a:spcAft>
              <a:buClrTx/>
              <a:buSzTx/>
              <a:buFont typeface="Arial" panose="020B0604020202020204" pitchFamily="34" charset="0"/>
              <a:buChar char="•"/>
            </a:pPr>
            <a:r>
              <a:rPr lang="zh-CN" altLang="en-US" sz="1200" b="1" spc="100" dirty="0">
                <a:solidFill>
                  <a:schemeClr val="tx1"/>
                </a:solidFill>
                <a:latin typeface="微软雅黑" panose="020B0503020204020204" pitchFamily="34" charset="-122"/>
                <a:ea typeface="微软雅黑" panose="020B0503020204020204" pitchFamily="34" charset="-122"/>
                <a:sym typeface="+mn-ea"/>
              </a:rPr>
              <a:t>增加打分项与校验规则</a:t>
            </a:r>
          </a:p>
          <a:p>
            <a:pPr marL="140335" lvl="0" indent="-140335" algn="l">
              <a:lnSpc>
                <a:spcPct val="115000"/>
              </a:lnSpc>
              <a:spcBef>
                <a:spcPts val="0"/>
              </a:spcBef>
              <a:spcAft>
                <a:spcPts val="300"/>
              </a:spcAft>
              <a:buClrTx/>
              <a:buSzTx/>
              <a:buFont typeface="Arial" panose="020B0604020202020204" pitchFamily="34" charset="0"/>
              <a:buChar char="•"/>
            </a:pPr>
            <a:r>
              <a:rPr lang="en-US" altLang="zh-CN" sz="1200" b="1" spc="100" dirty="0">
                <a:solidFill>
                  <a:schemeClr val="tx1"/>
                </a:solidFill>
                <a:latin typeface="微软雅黑" panose="020B0503020204020204" pitchFamily="34" charset="-122"/>
                <a:ea typeface="微软雅黑" panose="020B0503020204020204" pitchFamily="34" charset="-122"/>
                <a:sym typeface="+mn-ea"/>
              </a:rPr>
              <a:t>ECP</a:t>
            </a:r>
            <a:r>
              <a:rPr lang="zh-CN" altLang="en-US" sz="1200" b="1" spc="100" dirty="0">
                <a:solidFill>
                  <a:schemeClr val="tx1"/>
                </a:solidFill>
                <a:latin typeface="微软雅黑" panose="020B0503020204020204" pitchFamily="34" charset="-122"/>
                <a:ea typeface="微软雅黑" panose="020B0503020204020204" pitchFamily="34" charset="-122"/>
                <a:sym typeface="+mn-ea"/>
              </a:rPr>
              <a:t>获取报价单</a:t>
            </a:r>
          </a:p>
          <a:p>
            <a:pPr marL="140335" lvl="0" indent="-140335" algn="l">
              <a:lnSpc>
                <a:spcPct val="115000"/>
              </a:lnSpc>
              <a:spcBef>
                <a:spcPts val="0"/>
              </a:spcBef>
              <a:spcAft>
                <a:spcPts val="300"/>
              </a:spcAft>
              <a:buClrTx/>
              <a:buSzTx/>
              <a:buFont typeface="Arial" panose="020B0604020202020204" pitchFamily="34" charset="0"/>
              <a:buChar char="•"/>
            </a:pPr>
            <a:r>
              <a:rPr lang="zh-CN" altLang="en-US" sz="1200" b="1" spc="100" dirty="0">
                <a:solidFill>
                  <a:schemeClr val="tx1"/>
                </a:solidFill>
                <a:latin typeface="微软雅黑" panose="020B0503020204020204" pitchFamily="34" charset="-122"/>
                <a:ea typeface="微软雅黑" panose="020B0503020204020204" pitchFamily="34" charset="-122"/>
                <a:sym typeface="+mn-ea"/>
              </a:rPr>
              <a:t>报价单分享规则</a:t>
            </a:r>
          </a:p>
          <a:p>
            <a:pPr lvl="0" indent="0" algn="l">
              <a:lnSpc>
                <a:spcPct val="115000"/>
              </a:lnSpc>
              <a:spcBef>
                <a:spcPts val="0"/>
              </a:spcBef>
              <a:spcAft>
                <a:spcPts val="300"/>
              </a:spcAft>
              <a:buClrTx/>
              <a:buSzTx/>
              <a:buFont typeface="Arial" panose="020B0604020202020204" pitchFamily="34" charset="0"/>
              <a:buNone/>
            </a:pPr>
            <a:r>
              <a:rPr lang="en-US" altLang="zh-CN" sz="1200" b="1" spc="100" dirty="0">
                <a:solidFill>
                  <a:schemeClr val="tx1"/>
                </a:solidFill>
                <a:latin typeface="微软雅黑" panose="020B0503020204020204" pitchFamily="34" charset="-122"/>
                <a:ea typeface="微软雅黑" panose="020B0503020204020204" pitchFamily="34" charset="-122"/>
                <a:sym typeface="+mn-ea"/>
              </a:rPr>
              <a:t>ECP</a:t>
            </a:r>
            <a:r>
              <a:rPr lang="zh-CN" altLang="en-US" sz="1200" b="1" spc="100" dirty="0">
                <a:solidFill>
                  <a:schemeClr val="tx1"/>
                </a:solidFill>
                <a:latin typeface="微软雅黑" panose="020B0503020204020204" pitchFamily="34" charset="-122"/>
                <a:ea typeface="微软雅黑" panose="020B0503020204020204" pitchFamily="34" charset="-122"/>
                <a:sym typeface="+mn-ea"/>
              </a:rPr>
              <a:t>：</a:t>
            </a:r>
          </a:p>
          <a:p>
            <a:pPr marL="171450" lvl="0" indent="-171450" algn="l">
              <a:lnSpc>
                <a:spcPct val="115000"/>
              </a:lnSpc>
              <a:spcBef>
                <a:spcPts val="0"/>
              </a:spcBef>
              <a:spcAft>
                <a:spcPts val="300"/>
              </a:spcAft>
              <a:buClrTx/>
              <a:buSzTx/>
              <a:buFont typeface="Arial" panose="020B0604020202020204" pitchFamily="34" charset="0"/>
              <a:buChar char="•"/>
            </a:pPr>
            <a:r>
              <a:rPr lang="zh-CN" altLang="en-US" sz="1200" b="1" spc="100" dirty="0">
                <a:solidFill>
                  <a:schemeClr val="tx1"/>
                </a:solidFill>
                <a:latin typeface="微软雅黑" panose="020B0503020204020204" pitchFamily="34" charset="-122"/>
                <a:ea typeface="微软雅黑" panose="020B0503020204020204" pitchFamily="34" charset="-122"/>
                <a:sym typeface="+mn-ea"/>
              </a:rPr>
              <a:t>获取配置器清单</a:t>
            </a:r>
          </a:p>
          <a:p>
            <a:pPr marL="171450" lvl="0" indent="-171450" algn="l">
              <a:lnSpc>
                <a:spcPct val="115000"/>
              </a:lnSpc>
              <a:spcBef>
                <a:spcPts val="0"/>
              </a:spcBef>
              <a:spcAft>
                <a:spcPts val="300"/>
              </a:spcAft>
              <a:buClrTx/>
              <a:buSzTx/>
              <a:buFont typeface="Arial" panose="020B0604020202020204" pitchFamily="34" charset="0"/>
              <a:buChar char="•"/>
            </a:pPr>
            <a:r>
              <a:rPr lang="zh-CN" altLang="en-US" sz="1200" b="1" spc="100" dirty="0">
                <a:solidFill>
                  <a:schemeClr val="tx1"/>
                </a:solidFill>
                <a:latin typeface="微软雅黑" panose="020B0503020204020204" pitchFamily="34" charset="-122"/>
                <a:ea typeface="微软雅黑" panose="020B0503020204020204" pitchFamily="34" charset="-122"/>
                <a:sym typeface="+mn-ea"/>
              </a:rPr>
              <a:t>增加评分结果与同步评分结果</a:t>
            </a:r>
          </a:p>
          <a:p>
            <a:pPr lvl="0" indent="0" algn="l">
              <a:lnSpc>
                <a:spcPct val="115000"/>
              </a:lnSpc>
              <a:spcBef>
                <a:spcPts val="0"/>
              </a:spcBef>
              <a:spcAft>
                <a:spcPts val="300"/>
              </a:spcAft>
              <a:buClrTx/>
              <a:buSzTx/>
              <a:buFont typeface="Arial" panose="020B0604020202020204" pitchFamily="34" charset="0"/>
              <a:buNone/>
            </a:pPr>
            <a:r>
              <a:rPr lang="en-US" altLang="zh-CN" sz="1200" b="1" spc="100" dirty="0">
                <a:solidFill>
                  <a:schemeClr val="tx1"/>
                </a:solidFill>
                <a:latin typeface="微软雅黑" panose="020B0503020204020204" pitchFamily="34" charset="-122"/>
                <a:ea typeface="微软雅黑" panose="020B0503020204020204" pitchFamily="34" charset="-122"/>
                <a:sym typeface="+mn-ea"/>
              </a:rPr>
              <a:t>CRM</a:t>
            </a:r>
            <a:r>
              <a:rPr lang="zh-CN" altLang="en-US" sz="1200" b="1" spc="100" dirty="0">
                <a:solidFill>
                  <a:schemeClr val="tx1"/>
                </a:solidFill>
                <a:latin typeface="微软雅黑" panose="020B0503020204020204" pitchFamily="34" charset="-122"/>
                <a:ea typeface="微软雅黑" panose="020B0503020204020204" pitchFamily="34" charset="-122"/>
                <a:sym typeface="+mn-ea"/>
              </a:rPr>
              <a:t>：</a:t>
            </a:r>
          </a:p>
          <a:p>
            <a:pPr marL="171450" lvl="0" indent="-171450" algn="l">
              <a:lnSpc>
                <a:spcPct val="115000"/>
              </a:lnSpc>
              <a:spcBef>
                <a:spcPts val="0"/>
              </a:spcBef>
              <a:spcAft>
                <a:spcPts val="300"/>
              </a:spcAft>
              <a:buClrTx/>
              <a:buSzTx/>
              <a:buFont typeface="Arial" panose="020B0604020202020204" pitchFamily="34" charset="0"/>
              <a:buChar char="•"/>
            </a:pPr>
            <a:r>
              <a:rPr lang="zh-CN" altLang="en-US" sz="1200" b="1" spc="100" dirty="0">
                <a:solidFill>
                  <a:schemeClr val="tx1"/>
                </a:solidFill>
                <a:latin typeface="微软雅黑" panose="020B0503020204020204" pitchFamily="34" charset="-122"/>
                <a:ea typeface="微软雅黑" panose="020B0503020204020204" pitchFamily="34" charset="-122"/>
                <a:sym typeface="+mn-ea"/>
              </a:rPr>
              <a:t>关联字段配置</a:t>
            </a:r>
          </a:p>
          <a:p>
            <a:pPr marL="171450" lvl="0" indent="-171450" algn="l">
              <a:lnSpc>
                <a:spcPct val="115000"/>
              </a:lnSpc>
              <a:spcBef>
                <a:spcPts val="0"/>
              </a:spcBef>
              <a:spcAft>
                <a:spcPts val="300"/>
              </a:spcAft>
              <a:buClrTx/>
              <a:buSzTx/>
              <a:buFont typeface="Arial" panose="020B0604020202020204" pitchFamily="34" charset="0"/>
              <a:buChar char="•"/>
            </a:pPr>
            <a:r>
              <a:rPr lang="zh-CN" altLang="en-US" sz="1200" b="1" spc="100" dirty="0">
                <a:solidFill>
                  <a:schemeClr val="tx1"/>
                </a:solidFill>
                <a:latin typeface="微软雅黑" panose="020B0503020204020204" pitchFamily="34" charset="-122"/>
                <a:ea typeface="微软雅黑" panose="020B0503020204020204" pitchFamily="34" charset="-122"/>
                <a:sym typeface="+mn-ea"/>
              </a:rPr>
              <a:t>权限调整</a:t>
            </a:r>
          </a:p>
          <a:p>
            <a:pPr marL="171450" lvl="0" indent="-171450" algn="l">
              <a:lnSpc>
                <a:spcPct val="115000"/>
              </a:lnSpc>
              <a:spcBef>
                <a:spcPts val="0"/>
              </a:spcBef>
              <a:spcAft>
                <a:spcPts val="300"/>
              </a:spcAft>
              <a:buClrTx/>
              <a:buSzTx/>
              <a:buFont typeface="Arial" panose="020B0604020202020204" pitchFamily="34" charset="0"/>
              <a:buChar char="•"/>
            </a:pPr>
            <a:r>
              <a:rPr lang="zh-CN" altLang="en-US" sz="1200" b="1" spc="100" dirty="0">
                <a:solidFill>
                  <a:schemeClr val="tx1"/>
                </a:solidFill>
                <a:latin typeface="微软雅黑" panose="020B0503020204020204" pitchFamily="34" charset="-122"/>
                <a:ea typeface="微软雅黑" panose="020B0503020204020204" pitchFamily="34" charset="-122"/>
                <a:sym typeface="+mn-ea"/>
              </a:rPr>
              <a:t>进漏斗评分校验</a:t>
            </a:r>
          </a:p>
          <a:p>
            <a:pPr marL="171450" lvl="0" indent="-171450" algn="l">
              <a:lnSpc>
                <a:spcPct val="115000"/>
              </a:lnSpc>
              <a:spcBef>
                <a:spcPts val="0"/>
              </a:spcBef>
              <a:spcAft>
                <a:spcPts val="300"/>
              </a:spcAft>
              <a:buClrTx/>
              <a:buSzTx/>
              <a:buFont typeface="Arial" panose="020B0604020202020204" pitchFamily="34" charset="0"/>
              <a:buChar char="•"/>
            </a:pPr>
            <a:r>
              <a:rPr lang="zh-CN" altLang="en-US" sz="1200" b="1" spc="100" dirty="0">
                <a:solidFill>
                  <a:schemeClr val="tx1"/>
                </a:solidFill>
                <a:latin typeface="微软雅黑" panose="020B0503020204020204" pitchFamily="34" charset="-122"/>
                <a:ea typeface="微软雅黑" panose="020B0503020204020204" pitchFamily="34" charset="-122"/>
                <a:sym typeface="+mn-ea"/>
              </a:rPr>
              <a:t>要求到货时间必填，并取消与是否备货字段的关联</a:t>
            </a:r>
          </a:p>
        </p:txBody>
      </p:sp>
      <p:sp>
        <p:nvSpPr>
          <p:cNvPr id="10" name="矩形: 圆角 9"/>
          <p:cNvSpPr/>
          <p:nvPr>
            <p:custDataLst>
              <p:tags r:id="rId4"/>
            </p:custDataLst>
          </p:nvPr>
        </p:nvSpPr>
        <p:spPr>
          <a:xfrm>
            <a:off x="6719570" y="2124710"/>
            <a:ext cx="1577975" cy="453390"/>
          </a:xfrm>
          <a:prstGeom prst="roundRect">
            <a:avLst/>
          </a:prstGeom>
          <a:gradFill flip="none" rotWithShape="1">
            <a:gsLst>
              <a:gs pos="11000">
                <a:schemeClr val="accent1">
                  <a:lumMod val="60000"/>
                  <a:lumOff val="40000"/>
                  <a:alpha val="100000"/>
                </a:schemeClr>
              </a:gs>
              <a:gs pos="100000">
                <a:schemeClr val="accent1">
                  <a:alpha val="100000"/>
                </a:schemeClr>
              </a:gs>
            </a:gsLst>
            <a:lin ang="0" scaled="1"/>
            <a:tileRect/>
          </a:gradFill>
          <a:ln>
            <a:noFill/>
          </a:ln>
          <a:effectLst>
            <a:outerShdw blurRad="76200" dist="38100" dir="2700000" algn="tl" rotWithShape="0">
              <a:schemeClr val="accent1">
                <a:lumMod val="7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sz="1000" b="1" dirty="0">
                <a:solidFill>
                  <a:srgbClr val="FFFFFF"/>
                </a:solidFill>
                <a:latin typeface="微软雅黑" panose="020B0503020204020204" pitchFamily="34" charset="-122"/>
                <a:ea typeface="微软雅黑" panose="020B0503020204020204" pitchFamily="34" charset="-122"/>
                <a:sym typeface="+mn-ea"/>
              </a:rPr>
              <a:t>10</a:t>
            </a:r>
            <a:r>
              <a:rPr lang="zh-CN" altLang="en-US" sz="1000" b="1" dirty="0">
                <a:solidFill>
                  <a:srgbClr val="FFFFFF"/>
                </a:solidFill>
                <a:latin typeface="微软雅黑" panose="020B0503020204020204" pitchFamily="34" charset="-122"/>
                <a:ea typeface="微软雅黑" panose="020B0503020204020204" pitchFamily="34" charset="-122"/>
                <a:sym typeface="+mn-ea"/>
              </a:rPr>
              <a:t>月</a:t>
            </a:r>
            <a:r>
              <a:rPr lang="en-US" altLang="zh-CN" sz="1000" b="1" dirty="0">
                <a:solidFill>
                  <a:srgbClr val="FFFFFF"/>
                </a:solidFill>
                <a:latin typeface="微软雅黑" panose="020B0503020204020204" pitchFamily="34" charset="-122"/>
                <a:ea typeface="微软雅黑" panose="020B0503020204020204" pitchFamily="34" charset="-122"/>
                <a:sym typeface="+mn-ea"/>
              </a:rPr>
              <a:t>1</a:t>
            </a:r>
            <a:r>
              <a:rPr lang="zh-CN" altLang="en-US" sz="1000" b="1" dirty="0">
                <a:solidFill>
                  <a:srgbClr val="FFFFFF"/>
                </a:solidFill>
                <a:latin typeface="微软雅黑" panose="020B0503020204020204" pitchFamily="34" charset="-122"/>
                <a:ea typeface="微软雅黑" panose="020B0503020204020204" pitchFamily="34" charset="-122"/>
                <a:sym typeface="+mn-ea"/>
              </a:rPr>
              <a:t>日完成今年开标项目的历史数据盘点</a:t>
            </a:r>
          </a:p>
        </p:txBody>
      </p:sp>
      <p:cxnSp>
        <p:nvCxnSpPr>
          <p:cNvPr id="11" name="直接连接符 10"/>
          <p:cNvCxnSpPr/>
          <p:nvPr>
            <p:custDataLst>
              <p:tags r:id="rId5"/>
            </p:custDataLst>
          </p:nvPr>
        </p:nvCxnSpPr>
        <p:spPr>
          <a:xfrm flipV="1">
            <a:off x="6488625" y="1826483"/>
            <a:ext cx="0" cy="4648835"/>
          </a:xfrm>
          <a:prstGeom prst="line">
            <a:avLst/>
          </a:prstGeom>
          <a:ln w="12700">
            <a:gradFill>
              <a:gsLst>
                <a:gs pos="68000">
                  <a:schemeClr val="accent1">
                    <a:alpha val="50000"/>
                  </a:schemeClr>
                </a:gs>
                <a:gs pos="16000">
                  <a:schemeClr val="accent1">
                    <a:alpha val="0"/>
                  </a:schemeClr>
                </a:gs>
                <a:gs pos="100000">
                  <a:schemeClr val="accent1">
                    <a:alpha val="100000"/>
                  </a:schemeClr>
                </a:gs>
              </a:gsLst>
              <a:lin ang="5400000" scaled="1"/>
            </a:gradFill>
            <a:tailEnd type="oval"/>
          </a:ln>
        </p:spPr>
        <p:style>
          <a:lnRef idx="1">
            <a:schemeClr val="accent1"/>
          </a:lnRef>
          <a:fillRef idx="0">
            <a:schemeClr val="accent1"/>
          </a:fillRef>
          <a:effectRef idx="0">
            <a:schemeClr val="accent1"/>
          </a:effectRef>
          <a:fontRef idx="minor">
            <a:schemeClr val="tx1"/>
          </a:fontRef>
        </p:style>
      </p:cxnSp>
      <p:cxnSp>
        <p:nvCxnSpPr>
          <p:cNvPr id="5" name="直接箭头连接符 4"/>
          <p:cNvCxnSpPr/>
          <p:nvPr/>
        </p:nvCxnSpPr>
        <p:spPr>
          <a:xfrm>
            <a:off x="1059451" y="1799488"/>
            <a:ext cx="10807700" cy="0"/>
          </a:xfrm>
          <a:prstGeom prst="straightConnector1">
            <a:avLst/>
          </a:prstGeom>
          <a:ln w="63500">
            <a:tailEnd type="triangle"/>
          </a:ln>
        </p:spPr>
        <p:style>
          <a:lnRef idx="1">
            <a:schemeClr val="accent1"/>
          </a:lnRef>
          <a:fillRef idx="0">
            <a:schemeClr val="accent1"/>
          </a:fillRef>
          <a:effectRef idx="0">
            <a:schemeClr val="accent1"/>
          </a:effectRef>
          <a:fontRef idx="minor">
            <a:schemeClr val="tx1"/>
          </a:fontRef>
        </p:style>
      </p:cxnSp>
      <p:sp>
        <p:nvSpPr>
          <p:cNvPr id="3" name="等腰三角形 2"/>
          <p:cNvSpPr/>
          <p:nvPr/>
        </p:nvSpPr>
        <p:spPr>
          <a:xfrm>
            <a:off x="1527027" y="1551852"/>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等腰三角形 3"/>
          <p:cNvSpPr/>
          <p:nvPr/>
        </p:nvSpPr>
        <p:spPr>
          <a:xfrm>
            <a:off x="4930627" y="1551852"/>
            <a:ext cx="466530" cy="391886"/>
          </a:xfrm>
          <a:prstGeom prst="triangl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9"/>
          <p:cNvSpPr/>
          <p:nvPr>
            <p:custDataLst>
              <p:tags r:id="rId6"/>
            </p:custDataLst>
          </p:nvPr>
        </p:nvSpPr>
        <p:spPr>
          <a:xfrm>
            <a:off x="4374515" y="2124710"/>
            <a:ext cx="1577975" cy="453390"/>
          </a:xfrm>
          <a:prstGeom prst="roundRect">
            <a:avLst/>
          </a:prstGeom>
          <a:gradFill flip="none" rotWithShape="1">
            <a:gsLst>
              <a:gs pos="11000">
                <a:schemeClr val="accent1">
                  <a:lumMod val="60000"/>
                  <a:lumOff val="40000"/>
                  <a:alpha val="100000"/>
                </a:schemeClr>
              </a:gs>
              <a:gs pos="100000">
                <a:schemeClr val="accent1">
                  <a:alpha val="100000"/>
                </a:schemeClr>
              </a:gs>
            </a:gsLst>
            <a:lin ang="0" scaled="1"/>
            <a:tileRect/>
          </a:gradFill>
          <a:ln>
            <a:noFill/>
          </a:ln>
          <a:effectLst>
            <a:outerShdw blurRad="76200" dist="38100" dir="2700000" algn="tl" rotWithShape="0">
              <a:schemeClr val="accent1">
                <a:lumMod val="7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altLang="zh-CN" sz="1000" b="1" dirty="0">
                <a:solidFill>
                  <a:srgbClr val="FFFFFF"/>
                </a:solidFill>
                <a:latin typeface="微软雅黑" panose="020B0503020204020204" pitchFamily="34" charset="-122"/>
                <a:ea typeface="微软雅黑" panose="020B0503020204020204" pitchFamily="34" charset="-122"/>
                <a:sym typeface="+mn-ea"/>
              </a:rPr>
              <a:t>9</a:t>
            </a:r>
            <a:r>
              <a:rPr lang="zh-CN" altLang="en-US" sz="1000" b="1" dirty="0">
                <a:solidFill>
                  <a:srgbClr val="FFFFFF"/>
                </a:solidFill>
                <a:latin typeface="微软雅黑" panose="020B0503020204020204" pitchFamily="34" charset="-122"/>
                <a:ea typeface="微软雅黑" panose="020B0503020204020204" pitchFamily="34" charset="-122"/>
                <a:sym typeface="+mn-ea"/>
              </a:rPr>
              <a:t>月</a:t>
            </a:r>
            <a:r>
              <a:rPr lang="en-US" altLang="zh-CN" sz="1000" b="1" dirty="0">
                <a:solidFill>
                  <a:srgbClr val="FFFFFF"/>
                </a:solidFill>
                <a:latin typeface="微软雅黑" panose="020B0503020204020204" pitchFamily="34" charset="-122"/>
                <a:ea typeface="微软雅黑" panose="020B0503020204020204" pitchFamily="34" charset="-122"/>
                <a:sym typeface="+mn-ea"/>
              </a:rPr>
              <a:t>21</a:t>
            </a:r>
            <a:r>
              <a:rPr lang="zh-CN" altLang="en-US" sz="1000" b="1" dirty="0">
                <a:solidFill>
                  <a:srgbClr val="FFFFFF"/>
                </a:solidFill>
                <a:latin typeface="微软雅黑" panose="020B0503020204020204" pitchFamily="34" charset="-122"/>
                <a:ea typeface="微软雅黑" panose="020B0503020204020204" pitchFamily="34" charset="-122"/>
                <a:sym typeface="+mn-ea"/>
              </a:rPr>
              <a:t>日二期</a:t>
            </a:r>
            <a:r>
              <a:rPr lang="en-US" altLang="zh-CN" sz="1000" b="1" dirty="0">
                <a:solidFill>
                  <a:srgbClr val="FFFFFF"/>
                </a:solidFill>
                <a:latin typeface="微软雅黑" panose="020B0503020204020204" pitchFamily="34" charset="-122"/>
                <a:ea typeface="微软雅黑" panose="020B0503020204020204" pitchFamily="34" charset="-122"/>
                <a:sym typeface="+mn-ea"/>
              </a:rPr>
              <a:t>IT</a:t>
            </a:r>
            <a:r>
              <a:rPr lang="zh-CN" altLang="en-US" sz="1000" b="1" dirty="0">
                <a:solidFill>
                  <a:srgbClr val="FFFFFF"/>
                </a:solidFill>
                <a:latin typeface="微软雅黑" panose="020B0503020204020204" pitchFamily="34" charset="-122"/>
                <a:ea typeface="微软雅黑" panose="020B0503020204020204" pitchFamily="34" charset="-122"/>
                <a:sym typeface="+mn-ea"/>
              </a:rPr>
              <a:t>上线</a:t>
            </a:r>
          </a:p>
        </p:txBody>
      </p:sp>
      <p:sp>
        <p:nvSpPr>
          <p:cNvPr id="14" name="等腰三角形 13"/>
          <p:cNvSpPr/>
          <p:nvPr/>
        </p:nvSpPr>
        <p:spPr>
          <a:xfrm>
            <a:off x="9160997" y="1551852"/>
            <a:ext cx="466530" cy="391886"/>
          </a:xfrm>
          <a:prstGeom prst="triangl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16" name="矩形: 圆角 9"/>
          <p:cNvSpPr/>
          <p:nvPr>
            <p:custDataLst>
              <p:tags r:id="rId7"/>
            </p:custDataLst>
          </p:nvPr>
        </p:nvSpPr>
        <p:spPr>
          <a:xfrm>
            <a:off x="8605520" y="2124710"/>
            <a:ext cx="1577975" cy="453390"/>
          </a:xfrm>
          <a:prstGeom prst="roundRect">
            <a:avLst/>
          </a:prstGeom>
          <a:gradFill flip="none" rotWithShape="1">
            <a:gsLst>
              <a:gs pos="11000">
                <a:schemeClr val="accent1">
                  <a:lumMod val="60000"/>
                  <a:lumOff val="40000"/>
                  <a:alpha val="100000"/>
                </a:schemeClr>
              </a:gs>
              <a:gs pos="100000">
                <a:schemeClr val="accent1">
                  <a:alpha val="100000"/>
                </a:schemeClr>
              </a:gs>
            </a:gsLst>
            <a:lin ang="0" scaled="1"/>
            <a:tileRect/>
          </a:gradFill>
          <a:ln>
            <a:noFill/>
          </a:ln>
          <a:effectLst>
            <a:outerShdw blurRad="76200" dist="38100" dir="2700000" algn="tl" rotWithShape="0">
              <a:schemeClr val="accent1">
                <a:lumMod val="7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sz="1000" b="1" dirty="0">
                <a:solidFill>
                  <a:srgbClr val="FFFFFF"/>
                </a:solidFill>
                <a:latin typeface="微软雅黑" panose="020B0503020204020204" pitchFamily="34" charset="-122"/>
                <a:ea typeface="微软雅黑" panose="020B0503020204020204" pitchFamily="34" charset="-122"/>
                <a:sym typeface="+mn-ea"/>
              </a:rPr>
              <a:t>11</a:t>
            </a:r>
            <a:r>
              <a:rPr lang="zh-CN" altLang="en-US" sz="1000" b="1" dirty="0">
                <a:solidFill>
                  <a:srgbClr val="FFFFFF"/>
                </a:solidFill>
                <a:latin typeface="微软雅黑" panose="020B0503020204020204" pitchFamily="34" charset="-122"/>
                <a:ea typeface="微软雅黑" panose="020B0503020204020204" pitchFamily="34" charset="-122"/>
                <a:sym typeface="+mn-ea"/>
              </a:rPr>
              <a:t>月</a:t>
            </a:r>
            <a:r>
              <a:rPr lang="en-US" altLang="zh-CN" sz="1000" b="1" dirty="0">
                <a:solidFill>
                  <a:srgbClr val="FFFFFF"/>
                </a:solidFill>
                <a:latin typeface="微软雅黑" panose="020B0503020204020204" pitchFamily="34" charset="-122"/>
                <a:ea typeface="微软雅黑" panose="020B0503020204020204" pitchFamily="34" charset="-122"/>
                <a:sym typeface="+mn-ea"/>
              </a:rPr>
              <a:t>1</a:t>
            </a:r>
            <a:r>
              <a:rPr lang="zh-CN" altLang="en-US" sz="1000" b="1" dirty="0">
                <a:solidFill>
                  <a:srgbClr val="FFFFFF"/>
                </a:solidFill>
                <a:latin typeface="微软雅黑" panose="020B0503020204020204" pitchFamily="34" charset="-122"/>
                <a:ea typeface="微软雅黑" panose="020B0503020204020204" pitchFamily="34" charset="-122"/>
                <a:sym typeface="+mn-ea"/>
              </a:rPr>
              <a:t>日完成</a:t>
            </a:r>
            <a:r>
              <a:rPr lang="en-US" altLang="zh-CN" sz="1000" b="1" dirty="0">
                <a:solidFill>
                  <a:srgbClr val="FFFFFF"/>
                </a:solidFill>
                <a:latin typeface="微软雅黑" panose="020B0503020204020204" pitchFamily="34" charset="-122"/>
                <a:ea typeface="微软雅黑" panose="020B0503020204020204" pitchFamily="34" charset="-122"/>
                <a:sym typeface="+mn-ea"/>
              </a:rPr>
              <a:t>26</a:t>
            </a:r>
            <a:r>
              <a:rPr lang="zh-CN" altLang="en-US" sz="1000" b="1" dirty="0">
                <a:solidFill>
                  <a:srgbClr val="FFFFFF"/>
                </a:solidFill>
                <a:latin typeface="微软雅黑" panose="020B0503020204020204" pitchFamily="34" charset="-122"/>
                <a:ea typeface="微软雅黑" panose="020B0503020204020204" pitchFamily="34" charset="-122"/>
                <a:sym typeface="+mn-ea"/>
              </a:rPr>
              <a:t>年上半年开标历史数据盘点</a:t>
            </a:r>
          </a:p>
        </p:txBody>
      </p:sp>
      <p:sp>
        <p:nvSpPr>
          <p:cNvPr id="19" name="等腰三角形 18"/>
          <p:cNvSpPr/>
          <p:nvPr/>
        </p:nvSpPr>
        <p:spPr>
          <a:xfrm>
            <a:off x="10793582" y="1551852"/>
            <a:ext cx="466530" cy="391886"/>
          </a:xfrm>
          <a:prstGeom prst="triangl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ym typeface="+mn-ea"/>
            </a:endParaRPr>
          </a:p>
        </p:txBody>
      </p:sp>
      <p:sp>
        <p:nvSpPr>
          <p:cNvPr id="20" name="等腰三角形 19"/>
          <p:cNvSpPr/>
          <p:nvPr/>
        </p:nvSpPr>
        <p:spPr>
          <a:xfrm>
            <a:off x="7350612" y="1551852"/>
            <a:ext cx="466530" cy="391886"/>
          </a:xfrm>
          <a:prstGeom prst="triangle">
            <a:avLst/>
          </a:prstGeom>
          <a:solidFill>
            <a:schemeClr val="accent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圆角 9"/>
          <p:cNvSpPr/>
          <p:nvPr>
            <p:custDataLst>
              <p:tags r:id="rId8"/>
            </p:custDataLst>
          </p:nvPr>
        </p:nvSpPr>
        <p:spPr>
          <a:xfrm>
            <a:off x="10288905" y="2124710"/>
            <a:ext cx="1577975" cy="453390"/>
          </a:xfrm>
          <a:prstGeom prst="roundRect">
            <a:avLst/>
          </a:prstGeom>
          <a:gradFill flip="none" rotWithShape="1">
            <a:gsLst>
              <a:gs pos="11000">
                <a:schemeClr val="accent1">
                  <a:lumMod val="60000"/>
                  <a:lumOff val="40000"/>
                  <a:alpha val="100000"/>
                </a:schemeClr>
              </a:gs>
              <a:gs pos="100000">
                <a:schemeClr val="accent1">
                  <a:alpha val="100000"/>
                </a:schemeClr>
              </a:gs>
            </a:gsLst>
            <a:lin ang="0" scaled="1"/>
            <a:tileRect/>
          </a:gradFill>
          <a:ln>
            <a:noFill/>
          </a:ln>
          <a:effectLst>
            <a:outerShdw blurRad="76200" dist="38100" dir="2700000" algn="tl" rotWithShape="0">
              <a:schemeClr val="accent1">
                <a:lumMod val="75000"/>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r>
              <a:rPr lang="en-US" sz="1000" b="1" dirty="0">
                <a:solidFill>
                  <a:srgbClr val="FFFFFF"/>
                </a:solidFill>
                <a:latin typeface="微软雅黑" panose="020B0503020204020204" pitchFamily="34" charset="-122"/>
                <a:ea typeface="微软雅黑" panose="020B0503020204020204" pitchFamily="34" charset="-122"/>
                <a:sym typeface="+mn-ea"/>
              </a:rPr>
              <a:t>12</a:t>
            </a:r>
            <a:r>
              <a:rPr lang="zh-CN" altLang="en-US" sz="1000" b="1" dirty="0">
                <a:solidFill>
                  <a:srgbClr val="FFFFFF"/>
                </a:solidFill>
                <a:latin typeface="微软雅黑" panose="020B0503020204020204" pitchFamily="34" charset="-122"/>
                <a:ea typeface="微软雅黑" panose="020B0503020204020204" pitchFamily="34" charset="-122"/>
                <a:sym typeface="+mn-ea"/>
              </a:rPr>
              <a:t>月</a:t>
            </a:r>
            <a:r>
              <a:rPr lang="en-US" altLang="zh-CN" sz="1000" b="1" dirty="0">
                <a:solidFill>
                  <a:srgbClr val="FFFFFF"/>
                </a:solidFill>
                <a:latin typeface="微软雅黑" panose="020B0503020204020204" pitchFamily="34" charset="-122"/>
                <a:ea typeface="微软雅黑" panose="020B0503020204020204" pitchFamily="34" charset="-122"/>
                <a:sym typeface="+mn-ea"/>
              </a:rPr>
              <a:t>1</a:t>
            </a:r>
            <a:r>
              <a:rPr lang="zh-CN" altLang="en-US" sz="1000" b="1" dirty="0">
                <a:solidFill>
                  <a:srgbClr val="FFFFFF"/>
                </a:solidFill>
                <a:latin typeface="微软雅黑" panose="020B0503020204020204" pitchFamily="34" charset="-122"/>
                <a:ea typeface="微软雅黑" panose="020B0503020204020204" pitchFamily="34" charset="-122"/>
                <a:sym typeface="+mn-ea"/>
              </a:rPr>
              <a:t>日完成所有历史数据盘点</a:t>
            </a:r>
          </a:p>
        </p:txBody>
      </p:sp>
      <p:sp>
        <p:nvSpPr>
          <p:cNvPr id="22" name="文本框 21"/>
          <p:cNvSpPr txBox="1"/>
          <p:nvPr/>
        </p:nvSpPr>
        <p:spPr>
          <a:xfrm>
            <a:off x="3158322" y="1016721"/>
            <a:ext cx="1300480" cy="368300"/>
          </a:xfrm>
          <a:prstGeom prst="rect">
            <a:avLst/>
          </a:prstGeom>
          <a:noFill/>
        </p:spPr>
        <p:txBody>
          <a:bodyPr wrap="none" rtlCol="0">
            <a:spAutoFit/>
          </a:bodyPr>
          <a:lstStyle/>
          <a:p>
            <a:r>
              <a:rPr lang="en-US" altLang="zh-CN" b="1" dirty="0"/>
              <a:t>IT</a:t>
            </a:r>
            <a:r>
              <a:rPr lang="zh-CN" altLang="en-US" b="1" dirty="0"/>
              <a:t>上线安排</a:t>
            </a:r>
          </a:p>
        </p:txBody>
      </p:sp>
      <p:sp>
        <p:nvSpPr>
          <p:cNvPr id="23" name="文本框 22"/>
          <p:cNvSpPr txBox="1"/>
          <p:nvPr/>
        </p:nvSpPr>
        <p:spPr>
          <a:xfrm>
            <a:off x="7977337" y="1002751"/>
            <a:ext cx="2011680" cy="368300"/>
          </a:xfrm>
          <a:prstGeom prst="rect">
            <a:avLst/>
          </a:prstGeom>
          <a:noFill/>
        </p:spPr>
        <p:txBody>
          <a:bodyPr wrap="none" rtlCol="0">
            <a:spAutoFit/>
          </a:bodyPr>
          <a:lstStyle/>
          <a:p>
            <a:r>
              <a:rPr lang="zh-CN" altLang="en-US" b="1" dirty="0"/>
              <a:t>历史数据盘点计划</a:t>
            </a:r>
          </a:p>
        </p:txBody>
      </p:sp>
      <p:sp>
        <p:nvSpPr>
          <p:cNvPr id="25" name="文本框 24"/>
          <p:cNvSpPr txBox="1"/>
          <p:nvPr>
            <p:custDataLst>
              <p:tags r:id="rId9"/>
            </p:custDataLst>
          </p:nvPr>
        </p:nvSpPr>
        <p:spPr>
          <a:xfrm>
            <a:off x="6637020" y="2759075"/>
            <a:ext cx="5278120" cy="3522980"/>
          </a:xfrm>
          <a:prstGeom prst="rect">
            <a:avLst/>
          </a:prstGeom>
          <a:solidFill>
            <a:schemeClr val="accent3">
              <a:lumMod val="40000"/>
              <a:lumOff val="60000"/>
            </a:schemeClr>
          </a:solidFill>
          <a:ln>
            <a:solidFill>
              <a:schemeClr val="accent1"/>
            </a:solidFill>
          </a:ln>
        </p:spPr>
        <p:txBody>
          <a:bodyPr wrap="square" lIns="90170" tIns="46990" rIns="90170" bIns="46990" rtlCol="0" anchor="ctr" anchorCtr="0">
            <a:noAutofit/>
          </a:bodyPr>
          <a:lstStyle/>
          <a:p>
            <a:pPr lvl="0" indent="0" algn="l">
              <a:lnSpc>
                <a:spcPct val="115000"/>
              </a:lnSpc>
              <a:spcBef>
                <a:spcPts val="0"/>
              </a:spcBef>
              <a:spcAft>
                <a:spcPts val="300"/>
              </a:spcAft>
              <a:buClrTx/>
              <a:buSzTx/>
              <a:buFont typeface="Arial" panose="020B0604020202020204" pitchFamily="34" charset="0"/>
              <a:buNone/>
            </a:pPr>
            <a:r>
              <a:rPr lang="zh-CN" altLang="en-US" sz="1700" b="1" spc="100" dirty="0">
                <a:solidFill>
                  <a:srgbClr val="FF0000"/>
                </a:solidFill>
                <a:latin typeface="微软雅黑" panose="020B0503020204020204" pitchFamily="34" charset="-122"/>
                <a:ea typeface="微软雅黑" panose="020B0503020204020204" pitchFamily="34" charset="-122"/>
                <a:sym typeface="+mn-ea"/>
              </a:rPr>
              <a:t>关键动作：</a:t>
            </a:r>
          </a:p>
          <a:p>
            <a:pPr marL="140335" lvl="0" indent="-140335" algn="l">
              <a:lnSpc>
                <a:spcPct val="115000"/>
              </a:lnSpc>
              <a:spcBef>
                <a:spcPts val="0"/>
              </a:spcBef>
              <a:spcAft>
                <a:spcPts val="300"/>
              </a:spcAft>
              <a:buClrTx/>
              <a:buSzTx/>
              <a:buFont typeface="Arial" panose="020B0604020202020204" pitchFamily="34" charset="0"/>
              <a:buChar char="•"/>
            </a:pPr>
            <a:r>
              <a:rPr lang="zh-CN" altLang="en-US" sz="1700" b="1" spc="100" dirty="0">
                <a:solidFill>
                  <a:schemeClr val="tx1"/>
                </a:solidFill>
                <a:latin typeface="微软雅黑" panose="020B0503020204020204" pitchFamily="34" charset="-122"/>
                <a:ea typeface="微软雅黑" panose="020B0503020204020204" pitchFamily="34" charset="-122"/>
                <a:sym typeface="+mn-ea"/>
              </a:rPr>
              <a:t>售前：按照时间要求，完成漏斗内历史数据产品清单可信度自评打分，达标后分享销售；</a:t>
            </a:r>
          </a:p>
          <a:p>
            <a:pPr marL="140335" lvl="0" indent="-140335" algn="l">
              <a:lnSpc>
                <a:spcPct val="115000"/>
              </a:lnSpc>
              <a:spcBef>
                <a:spcPts val="0"/>
              </a:spcBef>
              <a:spcAft>
                <a:spcPts val="300"/>
              </a:spcAft>
              <a:buClrTx/>
              <a:buSzTx/>
              <a:buFont typeface="Arial" panose="020B0604020202020204" pitchFamily="34" charset="0"/>
              <a:buChar char="•"/>
            </a:pPr>
            <a:r>
              <a:rPr lang="zh-CN" altLang="en-US" sz="1700" b="1" spc="100" dirty="0">
                <a:solidFill>
                  <a:schemeClr val="tx1"/>
                </a:solidFill>
                <a:latin typeface="微软雅黑" panose="020B0503020204020204" pitchFamily="34" charset="-122"/>
                <a:ea typeface="微软雅黑" panose="020B0503020204020204" pitchFamily="34" charset="-122"/>
                <a:sym typeface="+mn-ea"/>
              </a:rPr>
              <a:t>销售：把售前分享的带可信度评分的清单，同步到</a:t>
            </a:r>
            <a:r>
              <a:rPr lang="en-US" altLang="zh-CN" sz="1700" b="1" spc="100" dirty="0">
                <a:solidFill>
                  <a:schemeClr val="tx1"/>
                </a:solidFill>
                <a:latin typeface="微软雅黑" panose="020B0503020204020204" pitchFamily="34" charset="-122"/>
                <a:ea typeface="微软雅黑" panose="020B0503020204020204" pitchFamily="34" charset="-122"/>
                <a:sym typeface="+mn-ea"/>
              </a:rPr>
              <a:t>ECP</a:t>
            </a:r>
            <a:r>
              <a:rPr lang="zh-CN" altLang="en-US" sz="1700" b="1" spc="100" dirty="0">
                <a:solidFill>
                  <a:schemeClr val="tx1"/>
                </a:solidFill>
                <a:latin typeface="微软雅黑" panose="020B0503020204020204" pitchFamily="34" charset="-122"/>
                <a:ea typeface="微软雅黑" panose="020B0503020204020204" pitchFamily="34" charset="-122"/>
                <a:sym typeface="+mn-ea"/>
              </a:rPr>
              <a:t>和</a:t>
            </a:r>
            <a:r>
              <a:rPr lang="en-US" altLang="zh-CN" sz="1700" b="1" spc="100" dirty="0">
                <a:solidFill>
                  <a:schemeClr val="tx1"/>
                </a:solidFill>
                <a:latin typeface="微软雅黑" panose="020B0503020204020204" pitchFamily="34" charset="-122"/>
                <a:ea typeface="微软雅黑" panose="020B0503020204020204" pitchFamily="34" charset="-122"/>
                <a:sym typeface="+mn-ea"/>
              </a:rPr>
              <a:t>CRM</a:t>
            </a:r>
            <a:r>
              <a:rPr lang="zh-CN" altLang="en-US" sz="1700" b="1" spc="100" dirty="0">
                <a:solidFill>
                  <a:schemeClr val="tx1"/>
                </a:solidFill>
                <a:latin typeface="微软雅黑" panose="020B0503020204020204" pitchFamily="34" charset="-122"/>
                <a:ea typeface="微软雅黑" panose="020B0503020204020204" pitchFamily="34" charset="-122"/>
                <a:sym typeface="+mn-ea"/>
              </a:rPr>
              <a:t>系统；</a:t>
            </a:r>
          </a:p>
          <a:p>
            <a:pPr lvl="0" algn="l">
              <a:lnSpc>
                <a:spcPct val="115000"/>
              </a:lnSpc>
              <a:spcBef>
                <a:spcPts val="0"/>
              </a:spcBef>
              <a:spcAft>
                <a:spcPts val="300"/>
              </a:spcAft>
              <a:buClrTx/>
              <a:buSzTx/>
              <a:buFont typeface="Arial" panose="020B0604020202020204" pitchFamily="34" charset="0"/>
              <a:buNone/>
            </a:pPr>
            <a:r>
              <a:rPr lang="zh-CN" altLang="en-US" sz="1600" b="1" spc="100" dirty="0">
                <a:solidFill>
                  <a:srgbClr val="FF0000"/>
                </a:solidFill>
                <a:latin typeface="微软雅黑" panose="020B0503020204020204" pitchFamily="34" charset="-122"/>
                <a:ea typeface="微软雅黑" panose="020B0503020204020204" pitchFamily="34" charset="-122"/>
                <a:sym typeface="+mn-ea"/>
              </a:rPr>
              <a:t>备注：系统会定期根据评分是否达标进行自动提醒，请根据具体提醒内容进行数据盘点和刷新。</a:t>
            </a:r>
          </a:p>
        </p:txBody>
      </p:sp>
      <p:sp>
        <p:nvSpPr>
          <p:cNvPr id="27" name="文本框 26"/>
          <p:cNvSpPr txBox="1"/>
          <p:nvPr>
            <p:custDataLst>
              <p:tags r:id="rId10"/>
            </p:custDataLst>
          </p:nvPr>
        </p:nvSpPr>
        <p:spPr>
          <a:xfrm>
            <a:off x="3672205" y="2759075"/>
            <a:ext cx="2585085" cy="3550285"/>
          </a:xfrm>
          <a:prstGeom prst="rect">
            <a:avLst/>
          </a:prstGeom>
          <a:solidFill>
            <a:schemeClr val="accent3">
              <a:lumMod val="40000"/>
              <a:lumOff val="60000"/>
            </a:schemeClr>
          </a:solidFill>
          <a:ln>
            <a:solidFill>
              <a:schemeClr val="accent1"/>
            </a:solidFill>
          </a:ln>
        </p:spPr>
        <p:txBody>
          <a:bodyPr wrap="square" lIns="90170" tIns="46990" rIns="90170" bIns="46990" rtlCol="0" anchor="t" anchorCtr="0">
            <a:noAutofit/>
          </a:bodyPr>
          <a:lstStyle/>
          <a:p>
            <a:pPr lvl="0" indent="0" algn="l">
              <a:lnSpc>
                <a:spcPct val="115000"/>
              </a:lnSpc>
              <a:spcBef>
                <a:spcPts val="0"/>
              </a:spcBef>
              <a:spcAft>
                <a:spcPts val="300"/>
              </a:spcAft>
              <a:buClrTx/>
              <a:buSzTx/>
              <a:buFont typeface="Arial" panose="020B0604020202020204" pitchFamily="34" charset="0"/>
              <a:buNone/>
            </a:pPr>
            <a:r>
              <a:rPr lang="zh-CN" altLang="en-US" sz="1200" b="1" spc="100" dirty="0">
                <a:solidFill>
                  <a:schemeClr val="tx1"/>
                </a:solidFill>
                <a:latin typeface="微软雅黑" panose="020B0503020204020204" pitchFamily="34" charset="-122"/>
                <a:ea typeface="微软雅黑" panose="020B0503020204020204" pitchFamily="34" charset="-122"/>
                <a:sym typeface="+mn-ea"/>
              </a:rPr>
              <a:t>配置器</a:t>
            </a:r>
            <a:r>
              <a:rPr lang="en-US" altLang="zh-CN" sz="1200" b="1" spc="100" dirty="0">
                <a:solidFill>
                  <a:schemeClr val="tx1"/>
                </a:solidFill>
                <a:latin typeface="微软雅黑" panose="020B0503020204020204" pitchFamily="34" charset="-122"/>
                <a:ea typeface="微软雅黑" panose="020B0503020204020204" pitchFamily="34" charset="-122"/>
                <a:sym typeface="+mn-ea"/>
              </a:rPr>
              <a:t>:</a:t>
            </a:r>
          </a:p>
          <a:p>
            <a:pPr marL="171450" lvl="0" indent="-171450" algn="l">
              <a:lnSpc>
                <a:spcPct val="115000"/>
              </a:lnSpc>
              <a:spcBef>
                <a:spcPts val="0"/>
              </a:spcBef>
              <a:spcAft>
                <a:spcPts val="300"/>
              </a:spcAft>
              <a:buClrTx/>
              <a:buSzTx/>
              <a:buFont typeface="Arial" panose="020B0604020202020204" pitchFamily="34" charset="0"/>
              <a:buChar char="•"/>
            </a:pPr>
            <a:r>
              <a:rPr lang="zh-CN" altLang="en-US" sz="1200" b="1" spc="100" dirty="0">
                <a:solidFill>
                  <a:schemeClr val="tx1"/>
                </a:solidFill>
                <a:latin typeface="微软雅黑" panose="020B0503020204020204" pitchFamily="34" charset="-122"/>
                <a:ea typeface="微软雅黑" panose="020B0503020204020204" pitchFamily="34" charset="-122"/>
                <a:sym typeface="+mn-ea"/>
              </a:rPr>
              <a:t>分享提醒功能</a:t>
            </a:r>
            <a:endParaRPr lang="en-US" sz="1200" b="1" spc="100" dirty="0">
              <a:solidFill>
                <a:schemeClr val="tx1"/>
              </a:solidFill>
              <a:latin typeface="微软雅黑" panose="020B0503020204020204" pitchFamily="34" charset="-122"/>
              <a:ea typeface="微软雅黑" panose="020B0503020204020204" pitchFamily="34" charset="-122"/>
              <a:sym typeface="+mn-ea"/>
            </a:endParaRPr>
          </a:p>
          <a:p>
            <a:pPr lvl="0" indent="0" algn="l">
              <a:lnSpc>
                <a:spcPct val="115000"/>
              </a:lnSpc>
              <a:spcBef>
                <a:spcPts val="0"/>
              </a:spcBef>
              <a:spcAft>
                <a:spcPts val="300"/>
              </a:spcAft>
              <a:buClrTx/>
              <a:buSzTx/>
              <a:buFont typeface="Arial" panose="020B0604020202020204" pitchFamily="34" charset="0"/>
              <a:buNone/>
            </a:pPr>
            <a:r>
              <a:rPr lang="en-US" sz="1200" b="1" spc="100" dirty="0">
                <a:solidFill>
                  <a:schemeClr val="tx1"/>
                </a:solidFill>
                <a:latin typeface="微软雅黑" panose="020B0503020204020204" pitchFamily="34" charset="-122"/>
                <a:ea typeface="微软雅黑" panose="020B0503020204020204" pitchFamily="34" charset="-122"/>
                <a:sym typeface="+mn-ea"/>
              </a:rPr>
              <a:t>ECP</a:t>
            </a:r>
            <a:r>
              <a:rPr lang="zh-CN" altLang="en-US" sz="1200" b="1" spc="100" dirty="0">
                <a:solidFill>
                  <a:schemeClr val="tx1"/>
                </a:solidFill>
                <a:latin typeface="微软雅黑" panose="020B0503020204020204" pitchFamily="34" charset="-122"/>
                <a:ea typeface="微软雅黑" panose="020B0503020204020204" pitchFamily="34" charset="-122"/>
                <a:sym typeface="+mn-ea"/>
              </a:rPr>
              <a:t>：</a:t>
            </a:r>
          </a:p>
          <a:p>
            <a:pPr marL="171450" lvl="0" indent="-171450" algn="l">
              <a:lnSpc>
                <a:spcPct val="115000"/>
              </a:lnSpc>
              <a:spcBef>
                <a:spcPts val="0"/>
              </a:spcBef>
              <a:spcAft>
                <a:spcPts val="300"/>
              </a:spcAft>
              <a:buClrTx/>
              <a:buSzTx/>
              <a:buFont typeface="Arial" panose="020B0604020202020204" pitchFamily="34" charset="0"/>
              <a:buChar char="•"/>
            </a:pPr>
            <a:r>
              <a:rPr lang="zh-CN" altLang="en-US" sz="1200" b="1" spc="100" dirty="0">
                <a:solidFill>
                  <a:schemeClr val="tx1"/>
                </a:solidFill>
                <a:latin typeface="微软雅黑" panose="020B0503020204020204" pitchFamily="34" charset="-122"/>
                <a:ea typeface="微软雅黑" panose="020B0503020204020204" pitchFamily="34" charset="-122"/>
                <a:sym typeface="+mn-ea"/>
              </a:rPr>
              <a:t>更新最新配置清单并提醒</a:t>
            </a:r>
          </a:p>
          <a:p>
            <a:pPr lvl="0" indent="0" algn="l">
              <a:lnSpc>
                <a:spcPct val="115000"/>
              </a:lnSpc>
              <a:spcBef>
                <a:spcPts val="0"/>
              </a:spcBef>
              <a:spcAft>
                <a:spcPts val="300"/>
              </a:spcAft>
              <a:buClrTx/>
              <a:buSzTx/>
              <a:buFont typeface="Arial" panose="020B0604020202020204" pitchFamily="34" charset="0"/>
              <a:buNone/>
            </a:pPr>
            <a:r>
              <a:rPr lang="en-US" altLang="zh-CN" sz="1200" b="1" spc="100" dirty="0">
                <a:solidFill>
                  <a:schemeClr val="tx1"/>
                </a:solidFill>
                <a:latin typeface="微软雅黑" panose="020B0503020204020204" pitchFamily="34" charset="-122"/>
                <a:ea typeface="微软雅黑" panose="020B0503020204020204" pitchFamily="34" charset="-122"/>
                <a:sym typeface="+mn-ea"/>
              </a:rPr>
              <a:t>CRM</a:t>
            </a:r>
            <a:r>
              <a:rPr lang="zh-CN" altLang="en-US" sz="1200" b="1" spc="100" dirty="0">
                <a:solidFill>
                  <a:schemeClr val="tx1"/>
                </a:solidFill>
                <a:latin typeface="微软雅黑" panose="020B0503020204020204" pitchFamily="34" charset="-122"/>
                <a:ea typeface="微软雅黑" panose="020B0503020204020204" pitchFamily="34" charset="-122"/>
                <a:sym typeface="+mn-ea"/>
              </a:rPr>
              <a:t>：</a:t>
            </a:r>
          </a:p>
          <a:p>
            <a:pPr marL="171450" lvl="0" indent="-171450" algn="l">
              <a:lnSpc>
                <a:spcPct val="115000"/>
              </a:lnSpc>
              <a:spcBef>
                <a:spcPts val="0"/>
              </a:spcBef>
              <a:spcAft>
                <a:spcPts val="300"/>
              </a:spcAft>
              <a:buClrTx/>
              <a:buSzTx/>
              <a:buFont typeface="Arial" panose="020B0604020202020204" pitchFamily="34" charset="0"/>
              <a:buChar char="•"/>
            </a:pPr>
            <a:r>
              <a:rPr lang="zh-CN" altLang="en-US" sz="1200" b="1" spc="100" dirty="0">
                <a:solidFill>
                  <a:schemeClr val="tx1"/>
                </a:solidFill>
                <a:latin typeface="微软雅黑" panose="020B0503020204020204" pitchFamily="34" charset="-122"/>
                <a:ea typeface="微软雅黑" panose="020B0503020204020204" pitchFamily="34" charset="-122"/>
                <a:sym typeface="+mn-ea"/>
              </a:rPr>
              <a:t>预测类别调整后评分校验</a:t>
            </a:r>
          </a:p>
          <a:p>
            <a:pPr marL="171450" lvl="0" indent="-171450" algn="l">
              <a:lnSpc>
                <a:spcPct val="115000"/>
              </a:lnSpc>
              <a:spcBef>
                <a:spcPts val="0"/>
              </a:spcBef>
              <a:spcAft>
                <a:spcPts val="300"/>
              </a:spcAft>
              <a:buClrTx/>
              <a:buSzTx/>
              <a:buFont typeface="Arial" panose="020B0604020202020204" pitchFamily="34" charset="0"/>
              <a:buChar char="•"/>
            </a:pPr>
            <a:r>
              <a:rPr lang="zh-CN" altLang="en-US" sz="1200" b="1" spc="100" dirty="0">
                <a:solidFill>
                  <a:schemeClr val="tx1"/>
                </a:solidFill>
                <a:latin typeface="微软雅黑" panose="020B0503020204020204" pitchFamily="34" charset="-122"/>
                <a:ea typeface="微软雅黑" panose="020B0503020204020204" pitchFamily="34" charset="-122"/>
                <a:sym typeface="+mn-ea"/>
              </a:rPr>
              <a:t>预测类别调整提醒功能</a:t>
            </a:r>
          </a:p>
          <a:p>
            <a:pPr marL="171450" lvl="0" indent="-171450" algn="l">
              <a:lnSpc>
                <a:spcPct val="115000"/>
              </a:lnSpc>
              <a:spcBef>
                <a:spcPts val="0"/>
              </a:spcBef>
              <a:spcAft>
                <a:spcPts val="300"/>
              </a:spcAft>
              <a:buClrTx/>
              <a:buSzTx/>
              <a:buFont typeface="Arial" panose="020B0604020202020204" pitchFamily="34" charset="0"/>
              <a:buChar char="•"/>
            </a:pPr>
            <a:r>
              <a:rPr lang="zh-CN" altLang="en-US" sz="1200" b="1" spc="100" dirty="0">
                <a:solidFill>
                  <a:schemeClr val="tx1"/>
                </a:solidFill>
                <a:latin typeface="微软雅黑" panose="020B0503020204020204" pitchFamily="34" charset="-122"/>
                <a:ea typeface="微软雅黑" panose="020B0503020204020204" pitchFamily="34" charset="-122"/>
                <a:sym typeface="+mn-ea"/>
              </a:rPr>
              <a:t>开标时间触发提醒</a:t>
            </a:r>
          </a:p>
          <a:p>
            <a:pPr marL="171450" lvl="0" indent="-171450" algn="l">
              <a:lnSpc>
                <a:spcPct val="115000"/>
              </a:lnSpc>
              <a:spcBef>
                <a:spcPts val="0"/>
              </a:spcBef>
              <a:spcAft>
                <a:spcPts val="300"/>
              </a:spcAft>
              <a:buClrTx/>
              <a:buSzTx/>
              <a:buFont typeface="Arial" panose="020B0604020202020204" pitchFamily="34" charset="0"/>
              <a:buChar char="•"/>
            </a:pPr>
            <a:r>
              <a:rPr lang="zh-CN" altLang="en-US" sz="1200" b="1" spc="100" dirty="0">
                <a:solidFill>
                  <a:schemeClr val="tx1"/>
                </a:solidFill>
                <a:latin typeface="微软雅黑" panose="020B0503020204020204" pitchFamily="34" charset="-122"/>
                <a:ea typeface="微软雅黑" panose="020B0503020204020204" pitchFamily="34" charset="-122"/>
                <a:sym typeface="+mn-ea"/>
              </a:rPr>
              <a:t>增加</a:t>
            </a:r>
            <a:r>
              <a:rPr lang="en-US" altLang="zh-CN" sz="1200" b="1" spc="100" dirty="0">
                <a:solidFill>
                  <a:schemeClr val="tx1"/>
                </a:solidFill>
                <a:latin typeface="微软雅黑" panose="020B0503020204020204" pitchFamily="34" charset="-122"/>
                <a:ea typeface="微软雅黑" panose="020B0503020204020204" pitchFamily="34" charset="-122"/>
                <a:sym typeface="+mn-ea"/>
              </a:rPr>
              <a:t>SLA</a:t>
            </a:r>
            <a:r>
              <a:rPr lang="zh-CN" altLang="en-US" sz="1200" b="1" spc="100" dirty="0">
                <a:solidFill>
                  <a:schemeClr val="tx1"/>
                </a:solidFill>
                <a:latin typeface="微软雅黑" panose="020B0503020204020204" pitchFamily="34" charset="-122"/>
                <a:ea typeface="微软雅黑" panose="020B0503020204020204" pitchFamily="34" charset="-122"/>
                <a:sym typeface="+mn-ea"/>
              </a:rPr>
              <a:t>字段</a:t>
            </a:r>
          </a:p>
          <a:p>
            <a:pPr marL="171450" lvl="0" indent="-171450" algn="l">
              <a:lnSpc>
                <a:spcPct val="115000"/>
              </a:lnSpc>
              <a:spcBef>
                <a:spcPts val="0"/>
              </a:spcBef>
              <a:spcAft>
                <a:spcPts val="300"/>
              </a:spcAft>
              <a:buClrTx/>
              <a:buSzTx/>
              <a:buFont typeface="Arial" panose="020B0604020202020204" pitchFamily="34" charset="0"/>
              <a:buChar char="•"/>
            </a:pPr>
            <a:r>
              <a:rPr lang="zh-CN" altLang="en-US" sz="1200" b="1" spc="100" dirty="0">
                <a:solidFill>
                  <a:schemeClr val="tx1"/>
                </a:solidFill>
                <a:latin typeface="微软雅黑" panose="020B0503020204020204" pitchFamily="34" charset="-122"/>
                <a:ea typeface="微软雅黑" panose="020B0503020204020204" pitchFamily="34" charset="-122"/>
                <a:sym typeface="+mn-ea"/>
              </a:rPr>
              <a:t>预计下单时间和要货时间约束关系及提醒</a:t>
            </a:r>
          </a:p>
          <a:p>
            <a:pPr marL="171450" lvl="0" indent="-171450" algn="l">
              <a:lnSpc>
                <a:spcPct val="115000"/>
              </a:lnSpc>
              <a:spcBef>
                <a:spcPts val="0"/>
              </a:spcBef>
              <a:spcAft>
                <a:spcPts val="300"/>
              </a:spcAft>
              <a:buClrTx/>
              <a:buSzTx/>
              <a:buFont typeface="Arial" panose="020B0604020202020204" pitchFamily="34" charset="0"/>
              <a:buChar char="•"/>
            </a:pPr>
            <a:r>
              <a:rPr lang="en-US" altLang="zh-CN" sz="1200" b="1" spc="100" dirty="0">
                <a:solidFill>
                  <a:schemeClr val="tx1"/>
                </a:solidFill>
                <a:latin typeface="微软雅黑" panose="020B0503020204020204" pitchFamily="34" charset="-122"/>
                <a:ea typeface="微软雅黑" panose="020B0503020204020204" pitchFamily="34" charset="-122"/>
                <a:sym typeface="+mn-ea"/>
              </a:rPr>
              <a:t>3T</a:t>
            </a:r>
            <a:r>
              <a:rPr lang="zh-CN" altLang="en-US" sz="1200" b="1" spc="100" dirty="0">
                <a:solidFill>
                  <a:schemeClr val="tx1"/>
                </a:solidFill>
                <a:latin typeface="微软雅黑" panose="020B0503020204020204" pitchFamily="34" charset="-122"/>
                <a:ea typeface="微软雅黑" panose="020B0503020204020204" pitchFamily="34" charset="-122"/>
                <a:sym typeface="+mn-ea"/>
              </a:rPr>
              <a:t>超期提醒</a:t>
            </a:r>
          </a:p>
          <a:p>
            <a:pPr marL="171450" lvl="0" indent="-171450" algn="l">
              <a:lnSpc>
                <a:spcPct val="115000"/>
              </a:lnSpc>
              <a:spcBef>
                <a:spcPts val="0"/>
              </a:spcBef>
              <a:spcAft>
                <a:spcPts val="300"/>
              </a:spcAft>
              <a:buClrTx/>
              <a:buSzTx/>
              <a:buFont typeface="Arial" panose="020B0604020202020204" pitchFamily="34" charset="0"/>
              <a:buChar char="•"/>
            </a:pPr>
            <a:endParaRPr lang="zh-CN" altLang="en-US" sz="1200" b="1" spc="100" dirty="0">
              <a:solidFill>
                <a:schemeClr val="tx1"/>
              </a:solidFill>
              <a:latin typeface="微软雅黑" panose="020B0503020204020204" pitchFamily="34" charset="-122"/>
              <a:ea typeface="微软雅黑" panose="020B0503020204020204" pitchFamily="34" charset="-122"/>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custDataLst>
              <p:tags r:id="rId1"/>
            </p:custDataLst>
          </p:nvPr>
        </p:nvSpPr>
        <p:spPr/>
        <p:txBody>
          <a:bodyPr/>
          <a:lstStyle/>
          <a:p>
            <a:r>
              <a:rPr lang="en-US" altLang="zh-CN"/>
              <a:t>IT</a:t>
            </a:r>
            <a:r>
              <a:t>上线后的运营支持模式</a:t>
            </a:r>
          </a:p>
        </p:txBody>
      </p:sp>
      <p:sp>
        <p:nvSpPr>
          <p:cNvPr id="6" name="矩形 5"/>
          <p:cNvSpPr/>
          <p:nvPr/>
        </p:nvSpPr>
        <p:spPr>
          <a:xfrm>
            <a:off x="426085" y="1253490"/>
            <a:ext cx="1744980" cy="69659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t>用户遇到问题</a:t>
            </a:r>
          </a:p>
        </p:txBody>
      </p:sp>
      <p:sp>
        <p:nvSpPr>
          <p:cNvPr id="8" name="矩形 7"/>
          <p:cNvSpPr/>
          <p:nvPr/>
        </p:nvSpPr>
        <p:spPr>
          <a:xfrm>
            <a:off x="3198495" y="1253490"/>
            <a:ext cx="1698625" cy="69659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t>联系销管</a:t>
            </a:r>
            <a:r>
              <a:rPr lang="en-US" altLang="zh-CN"/>
              <a:t>BP</a:t>
            </a:r>
          </a:p>
        </p:txBody>
      </p:sp>
      <p:cxnSp>
        <p:nvCxnSpPr>
          <p:cNvPr id="12" name="肘形连接符 11"/>
          <p:cNvCxnSpPr>
            <a:stCxn id="6" idx="3"/>
            <a:endCxn id="8" idx="1"/>
          </p:cNvCxnSpPr>
          <p:nvPr/>
        </p:nvCxnSpPr>
        <p:spPr>
          <a:xfrm>
            <a:off x="2171065" y="1602105"/>
            <a:ext cx="1027430" cy="317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15" name="流程图: 决策 14"/>
          <p:cNvSpPr/>
          <p:nvPr/>
        </p:nvSpPr>
        <p:spPr>
          <a:xfrm>
            <a:off x="3096895" y="2504440"/>
            <a:ext cx="1898650" cy="1045210"/>
          </a:xfrm>
          <a:prstGeom prst="flowChartDecision">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t>是否</a:t>
            </a:r>
            <a:r>
              <a:rPr lang="en-US" altLang="zh-CN"/>
              <a:t>IT</a:t>
            </a:r>
            <a:r>
              <a:rPr lang="zh-CN" altLang="en-US"/>
              <a:t>问题</a:t>
            </a:r>
          </a:p>
        </p:txBody>
      </p:sp>
      <p:cxnSp>
        <p:nvCxnSpPr>
          <p:cNvPr id="17" name="肘形连接符 16"/>
          <p:cNvCxnSpPr>
            <a:stCxn id="8" idx="2"/>
          </p:cNvCxnSpPr>
          <p:nvPr/>
        </p:nvCxnSpPr>
        <p:spPr>
          <a:xfrm rot="5400000">
            <a:off x="3769360" y="2225675"/>
            <a:ext cx="554355" cy="3175"/>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sp>
        <p:nvSpPr>
          <p:cNvPr id="18" name="矩形 17"/>
          <p:cNvSpPr/>
          <p:nvPr/>
        </p:nvSpPr>
        <p:spPr>
          <a:xfrm>
            <a:off x="3198495" y="4048760"/>
            <a:ext cx="1698625" cy="69659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en-US" altLang="zh-CN"/>
              <a:t>BP</a:t>
            </a:r>
            <a:r>
              <a:rPr lang="zh-CN" altLang="en-US"/>
              <a:t>帮助解决问题并讲解培训</a:t>
            </a:r>
          </a:p>
        </p:txBody>
      </p:sp>
      <p:cxnSp>
        <p:nvCxnSpPr>
          <p:cNvPr id="24" name="肘形连接符 23"/>
          <p:cNvCxnSpPr>
            <a:stCxn id="15" idx="2"/>
            <a:endCxn id="18" idx="0"/>
          </p:cNvCxnSpPr>
          <p:nvPr/>
        </p:nvCxnSpPr>
        <p:spPr>
          <a:xfrm rot="5400000" flipV="1">
            <a:off x="3797618" y="3798253"/>
            <a:ext cx="499110" cy="1905"/>
          </a:xfrm>
          <a:prstGeom prst="bentConnector3">
            <a:avLst>
              <a:gd name="adj1" fmla="val 49936"/>
            </a:avLst>
          </a:prstGeom>
          <a:ln>
            <a:tailEnd type="arrow"/>
          </a:ln>
        </p:spPr>
        <p:style>
          <a:lnRef idx="2">
            <a:schemeClr val="accent1"/>
          </a:lnRef>
          <a:fillRef idx="0">
            <a:srgbClr val="FFFFFF"/>
          </a:fillRef>
          <a:effectRef idx="0">
            <a:srgbClr val="FFFFFF"/>
          </a:effectRef>
          <a:fontRef idx="minor">
            <a:schemeClr val="tx1"/>
          </a:fontRef>
        </p:style>
      </p:cxnSp>
      <p:sp>
        <p:nvSpPr>
          <p:cNvPr id="26" name="文本框 25"/>
          <p:cNvSpPr txBox="1"/>
          <p:nvPr/>
        </p:nvSpPr>
        <p:spPr>
          <a:xfrm>
            <a:off x="4098122" y="3592281"/>
            <a:ext cx="411480" cy="368300"/>
          </a:xfrm>
          <a:prstGeom prst="rect">
            <a:avLst/>
          </a:prstGeom>
          <a:noFill/>
        </p:spPr>
        <p:txBody>
          <a:bodyPr wrap="none" rtlCol="0">
            <a:spAutoFit/>
          </a:bodyPr>
          <a:lstStyle/>
          <a:p>
            <a:r>
              <a:rPr lang="zh-CN" altLang="en-US" b="1" dirty="0"/>
              <a:t>否</a:t>
            </a:r>
          </a:p>
        </p:txBody>
      </p:sp>
      <p:sp>
        <p:nvSpPr>
          <p:cNvPr id="28" name="矩形 27"/>
          <p:cNvSpPr/>
          <p:nvPr/>
        </p:nvSpPr>
        <p:spPr>
          <a:xfrm>
            <a:off x="3198495" y="5403215"/>
            <a:ext cx="1698625" cy="696595"/>
          </a:xfrm>
          <a:prstGeom prst="rect">
            <a:avLst/>
          </a:prstGeom>
          <a:solidFill>
            <a:schemeClr val="bg1"/>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solidFill>
                  <a:schemeClr val="tx1"/>
                </a:solidFill>
              </a:rPr>
              <a:t>疑难问题寻求项目组支持</a:t>
            </a:r>
          </a:p>
        </p:txBody>
      </p:sp>
      <p:cxnSp>
        <p:nvCxnSpPr>
          <p:cNvPr id="29" name="肘形连接符 28"/>
          <p:cNvCxnSpPr>
            <a:stCxn id="28" idx="0"/>
            <a:endCxn id="18" idx="2"/>
          </p:cNvCxnSpPr>
          <p:nvPr/>
        </p:nvCxnSpPr>
        <p:spPr>
          <a:xfrm rot="16200000">
            <a:off x="3719195" y="5074285"/>
            <a:ext cx="657860" cy="3175"/>
          </a:xfrm>
          <a:prstGeom prst="bentConnector2">
            <a:avLst/>
          </a:prstGeom>
          <a:ln>
            <a:tailEnd type="arrow"/>
          </a:ln>
        </p:spPr>
        <p:style>
          <a:lnRef idx="2">
            <a:schemeClr val="accent1"/>
          </a:lnRef>
          <a:fillRef idx="0">
            <a:srgbClr val="FFFFFF"/>
          </a:fillRef>
          <a:effectRef idx="0">
            <a:srgbClr val="FFFFFF"/>
          </a:effectRef>
          <a:fontRef idx="minor">
            <a:schemeClr val="tx1"/>
          </a:fontRef>
        </p:style>
      </p:cxnSp>
      <p:sp>
        <p:nvSpPr>
          <p:cNvPr id="30" name="矩形 29"/>
          <p:cNvSpPr/>
          <p:nvPr/>
        </p:nvSpPr>
        <p:spPr>
          <a:xfrm>
            <a:off x="6204585" y="1253490"/>
            <a:ext cx="5560060" cy="696595"/>
          </a:xfrm>
          <a:prstGeom prst="rect">
            <a:avLst/>
          </a:prstGeom>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r>
              <a:rPr lang="zh-CN" altLang="en-US"/>
              <a:t>寻求</a:t>
            </a:r>
            <a:r>
              <a:rPr lang="en-US" altLang="zh-CN"/>
              <a:t>IT</a:t>
            </a:r>
            <a:r>
              <a:rPr lang="zh-CN" altLang="en-US"/>
              <a:t>支持</a:t>
            </a:r>
          </a:p>
        </p:txBody>
      </p:sp>
      <p:cxnSp>
        <p:nvCxnSpPr>
          <p:cNvPr id="31" name="肘形连接符 30"/>
          <p:cNvCxnSpPr>
            <a:stCxn id="15" idx="3"/>
            <a:endCxn id="30" idx="1"/>
          </p:cNvCxnSpPr>
          <p:nvPr/>
        </p:nvCxnSpPr>
        <p:spPr>
          <a:xfrm flipV="1">
            <a:off x="4995545" y="1602105"/>
            <a:ext cx="1209040" cy="1424940"/>
          </a:xfrm>
          <a:prstGeom prst="bentConnector3">
            <a:avLst>
              <a:gd name="adj1" fmla="val 50000"/>
            </a:avLst>
          </a:prstGeom>
          <a:ln>
            <a:tailEnd type="arrow"/>
          </a:ln>
        </p:spPr>
        <p:style>
          <a:lnRef idx="2">
            <a:schemeClr val="accent1"/>
          </a:lnRef>
          <a:fillRef idx="0">
            <a:srgbClr val="FFFFFF"/>
          </a:fillRef>
          <a:effectRef idx="0">
            <a:srgbClr val="FFFFFF"/>
          </a:effectRef>
          <a:fontRef idx="minor">
            <a:schemeClr val="tx1"/>
          </a:fontRef>
        </p:style>
      </p:cxnSp>
      <p:sp>
        <p:nvSpPr>
          <p:cNvPr id="32" name="文本框 31"/>
          <p:cNvSpPr txBox="1"/>
          <p:nvPr/>
        </p:nvSpPr>
        <p:spPr>
          <a:xfrm>
            <a:off x="5086817" y="2601046"/>
            <a:ext cx="411480" cy="368300"/>
          </a:xfrm>
          <a:prstGeom prst="rect">
            <a:avLst/>
          </a:prstGeom>
          <a:noFill/>
        </p:spPr>
        <p:txBody>
          <a:bodyPr wrap="none" rtlCol="0">
            <a:spAutoFit/>
          </a:bodyPr>
          <a:lstStyle/>
          <a:p>
            <a:r>
              <a:rPr lang="zh-CN" altLang="en-US" b="1" dirty="0"/>
              <a:t>是</a:t>
            </a:r>
          </a:p>
        </p:txBody>
      </p:sp>
      <p:pic>
        <p:nvPicPr>
          <p:cNvPr id="33" name="图片 32"/>
          <p:cNvPicPr>
            <a:picLocks noChangeAspect="1"/>
          </p:cNvPicPr>
          <p:nvPr/>
        </p:nvPicPr>
        <p:blipFill>
          <a:blip r:embed="rId3"/>
          <a:stretch>
            <a:fillRect/>
          </a:stretch>
        </p:blipFill>
        <p:spPr>
          <a:xfrm>
            <a:off x="6352540" y="2898775"/>
            <a:ext cx="2997200" cy="3200400"/>
          </a:xfrm>
          <a:prstGeom prst="rect">
            <a:avLst/>
          </a:prstGeom>
        </p:spPr>
      </p:pic>
      <p:sp>
        <p:nvSpPr>
          <p:cNvPr id="34" name="文本框 33"/>
          <p:cNvSpPr txBox="1"/>
          <p:nvPr/>
        </p:nvSpPr>
        <p:spPr>
          <a:xfrm>
            <a:off x="6713052" y="2232746"/>
            <a:ext cx="2011680" cy="368300"/>
          </a:xfrm>
          <a:prstGeom prst="rect">
            <a:avLst/>
          </a:prstGeom>
          <a:noFill/>
        </p:spPr>
        <p:txBody>
          <a:bodyPr wrap="none" rtlCol="0">
            <a:spAutoFit/>
          </a:bodyPr>
          <a:lstStyle/>
          <a:p>
            <a:r>
              <a:rPr lang="zh-CN" altLang="en-US" b="1" dirty="0"/>
              <a:t>紧急问题扫描进群</a:t>
            </a:r>
          </a:p>
        </p:txBody>
      </p:sp>
      <p:sp>
        <p:nvSpPr>
          <p:cNvPr id="35" name="矩形 34"/>
          <p:cNvSpPr/>
          <p:nvPr/>
        </p:nvSpPr>
        <p:spPr>
          <a:xfrm>
            <a:off x="6204585" y="1254125"/>
            <a:ext cx="5543550" cy="5420360"/>
          </a:xfrm>
          <a:prstGeom prst="rect">
            <a:avLst/>
          </a:prstGeom>
          <a:no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36" name="文本框 35"/>
          <p:cNvSpPr txBox="1"/>
          <p:nvPr/>
        </p:nvSpPr>
        <p:spPr>
          <a:xfrm>
            <a:off x="9507687" y="2232746"/>
            <a:ext cx="2240280" cy="368300"/>
          </a:xfrm>
          <a:prstGeom prst="rect">
            <a:avLst/>
          </a:prstGeom>
          <a:noFill/>
        </p:spPr>
        <p:txBody>
          <a:bodyPr wrap="none" rtlCol="0">
            <a:spAutoFit/>
          </a:bodyPr>
          <a:lstStyle/>
          <a:p>
            <a:r>
              <a:rPr lang="zh-CN" altLang="en-US" b="1" dirty="0"/>
              <a:t>非紧急问题文档登记</a:t>
            </a:r>
          </a:p>
        </p:txBody>
      </p:sp>
      <p:cxnSp>
        <p:nvCxnSpPr>
          <p:cNvPr id="37" name="直接连接符 36"/>
          <p:cNvCxnSpPr/>
          <p:nvPr/>
        </p:nvCxnSpPr>
        <p:spPr>
          <a:xfrm>
            <a:off x="9408160" y="2007870"/>
            <a:ext cx="0" cy="4534535"/>
          </a:xfrm>
          <a:prstGeom prst="line">
            <a:avLst/>
          </a:prstGeom>
        </p:spPr>
        <p:style>
          <a:lnRef idx="2">
            <a:schemeClr val="accent1"/>
          </a:lnRef>
          <a:fillRef idx="0">
            <a:srgbClr val="FFFFFF"/>
          </a:fillRef>
          <a:effectRef idx="0">
            <a:srgbClr val="FFFFFF"/>
          </a:effectRef>
          <a:fontRef idx="minor">
            <a:schemeClr val="tx1"/>
          </a:fontRef>
        </p:style>
      </p:cxnSp>
      <p:sp>
        <p:nvSpPr>
          <p:cNvPr id="38" name="文本框 37"/>
          <p:cNvSpPr txBox="1"/>
          <p:nvPr/>
        </p:nvSpPr>
        <p:spPr>
          <a:xfrm>
            <a:off x="9544050" y="2883535"/>
            <a:ext cx="2063115" cy="1476375"/>
          </a:xfrm>
          <a:prstGeom prst="rect">
            <a:avLst/>
          </a:prstGeom>
          <a:noFill/>
        </p:spPr>
        <p:txBody>
          <a:bodyPr wrap="square" rtlCol="0" anchor="t">
            <a:spAutoFit/>
          </a:bodyPr>
          <a:lstStyle/>
          <a:p>
            <a:r>
              <a:rPr lang="en-US" altLang="zh-CN">
                <a:hlinkClick r:id="rId4" action="ppaction://hlinkfile"/>
              </a:rPr>
              <a:t>https://ruijie.feishu.cn/wiki/TMaswNzy1i6SN4kapXkcL4LNnWf?sheet=2ac8c6</a:t>
            </a:r>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35663A95-522B-AB8C-4C11-62789A50814E}"/>
            </a:ext>
          </a:extLst>
        </p:cNvPr>
        <p:cNvGrpSpPr/>
        <p:nvPr/>
      </p:nvGrpSpPr>
      <p:grpSpPr>
        <a:xfrm>
          <a:off x="0" y="0"/>
          <a:ext cx="0" cy="0"/>
          <a:chOff x="0" y="0"/>
          <a:chExt cx="0" cy="0"/>
        </a:xfrm>
      </p:grpSpPr>
      <p:sp>
        <p:nvSpPr>
          <p:cNvPr id="2" name="文本占位符 1">
            <a:extLst>
              <a:ext uri="{FF2B5EF4-FFF2-40B4-BE49-F238E27FC236}">
                <a16:creationId xmlns="" xmlns:a16="http://schemas.microsoft.com/office/drawing/2014/main" id="{7A6F3A00-6A02-490D-D353-553BD9502AC3}"/>
              </a:ext>
            </a:extLst>
          </p:cNvPr>
          <p:cNvSpPr>
            <a:spLocks noGrp="1"/>
          </p:cNvSpPr>
          <p:nvPr>
            <p:ph type="body" sz="quarter" idx="13"/>
          </p:nvPr>
        </p:nvSpPr>
        <p:spPr/>
        <p:txBody>
          <a:bodyPr/>
          <a:lstStyle/>
          <a:p>
            <a:r>
              <a:rPr lang="zh-CN" altLang="en-US" dirty="0"/>
              <a:t>行动计划</a:t>
            </a:r>
          </a:p>
        </p:txBody>
      </p:sp>
      <p:graphicFrame>
        <p:nvGraphicFramePr>
          <p:cNvPr id="4" name="表格 3">
            <a:extLst>
              <a:ext uri="{FF2B5EF4-FFF2-40B4-BE49-F238E27FC236}">
                <a16:creationId xmlns="" xmlns:a16="http://schemas.microsoft.com/office/drawing/2014/main" id="{5A174FEE-12C5-6FDF-F879-0C946203F426}"/>
              </a:ext>
            </a:extLst>
          </p:cNvPr>
          <p:cNvGraphicFramePr>
            <a:graphicFrameLocks noGrp="1"/>
          </p:cNvGraphicFramePr>
          <p:nvPr>
            <p:extLst>
              <p:ext uri="{D42A27DB-BD31-4B8C-83A1-F6EECF244321}">
                <p14:modId xmlns:p14="http://schemas.microsoft.com/office/powerpoint/2010/main" val="4157613950"/>
              </p:ext>
            </p:extLst>
          </p:nvPr>
        </p:nvGraphicFramePr>
        <p:xfrm>
          <a:off x="660172" y="953038"/>
          <a:ext cx="10871655" cy="5467220"/>
        </p:xfrm>
        <a:graphic>
          <a:graphicData uri="http://schemas.openxmlformats.org/drawingml/2006/table">
            <a:tbl>
              <a:tblPr firstRow="1" bandRow="1">
                <a:tableStyleId>{5C22544A-7EE6-4342-B048-85BDC9FD1C3A}</a:tableStyleId>
              </a:tblPr>
              <a:tblGrid>
                <a:gridCol w="2481279">
                  <a:extLst>
                    <a:ext uri="{9D8B030D-6E8A-4147-A177-3AD203B41FA5}">
                      <a16:colId xmlns="" xmlns:a16="http://schemas.microsoft.com/office/drawing/2014/main" val="2319637165"/>
                    </a:ext>
                  </a:extLst>
                </a:gridCol>
                <a:gridCol w="5548766">
                  <a:extLst>
                    <a:ext uri="{9D8B030D-6E8A-4147-A177-3AD203B41FA5}">
                      <a16:colId xmlns="" xmlns:a16="http://schemas.microsoft.com/office/drawing/2014/main" val="3858507999"/>
                    </a:ext>
                  </a:extLst>
                </a:gridCol>
                <a:gridCol w="1205531">
                  <a:extLst>
                    <a:ext uri="{9D8B030D-6E8A-4147-A177-3AD203B41FA5}">
                      <a16:colId xmlns="" xmlns:a16="http://schemas.microsoft.com/office/drawing/2014/main" val="2956090986"/>
                    </a:ext>
                  </a:extLst>
                </a:gridCol>
                <a:gridCol w="1636079">
                  <a:extLst>
                    <a:ext uri="{9D8B030D-6E8A-4147-A177-3AD203B41FA5}">
                      <a16:colId xmlns="" xmlns:a16="http://schemas.microsoft.com/office/drawing/2014/main" val="1070083754"/>
                    </a:ext>
                  </a:extLst>
                </a:gridCol>
              </a:tblGrid>
              <a:tr h="346008">
                <a:tc>
                  <a:txBody>
                    <a:bodyPr/>
                    <a:lstStyle/>
                    <a:p>
                      <a:pPr>
                        <a:lnSpc>
                          <a:spcPct val="150000"/>
                        </a:lnSpc>
                      </a:pPr>
                      <a:r>
                        <a:rPr lang="zh-CN" altLang="en-US" sz="1100" dirty="0"/>
                        <a:t>行动项</a:t>
                      </a:r>
                    </a:p>
                  </a:txBody>
                  <a:tcPr anchor="ctr"/>
                </a:tc>
                <a:tc>
                  <a:txBody>
                    <a:bodyPr/>
                    <a:lstStyle/>
                    <a:p>
                      <a:pPr>
                        <a:lnSpc>
                          <a:spcPct val="150000"/>
                        </a:lnSpc>
                      </a:pPr>
                      <a:r>
                        <a:rPr lang="zh-CN" altLang="en-US" sz="1100" dirty="0"/>
                        <a:t>具体动作</a:t>
                      </a:r>
                    </a:p>
                  </a:txBody>
                  <a:tcPr anchor="ctr"/>
                </a:tc>
                <a:tc>
                  <a:txBody>
                    <a:bodyPr/>
                    <a:lstStyle/>
                    <a:p>
                      <a:pPr>
                        <a:lnSpc>
                          <a:spcPct val="150000"/>
                        </a:lnSpc>
                      </a:pPr>
                      <a:r>
                        <a:rPr lang="zh-CN" altLang="en-US" sz="1100" dirty="0"/>
                        <a:t>完成时间</a:t>
                      </a:r>
                    </a:p>
                  </a:txBody>
                  <a:tcPr anchor="ctr"/>
                </a:tc>
                <a:tc>
                  <a:txBody>
                    <a:bodyPr/>
                    <a:lstStyle/>
                    <a:p>
                      <a:pPr>
                        <a:lnSpc>
                          <a:spcPct val="150000"/>
                        </a:lnSpc>
                      </a:pPr>
                      <a:r>
                        <a:rPr lang="zh-CN" altLang="en-US" sz="1100" dirty="0"/>
                        <a:t>责任人</a:t>
                      </a:r>
                    </a:p>
                  </a:txBody>
                  <a:tcPr anchor="ctr"/>
                </a:tc>
                <a:extLst>
                  <a:ext uri="{0D108BD9-81ED-4DB2-BD59-A6C34878D82A}">
                    <a16:rowId xmlns="" xmlns:a16="http://schemas.microsoft.com/office/drawing/2014/main" val="4159804932"/>
                  </a:ext>
                </a:extLst>
              </a:tr>
              <a:tr h="938081">
                <a:tc>
                  <a:txBody>
                    <a:bodyPr/>
                    <a:lstStyle/>
                    <a:p>
                      <a:pPr>
                        <a:lnSpc>
                          <a:spcPct val="150000"/>
                        </a:lnSpc>
                      </a:pPr>
                      <a:r>
                        <a:rPr lang="zh-CN" altLang="en-US" sz="1100" dirty="0"/>
                        <a:t>漏斗外进漏斗内项目</a:t>
                      </a:r>
                      <a:endParaRPr lang="en-US" altLang="zh-CN" sz="1100" dirty="0"/>
                    </a:p>
                    <a:p>
                      <a:pPr>
                        <a:lnSpc>
                          <a:spcPct val="150000"/>
                        </a:lnSpc>
                      </a:pPr>
                      <a:r>
                        <a:rPr lang="zh-CN" altLang="en-US" sz="1100" dirty="0"/>
                        <a:t>按照新的标准和流程执行</a:t>
                      </a:r>
                    </a:p>
                  </a:txBody>
                  <a:tcPr anchor="ctr"/>
                </a:tc>
                <a:tc>
                  <a:txBody>
                    <a:bodyPr/>
                    <a:lstStyle/>
                    <a:p>
                      <a:pPr>
                        <a:lnSpc>
                          <a:spcPct val="150000"/>
                        </a:lnSpc>
                      </a:pPr>
                      <a:r>
                        <a:rPr lang="en-US" altLang="zh-CN" sz="1100" dirty="0"/>
                        <a:t>1</a:t>
                      </a:r>
                      <a:r>
                        <a:rPr lang="zh-CN" altLang="en-US" sz="1100" dirty="0"/>
                        <a:t>、产品清单可信度达标后，方可分享销售。</a:t>
                      </a:r>
                      <a:endParaRPr lang="en-US" altLang="zh-CN" sz="1100" dirty="0"/>
                    </a:p>
                    <a:p>
                      <a:pPr>
                        <a:lnSpc>
                          <a:spcPct val="150000"/>
                        </a:lnSpc>
                      </a:pPr>
                      <a:r>
                        <a:rPr lang="en-US" altLang="zh-CN" sz="1100" dirty="0"/>
                        <a:t>2</a:t>
                      </a:r>
                      <a:r>
                        <a:rPr lang="zh-CN" altLang="en-US" sz="1100" dirty="0"/>
                        <a:t>、销售导入售前分享的清单。</a:t>
                      </a:r>
                      <a:endParaRPr lang="en-US" altLang="zh-CN" sz="1100" dirty="0"/>
                    </a:p>
                    <a:p>
                      <a:pPr>
                        <a:lnSpc>
                          <a:spcPct val="150000"/>
                        </a:lnSpc>
                      </a:pPr>
                      <a:r>
                        <a:rPr lang="en-US" altLang="zh-CN" sz="1100" b="0" dirty="0"/>
                        <a:t>3</a:t>
                      </a:r>
                      <a:r>
                        <a:rPr lang="zh-CN" altLang="en-US" sz="1100" b="0" dirty="0"/>
                        <a:t>、区域经理审批漏斗时验证产品清单可信度。</a:t>
                      </a:r>
                    </a:p>
                  </a:txBody>
                  <a:tcPr anchor="ctr"/>
                </a:tc>
                <a:tc>
                  <a:txBody>
                    <a:bodyPr/>
                    <a:lstStyle/>
                    <a:p>
                      <a:pPr>
                        <a:lnSpc>
                          <a:spcPct val="150000"/>
                        </a:lnSpc>
                      </a:pPr>
                      <a:r>
                        <a:rPr lang="en-US" altLang="zh-CN" sz="1100" dirty="0"/>
                        <a:t>9</a:t>
                      </a:r>
                      <a:r>
                        <a:rPr lang="zh-CN" altLang="en-US" sz="1100" dirty="0"/>
                        <a:t>月</a:t>
                      </a:r>
                      <a:r>
                        <a:rPr lang="en-US" altLang="zh-CN" sz="1100" dirty="0"/>
                        <a:t>11</a:t>
                      </a:r>
                      <a:r>
                        <a:rPr lang="zh-CN" altLang="en-US" sz="1100" dirty="0"/>
                        <a:t>日启用</a:t>
                      </a:r>
                    </a:p>
                  </a:txBody>
                  <a:tcPr anchor="ctr"/>
                </a:tc>
                <a:tc>
                  <a:txBody>
                    <a:bodyPr/>
                    <a:lstStyle/>
                    <a:p>
                      <a:pPr>
                        <a:lnSpc>
                          <a:spcPct val="150000"/>
                        </a:lnSpc>
                      </a:pPr>
                      <a:r>
                        <a:rPr lang="en-US" altLang="zh-CN" sz="1100" dirty="0"/>
                        <a:t>【</a:t>
                      </a:r>
                      <a:r>
                        <a:rPr lang="zh-CN" altLang="en-US" sz="1100" dirty="0"/>
                        <a:t>售前</a:t>
                      </a:r>
                      <a:r>
                        <a:rPr lang="en-US" altLang="zh-CN" sz="1100" dirty="0"/>
                        <a:t>】</a:t>
                      </a:r>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1100" dirty="0"/>
                        <a:t>【</a:t>
                      </a:r>
                      <a:r>
                        <a:rPr lang="zh-CN" altLang="en-US" sz="1100" dirty="0"/>
                        <a:t>销售</a:t>
                      </a:r>
                      <a:r>
                        <a:rPr lang="en-US" altLang="zh-CN" sz="1100" dirty="0"/>
                        <a:t>】</a:t>
                      </a:r>
                      <a:endParaRPr lang="zh-CN" altLang="en-US" sz="1100" dirty="0"/>
                    </a:p>
                    <a:p>
                      <a:pPr>
                        <a:lnSpc>
                          <a:spcPct val="150000"/>
                        </a:lnSpc>
                      </a:pPr>
                      <a:r>
                        <a:rPr lang="en-US" altLang="zh-CN" sz="1100" dirty="0"/>
                        <a:t>【</a:t>
                      </a:r>
                      <a:r>
                        <a:rPr lang="zh-CN" altLang="en-US" sz="1100" dirty="0"/>
                        <a:t>技术经理</a:t>
                      </a:r>
                      <a:r>
                        <a:rPr lang="en-US" altLang="zh-CN" sz="1100" dirty="0"/>
                        <a:t>】</a:t>
                      </a:r>
                      <a:endParaRPr lang="zh-CN" altLang="en-US" sz="1100" dirty="0"/>
                    </a:p>
                  </a:txBody>
                  <a:tcPr anchor="ctr"/>
                </a:tc>
                <a:extLst>
                  <a:ext uri="{0D108BD9-81ED-4DB2-BD59-A6C34878D82A}">
                    <a16:rowId xmlns="" xmlns:a16="http://schemas.microsoft.com/office/drawing/2014/main" val="3613795676"/>
                  </a:ext>
                </a:extLst>
              </a:tr>
              <a:tr h="1028617">
                <a:tc rowSpan="3">
                  <a:txBody>
                    <a:bodyPr/>
                    <a:lstStyle/>
                    <a:p>
                      <a:pPr>
                        <a:lnSpc>
                          <a:spcPct val="150000"/>
                        </a:lnSpc>
                      </a:pPr>
                      <a:r>
                        <a:rPr lang="zh-CN" altLang="en-US" sz="1100" dirty="0"/>
                        <a:t>漏斗内项目</a:t>
                      </a:r>
                      <a:endParaRPr lang="en-US" altLang="zh-CN" sz="1100" dirty="0"/>
                    </a:p>
                    <a:p>
                      <a:pPr>
                        <a:lnSpc>
                          <a:spcPct val="150000"/>
                        </a:lnSpc>
                      </a:pPr>
                      <a:r>
                        <a:rPr lang="zh-CN" altLang="en-US" sz="1100" dirty="0"/>
                        <a:t>产品清单可信度自盘</a:t>
                      </a:r>
                    </a:p>
                  </a:txBody>
                  <a:tcPr anchor="ctr"/>
                </a:tc>
                <a:tc>
                  <a:txBody>
                    <a:bodyPr/>
                    <a:lstStyle/>
                    <a:p>
                      <a:pPr>
                        <a:lnSpc>
                          <a:spcPct val="150000"/>
                        </a:lnSpc>
                      </a:pPr>
                      <a:r>
                        <a:rPr lang="en-US" altLang="zh-CN" sz="1100" dirty="0"/>
                        <a:t>1</a:t>
                      </a:r>
                      <a:r>
                        <a:rPr lang="zh-CN" altLang="en-US" sz="1100" dirty="0"/>
                        <a:t>、所有</a:t>
                      </a:r>
                      <a:r>
                        <a:rPr lang="en-US" altLang="zh-CN" sz="1100" dirty="0"/>
                        <a:t>25</a:t>
                      </a:r>
                      <a:r>
                        <a:rPr lang="zh-CN" altLang="en-US" sz="1100" dirty="0"/>
                        <a:t>年</a:t>
                      </a:r>
                      <a:r>
                        <a:rPr lang="en-US" altLang="zh-CN" sz="1100" dirty="0"/>
                        <a:t>12</a:t>
                      </a:r>
                      <a:r>
                        <a:rPr lang="zh-CN" altLang="en-US" sz="1100" dirty="0"/>
                        <a:t>月</a:t>
                      </a:r>
                      <a:r>
                        <a:rPr lang="en-US" altLang="zh-CN" sz="1100" dirty="0"/>
                        <a:t>20</a:t>
                      </a:r>
                      <a:r>
                        <a:rPr lang="zh-CN" altLang="en-US" sz="1100" dirty="0"/>
                        <a:t>日前开标项目；</a:t>
                      </a:r>
                      <a:endParaRPr lang="en-US" altLang="zh-CN" sz="1100" dirty="0"/>
                    </a:p>
                    <a:p>
                      <a:pPr>
                        <a:lnSpc>
                          <a:spcPct val="150000"/>
                        </a:lnSpc>
                      </a:pPr>
                      <a:r>
                        <a:rPr lang="en-US" altLang="zh-CN" sz="1100" dirty="0"/>
                        <a:t>2</a:t>
                      </a:r>
                      <a:r>
                        <a:rPr lang="zh-CN" altLang="en-US" sz="1100" dirty="0"/>
                        <a:t>、售前完成产品清单可信度自评打分，并分享销售；</a:t>
                      </a:r>
                      <a:endParaRPr lang="en-US" altLang="zh-CN" sz="1100" dirty="0"/>
                    </a:p>
                    <a:p>
                      <a:pPr>
                        <a:lnSpc>
                          <a:spcPct val="150000"/>
                        </a:lnSpc>
                      </a:pPr>
                      <a:r>
                        <a:rPr lang="en-US" altLang="zh-CN" sz="1100" dirty="0"/>
                        <a:t>3</a:t>
                      </a:r>
                      <a:r>
                        <a:rPr lang="zh-CN" altLang="en-US" sz="1100" dirty="0"/>
                        <a:t>、销售把售前分享的带可信度评分的清单，同步到</a:t>
                      </a:r>
                      <a:r>
                        <a:rPr lang="en-US" altLang="zh-CN" sz="1100" dirty="0"/>
                        <a:t>ECP</a:t>
                      </a:r>
                      <a:r>
                        <a:rPr lang="zh-CN" altLang="en-US" sz="1100" dirty="0"/>
                        <a:t>和</a:t>
                      </a:r>
                      <a:r>
                        <a:rPr lang="en-US" altLang="zh-CN" sz="1100" dirty="0"/>
                        <a:t>CRM</a:t>
                      </a:r>
                      <a:r>
                        <a:rPr lang="zh-CN" altLang="en-US" sz="1100" dirty="0"/>
                        <a:t>系统。</a:t>
                      </a:r>
                      <a:endParaRPr lang="en-US" altLang="zh-CN" sz="1100" dirty="0"/>
                    </a:p>
                  </a:txBody>
                  <a:tcPr anchor="ctr"/>
                </a:tc>
                <a:tc>
                  <a:txBody>
                    <a:bodyPr/>
                    <a:lstStyle/>
                    <a:p>
                      <a:pPr>
                        <a:lnSpc>
                          <a:spcPct val="150000"/>
                        </a:lnSpc>
                      </a:pPr>
                      <a:r>
                        <a:rPr lang="en-US" altLang="zh-CN" sz="1100" dirty="0"/>
                        <a:t>10</a:t>
                      </a:r>
                      <a:r>
                        <a:rPr lang="zh-CN" altLang="en-US" sz="1100" dirty="0"/>
                        <a:t>月</a:t>
                      </a:r>
                      <a:r>
                        <a:rPr lang="en-US" altLang="zh-CN" sz="1100" dirty="0"/>
                        <a:t>1</a:t>
                      </a:r>
                      <a:r>
                        <a:rPr lang="zh-CN" altLang="en-US" sz="1100" dirty="0"/>
                        <a:t>日前</a:t>
                      </a:r>
                    </a:p>
                  </a:txBody>
                  <a:tcPr anchor="ctr"/>
                </a:tc>
                <a:tc>
                  <a:txBody>
                    <a:bodyPr/>
                    <a:lstStyle/>
                    <a:p>
                      <a:pPr>
                        <a:lnSpc>
                          <a:spcPct val="150000"/>
                        </a:lnSpc>
                      </a:pPr>
                      <a:r>
                        <a:rPr lang="en-US" altLang="zh-CN" sz="1100" dirty="0"/>
                        <a:t>【</a:t>
                      </a:r>
                      <a:r>
                        <a:rPr lang="zh-CN" altLang="en-US" sz="1100" dirty="0"/>
                        <a:t>销售</a:t>
                      </a:r>
                      <a:r>
                        <a:rPr lang="en-US" altLang="zh-CN" sz="1100" dirty="0"/>
                        <a:t>】</a:t>
                      </a:r>
                    </a:p>
                    <a:p>
                      <a:pPr>
                        <a:lnSpc>
                          <a:spcPct val="150000"/>
                        </a:lnSpc>
                      </a:pPr>
                      <a:r>
                        <a:rPr lang="en-US" altLang="zh-CN" sz="1100" dirty="0"/>
                        <a:t>【</a:t>
                      </a:r>
                      <a:r>
                        <a:rPr lang="zh-CN" altLang="en-US" sz="1100" dirty="0"/>
                        <a:t>售前</a:t>
                      </a:r>
                      <a:r>
                        <a:rPr lang="en-US" altLang="zh-CN" sz="1100" dirty="0"/>
                        <a:t>】</a:t>
                      </a:r>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1100" dirty="0"/>
                        <a:t>【</a:t>
                      </a:r>
                      <a:r>
                        <a:rPr lang="zh-CN" altLang="en-US" sz="1100" dirty="0"/>
                        <a:t>区域经理</a:t>
                      </a:r>
                      <a:r>
                        <a:rPr lang="en-US" altLang="zh-CN" sz="1100" dirty="0"/>
                        <a:t>】</a:t>
                      </a:r>
                      <a:endParaRPr lang="zh-CN" altLang="en-US" sz="1100" dirty="0"/>
                    </a:p>
                  </a:txBody>
                  <a:tcPr anchor="ctr"/>
                </a:tc>
                <a:extLst>
                  <a:ext uri="{0D108BD9-81ED-4DB2-BD59-A6C34878D82A}">
                    <a16:rowId xmlns="" xmlns:a16="http://schemas.microsoft.com/office/drawing/2014/main" val="3269833548"/>
                  </a:ext>
                </a:extLst>
              </a:tr>
              <a:tr h="1028617">
                <a:tc vMerge="1">
                  <a:txBody>
                    <a:bodyPr/>
                    <a:lstStyle/>
                    <a:p>
                      <a:pPr>
                        <a:lnSpc>
                          <a:spcPct val="150000"/>
                        </a:lnSpc>
                      </a:pPr>
                      <a:endParaRPr lang="zh-CN" altLang="en-US" sz="1400" dirty="0"/>
                    </a:p>
                  </a:txBody>
                  <a:tcPr anchor="ctr"/>
                </a:tc>
                <a:tc>
                  <a:txBody>
                    <a:bodyPr/>
                    <a:lstStyle/>
                    <a:p>
                      <a:pPr>
                        <a:lnSpc>
                          <a:spcPct val="150000"/>
                        </a:lnSpc>
                      </a:pPr>
                      <a:r>
                        <a:rPr lang="en-US" altLang="zh-CN" sz="1100" dirty="0"/>
                        <a:t>1</a:t>
                      </a:r>
                      <a:r>
                        <a:rPr lang="zh-CN" altLang="en-US" sz="1100" dirty="0"/>
                        <a:t>、所有</a:t>
                      </a:r>
                      <a:r>
                        <a:rPr lang="en-US" altLang="zh-CN" sz="1100" dirty="0"/>
                        <a:t>26</a:t>
                      </a:r>
                      <a:r>
                        <a:rPr lang="zh-CN" altLang="en-US" sz="1100" dirty="0"/>
                        <a:t>年</a:t>
                      </a:r>
                      <a:r>
                        <a:rPr lang="en-US" altLang="zh-CN" sz="1100" dirty="0"/>
                        <a:t>6</a:t>
                      </a:r>
                      <a:r>
                        <a:rPr lang="zh-CN" altLang="en-US" sz="1100" dirty="0"/>
                        <a:t>月</a:t>
                      </a:r>
                      <a:r>
                        <a:rPr lang="en-US" altLang="zh-CN" sz="1100" dirty="0"/>
                        <a:t>20</a:t>
                      </a:r>
                      <a:r>
                        <a:rPr lang="zh-CN" altLang="en-US" sz="1100" dirty="0"/>
                        <a:t>日前开标项目；</a:t>
                      </a:r>
                      <a:endParaRPr lang="en-US" altLang="zh-CN" sz="1100" dirty="0"/>
                    </a:p>
                    <a:p>
                      <a:pPr>
                        <a:lnSpc>
                          <a:spcPct val="150000"/>
                        </a:lnSpc>
                      </a:pPr>
                      <a:r>
                        <a:rPr lang="en-US" altLang="zh-CN" sz="1100" dirty="0"/>
                        <a:t>2</a:t>
                      </a:r>
                      <a:r>
                        <a:rPr lang="zh-CN" altLang="en-US" sz="1100" dirty="0"/>
                        <a:t>、售前完成产品清单可信度自评打分，并分享销售；</a:t>
                      </a:r>
                      <a:endParaRPr lang="en-US" altLang="zh-CN" sz="1100" dirty="0"/>
                    </a:p>
                    <a:p>
                      <a:pPr>
                        <a:lnSpc>
                          <a:spcPct val="150000"/>
                        </a:lnSpc>
                      </a:pPr>
                      <a:r>
                        <a:rPr lang="en-US" altLang="zh-CN" sz="1100" dirty="0"/>
                        <a:t>3</a:t>
                      </a:r>
                      <a:r>
                        <a:rPr lang="zh-CN" altLang="en-US" sz="1100" dirty="0"/>
                        <a:t>、销售把售前分享的带可信度评分的清单，同步到</a:t>
                      </a:r>
                      <a:r>
                        <a:rPr lang="en-US" altLang="zh-CN" sz="1100" dirty="0"/>
                        <a:t>ECP</a:t>
                      </a:r>
                      <a:r>
                        <a:rPr lang="zh-CN" altLang="en-US" sz="1100" dirty="0"/>
                        <a:t>和</a:t>
                      </a:r>
                      <a:r>
                        <a:rPr lang="en-US" altLang="zh-CN" sz="1100" dirty="0"/>
                        <a:t>CRM</a:t>
                      </a:r>
                      <a:r>
                        <a:rPr lang="zh-CN" altLang="en-US" sz="1100" dirty="0"/>
                        <a:t>系统。</a:t>
                      </a:r>
                      <a:endParaRPr lang="en-US" altLang="zh-CN" sz="1100" dirty="0"/>
                    </a:p>
                  </a:txBody>
                  <a:tcPr anchor="ct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1100" dirty="0"/>
                        <a:t>11</a:t>
                      </a:r>
                      <a:r>
                        <a:rPr lang="zh-CN" altLang="en-US" sz="1100" dirty="0"/>
                        <a:t>月</a:t>
                      </a:r>
                      <a:r>
                        <a:rPr lang="en-US" altLang="zh-CN" sz="1100" dirty="0"/>
                        <a:t>1</a:t>
                      </a:r>
                      <a:r>
                        <a:rPr lang="zh-CN" altLang="en-US" sz="1100" dirty="0"/>
                        <a:t>日前</a:t>
                      </a:r>
                    </a:p>
                  </a:txBody>
                  <a:tcPr anchor="ctr"/>
                </a:tc>
                <a:tc>
                  <a:txBody>
                    <a:bodyPr/>
                    <a:lstStyle/>
                    <a:p>
                      <a:pPr>
                        <a:lnSpc>
                          <a:spcPct val="150000"/>
                        </a:lnSpc>
                      </a:pPr>
                      <a:r>
                        <a:rPr lang="en-US" altLang="zh-CN" sz="1100" dirty="0"/>
                        <a:t>【</a:t>
                      </a:r>
                      <a:r>
                        <a:rPr lang="zh-CN" altLang="en-US" sz="1100" dirty="0"/>
                        <a:t>销售</a:t>
                      </a:r>
                      <a:r>
                        <a:rPr lang="en-US" altLang="zh-CN" sz="1100" dirty="0"/>
                        <a:t>】</a:t>
                      </a:r>
                    </a:p>
                    <a:p>
                      <a:pPr>
                        <a:lnSpc>
                          <a:spcPct val="150000"/>
                        </a:lnSpc>
                      </a:pPr>
                      <a:r>
                        <a:rPr lang="en-US" altLang="zh-CN" sz="1100" dirty="0"/>
                        <a:t>【</a:t>
                      </a:r>
                      <a:r>
                        <a:rPr lang="zh-CN" altLang="en-US" sz="1100" dirty="0"/>
                        <a:t>售前</a:t>
                      </a:r>
                      <a:r>
                        <a:rPr lang="en-US" altLang="zh-CN" sz="1100" dirty="0"/>
                        <a:t>】</a:t>
                      </a:r>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1100" dirty="0"/>
                        <a:t>【</a:t>
                      </a:r>
                      <a:r>
                        <a:rPr lang="zh-CN" altLang="en-US" sz="1100" dirty="0"/>
                        <a:t>区域经理</a:t>
                      </a:r>
                      <a:r>
                        <a:rPr lang="en-US" altLang="zh-CN" sz="1100" dirty="0"/>
                        <a:t>】</a:t>
                      </a:r>
                      <a:endParaRPr lang="zh-CN" altLang="en-US" sz="1100" dirty="0"/>
                    </a:p>
                  </a:txBody>
                  <a:tcPr anchor="ctr"/>
                </a:tc>
                <a:extLst>
                  <a:ext uri="{0D108BD9-81ED-4DB2-BD59-A6C34878D82A}">
                    <a16:rowId xmlns="" xmlns:a16="http://schemas.microsoft.com/office/drawing/2014/main" val="421463277"/>
                  </a:ext>
                </a:extLst>
              </a:tr>
              <a:tr h="1028617">
                <a:tc vMerge="1">
                  <a:txBody>
                    <a:bodyPr/>
                    <a:lstStyle/>
                    <a:p>
                      <a:pPr>
                        <a:lnSpc>
                          <a:spcPct val="150000"/>
                        </a:lnSpc>
                      </a:pPr>
                      <a:endParaRPr lang="zh-CN" altLang="en-US" sz="1400" dirty="0"/>
                    </a:p>
                  </a:txBody>
                  <a:tcPr anchor="ctr"/>
                </a:tc>
                <a:tc>
                  <a:txBody>
                    <a:bodyPr/>
                    <a:lstStyle/>
                    <a:p>
                      <a:pPr>
                        <a:lnSpc>
                          <a:spcPct val="150000"/>
                        </a:lnSpc>
                      </a:pPr>
                      <a:r>
                        <a:rPr lang="en-US" altLang="zh-CN" sz="1100" dirty="0"/>
                        <a:t>1</a:t>
                      </a:r>
                      <a:r>
                        <a:rPr lang="zh-CN" altLang="en-US" sz="1100" dirty="0"/>
                        <a:t>、所有</a:t>
                      </a:r>
                      <a:r>
                        <a:rPr lang="en-US" altLang="zh-CN" sz="1100" dirty="0"/>
                        <a:t>26</a:t>
                      </a:r>
                      <a:r>
                        <a:rPr lang="zh-CN" altLang="en-US" sz="1100" dirty="0"/>
                        <a:t>年</a:t>
                      </a:r>
                      <a:r>
                        <a:rPr lang="en-US" altLang="zh-CN" sz="1100" dirty="0"/>
                        <a:t>6</a:t>
                      </a:r>
                      <a:r>
                        <a:rPr lang="zh-CN" altLang="en-US" sz="1100" dirty="0"/>
                        <a:t>月</a:t>
                      </a:r>
                      <a:r>
                        <a:rPr lang="en-US" altLang="zh-CN" sz="1100" dirty="0"/>
                        <a:t>20</a:t>
                      </a:r>
                      <a:r>
                        <a:rPr lang="zh-CN" altLang="en-US" sz="1100" dirty="0"/>
                        <a:t>日后开标项目；</a:t>
                      </a:r>
                      <a:endParaRPr lang="en-US" altLang="zh-CN" sz="1100" dirty="0"/>
                    </a:p>
                    <a:p>
                      <a:pPr>
                        <a:lnSpc>
                          <a:spcPct val="150000"/>
                        </a:lnSpc>
                      </a:pPr>
                      <a:r>
                        <a:rPr lang="en-US" altLang="zh-CN" sz="1100" dirty="0"/>
                        <a:t>2</a:t>
                      </a:r>
                      <a:r>
                        <a:rPr lang="zh-CN" altLang="en-US" sz="1100" dirty="0"/>
                        <a:t>、售前完成产品清单可信度自评打分，并分享销售；</a:t>
                      </a:r>
                      <a:endParaRPr lang="en-US" altLang="zh-CN" sz="1100" dirty="0"/>
                    </a:p>
                    <a:p>
                      <a:pPr>
                        <a:lnSpc>
                          <a:spcPct val="150000"/>
                        </a:lnSpc>
                      </a:pPr>
                      <a:r>
                        <a:rPr lang="en-US" altLang="zh-CN" sz="1100" dirty="0"/>
                        <a:t>3</a:t>
                      </a:r>
                      <a:r>
                        <a:rPr lang="zh-CN" altLang="en-US" sz="1100" dirty="0"/>
                        <a:t>、销售把售前分享的带可信度评分的清单，同步到</a:t>
                      </a:r>
                      <a:r>
                        <a:rPr lang="en-US" altLang="zh-CN" sz="1100" dirty="0"/>
                        <a:t>ECP</a:t>
                      </a:r>
                      <a:r>
                        <a:rPr lang="zh-CN" altLang="en-US" sz="1100" dirty="0"/>
                        <a:t>和</a:t>
                      </a:r>
                      <a:r>
                        <a:rPr lang="en-US" altLang="zh-CN" sz="1100" dirty="0"/>
                        <a:t>CRM</a:t>
                      </a:r>
                      <a:r>
                        <a:rPr lang="zh-CN" altLang="en-US" sz="1100" dirty="0"/>
                        <a:t>系统。</a:t>
                      </a:r>
                      <a:endParaRPr lang="en-US" altLang="zh-CN" sz="1100" dirty="0"/>
                    </a:p>
                  </a:txBody>
                  <a:tcPr anchor="ct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1100" dirty="0"/>
                        <a:t>12</a:t>
                      </a:r>
                      <a:r>
                        <a:rPr lang="zh-CN" altLang="en-US" sz="1100" dirty="0"/>
                        <a:t>月</a:t>
                      </a:r>
                      <a:r>
                        <a:rPr lang="en-US" altLang="zh-CN" sz="1100" dirty="0"/>
                        <a:t>1</a:t>
                      </a:r>
                      <a:r>
                        <a:rPr lang="zh-CN" altLang="en-US" sz="1100" dirty="0"/>
                        <a:t>日前</a:t>
                      </a:r>
                    </a:p>
                  </a:txBody>
                  <a:tcPr anchor="ctr"/>
                </a:tc>
                <a:tc>
                  <a:txBody>
                    <a:bodyPr/>
                    <a:lstStyle/>
                    <a:p>
                      <a:pPr>
                        <a:lnSpc>
                          <a:spcPct val="150000"/>
                        </a:lnSpc>
                      </a:pPr>
                      <a:r>
                        <a:rPr lang="en-US" altLang="zh-CN" sz="1100" dirty="0"/>
                        <a:t>【</a:t>
                      </a:r>
                      <a:r>
                        <a:rPr lang="zh-CN" altLang="en-US" sz="1100" dirty="0"/>
                        <a:t>销售</a:t>
                      </a:r>
                      <a:r>
                        <a:rPr lang="en-US" altLang="zh-CN" sz="1100" dirty="0"/>
                        <a:t>】</a:t>
                      </a:r>
                    </a:p>
                    <a:p>
                      <a:pPr>
                        <a:lnSpc>
                          <a:spcPct val="150000"/>
                        </a:lnSpc>
                      </a:pPr>
                      <a:r>
                        <a:rPr lang="en-US" altLang="zh-CN" sz="1100" dirty="0"/>
                        <a:t>【</a:t>
                      </a:r>
                      <a:r>
                        <a:rPr lang="zh-CN" altLang="en-US" sz="1100" dirty="0"/>
                        <a:t>售前</a:t>
                      </a:r>
                      <a:r>
                        <a:rPr lang="en-US" altLang="zh-CN" sz="1100" dirty="0"/>
                        <a:t>】</a:t>
                      </a:r>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1100" dirty="0"/>
                        <a:t>【</a:t>
                      </a:r>
                      <a:r>
                        <a:rPr lang="zh-CN" altLang="en-US" sz="1100" dirty="0"/>
                        <a:t>区域经理</a:t>
                      </a:r>
                      <a:r>
                        <a:rPr lang="en-US" altLang="zh-CN" sz="1100" dirty="0"/>
                        <a:t>】</a:t>
                      </a:r>
                      <a:endParaRPr lang="zh-CN" altLang="en-US" sz="1100" dirty="0"/>
                    </a:p>
                  </a:txBody>
                  <a:tcPr anchor="ctr"/>
                </a:tc>
                <a:extLst>
                  <a:ext uri="{0D108BD9-81ED-4DB2-BD59-A6C34878D82A}">
                    <a16:rowId xmlns="" xmlns:a16="http://schemas.microsoft.com/office/drawing/2014/main" val="3939499503"/>
                  </a:ext>
                </a:extLst>
              </a:tr>
              <a:tr h="1028617">
                <a:tc>
                  <a:txBody>
                    <a:bodyPr/>
                    <a:lstStyle/>
                    <a:p>
                      <a:pPr>
                        <a:lnSpc>
                          <a:spcPct val="150000"/>
                        </a:lnSpc>
                      </a:pPr>
                      <a:r>
                        <a:rPr lang="zh-CN" altLang="en-US" sz="1100" dirty="0"/>
                        <a:t>漏斗内项目</a:t>
                      </a:r>
                      <a:endParaRPr lang="en-US" altLang="zh-CN" sz="1100" dirty="0"/>
                    </a:p>
                    <a:p>
                      <a:pPr>
                        <a:lnSpc>
                          <a:spcPct val="150000"/>
                        </a:lnSpc>
                      </a:pPr>
                      <a:r>
                        <a:rPr lang="zh-CN" altLang="en-US" sz="1100" dirty="0"/>
                        <a:t>可信度校验提醒</a:t>
                      </a:r>
                      <a:endParaRPr lang="en-US" altLang="zh-CN" sz="1100" dirty="0"/>
                    </a:p>
                  </a:txBody>
                  <a:tcPr anchor="ctr"/>
                </a:tc>
                <a:tc>
                  <a:txBody>
                    <a:bodyPr/>
                    <a:lstStyle/>
                    <a:p>
                      <a:pPr>
                        <a:lnSpc>
                          <a:spcPct val="150000"/>
                        </a:lnSpc>
                      </a:pPr>
                      <a:r>
                        <a:rPr lang="en-US" altLang="zh-CN" sz="1100" dirty="0"/>
                        <a:t>1</a:t>
                      </a:r>
                      <a:r>
                        <a:rPr lang="zh-CN" altLang="en-US" sz="1100" dirty="0"/>
                        <a:t>、</a:t>
                      </a:r>
                      <a:r>
                        <a:rPr lang="en-US" altLang="zh-CN" sz="1100" dirty="0"/>
                        <a:t>CRM</a:t>
                      </a:r>
                      <a:r>
                        <a:rPr lang="zh-CN" altLang="en-US" sz="1100" dirty="0"/>
                        <a:t>系统根据预测类别</a:t>
                      </a:r>
                      <a:r>
                        <a:rPr lang="en-US" altLang="zh-CN" sz="1100" dirty="0"/>
                        <a:t>/</a:t>
                      </a:r>
                      <a:r>
                        <a:rPr lang="zh-CN" altLang="en-US" sz="1100" dirty="0"/>
                        <a:t>开标时间可信度标准，对漏斗内项目做校验；</a:t>
                      </a:r>
                      <a:endParaRPr lang="en-US" altLang="zh-CN" sz="1100" dirty="0"/>
                    </a:p>
                    <a:p>
                      <a:pPr>
                        <a:lnSpc>
                          <a:spcPct val="150000"/>
                        </a:lnSpc>
                      </a:pPr>
                      <a:r>
                        <a:rPr lang="en-US" altLang="zh-CN" sz="1100" dirty="0"/>
                        <a:t>2</a:t>
                      </a:r>
                      <a:r>
                        <a:rPr lang="zh-CN" altLang="en-US" sz="1100" dirty="0"/>
                        <a:t>、可信度不达标的项目，飞书提醒；</a:t>
                      </a:r>
                      <a:endParaRPr lang="en-US" altLang="zh-CN" sz="1100" dirty="0"/>
                    </a:p>
                    <a:p>
                      <a:pPr>
                        <a:lnSpc>
                          <a:spcPct val="150000"/>
                        </a:lnSpc>
                      </a:pPr>
                      <a:r>
                        <a:rPr lang="en-US" altLang="zh-CN" sz="1100" dirty="0"/>
                        <a:t>3</a:t>
                      </a:r>
                      <a:r>
                        <a:rPr lang="zh-CN" altLang="en-US" sz="1100" dirty="0"/>
                        <a:t>、</a:t>
                      </a:r>
                      <a:r>
                        <a:rPr lang="en-US" altLang="zh-CN" sz="1100" dirty="0"/>
                        <a:t>30</a:t>
                      </a:r>
                      <a:r>
                        <a:rPr lang="zh-CN" altLang="en-US" sz="1100" dirty="0"/>
                        <a:t>天内开标项目产品清单可信度不达标，请于</a:t>
                      </a:r>
                      <a:r>
                        <a:rPr lang="en-US" altLang="zh-CN" sz="1100" dirty="0"/>
                        <a:t>7</a:t>
                      </a:r>
                      <a:r>
                        <a:rPr lang="zh-CN" altLang="en-US" sz="1100" dirty="0"/>
                        <a:t>日内达标（</a:t>
                      </a:r>
                      <a:r>
                        <a:rPr lang="en-US" altLang="zh-CN" sz="1100" dirty="0"/>
                        <a:t>2</a:t>
                      </a:r>
                      <a:r>
                        <a:rPr lang="zh-CN" altLang="en-US" sz="1100" dirty="0"/>
                        <a:t>日后提醒对应主管）；</a:t>
                      </a:r>
                      <a:endParaRPr lang="en-US" altLang="zh-CN" sz="1100" dirty="0"/>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1100" dirty="0"/>
                        <a:t>4</a:t>
                      </a:r>
                      <a:r>
                        <a:rPr lang="zh-CN" altLang="en-US" sz="1100" dirty="0"/>
                        <a:t>、预测类别产品清单可信度不达标，请于</a:t>
                      </a:r>
                      <a:r>
                        <a:rPr lang="en-US" altLang="zh-CN" sz="1100" dirty="0"/>
                        <a:t>30</a:t>
                      </a:r>
                      <a:r>
                        <a:rPr lang="zh-CN" altLang="en-US" sz="1100" dirty="0"/>
                        <a:t>日内达标。</a:t>
                      </a:r>
                      <a:endParaRPr lang="en-US" altLang="zh-CN" sz="1100" dirty="0"/>
                    </a:p>
                  </a:txBody>
                  <a:tcPr anchor="ct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1100" dirty="0"/>
                        <a:t>9</a:t>
                      </a:r>
                      <a:r>
                        <a:rPr lang="zh-CN" altLang="en-US" sz="1100" dirty="0"/>
                        <a:t>月</a:t>
                      </a:r>
                      <a:r>
                        <a:rPr lang="en-US" altLang="zh-CN" sz="1100" dirty="0"/>
                        <a:t>21</a:t>
                      </a:r>
                      <a:r>
                        <a:rPr lang="zh-CN" altLang="en-US" sz="1100" dirty="0"/>
                        <a:t>日，该功能上线。</a:t>
                      </a:r>
                    </a:p>
                  </a:txBody>
                  <a:tcPr anchor="ctr"/>
                </a:tc>
                <a:tc>
                  <a:txBody>
                    <a:bodyPr/>
                    <a:lstStyle/>
                    <a:p>
                      <a:pPr>
                        <a:lnSpc>
                          <a:spcPct val="150000"/>
                        </a:lnSpc>
                      </a:pPr>
                      <a:r>
                        <a:rPr lang="en-US" altLang="zh-CN" sz="1100" dirty="0"/>
                        <a:t>【</a:t>
                      </a:r>
                      <a:r>
                        <a:rPr lang="zh-CN" altLang="en-US" sz="1100" dirty="0"/>
                        <a:t>销售</a:t>
                      </a:r>
                      <a:r>
                        <a:rPr lang="en-US" altLang="zh-CN" sz="1100" dirty="0"/>
                        <a:t>】</a:t>
                      </a:r>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1100" dirty="0"/>
                        <a:t>【</a:t>
                      </a:r>
                      <a:r>
                        <a:rPr lang="zh-CN" altLang="en-US" sz="1100" dirty="0"/>
                        <a:t>售前</a:t>
                      </a:r>
                      <a:r>
                        <a:rPr lang="en-US" altLang="zh-CN" sz="1100" dirty="0"/>
                        <a:t>】</a:t>
                      </a:r>
                    </a:p>
                    <a:p>
                      <a:pPr marL="0" marR="0" lvl="0" indent="0" algn="l" defTabSz="914400" rtl="0" eaLnBrk="1" fontAlgn="auto" latinLnBrk="0" hangingPunct="1">
                        <a:lnSpc>
                          <a:spcPct val="150000"/>
                        </a:lnSpc>
                        <a:spcBef>
                          <a:spcPts val="0"/>
                        </a:spcBef>
                        <a:spcAft>
                          <a:spcPts val="0"/>
                        </a:spcAft>
                        <a:buClrTx/>
                        <a:buSzTx/>
                        <a:buFontTx/>
                        <a:buNone/>
                        <a:tabLst/>
                        <a:defRPr/>
                      </a:pPr>
                      <a:r>
                        <a:rPr lang="en-US" altLang="zh-CN" sz="1100" dirty="0"/>
                        <a:t>【</a:t>
                      </a:r>
                      <a:r>
                        <a:rPr lang="zh-CN" altLang="en-US" sz="1100" dirty="0"/>
                        <a:t>技术经理</a:t>
                      </a:r>
                      <a:r>
                        <a:rPr lang="en-US" altLang="zh-CN" sz="1100" dirty="0"/>
                        <a:t>】</a:t>
                      </a:r>
                      <a:endParaRPr lang="zh-CN" altLang="en-US" sz="1100" dirty="0"/>
                    </a:p>
                    <a:p>
                      <a:pPr>
                        <a:lnSpc>
                          <a:spcPct val="150000"/>
                        </a:lnSpc>
                      </a:pPr>
                      <a:r>
                        <a:rPr lang="en-US" altLang="zh-CN" sz="1100" dirty="0"/>
                        <a:t>【</a:t>
                      </a:r>
                      <a:r>
                        <a:rPr lang="zh-CN" altLang="en-US" sz="1100" dirty="0"/>
                        <a:t>区域经理</a:t>
                      </a:r>
                      <a:r>
                        <a:rPr lang="en-US" altLang="zh-CN" sz="1100" dirty="0"/>
                        <a:t>】</a:t>
                      </a:r>
                      <a:endParaRPr lang="zh-CN" altLang="en-US" sz="1100" dirty="0"/>
                    </a:p>
                  </a:txBody>
                  <a:tcPr anchor="ctr"/>
                </a:tc>
                <a:extLst>
                  <a:ext uri="{0D108BD9-81ED-4DB2-BD59-A6C34878D82A}">
                    <a16:rowId xmlns="" xmlns:a16="http://schemas.microsoft.com/office/drawing/2014/main" val="859674004"/>
                  </a:ext>
                </a:extLst>
              </a:tr>
            </a:tbl>
          </a:graphicData>
        </a:graphic>
      </p:graphicFrame>
    </p:spTree>
    <p:extLst>
      <p:ext uri="{BB962C8B-B14F-4D97-AF65-F5344CB8AC3E}">
        <p14:creationId xmlns:p14="http://schemas.microsoft.com/office/powerpoint/2010/main" val="272850268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5a5b54e7-09c9-4e3b-8074-73364de01119"/>
  <p:tag name="COMMONDATA" val="eyJoZGlkIjoiYTg1ODA4OWVjMjRhODZlMDEyMmFhZDlhODFjYTBiYzUifQ=="/>
  <p:tag name="RESOURCE_RECORD_KEY" val="{&quot;13&quot;:[4364928]}"/>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310236220474}"/>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310236220474}"/>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465.9749606299213,&quot;left&quot;:1.1,&quot;top&quot;:91.82503937007871,&quot;width&quot;:960}"/>
  <p:tag name="KSO_WM_UNIT_HIGHLIGHT" val="0"/>
  <p:tag name="KSO_WM_UNIT_COMPATIBLE" val="0"/>
  <p:tag name="KSO_WM_UNIT_DIAGRAM_ISNUMVISUAL" val="0"/>
  <p:tag name="KSO_WM_UNIT_DIAGRAM_ISREFERUNIT" val="0"/>
  <p:tag name="KSO_WM_UNIT_ID" val="diagram20236935_1*m_h_i*1_1_2"/>
  <p:tag name="KSO_WM_TEMPLATE_CATEGORY" val="diagram"/>
  <p:tag name="KSO_WM_TEMPLATE_INDEX" val="20236935"/>
  <p:tag name="KSO_WM_UNIT_LAYERLEVEL" val="1_1_1"/>
  <p:tag name="KSO_WM_TAG_VERSION" val="3.0"/>
  <p:tag name="KSO_WM_DIAGRAM_GROUP_CODE" val="m1-1"/>
  <p:tag name="KSO_WM_UNIT_SUBTYPE" val="nb"/>
  <p:tag name="KSO_WM_UNIT_TYPE" val="m_h_i"/>
  <p:tag name="KSO_WM_UNIT_INDEX" val="1_1_2"/>
  <p:tag name="KSO_WM_DIAGRAM_VERSION" val="3"/>
  <p:tag name="KSO_WM_DIAGRAM_COLOR_TRICK" val="1"/>
  <p:tag name="KSO_WM_DIAGRAM_COLOR_TEXT_CAN_REMOVE" val="n"/>
  <p:tag name="KSO_WM_UNIT_FILL_TYPE" val="3"/>
  <p:tag name="KSO_WM_DIAGRAM_MAX_ITEMCNT" val="5"/>
  <p:tag name="KSO_WM_DIAGRAM_MIN_ITEMCNT" val="3"/>
  <p:tag name="KSO_WM_DIAGRAM_COLOR_MATCH_VALUE" val="{&quot;shape&quot;:{&quot;fill&quot;:{&quot;gradient&quot;:[{&quot;brightness&quot;:0.4000000059604645,&quot;colorType&quot;:1,&quot;foreColorIndex&quot;:5,&quot;pos&quot;:0.10999999940395355,&quot;transparency&quot;:0},{&quot;brightness&quot;:0,&quot;colorType&quot;:1,&quot;foreColorIndex&quot;:5,&quot;pos&quot;:1,&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5,5,5,5,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465.9749606299213,&quot;left&quot;:1.1,&quot;top&quot;:91.82503937007871,&quot;width&quot;:960}"/>
  <p:tag name="KSO_WM_UNIT_HIGHLIGHT" val="0"/>
  <p:tag name="KSO_WM_UNIT_COMPATIBLE" val="0"/>
  <p:tag name="KSO_WM_UNIT_DIAGRAM_ISNUMVISUAL" val="0"/>
  <p:tag name="KSO_WM_UNIT_DIAGRAM_ISREFERUNIT" val="0"/>
  <p:tag name="KSO_WM_UNIT_ID" val="diagram20236935_1*m_h_a*1_1_1"/>
  <p:tag name="KSO_WM_TEMPLATE_CATEGORY" val="diagram"/>
  <p:tag name="KSO_WM_TEMPLATE_INDEX" val="20236935"/>
  <p:tag name="KSO_WM_UNIT_LAYERLEVEL" val="1_1_1"/>
  <p:tag name="KSO_WM_TAG_VERSION" val="3.0"/>
  <p:tag name="KSO_WM_UNIT_ISCONTENTSTITLE" val="0"/>
  <p:tag name="KSO_WM_UNIT_ISNUMDGMTITLE" val="0"/>
  <p:tag name="KSO_WM_UNIT_NOCLEAR" val="0"/>
  <p:tag name="KSO_WM_DIAGRAM_GROUP_CODE" val="m1-1"/>
  <p:tag name="KSO_WM_UNIT_TYPE" val="m_h_a"/>
  <p:tag name="KSO_WM_UNIT_INDEX" val="1_1_1"/>
  <p:tag name="KSO_WM_DIAGRAM_VERSION" val="3"/>
  <p:tag name="KSO_WM_DIAGRAM_COLOR_TRICK" val="1"/>
  <p:tag name="KSO_WM_DIAGRAM_COLOR_TEXT_CAN_REMOVE" val="n"/>
  <p:tag name="KSO_WM_UNIT_PRESET_TEXT" val="添加项标题"/>
  <p:tag name="KSO_WM_UNIT_TEXT_FILL_FORE_SCHEMECOLOR_INDEX" val="1"/>
  <p:tag name="KSO_WM_UNIT_TEXT_FILL_TYPE" val="1"/>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5,5,5,5,5]}"/>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465.9749606299213,&quot;left&quot;:1.1,&quot;top&quot;:91.82503937007871,&quot;width&quot;:960}"/>
  <p:tag name="KSO_WM_UNIT_HIGHLIGHT" val="0"/>
  <p:tag name="KSO_WM_UNIT_COMPATIBLE" val="0"/>
  <p:tag name="KSO_WM_UNIT_DIAGRAM_ISNUMVISUAL" val="0"/>
  <p:tag name="KSO_WM_UNIT_DIAGRAM_ISREFERUNIT" val="0"/>
  <p:tag name="KSO_WM_UNIT_ID" val="diagram20236935_1*m_h_i*1_2_2"/>
  <p:tag name="KSO_WM_TEMPLATE_CATEGORY" val="diagram"/>
  <p:tag name="KSO_WM_TEMPLATE_INDEX" val="20236935"/>
  <p:tag name="KSO_WM_UNIT_LAYERLEVEL" val="1_1_1"/>
  <p:tag name="KSO_WM_TAG_VERSION" val="3.0"/>
  <p:tag name="KSO_WM_DIAGRAM_GROUP_CODE" val="m1-1"/>
  <p:tag name="KSO_WM_UNIT_SUBTYPE" val="nb"/>
  <p:tag name="KSO_WM_UNIT_TYPE" val="m_h_i"/>
  <p:tag name="KSO_WM_UNIT_INDEX" val="1_2_2"/>
  <p:tag name="KSO_WM_DIAGRAM_VERSION" val="3"/>
  <p:tag name="KSO_WM_DIAGRAM_COLOR_TRICK" val="1"/>
  <p:tag name="KSO_WM_DIAGRAM_COLOR_TEXT_CAN_REMOVE" val="n"/>
  <p:tag name="KSO_WM_UNIT_FILL_TYPE" val="3"/>
  <p:tag name="KSO_WM_DIAGRAM_MAX_ITEMCNT" val="5"/>
  <p:tag name="KSO_WM_DIAGRAM_MIN_ITEMCNT" val="3"/>
  <p:tag name="KSO_WM_DIAGRAM_COLOR_MATCH_VALUE" val="{&quot;shape&quot;:{&quot;fill&quot;:{&quot;gradient&quot;:[{&quot;brightness&quot;:0.4000000059604645,&quot;colorType&quot;:1,&quot;foreColorIndex&quot;:5,&quot;pos&quot;:0.10999999940395355,&quot;transparency&quot;:0},{&quot;brightness&quot;:0,&quot;colorType&quot;:1,&quot;foreColorIndex&quot;:5,&quot;pos&quot;:1,&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5,5,5,5,5]}"/>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465.9749606299213,&quot;left&quot;:1.1,&quot;top&quot;:91.82503937007871,&quot;width&quot;:960}"/>
  <p:tag name="KSO_WM_UNIT_HIGHLIGHT" val="0"/>
  <p:tag name="KSO_WM_UNIT_COMPATIBLE" val="0"/>
  <p:tag name="KSO_WM_UNIT_DIAGRAM_ISNUMVISUAL" val="0"/>
  <p:tag name="KSO_WM_UNIT_DIAGRAM_ISREFERUNIT" val="0"/>
  <p:tag name="KSO_WM_UNIT_ID" val="diagram20236935_1*m_h_i*1_2_1"/>
  <p:tag name="KSO_WM_TEMPLATE_CATEGORY" val="diagram"/>
  <p:tag name="KSO_WM_TEMPLATE_INDEX" val="20236935"/>
  <p:tag name="KSO_WM_UNIT_LAYERLEVEL" val="1_1_1"/>
  <p:tag name="KSO_WM_TAG_VERSION" val="3.0"/>
  <p:tag name="KSO_WM_DIAGRAM_GROUP_CODE" val="m1-1"/>
  <p:tag name="KSO_WM_UNIT_TYPE" val="m_h_i"/>
  <p:tag name="KSO_WM_UNIT_INDEX" val="1_2_1"/>
  <p:tag name="KSO_WM_DIAGRAM_VERSION" val="3"/>
  <p:tag name="KSO_WM_DIAGRAM_COLOR_TRICK" val="1"/>
  <p:tag name="KSO_WM_DIAGRAM_COLOR_TEXT_CAN_REMOVE" val="n"/>
  <p:tag name="KSO_WM_DIAGRAM_MAX_ITEMCNT" val="5"/>
  <p:tag name="KSO_WM_DIAGRAM_MIN_ITEMCNT" val="3"/>
  <p:tag name="KSO_WM_DIAGRAM_COLOR_MATCH_VALUE" val="{&quot;shape&quot;:{&quot;fill&quot;:{&quot;type&quot;:0},&quot;glow&quot;:{&quot;colorType&quot;:0},&quot;line&quot;:{&quot;gradient&quot;:[{&quot;brightness&quot;:0,&quot;colorType&quot;:1,&quot;foreColorIndex&quot;:5,&quot;pos&quot;:0.6800000071525574,&quot;transparency&quot;:0.5},{&quot;brightness&quot;:0,&quot;colorType&quot;:1,&quot;foreColorIndex&quot;:5,&quot;pos&quot;:0.1599999964237213,&quot;transparency&quot;:1},{&quot;brightness&quot;:0,&quot;colorType&quot;:1,&quot;foreColorIndex&quot;:5,&quot;pos&quot;:1,&quot;transparency&quot;:0}],&quot;type&quot;:2},&quot;shadow&quot;:{&quot;colorType&quot;:0},&quot;threeD&quot;:{&quot;curvedSurface&quot;:{&quot;brightness&quot;:0,&quot;colorType&quot;:2,&quot;rgb&quot;:&quot;#000000&quot;},&quot;depth&quot;:{&quot;colorType&quot;:0}}},&quot;text&quot;:{&quot;fill&quot;:{},&quot;glow&quot;:{},&quot;line&quot;:{},&quot;shadow&quot;:{},&quot;threeD&quot;:{}}}"/>
  <p:tag name="KSO_WM_DIAGRAM_USE_COLOR_VALUE" val="{&quot;color_scheme&quot;:1,&quot;color_type&quot;:1,&quot;theme_color_indexes&quot;:[5,5,5,5,5,5]}"/>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465.9749606299213,&quot;left&quot;:1.1,&quot;top&quot;:91.82503937007871,&quot;width&quot;:960}"/>
  <p:tag name="KSO_WM_UNIT_HIGHLIGHT" val="0"/>
  <p:tag name="KSO_WM_UNIT_COMPATIBLE" val="0"/>
  <p:tag name="KSO_WM_UNIT_DIAGRAM_ISNUMVISUAL" val="0"/>
  <p:tag name="KSO_WM_UNIT_DIAGRAM_ISREFERUNIT" val="0"/>
  <p:tag name="KSO_WM_UNIT_ID" val="diagram20236935_1*m_h_i*1_2_2"/>
  <p:tag name="KSO_WM_TEMPLATE_CATEGORY" val="diagram"/>
  <p:tag name="KSO_WM_TEMPLATE_INDEX" val="20236935"/>
  <p:tag name="KSO_WM_UNIT_LAYERLEVEL" val="1_1_1"/>
  <p:tag name="KSO_WM_TAG_VERSION" val="3.0"/>
  <p:tag name="KSO_WM_DIAGRAM_GROUP_CODE" val="m1-1"/>
  <p:tag name="KSO_WM_UNIT_SUBTYPE" val="nb"/>
  <p:tag name="KSO_WM_UNIT_TYPE" val="m_h_i"/>
  <p:tag name="KSO_WM_UNIT_INDEX" val="1_2_2"/>
  <p:tag name="KSO_WM_DIAGRAM_VERSION" val="3"/>
  <p:tag name="KSO_WM_DIAGRAM_COLOR_TRICK" val="1"/>
  <p:tag name="KSO_WM_DIAGRAM_COLOR_TEXT_CAN_REMOVE" val="n"/>
  <p:tag name="KSO_WM_UNIT_FILL_TYPE" val="3"/>
  <p:tag name="KSO_WM_DIAGRAM_MAX_ITEMCNT" val="5"/>
  <p:tag name="KSO_WM_DIAGRAM_MIN_ITEMCNT" val="3"/>
  <p:tag name="KSO_WM_DIAGRAM_COLOR_MATCH_VALUE" val="{&quot;shape&quot;:{&quot;fill&quot;:{&quot;gradient&quot;:[{&quot;brightness&quot;:0.4000000059604645,&quot;colorType&quot;:1,&quot;foreColorIndex&quot;:5,&quot;pos&quot;:0.10999999940395355,&quot;transparency&quot;:0},{&quot;brightness&quot;:0,&quot;colorType&quot;:1,&quot;foreColorIndex&quot;:5,&quot;pos&quot;:1,&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5,5,5,5,5]}"/>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465.9749606299213,&quot;left&quot;:1.1,&quot;top&quot;:91.82503937007871,&quot;width&quot;:960}"/>
  <p:tag name="KSO_WM_UNIT_HIGHLIGHT" val="0"/>
  <p:tag name="KSO_WM_UNIT_COMPATIBLE" val="0"/>
  <p:tag name="KSO_WM_UNIT_DIAGRAM_ISNUMVISUAL" val="0"/>
  <p:tag name="KSO_WM_UNIT_DIAGRAM_ISREFERUNIT" val="0"/>
  <p:tag name="KSO_WM_UNIT_ID" val="diagram20236935_1*m_h_i*1_2_2"/>
  <p:tag name="KSO_WM_TEMPLATE_CATEGORY" val="diagram"/>
  <p:tag name="KSO_WM_TEMPLATE_INDEX" val="20236935"/>
  <p:tag name="KSO_WM_UNIT_LAYERLEVEL" val="1_1_1"/>
  <p:tag name="KSO_WM_TAG_VERSION" val="3.0"/>
  <p:tag name="KSO_WM_DIAGRAM_GROUP_CODE" val="m1-1"/>
  <p:tag name="KSO_WM_UNIT_SUBTYPE" val="nb"/>
  <p:tag name="KSO_WM_UNIT_TYPE" val="m_h_i"/>
  <p:tag name="KSO_WM_UNIT_INDEX" val="1_2_2"/>
  <p:tag name="KSO_WM_DIAGRAM_VERSION" val="3"/>
  <p:tag name="KSO_WM_DIAGRAM_COLOR_TRICK" val="1"/>
  <p:tag name="KSO_WM_DIAGRAM_COLOR_TEXT_CAN_REMOVE" val="n"/>
  <p:tag name="KSO_WM_UNIT_FILL_TYPE" val="3"/>
  <p:tag name="KSO_WM_DIAGRAM_MAX_ITEMCNT" val="5"/>
  <p:tag name="KSO_WM_DIAGRAM_MIN_ITEMCNT" val="3"/>
  <p:tag name="KSO_WM_DIAGRAM_COLOR_MATCH_VALUE" val="{&quot;shape&quot;:{&quot;fill&quot;:{&quot;gradient&quot;:[{&quot;brightness&quot;:0.4000000059604645,&quot;colorType&quot;:1,&quot;foreColorIndex&quot;:5,&quot;pos&quot;:0.10999999940395355,&quot;transparency&quot;:0},{&quot;brightness&quot;:0,&quot;colorType&quot;:1,&quot;foreColorIndex&quot;:5,&quot;pos&quot;:1,&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5,5,5,5,5]}"/>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465.9749606299213,&quot;left&quot;:1.1,&quot;top&quot;:91.82503937007871,&quot;width&quot;:960}"/>
  <p:tag name="KSO_WM_UNIT_HIGHLIGHT" val="0"/>
  <p:tag name="KSO_WM_UNIT_COMPATIBLE" val="0"/>
  <p:tag name="KSO_WM_UNIT_DIAGRAM_ISNUMVISUAL" val="0"/>
  <p:tag name="KSO_WM_UNIT_DIAGRAM_ISREFERUNIT" val="0"/>
  <p:tag name="KSO_WM_UNIT_ID" val="diagram20236935_1*m_h_i*1_2_2"/>
  <p:tag name="KSO_WM_TEMPLATE_CATEGORY" val="diagram"/>
  <p:tag name="KSO_WM_TEMPLATE_INDEX" val="20236935"/>
  <p:tag name="KSO_WM_UNIT_LAYERLEVEL" val="1_1_1"/>
  <p:tag name="KSO_WM_TAG_VERSION" val="3.0"/>
  <p:tag name="KSO_WM_DIAGRAM_GROUP_CODE" val="m1-1"/>
  <p:tag name="KSO_WM_UNIT_SUBTYPE" val="nb"/>
  <p:tag name="KSO_WM_UNIT_TYPE" val="m_h_i"/>
  <p:tag name="KSO_WM_UNIT_INDEX" val="1_2_2"/>
  <p:tag name="KSO_WM_DIAGRAM_VERSION" val="3"/>
  <p:tag name="KSO_WM_DIAGRAM_COLOR_TRICK" val="1"/>
  <p:tag name="KSO_WM_DIAGRAM_COLOR_TEXT_CAN_REMOVE" val="n"/>
  <p:tag name="KSO_WM_UNIT_FILL_TYPE" val="3"/>
  <p:tag name="KSO_WM_DIAGRAM_MAX_ITEMCNT" val="5"/>
  <p:tag name="KSO_WM_DIAGRAM_MIN_ITEMCNT" val="3"/>
  <p:tag name="KSO_WM_DIAGRAM_COLOR_MATCH_VALUE" val="{&quot;shape&quot;:{&quot;fill&quot;:{&quot;gradient&quot;:[{&quot;brightness&quot;:0.4000000059604645,&quot;colorType&quot;:1,&quot;foreColorIndex&quot;:5,&quot;pos&quot;:0.10999999940395355,&quot;transparency&quot;:0},{&quot;brightness&quot;:0,&quot;colorType&quot;:1,&quot;foreColorIndex&quot;:5,&quot;pos&quot;:1,&quot;transparency&quot;:0}],&quot;type&quot;:3},&quot;glow&quot;:{&quot;colorType&quot;:0},&quot;line&quot;:{&quot;type&quot;:0},&quot;shadow&quot;:{&quot;brightness&quot;:-0.25,&quot;colorType&quot;:1,&quot;foreColorIndex&quot;:5,&quot;transparency&quot;:0.800000011920929},&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DIAGRAM_USE_COLOR_VALUE" val="{&quot;color_scheme&quot;:1,&quot;color_type&quot;:1,&quot;theme_color_indexes&quot;:[5,5,5,5,5,5]}"/>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465.9749606299213,&quot;left&quot;:1.1,&quot;top&quot;:91.82503937007871,&quot;width&quot;:960}"/>
  <p:tag name="KSO_WM_UNIT_HIGHLIGHT" val="0"/>
  <p:tag name="KSO_WM_UNIT_COMPATIBLE" val="0"/>
  <p:tag name="KSO_WM_UNIT_DIAGRAM_ISNUMVISUAL" val="0"/>
  <p:tag name="KSO_WM_UNIT_DIAGRAM_ISREFERUNIT" val="0"/>
  <p:tag name="KSO_WM_UNIT_ID" val="diagram20236935_1*m_h_a*1_2_1"/>
  <p:tag name="KSO_WM_TEMPLATE_CATEGORY" val="diagram"/>
  <p:tag name="KSO_WM_TEMPLATE_INDEX" val="20236935"/>
  <p:tag name="KSO_WM_UNIT_LAYERLEVEL" val="1_1_1"/>
  <p:tag name="KSO_WM_TAG_VERSION" val="3.0"/>
  <p:tag name="KSO_WM_UNIT_ISCONTENTSTITLE" val="0"/>
  <p:tag name="KSO_WM_UNIT_ISNUMDGMTITLE" val="0"/>
  <p:tag name="KSO_WM_UNIT_NOCLEAR" val="0"/>
  <p:tag name="KSO_WM_DIAGRAM_GROUP_CODE" val="m1-1"/>
  <p:tag name="KSO_WM_UNIT_TYPE" val="m_h_a"/>
  <p:tag name="KSO_WM_UNIT_INDEX" val="1_2_1"/>
  <p:tag name="KSO_WM_DIAGRAM_VERSION" val="3"/>
  <p:tag name="KSO_WM_DIAGRAM_COLOR_TRICK" val="1"/>
  <p:tag name="KSO_WM_DIAGRAM_COLOR_TEXT_CAN_REMOVE" val="n"/>
  <p:tag name="KSO_WM_UNIT_PRESET_TEXT" val="添加项标题"/>
  <p:tag name="KSO_WM_UNIT_TEXT_FILL_FORE_SCHEMECOLOR_INDEX" val="1"/>
  <p:tag name="KSO_WM_UNIT_TEXT_FILL_TYPE" val="1"/>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5,5,5,5,5]}"/>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465.9749606299213,&quot;left&quot;:1.1,&quot;top&quot;:91.82503937007871,&quot;width&quot;:960}"/>
  <p:tag name="KSO_WM_UNIT_HIGHLIGHT" val="0"/>
  <p:tag name="KSO_WM_UNIT_COMPATIBLE" val="0"/>
  <p:tag name="KSO_WM_UNIT_DIAGRAM_ISNUMVISUAL" val="0"/>
  <p:tag name="KSO_WM_UNIT_DIAGRAM_ISREFERUNIT" val="0"/>
  <p:tag name="KSO_WM_UNIT_ID" val="diagram20236935_1*m_h_a*1_1_1"/>
  <p:tag name="KSO_WM_TEMPLATE_CATEGORY" val="diagram"/>
  <p:tag name="KSO_WM_TEMPLATE_INDEX" val="20236935"/>
  <p:tag name="KSO_WM_UNIT_LAYERLEVEL" val="1_1_1"/>
  <p:tag name="KSO_WM_TAG_VERSION" val="3.0"/>
  <p:tag name="KSO_WM_UNIT_ISCONTENTSTITLE" val="0"/>
  <p:tag name="KSO_WM_UNIT_ISNUMDGMTITLE" val="0"/>
  <p:tag name="KSO_WM_UNIT_NOCLEAR" val="0"/>
  <p:tag name="KSO_WM_DIAGRAM_GROUP_CODE" val="m1-1"/>
  <p:tag name="KSO_WM_UNIT_TYPE" val="m_h_a"/>
  <p:tag name="KSO_WM_UNIT_INDEX" val="1_1_1"/>
  <p:tag name="KSO_WM_DIAGRAM_VERSION" val="3"/>
  <p:tag name="KSO_WM_DIAGRAM_COLOR_TRICK" val="1"/>
  <p:tag name="KSO_WM_DIAGRAM_COLOR_TEXT_CAN_REMOVE" val="n"/>
  <p:tag name="KSO_WM_UNIT_PRESET_TEXT" val="添加项标题"/>
  <p:tag name="KSO_WM_UNIT_TEXT_FILL_FORE_SCHEMECOLOR_INDEX" val="1"/>
  <p:tag name="KSO_WM_UNIT_TEXT_FILL_TYPE" val="1"/>
  <p:tag name="KSO_WM_DIAGRAM_MAX_ITEMCNT" val="5"/>
  <p:tag name="KSO_WM_DIAGRAM_MIN_ITEMCNT" val="3"/>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13,&quot;transparency&quot;:0},&quot;type&quot;:1},&quot;glow&quot;:{&quot;colorType&quot;:0},&quot;line&quot;:{&quot;type&quot;:0},&quot;shadow&quot;:{&quot;colorType&quot;:0},&quot;threeD&quot;:{&quot;curvedSurface&quot;:{&quot;brightness&quot;:0,&quot;colorType&quot;:2,&quot;rgb&quot;:&quot;#000000&quot;},&quot;depth&quot;:{&quot;colorType&quot;:0}}}}"/>
  <p:tag name="KSO_WM_UNIT_TEXT_TYPE" val="1"/>
  <p:tag name="KSO_WM_DIAGRAM_USE_COLOR_VALUE" val="{&quot;color_scheme&quot;:1,&quot;color_type&quot;:1,&quot;theme_color_indexes&quot;:[5,5,5,5,5,5]}"/>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7340</TotalTime>
  <Words>5910</Words>
  <Application>Microsoft Office PowerPoint</Application>
  <PresentationFormat>宽屏</PresentationFormat>
  <Paragraphs>690</Paragraphs>
  <Slides>32</Slides>
  <Notes>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32</vt:i4>
      </vt:variant>
    </vt:vector>
  </HeadingPairs>
  <TitlesOfParts>
    <vt:vector size="43" baseType="lpstr">
      <vt:lpstr>LarkHackSafariFont</vt:lpstr>
      <vt:lpstr>MonospacedNumber</vt:lpstr>
      <vt:lpstr>等线</vt:lpstr>
      <vt:lpstr>等线 Light</vt:lpstr>
      <vt:lpstr>宋体</vt:lpstr>
      <vt:lpstr>微软雅黑</vt:lpstr>
      <vt:lpstr>Arial</vt:lpstr>
      <vt:lpstr>Calibri</vt:lpstr>
      <vt:lpstr>Wingdings</vt:lpstr>
      <vt:lpstr>Office 主题​​</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1405</dc:creator>
  <cp:lastModifiedBy>Lenovo</cp:lastModifiedBy>
  <cp:revision>301</cp:revision>
  <dcterms:created xsi:type="dcterms:W3CDTF">2025-07-28T02:11:00Z</dcterms:created>
  <dcterms:modified xsi:type="dcterms:W3CDTF">2025-10-27T09:46:48Z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D94573FBE26046E28D578AEA2B965915_13</vt:lpwstr>
  </property>
  <property fmtid="{D5CDD505-2E9C-101B-9397-08002B2CF9AE}" pid="3" name="KSOProductBuildVer">
    <vt:lpwstr>2052-12.1.0.22529</vt:lpwstr>
  </property>
</Properties>
</file>