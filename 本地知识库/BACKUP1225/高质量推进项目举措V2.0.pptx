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26"/>
  </p:notesMasterIdLst>
  <p:sldIdLst>
    <p:sldId id="256" r:id="rId3"/>
    <p:sldId id="359" r:id="rId4"/>
    <p:sldId id="324" r:id="rId5"/>
    <p:sldId id="371" r:id="rId6"/>
    <p:sldId id="364" r:id="rId7"/>
    <p:sldId id="369" r:id="rId8"/>
    <p:sldId id="370" r:id="rId9"/>
    <p:sldId id="360" r:id="rId10"/>
    <p:sldId id="354" r:id="rId11"/>
    <p:sldId id="355" r:id="rId12"/>
    <p:sldId id="356" r:id="rId13"/>
    <p:sldId id="357" r:id="rId14"/>
    <p:sldId id="358" r:id="rId15"/>
    <p:sldId id="361" r:id="rId16"/>
    <p:sldId id="346" r:id="rId17"/>
    <p:sldId id="362" r:id="rId18"/>
    <p:sldId id="365" r:id="rId19"/>
    <p:sldId id="366" r:id="rId20"/>
    <p:sldId id="367" r:id="rId21"/>
    <p:sldId id="368" r:id="rId22"/>
    <p:sldId id="363" r:id="rId23"/>
    <p:sldId id="352" r:id="rId24"/>
    <p:sldId id="266"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70" autoAdjust="0"/>
    <p:restoredTop sz="90196" autoAdjust="0"/>
  </p:normalViewPr>
  <p:slideViewPr>
    <p:cSldViewPr snapToGrid="0">
      <p:cViewPr varScale="1">
        <p:scale>
          <a:sx n="84" d="100"/>
          <a:sy n="84" d="100"/>
        </p:scale>
        <p:origin x="581" y="62"/>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2025/12/2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166089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682711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98128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54059457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2025/12/2</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ruijie.feishu.cn/wiki/FEHFwfdcBipTvzkEofsc1v8yn4f" TargetMode="External"/><Relationship Id="rId2" Type="http://schemas.openxmlformats.org/officeDocument/2006/relationships/hyperlink" Target="N&#21644;3T&#27969;&#31243;&#22521;&#35757;&#23459;&#36143;&#26448;&#26009;_V5.0.pptx" TargetMode="Externa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ruijie.feishu.cn/wiki/VSwIw2RBciydzxkNT2DcnqzAnKg"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ruijie.feishu.cn/wiki/LLPjwTsVxilKFDkZ3uGcFv7gnpb"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ruijie.feishu.cn/wiki/KCyrw4wtViAalrkgqMUcShBNn9e"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notesSlide" Target="../notesSlides/notesSlide1.xml"/><Relationship Id="rId5" Type="http://schemas.openxmlformats.org/officeDocument/2006/relationships/tags" Target="../tags/tag20.xml"/><Relationship Id="rId10" Type="http://schemas.openxmlformats.org/officeDocument/2006/relationships/slideLayout" Target="../slideLayouts/slideLayout7.xml"/><Relationship Id="rId4" Type="http://schemas.openxmlformats.org/officeDocument/2006/relationships/tags" Target="../tags/tag19.xml"/><Relationship Id="rId9" Type="http://schemas.openxmlformats.org/officeDocument/2006/relationships/tags" Target="../tags/tag24.xml"/></Relationships>
</file>

<file path=ppt/slides/_rels/slide19.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notesSlide" Target="../notesSlides/notesSlide2.xml"/><Relationship Id="rId4" Type="http://schemas.openxmlformats.org/officeDocument/2006/relationships/tags" Target="../tags/tag28.xml"/><Relationship Id="rId9"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185487" cy="492443"/>
          </a:xfrm>
          <a:prstGeom prst="rect">
            <a:avLst/>
          </a:prstGeom>
          <a:noFill/>
        </p:spPr>
        <p:txBody>
          <a:bodyPr wrap="none" rtlCol="0">
            <a:spAutoFit/>
          </a:bodyPr>
          <a:lstStyle/>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高质量推进销售项目</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2025.11</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36125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关键点识别与现状分析</a:t>
            </a:r>
            <a:endParaRPr lang="en-US" altLang="zh-CN" dirty="0" smtClean="0"/>
          </a:p>
          <a:p>
            <a:pPr marL="342900" indent="-342900">
              <a:lnSpc>
                <a:spcPct val="150000"/>
              </a:lnSpc>
              <a:buFont typeface="Arial" panose="020B0604020202020204" pitchFamily="34" charset="0"/>
              <a:buChar char="•"/>
              <a:defRPr/>
            </a:pPr>
            <a:r>
              <a:rPr lang="zh-CN" altLang="en-US" dirty="0" smtClean="0"/>
              <a:t>高质量的执行</a:t>
            </a:r>
            <a:r>
              <a:rPr lang="en-US" altLang="zh-CN" dirty="0" smtClean="0"/>
              <a:t>MO</a:t>
            </a:r>
            <a:r>
              <a:rPr lang="zh-CN" altLang="en-US" dirty="0" smtClean="0"/>
              <a:t>关键活动</a:t>
            </a:r>
            <a:endParaRPr lang="en-US" altLang="zh-CN" dirty="0" smtClean="0"/>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销售与供应链协同机制</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3097991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smtClean="0"/>
              <a:t>高质量推进销售项目要关注的核心点</a:t>
            </a:r>
            <a:endParaRPr lang="zh-CN" altLang="en-US" dirty="0"/>
          </a:p>
        </p:txBody>
      </p:sp>
      <p:sp>
        <p:nvSpPr>
          <p:cNvPr id="60" name="矩形 59"/>
          <p:cNvSpPr/>
          <p:nvPr/>
        </p:nvSpPr>
        <p:spPr>
          <a:xfrm>
            <a:off x="10118573" y="1327514"/>
            <a:ext cx="1933889" cy="47608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本次</a:t>
            </a:r>
          </a:p>
        </p:txBody>
      </p:sp>
      <p:sp>
        <p:nvSpPr>
          <p:cNvPr id="61" name="文本框 60"/>
          <p:cNvSpPr txBox="1"/>
          <p:nvPr/>
        </p:nvSpPr>
        <p:spPr>
          <a:xfrm>
            <a:off x="9957802" y="892834"/>
            <a:ext cx="1688221"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问题描述</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10101851" y="1399623"/>
            <a:ext cx="1967331" cy="4339650"/>
          </a:xfrm>
          <a:prstGeom prst="rect">
            <a:avLst/>
          </a:prstGeom>
        </p:spPr>
        <p:txBody>
          <a:bodyPr wrap="square">
            <a:spAutoFit/>
          </a:bodyPr>
          <a:lstStyle/>
          <a:p>
            <a:r>
              <a:rPr lang="en-US" altLang="zh-CN" sz="1200" b="1" dirty="0" smtClean="0"/>
              <a:t>1</a:t>
            </a:r>
            <a:r>
              <a:rPr lang="zh-CN" altLang="en-US" sz="1200" b="1" dirty="0" smtClean="0"/>
              <a:t>、高质量执行</a:t>
            </a:r>
            <a:r>
              <a:rPr lang="en-US" altLang="zh-CN" sz="1200" b="1" dirty="0" smtClean="0"/>
              <a:t>MO</a:t>
            </a:r>
            <a:r>
              <a:rPr lang="zh-CN" altLang="en-US" sz="1200" b="1" dirty="0" smtClean="0"/>
              <a:t>关键业务活动：</a:t>
            </a:r>
            <a:endParaRPr lang="en-US" altLang="zh-CN" sz="1200" b="1" dirty="0" smtClean="0"/>
          </a:p>
          <a:p>
            <a:r>
              <a:rPr lang="en-US" altLang="zh-CN" sz="1200" dirty="0" smtClean="0"/>
              <a:t>1.1</a:t>
            </a:r>
            <a:r>
              <a:rPr lang="zh-CN" altLang="en-US" sz="1200" dirty="0" smtClean="0"/>
              <a:t>、做准</a:t>
            </a:r>
            <a:r>
              <a:rPr lang="en-US" altLang="zh-CN" sz="1200" dirty="0" smtClean="0"/>
              <a:t>N</a:t>
            </a:r>
            <a:r>
              <a:rPr lang="zh-CN" altLang="en-US" sz="1200" dirty="0" smtClean="0"/>
              <a:t>和</a:t>
            </a:r>
            <a:r>
              <a:rPr lang="en-US" altLang="zh-CN" sz="1200" dirty="0" smtClean="0"/>
              <a:t>T</a:t>
            </a:r>
            <a:r>
              <a:rPr lang="zh-CN" altLang="en-US" sz="1200" dirty="0" smtClean="0"/>
              <a:t>直接影响销售预测，供应链备货和订单交付流程；</a:t>
            </a:r>
            <a:endParaRPr lang="en-US" altLang="zh-CN" sz="1200" dirty="0" smtClean="0"/>
          </a:p>
          <a:p>
            <a:r>
              <a:rPr lang="en-US" altLang="zh-CN" sz="1200" dirty="0" smtClean="0"/>
              <a:t>1.2</a:t>
            </a:r>
            <a:r>
              <a:rPr lang="zh-CN" altLang="en-US" sz="1200" dirty="0" smtClean="0"/>
              <a:t>、执行好解决方案评审，标前评审与赢丢单复盘环节，提高方案质量，做好特价审批申请与审批工作，对于赢丢单经验进行总结与复盘；</a:t>
            </a:r>
            <a:endParaRPr lang="en-US" altLang="zh-CN" sz="1200" dirty="0" smtClean="0"/>
          </a:p>
          <a:p>
            <a:endParaRPr lang="en-US" altLang="zh-CN" sz="1200" dirty="0" smtClean="0"/>
          </a:p>
          <a:p>
            <a:r>
              <a:rPr lang="en-US" altLang="zh-CN" sz="1200" b="1" dirty="0" smtClean="0"/>
              <a:t>2</a:t>
            </a:r>
            <a:r>
              <a:rPr lang="zh-CN" altLang="en-US" sz="1200" b="1" dirty="0" smtClean="0"/>
              <a:t>、为了更好的支持后端备货及交付，销售预测不光要管理下单承诺还需要关注要货时间；</a:t>
            </a:r>
            <a:endParaRPr lang="en-US" altLang="zh-CN" sz="1200" b="1" dirty="0" smtClean="0"/>
          </a:p>
          <a:p>
            <a:endParaRPr lang="en-US" altLang="zh-CN" sz="1200" b="1" dirty="0"/>
          </a:p>
          <a:p>
            <a:r>
              <a:rPr lang="en-US" altLang="zh-CN" sz="1200" b="1" dirty="0" smtClean="0"/>
              <a:t>3</a:t>
            </a:r>
            <a:r>
              <a:rPr lang="zh-CN" altLang="en-US" sz="1200" b="1" dirty="0" smtClean="0"/>
              <a:t>、项目推进过程中及时与供应链协同，提前做好下单，备货准备；</a:t>
            </a:r>
            <a:endParaRPr lang="en-US" altLang="zh-CN" sz="1200" b="1" dirty="0" smtClean="0"/>
          </a:p>
          <a:p>
            <a:endParaRPr lang="en-US" altLang="zh-CN" sz="1200" b="1" dirty="0"/>
          </a:p>
          <a:p>
            <a:r>
              <a:rPr lang="en-US" altLang="zh-CN" sz="1200" b="1" dirty="0" smtClean="0"/>
              <a:t>4</a:t>
            </a:r>
            <a:r>
              <a:rPr lang="zh-CN" altLang="en-US" sz="1200" b="1" dirty="0" smtClean="0"/>
              <a:t>、渠道下单的管理，确保实际时间与预测保持一致</a:t>
            </a:r>
            <a:endParaRPr lang="en-US" altLang="zh-CN" sz="1200" b="1" dirty="0"/>
          </a:p>
        </p:txBody>
      </p:sp>
      <p:pic>
        <p:nvPicPr>
          <p:cNvPr id="4" name="图片 3"/>
          <p:cNvPicPr>
            <a:picLocks noChangeAspect="1"/>
          </p:cNvPicPr>
          <p:nvPr/>
        </p:nvPicPr>
        <p:blipFill>
          <a:blip r:embed="rId2"/>
          <a:stretch>
            <a:fillRect/>
          </a:stretch>
        </p:blipFill>
        <p:spPr>
          <a:xfrm>
            <a:off x="282738" y="1215374"/>
            <a:ext cx="9658343" cy="48730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目标</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1870200311"/>
              </p:ext>
            </p:extLst>
          </p:nvPr>
        </p:nvGraphicFramePr>
        <p:xfrm>
          <a:off x="645833" y="1018431"/>
          <a:ext cx="10438646" cy="4968240"/>
        </p:xfrm>
        <a:graphic>
          <a:graphicData uri="http://schemas.openxmlformats.org/drawingml/2006/table">
            <a:tbl>
              <a:tblPr firstRow="1" bandRow="1">
                <a:tableStyleId>{5C22544A-7EE6-4342-B048-85BDC9FD1C3A}</a:tableStyleId>
              </a:tblPr>
              <a:tblGrid>
                <a:gridCol w="2453895"/>
                <a:gridCol w="2323431"/>
                <a:gridCol w="1288374"/>
                <a:gridCol w="1354203"/>
                <a:gridCol w="1381875"/>
                <a:gridCol w="1636868"/>
              </a:tblGrid>
              <a:tr h="185420">
                <a:tc rowSpan="2">
                  <a:txBody>
                    <a:bodyPr/>
                    <a:lstStyle/>
                    <a:p>
                      <a:pPr algn="ctr"/>
                      <a:r>
                        <a:rPr lang="zh-CN" altLang="en-US" sz="1400" b="1" dirty="0" smtClean="0"/>
                        <a:t>目标</a:t>
                      </a:r>
                      <a:endParaRPr lang="zh-CN" altLang="en-US" sz="1400" b="1" dirty="0"/>
                    </a:p>
                  </a:txBody>
                  <a:tcPr/>
                </a:tc>
                <a:tc>
                  <a:txBody>
                    <a:bodyPr/>
                    <a:lstStyle/>
                    <a:p>
                      <a:pPr algn="ctr"/>
                      <a:r>
                        <a:rPr lang="zh-CN" altLang="en-US" sz="1400" dirty="0" smtClean="0"/>
                        <a:t>试点区域</a:t>
                      </a:r>
                      <a:endParaRPr lang="zh-CN" altLang="en-US" sz="1400" dirty="0"/>
                    </a:p>
                  </a:txBody>
                  <a:tcPr/>
                </a:tc>
                <a:tc gridSpan="4">
                  <a:txBody>
                    <a:bodyPr/>
                    <a:lstStyle/>
                    <a:p>
                      <a:pPr algn="ctr"/>
                      <a:r>
                        <a:rPr lang="zh-CN" altLang="en-US" sz="1400" dirty="0" smtClean="0"/>
                        <a:t>全国</a:t>
                      </a:r>
                      <a:endParaRPr lang="zh-CN" altLang="en-US" sz="1400"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r>
              <a:tr h="185420">
                <a:tc vMerge="1">
                  <a:txBody>
                    <a:bodyPr/>
                    <a:lstStyle/>
                    <a:p>
                      <a:pPr algn="ctr"/>
                      <a:endParaRPr lang="zh-CN" altLang="en-US" sz="1600" dirty="0"/>
                    </a:p>
                  </a:txBody>
                  <a:tcPr/>
                </a:tc>
                <a:tc>
                  <a:txBody>
                    <a:bodyPr/>
                    <a:lstStyle/>
                    <a:p>
                      <a:pPr algn="ctr"/>
                      <a:r>
                        <a:rPr lang="en-US" altLang="zh-CN" sz="1400" b="1" dirty="0" smtClean="0"/>
                        <a:t>2025</a:t>
                      </a:r>
                      <a:r>
                        <a:rPr lang="zh-CN" altLang="en-US" sz="1400" b="1" dirty="0" smtClean="0"/>
                        <a:t>年</a:t>
                      </a:r>
                      <a:r>
                        <a:rPr lang="en-US" altLang="zh-CN" sz="1400" b="1" dirty="0" smtClean="0"/>
                        <a:t>12</a:t>
                      </a:r>
                      <a:r>
                        <a:rPr lang="zh-CN" altLang="en-US" sz="1400" b="1" dirty="0" smtClean="0"/>
                        <a:t>月</a:t>
                      </a:r>
                      <a:endParaRPr lang="zh-CN" altLang="en-US" sz="14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t>2026-Q1</a:t>
                      </a:r>
                      <a:endParaRPr lang="zh-CN" altLang="en-US" sz="1400" b="1" dirty="0" smtClean="0"/>
                    </a:p>
                  </a:txBody>
                  <a:tcPr/>
                </a:tc>
                <a:tc>
                  <a:txBody>
                    <a:bodyPr/>
                    <a:lstStyle/>
                    <a:p>
                      <a:pPr algn="ctr"/>
                      <a:r>
                        <a:rPr lang="en-US" altLang="zh-CN" sz="1400" b="1" dirty="0" smtClean="0"/>
                        <a:t>2026-Q2</a:t>
                      </a:r>
                      <a:endParaRPr lang="zh-CN" altLang="en-US" sz="1400" b="1" dirty="0"/>
                    </a:p>
                  </a:txBody>
                  <a:tcPr/>
                </a:tc>
                <a:tc>
                  <a:txBody>
                    <a:bodyPr/>
                    <a:lstStyle/>
                    <a:p>
                      <a:pPr algn="ctr"/>
                      <a:r>
                        <a:rPr lang="en-US" altLang="zh-CN" sz="1400" b="1" dirty="0" smtClean="0"/>
                        <a:t>2026-Q3</a:t>
                      </a:r>
                      <a:endParaRPr lang="zh-CN" altLang="en-US" sz="1400" b="1" dirty="0"/>
                    </a:p>
                  </a:txBody>
                  <a:tcPr/>
                </a:tc>
                <a:tc>
                  <a:txBody>
                    <a:bodyPr/>
                    <a:lstStyle/>
                    <a:p>
                      <a:pPr algn="ctr"/>
                      <a:r>
                        <a:rPr lang="en-US" altLang="zh-CN" sz="1400" b="1" dirty="0" smtClean="0"/>
                        <a:t>2026-Q4</a:t>
                      </a:r>
                      <a:endParaRPr lang="zh-CN" altLang="en-US" sz="1400" b="1" dirty="0"/>
                    </a:p>
                  </a:txBody>
                  <a:tcPr/>
                </a:tc>
              </a:tr>
              <a:tr h="302771">
                <a:tc gridSpan="6">
                  <a:txBody>
                    <a:bodyPr/>
                    <a:lstStyle/>
                    <a:p>
                      <a:pPr algn="l"/>
                      <a:r>
                        <a:rPr lang="zh-CN" altLang="en-US" sz="1400" b="1" dirty="0" smtClean="0"/>
                        <a:t>流程跑起来：</a:t>
                      </a:r>
                      <a:endParaRPr lang="zh-CN" altLang="en-US" sz="1400" b="1" dirty="0"/>
                    </a:p>
                  </a:txBody>
                  <a:tcPr/>
                </a:tc>
                <a:tc hMerge="1">
                  <a:txBody>
                    <a:bodyPr/>
                    <a:lstStyle/>
                    <a:p>
                      <a:pPr algn="l"/>
                      <a:endParaRPr lang="zh-CN" altLang="en-US" sz="1400" dirty="0"/>
                    </a:p>
                  </a:txBody>
                  <a:tcPr/>
                </a:tc>
                <a:tc hMerge="1">
                  <a:txBody>
                    <a:bodyPr/>
                    <a:lstStyle/>
                    <a:p>
                      <a:pPr algn="l"/>
                      <a:endParaRPr lang="zh-CN" altLang="en-US" sz="1400" dirty="0" smtClean="0"/>
                    </a:p>
                  </a:txBody>
                  <a:tcPr/>
                </a:tc>
                <a:tc hMerge="1">
                  <a:txBody>
                    <a:bodyPr/>
                    <a:lstStyle/>
                    <a:p>
                      <a:pPr algn="l"/>
                      <a:endParaRPr lang="zh-CN" altLang="en-US" sz="1400" dirty="0"/>
                    </a:p>
                  </a:txBody>
                  <a:tcPr/>
                </a:tc>
                <a:tc hMerge="1">
                  <a:txBody>
                    <a:bodyPr/>
                    <a:lstStyle/>
                    <a:p>
                      <a:pPr algn="l"/>
                      <a:endParaRPr lang="zh-CN" altLang="en-US" sz="1400" dirty="0" smtClean="0"/>
                    </a:p>
                  </a:txBody>
                  <a:tcPr/>
                </a:tc>
                <a:tc hMerge="1">
                  <a:txBody>
                    <a:bodyPr/>
                    <a:lstStyle/>
                    <a:p>
                      <a:pPr algn="l"/>
                      <a:endParaRPr lang="zh-CN" altLang="en-US" sz="1400" dirty="0"/>
                    </a:p>
                  </a:txBody>
                  <a:tcPr/>
                </a:tc>
              </a:tr>
              <a:tr h="4724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MO</a:t>
                      </a:r>
                      <a:r>
                        <a:rPr lang="zh-CN" altLang="en-US" sz="1400" dirty="0" smtClean="0"/>
                        <a:t>流程</a:t>
                      </a:r>
                      <a:r>
                        <a:rPr lang="en-US" altLang="zh-CN" sz="1400" dirty="0" smtClean="0"/>
                        <a:t>KCP/KDP</a:t>
                      </a:r>
                      <a:r>
                        <a:rPr lang="zh-CN" altLang="en-US" sz="1400" dirty="0" smtClean="0"/>
                        <a:t>执行率</a:t>
                      </a:r>
                    </a:p>
                  </a:txBody>
                  <a:tcPr/>
                </a:tc>
                <a:tc>
                  <a:txBody>
                    <a:bodyPr/>
                    <a:lstStyle/>
                    <a:p>
                      <a:pPr algn="l"/>
                      <a:r>
                        <a:rPr lang="zh-CN" altLang="en-US" sz="1400" dirty="0" smtClean="0"/>
                        <a:t>启动会：</a:t>
                      </a:r>
                      <a:r>
                        <a:rPr lang="en-US" altLang="zh-CN" sz="1400" dirty="0" smtClean="0"/>
                        <a:t>60%</a:t>
                      </a:r>
                    </a:p>
                    <a:p>
                      <a:pPr algn="l"/>
                      <a:r>
                        <a:rPr lang="zh-CN" altLang="en-US" sz="1400" dirty="0" smtClean="0"/>
                        <a:t>解决方案评审：</a:t>
                      </a:r>
                      <a:r>
                        <a:rPr lang="en-US" altLang="zh-CN" sz="1400" dirty="0" smtClean="0"/>
                        <a:t>60%</a:t>
                      </a:r>
                    </a:p>
                    <a:p>
                      <a:pPr algn="l"/>
                      <a:r>
                        <a:rPr lang="zh-CN" altLang="en-US" sz="1400" dirty="0" smtClean="0"/>
                        <a:t>标前分析：</a:t>
                      </a:r>
                      <a:r>
                        <a:rPr lang="en-US" altLang="zh-CN" sz="1400" dirty="0" smtClean="0"/>
                        <a:t>60%</a:t>
                      </a:r>
                    </a:p>
                    <a:p>
                      <a:pPr algn="l"/>
                      <a:r>
                        <a:rPr lang="zh-CN" altLang="en-US" sz="1400" dirty="0" smtClean="0"/>
                        <a:t>赢丢单复盘：</a:t>
                      </a:r>
                      <a:r>
                        <a:rPr lang="en-US" altLang="zh-CN" sz="1400" dirty="0" smtClean="0"/>
                        <a:t>60%</a:t>
                      </a:r>
                      <a:endParaRPr lang="zh-CN" altLang="en-US" sz="1400" dirty="0" smtClean="0"/>
                    </a:p>
                  </a:txBody>
                  <a:tcPr/>
                </a:tc>
                <a:tc gridSpan="2">
                  <a:txBody>
                    <a:bodyPr/>
                    <a:lstStyle/>
                    <a:p>
                      <a:pPr algn="l"/>
                      <a:r>
                        <a:rPr lang="zh-CN" altLang="en-US" sz="1400" dirty="0" smtClean="0"/>
                        <a:t>启动会：</a:t>
                      </a:r>
                      <a:r>
                        <a:rPr lang="en-US" altLang="zh-CN" sz="1400" dirty="0" smtClean="0"/>
                        <a:t>80%</a:t>
                      </a:r>
                    </a:p>
                    <a:p>
                      <a:pPr algn="l"/>
                      <a:r>
                        <a:rPr lang="zh-CN" altLang="en-US" sz="1400" dirty="0" smtClean="0"/>
                        <a:t>解决方案评审：</a:t>
                      </a:r>
                      <a:r>
                        <a:rPr lang="en-US" altLang="zh-CN" sz="1400" dirty="0" smtClean="0"/>
                        <a:t>80%</a:t>
                      </a:r>
                    </a:p>
                    <a:p>
                      <a:pPr algn="l"/>
                      <a:r>
                        <a:rPr lang="zh-CN" altLang="en-US" sz="1400" dirty="0" smtClean="0"/>
                        <a:t>标前分析：</a:t>
                      </a:r>
                      <a:r>
                        <a:rPr lang="en-US" altLang="zh-CN" sz="1400" dirty="0" smtClean="0"/>
                        <a:t>80%</a:t>
                      </a:r>
                    </a:p>
                    <a:p>
                      <a:pPr algn="l"/>
                      <a:r>
                        <a:rPr lang="zh-CN" altLang="en-US" sz="1400" dirty="0" smtClean="0"/>
                        <a:t>赢丢单复盘：</a:t>
                      </a:r>
                      <a:r>
                        <a:rPr lang="en-US" altLang="zh-CN" sz="1400" dirty="0" smtClean="0"/>
                        <a:t>80%</a:t>
                      </a:r>
                      <a:endParaRPr lang="zh-CN" altLang="en-US" sz="1400" dirty="0" smtClean="0"/>
                    </a:p>
                  </a:txBody>
                  <a:tcPr/>
                </a:tc>
                <a:tc hMerge="1">
                  <a:txBody>
                    <a:bodyPr/>
                    <a:lstStyle/>
                    <a:p>
                      <a:endParaRPr lang="zh-CN" altLang="en-US"/>
                    </a:p>
                  </a:txBody>
                  <a:tcPr/>
                </a:tc>
                <a:tc gridSpan="2">
                  <a:txBody>
                    <a:bodyPr/>
                    <a:lstStyle/>
                    <a:p>
                      <a:pPr algn="l"/>
                      <a:r>
                        <a:rPr lang="zh-CN" altLang="en-US" sz="1400" dirty="0" smtClean="0"/>
                        <a:t>启动会：</a:t>
                      </a:r>
                      <a:r>
                        <a:rPr lang="en-US" altLang="zh-CN" sz="1400" dirty="0" smtClean="0"/>
                        <a:t>100%</a:t>
                      </a:r>
                    </a:p>
                    <a:p>
                      <a:pPr algn="l"/>
                      <a:r>
                        <a:rPr lang="zh-CN" altLang="en-US" sz="1400" dirty="0" smtClean="0"/>
                        <a:t>解决方案评审：</a:t>
                      </a:r>
                      <a:r>
                        <a:rPr lang="en-US" altLang="zh-CN" sz="1400" dirty="0" smtClean="0"/>
                        <a:t>100%</a:t>
                      </a:r>
                    </a:p>
                    <a:p>
                      <a:pPr algn="l"/>
                      <a:r>
                        <a:rPr lang="zh-CN" altLang="en-US" sz="1400" dirty="0" smtClean="0"/>
                        <a:t>标前分析：</a:t>
                      </a:r>
                      <a:r>
                        <a:rPr lang="en-US" altLang="zh-CN" sz="1400" dirty="0" smtClean="0"/>
                        <a:t>100%</a:t>
                      </a:r>
                    </a:p>
                    <a:p>
                      <a:pPr algn="l"/>
                      <a:r>
                        <a:rPr lang="zh-CN" altLang="en-US" sz="1400" dirty="0" smtClean="0"/>
                        <a:t>赢丢单复盘：</a:t>
                      </a:r>
                      <a:r>
                        <a:rPr lang="en-US" altLang="zh-CN" sz="1400" dirty="0" smtClean="0"/>
                        <a:t>100%</a:t>
                      </a:r>
                      <a:endParaRPr lang="zh-CN" altLang="en-US" sz="1400" dirty="0" smtClean="0"/>
                    </a:p>
                  </a:txBody>
                  <a:tcPr/>
                </a:tc>
                <a:tc hMerge="1">
                  <a:txBody>
                    <a:bodyPr/>
                    <a:lstStyle/>
                    <a:p>
                      <a:endParaRPr lang="zh-CN" altLang="en-US"/>
                    </a:p>
                  </a:txBody>
                  <a:tcPr/>
                </a:tc>
              </a:tr>
              <a:tr h="242570">
                <a:tc gridSpan="6">
                  <a:txBody>
                    <a:bodyPr/>
                    <a:lstStyle/>
                    <a:p>
                      <a:pPr algn="l"/>
                      <a:r>
                        <a:rPr lang="zh-CN" altLang="en-US" sz="1400" b="1" dirty="0" smtClean="0"/>
                        <a:t>做准</a:t>
                      </a:r>
                      <a:r>
                        <a:rPr lang="en-US" altLang="zh-CN" sz="1400" b="1" dirty="0" smtClean="0"/>
                        <a:t>N</a:t>
                      </a:r>
                      <a:r>
                        <a:rPr lang="zh-CN" altLang="en-US" sz="1400" b="1" dirty="0" smtClean="0"/>
                        <a:t>和</a:t>
                      </a:r>
                      <a:r>
                        <a:rPr lang="en-US" altLang="zh-CN" sz="1400" b="1" dirty="0" smtClean="0"/>
                        <a:t>T</a:t>
                      </a:r>
                      <a:r>
                        <a:rPr lang="zh-CN" altLang="en-US" sz="1400" b="1" dirty="0" smtClean="0"/>
                        <a:t>（销售预测，供应链协同，渠道下单）：</a:t>
                      </a:r>
                      <a:endParaRPr lang="zh-CN" altLang="en-US" sz="1400" b="1" dirty="0"/>
                    </a:p>
                  </a:txBody>
                  <a:tcPr/>
                </a:tc>
                <a:tc hMerge="1">
                  <a:txBody>
                    <a:bodyPr/>
                    <a:lstStyle/>
                    <a:p>
                      <a:pPr algn="l"/>
                      <a:endParaRPr lang="zh-CN" altLang="en-US" sz="1600" dirty="0"/>
                    </a:p>
                  </a:txBody>
                  <a:tcPr/>
                </a:tc>
                <a:tc hMerge="1">
                  <a:txBody>
                    <a:bodyPr/>
                    <a:lstStyle/>
                    <a:p>
                      <a:pPr algn="l"/>
                      <a:endParaRPr lang="zh-CN" altLang="en-US" sz="1600" dirty="0"/>
                    </a:p>
                  </a:txBody>
                  <a:tcPr/>
                </a:tc>
                <a:tc hMerge="1">
                  <a:txBody>
                    <a:bodyPr/>
                    <a:lstStyle/>
                    <a:p>
                      <a:pPr algn="l"/>
                      <a:endParaRPr lang="zh-CN" altLang="en-US" sz="1600" dirty="0"/>
                    </a:p>
                  </a:txBody>
                  <a:tcPr/>
                </a:tc>
                <a:tc hMerge="1">
                  <a:txBody>
                    <a:bodyPr/>
                    <a:lstStyle/>
                    <a:p>
                      <a:pPr algn="l"/>
                      <a:endParaRPr lang="zh-CN" altLang="en-US" sz="1600" dirty="0"/>
                    </a:p>
                  </a:txBody>
                  <a:tcPr/>
                </a:tc>
                <a:tc hMerge="1">
                  <a:txBody>
                    <a:bodyPr/>
                    <a:lstStyle/>
                    <a:p>
                      <a:pPr algn="l"/>
                      <a:endParaRPr lang="zh-CN" altLang="en-US" sz="1600" dirty="0"/>
                    </a:p>
                  </a:txBody>
                  <a:tcPr/>
                </a:tc>
              </a:tr>
              <a:tr h="1498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smtClean="0">
                          <a:solidFill>
                            <a:schemeClr val="dk1"/>
                          </a:solidFill>
                          <a:effectLst/>
                          <a:latin typeface="+mn-lt"/>
                          <a:ea typeface="+mn-ea"/>
                          <a:cs typeface="+mn-cs"/>
                        </a:rPr>
                        <a:t>下单项目清单准确率（不区分备货）</a:t>
                      </a:r>
                      <a:r>
                        <a:rPr lang="en-US" altLang="zh-CN" sz="1400" kern="1200" dirty="0" smtClean="0">
                          <a:solidFill>
                            <a:schemeClr val="dk1"/>
                          </a:solidFill>
                          <a:effectLst/>
                          <a:latin typeface="+mn-lt"/>
                          <a:ea typeface="+mn-ea"/>
                          <a:cs typeface="+mn-cs"/>
                        </a:rPr>
                        <a:t>-</a:t>
                      </a:r>
                      <a:r>
                        <a:rPr lang="zh-CN" altLang="en-US" sz="1400" kern="1200" dirty="0" smtClean="0">
                          <a:solidFill>
                            <a:schemeClr val="dk1"/>
                          </a:solidFill>
                          <a:effectLst/>
                          <a:latin typeface="+mn-lt"/>
                          <a:ea typeface="+mn-ea"/>
                          <a:cs typeface="+mn-cs"/>
                        </a:rPr>
                        <a:t>产品权重</a:t>
                      </a:r>
                      <a:endParaRPr lang="zh-CN" altLang="en-US" sz="1200" dirty="0" smtClean="0">
                        <a:effectLst/>
                      </a:endParaRPr>
                    </a:p>
                  </a:txBody>
                  <a:tcPr/>
                </a:tc>
                <a:tc>
                  <a:txBody>
                    <a:bodyPr/>
                    <a:lstStyle/>
                    <a:p>
                      <a:pPr algn="l"/>
                      <a:r>
                        <a:rPr lang="en-US" altLang="zh-CN" sz="1600" dirty="0" smtClean="0"/>
                        <a:t>M-0</a:t>
                      </a:r>
                      <a:r>
                        <a:rPr lang="zh-CN" altLang="en-US" sz="1600" dirty="0" smtClean="0"/>
                        <a:t>：</a:t>
                      </a:r>
                      <a:r>
                        <a:rPr lang="en-US" altLang="zh-CN" sz="1600" dirty="0" smtClean="0"/>
                        <a:t>85%</a:t>
                      </a:r>
                    </a:p>
                    <a:p>
                      <a:pPr algn="l"/>
                      <a:r>
                        <a:rPr lang="en-US" altLang="zh-CN" sz="1600" dirty="0" smtClean="0"/>
                        <a:t>M-1</a:t>
                      </a:r>
                      <a:r>
                        <a:rPr lang="zh-CN" altLang="en-US" sz="1600" dirty="0" smtClean="0"/>
                        <a:t>：</a:t>
                      </a:r>
                      <a:r>
                        <a:rPr lang="en-US" altLang="zh-CN" sz="1600" dirty="0" smtClean="0"/>
                        <a:t>75%</a:t>
                      </a:r>
                    </a:p>
                    <a:p>
                      <a:pPr algn="l"/>
                      <a:r>
                        <a:rPr lang="en-US" altLang="zh-CN" sz="1600" dirty="0" smtClean="0"/>
                        <a:t>M-2</a:t>
                      </a:r>
                      <a:r>
                        <a:rPr lang="zh-CN" altLang="en-US" sz="1600" dirty="0" smtClean="0"/>
                        <a:t>：</a:t>
                      </a:r>
                      <a:r>
                        <a:rPr lang="en-US" altLang="zh-CN" sz="1600" dirty="0" smtClean="0"/>
                        <a:t>65%</a:t>
                      </a:r>
                    </a:p>
                  </a:txBody>
                  <a:tcPr/>
                </a:tc>
                <a:tc gridSpan="2">
                  <a:txBody>
                    <a:bodyPr/>
                    <a:lstStyle/>
                    <a:p>
                      <a:pPr algn="l"/>
                      <a:r>
                        <a:rPr lang="en-US" altLang="zh-CN" sz="1600" dirty="0" smtClean="0"/>
                        <a:t>M-0</a:t>
                      </a:r>
                      <a:r>
                        <a:rPr lang="zh-CN" altLang="en-US" sz="1600" dirty="0" smtClean="0"/>
                        <a:t>：</a:t>
                      </a:r>
                      <a:r>
                        <a:rPr lang="en-US" altLang="zh-CN" sz="1600" dirty="0" smtClean="0"/>
                        <a:t>85%</a:t>
                      </a:r>
                    </a:p>
                    <a:p>
                      <a:pPr algn="l"/>
                      <a:r>
                        <a:rPr lang="en-US" altLang="zh-CN" sz="1600" dirty="0" smtClean="0"/>
                        <a:t>M-1</a:t>
                      </a:r>
                      <a:r>
                        <a:rPr lang="zh-CN" altLang="en-US" sz="1600" dirty="0" smtClean="0"/>
                        <a:t>：</a:t>
                      </a:r>
                      <a:r>
                        <a:rPr lang="en-US" altLang="zh-CN" sz="1600" dirty="0" smtClean="0"/>
                        <a:t>75%</a:t>
                      </a:r>
                    </a:p>
                    <a:p>
                      <a:pPr algn="l"/>
                      <a:r>
                        <a:rPr lang="en-US" altLang="zh-CN" sz="1600" dirty="0" smtClean="0"/>
                        <a:t>M-2</a:t>
                      </a:r>
                      <a:r>
                        <a:rPr lang="zh-CN" altLang="en-US" sz="1600" dirty="0" smtClean="0"/>
                        <a:t>：</a:t>
                      </a:r>
                      <a:r>
                        <a:rPr lang="en-US" altLang="zh-CN" sz="1600" dirty="0" smtClean="0"/>
                        <a:t>65%</a:t>
                      </a:r>
                    </a:p>
                  </a:txBody>
                  <a:tcPr/>
                </a:tc>
                <a:tc hMerge="1">
                  <a:txBody>
                    <a:bodyPr/>
                    <a:lstStyle/>
                    <a:p>
                      <a:pPr algn="l"/>
                      <a:endParaRPr lang="en-US" altLang="zh-CN" sz="1600" dirty="0" smtClean="0"/>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80%</a:t>
                      </a:r>
                    </a:p>
                  </a:txBody>
                  <a:tcPr/>
                </a:tc>
                <a:tc hMerge="1">
                  <a:txBody>
                    <a:bodyPr/>
                    <a:lstStyle/>
                    <a:p>
                      <a:pPr algn="l"/>
                      <a:endParaRPr lang="zh-CN" altLang="en-US" sz="1600" dirty="0"/>
                    </a:p>
                  </a:txBody>
                  <a:tcPr/>
                </a:tc>
              </a:tr>
              <a:tr h="0">
                <a:tc>
                  <a:txBody>
                    <a:bodyPr/>
                    <a:lstStyle/>
                    <a:p>
                      <a:r>
                        <a:rPr lang="zh-CN" altLang="en-US" sz="1400" kern="1200" dirty="0" smtClean="0">
                          <a:solidFill>
                            <a:schemeClr val="dk1"/>
                          </a:solidFill>
                          <a:effectLst/>
                          <a:latin typeface="+mn-lt"/>
                          <a:ea typeface="+mn-ea"/>
                          <a:cs typeface="+mn-cs"/>
                        </a:rPr>
                        <a:t>下单时间准确率（不区分备货）</a:t>
                      </a:r>
                      <a:endParaRPr lang="zh-CN" altLang="en-US" sz="1400" dirty="0" smtClean="0">
                        <a:effectLst/>
                      </a:endParaRPr>
                    </a:p>
                  </a:txBody>
                  <a:tcPr/>
                </a:tc>
                <a:tc>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75%</a:t>
                      </a:r>
                    </a:p>
                    <a:p>
                      <a:pPr algn="l"/>
                      <a:r>
                        <a:rPr lang="en-US" altLang="zh-CN" sz="1600" dirty="0" smtClean="0"/>
                        <a:t>M-2</a:t>
                      </a:r>
                      <a:r>
                        <a:rPr lang="zh-CN" altLang="en-US" sz="1600" dirty="0" smtClean="0"/>
                        <a:t>：</a:t>
                      </a:r>
                      <a:r>
                        <a:rPr lang="en-US" altLang="zh-CN" sz="1600" dirty="0" smtClean="0"/>
                        <a:t>45%</a:t>
                      </a:r>
                    </a:p>
                  </a:txBody>
                  <a:tcPr/>
                </a:tc>
                <a:tc>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75%</a:t>
                      </a:r>
                    </a:p>
                    <a:p>
                      <a:pPr algn="l"/>
                      <a:r>
                        <a:rPr lang="en-US" altLang="zh-CN" sz="1600" dirty="0" smtClean="0"/>
                        <a:t>M-2</a:t>
                      </a:r>
                      <a:r>
                        <a:rPr lang="zh-CN" altLang="en-US" sz="1600" dirty="0" smtClean="0"/>
                        <a:t>：</a:t>
                      </a:r>
                      <a:r>
                        <a:rPr lang="en-US" altLang="zh-CN" sz="1600" dirty="0" smtClean="0"/>
                        <a:t>45%</a:t>
                      </a:r>
                    </a:p>
                  </a:txBody>
                  <a:tcPr/>
                </a:tc>
                <a:tc>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80%</a:t>
                      </a:r>
                    </a:p>
                    <a:p>
                      <a:pPr algn="l"/>
                      <a:r>
                        <a:rPr lang="en-US" altLang="zh-CN" sz="1600" dirty="0" smtClean="0"/>
                        <a:t>M-2</a:t>
                      </a:r>
                      <a:r>
                        <a:rPr lang="zh-CN" altLang="en-US" sz="1600" dirty="0" smtClean="0"/>
                        <a:t>：</a:t>
                      </a:r>
                      <a:r>
                        <a:rPr lang="en-US" altLang="zh-CN" sz="1600" dirty="0" smtClean="0"/>
                        <a:t>65%</a:t>
                      </a:r>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75%</a:t>
                      </a:r>
                    </a:p>
                  </a:txBody>
                  <a:tcPr/>
                </a:tc>
                <a:tc hMerge="1">
                  <a:txBody>
                    <a:bodyPr/>
                    <a:lstStyle/>
                    <a:p>
                      <a:pPr algn="l"/>
                      <a:endParaRPr lang="zh-CN" altLang="en-US" sz="1600" dirty="0"/>
                    </a:p>
                  </a:txBody>
                  <a:tcPr/>
                </a:tc>
              </a:tr>
              <a:tr h="223520">
                <a:tc>
                  <a:txBody>
                    <a:bodyPr/>
                    <a:lstStyle/>
                    <a:p>
                      <a:r>
                        <a:rPr lang="zh-CN" altLang="en-US" sz="1400" kern="1200" dirty="0" smtClean="0">
                          <a:solidFill>
                            <a:schemeClr val="dk1"/>
                          </a:solidFill>
                          <a:effectLst/>
                          <a:latin typeface="+mn-lt"/>
                          <a:ea typeface="+mn-ea"/>
                          <a:cs typeface="+mn-cs"/>
                        </a:rPr>
                        <a:t>下单项目要货时间准确率（不区分备货）</a:t>
                      </a:r>
                      <a:endParaRPr lang="zh-CN" altLang="en-US" sz="1200" dirty="0" smtClean="0">
                        <a:effectLst/>
                      </a:endParaRPr>
                    </a:p>
                  </a:txBody>
                  <a:tcPr/>
                </a:tc>
                <a:tc>
                  <a:txBody>
                    <a:bodyPr/>
                    <a:lstStyle/>
                    <a:p>
                      <a:pPr algn="l"/>
                      <a:r>
                        <a:rPr lang="en-US" altLang="zh-CN" sz="1600" dirty="0" smtClean="0"/>
                        <a:t>M-0</a:t>
                      </a:r>
                      <a:r>
                        <a:rPr lang="zh-CN" altLang="en-US" sz="1600" dirty="0" smtClean="0"/>
                        <a:t>：</a:t>
                      </a:r>
                      <a:r>
                        <a:rPr lang="en-US" altLang="zh-CN" sz="1600" dirty="0" smtClean="0"/>
                        <a:t>55%</a:t>
                      </a:r>
                    </a:p>
                    <a:p>
                      <a:pPr algn="l"/>
                      <a:r>
                        <a:rPr lang="en-US" altLang="zh-CN" sz="1600" dirty="0" smtClean="0"/>
                        <a:t>M-1</a:t>
                      </a:r>
                      <a:r>
                        <a:rPr lang="zh-CN" altLang="en-US" sz="1600" dirty="0" smtClean="0"/>
                        <a:t>：</a:t>
                      </a:r>
                      <a:r>
                        <a:rPr lang="en-US" altLang="zh-CN" sz="1600" dirty="0" smtClean="0"/>
                        <a:t>45%</a:t>
                      </a:r>
                    </a:p>
                    <a:p>
                      <a:pPr algn="l"/>
                      <a:r>
                        <a:rPr lang="en-US" altLang="zh-CN" sz="1600" dirty="0" smtClean="0"/>
                        <a:t>M-2</a:t>
                      </a:r>
                      <a:r>
                        <a:rPr lang="zh-CN" altLang="en-US" sz="1600" dirty="0" smtClean="0"/>
                        <a:t>：</a:t>
                      </a:r>
                      <a:r>
                        <a:rPr lang="en-US" altLang="zh-CN" sz="1600" dirty="0" smtClean="0"/>
                        <a:t>35%</a:t>
                      </a:r>
                    </a:p>
                  </a:txBody>
                  <a:tcPr/>
                </a:tc>
                <a:tc>
                  <a:txBody>
                    <a:bodyPr/>
                    <a:lstStyle/>
                    <a:p>
                      <a:pPr algn="l"/>
                      <a:r>
                        <a:rPr lang="en-US" altLang="zh-CN" sz="1600" dirty="0" smtClean="0"/>
                        <a:t>M-0</a:t>
                      </a:r>
                      <a:r>
                        <a:rPr lang="zh-CN" altLang="en-US" sz="1600" dirty="0" smtClean="0"/>
                        <a:t>：</a:t>
                      </a:r>
                      <a:r>
                        <a:rPr lang="en-US" altLang="zh-CN" sz="1600" dirty="0" smtClean="0"/>
                        <a:t>55%</a:t>
                      </a:r>
                    </a:p>
                    <a:p>
                      <a:pPr algn="l"/>
                      <a:r>
                        <a:rPr lang="en-US" altLang="zh-CN" sz="1600" dirty="0" smtClean="0"/>
                        <a:t>M-1</a:t>
                      </a:r>
                      <a:r>
                        <a:rPr lang="zh-CN" altLang="en-US" sz="1600" dirty="0" smtClean="0"/>
                        <a:t>：</a:t>
                      </a:r>
                      <a:r>
                        <a:rPr lang="en-US" altLang="zh-CN" sz="1600" dirty="0" smtClean="0"/>
                        <a:t>45%</a:t>
                      </a:r>
                    </a:p>
                    <a:p>
                      <a:pPr algn="l"/>
                      <a:r>
                        <a:rPr lang="en-US" altLang="zh-CN" sz="1600" dirty="0" smtClean="0"/>
                        <a:t>M-2</a:t>
                      </a:r>
                      <a:r>
                        <a:rPr lang="zh-CN" altLang="en-US" sz="1600" dirty="0" smtClean="0"/>
                        <a:t>：</a:t>
                      </a:r>
                      <a:r>
                        <a:rPr lang="en-US" altLang="zh-CN" sz="1600" dirty="0" smtClean="0"/>
                        <a:t>35%</a:t>
                      </a:r>
                    </a:p>
                  </a:txBody>
                  <a:tcPr/>
                </a:tc>
                <a:tc>
                  <a:txBody>
                    <a:bodyPr/>
                    <a:lstStyle/>
                    <a:p>
                      <a:pPr algn="l"/>
                      <a:r>
                        <a:rPr lang="en-US" altLang="zh-CN" sz="1600" dirty="0" smtClean="0"/>
                        <a:t>M-0</a:t>
                      </a:r>
                      <a:r>
                        <a:rPr lang="zh-CN" altLang="en-US" sz="1600" dirty="0" smtClean="0"/>
                        <a:t>：</a:t>
                      </a:r>
                      <a:r>
                        <a:rPr lang="en-US" altLang="zh-CN" sz="1600" dirty="0" smtClean="0"/>
                        <a:t>80%</a:t>
                      </a:r>
                    </a:p>
                    <a:p>
                      <a:pPr algn="l"/>
                      <a:r>
                        <a:rPr lang="en-US" altLang="zh-CN" sz="1600" dirty="0" smtClean="0"/>
                        <a:t>M-1</a:t>
                      </a:r>
                      <a:r>
                        <a:rPr lang="zh-CN" altLang="en-US" sz="1600" dirty="0" smtClean="0"/>
                        <a:t>：</a:t>
                      </a:r>
                      <a:r>
                        <a:rPr lang="en-US" altLang="zh-CN" sz="1600" dirty="0" smtClean="0"/>
                        <a:t>60%</a:t>
                      </a:r>
                    </a:p>
                    <a:p>
                      <a:pPr algn="l"/>
                      <a:r>
                        <a:rPr lang="en-US" altLang="zh-CN" sz="1600" dirty="0" smtClean="0"/>
                        <a:t>M-2</a:t>
                      </a:r>
                      <a:r>
                        <a:rPr lang="zh-CN" altLang="en-US" sz="1600" dirty="0" smtClean="0"/>
                        <a:t>：</a:t>
                      </a:r>
                      <a:r>
                        <a:rPr lang="en-US" altLang="zh-CN" sz="1600" dirty="0" smtClean="0"/>
                        <a:t>50%</a:t>
                      </a:r>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75%</a:t>
                      </a:r>
                    </a:p>
                  </a:txBody>
                  <a:tcPr/>
                </a:tc>
                <a:tc hMerge="1">
                  <a:txBody>
                    <a:bodyPr/>
                    <a:lstStyle/>
                    <a:p>
                      <a:pPr algn="l"/>
                      <a:endParaRPr lang="zh-CN" altLang="en-US" sz="1600" dirty="0"/>
                    </a:p>
                  </a:txBody>
                  <a:tcPr/>
                </a:tc>
              </a:tr>
              <a:tr h="0">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r>
            </a:tbl>
          </a:graphicData>
        </a:graphic>
      </p:graphicFrame>
    </p:spTree>
    <p:extLst>
      <p:ext uri="{BB962C8B-B14F-4D97-AF65-F5344CB8AC3E}">
        <p14:creationId xmlns:p14="http://schemas.microsoft.com/office/powerpoint/2010/main" val="17708568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流程目前执行的情况统计和分析</a:t>
            </a:r>
            <a:endParaRPr lang="zh-CN" altLang="en-US" dirty="0"/>
          </a:p>
        </p:txBody>
      </p:sp>
      <p:pic>
        <p:nvPicPr>
          <p:cNvPr id="4" name="图片 3"/>
          <p:cNvPicPr>
            <a:picLocks noChangeAspect="1"/>
          </p:cNvPicPr>
          <p:nvPr/>
        </p:nvPicPr>
        <p:blipFill>
          <a:blip r:embed="rId2"/>
          <a:stretch>
            <a:fillRect/>
          </a:stretch>
        </p:blipFill>
        <p:spPr>
          <a:xfrm>
            <a:off x="267453" y="1290830"/>
            <a:ext cx="11520159" cy="1551695"/>
          </a:xfrm>
          <a:prstGeom prst="rect">
            <a:avLst/>
          </a:prstGeom>
        </p:spPr>
      </p:pic>
      <p:sp>
        <p:nvSpPr>
          <p:cNvPr id="5" name="文本框 4"/>
          <p:cNvSpPr txBox="1"/>
          <p:nvPr/>
        </p:nvSpPr>
        <p:spPr>
          <a:xfrm>
            <a:off x="267453" y="2942376"/>
            <a:ext cx="11520159" cy="3385542"/>
          </a:xfrm>
          <a:prstGeom prst="rect">
            <a:avLst/>
          </a:prstGeom>
          <a:noFill/>
        </p:spPr>
        <p:txBody>
          <a:bodyPr wrap="square" rtlCol="0">
            <a:spAutoFit/>
          </a:bodyPr>
          <a:lstStyle/>
          <a:p>
            <a:r>
              <a:rPr lang="zh-CN" altLang="en-US" b="1" dirty="0" smtClean="0"/>
              <a:t>流程执行数据分析：</a:t>
            </a:r>
            <a:endParaRPr lang="en-US" altLang="zh-CN" b="1" dirty="0" smtClean="0"/>
          </a:p>
          <a:p>
            <a:pPr marL="285750" indent="-285750">
              <a:buFont typeface="Arial" panose="020B0604020202020204" pitchFamily="34" charset="0"/>
              <a:buChar char="•"/>
            </a:pPr>
            <a:r>
              <a:rPr lang="zh-CN" altLang="en-US" sz="1600" dirty="0"/>
              <a:t>启动</a:t>
            </a:r>
            <a:r>
              <a:rPr lang="zh-CN" altLang="en-US" sz="1600" dirty="0" smtClean="0"/>
              <a:t>会执行情况是几个</a:t>
            </a:r>
            <a:r>
              <a:rPr lang="en-US" altLang="zh-CN" sz="1600" dirty="0" smtClean="0"/>
              <a:t>KCP/KDP</a:t>
            </a:r>
            <a:r>
              <a:rPr lang="zh-CN" altLang="en-US" sz="1600" dirty="0" smtClean="0"/>
              <a:t>环节里面执行最好的一个活动，但六个区域均未达到</a:t>
            </a:r>
            <a:r>
              <a:rPr lang="en-US" altLang="zh-CN" sz="1600" dirty="0" smtClean="0"/>
              <a:t>60%</a:t>
            </a:r>
            <a:r>
              <a:rPr lang="zh-CN" altLang="en-US" sz="1600" dirty="0" smtClean="0"/>
              <a:t>的执行目标。</a:t>
            </a:r>
            <a:endParaRPr lang="en-US" altLang="zh-CN" sz="1600" dirty="0" smtClean="0"/>
          </a:p>
          <a:p>
            <a:pPr marL="285750" indent="-285750">
              <a:buFont typeface="Arial" panose="020B0604020202020204" pitchFamily="34" charset="0"/>
              <a:buChar char="•"/>
            </a:pPr>
            <a:r>
              <a:rPr lang="zh-CN" altLang="en-US" sz="1600" dirty="0" smtClean="0"/>
              <a:t>解决方案评审会的执行场次和执行率从数据上来看很差，基本没有运转起来，部分区域习惯把解决方案评审放在项目分析会中执行，在</a:t>
            </a:r>
            <a:r>
              <a:rPr lang="en-US" altLang="zh-CN" sz="1600" dirty="0" smtClean="0"/>
              <a:t>CRM</a:t>
            </a:r>
            <a:r>
              <a:rPr lang="zh-CN" altLang="en-US" sz="1600" dirty="0" smtClean="0"/>
              <a:t>的大项目管理解决方案评审模块没有单独留痕，建议下一步对于解决方案评审会的执行情况和留痕还是要单独在对应的功能中实现。</a:t>
            </a:r>
            <a:endParaRPr lang="en-US" altLang="zh-CN" sz="1600" dirty="0" smtClean="0"/>
          </a:p>
          <a:p>
            <a:pPr marL="285750" indent="-285750">
              <a:buFont typeface="Arial" panose="020B0604020202020204" pitchFamily="34" charset="0"/>
              <a:buChar char="•"/>
            </a:pPr>
            <a:r>
              <a:rPr lang="zh-CN" altLang="en-US" sz="1600" dirty="0" smtClean="0"/>
              <a:t>标前评审会：从数据上看，执行场次和执行率都很低，几个区域均未达成目标。</a:t>
            </a:r>
            <a:endParaRPr lang="en-US" altLang="zh-CN" sz="1600" dirty="0" smtClean="0"/>
          </a:p>
          <a:p>
            <a:pPr marL="285750" indent="-285750">
              <a:buFont typeface="Arial" panose="020B0604020202020204" pitchFamily="34" charset="0"/>
              <a:buChar char="•"/>
            </a:pPr>
            <a:r>
              <a:rPr lang="zh-CN" altLang="en-US" sz="1600" dirty="0"/>
              <a:t>赢丢</a:t>
            </a:r>
            <a:r>
              <a:rPr lang="zh-CN" altLang="en-US" sz="1600" dirty="0" smtClean="0"/>
              <a:t>单复盘：赢单复盘没有开展，丢单复盘有部分执行，但离大项目</a:t>
            </a:r>
            <a:r>
              <a:rPr lang="en-US" altLang="zh-CN" sz="1600" dirty="0" smtClean="0"/>
              <a:t>100%</a:t>
            </a:r>
            <a:r>
              <a:rPr lang="zh-CN" altLang="en-US" sz="1600" dirty="0" smtClean="0"/>
              <a:t>复盘的目标有很大差距。</a:t>
            </a:r>
            <a:endParaRPr lang="en-US" altLang="zh-CN" sz="1600" dirty="0" smtClean="0"/>
          </a:p>
          <a:p>
            <a:pPr marL="285750" indent="-285750">
              <a:buFont typeface="Arial" panose="020B0604020202020204" pitchFamily="34" charset="0"/>
              <a:buChar char="•"/>
            </a:pPr>
            <a:endParaRPr lang="en-US" altLang="zh-CN" dirty="0"/>
          </a:p>
          <a:p>
            <a:r>
              <a:rPr lang="zh-CN" altLang="en-US" b="1" dirty="0" smtClean="0"/>
              <a:t>下一步执行建议</a:t>
            </a:r>
            <a:r>
              <a:rPr lang="zh-CN" altLang="en-US" dirty="0" smtClean="0"/>
              <a:t>：</a:t>
            </a:r>
            <a:endParaRPr lang="en-US" altLang="zh-CN" dirty="0" smtClean="0"/>
          </a:p>
          <a:p>
            <a:pPr marL="285750" indent="-285750">
              <a:buFont typeface="Arial" panose="020B0604020202020204" pitchFamily="34" charset="0"/>
              <a:buChar char="•"/>
            </a:pPr>
            <a:r>
              <a:rPr lang="zh-CN" altLang="en-US" sz="1600" dirty="0" smtClean="0"/>
              <a:t>通过既定的落地执行机制，由销管</a:t>
            </a:r>
            <a:r>
              <a:rPr lang="en-US" altLang="zh-CN" sz="1600" dirty="0" smtClean="0"/>
              <a:t>BP</a:t>
            </a:r>
            <a:r>
              <a:rPr lang="zh-CN" altLang="en-US" sz="1600" dirty="0" smtClean="0"/>
              <a:t>配合区域把</a:t>
            </a:r>
            <a:r>
              <a:rPr lang="en-US" altLang="zh-CN" sz="1600" dirty="0" smtClean="0"/>
              <a:t>KCP/KDP</a:t>
            </a:r>
            <a:r>
              <a:rPr lang="zh-CN" altLang="en-US" sz="1600" dirty="0" smtClean="0"/>
              <a:t>的执行率提升起来，区域一定要重视流程的执行率和遵从度。尤其是解决方案评审和标前评审（特价审批流程）</a:t>
            </a:r>
            <a:endParaRPr lang="en-US" altLang="zh-CN" sz="1600" dirty="0" smtClean="0"/>
          </a:p>
          <a:p>
            <a:pPr marL="285750" indent="-285750">
              <a:buFont typeface="Arial" panose="020B0604020202020204" pitchFamily="34" charset="0"/>
              <a:buChar char="•"/>
            </a:pPr>
            <a:r>
              <a:rPr lang="zh-CN" altLang="en-US" sz="1600" dirty="0" smtClean="0"/>
              <a:t>除了执行率以外，重点活动的执行质量也需要提升，系统留痕，项目交付物的质量都需要严格把关，按照流程要求严格执行，对于项目质量定期进行抽查，对于质量不达标的情况进行重点辅导和跟踪。</a:t>
            </a:r>
            <a:endParaRPr lang="zh-CN" altLang="en-US" sz="1600" dirty="0"/>
          </a:p>
        </p:txBody>
      </p:sp>
      <p:sp>
        <p:nvSpPr>
          <p:cNvPr id="6" name="文本占位符 1"/>
          <p:cNvSpPr txBox="1">
            <a:spLocks/>
          </p:cNvSpPr>
          <p:nvPr/>
        </p:nvSpPr>
        <p:spPr>
          <a:xfrm>
            <a:off x="267453" y="862026"/>
            <a:ext cx="7382725" cy="495935"/>
          </a:xfrm>
          <a:prstGeom prst="rect">
            <a:avLst/>
          </a:prstGeom>
        </p:spPr>
        <p:txBody>
          <a:bodyPr>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kumimoji="1" lang="zh-CN" altLang="en-US" sz="2200" b="1" u="none" strike="noStrike" kern="1200" cap="none" spc="150" normalizeH="0" baseline="0" dirty="0" smtClean="0">
                <a:solidFill>
                  <a:schemeClr val="tx1">
                    <a:lumMod val="50000"/>
                    <a:lumOff val="50000"/>
                  </a:schemeClr>
                </a:solidFill>
                <a:uFillTx/>
                <a:latin typeface="微软雅黑" panose="020B0503020204020204" pitchFamily="34" charset="-122"/>
                <a:ea typeface="微软雅黑" panose="020B0503020204020204" pitchFamily="34" charset="-122"/>
                <a:cs typeface="+mn-cs"/>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400" u="none" strike="noStrike" kern="1200" cap="none" spc="150" normalizeH="0" baseline="0">
                <a:solidFill>
                  <a:schemeClr val="tx1">
                    <a:lumMod val="65000"/>
                    <a:lumOff val="35000"/>
                  </a:schemeClr>
                </a:solidFill>
                <a:uFillTx/>
                <a:latin typeface="+mn-lt"/>
                <a:ea typeface="+mn-ea"/>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dirty="0" smtClean="0">
                <a:solidFill>
                  <a:srgbClr val="FF0000"/>
                </a:solidFill>
              </a:rPr>
              <a:t>试点目标：</a:t>
            </a:r>
            <a:r>
              <a:rPr lang="en-US" altLang="zh-CN" sz="1600" dirty="0" smtClean="0">
                <a:solidFill>
                  <a:srgbClr val="FF0000"/>
                </a:solidFill>
              </a:rPr>
              <a:t>KCP/KDP</a:t>
            </a:r>
            <a:r>
              <a:rPr lang="zh-CN" altLang="en-US" sz="1600" dirty="0" smtClean="0">
                <a:solidFill>
                  <a:srgbClr val="FF0000"/>
                </a:solidFill>
              </a:rPr>
              <a:t>流程执行率</a:t>
            </a:r>
            <a:r>
              <a:rPr lang="en-US" altLang="zh-CN" sz="1600" dirty="0" smtClean="0">
                <a:solidFill>
                  <a:srgbClr val="FF0000"/>
                </a:solidFill>
              </a:rPr>
              <a:t>60%</a:t>
            </a:r>
            <a:r>
              <a:rPr lang="zh-CN" altLang="en-US" sz="1600" dirty="0" smtClean="0">
                <a:solidFill>
                  <a:srgbClr val="FF0000"/>
                </a:solidFill>
              </a:rPr>
              <a:t>，赢丢单复盘率</a:t>
            </a:r>
            <a:r>
              <a:rPr lang="en-US" altLang="zh-CN" sz="1600" dirty="0" smtClean="0">
                <a:solidFill>
                  <a:srgbClr val="FF0000"/>
                </a:solidFill>
              </a:rPr>
              <a:t>60%</a:t>
            </a:r>
            <a:endParaRPr lang="zh-CN" altLang="en-US" sz="1600" dirty="0">
              <a:solidFill>
                <a:srgbClr val="FF0000"/>
              </a:solidFill>
            </a:endParaRPr>
          </a:p>
        </p:txBody>
      </p:sp>
    </p:spTree>
    <p:extLst>
      <p:ext uri="{BB962C8B-B14F-4D97-AF65-F5344CB8AC3E}">
        <p14:creationId xmlns:p14="http://schemas.microsoft.com/office/powerpoint/2010/main" val="38902004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做准</a:t>
            </a:r>
            <a:r>
              <a:rPr lang="en-US" altLang="zh-CN" dirty="0" smtClean="0"/>
              <a:t>N</a:t>
            </a:r>
            <a:r>
              <a:rPr lang="zh-CN" altLang="en-US" dirty="0" smtClean="0"/>
              <a:t>和</a:t>
            </a:r>
            <a:r>
              <a:rPr lang="en-US" altLang="zh-CN" dirty="0" smtClean="0"/>
              <a:t>T</a:t>
            </a:r>
            <a:r>
              <a:rPr lang="zh-CN" altLang="en-US" dirty="0" smtClean="0"/>
              <a:t>的准确性数据统计与分析</a:t>
            </a:r>
            <a:r>
              <a:rPr lang="en-US" altLang="zh-CN" dirty="0" smtClean="0"/>
              <a:t>-8</a:t>
            </a:r>
            <a:r>
              <a:rPr lang="zh-CN" altLang="en-US" dirty="0" smtClean="0"/>
              <a:t>，</a:t>
            </a:r>
            <a:r>
              <a:rPr lang="en-US" altLang="zh-CN" dirty="0" smtClean="0"/>
              <a:t>9</a:t>
            </a:r>
            <a:r>
              <a:rPr lang="zh-CN" altLang="en-US" dirty="0" smtClean="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2018923" y="908217"/>
            <a:ext cx="2262158" cy="369332"/>
          </a:xfrm>
          <a:prstGeom prst="rect">
            <a:avLst/>
          </a:prstGeom>
          <a:noFill/>
        </p:spPr>
        <p:txBody>
          <a:bodyPr wrap="none" rtlCol="0">
            <a:spAutoFit/>
          </a:bodyPr>
          <a:lstStyle/>
          <a:p>
            <a:r>
              <a:rPr lang="zh-CN" altLang="en-US" b="1" dirty="0"/>
              <a:t>配置</a:t>
            </a:r>
            <a:r>
              <a:rPr lang="zh-CN" altLang="en-US" b="1" dirty="0" smtClean="0"/>
              <a:t>清单准确率统计</a:t>
            </a:r>
            <a:endParaRPr lang="zh-CN" altLang="en-US" b="1" dirty="0"/>
          </a:p>
        </p:txBody>
      </p:sp>
      <p:sp>
        <p:nvSpPr>
          <p:cNvPr id="10" name="等腰三角形 9"/>
          <p:cNvSpPr/>
          <p:nvPr/>
        </p:nvSpPr>
        <p:spPr>
          <a:xfrm rot="5400000">
            <a:off x="5619401" y="2422183"/>
            <a:ext cx="1953038"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517802" y="908217"/>
            <a:ext cx="1338828" cy="369332"/>
          </a:xfrm>
          <a:prstGeom prst="rect">
            <a:avLst/>
          </a:prstGeom>
          <a:noFill/>
        </p:spPr>
        <p:txBody>
          <a:bodyPr wrap="none" rtlCol="0">
            <a:spAutoFit/>
          </a:bodyPr>
          <a:lstStyle/>
          <a:p>
            <a:r>
              <a:rPr lang="zh-CN" altLang="en-US" b="1" dirty="0" smtClean="0"/>
              <a:t>问题及分析</a:t>
            </a:r>
            <a:endParaRPr lang="zh-CN" altLang="en-US" b="1" dirty="0"/>
          </a:p>
        </p:txBody>
      </p:sp>
      <p:sp>
        <p:nvSpPr>
          <p:cNvPr id="12" name="文本框 11"/>
          <p:cNvSpPr txBox="1"/>
          <p:nvPr/>
        </p:nvSpPr>
        <p:spPr>
          <a:xfrm>
            <a:off x="6896165" y="1415511"/>
            <a:ext cx="4738547" cy="4801314"/>
          </a:xfrm>
          <a:prstGeom prst="rect">
            <a:avLst/>
          </a:prstGeom>
          <a:noFill/>
          <a:ln>
            <a:solidFill>
              <a:schemeClr val="accent1"/>
            </a:solidFill>
          </a:ln>
        </p:spPr>
        <p:txBody>
          <a:bodyPr wrap="square" rtlCol="0">
            <a:spAutoFit/>
          </a:bodyPr>
          <a:lstStyle/>
          <a:p>
            <a:r>
              <a:rPr lang="zh-CN" altLang="en-US" sz="1400" b="1" dirty="0" smtClean="0"/>
              <a:t>下单清单准确率数据：</a:t>
            </a:r>
            <a:endParaRPr lang="en-US" altLang="zh-CN" sz="1400" b="1" dirty="0" smtClean="0"/>
          </a:p>
          <a:p>
            <a:pPr marL="285750" indent="-285750">
              <a:buFont typeface="Arial" panose="020B0604020202020204" pitchFamily="34" charset="0"/>
              <a:buChar char="•"/>
            </a:pPr>
            <a:r>
              <a:rPr lang="zh-CN" altLang="en-US" sz="1200" dirty="0" smtClean="0"/>
              <a:t>四个试点区域的下单清单准确率从三个月的数据来看福建，广东和山东的</a:t>
            </a:r>
            <a:r>
              <a:rPr lang="en-US" altLang="zh-CN" sz="1200" dirty="0" smtClean="0"/>
              <a:t>M-0</a:t>
            </a:r>
            <a:r>
              <a:rPr lang="zh-CN" altLang="en-US" sz="1200" dirty="0" smtClean="0"/>
              <a:t>数据改善明显。湖南区域数据有起伏，需要具体看看原因。</a:t>
            </a:r>
            <a:endParaRPr lang="en-US" altLang="zh-CN" sz="1200" dirty="0" smtClean="0"/>
          </a:p>
          <a:p>
            <a:pPr marL="285750" indent="-285750">
              <a:buFont typeface="Arial" panose="020B0604020202020204" pitchFamily="34" charset="0"/>
              <a:buChar char="•"/>
            </a:pPr>
            <a:r>
              <a:rPr lang="en-US" altLang="zh-CN" sz="1200" dirty="0" smtClean="0"/>
              <a:t>M-0</a:t>
            </a:r>
            <a:r>
              <a:rPr lang="zh-CN" altLang="en-US" sz="1200" dirty="0" smtClean="0"/>
              <a:t>和</a:t>
            </a:r>
            <a:r>
              <a:rPr lang="en-US" altLang="zh-CN" sz="1200" dirty="0" smtClean="0"/>
              <a:t>M-1</a:t>
            </a:r>
            <a:r>
              <a:rPr lang="zh-CN" altLang="en-US" sz="1200" dirty="0" smtClean="0"/>
              <a:t>的数据都比较稳定，</a:t>
            </a:r>
            <a:r>
              <a:rPr lang="en-US" altLang="zh-CN" sz="1200" dirty="0" smtClean="0"/>
              <a:t>M-2</a:t>
            </a:r>
            <a:r>
              <a:rPr lang="zh-CN" altLang="en-US" sz="1200" dirty="0" smtClean="0"/>
              <a:t>数据整体偏低，并且起伏很大。</a:t>
            </a:r>
            <a:endParaRPr lang="en-US" altLang="zh-CN" sz="1200" dirty="0" smtClean="0"/>
          </a:p>
          <a:p>
            <a:pPr marL="285750" indent="-285750">
              <a:buFont typeface="Arial" panose="020B0604020202020204" pitchFamily="34" charset="0"/>
              <a:buChar char="•"/>
            </a:pPr>
            <a:r>
              <a:rPr lang="zh-CN" altLang="en-US" sz="1200" dirty="0" smtClean="0"/>
              <a:t>山东区域缺乏</a:t>
            </a:r>
            <a:r>
              <a:rPr lang="en-US" altLang="zh-CN" sz="1200" dirty="0" smtClean="0"/>
              <a:t>10</a:t>
            </a:r>
            <a:r>
              <a:rPr lang="zh-CN" altLang="en-US" sz="1200" dirty="0" smtClean="0"/>
              <a:t>月的</a:t>
            </a:r>
            <a:r>
              <a:rPr lang="en-US" altLang="zh-CN" sz="1200" dirty="0" smtClean="0"/>
              <a:t>M-1</a:t>
            </a:r>
            <a:r>
              <a:rPr lang="zh-CN" altLang="en-US" sz="1200" dirty="0" smtClean="0"/>
              <a:t>和</a:t>
            </a:r>
            <a:r>
              <a:rPr lang="en-US" altLang="zh-CN" sz="1200" dirty="0" smtClean="0"/>
              <a:t>M-2</a:t>
            </a:r>
            <a:r>
              <a:rPr lang="zh-CN" altLang="en-US" sz="1200" dirty="0" smtClean="0"/>
              <a:t>的数据，无法看到完整的数据改善情况。</a:t>
            </a:r>
            <a:endParaRPr lang="en-US" altLang="zh-CN" sz="1200" dirty="0"/>
          </a:p>
          <a:p>
            <a:pPr marL="285750" indent="-285750">
              <a:buFont typeface="Arial" panose="020B0604020202020204" pitchFamily="34" charset="0"/>
              <a:buChar char="•"/>
            </a:pPr>
            <a:endParaRPr lang="en-US" altLang="zh-CN" dirty="0" smtClean="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smtClean="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r>
              <a:rPr lang="zh-CN" altLang="en-US" sz="1400" b="1" dirty="0" smtClean="0"/>
              <a:t>下一步执行建议</a:t>
            </a:r>
            <a:r>
              <a:rPr lang="zh-CN" altLang="en-US" sz="1400" dirty="0" smtClean="0"/>
              <a:t>：</a:t>
            </a:r>
            <a:endParaRPr lang="en-US" altLang="zh-CN" sz="1400" dirty="0" smtClean="0"/>
          </a:p>
          <a:p>
            <a:pPr marL="285750" indent="-285750">
              <a:buFont typeface="Arial" panose="020B0604020202020204" pitchFamily="34" charset="0"/>
              <a:buChar char="•"/>
            </a:pPr>
            <a:r>
              <a:rPr lang="zh-CN" altLang="en-US" sz="1200" dirty="0" smtClean="0"/>
              <a:t>下单清单：</a:t>
            </a:r>
            <a:r>
              <a:rPr lang="en-US" altLang="zh-CN" sz="1200" dirty="0" smtClean="0"/>
              <a:t>M-1</a:t>
            </a:r>
            <a:r>
              <a:rPr lang="zh-CN" altLang="en-US" sz="1200" dirty="0" smtClean="0"/>
              <a:t>和</a:t>
            </a:r>
            <a:r>
              <a:rPr lang="en-US" altLang="zh-CN" sz="1200" dirty="0" smtClean="0"/>
              <a:t>M-2</a:t>
            </a:r>
            <a:r>
              <a:rPr lang="zh-CN" altLang="en-US" sz="1200" dirty="0" smtClean="0"/>
              <a:t>的准确性要进一步提升，湖南</a:t>
            </a:r>
            <a:r>
              <a:rPr lang="en-US" altLang="zh-CN" sz="1200" dirty="0" smtClean="0"/>
              <a:t>9</a:t>
            </a:r>
            <a:r>
              <a:rPr lang="zh-CN" altLang="en-US" sz="1200" dirty="0" smtClean="0"/>
              <a:t>月份的</a:t>
            </a:r>
            <a:r>
              <a:rPr lang="en-US" altLang="zh-CN" sz="1200" dirty="0" smtClean="0"/>
              <a:t>M-1</a:t>
            </a:r>
            <a:r>
              <a:rPr lang="zh-CN" altLang="en-US" sz="1200" dirty="0" smtClean="0"/>
              <a:t>数据需要复盘看一下是什么问题导致准确率才</a:t>
            </a:r>
            <a:r>
              <a:rPr lang="en-US" altLang="zh-CN" sz="1200" dirty="0" smtClean="0"/>
              <a:t>39%</a:t>
            </a:r>
            <a:r>
              <a:rPr lang="zh-CN" altLang="en-US" sz="1200" dirty="0" smtClean="0"/>
              <a:t>。</a:t>
            </a:r>
            <a:endParaRPr lang="en-US" altLang="zh-CN" sz="1400" dirty="0"/>
          </a:p>
          <a:p>
            <a:pPr marL="285750" indent="-285750">
              <a:buFont typeface="Arial" panose="020B0604020202020204" pitchFamily="34" charset="0"/>
              <a:buChar char="•"/>
            </a:pPr>
            <a:r>
              <a:rPr lang="zh-CN" altLang="en-US" sz="1200" dirty="0" smtClean="0"/>
              <a:t>开标清单：对于异常数据进行复盘，分析准确率异常的问题和根因，有针对性找到解决方案</a:t>
            </a:r>
            <a:endParaRPr lang="en-US" altLang="zh-CN" sz="1200" dirty="0" smtClean="0"/>
          </a:p>
          <a:p>
            <a:pPr marL="285750" indent="-285750">
              <a:buFont typeface="Arial" panose="020B0604020202020204" pitchFamily="34" charset="0"/>
              <a:buChar char="•"/>
            </a:pPr>
            <a:endParaRPr lang="en-US" altLang="zh-CN" sz="1400" dirty="0"/>
          </a:p>
          <a:p>
            <a:pPr marL="285750" indent="-285750">
              <a:buFont typeface="Arial" panose="020B0604020202020204" pitchFamily="34" charset="0"/>
              <a:buChar char="•"/>
            </a:pPr>
            <a:endParaRPr lang="en-US" altLang="zh-CN" sz="1400" dirty="0" smtClean="0"/>
          </a:p>
          <a:p>
            <a:pPr marL="285750" indent="-285750">
              <a:buFont typeface="Arial" panose="020B0604020202020204" pitchFamily="34" charset="0"/>
              <a:buChar char="•"/>
            </a:pPr>
            <a:endParaRPr lang="en-US" altLang="zh-CN" sz="1400" dirty="0"/>
          </a:p>
          <a:p>
            <a:pPr marL="285750" indent="-285750">
              <a:buFont typeface="Arial" panose="020B0604020202020204" pitchFamily="34" charset="0"/>
              <a:buChar char="•"/>
            </a:pPr>
            <a:endParaRPr lang="zh-CN" altLang="en-US" sz="1400" dirty="0"/>
          </a:p>
        </p:txBody>
      </p:sp>
      <p:pic>
        <p:nvPicPr>
          <p:cNvPr id="4" name="图片 3"/>
          <p:cNvPicPr>
            <a:picLocks noChangeAspect="1"/>
          </p:cNvPicPr>
          <p:nvPr/>
        </p:nvPicPr>
        <p:blipFill>
          <a:blip r:embed="rId2"/>
          <a:stretch>
            <a:fillRect/>
          </a:stretch>
        </p:blipFill>
        <p:spPr>
          <a:xfrm>
            <a:off x="358620" y="1519486"/>
            <a:ext cx="5937055" cy="2110953"/>
          </a:xfrm>
          <a:prstGeom prst="rect">
            <a:avLst/>
          </a:prstGeom>
        </p:spPr>
      </p:pic>
    </p:spTree>
    <p:extLst>
      <p:ext uri="{BB962C8B-B14F-4D97-AF65-F5344CB8AC3E}">
        <p14:creationId xmlns:p14="http://schemas.microsoft.com/office/powerpoint/2010/main" val="33732389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做准</a:t>
            </a:r>
            <a:r>
              <a:rPr lang="en-US" altLang="zh-CN" dirty="0"/>
              <a:t>N</a:t>
            </a:r>
            <a:r>
              <a:rPr lang="zh-CN" altLang="en-US" dirty="0"/>
              <a:t>和</a:t>
            </a:r>
            <a:r>
              <a:rPr lang="en-US" altLang="zh-CN" dirty="0"/>
              <a:t>T</a:t>
            </a:r>
            <a:r>
              <a:rPr lang="zh-CN" altLang="en-US" dirty="0"/>
              <a:t>的准确性数据统计与分析</a:t>
            </a:r>
            <a:r>
              <a:rPr lang="en-US" altLang="zh-CN" dirty="0"/>
              <a:t>-8</a:t>
            </a:r>
            <a:r>
              <a:rPr lang="zh-CN" altLang="en-US" dirty="0"/>
              <a:t>，</a:t>
            </a:r>
            <a:r>
              <a:rPr lang="en-US" altLang="zh-CN" dirty="0"/>
              <a:t>9</a:t>
            </a:r>
            <a:r>
              <a:rPr lang="zh-CN" altLang="en-US" dirty="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1603570" y="963525"/>
            <a:ext cx="2954655" cy="369332"/>
          </a:xfrm>
          <a:prstGeom prst="rect">
            <a:avLst/>
          </a:prstGeom>
          <a:noFill/>
        </p:spPr>
        <p:txBody>
          <a:bodyPr wrap="none" rtlCol="0">
            <a:spAutoFit/>
          </a:bodyPr>
          <a:lstStyle/>
          <a:p>
            <a:r>
              <a:rPr lang="zh-CN" altLang="en-US" b="1" dirty="0" smtClean="0"/>
              <a:t>要货和下单时间准确率统计</a:t>
            </a:r>
            <a:endParaRPr lang="zh-CN" altLang="en-US" b="1" dirty="0"/>
          </a:p>
        </p:txBody>
      </p:sp>
      <p:sp>
        <p:nvSpPr>
          <p:cNvPr id="8" name="文本框 7"/>
          <p:cNvSpPr txBox="1"/>
          <p:nvPr/>
        </p:nvSpPr>
        <p:spPr>
          <a:xfrm>
            <a:off x="6480313" y="1473001"/>
            <a:ext cx="4738547" cy="4708981"/>
          </a:xfrm>
          <a:prstGeom prst="rect">
            <a:avLst/>
          </a:prstGeom>
          <a:noFill/>
          <a:ln>
            <a:solidFill>
              <a:schemeClr val="accent1"/>
            </a:solidFill>
          </a:ln>
        </p:spPr>
        <p:txBody>
          <a:bodyPr wrap="square" rtlCol="0">
            <a:spAutoFit/>
          </a:bodyPr>
          <a:lstStyle/>
          <a:p>
            <a:r>
              <a:rPr lang="zh-CN" altLang="en-US" sz="1400" b="1" dirty="0" smtClean="0"/>
              <a:t>要货时间准确率分析：</a:t>
            </a:r>
            <a:endParaRPr lang="en-US" altLang="zh-CN" sz="1400" dirty="0" smtClean="0"/>
          </a:p>
          <a:p>
            <a:pPr marL="285750" indent="-285750">
              <a:buFont typeface="Arial" panose="020B0604020202020204" pitchFamily="34" charset="0"/>
              <a:buChar char="•"/>
            </a:pPr>
            <a:r>
              <a:rPr lang="en-US" altLang="zh-CN" sz="1200" dirty="0" smtClean="0"/>
              <a:t>M-0</a:t>
            </a:r>
            <a:r>
              <a:rPr lang="zh-CN" altLang="en-US" sz="1200" dirty="0" smtClean="0"/>
              <a:t>：山东数据比较正常，准确率呈现上涨趋势，但是改善不明显；福建区域数据呈现逐渐下滑趋势；广东和湖南</a:t>
            </a:r>
            <a:r>
              <a:rPr lang="en-US" altLang="zh-CN" sz="1200" dirty="0" smtClean="0"/>
              <a:t>9</a:t>
            </a:r>
            <a:r>
              <a:rPr lang="zh-CN" altLang="en-US" sz="1200" dirty="0" smtClean="0"/>
              <a:t>月份数据相对</a:t>
            </a:r>
            <a:r>
              <a:rPr lang="en-US" altLang="zh-CN" sz="1200" dirty="0" smtClean="0"/>
              <a:t>8</a:t>
            </a:r>
            <a:r>
              <a:rPr lang="zh-CN" altLang="en-US" sz="1200" dirty="0" smtClean="0"/>
              <a:t>月和</a:t>
            </a:r>
            <a:r>
              <a:rPr lang="en-US" altLang="zh-CN" sz="1200" dirty="0" smtClean="0"/>
              <a:t>10</a:t>
            </a:r>
            <a:r>
              <a:rPr lang="zh-CN" altLang="en-US" sz="1200" dirty="0" smtClean="0"/>
              <a:t>月明显偏低；</a:t>
            </a:r>
            <a:endParaRPr lang="en-US" altLang="zh-CN" sz="1200" dirty="0" smtClean="0"/>
          </a:p>
          <a:p>
            <a:pPr marL="285750" indent="-285750">
              <a:buFont typeface="Arial" panose="020B0604020202020204" pitchFamily="34" charset="0"/>
              <a:buChar char="•"/>
            </a:pPr>
            <a:r>
              <a:rPr lang="en-US" altLang="zh-CN" sz="1200" dirty="0" smtClean="0"/>
              <a:t>M-1</a:t>
            </a:r>
            <a:r>
              <a:rPr lang="zh-CN" altLang="en-US" sz="1200" dirty="0" smtClean="0"/>
              <a:t>：三个区域的数据都整体偏低，没有明显规律</a:t>
            </a:r>
            <a:endParaRPr lang="en-US" altLang="zh-CN" sz="1200" dirty="0" smtClean="0"/>
          </a:p>
          <a:p>
            <a:pPr marL="285750" indent="-285750">
              <a:buFont typeface="Arial" panose="020B0604020202020204" pitchFamily="34" charset="0"/>
              <a:buChar char="•"/>
            </a:pPr>
            <a:r>
              <a:rPr lang="en-US" altLang="zh-CN" sz="1200" dirty="0" smtClean="0"/>
              <a:t>M-2</a:t>
            </a:r>
            <a:r>
              <a:rPr lang="zh-CN" altLang="en-US" sz="1200" dirty="0" smtClean="0"/>
              <a:t>：福建区域</a:t>
            </a:r>
            <a:r>
              <a:rPr lang="en-US" altLang="zh-CN" sz="1200" dirty="0" smtClean="0"/>
              <a:t>M-2</a:t>
            </a:r>
            <a:r>
              <a:rPr lang="zh-CN" altLang="en-US" sz="1200" dirty="0" smtClean="0"/>
              <a:t>有改善，其他区域无明显规律，数据变化起伏大。</a:t>
            </a:r>
            <a:endParaRPr lang="en-US" altLang="zh-CN" dirty="0" smtClean="0"/>
          </a:p>
          <a:p>
            <a:r>
              <a:rPr lang="zh-CN" altLang="en-US" sz="1400" b="1" dirty="0" smtClean="0"/>
              <a:t>下单时间准确率分析：</a:t>
            </a:r>
            <a:endParaRPr lang="en-US" altLang="zh-CN" sz="1400" b="1" dirty="0"/>
          </a:p>
          <a:p>
            <a:pPr marL="285750" indent="-285750">
              <a:buFont typeface="Arial" panose="020B0604020202020204" pitchFamily="34" charset="0"/>
              <a:buChar char="•"/>
            </a:pPr>
            <a:r>
              <a:rPr lang="zh-CN" altLang="en-US" sz="1200" dirty="0" smtClean="0"/>
              <a:t>整体下单时间准确率比要货时间准确率做的要好。</a:t>
            </a:r>
            <a:endParaRPr lang="en-US" altLang="zh-CN" sz="1200" dirty="0" smtClean="0"/>
          </a:p>
          <a:p>
            <a:pPr marL="285750" indent="-285750">
              <a:buFont typeface="Arial" panose="020B0604020202020204" pitchFamily="34" charset="0"/>
              <a:buChar char="•"/>
            </a:pPr>
            <a:r>
              <a:rPr lang="en-US" altLang="zh-CN" sz="1200" dirty="0" smtClean="0"/>
              <a:t>M-0</a:t>
            </a:r>
            <a:r>
              <a:rPr lang="zh-CN" altLang="en-US" sz="1200" dirty="0" smtClean="0"/>
              <a:t>：除了山东区域三个月数据呈现改善趋势，其他区域的数据均呈现非线性变化</a:t>
            </a:r>
            <a:endParaRPr lang="en-US" altLang="zh-CN" sz="1200" dirty="0" smtClean="0"/>
          </a:p>
          <a:p>
            <a:pPr marL="285750" indent="-285750">
              <a:buFont typeface="Arial" panose="020B0604020202020204" pitchFamily="34" charset="0"/>
              <a:buChar char="•"/>
            </a:pPr>
            <a:r>
              <a:rPr lang="en-US" altLang="zh-CN" sz="1200" dirty="0" smtClean="0"/>
              <a:t>M-1</a:t>
            </a:r>
            <a:r>
              <a:rPr lang="zh-CN" altLang="en-US" sz="1200" dirty="0" smtClean="0"/>
              <a:t>：福建区域</a:t>
            </a:r>
            <a:r>
              <a:rPr lang="en-US" altLang="zh-CN" sz="1200" dirty="0" smtClean="0"/>
              <a:t>10</a:t>
            </a:r>
            <a:r>
              <a:rPr lang="zh-CN" altLang="en-US" sz="1200" dirty="0" smtClean="0"/>
              <a:t>月份</a:t>
            </a:r>
            <a:r>
              <a:rPr lang="en-US" altLang="zh-CN" sz="1200" dirty="0" smtClean="0"/>
              <a:t>M-1</a:t>
            </a:r>
            <a:r>
              <a:rPr lang="zh-CN" altLang="en-US" sz="1200" dirty="0" smtClean="0"/>
              <a:t>数据降低比较明显，其他几个区域也呈现非线性变化，无明显规律</a:t>
            </a:r>
            <a:endParaRPr lang="en-US" altLang="zh-CN" sz="1200" dirty="0"/>
          </a:p>
          <a:p>
            <a:pPr marL="285750" indent="-285750">
              <a:buFont typeface="Arial" panose="020B0604020202020204" pitchFamily="34" charset="0"/>
              <a:buChar char="•"/>
            </a:pPr>
            <a:r>
              <a:rPr lang="en-US" altLang="zh-CN" sz="1200" dirty="0" smtClean="0"/>
              <a:t>M-2</a:t>
            </a:r>
            <a:r>
              <a:rPr lang="zh-CN" altLang="en-US" sz="1200" dirty="0" smtClean="0"/>
              <a:t>：整体数值偏低，准确性差。</a:t>
            </a:r>
            <a:endParaRPr lang="en-US" altLang="zh-CN" dirty="0"/>
          </a:p>
          <a:p>
            <a:pPr marL="285750" indent="-285750">
              <a:buFont typeface="Arial" panose="020B0604020202020204" pitchFamily="34" charset="0"/>
              <a:buChar char="•"/>
            </a:pPr>
            <a:endParaRPr lang="en-US" altLang="zh-CN" dirty="0" smtClean="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r>
              <a:rPr lang="zh-CN" altLang="en-US" sz="1400" b="1" dirty="0" smtClean="0"/>
              <a:t>下一步执行建议</a:t>
            </a:r>
            <a:r>
              <a:rPr lang="zh-CN" altLang="en-US" sz="1400" dirty="0" smtClean="0"/>
              <a:t>：</a:t>
            </a:r>
            <a:endParaRPr lang="en-US" altLang="zh-CN" sz="1400" dirty="0" smtClean="0"/>
          </a:p>
          <a:p>
            <a:pPr marL="285750" indent="-285750">
              <a:buFont typeface="Arial" panose="020B0604020202020204" pitchFamily="34" charset="0"/>
              <a:buChar char="•"/>
            </a:pPr>
            <a:r>
              <a:rPr lang="zh-CN" altLang="en-US" sz="1200" dirty="0" smtClean="0"/>
              <a:t>下单准确率：把</a:t>
            </a:r>
            <a:r>
              <a:rPr lang="en-US" altLang="zh-CN" sz="1200" dirty="0" smtClean="0"/>
              <a:t>M-2</a:t>
            </a:r>
            <a:r>
              <a:rPr lang="zh-CN" altLang="en-US" sz="1200" dirty="0" smtClean="0"/>
              <a:t>管起来，整体数据现在看比较差。</a:t>
            </a:r>
            <a:endParaRPr lang="en-US" altLang="zh-CN" sz="1200" dirty="0" smtClean="0"/>
          </a:p>
          <a:p>
            <a:pPr marL="285750" indent="-285750">
              <a:buFont typeface="Arial" panose="020B0604020202020204" pitchFamily="34" charset="0"/>
              <a:buChar char="•"/>
            </a:pPr>
            <a:r>
              <a:rPr lang="zh-CN" altLang="en-US" sz="1200" dirty="0"/>
              <a:t>要</a:t>
            </a:r>
            <a:r>
              <a:rPr lang="zh-CN" altLang="en-US" sz="1200" dirty="0" smtClean="0"/>
              <a:t>货时间准确率：拉齐标准，定改善目标，通过对当前分析出来的问题点给出的解决方法落地试点验证，通过后续数据跟踪和观察看是否有改善。</a:t>
            </a:r>
            <a:endParaRPr lang="en-US" altLang="zh-CN" sz="1200" dirty="0" smtClean="0"/>
          </a:p>
          <a:p>
            <a:pPr marL="285750" indent="-285750">
              <a:buFont typeface="Arial" panose="020B0604020202020204" pitchFamily="34" charset="0"/>
              <a:buChar char="•"/>
            </a:pPr>
            <a:endParaRPr lang="zh-CN" altLang="en-US" sz="1200" dirty="0"/>
          </a:p>
        </p:txBody>
      </p:sp>
      <p:sp>
        <p:nvSpPr>
          <p:cNvPr id="9" name="文本框 8"/>
          <p:cNvSpPr txBox="1"/>
          <p:nvPr/>
        </p:nvSpPr>
        <p:spPr>
          <a:xfrm>
            <a:off x="8180173" y="912743"/>
            <a:ext cx="1338828" cy="369332"/>
          </a:xfrm>
          <a:prstGeom prst="rect">
            <a:avLst/>
          </a:prstGeom>
          <a:noFill/>
        </p:spPr>
        <p:txBody>
          <a:bodyPr wrap="none" rtlCol="0">
            <a:spAutoFit/>
          </a:bodyPr>
          <a:lstStyle/>
          <a:p>
            <a:r>
              <a:rPr lang="zh-CN" altLang="en-US" b="1" dirty="0" smtClean="0"/>
              <a:t>问题及分析</a:t>
            </a:r>
            <a:endParaRPr lang="zh-CN" altLang="en-US" b="1" dirty="0"/>
          </a:p>
        </p:txBody>
      </p:sp>
      <p:sp>
        <p:nvSpPr>
          <p:cNvPr id="10" name="等腰三角形 9"/>
          <p:cNvSpPr/>
          <p:nvPr/>
        </p:nvSpPr>
        <p:spPr>
          <a:xfrm rot="5400000">
            <a:off x="4760911" y="3742846"/>
            <a:ext cx="2703475"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2"/>
          <a:stretch>
            <a:fillRect/>
          </a:stretch>
        </p:blipFill>
        <p:spPr>
          <a:xfrm>
            <a:off x="102156" y="1526127"/>
            <a:ext cx="5751530" cy="4363900"/>
          </a:xfrm>
          <a:prstGeom prst="rect">
            <a:avLst/>
          </a:prstGeom>
        </p:spPr>
      </p:pic>
    </p:spTree>
    <p:extLst>
      <p:ext uri="{BB962C8B-B14F-4D97-AF65-F5344CB8AC3E}">
        <p14:creationId xmlns:p14="http://schemas.microsoft.com/office/powerpoint/2010/main" val="36896407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985943"/>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高质量的执行</a:t>
            </a:r>
            <a:r>
              <a:rPr lang="en-US" altLang="zh-CN" dirty="0" smtClean="0"/>
              <a:t>MO</a:t>
            </a:r>
            <a:r>
              <a:rPr lang="zh-CN" altLang="en-US" dirty="0" smtClean="0"/>
              <a:t>关键活动</a:t>
            </a:r>
            <a:endParaRPr lang="en-US" altLang="zh-CN" dirty="0" smtClean="0"/>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销售与供应链协同机制</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4217089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这个</a:t>
            </a:r>
            <a:r>
              <a:rPr lang="zh-CN" altLang="en-US" dirty="0"/>
              <a:t>业务是在干什么？</a:t>
            </a:r>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r>
              <a:rPr lang="zh-CN" altLang="en-US"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a:t>
            </a:r>
            <a:r>
              <a:rPr lang="zh-CN"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机会点</a:t>
            </a:r>
            <a:endParaRPr lang="zh-HK"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关键</a:t>
            </a:r>
            <a:r>
              <a:rPr lang="en-US" altLang="zh-CN"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KCP/KDP</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设计</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8" name="TextBox 103"/>
          <p:cNvSpPr txBox="1"/>
          <p:nvPr/>
        </p:nvSpPr>
        <p:spPr bwMode="auto">
          <a:xfrm>
            <a:off x="8236622" y="3688976"/>
            <a:ext cx="1711268"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业务价值</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Rectangle 93"/>
          <p:cNvSpPr>
            <a:spLocks noChangeArrowheads="1"/>
          </p:cNvSpPr>
          <p:nvPr/>
        </p:nvSpPr>
        <p:spPr bwMode="auto">
          <a:xfrm>
            <a:off x="6452754" y="5893711"/>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后续交付、合同</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处理效率提升</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Rectangle 98"/>
          <p:cNvSpPr/>
          <p:nvPr/>
        </p:nvSpPr>
        <p:spPr>
          <a:xfrm>
            <a:off x="6452754" y="4583394"/>
            <a:ext cx="2078640"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投标赢率得到提升</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1" name="Rectangle 99"/>
          <p:cNvSpPr/>
          <p:nvPr/>
        </p:nvSpPr>
        <p:spPr>
          <a:xfrm>
            <a:off x="6452754" y="5572249"/>
            <a:ext cx="4414851"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提升可交付性，保障交付质量，降低项目风险</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2" name="Rectangle 100"/>
          <p:cNvSpPr/>
          <p:nvPr/>
        </p:nvSpPr>
        <p:spPr>
          <a:xfrm>
            <a:off x="6452754" y="4236193"/>
            <a:ext cx="2662693"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提高销售项目成功把握度</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3" name="Rectangle 104"/>
          <p:cNvSpPr>
            <a:spLocks noChangeArrowheads="1"/>
          </p:cNvSpPr>
          <p:nvPr/>
        </p:nvSpPr>
        <p:spPr bwMode="auto">
          <a:xfrm>
            <a:off x="6452754" y="4900435"/>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提升标书制作的效率和质量</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4" name="Rectangle 105"/>
          <p:cNvSpPr>
            <a:spLocks noChangeArrowheads="1"/>
          </p:cNvSpPr>
          <p:nvPr/>
        </p:nvSpPr>
        <p:spPr bwMode="auto">
          <a:xfrm>
            <a:off x="6452754" y="5206058"/>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确保合同的合规性</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分析客户标书，制定有效投标策略，包括</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价格策略，商务策略等</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点，同时，启动丢</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分析和评估机会点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，完成商机进漏斗审批，分级分层及立项决策</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制定解决方案和价值主张，影响</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客户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的</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购买构想并取得认可，引导客户标书和评标标准</a:t>
            </a:r>
          </a:p>
        </p:txBody>
      </p:sp>
      <p:sp>
        <p:nvSpPr>
          <p:cNvPr id="74" name="Rectangle 100"/>
          <p:cNvSpPr/>
          <p:nvPr/>
        </p:nvSpPr>
        <p:spPr>
          <a:xfrm>
            <a:off x="945048" y="4337981"/>
            <a:ext cx="2874170"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验证商机：商机审批，立项评审决策</a:t>
            </a: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推进商机：解决方案评审</a:t>
            </a: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制定并执行投标策略：标前评审，特价审批</a:t>
            </a: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谈判并签订合同：直签项目合同评审，丢</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p>
        </p:txBody>
      </p:sp>
    </p:spTree>
    <p:extLst>
      <p:ext uri="{BB962C8B-B14F-4D97-AF65-F5344CB8AC3E}">
        <p14:creationId xmlns:p14="http://schemas.microsoft.com/office/powerpoint/2010/main" val="16063324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zh-CN" altLang="en-US" dirty="0" smtClean="0"/>
              <a:t>做准</a:t>
            </a:r>
            <a:r>
              <a:rPr lang="en-US" altLang="zh-CN" dirty="0" smtClean="0"/>
              <a:t>N</a:t>
            </a:r>
            <a:r>
              <a:rPr lang="zh-CN" altLang="en-US" dirty="0" smtClean="0"/>
              <a:t>和</a:t>
            </a:r>
            <a:r>
              <a:rPr lang="en-US" altLang="zh-CN" dirty="0" smtClean="0"/>
              <a:t>T</a:t>
            </a:r>
            <a:r>
              <a:rPr lang="zh-CN" altLang="en-US" dirty="0" smtClean="0"/>
              <a:t>的输入和审核</a:t>
            </a:r>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289869"/>
            <a:ext cx="4154170" cy="4119556"/>
            <a:chOff x="-12700" y="-12700"/>
            <a:chExt cx="4154170" cy="3491022"/>
          </a:xfrm>
        </p:grpSpPr>
        <p:grpSp>
          <p:nvGrpSpPr>
            <p:cNvPr id="16" name="group 168"/>
            <p:cNvGrpSpPr/>
            <p:nvPr/>
          </p:nvGrpSpPr>
          <p:grpSpPr>
            <a:xfrm rot="21600000">
              <a:off x="0" y="0"/>
              <a:ext cx="4126991" cy="3478322"/>
              <a:chOff x="0" y="0"/>
              <a:chExt cx="4126991" cy="3478322"/>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2979976"/>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1" name="矩形 30"/>
          <p:cNvSpPr/>
          <p:nvPr/>
        </p:nvSpPr>
        <p:spPr>
          <a:xfrm>
            <a:off x="6727594" y="3000147"/>
            <a:ext cx="4029546" cy="318625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、商机进漏斗时输入准确的配置清单和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；售前做好配置可信度评分工作，销售负责</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的填写和及时刷新；具体方法参照做准</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的方法；</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N</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流程培训宣贯材料</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_V5.0.pptx</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、区域经理对于进漏斗的机会进行严格审批，具体审批规则参考</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验证商机流程；</a:t>
            </a:r>
            <a:r>
              <a:rPr lang="en-US" altLang="zh-CN" sz="1400" dirty="0">
                <a:hlinkClick r:id="rId3"/>
              </a:rPr>
              <a:t>M11.1 </a:t>
            </a:r>
            <a:r>
              <a:rPr lang="zh-CN" altLang="en-US" sz="1400" dirty="0">
                <a:hlinkClick r:id="rId3"/>
              </a:rPr>
              <a:t>验证商机流程说明文件</a:t>
            </a:r>
            <a:r>
              <a:rPr lang="en-US" altLang="zh-CN" sz="1400" dirty="0">
                <a:hlinkClick r:id="rId3"/>
              </a:rPr>
              <a:t>-V1.0</a:t>
            </a:r>
            <a:endParaRPr lang="zh-CN" altLang="en-US" sz="1400" dirty="0"/>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、项目分类分级和立项决策发起均由</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CRM</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自动功能支撑，对应的审批人做好项目立项审批决策工作，对于满足立项条件但决定不立项的项目要提供明确的说明；</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b="1" kern="0" spc="-5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b="1" kern="0" spc="-5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、建立</a:t>
            </a:r>
            <a:r>
              <a:rPr lang="en-US" altLang="zh-CN" sz="1400" b="1" kern="0" spc="-5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400" b="1" kern="0" spc="-5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400" b="1" kern="0" spc="-5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1400" b="1" kern="0" spc="-5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准确性市场端，销管和供应链端的复盘，建议月度复盘。</a:t>
            </a:r>
            <a:endParaRPr lang="en-US" altLang="zh-CN" sz="1400" b="1" kern="0" spc="-5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962370"/>
            <a:ext cx="3964654" cy="1069267"/>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3" name="图片 2"/>
          <p:cNvPicPr>
            <a:picLocks noChangeAspect="1"/>
          </p:cNvPicPr>
          <p:nvPr/>
        </p:nvPicPr>
        <p:blipFill>
          <a:blip r:embed="rId4"/>
          <a:stretch>
            <a:fillRect/>
          </a:stretch>
        </p:blipFill>
        <p:spPr>
          <a:xfrm>
            <a:off x="1256252" y="2840007"/>
            <a:ext cx="4990315" cy="3512803"/>
          </a:xfrm>
          <a:prstGeom prst="rect">
            <a:avLst/>
          </a:prstGeom>
        </p:spPr>
      </p:pic>
    </p:spTree>
    <p:extLst>
      <p:ext uri="{BB962C8B-B14F-4D97-AF65-F5344CB8AC3E}">
        <p14:creationId xmlns:p14="http://schemas.microsoft.com/office/powerpoint/2010/main" val="1482468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en-US" altLang="zh-CN" sz="1400" dirty="0">
                <a:hlinkClick r:id="rId2"/>
              </a:rPr>
              <a:t>M11.2 </a:t>
            </a:r>
            <a:r>
              <a:rPr lang="zh-CN" altLang="en-US" sz="1400" dirty="0">
                <a:hlinkClick r:id="rId2"/>
              </a:rPr>
              <a:t>推进商机流程说明文件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134593"/>
            <a:ext cx="4154170" cy="4542250"/>
            <a:chOff x="-12700" y="-12700"/>
            <a:chExt cx="4154170" cy="3849224"/>
          </a:xfrm>
        </p:grpSpPr>
        <p:grpSp>
          <p:nvGrpSpPr>
            <p:cNvPr id="16" name="group 168"/>
            <p:cNvGrpSpPr/>
            <p:nvPr/>
          </p:nvGrpSpPr>
          <p:grpSpPr>
            <a:xfrm rot="21600000">
              <a:off x="0" y="0"/>
              <a:ext cx="4126991" cy="3836524"/>
              <a:chOff x="0" y="0"/>
              <a:chExt cx="4126991" cy="3836524"/>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3338179"/>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eaLnBrk="0">
                <a:lnSpc>
                  <a:spcPct val="96000"/>
                </a:lnSpc>
                <a:spcBef>
                  <a:spcPts val="5"/>
                </a:spcBef>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lang="zh-CN" altLang="en-US" sz="1000" dirty="0">
                <a:ea typeface="Arial" panose="020B0604020202090204"/>
                <a:cs typeface="Arial" panose="020B0604020202090204"/>
              </a:endParaRPr>
            </a:p>
            <a:p>
              <a:pPr algn="l" rtl="0" eaLnBrk="0">
                <a:lnSpc>
                  <a:spcPct val="138000"/>
                </a:lnSpc>
              </a:pPr>
              <a:endParaRPr sz="1000" dirty="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p>
        </p:txBody>
      </p:sp>
      <p:sp>
        <p:nvSpPr>
          <p:cNvPr id="31" name="矩形 30"/>
          <p:cNvSpPr/>
          <p:nvPr/>
        </p:nvSpPr>
        <p:spPr>
          <a:xfrm>
            <a:off x="6843140" y="2838087"/>
            <a:ext cx="4065440" cy="301518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及后续的项目分析会为商机推进工作稳步推进做保障。立项决策后</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日内做好项目启动会工作；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开展解决方案评审会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：售后部门前置参与解决方案评审，确保方案交付落地可行性和解决方案质量</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供应链诉求：</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、项目启动会和</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项目运转群</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需要让市场计划</a:t>
            </a:r>
            <a:r>
              <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供应经理</a:t>
            </a:r>
            <a:r>
              <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参与；</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供应链前置参与</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解决方案评审</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，确保测试产品选型具备</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可供应性</a:t>
            </a:r>
            <a:endPar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3" name="图片 2"/>
          <p:cNvPicPr>
            <a:picLocks noChangeAspect="1"/>
          </p:cNvPicPr>
          <p:nvPr/>
        </p:nvPicPr>
        <p:blipFill>
          <a:blip r:embed="rId3"/>
          <a:stretch>
            <a:fillRect/>
          </a:stretch>
        </p:blipFill>
        <p:spPr>
          <a:xfrm>
            <a:off x="963559" y="2965590"/>
            <a:ext cx="5575702" cy="2829395"/>
          </a:xfrm>
          <a:prstGeom prst="rect">
            <a:avLst/>
          </a:prstGeom>
        </p:spPr>
      </p:pic>
    </p:spTree>
    <p:extLst>
      <p:ext uri="{BB962C8B-B14F-4D97-AF65-F5344CB8AC3E}">
        <p14:creationId xmlns:p14="http://schemas.microsoft.com/office/powerpoint/2010/main" val="413380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en-US" altLang="zh-CN" sz="1400" dirty="0">
                <a:hlinkClick r:id="rId2"/>
              </a:rPr>
              <a:t>M11.3 </a:t>
            </a:r>
            <a:r>
              <a:rPr lang="zh-CN" altLang="en-US" sz="1400" dirty="0">
                <a:hlinkClick r:id="rId2"/>
              </a:rPr>
              <a:t>制定并执行投标策略流程说明文件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289869"/>
            <a:ext cx="4154170" cy="4119556"/>
            <a:chOff x="-12700" y="-12700"/>
            <a:chExt cx="4154170" cy="3491022"/>
          </a:xfrm>
        </p:grpSpPr>
        <p:grpSp>
          <p:nvGrpSpPr>
            <p:cNvPr id="16" name="group 168"/>
            <p:cNvGrpSpPr/>
            <p:nvPr/>
          </p:nvGrpSpPr>
          <p:grpSpPr>
            <a:xfrm rot="21600000">
              <a:off x="0" y="0"/>
              <a:ext cx="4126991" cy="3478322"/>
              <a:chOff x="0" y="0"/>
              <a:chExt cx="4126991" cy="3478322"/>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2979976"/>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p>
        </p:txBody>
      </p:sp>
      <p:sp>
        <p:nvSpPr>
          <p:cNvPr id="31" name="矩形 30"/>
          <p:cNvSpPr/>
          <p:nvPr/>
        </p:nvSpPr>
        <p:spPr>
          <a:xfrm>
            <a:off x="7050786" y="3083961"/>
            <a:ext cx="3650409" cy="3523272"/>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标书</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环节要吃透招标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制定投标策略要锚定招标核心需求</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，进行差异化分析，价格策略，商务策略，风险兜底以及备选方案都必须充分关注与考虑。</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执行标前评审会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，把控风险提高质量，提升中标率</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特价申请与审批严格执行</a:t>
            </a: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现有流程</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供应链诉求：</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供应链前置参与</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投标策略评审</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，确保投标产品具备</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可供应性，</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如存在供应风险需升级决策。</a:t>
            </a:r>
            <a:endPar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4" name="图片 3"/>
          <p:cNvPicPr>
            <a:picLocks noChangeAspect="1"/>
          </p:cNvPicPr>
          <p:nvPr/>
        </p:nvPicPr>
        <p:blipFill>
          <a:blip r:embed="rId3"/>
          <a:stretch>
            <a:fillRect/>
          </a:stretch>
        </p:blipFill>
        <p:spPr>
          <a:xfrm>
            <a:off x="1229196" y="2841031"/>
            <a:ext cx="5044428" cy="3510755"/>
          </a:xfrm>
          <a:prstGeom prst="rect">
            <a:avLst/>
          </a:prstGeom>
        </p:spPr>
      </p:pic>
    </p:spTree>
    <p:extLst>
      <p:ext uri="{BB962C8B-B14F-4D97-AF65-F5344CB8AC3E}">
        <p14:creationId xmlns:p14="http://schemas.microsoft.com/office/powerpoint/2010/main" val="26420600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en-US" altLang="zh-CN" sz="1400" dirty="0">
                <a:hlinkClick r:id="rId2"/>
              </a:rPr>
              <a:t>M11.4 </a:t>
            </a:r>
            <a:r>
              <a:rPr lang="zh-CN" altLang="en-US" sz="1400" dirty="0">
                <a:hlinkClick r:id="rId2"/>
              </a:rPr>
              <a:t>谈判并签订合同流程说明文件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814129" y="2289869"/>
            <a:ext cx="4154170" cy="4385002"/>
            <a:chOff x="-12700" y="-12700"/>
            <a:chExt cx="4154170" cy="3715968"/>
          </a:xfrm>
        </p:grpSpPr>
        <p:grpSp>
          <p:nvGrpSpPr>
            <p:cNvPr id="16" name="group 168"/>
            <p:cNvGrpSpPr/>
            <p:nvPr/>
          </p:nvGrpSpPr>
          <p:grpSpPr>
            <a:xfrm rot="21600000">
              <a:off x="0" y="0"/>
              <a:ext cx="4126991" cy="3703268"/>
              <a:chOff x="0" y="0"/>
              <a:chExt cx="4126991" cy="3703268"/>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320492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1" name="矩形 30"/>
          <p:cNvSpPr/>
          <p:nvPr/>
        </p:nvSpPr>
        <p:spPr>
          <a:xfrm>
            <a:off x="6800920" y="3051389"/>
            <a:ext cx="3963131" cy="2138791"/>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、确保每一个项目都做到丢</a:t>
            </a: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赢单复盘，通过经验总结为后续工作提供指导。</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供应链诉求：</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、直签项目</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供应链参与合同评审；</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05684" y="2975434"/>
            <a:ext cx="3964654" cy="83484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3"/>
          <a:stretch>
            <a:fillRect/>
          </a:stretch>
        </p:blipFill>
        <p:spPr>
          <a:xfrm>
            <a:off x="1146443" y="3149090"/>
            <a:ext cx="5209934" cy="2978151"/>
          </a:xfrm>
          <a:prstGeom prst="rect">
            <a:avLst/>
          </a:prstGeom>
        </p:spPr>
      </p:pic>
    </p:spTree>
    <p:extLst>
      <p:ext uri="{BB962C8B-B14F-4D97-AF65-F5344CB8AC3E}">
        <p14:creationId xmlns:p14="http://schemas.microsoft.com/office/powerpoint/2010/main" val="38546411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71508" y="3610721"/>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高质量的执行</a:t>
            </a:r>
            <a:r>
              <a:rPr lang="en-US" altLang="zh-CN" dirty="0" smtClean="0"/>
              <a:t>MO</a:t>
            </a:r>
            <a:r>
              <a:rPr lang="zh-CN" altLang="en-US" dirty="0" smtClean="0"/>
              <a:t>关键活动</a:t>
            </a:r>
            <a:endParaRPr lang="en-US" altLang="zh-CN" dirty="0" smtClean="0"/>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销售与供应链协同机制</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347686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预测流程</a:t>
            </a:r>
            <a:endParaRPr lang="zh-CN" altLang="en-US" dirty="0"/>
          </a:p>
        </p:txBody>
      </p:sp>
      <p:sp>
        <p:nvSpPr>
          <p:cNvPr id="4" name="矩形 3"/>
          <p:cNvSpPr/>
          <p:nvPr/>
        </p:nvSpPr>
        <p:spPr>
          <a:xfrm>
            <a:off x="9205559" y="1109912"/>
            <a:ext cx="2410037" cy="1569660"/>
          </a:xfrm>
          <a:prstGeom prst="rect">
            <a:avLst/>
          </a:prstGeom>
        </p:spPr>
        <p:txBody>
          <a:bodyPr wrap="square">
            <a:spAutoFit/>
          </a:bodyPr>
          <a:lstStyle/>
          <a:p>
            <a:r>
              <a:rPr lang="zh-CN" altLang="en-US" sz="1200" b="1" dirty="0" smtClean="0"/>
              <a:t>通过销管隔月预测流程把下单承诺和要货预测都管起来：</a:t>
            </a:r>
            <a:endParaRPr lang="en-US" altLang="zh-CN" sz="1200" b="1" dirty="0" smtClean="0"/>
          </a:p>
          <a:p>
            <a:endParaRPr lang="en-US" altLang="zh-CN" sz="1200" b="1" dirty="0"/>
          </a:p>
          <a:p>
            <a:r>
              <a:rPr lang="zh-CN" altLang="en-US" sz="1200" b="1" dirty="0" smtClean="0"/>
              <a:t>预计下单承诺流程保持与之前流程一致；</a:t>
            </a:r>
            <a:endParaRPr lang="en-US" altLang="zh-CN" sz="1200" b="1" dirty="0" smtClean="0"/>
          </a:p>
          <a:p>
            <a:endParaRPr lang="en-US" altLang="zh-CN" sz="1200" b="1" dirty="0"/>
          </a:p>
          <a:p>
            <a:r>
              <a:rPr lang="zh-CN" altLang="en-US" sz="1200" b="1" dirty="0">
                <a:solidFill>
                  <a:srgbClr val="FF0000"/>
                </a:solidFill>
              </a:rPr>
              <a:t>要</a:t>
            </a:r>
            <a:r>
              <a:rPr lang="zh-CN" altLang="en-US" sz="1200" b="1" dirty="0" smtClean="0">
                <a:solidFill>
                  <a:srgbClr val="FF0000"/>
                </a:solidFill>
              </a:rPr>
              <a:t>货时间管理需要设计流程，怎么管？</a:t>
            </a:r>
            <a:endParaRPr lang="en-US" altLang="zh-CN" sz="1200" b="1" dirty="0">
              <a:solidFill>
                <a:srgbClr val="FF0000"/>
              </a:solidFill>
            </a:endParaRPr>
          </a:p>
        </p:txBody>
      </p:sp>
      <p:pic>
        <p:nvPicPr>
          <p:cNvPr id="3" name="图片 2"/>
          <p:cNvPicPr>
            <a:picLocks noChangeAspect="1"/>
          </p:cNvPicPr>
          <p:nvPr/>
        </p:nvPicPr>
        <p:blipFill>
          <a:blip r:embed="rId2"/>
          <a:stretch>
            <a:fillRect/>
          </a:stretch>
        </p:blipFill>
        <p:spPr>
          <a:xfrm>
            <a:off x="120444" y="878186"/>
            <a:ext cx="9085115" cy="5304488"/>
          </a:xfrm>
          <a:prstGeom prst="rect">
            <a:avLst/>
          </a:prstGeom>
        </p:spPr>
      </p:pic>
    </p:spTree>
    <p:extLst>
      <p:ext uri="{BB962C8B-B14F-4D97-AF65-F5344CB8AC3E}">
        <p14:creationId xmlns:p14="http://schemas.microsoft.com/office/powerpoint/2010/main" val="2722257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4144876"/>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高质量的执行</a:t>
            </a:r>
            <a:r>
              <a:rPr lang="en-US" altLang="zh-CN" dirty="0" smtClean="0"/>
              <a:t>MO</a:t>
            </a:r>
            <a:r>
              <a:rPr lang="zh-CN" altLang="en-US" dirty="0" smtClean="0"/>
              <a:t>关键活动</a:t>
            </a:r>
            <a:endParaRPr lang="en-US" altLang="zh-CN" dirty="0" smtClean="0"/>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销售与供应链协同机制</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785559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2088" y="196215"/>
            <a:ext cx="7606768" cy="495935"/>
          </a:xfrm>
        </p:spPr>
        <p:txBody>
          <a:bodyPr/>
          <a:lstStyle/>
          <a:p>
            <a:r>
              <a:rPr lang="en-US" altLang="zh-CN" dirty="0"/>
              <a:t>MO</a:t>
            </a:r>
            <a:r>
              <a:rPr dirty="0"/>
              <a:t>流程植入供应链协同</a:t>
            </a:r>
          </a:p>
        </p:txBody>
      </p:sp>
      <p:sp>
        <p:nvSpPr>
          <p:cNvPr id="8" name="矩形 7"/>
          <p:cNvSpPr/>
          <p:nvPr/>
        </p:nvSpPr>
        <p:spPr>
          <a:xfrm>
            <a:off x="577215" y="859790"/>
            <a:ext cx="10692130" cy="125285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两类场景（协同范围）：</a:t>
            </a:r>
            <a:r>
              <a:rPr lang="zh-CN" altLang="en-US" sz="1600" b="1" dirty="0">
                <a:solidFill>
                  <a:srgbClr val="FF0000"/>
                </a:solidFill>
                <a:effectLst/>
              </a:rPr>
              <a:t>所有的立项项目</a:t>
            </a:r>
            <a:r>
              <a:rPr lang="zh-CN" altLang="en-US" sz="1600" dirty="0">
                <a:effectLst/>
              </a:rPr>
              <a:t>、</a:t>
            </a:r>
            <a:r>
              <a:rPr lang="zh-CN" altLang="en-US" sz="1600" b="1">
                <a:solidFill>
                  <a:srgbClr val="FF0000"/>
                </a:solidFill>
                <a:sym typeface="+mn-ea"/>
              </a:rPr>
              <a:t>一般项目中</a:t>
            </a:r>
            <a:r>
              <a:rPr lang="zh-CN" altLang="en-US" sz="1600" b="1">
                <a:solidFill>
                  <a:schemeClr val="tx1"/>
                </a:solidFill>
                <a:sym typeface="+mn-ea"/>
              </a:rPr>
              <a:t>所有框架项目</a:t>
            </a:r>
            <a:r>
              <a:rPr lang="zh-CN" altLang="en-US" sz="1600">
                <a:solidFill>
                  <a:schemeClr val="tx1"/>
                </a:solidFill>
                <a:sym typeface="+mn-ea"/>
              </a:rPr>
              <a:t>或</a:t>
            </a:r>
            <a:r>
              <a:rPr lang="zh-CN" altLang="en-US" sz="1600" b="1">
                <a:solidFill>
                  <a:schemeClr val="tx1"/>
                </a:solidFill>
                <a:sym typeface="+mn-ea"/>
              </a:rPr>
              <a:t>含供应风险产品</a:t>
            </a:r>
            <a:r>
              <a:rPr lang="zh-CN" altLang="en-US" sz="1600">
                <a:solidFill>
                  <a:schemeClr val="tx1"/>
                </a:solidFill>
                <a:sym typeface="+mn-ea"/>
              </a:rPr>
              <a:t>的项目；</a:t>
            </a:r>
          </a:p>
          <a:p>
            <a:pPr fontAlgn="ctr">
              <a:lnSpc>
                <a:spcPct val="150000"/>
              </a:lnSpc>
            </a:pPr>
            <a:r>
              <a:rPr lang="zh-CN" altLang="en-US" sz="1600" b="1">
                <a:solidFill>
                  <a:schemeClr val="tx1"/>
                </a:solidFill>
                <a:sym typeface="+mn-ea"/>
              </a:rPr>
              <a:t>对销售的需求：立项项目</a:t>
            </a:r>
            <a:r>
              <a:rPr lang="zh-CN" altLang="en-US" sz="1600">
                <a:solidFill>
                  <a:schemeClr val="tx1"/>
                </a:solidFill>
                <a:sym typeface="+mn-ea"/>
              </a:rPr>
              <a:t>关键阶段有意识的</a:t>
            </a:r>
            <a:r>
              <a:rPr lang="zh-CN" altLang="en-US" sz="1600" b="1">
                <a:solidFill>
                  <a:schemeClr val="tx1"/>
                </a:solidFill>
                <a:sym typeface="+mn-ea"/>
              </a:rPr>
              <a:t>主动协同供应链</a:t>
            </a:r>
            <a:r>
              <a:rPr lang="zh-CN" altLang="en-US" sz="1600">
                <a:solidFill>
                  <a:schemeClr val="tx1"/>
                </a:solidFill>
                <a:sym typeface="+mn-ea"/>
              </a:rPr>
              <a:t>，</a:t>
            </a:r>
            <a:r>
              <a:rPr lang="zh-CN" altLang="en-US" sz="1600" b="1">
                <a:solidFill>
                  <a:schemeClr val="tx1"/>
                </a:solidFill>
                <a:sym typeface="+mn-ea"/>
              </a:rPr>
              <a:t>一般项目</a:t>
            </a:r>
            <a:r>
              <a:rPr lang="zh-CN" altLang="en-US" sz="1600">
                <a:solidFill>
                  <a:schemeClr val="tx1"/>
                </a:solidFill>
                <a:sym typeface="+mn-ea"/>
              </a:rPr>
              <a:t>识别到风险后拉通供应链；</a:t>
            </a:r>
          </a:p>
          <a:p>
            <a:pPr fontAlgn="ctr">
              <a:lnSpc>
                <a:spcPct val="150000"/>
              </a:lnSpc>
            </a:pPr>
            <a:r>
              <a:rPr lang="zh-CN" altLang="en-US" sz="1600" b="1"/>
              <a:t>供应链管理重点：</a:t>
            </a:r>
            <a:r>
              <a:rPr lang="zh-CN" altLang="en-US" sz="1600"/>
              <a:t>在</a:t>
            </a:r>
            <a:r>
              <a:rPr lang="zh-CN" altLang="en-US" sz="1600" b="1">
                <a:solidFill>
                  <a:srgbClr val="FF0000"/>
                </a:solidFill>
              </a:rPr>
              <a:t>产品选型、制定投标策略、合同评审</a:t>
            </a:r>
            <a:r>
              <a:rPr lang="zh-CN" altLang="en-US" sz="1600"/>
              <a:t>三个环节提供</a:t>
            </a:r>
            <a:r>
              <a:rPr lang="zh-CN" altLang="en-US" sz="1600" b="1"/>
              <a:t>可供应性评审和供应方案；</a:t>
            </a:r>
          </a:p>
          <a:p>
            <a:pPr fontAlgn="ctr">
              <a:lnSpc>
                <a:spcPct val="150000"/>
              </a:lnSpc>
            </a:pPr>
            <a:endParaRPr lang="zh-CN" altLang="en-US" sz="1600" b="1" dirty="0">
              <a:effectLst/>
            </a:endParaRPr>
          </a:p>
        </p:txBody>
      </p:sp>
      <p:graphicFrame>
        <p:nvGraphicFramePr>
          <p:cNvPr id="13" name="表格 12"/>
          <p:cNvGraphicFramePr/>
          <p:nvPr/>
        </p:nvGraphicFramePr>
        <p:xfrm>
          <a:off x="577850" y="2295525"/>
          <a:ext cx="6106160" cy="4070985"/>
        </p:xfrm>
        <a:graphic>
          <a:graphicData uri="http://schemas.openxmlformats.org/drawingml/2006/table">
            <a:tbl>
              <a:tblPr/>
              <a:tblGrid>
                <a:gridCol w="1911985"/>
                <a:gridCol w="2205990"/>
                <a:gridCol w="1988185"/>
              </a:tblGrid>
              <a:tr h="441325">
                <a:tc>
                  <a:txBody>
                    <a:bodyPr/>
                    <a:lstStyle/>
                    <a:p>
                      <a:pPr fontAlgn="t"/>
                      <a:r>
                        <a:rPr lang="zh-CN" altLang="en-US" sz="1400" b="1"/>
                        <a:t>协同范围</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fontAlgn="t"/>
                      <a:r>
                        <a:rPr lang="zh-CN" altLang="en-US" sz="1400" b="1"/>
                        <a:t>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fontAlgn="t"/>
                      <a:r>
                        <a:rPr lang="zh-CN" altLang="en-US" sz="1400" b="1"/>
                        <a:t>协同机制</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r>
              <a:tr h="1264920">
                <a:tc>
                  <a:txBody>
                    <a:bodyPr/>
                    <a:lstStyle/>
                    <a:p>
                      <a:pPr fontAlgn="ctr"/>
                      <a:r>
                        <a:rPr lang="zh-CN" altLang="en-US" sz="1400">
                          <a:solidFill>
                            <a:srgbClr val="245BDB"/>
                          </a:solidFill>
                        </a:rPr>
                        <a:t>所有的立项项目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en-US" altLang="zh-CN" sz="1400"/>
                        <a:t>BG</a:t>
                      </a:r>
                      <a:r>
                        <a:rPr lang="zh-CN" altLang="en-US" sz="1400"/>
                        <a:t>级</a:t>
                      </a:r>
                      <a:r>
                        <a:rPr lang="en-US" altLang="zh-CN" sz="1400"/>
                        <a:t>/BU</a:t>
                      </a:r>
                      <a:r>
                        <a:rPr lang="zh-CN" altLang="en-US" sz="1400"/>
                        <a:t>级</a:t>
                      </a:r>
                      <a:r>
                        <a:rPr lang="en-US" altLang="zh-CN" sz="1400"/>
                        <a:t>/</a:t>
                      </a:r>
                      <a:r>
                        <a:rPr lang="zh-CN" altLang="en-US" sz="1400"/>
                        <a:t>区域级重点项目（参考项目分层分级标准）</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销售代表（项目经理）将供应经理纳入项目组成员和项目运作群</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2364740">
                <a:tc>
                  <a:txBody>
                    <a:bodyPr/>
                    <a:lstStyle/>
                    <a:p>
                      <a:pPr fontAlgn="ctr"/>
                      <a:r>
                        <a:rPr lang="zh-CN" altLang="en-US" sz="1400"/>
                        <a:t>一般项目中</a:t>
                      </a:r>
                      <a:r>
                        <a:rPr lang="zh-CN" altLang="en-US" sz="1400">
                          <a:solidFill>
                            <a:srgbClr val="245BDB"/>
                          </a:solidFill>
                        </a:rPr>
                        <a:t>所有框架项目</a:t>
                      </a:r>
                      <a:r>
                        <a:rPr lang="zh-CN" altLang="en-US" sz="1400"/>
                        <a:t>或</a:t>
                      </a:r>
                      <a:r>
                        <a:rPr lang="zh-CN" altLang="en-US" sz="1400">
                          <a:solidFill>
                            <a:srgbClr val="245BDB"/>
                          </a:solidFill>
                        </a:rPr>
                        <a:t>含供应风险产品</a:t>
                      </a:r>
                      <a:r>
                        <a:rPr lang="zh-CN" altLang="en-US" sz="1400"/>
                        <a:t>的项目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一般项目（参考项目分层分级标准）中的框架项目以及含供应风险产品的项目。供应风险定义参考如下附表</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供应经理主动管理；</a:t>
                      </a:r>
                    </a:p>
                    <a:p>
                      <a:pPr fontAlgn="ctr"/>
                      <a:r>
                        <a:rPr lang="zh-CN" altLang="en-US" sz="1400"/>
                        <a:t>销售主动协同，系统打标识别和提醒（长期方案）</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graphicFrame>
        <p:nvGraphicFramePr>
          <p:cNvPr id="18" name="表格 17"/>
          <p:cNvGraphicFramePr/>
          <p:nvPr>
            <p:custDataLst>
              <p:tags r:id="rId1"/>
            </p:custDataLst>
          </p:nvPr>
        </p:nvGraphicFramePr>
        <p:xfrm>
          <a:off x="6990715" y="2846705"/>
          <a:ext cx="4418965" cy="3495040"/>
        </p:xfrm>
        <a:graphic>
          <a:graphicData uri="http://schemas.openxmlformats.org/drawingml/2006/table">
            <a:tbl>
              <a:tblPr/>
              <a:tblGrid>
                <a:gridCol w="1518285"/>
                <a:gridCol w="2900680"/>
              </a:tblGrid>
              <a:tr h="420370">
                <a:tc>
                  <a:txBody>
                    <a:bodyPr/>
                    <a:lstStyle/>
                    <a:p>
                      <a:pPr algn="l" fontAlgn="t"/>
                      <a:r>
                        <a:rPr lang="zh-CN" altLang="en-US" sz="1400" b="1"/>
                        <a:t>供应风险类型</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chemeClr val="bg1">
                        <a:lumMod val="85000"/>
                      </a:schemeClr>
                    </a:solidFill>
                  </a:tcPr>
                </a:tc>
                <a:tc>
                  <a:txBody>
                    <a:bodyPr/>
                    <a:lstStyle/>
                    <a:p>
                      <a:pPr algn="l" fontAlgn="t"/>
                      <a:r>
                        <a:rPr lang="zh-CN" altLang="en-US" sz="1400" b="1"/>
                        <a:t>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chemeClr val="bg1">
                        <a:lumMod val="85000"/>
                      </a:schemeClr>
                    </a:solidFill>
                  </a:tcPr>
                </a:tc>
              </a:tr>
              <a:tr h="657225">
                <a:tc>
                  <a:txBody>
                    <a:bodyPr/>
                    <a:lstStyle/>
                    <a:p>
                      <a:pPr fontAlgn="t"/>
                      <a:r>
                        <a:rPr lang="zh-CN" altLang="en-US" sz="1400"/>
                        <a:t>定制产品</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定制产品，如云桌面灵活配置</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57225">
                <a:tc>
                  <a:txBody>
                    <a:bodyPr/>
                    <a:lstStyle/>
                    <a:p>
                      <a:pPr fontAlgn="t"/>
                      <a:r>
                        <a:rPr lang="zh-CN" altLang="en-US" sz="1400"/>
                        <a:t>超流速</a:t>
                      </a:r>
                      <a:r>
                        <a:rPr lang="en-US" altLang="zh-CN" sz="1400"/>
                        <a:t>4</a:t>
                      </a:r>
                      <a:r>
                        <a:rPr lang="zh-CN" altLang="en-US" sz="1400"/>
                        <a:t>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需求数量</a:t>
                      </a:r>
                      <a:r>
                        <a:rPr lang="en-US" altLang="zh-CN" sz="1400"/>
                        <a:t>&gt;</a:t>
                      </a:r>
                      <a:r>
                        <a:rPr lang="zh-CN" altLang="en-US" sz="1400"/>
                        <a:t>公司月均流速的</a:t>
                      </a:r>
                      <a:r>
                        <a:rPr lang="en-US" altLang="zh-CN" sz="1400"/>
                        <a:t>4</a:t>
                      </a:r>
                      <a:r>
                        <a:rPr lang="zh-CN" altLang="en-US" sz="1400"/>
                        <a:t>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57860">
                <a:tc>
                  <a:txBody>
                    <a:bodyPr/>
                    <a:lstStyle/>
                    <a:p>
                      <a:pPr fontAlgn="t"/>
                      <a:r>
                        <a:rPr lang="zh-CN" altLang="en-US" sz="1400"/>
                        <a:t>退市</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即将退市产品或已退市产品</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21005">
                <a:tc>
                  <a:txBody>
                    <a:bodyPr/>
                    <a:lstStyle/>
                    <a:p>
                      <a:pPr fontAlgn="t"/>
                      <a:r>
                        <a:rPr lang="zh-CN" altLang="en-US" sz="1400"/>
                        <a:t>新品早销</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新品未上市早销</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81355">
                <a:tc>
                  <a:txBody>
                    <a:bodyPr/>
                    <a:lstStyle/>
                    <a:p>
                      <a:pPr fontAlgn="t"/>
                      <a:r>
                        <a:rPr lang="zh-CN" altLang="en-US" sz="1400"/>
                        <a:t>供应风险</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en-US" altLang="zh-CN" sz="1400"/>
                        <a:t>MDS</a:t>
                      </a:r>
                      <a:r>
                        <a:rPr lang="zh-CN" altLang="en-US" sz="1400"/>
                        <a:t>持续</a:t>
                      </a:r>
                      <a:r>
                        <a:rPr lang="en-US" altLang="zh-CN" sz="1400"/>
                        <a:t>3</a:t>
                      </a:r>
                      <a:r>
                        <a:rPr lang="zh-CN" altLang="en-US" sz="1400"/>
                        <a:t>个月缺口且无明确解决方案</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sp>
        <p:nvSpPr>
          <p:cNvPr id="40" name="AutoShape 10"/>
          <p:cNvSpPr>
            <a:spLocks noChangeArrowheads="1"/>
          </p:cNvSpPr>
          <p:nvPr/>
        </p:nvSpPr>
        <p:spPr bwMode="gray">
          <a:xfrm>
            <a:off x="6990926" y="2307067"/>
            <a:ext cx="2348839" cy="437462"/>
          </a:xfrm>
          <a:prstGeom prst="rect">
            <a:avLst/>
          </a:prstGeom>
          <a:solidFill>
            <a:schemeClr val="accent1">
              <a:lumMod val="20000"/>
              <a:lumOff val="80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供应风险说明</a:t>
            </a:r>
          </a:p>
        </p:txBody>
      </p:sp>
    </p:spTree>
    <p:extLst>
      <p:ext uri="{BB962C8B-B14F-4D97-AF65-F5344CB8AC3E}">
        <p14:creationId xmlns:p14="http://schemas.microsoft.com/office/powerpoint/2010/main" val="27532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2088" y="196215"/>
            <a:ext cx="7606768" cy="495935"/>
          </a:xfrm>
        </p:spPr>
        <p:txBody>
          <a:bodyPr/>
          <a:lstStyle/>
          <a:p>
            <a:r>
              <a:rPr lang="en-US" altLang="zh-CN" dirty="0"/>
              <a:t>MO</a:t>
            </a:r>
            <a:r>
              <a:rPr dirty="0"/>
              <a:t>流程植入供应链协同</a:t>
            </a:r>
            <a:r>
              <a:rPr lang="en-US" altLang="zh-CN" dirty="0"/>
              <a:t>-</a:t>
            </a:r>
            <a:r>
              <a:rPr dirty="0"/>
              <a:t>立项项目</a:t>
            </a:r>
          </a:p>
        </p:txBody>
      </p:sp>
      <p:sp>
        <p:nvSpPr>
          <p:cNvPr id="13" name="矩形 12"/>
          <p:cNvSpPr/>
          <p:nvPr/>
        </p:nvSpPr>
        <p:spPr>
          <a:xfrm>
            <a:off x="577215" y="859790"/>
            <a:ext cx="1069213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流程起点：</a:t>
            </a:r>
            <a:r>
              <a:rPr lang="zh-CN" altLang="en-US" sz="1600" b="1" dirty="0">
                <a:solidFill>
                  <a:srgbClr val="FF0000"/>
                </a:solidFill>
                <a:effectLst/>
              </a:rPr>
              <a:t>立项启动</a:t>
            </a:r>
            <a:r>
              <a:rPr lang="zh-CN" altLang="en-US" sz="1600" b="1" dirty="0">
                <a:effectLst/>
              </a:rPr>
              <a:t>，</a:t>
            </a:r>
            <a:r>
              <a:rPr lang="zh-CN" altLang="en-US" sz="1600" dirty="0">
                <a:effectLst/>
              </a:rPr>
              <a:t>销售需要</a:t>
            </a:r>
            <a:r>
              <a:rPr lang="zh-CN" altLang="en-US" b="1" dirty="0">
                <a:solidFill>
                  <a:srgbClr val="FF0000"/>
                </a:solidFill>
                <a:effectLst/>
              </a:rPr>
              <a:t>主动</a:t>
            </a:r>
            <a:r>
              <a:rPr lang="zh-CN" altLang="en-US" sz="1600" dirty="0">
                <a:solidFill>
                  <a:schemeClr val="tx1"/>
                </a:solidFill>
                <a:effectLst/>
              </a:rPr>
              <a:t>将供应经理（市场计划）拉入</a:t>
            </a:r>
            <a:r>
              <a:rPr lang="zh-CN" altLang="en-US" sz="1600" b="1" dirty="0">
                <a:solidFill>
                  <a:schemeClr val="tx1"/>
                </a:solidFill>
                <a:effectLst/>
              </a:rPr>
              <a:t>项目运转群</a:t>
            </a:r>
            <a:r>
              <a:rPr lang="zh-CN" altLang="en-US" sz="1600" dirty="0">
                <a:solidFill>
                  <a:schemeClr val="tx1"/>
                </a:solidFill>
                <a:effectLst/>
              </a:rPr>
              <a:t>，组织</a:t>
            </a:r>
            <a:r>
              <a:rPr lang="zh-CN" altLang="en-US" sz="1600" b="1" dirty="0">
                <a:solidFill>
                  <a:schemeClr val="tx1"/>
                </a:solidFill>
                <a:effectLst/>
              </a:rPr>
              <a:t>立项启动会</a:t>
            </a:r>
            <a:r>
              <a:rPr lang="zh-CN" altLang="en-US" sz="1600" dirty="0">
                <a:solidFill>
                  <a:schemeClr val="tx1"/>
                </a:solidFill>
                <a:effectLst/>
              </a:rPr>
              <a:t>时邀请供应经理参与。</a:t>
            </a:r>
            <a:endParaRPr lang="zh-CN" altLang="en-US" sz="1600" b="1" dirty="0">
              <a:effectLst/>
            </a:endParaRPr>
          </a:p>
          <a:p>
            <a:pPr fontAlgn="ctr">
              <a:lnSpc>
                <a:spcPct val="150000"/>
              </a:lnSpc>
            </a:pPr>
            <a:r>
              <a:rPr lang="zh-CN" altLang="en-US" sz="1600" b="1" dirty="0">
                <a:effectLst/>
              </a:rPr>
              <a:t>三个关键节点：</a:t>
            </a:r>
            <a:r>
              <a:rPr lang="zh-CN" altLang="en-US" sz="1600" b="1" dirty="0">
                <a:solidFill>
                  <a:srgbClr val="FF0000"/>
                </a:solidFill>
                <a:effectLst/>
              </a:rPr>
              <a:t>解决方案评审、制定投标策略、合同评审</a:t>
            </a:r>
            <a:r>
              <a:rPr lang="zh-CN" altLang="en-US" sz="1600" dirty="0">
                <a:effectLst/>
              </a:rPr>
              <a:t>；供应经理在项目组内提供可供应性评审和供应方案。</a:t>
            </a:r>
          </a:p>
        </p:txBody>
      </p:sp>
      <p:sp>
        <p:nvSpPr>
          <p:cNvPr id="4" name="矩形 3"/>
          <p:cNvSpPr/>
          <p:nvPr>
            <p:custDataLst>
              <p:tags r:id="rId1"/>
            </p:custDataLst>
          </p:nvPr>
        </p:nvSpPr>
        <p:spPr>
          <a:xfrm>
            <a:off x="577850" y="2026285"/>
            <a:ext cx="1940560" cy="474345"/>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关键节点</a:t>
            </a:r>
          </a:p>
        </p:txBody>
      </p:sp>
      <p:sp>
        <p:nvSpPr>
          <p:cNvPr id="5" name="矩形 4"/>
          <p:cNvSpPr/>
          <p:nvPr>
            <p:custDataLst>
              <p:tags r:id="rId2"/>
            </p:custDataLst>
          </p:nvPr>
        </p:nvSpPr>
        <p:spPr>
          <a:xfrm>
            <a:off x="2665095" y="2026285"/>
            <a:ext cx="343090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供应链提供什么</a:t>
            </a:r>
          </a:p>
        </p:txBody>
      </p:sp>
      <p:sp>
        <p:nvSpPr>
          <p:cNvPr id="7" name="矩形 6"/>
          <p:cNvSpPr/>
          <p:nvPr/>
        </p:nvSpPr>
        <p:spPr>
          <a:xfrm>
            <a:off x="586740" y="3912235"/>
            <a:ext cx="1932305" cy="1236980"/>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solidFill>
                  <a:schemeClr val="tx1"/>
                </a:solidFill>
                <a:effectLst/>
              </a:rPr>
              <a:t>制订投标策略</a:t>
            </a:r>
          </a:p>
        </p:txBody>
      </p:sp>
      <p:sp>
        <p:nvSpPr>
          <p:cNvPr id="6" name="矩形 5"/>
          <p:cNvSpPr/>
          <p:nvPr>
            <p:custDataLst>
              <p:tags r:id="rId3"/>
            </p:custDataLst>
          </p:nvPr>
        </p:nvSpPr>
        <p:spPr>
          <a:xfrm>
            <a:off x="586740" y="2595245"/>
            <a:ext cx="1932305" cy="1186180"/>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解决方案评审</a:t>
            </a:r>
          </a:p>
        </p:txBody>
      </p:sp>
      <p:sp>
        <p:nvSpPr>
          <p:cNvPr id="8" name="矩形 7"/>
          <p:cNvSpPr/>
          <p:nvPr>
            <p:custDataLst>
              <p:tags r:id="rId4"/>
            </p:custDataLst>
          </p:nvPr>
        </p:nvSpPr>
        <p:spPr>
          <a:xfrm>
            <a:off x="2654935" y="2595245"/>
            <a:ext cx="3440430" cy="119126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针对</a:t>
            </a:r>
            <a:r>
              <a:rPr lang="zh-CN" altLang="en-US" sz="1600" b="1" dirty="0">
                <a:effectLst/>
              </a:rPr>
              <a:t>产品选型</a:t>
            </a:r>
            <a:r>
              <a:rPr lang="zh-CN" altLang="en-US" sz="1600" dirty="0">
                <a:effectLst/>
              </a:rPr>
              <a:t>进行供应可行性评估，输出供应方案建议等；</a:t>
            </a:r>
          </a:p>
        </p:txBody>
      </p:sp>
      <p:sp>
        <p:nvSpPr>
          <p:cNvPr id="9" name="矩形 8"/>
          <p:cNvSpPr/>
          <p:nvPr>
            <p:custDataLst>
              <p:tags r:id="rId5"/>
            </p:custDataLst>
          </p:nvPr>
        </p:nvSpPr>
        <p:spPr>
          <a:xfrm>
            <a:off x="9186545" y="2026285"/>
            <a:ext cx="234505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案例分享</a:t>
            </a:r>
          </a:p>
        </p:txBody>
      </p:sp>
      <p:sp>
        <p:nvSpPr>
          <p:cNvPr id="10" name="矩形 9"/>
          <p:cNvSpPr/>
          <p:nvPr/>
        </p:nvSpPr>
        <p:spPr>
          <a:xfrm>
            <a:off x="2654935" y="3919855"/>
            <a:ext cx="3430270" cy="1221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评估</a:t>
            </a:r>
            <a:r>
              <a:rPr lang="zh-CN" altLang="en-US" sz="1600" b="1" dirty="0">
                <a:effectLst/>
                <a:sym typeface="+mn-ea"/>
              </a:rPr>
              <a:t>投标产品</a:t>
            </a:r>
            <a:r>
              <a:rPr lang="zh-CN" altLang="en-US" sz="1600" dirty="0">
                <a:effectLst/>
                <a:sym typeface="+mn-ea"/>
              </a:rPr>
              <a:t>的供应能力是否具备，并输出供应方案建议等；</a:t>
            </a:r>
            <a:endParaRPr lang="zh-CN" altLang="en-US" sz="1600" dirty="0">
              <a:effectLst/>
            </a:endParaRPr>
          </a:p>
          <a:p>
            <a:pPr marL="285750" indent="-285750" algn="l" fontAlgn="ctr">
              <a:lnSpc>
                <a:spcPct val="150000"/>
              </a:lnSpc>
              <a:buFont typeface="Wingdings" panose="05000000000000000000" charset="0"/>
              <a:buChar char="l"/>
            </a:pPr>
            <a:r>
              <a:rPr lang="zh-CN" altLang="en-US" sz="1600" dirty="0">
                <a:effectLst/>
              </a:rPr>
              <a:t>针对</a:t>
            </a:r>
            <a:r>
              <a:rPr lang="zh-CN" altLang="en-US" sz="1600" b="1" dirty="0">
                <a:effectLst/>
              </a:rPr>
              <a:t>标书</a:t>
            </a:r>
            <a:r>
              <a:rPr lang="zh-CN" altLang="en-US" sz="1600" dirty="0">
                <a:effectLst/>
              </a:rPr>
              <a:t>中的</a:t>
            </a:r>
            <a:r>
              <a:rPr lang="zh-CN" altLang="en-US" sz="1600" b="1" dirty="0">
                <a:effectLst/>
              </a:rPr>
              <a:t>交期</a:t>
            </a:r>
            <a:r>
              <a:rPr lang="zh-CN" altLang="en-US" sz="1600" dirty="0">
                <a:effectLst/>
              </a:rPr>
              <a:t>评估能否满足；</a:t>
            </a:r>
          </a:p>
          <a:p>
            <a:pPr marL="285750" indent="-285750" algn="l" fontAlgn="ctr">
              <a:lnSpc>
                <a:spcPct val="150000"/>
              </a:lnSpc>
              <a:buFont typeface="Wingdings" panose="05000000000000000000" charset="0"/>
              <a:buChar char="l"/>
            </a:pPr>
            <a:endParaRPr lang="zh-CN" altLang="en-US" sz="1600" dirty="0">
              <a:effectLst/>
            </a:endParaRPr>
          </a:p>
        </p:txBody>
      </p:sp>
      <p:sp>
        <p:nvSpPr>
          <p:cNvPr id="12" name="矩形 11"/>
          <p:cNvSpPr/>
          <p:nvPr>
            <p:custDataLst>
              <p:tags r:id="rId6"/>
            </p:custDataLst>
          </p:nvPr>
        </p:nvSpPr>
        <p:spPr>
          <a:xfrm>
            <a:off x="6243320" y="2026285"/>
            <a:ext cx="279463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怎么协同</a:t>
            </a:r>
          </a:p>
        </p:txBody>
      </p:sp>
      <p:sp>
        <p:nvSpPr>
          <p:cNvPr id="14" name="矩形 13"/>
          <p:cNvSpPr/>
          <p:nvPr>
            <p:custDataLst>
              <p:tags r:id="rId7"/>
            </p:custDataLst>
          </p:nvPr>
        </p:nvSpPr>
        <p:spPr>
          <a:xfrm>
            <a:off x="6233795" y="2595245"/>
            <a:ext cx="2806065" cy="119570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销售主导的</a:t>
            </a:r>
            <a:r>
              <a:rPr lang="zh-CN" altLang="en-US" sz="1600" b="1" dirty="0">
                <a:effectLst/>
              </a:rPr>
              <a:t>项目运转群</a:t>
            </a:r>
            <a:r>
              <a:rPr lang="zh-CN" altLang="en-US" sz="1600" dirty="0">
                <a:effectLst/>
              </a:rPr>
              <a:t>内；</a:t>
            </a:r>
          </a:p>
          <a:p>
            <a:pPr marL="285750" indent="-285750" algn="l" fontAlgn="ctr">
              <a:lnSpc>
                <a:spcPct val="150000"/>
              </a:lnSpc>
              <a:buFont typeface="Wingdings" panose="05000000000000000000" charset="0"/>
              <a:buChar char="l"/>
            </a:pPr>
            <a:r>
              <a:rPr lang="zh-CN" altLang="en-US" sz="1600" b="1" dirty="0">
                <a:effectLst/>
              </a:rPr>
              <a:t>解决方案评审会议</a:t>
            </a:r>
            <a:r>
              <a:rPr lang="zh-CN" altLang="en-US" sz="1600" dirty="0">
                <a:effectLst/>
              </a:rPr>
              <a:t>；</a:t>
            </a:r>
          </a:p>
        </p:txBody>
      </p:sp>
      <p:sp>
        <p:nvSpPr>
          <p:cNvPr id="15" name="矩形 14"/>
          <p:cNvSpPr/>
          <p:nvPr/>
        </p:nvSpPr>
        <p:spPr>
          <a:xfrm>
            <a:off x="9178290" y="2595880"/>
            <a:ext cx="2428875" cy="3891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sym typeface="+mn-ea"/>
              </a:rPr>
              <a:t>企业系统部</a:t>
            </a:r>
            <a:r>
              <a:rPr lang="en-US" altLang="zh-CN" sz="1600" b="1" dirty="0">
                <a:effectLst/>
                <a:sym typeface="+mn-ea"/>
              </a:rPr>
              <a:t>-</a:t>
            </a:r>
            <a:r>
              <a:rPr lang="zh-CN" sz="1600" b="1" dirty="0">
                <a:effectLst/>
                <a:sym typeface="+mn-ea"/>
              </a:rPr>
              <a:t>大唐</a:t>
            </a:r>
          </a:p>
          <a:p>
            <a:pPr indent="0" algn="l" fontAlgn="ctr">
              <a:lnSpc>
                <a:spcPct val="150000"/>
              </a:lnSpc>
              <a:buFont typeface="Wingdings" panose="05000000000000000000" charset="0"/>
              <a:buNone/>
            </a:pPr>
            <a:r>
              <a:rPr lang="zh-CN" altLang="en-US" sz="1600" dirty="0">
                <a:effectLst/>
              </a:rPr>
              <a:t>云桌面框架</a:t>
            </a:r>
            <a:r>
              <a:rPr lang="en-US" altLang="zh-CN" sz="1600" dirty="0">
                <a:effectLst/>
              </a:rPr>
              <a:t>600W</a:t>
            </a:r>
            <a:r>
              <a:rPr lang="zh-CN" altLang="en-US" sz="1600" dirty="0">
                <a:effectLst/>
              </a:rPr>
              <a:t>，</a:t>
            </a:r>
            <a:r>
              <a:rPr lang="en-US" altLang="zh-CN" sz="1600" dirty="0">
                <a:effectLst/>
              </a:rPr>
              <a:t>8</a:t>
            </a:r>
            <a:r>
              <a:rPr lang="zh-CN" altLang="en-US" sz="1600" dirty="0">
                <a:effectLst/>
              </a:rPr>
              <a:t>月</a:t>
            </a:r>
          </a:p>
          <a:p>
            <a:pPr indent="0" algn="l" fontAlgn="ctr">
              <a:lnSpc>
                <a:spcPct val="150000"/>
              </a:lnSpc>
              <a:buFont typeface="Wingdings" panose="05000000000000000000" charset="0"/>
              <a:buNone/>
            </a:pPr>
            <a:r>
              <a:rPr lang="zh-CN" altLang="en-US" sz="1600" dirty="0">
                <a:effectLst/>
              </a:rPr>
              <a:t>市场通知项目启动，计划</a:t>
            </a:r>
            <a:r>
              <a:rPr lang="en-US" altLang="zh-CN" sz="1600" dirty="0">
                <a:effectLst/>
              </a:rPr>
              <a:t>9</a:t>
            </a:r>
            <a:r>
              <a:rPr lang="zh-CN" altLang="en-US" sz="1600" dirty="0">
                <a:effectLst/>
              </a:rPr>
              <a:t>月投标，首批供货</a:t>
            </a:r>
            <a:r>
              <a:rPr lang="en-US" altLang="zh-CN" sz="1600" dirty="0">
                <a:effectLst/>
              </a:rPr>
              <a:t>11</a:t>
            </a:r>
            <a:r>
              <a:rPr lang="zh-CN" altLang="en-US" sz="1600" dirty="0">
                <a:effectLst/>
              </a:rPr>
              <a:t>月底。</a:t>
            </a:r>
            <a:r>
              <a:rPr lang="en-US" altLang="zh-CN" sz="1600" b="1" dirty="0">
                <a:effectLst/>
              </a:rPr>
              <a:t>8</a:t>
            </a:r>
            <a:r>
              <a:rPr lang="zh-CN" altLang="en-US" sz="1600" b="1" dirty="0">
                <a:effectLst/>
              </a:rPr>
              <a:t>月项目启动时</a:t>
            </a:r>
            <a:r>
              <a:rPr lang="zh-CN" altLang="en-US" sz="1600" dirty="0">
                <a:effectLst/>
              </a:rPr>
              <a:t>识别</a:t>
            </a:r>
            <a:r>
              <a:rPr lang="en-US" altLang="zh-CN" sz="1600" dirty="0">
                <a:effectLst/>
              </a:rPr>
              <a:t>CT7529</a:t>
            </a:r>
            <a:r>
              <a:rPr lang="zh-CN" altLang="en-US" sz="1600" b="1" dirty="0">
                <a:effectLst/>
              </a:rPr>
              <a:t>断供</a:t>
            </a:r>
            <a:r>
              <a:rPr lang="zh-CN" altLang="en-US" sz="1600" dirty="0">
                <a:effectLst/>
              </a:rPr>
              <a:t>风险，拉通产品部引导</a:t>
            </a:r>
            <a:r>
              <a:rPr lang="zh-CN" altLang="en-US" sz="1600" b="1" dirty="0">
                <a:effectLst/>
              </a:rPr>
              <a:t>引流</a:t>
            </a:r>
            <a:r>
              <a:rPr lang="en-US" altLang="zh-CN" sz="1600" dirty="0">
                <a:effectLst/>
              </a:rPr>
              <a:t>7528</a:t>
            </a:r>
            <a:r>
              <a:rPr lang="zh-CN" altLang="en-US" sz="1600" dirty="0">
                <a:effectLst/>
              </a:rPr>
              <a:t>，</a:t>
            </a:r>
            <a:r>
              <a:rPr lang="zh-CN" altLang="en-US" sz="1600" b="1" dirty="0">
                <a:effectLst/>
              </a:rPr>
              <a:t>基于</a:t>
            </a:r>
            <a:r>
              <a:rPr lang="en-US" altLang="zh-CN" sz="1600" b="1" dirty="0">
                <a:effectLst/>
              </a:rPr>
              <a:t>SLA </a:t>
            </a:r>
            <a:r>
              <a:rPr lang="en-US" altLang="zh-CN" sz="1600" dirty="0">
                <a:effectLst/>
              </a:rPr>
              <a:t>10</a:t>
            </a:r>
            <a:r>
              <a:rPr lang="zh-CN" altLang="en-US" sz="1600" dirty="0">
                <a:effectLst/>
              </a:rPr>
              <a:t>月中推动决策</a:t>
            </a:r>
            <a:r>
              <a:rPr lang="zh-CN" altLang="en-US" sz="1600" b="1" dirty="0">
                <a:effectLst/>
              </a:rPr>
              <a:t>高风险备货</a:t>
            </a:r>
            <a:r>
              <a:rPr lang="en-US" altLang="zh-CN" sz="1600" dirty="0">
                <a:effectLst/>
              </a:rPr>
              <a:t>40</a:t>
            </a:r>
            <a:r>
              <a:rPr lang="zh-CN" altLang="en-US" sz="1600" dirty="0">
                <a:effectLst/>
              </a:rPr>
              <a:t>台，共识</a:t>
            </a:r>
            <a:r>
              <a:rPr lang="en-US" altLang="zh-CN" sz="1600" dirty="0">
                <a:effectLst/>
              </a:rPr>
              <a:t>11~12</a:t>
            </a:r>
            <a:r>
              <a:rPr lang="zh-CN" altLang="en-US" sz="1600" dirty="0">
                <a:effectLst/>
              </a:rPr>
              <a:t>月分批供货。</a:t>
            </a:r>
          </a:p>
        </p:txBody>
      </p:sp>
      <p:sp>
        <p:nvSpPr>
          <p:cNvPr id="16" name="矩形 15"/>
          <p:cNvSpPr/>
          <p:nvPr>
            <p:custDataLst>
              <p:tags r:id="rId8"/>
            </p:custDataLst>
          </p:nvPr>
        </p:nvSpPr>
        <p:spPr>
          <a:xfrm>
            <a:off x="6241415" y="3920490"/>
            <a:ext cx="2806065" cy="1224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销售主导的</a:t>
            </a:r>
            <a:r>
              <a:rPr lang="zh-CN" altLang="en-US" sz="1600" b="1" dirty="0">
                <a:effectLst/>
                <a:sym typeface="+mn-ea"/>
              </a:rPr>
              <a:t>项目运转群</a:t>
            </a:r>
            <a:r>
              <a:rPr lang="zh-CN" altLang="en-US" sz="1600" dirty="0">
                <a:effectLst/>
                <a:sym typeface="+mn-ea"/>
              </a:rPr>
              <a:t>内；</a:t>
            </a:r>
            <a:endParaRPr lang="zh-CN" altLang="en-US" sz="1600" dirty="0">
              <a:effectLst/>
            </a:endParaRPr>
          </a:p>
          <a:p>
            <a:pPr marL="285750" indent="-285750" algn="l" fontAlgn="ctr">
              <a:lnSpc>
                <a:spcPct val="150000"/>
              </a:lnSpc>
              <a:buFont typeface="Wingdings" panose="05000000000000000000" charset="0"/>
              <a:buChar char="l"/>
            </a:pPr>
            <a:r>
              <a:rPr lang="zh-CN" altLang="en-US" sz="1600" b="1" dirty="0">
                <a:effectLst/>
                <a:sym typeface="+mn-ea"/>
              </a:rPr>
              <a:t>投标策略评审会议</a:t>
            </a:r>
            <a:r>
              <a:rPr lang="zh-CN" altLang="en-US" sz="1600" dirty="0">
                <a:effectLst/>
                <a:sym typeface="+mn-ea"/>
              </a:rPr>
              <a:t>；</a:t>
            </a:r>
            <a:endParaRPr lang="zh-CN" altLang="en-US" sz="1600" dirty="0">
              <a:effectLst/>
            </a:endParaRPr>
          </a:p>
        </p:txBody>
      </p:sp>
      <p:sp>
        <p:nvSpPr>
          <p:cNvPr id="19" name="矩形 18"/>
          <p:cNvSpPr/>
          <p:nvPr/>
        </p:nvSpPr>
        <p:spPr>
          <a:xfrm>
            <a:off x="579755" y="5280025"/>
            <a:ext cx="1932305" cy="1236980"/>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solidFill>
                  <a:schemeClr val="tx1"/>
                </a:solidFill>
                <a:effectLst/>
              </a:rPr>
              <a:t>合同评审</a:t>
            </a:r>
          </a:p>
        </p:txBody>
      </p:sp>
      <p:sp>
        <p:nvSpPr>
          <p:cNvPr id="20" name="矩形 19"/>
          <p:cNvSpPr/>
          <p:nvPr/>
        </p:nvSpPr>
        <p:spPr>
          <a:xfrm>
            <a:off x="2647950" y="5287645"/>
            <a:ext cx="3430270" cy="1221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直签项目：</a:t>
            </a:r>
            <a:r>
              <a:rPr lang="en-US" altLang="zh-CN" sz="1600" dirty="0">
                <a:effectLst/>
              </a:rPr>
              <a:t>BPMS</a:t>
            </a:r>
            <a:r>
              <a:rPr lang="zh-CN" altLang="en-US" sz="1600" dirty="0">
                <a:effectLst/>
              </a:rPr>
              <a:t>流程评审；</a:t>
            </a:r>
          </a:p>
          <a:p>
            <a:pPr marL="285750" indent="-285750" algn="l" fontAlgn="ctr">
              <a:lnSpc>
                <a:spcPct val="150000"/>
              </a:lnSpc>
              <a:buFont typeface="Wingdings" panose="05000000000000000000" charset="0"/>
              <a:buChar char="l"/>
            </a:pPr>
            <a:r>
              <a:rPr lang="zh-CN" altLang="en-US" sz="1600" dirty="0">
                <a:effectLst/>
              </a:rPr>
              <a:t>非直签项目：中标的产品供应能力确认和</a:t>
            </a:r>
            <a:r>
              <a:rPr lang="en-US" altLang="zh-CN" sz="1600" dirty="0">
                <a:effectLst/>
              </a:rPr>
              <a:t>T</a:t>
            </a:r>
            <a:r>
              <a:rPr lang="zh-CN" altLang="en-US" sz="1600" dirty="0">
                <a:effectLst/>
              </a:rPr>
              <a:t>的监控</a:t>
            </a:r>
          </a:p>
        </p:txBody>
      </p:sp>
      <p:sp>
        <p:nvSpPr>
          <p:cNvPr id="21" name="矩形 20"/>
          <p:cNvSpPr/>
          <p:nvPr>
            <p:custDataLst>
              <p:tags r:id="rId9"/>
            </p:custDataLst>
          </p:nvPr>
        </p:nvSpPr>
        <p:spPr>
          <a:xfrm>
            <a:off x="6234430" y="5299710"/>
            <a:ext cx="2806065" cy="1224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直签项目</a:t>
            </a:r>
            <a:r>
              <a:rPr lang="en-US" altLang="zh-CN" sz="1600" dirty="0">
                <a:effectLst/>
                <a:sym typeface="+mn-ea"/>
              </a:rPr>
              <a:t>: BPMS</a:t>
            </a:r>
            <a:r>
              <a:rPr lang="zh-CN" altLang="en-US" sz="1600" dirty="0">
                <a:effectLst/>
                <a:sym typeface="+mn-ea"/>
              </a:rPr>
              <a:t>流程评审；</a:t>
            </a:r>
          </a:p>
          <a:p>
            <a:pPr indent="0" algn="l" fontAlgn="ctr">
              <a:lnSpc>
                <a:spcPct val="150000"/>
              </a:lnSpc>
              <a:buFont typeface="Wingdings" panose="05000000000000000000" charset="0"/>
              <a:buNone/>
            </a:pPr>
            <a:endParaRPr lang="en-US" altLang="zh-CN" sz="1600" dirty="0">
              <a:effectLst/>
            </a:endParaRPr>
          </a:p>
        </p:txBody>
      </p:sp>
    </p:spTree>
    <p:extLst>
      <p:ext uri="{BB962C8B-B14F-4D97-AF65-F5344CB8AC3E}">
        <p14:creationId xmlns:p14="http://schemas.microsoft.com/office/powerpoint/2010/main" val="1567401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en-US" altLang="zh-CN" dirty="0"/>
              <a:t>MO</a:t>
            </a:r>
            <a:r>
              <a:rPr dirty="0"/>
              <a:t>流程植入供应链协同</a:t>
            </a:r>
            <a:r>
              <a:rPr lang="en-US" altLang="zh-CN" dirty="0"/>
              <a:t>-</a:t>
            </a:r>
            <a:r>
              <a:rPr dirty="0"/>
              <a:t>一般项目中的框架和含供应风险的项目</a:t>
            </a:r>
          </a:p>
        </p:txBody>
      </p:sp>
      <p:sp>
        <p:nvSpPr>
          <p:cNvPr id="13" name="矩形 12"/>
          <p:cNvSpPr/>
          <p:nvPr/>
        </p:nvSpPr>
        <p:spPr>
          <a:xfrm>
            <a:off x="602615" y="904875"/>
            <a:ext cx="1095375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管理重点：</a:t>
            </a:r>
            <a:r>
              <a:rPr lang="zh-CN" altLang="en-US" sz="1600" b="1" dirty="0">
                <a:solidFill>
                  <a:srgbClr val="FF0000"/>
                </a:solidFill>
                <a:effectLst/>
              </a:rPr>
              <a:t>框架项目、含供应风险产品的项目</a:t>
            </a:r>
            <a:r>
              <a:rPr lang="zh-CN" altLang="en-US" sz="1600" dirty="0">
                <a:effectLst/>
              </a:rPr>
              <a:t>，通过销售识别后</a:t>
            </a:r>
            <a:r>
              <a:rPr lang="zh-CN" altLang="en-US" sz="1600" b="1" dirty="0">
                <a:effectLst/>
              </a:rPr>
              <a:t>主动协同</a:t>
            </a:r>
            <a:r>
              <a:rPr lang="zh-CN" altLang="en-US" sz="1600" dirty="0">
                <a:effectLst/>
              </a:rPr>
              <a:t>、供应链每周项目盘点协同提供可供应性评审；</a:t>
            </a:r>
          </a:p>
          <a:p>
            <a:pPr fontAlgn="ctr">
              <a:lnSpc>
                <a:spcPct val="150000"/>
              </a:lnSpc>
            </a:pPr>
            <a:r>
              <a:rPr lang="zh-CN" altLang="en-US" sz="1600" b="1" dirty="0">
                <a:effectLst/>
              </a:rPr>
              <a:t>业务价值：</a:t>
            </a:r>
            <a:r>
              <a:rPr lang="zh-CN" altLang="en-US" sz="1600" dirty="0">
                <a:effectLst/>
              </a:rPr>
              <a:t>供应链</a:t>
            </a:r>
            <a:r>
              <a:rPr lang="zh-CN" altLang="en-US" sz="1600" b="1" dirty="0">
                <a:effectLst/>
              </a:rPr>
              <a:t>前置参与项目可供应性评估</a:t>
            </a:r>
            <a:r>
              <a:rPr lang="zh-CN" altLang="en-US" sz="1600" dirty="0">
                <a:effectLst/>
              </a:rPr>
              <a:t>，及时发现风险并输出可供应性评审结果及供应方案，助力项目交付达成。</a:t>
            </a:r>
          </a:p>
        </p:txBody>
      </p:sp>
      <p:sp>
        <p:nvSpPr>
          <p:cNvPr id="3" name="矩形 2"/>
          <p:cNvSpPr/>
          <p:nvPr>
            <p:custDataLst>
              <p:tags r:id="rId1"/>
            </p:custDataLst>
          </p:nvPr>
        </p:nvSpPr>
        <p:spPr>
          <a:xfrm>
            <a:off x="577850" y="2026285"/>
            <a:ext cx="1940560" cy="474345"/>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effectLst/>
              </a:rPr>
              <a:t>场景</a:t>
            </a:r>
          </a:p>
          <a:p>
            <a:pPr algn="ctr" fontAlgn="ctr">
              <a:lnSpc>
                <a:spcPct val="150000"/>
              </a:lnSpc>
            </a:pPr>
            <a:endParaRPr lang="zh-CN" altLang="en-US" sz="1600" dirty="0">
              <a:effectLst/>
            </a:endParaRPr>
          </a:p>
        </p:txBody>
      </p:sp>
      <p:sp>
        <p:nvSpPr>
          <p:cNvPr id="4" name="矩形 3"/>
          <p:cNvSpPr/>
          <p:nvPr>
            <p:custDataLst>
              <p:tags r:id="rId2"/>
            </p:custDataLst>
          </p:nvPr>
        </p:nvSpPr>
        <p:spPr>
          <a:xfrm>
            <a:off x="2665095" y="2026285"/>
            <a:ext cx="343090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如何识别</a:t>
            </a:r>
            <a:endParaRPr lang="zh-CN" altLang="en-US" sz="1600" dirty="0">
              <a:effectLst/>
            </a:endParaRPr>
          </a:p>
        </p:txBody>
      </p:sp>
      <p:sp>
        <p:nvSpPr>
          <p:cNvPr id="5" name="矩形 4"/>
          <p:cNvSpPr/>
          <p:nvPr>
            <p:custDataLst>
              <p:tags r:id="rId3"/>
            </p:custDataLst>
          </p:nvPr>
        </p:nvSpPr>
        <p:spPr>
          <a:xfrm>
            <a:off x="586740" y="2595245"/>
            <a:ext cx="1932305" cy="1198245"/>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框架项目</a:t>
            </a:r>
          </a:p>
        </p:txBody>
      </p:sp>
      <p:sp>
        <p:nvSpPr>
          <p:cNvPr id="6" name="矩形 5"/>
          <p:cNvSpPr/>
          <p:nvPr/>
        </p:nvSpPr>
        <p:spPr>
          <a:xfrm>
            <a:off x="586740" y="3888105"/>
            <a:ext cx="1932305" cy="2646680"/>
          </a:xfrm>
          <a:prstGeom prst="rect">
            <a:avLst/>
          </a:prstGeom>
          <a:solidFill>
            <a:schemeClr val="accent1">
              <a:lumMod val="20000"/>
              <a:lumOff val="80000"/>
            </a:schemeClr>
          </a:solidFill>
          <a:ln>
            <a:noFill/>
          </a:ln>
        </p:spPr>
        <p:txBody>
          <a:bodyPr wrap="square">
            <a:noAutofit/>
          </a:bodyPr>
          <a:lstStyle/>
          <a:p>
            <a:pPr algn="l" fontAlgn="ctr">
              <a:lnSpc>
                <a:spcPct val="130000"/>
              </a:lnSpc>
            </a:pPr>
            <a:r>
              <a:rPr lang="zh-CN" altLang="en-US" sz="1600" b="1" dirty="0">
                <a:effectLst/>
              </a:rPr>
              <a:t>含供应风险的项目</a:t>
            </a:r>
          </a:p>
          <a:p>
            <a:pPr algn="l" fontAlgn="ctr">
              <a:lnSpc>
                <a:spcPct val="150000"/>
              </a:lnSpc>
            </a:pPr>
            <a:r>
              <a:rPr lang="zh-CN" altLang="en-US" sz="1600" dirty="0">
                <a:solidFill>
                  <a:schemeClr val="tx1">
                    <a:lumMod val="65000"/>
                    <a:lumOff val="35000"/>
                  </a:schemeClr>
                </a:solidFill>
                <a:effectLst/>
              </a:rPr>
              <a:t>产品供应风险包含：</a:t>
            </a:r>
            <a:endParaRPr lang="zh-CN" altLang="en-US" sz="1600" dirty="0">
              <a:effectLst/>
            </a:endParaRP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定制产品</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超流速</a:t>
            </a:r>
            <a:r>
              <a:rPr lang="en-US" altLang="zh-CN" sz="1500" dirty="0">
                <a:solidFill>
                  <a:schemeClr val="tx1">
                    <a:lumMod val="65000"/>
                    <a:lumOff val="35000"/>
                  </a:schemeClr>
                </a:solidFill>
                <a:effectLst/>
              </a:rPr>
              <a:t>4</a:t>
            </a:r>
            <a:r>
              <a:rPr lang="zh-CN" altLang="en-US" sz="1500" dirty="0">
                <a:solidFill>
                  <a:schemeClr val="tx1">
                    <a:lumMod val="65000"/>
                    <a:lumOff val="35000"/>
                  </a:schemeClr>
                </a:solidFill>
                <a:effectLst/>
              </a:rPr>
              <a:t>倍</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退市品</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新品早销</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供应风险</a:t>
            </a:r>
          </a:p>
        </p:txBody>
      </p:sp>
      <p:sp>
        <p:nvSpPr>
          <p:cNvPr id="8" name="矩形 7"/>
          <p:cNvSpPr/>
          <p:nvPr>
            <p:custDataLst>
              <p:tags r:id="rId4"/>
            </p:custDataLst>
          </p:nvPr>
        </p:nvSpPr>
        <p:spPr>
          <a:xfrm>
            <a:off x="2654935" y="2595245"/>
            <a:ext cx="3440430" cy="119824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rPr>
              <a:t>销售运作项目时判断</a:t>
            </a:r>
            <a:r>
              <a:rPr lang="zh-CN" altLang="en-US" sz="1600" dirty="0">
                <a:effectLst/>
              </a:rPr>
              <a:t>；</a:t>
            </a:r>
          </a:p>
          <a:p>
            <a:pPr marL="285750" indent="-285750" algn="l" fontAlgn="ctr">
              <a:lnSpc>
                <a:spcPct val="150000"/>
              </a:lnSpc>
              <a:buFont typeface="Wingdings" panose="05000000000000000000" charset="0"/>
              <a:buChar char="l"/>
            </a:pPr>
            <a:r>
              <a:rPr lang="zh-CN" altLang="en-US" sz="1600" dirty="0">
                <a:effectLst/>
              </a:rPr>
              <a:t>供应链通过</a:t>
            </a:r>
            <a:r>
              <a:rPr lang="zh-CN" altLang="en-US" sz="1600" b="1" dirty="0">
                <a:effectLst/>
              </a:rPr>
              <a:t>业务机会名称识别</a:t>
            </a:r>
            <a:r>
              <a:rPr lang="zh-CN" altLang="en-US" sz="1600" dirty="0">
                <a:effectLst/>
              </a:rPr>
              <a:t>，如含</a:t>
            </a:r>
            <a:r>
              <a:rPr lang="en-US" altLang="zh-CN" sz="1600" dirty="0">
                <a:effectLst/>
              </a:rPr>
              <a:t>”</a:t>
            </a:r>
            <a:r>
              <a:rPr lang="zh-CN" altLang="en-US" sz="1600" dirty="0">
                <a:effectLst/>
              </a:rPr>
              <a:t>框架采购</a:t>
            </a:r>
            <a:r>
              <a:rPr lang="en-US" altLang="zh-CN" sz="1600" dirty="0">
                <a:effectLst/>
              </a:rPr>
              <a:t>”</a:t>
            </a:r>
          </a:p>
        </p:txBody>
      </p:sp>
      <p:sp>
        <p:nvSpPr>
          <p:cNvPr id="9" name="矩形 8"/>
          <p:cNvSpPr/>
          <p:nvPr>
            <p:custDataLst>
              <p:tags r:id="rId5"/>
            </p:custDataLst>
          </p:nvPr>
        </p:nvSpPr>
        <p:spPr>
          <a:xfrm>
            <a:off x="9186545" y="2026285"/>
            <a:ext cx="234505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案例分享</a:t>
            </a:r>
          </a:p>
        </p:txBody>
      </p:sp>
      <p:sp>
        <p:nvSpPr>
          <p:cNvPr id="10" name="矩形 9"/>
          <p:cNvSpPr/>
          <p:nvPr/>
        </p:nvSpPr>
        <p:spPr>
          <a:xfrm>
            <a:off x="2654935" y="3888105"/>
            <a:ext cx="3430270" cy="26568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sym typeface="+mn-ea"/>
              </a:rPr>
              <a:t>销售</a:t>
            </a:r>
            <a:r>
              <a:rPr lang="zh-CN" altLang="en-US" sz="1600" dirty="0">
                <a:effectLst/>
                <a:sym typeface="+mn-ea"/>
              </a:rPr>
              <a:t>在配置或修改产品清单时可识别部分供应风险产品；</a:t>
            </a:r>
          </a:p>
          <a:p>
            <a:pPr marL="285750" indent="-285750" algn="l" fontAlgn="ctr">
              <a:lnSpc>
                <a:spcPct val="150000"/>
              </a:lnSpc>
              <a:buFont typeface="Wingdings" panose="05000000000000000000" charset="0"/>
              <a:buChar char="ü"/>
            </a:pPr>
            <a:r>
              <a:rPr lang="zh-CN" altLang="en-US" sz="1600" dirty="0">
                <a:effectLst/>
                <a:sym typeface="+mn-ea"/>
              </a:rPr>
              <a:t>短期：现有打标</a:t>
            </a:r>
            <a:r>
              <a:rPr lang="en-US" altLang="zh-CN" sz="1600" dirty="0">
                <a:effectLst/>
                <a:sym typeface="+mn-ea"/>
              </a:rPr>
              <a:t>(</a:t>
            </a:r>
            <a:r>
              <a:rPr lang="zh-CN" altLang="en-US" sz="1600" dirty="0">
                <a:effectLst/>
                <a:sym typeface="+mn-ea"/>
              </a:rPr>
              <a:t>灵活配置</a:t>
            </a:r>
            <a:r>
              <a:rPr lang="en-US" altLang="zh-CN" sz="1600" dirty="0">
                <a:effectLst/>
                <a:sym typeface="+mn-ea"/>
              </a:rPr>
              <a:t>/</a:t>
            </a:r>
            <a:r>
              <a:rPr lang="zh-CN" altLang="en-US" sz="1600" dirty="0">
                <a:effectLst/>
                <a:sym typeface="+mn-ea"/>
              </a:rPr>
              <a:t>退市</a:t>
            </a:r>
            <a:r>
              <a:rPr lang="en-US" altLang="zh-CN" sz="1600" dirty="0">
                <a:effectLst/>
                <a:sym typeface="+mn-ea"/>
              </a:rPr>
              <a:t>)</a:t>
            </a:r>
          </a:p>
          <a:p>
            <a:pPr marL="285750" indent="-285750" algn="l" fontAlgn="ctr">
              <a:lnSpc>
                <a:spcPct val="150000"/>
              </a:lnSpc>
              <a:buFont typeface="Wingdings" panose="05000000000000000000" charset="0"/>
              <a:buChar char="ü"/>
            </a:pPr>
            <a:r>
              <a:rPr lang="zh-CN" altLang="en-US" sz="1600" dirty="0">
                <a:effectLst/>
                <a:sym typeface="+mn-ea"/>
              </a:rPr>
              <a:t>长期：</a:t>
            </a:r>
            <a:r>
              <a:rPr lang="en-US" altLang="zh-CN" sz="1600" dirty="0">
                <a:effectLst/>
                <a:sym typeface="+mn-ea"/>
              </a:rPr>
              <a:t>ECP</a:t>
            </a:r>
            <a:r>
              <a:rPr lang="zh-CN" altLang="en-US" sz="1600" dirty="0">
                <a:effectLst/>
                <a:sym typeface="+mn-ea"/>
              </a:rPr>
              <a:t>和</a:t>
            </a:r>
            <a:r>
              <a:rPr lang="en-US" altLang="zh-CN" sz="1600" dirty="0">
                <a:effectLst/>
                <a:sym typeface="+mn-ea"/>
              </a:rPr>
              <a:t>CRM</a:t>
            </a:r>
            <a:r>
              <a:rPr lang="zh-CN" altLang="en-US" sz="1600" dirty="0">
                <a:effectLst/>
                <a:sym typeface="+mn-ea"/>
              </a:rPr>
              <a:t>对风险产品打</a:t>
            </a:r>
            <a:r>
              <a:rPr lang="en-US" altLang="zh-CN" sz="1600" dirty="0">
                <a:effectLst/>
                <a:sym typeface="+mn-ea"/>
              </a:rPr>
              <a:t>   </a:t>
            </a:r>
            <a:r>
              <a:rPr lang="zh-CN" altLang="en-US" sz="1600" dirty="0">
                <a:effectLst/>
                <a:sym typeface="+mn-ea"/>
              </a:rPr>
              <a:t>标，系统自动提醒销售需协同；</a:t>
            </a:r>
          </a:p>
          <a:p>
            <a:pPr marL="285750" indent="-285750" algn="l" fontAlgn="ctr">
              <a:lnSpc>
                <a:spcPct val="150000"/>
              </a:lnSpc>
              <a:buFont typeface="Wingdings" panose="05000000000000000000" charset="0"/>
              <a:buChar char="l"/>
            </a:pPr>
            <a:r>
              <a:rPr lang="zh-CN" altLang="en-US" sz="1600" b="1" dirty="0">
                <a:effectLst/>
                <a:sym typeface="+mn-ea"/>
              </a:rPr>
              <a:t>供应链</a:t>
            </a:r>
            <a:r>
              <a:rPr lang="zh-CN" altLang="en-US" sz="1600" dirty="0">
                <a:effectLst/>
                <a:sym typeface="+mn-ea"/>
              </a:rPr>
              <a:t>盘点项目中通过供应风险清单匹配项目需求时识别</a:t>
            </a:r>
          </a:p>
          <a:p>
            <a:pPr marL="285750" indent="-285750" algn="l" fontAlgn="ctr">
              <a:lnSpc>
                <a:spcPct val="150000"/>
              </a:lnSpc>
              <a:buFont typeface="Wingdings" panose="05000000000000000000" charset="0"/>
              <a:buChar char="l"/>
            </a:pPr>
            <a:endParaRPr lang="zh-CN" altLang="en-US" sz="1600" dirty="0">
              <a:effectLst/>
            </a:endParaRPr>
          </a:p>
        </p:txBody>
      </p:sp>
      <p:sp>
        <p:nvSpPr>
          <p:cNvPr id="7" name="矩形 6"/>
          <p:cNvSpPr/>
          <p:nvPr>
            <p:custDataLst>
              <p:tags r:id="rId6"/>
            </p:custDataLst>
          </p:nvPr>
        </p:nvSpPr>
        <p:spPr>
          <a:xfrm>
            <a:off x="6243320" y="2026285"/>
            <a:ext cx="279463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怎么协同</a:t>
            </a:r>
          </a:p>
        </p:txBody>
      </p:sp>
      <p:sp>
        <p:nvSpPr>
          <p:cNvPr id="11" name="矩形 10"/>
          <p:cNvSpPr/>
          <p:nvPr>
            <p:custDataLst>
              <p:tags r:id="rId7"/>
            </p:custDataLst>
          </p:nvPr>
        </p:nvSpPr>
        <p:spPr>
          <a:xfrm>
            <a:off x="6233795" y="2595245"/>
            <a:ext cx="2806065" cy="119824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销售</a:t>
            </a:r>
            <a:r>
              <a:rPr lang="zh-CN" altLang="en-US" sz="1600" b="1" dirty="0">
                <a:effectLst/>
              </a:rPr>
              <a:t>主动拉通</a:t>
            </a:r>
            <a:r>
              <a:rPr lang="zh-CN" altLang="en-US" sz="1600" dirty="0">
                <a:effectLst/>
              </a:rPr>
              <a:t>供应链协同</a:t>
            </a:r>
          </a:p>
          <a:p>
            <a:pPr marL="285750" indent="-285750" algn="l" fontAlgn="ctr">
              <a:lnSpc>
                <a:spcPct val="150000"/>
              </a:lnSpc>
              <a:buFont typeface="Wingdings" panose="05000000000000000000" charset="0"/>
              <a:buChar char="l"/>
            </a:pPr>
            <a:r>
              <a:rPr lang="zh-CN" altLang="en-US" sz="1600" dirty="0">
                <a:effectLst/>
              </a:rPr>
              <a:t>供应链识别后和销售确认</a:t>
            </a:r>
            <a:endParaRPr lang="en-US" altLang="zh-CN" sz="1600" dirty="0">
              <a:effectLst/>
            </a:endParaRPr>
          </a:p>
        </p:txBody>
      </p:sp>
      <p:sp>
        <p:nvSpPr>
          <p:cNvPr id="12" name="矩形 11"/>
          <p:cNvSpPr/>
          <p:nvPr/>
        </p:nvSpPr>
        <p:spPr>
          <a:xfrm>
            <a:off x="9178290" y="2595880"/>
            <a:ext cx="2428875" cy="394970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rPr>
              <a:t>广东</a:t>
            </a:r>
            <a:r>
              <a:rPr lang="en-US" altLang="zh-CN" sz="1600" b="1" dirty="0">
                <a:effectLst/>
              </a:rPr>
              <a:t>-OPPO</a:t>
            </a:r>
            <a:r>
              <a:rPr lang="zh-CN" altLang="en-US" sz="1600" b="1" dirty="0">
                <a:effectLst/>
              </a:rPr>
              <a:t>框采</a:t>
            </a:r>
          </a:p>
          <a:p>
            <a:pPr indent="0" algn="l" fontAlgn="ctr">
              <a:lnSpc>
                <a:spcPct val="150000"/>
              </a:lnSpc>
              <a:buFont typeface="Wingdings" panose="05000000000000000000" charset="0"/>
              <a:buNone/>
            </a:pPr>
            <a:r>
              <a:rPr lang="en-US" altLang="zh-CN" sz="1600" dirty="0">
                <a:effectLst/>
              </a:rPr>
              <a:t>26</a:t>
            </a:r>
            <a:r>
              <a:rPr lang="zh-CN" altLang="en-US" sz="1600" dirty="0">
                <a:effectLst/>
              </a:rPr>
              <a:t>年中要货，供应链无法识别但销售主动协同。在可供应性评审中发现</a:t>
            </a:r>
            <a:r>
              <a:rPr lang="en-US" altLang="zh-CN" sz="1600" dirty="0">
                <a:effectLst/>
              </a:rPr>
              <a:t>S65</a:t>
            </a:r>
            <a:r>
              <a:rPr lang="zh-CN" altLang="en-US" sz="1600" dirty="0">
                <a:effectLst/>
              </a:rPr>
              <a:t>因</a:t>
            </a:r>
            <a:r>
              <a:rPr lang="en-US" altLang="zh-CN" sz="1600" dirty="0">
                <a:effectLst/>
              </a:rPr>
              <a:t>TD3</a:t>
            </a:r>
            <a:r>
              <a:rPr lang="zh-CN" altLang="en-US" sz="1600" dirty="0">
                <a:effectLst/>
              </a:rPr>
              <a:t>芯片短缺风险，快速升级决策分配芯片资源，确保项目投标。</a:t>
            </a:r>
          </a:p>
        </p:txBody>
      </p:sp>
      <p:sp>
        <p:nvSpPr>
          <p:cNvPr id="14" name="矩形 13"/>
          <p:cNvSpPr/>
          <p:nvPr>
            <p:custDataLst>
              <p:tags r:id="rId8"/>
            </p:custDataLst>
          </p:nvPr>
        </p:nvSpPr>
        <p:spPr>
          <a:xfrm>
            <a:off x="6241415" y="3920490"/>
            <a:ext cx="2806065" cy="2618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供应链提供</a:t>
            </a:r>
            <a:r>
              <a:rPr lang="zh-CN" altLang="en-US" sz="1600" b="1" dirty="0">
                <a:effectLst/>
              </a:rPr>
              <a:t>供应风险清单</a:t>
            </a:r>
            <a:r>
              <a:rPr lang="zh-CN" altLang="en-US" sz="1600" dirty="0">
                <a:effectLst/>
              </a:rPr>
              <a:t>；</a:t>
            </a:r>
          </a:p>
          <a:p>
            <a:pPr marL="285750" indent="-285750" algn="l" fontAlgn="ctr">
              <a:lnSpc>
                <a:spcPct val="150000"/>
              </a:lnSpc>
              <a:buFont typeface="Wingdings" panose="05000000000000000000" charset="0"/>
              <a:buChar char="l"/>
            </a:pPr>
            <a:r>
              <a:rPr lang="zh-CN" altLang="en-US" sz="1600" b="1" dirty="0">
                <a:effectLst/>
              </a:rPr>
              <a:t>销售</a:t>
            </a:r>
            <a:r>
              <a:rPr lang="zh-CN" altLang="en-US" sz="1600" dirty="0">
                <a:effectLst/>
              </a:rPr>
              <a:t>识别后和供应链</a:t>
            </a:r>
            <a:r>
              <a:rPr lang="zh-CN" altLang="en-US" sz="1600" b="1" dirty="0">
                <a:effectLst/>
              </a:rPr>
              <a:t>主动协同</a:t>
            </a:r>
            <a:r>
              <a:rPr lang="zh-CN" altLang="en-US" sz="1600" dirty="0">
                <a:effectLst/>
              </a:rPr>
              <a:t>；</a:t>
            </a:r>
          </a:p>
          <a:p>
            <a:pPr marL="285750" indent="-285750" algn="l" fontAlgn="ctr">
              <a:lnSpc>
                <a:spcPct val="150000"/>
              </a:lnSpc>
              <a:buFont typeface="Wingdings" panose="05000000000000000000" charset="0"/>
              <a:buChar char="l"/>
            </a:pPr>
            <a:r>
              <a:rPr lang="zh-CN" altLang="en-US" sz="1600" b="1" dirty="0">
                <a:effectLst/>
              </a:rPr>
              <a:t>供应链盘点</a:t>
            </a:r>
            <a:r>
              <a:rPr lang="zh-CN" altLang="en-US" sz="1600" dirty="0">
                <a:effectLst/>
              </a:rPr>
              <a:t>中识别后和销售协同；</a:t>
            </a:r>
          </a:p>
          <a:p>
            <a:pPr marL="285750" indent="-285750" algn="l" fontAlgn="ctr">
              <a:lnSpc>
                <a:spcPct val="150000"/>
              </a:lnSpc>
              <a:buFont typeface="Wingdings" panose="05000000000000000000" charset="0"/>
              <a:buChar char="l"/>
            </a:pPr>
            <a:r>
              <a:rPr lang="zh-CN" altLang="en-US" sz="1600" dirty="0">
                <a:effectLst/>
              </a:rPr>
              <a:t>供应链在</a:t>
            </a:r>
            <a:r>
              <a:rPr lang="en-US" altLang="zh-CN" sz="1600" dirty="0">
                <a:effectLst/>
              </a:rPr>
              <a:t>PTM</a:t>
            </a:r>
            <a:r>
              <a:rPr lang="zh-CN" altLang="en-US" sz="1600" dirty="0">
                <a:effectLst/>
              </a:rPr>
              <a:t>中上传含供应能力确认的沟通记录</a:t>
            </a:r>
          </a:p>
        </p:txBody>
      </p:sp>
    </p:spTree>
    <p:extLst>
      <p:ext uri="{BB962C8B-B14F-4D97-AF65-F5344CB8AC3E}">
        <p14:creationId xmlns:p14="http://schemas.microsoft.com/office/powerpoint/2010/main" val="1053472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zh-CN" altLang="en-US" dirty="0"/>
              <a:t>市场协同供应风险升级机制</a:t>
            </a:r>
          </a:p>
        </p:txBody>
      </p:sp>
      <p:sp>
        <p:nvSpPr>
          <p:cNvPr id="13" name="矩形 12"/>
          <p:cNvSpPr/>
          <p:nvPr/>
        </p:nvSpPr>
        <p:spPr>
          <a:xfrm>
            <a:off x="577215" y="859790"/>
            <a:ext cx="1069213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marL="285750" indent="-285750" fontAlgn="ctr">
              <a:lnSpc>
                <a:spcPct val="150000"/>
              </a:lnSpc>
              <a:buFont typeface="Wingdings" panose="05000000000000000000" charset="0"/>
              <a:buChar char="Ø"/>
            </a:pPr>
            <a:r>
              <a:rPr lang="zh-CN" altLang="en-US" sz="1600" b="1" dirty="0">
                <a:effectLst/>
              </a:rPr>
              <a:t>风险等级：</a:t>
            </a:r>
            <a:r>
              <a:rPr lang="zh-CN" altLang="en-US" sz="1600" dirty="0">
                <a:effectLst/>
              </a:rPr>
              <a:t>根据项目类型、客户属性、未及时交付存在的影响等，将从项目供应风险区分高、中、低三个级别。</a:t>
            </a:r>
          </a:p>
          <a:p>
            <a:pPr marL="285750" indent="-285750" fontAlgn="ctr">
              <a:lnSpc>
                <a:spcPct val="150000"/>
              </a:lnSpc>
              <a:buFont typeface="Wingdings" panose="05000000000000000000" charset="0"/>
              <a:buChar char="Ø"/>
            </a:pPr>
            <a:r>
              <a:rPr lang="zh-CN" altLang="en-US" sz="1600" dirty="0">
                <a:effectLst/>
              </a:rPr>
              <a:t>针对不同级别的供需缺口风险，供应链拉通市场和供应链</a:t>
            </a:r>
            <a:r>
              <a:rPr lang="zh-CN" altLang="en-US" sz="1600" b="1" dirty="0">
                <a:effectLst/>
              </a:rPr>
              <a:t>评审团队</a:t>
            </a:r>
            <a:r>
              <a:rPr lang="zh-CN" altLang="en-US" sz="1600" dirty="0">
                <a:effectLst/>
              </a:rPr>
              <a:t>进行升级决策。</a:t>
            </a:r>
          </a:p>
        </p:txBody>
      </p:sp>
      <p:graphicFrame>
        <p:nvGraphicFramePr>
          <p:cNvPr id="3" name="表格 2"/>
          <p:cNvGraphicFramePr/>
          <p:nvPr/>
        </p:nvGraphicFramePr>
        <p:xfrm>
          <a:off x="577850" y="2117090"/>
          <a:ext cx="10691495" cy="4032250"/>
        </p:xfrm>
        <a:graphic>
          <a:graphicData uri="http://schemas.openxmlformats.org/drawingml/2006/table">
            <a:tbl>
              <a:tblPr/>
              <a:tblGrid>
                <a:gridCol w="899795"/>
                <a:gridCol w="4077970"/>
                <a:gridCol w="2056765"/>
                <a:gridCol w="1903095"/>
                <a:gridCol w="1753870"/>
              </a:tblGrid>
              <a:tr h="608330">
                <a:tc>
                  <a:txBody>
                    <a:bodyPr/>
                    <a:lstStyle/>
                    <a:p>
                      <a:pPr algn="ctr" fontAlgn="ctr"/>
                      <a:r>
                        <a:rPr lang="zh-CN" altLang="en-US" sz="1400">
                          <a:latin typeface="微软雅黑" panose="020B0503020204020204" pitchFamily="34" charset="-122"/>
                          <a:ea typeface="微软雅黑" panose="020B0503020204020204" pitchFamily="34" charset="-122"/>
                        </a:rPr>
                        <a:t>项目供应风险等级</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t"/>
                      <a:r>
                        <a:rPr lang="zh-CN" altLang="en-US" sz="1400">
                          <a:latin typeface="微软雅黑" panose="020B0503020204020204" pitchFamily="34" charset="-122"/>
                          <a:ea typeface="微软雅黑" panose="020B0503020204020204" pitchFamily="34" charset="-122"/>
                        </a:rPr>
                        <a:t>项目供应风险等级定义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rPr>
                        <a:t>评审团队</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关键输入</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评估依据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预期输出</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决策结果</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r>
              <a:tr h="1470660">
                <a:tc>
                  <a:txBody>
                    <a:bodyPr/>
                    <a:lstStyle/>
                    <a:p>
                      <a:pPr algn="ctr" fontAlgn="ctr"/>
                      <a:r>
                        <a:rPr lang="zh-CN" altLang="en-US" sz="1400">
                          <a:latin typeface="微软雅黑" panose="020B0503020204020204" pitchFamily="34" charset="-122"/>
                          <a:ea typeface="微软雅黑" panose="020B0503020204020204" pitchFamily="34" charset="-122"/>
                        </a:rPr>
                        <a:t>高</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直投</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直签项目，标书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重客项目，标书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cs typeface="微软雅黑" panose="020B0503020204020204" pitchFamily="34" charset="-122"/>
                        </a:rPr>
                        <a:t>市场：</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BG</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总经理</a:t>
                      </a:r>
                    </a:p>
                    <a:p>
                      <a:pPr fontAlgn="t"/>
                      <a:r>
                        <a:rPr lang="zh-CN" altLang="en-US" sz="1400">
                          <a:latin typeface="微软雅黑" panose="020B0503020204020204" pitchFamily="34" charset="-122"/>
                          <a:ea typeface="微软雅黑" panose="020B0503020204020204" pitchFamily="34" charset="-122"/>
                          <a:cs typeface="微软雅黑" panose="020B0503020204020204" pitchFamily="34" charset="-122"/>
                        </a:rPr>
                        <a:t>供应链：一级部门主管</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rowSpan="3">
                  <a:txBody>
                    <a:bodyPr/>
                    <a:lstStyle/>
                    <a:p>
                      <a:endParaRPr lang="en-US" altLang="zh-CN"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rPr>
                        <a:t>项目风险度（项目金额、客户级别、违约罚则、声誉风险）；</a:t>
                      </a: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rPr>
                        <a:t>供应方案：供应风险的原因、方案和影响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rowSpan="3">
                  <a:txBody>
                    <a:bodyPr/>
                    <a:lstStyle/>
                    <a:p>
                      <a:pPr algn="l" fontAlgn="ctr"/>
                      <a:r>
                        <a:rPr lang="zh-CN" altLang="en-US" sz="1400">
                          <a:latin typeface="微软雅黑" panose="020B0503020204020204" pitchFamily="34" charset="-122"/>
                          <a:ea typeface="微软雅黑" panose="020B0503020204020204" pitchFamily="34" charset="-122"/>
                        </a:rPr>
                        <a:t>项目是否继续招投标；资源倾斜方向和相关方行动指令</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1099185">
                <a:tc>
                  <a:txBody>
                    <a:bodyPr/>
                    <a:lstStyle/>
                    <a:p>
                      <a:pPr algn="ctr" fontAlgn="ctr"/>
                      <a:r>
                        <a:rPr lang="zh-CN" altLang="en-US" sz="1400">
                          <a:latin typeface="微软雅黑" panose="020B0503020204020204" pitchFamily="34" charset="-122"/>
                          <a:ea typeface="微软雅黑" panose="020B0503020204020204" pitchFamily="34" charset="-122"/>
                        </a:rPr>
                        <a:t>中</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项目金额</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≥80</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万，标书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rPr>
                        <a:t>市场：销售大区经理</a:t>
                      </a:r>
                    </a:p>
                    <a:p>
                      <a:pPr fontAlgn="t"/>
                      <a:r>
                        <a:rPr lang="zh-CN" altLang="en-US" sz="1400">
                          <a:latin typeface="微软雅黑" panose="020B0503020204020204" pitchFamily="34" charset="-122"/>
                          <a:ea typeface="微软雅黑" panose="020B0503020204020204" pitchFamily="34" charset="-122"/>
                        </a:rPr>
                        <a:t>供应链：集成计划部经理</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tcPr>
                </a:tc>
              </a:tr>
              <a:tr h="854075">
                <a:tc>
                  <a:txBody>
                    <a:bodyPr/>
                    <a:lstStyle/>
                    <a:p>
                      <a:pPr algn="ctr" fontAlgn="ctr"/>
                      <a:r>
                        <a:rPr lang="zh-CN" altLang="en-US" sz="1400">
                          <a:latin typeface="微软雅黑" panose="020B0503020204020204" pitchFamily="34" charset="-122"/>
                          <a:ea typeface="微软雅黑" panose="020B0503020204020204" pitchFamily="34" charset="-122"/>
                        </a:rPr>
                        <a:t>低</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合同中明确未及时交付存在罚责风险，或市场评估存在商誉影响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rPr>
                        <a:t>市场：销售区域经理</a:t>
                      </a:r>
                    </a:p>
                    <a:p>
                      <a:pPr fontAlgn="t"/>
                      <a:r>
                        <a:rPr lang="zh-CN" altLang="en-US" sz="1400">
                          <a:latin typeface="微软雅黑" panose="020B0503020204020204" pitchFamily="34" charset="-122"/>
                          <a:ea typeface="微软雅黑" panose="020B0503020204020204" pitchFamily="34" charset="-122"/>
                        </a:rPr>
                        <a:t>供应链：市场计划经理</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B w="6350" cap="flat" cmpd="sng">
                      <a:solidFill>
                        <a:srgbClr val="DEE0E3"/>
                      </a:solidFill>
                      <a:prstDash val="solid"/>
                      <a:headEnd type="none" w="med" len="med"/>
                      <a:tailEnd type="none" w="med" len="med"/>
                    </a:lnB>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B w="6350" cap="flat" cmpd="sng">
                      <a:solidFill>
                        <a:srgbClr val="DEE0E3"/>
                      </a:solidFill>
                      <a:prstDash val="solid"/>
                      <a:headEnd type="none" w="med" len="med"/>
                      <a:tailEnd type="none" w="med" len="med"/>
                    </a:lnB>
                  </a:tcPr>
                </a:tc>
              </a:tr>
            </a:tbl>
          </a:graphicData>
        </a:graphic>
      </p:graphicFrame>
    </p:spTree>
    <p:extLst>
      <p:ext uri="{BB962C8B-B14F-4D97-AF65-F5344CB8AC3E}">
        <p14:creationId xmlns:p14="http://schemas.microsoft.com/office/powerpoint/2010/main" val="1691862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4733351"/>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高质量的执行</a:t>
            </a:r>
            <a:r>
              <a:rPr lang="en-US" altLang="zh-CN" dirty="0" smtClean="0"/>
              <a:t>MO</a:t>
            </a:r>
            <a:r>
              <a:rPr lang="zh-CN" altLang="en-US" dirty="0" smtClean="0"/>
              <a:t>关键活动</a:t>
            </a:r>
            <a:endParaRPr lang="en-US" altLang="zh-CN" dirty="0" smtClean="0"/>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销售与供应链协同机制</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3906698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渠道下单流程</a:t>
            </a:r>
            <a:endParaRPr lang="zh-CN" altLang="en-US" dirty="0"/>
          </a:p>
        </p:txBody>
      </p:sp>
      <p:pic>
        <p:nvPicPr>
          <p:cNvPr id="3" name="图片 2"/>
          <p:cNvPicPr>
            <a:picLocks noChangeAspect="1"/>
          </p:cNvPicPr>
          <p:nvPr/>
        </p:nvPicPr>
        <p:blipFill>
          <a:blip r:embed="rId2"/>
          <a:stretch>
            <a:fillRect/>
          </a:stretch>
        </p:blipFill>
        <p:spPr>
          <a:xfrm>
            <a:off x="314186" y="914400"/>
            <a:ext cx="11631425" cy="4066979"/>
          </a:xfrm>
          <a:prstGeom prst="rect">
            <a:avLst/>
          </a:prstGeom>
        </p:spPr>
      </p:pic>
      <p:sp>
        <p:nvSpPr>
          <p:cNvPr id="5" name="矩形 4"/>
          <p:cNvSpPr/>
          <p:nvPr/>
        </p:nvSpPr>
        <p:spPr>
          <a:xfrm>
            <a:off x="439400" y="5125524"/>
            <a:ext cx="11203356" cy="1323439"/>
          </a:xfrm>
          <a:prstGeom prst="rect">
            <a:avLst/>
          </a:prstGeom>
        </p:spPr>
        <p:txBody>
          <a:bodyPr wrap="square">
            <a:spAutoFit/>
          </a:bodyPr>
          <a:lstStyle/>
          <a:p>
            <a:r>
              <a:rPr lang="zh-CN" altLang="en-US" sz="1600" dirty="0" smtClean="0"/>
              <a:t>渠道下单流程中需要注意的问题：</a:t>
            </a:r>
            <a:endParaRPr lang="en-US" altLang="zh-CN" sz="1600" dirty="0" smtClean="0"/>
          </a:p>
          <a:p>
            <a:r>
              <a:rPr lang="en-US" altLang="zh-CN" sz="1600" dirty="0" smtClean="0"/>
              <a:t>1</a:t>
            </a:r>
            <a:r>
              <a:rPr lang="zh-CN" altLang="en-US" sz="1600" dirty="0" smtClean="0"/>
              <a:t>）销售需要提前跟渠道沟通下单时间，渠道根据项目实际情况按照销售预测承诺的下单时间执行下单操作；</a:t>
            </a:r>
            <a:endParaRPr lang="en-US" altLang="zh-CN" sz="1600" dirty="0" smtClean="0"/>
          </a:p>
          <a:p>
            <a:r>
              <a:rPr lang="en-US" altLang="zh-CN" sz="1600" dirty="0" smtClean="0"/>
              <a:t>2</a:t>
            </a:r>
            <a:r>
              <a:rPr lang="zh-CN" altLang="en-US" sz="1600" dirty="0" smtClean="0"/>
              <a:t>）渠道</a:t>
            </a:r>
            <a:r>
              <a:rPr lang="zh-CN" altLang="en-US" sz="1600" dirty="0"/>
              <a:t>在</a:t>
            </a:r>
            <a:r>
              <a:rPr lang="en-US" altLang="zh-CN" sz="1600" dirty="0"/>
              <a:t>CES</a:t>
            </a:r>
            <a:r>
              <a:rPr lang="zh-CN" altLang="en-US" sz="1600" dirty="0"/>
              <a:t>下单的要货时间参考</a:t>
            </a:r>
            <a:r>
              <a:rPr lang="zh-CN" altLang="en-US" sz="1600" b="1" dirty="0"/>
              <a:t>推荐客</a:t>
            </a:r>
            <a:r>
              <a:rPr lang="zh-CN" altLang="en-US" sz="1600" b="1" dirty="0" smtClean="0"/>
              <a:t>期</a:t>
            </a:r>
            <a:r>
              <a:rPr lang="zh-CN" altLang="en-US" sz="1600" dirty="0" smtClean="0"/>
              <a:t>（</a:t>
            </a:r>
            <a:r>
              <a:rPr lang="en-US" altLang="zh-CN" sz="1600" dirty="0" smtClean="0"/>
              <a:t>CRM</a:t>
            </a:r>
            <a:r>
              <a:rPr lang="zh-CN" altLang="en-US" sz="1600" dirty="0"/>
              <a:t>中销售填写的要求到货日期与下单时间</a:t>
            </a:r>
            <a:r>
              <a:rPr lang="en-US" altLang="zh-CN" sz="1600" dirty="0"/>
              <a:t>+SLA</a:t>
            </a:r>
            <a:r>
              <a:rPr lang="zh-CN" altLang="en-US" sz="1600" dirty="0"/>
              <a:t>两者最大值）</a:t>
            </a:r>
            <a:endParaRPr lang="zh-CN" altLang="en-US" sz="1600" b="1" dirty="0"/>
          </a:p>
          <a:p>
            <a:r>
              <a:rPr lang="zh-CN" altLang="en-US" sz="1600" b="1" dirty="0"/>
              <a:t>结合渠道期望到货日期和供应链备货计划和供应能力给出最终到货日期</a:t>
            </a:r>
          </a:p>
          <a:p>
            <a:endParaRPr lang="zh-CN" altLang="en-US" sz="1600" dirty="0"/>
          </a:p>
        </p:txBody>
      </p:sp>
    </p:spTree>
    <p:extLst>
      <p:ext uri="{BB962C8B-B14F-4D97-AF65-F5344CB8AC3E}">
        <p14:creationId xmlns:p14="http://schemas.microsoft.com/office/powerpoint/2010/main" val="714399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 name="RESOURCE_RECORD_KEY" val="{&quot;13&quot;:[4364928]}"/>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347*275"/>
  <p:tag name="TABLE_ENDDRAG_RECT" val="550*196*347*27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6208</TotalTime>
  <Words>3649</Words>
  <Application>Microsoft Office PowerPoint</Application>
  <PresentationFormat>宽屏</PresentationFormat>
  <Paragraphs>378</Paragraphs>
  <Slides>23</Slides>
  <Notes>3</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23</vt:i4>
      </vt:variant>
    </vt:vector>
  </HeadingPairs>
  <TitlesOfParts>
    <vt:vector size="32" baseType="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319</cp:revision>
  <dcterms:created xsi:type="dcterms:W3CDTF">2025-07-28T02:11:00Z</dcterms:created>
  <dcterms:modified xsi:type="dcterms:W3CDTF">2025-12-02T08:01:48Z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D94573FBE26046E28D578AEA2B965915_13</vt:lpwstr>
  </property>
  <property fmtid="{D5CDD505-2E9C-101B-9397-08002B2CF9AE}" pid="3" name="KSOProductBuildVer">
    <vt:lpwstr>2052-12.1.0.22529</vt:lpwstr>
  </property>
</Properties>
</file>