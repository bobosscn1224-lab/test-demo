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2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22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68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1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7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94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32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5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74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53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05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12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59396" y="1936842"/>
            <a:ext cx="4126280" cy="4617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/>
            </a:defPPr>
            <a:lvl1pPr>
              <a:defRPr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100" b="1" dirty="0" smtClean="0"/>
              <a:t>总部</a:t>
            </a:r>
            <a:r>
              <a:rPr lang="zh-CN" altLang="en-US" sz="1100" b="1" dirty="0"/>
              <a:t>活动：</a:t>
            </a:r>
            <a:r>
              <a:rPr lang="zh-CN" altLang="en-US" sz="1100" dirty="0"/>
              <a:t>产品 </a:t>
            </a:r>
            <a:r>
              <a:rPr lang="en-US" altLang="zh-CN" sz="1100" dirty="0"/>
              <a:t>/ </a:t>
            </a:r>
            <a:r>
              <a:rPr lang="zh-CN" altLang="en-US" sz="1100" dirty="0"/>
              <a:t>方案为核心，造全国声势​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责任与方向</a:t>
            </a:r>
            <a:r>
              <a:rPr lang="zh-CN" altLang="en-US" sz="1100" dirty="0" smtClean="0"/>
              <a:t>：</a:t>
            </a:r>
            <a:r>
              <a:rPr lang="en-US" altLang="zh-CN" sz="1100" dirty="0" smtClean="0"/>
              <a:t>GTM </a:t>
            </a:r>
            <a:r>
              <a:rPr lang="zh-CN" altLang="en-US" sz="1100" dirty="0"/>
              <a:t>经理负责，推产品价值、塑品牌。​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策略</a:t>
            </a:r>
            <a:r>
              <a:rPr lang="zh-CN" altLang="en-US" sz="1100" dirty="0"/>
              <a:t>：</a:t>
            </a:r>
            <a:r>
              <a:rPr lang="zh-CN" altLang="en-US" sz="1100" dirty="0" smtClean="0"/>
              <a:t>​新品</a:t>
            </a:r>
            <a:r>
              <a:rPr lang="zh-CN" altLang="en-US" sz="1100" dirty="0"/>
              <a:t>发布会：提前组跨部门团队，选一线场地，邀专家 </a:t>
            </a:r>
            <a:r>
              <a:rPr lang="en-US" altLang="zh-CN" sz="1100" dirty="0"/>
              <a:t>/ </a:t>
            </a:r>
            <a:r>
              <a:rPr lang="zh-CN" altLang="en-US" sz="1100" dirty="0"/>
              <a:t>客户 </a:t>
            </a:r>
            <a:r>
              <a:rPr lang="en-US" altLang="zh-CN" sz="1100" dirty="0"/>
              <a:t>/ </a:t>
            </a:r>
            <a:r>
              <a:rPr lang="zh-CN" altLang="en-US" sz="1100" dirty="0"/>
              <a:t>媒体，线上线下预热，现场用技术展示新品，会后跟进</a:t>
            </a:r>
            <a:r>
              <a:rPr lang="zh-CN" altLang="en-US" sz="1100" dirty="0" smtClean="0"/>
              <a:t>转化。线</a:t>
            </a:r>
            <a:r>
              <a:rPr lang="zh-CN" altLang="en-US" sz="1100" dirty="0"/>
              <a:t>上直播：定主题（如新品解析），备脚本与互动，多渠道推广预告，直播答疑 </a:t>
            </a:r>
            <a:r>
              <a:rPr lang="en-US" altLang="zh-CN" sz="1100" dirty="0"/>
              <a:t>+ </a:t>
            </a:r>
            <a:r>
              <a:rPr lang="zh-CN" altLang="en-US" sz="1100" dirty="0"/>
              <a:t>放优惠，会后传回放、整反馈。</a:t>
            </a:r>
            <a:r>
              <a:rPr lang="zh-CN" altLang="en-US" sz="1100" dirty="0" smtClean="0"/>
              <a:t>​线</a:t>
            </a:r>
            <a:r>
              <a:rPr lang="zh-CN" altLang="en-US" sz="1100" dirty="0"/>
              <a:t>上整合营销：输出优质内容（白皮书、案例），精准投流，发起话题互动，联动线下形成闭环</a:t>
            </a:r>
            <a:r>
              <a:rPr lang="zh-CN" altLang="en-US" sz="1100" dirty="0" smtClean="0"/>
              <a:t>。</a:t>
            </a:r>
            <a:endParaRPr lang="en-US" altLang="zh-CN" sz="1100" dirty="0" smtClean="0"/>
          </a:p>
          <a:p>
            <a:endParaRPr lang="en-US" altLang="zh-CN" sz="1100" dirty="0"/>
          </a:p>
          <a:p>
            <a:r>
              <a:rPr lang="zh-CN" altLang="en-US" sz="1100" b="1" dirty="0" smtClean="0"/>
              <a:t>行业</a:t>
            </a:r>
            <a:r>
              <a:rPr lang="zh-CN" altLang="en-US" sz="1100" b="1" dirty="0"/>
              <a:t>活动：</a:t>
            </a:r>
            <a:r>
              <a:rPr lang="zh-CN" altLang="en-US" sz="1100" dirty="0"/>
              <a:t>垂直深耕，上下联动​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 smtClean="0"/>
              <a:t>责任</a:t>
            </a:r>
            <a:r>
              <a:rPr lang="zh-CN" altLang="en-US" sz="1100" b="1" dirty="0"/>
              <a:t>与方向</a:t>
            </a:r>
            <a:r>
              <a:rPr lang="zh-CN" altLang="en-US" sz="1100" dirty="0"/>
              <a:t>：行业 </a:t>
            </a:r>
            <a:r>
              <a:rPr lang="en-US" altLang="zh-CN" sz="1100" dirty="0"/>
              <a:t>GTM </a:t>
            </a:r>
            <a:r>
              <a:rPr lang="zh-CN" altLang="en-US" sz="1100" dirty="0"/>
              <a:t>经理统筹，行业系统部组织 </a:t>
            </a:r>
            <a:r>
              <a:rPr lang="en-US" altLang="zh-CN" sz="1100" dirty="0"/>
              <a:t>+ </a:t>
            </a:r>
            <a:r>
              <a:rPr lang="zh-CN" altLang="en-US" sz="1100" dirty="0"/>
              <a:t>区域配合，推行业专属方案。​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 smtClean="0"/>
              <a:t>策略：</a:t>
            </a:r>
            <a:r>
              <a:rPr lang="zh-CN" altLang="en-US" sz="1100" dirty="0" smtClean="0"/>
              <a:t>先</a:t>
            </a:r>
            <a:r>
              <a:rPr lang="zh-CN" altLang="en-US" sz="1100" dirty="0"/>
              <a:t>调研行业痛点（</a:t>
            </a:r>
            <a:r>
              <a:rPr lang="zh-CN" altLang="en-US" sz="1100" dirty="0" smtClean="0"/>
              <a:t>如</a:t>
            </a:r>
            <a:r>
              <a:rPr lang="en-US" altLang="zh-CN" sz="1100" dirty="0" smtClean="0"/>
              <a:t>SID</a:t>
            </a:r>
            <a:r>
              <a:rPr lang="zh-CN" altLang="en-US" sz="1100" dirty="0" smtClean="0"/>
              <a:t>），</a:t>
            </a:r>
            <a:r>
              <a:rPr lang="zh-CN" altLang="en-US" sz="1100" dirty="0"/>
              <a:t>定制</a:t>
            </a:r>
            <a:r>
              <a:rPr lang="zh-CN" altLang="en-US" sz="1100" dirty="0" smtClean="0"/>
              <a:t>方案与议程；办</a:t>
            </a:r>
            <a:r>
              <a:rPr lang="zh-CN" altLang="en-US" sz="1100" dirty="0"/>
              <a:t>线下</a:t>
            </a:r>
            <a:r>
              <a:rPr lang="zh-CN" altLang="en-US" sz="1100" dirty="0" smtClean="0"/>
              <a:t>会选</a:t>
            </a:r>
            <a:r>
              <a:rPr lang="zh-CN" altLang="en-US" sz="1100" dirty="0"/>
              <a:t>核心客户集中地，系统部邀客户、区域</a:t>
            </a:r>
            <a:r>
              <a:rPr lang="zh-CN" altLang="en-US" sz="1100" dirty="0" smtClean="0"/>
              <a:t>协同执行</a:t>
            </a:r>
            <a:r>
              <a:rPr lang="zh-CN" altLang="en-US" sz="1100" dirty="0"/>
              <a:t>；</a:t>
            </a:r>
            <a:r>
              <a:rPr lang="zh-CN" altLang="en-US" sz="1100" dirty="0" smtClean="0"/>
              <a:t>​总部</a:t>
            </a:r>
            <a:r>
              <a:rPr lang="zh-CN" altLang="en-US" sz="1100" dirty="0"/>
              <a:t>供技术 </a:t>
            </a:r>
            <a:r>
              <a:rPr lang="en-US" altLang="zh-CN" sz="1100" dirty="0"/>
              <a:t>/ </a:t>
            </a:r>
            <a:r>
              <a:rPr lang="zh-CN" altLang="en-US" sz="1100" dirty="0"/>
              <a:t>品牌支持，活动中收反馈，会后区域跟进、系统部优化方案。</a:t>
            </a:r>
          </a:p>
          <a:p>
            <a:pPr>
              <a:lnSpc>
                <a:spcPct val="130000"/>
              </a:lnSpc>
            </a:pPr>
            <a:endParaRPr lang="en-US" altLang="zh-CN" sz="1100" dirty="0" smtClean="0"/>
          </a:p>
          <a:p>
            <a:r>
              <a:rPr lang="zh-CN" altLang="en-US" sz="1100" b="1" dirty="0"/>
              <a:t>区域活动</a:t>
            </a:r>
            <a:r>
              <a:rPr lang="zh-CN" altLang="en-US" sz="1100" dirty="0"/>
              <a:t>：本地化发力，激活市场​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责任与方向</a:t>
            </a:r>
            <a:r>
              <a:rPr lang="zh-CN" altLang="en-US" sz="1100" dirty="0"/>
              <a:t>：区域 </a:t>
            </a:r>
            <a:r>
              <a:rPr lang="en-US" altLang="zh-CN" sz="1100" dirty="0"/>
              <a:t>GTM </a:t>
            </a:r>
            <a:r>
              <a:rPr lang="zh-CN" altLang="en-US" sz="1100" dirty="0"/>
              <a:t>经理负责，办小型活动（技术沙龙、座谈会），增用户粘性。​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策略</a:t>
            </a:r>
            <a:r>
              <a:rPr lang="zh-CN" altLang="en-US" sz="1100" dirty="0"/>
              <a:t>：</a:t>
            </a:r>
            <a:r>
              <a:rPr lang="zh-CN" altLang="en-US" sz="1100" dirty="0" smtClean="0"/>
              <a:t>​调研</a:t>
            </a:r>
            <a:r>
              <a:rPr lang="zh-CN" altLang="en-US" sz="1100" dirty="0"/>
              <a:t>本地需求，定活动主题；</a:t>
            </a:r>
            <a:r>
              <a:rPr lang="zh-CN" altLang="en-US" sz="1100" dirty="0" smtClean="0"/>
              <a:t>​沙龙</a:t>
            </a:r>
            <a:r>
              <a:rPr lang="zh-CN" altLang="en-US" sz="1100" dirty="0"/>
              <a:t>选本地场地，邀专家，控人数保互动，会后建群维护；座谈会邀少量客户，轻松交流，会后跟进问题；</a:t>
            </a:r>
            <a:r>
              <a:rPr lang="zh-CN" altLang="en-US" sz="1100" dirty="0" smtClean="0"/>
              <a:t>​联动</a:t>
            </a:r>
            <a:r>
              <a:rPr lang="zh-CN" altLang="en-US" sz="1100" dirty="0"/>
              <a:t>本地资源（协会、媒体），用本地渠道宣传，降本提触达。</a:t>
            </a:r>
          </a:p>
          <a:p>
            <a:pPr>
              <a:lnSpc>
                <a:spcPct val="130000"/>
              </a:lnSpc>
            </a:pPr>
            <a:endParaRPr lang="en-US" altLang="zh-CN" sz="1100" dirty="0"/>
          </a:p>
        </p:txBody>
      </p:sp>
      <p:sp>
        <p:nvSpPr>
          <p:cNvPr id="7" name="矩形 6"/>
          <p:cNvSpPr/>
          <p:nvPr/>
        </p:nvSpPr>
        <p:spPr>
          <a:xfrm>
            <a:off x="175830" y="1341120"/>
            <a:ext cx="246488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什么是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830" y="1936841"/>
            <a:ext cx="2464889" cy="4617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精品活动是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以产品为主线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，经系统化、标准化策划与组织，能精准对接市场需求和品牌定位。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54224" y="1341119"/>
            <a:ext cx="246488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的意义和价值</a:t>
            </a:r>
          </a:p>
        </p:txBody>
      </p:sp>
      <p:sp>
        <p:nvSpPr>
          <p:cNvPr id="10" name="矩形 9"/>
          <p:cNvSpPr/>
          <p:nvPr/>
        </p:nvSpPr>
        <p:spPr>
          <a:xfrm>
            <a:off x="2735234" y="1936842"/>
            <a:ext cx="2499963" cy="4617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提升营销活动整体效率与效果，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确保活动充分契合市场需求和品牌定位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提升价值认可效率，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激发线索生成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，帮助挖掘更多线索，保障年度整合营销目标高质量达成。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促进重大机会上升并达成增长目标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，推动业务可持续增长。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381001" y="1341120"/>
            <a:ext cx="246488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分级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全国、行业、区域</a:t>
            </a:r>
          </a:p>
        </p:txBody>
      </p:sp>
      <p:sp>
        <p:nvSpPr>
          <p:cNvPr id="12" name="矩形 11"/>
          <p:cNvSpPr/>
          <p:nvPr/>
        </p:nvSpPr>
        <p:spPr>
          <a:xfrm>
            <a:off x="5348702" y="1936843"/>
            <a:ext cx="2536615" cy="4617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责任清晰，提效降本：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明确总部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经理）、行业（行业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行业系统部）、区域（区域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经理）的负责主体，避免职责交叉，减少沟通成本，提升执行效率。​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精准匹配，强化效果：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总部聚焦产品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方案全国推广，行业深耕垂直领域（教育、金融等），区域贴合本地需求，让营销内容适配受众，提升转化。​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上下联动，形成合力：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行业活动 “牵头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区域配合”，总部供支撑、行业挖需求、区域落地，构建完整营销链，汇聚协同力量。​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灵活适配，增强优势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：区域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行业可快速响应市场变化，总部保障品牌统一，“整体统一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局部灵活” 提升市场适应性。</a:t>
            </a:r>
            <a:endParaRPr lang="zh-CN" altLang="en-US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59395" y="1356360"/>
            <a:ext cx="4126280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如何开展活动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88193" y="345280"/>
            <a:ext cx="7416710" cy="548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dirty="0" smtClean="0"/>
              <a:t>GTM</a:t>
            </a:r>
            <a:r>
              <a:rPr lang="zh-CN" altLang="en-US" dirty="0" smtClean="0"/>
              <a:t>落地核心抓手三：品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9567800" y="519269"/>
            <a:ext cx="2023357" cy="769950"/>
          </a:xfrm>
          <a:prstGeom prst="rect">
            <a:avLst/>
          </a:prstGeom>
          <a:solidFill>
            <a:srgbClr val="FFC000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zh-CN" altLang="en-US">
                <a:solidFill>
                  <a:srgbClr val="000000"/>
                </a:solidFill>
              </a:rPr>
              <a:t>修改</a:t>
            </a:r>
          </a:p>
        </p:txBody>
      </p:sp>
      <p:sp>
        <p:nvSpPr>
          <p:cNvPr id="16" name="矩形 15"/>
          <p:cNvSpPr/>
          <p:nvPr/>
        </p:nvSpPr>
        <p:spPr>
          <a:xfrm>
            <a:off x="6313850" y="664034"/>
            <a:ext cx="2300117" cy="7897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分级</a:t>
            </a:r>
            <a:r>
              <a:rPr kumimoji="1" lang="zh-CN" altLang="en-US" dirty="0" smtClean="0"/>
              <a:t>分类的意义和价值</a:t>
            </a:r>
            <a:endParaRPr kumimoji="1"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9391117" y="619586"/>
            <a:ext cx="2300117" cy="7897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分级分类怎么干，谁来干？</a:t>
            </a:r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2409457" y="619586"/>
            <a:ext cx="2300117" cy="1186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总部：</a:t>
            </a:r>
            <a:r>
              <a:rPr kumimoji="1" lang="en-US" altLang="zh-CN" dirty="0" smtClean="0"/>
              <a:t>GTM</a:t>
            </a:r>
            <a:r>
              <a:rPr kumimoji="1" lang="zh-CN" altLang="en-US" dirty="0" smtClean="0"/>
              <a:t>经理干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总部新品发布会：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总部的线上直播、总部整合营销传播</a:t>
            </a:r>
            <a:endParaRPr kumimoji="1" lang="en-US" altLang="zh-CN" dirty="0" smtClean="0"/>
          </a:p>
        </p:txBody>
      </p:sp>
      <p:sp>
        <p:nvSpPr>
          <p:cNvPr id="19" name="矩形 18"/>
          <p:cNvSpPr/>
          <p:nvPr/>
        </p:nvSpPr>
        <p:spPr>
          <a:xfrm>
            <a:off x="12712947" y="3116393"/>
            <a:ext cx="2653163" cy="1186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行业</a:t>
            </a:r>
            <a:r>
              <a:rPr kumimoji="1" lang="zh-CN" altLang="en-US" dirty="0" smtClean="0"/>
              <a:t>：行业</a:t>
            </a:r>
            <a:r>
              <a:rPr kumimoji="1" lang="en-US" altLang="zh-CN" dirty="0" smtClean="0"/>
              <a:t>GTM</a:t>
            </a:r>
            <a:r>
              <a:rPr kumimoji="1" lang="zh-CN" altLang="en-US" dirty="0" smtClean="0"/>
              <a:t>经理干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行业总部活动：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行业</a:t>
            </a:r>
            <a:r>
              <a:rPr kumimoji="1" lang="en-US" altLang="zh-CN" dirty="0" smtClean="0"/>
              <a:t>+</a:t>
            </a:r>
            <a:r>
              <a:rPr kumimoji="1" lang="zh-CN" altLang="en-US" dirty="0" smtClean="0"/>
              <a:t>区域模板活动</a:t>
            </a:r>
            <a:endParaRPr kumimoji="1" lang="en-US" altLang="zh-CN" dirty="0" smtClean="0"/>
          </a:p>
        </p:txBody>
      </p:sp>
      <p:sp>
        <p:nvSpPr>
          <p:cNvPr id="20" name="矩形 19"/>
          <p:cNvSpPr/>
          <p:nvPr/>
        </p:nvSpPr>
        <p:spPr>
          <a:xfrm>
            <a:off x="12643341" y="5100292"/>
            <a:ext cx="2653163" cy="1186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区域</a:t>
            </a:r>
            <a:r>
              <a:rPr kumimoji="1" lang="zh-CN" altLang="en-US" dirty="0" smtClean="0"/>
              <a:t>：区域</a:t>
            </a:r>
            <a:r>
              <a:rPr kumimoji="1" lang="en-US" altLang="zh-CN" dirty="0" smtClean="0"/>
              <a:t>GTM</a:t>
            </a:r>
            <a:r>
              <a:rPr kumimoji="1" lang="zh-CN" altLang="en-US" dirty="0" smtClean="0"/>
              <a:t>经理干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区域模板活动：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区域技术沙龙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3132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642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ruijie</dc:creator>
  <cp:lastModifiedBy>Lenovo</cp:lastModifiedBy>
  <cp:revision>4</cp:revision>
  <dcterms:created xsi:type="dcterms:W3CDTF">2025-09-23T02:00:18Z</dcterms:created>
  <dcterms:modified xsi:type="dcterms:W3CDTF">2025-09-23T02:33:12Z</dcterms:modified>
</cp:coreProperties>
</file>