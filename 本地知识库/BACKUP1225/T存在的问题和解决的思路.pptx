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8" r:id="rId4"/>
    <p:sldId id="259"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0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Master" Target="../slideMasters/slideMaster1.xml"/><Relationship Id="rId5" Type="http://schemas.openxmlformats.org/officeDocument/2006/relationships/tags" Target="../tags/tag5.xml"/><Relationship Id="rId4" Type="http://schemas.openxmlformats.org/officeDocument/2006/relationships/tags" Target="../tags/tag4.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8.xml"/><Relationship Id="rId7" Type="http://schemas.openxmlformats.org/officeDocument/2006/relationships/image" Target="../media/image1.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slideMaster" Target="../slideMasters/slideMaster1.xml"/><Relationship Id="rId5" Type="http://schemas.openxmlformats.org/officeDocument/2006/relationships/tags" Target="../tags/tag10.xml"/><Relationship Id="rId4" Type="http://schemas.openxmlformats.org/officeDocument/2006/relationships/tags" Target="../tags/tag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8388EEC-A48F-4372-A0C8-DB2C3F7EE46E}" type="datetimeFigureOut">
              <a:rPr lang="zh-CN" altLang="en-US" smtClean="0"/>
              <a:t>2025/10/24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1950387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8388EEC-A48F-4372-A0C8-DB2C3F7EE46E}" type="datetimeFigureOut">
              <a:rPr lang="zh-CN" altLang="en-US" smtClean="0"/>
              <a:t>2025/10/24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3507869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8388EEC-A48F-4372-A0C8-DB2C3F7EE46E}" type="datetimeFigureOut">
              <a:rPr lang="zh-CN" altLang="en-US" smtClean="0"/>
              <a:t>2025/10/24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112826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8388EEC-A48F-4372-A0C8-DB2C3F7EE46E}" type="datetimeFigureOut">
              <a:rPr lang="zh-CN" altLang="en-US" smtClean="0"/>
              <a:t>2025/10/24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3619512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8388EEC-A48F-4372-A0C8-DB2C3F7EE46E}" type="datetimeFigureOut">
              <a:rPr lang="zh-CN" altLang="en-US" smtClean="0"/>
              <a:t>2025/10/24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109431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8388EEC-A48F-4372-A0C8-DB2C3F7EE46E}" type="datetimeFigureOut">
              <a:rPr lang="zh-CN" altLang="en-US" smtClean="0"/>
              <a:t>2025/10/24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1147458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8388EEC-A48F-4372-A0C8-DB2C3F7EE46E}" type="datetimeFigureOut">
              <a:rPr lang="zh-CN" altLang="en-US" smtClean="0"/>
              <a:t>2025/10/24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354659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8388EEC-A48F-4372-A0C8-DB2C3F7EE46E}" type="datetimeFigureOut">
              <a:rPr lang="zh-CN" altLang="en-US" smtClean="0"/>
              <a:t>2025/10/24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1853605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8388EEC-A48F-4372-A0C8-DB2C3F7EE46E}" type="datetimeFigureOut">
              <a:rPr lang="zh-CN" altLang="en-US" smtClean="0"/>
              <a:t>2025/10/24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741423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8388EEC-A48F-4372-A0C8-DB2C3F7EE46E}" type="datetimeFigureOut">
              <a:rPr lang="zh-CN" altLang="en-US" smtClean="0"/>
              <a:t>2025/10/24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1682087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8388EEC-A48F-4372-A0C8-DB2C3F7EE46E}" type="datetimeFigureOut">
              <a:rPr lang="zh-CN" altLang="en-US" smtClean="0"/>
              <a:t>2025/10/24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84776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8388EEC-A48F-4372-A0C8-DB2C3F7EE46E}" type="datetimeFigureOut">
              <a:rPr lang="zh-CN" altLang="en-US" smtClean="0"/>
              <a:t>2025/10/24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271430824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extLst>
      <p:ext uri="{BB962C8B-B14F-4D97-AF65-F5344CB8AC3E}">
        <p14:creationId xmlns:p14="http://schemas.microsoft.com/office/powerpoint/2010/main" val="13849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extLst>
      <p:ext uri="{BB962C8B-B14F-4D97-AF65-F5344CB8AC3E}">
        <p14:creationId xmlns:p14="http://schemas.microsoft.com/office/powerpoint/2010/main" val="5774786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C7CB306C-7307-4294-BE49-A405382D42D6}" type="datetimeFigureOut">
              <a:rPr lang="zh-CN" altLang="en-US" smtClean="0"/>
              <a:t>2025/10/24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5080017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7CB306C-7307-4294-BE49-A405382D42D6}" type="datetimeFigureOut">
              <a:rPr lang="zh-CN" altLang="en-US" smtClean="0"/>
              <a:t>2025/10/24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11067444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7CB306C-7307-4294-BE49-A405382D42D6}" type="datetimeFigureOut">
              <a:rPr lang="zh-CN" altLang="en-US" smtClean="0"/>
              <a:t>2025/10/24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6090085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7CB306C-7307-4294-BE49-A405382D42D6}" type="datetimeFigureOut">
              <a:rPr lang="zh-CN" altLang="en-US" smtClean="0"/>
              <a:t>2025/10/24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11024919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7CB306C-7307-4294-BE49-A405382D42D6}" type="datetimeFigureOut">
              <a:rPr lang="zh-CN" altLang="en-US" smtClean="0"/>
              <a:t>2025/10/24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17056327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7CB306C-7307-4294-BE49-A405382D42D6}" type="datetimeFigureOut">
              <a:rPr lang="zh-CN" altLang="en-US" smtClean="0"/>
              <a:t>2025/10/24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13725602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7CB306C-7307-4294-BE49-A405382D42D6}" type="datetimeFigureOut">
              <a:rPr lang="zh-CN" altLang="en-US" smtClean="0"/>
              <a:t>2025/10/24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35995658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7CB306C-7307-4294-BE49-A405382D42D6}" type="datetimeFigureOut">
              <a:rPr lang="zh-CN" altLang="en-US" smtClean="0"/>
              <a:t>2025/10/24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1823091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7CB306C-7307-4294-BE49-A405382D42D6}" type="datetimeFigureOut">
              <a:rPr lang="zh-CN" altLang="en-US" smtClean="0"/>
              <a:t>2025/10/24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29184841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7CB306C-7307-4294-BE49-A405382D42D6}" type="datetimeFigureOut">
              <a:rPr lang="zh-CN" altLang="en-US" smtClean="0"/>
              <a:t>2025/10/24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5814856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7CB306C-7307-4294-BE49-A405382D42D6}" type="datetimeFigureOut">
              <a:rPr lang="zh-CN" altLang="en-US" smtClean="0"/>
              <a:t>2025/10/24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27188045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7CB306C-7307-4294-BE49-A405382D42D6}" type="datetimeFigureOut">
              <a:rPr lang="zh-CN" altLang="en-US" smtClean="0"/>
              <a:t>2025/10/24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396124880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388EEC-A48F-4372-A0C8-DB2C3F7EE46E}" type="datetimeFigureOut">
              <a:rPr lang="zh-CN" altLang="en-US" smtClean="0"/>
              <a:t>2025/10/24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3D830-F92B-485F-9924-86D7E9CF9BB7}" type="slidenum">
              <a:rPr lang="zh-CN" altLang="en-US" smtClean="0"/>
              <a:t>‹#›</a:t>
            </a:fld>
            <a:endParaRPr lang="zh-CN" altLang="en-US"/>
          </a:p>
        </p:txBody>
      </p:sp>
    </p:spTree>
    <p:extLst>
      <p:ext uri="{BB962C8B-B14F-4D97-AF65-F5344CB8AC3E}">
        <p14:creationId xmlns:p14="http://schemas.microsoft.com/office/powerpoint/2010/main" val="1442317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 id="2147483674" r:id="rId13"/>
    <p:sldLayoutId id="2147483676" r:id="rId1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CB306C-7307-4294-BE49-A405382D42D6}" type="datetimeFigureOut">
              <a:rPr lang="zh-CN" altLang="en-US" smtClean="0"/>
              <a:t>2025/10/24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CC288B-B36F-4575-931D-85BC51C61324}" type="slidenum">
              <a:rPr lang="zh-CN" altLang="en-US" smtClean="0"/>
              <a:t>‹#›</a:t>
            </a:fld>
            <a:endParaRPr lang="zh-CN" altLang="en-US"/>
          </a:p>
        </p:txBody>
      </p:sp>
    </p:spTree>
    <p:extLst>
      <p:ext uri="{BB962C8B-B14F-4D97-AF65-F5344CB8AC3E}">
        <p14:creationId xmlns:p14="http://schemas.microsoft.com/office/powerpoint/2010/main" val="3946325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4727576" cy="492443"/>
          </a:xfrm>
          <a:prstGeom prst="rect">
            <a:avLst/>
          </a:prstGeom>
          <a:noFill/>
        </p:spPr>
        <p:txBody>
          <a:bodyPr wrap="none" rtlCol="0">
            <a:spAutoFit/>
          </a:bodyPr>
          <a:lstStyle/>
          <a:p>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T</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当前存在的问题和解决的思路</a:t>
            </a:r>
            <a:endPar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a:solidFill>
                  <a:schemeClr val="bg1">
                    <a:lumMod val="50000"/>
                  </a:schemeClr>
                </a:solidFill>
                <a:latin typeface="微软雅黑" panose="020B0503020204020204" pitchFamily="34" charset="-122"/>
                <a:ea typeface="微软雅黑" panose="020B0503020204020204" pitchFamily="34" charset="-122"/>
              </a:rPr>
              <a:t>2025.08</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en-US" altLang="zh-CN" dirty="0" smtClean="0"/>
              <a:t>T</a:t>
            </a:r>
            <a:r>
              <a:rPr lang="zh-CN" altLang="en-US" dirty="0" smtClean="0"/>
              <a:t>的质量当前存在的问题</a:t>
            </a:r>
            <a:endParaRPr lang="zh-CN" altLang="en-US" dirty="0"/>
          </a:p>
        </p:txBody>
      </p:sp>
      <p:sp>
        <p:nvSpPr>
          <p:cNvPr id="4" name="矩形 3"/>
          <p:cNvSpPr/>
          <p:nvPr/>
        </p:nvSpPr>
        <p:spPr>
          <a:xfrm>
            <a:off x="817186" y="890624"/>
            <a:ext cx="8893520" cy="1384995"/>
          </a:xfrm>
          <a:prstGeom prst="rect">
            <a:avLst/>
          </a:prstGeom>
        </p:spPr>
        <p:txBody>
          <a:bodyPr wrap="square">
            <a:spAutoFit/>
          </a:bodyPr>
          <a:lstStyle/>
          <a:p>
            <a:r>
              <a:rPr lang="zh-CN" altLang="en-US" sz="1400" b="1" dirty="0" smtClean="0">
                <a:latin typeface="MonospacedNumber"/>
              </a:rPr>
              <a:t>主要问题：</a:t>
            </a:r>
            <a:endParaRPr lang="en-US" altLang="zh-CN" sz="1400" b="1" dirty="0" smtClean="0">
              <a:latin typeface="MonospacedNumber"/>
            </a:endParaRPr>
          </a:p>
          <a:p>
            <a:r>
              <a:rPr lang="en-US" altLang="zh-CN" sz="1400" dirty="0" smtClean="0">
                <a:latin typeface="MonospacedNumber"/>
              </a:rPr>
              <a:t>1</a:t>
            </a:r>
            <a:r>
              <a:rPr lang="zh-CN" altLang="en-US" sz="1400" dirty="0" smtClean="0">
                <a:latin typeface="MonospacedNumber"/>
              </a:rPr>
              <a:t>、对于</a:t>
            </a:r>
            <a:r>
              <a:rPr lang="en-US" altLang="zh-CN" sz="1400" dirty="0" smtClean="0">
                <a:latin typeface="MonospacedNumber"/>
              </a:rPr>
              <a:t>T</a:t>
            </a:r>
            <a:r>
              <a:rPr lang="zh-CN" altLang="en-US" sz="1400" dirty="0" smtClean="0">
                <a:latin typeface="MonospacedNumber"/>
              </a:rPr>
              <a:t>的质量要求不明确</a:t>
            </a:r>
            <a:r>
              <a:rPr lang="zh-CN" altLang="en-US" sz="1400" dirty="0" smtClean="0">
                <a:latin typeface="MonospacedNumber"/>
              </a:rPr>
              <a:t>，市场与供应链对</a:t>
            </a:r>
            <a:r>
              <a:rPr lang="en-US" altLang="zh-CN" sz="1400" dirty="0" smtClean="0">
                <a:latin typeface="MonospacedNumber"/>
              </a:rPr>
              <a:t>3T</a:t>
            </a:r>
            <a:r>
              <a:rPr lang="zh-CN" altLang="en-US" sz="1400" dirty="0" smtClean="0">
                <a:latin typeface="MonospacedNumber"/>
              </a:rPr>
              <a:t>质量标准和要求没有达成共识，</a:t>
            </a:r>
            <a:r>
              <a:rPr lang="zh-CN" altLang="en-US" sz="1400" dirty="0" smtClean="0">
                <a:latin typeface="MonospacedNumber"/>
              </a:rPr>
              <a:t>指标和目标需要对齐。</a:t>
            </a:r>
            <a:r>
              <a:rPr lang="zh-CN" altLang="en-US" sz="1400" dirty="0" smtClean="0">
                <a:latin typeface="MonospacedNumber"/>
              </a:rPr>
              <a:t>什么叫准？之前不准具体问题出在哪里？</a:t>
            </a:r>
            <a:endParaRPr lang="en-US" altLang="zh-CN" sz="1400" dirty="0" smtClean="0">
              <a:latin typeface="MonospacedNumber"/>
            </a:endParaRPr>
          </a:p>
          <a:p>
            <a:r>
              <a:rPr lang="en-US" altLang="zh-CN" sz="1400" dirty="0" smtClean="0">
                <a:latin typeface="MonospacedNumber"/>
              </a:rPr>
              <a:t>2</a:t>
            </a:r>
            <a:r>
              <a:rPr lang="zh-CN" altLang="en-US" sz="1400" dirty="0" smtClean="0">
                <a:latin typeface="MonospacedNumber"/>
              </a:rPr>
              <a:t>、由于问题定义不明确导致设计的</a:t>
            </a:r>
            <a:r>
              <a:rPr lang="en-US" altLang="zh-CN" sz="1400" dirty="0" smtClean="0">
                <a:latin typeface="MonospacedNumber"/>
              </a:rPr>
              <a:t>T</a:t>
            </a:r>
            <a:r>
              <a:rPr lang="zh-CN" altLang="en-US" sz="1400" dirty="0" smtClean="0">
                <a:latin typeface="MonospacedNumber"/>
              </a:rPr>
              <a:t>的质量控制的方法无法保证其质量。</a:t>
            </a:r>
            <a:endParaRPr lang="en-US" altLang="zh-CN" sz="1400" dirty="0" smtClean="0">
              <a:latin typeface="MonospacedNumber"/>
            </a:endParaRPr>
          </a:p>
          <a:p>
            <a:r>
              <a:rPr lang="en-US" altLang="zh-CN" sz="1400" dirty="0" smtClean="0">
                <a:latin typeface="MonospacedNumber"/>
              </a:rPr>
              <a:t>3</a:t>
            </a:r>
            <a:r>
              <a:rPr lang="zh-CN" altLang="en-US" sz="1400" dirty="0" smtClean="0">
                <a:latin typeface="MonospacedNumber"/>
              </a:rPr>
              <a:t>、缺乏机制保障流程的执行。</a:t>
            </a:r>
            <a:r>
              <a:rPr lang="en-US" altLang="zh-CN" sz="1400" dirty="0" smtClean="0">
                <a:latin typeface="MonospacedNumber"/>
              </a:rPr>
              <a:t>4</a:t>
            </a:r>
            <a:r>
              <a:rPr lang="zh-CN" altLang="en-US" sz="1400" dirty="0" smtClean="0">
                <a:latin typeface="MonospacedNumber"/>
              </a:rPr>
              <a:t>、一线人员对</a:t>
            </a:r>
            <a:r>
              <a:rPr lang="en-US" altLang="zh-CN" sz="1400" dirty="0" smtClean="0">
                <a:latin typeface="MonospacedNumber"/>
              </a:rPr>
              <a:t>T</a:t>
            </a:r>
            <a:r>
              <a:rPr lang="zh-CN" altLang="en-US" sz="1400" dirty="0" smtClean="0">
                <a:latin typeface="MonospacedNumber"/>
              </a:rPr>
              <a:t>的理解欠缺，没有重视做准这个事儿的重要性</a:t>
            </a:r>
            <a:endParaRPr lang="en-US" altLang="zh-CN" sz="1400" dirty="0" smtClean="0">
              <a:latin typeface="MonospacedNumber"/>
            </a:endParaRPr>
          </a:p>
          <a:p>
            <a:r>
              <a:rPr lang="en-US" altLang="zh-CN" sz="1400" dirty="0" smtClean="0">
                <a:latin typeface="MonospacedNumber"/>
              </a:rPr>
              <a:t>4</a:t>
            </a:r>
            <a:r>
              <a:rPr lang="zh-CN" altLang="en-US" sz="1400" dirty="0" smtClean="0">
                <a:latin typeface="MonospacedNumber"/>
              </a:rPr>
              <a:t>、目前到底是方法出了问题，还是执行出了问题？无看板支撑数据分析，只能导出数据手动下线分析。</a:t>
            </a:r>
            <a:endParaRPr lang="zh-CN" altLang="en-US" sz="1400" dirty="0"/>
          </a:p>
        </p:txBody>
      </p:sp>
      <p:sp>
        <p:nvSpPr>
          <p:cNvPr id="5" name="矩形 4"/>
          <p:cNvSpPr/>
          <p:nvPr/>
        </p:nvSpPr>
        <p:spPr>
          <a:xfrm>
            <a:off x="817186" y="2395988"/>
            <a:ext cx="10019427" cy="1600438"/>
          </a:xfrm>
          <a:prstGeom prst="rect">
            <a:avLst/>
          </a:prstGeom>
        </p:spPr>
        <p:txBody>
          <a:bodyPr wrap="square">
            <a:spAutoFit/>
          </a:bodyPr>
          <a:lstStyle/>
          <a:p>
            <a:r>
              <a:rPr lang="zh-CN" altLang="en-US" sz="1400" b="1" dirty="0" smtClean="0">
                <a:latin typeface="MonospacedNumber"/>
              </a:rPr>
              <a:t>当前给出的解决方案和执行情况：</a:t>
            </a:r>
            <a:endParaRPr lang="en-US" altLang="zh-CN" sz="1400" b="1" dirty="0" smtClean="0">
              <a:latin typeface="MonospacedNumber"/>
            </a:endParaRPr>
          </a:p>
          <a:p>
            <a:r>
              <a:rPr lang="en-US" altLang="zh-CN" sz="1400" dirty="0" smtClean="0">
                <a:latin typeface="MonospacedNumber"/>
              </a:rPr>
              <a:t>1</a:t>
            </a:r>
            <a:r>
              <a:rPr lang="zh-CN" altLang="en-US" sz="1400" dirty="0" smtClean="0">
                <a:latin typeface="MonospacedNumber"/>
              </a:rPr>
              <a:t>、明确了关键时间填写要求和规范，大部分销售并未按照要求去填写“备注” 信息，说明填写时间的逻辑。</a:t>
            </a:r>
            <a:endParaRPr lang="en-US" altLang="zh-CN" sz="1400" dirty="0" smtClean="0">
              <a:latin typeface="MonospacedNumber"/>
            </a:endParaRPr>
          </a:p>
          <a:p>
            <a:r>
              <a:rPr lang="en-US" altLang="zh-CN" sz="1400" dirty="0" smtClean="0">
                <a:latin typeface="MonospacedNumber"/>
              </a:rPr>
              <a:t>2</a:t>
            </a:r>
            <a:r>
              <a:rPr lang="zh-CN" altLang="en-US" sz="1400" dirty="0" smtClean="0">
                <a:latin typeface="MonospacedNumber"/>
              </a:rPr>
              <a:t>、对时间设计了校验逻辑，当发现时间明显出现问题的时候提醒销售关注并做必要调整（目前只做了时间超期提醒，对于之前计划上的</a:t>
            </a:r>
            <a:r>
              <a:rPr lang="en-US" altLang="zh-CN" sz="1400" dirty="0" smtClean="0">
                <a:latin typeface="MonospacedNumber"/>
              </a:rPr>
              <a:t>SLA</a:t>
            </a:r>
            <a:r>
              <a:rPr lang="zh-CN" altLang="en-US" sz="1400" dirty="0" smtClean="0">
                <a:latin typeface="MonospacedNumber"/>
              </a:rPr>
              <a:t>以及根据</a:t>
            </a:r>
            <a:r>
              <a:rPr lang="en-US" altLang="zh-CN" sz="1400" dirty="0" smtClean="0">
                <a:latin typeface="MonospacedNumber"/>
              </a:rPr>
              <a:t>SLA</a:t>
            </a:r>
            <a:r>
              <a:rPr lang="zh-CN" altLang="en-US" sz="1400" dirty="0" smtClean="0">
                <a:latin typeface="MonospacedNumber"/>
              </a:rPr>
              <a:t>测算下单时间的校验逻辑未上线）。这一部分</a:t>
            </a:r>
            <a:r>
              <a:rPr lang="en-US" altLang="zh-CN" sz="1400" dirty="0" smtClean="0">
                <a:latin typeface="MonospacedNumber"/>
              </a:rPr>
              <a:t>IT</a:t>
            </a:r>
            <a:r>
              <a:rPr lang="zh-CN" altLang="en-US" sz="1400" dirty="0" smtClean="0">
                <a:latin typeface="MonospacedNumber"/>
              </a:rPr>
              <a:t>方案的执行情况未知，销售是否根据提示信息进行了修改和调整无法拿到具体的执行过程数据。</a:t>
            </a:r>
            <a:endParaRPr lang="en-US" altLang="zh-CN" sz="1400" dirty="0"/>
          </a:p>
          <a:p>
            <a:r>
              <a:rPr lang="en-US" altLang="zh-CN" sz="1400" dirty="0" smtClean="0">
                <a:latin typeface="MonospacedNumber"/>
              </a:rPr>
              <a:t>3</a:t>
            </a:r>
            <a:r>
              <a:rPr lang="zh-CN" altLang="en-US" sz="1400" dirty="0" smtClean="0">
                <a:latin typeface="MonospacedNumber"/>
              </a:rPr>
              <a:t>、对于下单时间的监控设计了下单时间准确率跟踪流程（隔月预测流程），并由销管落地执行，对下单时间的准确性进行统计和分析，并定期发布。希望能够通过数据分析发现准确率的问题并推动解决。</a:t>
            </a:r>
            <a:endParaRPr lang="en-US" altLang="zh-CN" sz="1400" dirty="0" smtClean="0">
              <a:latin typeface="MonospacedNumber"/>
            </a:endParaRPr>
          </a:p>
        </p:txBody>
      </p:sp>
      <p:sp>
        <p:nvSpPr>
          <p:cNvPr id="6" name="矩形 5"/>
          <p:cNvSpPr/>
          <p:nvPr/>
        </p:nvSpPr>
        <p:spPr>
          <a:xfrm>
            <a:off x="817185" y="4010779"/>
            <a:ext cx="10019428" cy="2031325"/>
          </a:xfrm>
          <a:prstGeom prst="rect">
            <a:avLst/>
          </a:prstGeom>
        </p:spPr>
        <p:txBody>
          <a:bodyPr wrap="square">
            <a:spAutoFit/>
          </a:bodyPr>
          <a:lstStyle/>
          <a:p>
            <a:r>
              <a:rPr lang="zh-CN" altLang="en-US" sz="1400" b="1" dirty="0" smtClean="0">
                <a:latin typeface="MonospacedNumber"/>
              </a:rPr>
              <a:t>新的想法和思路：</a:t>
            </a:r>
            <a:endParaRPr lang="en-US" altLang="zh-CN" sz="1400" b="1" dirty="0" smtClean="0">
              <a:latin typeface="MonospacedNumber"/>
            </a:endParaRPr>
          </a:p>
          <a:p>
            <a:r>
              <a:rPr lang="en-US" altLang="zh-CN" sz="1400" dirty="0" smtClean="0">
                <a:latin typeface="MonospacedNumber"/>
              </a:rPr>
              <a:t>1</a:t>
            </a:r>
            <a:r>
              <a:rPr lang="zh-CN" altLang="en-US" sz="1400" dirty="0" smtClean="0">
                <a:latin typeface="MonospacedNumber"/>
              </a:rPr>
              <a:t>、建议增加</a:t>
            </a:r>
            <a:r>
              <a:rPr lang="en-US" altLang="zh-CN" sz="1400" dirty="0" smtClean="0">
                <a:latin typeface="MonospacedNumber"/>
              </a:rPr>
              <a:t>CRM</a:t>
            </a:r>
            <a:r>
              <a:rPr lang="zh-CN" altLang="en-US" sz="1400" dirty="0" smtClean="0">
                <a:latin typeface="MonospacedNumber"/>
              </a:rPr>
              <a:t>对于</a:t>
            </a:r>
            <a:r>
              <a:rPr lang="en-US" altLang="zh-CN" sz="1400" dirty="0" smtClean="0">
                <a:latin typeface="MonospacedNumber"/>
              </a:rPr>
              <a:t>T</a:t>
            </a:r>
            <a:r>
              <a:rPr lang="zh-CN" altLang="en-US" sz="1400" dirty="0" smtClean="0">
                <a:latin typeface="MonospacedNumber"/>
              </a:rPr>
              <a:t>的填写逻辑的校验规则，对于明显出现不符合逻辑的时间填写增强校验规则，及时提醒销售关注和调整。该逻辑持续迭代优化，最终目的是排除填错或者明显存在逻辑问题的不准确信息输入</a:t>
            </a:r>
            <a:endParaRPr lang="en-US" altLang="zh-CN" sz="1400" dirty="0" smtClean="0">
              <a:latin typeface="MonospacedNumber"/>
            </a:endParaRPr>
          </a:p>
          <a:p>
            <a:r>
              <a:rPr lang="en-US" altLang="zh-CN" sz="1400" dirty="0" smtClean="0">
                <a:latin typeface="MonospacedNumber"/>
              </a:rPr>
              <a:t>2</a:t>
            </a:r>
            <a:r>
              <a:rPr lang="zh-CN" altLang="en-US" sz="1400" dirty="0" smtClean="0">
                <a:latin typeface="MonospacedNumber"/>
              </a:rPr>
              <a:t>、对于不同类型的项目，根据业务经验和历史数据对供应链预测进行建模（项目金额，项目类型，客户类别，行业属性，竞争情况，外部环境等因素结合历史数据给出关键时间之间的估算逻辑），当发生业务输入的数据与预测模型本身发生变差（如大于</a:t>
            </a:r>
            <a:r>
              <a:rPr lang="en-US" altLang="zh-CN" sz="1400" dirty="0" smtClean="0">
                <a:latin typeface="MonospacedNumber"/>
              </a:rPr>
              <a:t>15-20%</a:t>
            </a:r>
            <a:r>
              <a:rPr lang="zh-CN" altLang="en-US" sz="1400" dirty="0" smtClean="0">
                <a:latin typeface="MonospacedNumber"/>
              </a:rPr>
              <a:t>）触发预警与审核。</a:t>
            </a:r>
            <a:endParaRPr lang="en-US" altLang="zh-CN" sz="1400" dirty="0" smtClean="0">
              <a:latin typeface="MonospacedNumber"/>
            </a:endParaRPr>
          </a:p>
          <a:p>
            <a:r>
              <a:rPr lang="en-US" altLang="zh-CN" sz="1400" dirty="0" smtClean="0">
                <a:latin typeface="MonospacedNumber"/>
              </a:rPr>
              <a:t>3</a:t>
            </a:r>
            <a:r>
              <a:rPr lang="zh-CN" altLang="en-US" sz="1400" dirty="0" smtClean="0">
                <a:latin typeface="MonospacedNumber"/>
              </a:rPr>
              <a:t>、定期的产销协同会（周</a:t>
            </a:r>
            <a:r>
              <a:rPr lang="en-US" altLang="zh-CN" sz="1400" dirty="0" smtClean="0">
                <a:latin typeface="MonospacedNumber"/>
              </a:rPr>
              <a:t>/</a:t>
            </a:r>
            <a:r>
              <a:rPr lang="zh-CN" altLang="en-US" sz="1400" dirty="0" smtClean="0">
                <a:latin typeface="MonospacedNumber"/>
              </a:rPr>
              <a:t>月度会议），开展问题沟通与分析，建立起常规的运转机制，让各方人员充分参与，把问题抓起来，对于做的不好的区域要针对性的进行帮扶和再宣贯。</a:t>
            </a:r>
            <a:endParaRPr lang="en-US" altLang="zh-CN" sz="1400" dirty="0" smtClean="0">
              <a:latin typeface="MonospacedNumber"/>
            </a:endParaRPr>
          </a:p>
          <a:p>
            <a:r>
              <a:rPr lang="en-US" altLang="zh-CN" sz="1400" dirty="0" smtClean="0">
                <a:latin typeface="MonospacedNumber"/>
              </a:rPr>
              <a:t>4</a:t>
            </a:r>
            <a:r>
              <a:rPr lang="zh-CN" altLang="en-US" sz="1400" dirty="0" smtClean="0">
                <a:latin typeface="MonospacedNumber"/>
              </a:rPr>
              <a:t>、把准确性的工作纳入日常考核，强化责任，对于练血不准的行为要进行专项培训，宣贯以及相应的惩罚。</a:t>
            </a:r>
            <a:endParaRPr lang="en-US" altLang="zh-CN" sz="1400" dirty="0" smtClean="0">
              <a:latin typeface="MonospacedNumber"/>
            </a:endParaRPr>
          </a:p>
        </p:txBody>
      </p:sp>
    </p:spTree>
    <p:extLst>
      <p:ext uri="{BB962C8B-B14F-4D97-AF65-F5344CB8AC3E}">
        <p14:creationId xmlns:p14="http://schemas.microsoft.com/office/powerpoint/2010/main" val="39209366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smtClean="0"/>
              <a:t>问题分析</a:t>
            </a:r>
            <a:endParaRPr lang="zh-CN" altLang="en-US" dirty="0"/>
          </a:p>
        </p:txBody>
      </p:sp>
      <p:cxnSp>
        <p:nvCxnSpPr>
          <p:cNvPr id="7" name="直接箭头连接符 6"/>
          <p:cNvCxnSpPr/>
          <p:nvPr/>
        </p:nvCxnSpPr>
        <p:spPr>
          <a:xfrm>
            <a:off x="1621478" y="2139042"/>
            <a:ext cx="896671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8" name="等腰三角形 7"/>
          <p:cNvSpPr/>
          <p:nvPr/>
        </p:nvSpPr>
        <p:spPr>
          <a:xfrm>
            <a:off x="8412449" y="1922493"/>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7860884" y="2465612"/>
            <a:ext cx="1569660" cy="369332"/>
          </a:xfrm>
          <a:prstGeom prst="rect">
            <a:avLst/>
          </a:prstGeom>
          <a:noFill/>
        </p:spPr>
        <p:txBody>
          <a:bodyPr wrap="none" rtlCol="0">
            <a:spAutoFit/>
          </a:bodyPr>
          <a:lstStyle/>
          <a:p>
            <a:r>
              <a:rPr lang="zh-CN" altLang="en-US" dirty="0"/>
              <a:t>要求到货时间</a:t>
            </a:r>
          </a:p>
        </p:txBody>
      </p:sp>
      <p:sp>
        <p:nvSpPr>
          <p:cNvPr id="10" name="菱形 9"/>
          <p:cNvSpPr/>
          <p:nvPr/>
        </p:nvSpPr>
        <p:spPr>
          <a:xfrm>
            <a:off x="10112335" y="1943099"/>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0579194" y="1974982"/>
            <a:ext cx="1569660" cy="369332"/>
          </a:xfrm>
          <a:prstGeom prst="rect">
            <a:avLst/>
          </a:prstGeom>
          <a:noFill/>
        </p:spPr>
        <p:txBody>
          <a:bodyPr wrap="none" rtlCol="0">
            <a:spAutoFit/>
          </a:bodyPr>
          <a:lstStyle/>
          <a:p>
            <a:r>
              <a:rPr lang="zh-CN" altLang="en-US" dirty="0"/>
              <a:t>正式上线使用</a:t>
            </a:r>
          </a:p>
        </p:txBody>
      </p:sp>
      <p:sp>
        <p:nvSpPr>
          <p:cNvPr id="12" name="等腰三角形 11"/>
          <p:cNvSpPr/>
          <p:nvPr/>
        </p:nvSpPr>
        <p:spPr>
          <a:xfrm>
            <a:off x="6104837" y="18777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5640198" y="2465612"/>
            <a:ext cx="1569660" cy="369332"/>
          </a:xfrm>
          <a:prstGeom prst="rect">
            <a:avLst/>
          </a:prstGeom>
          <a:noFill/>
        </p:spPr>
        <p:txBody>
          <a:bodyPr wrap="none" rtlCol="0">
            <a:spAutoFit/>
          </a:bodyPr>
          <a:lstStyle/>
          <a:p>
            <a:r>
              <a:rPr lang="zh-CN" altLang="en-US" dirty="0"/>
              <a:t>预计下单日期</a:t>
            </a:r>
          </a:p>
        </p:txBody>
      </p:sp>
      <p:sp>
        <p:nvSpPr>
          <p:cNvPr id="14" name="等腰三角形 13"/>
          <p:cNvSpPr/>
          <p:nvPr/>
        </p:nvSpPr>
        <p:spPr>
          <a:xfrm>
            <a:off x="3564465" y="18777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3012900" y="2465612"/>
            <a:ext cx="1569660" cy="369332"/>
          </a:xfrm>
          <a:prstGeom prst="rect">
            <a:avLst/>
          </a:prstGeom>
          <a:noFill/>
        </p:spPr>
        <p:txBody>
          <a:bodyPr wrap="none" rtlCol="0">
            <a:spAutoFit/>
          </a:bodyPr>
          <a:lstStyle/>
          <a:p>
            <a:r>
              <a:rPr lang="zh-CN" altLang="en-US" dirty="0"/>
              <a:t>预计开标日期</a:t>
            </a:r>
          </a:p>
        </p:txBody>
      </p:sp>
      <p:sp>
        <p:nvSpPr>
          <p:cNvPr id="16" name="文本框 15"/>
          <p:cNvSpPr txBox="1"/>
          <p:nvPr/>
        </p:nvSpPr>
        <p:spPr>
          <a:xfrm>
            <a:off x="450802" y="1922493"/>
            <a:ext cx="1107996" cy="369332"/>
          </a:xfrm>
          <a:prstGeom prst="rect">
            <a:avLst/>
          </a:prstGeom>
          <a:noFill/>
        </p:spPr>
        <p:txBody>
          <a:bodyPr wrap="none" rtlCol="0">
            <a:spAutoFit/>
          </a:bodyPr>
          <a:lstStyle/>
          <a:p>
            <a:r>
              <a:rPr lang="zh-CN" altLang="en-US" dirty="0"/>
              <a:t>获取商机</a:t>
            </a:r>
          </a:p>
        </p:txBody>
      </p:sp>
      <p:sp>
        <p:nvSpPr>
          <p:cNvPr id="18" name="矩形标注 17"/>
          <p:cNvSpPr/>
          <p:nvPr/>
        </p:nvSpPr>
        <p:spPr>
          <a:xfrm>
            <a:off x="814081" y="3246605"/>
            <a:ext cx="3216913" cy="1860799"/>
          </a:xfrm>
          <a:prstGeom prst="wedgeRectCallout">
            <a:avLst>
              <a:gd name="adj1" fmla="val 32869"/>
              <a:gd name="adj2" fmla="val -7533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smtClean="0">
                <a:solidFill>
                  <a:schemeClr val="tx1"/>
                </a:solidFill>
              </a:rPr>
              <a:t>事前：根据“正推法”和“倒推法”结合项目实际情况推算预计开标日期。</a:t>
            </a:r>
            <a:endParaRPr lang="en-US" altLang="zh-CN" dirty="0" smtClean="0">
              <a:solidFill>
                <a:schemeClr val="tx1"/>
              </a:solidFill>
            </a:endParaRPr>
          </a:p>
          <a:p>
            <a:r>
              <a:rPr lang="zh-CN" altLang="en-US" dirty="0" smtClean="0">
                <a:solidFill>
                  <a:schemeClr val="tx1"/>
                </a:solidFill>
              </a:rPr>
              <a:t>事后：这个时间目前没有具体的指标，目标和流程去判断销售填写的是否质量</a:t>
            </a:r>
            <a:endParaRPr lang="zh-CN" altLang="en-US" dirty="0">
              <a:solidFill>
                <a:schemeClr val="tx1"/>
              </a:solidFill>
            </a:endParaRPr>
          </a:p>
        </p:txBody>
      </p:sp>
      <p:sp>
        <p:nvSpPr>
          <p:cNvPr id="19" name="矩形标注 18"/>
          <p:cNvSpPr/>
          <p:nvPr/>
        </p:nvSpPr>
        <p:spPr>
          <a:xfrm>
            <a:off x="4319030" y="3246606"/>
            <a:ext cx="3216913" cy="2690978"/>
          </a:xfrm>
          <a:prstGeom prst="wedgeRectCallout">
            <a:avLst>
              <a:gd name="adj1" fmla="val 10428"/>
              <a:gd name="adj2" fmla="val -6254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smtClean="0">
                <a:solidFill>
                  <a:schemeClr val="tx1"/>
                </a:solidFill>
              </a:rPr>
              <a:t>事前：拟通过</a:t>
            </a:r>
            <a:r>
              <a:rPr lang="en-US" altLang="zh-CN" dirty="0" smtClean="0">
                <a:solidFill>
                  <a:schemeClr val="tx1"/>
                </a:solidFill>
              </a:rPr>
              <a:t>SLA</a:t>
            </a:r>
            <a:r>
              <a:rPr lang="zh-CN" altLang="en-US" dirty="0" smtClean="0">
                <a:solidFill>
                  <a:schemeClr val="tx1"/>
                </a:solidFill>
              </a:rPr>
              <a:t>系统自动测算预计下单时间结合销售填写的时间做比对，有问题的提醒关注改进（</a:t>
            </a:r>
            <a:r>
              <a:rPr lang="en-US" altLang="zh-CN" dirty="0" smtClean="0">
                <a:solidFill>
                  <a:schemeClr val="tx1"/>
                </a:solidFill>
              </a:rPr>
              <a:t>SLA</a:t>
            </a:r>
            <a:r>
              <a:rPr lang="zh-CN" altLang="en-US" dirty="0" smtClean="0">
                <a:solidFill>
                  <a:schemeClr val="tx1"/>
                </a:solidFill>
              </a:rPr>
              <a:t>未上线，该方案也没执行）</a:t>
            </a:r>
            <a:endParaRPr lang="en-US" altLang="zh-CN" dirty="0" smtClean="0">
              <a:solidFill>
                <a:schemeClr val="tx1"/>
              </a:solidFill>
            </a:endParaRPr>
          </a:p>
          <a:p>
            <a:r>
              <a:rPr lang="zh-CN" altLang="en-US" dirty="0" smtClean="0">
                <a:solidFill>
                  <a:schemeClr val="tx1"/>
                </a:solidFill>
              </a:rPr>
              <a:t>事后：销管执行销售预测流程对下单时间的准确率进行统计和跟踪，</a:t>
            </a:r>
            <a:endParaRPr lang="zh-CN" altLang="en-US" dirty="0">
              <a:solidFill>
                <a:schemeClr val="tx1"/>
              </a:solidFill>
            </a:endParaRPr>
          </a:p>
        </p:txBody>
      </p:sp>
      <p:sp>
        <p:nvSpPr>
          <p:cNvPr id="20" name="矩形标注 19"/>
          <p:cNvSpPr/>
          <p:nvPr/>
        </p:nvSpPr>
        <p:spPr>
          <a:xfrm>
            <a:off x="7822087" y="3246605"/>
            <a:ext cx="3216913" cy="2690978"/>
          </a:xfrm>
          <a:prstGeom prst="wedgeRectCallout">
            <a:avLst>
              <a:gd name="adj1" fmla="val -17997"/>
              <a:gd name="adj2" fmla="val -6299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smtClean="0">
                <a:solidFill>
                  <a:schemeClr val="tx1"/>
                </a:solidFill>
              </a:rPr>
              <a:t>事前：无具体的方法支撑输入时的质量校验；只提供了思路，根据项目是否存在大规模复杂施工来估算距离正式上线使用“</a:t>
            </a:r>
            <a:r>
              <a:rPr lang="en-US" altLang="zh-CN" dirty="0" smtClean="0">
                <a:solidFill>
                  <a:schemeClr val="tx1"/>
                </a:solidFill>
              </a:rPr>
              <a:t>15</a:t>
            </a:r>
            <a:r>
              <a:rPr lang="zh-CN" altLang="en-US" dirty="0" smtClean="0">
                <a:solidFill>
                  <a:schemeClr val="tx1"/>
                </a:solidFill>
              </a:rPr>
              <a:t>天”或“</a:t>
            </a:r>
            <a:r>
              <a:rPr lang="en-US" altLang="zh-CN" dirty="0" smtClean="0">
                <a:solidFill>
                  <a:schemeClr val="tx1"/>
                </a:solidFill>
              </a:rPr>
              <a:t>30</a:t>
            </a:r>
            <a:r>
              <a:rPr lang="zh-CN" altLang="en-US" dirty="0" smtClean="0">
                <a:solidFill>
                  <a:schemeClr val="tx1"/>
                </a:solidFill>
              </a:rPr>
              <a:t>天”的平均周期，作为填写参考方法。</a:t>
            </a:r>
            <a:endParaRPr lang="en-US" altLang="zh-CN" dirty="0" smtClean="0">
              <a:solidFill>
                <a:schemeClr val="tx1"/>
              </a:solidFill>
            </a:endParaRPr>
          </a:p>
          <a:p>
            <a:r>
              <a:rPr lang="zh-CN" altLang="en-US" dirty="0" smtClean="0">
                <a:solidFill>
                  <a:schemeClr val="tx1"/>
                </a:solidFill>
              </a:rPr>
              <a:t>事后：未看到具体的流程和机制来把控到货时间的准确性。</a:t>
            </a:r>
            <a:endParaRPr lang="zh-CN" altLang="en-US" dirty="0">
              <a:solidFill>
                <a:schemeClr val="tx1"/>
              </a:solidFill>
            </a:endParaRPr>
          </a:p>
        </p:txBody>
      </p:sp>
      <p:sp>
        <p:nvSpPr>
          <p:cNvPr id="23" name="右大括号 22"/>
          <p:cNvSpPr/>
          <p:nvPr/>
        </p:nvSpPr>
        <p:spPr>
          <a:xfrm rot="16200000">
            <a:off x="9329244" y="1147882"/>
            <a:ext cx="390525" cy="11756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文本框 23"/>
          <p:cNvSpPr txBox="1"/>
          <p:nvPr/>
        </p:nvSpPr>
        <p:spPr>
          <a:xfrm>
            <a:off x="8780605" y="1040487"/>
            <a:ext cx="1569660" cy="369332"/>
          </a:xfrm>
          <a:prstGeom prst="rect">
            <a:avLst/>
          </a:prstGeom>
          <a:noFill/>
        </p:spPr>
        <p:txBody>
          <a:bodyPr wrap="none" rtlCol="0">
            <a:spAutoFit/>
          </a:bodyPr>
          <a:lstStyle/>
          <a:p>
            <a:r>
              <a:rPr lang="zh-CN" altLang="en-US" dirty="0" smtClean="0"/>
              <a:t>项目实施工期</a:t>
            </a:r>
            <a:endParaRPr lang="zh-CN" altLang="en-US" dirty="0"/>
          </a:p>
        </p:txBody>
      </p:sp>
      <p:sp>
        <p:nvSpPr>
          <p:cNvPr id="25" name="右大括号 24"/>
          <p:cNvSpPr/>
          <p:nvPr/>
        </p:nvSpPr>
        <p:spPr>
          <a:xfrm rot="16200000">
            <a:off x="7340680" y="1139401"/>
            <a:ext cx="390525" cy="11756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文本框 25"/>
          <p:cNvSpPr txBox="1"/>
          <p:nvPr/>
        </p:nvSpPr>
        <p:spPr>
          <a:xfrm>
            <a:off x="6842789" y="1080605"/>
            <a:ext cx="1444626" cy="369332"/>
          </a:xfrm>
          <a:prstGeom prst="rect">
            <a:avLst/>
          </a:prstGeom>
          <a:noFill/>
        </p:spPr>
        <p:txBody>
          <a:bodyPr wrap="none" rtlCol="0">
            <a:spAutoFit/>
          </a:bodyPr>
          <a:lstStyle/>
          <a:p>
            <a:r>
              <a:rPr lang="zh-CN" altLang="en-US" dirty="0" smtClean="0"/>
              <a:t>考虑订单</a:t>
            </a:r>
            <a:r>
              <a:rPr lang="en-US" altLang="zh-CN" dirty="0" smtClean="0"/>
              <a:t>SLA</a:t>
            </a:r>
            <a:endParaRPr lang="zh-CN" altLang="en-US" dirty="0"/>
          </a:p>
        </p:txBody>
      </p:sp>
      <p:sp>
        <p:nvSpPr>
          <p:cNvPr id="27" name="右大括号 26"/>
          <p:cNvSpPr/>
          <p:nvPr/>
        </p:nvSpPr>
        <p:spPr>
          <a:xfrm rot="16200000">
            <a:off x="2559129" y="1062716"/>
            <a:ext cx="390525" cy="11756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文本框 27"/>
          <p:cNvSpPr txBox="1"/>
          <p:nvPr/>
        </p:nvSpPr>
        <p:spPr>
          <a:xfrm>
            <a:off x="1320158" y="1074674"/>
            <a:ext cx="2492990" cy="369332"/>
          </a:xfrm>
          <a:prstGeom prst="rect">
            <a:avLst/>
          </a:prstGeom>
          <a:noFill/>
        </p:spPr>
        <p:txBody>
          <a:bodyPr wrap="none" rtlCol="0">
            <a:spAutoFit/>
          </a:bodyPr>
          <a:lstStyle/>
          <a:p>
            <a:r>
              <a:rPr lang="zh-CN" altLang="en-US" dirty="0"/>
              <a:t>根据</a:t>
            </a:r>
            <a:r>
              <a:rPr lang="zh-CN" altLang="en-US" dirty="0" smtClean="0"/>
              <a:t>客户采购周期正推</a:t>
            </a:r>
            <a:endParaRPr lang="zh-CN" altLang="en-US" dirty="0"/>
          </a:p>
        </p:txBody>
      </p:sp>
      <p:sp>
        <p:nvSpPr>
          <p:cNvPr id="29" name="文本框 28"/>
          <p:cNvSpPr txBox="1"/>
          <p:nvPr/>
        </p:nvSpPr>
        <p:spPr>
          <a:xfrm>
            <a:off x="2889655" y="6164578"/>
            <a:ext cx="7571303" cy="369332"/>
          </a:xfrm>
          <a:prstGeom prst="rect">
            <a:avLst/>
          </a:prstGeom>
          <a:noFill/>
        </p:spPr>
        <p:txBody>
          <a:bodyPr wrap="none" rtlCol="0">
            <a:spAutoFit/>
          </a:bodyPr>
          <a:lstStyle/>
          <a:p>
            <a:r>
              <a:rPr lang="zh-CN" altLang="en-US" dirty="0" smtClean="0"/>
              <a:t>缺乏机制保障销售和供应链之间的紧密沟通，针对问题订单，特殊需求等</a:t>
            </a:r>
            <a:endParaRPr lang="zh-CN" altLang="en-US" dirty="0"/>
          </a:p>
        </p:txBody>
      </p:sp>
      <p:sp>
        <p:nvSpPr>
          <p:cNvPr id="30" name="右大括号 29"/>
          <p:cNvSpPr/>
          <p:nvPr/>
        </p:nvSpPr>
        <p:spPr>
          <a:xfrm rot="16200000">
            <a:off x="4857107" y="1072725"/>
            <a:ext cx="390525" cy="11756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文本框 30"/>
          <p:cNvSpPr txBox="1"/>
          <p:nvPr/>
        </p:nvSpPr>
        <p:spPr>
          <a:xfrm>
            <a:off x="4094928" y="1035532"/>
            <a:ext cx="2492990" cy="369332"/>
          </a:xfrm>
          <a:prstGeom prst="rect">
            <a:avLst/>
          </a:prstGeom>
          <a:noFill/>
        </p:spPr>
        <p:txBody>
          <a:bodyPr wrap="none" rtlCol="0">
            <a:spAutoFit/>
          </a:bodyPr>
          <a:lstStyle/>
          <a:p>
            <a:r>
              <a:rPr lang="zh-CN" altLang="en-US" dirty="0" smtClean="0"/>
              <a:t>根据客户采购周期倒推</a:t>
            </a:r>
            <a:endParaRPr lang="zh-CN" altLang="en-US" dirty="0"/>
          </a:p>
        </p:txBody>
      </p:sp>
    </p:spTree>
    <p:extLst>
      <p:ext uri="{BB962C8B-B14F-4D97-AF65-F5344CB8AC3E}">
        <p14:creationId xmlns:p14="http://schemas.microsoft.com/office/powerpoint/2010/main" val="38987652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741</Words>
  <Application>Microsoft Office PowerPoint</Application>
  <PresentationFormat>宽屏</PresentationFormat>
  <Paragraphs>34</Paragraphs>
  <Slides>3</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3</vt:i4>
      </vt:variant>
    </vt:vector>
  </HeadingPairs>
  <TitlesOfParts>
    <vt:vector size="11" baseType="lpstr">
      <vt:lpstr>MonospacedNumber</vt:lpstr>
      <vt:lpstr>宋体</vt:lpstr>
      <vt:lpstr>微软雅黑</vt:lpstr>
      <vt:lpstr>Arial</vt:lpstr>
      <vt:lpstr>Calibri</vt:lpstr>
      <vt:lpstr>Calibri Light</vt:lpstr>
      <vt:lpstr>Office 主题</vt:lpstr>
      <vt:lpstr>自定义设计方案</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Lenovo</cp:lastModifiedBy>
  <cp:revision>6</cp:revision>
  <dcterms:created xsi:type="dcterms:W3CDTF">2025-10-24T05:07:39Z</dcterms:created>
  <dcterms:modified xsi:type="dcterms:W3CDTF">2025-10-24T06:00:22Z</dcterms:modified>
</cp:coreProperties>
</file>