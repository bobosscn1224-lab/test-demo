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1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7475200" cy="973378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48076" y="483209"/>
            <a:ext cx="11375390" cy="588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1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951436" y="5992761"/>
            <a:ext cx="79184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20">
                <a:solidFill>
                  <a:srgbClr val="FFFFFF"/>
                </a:solidFill>
                <a:latin typeface="黑体"/>
                <a:cs typeface="黑体"/>
              </a:rPr>
              <a:t>商机推进</a:t>
            </a:r>
            <a:endParaRPr sz="1600">
              <a:latin typeface="黑体"/>
              <a:cs typeface="黑体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292816" y="5954661"/>
            <a:ext cx="5728335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60395" algn="l"/>
                <a:tab pos="4796155" algn="l"/>
              </a:tabLst>
            </a:pPr>
            <a:r>
              <a:rPr dirty="0" sz="1900" spc="-140">
                <a:solidFill>
                  <a:srgbClr val="FFFFFF"/>
                </a:solidFill>
                <a:latin typeface="黑体"/>
                <a:cs typeface="黑体"/>
              </a:rPr>
              <a:t>商机验</a:t>
            </a:r>
            <a:r>
              <a:rPr dirty="0" sz="1900" spc="-60">
                <a:solidFill>
                  <a:srgbClr val="FFFFFF"/>
                </a:solidFill>
                <a:latin typeface="黑体"/>
                <a:cs typeface="黑体"/>
              </a:rPr>
              <a:t>证</a:t>
            </a:r>
            <a:r>
              <a:rPr dirty="0" sz="1900">
                <a:solidFill>
                  <a:srgbClr val="FFFFFF"/>
                </a:solidFill>
                <a:latin typeface="黑体"/>
                <a:cs typeface="黑体"/>
              </a:rPr>
              <a:t>	</a:t>
            </a:r>
            <a:r>
              <a:rPr dirty="0" sz="1900" spc="-140">
                <a:solidFill>
                  <a:srgbClr val="FFFFFF"/>
                </a:solidFill>
                <a:latin typeface="黑体"/>
                <a:cs typeface="黑体"/>
              </a:rPr>
              <a:t>投标策</a:t>
            </a:r>
            <a:r>
              <a:rPr dirty="0" sz="1900" spc="-50">
                <a:solidFill>
                  <a:srgbClr val="FFFFFF"/>
                </a:solidFill>
                <a:latin typeface="黑体"/>
                <a:cs typeface="黑体"/>
              </a:rPr>
              <a:t>略</a:t>
            </a:r>
            <a:r>
              <a:rPr dirty="0" sz="1900">
                <a:solidFill>
                  <a:srgbClr val="FFFFFF"/>
                </a:solidFill>
                <a:latin typeface="黑体"/>
                <a:cs typeface="黑体"/>
              </a:rPr>
              <a:t>	</a:t>
            </a:r>
            <a:r>
              <a:rPr dirty="0" sz="1900" spc="-140">
                <a:solidFill>
                  <a:srgbClr val="FFFFFF"/>
                </a:solidFill>
                <a:latin typeface="黑体"/>
                <a:cs typeface="黑体"/>
              </a:rPr>
              <a:t>签约复</a:t>
            </a:r>
            <a:r>
              <a:rPr dirty="0" sz="1900" spc="-50">
                <a:solidFill>
                  <a:srgbClr val="FFFFFF"/>
                </a:solidFill>
                <a:latin typeface="黑体"/>
                <a:cs typeface="黑体"/>
              </a:rPr>
              <a:t>盘</a:t>
            </a:r>
            <a:endParaRPr sz="1900">
              <a:latin typeface="黑体"/>
              <a:cs typeface="黑体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997541" y="6444246"/>
            <a:ext cx="5396865" cy="9264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5" b="1">
                <a:latin typeface="黑体"/>
                <a:cs typeface="黑体"/>
              </a:rPr>
              <a:t>严格执行商机验证、商机推进、投标策略和签约复盘流程。</a:t>
            </a:r>
            <a:endParaRPr sz="16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1600">
              <a:latin typeface="黑体"/>
              <a:cs typeface="黑体"/>
            </a:endParaRPr>
          </a:p>
          <a:p>
            <a:pPr marL="13335">
              <a:lnSpc>
                <a:spcPct val="100000"/>
              </a:lnSpc>
            </a:pPr>
            <a:r>
              <a:rPr dirty="0" sz="1900" spc="90" b="1">
                <a:latin typeface="黑体"/>
                <a:cs typeface="黑体"/>
              </a:rPr>
              <a:t>关键协同：供应链前置参与</a:t>
            </a:r>
            <a:endParaRPr sz="1900">
              <a:latin typeface="黑体"/>
              <a:cs typeface="黑体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997541" y="8883281"/>
            <a:ext cx="7462520" cy="843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20" b="1">
                <a:latin typeface="黑体"/>
                <a:cs typeface="黑体"/>
              </a:rPr>
              <a:t>供应链前置参与解决方案、投标策略、合同评审三大节点。</a:t>
            </a:r>
            <a:endParaRPr sz="15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890"/>
              </a:spcBef>
            </a:pPr>
            <a:endParaRPr sz="1500">
              <a:latin typeface="黑体"/>
              <a:cs typeface="黑体"/>
            </a:endParaRPr>
          </a:p>
          <a:p>
            <a:pPr algn="r" marR="5080">
              <a:lnSpc>
                <a:spcPct val="100000"/>
              </a:lnSpc>
            </a:pPr>
            <a:r>
              <a:rPr dirty="0" sz="1500" b="1">
                <a:latin typeface="Arial"/>
                <a:cs typeface="Arial"/>
              </a:rPr>
              <a:t>A</a:t>
            </a:r>
            <a:r>
              <a:rPr dirty="0" sz="1500" spc="-15" b="1">
                <a:latin typeface="Arial"/>
                <a:cs typeface="Arial"/>
              </a:rPr>
              <a:t> </a:t>
            </a:r>
            <a:r>
              <a:rPr dirty="0" sz="1500" spc="-10" b="1">
                <a:latin typeface="Arial"/>
                <a:cs typeface="Arial"/>
              </a:rPr>
              <a:t>NotebookLM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914400" y="2951988"/>
            <a:ext cx="4127500" cy="5087620"/>
            <a:chOff x="914400" y="2951988"/>
            <a:chExt cx="4127500" cy="5087620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400" y="6298691"/>
              <a:ext cx="4126991" cy="1740407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7267" y="2951988"/>
              <a:ext cx="1670304" cy="1371599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11956986" y="2747733"/>
            <a:ext cx="505459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30">
                <a:latin typeface="Times New Roman"/>
                <a:cs typeface="Times New Roman"/>
              </a:rPr>
              <a:t>1+1+1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1376596" y="3222713"/>
            <a:ext cx="17341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20">
                <a:latin typeface="Times New Roman"/>
                <a:cs typeface="Times New Roman"/>
              </a:rPr>
              <a:t>M-</a:t>
            </a:r>
            <a:r>
              <a:rPr dirty="0" sz="2400">
                <a:latin typeface="Times New Roman"/>
                <a:cs typeface="Times New Roman"/>
              </a:rPr>
              <a:t>0</a:t>
            </a:r>
            <a:r>
              <a:rPr dirty="0" sz="2400" spc="235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M-</a:t>
            </a:r>
            <a:r>
              <a:rPr dirty="0" sz="2400">
                <a:latin typeface="Times New Roman"/>
                <a:cs typeface="Times New Roman"/>
              </a:rPr>
              <a:t>1</a:t>
            </a:r>
            <a:r>
              <a:rPr dirty="0" sz="2400" spc="245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M-</a:t>
            </a:r>
            <a:r>
              <a:rPr dirty="0" sz="2400" spc="-5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223186" y="3805008"/>
            <a:ext cx="997585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15" b="1">
                <a:solidFill>
                  <a:srgbClr val="2F6F5F"/>
                </a:solidFill>
                <a:latin typeface="宋体"/>
                <a:cs typeface="宋体"/>
              </a:rPr>
              <a:t>核心解法</a:t>
            </a:r>
            <a:endParaRPr sz="1900">
              <a:latin typeface="宋体"/>
              <a:cs typeface="宋体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5">
                <a:latin typeface="Arial"/>
                <a:cs typeface="Arial"/>
              </a:rPr>
              <a:t>MO</a:t>
            </a:r>
            <a:r>
              <a:rPr dirty="0" spc="325">
                <a:latin typeface="Arial"/>
                <a:cs typeface="Arial"/>
              </a:rPr>
              <a:t> </a:t>
            </a:r>
            <a:r>
              <a:rPr dirty="0" spc="-5"/>
              <a:t>流程优化方案：提升预测准确性与端到端协同效率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889025" y="2437999"/>
            <a:ext cx="4356100" cy="2428240"/>
          </a:xfrm>
          <a:prstGeom prst="rect">
            <a:avLst/>
          </a:prstGeom>
        </p:spPr>
        <p:txBody>
          <a:bodyPr wrap="square" lIns="0" tIns="6051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65"/>
              </a:spcBef>
            </a:pPr>
            <a:r>
              <a:rPr dirty="0" sz="9600" spc="-25" b="1">
                <a:solidFill>
                  <a:srgbClr val="EF4010"/>
                </a:solidFill>
                <a:latin typeface="Times New Roman"/>
                <a:cs typeface="Times New Roman"/>
              </a:rPr>
              <a:t>22%</a:t>
            </a:r>
            <a:endParaRPr sz="9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1600" b="1">
                <a:latin typeface="Times New Roman"/>
                <a:cs typeface="Times New Roman"/>
              </a:rPr>
              <a:t>M+2</a:t>
            </a:r>
            <a:r>
              <a:rPr dirty="0" sz="1600" spc="75" b="1">
                <a:latin typeface="Times New Roman"/>
                <a:cs typeface="Times New Roman"/>
              </a:rPr>
              <a:t> </a:t>
            </a:r>
            <a:r>
              <a:rPr dirty="0" sz="1600" spc="65" b="1">
                <a:latin typeface="黑体"/>
                <a:cs typeface="黑体"/>
              </a:rPr>
              <a:t>月下单预测准确率仅</a:t>
            </a:r>
            <a:r>
              <a:rPr dirty="0" sz="1600" spc="55" b="1">
                <a:latin typeface="黑体"/>
                <a:cs typeface="黑体"/>
              </a:rPr>
              <a:t>22%,</a:t>
            </a:r>
            <a:r>
              <a:rPr dirty="0" sz="1600" spc="45" b="1">
                <a:latin typeface="黑体"/>
                <a:cs typeface="黑体"/>
              </a:rPr>
              <a:t>且无改善迹象。</a:t>
            </a:r>
            <a:endParaRPr sz="1600">
              <a:latin typeface="黑体"/>
              <a:cs typeface="黑体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0076840" y="4669459"/>
            <a:ext cx="5349875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50" b="1">
                <a:latin typeface="黑体"/>
                <a:cs typeface="黑体"/>
              </a:rPr>
              <a:t>课题二：高质量执行</a:t>
            </a:r>
            <a:r>
              <a:rPr dirty="0" sz="1950" spc="-20" b="1">
                <a:latin typeface="宋体"/>
                <a:cs typeface="宋体"/>
              </a:rPr>
              <a:t>MO</a:t>
            </a:r>
            <a:r>
              <a:rPr dirty="0" sz="1950" spc="-5" b="1">
                <a:latin typeface="黑体"/>
                <a:cs typeface="黑体"/>
              </a:rPr>
              <a:t>流程一强化四大关键阶段</a:t>
            </a:r>
            <a:endParaRPr sz="1950">
              <a:latin typeface="黑体"/>
              <a:cs typeface="黑体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892555" y="2364917"/>
            <a:ext cx="2839085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50" spc="-5" b="1">
                <a:latin typeface="黑体"/>
                <a:cs typeface="黑体"/>
              </a:rPr>
              <a:t>远期销售预测准确率严峻</a:t>
            </a:r>
            <a:endParaRPr sz="1950">
              <a:latin typeface="黑体"/>
              <a:cs typeface="黑体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999726" y="2372537"/>
            <a:ext cx="5434330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50" b="1">
                <a:latin typeface="黑体"/>
                <a:cs typeface="黑体"/>
              </a:rPr>
              <a:t>课题一：做准</a:t>
            </a:r>
            <a:r>
              <a:rPr dirty="0" sz="1950" spc="-25" b="1">
                <a:latin typeface="宋体"/>
                <a:cs typeface="宋体"/>
              </a:rPr>
              <a:t>N</a:t>
            </a:r>
            <a:r>
              <a:rPr dirty="0" sz="1950" b="1">
                <a:latin typeface="宋体"/>
                <a:cs typeface="宋体"/>
              </a:rPr>
              <a:t> </a:t>
            </a:r>
            <a:r>
              <a:rPr dirty="0" sz="1950" b="1">
                <a:latin typeface="黑体"/>
                <a:cs typeface="黑体"/>
              </a:rPr>
              <a:t>和</a:t>
            </a:r>
            <a:r>
              <a:rPr dirty="0" sz="1950" b="1">
                <a:latin typeface="宋体"/>
                <a:cs typeface="宋体"/>
              </a:rPr>
              <a:t>T</a:t>
            </a:r>
            <a:r>
              <a:rPr dirty="0" sz="1950" spc="45" b="1">
                <a:latin typeface="宋体"/>
                <a:cs typeface="宋体"/>
              </a:rPr>
              <a:t>—— </a:t>
            </a:r>
            <a:r>
              <a:rPr dirty="0" sz="1950" b="1">
                <a:latin typeface="黑体"/>
                <a:cs typeface="黑体"/>
              </a:rPr>
              <a:t>实施滚动3</a:t>
            </a:r>
            <a:r>
              <a:rPr dirty="0" sz="1950" spc="-10" b="1">
                <a:latin typeface="黑体"/>
                <a:cs typeface="黑体"/>
              </a:rPr>
              <a:t>个月预测管理</a:t>
            </a:r>
            <a:endParaRPr sz="1950">
              <a:latin typeface="黑体"/>
              <a:cs typeface="黑体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016995" y="1447800"/>
            <a:ext cx="4553711" cy="597407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11344262" y="1675155"/>
            <a:ext cx="3662045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85" b="1">
                <a:latin typeface="黑体"/>
                <a:cs typeface="黑体"/>
              </a:rPr>
              <a:t>解决方案： 两大课题</a:t>
            </a:r>
            <a:r>
              <a:rPr dirty="0" sz="1900" spc="-25" b="1">
                <a:latin typeface="黑体"/>
                <a:cs typeface="黑体"/>
              </a:rPr>
              <a:t>&amp;</a:t>
            </a:r>
            <a:r>
              <a:rPr dirty="0" sz="1900" spc="-30" b="1">
                <a:latin typeface="黑体"/>
                <a:cs typeface="黑体"/>
              </a:rPr>
              <a:t> 关键举指</a:t>
            </a:r>
            <a:endParaRPr sz="1900">
              <a:latin typeface="黑体"/>
              <a:cs typeface="黑体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864108" y="0"/>
            <a:ext cx="16611600" cy="2033270"/>
            <a:chOff x="864108" y="0"/>
            <a:chExt cx="16611600" cy="2033270"/>
          </a:xfrm>
        </p:grpSpPr>
        <p:pic>
          <p:nvPicPr>
            <p:cNvPr id="20" name="object 2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500603" y="0"/>
              <a:ext cx="1974596" cy="1898903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4108" y="1277111"/>
              <a:ext cx="4515612" cy="755903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/>
          <p:nvPr/>
        </p:nvSpPr>
        <p:spPr>
          <a:xfrm>
            <a:off x="1349400" y="1614804"/>
            <a:ext cx="3692525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00" b="1">
                <a:latin typeface="黑体"/>
                <a:cs typeface="黑体"/>
              </a:rPr>
              <a:t>核心挑战： 预测不准</a:t>
            </a:r>
            <a:r>
              <a:rPr dirty="0" sz="1900" spc="-25" b="1">
                <a:latin typeface="黑体"/>
                <a:cs typeface="黑体"/>
              </a:rPr>
              <a:t>&amp;</a:t>
            </a:r>
            <a:r>
              <a:rPr dirty="0" sz="1900" spc="-15" b="1">
                <a:latin typeface="黑体"/>
                <a:cs typeface="黑体"/>
              </a:rPr>
              <a:t> 执行率低</a:t>
            </a:r>
            <a:endParaRPr sz="1900">
              <a:latin typeface="黑体"/>
              <a:cs typeface="黑体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889025" y="8197494"/>
            <a:ext cx="4245610" cy="604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6699"/>
              </a:lnSpc>
              <a:spcBef>
                <a:spcPts val="100"/>
              </a:spcBef>
            </a:pPr>
            <a:r>
              <a:rPr dirty="0" sz="1500" spc="155">
                <a:latin typeface="黑体"/>
                <a:cs typeface="黑体"/>
              </a:rPr>
              <a:t>解决方案评审、标前评审等关键环节执行率远</a:t>
            </a:r>
            <a:r>
              <a:rPr dirty="0" sz="1500" spc="-50">
                <a:latin typeface="黑体"/>
                <a:cs typeface="黑体"/>
              </a:rPr>
              <a:t>未达标。</a:t>
            </a:r>
            <a:endParaRPr sz="1500">
              <a:latin typeface="黑体"/>
              <a:cs typeface="黑体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9997541" y="4097464"/>
            <a:ext cx="541655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00" b="1">
                <a:latin typeface="黑体"/>
                <a:cs typeface="黑体"/>
              </a:rPr>
              <a:t>固化“1+1+1”</a:t>
            </a:r>
            <a:r>
              <a:rPr dirty="0" sz="1500" spc="80" b="1">
                <a:latin typeface="黑体"/>
                <a:cs typeface="黑体"/>
              </a:rPr>
              <a:t>承诺预测标准，提升未来三个月的预测质量。</a:t>
            </a:r>
            <a:endParaRPr sz="1500">
              <a:latin typeface="黑体"/>
              <a:cs typeface="黑体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892555" y="5837630"/>
            <a:ext cx="3359785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00" b="1">
                <a:latin typeface="黑体"/>
                <a:cs typeface="黑体"/>
              </a:rPr>
              <a:t>关键流程活动执行率严重偏低</a:t>
            </a:r>
            <a:endParaRPr sz="1900">
              <a:latin typeface="黑体"/>
              <a:cs typeface="黑体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3863904" y="2820035"/>
            <a:ext cx="69723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latin typeface="黑体"/>
                <a:cs typeface="黑体"/>
              </a:rPr>
              <a:t>26年</a:t>
            </a:r>
            <a:r>
              <a:rPr dirty="0" sz="1000" spc="-20" b="1">
                <a:latin typeface="Arial"/>
                <a:cs typeface="Arial"/>
              </a:rPr>
              <a:t>Q2</a:t>
            </a:r>
            <a:r>
              <a:rPr dirty="0" sz="1000" spc="-30" b="1">
                <a:latin typeface="黑体"/>
                <a:cs typeface="黑体"/>
              </a:rPr>
              <a:t>目际</a:t>
            </a:r>
            <a:endParaRPr sz="1000">
              <a:latin typeface="黑体"/>
              <a:cs typeface="黑体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3906448" y="3083559"/>
            <a:ext cx="518795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0">
                <a:latin typeface="宋体"/>
                <a:cs typeface="宋体"/>
              </a:rPr>
              <a:t>N</a:t>
            </a:r>
            <a:r>
              <a:rPr dirty="0" sz="800" spc="-105">
                <a:latin typeface="宋体"/>
                <a:cs typeface="宋体"/>
              </a:rPr>
              <a:t>- 下单清单</a:t>
            </a:r>
            <a:endParaRPr sz="800">
              <a:latin typeface="宋体"/>
              <a:cs typeface="宋体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4493823" y="3473450"/>
            <a:ext cx="252729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Times New Roman"/>
                <a:cs typeface="Times New Roman"/>
              </a:rPr>
              <a:t>76%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4897138" y="3084423"/>
            <a:ext cx="630555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latin typeface="宋体"/>
                <a:cs typeface="宋体"/>
              </a:rPr>
              <a:t>3T</a:t>
            </a:r>
            <a:r>
              <a:rPr dirty="0" sz="800" spc="-35">
                <a:latin typeface="宋体"/>
                <a:cs typeface="宋体"/>
              </a:rPr>
              <a:t>- </a:t>
            </a:r>
            <a:r>
              <a:rPr dirty="0" sz="800" spc="-15">
                <a:latin typeface="黑体"/>
                <a:cs typeface="黑体"/>
              </a:rPr>
              <a:t>下单时间</a:t>
            </a:r>
            <a:endParaRPr sz="800">
              <a:latin typeface="黑体"/>
              <a:cs typeface="黑体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5443238" y="3403701"/>
            <a:ext cx="273685" cy="42418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000" spc="-25">
                <a:latin typeface="Times New Roman"/>
                <a:cs typeface="Times New Roman"/>
              </a:rPr>
              <a:t>80%</a:t>
            </a:r>
            <a:endParaRPr sz="1000">
              <a:latin typeface="Times New Roman"/>
              <a:cs typeface="Times New Roman"/>
            </a:endParaRPr>
          </a:p>
          <a:p>
            <a:pPr marL="33655">
              <a:lnSpc>
                <a:spcPct val="100000"/>
              </a:lnSpc>
              <a:spcBef>
                <a:spcPts val="370"/>
              </a:spcBef>
            </a:pPr>
            <a:r>
              <a:rPr dirty="0" sz="1000" spc="-25">
                <a:latin typeface="Times New Roman"/>
                <a:cs typeface="Times New Roman"/>
              </a:rPr>
              <a:t>65%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5868586" y="3057167"/>
            <a:ext cx="802005" cy="55054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800" b="1">
                <a:latin typeface="Times New Roman"/>
                <a:cs typeface="Times New Roman"/>
              </a:rPr>
              <a:t>3T-</a:t>
            </a:r>
            <a:r>
              <a:rPr dirty="0" sz="800" b="1">
                <a:latin typeface="宋体"/>
                <a:cs typeface="宋体"/>
              </a:rPr>
              <a:t>要货</a:t>
            </a:r>
            <a:r>
              <a:rPr dirty="0" sz="800" spc="-25" b="1">
                <a:latin typeface="黑体"/>
                <a:cs typeface="黑体"/>
              </a:rPr>
              <a:t>时间</a:t>
            </a:r>
            <a:endParaRPr sz="800">
              <a:latin typeface="黑体"/>
              <a:cs typeface="黑体"/>
            </a:endParaRPr>
          </a:p>
          <a:p>
            <a:pPr marL="561975">
              <a:lnSpc>
                <a:spcPct val="100000"/>
              </a:lnSpc>
              <a:spcBef>
                <a:spcPts val="240"/>
              </a:spcBef>
            </a:pPr>
            <a:r>
              <a:rPr dirty="0" sz="1000" spc="-25">
                <a:latin typeface="Times New Roman"/>
                <a:cs typeface="Times New Roman"/>
              </a:rPr>
              <a:t>70%</a:t>
            </a:r>
            <a:endParaRPr sz="1000">
              <a:latin typeface="Times New Roman"/>
              <a:cs typeface="Times New Roman"/>
            </a:endParaRPr>
          </a:p>
          <a:p>
            <a:pPr marL="561975">
              <a:lnSpc>
                <a:spcPct val="100000"/>
              </a:lnSpc>
              <a:spcBef>
                <a:spcPts val="330"/>
              </a:spcBef>
            </a:pPr>
            <a:r>
              <a:rPr dirty="0" sz="1000" spc="-25">
                <a:latin typeface="Times New Roman"/>
                <a:cs typeface="Times New Roman"/>
              </a:rPr>
              <a:t>60%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6417861" y="3695649"/>
            <a:ext cx="252729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Times New Roman"/>
                <a:cs typeface="Times New Roman"/>
              </a:rPr>
              <a:t>50%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5809602" y="3803764"/>
            <a:ext cx="993775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20" b="1">
                <a:latin typeface="宋体"/>
                <a:cs typeface="宋体"/>
              </a:rPr>
              <a:t>关键问题</a:t>
            </a:r>
            <a:endParaRPr sz="19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Company/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description/>
  <dcterms:created xsi:type="dcterms:W3CDTF">2025-12-15T01:19:48Z</dcterms:created>
  <dcterms:modified xsi:type="dcterms:W3CDTF">2025-12-15T01:19:48Z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2025-12-14T00:00:00Z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2025-12-15T00:00:00Z</vt:filetime>
  </property>
  <property fmtid="{D5CDD505-2E9C-101B-9397-08002B2CF9AE}" pid="5" name="SourceModified">
    <vt:lpwstr>D:20251214162956+08'00'</vt:lpwstr>
  </property>
</Properties>
</file>