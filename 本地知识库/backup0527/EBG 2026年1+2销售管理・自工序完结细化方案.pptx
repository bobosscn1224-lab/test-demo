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embeddedFontLst>
    <p:embeddedFont>
      <p:font typeface="MiSans" panose="02010600030101010101" charset="-122"/>
      <p:regular r:id="rId18"/>
    </p:embeddedFont>
    <p:embeddedFont>
      <p:font typeface="Alimama ShuHeiTi" charset="-122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ZCOOL KuaiLe" panose="020B0604020202020204" charset="0"/>
      <p:regular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867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f40e08133344df5eda1e19828676de6ceb55b297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869" b="786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95000"/>
                </a:srgbClr>
              </a:gs>
              <a:gs pos="50000">
                <a:srgbClr val="1E40AF">
                  <a:alpha val="85000"/>
                </a:srgbClr>
              </a:gs>
              <a:gs pos="100000">
                <a:srgbClr val="3B82F6">
                  <a:alpha val="7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76200" cy="609600"/>
          </a:xfrm>
          <a:custGeom>
            <a:avLst/>
            <a:gdLst/>
            <a:ahLst/>
            <a:cxnLst/>
            <a:rect l="l" t="t" r="r" b="b"/>
            <a:pathLst>
              <a:path w="76200" h="609600">
                <a:moveTo>
                  <a:pt x="0" y="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191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kern="0" spc="75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RUIJIE NETWORKS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723900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锐捷网络 EBG事业部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2047875"/>
            <a:ext cx="65151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EBG 2026年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1+2销售管理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自工序完结</a:t>
            </a:r>
            <a:r>
              <a:rPr lang="en-US" sz="5400" b="1" dirty="0">
                <a:solidFill>
                  <a:srgbClr val="F1F5F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细化方案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4813" y="49625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695325" y="492442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9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通过自工序理念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257425" y="4943475"/>
            <a:ext cx="38100" cy="228600"/>
          </a:xfrm>
          <a:custGeom>
            <a:avLst/>
            <a:gdLst/>
            <a:ahLst/>
            <a:cxnLst/>
            <a:rect l="l" t="t" r="r" b="b"/>
            <a:pathLst>
              <a:path w="38100" h="228600">
                <a:moveTo>
                  <a:pt x="0" y="0"/>
                </a:moveTo>
                <a:lnTo>
                  <a:pt x="38100" y="0"/>
                </a:lnTo>
                <a:lnTo>
                  <a:pt x="38100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F1F5F9">
              <a:alpha val="3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2536031" y="496252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9531"/>
                </a:moveTo>
                <a:cubicBezTo>
                  <a:pt x="136289" y="59531"/>
                  <a:pt x="130969" y="54211"/>
                  <a:pt x="130969" y="47625"/>
                </a:cubicBezTo>
                <a:cubicBezTo>
                  <a:pt x="130969" y="41039"/>
                  <a:pt x="136289" y="35719"/>
                  <a:pt x="142875" y="35719"/>
                </a:cubicBezTo>
                <a:lnTo>
                  <a:pt x="202406" y="35719"/>
                </a:lnTo>
                <a:cubicBezTo>
                  <a:pt x="208992" y="35719"/>
                  <a:pt x="214313" y="41039"/>
                  <a:pt x="214313" y="47625"/>
                </a:cubicBezTo>
                <a:lnTo>
                  <a:pt x="214313" y="107156"/>
                </a:lnTo>
                <a:cubicBezTo>
                  <a:pt x="214313" y="113742"/>
                  <a:pt x="208992" y="119063"/>
                  <a:pt x="202406" y="119063"/>
                </a:cubicBezTo>
                <a:cubicBezTo>
                  <a:pt x="195821" y="119063"/>
                  <a:pt x="190500" y="113742"/>
                  <a:pt x="190500" y="107156"/>
                </a:cubicBezTo>
                <a:lnTo>
                  <a:pt x="190500" y="76386"/>
                </a:lnTo>
                <a:lnTo>
                  <a:pt x="127471" y="139415"/>
                </a:lnTo>
                <a:cubicBezTo>
                  <a:pt x="122820" y="144066"/>
                  <a:pt x="115267" y="144066"/>
                  <a:pt x="110617" y="139415"/>
                </a:cubicBezTo>
                <a:lnTo>
                  <a:pt x="71438" y="100199"/>
                </a:lnTo>
                <a:lnTo>
                  <a:pt x="20315" y="151284"/>
                </a:lnTo>
                <a:cubicBezTo>
                  <a:pt x="15664" y="155935"/>
                  <a:pt x="8111" y="155935"/>
                  <a:pt x="3460" y="151284"/>
                </a:cubicBezTo>
                <a:cubicBezTo>
                  <a:pt x="-1191" y="146633"/>
                  <a:pt x="-1191" y="139080"/>
                  <a:pt x="3460" y="134429"/>
                </a:cubicBezTo>
                <a:lnTo>
                  <a:pt x="62992" y="74898"/>
                </a:lnTo>
                <a:cubicBezTo>
                  <a:pt x="67642" y="70247"/>
                  <a:pt x="75195" y="70247"/>
                  <a:pt x="79846" y="74898"/>
                </a:cubicBezTo>
                <a:lnTo>
                  <a:pt x="119063" y="114114"/>
                </a:lnTo>
                <a:lnTo>
                  <a:pt x="173645" y="59531"/>
                </a:lnTo>
                <a:lnTo>
                  <a:pt x="142875" y="5953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2838450" y="4924425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1F5F9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实现销售漏斗管理质量跃升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0957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F1F5F9">
              <a:alpha val="7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23900" y="6248400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2026年度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287000" y="62865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52388" y="104775"/>
                </a:moveTo>
                <a:lnTo>
                  <a:pt x="61912" y="104775"/>
                </a:lnTo>
                <a:cubicBezTo>
                  <a:pt x="67181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42863" y="138113"/>
                </a:lnTo>
                <a:lnTo>
                  <a:pt x="42863" y="114300"/>
                </a:lnTo>
                <a:cubicBezTo>
                  <a:pt x="42863" y="109031"/>
                  <a:pt x="47119" y="104775"/>
                  <a:pt x="52388" y="104775"/>
                </a:cubicBezTo>
                <a:close/>
                <a:moveTo>
                  <a:pt x="28575" y="33338"/>
                </a:moveTo>
                <a:cubicBezTo>
                  <a:pt x="28575" y="30718"/>
                  <a:pt x="30718" y="28575"/>
                  <a:pt x="33338" y="28575"/>
                </a:cubicBezTo>
                <a:lnTo>
                  <a:pt x="42863" y="28575"/>
                </a:lnTo>
                <a:cubicBezTo>
                  <a:pt x="45482" y="28575"/>
                  <a:pt x="47625" y="30718"/>
                  <a:pt x="47625" y="33338"/>
                </a:cubicBezTo>
                <a:lnTo>
                  <a:pt x="47625" y="42863"/>
                </a:lnTo>
                <a:cubicBezTo>
                  <a:pt x="47625" y="45482"/>
                  <a:pt x="45482" y="47625"/>
                  <a:pt x="42863" y="47625"/>
                </a:cubicBezTo>
                <a:lnTo>
                  <a:pt x="33338" y="47625"/>
                </a:lnTo>
                <a:cubicBezTo>
                  <a:pt x="30718" y="47625"/>
                  <a:pt x="28575" y="45482"/>
                  <a:pt x="28575" y="42863"/>
                </a:cubicBezTo>
                <a:lnTo>
                  <a:pt x="28575" y="33338"/>
                </a:lnTo>
                <a:close/>
                <a:moveTo>
                  <a:pt x="71438" y="28575"/>
                </a:moveTo>
                <a:lnTo>
                  <a:pt x="80962" y="28575"/>
                </a:lnTo>
                <a:cubicBezTo>
                  <a:pt x="83582" y="28575"/>
                  <a:pt x="85725" y="30718"/>
                  <a:pt x="85725" y="33338"/>
                </a:cubicBezTo>
                <a:lnTo>
                  <a:pt x="85725" y="42863"/>
                </a:lnTo>
                <a:cubicBezTo>
                  <a:pt x="85725" y="45482"/>
                  <a:pt x="83582" y="47625"/>
                  <a:pt x="80962" y="47625"/>
                </a:cubicBezTo>
                <a:lnTo>
                  <a:pt x="71438" y="47625"/>
                </a:lnTo>
                <a:cubicBezTo>
                  <a:pt x="68818" y="47625"/>
                  <a:pt x="66675" y="45482"/>
                  <a:pt x="66675" y="42863"/>
                </a:cubicBezTo>
                <a:lnTo>
                  <a:pt x="66675" y="33338"/>
                </a:lnTo>
                <a:cubicBezTo>
                  <a:pt x="66675" y="30718"/>
                  <a:pt x="68818" y="28575"/>
                  <a:pt x="71438" y="28575"/>
                </a:cubicBezTo>
                <a:close/>
                <a:moveTo>
                  <a:pt x="28575" y="71438"/>
                </a:moveTo>
                <a:cubicBezTo>
                  <a:pt x="28575" y="68818"/>
                  <a:pt x="30718" y="66675"/>
                  <a:pt x="33338" y="66675"/>
                </a:cubicBezTo>
                <a:lnTo>
                  <a:pt x="42863" y="66675"/>
                </a:lnTo>
                <a:cubicBezTo>
                  <a:pt x="45482" y="66675"/>
                  <a:pt x="47625" y="68818"/>
                  <a:pt x="47625" y="71438"/>
                </a:cubicBezTo>
                <a:lnTo>
                  <a:pt x="47625" y="80962"/>
                </a:lnTo>
                <a:cubicBezTo>
                  <a:pt x="47625" y="83582"/>
                  <a:pt x="45482" y="85725"/>
                  <a:pt x="42863" y="85725"/>
                </a:cubicBezTo>
                <a:lnTo>
                  <a:pt x="33338" y="85725"/>
                </a:lnTo>
                <a:cubicBezTo>
                  <a:pt x="30718" y="85725"/>
                  <a:pt x="28575" y="83582"/>
                  <a:pt x="28575" y="80962"/>
                </a:cubicBezTo>
                <a:lnTo>
                  <a:pt x="28575" y="71438"/>
                </a:lnTo>
                <a:close/>
                <a:moveTo>
                  <a:pt x="71438" y="66675"/>
                </a:moveTo>
                <a:lnTo>
                  <a:pt x="80962" y="66675"/>
                </a:lnTo>
                <a:cubicBezTo>
                  <a:pt x="83582" y="66675"/>
                  <a:pt x="85725" y="68818"/>
                  <a:pt x="85725" y="71438"/>
                </a:cubicBezTo>
                <a:lnTo>
                  <a:pt x="85725" y="80962"/>
                </a:lnTo>
                <a:cubicBezTo>
                  <a:pt x="85725" y="83582"/>
                  <a:pt x="83582" y="85725"/>
                  <a:pt x="80962" y="85725"/>
                </a:cubicBezTo>
                <a:lnTo>
                  <a:pt x="71438" y="85725"/>
                </a:lnTo>
                <a:cubicBezTo>
                  <a:pt x="68818" y="85725"/>
                  <a:pt x="66675" y="83582"/>
                  <a:pt x="66675" y="80962"/>
                </a:cubicBezTo>
                <a:lnTo>
                  <a:pt x="66675" y="71438"/>
                </a:lnTo>
                <a:cubicBezTo>
                  <a:pt x="66675" y="68818"/>
                  <a:pt x="68818" y="66675"/>
                  <a:pt x="71438" y="66675"/>
                </a:cubicBezTo>
                <a:close/>
              </a:path>
            </a:pathLst>
          </a:custGeom>
          <a:solidFill>
            <a:srgbClr val="F1F5F9">
              <a:alpha val="7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6248400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销售管理体系升级</a:t>
            </a:r>
            <a:endParaRPr lang="en-US" sz="1600" dirty="0"/>
          </a:p>
        </p:txBody>
      </p:sp>
      <p:pic>
        <p:nvPicPr>
          <p:cNvPr id="17" name="图片 16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914400" cy="57150"/>
          </a:xfrm>
          <a:custGeom>
            <a:avLst/>
            <a:gdLst/>
            <a:ahLst/>
            <a:cxnLst/>
            <a:rect l="l" t="t" r="r" b="b"/>
            <a:pathLst>
              <a:path w="914400" h="5715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9545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71600"/>
                </a:lnTo>
                <a:cubicBezTo>
                  <a:pt x="5581650" y="1455712"/>
                  <a:pt x="5513362" y="1524000"/>
                  <a:pt x="54292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6954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7" name="Shape 5"/>
          <p:cNvSpPr/>
          <p:nvPr/>
        </p:nvSpPr>
        <p:spPr>
          <a:xfrm>
            <a:off x="723900" y="2000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652463" y="200025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200025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自工序核心理念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24000" y="2419231"/>
            <a:ext cx="4229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源自丰田"工序内造就品质"的管理智慧，构建统一流程质量标准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69545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71600"/>
                </a:lnTo>
                <a:cubicBezTo>
                  <a:pt x="5581650" y="1455712"/>
                  <a:pt x="5513362" y="1524000"/>
                  <a:pt x="54292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29350" y="16954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553200" y="2000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81763" y="200025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53300" y="200025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1+2三层漏斗管理框架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53300" y="2419231"/>
            <a:ext cx="4229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以季度预期兑现率为核心，构建碗里→锅里→田里三层漏斗体系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44805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71600"/>
                </a:lnTo>
                <a:cubicBezTo>
                  <a:pt x="5581650" y="1455712"/>
                  <a:pt x="5513362" y="1524000"/>
                  <a:pt x="54292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4480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723900" y="3752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2463" y="375285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24000" y="3752850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自工序全流程细化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4000" y="4171831"/>
            <a:ext cx="4229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将MO关键动作嵌入1+2三层漏斗各工序环节，实现质量自我完结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44805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371600"/>
                </a:lnTo>
                <a:cubicBezTo>
                  <a:pt x="5581650" y="1455712"/>
                  <a:pt x="5513362" y="1524000"/>
                  <a:pt x="54292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29350" y="344805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25" name="Shape 23"/>
          <p:cNvSpPr/>
          <p:nvPr/>
        </p:nvSpPr>
        <p:spPr>
          <a:xfrm>
            <a:off x="6553200" y="38766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26" name="Text 24"/>
          <p:cNvSpPr/>
          <p:nvPr/>
        </p:nvSpPr>
        <p:spPr>
          <a:xfrm>
            <a:off x="6481763" y="3876675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53300" y="3876675"/>
            <a:ext cx="426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落地保障机制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53300" y="4295656"/>
            <a:ext cx="4229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构建完整的工具、机制与质量标准体系，确保方案有效执行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200650"/>
            <a:ext cx="11410950" cy="1276350"/>
          </a:xfrm>
          <a:custGeom>
            <a:avLst/>
            <a:gdLst/>
            <a:ahLst/>
            <a:cxnLst/>
            <a:rect l="l" t="t" r="r" b="b"/>
            <a:pathLst>
              <a:path w="11410950" h="1276350">
                <a:moveTo>
                  <a:pt x="38100" y="0"/>
                </a:moveTo>
                <a:lnTo>
                  <a:pt x="11258554" y="0"/>
                </a:lnTo>
                <a:cubicBezTo>
                  <a:pt x="11342720" y="0"/>
                  <a:pt x="11410950" y="68230"/>
                  <a:pt x="11410950" y="152396"/>
                </a:cubicBezTo>
                <a:lnTo>
                  <a:pt x="11410950" y="1123954"/>
                </a:lnTo>
                <a:cubicBezTo>
                  <a:pt x="11410950" y="1208120"/>
                  <a:pt x="11342720" y="1276350"/>
                  <a:pt x="11258554" y="1276350"/>
                </a:cubicBez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0050" y="5200650"/>
            <a:ext cx="38100" cy="1276350"/>
          </a:xfrm>
          <a:custGeom>
            <a:avLst/>
            <a:gdLst/>
            <a:ahLst/>
            <a:cxnLst/>
            <a:rect l="l" t="t" r="r" b="b"/>
            <a:pathLst>
              <a:path w="38100" h="1276350">
                <a:moveTo>
                  <a:pt x="38100" y="0"/>
                </a:moveTo>
                <a:lnTo>
                  <a:pt x="38100" y="0"/>
                </a:lnTo>
                <a:lnTo>
                  <a:pt x="38100" y="1276350"/>
                </a:lnTo>
                <a:lnTo>
                  <a:pt x="38100" y="1276350"/>
                </a:lnTo>
                <a:cubicBezTo>
                  <a:pt x="17072" y="1276350"/>
                  <a:pt x="0" y="1259278"/>
                  <a:pt x="0" y="1238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Shape 29"/>
          <p:cNvSpPr/>
          <p:nvPr/>
        </p:nvSpPr>
        <p:spPr>
          <a:xfrm>
            <a:off x="723900" y="5505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652463" y="5505450"/>
            <a:ext cx="7524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24000" y="5505450"/>
            <a:ext cx="1009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实施价值与展望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24000" y="5924431"/>
            <a:ext cx="10058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精准对齐管理口径、销售行为标准化、工序内质量自我完结、全周期指标精准管控、管理水平持续提升</a:t>
            </a:r>
            <a:endParaRPr lang="en-US" sz="1600" dirty="0"/>
          </a:p>
        </p:txBody>
      </p:sp>
      <p:pic>
        <p:nvPicPr>
          <p:cNvPr id="35" name="图片 34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257835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28a0002fe02602853b41fe25456480cdd9df65d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95000"/>
                </a:srgbClr>
              </a:gs>
              <a:gs pos="100000">
                <a:srgbClr val="3B82F6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525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295275" y="1552575"/>
            <a:ext cx="933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145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619375"/>
            <a:ext cx="4914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自工序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核心理念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62475"/>
            <a:ext cx="46863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源自丰田"工序内造就品质"的管理智慧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构建统一流程质量标准，实现工序内自我完结</a:t>
            </a:r>
            <a:endParaRPr lang="en-US" sz="1600" dirty="0"/>
          </a:p>
        </p:txBody>
      </p:sp>
      <p:pic>
        <p:nvPicPr>
          <p:cNvPr id="9" name="图片 8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 · 自工序核心理念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什么是自工序？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33375" y="1003300"/>
            <a:ext cx="5699125" cy="1841500"/>
          </a:xfrm>
          <a:custGeom>
            <a:avLst/>
            <a:gdLst/>
            <a:ahLst/>
            <a:cxnLst/>
            <a:rect l="l" t="t" r="r" b="b"/>
            <a:pathLst>
              <a:path w="5699125" h="1841500">
                <a:moveTo>
                  <a:pt x="31750" y="0"/>
                </a:moveTo>
                <a:lnTo>
                  <a:pt x="5603883" y="0"/>
                </a:lnTo>
                <a:cubicBezTo>
                  <a:pt x="5656484" y="0"/>
                  <a:pt x="5699125" y="42641"/>
                  <a:pt x="5699125" y="95242"/>
                </a:cubicBezTo>
                <a:lnTo>
                  <a:pt x="5699125" y="1746258"/>
                </a:lnTo>
                <a:cubicBezTo>
                  <a:pt x="5699125" y="1798859"/>
                  <a:pt x="5656484" y="1841500"/>
                  <a:pt x="5603883" y="1841500"/>
                </a:cubicBez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33375" y="1003300"/>
            <a:ext cx="31750" cy="1841500"/>
          </a:xfrm>
          <a:custGeom>
            <a:avLst/>
            <a:gdLst/>
            <a:ahLst/>
            <a:cxnLst/>
            <a:rect l="l" t="t" r="r" b="b"/>
            <a:pathLst>
              <a:path w="31750" h="1841500">
                <a:moveTo>
                  <a:pt x="31750" y="0"/>
                </a:moveTo>
                <a:lnTo>
                  <a:pt x="31750" y="0"/>
                </a:lnTo>
                <a:lnTo>
                  <a:pt x="31750" y="1841500"/>
                </a:lnTo>
                <a:lnTo>
                  <a:pt x="31750" y="1841500"/>
                </a:lnTo>
                <a:cubicBezTo>
                  <a:pt x="14227" y="1841500"/>
                  <a:pt x="0" y="1827273"/>
                  <a:pt x="0" y="180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7" name="Shape 5"/>
          <p:cNvSpPr/>
          <p:nvPr/>
        </p:nvSpPr>
        <p:spPr>
          <a:xfrm>
            <a:off x="476250" y="11303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8" name="Shape 6"/>
          <p:cNvSpPr/>
          <p:nvPr/>
        </p:nvSpPr>
        <p:spPr>
          <a:xfrm>
            <a:off x="583406" y="1217613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1735" y="107156"/>
                </a:moveTo>
                <a:cubicBezTo>
                  <a:pt x="83772" y="100933"/>
                  <a:pt x="87846" y="95297"/>
                  <a:pt x="92450" y="90441"/>
                </a:cubicBezTo>
                <a:cubicBezTo>
                  <a:pt x="101575" y="80842"/>
                  <a:pt x="107156" y="67866"/>
                  <a:pt x="107156" y="53578"/>
                </a:cubicBezTo>
                <a:cubicBezTo>
                  <a:pt x="107156" y="23999"/>
                  <a:pt x="83158" y="0"/>
                  <a:pt x="53578" y="0"/>
                </a:cubicBezTo>
                <a:cubicBezTo>
                  <a:pt x="23999" y="0"/>
                  <a:pt x="0" y="23999"/>
                  <a:pt x="0" y="53578"/>
                </a:cubicBezTo>
                <a:cubicBezTo>
                  <a:pt x="0" y="67866"/>
                  <a:pt x="5581" y="80842"/>
                  <a:pt x="14706" y="90441"/>
                </a:cubicBezTo>
                <a:cubicBezTo>
                  <a:pt x="19310" y="95297"/>
                  <a:pt x="23413" y="100933"/>
                  <a:pt x="25422" y="107156"/>
                </a:cubicBezTo>
                <a:lnTo>
                  <a:pt x="81707" y="107156"/>
                </a:lnTo>
                <a:close/>
                <a:moveTo>
                  <a:pt x="80367" y="120551"/>
                </a:moveTo>
                <a:lnTo>
                  <a:pt x="26789" y="120551"/>
                </a:lnTo>
                <a:lnTo>
                  <a:pt x="26789" y="125016"/>
                </a:lnTo>
                <a:cubicBezTo>
                  <a:pt x="26789" y="137350"/>
                  <a:pt x="36779" y="147340"/>
                  <a:pt x="49113" y="147340"/>
                </a:cubicBezTo>
                <a:lnTo>
                  <a:pt x="58043" y="147340"/>
                </a:lnTo>
                <a:cubicBezTo>
                  <a:pt x="70377" y="147340"/>
                  <a:pt x="80367" y="137350"/>
                  <a:pt x="80367" y="125016"/>
                </a:cubicBezTo>
                <a:lnTo>
                  <a:pt x="80367" y="120551"/>
                </a:lnTo>
                <a:close/>
                <a:moveTo>
                  <a:pt x="51346" y="31254"/>
                </a:moveTo>
                <a:cubicBezTo>
                  <a:pt x="40239" y="31254"/>
                  <a:pt x="31254" y="40239"/>
                  <a:pt x="31254" y="51346"/>
                </a:cubicBezTo>
                <a:cubicBezTo>
                  <a:pt x="31254" y="55057"/>
                  <a:pt x="28268" y="58043"/>
                  <a:pt x="24557" y="58043"/>
                </a:cubicBezTo>
                <a:cubicBezTo>
                  <a:pt x="20845" y="58043"/>
                  <a:pt x="17859" y="55057"/>
                  <a:pt x="17859" y="51346"/>
                </a:cubicBezTo>
                <a:cubicBezTo>
                  <a:pt x="17859" y="32845"/>
                  <a:pt x="32845" y="17859"/>
                  <a:pt x="51346" y="17859"/>
                </a:cubicBezTo>
                <a:cubicBezTo>
                  <a:pt x="55057" y="17859"/>
                  <a:pt x="58043" y="20845"/>
                  <a:pt x="58043" y="24557"/>
                </a:cubicBezTo>
                <a:cubicBezTo>
                  <a:pt x="58043" y="28268"/>
                  <a:pt x="55057" y="31254"/>
                  <a:pt x="51346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89000" y="1177925"/>
            <a:ext cx="873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自工序定义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6250" y="1543050"/>
            <a:ext cx="54927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自工序是</a:t>
            </a:r>
            <a:r>
              <a:rPr lang="en-US" sz="1000" b="1" dirty="0">
                <a:solidFill>
                  <a:srgbClr val="475569"/>
                </a:solidFill>
                <a:highlight>
                  <a:srgbClr val="F59E0B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以人（或组织）为中心的任务单元 </a:t>
            </a:r>
            <a:r>
              <a:rPr lang="en-US" sz="100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，实际工作中可演变为以组织为单位的自工序完结。其核心源自丰田"工序内造就品质"的理念，要求相关人员在工序内完成工作品质的把控。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6250" y="2051050"/>
            <a:ext cx="5429250" cy="666750"/>
          </a:xfrm>
          <a:custGeom>
            <a:avLst/>
            <a:gdLst/>
            <a:ahLst/>
            <a:cxnLst/>
            <a:rect l="l" t="t" r="r" b="b"/>
            <a:pathLst>
              <a:path w="5429250" h="666750">
                <a:moveTo>
                  <a:pt x="63501" y="0"/>
                </a:moveTo>
                <a:lnTo>
                  <a:pt x="5365749" y="0"/>
                </a:lnTo>
                <a:cubicBezTo>
                  <a:pt x="5400820" y="0"/>
                  <a:pt x="5429250" y="28430"/>
                  <a:pt x="5429250" y="63501"/>
                </a:cubicBezTo>
                <a:lnTo>
                  <a:pt x="5429250" y="603249"/>
                </a:lnTo>
                <a:cubicBezTo>
                  <a:pt x="5429250" y="638320"/>
                  <a:pt x="5400820" y="666750"/>
                  <a:pt x="5365749" y="666750"/>
                </a:cubicBezTo>
                <a:lnTo>
                  <a:pt x="63501" y="666750"/>
                </a:lnTo>
                <a:cubicBezTo>
                  <a:pt x="28430" y="666750"/>
                  <a:pt x="0" y="638320"/>
                  <a:pt x="0" y="60324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" y="214630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核心要素：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" y="2400300"/>
            <a:ext cx="635000" cy="222250"/>
          </a:xfrm>
          <a:custGeom>
            <a:avLst/>
            <a:gdLst/>
            <a:ahLst/>
            <a:cxnLst/>
            <a:rect l="l" t="t" r="r" b="b"/>
            <a:pathLst>
              <a:path w="635000" h="222250">
                <a:moveTo>
                  <a:pt x="111125" y="0"/>
                </a:moveTo>
                <a:lnTo>
                  <a:pt x="523875" y="0"/>
                </a:lnTo>
                <a:cubicBezTo>
                  <a:pt x="585207" y="0"/>
                  <a:pt x="635000" y="49793"/>
                  <a:pt x="635000" y="111125"/>
                </a:cubicBezTo>
                <a:lnTo>
                  <a:pt x="635000" y="111125"/>
                </a:lnTo>
                <a:cubicBezTo>
                  <a:pt x="635000" y="172457"/>
                  <a:pt x="585207" y="222250"/>
                  <a:pt x="5238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" y="2394765"/>
            <a:ext cx="6905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任务步骤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70000" y="2400300"/>
            <a:ext cx="635000" cy="222250"/>
          </a:xfrm>
          <a:custGeom>
            <a:avLst/>
            <a:gdLst/>
            <a:ahLst/>
            <a:cxnLst/>
            <a:rect l="l" t="t" r="r" b="b"/>
            <a:pathLst>
              <a:path w="635000" h="222250">
                <a:moveTo>
                  <a:pt x="111125" y="0"/>
                </a:moveTo>
                <a:lnTo>
                  <a:pt x="523875" y="0"/>
                </a:lnTo>
                <a:cubicBezTo>
                  <a:pt x="585207" y="0"/>
                  <a:pt x="635000" y="49793"/>
                  <a:pt x="635000" y="111125"/>
                </a:cubicBezTo>
                <a:lnTo>
                  <a:pt x="635000" y="111125"/>
                </a:lnTo>
                <a:cubicBezTo>
                  <a:pt x="635000" y="172457"/>
                  <a:pt x="585207" y="222250"/>
                  <a:pt x="5238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270000" y="2394765"/>
            <a:ext cx="690563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任务顺序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968500" y="2400300"/>
            <a:ext cx="1254125" cy="222250"/>
          </a:xfrm>
          <a:custGeom>
            <a:avLst/>
            <a:gdLst/>
            <a:ahLst/>
            <a:cxnLst/>
            <a:rect l="l" t="t" r="r" b="b"/>
            <a:pathLst>
              <a:path w="1254125" h="222250">
                <a:moveTo>
                  <a:pt x="111125" y="0"/>
                </a:moveTo>
                <a:lnTo>
                  <a:pt x="1143000" y="0"/>
                </a:lnTo>
                <a:cubicBezTo>
                  <a:pt x="1204332" y="0"/>
                  <a:pt x="1254125" y="49793"/>
                  <a:pt x="1254125" y="111125"/>
                </a:cubicBezTo>
                <a:lnTo>
                  <a:pt x="1254125" y="111125"/>
                </a:lnTo>
                <a:cubicBezTo>
                  <a:pt x="1254125" y="172457"/>
                  <a:pt x="1204332" y="222250"/>
                  <a:pt x="1143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968500" y="2416518"/>
            <a:ext cx="13096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良品条件（3+1模式）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3375" y="2940050"/>
            <a:ext cx="5699125" cy="2740025"/>
          </a:xfrm>
          <a:custGeom>
            <a:avLst/>
            <a:gdLst/>
            <a:ahLst/>
            <a:cxnLst/>
            <a:rect l="l" t="t" r="r" b="b"/>
            <a:pathLst>
              <a:path w="5699125" h="2651125">
                <a:moveTo>
                  <a:pt x="31750" y="0"/>
                </a:moveTo>
                <a:lnTo>
                  <a:pt x="5603863" y="0"/>
                </a:lnTo>
                <a:cubicBezTo>
                  <a:pt x="5656475" y="0"/>
                  <a:pt x="5699125" y="40700"/>
                  <a:pt x="5699125" y="90907"/>
                </a:cubicBezTo>
                <a:lnTo>
                  <a:pt x="5699125" y="2560218"/>
                </a:lnTo>
                <a:cubicBezTo>
                  <a:pt x="5699125" y="2610425"/>
                  <a:pt x="5656475" y="2651125"/>
                  <a:pt x="5603863" y="2651125"/>
                </a:cubicBezTo>
                <a:lnTo>
                  <a:pt x="31750" y="2651125"/>
                </a:lnTo>
                <a:cubicBezTo>
                  <a:pt x="14227" y="2651125"/>
                  <a:pt x="0" y="2637549"/>
                  <a:pt x="0" y="2620826"/>
                </a:cubicBezTo>
                <a:lnTo>
                  <a:pt x="0" y="30299"/>
                </a:lnTo>
                <a:cubicBezTo>
                  <a:pt x="0" y="13576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3375" y="2940050"/>
            <a:ext cx="31750" cy="2778125"/>
          </a:xfrm>
          <a:custGeom>
            <a:avLst/>
            <a:gdLst/>
            <a:ahLst/>
            <a:cxnLst/>
            <a:rect l="l" t="t" r="r" b="b"/>
            <a:pathLst>
              <a:path w="31750" h="2778125">
                <a:moveTo>
                  <a:pt x="31750" y="0"/>
                </a:moveTo>
                <a:lnTo>
                  <a:pt x="31750" y="0"/>
                </a:lnTo>
                <a:lnTo>
                  <a:pt x="31750" y="2778125"/>
                </a:lnTo>
                <a:lnTo>
                  <a:pt x="31750" y="2778125"/>
                </a:lnTo>
                <a:cubicBezTo>
                  <a:pt x="14227" y="2778125"/>
                  <a:pt x="0" y="2763898"/>
                  <a:pt x="0" y="2746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76250" y="30670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556617" y="3154363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62536" y="27096"/>
                </a:moveTo>
                <a:lnTo>
                  <a:pt x="62536" y="40937"/>
                </a:lnTo>
                <a:lnTo>
                  <a:pt x="62675" y="41077"/>
                </a:lnTo>
                <a:cubicBezTo>
                  <a:pt x="64489" y="18083"/>
                  <a:pt x="83716" y="0"/>
                  <a:pt x="107184" y="0"/>
                </a:cubicBezTo>
                <a:cubicBezTo>
                  <a:pt x="112793" y="0"/>
                  <a:pt x="118179" y="1032"/>
                  <a:pt x="123118" y="2930"/>
                </a:cubicBezTo>
                <a:cubicBezTo>
                  <a:pt x="125909" y="3990"/>
                  <a:pt x="126411" y="7534"/>
                  <a:pt x="124318" y="9655"/>
                </a:cubicBezTo>
                <a:lnTo>
                  <a:pt x="99566" y="34407"/>
                </a:lnTo>
                <a:cubicBezTo>
                  <a:pt x="98729" y="35244"/>
                  <a:pt x="98254" y="36388"/>
                  <a:pt x="98254" y="37560"/>
                </a:cubicBezTo>
                <a:lnTo>
                  <a:pt x="98254" y="49113"/>
                </a:lnTo>
                <a:cubicBezTo>
                  <a:pt x="98254" y="51569"/>
                  <a:pt x="100264" y="53578"/>
                  <a:pt x="102719" y="53578"/>
                </a:cubicBezTo>
                <a:lnTo>
                  <a:pt x="114272" y="53578"/>
                </a:lnTo>
                <a:cubicBezTo>
                  <a:pt x="115444" y="53578"/>
                  <a:pt x="116588" y="53104"/>
                  <a:pt x="117425" y="52267"/>
                </a:cubicBezTo>
                <a:lnTo>
                  <a:pt x="142177" y="27515"/>
                </a:lnTo>
                <a:cubicBezTo>
                  <a:pt x="144298" y="25394"/>
                  <a:pt x="147842" y="25924"/>
                  <a:pt x="148903" y="28715"/>
                </a:cubicBezTo>
                <a:cubicBezTo>
                  <a:pt x="150800" y="33654"/>
                  <a:pt x="151833" y="39039"/>
                  <a:pt x="151833" y="44648"/>
                </a:cubicBezTo>
                <a:cubicBezTo>
                  <a:pt x="151833" y="61559"/>
                  <a:pt x="142429" y="76293"/>
                  <a:pt x="128532" y="83855"/>
                </a:cubicBezTo>
                <a:lnTo>
                  <a:pt x="151274" y="106598"/>
                </a:lnTo>
                <a:cubicBezTo>
                  <a:pt x="156493" y="111816"/>
                  <a:pt x="156493" y="120300"/>
                  <a:pt x="151274" y="125546"/>
                </a:cubicBezTo>
                <a:lnTo>
                  <a:pt x="134503" y="142317"/>
                </a:lnTo>
                <a:cubicBezTo>
                  <a:pt x="129285" y="147535"/>
                  <a:pt x="120802" y="147535"/>
                  <a:pt x="115556" y="142317"/>
                </a:cubicBezTo>
                <a:lnTo>
                  <a:pt x="80395" y="107156"/>
                </a:lnTo>
                <a:cubicBezTo>
                  <a:pt x="72749" y="99510"/>
                  <a:pt x="71019" y="88209"/>
                  <a:pt x="75233" y="78888"/>
                </a:cubicBezTo>
                <a:lnTo>
                  <a:pt x="49923" y="53578"/>
                </a:lnTo>
                <a:lnTo>
                  <a:pt x="36082" y="53578"/>
                </a:lnTo>
                <a:cubicBezTo>
                  <a:pt x="33096" y="53578"/>
                  <a:pt x="30305" y="52099"/>
                  <a:pt x="28659" y="49616"/>
                </a:cubicBezTo>
                <a:lnTo>
                  <a:pt x="6530" y="16436"/>
                </a:lnTo>
                <a:cubicBezTo>
                  <a:pt x="5358" y="14678"/>
                  <a:pt x="5581" y="12306"/>
                  <a:pt x="7088" y="10799"/>
                </a:cubicBezTo>
                <a:lnTo>
                  <a:pt x="19757" y="-1870"/>
                </a:lnTo>
                <a:cubicBezTo>
                  <a:pt x="21264" y="-3377"/>
                  <a:pt x="23608" y="-3600"/>
                  <a:pt x="25394" y="-2428"/>
                </a:cubicBezTo>
                <a:lnTo>
                  <a:pt x="58573" y="19673"/>
                </a:lnTo>
                <a:cubicBezTo>
                  <a:pt x="61057" y="21320"/>
                  <a:pt x="62536" y="24110"/>
                  <a:pt x="62536" y="27096"/>
                </a:cubicBezTo>
                <a:close/>
                <a:moveTo>
                  <a:pt x="60164" y="82767"/>
                </a:moveTo>
                <a:cubicBezTo>
                  <a:pt x="58406" y="93092"/>
                  <a:pt x="60833" y="104003"/>
                  <a:pt x="67531" y="112737"/>
                </a:cubicBezTo>
                <a:lnTo>
                  <a:pt x="41021" y="139219"/>
                </a:lnTo>
                <a:cubicBezTo>
                  <a:pt x="33179" y="147061"/>
                  <a:pt x="20455" y="147061"/>
                  <a:pt x="12613" y="139219"/>
                </a:cubicBezTo>
                <a:cubicBezTo>
                  <a:pt x="4772" y="131378"/>
                  <a:pt x="4772" y="118653"/>
                  <a:pt x="12613" y="110812"/>
                </a:cubicBezTo>
                <a:lnTo>
                  <a:pt x="50397" y="73028"/>
                </a:lnTo>
                <a:lnTo>
                  <a:pt x="60164" y="8279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889000" y="3114675"/>
            <a:ext cx="1627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良品条件（3+1模式）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6250" y="3708995"/>
            <a:ext cx="2682875" cy="563563"/>
          </a:xfrm>
          <a:custGeom>
            <a:avLst/>
            <a:gdLst/>
            <a:ahLst/>
            <a:cxnLst/>
            <a:rect l="l" t="t" r="r" b="b"/>
            <a:pathLst>
              <a:path w="2682875" h="563563">
                <a:moveTo>
                  <a:pt x="63502" y="0"/>
                </a:moveTo>
                <a:lnTo>
                  <a:pt x="2619373" y="0"/>
                </a:lnTo>
                <a:cubicBezTo>
                  <a:pt x="2654444" y="0"/>
                  <a:pt x="2682875" y="28431"/>
                  <a:pt x="2682875" y="63502"/>
                </a:cubicBezTo>
                <a:lnTo>
                  <a:pt x="2682875" y="500060"/>
                </a:lnTo>
                <a:cubicBezTo>
                  <a:pt x="2682875" y="535132"/>
                  <a:pt x="2654444" y="563563"/>
                  <a:pt x="2619373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71500" y="38042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26" name="Text 24"/>
          <p:cNvSpPr/>
          <p:nvPr/>
        </p:nvSpPr>
        <p:spPr>
          <a:xfrm>
            <a:off x="543719" y="3804245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5500" y="3804245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输入信息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1500" y="4026495"/>
            <a:ext cx="25479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明确工序所需的全部前置信息与数据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22625" y="3708995"/>
            <a:ext cx="2682875" cy="563563"/>
          </a:xfrm>
          <a:custGeom>
            <a:avLst/>
            <a:gdLst/>
            <a:ahLst/>
            <a:cxnLst/>
            <a:rect l="l" t="t" r="r" b="b"/>
            <a:pathLst>
              <a:path w="2682875" h="563563">
                <a:moveTo>
                  <a:pt x="63502" y="0"/>
                </a:moveTo>
                <a:lnTo>
                  <a:pt x="2619373" y="0"/>
                </a:lnTo>
                <a:cubicBezTo>
                  <a:pt x="2654444" y="0"/>
                  <a:pt x="2682875" y="28431"/>
                  <a:pt x="2682875" y="63502"/>
                </a:cubicBezTo>
                <a:lnTo>
                  <a:pt x="2682875" y="500060"/>
                </a:lnTo>
                <a:cubicBezTo>
                  <a:pt x="2682875" y="535132"/>
                  <a:pt x="2654444" y="563563"/>
                  <a:pt x="2619373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317875" y="38042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3290094" y="3804245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71875" y="3804245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所需工具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17875" y="4026495"/>
            <a:ext cx="25479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配备完成工序所需的全部工具与系统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76250" y="4415433"/>
            <a:ext cx="2682875" cy="563563"/>
          </a:xfrm>
          <a:custGeom>
            <a:avLst/>
            <a:gdLst/>
            <a:ahLst/>
            <a:cxnLst/>
            <a:rect l="l" t="t" r="r" b="b"/>
            <a:pathLst>
              <a:path w="2682875" h="563563">
                <a:moveTo>
                  <a:pt x="63502" y="0"/>
                </a:moveTo>
                <a:lnTo>
                  <a:pt x="2619373" y="0"/>
                </a:lnTo>
                <a:cubicBezTo>
                  <a:pt x="2654444" y="0"/>
                  <a:pt x="2682875" y="28431"/>
                  <a:pt x="2682875" y="63502"/>
                </a:cubicBezTo>
                <a:lnTo>
                  <a:pt x="2682875" y="500060"/>
                </a:lnTo>
                <a:cubicBezTo>
                  <a:pt x="2682875" y="535132"/>
                  <a:pt x="2654444" y="563563"/>
                  <a:pt x="2619373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1500" y="45106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543719" y="4510683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5500" y="4510683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必备能力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1500" y="4732933"/>
            <a:ext cx="25479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确保执行人员具备相应的专业技能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22625" y="4415433"/>
            <a:ext cx="2682875" cy="563563"/>
          </a:xfrm>
          <a:custGeom>
            <a:avLst/>
            <a:gdLst/>
            <a:ahLst/>
            <a:cxnLst/>
            <a:rect l="l" t="t" r="r" b="b"/>
            <a:pathLst>
              <a:path w="2682875" h="563563">
                <a:moveTo>
                  <a:pt x="63502" y="0"/>
                </a:moveTo>
                <a:lnTo>
                  <a:pt x="2619373" y="0"/>
                </a:lnTo>
                <a:cubicBezTo>
                  <a:pt x="2654444" y="0"/>
                  <a:pt x="2682875" y="28431"/>
                  <a:pt x="2682875" y="63502"/>
                </a:cubicBezTo>
                <a:lnTo>
                  <a:pt x="2682875" y="500060"/>
                </a:lnTo>
                <a:cubicBezTo>
                  <a:pt x="2682875" y="535132"/>
                  <a:pt x="2654444" y="563563"/>
                  <a:pt x="2619373" y="563563"/>
                </a:cubicBezTo>
                <a:lnTo>
                  <a:pt x="63502" y="563563"/>
                </a:lnTo>
                <a:cubicBezTo>
                  <a:pt x="28431" y="563563"/>
                  <a:pt x="0" y="535132"/>
                  <a:pt x="0" y="500060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317875" y="451068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lnTo>
                  <a:pt x="95250" y="0"/>
                </a:lnTo>
                <a:cubicBezTo>
                  <a:pt x="147820" y="0"/>
                  <a:pt x="190500" y="42680"/>
                  <a:pt x="190500" y="95250"/>
                </a:cubicBezTo>
                <a:lnTo>
                  <a:pt x="190500" y="95250"/>
                </a:lnTo>
                <a:cubicBezTo>
                  <a:pt x="190500" y="147820"/>
                  <a:pt x="147820" y="190500"/>
                  <a:pt x="95250" y="190500"/>
                </a:cubicBezTo>
                <a:lnTo>
                  <a:pt x="95250" y="190500"/>
                </a:lnTo>
                <a:cubicBezTo>
                  <a:pt x="42680" y="190500"/>
                  <a:pt x="0" y="147820"/>
                  <a:pt x="0" y="952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41" name="Text 39"/>
          <p:cNvSpPr/>
          <p:nvPr/>
        </p:nvSpPr>
        <p:spPr>
          <a:xfrm>
            <a:off x="3290094" y="4510683"/>
            <a:ext cx="246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71875" y="4510683"/>
            <a:ext cx="87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注意事项/技巧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317875" y="4732933"/>
            <a:ext cx="2547938" cy="15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总结执行过程中的关键注意点与技巧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5375" y="1003301"/>
            <a:ext cx="5699125" cy="4668838"/>
          </a:xfrm>
          <a:custGeom>
            <a:avLst/>
            <a:gdLst/>
            <a:ahLst/>
            <a:cxnLst/>
            <a:rect l="l" t="t" r="r" b="b"/>
            <a:pathLst>
              <a:path w="5699125" h="4714875">
                <a:moveTo>
                  <a:pt x="31750" y="0"/>
                </a:moveTo>
                <a:lnTo>
                  <a:pt x="5603885" y="0"/>
                </a:lnTo>
                <a:cubicBezTo>
                  <a:pt x="5656484" y="0"/>
                  <a:pt x="5699125" y="42641"/>
                  <a:pt x="5699125" y="95240"/>
                </a:cubicBezTo>
                <a:lnTo>
                  <a:pt x="5699125" y="4619635"/>
                </a:lnTo>
                <a:cubicBezTo>
                  <a:pt x="5699125" y="4672234"/>
                  <a:pt x="5656484" y="4714875"/>
                  <a:pt x="5603885" y="4714875"/>
                </a:cubicBezTo>
                <a:lnTo>
                  <a:pt x="31750" y="4714875"/>
                </a:lnTo>
                <a:cubicBezTo>
                  <a:pt x="14215" y="4714875"/>
                  <a:pt x="0" y="4700660"/>
                  <a:pt x="0" y="4683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75375" y="1003300"/>
            <a:ext cx="31750" cy="4714875"/>
          </a:xfrm>
          <a:custGeom>
            <a:avLst/>
            <a:gdLst/>
            <a:ahLst/>
            <a:cxnLst/>
            <a:rect l="l" t="t" r="r" b="b"/>
            <a:pathLst>
              <a:path w="31750" h="4714875">
                <a:moveTo>
                  <a:pt x="31750" y="0"/>
                </a:moveTo>
                <a:lnTo>
                  <a:pt x="31750" y="0"/>
                </a:lnTo>
                <a:lnTo>
                  <a:pt x="31750" y="4714875"/>
                </a:lnTo>
                <a:lnTo>
                  <a:pt x="31750" y="4714875"/>
                </a:lnTo>
                <a:cubicBezTo>
                  <a:pt x="14227" y="4714875"/>
                  <a:pt x="0" y="4700648"/>
                  <a:pt x="0" y="4683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6" name="Shape 44"/>
          <p:cNvSpPr/>
          <p:nvPr/>
        </p:nvSpPr>
        <p:spPr>
          <a:xfrm>
            <a:off x="6318250" y="11303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7" name="Shape 45"/>
          <p:cNvSpPr/>
          <p:nvPr/>
        </p:nvSpPr>
        <p:spPr>
          <a:xfrm>
            <a:off x="6389688" y="1217613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16058" y="58741"/>
                </a:moveTo>
                <a:cubicBezTo>
                  <a:pt x="119462" y="57820"/>
                  <a:pt x="123034" y="59438"/>
                  <a:pt x="124569" y="62592"/>
                </a:cubicBezTo>
                <a:lnTo>
                  <a:pt x="129760" y="73084"/>
                </a:lnTo>
                <a:cubicBezTo>
                  <a:pt x="132634" y="73475"/>
                  <a:pt x="135452" y="74256"/>
                  <a:pt x="138103" y="75344"/>
                </a:cubicBezTo>
                <a:lnTo>
                  <a:pt x="147870" y="68842"/>
                </a:lnTo>
                <a:cubicBezTo>
                  <a:pt x="150800" y="66889"/>
                  <a:pt x="154679" y="67280"/>
                  <a:pt x="157162" y="69763"/>
                </a:cubicBezTo>
                <a:lnTo>
                  <a:pt x="162520" y="75121"/>
                </a:lnTo>
                <a:cubicBezTo>
                  <a:pt x="165004" y="77605"/>
                  <a:pt x="165395" y="81511"/>
                  <a:pt x="163441" y="84413"/>
                </a:cubicBezTo>
                <a:lnTo>
                  <a:pt x="156939" y="94152"/>
                </a:lnTo>
                <a:cubicBezTo>
                  <a:pt x="157469" y="95464"/>
                  <a:pt x="157944" y="96831"/>
                  <a:pt x="158335" y="98254"/>
                </a:cubicBezTo>
                <a:cubicBezTo>
                  <a:pt x="158725" y="99678"/>
                  <a:pt x="158976" y="101073"/>
                  <a:pt x="159172" y="102496"/>
                </a:cubicBezTo>
                <a:lnTo>
                  <a:pt x="169692" y="107686"/>
                </a:lnTo>
                <a:cubicBezTo>
                  <a:pt x="172845" y="109249"/>
                  <a:pt x="174464" y="112821"/>
                  <a:pt x="173543" y="116198"/>
                </a:cubicBezTo>
                <a:lnTo>
                  <a:pt x="171590" y="123509"/>
                </a:lnTo>
                <a:cubicBezTo>
                  <a:pt x="170669" y="126885"/>
                  <a:pt x="167515" y="129174"/>
                  <a:pt x="163999" y="128950"/>
                </a:cubicBezTo>
                <a:lnTo>
                  <a:pt x="152279" y="128197"/>
                </a:lnTo>
                <a:cubicBezTo>
                  <a:pt x="150521" y="130457"/>
                  <a:pt x="148484" y="132550"/>
                  <a:pt x="146168" y="134336"/>
                </a:cubicBezTo>
                <a:lnTo>
                  <a:pt x="146921" y="146028"/>
                </a:lnTo>
                <a:cubicBezTo>
                  <a:pt x="147145" y="149544"/>
                  <a:pt x="144856" y="152726"/>
                  <a:pt x="141480" y="153619"/>
                </a:cubicBezTo>
                <a:lnTo>
                  <a:pt x="134169" y="155572"/>
                </a:lnTo>
                <a:cubicBezTo>
                  <a:pt x="130764" y="156493"/>
                  <a:pt x="127220" y="154874"/>
                  <a:pt x="125657" y="151721"/>
                </a:cubicBezTo>
                <a:lnTo>
                  <a:pt x="120467" y="141229"/>
                </a:lnTo>
                <a:cubicBezTo>
                  <a:pt x="117593" y="140838"/>
                  <a:pt x="114774" y="140057"/>
                  <a:pt x="112123" y="138968"/>
                </a:cubicBezTo>
                <a:lnTo>
                  <a:pt x="102357" y="145470"/>
                </a:lnTo>
                <a:cubicBezTo>
                  <a:pt x="99426" y="147424"/>
                  <a:pt x="95548" y="147033"/>
                  <a:pt x="93064" y="144549"/>
                </a:cubicBezTo>
                <a:lnTo>
                  <a:pt x="87706" y="139192"/>
                </a:lnTo>
                <a:cubicBezTo>
                  <a:pt x="85223" y="136708"/>
                  <a:pt x="84832" y="132829"/>
                  <a:pt x="86785" y="129899"/>
                </a:cubicBezTo>
                <a:lnTo>
                  <a:pt x="93287" y="120132"/>
                </a:lnTo>
                <a:cubicBezTo>
                  <a:pt x="92757" y="118821"/>
                  <a:pt x="92283" y="117453"/>
                  <a:pt x="91892" y="116030"/>
                </a:cubicBezTo>
                <a:cubicBezTo>
                  <a:pt x="91501" y="114607"/>
                  <a:pt x="91250" y="113184"/>
                  <a:pt x="91055" y="111789"/>
                </a:cubicBezTo>
                <a:lnTo>
                  <a:pt x="80535" y="106598"/>
                </a:lnTo>
                <a:cubicBezTo>
                  <a:pt x="77381" y="105035"/>
                  <a:pt x="75791" y="101464"/>
                  <a:pt x="76684" y="98087"/>
                </a:cubicBezTo>
                <a:lnTo>
                  <a:pt x="78637" y="90776"/>
                </a:lnTo>
                <a:cubicBezTo>
                  <a:pt x="79558" y="87399"/>
                  <a:pt x="82711" y="85111"/>
                  <a:pt x="86227" y="85334"/>
                </a:cubicBezTo>
                <a:lnTo>
                  <a:pt x="97920" y="86088"/>
                </a:lnTo>
                <a:cubicBezTo>
                  <a:pt x="99678" y="83827"/>
                  <a:pt x="101715" y="81735"/>
                  <a:pt x="104031" y="79949"/>
                </a:cubicBezTo>
                <a:lnTo>
                  <a:pt x="103277" y="68284"/>
                </a:lnTo>
                <a:cubicBezTo>
                  <a:pt x="103054" y="64768"/>
                  <a:pt x="105342" y="61587"/>
                  <a:pt x="108719" y="60694"/>
                </a:cubicBezTo>
                <a:lnTo>
                  <a:pt x="116030" y="58741"/>
                </a:lnTo>
                <a:close/>
                <a:moveTo>
                  <a:pt x="125127" y="94878"/>
                </a:moveTo>
                <a:cubicBezTo>
                  <a:pt x="118351" y="94886"/>
                  <a:pt x="112855" y="100394"/>
                  <a:pt x="112863" y="107170"/>
                </a:cubicBezTo>
                <a:cubicBezTo>
                  <a:pt x="112871" y="113947"/>
                  <a:pt x="118379" y="119442"/>
                  <a:pt x="125155" y="119435"/>
                </a:cubicBezTo>
                <a:cubicBezTo>
                  <a:pt x="131932" y="119427"/>
                  <a:pt x="137427" y="113919"/>
                  <a:pt x="137420" y="107142"/>
                </a:cubicBezTo>
                <a:cubicBezTo>
                  <a:pt x="137412" y="100366"/>
                  <a:pt x="131904" y="94870"/>
                  <a:pt x="125127" y="94878"/>
                </a:cubicBezTo>
                <a:close/>
                <a:moveTo>
                  <a:pt x="62759" y="-12697"/>
                </a:moveTo>
                <a:lnTo>
                  <a:pt x="70070" y="-10744"/>
                </a:lnTo>
                <a:cubicBezTo>
                  <a:pt x="73447" y="-9823"/>
                  <a:pt x="75735" y="-6641"/>
                  <a:pt x="75512" y="-3153"/>
                </a:cubicBezTo>
                <a:lnTo>
                  <a:pt x="74758" y="8511"/>
                </a:lnTo>
                <a:cubicBezTo>
                  <a:pt x="77074" y="10297"/>
                  <a:pt x="79111" y="12362"/>
                  <a:pt x="80869" y="14650"/>
                </a:cubicBezTo>
                <a:lnTo>
                  <a:pt x="92590" y="13897"/>
                </a:lnTo>
                <a:cubicBezTo>
                  <a:pt x="96078" y="13674"/>
                  <a:pt x="99259" y="15962"/>
                  <a:pt x="100180" y="19338"/>
                </a:cubicBezTo>
                <a:lnTo>
                  <a:pt x="102133" y="26650"/>
                </a:lnTo>
                <a:cubicBezTo>
                  <a:pt x="103026" y="30026"/>
                  <a:pt x="101436" y="33598"/>
                  <a:pt x="98282" y="35161"/>
                </a:cubicBezTo>
                <a:lnTo>
                  <a:pt x="87762" y="40351"/>
                </a:lnTo>
                <a:cubicBezTo>
                  <a:pt x="87567" y="41774"/>
                  <a:pt x="87288" y="43197"/>
                  <a:pt x="86925" y="44593"/>
                </a:cubicBezTo>
                <a:cubicBezTo>
                  <a:pt x="86562" y="45988"/>
                  <a:pt x="86060" y="47383"/>
                  <a:pt x="85530" y="48695"/>
                </a:cubicBezTo>
                <a:lnTo>
                  <a:pt x="92032" y="58462"/>
                </a:lnTo>
                <a:cubicBezTo>
                  <a:pt x="93985" y="61392"/>
                  <a:pt x="93594" y="65270"/>
                  <a:pt x="91111" y="67754"/>
                </a:cubicBezTo>
                <a:lnTo>
                  <a:pt x="85753" y="73112"/>
                </a:lnTo>
                <a:cubicBezTo>
                  <a:pt x="83269" y="75595"/>
                  <a:pt x="79391" y="75986"/>
                  <a:pt x="76460" y="74033"/>
                </a:cubicBezTo>
                <a:lnTo>
                  <a:pt x="66694" y="67531"/>
                </a:lnTo>
                <a:cubicBezTo>
                  <a:pt x="64043" y="68619"/>
                  <a:pt x="61224" y="69400"/>
                  <a:pt x="58350" y="69791"/>
                </a:cubicBezTo>
                <a:lnTo>
                  <a:pt x="53160" y="80283"/>
                </a:lnTo>
                <a:cubicBezTo>
                  <a:pt x="51597" y="83437"/>
                  <a:pt x="48025" y="85027"/>
                  <a:pt x="44648" y="84134"/>
                </a:cubicBezTo>
                <a:lnTo>
                  <a:pt x="37337" y="82181"/>
                </a:lnTo>
                <a:cubicBezTo>
                  <a:pt x="33933" y="81260"/>
                  <a:pt x="31672" y="78079"/>
                  <a:pt x="31896" y="74591"/>
                </a:cubicBezTo>
                <a:lnTo>
                  <a:pt x="32649" y="62898"/>
                </a:lnTo>
                <a:cubicBezTo>
                  <a:pt x="30333" y="61113"/>
                  <a:pt x="28296" y="59048"/>
                  <a:pt x="26538" y="56759"/>
                </a:cubicBezTo>
                <a:lnTo>
                  <a:pt x="14818" y="57513"/>
                </a:lnTo>
                <a:cubicBezTo>
                  <a:pt x="11330" y="57736"/>
                  <a:pt x="8148" y="55448"/>
                  <a:pt x="7227" y="52071"/>
                </a:cubicBezTo>
                <a:lnTo>
                  <a:pt x="5274" y="44760"/>
                </a:lnTo>
                <a:cubicBezTo>
                  <a:pt x="4381" y="41384"/>
                  <a:pt x="5972" y="37812"/>
                  <a:pt x="9125" y="36249"/>
                </a:cubicBezTo>
                <a:lnTo>
                  <a:pt x="19645" y="31059"/>
                </a:lnTo>
                <a:cubicBezTo>
                  <a:pt x="19841" y="29635"/>
                  <a:pt x="20120" y="28240"/>
                  <a:pt x="20482" y="26817"/>
                </a:cubicBezTo>
                <a:cubicBezTo>
                  <a:pt x="20873" y="25394"/>
                  <a:pt x="21320" y="24026"/>
                  <a:pt x="21878" y="22715"/>
                </a:cubicBezTo>
                <a:lnTo>
                  <a:pt x="15376" y="12976"/>
                </a:lnTo>
                <a:cubicBezTo>
                  <a:pt x="13422" y="10046"/>
                  <a:pt x="13813" y="6167"/>
                  <a:pt x="16297" y="3683"/>
                </a:cubicBezTo>
                <a:lnTo>
                  <a:pt x="21654" y="-1674"/>
                </a:lnTo>
                <a:cubicBezTo>
                  <a:pt x="24138" y="-4158"/>
                  <a:pt x="28017" y="-4549"/>
                  <a:pt x="30947" y="-2595"/>
                </a:cubicBezTo>
                <a:lnTo>
                  <a:pt x="40714" y="3907"/>
                </a:lnTo>
                <a:cubicBezTo>
                  <a:pt x="43365" y="2818"/>
                  <a:pt x="46183" y="2037"/>
                  <a:pt x="49057" y="1646"/>
                </a:cubicBezTo>
                <a:lnTo>
                  <a:pt x="54248" y="-8846"/>
                </a:lnTo>
                <a:cubicBezTo>
                  <a:pt x="55811" y="-11999"/>
                  <a:pt x="59355" y="-13590"/>
                  <a:pt x="62759" y="-12697"/>
                </a:cubicBezTo>
                <a:close/>
                <a:moveTo>
                  <a:pt x="53690" y="23440"/>
                </a:moveTo>
                <a:cubicBezTo>
                  <a:pt x="46913" y="23440"/>
                  <a:pt x="41411" y="28942"/>
                  <a:pt x="41411" y="35719"/>
                </a:cubicBezTo>
                <a:cubicBezTo>
                  <a:pt x="41411" y="42495"/>
                  <a:pt x="46913" y="47997"/>
                  <a:pt x="53690" y="47997"/>
                </a:cubicBezTo>
                <a:cubicBezTo>
                  <a:pt x="60466" y="47997"/>
                  <a:pt x="65968" y="42495"/>
                  <a:pt x="65968" y="35719"/>
                </a:cubicBezTo>
                <a:cubicBezTo>
                  <a:pt x="65968" y="28942"/>
                  <a:pt x="60466" y="23440"/>
                  <a:pt x="53690" y="234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731000" y="1177925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自工序落地方法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318250" y="1543050"/>
            <a:ext cx="54927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自工序是</a:t>
            </a:r>
            <a:r>
              <a:rPr lang="en-US" sz="1000" b="1" dirty="0">
                <a:solidFill>
                  <a:srgbClr val="475569"/>
                </a:solidFill>
                <a:highlight>
                  <a:srgbClr val="F59E0B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"工具组合+业务融合+协同共识" </a:t>
            </a:r>
            <a:r>
              <a:rPr lang="en-US" sz="100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的系统方法论，可通过以下工具落地：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18250" y="1844675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1" name="Shape 49"/>
          <p:cNvSpPr/>
          <p:nvPr/>
        </p:nvSpPr>
        <p:spPr>
          <a:xfrm>
            <a:off x="6451203" y="1971675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0" y="17859"/>
                </a:moveTo>
                <a:cubicBezTo>
                  <a:pt x="0" y="8009"/>
                  <a:pt x="8009" y="0"/>
                  <a:pt x="17859" y="0"/>
                </a:cubicBezTo>
                <a:lnTo>
                  <a:pt x="59578" y="0"/>
                </a:lnTo>
                <a:cubicBezTo>
                  <a:pt x="64322" y="0"/>
                  <a:pt x="68870" y="1870"/>
                  <a:pt x="72219" y="5218"/>
                </a:cubicBezTo>
                <a:lnTo>
                  <a:pt x="101938" y="34965"/>
                </a:lnTo>
                <a:cubicBezTo>
                  <a:pt x="105287" y="38314"/>
                  <a:pt x="107156" y="42863"/>
                  <a:pt x="107156" y="47606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17859"/>
                </a:lnTo>
                <a:close/>
                <a:moveTo>
                  <a:pt x="58043" y="16325"/>
                </a:moveTo>
                <a:lnTo>
                  <a:pt x="58043" y="42416"/>
                </a:lnTo>
                <a:cubicBezTo>
                  <a:pt x="58043" y="46127"/>
                  <a:pt x="61029" y="49113"/>
                  <a:pt x="64740" y="49113"/>
                </a:cubicBezTo>
                <a:lnTo>
                  <a:pt x="90832" y="49113"/>
                </a:lnTo>
                <a:lnTo>
                  <a:pt x="58043" y="16325"/>
                </a:lnTo>
                <a:close/>
                <a:moveTo>
                  <a:pt x="33486" y="71438"/>
                </a:moveTo>
                <a:cubicBezTo>
                  <a:pt x="29775" y="71438"/>
                  <a:pt x="26789" y="74423"/>
                  <a:pt x="26789" y="78135"/>
                </a:cubicBezTo>
                <a:cubicBezTo>
                  <a:pt x="26789" y="81846"/>
                  <a:pt x="29775" y="84832"/>
                  <a:pt x="33486" y="84832"/>
                </a:cubicBezTo>
                <a:lnTo>
                  <a:pt x="73670" y="84832"/>
                </a:lnTo>
                <a:cubicBezTo>
                  <a:pt x="77381" y="84832"/>
                  <a:pt x="80367" y="81846"/>
                  <a:pt x="80367" y="78135"/>
                </a:cubicBezTo>
                <a:cubicBezTo>
                  <a:pt x="80367" y="74423"/>
                  <a:pt x="77381" y="71438"/>
                  <a:pt x="73670" y="71438"/>
                </a:cubicBezTo>
                <a:lnTo>
                  <a:pt x="33486" y="71438"/>
                </a:lnTo>
                <a:close/>
                <a:moveTo>
                  <a:pt x="33486" y="98227"/>
                </a:moveTo>
                <a:cubicBezTo>
                  <a:pt x="29775" y="98227"/>
                  <a:pt x="26789" y="101212"/>
                  <a:pt x="26789" y="104924"/>
                </a:cubicBezTo>
                <a:cubicBezTo>
                  <a:pt x="26789" y="108635"/>
                  <a:pt x="29775" y="111621"/>
                  <a:pt x="33486" y="111621"/>
                </a:cubicBezTo>
                <a:lnTo>
                  <a:pt x="73670" y="111621"/>
                </a:lnTo>
                <a:cubicBezTo>
                  <a:pt x="77381" y="111621"/>
                  <a:pt x="80367" y="108635"/>
                  <a:pt x="80367" y="104924"/>
                </a:cubicBezTo>
                <a:cubicBezTo>
                  <a:pt x="80367" y="101212"/>
                  <a:pt x="77381" y="98227"/>
                  <a:pt x="73670" y="98227"/>
                </a:cubicBezTo>
                <a:lnTo>
                  <a:pt x="33486" y="98227"/>
                </a:ln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52" name="Text 50"/>
          <p:cNvSpPr/>
          <p:nvPr/>
        </p:nvSpPr>
        <p:spPr>
          <a:xfrm>
            <a:off x="6687344" y="1939925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自工序开题报告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87344" y="2162175"/>
            <a:ext cx="2944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明确项目背景、业务价值、现状问题、改善举措及资源计划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18250" y="2479675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5" name="Shape 53"/>
          <p:cNvSpPr/>
          <p:nvPr/>
        </p:nvSpPr>
        <p:spPr>
          <a:xfrm>
            <a:off x="6442273" y="260667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71438" y="44648"/>
                </a:moveTo>
                <a:lnTo>
                  <a:pt x="71438" y="71438"/>
                </a:lnTo>
                <a:lnTo>
                  <a:pt x="107156" y="71438"/>
                </a:lnTo>
                <a:lnTo>
                  <a:pt x="107156" y="44648"/>
                </a:lnTo>
                <a:lnTo>
                  <a:pt x="71438" y="44648"/>
                </a:lnTo>
                <a:close/>
                <a:moveTo>
                  <a:pt x="53578" y="44648"/>
                </a:moveTo>
                <a:lnTo>
                  <a:pt x="17859" y="44648"/>
                </a:lnTo>
                <a:lnTo>
                  <a:pt x="17859" y="71438"/>
                </a:lnTo>
                <a:lnTo>
                  <a:pt x="53578" y="71438"/>
                </a:lnTo>
                <a:lnTo>
                  <a:pt x="53578" y="44648"/>
                </a:lnTo>
                <a:close/>
                <a:moveTo>
                  <a:pt x="0" y="89297"/>
                </a:moveTo>
                <a:lnTo>
                  <a:pt x="0" y="26789"/>
                </a:lnTo>
                <a:cubicBezTo>
                  <a:pt x="0" y="16939"/>
                  <a:pt x="8009" y="8930"/>
                  <a:pt x="17859" y="8930"/>
                </a:cubicBezTo>
                <a:lnTo>
                  <a:pt x="107156" y="8930"/>
                </a:lnTo>
                <a:cubicBezTo>
                  <a:pt x="117007" y="8930"/>
                  <a:pt x="125016" y="16939"/>
                  <a:pt x="125016" y="26789"/>
                </a:cubicBez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89297"/>
                </a:lnTo>
                <a:close/>
                <a:moveTo>
                  <a:pt x="107156" y="89297"/>
                </a:moveTo>
                <a:lnTo>
                  <a:pt x="71438" y="89297"/>
                </a:lnTo>
                <a:lnTo>
                  <a:pt x="71438" y="116086"/>
                </a:lnTo>
                <a:lnTo>
                  <a:pt x="107156" y="116086"/>
                </a:lnTo>
                <a:lnTo>
                  <a:pt x="107156" y="89297"/>
                </a:lnTo>
                <a:close/>
                <a:moveTo>
                  <a:pt x="53578" y="116086"/>
                </a:moveTo>
                <a:lnTo>
                  <a:pt x="53578" y="89297"/>
                </a:lnTo>
                <a:lnTo>
                  <a:pt x="17859" y="89297"/>
                </a:lnTo>
                <a:lnTo>
                  <a:pt x="17859" y="116086"/>
                </a:lnTo>
                <a:lnTo>
                  <a:pt x="53578" y="11608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6" name="Text 54"/>
          <p:cNvSpPr/>
          <p:nvPr/>
        </p:nvSpPr>
        <p:spPr>
          <a:xfrm>
            <a:off x="6687344" y="2574925"/>
            <a:ext cx="261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业务整理表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687344" y="2797175"/>
            <a:ext cx="261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梳理工序边界，明确上下游输入输出要求及良品条件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18250" y="3114675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9" name="Shape 57"/>
          <p:cNvSpPr/>
          <p:nvPr/>
        </p:nvSpPr>
        <p:spPr>
          <a:xfrm>
            <a:off x="6433344" y="32416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37337" y="10130"/>
                </a:moveTo>
                <a:cubicBezTo>
                  <a:pt x="40379" y="12250"/>
                  <a:pt x="41104" y="16436"/>
                  <a:pt x="38984" y="19450"/>
                </a:cubicBezTo>
                <a:lnTo>
                  <a:pt x="23357" y="41774"/>
                </a:lnTo>
                <a:cubicBezTo>
                  <a:pt x="22213" y="43393"/>
                  <a:pt x="20427" y="44425"/>
                  <a:pt x="18445" y="44593"/>
                </a:cubicBezTo>
                <a:cubicBezTo>
                  <a:pt x="16464" y="44760"/>
                  <a:pt x="14511" y="44090"/>
                  <a:pt x="13115" y="42695"/>
                </a:cubicBezTo>
                <a:lnTo>
                  <a:pt x="1953" y="31533"/>
                </a:lnTo>
                <a:cubicBezTo>
                  <a:pt x="-642" y="28910"/>
                  <a:pt x="-642" y="24668"/>
                  <a:pt x="1953" y="22045"/>
                </a:cubicBezTo>
                <a:cubicBezTo>
                  <a:pt x="4549" y="19422"/>
                  <a:pt x="8818" y="19450"/>
                  <a:pt x="11441" y="22045"/>
                </a:cubicBezTo>
                <a:lnTo>
                  <a:pt x="16966" y="27570"/>
                </a:lnTo>
                <a:lnTo>
                  <a:pt x="28017" y="11776"/>
                </a:lnTo>
                <a:cubicBezTo>
                  <a:pt x="30138" y="8734"/>
                  <a:pt x="34323" y="8009"/>
                  <a:pt x="37337" y="10130"/>
                </a:cubicBezTo>
                <a:close/>
                <a:moveTo>
                  <a:pt x="37337" y="54778"/>
                </a:moveTo>
                <a:cubicBezTo>
                  <a:pt x="40379" y="56899"/>
                  <a:pt x="41104" y="61085"/>
                  <a:pt x="38984" y="64098"/>
                </a:cubicBezTo>
                <a:lnTo>
                  <a:pt x="23357" y="86423"/>
                </a:lnTo>
                <a:cubicBezTo>
                  <a:pt x="22213" y="88041"/>
                  <a:pt x="20427" y="89074"/>
                  <a:pt x="18445" y="89241"/>
                </a:cubicBezTo>
                <a:cubicBezTo>
                  <a:pt x="16464" y="89408"/>
                  <a:pt x="14511" y="88739"/>
                  <a:pt x="13115" y="87344"/>
                </a:cubicBezTo>
                <a:lnTo>
                  <a:pt x="1953" y="76181"/>
                </a:lnTo>
                <a:cubicBezTo>
                  <a:pt x="-670" y="73558"/>
                  <a:pt x="-670" y="69317"/>
                  <a:pt x="1953" y="66722"/>
                </a:cubicBezTo>
                <a:cubicBezTo>
                  <a:pt x="4576" y="64126"/>
                  <a:pt x="8818" y="64098"/>
                  <a:pt x="11413" y="66722"/>
                </a:cubicBezTo>
                <a:lnTo>
                  <a:pt x="16939" y="72247"/>
                </a:lnTo>
                <a:lnTo>
                  <a:pt x="27989" y="56452"/>
                </a:lnTo>
                <a:cubicBezTo>
                  <a:pt x="30110" y="53411"/>
                  <a:pt x="34296" y="52685"/>
                  <a:pt x="37309" y="54806"/>
                </a:cubicBezTo>
                <a:close/>
                <a:moveTo>
                  <a:pt x="62508" y="26789"/>
                </a:moveTo>
                <a:cubicBezTo>
                  <a:pt x="62508" y="21850"/>
                  <a:pt x="66498" y="17859"/>
                  <a:pt x="71438" y="17859"/>
                </a:cubicBezTo>
                <a:lnTo>
                  <a:pt x="133945" y="17859"/>
                </a:lnTo>
                <a:cubicBezTo>
                  <a:pt x="138885" y="17859"/>
                  <a:pt x="142875" y="21850"/>
                  <a:pt x="142875" y="26789"/>
                </a:cubicBezTo>
                <a:cubicBezTo>
                  <a:pt x="142875" y="31728"/>
                  <a:pt x="138885" y="35719"/>
                  <a:pt x="133945" y="35719"/>
                </a:cubicBezTo>
                <a:lnTo>
                  <a:pt x="71438" y="35719"/>
                </a:lnTo>
                <a:cubicBezTo>
                  <a:pt x="66498" y="35719"/>
                  <a:pt x="62508" y="31728"/>
                  <a:pt x="62508" y="26789"/>
                </a:cubicBezTo>
                <a:close/>
                <a:moveTo>
                  <a:pt x="62508" y="71438"/>
                </a:moveTo>
                <a:cubicBezTo>
                  <a:pt x="62508" y="66498"/>
                  <a:pt x="66498" y="62508"/>
                  <a:pt x="71438" y="62508"/>
                </a:cubicBezTo>
                <a:lnTo>
                  <a:pt x="133945" y="62508"/>
                </a:lnTo>
                <a:cubicBezTo>
                  <a:pt x="138885" y="62508"/>
                  <a:pt x="142875" y="66498"/>
                  <a:pt x="142875" y="71438"/>
                </a:cubicBezTo>
                <a:cubicBezTo>
                  <a:pt x="142875" y="76377"/>
                  <a:pt x="138885" y="80367"/>
                  <a:pt x="133945" y="80367"/>
                </a:cubicBezTo>
                <a:lnTo>
                  <a:pt x="71438" y="80367"/>
                </a:lnTo>
                <a:cubicBezTo>
                  <a:pt x="66498" y="80367"/>
                  <a:pt x="62508" y="76377"/>
                  <a:pt x="62508" y="71438"/>
                </a:cubicBezTo>
                <a:close/>
                <a:moveTo>
                  <a:pt x="44648" y="116086"/>
                </a:moveTo>
                <a:cubicBezTo>
                  <a:pt x="44648" y="111147"/>
                  <a:pt x="48639" y="107156"/>
                  <a:pt x="53578" y="107156"/>
                </a:cubicBezTo>
                <a:lnTo>
                  <a:pt x="133945" y="107156"/>
                </a:lnTo>
                <a:cubicBezTo>
                  <a:pt x="138885" y="107156"/>
                  <a:pt x="142875" y="111147"/>
                  <a:pt x="142875" y="116086"/>
                </a:cubicBezTo>
                <a:cubicBezTo>
                  <a:pt x="142875" y="121025"/>
                  <a:pt x="138885" y="125016"/>
                  <a:pt x="133945" y="125016"/>
                </a:cubicBezTo>
                <a:lnTo>
                  <a:pt x="53578" y="125016"/>
                </a:lnTo>
                <a:cubicBezTo>
                  <a:pt x="48639" y="125016"/>
                  <a:pt x="44648" y="121025"/>
                  <a:pt x="44648" y="116086"/>
                </a:cubicBezTo>
                <a:close/>
                <a:moveTo>
                  <a:pt x="17859" y="104924"/>
                </a:moveTo>
                <a:cubicBezTo>
                  <a:pt x="24020" y="104924"/>
                  <a:pt x="29021" y="109925"/>
                  <a:pt x="29021" y="116086"/>
                </a:cubicBezTo>
                <a:cubicBezTo>
                  <a:pt x="29021" y="122246"/>
                  <a:pt x="24020" y="127248"/>
                  <a:pt x="17859" y="127248"/>
                </a:cubicBezTo>
                <a:cubicBezTo>
                  <a:pt x="11699" y="127248"/>
                  <a:pt x="6697" y="122246"/>
                  <a:pt x="6697" y="116086"/>
                </a:cubicBezTo>
                <a:cubicBezTo>
                  <a:pt x="6697" y="109925"/>
                  <a:pt x="11699" y="104924"/>
                  <a:pt x="17859" y="10492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0" name="Text 58"/>
          <p:cNvSpPr/>
          <p:nvPr/>
        </p:nvSpPr>
        <p:spPr>
          <a:xfrm>
            <a:off x="6687344" y="3209925"/>
            <a:ext cx="217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要素整理表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87344" y="3432175"/>
            <a:ext cx="2166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拆解每个工序的关键活动，细化动作颗粒度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18250" y="3749675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3" name="Shape 61"/>
          <p:cNvSpPr/>
          <p:nvPr/>
        </p:nvSpPr>
        <p:spPr>
          <a:xfrm>
            <a:off x="6433344" y="3876675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0" y="22324"/>
                </a:moveTo>
                <a:cubicBezTo>
                  <a:pt x="0" y="14929"/>
                  <a:pt x="6000" y="8930"/>
                  <a:pt x="13395" y="8930"/>
                </a:cubicBezTo>
                <a:lnTo>
                  <a:pt x="40184" y="8930"/>
                </a:lnTo>
                <a:cubicBezTo>
                  <a:pt x="47578" y="8930"/>
                  <a:pt x="53578" y="14929"/>
                  <a:pt x="53578" y="22324"/>
                </a:cubicBezTo>
                <a:lnTo>
                  <a:pt x="53578" y="26789"/>
                </a:lnTo>
                <a:lnTo>
                  <a:pt x="89297" y="26789"/>
                </a:lnTo>
                <a:lnTo>
                  <a:pt x="89297" y="22324"/>
                </a:lnTo>
                <a:cubicBezTo>
                  <a:pt x="89297" y="14929"/>
                  <a:pt x="95297" y="8930"/>
                  <a:pt x="102691" y="8930"/>
                </a:cubicBezTo>
                <a:lnTo>
                  <a:pt x="129480" y="8930"/>
                </a:lnTo>
                <a:cubicBezTo>
                  <a:pt x="136875" y="8930"/>
                  <a:pt x="142875" y="14929"/>
                  <a:pt x="142875" y="22324"/>
                </a:cubicBezTo>
                <a:lnTo>
                  <a:pt x="142875" y="49113"/>
                </a:lnTo>
                <a:cubicBezTo>
                  <a:pt x="142875" y="56508"/>
                  <a:pt x="136875" y="62508"/>
                  <a:pt x="129480" y="62508"/>
                </a:cubicBezTo>
                <a:lnTo>
                  <a:pt x="102691" y="62508"/>
                </a:lnTo>
                <a:cubicBezTo>
                  <a:pt x="95297" y="62508"/>
                  <a:pt x="89297" y="56508"/>
                  <a:pt x="89297" y="49113"/>
                </a:cubicBezTo>
                <a:lnTo>
                  <a:pt x="89297" y="44648"/>
                </a:lnTo>
                <a:lnTo>
                  <a:pt x="53578" y="44648"/>
                </a:lnTo>
                <a:lnTo>
                  <a:pt x="53578" y="49113"/>
                </a:lnTo>
                <a:cubicBezTo>
                  <a:pt x="53578" y="51150"/>
                  <a:pt x="53104" y="53104"/>
                  <a:pt x="52294" y="54834"/>
                </a:cubicBezTo>
                <a:lnTo>
                  <a:pt x="71438" y="80367"/>
                </a:lnTo>
                <a:lnTo>
                  <a:pt x="93762" y="80367"/>
                </a:lnTo>
                <a:cubicBezTo>
                  <a:pt x="101157" y="80367"/>
                  <a:pt x="107156" y="86367"/>
                  <a:pt x="107156" y="93762"/>
                </a:cubicBezTo>
                <a:lnTo>
                  <a:pt x="107156" y="120551"/>
                </a:lnTo>
                <a:cubicBezTo>
                  <a:pt x="107156" y="127946"/>
                  <a:pt x="101157" y="133945"/>
                  <a:pt x="93762" y="133945"/>
                </a:cubicBezTo>
                <a:lnTo>
                  <a:pt x="66973" y="133945"/>
                </a:lnTo>
                <a:cubicBezTo>
                  <a:pt x="59578" y="133945"/>
                  <a:pt x="53578" y="127946"/>
                  <a:pt x="53578" y="120551"/>
                </a:cubicBezTo>
                <a:lnTo>
                  <a:pt x="53578" y="93762"/>
                </a:lnTo>
                <a:cubicBezTo>
                  <a:pt x="53578" y="91725"/>
                  <a:pt x="54053" y="89771"/>
                  <a:pt x="54862" y="88041"/>
                </a:cubicBezTo>
                <a:lnTo>
                  <a:pt x="35719" y="62508"/>
                </a:lnTo>
                <a:lnTo>
                  <a:pt x="13395" y="62508"/>
                </a:lnTo>
                <a:cubicBezTo>
                  <a:pt x="6000" y="62508"/>
                  <a:pt x="0" y="56508"/>
                  <a:pt x="0" y="49113"/>
                </a:cubicBezTo>
                <a:lnTo>
                  <a:pt x="0" y="22324"/>
                </a:ln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64" name="Text 62"/>
          <p:cNvSpPr/>
          <p:nvPr/>
        </p:nvSpPr>
        <p:spPr>
          <a:xfrm>
            <a:off x="6687344" y="3844925"/>
            <a:ext cx="195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流程图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687344" y="4067175"/>
            <a:ext cx="1944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明确流程活动间的逻辑关系及时间要求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18250" y="4384675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7" name="Shape 65"/>
          <p:cNvSpPr/>
          <p:nvPr/>
        </p:nvSpPr>
        <p:spPr>
          <a:xfrm>
            <a:off x="6442273" y="4511675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07156" y="26789"/>
                </a:moveTo>
                <a:lnTo>
                  <a:pt x="71438" y="26789"/>
                </a:lnTo>
                <a:lnTo>
                  <a:pt x="71438" y="62508"/>
                </a:lnTo>
                <a:lnTo>
                  <a:pt x="107156" y="62508"/>
                </a:lnTo>
                <a:lnTo>
                  <a:pt x="107156" y="26789"/>
                </a:lnTo>
                <a:close/>
                <a:moveTo>
                  <a:pt x="125016" y="62508"/>
                </a:moveTo>
                <a:lnTo>
                  <a:pt x="125016" y="116086"/>
                </a:lnTo>
                <a:cubicBezTo>
                  <a:pt x="125016" y="125936"/>
                  <a:pt x="117007" y="133945"/>
                  <a:pt x="107156" y="133945"/>
                </a:cubicBezTo>
                <a:lnTo>
                  <a:pt x="17859" y="133945"/>
                </a:lnTo>
                <a:cubicBezTo>
                  <a:pt x="8009" y="133945"/>
                  <a:pt x="0" y="125936"/>
                  <a:pt x="0" y="116086"/>
                </a:cubicBezTo>
                <a:lnTo>
                  <a:pt x="0" y="26789"/>
                </a:lnTo>
                <a:cubicBezTo>
                  <a:pt x="0" y="16939"/>
                  <a:pt x="8009" y="8930"/>
                  <a:pt x="17859" y="8930"/>
                </a:cubicBezTo>
                <a:lnTo>
                  <a:pt x="107156" y="8930"/>
                </a:lnTo>
                <a:cubicBezTo>
                  <a:pt x="117007" y="8930"/>
                  <a:pt x="125016" y="16939"/>
                  <a:pt x="125016" y="26789"/>
                </a:cubicBezTo>
                <a:lnTo>
                  <a:pt x="125016" y="62508"/>
                </a:lnTo>
                <a:close/>
                <a:moveTo>
                  <a:pt x="17859" y="80367"/>
                </a:moveTo>
                <a:lnTo>
                  <a:pt x="17859" y="116086"/>
                </a:lnTo>
                <a:lnTo>
                  <a:pt x="53578" y="116086"/>
                </a:lnTo>
                <a:lnTo>
                  <a:pt x="53578" y="80367"/>
                </a:lnTo>
                <a:lnTo>
                  <a:pt x="17859" y="80367"/>
                </a:lnTo>
                <a:close/>
                <a:moveTo>
                  <a:pt x="53578" y="62508"/>
                </a:moveTo>
                <a:lnTo>
                  <a:pt x="53578" y="26789"/>
                </a:lnTo>
                <a:lnTo>
                  <a:pt x="17859" y="26789"/>
                </a:lnTo>
                <a:lnTo>
                  <a:pt x="17859" y="62508"/>
                </a:lnTo>
                <a:lnTo>
                  <a:pt x="53578" y="62508"/>
                </a:lnTo>
                <a:close/>
                <a:moveTo>
                  <a:pt x="71438" y="80367"/>
                </a:moveTo>
                <a:lnTo>
                  <a:pt x="71438" y="116086"/>
                </a:lnTo>
                <a:lnTo>
                  <a:pt x="107156" y="116086"/>
                </a:lnTo>
                <a:lnTo>
                  <a:pt x="107156" y="80367"/>
                </a:lnTo>
                <a:lnTo>
                  <a:pt x="71438" y="8036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8" name="Text 66"/>
          <p:cNvSpPr/>
          <p:nvPr/>
        </p:nvSpPr>
        <p:spPr>
          <a:xfrm>
            <a:off x="6687344" y="4479925"/>
            <a:ext cx="3198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"三表一图"工具集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687344" y="4702175"/>
            <a:ext cx="3190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良品条件表、作业要点表、缺陷预测表、角色职责图（RACI图）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18250" y="5019675"/>
            <a:ext cx="5429250" cy="571500"/>
          </a:xfrm>
          <a:custGeom>
            <a:avLst/>
            <a:gdLst/>
            <a:ahLst/>
            <a:cxnLst/>
            <a:rect l="l" t="t" r="r" b="b"/>
            <a:pathLst>
              <a:path w="5429250" h="571500">
                <a:moveTo>
                  <a:pt x="63499" y="0"/>
                </a:moveTo>
                <a:lnTo>
                  <a:pt x="5365751" y="0"/>
                </a:lnTo>
                <a:cubicBezTo>
                  <a:pt x="5400820" y="0"/>
                  <a:pt x="5429250" y="28430"/>
                  <a:pt x="5429250" y="63499"/>
                </a:cubicBezTo>
                <a:lnTo>
                  <a:pt x="5429250" y="508001"/>
                </a:lnTo>
                <a:cubicBezTo>
                  <a:pt x="5429250" y="543070"/>
                  <a:pt x="5400820" y="571500"/>
                  <a:pt x="5365751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71" name="Shape 69"/>
          <p:cNvSpPr/>
          <p:nvPr/>
        </p:nvSpPr>
        <p:spPr>
          <a:xfrm>
            <a:off x="6415484" y="5146675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89297" y="4465"/>
                </a:moveTo>
                <a:cubicBezTo>
                  <a:pt x="105314" y="4465"/>
                  <a:pt x="118318" y="17469"/>
                  <a:pt x="118318" y="33486"/>
                </a:cubicBezTo>
                <a:cubicBezTo>
                  <a:pt x="118318" y="49504"/>
                  <a:pt x="105314" y="62508"/>
                  <a:pt x="89297" y="62508"/>
                </a:cubicBezTo>
                <a:cubicBezTo>
                  <a:pt x="73279" y="62508"/>
                  <a:pt x="60275" y="49504"/>
                  <a:pt x="60275" y="33486"/>
                </a:cubicBezTo>
                <a:cubicBezTo>
                  <a:pt x="60275" y="17469"/>
                  <a:pt x="73279" y="4465"/>
                  <a:pt x="89297" y="4465"/>
                </a:cubicBezTo>
                <a:close/>
                <a:moveTo>
                  <a:pt x="26789" y="24557"/>
                </a:moveTo>
                <a:cubicBezTo>
                  <a:pt x="37878" y="24557"/>
                  <a:pt x="46881" y="33559"/>
                  <a:pt x="46881" y="44648"/>
                </a:cubicBezTo>
                <a:cubicBezTo>
                  <a:pt x="46881" y="55737"/>
                  <a:pt x="37878" y="64740"/>
                  <a:pt x="26789" y="64740"/>
                </a:cubicBezTo>
                <a:cubicBezTo>
                  <a:pt x="15700" y="64740"/>
                  <a:pt x="6697" y="55737"/>
                  <a:pt x="6697" y="44648"/>
                </a:cubicBezTo>
                <a:cubicBezTo>
                  <a:pt x="6697" y="33559"/>
                  <a:pt x="15700" y="24557"/>
                  <a:pt x="26789" y="24557"/>
                </a:cubicBezTo>
                <a:close/>
                <a:moveTo>
                  <a:pt x="0" y="116086"/>
                </a:moveTo>
                <a:cubicBezTo>
                  <a:pt x="0" y="96357"/>
                  <a:pt x="15990" y="80367"/>
                  <a:pt x="35719" y="80367"/>
                </a:cubicBezTo>
                <a:cubicBezTo>
                  <a:pt x="39291" y="80367"/>
                  <a:pt x="42751" y="80897"/>
                  <a:pt x="46016" y="81874"/>
                </a:cubicBezTo>
                <a:cubicBezTo>
                  <a:pt x="36835" y="92143"/>
                  <a:pt x="31254" y="105705"/>
                  <a:pt x="31254" y="120551"/>
                </a:cubicBezTo>
                <a:lnTo>
                  <a:pt x="31254" y="125016"/>
                </a:lnTo>
                <a:cubicBezTo>
                  <a:pt x="31254" y="128197"/>
                  <a:pt x="31924" y="131211"/>
                  <a:pt x="33124" y="133945"/>
                </a:cubicBezTo>
                <a:lnTo>
                  <a:pt x="8930" y="133945"/>
                </a:lnTo>
                <a:cubicBezTo>
                  <a:pt x="3990" y="133945"/>
                  <a:pt x="0" y="129955"/>
                  <a:pt x="0" y="125016"/>
                </a:cubicBezTo>
                <a:lnTo>
                  <a:pt x="0" y="116086"/>
                </a:lnTo>
                <a:close/>
                <a:moveTo>
                  <a:pt x="145470" y="133945"/>
                </a:moveTo>
                <a:cubicBezTo>
                  <a:pt x="146670" y="131211"/>
                  <a:pt x="147340" y="128197"/>
                  <a:pt x="147340" y="125016"/>
                </a:cubicBezTo>
                <a:lnTo>
                  <a:pt x="147340" y="120551"/>
                </a:lnTo>
                <a:cubicBezTo>
                  <a:pt x="147340" y="105705"/>
                  <a:pt x="141759" y="92143"/>
                  <a:pt x="132578" y="81874"/>
                </a:cubicBezTo>
                <a:cubicBezTo>
                  <a:pt x="135843" y="80897"/>
                  <a:pt x="139303" y="80367"/>
                  <a:pt x="142875" y="80367"/>
                </a:cubicBezTo>
                <a:cubicBezTo>
                  <a:pt x="162604" y="80367"/>
                  <a:pt x="178594" y="96357"/>
                  <a:pt x="178594" y="116086"/>
                </a:cubicBezTo>
                <a:lnTo>
                  <a:pt x="178594" y="125016"/>
                </a:lnTo>
                <a:cubicBezTo>
                  <a:pt x="178594" y="129955"/>
                  <a:pt x="174603" y="133945"/>
                  <a:pt x="169664" y="133945"/>
                </a:cubicBezTo>
                <a:lnTo>
                  <a:pt x="145470" y="133945"/>
                </a:lnTo>
                <a:close/>
                <a:moveTo>
                  <a:pt x="131713" y="44648"/>
                </a:moveTo>
                <a:cubicBezTo>
                  <a:pt x="131713" y="33559"/>
                  <a:pt x="140716" y="24557"/>
                  <a:pt x="151805" y="24557"/>
                </a:cubicBezTo>
                <a:cubicBezTo>
                  <a:pt x="162894" y="24557"/>
                  <a:pt x="171896" y="33559"/>
                  <a:pt x="171896" y="44648"/>
                </a:cubicBezTo>
                <a:cubicBezTo>
                  <a:pt x="171896" y="55737"/>
                  <a:pt x="162894" y="64740"/>
                  <a:pt x="151805" y="64740"/>
                </a:cubicBezTo>
                <a:cubicBezTo>
                  <a:pt x="140716" y="64740"/>
                  <a:pt x="131713" y="55737"/>
                  <a:pt x="131713" y="44648"/>
                </a:cubicBezTo>
                <a:close/>
                <a:moveTo>
                  <a:pt x="44648" y="120551"/>
                </a:moveTo>
                <a:cubicBezTo>
                  <a:pt x="44648" y="95883"/>
                  <a:pt x="64629" y="75902"/>
                  <a:pt x="89297" y="75902"/>
                </a:cubicBezTo>
                <a:cubicBezTo>
                  <a:pt x="113965" y="75902"/>
                  <a:pt x="133945" y="95883"/>
                  <a:pt x="133945" y="120551"/>
                </a:cubicBezTo>
                <a:lnTo>
                  <a:pt x="133945" y="125016"/>
                </a:lnTo>
                <a:cubicBezTo>
                  <a:pt x="133945" y="129955"/>
                  <a:pt x="129955" y="133945"/>
                  <a:pt x="125016" y="133945"/>
                </a:cubicBezTo>
                <a:lnTo>
                  <a:pt x="53578" y="133945"/>
                </a:lnTo>
                <a:cubicBezTo>
                  <a:pt x="48639" y="133945"/>
                  <a:pt x="44648" y="129955"/>
                  <a:pt x="44648" y="125016"/>
                </a:cubicBezTo>
                <a:lnTo>
                  <a:pt x="44648" y="120551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2" name="Text 70"/>
          <p:cNvSpPr/>
          <p:nvPr/>
        </p:nvSpPr>
        <p:spPr>
          <a:xfrm>
            <a:off x="6687344" y="511492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"合意会议"机制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687344" y="5337175"/>
            <a:ext cx="227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明确关键角色职责，对齐共识并量化协同效果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33375" y="5718175"/>
            <a:ext cx="11541125" cy="938213"/>
          </a:xfrm>
          <a:custGeom>
            <a:avLst/>
            <a:gdLst/>
            <a:ahLst/>
            <a:cxnLst/>
            <a:rect l="l" t="t" r="r" b="b"/>
            <a:pathLst>
              <a:path w="11541125" h="1008063">
                <a:moveTo>
                  <a:pt x="31750" y="0"/>
                </a:moveTo>
                <a:lnTo>
                  <a:pt x="11445873" y="0"/>
                </a:lnTo>
                <a:cubicBezTo>
                  <a:pt x="11498479" y="0"/>
                  <a:pt x="11541125" y="42646"/>
                  <a:pt x="11541125" y="95252"/>
                </a:cubicBezTo>
                <a:lnTo>
                  <a:pt x="11541125" y="912811"/>
                </a:lnTo>
                <a:cubicBezTo>
                  <a:pt x="11541125" y="965417"/>
                  <a:pt x="11498479" y="1008063"/>
                  <a:pt x="11445873" y="1008063"/>
                </a:cubicBezTo>
                <a:lnTo>
                  <a:pt x="31750" y="1008063"/>
                </a:lnTo>
                <a:cubicBezTo>
                  <a:pt x="14227" y="1008063"/>
                  <a:pt x="0" y="993836"/>
                  <a:pt x="0" y="97631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10000"/>
                </a:srgbClr>
              </a:gs>
              <a:gs pos="100000">
                <a:srgbClr val="3B82F6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75" name="Shape 73"/>
          <p:cNvSpPr/>
          <p:nvPr/>
        </p:nvSpPr>
        <p:spPr>
          <a:xfrm>
            <a:off x="333375" y="5648325"/>
            <a:ext cx="31750" cy="1008063"/>
          </a:xfrm>
          <a:custGeom>
            <a:avLst/>
            <a:gdLst/>
            <a:ahLst/>
            <a:cxnLst/>
            <a:rect l="l" t="t" r="r" b="b"/>
            <a:pathLst>
              <a:path w="31750" h="1008063">
                <a:moveTo>
                  <a:pt x="31750" y="0"/>
                </a:moveTo>
                <a:lnTo>
                  <a:pt x="31750" y="0"/>
                </a:lnTo>
                <a:lnTo>
                  <a:pt x="31750" y="1008063"/>
                </a:lnTo>
                <a:lnTo>
                  <a:pt x="31750" y="1008063"/>
                </a:lnTo>
                <a:cubicBezTo>
                  <a:pt x="14227" y="1008063"/>
                  <a:pt x="0" y="993836"/>
                  <a:pt x="0" y="976312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76" name="Shape 74"/>
          <p:cNvSpPr/>
          <p:nvPr/>
        </p:nvSpPr>
        <p:spPr>
          <a:xfrm>
            <a:off x="468313" y="57435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77" name="Text 75"/>
          <p:cNvSpPr/>
          <p:nvPr/>
        </p:nvSpPr>
        <p:spPr>
          <a:xfrm>
            <a:off x="777875" y="5743575"/>
            <a:ext cx="11072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为什么用自工序解决业务问题？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777875" y="5965825"/>
            <a:ext cx="366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40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构建统一流程质量标准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583406" y="6165507"/>
            <a:ext cx="365918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通过明确的良品条件和判断基准，解决业务中模糊不清的问题，从流程维度保障工作一次到位，减少后道返工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4476750" y="5965825"/>
            <a:ext cx="366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避免流程僵化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4476750" y="6165507"/>
            <a:ext cx="3659187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聚焦各阶段输入输出的结果质量，业务部门可结合自身特点灵活设计中间执行过程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175625" y="5965825"/>
            <a:ext cx="366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提升流程质量意识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175625" y="6165507"/>
            <a:ext cx="3659187" cy="309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扭转依赖质量检测和后道管理的现状，转变为在工序过程中主动保证质量，只产出合格成果</a:t>
            </a:r>
            <a:endParaRPr lang="en-US" sz="1600" dirty="0"/>
          </a:p>
        </p:txBody>
      </p:sp>
      <p:pic>
        <p:nvPicPr>
          <p:cNvPr id="84" name="图片 83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.depositphotos.com/d549a5fd4cfb9e2e613a6335ee72da1e2cbcc754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95000"/>
                </a:srgbClr>
              </a:gs>
              <a:gs pos="100000">
                <a:srgbClr val="1E40AF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525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295275" y="1552575"/>
            <a:ext cx="933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145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619375"/>
            <a:ext cx="44577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1+2三层漏斗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管理框架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62475"/>
            <a:ext cx="4229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以季度预期兑现率为核心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构建碗里→锅里→田里三层漏斗管理体系</a:t>
            </a:r>
            <a:endParaRPr lang="en-US" sz="1600" dirty="0"/>
          </a:p>
        </p:txBody>
      </p:sp>
      <p:pic>
        <p:nvPicPr>
          <p:cNvPr id="9" name="图片 8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407" y="330407"/>
            <a:ext cx="1159726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kern="0" spc="52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</a:t>
            </a:r>
            <a:r>
              <a:rPr lang="en-US" sz="1041" b="1" kern="0" spc="52" dirty="0" smtClean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2.1 </a:t>
            </a:r>
            <a:r>
              <a:rPr lang="en-US" sz="1041" b="1" kern="0" spc="52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1+2三层漏斗管理框架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0407" y="594732"/>
            <a:ext cx="11679870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1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1+2管理核心定位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0407" y="1024260"/>
            <a:ext cx="660813" cy="33041"/>
          </a:xfrm>
          <a:custGeom>
            <a:avLst/>
            <a:gdLst/>
            <a:ahLst/>
            <a:cxnLst/>
            <a:rect l="l" t="t" r="r" b="b"/>
            <a:pathLst>
              <a:path w="660813" h="33041">
                <a:moveTo>
                  <a:pt x="0" y="0"/>
                </a:moveTo>
                <a:lnTo>
                  <a:pt x="660813" y="0"/>
                </a:lnTo>
                <a:lnTo>
                  <a:pt x="660813" y="33041"/>
                </a:lnTo>
                <a:lnTo>
                  <a:pt x="0" y="33041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30407" y="1189463"/>
            <a:ext cx="11531187" cy="2560650"/>
          </a:xfrm>
          <a:custGeom>
            <a:avLst/>
            <a:gdLst/>
            <a:ahLst/>
            <a:cxnLst/>
            <a:rect l="l" t="t" r="r" b="b"/>
            <a:pathLst>
              <a:path w="11531187" h="2560650">
                <a:moveTo>
                  <a:pt x="99123" y="0"/>
                </a:moveTo>
                <a:lnTo>
                  <a:pt x="11432064" y="0"/>
                </a:lnTo>
                <a:cubicBezTo>
                  <a:pt x="11486808" y="0"/>
                  <a:pt x="11531187" y="44379"/>
                  <a:pt x="11531187" y="99123"/>
                </a:cubicBezTo>
                <a:lnTo>
                  <a:pt x="11531187" y="2461528"/>
                </a:lnTo>
                <a:cubicBezTo>
                  <a:pt x="11531187" y="2516272"/>
                  <a:pt x="11486808" y="2560650"/>
                  <a:pt x="11432064" y="2560650"/>
                </a:cubicBezTo>
                <a:lnTo>
                  <a:pt x="99123" y="2560650"/>
                </a:lnTo>
                <a:cubicBezTo>
                  <a:pt x="44379" y="2560650"/>
                  <a:pt x="0" y="2516272"/>
                  <a:pt x="0" y="2461528"/>
                </a:cubicBezTo>
                <a:lnTo>
                  <a:pt x="0" y="99123"/>
                </a:lnTo>
                <a:cubicBezTo>
                  <a:pt x="0" y="44379"/>
                  <a:pt x="44379" y="0"/>
                  <a:pt x="991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561" dist="330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2569" y="1321626"/>
            <a:ext cx="462569" cy="462569"/>
          </a:xfrm>
          <a:custGeom>
            <a:avLst/>
            <a:gdLst/>
            <a:ahLst/>
            <a:cxnLst/>
            <a:rect l="l" t="t" r="r" b="b"/>
            <a:pathLst>
              <a:path w="462569" h="462569">
                <a:moveTo>
                  <a:pt x="99124" y="0"/>
                </a:moveTo>
                <a:lnTo>
                  <a:pt x="363445" y="0"/>
                </a:lnTo>
                <a:cubicBezTo>
                  <a:pt x="418153" y="0"/>
                  <a:pt x="462569" y="44416"/>
                  <a:pt x="462569" y="99124"/>
                </a:cubicBezTo>
                <a:lnTo>
                  <a:pt x="462569" y="363445"/>
                </a:lnTo>
                <a:cubicBezTo>
                  <a:pt x="462569" y="418190"/>
                  <a:pt x="418190" y="462569"/>
                  <a:pt x="363445" y="462569"/>
                </a:cubicBezTo>
                <a:lnTo>
                  <a:pt x="99124" y="462569"/>
                </a:lnTo>
                <a:cubicBezTo>
                  <a:pt x="44416" y="462569"/>
                  <a:pt x="0" y="418153"/>
                  <a:pt x="0" y="363445"/>
                </a:cubicBezTo>
                <a:lnTo>
                  <a:pt x="0" y="99124"/>
                </a:lnTo>
                <a:cubicBezTo>
                  <a:pt x="0" y="44379"/>
                  <a:pt x="44379" y="0"/>
                  <a:pt x="99124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7" name="Shape 5"/>
          <p:cNvSpPr/>
          <p:nvPr/>
        </p:nvSpPr>
        <p:spPr>
          <a:xfrm>
            <a:off x="594732" y="1453789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173463" y="99122"/>
                </a:moveTo>
                <a:cubicBezTo>
                  <a:pt x="173463" y="58092"/>
                  <a:pt x="140152" y="24780"/>
                  <a:pt x="99122" y="24780"/>
                </a:cubicBezTo>
                <a:cubicBezTo>
                  <a:pt x="58092" y="24780"/>
                  <a:pt x="24780" y="58092"/>
                  <a:pt x="24780" y="99122"/>
                </a:cubicBezTo>
                <a:cubicBezTo>
                  <a:pt x="24780" y="140152"/>
                  <a:pt x="58092" y="173463"/>
                  <a:pt x="99122" y="173463"/>
                </a:cubicBezTo>
                <a:cubicBezTo>
                  <a:pt x="140152" y="173463"/>
                  <a:pt x="173463" y="140152"/>
                  <a:pt x="173463" y="99122"/>
                </a:cubicBezTo>
                <a:close/>
                <a:moveTo>
                  <a:pt x="0" y="99122"/>
                </a:moveTo>
                <a:cubicBezTo>
                  <a:pt x="0" y="44415"/>
                  <a:pt x="44415" y="0"/>
                  <a:pt x="99122" y="0"/>
                </a:cubicBezTo>
                <a:cubicBezTo>
                  <a:pt x="153829" y="0"/>
                  <a:pt x="198244" y="44415"/>
                  <a:pt x="198244" y="99122"/>
                </a:cubicBezTo>
                <a:cubicBezTo>
                  <a:pt x="198244" y="153829"/>
                  <a:pt x="153829" y="198244"/>
                  <a:pt x="99122" y="198244"/>
                </a:cubicBezTo>
                <a:cubicBezTo>
                  <a:pt x="44415" y="198244"/>
                  <a:pt x="0" y="153829"/>
                  <a:pt x="0" y="99122"/>
                </a:cubicBezTo>
                <a:close/>
                <a:moveTo>
                  <a:pt x="99122" y="130098"/>
                </a:moveTo>
                <a:cubicBezTo>
                  <a:pt x="116218" y="130098"/>
                  <a:pt x="130098" y="116218"/>
                  <a:pt x="130098" y="99122"/>
                </a:cubicBezTo>
                <a:cubicBezTo>
                  <a:pt x="130098" y="82026"/>
                  <a:pt x="116218" y="68146"/>
                  <a:pt x="99122" y="68146"/>
                </a:cubicBezTo>
                <a:cubicBezTo>
                  <a:pt x="82026" y="68146"/>
                  <a:pt x="68146" y="82026"/>
                  <a:pt x="68146" y="99122"/>
                </a:cubicBezTo>
                <a:cubicBezTo>
                  <a:pt x="68146" y="116218"/>
                  <a:pt x="82026" y="130098"/>
                  <a:pt x="99122" y="130098"/>
                </a:cubicBezTo>
                <a:close/>
                <a:moveTo>
                  <a:pt x="99122" y="43366"/>
                </a:moveTo>
                <a:cubicBezTo>
                  <a:pt x="129895" y="43366"/>
                  <a:pt x="154878" y="68349"/>
                  <a:pt x="154878" y="99122"/>
                </a:cubicBezTo>
                <a:cubicBezTo>
                  <a:pt x="154878" y="129895"/>
                  <a:pt x="129895" y="154878"/>
                  <a:pt x="99122" y="154878"/>
                </a:cubicBezTo>
                <a:cubicBezTo>
                  <a:pt x="68349" y="154878"/>
                  <a:pt x="43366" y="129895"/>
                  <a:pt x="43366" y="99122"/>
                </a:cubicBezTo>
                <a:cubicBezTo>
                  <a:pt x="43366" y="68349"/>
                  <a:pt x="68349" y="43366"/>
                  <a:pt x="99122" y="43366"/>
                </a:cubicBezTo>
                <a:close/>
                <a:moveTo>
                  <a:pt x="86732" y="99122"/>
                </a:moveTo>
                <a:cubicBezTo>
                  <a:pt x="86732" y="92284"/>
                  <a:pt x="92284" y="86732"/>
                  <a:pt x="99122" y="86732"/>
                </a:cubicBezTo>
                <a:cubicBezTo>
                  <a:pt x="105960" y="86732"/>
                  <a:pt x="111512" y="92284"/>
                  <a:pt x="111512" y="99122"/>
                </a:cubicBezTo>
                <a:cubicBezTo>
                  <a:pt x="111512" y="105960"/>
                  <a:pt x="105960" y="111512"/>
                  <a:pt x="99122" y="111512"/>
                </a:cubicBezTo>
                <a:cubicBezTo>
                  <a:pt x="92284" y="111512"/>
                  <a:pt x="86732" y="105960"/>
                  <a:pt x="86732" y="991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57301" y="1321626"/>
            <a:ext cx="2081561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核心口径锚定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7301" y="1585850"/>
            <a:ext cx="2048520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以季度预期兑现率为核心考核指标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2569" y="1883317"/>
            <a:ext cx="11266862" cy="1420748"/>
          </a:xfrm>
          <a:custGeom>
            <a:avLst/>
            <a:gdLst/>
            <a:ahLst/>
            <a:cxnLst/>
            <a:rect l="l" t="t" r="r" b="b"/>
            <a:pathLst>
              <a:path w="11266862" h="1420748">
                <a:moveTo>
                  <a:pt x="99126" y="0"/>
                </a:moveTo>
                <a:lnTo>
                  <a:pt x="11167736" y="0"/>
                </a:lnTo>
                <a:cubicBezTo>
                  <a:pt x="11222482" y="0"/>
                  <a:pt x="11266862" y="44380"/>
                  <a:pt x="11266862" y="99126"/>
                </a:cubicBezTo>
                <a:lnTo>
                  <a:pt x="11266862" y="1321622"/>
                </a:lnTo>
                <a:cubicBezTo>
                  <a:pt x="11266862" y="1376368"/>
                  <a:pt x="11222482" y="1420748"/>
                  <a:pt x="11167736" y="1420748"/>
                </a:cubicBezTo>
                <a:lnTo>
                  <a:pt x="99126" y="1420748"/>
                </a:lnTo>
                <a:cubicBezTo>
                  <a:pt x="44380" y="1420748"/>
                  <a:pt x="0" y="1376368"/>
                  <a:pt x="0" y="1321622"/>
                </a:cubicBezTo>
                <a:lnTo>
                  <a:pt x="0" y="99126"/>
                </a:lnTo>
                <a:cubicBezTo>
                  <a:pt x="0" y="44417"/>
                  <a:pt x="44417" y="0"/>
                  <a:pt x="99126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810206" y="2015480"/>
            <a:ext cx="660813" cy="660813"/>
          </a:xfrm>
          <a:custGeom>
            <a:avLst/>
            <a:gdLst/>
            <a:ahLst/>
            <a:cxnLst/>
            <a:rect l="l" t="t" r="r" b="b"/>
            <a:pathLst>
              <a:path w="660813" h="660813">
                <a:moveTo>
                  <a:pt x="330407" y="0"/>
                </a:moveTo>
                <a:lnTo>
                  <a:pt x="330407" y="0"/>
                </a:lnTo>
                <a:cubicBezTo>
                  <a:pt x="512763" y="0"/>
                  <a:pt x="660813" y="148050"/>
                  <a:pt x="660813" y="330407"/>
                </a:cubicBezTo>
                <a:lnTo>
                  <a:pt x="660813" y="330407"/>
                </a:lnTo>
                <a:cubicBezTo>
                  <a:pt x="660813" y="512763"/>
                  <a:pt x="512763" y="660813"/>
                  <a:pt x="330407" y="660813"/>
                </a:cubicBezTo>
                <a:lnTo>
                  <a:pt x="330407" y="660813"/>
                </a:lnTo>
                <a:cubicBezTo>
                  <a:pt x="148050" y="660813"/>
                  <a:pt x="0" y="512763"/>
                  <a:pt x="0" y="330407"/>
                </a:cubicBezTo>
                <a:lnTo>
                  <a:pt x="0" y="330407"/>
                </a:lnTo>
                <a:cubicBezTo>
                  <a:pt x="0" y="148050"/>
                  <a:pt x="148050" y="0"/>
                  <a:pt x="330407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12" name="Shape 10"/>
          <p:cNvSpPr/>
          <p:nvPr/>
        </p:nvSpPr>
        <p:spPr>
          <a:xfrm>
            <a:off x="4018776" y="2221984"/>
            <a:ext cx="247805" cy="247805"/>
          </a:xfrm>
          <a:custGeom>
            <a:avLst/>
            <a:gdLst/>
            <a:ahLst/>
            <a:cxnLst/>
            <a:rect l="l" t="t" r="r" b="b"/>
            <a:pathLst>
              <a:path w="247805" h="247805">
                <a:moveTo>
                  <a:pt x="85183" y="19360"/>
                </a:moveTo>
                <a:cubicBezTo>
                  <a:pt x="85183" y="12923"/>
                  <a:pt x="90362" y="7744"/>
                  <a:pt x="96799" y="7744"/>
                </a:cubicBezTo>
                <a:lnTo>
                  <a:pt x="104543" y="7744"/>
                </a:lnTo>
                <a:cubicBezTo>
                  <a:pt x="110980" y="7744"/>
                  <a:pt x="116159" y="12923"/>
                  <a:pt x="116159" y="19360"/>
                </a:cubicBezTo>
                <a:cubicBezTo>
                  <a:pt x="116159" y="25797"/>
                  <a:pt x="110980" y="30976"/>
                  <a:pt x="104543" y="30976"/>
                </a:cubicBezTo>
                <a:lnTo>
                  <a:pt x="96799" y="30976"/>
                </a:lnTo>
                <a:cubicBezTo>
                  <a:pt x="90362" y="30976"/>
                  <a:pt x="85183" y="25797"/>
                  <a:pt x="85183" y="19360"/>
                </a:cubicBezTo>
                <a:close/>
                <a:moveTo>
                  <a:pt x="96799" y="42591"/>
                </a:moveTo>
                <a:lnTo>
                  <a:pt x="104543" y="42591"/>
                </a:lnTo>
                <a:cubicBezTo>
                  <a:pt x="110980" y="42591"/>
                  <a:pt x="116159" y="47770"/>
                  <a:pt x="116159" y="54207"/>
                </a:cubicBezTo>
                <a:cubicBezTo>
                  <a:pt x="116159" y="60644"/>
                  <a:pt x="110980" y="65823"/>
                  <a:pt x="104543" y="65823"/>
                </a:cubicBezTo>
                <a:lnTo>
                  <a:pt x="96799" y="65823"/>
                </a:lnTo>
                <a:cubicBezTo>
                  <a:pt x="90362" y="65823"/>
                  <a:pt x="85183" y="60644"/>
                  <a:pt x="85183" y="54207"/>
                </a:cubicBezTo>
                <a:cubicBezTo>
                  <a:pt x="85183" y="47770"/>
                  <a:pt x="90362" y="42591"/>
                  <a:pt x="96799" y="42591"/>
                </a:cubicBezTo>
                <a:close/>
                <a:moveTo>
                  <a:pt x="27104" y="77439"/>
                </a:moveTo>
                <a:lnTo>
                  <a:pt x="34848" y="77439"/>
                </a:lnTo>
                <a:cubicBezTo>
                  <a:pt x="41285" y="77439"/>
                  <a:pt x="46463" y="82618"/>
                  <a:pt x="46463" y="89055"/>
                </a:cubicBezTo>
                <a:cubicBezTo>
                  <a:pt x="46463" y="95492"/>
                  <a:pt x="41285" y="100671"/>
                  <a:pt x="34848" y="100671"/>
                </a:cubicBezTo>
                <a:lnTo>
                  <a:pt x="27104" y="100671"/>
                </a:lnTo>
                <a:cubicBezTo>
                  <a:pt x="20667" y="100671"/>
                  <a:pt x="15488" y="95492"/>
                  <a:pt x="15488" y="89055"/>
                </a:cubicBezTo>
                <a:cubicBezTo>
                  <a:pt x="15488" y="82618"/>
                  <a:pt x="20667" y="77439"/>
                  <a:pt x="27104" y="77439"/>
                </a:cubicBezTo>
                <a:close/>
                <a:moveTo>
                  <a:pt x="0" y="137164"/>
                </a:moveTo>
                <a:cubicBezTo>
                  <a:pt x="0" y="129856"/>
                  <a:pt x="5953" y="123902"/>
                  <a:pt x="13261" y="123902"/>
                </a:cubicBezTo>
                <a:lnTo>
                  <a:pt x="234495" y="123902"/>
                </a:lnTo>
                <a:cubicBezTo>
                  <a:pt x="241803" y="123902"/>
                  <a:pt x="247756" y="129856"/>
                  <a:pt x="247756" y="137164"/>
                </a:cubicBezTo>
                <a:cubicBezTo>
                  <a:pt x="247756" y="171285"/>
                  <a:pt x="226267" y="200422"/>
                  <a:pt x="196114" y="211747"/>
                </a:cubicBezTo>
                <a:lnTo>
                  <a:pt x="195292" y="218765"/>
                </a:lnTo>
                <a:cubicBezTo>
                  <a:pt x="194324" y="226509"/>
                  <a:pt x="187741" y="232317"/>
                  <a:pt x="179901" y="232317"/>
                </a:cubicBezTo>
                <a:lnTo>
                  <a:pt x="67856" y="232317"/>
                </a:lnTo>
                <a:cubicBezTo>
                  <a:pt x="60064" y="232317"/>
                  <a:pt x="53433" y="226509"/>
                  <a:pt x="52465" y="218765"/>
                </a:cubicBezTo>
                <a:lnTo>
                  <a:pt x="51594" y="211796"/>
                </a:lnTo>
                <a:cubicBezTo>
                  <a:pt x="21489" y="200422"/>
                  <a:pt x="0" y="171285"/>
                  <a:pt x="0" y="137164"/>
                </a:cubicBezTo>
                <a:close/>
                <a:moveTo>
                  <a:pt x="108415" y="89055"/>
                </a:moveTo>
                <a:cubicBezTo>
                  <a:pt x="108415" y="82618"/>
                  <a:pt x="113593" y="77439"/>
                  <a:pt x="120030" y="77439"/>
                </a:cubicBezTo>
                <a:lnTo>
                  <a:pt x="127774" y="77439"/>
                </a:lnTo>
                <a:cubicBezTo>
                  <a:pt x="134212" y="77439"/>
                  <a:pt x="139390" y="82618"/>
                  <a:pt x="139390" y="89055"/>
                </a:cubicBezTo>
                <a:cubicBezTo>
                  <a:pt x="139390" y="95492"/>
                  <a:pt x="134212" y="100671"/>
                  <a:pt x="127774" y="100671"/>
                </a:cubicBezTo>
                <a:lnTo>
                  <a:pt x="120030" y="100671"/>
                </a:lnTo>
                <a:cubicBezTo>
                  <a:pt x="113593" y="100671"/>
                  <a:pt x="108415" y="95492"/>
                  <a:pt x="108415" y="89055"/>
                </a:cubicBezTo>
                <a:close/>
                <a:moveTo>
                  <a:pt x="61951" y="89055"/>
                </a:moveTo>
                <a:cubicBezTo>
                  <a:pt x="61951" y="82618"/>
                  <a:pt x="67130" y="77439"/>
                  <a:pt x="73567" y="77439"/>
                </a:cubicBezTo>
                <a:lnTo>
                  <a:pt x="81311" y="77439"/>
                </a:lnTo>
                <a:cubicBezTo>
                  <a:pt x="87748" y="77439"/>
                  <a:pt x="92927" y="82618"/>
                  <a:pt x="92927" y="89055"/>
                </a:cubicBezTo>
                <a:cubicBezTo>
                  <a:pt x="92927" y="95492"/>
                  <a:pt x="87748" y="100671"/>
                  <a:pt x="81311" y="100671"/>
                </a:cubicBezTo>
                <a:lnTo>
                  <a:pt x="73567" y="100671"/>
                </a:lnTo>
                <a:cubicBezTo>
                  <a:pt x="67130" y="100671"/>
                  <a:pt x="61951" y="95492"/>
                  <a:pt x="61951" y="89055"/>
                </a:cubicBezTo>
                <a:close/>
                <a:moveTo>
                  <a:pt x="50335" y="42591"/>
                </a:moveTo>
                <a:lnTo>
                  <a:pt x="58079" y="42591"/>
                </a:lnTo>
                <a:cubicBezTo>
                  <a:pt x="64516" y="42591"/>
                  <a:pt x="69695" y="47770"/>
                  <a:pt x="69695" y="54207"/>
                </a:cubicBezTo>
                <a:cubicBezTo>
                  <a:pt x="69695" y="60644"/>
                  <a:pt x="64516" y="65823"/>
                  <a:pt x="58079" y="65823"/>
                </a:cubicBezTo>
                <a:lnTo>
                  <a:pt x="50335" y="65823"/>
                </a:lnTo>
                <a:cubicBezTo>
                  <a:pt x="43898" y="65823"/>
                  <a:pt x="38720" y="60644"/>
                  <a:pt x="38720" y="54207"/>
                </a:cubicBezTo>
                <a:cubicBezTo>
                  <a:pt x="38720" y="47770"/>
                  <a:pt x="43898" y="42591"/>
                  <a:pt x="50335" y="42591"/>
                </a:cubicBezTo>
                <a:close/>
                <a:moveTo>
                  <a:pt x="154878" y="89055"/>
                </a:moveTo>
                <a:cubicBezTo>
                  <a:pt x="154878" y="82618"/>
                  <a:pt x="160057" y="77439"/>
                  <a:pt x="166494" y="77439"/>
                </a:cubicBezTo>
                <a:lnTo>
                  <a:pt x="174238" y="77439"/>
                </a:lnTo>
                <a:cubicBezTo>
                  <a:pt x="180675" y="77439"/>
                  <a:pt x="185854" y="82618"/>
                  <a:pt x="185854" y="89055"/>
                </a:cubicBezTo>
                <a:cubicBezTo>
                  <a:pt x="185854" y="95492"/>
                  <a:pt x="180675" y="100671"/>
                  <a:pt x="174238" y="100671"/>
                </a:cubicBezTo>
                <a:lnTo>
                  <a:pt x="166494" y="100671"/>
                </a:lnTo>
                <a:cubicBezTo>
                  <a:pt x="160057" y="100671"/>
                  <a:pt x="154878" y="95492"/>
                  <a:pt x="154878" y="89055"/>
                </a:cubicBezTo>
                <a:close/>
                <a:moveTo>
                  <a:pt x="143262" y="42591"/>
                </a:moveTo>
                <a:lnTo>
                  <a:pt x="151006" y="42591"/>
                </a:lnTo>
                <a:cubicBezTo>
                  <a:pt x="157443" y="42591"/>
                  <a:pt x="162622" y="47770"/>
                  <a:pt x="162622" y="54207"/>
                </a:cubicBezTo>
                <a:cubicBezTo>
                  <a:pt x="162622" y="60644"/>
                  <a:pt x="157443" y="65823"/>
                  <a:pt x="151006" y="65823"/>
                </a:cubicBezTo>
                <a:lnTo>
                  <a:pt x="143262" y="65823"/>
                </a:lnTo>
                <a:cubicBezTo>
                  <a:pt x="136825" y="65823"/>
                  <a:pt x="131646" y="60644"/>
                  <a:pt x="131646" y="54207"/>
                </a:cubicBezTo>
                <a:cubicBezTo>
                  <a:pt x="131646" y="47770"/>
                  <a:pt x="136825" y="42591"/>
                  <a:pt x="143262" y="42591"/>
                </a:cubicBezTo>
                <a:close/>
                <a:moveTo>
                  <a:pt x="201341" y="89055"/>
                </a:moveTo>
                <a:cubicBezTo>
                  <a:pt x="201341" y="82618"/>
                  <a:pt x="206520" y="77439"/>
                  <a:pt x="212957" y="77439"/>
                </a:cubicBezTo>
                <a:lnTo>
                  <a:pt x="220701" y="77439"/>
                </a:lnTo>
                <a:cubicBezTo>
                  <a:pt x="227138" y="77439"/>
                  <a:pt x="232317" y="82618"/>
                  <a:pt x="232317" y="89055"/>
                </a:cubicBezTo>
                <a:cubicBezTo>
                  <a:pt x="232317" y="95492"/>
                  <a:pt x="227138" y="100671"/>
                  <a:pt x="220701" y="100671"/>
                </a:cubicBezTo>
                <a:lnTo>
                  <a:pt x="212957" y="100671"/>
                </a:lnTo>
                <a:cubicBezTo>
                  <a:pt x="206520" y="100671"/>
                  <a:pt x="201341" y="95492"/>
                  <a:pt x="201341" y="89055"/>
                </a:cubicBezTo>
                <a:close/>
                <a:moveTo>
                  <a:pt x="189726" y="42591"/>
                </a:moveTo>
                <a:lnTo>
                  <a:pt x="197470" y="42591"/>
                </a:lnTo>
                <a:cubicBezTo>
                  <a:pt x="203907" y="42591"/>
                  <a:pt x="209085" y="47770"/>
                  <a:pt x="209085" y="54207"/>
                </a:cubicBezTo>
                <a:cubicBezTo>
                  <a:pt x="209085" y="60644"/>
                  <a:pt x="203907" y="65823"/>
                  <a:pt x="197470" y="65823"/>
                </a:cubicBezTo>
                <a:lnTo>
                  <a:pt x="189726" y="65823"/>
                </a:lnTo>
                <a:cubicBezTo>
                  <a:pt x="183288" y="65823"/>
                  <a:pt x="178110" y="60644"/>
                  <a:pt x="178110" y="54207"/>
                </a:cubicBezTo>
                <a:cubicBezTo>
                  <a:pt x="178110" y="47770"/>
                  <a:pt x="183288" y="42591"/>
                  <a:pt x="189726" y="42591"/>
                </a:cubicBezTo>
                <a:close/>
                <a:moveTo>
                  <a:pt x="143262" y="7744"/>
                </a:moveTo>
                <a:lnTo>
                  <a:pt x="151006" y="7744"/>
                </a:lnTo>
                <a:cubicBezTo>
                  <a:pt x="157443" y="7744"/>
                  <a:pt x="162622" y="12923"/>
                  <a:pt x="162622" y="19360"/>
                </a:cubicBezTo>
                <a:cubicBezTo>
                  <a:pt x="162622" y="25797"/>
                  <a:pt x="157443" y="30976"/>
                  <a:pt x="151006" y="30976"/>
                </a:cubicBezTo>
                <a:lnTo>
                  <a:pt x="143262" y="30976"/>
                </a:lnTo>
                <a:cubicBezTo>
                  <a:pt x="136825" y="30976"/>
                  <a:pt x="131646" y="25797"/>
                  <a:pt x="131646" y="19360"/>
                </a:cubicBezTo>
                <a:cubicBezTo>
                  <a:pt x="131646" y="12923"/>
                  <a:pt x="136825" y="7744"/>
                  <a:pt x="143262" y="77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83052" y="2742374"/>
            <a:ext cx="1115122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本季度业绩兑现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87182" y="2973659"/>
            <a:ext cx="110686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1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碗里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58369" y="2469789"/>
            <a:ext cx="247805" cy="247805"/>
          </a:xfrm>
          <a:custGeom>
            <a:avLst/>
            <a:gdLst/>
            <a:ahLst/>
            <a:cxnLst/>
            <a:rect l="l" t="t" r="r" b="b"/>
            <a:pathLst>
              <a:path w="247805" h="247805">
                <a:moveTo>
                  <a:pt x="243255" y="134841"/>
                </a:moveTo>
                <a:cubicBezTo>
                  <a:pt x="249305" y="128791"/>
                  <a:pt x="249305" y="118966"/>
                  <a:pt x="243255" y="112916"/>
                </a:cubicBezTo>
                <a:lnTo>
                  <a:pt x="165816" y="35477"/>
                </a:lnTo>
                <a:cubicBezTo>
                  <a:pt x="159766" y="29427"/>
                  <a:pt x="149941" y="29427"/>
                  <a:pt x="143891" y="35477"/>
                </a:cubicBezTo>
                <a:cubicBezTo>
                  <a:pt x="137841" y="41527"/>
                  <a:pt x="137841" y="51352"/>
                  <a:pt x="143891" y="57402"/>
                </a:cubicBezTo>
                <a:lnTo>
                  <a:pt x="194904" y="108415"/>
                </a:lnTo>
                <a:lnTo>
                  <a:pt x="15488" y="108415"/>
                </a:lnTo>
                <a:cubicBezTo>
                  <a:pt x="6921" y="108415"/>
                  <a:pt x="0" y="115336"/>
                  <a:pt x="0" y="123902"/>
                </a:cubicBezTo>
                <a:cubicBezTo>
                  <a:pt x="0" y="132469"/>
                  <a:pt x="6921" y="139390"/>
                  <a:pt x="15488" y="139390"/>
                </a:cubicBezTo>
                <a:lnTo>
                  <a:pt x="194904" y="139390"/>
                </a:lnTo>
                <a:lnTo>
                  <a:pt x="143891" y="190403"/>
                </a:lnTo>
                <a:cubicBezTo>
                  <a:pt x="137841" y="196453"/>
                  <a:pt x="137841" y="206278"/>
                  <a:pt x="143891" y="212328"/>
                </a:cubicBezTo>
                <a:cubicBezTo>
                  <a:pt x="149941" y="218378"/>
                  <a:pt x="159766" y="218378"/>
                  <a:pt x="165816" y="212328"/>
                </a:cubicBezTo>
                <a:lnTo>
                  <a:pt x="243255" y="13488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5689394" y="2015480"/>
            <a:ext cx="660813" cy="660813"/>
          </a:xfrm>
          <a:custGeom>
            <a:avLst/>
            <a:gdLst/>
            <a:ahLst/>
            <a:cxnLst/>
            <a:rect l="l" t="t" r="r" b="b"/>
            <a:pathLst>
              <a:path w="660813" h="660813">
                <a:moveTo>
                  <a:pt x="330407" y="0"/>
                </a:moveTo>
                <a:lnTo>
                  <a:pt x="330407" y="0"/>
                </a:lnTo>
                <a:cubicBezTo>
                  <a:pt x="512763" y="0"/>
                  <a:pt x="660813" y="148050"/>
                  <a:pt x="660813" y="330407"/>
                </a:cubicBezTo>
                <a:lnTo>
                  <a:pt x="660813" y="330407"/>
                </a:lnTo>
                <a:cubicBezTo>
                  <a:pt x="660813" y="512763"/>
                  <a:pt x="512763" y="660813"/>
                  <a:pt x="330407" y="660813"/>
                </a:cubicBezTo>
                <a:lnTo>
                  <a:pt x="330407" y="660813"/>
                </a:lnTo>
                <a:cubicBezTo>
                  <a:pt x="148050" y="660813"/>
                  <a:pt x="0" y="512763"/>
                  <a:pt x="0" y="330407"/>
                </a:cubicBezTo>
                <a:lnTo>
                  <a:pt x="0" y="330407"/>
                </a:lnTo>
                <a:cubicBezTo>
                  <a:pt x="0" y="148050"/>
                  <a:pt x="148050" y="0"/>
                  <a:pt x="330407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5897963" y="2221984"/>
            <a:ext cx="247805" cy="247805"/>
          </a:xfrm>
          <a:custGeom>
            <a:avLst/>
            <a:gdLst/>
            <a:ahLst/>
            <a:cxnLst/>
            <a:rect l="l" t="t" r="r" b="b"/>
            <a:pathLst>
              <a:path w="247805" h="247805">
                <a:moveTo>
                  <a:pt x="31895" y="110593"/>
                </a:moveTo>
                <a:cubicBezTo>
                  <a:pt x="38332" y="65581"/>
                  <a:pt x="77100" y="30976"/>
                  <a:pt x="123902" y="30976"/>
                </a:cubicBezTo>
                <a:cubicBezTo>
                  <a:pt x="149554" y="30976"/>
                  <a:pt x="172786" y="41381"/>
                  <a:pt x="189629" y="58176"/>
                </a:cubicBezTo>
                <a:cubicBezTo>
                  <a:pt x="189726" y="58273"/>
                  <a:pt x="189822" y="58370"/>
                  <a:pt x="189919" y="58466"/>
                </a:cubicBezTo>
                <a:lnTo>
                  <a:pt x="193598" y="61951"/>
                </a:lnTo>
                <a:lnTo>
                  <a:pt x="170414" y="61951"/>
                </a:lnTo>
                <a:cubicBezTo>
                  <a:pt x="161848" y="61951"/>
                  <a:pt x="154926" y="68872"/>
                  <a:pt x="154926" y="77439"/>
                </a:cubicBezTo>
                <a:cubicBezTo>
                  <a:pt x="154926" y="86006"/>
                  <a:pt x="161848" y="92927"/>
                  <a:pt x="170414" y="92927"/>
                </a:cubicBezTo>
                <a:lnTo>
                  <a:pt x="232365" y="92927"/>
                </a:lnTo>
                <a:cubicBezTo>
                  <a:pt x="240932" y="92927"/>
                  <a:pt x="247853" y="86006"/>
                  <a:pt x="247853" y="77439"/>
                </a:cubicBezTo>
                <a:lnTo>
                  <a:pt x="247853" y="15488"/>
                </a:lnTo>
                <a:cubicBezTo>
                  <a:pt x="247853" y="6921"/>
                  <a:pt x="240932" y="0"/>
                  <a:pt x="232365" y="0"/>
                </a:cubicBezTo>
                <a:cubicBezTo>
                  <a:pt x="223799" y="0"/>
                  <a:pt x="216878" y="6921"/>
                  <a:pt x="216878" y="15488"/>
                </a:cubicBezTo>
                <a:lnTo>
                  <a:pt x="216878" y="41333"/>
                </a:lnTo>
                <a:lnTo>
                  <a:pt x="211409" y="36154"/>
                </a:lnTo>
                <a:cubicBezTo>
                  <a:pt x="189000" y="13842"/>
                  <a:pt x="158024" y="0"/>
                  <a:pt x="123902" y="0"/>
                </a:cubicBezTo>
                <a:cubicBezTo>
                  <a:pt x="61467" y="0"/>
                  <a:pt x="9825" y="46173"/>
                  <a:pt x="1258" y="106237"/>
                </a:cubicBezTo>
                <a:cubicBezTo>
                  <a:pt x="48" y="114707"/>
                  <a:pt x="5905" y="122547"/>
                  <a:pt x="14375" y="123757"/>
                </a:cubicBezTo>
                <a:cubicBezTo>
                  <a:pt x="22845" y="124967"/>
                  <a:pt x="30685" y="119062"/>
                  <a:pt x="31895" y="110641"/>
                </a:cubicBezTo>
                <a:close/>
                <a:moveTo>
                  <a:pt x="246546" y="141568"/>
                </a:moveTo>
                <a:cubicBezTo>
                  <a:pt x="247756" y="133098"/>
                  <a:pt x="241852" y="125258"/>
                  <a:pt x="233430" y="124048"/>
                </a:cubicBezTo>
                <a:cubicBezTo>
                  <a:pt x="225009" y="122838"/>
                  <a:pt x="217120" y="128742"/>
                  <a:pt x="215910" y="137164"/>
                </a:cubicBezTo>
                <a:cubicBezTo>
                  <a:pt x="209473" y="182175"/>
                  <a:pt x="170705" y="216781"/>
                  <a:pt x="123902" y="216781"/>
                </a:cubicBezTo>
                <a:cubicBezTo>
                  <a:pt x="98251" y="216781"/>
                  <a:pt x="75019" y="206375"/>
                  <a:pt x="58176" y="189580"/>
                </a:cubicBezTo>
                <a:cubicBezTo>
                  <a:pt x="58079" y="189484"/>
                  <a:pt x="57982" y="189387"/>
                  <a:pt x="57886" y="189290"/>
                </a:cubicBezTo>
                <a:lnTo>
                  <a:pt x="54207" y="185805"/>
                </a:lnTo>
                <a:lnTo>
                  <a:pt x="77391" y="185805"/>
                </a:lnTo>
                <a:cubicBezTo>
                  <a:pt x="85957" y="185805"/>
                  <a:pt x="92878" y="178884"/>
                  <a:pt x="92878" y="170317"/>
                </a:cubicBezTo>
                <a:cubicBezTo>
                  <a:pt x="92878" y="161751"/>
                  <a:pt x="85957" y="154830"/>
                  <a:pt x="77391" y="154830"/>
                </a:cubicBezTo>
                <a:lnTo>
                  <a:pt x="15488" y="154878"/>
                </a:lnTo>
                <a:cubicBezTo>
                  <a:pt x="11374" y="154878"/>
                  <a:pt x="7405" y="156524"/>
                  <a:pt x="4501" y="159476"/>
                </a:cubicBezTo>
                <a:cubicBezTo>
                  <a:pt x="1597" y="162428"/>
                  <a:pt x="-48" y="166349"/>
                  <a:pt x="0" y="170511"/>
                </a:cubicBezTo>
                <a:lnTo>
                  <a:pt x="484" y="231978"/>
                </a:lnTo>
                <a:cubicBezTo>
                  <a:pt x="532" y="240545"/>
                  <a:pt x="7550" y="247418"/>
                  <a:pt x="16117" y="247321"/>
                </a:cubicBezTo>
                <a:cubicBezTo>
                  <a:pt x="24684" y="247224"/>
                  <a:pt x="31556" y="240255"/>
                  <a:pt x="31460" y="231688"/>
                </a:cubicBezTo>
                <a:lnTo>
                  <a:pt x="31266" y="206762"/>
                </a:lnTo>
                <a:lnTo>
                  <a:pt x="36445" y="211651"/>
                </a:lnTo>
                <a:cubicBezTo>
                  <a:pt x="58854" y="233963"/>
                  <a:pt x="89781" y="247805"/>
                  <a:pt x="123902" y="247805"/>
                </a:cubicBezTo>
                <a:cubicBezTo>
                  <a:pt x="186338" y="247805"/>
                  <a:pt x="237980" y="201632"/>
                  <a:pt x="246546" y="14156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62239" y="2742374"/>
            <a:ext cx="1115122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下季度业绩储备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66369" y="2973659"/>
            <a:ext cx="110686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1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锅里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37556" y="2469789"/>
            <a:ext cx="247805" cy="247805"/>
          </a:xfrm>
          <a:custGeom>
            <a:avLst/>
            <a:gdLst/>
            <a:ahLst/>
            <a:cxnLst/>
            <a:rect l="l" t="t" r="r" b="b"/>
            <a:pathLst>
              <a:path w="247805" h="247805">
                <a:moveTo>
                  <a:pt x="243255" y="134841"/>
                </a:moveTo>
                <a:cubicBezTo>
                  <a:pt x="249305" y="128791"/>
                  <a:pt x="249305" y="118966"/>
                  <a:pt x="243255" y="112916"/>
                </a:cubicBezTo>
                <a:lnTo>
                  <a:pt x="165816" y="35477"/>
                </a:lnTo>
                <a:cubicBezTo>
                  <a:pt x="159766" y="29427"/>
                  <a:pt x="149941" y="29427"/>
                  <a:pt x="143891" y="35477"/>
                </a:cubicBezTo>
                <a:cubicBezTo>
                  <a:pt x="137841" y="41527"/>
                  <a:pt x="137841" y="51352"/>
                  <a:pt x="143891" y="57402"/>
                </a:cubicBezTo>
                <a:lnTo>
                  <a:pt x="194904" y="108415"/>
                </a:lnTo>
                <a:lnTo>
                  <a:pt x="15488" y="108415"/>
                </a:lnTo>
                <a:cubicBezTo>
                  <a:pt x="6921" y="108415"/>
                  <a:pt x="0" y="115336"/>
                  <a:pt x="0" y="123902"/>
                </a:cubicBezTo>
                <a:cubicBezTo>
                  <a:pt x="0" y="132469"/>
                  <a:pt x="6921" y="139390"/>
                  <a:pt x="15488" y="139390"/>
                </a:cubicBezTo>
                <a:lnTo>
                  <a:pt x="194904" y="139390"/>
                </a:lnTo>
                <a:lnTo>
                  <a:pt x="143891" y="190403"/>
                </a:lnTo>
                <a:cubicBezTo>
                  <a:pt x="137841" y="196453"/>
                  <a:pt x="137841" y="206278"/>
                  <a:pt x="143891" y="212328"/>
                </a:cubicBezTo>
                <a:cubicBezTo>
                  <a:pt x="149941" y="218378"/>
                  <a:pt x="159766" y="218378"/>
                  <a:pt x="165816" y="212328"/>
                </a:cubicBezTo>
                <a:lnTo>
                  <a:pt x="243255" y="13488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Shape 19"/>
          <p:cNvSpPr/>
          <p:nvPr/>
        </p:nvSpPr>
        <p:spPr>
          <a:xfrm>
            <a:off x="7642922" y="2015480"/>
            <a:ext cx="660813" cy="660813"/>
          </a:xfrm>
          <a:custGeom>
            <a:avLst/>
            <a:gdLst/>
            <a:ahLst/>
            <a:cxnLst/>
            <a:rect l="l" t="t" r="r" b="b"/>
            <a:pathLst>
              <a:path w="660813" h="660813">
                <a:moveTo>
                  <a:pt x="330407" y="0"/>
                </a:moveTo>
                <a:lnTo>
                  <a:pt x="330407" y="0"/>
                </a:lnTo>
                <a:cubicBezTo>
                  <a:pt x="512763" y="0"/>
                  <a:pt x="660813" y="148050"/>
                  <a:pt x="660813" y="330407"/>
                </a:cubicBezTo>
                <a:lnTo>
                  <a:pt x="660813" y="330407"/>
                </a:lnTo>
                <a:cubicBezTo>
                  <a:pt x="660813" y="512763"/>
                  <a:pt x="512763" y="660813"/>
                  <a:pt x="330407" y="660813"/>
                </a:cubicBezTo>
                <a:lnTo>
                  <a:pt x="330407" y="660813"/>
                </a:lnTo>
                <a:cubicBezTo>
                  <a:pt x="148050" y="660813"/>
                  <a:pt x="0" y="512763"/>
                  <a:pt x="0" y="330407"/>
                </a:cubicBezTo>
                <a:lnTo>
                  <a:pt x="0" y="330407"/>
                </a:lnTo>
                <a:cubicBezTo>
                  <a:pt x="0" y="148050"/>
                  <a:pt x="148050" y="0"/>
                  <a:pt x="330407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7851491" y="2221984"/>
            <a:ext cx="247805" cy="247805"/>
          </a:xfrm>
          <a:custGeom>
            <a:avLst/>
            <a:gdLst/>
            <a:ahLst/>
            <a:cxnLst/>
            <a:rect l="l" t="t" r="r" b="b"/>
            <a:pathLst>
              <a:path w="247805" h="247805">
                <a:moveTo>
                  <a:pt x="247805" y="15488"/>
                </a:moveTo>
                <a:cubicBezTo>
                  <a:pt x="247805" y="67808"/>
                  <a:pt x="210731" y="111464"/>
                  <a:pt x="161460" y="121676"/>
                </a:cubicBezTo>
                <a:cubicBezTo>
                  <a:pt x="157637" y="93556"/>
                  <a:pt x="145005" y="68243"/>
                  <a:pt x="126371" y="48641"/>
                </a:cubicBezTo>
                <a:cubicBezTo>
                  <a:pt x="145779" y="19360"/>
                  <a:pt x="179029" y="0"/>
                  <a:pt x="216829" y="0"/>
                </a:cubicBezTo>
                <a:lnTo>
                  <a:pt x="232317" y="0"/>
                </a:lnTo>
                <a:cubicBezTo>
                  <a:pt x="240884" y="0"/>
                  <a:pt x="247805" y="6921"/>
                  <a:pt x="247805" y="15488"/>
                </a:cubicBezTo>
                <a:close/>
                <a:moveTo>
                  <a:pt x="0" y="46463"/>
                </a:moveTo>
                <a:cubicBezTo>
                  <a:pt x="0" y="37897"/>
                  <a:pt x="6921" y="30976"/>
                  <a:pt x="15488" y="30976"/>
                </a:cubicBezTo>
                <a:lnTo>
                  <a:pt x="30976" y="30976"/>
                </a:lnTo>
                <a:cubicBezTo>
                  <a:pt x="90846" y="30976"/>
                  <a:pt x="139390" y="79520"/>
                  <a:pt x="139390" y="139390"/>
                </a:cubicBezTo>
                <a:lnTo>
                  <a:pt x="139390" y="232317"/>
                </a:lnTo>
                <a:cubicBezTo>
                  <a:pt x="139390" y="240884"/>
                  <a:pt x="132469" y="247805"/>
                  <a:pt x="123902" y="247805"/>
                </a:cubicBezTo>
                <a:cubicBezTo>
                  <a:pt x="115336" y="247805"/>
                  <a:pt x="108415" y="240884"/>
                  <a:pt x="108415" y="232317"/>
                </a:cubicBezTo>
                <a:lnTo>
                  <a:pt x="108415" y="154878"/>
                </a:lnTo>
                <a:cubicBezTo>
                  <a:pt x="48545" y="154878"/>
                  <a:pt x="0" y="106333"/>
                  <a:pt x="0" y="464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41426" y="2742374"/>
            <a:ext cx="1263805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1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下下季度长期布局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45556" y="2973659"/>
            <a:ext cx="1255545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1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田里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2569" y="3403187"/>
            <a:ext cx="11332943" cy="2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围绕</a:t>
            </a:r>
            <a:r>
              <a:rPr lang="en-US" sz="1041" b="1" dirty="0">
                <a:solidFill>
                  <a:srgbClr val="475569"/>
                </a:solidFill>
                <a:highlight>
                  <a:srgbClr val="F59E0B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「本季度业绩兑现（碗里）→下季度业绩储备（锅里）→下下季度长期布局（田里）」 </a:t>
            </a:r>
            <a:r>
              <a:rPr lang="en-US" sz="1041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三层漏斗，嵌入MO商机全流程关键动作，通过自工序理念实现三大目标。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0407" y="3865756"/>
            <a:ext cx="3758374" cy="1569431"/>
          </a:xfrm>
          <a:custGeom>
            <a:avLst/>
            <a:gdLst/>
            <a:ahLst/>
            <a:cxnLst/>
            <a:rect l="l" t="t" r="r" b="b"/>
            <a:pathLst>
              <a:path w="3758374" h="1569431">
                <a:moveTo>
                  <a:pt x="33041" y="0"/>
                </a:moveTo>
                <a:lnTo>
                  <a:pt x="3725333" y="0"/>
                </a:lnTo>
                <a:cubicBezTo>
                  <a:pt x="3743581" y="0"/>
                  <a:pt x="3758374" y="14793"/>
                  <a:pt x="3758374" y="33041"/>
                </a:cubicBezTo>
                <a:lnTo>
                  <a:pt x="3758374" y="1470306"/>
                </a:lnTo>
                <a:cubicBezTo>
                  <a:pt x="3758374" y="1525051"/>
                  <a:pt x="3713994" y="1569431"/>
                  <a:pt x="3659249" y="1569431"/>
                </a:cubicBezTo>
                <a:lnTo>
                  <a:pt x="99125" y="1569431"/>
                </a:lnTo>
                <a:cubicBezTo>
                  <a:pt x="44380" y="1569431"/>
                  <a:pt x="0" y="1525051"/>
                  <a:pt x="0" y="1470306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561" dist="330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0407" y="3865756"/>
            <a:ext cx="3758374" cy="33041"/>
          </a:xfrm>
          <a:custGeom>
            <a:avLst/>
            <a:gdLst/>
            <a:ahLst/>
            <a:cxnLst/>
            <a:rect l="l" t="t" r="r" b="b"/>
            <a:pathLst>
              <a:path w="3758374" h="33041">
                <a:moveTo>
                  <a:pt x="33041" y="0"/>
                </a:moveTo>
                <a:lnTo>
                  <a:pt x="3725333" y="0"/>
                </a:lnTo>
                <a:cubicBezTo>
                  <a:pt x="3743581" y="0"/>
                  <a:pt x="3758374" y="14793"/>
                  <a:pt x="3758374" y="33041"/>
                </a:cubicBezTo>
                <a:lnTo>
                  <a:pt x="3758374" y="33041"/>
                </a:lnTo>
                <a:lnTo>
                  <a:pt x="0" y="33041"/>
                </a:ln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28" name="Shape 26"/>
          <p:cNvSpPr/>
          <p:nvPr/>
        </p:nvSpPr>
        <p:spPr>
          <a:xfrm>
            <a:off x="462569" y="4014439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198244" y="0"/>
                </a:moveTo>
                <a:lnTo>
                  <a:pt x="198244" y="0"/>
                </a:lnTo>
                <a:cubicBezTo>
                  <a:pt x="307658" y="0"/>
                  <a:pt x="396488" y="88830"/>
                  <a:pt x="396488" y="198244"/>
                </a:cubicBezTo>
                <a:lnTo>
                  <a:pt x="396488" y="198244"/>
                </a:lnTo>
                <a:cubicBezTo>
                  <a:pt x="396488" y="307658"/>
                  <a:pt x="307658" y="396488"/>
                  <a:pt x="198244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29" name="Text 27"/>
          <p:cNvSpPr/>
          <p:nvPr/>
        </p:nvSpPr>
        <p:spPr>
          <a:xfrm>
            <a:off x="421268" y="4014439"/>
            <a:ext cx="479089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58179" y="4097041"/>
            <a:ext cx="1561171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本工序内完成质量把控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2569" y="4510049"/>
            <a:ext cx="3560130" cy="5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不将问题传递至后道环节，确保每个工序都产出合格成果，减少返工和管理内耗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79089" y="5137821"/>
            <a:ext cx="132163" cy="132163"/>
          </a:xfrm>
          <a:custGeom>
            <a:avLst/>
            <a:gdLst/>
            <a:ahLst/>
            <a:cxnLst/>
            <a:rect l="l" t="t" r="r" b="b"/>
            <a:pathLst>
              <a:path w="132163" h="132163">
                <a:moveTo>
                  <a:pt x="66081" y="132163"/>
                </a:moveTo>
                <a:cubicBezTo>
                  <a:pt x="102553" y="132163"/>
                  <a:pt x="132163" y="102553"/>
                  <a:pt x="132163" y="66081"/>
                </a:cubicBezTo>
                <a:cubicBezTo>
                  <a:pt x="132163" y="29610"/>
                  <a:pt x="102553" y="0"/>
                  <a:pt x="66081" y="0"/>
                </a:cubicBezTo>
                <a:cubicBezTo>
                  <a:pt x="29610" y="0"/>
                  <a:pt x="0" y="29610"/>
                  <a:pt x="0" y="66081"/>
                </a:cubicBezTo>
                <a:cubicBezTo>
                  <a:pt x="0" y="102553"/>
                  <a:pt x="29610" y="132163"/>
                  <a:pt x="66081" y="132163"/>
                </a:cubicBezTo>
                <a:close/>
                <a:moveTo>
                  <a:pt x="87867" y="54904"/>
                </a:moveTo>
                <a:lnTo>
                  <a:pt x="67217" y="87945"/>
                </a:lnTo>
                <a:cubicBezTo>
                  <a:pt x="66133" y="89674"/>
                  <a:pt x="64274" y="90759"/>
                  <a:pt x="62235" y="90862"/>
                </a:cubicBezTo>
                <a:cubicBezTo>
                  <a:pt x="60196" y="90965"/>
                  <a:pt x="58234" y="90036"/>
                  <a:pt x="57021" y="88384"/>
                </a:cubicBezTo>
                <a:lnTo>
                  <a:pt x="44631" y="71863"/>
                </a:lnTo>
                <a:cubicBezTo>
                  <a:pt x="42566" y="69127"/>
                  <a:pt x="43134" y="65255"/>
                  <a:pt x="45870" y="63190"/>
                </a:cubicBezTo>
                <a:cubicBezTo>
                  <a:pt x="48606" y="61125"/>
                  <a:pt x="52478" y="61693"/>
                  <a:pt x="54543" y="64429"/>
                </a:cubicBezTo>
                <a:lnTo>
                  <a:pt x="61512" y="73722"/>
                </a:lnTo>
                <a:lnTo>
                  <a:pt x="77362" y="48348"/>
                </a:lnTo>
                <a:cubicBezTo>
                  <a:pt x="79168" y="45457"/>
                  <a:pt x="82989" y="44553"/>
                  <a:pt x="85906" y="46386"/>
                </a:cubicBezTo>
                <a:cubicBezTo>
                  <a:pt x="88823" y="48219"/>
                  <a:pt x="89700" y="52013"/>
                  <a:pt x="87867" y="5493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33" name="Text 31"/>
          <p:cNvSpPr/>
          <p:nvPr/>
        </p:nvSpPr>
        <p:spPr>
          <a:xfrm>
            <a:off x="693854" y="5104780"/>
            <a:ext cx="991220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1E40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工序内自我完结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16916" y="3865756"/>
            <a:ext cx="3758374" cy="1569431"/>
          </a:xfrm>
          <a:custGeom>
            <a:avLst/>
            <a:gdLst/>
            <a:ahLst/>
            <a:cxnLst/>
            <a:rect l="l" t="t" r="r" b="b"/>
            <a:pathLst>
              <a:path w="3758374" h="1569431">
                <a:moveTo>
                  <a:pt x="33041" y="0"/>
                </a:moveTo>
                <a:lnTo>
                  <a:pt x="3725333" y="0"/>
                </a:lnTo>
                <a:cubicBezTo>
                  <a:pt x="3743581" y="0"/>
                  <a:pt x="3758374" y="14793"/>
                  <a:pt x="3758374" y="33041"/>
                </a:cubicBezTo>
                <a:lnTo>
                  <a:pt x="3758374" y="1470306"/>
                </a:lnTo>
                <a:cubicBezTo>
                  <a:pt x="3758374" y="1525051"/>
                  <a:pt x="3713994" y="1569431"/>
                  <a:pt x="3659249" y="1569431"/>
                </a:cubicBezTo>
                <a:lnTo>
                  <a:pt x="99125" y="1569431"/>
                </a:lnTo>
                <a:cubicBezTo>
                  <a:pt x="44380" y="1569431"/>
                  <a:pt x="0" y="1525051"/>
                  <a:pt x="0" y="1470306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561" dist="330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16916" y="3865756"/>
            <a:ext cx="3758374" cy="33041"/>
          </a:xfrm>
          <a:custGeom>
            <a:avLst/>
            <a:gdLst/>
            <a:ahLst/>
            <a:cxnLst/>
            <a:rect l="l" t="t" r="r" b="b"/>
            <a:pathLst>
              <a:path w="3758374" h="33041">
                <a:moveTo>
                  <a:pt x="33041" y="0"/>
                </a:moveTo>
                <a:lnTo>
                  <a:pt x="3725333" y="0"/>
                </a:lnTo>
                <a:cubicBezTo>
                  <a:pt x="3743581" y="0"/>
                  <a:pt x="3758374" y="14793"/>
                  <a:pt x="3758374" y="33041"/>
                </a:cubicBezTo>
                <a:lnTo>
                  <a:pt x="3758374" y="33041"/>
                </a:lnTo>
                <a:lnTo>
                  <a:pt x="0" y="33041"/>
                </a:ln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Shape 34"/>
          <p:cNvSpPr/>
          <p:nvPr/>
        </p:nvSpPr>
        <p:spPr>
          <a:xfrm>
            <a:off x="4349079" y="4014439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198244" y="0"/>
                </a:moveTo>
                <a:lnTo>
                  <a:pt x="198244" y="0"/>
                </a:lnTo>
                <a:cubicBezTo>
                  <a:pt x="307658" y="0"/>
                  <a:pt x="396488" y="88830"/>
                  <a:pt x="396488" y="198244"/>
                </a:cubicBezTo>
                <a:lnTo>
                  <a:pt x="396488" y="198244"/>
                </a:lnTo>
                <a:cubicBezTo>
                  <a:pt x="396488" y="307658"/>
                  <a:pt x="307658" y="396488"/>
                  <a:pt x="198244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4307778" y="4014439"/>
            <a:ext cx="479089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844689" y="4097041"/>
            <a:ext cx="1561171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销售行为全链路标准化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349079" y="4510049"/>
            <a:ext cx="3560130" cy="5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将MO关键动作嵌入1+2各工序环节，明确动作标准、执行顺序、质量要求，统一销售行为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65599" y="5137821"/>
            <a:ext cx="132163" cy="132163"/>
          </a:xfrm>
          <a:custGeom>
            <a:avLst/>
            <a:gdLst/>
            <a:ahLst/>
            <a:cxnLst/>
            <a:rect l="l" t="t" r="r" b="b"/>
            <a:pathLst>
              <a:path w="132163" h="132163">
                <a:moveTo>
                  <a:pt x="66081" y="132163"/>
                </a:moveTo>
                <a:cubicBezTo>
                  <a:pt x="102553" y="132163"/>
                  <a:pt x="132163" y="102553"/>
                  <a:pt x="132163" y="66081"/>
                </a:cubicBezTo>
                <a:cubicBezTo>
                  <a:pt x="132163" y="29610"/>
                  <a:pt x="102553" y="0"/>
                  <a:pt x="66081" y="0"/>
                </a:cubicBezTo>
                <a:cubicBezTo>
                  <a:pt x="29610" y="0"/>
                  <a:pt x="0" y="29610"/>
                  <a:pt x="0" y="66081"/>
                </a:cubicBezTo>
                <a:cubicBezTo>
                  <a:pt x="0" y="102553"/>
                  <a:pt x="29610" y="132163"/>
                  <a:pt x="66081" y="132163"/>
                </a:cubicBezTo>
                <a:close/>
                <a:moveTo>
                  <a:pt x="87867" y="54904"/>
                </a:moveTo>
                <a:lnTo>
                  <a:pt x="67217" y="87945"/>
                </a:lnTo>
                <a:cubicBezTo>
                  <a:pt x="66133" y="89674"/>
                  <a:pt x="64274" y="90759"/>
                  <a:pt x="62235" y="90862"/>
                </a:cubicBezTo>
                <a:cubicBezTo>
                  <a:pt x="60196" y="90965"/>
                  <a:pt x="58234" y="90036"/>
                  <a:pt x="57021" y="88384"/>
                </a:cubicBezTo>
                <a:lnTo>
                  <a:pt x="44631" y="71863"/>
                </a:lnTo>
                <a:cubicBezTo>
                  <a:pt x="42566" y="69127"/>
                  <a:pt x="43134" y="65255"/>
                  <a:pt x="45870" y="63190"/>
                </a:cubicBezTo>
                <a:cubicBezTo>
                  <a:pt x="48606" y="61125"/>
                  <a:pt x="52478" y="61693"/>
                  <a:pt x="54543" y="64429"/>
                </a:cubicBezTo>
                <a:lnTo>
                  <a:pt x="61512" y="73722"/>
                </a:lnTo>
                <a:lnTo>
                  <a:pt x="77362" y="48348"/>
                </a:lnTo>
                <a:cubicBezTo>
                  <a:pt x="79168" y="45457"/>
                  <a:pt x="82989" y="44553"/>
                  <a:pt x="85906" y="46386"/>
                </a:cubicBezTo>
                <a:cubicBezTo>
                  <a:pt x="88823" y="48219"/>
                  <a:pt x="89700" y="52013"/>
                  <a:pt x="87867" y="5493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4580364" y="5104780"/>
            <a:ext cx="1462049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1+2指标全周期精准达成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03426" y="3865756"/>
            <a:ext cx="3758374" cy="1569431"/>
          </a:xfrm>
          <a:custGeom>
            <a:avLst/>
            <a:gdLst/>
            <a:ahLst/>
            <a:cxnLst/>
            <a:rect l="l" t="t" r="r" b="b"/>
            <a:pathLst>
              <a:path w="3758374" h="1569431">
                <a:moveTo>
                  <a:pt x="33041" y="0"/>
                </a:moveTo>
                <a:lnTo>
                  <a:pt x="3725333" y="0"/>
                </a:lnTo>
                <a:cubicBezTo>
                  <a:pt x="3743581" y="0"/>
                  <a:pt x="3758374" y="14793"/>
                  <a:pt x="3758374" y="33041"/>
                </a:cubicBezTo>
                <a:lnTo>
                  <a:pt x="3758374" y="1470306"/>
                </a:lnTo>
                <a:cubicBezTo>
                  <a:pt x="3758374" y="1525051"/>
                  <a:pt x="3713994" y="1569431"/>
                  <a:pt x="3659249" y="1569431"/>
                </a:cubicBezTo>
                <a:lnTo>
                  <a:pt x="99125" y="1569431"/>
                </a:lnTo>
                <a:cubicBezTo>
                  <a:pt x="44380" y="1569431"/>
                  <a:pt x="0" y="1525051"/>
                  <a:pt x="0" y="1470306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9561" dist="3304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103426" y="3865756"/>
            <a:ext cx="3758374" cy="33041"/>
          </a:xfrm>
          <a:custGeom>
            <a:avLst/>
            <a:gdLst/>
            <a:ahLst/>
            <a:cxnLst/>
            <a:rect l="l" t="t" r="r" b="b"/>
            <a:pathLst>
              <a:path w="3758374" h="33041">
                <a:moveTo>
                  <a:pt x="33041" y="0"/>
                </a:moveTo>
                <a:lnTo>
                  <a:pt x="3725333" y="0"/>
                </a:lnTo>
                <a:cubicBezTo>
                  <a:pt x="3743581" y="0"/>
                  <a:pt x="3758374" y="14793"/>
                  <a:pt x="3758374" y="33041"/>
                </a:cubicBezTo>
                <a:lnTo>
                  <a:pt x="3758374" y="33041"/>
                </a:lnTo>
                <a:lnTo>
                  <a:pt x="0" y="33041"/>
                </a:ln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8235589" y="4014439"/>
            <a:ext cx="396488" cy="396488"/>
          </a:xfrm>
          <a:custGeom>
            <a:avLst/>
            <a:gdLst/>
            <a:ahLst/>
            <a:cxnLst/>
            <a:rect l="l" t="t" r="r" b="b"/>
            <a:pathLst>
              <a:path w="396488" h="396488">
                <a:moveTo>
                  <a:pt x="198244" y="0"/>
                </a:moveTo>
                <a:lnTo>
                  <a:pt x="198244" y="0"/>
                </a:lnTo>
                <a:cubicBezTo>
                  <a:pt x="307658" y="0"/>
                  <a:pt x="396488" y="88830"/>
                  <a:pt x="396488" y="198244"/>
                </a:cubicBezTo>
                <a:lnTo>
                  <a:pt x="396488" y="198244"/>
                </a:lnTo>
                <a:cubicBezTo>
                  <a:pt x="396488" y="307658"/>
                  <a:pt x="307658" y="396488"/>
                  <a:pt x="198244" y="396488"/>
                </a:cubicBezTo>
                <a:lnTo>
                  <a:pt x="198244" y="396488"/>
                </a:lnTo>
                <a:cubicBezTo>
                  <a:pt x="88830" y="396488"/>
                  <a:pt x="0" y="307658"/>
                  <a:pt x="0" y="198244"/>
                </a:cubicBezTo>
                <a:lnTo>
                  <a:pt x="0" y="198244"/>
                </a:lnTo>
                <a:cubicBezTo>
                  <a:pt x="0" y="88830"/>
                  <a:pt x="88830" y="0"/>
                  <a:pt x="198244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5" name="Text 43"/>
          <p:cNvSpPr/>
          <p:nvPr/>
        </p:nvSpPr>
        <p:spPr>
          <a:xfrm>
            <a:off x="8194288" y="4014439"/>
            <a:ext cx="479089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731199" y="4097041"/>
            <a:ext cx="1561171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支撑业务良性循环运转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235589" y="4510049"/>
            <a:ext cx="3560130" cy="5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通过自工序标准化，沉淀1+2+MO融合的管理方法论，推动管理水平持续提升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52109" y="5137821"/>
            <a:ext cx="132163" cy="132163"/>
          </a:xfrm>
          <a:custGeom>
            <a:avLst/>
            <a:gdLst/>
            <a:ahLst/>
            <a:cxnLst/>
            <a:rect l="l" t="t" r="r" b="b"/>
            <a:pathLst>
              <a:path w="132163" h="132163">
                <a:moveTo>
                  <a:pt x="66081" y="132163"/>
                </a:moveTo>
                <a:cubicBezTo>
                  <a:pt x="102553" y="132163"/>
                  <a:pt x="132163" y="102553"/>
                  <a:pt x="132163" y="66081"/>
                </a:cubicBezTo>
                <a:cubicBezTo>
                  <a:pt x="132163" y="29610"/>
                  <a:pt x="102553" y="0"/>
                  <a:pt x="66081" y="0"/>
                </a:cubicBezTo>
                <a:cubicBezTo>
                  <a:pt x="29610" y="0"/>
                  <a:pt x="0" y="29610"/>
                  <a:pt x="0" y="66081"/>
                </a:cubicBezTo>
                <a:cubicBezTo>
                  <a:pt x="0" y="102553"/>
                  <a:pt x="29610" y="132163"/>
                  <a:pt x="66081" y="132163"/>
                </a:cubicBezTo>
                <a:close/>
                <a:moveTo>
                  <a:pt x="87867" y="54904"/>
                </a:moveTo>
                <a:lnTo>
                  <a:pt x="67217" y="87945"/>
                </a:lnTo>
                <a:cubicBezTo>
                  <a:pt x="66133" y="89674"/>
                  <a:pt x="64274" y="90759"/>
                  <a:pt x="62235" y="90862"/>
                </a:cubicBezTo>
                <a:cubicBezTo>
                  <a:pt x="60196" y="90965"/>
                  <a:pt x="58234" y="90036"/>
                  <a:pt x="57021" y="88384"/>
                </a:cubicBezTo>
                <a:lnTo>
                  <a:pt x="44631" y="71863"/>
                </a:lnTo>
                <a:cubicBezTo>
                  <a:pt x="42566" y="69127"/>
                  <a:pt x="43134" y="65255"/>
                  <a:pt x="45870" y="63190"/>
                </a:cubicBezTo>
                <a:cubicBezTo>
                  <a:pt x="48606" y="61125"/>
                  <a:pt x="52478" y="61693"/>
                  <a:pt x="54543" y="64429"/>
                </a:cubicBezTo>
                <a:lnTo>
                  <a:pt x="61512" y="73722"/>
                </a:lnTo>
                <a:lnTo>
                  <a:pt x="77362" y="48348"/>
                </a:lnTo>
                <a:cubicBezTo>
                  <a:pt x="79168" y="45457"/>
                  <a:pt x="82989" y="44553"/>
                  <a:pt x="85906" y="46386"/>
                </a:cubicBezTo>
                <a:cubicBezTo>
                  <a:pt x="88823" y="48219"/>
                  <a:pt x="89700" y="52013"/>
                  <a:pt x="87867" y="5493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8466873" y="5104780"/>
            <a:ext cx="112338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推动管理能力升级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46927" y="5534309"/>
            <a:ext cx="11514667" cy="991220"/>
          </a:xfrm>
          <a:custGeom>
            <a:avLst/>
            <a:gdLst/>
            <a:ahLst/>
            <a:cxnLst/>
            <a:rect l="l" t="t" r="r" b="b"/>
            <a:pathLst>
              <a:path w="11514667" h="991220">
                <a:moveTo>
                  <a:pt x="33041" y="0"/>
                </a:moveTo>
                <a:lnTo>
                  <a:pt x="11415545" y="0"/>
                </a:lnTo>
                <a:cubicBezTo>
                  <a:pt x="11470288" y="0"/>
                  <a:pt x="11514667" y="44378"/>
                  <a:pt x="11514667" y="99122"/>
                </a:cubicBezTo>
                <a:lnTo>
                  <a:pt x="11514667" y="892098"/>
                </a:lnTo>
                <a:cubicBezTo>
                  <a:pt x="11514667" y="946841"/>
                  <a:pt x="11470288" y="991220"/>
                  <a:pt x="11415545" y="991220"/>
                </a:cubicBezTo>
                <a:lnTo>
                  <a:pt x="33041" y="991220"/>
                </a:lnTo>
                <a:cubicBezTo>
                  <a:pt x="14793" y="991220"/>
                  <a:pt x="0" y="976427"/>
                  <a:pt x="0" y="958179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10000"/>
                </a:srgbClr>
              </a:gs>
              <a:gs pos="100000">
                <a:srgbClr val="3B82F6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346927" y="5534309"/>
            <a:ext cx="33041" cy="991220"/>
          </a:xfrm>
          <a:custGeom>
            <a:avLst/>
            <a:gdLst/>
            <a:ahLst/>
            <a:cxnLst/>
            <a:rect l="l" t="t" r="r" b="b"/>
            <a:pathLst>
              <a:path w="33041" h="991220">
                <a:moveTo>
                  <a:pt x="33041" y="0"/>
                </a:moveTo>
                <a:lnTo>
                  <a:pt x="33041" y="0"/>
                </a:lnTo>
                <a:lnTo>
                  <a:pt x="33041" y="991220"/>
                </a:lnTo>
                <a:lnTo>
                  <a:pt x="33041" y="991220"/>
                </a:lnTo>
                <a:cubicBezTo>
                  <a:pt x="14793" y="991220"/>
                  <a:pt x="0" y="976427"/>
                  <a:pt x="0" y="958179"/>
                </a:cubicBezTo>
                <a:lnTo>
                  <a:pt x="0" y="33041"/>
                </a:lnTo>
                <a:cubicBezTo>
                  <a:pt x="0" y="14805"/>
                  <a:pt x="14805" y="0"/>
                  <a:pt x="33041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52" name="Shape 50"/>
          <p:cNvSpPr/>
          <p:nvPr/>
        </p:nvSpPr>
        <p:spPr>
          <a:xfrm>
            <a:off x="545171" y="5666472"/>
            <a:ext cx="148683" cy="198244"/>
          </a:xfrm>
          <a:custGeom>
            <a:avLst/>
            <a:gdLst/>
            <a:ahLst/>
            <a:cxnLst/>
            <a:rect l="l" t="t" r="r" b="b"/>
            <a:pathLst>
              <a:path w="148683" h="198244">
                <a:moveTo>
                  <a:pt x="113409" y="148683"/>
                </a:moveTo>
                <a:cubicBezTo>
                  <a:pt x="116236" y="140048"/>
                  <a:pt x="121889" y="132227"/>
                  <a:pt x="128278" y="125490"/>
                </a:cubicBezTo>
                <a:cubicBezTo>
                  <a:pt x="140939" y="112170"/>
                  <a:pt x="148683" y="94166"/>
                  <a:pt x="148683" y="74341"/>
                </a:cubicBezTo>
                <a:cubicBezTo>
                  <a:pt x="148683" y="33299"/>
                  <a:pt x="115384" y="0"/>
                  <a:pt x="74341" y="0"/>
                </a:cubicBezTo>
                <a:cubicBezTo>
                  <a:pt x="33299" y="0"/>
                  <a:pt x="0" y="33299"/>
                  <a:pt x="0" y="74341"/>
                </a:cubicBezTo>
                <a:cubicBezTo>
                  <a:pt x="0" y="94166"/>
                  <a:pt x="7744" y="112170"/>
                  <a:pt x="20405" y="125490"/>
                </a:cubicBezTo>
                <a:cubicBezTo>
                  <a:pt x="26794" y="132227"/>
                  <a:pt x="32486" y="140048"/>
                  <a:pt x="35273" y="148683"/>
                </a:cubicBezTo>
                <a:lnTo>
                  <a:pt x="113371" y="148683"/>
                </a:lnTo>
                <a:close/>
                <a:moveTo>
                  <a:pt x="111512" y="167268"/>
                </a:moveTo>
                <a:lnTo>
                  <a:pt x="37171" y="167268"/>
                </a:lnTo>
                <a:lnTo>
                  <a:pt x="37171" y="173463"/>
                </a:lnTo>
                <a:cubicBezTo>
                  <a:pt x="37171" y="190577"/>
                  <a:pt x="51032" y="204439"/>
                  <a:pt x="68146" y="204439"/>
                </a:cubicBezTo>
                <a:lnTo>
                  <a:pt x="80537" y="204439"/>
                </a:lnTo>
                <a:cubicBezTo>
                  <a:pt x="97651" y="204439"/>
                  <a:pt x="111512" y="190577"/>
                  <a:pt x="111512" y="173463"/>
                </a:cubicBezTo>
                <a:lnTo>
                  <a:pt x="111512" y="167268"/>
                </a:lnTo>
                <a:close/>
                <a:moveTo>
                  <a:pt x="71244" y="43366"/>
                </a:moveTo>
                <a:cubicBezTo>
                  <a:pt x="55834" y="43366"/>
                  <a:pt x="43366" y="55834"/>
                  <a:pt x="43366" y="71244"/>
                </a:cubicBezTo>
                <a:cubicBezTo>
                  <a:pt x="43366" y="76394"/>
                  <a:pt x="39223" y="80537"/>
                  <a:pt x="34073" y="80537"/>
                </a:cubicBezTo>
                <a:cubicBezTo>
                  <a:pt x="28923" y="80537"/>
                  <a:pt x="24780" y="76394"/>
                  <a:pt x="24780" y="71244"/>
                </a:cubicBezTo>
                <a:cubicBezTo>
                  <a:pt x="24780" y="45573"/>
                  <a:pt x="45573" y="24780"/>
                  <a:pt x="71244" y="24780"/>
                </a:cubicBezTo>
                <a:cubicBezTo>
                  <a:pt x="76394" y="24780"/>
                  <a:pt x="80537" y="28923"/>
                  <a:pt x="80537" y="34073"/>
                </a:cubicBezTo>
                <a:cubicBezTo>
                  <a:pt x="80537" y="39223"/>
                  <a:pt x="76394" y="43366"/>
                  <a:pt x="71244" y="4336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842537" y="5666472"/>
            <a:ext cx="10961236" cy="231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1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如何应用自工序开展本课题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2537" y="5963837"/>
            <a:ext cx="10952976" cy="42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销售个人/销售组织为任务单元，严格遵循1+2"季度预期兑现、下季度潜力储备、下下季度长期布局"的管理逻辑，将MO立项、推进、投标、签约、回款等全流程关键动作，精准拆解至1+2三层漏斗的各工序环节中。通过明确任务步骤、执行顺序、良品条件（3+1模式），构建</a:t>
            </a:r>
            <a:r>
              <a:rPr lang="en-US" sz="1041" b="1" dirty="0">
                <a:solidFill>
                  <a:srgbClr val="475569"/>
                </a:solidFill>
                <a:highlight>
                  <a:srgbClr val="F59E0B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"工序内自我完结、一次做对、质量可控" </a:t>
            </a:r>
            <a:r>
              <a:rPr lang="en-US" sz="1041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的销售管理体系，与EBG"做实做透"文化深度对齐。</a:t>
            </a:r>
            <a:endParaRPr lang="en-US" sz="1600" dirty="0"/>
          </a:p>
        </p:txBody>
      </p:sp>
      <p:pic>
        <p:nvPicPr>
          <p:cNvPr id="55" name="图片 54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173"/>
          <p:cNvSpPr/>
          <p:nvPr/>
        </p:nvSpPr>
        <p:spPr>
          <a:xfrm>
            <a:off x="9993330" y="6084980"/>
            <a:ext cx="1744324" cy="347038"/>
          </a:xfrm>
          <a:custGeom>
            <a:avLst/>
            <a:gdLst/>
            <a:ahLst/>
            <a:cxnLst/>
            <a:rect l="l" t="t" r="r" b="b"/>
            <a:pathLst>
              <a:path w="1744324" h="347038">
                <a:moveTo>
                  <a:pt x="36529" y="0"/>
                </a:moveTo>
                <a:lnTo>
                  <a:pt x="1707794" y="0"/>
                </a:lnTo>
                <a:cubicBezTo>
                  <a:pt x="1727969" y="0"/>
                  <a:pt x="1744324" y="16355"/>
                  <a:pt x="1744324" y="36529"/>
                </a:cubicBezTo>
                <a:lnTo>
                  <a:pt x="1744324" y="310509"/>
                </a:lnTo>
                <a:cubicBezTo>
                  <a:pt x="1744324" y="330684"/>
                  <a:pt x="1727969" y="347038"/>
                  <a:pt x="1707794" y="347038"/>
                </a:cubicBezTo>
                <a:lnTo>
                  <a:pt x="36529" y="347038"/>
                </a:lnTo>
                <a:cubicBezTo>
                  <a:pt x="16368" y="347038"/>
                  <a:pt x="0" y="330670"/>
                  <a:pt x="0" y="310509"/>
                </a:cubicBezTo>
                <a:lnTo>
                  <a:pt x="0" y="36529"/>
                </a:lnTo>
                <a:cubicBezTo>
                  <a:pt x="0" y="16355"/>
                  <a:pt x="16355" y="0"/>
                  <a:pt x="36529" y="0"/>
                </a:cubicBezTo>
                <a:close/>
              </a:path>
            </a:pathLst>
          </a:custGeom>
          <a:solidFill>
            <a:srgbClr val="FF8C69">
              <a:alpha val="5098"/>
            </a:srgbClr>
          </a:solidFill>
          <a:ln/>
        </p:spPr>
      </p:sp>
      <p:sp>
        <p:nvSpPr>
          <p:cNvPr id="263" name="Shape 177"/>
          <p:cNvSpPr/>
          <p:nvPr/>
        </p:nvSpPr>
        <p:spPr>
          <a:xfrm>
            <a:off x="455833" y="6415640"/>
            <a:ext cx="11461393" cy="301375"/>
          </a:xfrm>
          <a:custGeom>
            <a:avLst/>
            <a:gdLst/>
            <a:ahLst/>
            <a:cxnLst/>
            <a:rect l="l" t="t" r="r" b="b"/>
            <a:pathLst>
              <a:path w="11461393" h="301375">
                <a:moveTo>
                  <a:pt x="150688" y="0"/>
                </a:moveTo>
                <a:lnTo>
                  <a:pt x="11310706" y="0"/>
                </a:lnTo>
                <a:cubicBezTo>
                  <a:pt x="11393928" y="0"/>
                  <a:pt x="11461393" y="67465"/>
                  <a:pt x="11461393" y="150688"/>
                </a:cubicBezTo>
                <a:lnTo>
                  <a:pt x="11461393" y="150688"/>
                </a:lnTo>
                <a:cubicBezTo>
                  <a:pt x="11461393" y="233910"/>
                  <a:pt x="11393928" y="301375"/>
                  <a:pt x="11310706" y="301375"/>
                </a:cubicBezTo>
                <a:lnTo>
                  <a:pt x="150688" y="301375"/>
                </a:lnTo>
                <a:cubicBezTo>
                  <a:pt x="67521" y="301375"/>
                  <a:pt x="0" y="233854"/>
                  <a:pt x="0" y="150688"/>
                </a:cubicBezTo>
                <a:lnTo>
                  <a:pt x="0" y="150688"/>
                </a:lnTo>
                <a:cubicBezTo>
                  <a:pt x="0" y="67521"/>
                  <a:pt x="67521" y="0"/>
                  <a:pt x="150688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" name="Text 1"/>
          <p:cNvSpPr/>
          <p:nvPr/>
        </p:nvSpPr>
        <p:spPr>
          <a:xfrm>
            <a:off x="330407" y="594732"/>
            <a:ext cx="11679870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zh-CN" altLang="en-US" sz="2341" b="1" dirty="0" smtClean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自工序</a:t>
            </a:r>
            <a:r>
              <a:rPr lang="en-US" sz="2341" b="1" dirty="0" smtClean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A3</a:t>
            </a:r>
            <a:r>
              <a:rPr lang="zh-CN" altLang="en-US" sz="2341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开</a:t>
            </a:r>
            <a:r>
              <a:rPr lang="zh-CN" altLang="en-US" sz="2341" b="1" dirty="0" smtClean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题报告</a:t>
            </a:r>
            <a:endParaRPr lang="en-US" sz="1600" dirty="0"/>
          </a:p>
        </p:txBody>
      </p:sp>
      <p:sp>
        <p:nvSpPr>
          <p:cNvPr id="3" name="Text 0"/>
          <p:cNvSpPr/>
          <p:nvPr/>
        </p:nvSpPr>
        <p:spPr>
          <a:xfrm>
            <a:off x="330407" y="330407"/>
            <a:ext cx="1159726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kern="0" spc="52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</a:t>
            </a:r>
            <a:r>
              <a:rPr lang="en-US" sz="1041" b="1" kern="0" spc="52" dirty="0" smtClean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2.2 </a:t>
            </a:r>
            <a:r>
              <a:rPr lang="en-US" sz="1041" b="1" kern="0" spc="52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· </a:t>
            </a:r>
            <a:r>
              <a:rPr lang="zh-CN" altLang="en-US" sz="1041" b="1" kern="0" spc="52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</a:t>
            </a:r>
            <a:r>
              <a:rPr lang="zh-CN" altLang="en-US" sz="1041" b="1" kern="0" spc="52" dirty="0" smtClean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题报告</a:t>
            </a:r>
            <a:endParaRPr lang="en-US" sz="1600" dirty="0"/>
          </a:p>
        </p:txBody>
      </p:sp>
      <p:pic>
        <p:nvPicPr>
          <p:cNvPr id="95" name="图片 94" descr="徽标&#10;&#10;描述已自动生成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  <p:sp>
        <p:nvSpPr>
          <p:cNvPr id="96" name="Shape 10"/>
          <p:cNvSpPr/>
          <p:nvPr/>
        </p:nvSpPr>
        <p:spPr>
          <a:xfrm>
            <a:off x="383569" y="1036548"/>
            <a:ext cx="3707829" cy="2091362"/>
          </a:xfrm>
          <a:custGeom>
            <a:avLst/>
            <a:gdLst/>
            <a:ahLst/>
            <a:cxnLst/>
            <a:rect l="l" t="t" r="r" b="b"/>
            <a:pathLst>
              <a:path w="3707829" h="2091362">
                <a:moveTo>
                  <a:pt x="36530" y="0"/>
                </a:moveTo>
                <a:lnTo>
                  <a:pt x="3598242" y="0"/>
                </a:lnTo>
                <a:cubicBezTo>
                  <a:pt x="3658765" y="0"/>
                  <a:pt x="3707829" y="49064"/>
                  <a:pt x="3707829" y="109587"/>
                </a:cubicBezTo>
                <a:lnTo>
                  <a:pt x="3707829" y="1981774"/>
                </a:lnTo>
                <a:cubicBezTo>
                  <a:pt x="3707829" y="2042298"/>
                  <a:pt x="3658765" y="2091362"/>
                  <a:pt x="3598242" y="2091362"/>
                </a:cubicBezTo>
                <a:lnTo>
                  <a:pt x="36530" y="2091362"/>
                </a:lnTo>
                <a:cubicBezTo>
                  <a:pt x="16355" y="2091362"/>
                  <a:pt x="0" y="2075007"/>
                  <a:pt x="0" y="205483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7" name="Shape 11"/>
          <p:cNvSpPr/>
          <p:nvPr/>
        </p:nvSpPr>
        <p:spPr>
          <a:xfrm>
            <a:off x="383569" y="1036548"/>
            <a:ext cx="36530" cy="2091362"/>
          </a:xfrm>
          <a:custGeom>
            <a:avLst/>
            <a:gdLst/>
            <a:ahLst/>
            <a:cxnLst/>
            <a:rect l="l" t="t" r="r" b="b"/>
            <a:pathLst>
              <a:path w="36530" h="2091362">
                <a:moveTo>
                  <a:pt x="36530" y="0"/>
                </a:moveTo>
                <a:lnTo>
                  <a:pt x="36530" y="0"/>
                </a:lnTo>
                <a:lnTo>
                  <a:pt x="36530" y="2091362"/>
                </a:lnTo>
                <a:lnTo>
                  <a:pt x="36530" y="2091362"/>
                </a:lnTo>
                <a:cubicBezTo>
                  <a:pt x="16355" y="2091362"/>
                  <a:pt x="0" y="2075007"/>
                  <a:pt x="0" y="205483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D15C"/>
          </a:solidFill>
          <a:ln/>
        </p:spPr>
      </p:sp>
      <p:sp>
        <p:nvSpPr>
          <p:cNvPr id="98" name="Shape 12"/>
          <p:cNvSpPr/>
          <p:nvPr/>
        </p:nvSpPr>
        <p:spPr>
          <a:xfrm>
            <a:off x="511425" y="1146139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solidFill>
            <a:srgbClr val="FFD15C"/>
          </a:solidFill>
          <a:ln/>
        </p:spPr>
      </p:sp>
      <p:sp>
        <p:nvSpPr>
          <p:cNvPr id="99" name="Shape 13"/>
          <p:cNvSpPr/>
          <p:nvPr/>
        </p:nvSpPr>
        <p:spPr>
          <a:xfrm>
            <a:off x="584485" y="1219200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95892" y="54796"/>
                </a:moveTo>
                <a:cubicBezTo>
                  <a:pt x="95892" y="32114"/>
                  <a:pt x="77477" y="13699"/>
                  <a:pt x="54796" y="13699"/>
                </a:cubicBezTo>
                <a:cubicBezTo>
                  <a:pt x="32114" y="13699"/>
                  <a:pt x="13699" y="32114"/>
                  <a:pt x="13699" y="54796"/>
                </a:cubicBezTo>
                <a:cubicBezTo>
                  <a:pt x="13699" y="77477"/>
                  <a:pt x="32114" y="95892"/>
                  <a:pt x="54796" y="95892"/>
                </a:cubicBezTo>
                <a:cubicBezTo>
                  <a:pt x="77477" y="95892"/>
                  <a:pt x="95892" y="77477"/>
                  <a:pt x="95892" y="54796"/>
                </a:cubicBezTo>
                <a:close/>
                <a:moveTo>
                  <a:pt x="0" y="54796"/>
                </a:moveTo>
                <a:cubicBezTo>
                  <a:pt x="0" y="24553"/>
                  <a:pt x="24553" y="0"/>
                  <a:pt x="54796" y="0"/>
                </a:cubicBezTo>
                <a:cubicBezTo>
                  <a:pt x="85038" y="0"/>
                  <a:pt x="109591" y="24553"/>
                  <a:pt x="109591" y="54796"/>
                </a:cubicBezTo>
                <a:cubicBezTo>
                  <a:pt x="109591" y="85038"/>
                  <a:pt x="85038" y="109591"/>
                  <a:pt x="54796" y="109591"/>
                </a:cubicBezTo>
                <a:cubicBezTo>
                  <a:pt x="24553" y="109591"/>
                  <a:pt x="0" y="85038"/>
                  <a:pt x="0" y="54796"/>
                </a:cubicBezTo>
                <a:close/>
                <a:moveTo>
                  <a:pt x="54796" y="71919"/>
                </a:moveTo>
                <a:cubicBezTo>
                  <a:pt x="64246" y="71919"/>
                  <a:pt x="71919" y="64246"/>
                  <a:pt x="71919" y="54796"/>
                </a:cubicBezTo>
                <a:cubicBezTo>
                  <a:pt x="71919" y="45345"/>
                  <a:pt x="64246" y="37672"/>
                  <a:pt x="54796" y="37672"/>
                </a:cubicBezTo>
                <a:cubicBezTo>
                  <a:pt x="45345" y="37672"/>
                  <a:pt x="37672" y="45345"/>
                  <a:pt x="37672" y="54796"/>
                </a:cubicBezTo>
                <a:cubicBezTo>
                  <a:pt x="37672" y="64246"/>
                  <a:pt x="45345" y="71919"/>
                  <a:pt x="54796" y="71919"/>
                </a:cubicBezTo>
                <a:close/>
                <a:moveTo>
                  <a:pt x="54796" y="23973"/>
                </a:moveTo>
                <a:cubicBezTo>
                  <a:pt x="71807" y="23973"/>
                  <a:pt x="85618" y="37784"/>
                  <a:pt x="85618" y="54796"/>
                </a:cubicBezTo>
                <a:cubicBezTo>
                  <a:pt x="85618" y="71807"/>
                  <a:pt x="71807" y="85618"/>
                  <a:pt x="54796" y="85618"/>
                </a:cubicBezTo>
                <a:cubicBezTo>
                  <a:pt x="37784" y="85618"/>
                  <a:pt x="23973" y="71807"/>
                  <a:pt x="23973" y="54796"/>
                </a:cubicBezTo>
                <a:cubicBezTo>
                  <a:pt x="23973" y="37784"/>
                  <a:pt x="37784" y="23973"/>
                  <a:pt x="54796" y="23973"/>
                </a:cubicBezTo>
                <a:close/>
                <a:moveTo>
                  <a:pt x="47946" y="54796"/>
                </a:moveTo>
                <a:cubicBezTo>
                  <a:pt x="47946" y="51015"/>
                  <a:pt x="51015" y="47946"/>
                  <a:pt x="54796" y="47946"/>
                </a:cubicBezTo>
                <a:cubicBezTo>
                  <a:pt x="58576" y="47946"/>
                  <a:pt x="61645" y="51015"/>
                  <a:pt x="61645" y="54796"/>
                </a:cubicBezTo>
                <a:cubicBezTo>
                  <a:pt x="61645" y="58576"/>
                  <a:pt x="58576" y="61645"/>
                  <a:pt x="54796" y="61645"/>
                </a:cubicBezTo>
                <a:cubicBezTo>
                  <a:pt x="51015" y="61645"/>
                  <a:pt x="47946" y="58576"/>
                  <a:pt x="47946" y="547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0" name="Text 14"/>
          <p:cNvSpPr/>
          <p:nvPr/>
        </p:nvSpPr>
        <p:spPr>
          <a:xfrm>
            <a:off x="840198" y="1171254"/>
            <a:ext cx="1610531" cy="248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4A4A4A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课题背景与价值</a:t>
            </a:r>
            <a:endParaRPr lang="en-US" sz="1600" dirty="0"/>
          </a:p>
        </p:txBody>
      </p:sp>
      <p:sp>
        <p:nvSpPr>
          <p:cNvPr id="101" name="Text 15"/>
          <p:cNvSpPr/>
          <p:nvPr/>
        </p:nvSpPr>
        <p:spPr>
          <a:xfrm>
            <a:off x="511425" y="1474912"/>
            <a:ext cx="3520611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核心抓手：</a:t>
            </a:r>
            <a:r>
              <a:rPr lang="en-US" sz="791" dirty="0">
                <a:solidFill>
                  <a:srgbClr val="4A4A4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1+2漏斗管理是EBG销售经营核心，直接决定季度业绩兑现、潜力储备与业务布局</a:t>
            </a:r>
            <a:endParaRPr lang="en-US" sz="1600" dirty="0"/>
          </a:p>
        </p:txBody>
      </p:sp>
      <p:sp>
        <p:nvSpPr>
          <p:cNvPr id="102" name="Text 16"/>
          <p:cNvSpPr/>
          <p:nvPr/>
        </p:nvSpPr>
        <p:spPr>
          <a:xfrm>
            <a:off x="511425" y="1856198"/>
            <a:ext cx="3520611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当前痛点：</a:t>
            </a:r>
            <a:r>
              <a:rPr lang="en-US" sz="791" dirty="0">
                <a:solidFill>
                  <a:srgbClr val="4A4A4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销售行为不标准、流程质量不可控、异常后移、返工内耗等问题突出</a:t>
            </a:r>
            <a:endParaRPr lang="en-US" sz="1600" dirty="0"/>
          </a:p>
        </p:txBody>
      </p:sp>
      <p:sp>
        <p:nvSpPr>
          <p:cNvPr id="103" name="Text 17"/>
          <p:cNvSpPr/>
          <p:nvPr/>
        </p:nvSpPr>
        <p:spPr>
          <a:xfrm>
            <a:off x="511425" y="2237483"/>
            <a:ext cx="3520611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MO流程脱节：</a:t>
            </a:r>
            <a:r>
              <a:rPr lang="en-US" sz="791" dirty="0">
                <a:solidFill>
                  <a:srgbClr val="4A4A4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关键节点（立项、方案评审、标前评审）执行率偏低，影响项目质量与中标率</a:t>
            </a:r>
            <a:endParaRPr lang="en-US" sz="1600" dirty="0"/>
          </a:p>
        </p:txBody>
      </p:sp>
      <p:sp>
        <p:nvSpPr>
          <p:cNvPr id="104" name="Shape 18"/>
          <p:cNvSpPr/>
          <p:nvPr/>
        </p:nvSpPr>
        <p:spPr>
          <a:xfrm>
            <a:off x="511425" y="2640687"/>
            <a:ext cx="3470382" cy="7306"/>
          </a:xfrm>
          <a:custGeom>
            <a:avLst/>
            <a:gdLst/>
            <a:ahLst/>
            <a:cxnLst/>
            <a:rect l="l" t="t" r="r" b="b"/>
            <a:pathLst>
              <a:path w="3470382" h="7306">
                <a:moveTo>
                  <a:pt x="0" y="0"/>
                </a:moveTo>
                <a:lnTo>
                  <a:pt x="3470382" y="0"/>
                </a:lnTo>
                <a:lnTo>
                  <a:pt x="3470382" y="7306"/>
                </a:lnTo>
                <a:lnTo>
                  <a:pt x="0" y="7306"/>
                </a:lnTo>
                <a:lnTo>
                  <a:pt x="0" y="0"/>
                </a:lnTo>
                <a:close/>
              </a:path>
            </a:pathLst>
          </a:custGeom>
          <a:solidFill>
            <a:srgbClr val="FFD15C">
              <a:alpha val="20000"/>
            </a:srgbClr>
          </a:solidFill>
          <a:ln/>
        </p:spPr>
      </p:sp>
      <p:sp>
        <p:nvSpPr>
          <p:cNvPr id="105" name="Text 19"/>
          <p:cNvSpPr/>
          <p:nvPr/>
        </p:nvSpPr>
        <p:spPr>
          <a:xfrm>
            <a:off x="511425" y="2717401"/>
            <a:ext cx="3520611" cy="30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1" b="1" dirty="0">
                <a:solidFill>
                  <a:srgbClr val="FF8C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引入自工序完结理念：</a:t>
            </a:r>
            <a:r>
              <a:rPr lang="en-US" sz="79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在工序内造就品质，实现一次做对、自我闭环，显著提升漏斗健康度</a:t>
            </a:r>
            <a:endParaRPr lang="en-US" sz="1600" dirty="0"/>
          </a:p>
        </p:txBody>
      </p:sp>
      <p:sp>
        <p:nvSpPr>
          <p:cNvPr id="106" name="Shape 20"/>
          <p:cNvSpPr/>
          <p:nvPr/>
        </p:nvSpPr>
        <p:spPr>
          <a:xfrm>
            <a:off x="383569" y="3237958"/>
            <a:ext cx="3707829" cy="2411002"/>
          </a:xfrm>
          <a:custGeom>
            <a:avLst/>
            <a:gdLst/>
            <a:ahLst/>
            <a:cxnLst/>
            <a:rect l="l" t="t" r="r" b="b"/>
            <a:pathLst>
              <a:path w="3707829" h="2411002">
                <a:moveTo>
                  <a:pt x="36530" y="0"/>
                </a:moveTo>
                <a:lnTo>
                  <a:pt x="3598249" y="0"/>
                </a:lnTo>
                <a:cubicBezTo>
                  <a:pt x="3658769" y="0"/>
                  <a:pt x="3707829" y="49061"/>
                  <a:pt x="3707829" y="109580"/>
                </a:cubicBezTo>
                <a:lnTo>
                  <a:pt x="3707829" y="2301422"/>
                </a:lnTo>
                <a:cubicBezTo>
                  <a:pt x="3707829" y="2361942"/>
                  <a:pt x="3658769" y="2411002"/>
                  <a:pt x="3598249" y="2411002"/>
                </a:cubicBezTo>
                <a:lnTo>
                  <a:pt x="36530" y="2411002"/>
                </a:lnTo>
                <a:cubicBezTo>
                  <a:pt x="16355" y="2411002"/>
                  <a:pt x="0" y="2394647"/>
                  <a:pt x="0" y="2374472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7" name="Shape 21"/>
          <p:cNvSpPr/>
          <p:nvPr/>
        </p:nvSpPr>
        <p:spPr>
          <a:xfrm>
            <a:off x="383569" y="3237958"/>
            <a:ext cx="36530" cy="2411002"/>
          </a:xfrm>
          <a:custGeom>
            <a:avLst/>
            <a:gdLst/>
            <a:ahLst/>
            <a:cxnLst/>
            <a:rect l="l" t="t" r="r" b="b"/>
            <a:pathLst>
              <a:path w="36530" h="2411002">
                <a:moveTo>
                  <a:pt x="36530" y="0"/>
                </a:moveTo>
                <a:lnTo>
                  <a:pt x="36530" y="0"/>
                </a:lnTo>
                <a:lnTo>
                  <a:pt x="36530" y="2411002"/>
                </a:lnTo>
                <a:lnTo>
                  <a:pt x="36530" y="2411002"/>
                </a:lnTo>
                <a:cubicBezTo>
                  <a:pt x="16355" y="2411002"/>
                  <a:pt x="0" y="2394647"/>
                  <a:pt x="0" y="2374472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8C69"/>
          </a:solidFill>
          <a:ln/>
        </p:spPr>
      </p:sp>
      <p:sp>
        <p:nvSpPr>
          <p:cNvPr id="108" name="Shape 22"/>
          <p:cNvSpPr/>
          <p:nvPr/>
        </p:nvSpPr>
        <p:spPr>
          <a:xfrm>
            <a:off x="511425" y="3347549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solidFill>
            <a:srgbClr val="FF8C69"/>
          </a:solidFill>
          <a:ln/>
        </p:spPr>
      </p:sp>
      <p:sp>
        <p:nvSpPr>
          <p:cNvPr id="109" name="Shape 23"/>
          <p:cNvSpPr/>
          <p:nvPr/>
        </p:nvSpPr>
        <p:spPr>
          <a:xfrm>
            <a:off x="584485" y="3420610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54796" y="0"/>
                </a:moveTo>
                <a:cubicBezTo>
                  <a:pt x="57942" y="0"/>
                  <a:pt x="60832" y="1734"/>
                  <a:pt x="62330" y="4495"/>
                </a:cubicBezTo>
                <a:lnTo>
                  <a:pt x="108564" y="90113"/>
                </a:lnTo>
                <a:cubicBezTo>
                  <a:pt x="109998" y="92767"/>
                  <a:pt x="109933" y="95978"/>
                  <a:pt x="108392" y="98568"/>
                </a:cubicBezTo>
                <a:cubicBezTo>
                  <a:pt x="106851" y="101158"/>
                  <a:pt x="104047" y="102742"/>
                  <a:pt x="101029" y="102742"/>
                </a:cubicBezTo>
                <a:lnTo>
                  <a:pt x="8562" y="102742"/>
                </a:lnTo>
                <a:cubicBezTo>
                  <a:pt x="5544" y="102742"/>
                  <a:pt x="2761" y="101158"/>
                  <a:pt x="1199" y="98568"/>
                </a:cubicBezTo>
                <a:cubicBezTo>
                  <a:pt x="-364" y="95978"/>
                  <a:pt x="-407" y="92767"/>
                  <a:pt x="1027" y="90113"/>
                </a:cubicBezTo>
                <a:lnTo>
                  <a:pt x="47261" y="4495"/>
                </a:lnTo>
                <a:cubicBezTo>
                  <a:pt x="48759" y="1734"/>
                  <a:pt x="51649" y="0"/>
                  <a:pt x="54796" y="0"/>
                </a:cubicBezTo>
                <a:close/>
                <a:moveTo>
                  <a:pt x="54796" y="35960"/>
                </a:moveTo>
                <a:cubicBezTo>
                  <a:pt x="51949" y="35960"/>
                  <a:pt x="49658" y="38250"/>
                  <a:pt x="49658" y="41097"/>
                </a:cubicBezTo>
                <a:lnTo>
                  <a:pt x="49658" y="65070"/>
                </a:lnTo>
                <a:cubicBezTo>
                  <a:pt x="49658" y="67916"/>
                  <a:pt x="51949" y="70207"/>
                  <a:pt x="54796" y="70207"/>
                </a:cubicBezTo>
                <a:cubicBezTo>
                  <a:pt x="57642" y="70207"/>
                  <a:pt x="59933" y="67916"/>
                  <a:pt x="59933" y="65070"/>
                </a:cubicBezTo>
                <a:lnTo>
                  <a:pt x="59933" y="41097"/>
                </a:lnTo>
                <a:cubicBezTo>
                  <a:pt x="59933" y="38250"/>
                  <a:pt x="57642" y="35960"/>
                  <a:pt x="54796" y="35960"/>
                </a:cubicBezTo>
                <a:close/>
                <a:moveTo>
                  <a:pt x="60511" y="82193"/>
                </a:moveTo>
                <a:cubicBezTo>
                  <a:pt x="60641" y="80072"/>
                  <a:pt x="59583" y="78054"/>
                  <a:pt x="57764" y="76954"/>
                </a:cubicBezTo>
                <a:cubicBezTo>
                  <a:pt x="55946" y="75854"/>
                  <a:pt x="53667" y="75854"/>
                  <a:pt x="51848" y="76954"/>
                </a:cubicBezTo>
                <a:cubicBezTo>
                  <a:pt x="50030" y="78054"/>
                  <a:pt x="48972" y="80072"/>
                  <a:pt x="49102" y="82193"/>
                </a:cubicBezTo>
                <a:cubicBezTo>
                  <a:pt x="48972" y="84315"/>
                  <a:pt x="50030" y="86333"/>
                  <a:pt x="51848" y="87433"/>
                </a:cubicBezTo>
                <a:cubicBezTo>
                  <a:pt x="53667" y="88533"/>
                  <a:pt x="55946" y="88533"/>
                  <a:pt x="57764" y="87433"/>
                </a:cubicBezTo>
                <a:cubicBezTo>
                  <a:pt x="59583" y="86333"/>
                  <a:pt x="60641" y="84315"/>
                  <a:pt x="60511" y="8219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0" name="Text 24"/>
          <p:cNvSpPr/>
          <p:nvPr/>
        </p:nvSpPr>
        <p:spPr>
          <a:xfrm>
            <a:off x="840198" y="3372664"/>
            <a:ext cx="570787" cy="210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4A4A4A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现状问题</a:t>
            </a:r>
            <a:endParaRPr lang="en-US" sz="1600" dirty="0"/>
          </a:p>
        </p:txBody>
      </p:sp>
      <p:sp>
        <p:nvSpPr>
          <p:cNvPr id="111" name="Shape 25"/>
          <p:cNvSpPr/>
          <p:nvPr/>
        </p:nvSpPr>
        <p:spPr>
          <a:xfrm>
            <a:off x="511425" y="3694587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8C69">
              <a:alpha val="10196"/>
            </a:srgbClr>
          </a:solidFill>
          <a:ln/>
        </p:spPr>
      </p:sp>
      <p:sp>
        <p:nvSpPr>
          <p:cNvPr id="112" name="Text 26"/>
          <p:cNvSpPr/>
          <p:nvPr/>
        </p:nvSpPr>
        <p:spPr>
          <a:xfrm>
            <a:off x="584714" y="3717419"/>
            <a:ext cx="82193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8C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13" name="Text 27"/>
          <p:cNvSpPr/>
          <p:nvPr/>
        </p:nvSpPr>
        <p:spPr>
          <a:xfrm>
            <a:off x="767137" y="3676322"/>
            <a:ext cx="3264899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流程执行不标准：</a:t>
            </a:r>
            <a:r>
              <a:rPr lang="en-US" sz="791" dirty="0">
                <a:solidFill>
                  <a:srgbClr val="4A4A4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漏斗潜力构建、转承诺、转下单动作不一致，质量参差不齐</a:t>
            </a:r>
            <a:endParaRPr lang="en-US" sz="1600" dirty="0"/>
          </a:p>
        </p:txBody>
      </p:sp>
      <p:sp>
        <p:nvSpPr>
          <p:cNvPr id="114" name="Shape 28"/>
          <p:cNvSpPr/>
          <p:nvPr/>
        </p:nvSpPr>
        <p:spPr>
          <a:xfrm>
            <a:off x="511425" y="4075873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8C69">
              <a:alpha val="10196"/>
            </a:srgbClr>
          </a:solidFill>
          <a:ln/>
        </p:spPr>
      </p:sp>
      <p:sp>
        <p:nvSpPr>
          <p:cNvPr id="115" name="Text 29"/>
          <p:cNvSpPr/>
          <p:nvPr/>
        </p:nvSpPr>
        <p:spPr>
          <a:xfrm>
            <a:off x="577065" y="4098704"/>
            <a:ext cx="10045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8C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16" name="Text 30"/>
          <p:cNvSpPr/>
          <p:nvPr/>
        </p:nvSpPr>
        <p:spPr>
          <a:xfrm>
            <a:off x="767137" y="4057607"/>
            <a:ext cx="3264899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工序质量不可控：</a:t>
            </a:r>
            <a:r>
              <a:rPr lang="en-US" sz="791" dirty="0">
                <a:solidFill>
                  <a:srgbClr val="4A4A4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问题多在后道暴露，依赖事后补救，未实现工序内完结</a:t>
            </a:r>
            <a:endParaRPr lang="en-US" sz="1600" dirty="0"/>
          </a:p>
        </p:txBody>
      </p:sp>
      <p:sp>
        <p:nvSpPr>
          <p:cNvPr id="117" name="Shape 31"/>
          <p:cNvSpPr/>
          <p:nvPr/>
        </p:nvSpPr>
        <p:spPr>
          <a:xfrm>
            <a:off x="511425" y="4457158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8C69">
              <a:alpha val="10196"/>
            </a:srgbClr>
          </a:solidFill>
          <a:ln/>
        </p:spPr>
      </p:sp>
      <p:sp>
        <p:nvSpPr>
          <p:cNvPr id="118" name="Text 32"/>
          <p:cNvSpPr/>
          <p:nvPr/>
        </p:nvSpPr>
        <p:spPr>
          <a:xfrm>
            <a:off x="575809" y="4479989"/>
            <a:ext cx="10045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8C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19" name="Text 33"/>
          <p:cNvSpPr/>
          <p:nvPr/>
        </p:nvSpPr>
        <p:spPr>
          <a:xfrm>
            <a:off x="767137" y="4438892"/>
            <a:ext cx="3264899" cy="328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MO与1+2融合不足：</a:t>
            </a:r>
            <a:r>
              <a:rPr lang="en-US" sz="791" dirty="0">
                <a:solidFill>
                  <a:srgbClr val="4A4A4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商机立项、方案评审、标前管控未深度嵌入漏斗各环节</a:t>
            </a:r>
            <a:endParaRPr lang="en-US" sz="1600" dirty="0"/>
          </a:p>
        </p:txBody>
      </p:sp>
      <p:sp>
        <p:nvSpPr>
          <p:cNvPr id="120" name="Shape 34"/>
          <p:cNvSpPr/>
          <p:nvPr/>
        </p:nvSpPr>
        <p:spPr>
          <a:xfrm>
            <a:off x="511425" y="4838443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8C69">
              <a:alpha val="10196"/>
            </a:srgbClr>
          </a:solidFill>
          <a:ln/>
        </p:spPr>
      </p:sp>
      <p:sp>
        <p:nvSpPr>
          <p:cNvPr id="121" name="Text 35"/>
          <p:cNvSpPr/>
          <p:nvPr/>
        </p:nvSpPr>
        <p:spPr>
          <a:xfrm>
            <a:off x="575924" y="4861274"/>
            <a:ext cx="10045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8C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22" name="Text 36"/>
          <p:cNvSpPr/>
          <p:nvPr/>
        </p:nvSpPr>
        <p:spPr>
          <a:xfrm>
            <a:off x="767137" y="4820178"/>
            <a:ext cx="2936126" cy="164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数据与动作脱节：</a:t>
            </a:r>
            <a:r>
              <a:rPr lang="en-US" sz="791" dirty="0">
                <a:solidFill>
                  <a:srgbClr val="4A4A4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周度复盘、1V1辅导、异常识别未形成闭环机制</a:t>
            </a:r>
            <a:endParaRPr lang="en-US" sz="1600" dirty="0"/>
          </a:p>
        </p:txBody>
      </p:sp>
      <p:sp>
        <p:nvSpPr>
          <p:cNvPr id="123" name="Shape 37"/>
          <p:cNvSpPr/>
          <p:nvPr/>
        </p:nvSpPr>
        <p:spPr>
          <a:xfrm>
            <a:off x="511425" y="5094155"/>
            <a:ext cx="3470382" cy="447497"/>
          </a:xfrm>
          <a:custGeom>
            <a:avLst/>
            <a:gdLst/>
            <a:ahLst/>
            <a:cxnLst/>
            <a:rect l="l" t="t" r="r" b="b"/>
            <a:pathLst>
              <a:path w="3470382" h="447497">
                <a:moveTo>
                  <a:pt x="73063" y="0"/>
                </a:moveTo>
                <a:lnTo>
                  <a:pt x="3397319" y="0"/>
                </a:lnTo>
                <a:cubicBezTo>
                  <a:pt x="3437671" y="0"/>
                  <a:pt x="3470382" y="32711"/>
                  <a:pt x="3470382" y="73063"/>
                </a:cubicBezTo>
                <a:lnTo>
                  <a:pt x="3470382" y="374434"/>
                </a:lnTo>
                <a:cubicBezTo>
                  <a:pt x="3470382" y="414785"/>
                  <a:pt x="3437671" y="447497"/>
                  <a:pt x="3397319" y="447497"/>
                </a:cubicBezTo>
                <a:lnTo>
                  <a:pt x="73063" y="447497"/>
                </a:lnTo>
                <a:cubicBezTo>
                  <a:pt x="32738" y="447497"/>
                  <a:pt x="0" y="414758"/>
                  <a:pt x="0" y="374434"/>
                </a:cubicBezTo>
                <a:lnTo>
                  <a:pt x="0" y="73063"/>
                </a:lnTo>
                <a:cubicBezTo>
                  <a:pt x="0" y="32738"/>
                  <a:pt x="32738" y="0"/>
                  <a:pt x="73063" y="0"/>
                </a:cubicBezTo>
                <a:close/>
              </a:path>
            </a:pathLst>
          </a:custGeom>
          <a:solidFill>
            <a:srgbClr val="FF8C69">
              <a:alpha val="5098"/>
            </a:srgbClr>
          </a:solidFill>
          <a:ln/>
        </p:spPr>
      </p:sp>
      <p:sp>
        <p:nvSpPr>
          <p:cNvPr id="124" name="Text 38"/>
          <p:cNvSpPr/>
          <p:nvPr/>
        </p:nvSpPr>
        <p:spPr>
          <a:xfrm>
            <a:off x="584485" y="5167216"/>
            <a:ext cx="3369924" cy="30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19" b="1" dirty="0">
                <a:solidFill>
                  <a:srgbClr val="FF8C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核心差距：</a:t>
            </a:r>
            <a:r>
              <a:rPr lang="en-US" sz="719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缺少标准化工序、明确良品条件、闭环校验机制，无法保障1+2全流程稳定高质量输出</a:t>
            </a:r>
            <a:endParaRPr lang="en-US" sz="1600" dirty="0"/>
          </a:p>
        </p:txBody>
      </p:sp>
      <p:sp>
        <p:nvSpPr>
          <p:cNvPr id="125" name="Shape 39"/>
          <p:cNvSpPr/>
          <p:nvPr/>
        </p:nvSpPr>
        <p:spPr>
          <a:xfrm>
            <a:off x="383569" y="5742414"/>
            <a:ext cx="3707829" cy="1095910"/>
          </a:xfrm>
          <a:custGeom>
            <a:avLst/>
            <a:gdLst/>
            <a:ahLst/>
            <a:cxnLst/>
            <a:rect l="l" t="t" r="r" b="b"/>
            <a:pathLst>
              <a:path w="3707829" h="1095910">
                <a:moveTo>
                  <a:pt x="36530" y="0"/>
                </a:moveTo>
                <a:lnTo>
                  <a:pt x="3598238" y="0"/>
                </a:lnTo>
                <a:cubicBezTo>
                  <a:pt x="3658764" y="0"/>
                  <a:pt x="3707829" y="49066"/>
                  <a:pt x="3707829" y="109591"/>
                </a:cubicBezTo>
                <a:lnTo>
                  <a:pt x="3707829" y="986319"/>
                </a:lnTo>
                <a:cubicBezTo>
                  <a:pt x="3707829" y="1046845"/>
                  <a:pt x="3658764" y="1095910"/>
                  <a:pt x="3598238" y="1095910"/>
                </a:cubicBezTo>
                <a:lnTo>
                  <a:pt x="36530" y="1095910"/>
                </a:lnTo>
                <a:cubicBezTo>
                  <a:pt x="16355" y="1095910"/>
                  <a:pt x="0" y="1079555"/>
                  <a:pt x="0" y="1059380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6" name="Shape 40"/>
          <p:cNvSpPr/>
          <p:nvPr/>
        </p:nvSpPr>
        <p:spPr>
          <a:xfrm>
            <a:off x="383569" y="5756268"/>
            <a:ext cx="36530" cy="972000"/>
          </a:xfrm>
          <a:custGeom>
            <a:avLst/>
            <a:gdLst/>
            <a:ahLst/>
            <a:cxnLst/>
            <a:rect l="l" t="t" r="r" b="b"/>
            <a:pathLst>
              <a:path w="36530" h="1095910">
                <a:moveTo>
                  <a:pt x="36530" y="0"/>
                </a:moveTo>
                <a:lnTo>
                  <a:pt x="36530" y="0"/>
                </a:lnTo>
                <a:lnTo>
                  <a:pt x="36530" y="1095910"/>
                </a:lnTo>
                <a:lnTo>
                  <a:pt x="36530" y="1095910"/>
                </a:lnTo>
                <a:cubicBezTo>
                  <a:pt x="16355" y="1095910"/>
                  <a:pt x="0" y="1079555"/>
                  <a:pt x="0" y="1059380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81D4FA"/>
          </a:solidFill>
          <a:ln/>
        </p:spPr>
      </p:sp>
      <p:sp>
        <p:nvSpPr>
          <p:cNvPr id="127" name="Shape 41"/>
          <p:cNvSpPr/>
          <p:nvPr/>
        </p:nvSpPr>
        <p:spPr>
          <a:xfrm>
            <a:off x="511425" y="5865859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solidFill>
            <a:srgbClr val="81D4FA"/>
          </a:solidFill>
          <a:ln/>
        </p:spPr>
      </p:sp>
      <p:sp>
        <p:nvSpPr>
          <p:cNvPr id="128" name="Shape 42"/>
          <p:cNvSpPr/>
          <p:nvPr/>
        </p:nvSpPr>
        <p:spPr>
          <a:xfrm>
            <a:off x="584485" y="5938919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89043" y="44521"/>
                </a:moveTo>
                <a:cubicBezTo>
                  <a:pt x="89043" y="54346"/>
                  <a:pt x="85853" y="63422"/>
                  <a:pt x="80481" y="70785"/>
                </a:cubicBezTo>
                <a:lnTo>
                  <a:pt x="107579" y="97904"/>
                </a:lnTo>
                <a:cubicBezTo>
                  <a:pt x="110255" y="100580"/>
                  <a:pt x="110255" y="104925"/>
                  <a:pt x="107579" y="107600"/>
                </a:cubicBezTo>
                <a:cubicBezTo>
                  <a:pt x="104903" y="110276"/>
                  <a:pt x="100558" y="110276"/>
                  <a:pt x="97883" y="107600"/>
                </a:cubicBezTo>
                <a:lnTo>
                  <a:pt x="70785" y="80481"/>
                </a:lnTo>
                <a:cubicBezTo>
                  <a:pt x="63422" y="85853"/>
                  <a:pt x="54346" y="89043"/>
                  <a:pt x="44521" y="89043"/>
                </a:cubicBezTo>
                <a:cubicBezTo>
                  <a:pt x="19928" y="89043"/>
                  <a:pt x="0" y="69115"/>
                  <a:pt x="0" y="44521"/>
                </a:cubicBezTo>
                <a:cubicBezTo>
                  <a:pt x="0" y="19928"/>
                  <a:pt x="19928" y="0"/>
                  <a:pt x="44521" y="0"/>
                </a:cubicBezTo>
                <a:cubicBezTo>
                  <a:pt x="69115" y="0"/>
                  <a:pt x="89043" y="19928"/>
                  <a:pt x="89043" y="44521"/>
                </a:cubicBezTo>
                <a:close/>
                <a:moveTo>
                  <a:pt x="44521" y="75344"/>
                </a:moveTo>
                <a:cubicBezTo>
                  <a:pt x="61533" y="75344"/>
                  <a:pt x="75344" y="61533"/>
                  <a:pt x="75344" y="44521"/>
                </a:cubicBezTo>
                <a:cubicBezTo>
                  <a:pt x="75344" y="27510"/>
                  <a:pt x="61533" y="13699"/>
                  <a:pt x="44521" y="13699"/>
                </a:cubicBezTo>
                <a:cubicBezTo>
                  <a:pt x="27510" y="13699"/>
                  <a:pt x="13699" y="27510"/>
                  <a:pt x="13699" y="44521"/>
                </a:cubicBezTo>
                <a:cubicBezTo>
                  <a:pt x="13699" y="61533"/>
                  <a:pt x="27510" y="75344"/>
                  <a:pt x="44521" y="75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9" name="Text 43"/>
          <p:cNvSpPr/>
          <p:nvPr/>
        </p:nvSpPr>
        <p:spPr>
          <a:xfrm>
            <a:off x="840198" y="5890973"/>
            <a:ext cx="570787" cy="210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4A4A4A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根因分析</a:t>
            </a:r>
            <a:endParaRPr lang="en-US" sz="1600" dirty="0"/>
          </a:p>
        </p:txBody>
      </p:sp>
      <p:sp>
        <p:nvSpPr>
          <p:cNvPr id="130" name="Shape 44"/>
          <p:cNvSpPr/>
          <p:nvPr/>
        </p:nvSpPr>
        <p:spPr>
          <a:xfrm>
            <a:off x="511425" y="6194632"/>
            <a:ext cx="1707793" cy="246580"/>
          </a:xfrm>
          <a:custGeom>
            <a:avLst/>
            <a:gdLst/>
            <a:ahLst/>
            <a:cxnLst/>
            <a:rect l="l" t="t" r="r" b="b"/>
            <a:pathLst>
              <a:path w="1707793" h="246580">
                <a:moveTo>
                  <a:pt x="73062" y="0"/>
                </a:moveTo>
                <a:lnTo>
                  <a:pt x="1634732" y="0"/>
                </a:lnTo>
                <a:cubicBezTo>
                  <a:pt x="1675082" y="0"/>
                  <a:pt x="1707793" y="32711"/>
                  <a:pt x="1707793" y="73062"/>
                </a:cubicBezTo>
                <a:lnTo>
                  <a:pt x="1707793" y="173518"/>
                </a:lnTo>
                <a:cubicBezTo>
                  <a:pt x="1707793" y="213869"/>
                  <a:pt x="1675082" y="246580"/>
                  <a:pt x="1634732" y="246580"/>
                </a:cubicBezTo>
                <a:lnTo>
                  <a:pt x="73062" y="246580"/>
                </a:lnTo>
                <a:cubicBezTo>
                  <a:pt x="32711" y="246580"/>
                  <a:pt x="0" y="213869"/>
                  <a:pt x="0" y="173518"/>
                </a:cubicBezTo>
                <a:lnTo>
                  <a:pt x="0" y="73062"/>
                </a:lnTo>
                <a:cubicBezTo>
                  <a:pt x="0" y="32711"/>
                  <a:pt x="32711" y="0"/>
                  <a:pt x="73062" y="0"/>
                </a:cubicBezTo>
                <a:close/>
              </a:path>
            </a:pathLst>
          </a:custGeom>
          <a:solidFill>
            <a:srgbClr val="81D4FA">
              <a:alpha val="10196"/>
            </a:srgbClr>
          </a:solidFill>
          <a:ln/>
        </p:spPr>
      </p:sp>
      <p:sp>
        <p:nvSpPr>
          <p:cNvPr id="131" name="Shape 45"/>
          <p:cNvSpPr/>
          <p:nvPr/>
        </p:nvSpPr>
        <p:spPr>
          <a:xfrm>
            <a:off x="593618" y="6263126"/>
            <a:ext cx="82193" cy="109591"/>
          </a:xfrm>
          <a:custGeom>
            <a:avLst/>
            <a:gdLst/>
            <a:ahLst/>
            <a:cxnLst/>
            <a:rect l="l" t="t" r="r" b="b"/>
            <a:pathLst>
              <a:path w="82193" h="109591">
                <a:moveTo>
                  <a:pt x="0" y="13699"/>
                </a:moveTo>
                <a:cubicBezTo>
                  <a:pt x="0" y="6143"/>
                  <a:pt x="6143" y="0"/>
                  <a:pt x="13699" y="0"/>
                </a:cubicBezTo>
                <a:lnTo>
                  <a:pt x="45699" y="0"/>
                </a:lnTo>
                <a:cubicBezTo>
                  <a:pt x="49337" y="0"/>
                  <a:pt x="52826" y="1434"/>
                  <a:pt x="55395" y="4003"/>
                </a:cubicBezTo>
                <a:lnTo>
                  <a:pt x="78191" y="26820"/>
                </a:lnTo>
                <a:cubicBezTo>
                  <a:pt x="80759" y="29388"/>
                  <a:pt x="82193" y="32877"/>
                  <a:pt x="82193" y="36516"/>
                </a:cubicBezTo>
                <a:lnTo>
                  <a:pt x="82193" y="95892"/>
                </a:lnTo>
                <a:cubicBezTo>
                  <a:pt x="82193" y="103448"/>
                  <a:pt x="76050" y="109591"/>
                  <a:pt x="68494" y="109591"/>
                </a:cubicBezTo>
                <a:lnTo>
                  <a:pt x="13699" y="109591"/>
                </a:lnTo>
                <a:cubicBezTo>
                  <a:pt x="6143" y="109591"/>
                  <a:pt x="0" y="103448"/>
                  <a:pt x="0" y="95892"/>
                </a:cubicBezTo>
                <a:lnTo>
                  <a:pt x="0" y="13699"/>
                </a:lnTo>
                <a:close/>
                <a:moveTo>
                  <a:pt x="44521" y="12522"/>
                </a:moveTo>
                <a:lnTo>
                  <a:pt x="44521" y="32535"/>
                </a:lnTo>
                <a:cubicBezTo>
                  <a:pt x="44521" y="35382"/>
                  <a:pt x="46812" y="37672"/>
                  <a:pt x="49658" y="37672"/>
                </a:cubicBezTo>
                <a:lnTo>
                  <a:pt x="69672" y="37672"/>
                </a:lnTo>
                <a:lnTo>
                  <a:pt x="44521" y="12522"/>
                </a:lnTo>
                <a:close/>
                <a:moveTo>
                  <a:pt x="25685" y="54796"/>
                </a:moveTo>
                <a:cubicBezTo>
                  <a:pt x="22839" y="54796"/>
                  <a:pt x="20548" y="57086"/>
                  <a:pt x="20548" y="59933"/>
                </a:cubicBezTo>
                <a:cubicBezTo>
                  <a:pt x="20548" y="62779"/>
                  <a:pt x="22839" y="65070"/>
                  <a:pt x="25685" y="65070"/>
                </a:cubicBezTo>
                <a:lnTo>
                  <a:pt x="56508" y="65070"/>
                </a:lnTo>
                <a:cubicBezTo>
                  <a:pt x="59355" y="65070"/>
                  <a:pt x="61645" y="62779"/>
                  <a:pt x="61645" y="59933"/>
                </a:cubicBezTo>
                <a:cubicBezTo>
                  <a:pt x="61645" y="57086"/>
                  <a:pt x="59355" y="54796"/>
                  <a:pt x="56508" y="54796"/>
                </a:cubicBezTo>
                <a:lnTo>
                  <a:pt x="25685" y="54796"/>
                </a:lnTo>
                <a:close/>
                <a:moveTo>
                  <a:pt x="25685" y="75344"/>
                </a:moveTo>
                <a:cubicBezTo>
                  <a:pt x="22839" y="75344"/>
                  <a:pt x="20548" y="77634"/>
                  <a:pt x="20548" y="80481"/>
                </a:cubicBezTo>
                <a:cubicBezTo>
                  <a:pt x="20548" y="83328"/>
                  <a:pt x="22839" y="85618"/>
                  <a:pt x="25685" y="85618"/>
                </a:cubicBezTo>
                <a:lnTo>
                  <a:pt x="56508" y="85618"/>
                </a:lnTo>
                <a:cubicBezTo>
                  <a:pt x="59355" y="85618"/>
                  <a:pt x="61645" y="83328"/>
                  <a:pt x="61645" y="80481"/>
                </a:cubicBezTo>
                <a:cubicBezTo>
                  <a:pt x="61645" y="77634"/>
                  <a:pt x="59355" y="75344"/>
                  <a:pt x="56508" y="75344"/>
                </a:cubicBezTo>
                <a:lnTo>
                  <a:pt x="25685" y="75344"/>
                </a:lnTo>
                <a:close/>
              </a:path>
            </a:pathLst>
          </a:custGeom>
          <a:solidFill>
            <a:srgbClr val="81D4FA"/>
          </a:solidFill>
          <a:ln/>
        </p:spPr>
      </p:sp>
      <p:sp>
        <p:nvSpPr>
          <p:cNvPr id="132" name="Text 46"/>
          <p:cNvSpPr/>
          <p:nvPr/>
        </p:nvSpPr>
        <p:spPr>
          <a:xfrm>
            <a:off x="758004" y="6249427"/>
            <a:ext cx="41096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标准缺失</a:t>
            </a:r>
            <a:endParaRPr lang="en-US" sz="1600" dirty="0"/>
          </a:p>
        </p:txBody>
      </p:sp>
      <p:sp>
        <p:nvSpPr>
          <p:cNvPr id="133" name="Shape 47"/>
          <p:cNvSpPr/>
          <p:nvPr/>
        </p:nvSpPr>
        <p:spPr>
          <a:xfrm>
            <a:off x="2272644" y="6194632"/>
            <a:ext cx="1707793" cy="246580"/>
          </a:xfrm>
          <a:custGeom>
            <a:avLst/>
            <a:gdLst/>
            <a:ahLst/>
            <a:cxnLst/>
            <a:rect l="l" t="t" r="r" b="b"/>
            <a:pathLst>
              <a:path w="1707793" h="246580">
                <a:moveTo>
                  <a:pt x="73062" y="0"/>
                </a:moveTo>
                <a:lnTo>
                  <a:pt x="1634732" y="0"/>
                </a:lnTo>
                <a:cubicBezTo>
                  <a:pt x="1675082" y="0"/>
                  <a:pt x="1707793" y="32711"/>
                  <a:pt x="1707793" y="73062"/>
                </a:cubicBezTo>
                <a:lnTo>
                  <a:pt x="1707793" y="173518"/>
                </a:lnTo>
                <a:cubicBezTo>
                  <a:pt x="1707793" y="213869"/>
                  <a:pt x="1675082" y="246580"/>
                  <a:pt x="1634732" y="246580"/>
                </a:cubicBezTo>
                <a:lnTo>
                  <a:pt x="73062" y="246580"/>
                </a:lnTo>
                <a:cubicBezTo>
                  <a:pt x="32711" y="246580"/>
                  <a:pt x="0" y="213869"/>
                  <a:pt x="0" y="173518"/>
                </a:cubicBezTo>
                <a:lnTo>
                  <a:pt x="0" y="73062"/>
                </a:lnTo>
                <a:cubicBezTo>
                  <a:pt x="0" y="32711"/>
                  <a:pt x="32711" y="0"/>
                  <a:pt x="73062" y="0"/>
                </a:cubicBezTo>
                <a:close/>
              </a:path>
            </a:pathLst>
          </a:custGeom>
          <a:solidFill>
            <a:srgbClr val="81D4FA">
              <a:alpha val="10196"/>
            </a:srgbClr>
          </a:solidFill>
          <a:ln/>
        </p:spPr>
      </p:sp>
      <p:sp>
        <p:nvSpPr>
          <p:cNvPr id="134" name="Shape 48"/>
          <p:cNvSpPr/>
          <p:nvPr/>
        </p:nvSpPr>
        <p:spPr>
          <a:xfrm>
            <a:off x="2341138" y="6263126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25685" y="11987"/>
                </a:moveTo>
                <a:cubicBezTo>
                  <a:pt x="25685" y="5373"/>
                  <a:pt x="31058" y="0"/>
                  <a:pt x="37672" y="0"/>
                </a:cubicBezTo>
                <a:lnTo>
                  <a:pt x="42809" y="0"/>
                </a:lnTo>
                <a:cubicBezTo>
                  <a:pt x="46598" y="0"/>
                  <a:pt x="49658" y="3061"/>
                  <a:pt x="49658" y="6849"/>
                </a:cubicBezTo>
                <a:lnTo>
                  <a:pt x="49658" y="102742"/>
                </a:lnTo>
                <a:cubicBezTo>
                  <a:pt x="49658" y="106530"/>
                  <a:pt x="46598" y="109591"/>
                  <a:pt x="42809" y="109591"/>
                </a:cubicBezTo>
                <a:lnTo>
                  <a:pt x="35960" y="109591"/>
                </a:lnTo>
                <a:cubicBezTo>
                  <a:pt x="29581" y="109591"/>
                  <a:pt x="24208" y="105224"/>
                  <a:pt x="22689" y="99317"/>
                </a:cubicBezTo>
                <a:cubicBezTo>
                  <a:pt x="22539" y="99317"/>
                  <a:pt x="22411" y="99317"/>
                  <a:pt x="22261" y="99317"/>
                </a:cubicBezTo>
                <a:cubicBezTo>
                  <a:pt x="12800" y="99317"/>
                  <a:pt x="5137" y="91654"/>
                  <a:pt x="5137" y="82193"/>
                </a:cubicBezTo>
                <a:cubicBezTo>
                  <a:pt x="5137" y="78340"/>
                  <a:pt x="6421" y="74787"/>
                  <a:pt x="8562" y="71919"/>
                </a:cubicBezTo>
                <a:cubicBezTo>
                  <a:pt x="4409" y="68794"/>
                  <a:pt x="1712" y="63828"/>
                  <a:pt x="1712" y="58220"/>
                </a:cubicBezTo>
                <a:cubicBezTo>
                  <a:pt x="1712" y="51606"/>
                  <a:pt x="5480" y="45848"/>
                  <a:pt x="10959" y="43002"/>
                </a:cubicBezTo>
                <a:cubicBezTo>
                  <a:pt x="9439" y="40433"/>
                  <a:pt x="8562" y="37436"/>
                  <a:pt x="8562" y="34247"/>
                </a:cubicBezTo>
                <a:cubicBezTo>
                  <a:pt x="8562" y="24786"/>
                  <a:pt x="16225" y="17124"/>
                  <a:pt x="25685" y="17124"/>
                </a:cubicBezTo>
                <a:lnTo>
                  <a:pt x="25685" y="11987"/>
                </a:lnTo>
                <a:close/>
                <a:moveTo>
                  <a:pt x="83906" y="11987"/>
                </a:moveTo>
                <a:lnTo>
                  <a:pt x="83906" y="17124"/>
                </a:lnTo>
                <a:cubicBezTo>
                  <a:pt x="93366" y="17124"/>
                  <a:pt x="101029" y="24786"/>
                  <a:pt x="101029" y="34247"/>
                </a:cubicBezTo>
                <a:cubicBezTo>
                  <a:pt x="101029" y="37458"/>
                  <a:pt x="100152" y="40454"/>
                  <a:pt x="98632" y="43002"/>
                </a:cubicBezTo>
                <a:cubicBezTo>
                  <a:pt x="104133" y="45848"/>
                  <a:pt x="107879" y="51585"/>
                  <a:pt x="107879" y="58220"/>
                </a:cubicBezTo>
                <a:cubicBezTo>
                  <a:pt x="107879" y="63828"/>
                  <a:pt x="105182" y="68794"/>
                  <a:pt x="101029" y="71919"/>
                </a:cubicBezTo>
                <a:cubicBezTo>
                  <a:pt x="103170" y="74787"/>
                  <a:pt x="104454" y="78340"/>
                  <a:pt x="104454" y="82193"/>
                </a:cubicBezTo>
                <a:cubicBezTo>
                  <a:pt x="104454" y="91654"/>
                  <a:pt x="96791" y="99317"/>
                  <a:pt x="87330" y="99317"/>
                </a:cubicBezTo>
                <a:cubicBezTo>
                  <a:pt x="87181" y="99317"/>
                  <a:pt x="87052" y="99317"/>
                  <a:pt x="86902" y="99317"/>
                </a:cubicBezTo>
                <a:cubicBezTo>
                  <a:pt x="85383" y="105224"/>
                  <a:pt x="80010" y="109591"/>
                  <a:pt x="73631" y="109591"/>
                </a:cubicBezTo>
                <a:lnTo>
                  <a:pt x="66782" y="109591"/>
                </a:lnTo>
                <a:cubicBezTo>
                  <a:pt x="62993" y="109591"/>
                  <a:pt x="59933" y="106530"/>
                  <a:pt x="59933" y="102742"/>
                </a:cubicBezTo>
                <a:lnTo>
                  <a:pt x="59933" y="6849"/>
                </a:lnTo>
                <a:cubicBezTo>
                  <a:pt x="59933" y="3061"/>
                  <a:pt x="62993" y="0"/>
                  <a:pt x="66782" y="0"/>
                </a:cubicBezTo>
                <a:lnTo>
                  <a:pt x="71919" y="0"/>
                </a:lnTo>
                <a:cubicBezTo>
                  <a:pt x="78533" y="0"/>
                  <a:pt x="83906" y="5373"/>
                  <a:pt x="83906" y="11987"/>
                </a:cubicBezTo>
                <a:close/>
              </a:path>
            </a:pathLst>
          </a:custGeom>
          <a:solidFill>
            <a:srgbClr val="81D4FA"/>
          </a:solidFill>
          <a:ln/>
        </p:spPr>
      </p:sp>
      <p:sp>
        <p:nvSpPr>
          <p:cNvPr id="135" name="Text 49"/>
          <p:cNvSpPr/>
          <p:nvPr/>
        </p:nvSpPr>
        <p:spPr>
          <a:xfrm>
            <a:off x="2519223" y="6249427"/>
            <a:ext cx="41096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认知不足</a:t>
            </a:r>
            <a:endParaRPr lang="en-US" sz="1600" dirty="0"/>
          </a:p>
        </p:txBody>
      </p:sp>
      <p:sp>
        <p:nvSpPr>
          <p:cNvPr id="136" name="Shape 50"/>
          <p:cNvSpPr/>
          <p:nvPr/>
        </p:nvSpPr>
        <p:spPr>
          <a:xfrm>
            <a:off x="511425" y="6496007"/>
            <a:ext cx="1707793" cy="246580"/>
          </a:xfrm>
          <a:custGeom>
            <a:avLst/>
            <a:gdLst/>
            <a:ahLst/>
            <a:cxnLst/>
            <a:rect l="l" t="t" r="r" b="b"/>
            <a:pathLst>
              <a:path w="1707793" h="246580">
                <a:moveTo>
                  <a:pt x="73062" y="0"/>
                </a:moveTo>
                <a:lnTo>
                  <a:pt x="1634732" y="0"/>
                </a:lnTo>
                <a:cubicBezTo>
                  <a:pt x="1675082" y="0"/>
                  <a:pt x="1707793" y="32711"/>
                  <a:pt x="1707793" y="73062"/>
                </a:cubicBezTo>
                <a:lnTo>
                  <a:pt x="1707793" y="173518"/>
                </a:lnTo>
                <a:cubicBezTo>
                  <a:pt x="1707793" y="213869"/>
                  <a:pt x="1675082" y="246580"/>
                  <a:pt x="1634732" y="246580"/>
                </a:cubicBezTo>
                <a:lnTo>
                  <a:pt x="73062" y="246580"/>
                </a:lnTo>
                <a:cubicBezTo>
                  <a:pt x="32711" y="246580"/>
                  <a:pt x="0" y="213869"/>
                  <a:pt x="0" y="173518"/>
                </a:cubicBezTo>
                <a:lnTo>
                  <a:pt x="0" y="73062"/>
                </a:lnTo>
                <a:cubicBezTo>
                  <a:pt x="0" y="32711"/>
                  <a:pt x="32711" y="0"/>
                  <a:pt x="73062" y="0"/>
                </a:cubicBezTo>
                <a:close/>
              </a:path>
            </a:pathLst>
          </a:custGeom>
          <a:solidFill>
            <a:srgbClr val="81D4FA">
              <a:alpha val="10196"/>
            </a:srgbClr>
          </a:solidFill>
          <a:ln/>
        </p:spPr>
      </p:sp>
      <p:sp>
        <p:nvSpPr>
          <p:cNvPr id="137" name="Shape 51"/>
          <p:cNvSpPr/>
          <p:nvPr/>
        </p:nvSpPr>
        <p:spPr>
          <a:xfrm>
            <a:off x="573070" y="6564501"/>
            <a:ext cx="123290" cy="109591"/>
          </a:xfrm>
          <a:custGeom>
            <a:avLst/>
            <a:gdLst/>
            <a:ahLst/>
            <a:cxnLst/>
            <a:rect l="l" t="t" r="r" b="b"/>
            <a:pathLst>
              <a:path w="123290" h="109591">
                <a:moveTo>
                  <a:pt x="47967" y="20784"/>
                </a:moveTo>
                <a:lnTo>
                  <a:pt x="47967" y="31400"/>
                </a:lnTo>
                <a:lnTo>
                  <a:pt x="48074" y="31507"/>
                </a:lnTo>
                <a:cubicBezTo>
                  <a:pt x="49466" y="13870"/>
                  <a:pt x="64213" y="0"/>
                  <a:pt x="82215" y="0"/>
                </a:cubicBezTo>
                <a:cubicBezTo>
                  <a:pt x="86517" y="0"/>
                  <a:pt x="90648" y="792"/>
                  <a:pt x="94437" y="2247"/>
                </a:cubicBezTo>
                <a:cubicBezTo>
                  <a:pt x="96577" y="3061"/>
                  <a:pt x="96962" y="5779"/>
                  <a:pt x="95357" y="7406"/>
                </a:cubicBezTo>
                <a:lnTo>
                  <a:pt x="76371" y="26392"/>
                </a:lnTo>
                <a:cubicBezTo>
                  <a:pt x="75729" y="27034"/>
                  <a:pt x="75365" y="27911"/>
                  <a:pt x="75365" y="28810"/>
                </a:cubicBezTo>
                <a:lnTo>
                  <a:pt x="75365" y="37672"/>
                </a:lnTo>
                <a:cubicBezTo>
                  <a:pt x="75365" y="39556"/>
                  <a:pt x="76906" y="41097"/>
                  <a:pt x="78790" y="41097"/>
                </a:cubicBezTo>
                <a:lnTo>
                  <a:pt x="87651" y="41097"/>
                </a:lnTo>
                <a:cubicBezTo>
                  <a:pt x="88550" y="41097"/>
                  <a:pt x="89428" y="40733"/>
                  <a:pt x="90070" y="40091"/>
                </a:cubicBezTo>
                <a:lnTo>
                  <a:pt x="109056" y="21105"/>
                </a:lnTo>
                <a:cubicBezTo>
                  <a:pt x="110683" y="19478"/>
                  <a:pt x="113401" y="19885"/>
                  <a:pt x="114214" y="22025"/>
                </a:cubicBezTo>
                <a:cubicBezTo>
                  <a:pt x="115670" y="25814"/>
                  <a:pt x="116462" y="29945"/>
                  <a:pt x="116462" y="34247"/>
                </a:cubicBezTo>
                <a:cubicBezTo>
                  <a:pt x="116462" y="47218"/>
                  <a:pt x="109249" y="58520"/>
                  <a:pt x="98589" y="64321"/>
                </a:cubicBezTo>
                <a:lnTo>
                  <a:pt x="116034" y="81765"/>
                </a:lnTo>
                <a:cubicBezTo>
                  <a:pt x="120036" y="85768"/>
                  <a:pt x="120036" y="92275"/>
                  <a:pt x="116034" y="96299"/>
                </a:cubicBezTo>
                <a:lnTo>
                  <a:pt x="103170" y="109163"/>
                </a:lnTo>
                <a:cubicBezTo>
                  <a:pt x="99167" y="113166"/>
                  <a:pt x="92660" y="113166"/>
                  <a:pt x="88636" y="109163"/>
                </a:cubicBezTo>
                <a:lnTo>
                  <a:pt x="61666" y="82193"/>
                </a:lnTo>
                <a:cubicBezTo>
                  <a:pt x="55802" y="76328"/>
                  <a:pt x="54474" y="67660"/>
                  <a:pt x="57707" y="60511"/>
                </a:cubicBezTo>
                <a:lnTo>
                  <a:pt x="38293" y="41097"/>
                </a:lnTo>
                <a:lnTo>
                  <a:pt x="27676" y="41097"/>
                </a:lnTo>
                <a:cubicBezTo>
                  <a:pt x="25386" y="41097"/>
                  <a:pt x="23245" y="39962"/>
                  <a:pt x="21982" y="38057"/>
                </a:cubicBezTo>
                <a:lnTo>
                  <a:pt x="5009" y="12607"/>
                </a:lnTo>
                <a:cubicBezTo>
                  <a:pt x="4110" y="11259"/>
                  <a:pt x="4281" y="9439"/>
                  <a:pt x="5437" y="8284"/>
                </a:cubicBezTo>
                <a:lnTo>
                  <a:pt x="15154" y="-1434"/>
                </a:lnTo>
                <a:cubicBezTo>
                  <a:pt x="16310" y="-2590"/>
                  <a:pt x="18108" y="-2761"/>
                  <a:pt x="19478" y="-1862"/>
                </a:cubicBezTo>
                <a:lnTo>
                  <a:pt x="44928" y="15090"/>
                </a:lnTo>
                <a:cubicBezTo>
                  <a:pt x="46833" y="16353"/>
                  <a:pt x="47967" y="18493"/>
                  <a:pt x="47967" y="20784"/>
                </a:cubicBezTo>
                <a:close/>
                <a:moveTo>
                  <a:pt x="46148" y="63486"/>
                </a:moveTo>
                <a:cubicBezTo>
                  <a:pt x="44800" y="71405"/>
                  <a:pt x="46662" y="79775"/>
                  <a:pt x="51799" y="86474"/>
                </a:cubicBezTo>
                <a:lnTo>
                  <a:pt x="31465" y="106787"/>
                </a:lnTo>
                <a:cubicBezTo>
                  <a:pt x="25450" y="112802"/>
                  <a:pt x="15689" y="112802"/>
                  <a:pt x="9675" y="106787"/>
                </a:cubicBezTo>
                <a:cubicBezTo>
                  <a:pt x="3660" y="100772"/>
                  <a:pt x="3660" y="91012"/>
                  <a:pt x="9675" y="84997"/>
                </a:cubicBezTo>
                <a:lnTo>
                  <a:pt x="38657" y="56016"/>
                </a:lnTo>
                <a:lnTo>
                  <a:pt x="46148" y="63507"/>
                </a:lnTo>
                <a:close/>
              </a:path>
            </a:pathLst>
          </a:custGeom>
          <a:solidFill>
            <a:srgbClr val="81D4FA"/>
          </a:solidFill>
          <a:ln/>
        </p:spPr>
      </p:sp>
      <p:sp>
        <p:nvSpPr>
          <p:cNvPr id="138" name="Text 52"/>
          <p:cNvSpPr/>
          <p:nvPr/>
        </p:nvSpPr>
        <p:spPr>
          <a:xfrm>
            <a:off x="758004" y="6550803"/>
            <a:ext cx="502292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工具支撑弱</a:t>
            </a:r>
            <a:endParaRPr lang="en-US" sz="1600" dirty="0"/>
          </a:p>
        </p:txBody>
      </p:sp>
      <p:sp>
        <p:nvSpPr>
          <p:cNvPr id="139" name="Shape 53"/>
          <p:cNvSpPr/>
          <p:nvPr/>
        </p:nvSpPr>
        <p:spPr>
          <a:xfrm>
            <a:off x="2272644" y="6496007"/>
            <a:ext cx="1707793" cy="246580"/>
          </a:xfrm>
          <a:custGeom>
            <a:avLst/>
            <a:gdLst/>
            <a:ahLst/>
            <a:cxnLst/>
            <a:rect l="l" t="t" r="r" b="b"/>
            <a:pathLst>
              <a:path w="1707793" h="246580">
                <a:moveTo>
                  <a:pt x="73062" y="0"/>
                </a:moveTo>
                <a:lnTo>
                  <a:pt x="1634732" y="0"/>
                </a:lnTo>
                <a:cubicBezTo>
                  <a:pt x="1675082" y="0"/>
                  <a:pt x="1707793" y="32711"/>
                  <a:pt x="1707793" y="73062"/>
                </a:cubicBezTo>
                <a:lnTo>
                  <a:pt x="1707793" y="173518"/>
                </a:lnTo>
                <a:cubicBezTo>
                  <a:pt x="1707793" y="213869"/>
                  <a:pt x="1675082" y="246580"/>
                  <a:pt x="1634732" y="246580"/>
                </a:cubicBezTo>
                <a:lnTo>
                  <a:pt x="73062" y="246580"/>
                </a:lnTo>
                <a:cubicBezTo>
                  <a:pt x="32711" y="246580"/>
                  <a:pt x="0" y="213869"/>
                  <a:pt x="0" y="173518"/>
                </a:cubicBezTo>
                <a:lnTo>
                  <a:pt x="0" y="73062"/>
                </a:lnTo>
                <a:cubicBezTo>
                  <a:pt x="0" y="32711"/>
                  <a:pt x="32711" y="0"/>
                  <a:pt x="73062" y="0"/>
                </a:cubicBezTo>
                <a:close/>
              </a:path>
            </a:pathLst>
          </a:custGeom>
          <a:solidFill>
            <a:srgbClr val="81D4FA">
              <a:alpha val="10196"/>
            </a:srgbClr>
          </a:solidFill>
          <a:ln/>
        </p:spPr>
      </p:sp>
      <p:sp>
        <p:nvSpPr>
          <p:cNvPr id="140" name="Shape 54"/>
          <p:cNvSpPr/>
          <p:nvPr/>
        </p:nvSpPr>
        <p:spPr>
          <a:xfrm>
            <a:off x="2327439" y="6564501"/>
            <a:ext cx="136989" cy="109591"/>
          </a:xfrm>
          <a:custGeom>
            <a:avLst/>
            <a:gdLst/>
            <a:ahLst/>
            <a:cxnLst/>
            <a:rect l="l" t="t" r="r" b="b"/>
            <a:pathLst>
              <a:path w="136989" h="109591">
                <a:moveTo>
                  <a:pt x="68494" y="3425"/>
                </a:moveTo>
                <a:cubicBezTo>
                  <a:pt x="80780" y="3425"/>
                  <a:pt x="90755" y="13399"/>
                  <a:pt x="90755" y="25685"/>
                </a:cubicBezTo>
                <a:cubicBezTo>
                  <a:pt x="90755" y="37971"/>
                  <a:pt x="80780" y="47946"/>
                  <a:pt x="68494" y="47946"/>
                </a:cubicBezTo>
                <a:cubicBezTo>
                  <a:pt x="56208" y="47946"/>
                  <a:pt x="46234" y="37971"/>
                  <a:pt x="46234" y="25685"/>
                </a:cubicBezTo>
                <a:cubicBezTo>
                  <a:pt x="46234" y="13399"/>
                  <a:pt x="56208" y="3425"/>
                  <a:pt x="68494" y="3425"/>
                </a:cubicBezTo>
                <a:close/>
                <a:moveTo>
                  <a:pt x="20548" y="18836"/>
                </a:moveTo>
                <a:cubicBezTo>
                  <a:pt x="29054" y="18836"/>
                  <a:pt x="35960" y="25741"/>
                  <a:pt x="35960" y="34247"/>
                </a:cubicBezTo>
                <a:cubicBezTo>
                  <a:pt x="35960" y="42753"/>
                  <a:pt x="29054" y="49658"/>
                  <a:pt x="20548" y="49658"/>
                </a:cubicBezTo>
                <a:cubicBezTo>
                  <a:pt x="12043" y="49658"/>
                  <a:pt x="5137" y="42753"/>
                  <a:pt x="5137" y="34247"/>
                </a:cubicBezTo>
                <a:cubicBezTo>
                  <a:pt x="5137" y="25741"/>
                  <a:pt x="12043" y="18836"/>
                  <a:pt x="20548" y="18836"/>
                </a:cubicBezTo>
                <a:close/>
                <a:moveTo>
                  <a:pt x="0" y="89043"/>
                </a:moveTo>
                <a:cubicBezTo>
                  <a:pt x="0" y="73910"/>
                  <a:pt x="12265" y="61645"/>
                  <a:pt x="27398" y="61645"/>
                </a:cubicBezTo>
                <a:cubicBezTo>
                  <a:pt x="30138" y="61645"/>
                  <a:pt x="32792" y="62052"/>
                  <a:pt x="35296" y="62801"/>
                </a:cubicBezTo>
                <a:cubicBezTo>
                  <a:pt x="28254" y="70678"/>
                  <a:pt x="23973" y="81080"/>
                  <a:pt x="23973" y="92467"/>
                </a:cubicBezTo>
                <a:lnTo>
                  <a:pt x="23973" y="95892"/>
                </a:lnTo>
                <a:cubicBezTo>
                  <a:pt x="23973" y="98332"/>
                  <a:pt x="24487" y="100644"/>
                  <a:pt x="25407" y="102742"/>
                </a:cubicBezTo>
                <a:lnTo>
                  <a:pt x="6849" y="102742"/>
                </a:lnTo>
                <a:cubicBezTo>
                  <a:pt x="3061" y="102742"/>
                  <a:pt x="0" y="99681"/>
                  <a:pt x="0" y="95892"/>
                </a:cubicBezTo>
                <a:lnTo>
                  <a:pt x="0" y="89043"/>
                </a:lnTo>
                <a:close/>
                <a:moveTo>
                  <a:pt x="111582" y="102742"/>
                </a:moveTo>
                <a:cubicBezTo>
                  <a:pt x="112502" y="100644"/>
                  <a:pt x="113016" y="98332"/>
                  <a:pt x="113016" y="95892"/>
                </a:cubicBezTo>
                <a:lnTo>
                  <a:pt x="113016" y="92467"/>
                </a:lnTo>
                <a:cubicBezTo>
                  <a:pt x="113016" y="81080"/>
                  <a:pt x="108735" y="70678"/>
                  <a:pt x="101693" y="62801"/>
                </a:cubicBezTo>
                <a:cubicBezTo>
                  <a:pt x="104197" y="62052"/>
                  <a:pt x="106851" y="61645"/>
                  <a:pt x="109591" y="61645"/>
                </a:cubicBezTo>
                <a:cubicBezTo>
                  <a:pt x="124724" y="61645"/>
                  <a:pt x="136989" y="73910"/>
                  <a:pt x="136989" y="89043"/>
                </a:cubicBezTo>
                <a:lnTo>
                  <a:pt x="136989" y="95892"/>
                </a:lnTo>
                <a:cubicBezTo>
                  <a:pt x="136989" y="99681"/>
                  <a:pt x="133928" y="102742"/>
                  <a:pt x="130139" y="102742"/>
                </a:cubicBezTo>
                <a:lnTo>
                  <a:pt x="111582" y="102742"/>
                </a:lnTo>
                <a:close/>
                <a:moveTo>
                  <a:pt x="101029" y="34247"/>
                </a:moveTo>
                <a:cubicBezTo>
                  <a:pt x="101029" y="25741"/>
                  <a:pt x="107935" y="18836"/>
                  <a:pt x="116440" y="18836"/>
                </a:cubicBezTo>
                <a:cubicBezTo>
                  <a:pt x="124946" y="18836"/>
                  <a:pt x="131852" y="25741"/>
                  <a:pt x="131852" y="34247"/>
                </a:cubicBezTo>
                <a:cubicBezTo>
                  <a:pt x="131852" y="42753"/>
                  <a:pt x="124946" y="49658"/>
                  <a:pt x="116440" y="49658"/>
                </a:cubicBezTo>
                <a:cubicBezTo>
                  <a:pt x="107935" y="49658"/>
                  <a:pt x="101029" y="42753"/>
                  <a:pt x="101029" y="34247"/>
                </a:cubicBezTo>
                <a:close/>
                <a:moveTo>
                  <a:pt x="34247" y="92467"/>
                </a:moveTo>
                <a:cubicBezTo>
                  <a:pt x="34247" y="73546"/>
                  <a:pt x="49573" y="58220"/>
                  <a:pt x="68494" y="58220"/>
                </a:cubicBezTo>
                <a:cubicBezTo>
                  <a:pt x="87416" y="58220"/>
                  <a:pt x="102742" y="73546"/>
                  <a:pt x="102742" y="92467"/>
                </a:cubicBezTo>
                <a:lnTo>
                  <a:pt x="102742" y="95892"/>
                </a:lnTo>
                <a:cubicBezTo>
                  <a:pt x="102742" y="99681"/>
                  <a:pt x="99681" y="102742"/>
                  <a:pt x="95892" y="102742"/>
                </a:cubicBezTo>
                <a:lnTo>
                  <a:pt x="41097" y="102742"/>
                </a:lnTo>
                <a:cubicBezTo>
                  <a:pt x="37308" y="102742"/>
                  <a:pt x="34247" y="99681"/>
                  <a:pt x="34247" y="95892"/>
                </a:cubicBezTo>
                <a:lnTo>
                  <a:pt x="34247" y="92467"/>
                </a:lnTo>
                <a:close/>
              </a:path>
            </a:pathLst>
          </a:custGeom>
          <a:solidFill>
            <a:srgbClr val="81D4FA"/>
          </a:solidFill>
          <a:ln/>
        </p:spPr>
      </p:sp>
      <p:sp>
        <p:nvSpPr>
          <p:cNvPr id="141" name="Text 55"/>
          <p:cNvSpPr/>
          <p:nvPr/>
        </p:nvSpPr>
        <p:spPr>
          <a:xfrm>
            <a:off x="2519223" y="6550803"/>
            <a:ext cx="502292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协同机制弱</a:t>
            </a:r>
            <a:endParaRPr lang="en-US" sz="1600" dirty="0"/>
          </a:p>
        </p:txBody>
      </p:sp>
      <p:sp>
        <p:nvSpPr>
          <p:cNvPr id="142" name="Shape 56"/>
          <p:cNvSpPr/>
          <p:nvPr/>
        </p:nvSpPr>
        <p:spPr>
          <a:xfrm>
            <a:off x="4234779" y="918785"/>
            <a:ext cx="3726094" cy="2377302"/>
          </a:xfrm>
          <a:custGeom>
            <a:avLst/>
            <a:gdLst/>
            <a:ahLst/>
            <a:cxnLst/>
            <a:rect l="l" t="t" r="r" b="b"/>
            <a:pathLst>
              <a:path w="3726094" h="2292279">
                <a:moveTo>
                  <a:pt x="109594" y="0"/>
                </a:moveTo>
                <a:lnTo>
                  <a:pt x="3616501" y="0"/>
                </a:lnTo>
                <a:cubicBezTo>
                  <a:pt x="3677028" y="0"/>
                  <a:pt x="3726094" y="49067"/>
                  <a:pt x="3726094" y="109594"/>
                </a:cubicBezTo>
                <a:lnTo>
                  <a:pt x="3726094" y="2182685"/>
                </a:lnTo>
                <a:cubicBezTo>
                  <a:pt x="3726094" y="2243212"/>
                  <a:pt x="3677028" y="2292279"/>
                  <a:pt x="3616501" y="2292279"/>
                </a:cubicBezTo>
                <a:lnTo>
                  <a:pt x="109594" y="2292279"/>
                </a:lnTo>
                <a:cubicBezTo>
                  <a:pt x="49067" y="2292279"/>
                  <a:pt x="0" y="2243212"/>
                  <a:pt x="0" y="2182685"/>
                </a:cubicBezTo>
                <a:lnTo>
                  <a:pt x="0" y="109594"/>
                </a:lnTo>
                <a:cubicBezTo>
                  <a:pt x="0" y="49067"/>
                  <a:pt x="49067" y="0"/>
                  <a:pt x="109594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15C">
                  <a:alpha val="20000"/>
                </a:srgbClr>
              </a:gs>
              <a:gs pos="100000">
                <a:srgbClr val="FF8C69">
                  <a:alpha val="10000"/>
                </a:srgbClr>
              </a:gs>
            </a:gsLst>
            <a:lin ang="2700000" scaled="1"/>
          </a:gradFill>
          <a:ln/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3" name="Shape 57"/>
          <p:cNvSpPr/>
          <p:nvPr/>
        </p:nvSpPr>
        <p:spPr>
          <a:xfrm>
            <a:off x="4344370" y="1000667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D15C"/>
              </a:gs>
              <a:gs pos="100000">
                <a:srgbClr val="FF8C69"/>
              </a:gs>
            </a:gsLst>
            <a:lin ang="2700000" scaled="1"/>
          </a:gradFill>
          <a:ln/>
        </p:spPr>
      </p:sp>
      <p:sp>
        <p:nvSpPr>
          <p:cNvPr id="144" name="Shape 58"/>
          <p:cNvSpPr/>
          <p:nvPr/>
        </p:nvSpPr>
        <p:spPr>
          <a:xfrm>
            <a:off x="4424281" y="1101436"/>
            <a:ext cx="95892" cy="109591"/>
          </a:xfrm>
          <a:custGeom>
            <a:avLst/>
            <a:gdLst/>
            <a:ahLst/>
            <a:cxnLst/>
            <a:rect l="l" t="t" r="r" b="b"/>
            <a:pathLst>
              <a:path w="95892" h="109591">
                <a:moveTo>
                  <a:pt x="6849" y="0"/>
                </a:moveTo>
                <a:cubicBezTo>
                  <a:pt x="10638" y="0"/>
                  <a:pt x="13699" y="3061"/>
                  <a:pt x="13699" y="6849"/>
                </a:cubicBezTo>
                <a:lnTo>
                  <a:pt x="13699" y="10274"/>
                </a:lnTo>
                <a:lnTo>
                  <a:pt x="28468" y="6593"/>
                </a:lnTo>
                <a:cubicBezTo>
                  <a:pt x="36623" y="4559"/>
                  <a:pt x="45228" y="5501"/>
                  <a:pt x="52762" y="9268"/>
                </a:cubicBezTo>
                <a:cubicBezTo>
                  <a:pt x="62672" y="14234"/>
                  <a:pt x="74338" y="14234"/>
                  <a:pt x="84248" y="9268"/>
                </a:cubicBezTo>
                <a:lnTo>
                  <a:pt x="86303" y="8241"/>
                </a:lnTo>
                <a:cubicBezTo>
                  <a:pt x="90712" y="6015"/>
                  <a:pt x="95892" y="9225"/>
                  <a:pt x="95892" y="14148"/>
                </a:cubicBezTo>
                <a:lnTo>
                  <a:pt x="95892" y="74017"/>
                </a:lnTo>
                <a:cubicBezTo>
                  <a:pt x="95892" y="76864"/>
                  <a:pt x="94116" y="79432"/>
                  <a:pt x="91440" y="80438"/>
                </a:cubicBezTo>
                <a:lnTo>
                  <a:pt x="84013" y="83221"/>
                </a:lnTo>
                <a:cubicBezTo>
                  <a:pt x="74124" y="86924"/>
                  <a:pt x="63122" y="86346"/>
                  <a:pt x="53682" y="81637"/>
                </a:cubicBezTo>
                <a:cubicBezTo>
                  <a:pt x="45570" y="77570"/>
                  <a:pt x="36259" y="76564"/>
                  <a:pt x="27462" y="78769"/>
                </a:cubicBezTo>
                <a:lnTo>
                  <a:pt x="13699" y="82193"/>
                </a:lnTo>
                <a:lnTo>
                  <a:pt x="13699" y="102742"/>
                </a:lnTo>
                <a:cubicBezTo>
                  <a:pt x="13699" y="106530"/>
                  <a:pt x="10638" y="109591"/>
                  <a:pt x="6849" y="109591"/>
                </a:cubicBezTo>
                <a:cubicBezTo>
                  <a:pt x="3061" y="109591"/>
                  <a:pt x="0" y="106530"/>
                  <a:pt x="0" y="102742"/>
                </a:cubicBezTo>
                <a:lnTo>
                  <a:pt x="0" y="6849"/>
                </a:lnTo>
                <a:cubicBezTo>
                  <a:pt x="0" y="3061"/>
                  <a:pt x="3061" y="0"/>
                  <a:pt x="6849" y="0"/>
                </a:cubicBezTo>
                <a:close/>
                <a:moveTo>
                  <a:pt x="13699" y="40048"/>
                </a:moveTo>
                <a:lnTo>
                  <a:pt x="27398" y="37073"/>
                </a:lnTo>
                <a:lnTo>
                  <a:pt x="27398" y="51093"/>
                </a:lnTo>
                <a:lnTo>
                  <a:pt x="13699" y="54068"/>
                </a:lnTo>
                <a:lnTo>
                  <a:pt x="13699" y="68088"/>
                </a:lnTo>
                <a:lnTo>
                  <a:pt x="24144" y="65476"/>
                </a:lnTo>
                <a:cubicBezTo>
                  <a:pt x="25236" y="65198"/>
                  <a:pt x="26306" y="64963"/>
                  <a:pt x="27398" y="64770"/>
                </a:cubicBezTo>
                <a:lnTo>
                  <a:pt x="27398" y="51093"/>
                </a:lnTo>
                <a:lnTo>
                  <a:pt x="35724" y="49295"/>
                </a:lnTo>
                <a:cubicBezTo>
                  <a:pt x="37501" y="48909"/>
                  <a:pt x="39299" y="48759"/>
                  <a:pt x="41097" y="48845"/>
                </a:cubicBezTo>
                <a:lnTo>
                  <a:pt x="41097" y="35146"/>
                </a:lnTo>
                <a:cubicBezTo>
                  <a:pt x="44008" y="35232"/>
                  <a:pt x="46919" y="35703"/>
                  <a:pt x="49744" y="36516"/>
                </a:cubicBezTo>
                <a:lnTo>
                  <a:pt x="54796" y="37993"/>
                </a:lnTo>
                <a:lnTo>
                  <a:pt x="54796" y="52270"/>
                </a:lnTo>
                <a:lnTo>
                  <a:pt x="45870" y="49637"/>
                </a:lnTo>
                <a:cubicBezTo>
                  <a:pt x="44307" y="49188"/>
                  <a:pt x="42702" y="48909"/>
                  <a:pt x="41097" y="48824"/>
                </a:cubicBezTo>
                <a:lnTo>
                  <a:pt x="41097" y="64106"/>
                </a:lnTo>
                <a:cubicBezTo>
                  <a:pt x="45763" y="64513"/>
                  <a:pt x="50365" y="65541"/>
                  <a:pt x="54796" y="67189"/>
                </a:cubicBezTo>
                <a:lnTo>
                  <a:pt x="54796" y="52248"/>
                </a:lnTo>
                <a:lnTo>
                  <a:pt x="59654" y="53682"/>
                </a:lnTo>
                <a:cubicBezTo>
                  <a:pt x="62544" y="54539"/>
                  <a:pt x="65498" y="55052"/>
                  <a:pt x="68494" y="55266"/>
                </a:cubicBezTo>
                <a:lnTo>
                  <a:pt x="68494" y="41525"/>
                </a:lnTo>
                <a:cubicBezTo>
                  <a:pt x="66825" y="41353"/>
                  <a:pt x="65155" y="41032"/>
                  <a:pt x="63529" y="40562"/>
                </a:cubicBezTo>
                <a:lnTo>
                  <a:pt x="54796" y="37993"/>
                </a:lnTo>
                <a:lnTo>
                  <a:pt x="54796" y="24722"/>
                </a:lnTo>
                <a:cubicBezTo>
                  <a:pt x="52013" y="23909"/>
                  <a:pt x="49273" y="22839"/>
                  <a:pt x="46619" y="21512"/>
                </a:cubicBezTo>
                <a:cubicBezTo>
                  <a:pt x="44864" y="20634"/>
                  <a:pt x="43002" y="20013"/>
                  <a:pt x="41097" y="19628"/>
                </a:cubicBezTo>
                <a:lnTo>
                  <a:pt x="41097" y="35125"/>
                </a:lnTo>
                <a:cubicBezTo>
                  <a:pt x="38314" y="35039"/>
                  <a:pt x="35531" y="35296"/>
                  <a:pt x="32813" y="35895"/>
                </a:cubicBezTo>
                <a:lnTo>
                  <a:pt x="27398" y="37073"/>
                </a:lnTo>
                <a:lnTo>
                  <a:pt x="27398" y="20976"/>
                </a:lnTo>
                <a:lnTo>
                  <a:pt x="13699" y="24401"/>
                </a:lnTo>
                <a:lnTo>
                  <a:pt x="13699" y="40048"/>
                </a:lnTo>
                <a:close/>
                <a:moveTo>
                  <a:pt x="68494" y="71855"/>
                </a:moveTo>
                <a:cubicBezTo>
                  <a:pt x="72090" y="72176"/>
                  <a:pt x="75751" y="71705"/>
                  <a:pt x="79197" y="70399"/>
                </a:cubicBezTo>
                <a:lnTo>
                  <a:pt x="82193" y="69286"/>
                </a:lnTo>
                <a:lnTo>
                  <a:pt x="82193" y="53939"/>
                </a:lnTo>
                <a:lnTo>
                  <a:pt x="80502" y="54325"/>
                </a:lnTo>
                <a:cubicBezTo>
                  <a:pt x="76564" y="55245"/>
                  <a:pt x="72518" y="55545"/>
                  <a:pt x="68494" y="55288"/>
                </a:cubicBezTo>
                <a:lnTo>
                  <a:pt x="68494" y="71855"/>
                </a:lnTo>
                <a:close/>
                <a:moveTo>
                  <a:pt x="82193" y="39877"/>
                </a:moveTo>
                <a:lnTo>
                  <a:pt x="82193" y="24722"/>
                </a:lnTo>
                <a:cubicBezTo>
                  <a:pt x="77720" y="26028"/>
                  <a:pt x="73118" y="26670"/>
                  <a:pt x="68494" y="26670"/>
                </a:cubicBezTo>
                <a:lnTo>
                  <a:pt x="68494" y="41525"/>
                </a:lnTo>
                <a:cubicBezTo>
                  <a:pt x="71470" y="41824"/>
                  <a:pt x="74488" y="41632"/>
                  <a:pt x="77420" y="40968"/>
                </a:cubicBezTo>
                <a:lnTo>
                  <a:pt x="82193" y="3985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5" name="Text 59"/>
          <p:cNvSpPr/>
          <p:nvPr/>
        </p:nvSpPr>
        <p:spPr>
          <a:xfrm>
            <a:off x="4673143" y="1005001"/>
            <a:ext cx="570787" cy="210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4A4A4A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专项目标</a:t>
            </a:r>
            <a:endParaRPr lang="en-US" sz="1600" dirty="0"/>
          </a:p>
        </p:txBody>
      </p:sp>
      <p:sp>
        <p:nvSpPr>
          <p:cNvPr id="146" name="Shape 60"/>
          <p:cNvSpPr/>
          <p:nvPr/>
        </p:nvSpPr>
        <p:spPr>
          <a:xfrm>
            <a:off x="4344370" y="1357148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09591" y="0"/>
                </a:moveTo>
                <a:lnTo>
                  <a:pt x="109591" y="0"/>
                </a:lnTo>
                <a:cubicBezTo>
                  <a:pt x="170076" y="0"/>
                  <a:pt x="219182" y="49106"/>
                  <a:pt x="219182" y="109591"/>
                </a:cubicBezTo>
                <a:lnTo>
                  <a:pt x="219182" y="109591"/>
                </a:lnTo>
                <a:cubicBezTo>
                  <a:pt x="219182" y="170076"/>
                  <a:pt x="170076" y="219182"/>
                  <a:pt x="109591" y="219182"/>
                </a:cubicBezTo>
                <a:lnTo>
                  <a:pt x="109591" y="219182"/>
                </a:lnTo>
                <a:cubicBezTo>
                  <a:pt x="49106" y="219182"/>
                  <a:pt x="0" y="170076"/>
                  <a:pt x="0" y="109591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FFD15C"/>
          </a:solidFill>
          <a:ln/>
        </p:spPr>
      </p:sp>
      <p:sp>
        <p:nvSpPr>
          <p:cNvPr id="147" name="Text 61"/>
          <p:cNvSpPr/>
          <p:nvPr/>
        </p:nvSpPr>
        <p:spPr>
          <a:xfrm>
            <a:off x="4435925" y="1398245"/>
            <a:ext cx="82193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48" name="Text 62"/>
          <p:cNvSpPr/>
          <p:nvPr/>
        </p:nvSpPr>
        <p:spPr>
          <a:xfrm>
            <a:off x="4636613" y="1357148"/>
            <a:ext cx="2287712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建立1+2三层漏斗自工序标准</a:t>
            </a:r>
            <a:endParaRPr lang="en-US" sz="1600" dirty="0"/>
          </a:p>
        </p:txBody>
      </p:sp>
      <p:sp>
        <p:nvSpPr>
          <p:cNvPr id="149" name="Text 63"/>
          <p:cNvSpPr/>
          <p:nvPr/>
        </p:nvSpPr>
        <p:spPr>
          <a:xfrm>
            <a:off x="4636613" y="1482721"/>
            <a:ext cx="2283146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19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潜力构建→转承诺→转下单，实现销售行为100%标准化</a:t>
            </a:r>
            <a:endParaRPr lang="en-US" sz="1600" dirty="0"/>
          </a:p>
        </p:txBody>
      </p:sp>
      <p:sp>
        <p:nvSpPr>
          <p:cNvPr id="150" name="Shape 64"/>
          <p:cNvSpPr/>
          <p:nvPr/>
        </p:nvSpPr>
        <p:spPr>
          <a:xfrm>
            <a:off x="4344370" y="1704187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09591" y="0"/>
                </a:moveTo>
                <a:lnTo>
                  <a:pt x="109591" y="0"/>
                </a:lnTo>
                <a:cubicBezTo>
                  <a:pt x="170076" y="0"/>
                  <a:pt x="219182" y="49106"/>
                  <a:pt x="219182" y="109591"/>
                </a:cubicBezTo>
                <a:lnTo>
                  <a:pt x="219182" y="109591"/>
                </a:lnTo>
                <a:cubicBezTo>
                  <a:pt x="219182" y="170076"/>
                  <a:pt x="170076" y="219182"/>
                  <a:pt x="109591" y="219182"/>
                </a:cubicBezTo>
                <a:lnTo>
                  <a:pt x="109591" y="219182"/>
                </a:lnTo>
                <a:cubicBezTo>
                  <a:pt x="49106" y="219182"/>
                  <a:pt x="0" y="170076"/>
                  <a:pt x="0" y="109591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FF8C69"/>
          </a:solidFill>
          <a:ln/>
        </p:spPr>
      </p:sp>
      <p:sp>
        <p:nvSpPr>
          <p:cNvPr id="151" name="Text 65"/>
          <p:cNvSpPr/>
          <p:nvPr/>
        </p:nvSpPr>
        <p:spPr>
          <a:xfrm>
            <a:off x="4428276" y="1745283"/>
            <a:ext cx="10045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52" name="Text 66"/>
          <p:cNvSpPr/>
          <p:nvPr/>
        </p:nvSpPr>
        <p:spPr>
          <a:xfrm>
            <a:off x="4636613" y="1704187"/>
            <a:ext cx="1356189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MO全流程KCP/KDP节点嵌入</a:t>
            </a:r>
            <a:endParaRPr lang="en-US" sz="1600" dirty="0"/>
          </a:p>
        </p:txBody>
      </p:sp>
      <p:sp>
        <p:nvSpPr>
          <p:cNvPr id="153" name="Text 67"/>
          <p:cNvSpPr/>
          <p:nvPr/>
        </p:nvSpPr>
        <p:spPr>
          <a:xfrm>
            <a:off x="4636613" y="1829760"/>
            <a:ext cx="1351622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19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提升关键评审执行率与执行质量</a:t>
            </a:r>
            <a:endParaRPr lang="en-US" sz="1600" dirty="0"/>
          </a:p>
        </p:txBody>
      </p:sp>
      <p:sp>
        <p:nvSpPr>
          <p:cNvPr id="154" name="Shape 68"/>
          <p:cNvSpPr/>
          <p:nvPr/>
        </p:nvSpPr>
        <p:spPr>
          <a:xfrm>
            <a:off x="4344370" y="2051225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09591" y="0"/>
                </a:moveTo>
                <a:lnTo>
                  <a:pt x="109591" y="0"/>
                </a:lnTo>
                <a:cubicBezTo>
                  <a:pt x="170076" y="0"/>
                  <a:pt x="219182" y="49106"/>
                  <a:pt x="219182" y="109591"/>
                </a:cubicBezTo>
                <a:lnTo>
                  <a:pt x="219182" y="109591"/>
                </a:lnTo>
                <a:cubicBezTo>
                  <a:pt x="219182" y="170076"/>
                  <a:pt x="170076" y="219182"/>
                  <a:pt x="109591" y="219182"/>
                </a:cubicBezTo>
                <a:lnTo>
                  <a:pt x="109591" y="219182"/>
                </a:lnTo>
                <a:cubicBezTo>
                  <a:pt x="49106" y="219182"/>
                  <a:pt x="0" y="170076"/>
                  <a:pt x="0" y="109591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155" name="Text 69"/>
          <p:cNvSpPr/>
          <p:nvPr/>
        </p:nvSpPr>
        <p:spPr>
          <a:xfrm>
            <a:off x="4427020" y="2092321"/>
            <a:ext cx="10045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56" name="Text 70"/>
          <p:cNvSpPr/>
          <p:nvPr/>
        </p:nvSpPr>
        <p:spPr>
          <a:xfrm>
            <a:off x="4636613" y="2051225"/>
            <a:ext cx="2242049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实现工序内质量完结</a:t>
            </a:r>
            <a:endParaRPr lang="en-US" sz="1600" dirty="0"/>
          </a:p>
        </p:txBody>
      </p:sp>
      <p:sp>
        <p:nvSpPr>
          <p:cNvPr id="157" name="Text 71"/>
          <p:cNvSpPr/>
          <p:nvPr/>
        </p:nvSpPr>
        <p:spPr>
          <a:xfrm>
            <a:off x="4636613" y="2176798"/>
            <a:ext cx="2237483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19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异常识别、整改、闭环在本环节完成，不外流、不后移</a:t>
            </a:r>
            <a:endParaRPr lang="en-US" sz="1600" dirty="0"/>
          </a:p>
        </p:txBody>
      </p:sp>
      <p:sp>
        <p:nvSpPr>
          <p:cNvPr id="158" name="Shape 72"/>
          <p:cNvSpPr/>
          <p:nvPr/>
        </p:nvSpPr>
        <p:spPr>
          <a:xfrm>
            <a:off x="4344370" y="2398263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09591" y="0"/>
                </a:moveTo>
                <a:lnTo>
                  <a:pt x="109591" y="0"/>
                </a:lnTo>
                <a:cubicBezTo>
                  <a:pt x="170076" y="0"/>
                  <a:pt x="219182" y="49106"/>
                  <a:pt x="219182" y="109591"/>
                </a:cubicBezTo>
                <a:lnTo>
                  <a:pt x="219182" y="109591"/>
                </a:lnTo>
                <a:cubicBezTo>
                  <a:pt x="219182" y="170076"/>
                  <a:pt x="170076" y="219182"/>
                  <a:pt x="109591" y="219182"/>
                </a:cubicBezTo>
                <a:lnTo>
                  <a:pt x="109591" y="219182"/>
                </a:lnTo>
                <a:cubicBezTo>
                  <a:pt x="49106" y="219182"/>
                  <a:pt x="0" y="170076"/>
                  <a:pt x="0" y="109591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81D4FA"/>
          </a:solidFill>
          <a:ln/>
        </p:spPr>
      </p:sp>
      <p:sp>
        <p:nvSpPr>
          <p:cNvPr id="159" name="Text 73"/>
          <p:cNvSpPr/>
          <p:nvPr/>
        </p:nvSpPr>
        <p:spPr>
          <a:xfrm>
            <a:off x="4427134" y="2439360"/>
            <a:ext cx="10045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60" name="Text 74"/>
          <p:cNvSpPr/>
          <p:nvPr/>
        </p:nvSpPr>
        <p:spPr>
          <a:xfrm>
            <a:off x="4636613" y="2398263"/>
            <a:ext cx="2232917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提升1+2核心指标达成稳定性</a:t>
            </a:r>
            <a:endParaRPr lang="en-US" sz="1600" dirty="0"/>
          </a:p>
        </p:txBody>
      </p:sp>
      <p:sp>
        <p:nvSpPr>
          <p:cNvPr id="161" name="Text 75"/>
          <p:cNvSpPr/>
          <p:nvPr/>
        </p:nvSpPr>
        <p:spPr>
          <a:xfrm>
            <a:off x="4636613" y="2523836"/>
            <a:ext cx="2228351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19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季度预期兑现率稳步提升，潜力/漏斗金额达标率100%</a:t>
            </a:r>
            <a:endParaRPr lang="en-US" sz="1600" dirty="0"/>
          </a:p>
        </p:txBody>
      </p:sp>
      <p:sp>
        <p:nvSpPr>
          <p:cNvPr id="162" name="Shape 76"/>
          <p:cNvSpPr/>
          <p:nvPr/>
        </p:nvSpPr>
        <p:spPr>
          <a:xfrm>
            <a:off x="4344370" y="2745301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109591" y="0"/>
                </a:moveTo>
                <a:lnTo>
                  <a:pt x="109591" y="0"/>
                </a:lnTo>
                <a:cubicBezTo>
                  <a:pt x="170076" y="0"/>
                  <a:pt x="219182" y="49106"/>
                  <a:pt x="219182" y="109591"/>
                </a:cubicBezTo>
                <a:lnTo>
                  <a:pt x="219182" y="109591"/>
                </a:lnTo>
                <a:cubicBezTo>
                  <a:pt x="219182" y="170076"/>
                  <a:pt x="170076" y="219182"/>
                  <a:pt x="109591" y="219182"/>
                </a:cubicBezTo>
                <a:lnTo>
                  <a:pt x="109591" y="219182"/>
                </a:lnTo>
                <a:cubicBezTo>
                  <a:pt x="49106" y="219182"/>
                  <a:pt x="0" y="170076"/>
                  <a:pt x="0" y="109591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solidFill>
            <a:srgbClr val="FFD15C"/>
          </a:solidFill>
          <a:ln/>
        </p:spPr>
      </p:sp>
      <p:sp>
        <p:nvSpPr>
          <p:cNvPr id="163" name="Text 77"/>
          <p:cNvSpPr/>
          <p:nvPr/>
        </p:nvSpPr>
        <p:spPr>
          <a:xfrm>
            <a:off x="4426678" y="2786398"/>
            <a:ext cx="10045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164" name="Text 78"/>
          <p:cNvSpPr/>
          <p:nvPr/>
        </p:nvSpPr>
        <p:spPr>
          <a:xfrm>
            <a:off x="4636613" y="2745301"/>
            <a:ext cx="1694094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形成可复制推广的管理体系</a:t>
            </a:r>
            <a:endParaRPr lang="en-US" sz="1600" dirty="0"/>
          </a:p>
        </p:txBody>
      </p:sp>
      <p:sp>
        <p:nvSpPr>
          <p:cNvPr id="165" name="Text 79"/>
          <p:cNvSpPr/>
          <p:nvPr/>
        </p:nvSpPr>
        <p:spPr>
          <a:xfrm>
            <a:off x="4636613" y="2870874"/>
            <a:ext cx="1689528" cy="14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19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可复制、可稽核、可推广的标准化方法论</a:t>
            </a:r>
            <a:endParaRPr lang="en-US" sz="1600" dirty="0"/>
          </a:p>
        </p:txBody>
      </p:sp>
      <p:sp>
        <p:nvSpPr>
          <p:cNvPr id="166" name="Shape 80"/>
          <p:cNvSpPr/>
          <p:nvPr/>
        </p:nvSpPr>
        <p:spPr>
          <a:xfrm>
            <a:off x="4234779" y="3282691"/>
            <a:ext cx="3726094" cy="3415587"/>
          </a:xfrm>
          <a:custGeom>
            <a:avLst/>
            <a:gdLst/>
            <a:ahLst/>
            <a:cxnLst/>
            <a:rect l="l" t="t" r="r" b="b"/>
            <a:pathLst>
              <a:path w="3726094" h="3415587">
                <a:moveTo>
                  <a:pt x="109606" y="0"/>
                </a:moveTo>
                <a:lnTo>
                  <a:pt x="3616488" y="0"/>
                </a:lnTo>
                <a:cubicBezTo>
                  <a:pt x="3677022" y="0"/>
                  <a:pt x="3726094" y="49072"/>
                  <a:pt x="3726094" y="109606"/>
                </a:cubicBezTo>
                <a:lnTo>
                  <a:pt x="3726094" y="3305980"/>
                </a:lnTo>
                <a:cubicBezTo>
                  <a:pt x="3726094" y="3366514"/>
                  <a:pt x="3677022" y="3415587"/>
                  <a:pt x="3616488" y="3415587"/>
                </a:cubicBezTo>
                <a:lnTo>
                  <a:pt x="109606" y="3415587"/>
                </a:lnTo>
                <a:cubicBezTo>
                  <a:pt x="49072" y="3415587"/>
                  <a:pt x="0" y="3366514"/>
                  <a:pt x="0" y="3305980"/>
                </a:cubicBezTo>
                <a:lnTo>
                  <a:pt x="0" y="109606"/>
                </a:lnTo>
                <a:cubicBezTo>
                  <a:pt x="0" y="49072"/>
                  <a:pt x="49072" y="0"/>
                  <a:pt x="10960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7" name="Shape 81"/>
          <p:cNvSpPr/>
          <p:nvPr/>
        </p:nvSpPr>
        <p:spPr>
          <a:xfrm>
            <a:off x="4344370" y="3392282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gradFill flip="none" rotWithShape="1">
            <a:gsLst>
              <a:gs pos="0">
                <a:srgbClr val="A5D6A7"/>
              </a:gs>
              <a:gs pos="100000">
                <a:srgbClr val="81D4FA"/>
              </a:gs>
            </a:gsLst>
            <a:lin ang="2700000" scaled="1"/>
          </a:gradFill>
          <a:ln/>
        </p:spPr>
      </p:sp>
      <p:sp>
        <p:nvSpPr>
          <p:cNvPr id="168" name="Shape 82"/>
          <p:cNvSpPr/>
          <p:nvPr/>
        </p:nvSpPr>
        <p:spPr>
          <a:xfrm>
            <a:off x="4431130" y="3465342"/>
            <a:ext cx="82193" cy="109591"/>
          </a:xfrm>
          <a:custGeom>
            <a:avLst/>
            <a:gdLst/>
            <a:ahLst/>
            <a:cxnLst/>
            <a:rect l="l" t="t" r="r" b="b"/>
            <a:pathLst>
              <a:path w="82193" h="109591">
                <a:moveTo>
                  <a:pt x="62694" y="82193"/>
                </a:moveTo>
                <a:cubicBezTo>
                  <a:pt x="64256" y="77420"/>
                  <a:pt x="67381" y="73096"/>
                  <a:pt x="70913" y="69372"/>
                </a:cubicBezTo>
                <a:cubicBezTo>
                  <a:pt x="77912" y="62009"/>
                  <a:pt x="82193" y="52056"/>
                  <a:pt x="82193" y="41097"/>
                </a:cubicBezTo>
                <a:cubicBezTo>
                  <a:pt x="82193" y="18408"/>
                  <a:pt x="63785" y="0"/>
                  <a:pt x="41097" y="0"/>
                </a:cubicBezTo>
                <a:cubicBezTo>
                  <a:pt x="18408" y="0"/>
                  <a:pt x="0" y="18408"/>
                  <a:pt x="0" y="41097"/>
                </a:cubicBezTo>
                <a:cubicBezTo>
                  <a:pt x="0" y="52056"/>
                  <a:pt x="4281" y="62009"/>
                  <a:pt x="11280" y="69372"/>
                </a:cubicBezTo>
                <a:cubicBezTo>
                  <a:pt x="14812" y="73096"/>
                  <a:pt x="17958" y="77420"/>
                  <a:pt x="19499" y="82193"/>
                </a:cubicBezTo>
                <a:lnTo>
                  <a:pt x="62672" y="82193"/>
                </a:lnTo>
                <a:close/>
                <a:moveTo>
                  <a:pt x="61645" y="92467"/>
                </a:moveTo>
                <a:lnTo>
                  <a:pt x="20548" y="92467"/>
                </a:lnTo>
                <a:lnTo>
                  <a:pt x="20548" y="95892"/>
                </a:lnTo>
                <a:cubicBezTo>
                  <a:pt x="20548" y="105353"/>
                  <a:pt x="28211" y="113016"/>
                  <a:pt x="37672" y="113016"/>
                </a:cubicBezTo>
                <a:lnTo>
                  <a:pt x="44521" y="113016"/>
                </a:lnTo>
                <a:cubicBezTo>
                  <a:pt x="53982" y="113016"/>
                  <a:pt x="61645" y="105353"/>
                  <a:pt x="61645" y="95892"/>
                </a:cubicBezTo>
                <a:lnTo>
                  <a:pt x="61645" y="92467"/>
                </a:lnTo>
                <a:close/>
                <a:moveTo>
                  <a:pt x="39384" y="23973"/>
                </a:moveTo>
                <a:cubicBezTo>
                  <a:pt x="30865" y="23973"/>
                  <a:pt x="23973" y="30865"/>
                  <a:pt x="23973" y="39384"/>
                </a:cubicBezTo>
                <a:cubicBezTo>
                  <a:pt x="23973" y="42231"/>
                  <a:pt x="21683" y="44521"/>
                  <a:pt x="18836" y="44521"/>
                </a:cubicBezTo>
                <a:cubicBezTo>
                  <a:pt x="15989" y="44521"/>
                  <a:pt x="13699" y="42231"/>
                  <a:pt x="13699" y="39384"/>
                </a:cubicBezTo>
                <a:cubicBezTo>
                  <a:pt x="13699" y="25193"/>
                  <a:pt x="25193" y="13699"/>
                  <a:pt x="39384" y="13699"/>
                </a:cubicBezTo>
                <a:cubicBezTo>
                  <a:pt x="42231" y="13699"/>
                  <a:pt x="44521" y="15989"/>
                  <a:pt x="44521" y="18836"/>
                </a:cubicBezTo>
                <a:cubicBezTo>
                  <a:pt x="44521" y="21683"/>
                  <a:pt x="42231" y="23973"/>
                  <a:pt x="39384" y="239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9" name="Text 83"/>
          <p:cNvSpPr/>
          <p:nvPr/>
        </p:nvSpPr>
        <p:spPr>
          <a:xfrm>
            <a:off x="4673143" y="3417396"/>
            <a:ext cx="826499" cy="210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4A4A4A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四大核心对策</a:t>
            </a:r>
            <a:endParaRPr lang="en-US" sz="1600" dirty="0"/>
          </a:p>
        </p:txBody>
      </p:sp>
      <p:sp>
        <p:nvSpPr>
          <p:cNvPr id="170" name="Shape 84"/>
          <p:cNvSpPr/>
          <p:nvPr/>
        </p:nvSpPr>
        <p:spPr>
          <a:xfrm>
            <a:off x="4355330" y="3721055"/>
            <a:ext cx="3490474" cy="666679"/>
          </a:xfrm>
          <a:custGeom>
            <a:avLst/>
            <a:gdLst/>
            <a:ahLst/>
            <a:cxnLst/>
            <a:rect l="l" t="t" r="r" b="b"/>
            <a:pathLst>
              <a:path w="3490474" h="666679">
                <a:moveTo>
                  <a:pt x="21918" y="0"/>
                </a:moveTo>
                <a:lnTo>
                  <a:pt x="3417412" y="0"/>
                </a:lnTo>
                <a:cubicBezTo>
                  <a:pt x="3457763" y="0"/>
                  <a:pt x="3490474" y="32711"/>
                  <a:pt x="3490474" y="73061"/>
                </a:cubicBezTo>
                <a:lnTo>
                  <a:pt x="3490474" y="593617"/>
                </a:lnTo>
                <a:cubicBezTo>
                  <a:pt x="3490474" y="633968"/>
                  <a:pt x="3457763" y="666679"/>
                  <a:pt x="3417412" y="666679"/>
                </a:cubicBez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FFD15C">
              <a:alpha val="10196"/>
            </a:srgbClr>
          </a:solidFill>
          <a:ln/>
        </p:spPr>
      </p:sp>
      <p:sp>
        <p:nvSpPr>
          <p:cNvPr id="171" name="Shape 85"/>
          <p:cNvSpPr/>
          <p:nvPr/>
        </p:nvSpPr>
        <p:spPr>
          <a:xfrm>
            <a:off x="4355330" y="3721055"/>
            <a:ext cx="21918" cy="666679"/>
          </a:xfrm>
          <a:custGeom>
            <a:avLst/>
            <a:gdLst/>
            <a:ahLst/>
            <a:cxnLst/>
            <a:rect l="l" t="t" r="r" b="b"/>
            <a:pathLst>
              <a:path w="21918" h="666679">
                <a:moveTo>
                  <a:pt x="21918" y="0"/>
                </a:moveTo>
                <a:lnTo>
                  <a:pt x="21918" y="0"/>
                </a:lnTo>
                <a:lnTo>
                  <a:pt x="21918" y="666679"/>
                </a:ln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FFD15C"/>
          </a:solidFill>
          <a:ln/>
        </p:spPr>
      </p:sp>
      <p:sp>
        <p:nvSpPr>
          <p:cNvPr id="172" name="Shape 86"/>
          <p:cNvSpPr/>
          <p:nvPr/>
        </p:nvSpPr>
        <p:spPr>
          <a:xfrm>
            <a:off x="4439349" y="3794115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D15C"/>
          </a:solidFill>
          <a:ln/>
        </p:spPr>
      </p:sp>
      <p:sp>
        <p:nvSpPr>
          <p:cNvPr id="173" name="Text 87"/>
          <p:cNvSpPr/>
          <p:nvPr/>
        </p:nvSpPr>
        <p:spPr>
          <a:xfrm>
            <a:off x="4514465" y="3823796"/>
            <a:ext cx="77627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74" name="Text 88"/>
          <p:cNvSpPr/>
          <p:nvPr/>
        </p:nvSpPr>
        <p:spPr>
          <a:xfrm>
            <a:off x="4695062" y="3810097"/>
            <a:ext cx="1109609" cy="15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构建1+2自工序标准体系</a:t>
            </a:r>
            <a:endParaRPr lang="en-US" sz="1600" dirty="0"/>
          </a:p>
        </p:txBody>
      </p:sp>
      <p:sp>
        <p:nvSpPr>
          <p:cNvPr id="175" name="Text 89"/>
          <p:cNvSpPr/>
          <p:nvPr/>
        </p:nvSpPr>
        <p:spPr>
          <a:xfrm>
            <a:off x="4439349" y="4013297"/>
            <a:ext cx="3379056" cy="30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19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梳理三道工序边界、输入输出、良品条件（3+1），明确任务步骤、执行顺序、合格判定标准</a:t>
            </a:r>
            <a:endParaRPr lang="en-US" sz="1600" dirty="0"/>
          </a:p>
        </p:txBody>
      </p:sp>
      <p:sp>
        <p:nvSpPr>
          <p:cNvPr id="176" name="Shape 90"/>
          <p:cNvSpPr/>
          <p:nvPr/>
        </p:nvSpPr>
        <p:spPr>
          <a:xfrm>
            <a:off x="4355330" y="4456227"/>
            <a:ext cx="3490474" cy="666679"/>
          </a:xfrm>
          <a:custGeom>
            <a:avLst/>
            <a:gdLst/>
            <a:ahLst/>
            <a:cxnLst/>
            <a:rect l="l" t="t" r="r" b="b"/>
            <a:pathLst>
              <a:path w="3490474" h="666679">
                <a:moveTo>
                  <a:pt x="21918" y="0"/>
                </a:moveTo>
                <a:lnTo>
                  <a:pt x="3417412" y="0"/>
                </a:lnTo>
                <a:cubicBezTo>
                  <a:pt x="3457763" y="0"/>
                  <a:pt x="3490474" y="32711"/>
                  <a:pt x="3490474" y="73061"/>
                </a:cubicBezTo>
                <a:lnTo>
                  <a:pt x="3490474" y="593617"/>
                </a:lnTo>
                <a:cubicBezTo>
                  <a:pt x="3490474" y="633968"/>
                  <a:pt x="3457763" y="666679"/>
                  <a:pt x="3417412" y="666679"/>
                </a:cubicBez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FF8C69">
              <a:alpha val="10196"/>
            </a:srgbClr>
          </a:solidFill>
          <a:ln/>
        </p:spPr>
      </p:sp>
      <p:sp>
        <p:nvSpPr>
          <p:cNvPr id="177" name="Shape 91"/>
          <p:cNvSpPr/>
          <p:nvPr/>
        </p:nvSpPr>
        <p:spPr>
          <a:xfrm>
            <a:off x="4355330" y="4456227"/>
            <a:ext cx="21918" cy="666679"/>
          </a:xfrm>
          <a:custGeom>
            <a:avLst/>
            <a:gdLst/>
            <a:ahLst/>
            <a:cxnLst/>
            <a:rect l="l" t="t" r="r" b="b"/>
            <a:pathLst>
              <a:path w="21918" h="666679">
                <a:moveTo>
                  <a:pt x="21918" y="0"/>
                </a:moveTo>
                <a:lnTo>
                  <a:pt x="21918" y="0"/>
                </a:lnTo>
                <a:lnTo>
                  <a:pt x="21918" y="666679"/>
                </a:ln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FF8C69"/>
          </a:solidFill>
          <a:ln/>
        </p:spPr>
      </p:sp>
      <p:sp>
        <p:nvSpPr>
          <p:cNvPr id="178" name="Shape 92"/>
          <p:cNvSpPr/>
          <p:nvPr/>
        </p:nvSpPr>
        <p:spPr>
          <a:xfrm>
            <a:off x="4439349" y="4529288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FF8C69"/>
          </a:solidFill>
          <a:ln/>
        </p:spPr>
      </p:sp>
      <p:sp>
        <p:nvSpPr>
          <p:cNvPr id="179" name="Text 93"/>
          <p:cNvSpPr/>
          <p:nvPr/>
        </p:nvSpPr>
        <p:spPr>
          <a:xfrm>
            <a:off x="4507501" y="4558969"/>
            <a:ext cx="86760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0" name="Text 94"/>
          <p:cNvSpPr/>
          <p:nvPr/>
        </p:nvSpPr>
        <p:spPr>
          <a:xfrm>
            <a:off x="4695062" y="4545270"/>
            <a:ext cx="1273996" cy="15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MO流程深度嵌入1+2各环节</a:t>
            </a:r>
            <a:endParaRPr lang="en-US" sz="1600" dirty="0"/>
          </a:p>
        </p:txBody>
      </p:sp>
      <p:sp>
        <p:nvSpPr>
          <p:cNvPr id="181" name="Text 95"/>
          <p:cNvSpPr/>
          <p:nvPr/>
        </p:nvSpPr>
        <p:spPr>
          <a:xfrm>
            <a:off x="4439349" y="4748470"/>
            <a:ext cx="3379056" cy="30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19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将MO立项、方案评审、标前评审、赢丢单复盘嵌入漏斗节点，明确铁三角协同职责</a:t>
            </a:r>
            <a:endParaRPr lang="en-US" sz="1600" dirty="0"/>
          </a:p>
        </p:txBody>
      </p:sp>
      <p:sp>
        <p:nvSpPr>
          <p:cNvPr id="182" name="Shape 96"/>
          <p:cNvSpPr/>
          <p:nvPr/>
        </p:nvSpPr>
        <p:spPr>
          <a:xfrm>
            <a:off x="4355330" y="5191400"/>
            <a:ext cx="3490474" cy="666679"/>
          </a:xfrm>
          <a:custGeom>
            <a:avLst/>
            <a:gdLst/>
            <a:ahLst/>
            <a:cxnLst/>
            <a:rect l="l" t="t" r="r" b="b"/>
            <a:pathLst>
              <a:path w="3490474" h="666679">
                <a:moveTo>
                  <a:pt x="21918" y="0"/>
                </a:moveTo>
                <a:lnTo>
                  <a:pt x="3417412" y="0"/>
                </a:lnTo>
                <a:cubicBezTo>
                  <a:pt x="3457763" y="0"/>
                  <a:pt x="3490474" y="32711"/>
                  <a:pt x="3490474" y="73061"/>
                </a:cubicBezTo>
                <a:lnTo>
                  <a:pt x="3490474" y="593617"/>
                </a:lnTo>
                <a:cubicBezTo>
                  <a:pt x="3490474" y="633968"/>
                  <a:pt x="3457763" y="666679"/>
                  <a:pt x="3417412" y="666679"/>
                </a:cubicBez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A5D6A7">
              <a:alpha val="10196"/>
            </a:srgbClr>
          </a:solidFill>
          <a:ln/>
        </p:spPr>
      </p:sp>
      <p:sp>
        <p:nvSpPr>
          <p:cNvPr id="183" name="Shape 97"/>
          <p:cNvSpPr/>
          <p:nvPr/>
        </p:nvSpPr>
        <p:spPr>
          <a:xfrm>
            <a:off x="4355330" y="5191400"/>
            <a:ext cx="21918" cy="666679"/>
          </a:xfrm>
          <a:custGeom>
            <a:avLst/>
            <a:gdLst/>
            <a:ahLst/>
            <a:cxnLst/>
            <a:rect l="l" t="t" r="r" b="b"/>
            <a:pathLst>
              <a:path w="21918" h="666679">
                <a:moveTo>
                  <a:pt x="21918" y="0"/>
                </a:moveTo>
                <a:lnTo>
                  <a:pt x="21918" y="0"/>
                </a:lnTo>
                <a:lnTo>
                  <a:pt x="21918" y="666679"/>
                </a:ln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184" name="Shape 98"/>
          <p:cNvSpPr/>
          <p:nvPr/>
        </p:nvSpPr>
        <p:spPr>
          <a:xfrm>
            <a:off x="4439349" y="5264461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185" name="Text 99"/>
          <p:cNvSpPr/>
          <p:nvPr/>
        </p:nvSpPr>
        <p:spPr>
          <a:xfrm>
            <a:off x="4506474" y="5294142"/>
            <a:ext cx="86760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6" name="Text 100"/>
          <p:cNvSpPr/>
          <p:nvPr/>
        </p:nvSpPr>
        <p:spPr>
          <a:xfrm>
            <a:off x="4695062" y="5280443"/>
            <a:ext cx="954355" cy="15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配套工具与落地机制</a:t>
            </a:r>
            <a:endParaRPr lang="en-US" sz="1600" dirty="0"/>
          </a:p>
        </p:txBody>
      </p:sp>
      <p:sp>
        <p:nvSpPr>
          <p:cNvPr id="187" name="Text 101"/>
          <p:cNvSpPr/>
          <p:nvPr/>
        </p:nvSpPr>
        <p:spPr>
          <a:xfrm>
            <a:off x="4439349" y="5483643"/>
            <a:ext cx="3379056" cy="30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19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输出三表一图：良品条件表、作业要点表、缺陷预测表、RACI图，建立周数据对话、1V1辅导机制</a:t>
            </a:r>
            <a:endParaRPr lang="en-US" sz="1600" dirty="0"/>
          </a:p>
        </p:txBody>
      </p:sp>
      <p:sp>
        <p:nvSpPr>
          <p:cNvPr id="188" name="Shape 102"/>
          <p:cNvSpPr/>
          <p:nvPr/>
        </p:nvSpPr>
        <p:spPr>
          <a:xfrm>
            <a:off x="4355330" y="5926573"/>
            <a:ext cx="3490474" cy="666679"/>
          </a:xfrm>
          <a:custGeom>
            <a:avLst/>
            <a:gdLst/>
            <a:ahLst/>
            <a:cxnLst/>
            <a:rect l="l" t="t" r="r" b="b"/>
            <a:pathLst>
              <a:path w="3490474" h="666679">
                <a:moveTo>
                  <a:pt x="21918" y="0"/>
                </a:moveTo>
                <a:lnTo>
                  <a:pt x="3417412" y="0"/>
                </a:lnTo>
                <a:cubicBezTo>
                  <a:pt x="3457763" y="0"/>
                  <a:pt x="3490474" y="32711"/>
                  <a:pt x="3490474" y="73061"/>
                </a:cubicBezTo>
                <a:lnTo>
                  <a:pt x="3490474" y="593617"/>
                </a:lnTo>
                <a:cubicBezTo>
                  <a:pt x="3490474" y="633968"/>
                  <a:pt x="3457763" y="666679"/>
                  <a:pt x="3417412" y="666679"/>
                </a:cubicBez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81D4FA">
              <a:alpha val="10196"/>
            </a:srgbClr>
          </a:solidFill>
          <a:ln/>
        </p:spPr>
      </p:sp>
      <p:sp>
        <p:nvSpPr>
          <p:cNvPr id="189" name="Shape 103"/>
          <p:cNvSpPr/>
          <p:nvPr/>
        </p:nvSpPr>
        <p:spPr>
          <a:xfrm>
            <a:off x="4355330" y="5926573"/>
            <a:ext cx="21918" cy="666679"/>
          </a:xfrm>
          <a:custGeom>
            <a:avLst/>
            <a:gdLst/>
            <a:ahLst/>
            <a:cxnLst/>
            <a:rect l="l" t="t" r="r" b="b"/>
            <a:pathLst>
              <a:path w="21918" h="666679">
                <a:moveTo>
                  <a:pt x="21918" y="0"/>
                </a:moveTo>
                <a:lnTo>
                  <a:pt x="21918" y="0"/>
                </a:lnTo>
                <a:lnTo>
                  <a:pt x="21918" y="666679"/>
                </a:lnTo>
                <a:lnTo>
                  <a:pt x="21918" y="666679"/>
                </a:lnTo>
                <a:cubicBezTo>
                  <a:pt x="9813" y="666679"/>
                  <a:pt x="0" y="656866"/>
                  <a:pt x="0" y="644760"/>
                </a:cubicBezTo>
                <a:lnTo>
                  <a:pt x="0" y="21918"/>
                </a:lnTo>
                <a:cubicBezTo>
                  <a:pt x="0" y="9813"/>
                  <a:pt x="9813" y="0"/>
                  <a:pt x="21918" y="0"/>
                </a:cubicBezTo>
                <a:close/>
              </a:path>
            </a:pathLst>
          </a:custGeom>
          <a:solidFill>
            <a:srgbClr val="81D4FA"/>
          </a:solidFill>
          <a:ln/>
        </p:spPr>
      </p:sp>
      <p:sp>
        <p:nvSpPr>
          <p:cNvPr id="190" name="Shape 104"/>
          <p:cNvSpPr/>
          <p:nvPr/>
        </p:nvSpPr>
        <p:spPr>
          <a:xfrm>
            <a:off x="4439349" y="5999634"/>
            <a:ext cx="182652" cy="182652"/>
          </a:xfrm>
          <a:custGeom>
            <a:avLst/>
            <a:gdLst/>
            <a:ahLst/>
            <a:cxnLst/>
            <a:rect l="l" t="t" r="r" b="b"/>
            <a:pathLst>
              <a:path w="182652" h="182652">
                <a:moveTo>
                  <a:pt x="36530" y="0"/>
                </a:moveTo>
                <a:lnTo>
                  <a:pt x="146121" y="0"/>
                </a:lnTo>
                <a:cubicBezTo>
                  <a:pt x="166283" y="0"/>
                  <a:pt x="182652" y="16369"/>
                  <a:pt x="182652" y="36530"/>
                </a:cubicBezTo>
                <a:lnTo>
                  <a:pt x="182652" y="146121"/>
                </a:lnTo>
                <a:cubicBezTo>
                  <a:pt x="182652" y="166283"/>
                  <a:pt x="166283" y="182652"/>
                  <a:pt x="146121" y="182652"/>
                </a:cubicBezTo>
                <a:lnTo>
                  <a:pt x="36530" y="182652"/>
                </a:lnTo>
                <a:cubicBezTo>
                  <a:pt x="16369" y="182652"/>
                  <a:pt x="0" y="166283"/>
                  <a:pt x="0" y="146121"/>
                </a:cubicBezTo>
                <a:lnTo>
                  <a:pt x="0" y="36530"/>
                </a:lnTo>
                <a:cubicBezTo>
                  <a:pt x="0" y="16369"/>
                  <a:pt x="16369" y="0"/>
                  <a:pt x="36530" y="0"/>
                </a:cubicBezTo>
                <a:close/>
              </a:path>
            </a:pathLst>
          </a:custGeom>
          <a:solidFill>
            <a:srgbClr val="81D4FA"/>
          </a:solidFill>
          <a:ln/>
        </p:spPr>
      </p:sp>
      <p:sp>
        <p:nvSpPr>
          <p:cNvPr id="191" name="Text 105"/>
          <p:cNvSpPr/>
          <p:nvPr/>
        </p:nvSpPr>
        <p:spPr>
          <a:xfrm>
            <a:off x="4506588" y="6029315"/>
            <a:ext cx="86760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92" name="Text 106"/>
          <p:cNvSpPr/>
          <p:nvPr/>
        </p:nvSpPr>
        <p:spPr>
          <a:xfrm>
            <a:off x="4695062" y="6015616"/>
            <a:ext cx="917825" cy="15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宣贯培训+闭环考核</a:t>
            </a:r>
            <a:endParaRPr lang="en-US" sz="1600" dirty="0"/>
          </a:p>
        </p:txBody>
      </p:sp>
      <p:sp>
        <p:nvSpPr>
          <p:cNvPr id="193" name="Text 107"/>
          <p:cNvSpPr/>
          <p:nvPr/>
        </p:nvSpPr>
        <p:spPr>
          <a:xfrm>
            <a:off x="4439349" y="6218816"/>
            <a:ext cx="3379056" cy="301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719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开展区域全员宣贯与操作培训，建立执行晾晒、复盘、校验机制，将工序完结质量纳入过程管理</a:t>
            </a:r>
            <a:endParaRPr lang="en-US" sz="1600" dirty="0"/>
          </a:p>
        </p:txBody>
      </p:sp>
      <p:sp>
        <p:nvSpPr>
          <p:cNvPr id="194" name="Shape 108"/>
          <p:cNvSpPr/>
          <p:nvPr/>
        </p:nvSpPr>
        <p:spPr>
          <a:xfrm>
            <a:off x="8104256" y="810223"/>
            <a:ext cx="3726094" cy="2210085"/>
          </a:xfrm>
          <a:custGeom>
            <a:avLst/>
            <a:gdLst/>
            <a:ahLst/>
            <a:cxnLst/>
            <a:rect l="l" t="t" r="r" b="b"/>
            <a:pathLst>
              <a:path w="3726094" h="2210085">
                <a:moveTo>
                  <a:pt x="109598" y="0"/>
                </a:moveTo>
                <a:lnTo>
                  <a:pt x="3616496" y="0"/>
                </a:lnTo>
                <a:cubicBezTo>
                  <a:pt x="3677026" y="0"/>
                  <a:pt x="3726094" y="49069"/>
                  <a:pt x="3726094" y="109598"/>
                </a:cubicBezTo>
                <a:lnTo>
                  <a:pt x="3726094" y="2100487"/>
                </a:lnTo>
                <a:cubicBezTo>
                  <a:pt x="3726094" y="2161017"/>
                  <a:pt x="3677026" y="2210085"/>
                  <a:pt x="3616496" y="2210085"/>
                </a:cubicBezTo>
                <a:lnTo>
                  <a:pt x="109598" y="2210085"/>
                </a:lnTo>
                <a:cubicBezTo>
                  <a:pt x="49069" y="2210085"/>
                  <a:pt x="0" y="2161017"/>
                  <a:pt x="0" y="2100487"/>
                </a:cubicBezTo>
                <a:lnTo>
                  <a:pt x="0" y="109598"/>
                </a:lnTo>
                <a:cubicBezTo>
                  <a:pt x="0" y="49069"/>
                  <a:pt x="49069" y="0"/>
                  <a:pt x="1095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5" name="Shape 109"/>
          <p:cNvSpPr/>
          <p:nvPr/>
        </p:nvSpPr>
        <p:spPr>
          <a:xfrm>
            <a:off x="8213847" y="919814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196" name="Shape 110"/>
          <p:cNvSpPr/>
          <p:nvPr/>
        </p:nvSpPr>
        <p:spPr>
          <a:xfrm>
            <a:off x="8286907" y="992875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47925" y="6849"/>
                </a:moveTo>
                <a:lnTo>
                  <a:pt x="31614" y="6849"/>
                </a:lnTo>
                <a:cubicBezTo>
                  <a:pt x="25322" y="6849"/>
                  <a:pt x="19821" y="11152"/>
                  <a:pt x="18322" y="17252"/>
                </a:cubicBezTo>
                <a:lnTo>
                  <a:pt x="300" y="90006"/>
                </a:lnTo>
                <a:cubicBezTo>
                  <a:pt x="-1306" y="96470"/>
                  <a:pt x="3596" y="102742"/>
                  <a:pt x="10274" y="102742"/>
                </a:cubicBezTo>
                <a:lnTo>
                  <a:pt x="47925" y="102742"/>
                </a:lnTo>
                <a:lnTo>
                  <a:pt x="47925" y="89043"/>
                </a:lnTo>
                <a:cubicBezTo>
                  <a:pt x="47925" y="85254"/>
                  <a:pt x="50986" y="82193"/>
                  <a:pt x="54774" y="82193"/>
                </a:cubicBezTo>
                <a:cubicBezTo>
                  <a:pt x="58563" y="82193"/>
                  <a:pt x="61624" y="85254"/>
                  <a:pt x="61624" y="89043"/>
                </a:cubicBezTo>
                <a:lnTo>
                  <a:pt x="61624" y="102742"/>
                </a:lnTo>
                <a:lnTo>
                  <a:pt x="99317" y="102742"/>
                </a:lnTo>
                <a:cubicBezTo>
                  <a:pt x="105995" y="102742"/>
                  <a:pt x="110897" y="96470"/>
                  <a:pt x="109291" y="90006"/>
                </a:cubicBezTo>
                <a:lnTo>
                  <a:pt x="91290" y="17252"/>
                </a:lnTo>
                <a:cubicBezTo>
                  <a:pt x="89770" y="11152"/>
                  <a:pt x="84291" y="6849"/>
                  <a:pt x="77977" y="6849"/>
                </a:cubicBezTo>
                <a:lnTo>
                  <a:pt x="61624" y="6849"/>
                </a:lnTo>
                <a:lnTo>
                  <a:pt x="61624" y="20548"/>
                </a:lnTo>
                <a:cubicBezTo>
                  <a:pt x="61624" y="24337"/>
                  <a:pt x="58563" y="27398"/>
                  <a:pt x="54774" y="27398"/>
                </a:cubicBezTo>
                <a:cubicBezTo>
                  <a:pt x="50986" y="27398"/>
                  <a:pt x="47925" y="24337"/>
                  <a:pt x="47925" y="20548"/>
                </a:cubicBezTo>
                <a:lnTo>
                  <a:pt x="47925" y="6849"/>
                </a:lnTo>
                <a:close/>
                <a:moveTo>
                  <a:pt x="61624" y="47946"/>
                </a:moveTo>
                <a:lnTo>
                  <a:pt x="61624" y="61645"/>
                </a:lnTo>
                <a:cubicBezTo>
                  <a:pt x="61624" y="65434"/>
                  <a:pt x="58563" y="68494"/>
                  <a:pt x="54774" y="68494"/>
                </a:cubicBezTo>
                <a:cubicBezTo>
                  <a:pt x="50986" y="68494"/>
                  <a:pt x="47925" y="65434"/>
                  <a:pt x="47925" y="61645"/>
                </a:cubicBezTo>
                <a:lnTo>
                  <a:pt x="47925" y="47946"/>
                </a:lnTo>
                <a:cubicBezTo>
                  <a:pt x="47925" y="44157"/>
                  <a:pt x="50986" y="41097"/>
                  <a:pt x="54774" y="41097"/>
                </a:cubicBezTo>
                <a:cubicBezTo>
                  <a:pt x="58563" y="41097"/>
                  <a:pt x="61624" y="44157"/>
                  <a:pt x="61624" y="4794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7" name="Text 111"/>
          <p:cNvSpPr/>
          <p:nvPr/>
        </p:nvSpPr>
        <p:spPr>
          <a:xfrm>
            <a:off x="8542620" y="944929"/>
            <a:ext cx="570787" cy="210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4A4A4A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达成路径</a:t>
            </a:r>
            <a:endParaRPr lang="en-US" sz="1600" dirty="0"/>
          </a:p>
        </p:txBody>
      </p:sp>
      <p:sp>
        <p:nvSpPr>
          <p:cNvPr id="198" name="Shape 112"/>
          <p:cNvSpPr/>
          <p:nvPr/>
        </p:nvSpPr>
        <p:spPr>
          <a:xfrm>
            <a:off x="8350835" y="1394709"/>
            <a:ext cx="18265" cy="1369888"/>
          </a:xfrm>
          <a:custGeom>
            <a:avLst/>
            <a:gdLst/>
            <a:ahLst/>
            <a:cxnLst/>
            <a:rect l="l" t="t" r="r" b="b"/>
            <a:pathLst>
              <a:path w="18265" h="1369888">
                <a:moveTo>
                  <a:pt x="0" y="0"/>
                </a:moveTo>
                <a:lnTo>
                  <a:pt x="18265" y="0"/>
                </a:lnTo>
                <a:lnTo>
                  <a:pt x="18265" y="1369888"/>
                </a:lnTo>
                <a:lnTo>
                  <a:pt x="0" y="1369888"/>
                </a:lnTo>
                <a:lnTo>
                  <a:pt x="0" y="0"/>
                </a:lnTo>
                <a:close/>
              </a:path>
            </a:pathLst>
          </a:custGeom>
          <a:solidFill>
            <a:srgbClr val="A5D6A7">
              <a:alpha val="30196"/>
            </a:srgbClr>
          </a:solidFill>
          <a:ln/>
        </p:spPr>
      </p:sp>
      <p:sp>
        <p:nvSpPr>
          <p:cNvPr id="199" name="Shape 113"/>
          <p:cNvSpPr/>
          <p:nvPr/>
        </p:nvSpPr>
        <p:spPr>
          <a:xfrm>
            <a:off x="8213847" y="1248587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136989" y="0"/>
                </a:moveTo>
                <a:lnTo>
                  <a:pt x="136989" y="0"/>
                </a:lnTo>
                <a:cubicBezTo>
                  <a:pt x="212646" y="0"/>
                  <a:pt x="273978" y="61332"/>
                  <a:pt x="273978" y="136989"/>
                </a:cubicBezTo>
                <a:lnTo>
                  <a:pt x="273978" y="136989"/>
                </a:lnTo>
                <a:cubicBezTo>
                  <a:pt x="273978" y="212646"/>
                  <a:pt x="212646" y="273978"/>
                  <a:pt x="136989" y="273978"/>
                </a:cubicBezTo>
                <a:lnTo>
                  <a:pt x="136989" y="273978"/>
                </a:lnTo>
                <a:cubicBezTo>
                  <a:pt x="61332" y="273978"/>
                  <a:pt x="0" y="212646"/>
                  <a:pt x="0" y="136989"/>
                </a:cubicBezTo>
                <a:lnTo>
                  <a:pt x="0" y="136989"/>
                </a:lnTo>
                <a:cubicBezTo>
                  <a:pt x="0" y="61332"/>
                  <a:pt x="61332" y="0"/>
                  <a:pt x="136989" y="0"/>
                </a:cubicBezTo>
                <a:close/>
              </a:path>
            </a:pathLst>
          </a:custGeom>
          <a:solidFill>
            <a:srgbClr val="FFD15C"/>
          </a:solidFill>
          <a:ln/>
        </p:spPr>
      </p:sp>
      <p:sp>
        <p:nvSpPr>
          <p:cNvPr id="200" name="Text 114"/>
          <p:cNvSpPr/>
          <p:nvPr/>
        </p:nvSpPr>
        <p:spPr>
          <a:xfrm>
            <a:off x="8332798" y="1317082"/>
            <a:ext cx="82193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01" name="Text 115"/>
          <p:cNvSpPr/>
          <p:nvPr/>
        </p:nvSpPr>
        <p:spPr>
          <a:xfrm>
            <a:off x="8597415" y="1266853"/>
            <a:ext cx="3173573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现状梳理与标准构建</a:t>
            </a:r>
            <a:endParaRPr lang="en-US" sz="1600" dirty="0"/>
          </a:p>
        </p:txBody>
      </p:sp>
      <p:sp>
        <p:nvSpPr>
          <p:cNvPr id="202" name="Text 116"/>
          <p:cNvSpPr/>
          <p:nvPr/>
        </p:nvSpPr>
        <p:spPr>
          <a:xfrm>
            <a:off x="8597415" y="1392426"/>
            <a:ext cx="3169007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dirty="0" err="1" smtClean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梳理流程</a:t>
            </a:r>
            <a:r>
              <a:rPr lang="en-US" sz="719" dirty="0" err="1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、问题、角色职责，完成自工序三道工序标准定义</a:t>
            </a:r>
            <a:endParaRPr lang="en-US" sz="1600" dirty="0"/>
          </a:p>
        </p:txBody>
      </p:sp>
      <p:sp>
        <p:nvSpPr>
          <p:cNvPr id="203" name="Shape 117"/>
          <p:cNvSpPr/>
          <p:nvPr/>
        </p:nvSpPr>
        <p:spPr>
          <a:xfrm>
            <a:off x="8213847" y="1594598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136989" y="0"/>
                </a:moveTo>
                <a:lnTo>
                  <a:pt x="136989" y="0"/>
                </a:lnTo>
                <a:cubicBezTo>
                  <a:pt x="212646" y="0"/>
                  <a:pt x="273978" y="61332"/>
                  <a:pt x="273978" y="136989"/>
                </a:cubicBezTo>
                <a:lnTo>
                  <a:pt x="273978" y="136989"/>
                </a:lnTo>
                <a:cubicBezTo>
                  <a:pt x="273978" y="212646"/>
                  <a:pt x="212646" y="273978"/>
                  <a:pt x="136989" y="273978"/>
                </a:cubicBezTo>
                <a:lnTo>
                  <a:pt x="136989" y="273978"/>
                </a:lnTo>
                <a:cubicBezTo>
                  <a:pt x="61332" y="273978"/>
                  <a:pt x="0" y="212646"/>
                  <a:pt x="0" y="136989"/>
                </a:cubicBezTo>
                <a:lnTo>
                  <a:pt x="0" y="136989"/>
                </a:lnTo>
                <a:cubicBezTo>
                  <a:pt x="0" y="61332"/>
                  <a:pt x="61332" y="0"/>
                  <a:pt x="136989" y="0"/>
                </a:cubicBezTo>
                <a:close/>
              </a:path>
            </a:pathLst>
          </a:custGeom>
          <a:solidFill>
            <a:srgbClr val="FF8C69"/>
          </a:solidFill>
          <a:ln/>
        </p:spPr>
      </p:sp>
      <p:sp>
        <p:nvSpPr>
          <p:cNvPr id="204" name="Text 118"/>
          <p:cNvSpPr/>
          <p:nvPr/>
        </p:nvSpPr>
        <p:spPr>
          <a:xfrm>
            <a:off x="8325150" y="1663093"/>
            <a:ext cx="10045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05" name="Text 119"/>
          <p:cNvSpPr/>
          <p:nvPr/>
        </p:nvSpPr>
        <p:spPr>
          <a:xfrm>
            <a:off x="8597415" y="1612863"/>
            <a:ext cx="3173573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工具开发与MO融合</a:t>
            </a:r>
            <a:endParaRPr lang="en-US" sz="1600" dirty="0"/>
          </a:p>
        </p:txBody>
      </p:sp>
      <p:sp>
        <p:nvSpPr>
          <p:cNvPr id="206" name="Text 120"/>
          <p:cNvSpPr/>
          <p:nvPr/>
        </p:nvSpPr>
        <p:spPr>
          <a:xfrm>
            <a:off x="8597415" y="1738436"/>
            <a:ext cx="3169007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dirty="0" smtClean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输出全套表单</a:t>
            </a:r>
            <a:r>
              <a:rPr lang="en-US" sz="719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、流程图、Checklist，完成MO与1+2节点嵌入设计</a:t>
            </a:r>
            <a:endParaRPr lang="en-US" sz="1600" dirty="0"/>
          </a:p>
        </p:txBody>
      </p:sp>
      <p:sp>
        <p:nvSpPr>
          <p:cNvPr id="207" name="Shape 121"/>
          <p:cNvSpPr/>
          <p:nvPr/>
        </p:nvSpPr>
        <p:spPr>
          <a:xfrm>
            <a:off x="8213847" y="1940609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136989" y="0"/>
                </a:moveTo>
                <a:lnTo>
                  <a:pt x="136989" y="0"/>
                </a:lnTo>
                <a:cubicBezTo>
                  <a:pt x="212646" y="0"/>
                  <a:pt x="273978" y="61332"/>
                  <a:pt x="273978" y="136989"/>
                </a:cubicBezTo>
                <a:lnTo>
                  <a:pt x="273978" y="136989"/>
                </a:lnTo>
                <a:cubicBezTo>
                  <a:pt x="273978" y="212646"/>
                  <a:pt x="212646" y="273978"/>
                  <a:pt x="136989" y="273978"/>
                </a:cubicBezTo>
                <a:lnTo>
                  <a:pt x="136989" y="273978"/>
                </a:lnTo>
                <a:cubicBezTo>
                  <a:pt x="61332" y="273978"/>
                  <a:pt x="0" y="212646"/>
                  <a:pt x="0" y="136989"/>
                </a:cubicBezTo>
                <a:lnTo>
                  <a:pt x="0" y="136989"/>
                </a:lnTo>
                <a:cubicBezTo>
                  <a:pt x="0" y="61332"/>
                  <a:pt x="61332" y="0"/>
                  <a:pt x="136989" y="0"/>
                </a:cubicBez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208" name="Text 122"/>
          <p:cNvSpPr/>
          <p:nvPr/>
        </p:nvSpPr>
        <p:spPr>
          <a:xfrm>
            <a:off x="8323894" y="2009103"/>
            <a:ext cx="10045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9" name="Text 123"/>
          <p:cNvSpPr/>
          <p:nvPr/>
        </p:nvSpPr>
        <p:spPr>
          <a:xfrm>
            <a:off x="8597415" y="1958874"/>
            <a:ext cx="3173573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试点运行与优化</a:t>
            </a:r>
            <a:endParaRPr lang="en-US" sz="1600" dirty="0"/>
          </a:p>
        </p:txBody>
      </p:sp>
      <p:sp>
        <p:nvSpPr>
          <p:cNvPr id="210" name="Text 124"/>
          <p:cNvSpPr/>
          <p:nvPr/>
        </p:nvSpPr>
        <p:spPr>
          <a:xfrm>
            <a:off x="8597415" y="2084447"/>
            <a:ext cx="3169007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dirty="0" err="1" smtClean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小范围试点运行</a:t>
            </a:r>
            <a:r>
              <a:rPr lang="en-US" sz="719" dirty="0" err="1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，收集问题、迭代优化标准</a:t>
            </a:r>
            <a:endParaRPr lang="en-US" sz="1600" dirty="0"/>
          </a:p>
        </p:txBody>
      </p:sp>
      <p:sp>
        <p:nvSpPr>
          <p:cNvPr id="211" name="Shape 125"/>
          <p:cNvSpPr/>
          <p:nvPr/>
        </p:nvSpPr>
        <p:spPr>
          <a:xfrm>
            <a:off x="8213847" y="2286620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136989" y="0"/>
                </a:moveTo>
                <a:lnTo>
                  <a:pt x="136989" y="0"/>
                </a:lnTo>
                <a:cubicBezTo>
                  <a:pt x="212646" y="0"/>
                  <a:pt x="273978" y="61332"/>
                  <a:pt x="273978" y="136989"/>
                </a:cubicBezTo>
                <a:lnTo>
                  <a:pt x="273978" y="136989"/>
                </a:lnTo>
                <a:cubicBezTo>
                  <a:pt x="273978" y="212646"/>
                  <a:pt x="212646" y="273978"/>
                  <a:pt x="136989" y="273978"/>
                </a:cubicBezTo>
                <a:lnTo>
                  <a:pt x="136989" y="273978"/>
                </a:lnTo>
                <a:cubicBezTo>
                  <a:pt x="61332" y="273978"/>
                  <a:pt x="0" y="212646"/>
                  <a:pt x="0" y="136989"/>
                </a:cubicBezTo>
                <a:lnTo>
                  <a:pt x="0" y="136989"/>
                </a:lnTo>
                <a:cubicBezTo>
                  <a:pt x="0" y="61332"/>
                  <a:pt x="61332" y="0"/>
                  <a:pt x="136989" y="0"/>
                </a:cubicBezTo>
                <a:close/>
              </a:path>
            </a:pathLst>
          </a:custGeom>
          <a:solidFill>
            <a:srgbClr val="81D4FA"/>
          </a:solidFill>
          <a:ln/>
        </p:spPr>
      </p:sp>
      <p:sp>
        <p:nvSpPr>
          <p:cNvPr id="212" name="Text 126"/>
          <p:cNvSpPr/>
          <p:nvPr/>
        </p:nvSpPr>
        <p:spPr>
          <a:xfrm>
            <a:off x="8324008" y="2355114"/>
            <a:ext cx="10045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13" name="Text 127"/>
          <p:cNvSpPr/>
          <p:nvPr/>
        </p:nvSpPr>
        <p:spPr>
          <a:xfrm>
            <a:off x="8597415" y="2304885"/>
            <a:ext cx="3173573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全面推广与闭环稽核</a:t>
            </a:r>
            <a:endParaRPr lang="en-US" sz="1600" dirty="0"/>
          </a:p>
        </p:txBody>
      </p:sp>
      <p:sp>
        <p:nvSpPr>
          <p:cNvPr id="214" name="Text 128"/>
          <p:cNvSpPr/>
          <p:nvPr/>
        </p:nvSpPr>
        <p:spPr>
          <a:xfrm>
            <a:off x="8597415" y="2430458"/>
            <a:ext cx="3169007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dirty="0" err="1" smtClean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区域全覆盖推广</a:t>
            </a:r>
            <a:r>
              <a:rPr lang="en-US" sz="719" dirty="0" err="1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，周复盘、月晾晒、季考核</a:t>
            </a:r>
            <a:endParaRPr lang="en-US" sz="1600" dirty="0"/>
          </a:p>
        </p:txBody>
      </p:sp>
      <p:sp>
        <p:nvSpPr>
          <p:cNvPr id="215" name="Shape 129"/>
          <p:cNvSpPr/>
          <p:nvPr/>
        </p:nvSpPr>
        <p:spPr>
          <a:xfrm>
            <a:off x="8213847" y="2632631"/>
            <a:ext cx="273978" cy="273978"/>
          </a:xfrm>
          <a:custGeom>
            <a:avLst/>
            <a:gdLst/>
            <a:ahLst/>
            <a:cxnLst/>
            <a:rect l="l" t="t" r="r" b="b"/>
            <a:pathLst>
              <a:path w="273978" h="273978">
                <a:moveTo>
                  <a:pt x="136989" y="0"/>
                </a:moveTo>
                <a:lnTo>
                  <a:pt x="136989" y="0"/>
                </a:lnTo>
                <a:cubicBezTo>
                  <a:pt x="212646" y="0"/>
                  <a:pt x="273978" y="61332"/>
                  <a:pt x="273978" y="136989"/>
                </a:cubicBezTo>
                <a:lnTo>
                  <a:pt x="273978" y="136989"/>
                </a:lnTo>
                <a:cubicBezTo>
                  <a:pt x="273978" y="212646"/>
                  <a:pt x="212646" y="273978"/>
                  <a:pt x="136989" y="273978"/>
                </a:cubicBezTo>
                <a:lnTo>
                  <a:pt x="136989" y="273978"/>
                </a:lnTo>
                <a:cubicBezTo>
                  <a:pt x="61332" y="273978"/>
                  <a:pt x="0" y="212646"/>
                  <a:pt x="0" y="136989"/>
                </a:cubicBezTo>
                <a:lnTo>
                  <a:pt x="0" y="136989"/>
                </a:lnTo>
                <a:cubicBezTo>
                  <a:pt x="0" y="61332"/>
                  <a:pt x="61332" y="0"/>
                  <a:pt x="136989" y="0"/>
                </a:cubicBezTo>
                <a:close/>
              </a:path>
            </a:pathLst>
          </a:custGeom>
          <a:solidFill>
            <a:srgbClr val="FFD15C"/>
          </a:solidFill>
          <a:ln/>
        </p:spPr>
      </p:sp>
      <p:sp>
        <p:nvSpPr>
          <p:cNvPr id="216" name="Text 130"/>
          <p:cNvSpPr/>
          <p:nvPr/>
        </p:nvSpPr>
        <p:spPr>
          <a:xfrm>
            <a:off x="8323552" y="2701125"/>
            <a:ext cx="10045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17" name="Text 131"/>
          <p:cNvSpPr/>
          <p:nvPr/>
        </p:nvSpPr>
        <p:spPr>
          <a:xfrm>
            <a:off x="8597415" y="2650896"/>
            <a:ext cx="3173573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固化成果+复制推广</a:t>
            </a:r>
            <a:endParaRPr lang="en-US" sz="1600" dirty="0"/>
          </a:p>
        </p:txBody>
      </p:sp>
      <p:sp>
        <p:nvSpPr>
          <p:cNvPr id="218" name="Text 132"/>
          <p:cNvSpPr/>
          <p:nvPr/>
        </p:nvSpPr>
        <p:spPr>
          <a:xfrm>
            <a:off x="8597415" y="2776469"/>
            <a:ext cx="3169007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课题闭环 · 输出最终手册、模板、案例，形成可复制管理经验</a:t>
            </a:r>
            <a:endParaRPr lang="en-US" sz="1600" dirty="0"/>
          </a:p>
        </p:txBody>
      </p:sp>
      <p:sp>
        <p:nvSpPr>
          <p:cNvPr id="219" name="Shape 133"/>
          <p:cNvSpPr/>
          <p:nvPr/>
        </p:nvSpPr>
        <p:spPr>
          <a:xfrm>
            <a:off x="8104256" y="3159796"/>
            <a:ext cx="3726094" cy="2191820"/>
          </a:xfrm>
          <a:custGeom>
            <a:avLst/>
            <a:gdLst/>
            <a:ahLst/>
            <a:cxnLst/>
            <a:rect l="l" t="t" r="r" b="b"/>
            <a:pathLst>
              <a:path w="3726094" h="2191820">
                <a:moveTo>
                  <a:pt x="109591" y="0"/>
                </a:moveTo>
                <a:lnTo>
                  <a:pt x="3616503" y="0"/>
                </a:lnTo>
                <a:cubicBezTo>
                  <a:pt x="3677029" y="0"/>
                  <a:pt x="3726094" y="49066"/>
                  <a:pt x="3726094" y="109591"/>
                </a:cubicBezTo>
                <a:lnTo>
                  <a:pt x="3726094" y="2082229"/>
                </a:lnTo>
                <a:cubicBezTo>
                  <a:pt x="3726094" y="2142755"/>
                  <a:pt x="3677029" y="2191820"/>
                  <a:pt x="3616503" y="2191820"/>
                </a:cubicBezTo>
                <a:lnTo>
                  <a:pt x="109591" y="2191820"/>
                </a:lnTo>
                <a:cubicBezTo>
                  <a:pt x="49066" y="2191820"/>
                  <a:pt x="0" y="2142755"/>
                  <a:pt x="0" y="2082229"/>
                </a:cubicBezTo>
                <a:lnTo>
                  <a:pt x="0" y="109591"/>
                </a:lnTo>
                <a:cubicBezTo>
                  <a:pt x="0" y="49106"/>
                  <a:pt x="49106" y="0"/>
                  <a:pt x="109591" y="0"/>
                </a:cubicBezTo>
                <a:close/>
              </a:path>
            </a:pathLst>
          </a:custGeom>
          <a:gradFill flip="none" rotWithShape="1">
            <a:gsLst>
              <a:gs pos="0">
                <a:srgbClr val="81D4FA">
                  <a:alpha val="20000"/>
                </a:srgbClr>
              </a:gs>
              <a:gs pos="100000">
                <a:srgbClr val="A5D6A7">
                  <a:alpha val="10000"/>
                </a:srgbClr>
              </a:gs>
            </a:gsLst>
            <a:lin ang="2700000" scaled="1"/>
          </a:gradFill>
          <a:ln/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0" name="Shape 134"/>
          <p:cNvSpPr/>
          <p:nvPr/>
        </p:nvSpPr>
        <p:spPr>
          <a:xfrm>
            <a:off x="8213847" y="3269387"/>
            <a:ext cx="255712" cy="255712"/>
          </a:xfrm>
          <a:custGeom>
            <a:avLst/>
            <a:gdLst/>
            <a:ahLst/>
            <a:cxnLst/>
            <a:rect l="l" t="t" r="r" b="b"/>
            <a:pathLst>
              <a:path w="255712" h="255712">
                <a:moveTo>
                  <a:pt x="73060" y="0"/>
                </a:moveTo>
                <a:lnTo>
                  <a:pt x="182653" y="0"/>
                </a:lnTo>
                <a:cubicBezTo>
                  <a:pt x="222975" y="0"/>
                  <a:pt x="255712" y="32737"/>
                  <a:pt x="255712" y="73060"/>
                </a:cubicBezTo>
                <a:lnTo>
                  <a:pt x="255712" y="182653"/>
                </a:lnTo>
                <a:cubicBezTo>
                  <a:pt x="255712" y="222975"/>
                  <a:pt x="222975" y="255712"/>
                  <a:pt x="182653" y="255712"/>
                </a:cubicBezTo>
                <a:lnTo>
                  <a:pt x="73060" y="255712"/>
                </a:lnTo>
                <a:cubicBezTo>
                  <a:pt x="32737" y="255712"/>
                  <a:pt x="0" y="222975"/>
                  <a:pt x="0" y="182653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gradFill flip="none" rotWithShape="1">
            <a:gsLst>
              <a:gs pos="0">
                <a:srgbClr val="81D4FA"/>
              </a:gs>
              <a:gs pos="100000">
                <a:srgbClr val="A5D6A7"/>
              </a:gs>
            </a:gsLst>
            <a:lin ang="2700000" scaled="1"/>
          </a:gradFill>
          <a:ln/>
        </p:spPr>
      </p:sp>
      <p:sp>
        <p:nvSpPr>
          <p:cNvPr id="221" name="Shape 135"/>
          <p:cNvSpPr/>
          <p:nvPr/>
        </p:nvSpPr>
        <p:spPr>
          <a:xfrm>
            <a:off x="8286907" y="3342447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30887" y="0"/>
                </a:moveTo>
                <a:lnTo>
                  <a:pt x="78833" y="0"/>
                </a:lnTo>
                <a:cubicBezTo>
                  <a:pt x="84505" y="0"/>
                  <a:pt x="89128" y="4666"/>
                  <a:pt x="88914" y="10317"/>
                </a:cubicBezTo>
                <a:cubicBezTo>
                  <a:pt x="88871" y="11451"/>
                  <a:pt x="88829" y="12586"/>
                  <a:pt x="88764" y="13699"/>
                </a:cubicBezTo>
                <a:lnTo>
                  <a:pt x="99381" y="13699"/>
                </a:lnTo>
                <a:cubicBezTo>
                  <a:pt x="104968" y="13699"/>
                  <a:pt x="109891" y="18322"/>
                  <a:pt x="109463" y="24358"/>
                </a:cubicBezTo>
                <a:cubicBezTo>
                  <a:pt x="107857" y="46555"/>
                  <a:pt x="96513" y="58755"/>
                  <a:pt x="84205" y="65134"/>
                </a:cubicBezTo>
                <a:cubicBezTo>
                  <a:pt x="80823" y="66889"/>
                  <a:pt x="77377" y="68195"/>
                  <a:pt x="74102" y="69158"/>
                </a:cubicBezTo>
                <a:cubicBezTo>
                  <a:pt x="69779" y="75280"/>
                  <a:pt x="65284" y="78512"/>
                  <a:pt x="61709" y="80245"/>
                </a:cubicBezTo>
                <a:lnTo>
                  <a:pt x="61709" y="95892"/>
                </a:lnTo>
                <a:lnTo>
                  <a:pt x="75408" y="95892"/>
                </a:lnTo>
                <a:cubicBezTo>
                  <a:pt x="79197" y="95892"/>
                  <a:pt x="82257" y="98953"/>
                  <a:pt x="82257" y="102742"/>
                </a:cubicBezTo>
                <a:cubicBezTo>
                  <a:pt x="82257" y="106530"/>
                  <a:pt x="79197" y="109591"/>
                  <a:pt x="75408" y="109591"/>
                </a:cubicBezTo>
                <a:lnTo>
                  <a:pt x="34311" y="109591"/>
                </a:lnTo>
                <a:cubicBezTo>
                  <a:pt x="30523" y="109591"/>
                  <a:pt x="27462" y="106530"/>
                  <a:pt x="27462" y="102742"/>
                </a:cubicBezTo>
                <a:cubicBezTo>
                  <a:pt x="27462" y="98953"/>
                  <a:pt x="30523" y="95892"/>
                  <a:pt x="34311" y="95892"/>
                </a:cubicBezTo>
                <a:lnTo>
                  <a:pt x="48010" y="95892"/>
                </a:lnTo>
                <a:lnTo>
                  <a:pt x="48010" y="80245"/>
                </a:lnTo>
                <a:cubicBezTo>
                  <a:pt x="44586" y="78597"/>
                  <a:pt x="40326" y="75536"/>
                  <a:pt x="36174" y="69907"/>
                </a:cubicBezTo>
                <a:cubicBezTo>
                  <a:pt x="32235" y="68880"/>
                  <a:pt x="27954" y="67317"/>
                  <a:pt x="23780" y="64963"/>
                </a:cubicBezTo>
                <a:cubicBezTo>
                  <a:pt x="12201" y="58477"/>
                  <a:pt x="1755" y="46255"/>
                  <a:pt x="257" y="24316"/>
                </a:cubicBezTo>
                <a:cubicBezTo>
                  <a:pt x="-150" y="18301"/>
                  <a:pt x="4752" y="13677"/>
                  <a:pt x="10338" y="13677"/>
                </a:cubicBezTo>
                <a:lnTo>
                  <a:pt x="20955" y="13677"/>
                </a:lnTo>
                <a:cubicBezTo>
                  <a:pt x="20891" y="12564"/>
                  <a:pt x="20848" y="11451"/>
                  <a:pt x="20805" y="10296"/>
                </a:cubicBezTo>
                <a:cubicBezTo>
                  <a:pt x="20591" y="4623"/>
                  <a:pt x="25214" y="-21"/>
                  <a:pt x="30887" y="-21"/>
                </a:cubicBezTo>
                <a:close/>
                <a:moveTo>
                  <a:pt x="21726" y="23973"/>
                </a:moveTo>
                <a:lnTo>
                  <a:pt x="10510" y="23973"/>
                </a:lnTo>
                <a:cubicBezTo>
                  <a:pt x="11837" y="42103"/>
                  <a:pt x="20163" y="51178"/>
                  <a:pt x="28746" y="55994"/>
                </a:cubicBezTo>
                <a:cubicBezTo>
                  <a:pt x="25664" y="48010"/>
                  <a:pt x="23117" y="37586"/>
                  <a:pt x="21726" y="23973"/>
                </a:cubicBezTo>
                <a:close/>
                <a:moveTo>
                  <a:pt x="81337" y="54967"/>
                </a:moveTo>
                <a:cubicBezTo>
                  <a:pt x="90006" y="49872"/>
                  <a:pt x="97840" y="40818"/>
                  <a:pt x="99167" y="23973"/>
                </a:cubicBezTo>
                <a:lnTo>
                  <a:pt x="87972" y="23973"/>
                </a:lnTo>
                <a:cubicBezTo>
                  <a:pt x="86645" y="37008"/>
                  <a:pt x="84248" y="47133"/>
                  <a:pt x="81337" y="549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2" name="Text 136"/>
          <p:cNvSpPr/>
          <p:nvPr/>
        </p:nvSpPr>
        <p:spPr>
          <a:xfrm>
            <a:off x="8542620" y="3294501"/>
            <a:ext cx="570787" cy="210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9" b="1" dirty="0">
                <a:solidFill>
                  <a:srgbClr val="4A4A4A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预期成果</a:t>
            </a:r>
            <a:endParaRPr lang="en-US" sz="1600" dirty="0"/>
          </a:p>
        </p:txBody>
      </p:sp>
      <p:sp>
        <p:nvSpPr>
          <p:cNvPr id="223" name="Shape 137"/>
          <p:cNvSpPr/>
          <p:nvPr/>
        </p:nvSpPr>
        <p:spPr>
          <a:xfrm>
            <a:off x="8213847" y="3598160"/>
            <a:ext cx="1716926" cy="456629"/>
          </a:xfrm>
          <a:custGeom>
            <a:avLst/>
            <a:gdLst/>
            <a:ahLst/>
            <a:cxnLst/>
            <a:rect l="l" t="t" r="r" b="b"/>
            <a:pathLst>
              <a:path w="1716926" h="456629">
                <a:moveTo>
                  <a:pt x="73061" y="0"/>
                </a:moveTo>
                <a:lnTo>
                  <a:pt x="1643865" y="0"/>
                </a:lnTo>
                <a:cubicBezTo>
                  <a:pt x="1684215" y="0"/>
                  <a:pt x="1716926" y="32710"/>
                  <a:pt x="1716926" y="73061"/>
                </a:cubicBezTo>
                <a:lnTo>
                  <a:pt x="1716926" y="383569"/>
                </a:lnTo>
                <a:cubicBezTo>
                  <a:pt x="1716926" y="423919"/>
                  <a:pt x="1684215" y="456629"/>
                  <a:pt x="1643865" y="456629"/>
                </a:cubicBezTo>
                <a:lnTo>
                  <a:pt x="73061" y="456629"/>
                </a:lnTo>
                <a:cubicBezTo>
                  <a:pt x="32737" y="456629"/>
                  <a:pt x="0" y="423892"/>
                  <a:pt x="0" y="383569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224" name="Shape 138"/>
          <p:cNvSpPr/>
          <p:nvPr/>
        </p:nvSpPr>
        <p:spPr>
          <a:xfrm>
            <a:off x="8307456" y="3684919"/>
            <a:ext cx="95892" cy="109591"/>
          </a:xfrm>
          <a:custGeom>
            <a:avLst/>
            <a:gdLst/>
            <a:ahLst/>
            <a:cxnLst/>
            <a:rect l="l" t="t" r="r" b="b"/>
            <a:pathLst>
              <a:path w="95892" h="109591">
                <a:moveTo>
                  <a:pt x="82193" y="109591"/>
                </a:moveTo>
                <a:lnTo>
                  <a:pt x="20548" y="109591"/>
                </a:lnTo>
                <a:cubicBezTo>
                  <a:pt x="9204" y="109591"/>
                  <a:pt x="0" y="100387"/>
                  <a:pt x="0" y="89043"/>
                </a:cubicBezTo>
                <a:lnTo>
                  <a:pt x="0" y="20548"/>
                </a:lnTo>
                <a:cubicBezTo>
                  <a:pt x="0" y="9204"/>
                  <a:pt x="9204" y="0"/>
                  <a:pt x="20548" y="0"/>
                </a:cubicBezTo>
                <a:lnTo>
                  <a:pt x="85618" y="0"/>
                </a:lnTo>
                <a:cubicBezTo>
                  <a:pt x="91290" y="0"/>
                  <a:pt x="95892" y="4602"/>
                  <a:pt x="95892" y="10274"/>
                </a:cubicBezTo>
                <a:lnTo>
                  <a:pt x="95892" y="71919"/>
                </a:lnTo>
                <a:cubicBezTo>
                  <a:pt x="95892" y="76393"/>
                  <a:pt x="93024" y="80203"/>
                  <a:pt x="89043" y="81615"/>
                </a:cubicBezTo>
                <a:lnTo>
                  <a:pt x="89043" y="95892"/>
                </a:lnTo>
                <a:cubicBezTo>
                  <a:pt x="92831" y="95892"/>
                  <a:pt x="95892" y="98953"/>
                  <a:pt x="95892" y="102742"/>
                </a:cubicBezTo>
                <a:cubicBezTo>
                  <a:pt x="95892" y="106530"/>
                  <a:pt x="92831" y="109591"/>
                  <a:pt x="89043" y="109591"/>
                </a:cubicBezTo>
                <a:lnTo>
                  <a:pt x="82193" y="109591"/>
                </a:lnTo>
                <a:close/>
                <a:moveTo>
                  <a:pt x="20548" y="82193"/>
                </a:moveTo>
                <a:cubicBezTo>
                  <a:pt x="16760" y="82193"/>
                  <a:pt x="13699" y="85254"/>
                  <a:pt x="13699" y="89043"/>
                </a:cubicBezTo>
                <a:cubicBezTo>
                  <a:pt x="13699" y="92831"/>
                  <a:pt x="16760" y="95892"/>
                  <a:pt x="20548" y="95892"/>
                </a:cubicBezTo>
                <a:lnTo>
                  <a:pt x="75344" y="95892"/>
                </a:lnTo>
                <a:lnTo>
                  <a:pt x="75344" y="82193"/>
                </a:lnTo>
                <a:lnTo>
                  <a:pt x="20548" y="82193"/>
                </a:lnTo>
                <a:close/>
                <a:moveTo>
                  <a:pt x="27398" y="32535"/>
                </a:moveTo>
                <a:cubicBezTo>
                  <a:pt x="27398" y="35382"/>
                  <a:pt x="29688" y="37672"/>
                  <a:pt x="32535" y="37672"/>
                </a:cubicBezTo>
                <a:lnTo>
                  <a:pt x="70207" y="37672"/>
                </a:lnTo>
                <a:cubicBezTo>
                  <a:pt x="73054" y="37672"/>
                  <a:pt x="75344" y="35382"/>
                  <a:pt x="75344" y="32535"/>
                </a:cubicBezTo>
                <a:cubicBezTo>
                  <a:pt x="75344" y="29688"/>
                  <a:pt x="73054" y="27398"/>
                  <a:pt x="70207" y="27398"/>
                </a:cubicBezTo>
                <a:lnTo>
                  <a:pt x="32535" y="27398"/>
                </a:lnTo>
                <a:cubicBezTo>
                  <a:pt x="29688" y="27398"/>
                  <a:pt x="27398" y="29688"/>
                  <a:pt x="27398" y="32535"/>
                </a:cubicBezTo>
                <a:close/>
                <a:moveTo>
                  <a:pt x="32535" y="47946"/>
                </a:moveTo>
                <a:cubicBezTo>
                  <a:pt x="29688" y="47946"/>
                  <a:pt x="27398" y="50236"/>
                  <a:pt x="27398" y="53083"/>
                </a:cubicBezTo>
                <a:cubicBezTo>
                  <a:pt x="27398" y="55930"/>
                  <a:pt x="29688" y="58220"/>
                  <a:pt x="32535" y="58220"/>
                </a:cubicBezTo>
                <a:lnTo>
                  <a:pt x="70207" y="58220"/>
                </a:lnTo>
                <a:cubicBezTo>
                  <a:pt x="73054" y="58220"/>
                  <a:pt x="75344" y="55930"/>
                  <a:pt x="75344" y="53083"/>
                </a:cubicBezTo>
                <a:cubicBezTo>
                  <a:pt x="75344" y="50236"/>
                  <a:pt x="73054" y="47946"/>
                  <a:pt x="70207" y="47946"/>
                </a:cubicBezTo>
                <a:lnTo>
                  <a:pt x="32535" y="47946"/>
                </a:lnTo>
                <a:close/>
              </a:path>
            </a:pathLst>
          </a:custGeom>
          <a:solidFill>
            <a:srgbClr val="FFD15C"/>
          </a:solidFill>
          <a:ln/>
        </p:spPr>
      </p:sp>
      <p:sp>
        <p:nvSpPr>
          <p:cNvPr id="225" name="Text 139"/>
          <p:cNvSpPr/>
          <p:nvPr/>
        </p:nvSpPr>
        <p:spPr>
          <a:xfrm>
            <a:off x="8478691" y="3671220"/>
            <a:ext cx="41096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制度成果</a:t>
            </a:r>
            <a:endParaRPr lang="en-US" sz="1600" dirty="0"/>
          </a:p>
        </p:txBody>
      </p:sp>
      <p:sp>
        <p:nvSpPr>
          <p:cNvPr id="226" name="Text 140"/>
          <p:cNvSpPr/>
          <p:nvPr/>
        </p:nvSpPr>
        <p:spPr>
          <a:xfrm>
            <a:off x="8286907" y="3844739"/>
            <a:ext cx="1611901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647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1+2自工序完结管理规范、操作手册</a:t>
            </a:r>
            <a:endParaRPr lang="en-US" sz="1600" dirty="0"/>
          </a:p>
        </p:txBody>
      </p:sp>
      <p:sp>
        <p:nvSpPr>
          <p:cNvPr id="227" name="Shape 141"/>
          <p:cNvSpPr/>
          <p:nvPr/>
        </p:nvSpPr>
        <p:spPr>
          <a:xfrm>
            <a:off x="10002463" y="3598160"/>
            <a:ext cx="1716926" cy="456629"/>
          </a:xfrm>
          <a:custGeom>
            <a:avLst/>
            <a:gdLst/>
            <a:ahLst/>
            <a:cxnLst/>
            <a:rect l="l" t="t" r="r" b="b"/>
            <a:pathLst>
              <a:path w="1716926" h="456629">
                <a:moveTo>
                  <a:pt x="73061" y="0"/>
                </a:moveTo>
                <a:lnTo>
                  <a:pt x="1643865" y="0"/>
                </a:lnTo>
                <a:cubicBezTo>
                  <a:pt x="1684215" y="0"/>
                  <a:pt x="1716926" y="32710"/>
                  <a:pt x="1716926" y="73061"/>
                </a:cubicBezTo>
                <a:lnTo>
                  <a:pt x="1716926" y="383569"/>
                </a:lnTo>
                <a:cubicBezTo>
                  <a:pt x="1716926" y="423919"/>
                  <a:pt x="1684215" y="456629"/>
                  <a:pt x="1643865" y="456629"/>
                </a:cubicBezTo>
                <a:lnTo>
                  <a:pt x="73061" y="456629"/>
                </a:lnTo>
                <a:cubicBezTo>
                  <a:pt x="32737" y="456629"/>
                  <a:pt x="0" y="423892"/>
                  <a:pt x="0" y="383569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228" name="Shape 142"/>
          <p:cNvSpPr/>
          <p:nvPr/>
        </p:nvSpPr>
        <p:spPr>
          <a:xfrm>
            <a:off x="10082373" y="3684919"/>
            <a:ext cx="123290" cy="109591"/>
          </a:xfrm>
          <a:custGeom>
            <a:avLst/>
            <a:gdLst/>
            <a:ahLst/>
            <a:cxnLst/>
            <a:rect l="l" t="t" r="r" b="b"/>
            <a:pathLst>
              <a:path w="123290" h="109591">
                <a:moveTo>
                  <a:pt x="109034" y="21105"/>
                </a:moveTo>
                <a:cubicBezTo>
                  <a:pt x="110661" y="19478"/>
                  <a:pt x="113380" y="19885"/>
                  <a:pt x="114193" y="22025"/>
                </a:cubicBezTo>
                <a:cubicBezTo>
                  <a:pt x="115648" y="25814"/>
                  <a:pt x="116440" y="29945"/>
                  <a:pt x="116440" y="34247"/>
                </a:cubicBezTo>
                <a:cubicBezTo>
                  <a:pt x="116440" y="53169"/>
                  <a:pt x="101115" y="68494"/>
                  <a:pt x="82193" y="68494"/>
                </a:cubicBezTo>
                <a:cubicBezTo>
                  <a:pt x="78447" y="68494"/>
                  <a:pt x="74830" y="67895"/>
                  <a:pt x="71448" y="66782"/>
                </a:cubicBezTo>
                <a:lnTo>
                  <a:pt x="31443" y="106787"/>
                </a:lnTo>
                <a:cubicBezTo>
                  <a:pt x="25429" y="112802"/>
                  <a:pt x="15668" y="112802"/>
                  <a:pt x="9653" y="106787"/>
                </a:cubicBezTo>
                <a:cubicBezTo>
                  <a:pt x="3639" y="100772"/>
                  <a:pt x="3639" y="91012"/>
                  <a:pt x="9653" y="84997"/>
                </a:cubicBezTo>
                <a:lnTo>
                  <a:pt x="49658" y="44992"/>
                </a:lnTo>
                <a:cubicBezTo>
                  <a:pt x="48545" y="41610"/>
                  <a:pt x="47946" y="38014"/>
                  <a:pt x="47946" y="34247"/>
                </a:cubicBezTo>
                <a:cubicBezTo>
                  <a:pt x="47946" y="15326"/>
                  <a:pt x="63272" y="0"/>
                  <a:pt x="82193" y="0"/>
                </a:cubicBezTo>
                <a:cubicBezTo>
                  <a:pt x="86496" y="0"/>
                  <a:pt x="90627" y="792"/>
                  <a:pt x="94415" y="2247"/>
                </a:cubicBezTo>
                <a:cubicBezTo>
                  <a:pt x="96556" y="3061"/>
                  <a:pt x="96941" y="5779"/>
                  <a:pt x="95336" y="7406"/>
                </a:cubicBezTo>
                <a:lnTo>
                  <a:pt x="76350" y="26392"/>
                </a:lnTo>
                <a:cubicBezTo>
                  <a:pt x="75708" y="27034"/>
                  <a:pt x="75344" y="27911"/>
                  <a:pt x="75344" y="28810"/>
                </a:cubicBezTo>
                <a:lnTo>
                  <a:pt x="75344" y="37672"/>
                </a:lnTo>
                <a:cubicBezTo>
                  <a:pt x="75344" y="39556"/>
                  <a:pt x="76885" y="41097"/>
                  <a:pt x="78769" y="41097"/>
                </a:cubicBezTo>
                <a:lnTo>
                  <a:pt x="87630" y="41097"/>
                </a:lnTo>
                <a:cubicBezTo>
                  <a:pt x="88529" y="41097"/>
                  <a:pt x="89407" y="40733"/>
                  <a:pt x="90049" y="40091"/>
                </a:cubicBezTo>
                <a:lnTo>
                  <a:pt x="109034" y="21105"/>
                </a:lnTo>
                <a:close/>
              </a:path>
            </a:pathLst>
          </a:custGeom>
          <a:solidFill>
            <a:srgbClr val="FF8C69"/>
          </a:solidFill>
          <a:ln/>
        </p:spPr>
      </p:sp>
      <p:sp>
        <p:nvSpPr>
          <p:cNvPr id="229" name="Text 143"/>
          <p:cNvSpPr/>
          <p:nvPr/>
        </p:nvSpPr>
        <p:spPr>
          <a:xfrm>
            <a:off x="10267308" y="3671220"/>
            <a:ext cx="41096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工具成果</a:t>
            </a:r>
            <a:endParaRPr lang="en-US" sz="1600" dirty="0"/>
          </a:p>
        </p:txBody>
      </p:sp>
      <p:sp>
        <p:nvSpPr>
          <p:cNvPr id="230" name="Text 144"/>
          <p:cNvSpPr/>
          <p:nvPr/>
        </p:nvSpPr>
        <p:spPr>
          <a:xfrm>
            <a:off x="10075524" y="3844739"/>
            <a:ext cx="1611901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647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全套标准模板、Checklist、流程图、看板</a:t>
            </a:r>
            <a:endParaRPr lang="en-US" sz="1600" dirty="0"/>
          </a:p>
        </p:txBody>
      </p:sp>
      <p:sp>
        <p:nvSpPr>
          <p:cNvPr id="231" name="Shape 145"/>
          <p:cNvSpPr/>
          <p:nvPr/>
        </p:nvSpPr>
        <p:spPr>
          <a:xfrm>
            <a:off x="8213847" y="4124425"/>
            <a:ext cx="1716926" cy="584485"/>
          </a:xfrm>
          <a:custGeom>
            <a:avLst/>
            <a:gdLst/>
            <a:ahLst/>
            <a:cxnLst/>
            <a:rect l="l" t="t" r="r" b="b"/>
            <a:pathLst>
              <a:path w="1716926" h="584485">
                <a:moveTo>
                  <a:pt x="73061" y="0"/>
                </a:moveTo>
                <a:lnTo>
                  <a:pt x="1643865" y="0"/>
                </a:lnTo>
                <a:cubicBezTo>
                  <a:pt x="1684215" y="0"/>
                  <a:pt x="1716926" y="32710"/>
                  <a:pt x="1716926" y="73061"/>
                </a:cubicBezTo>
                <a:lnTo>
                  <a:pt x="1716926" y="511425"/>
                </a:lnTo>
                <a:cubicBezTo>
                  <a:pt x="1716926" y="551775"/>
                  <a:pt x="1684215" y="584485"/>
                  <a:pt x="1643865" y="584485"/>
                </a:cubicBezTo>
                <a:lnTo>
                  <a:pt x="73061" y="584485"/>
                </a:lnTo>
                <a:cubicBezTo>
                  <a:pt x="32737" y="584485"/>
                  <a:pt x="0" y="551748"/>
                  <a:pt x="0" y="511425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232" name="Shape 146"/>
          <p:cNvSpPr/>
          <p:nvPr/>
        </p:nvSpPr>
        <p:spPr>
          <a:xfrm>
            <a:off x="8300606" y="4211184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13699" y="13699"/>
                </a:moveTo>
                <a:cubicBezTo>
                  <a:pt x="13699" y="9910"/>
                  <a:pt x="10638" y="6849"/>
                  <a:pt x="6849" y="6849"/>
                </a:cubicBezTo>
                <a:cubicBezTo>
                  <a:pt x="3061" y="6849"/>
                  <a:pt x="0" y="9910"/>
                  <a:pt x="0" y="13699"/>
                </a:cubicBezTo>
                <a:lnTo>
                  <a:pt x="0" y="85618"/>
                </a:lnTo>
                <a:cubicBezTo>
                  <a:pt x="0" y="95079"/>
                  <a:pt x="7663" y="102742"/>
                  <a:pt x="17124" y="102742"/>
                </a:cubicBezTo>
                <a:lnTo>
                  <a:pt x="102742" y="102742"/>
                </a:lnTo>
                <a:cubicBezTo>
                  <a:pt x="106530" y="102742"/>
                  <a:pt x="109591" y="99681"/>
                  <a:pt x="109591" y="95892"/>
                </a:cubicBezTo>
                <a:cubicBezTo>
                  <a:pt x="109591" y="92104"/>
                  <a:pt x="106530" y="89043"/>
                  <a:pt x="102742" y="89043"/>
                </a:cubicBezTo>
                <a:lnTo>
                  <a:pt x="17124" y="89043"/>
                </a:lnTo>
                <a:cubicBezTo>
                  <a:pt x="15240" y="89043"/>
                  <a:pt x="13699" y="87502"/>
                  <a:pt x="13699" y="85618"/>
                </a:cubicBezTo>
                <a:lnTo>
                  <a:pt x="13699" y="13699"/>
                </a:lnTo>
                <a:close/>
                <a:moveTo>
                  <a:pt x="100730" y="32235"/>
                </a:moveTo>
                <a:cubicBezTo>
                  <a:pt x="103405" y="29560"/>
                  <a:pt x="103405" y="25214"/>
                  <a:pt x="100730" y="22539"/>
                </a:cubicBezTo>
                <a:cubicBezTo>
                  <a:pt x="98054" y="19863"/>
                  <a:pt x="93709" y="19863"/>
                  <a:pt x="91033" y="22539"/>
                </a:cubicBezTo>
                <a:lnTo>
                  <a:pt x="68494" y="45099"/>
                </a:lnTo>
                <a:lnTo>
                  <a:pt x="56208" y="32834"/>
                </a:lnTo>
                <a:cubicBezTo>
                  <a:pt x="53533" y="30159"/>
                  <a:pt x="49188" y="30159"/>
                  <a:pt x="46512" y="32834"/>
                </a:cubicBezTo>
                <a:lnTo>
                  <a:pt x="25964" y="53383"/>
                </a:lnTo>
                <a:cubicBezTo>
                  <a:pt x="23288" y="56058"/>
                  <a:pt x="23288" y="60403"/>
                  <a:pt x="25964" y="63079"/>
                </a:cubicBezTo>
                <a:cubicBezTo>
                  <a:pt x="28639" y="65755"/>
                  <a:pt x="32984" y="65755"/>
                  <a:pt x="35660" y="63079"/>
                </a:cubicBezTo>
                <a:lnTo>
                  <a:pt x="51371" y="47368"/>
                </a:lnTo>
                <a:lnTo>
                  <a:pt x="63657" y="59654"/>
                </a:lnTo>
                <a:cubicBezTo>
                  <a:pt x="66333" y="62330"/>
                  <a:pt x="70678" y="62330"/>
                  <a:pt x="73353" y="59654"/>
                </a:cubicBezTo>
                <a:lnTo>
                  <a:pt x="100751" y="32257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233" name="Text 147"/>
          <p:cNvSpPr/>
          <p:nvPr/>
        </p:nvSpPr>
        <p:spPr>
          <a:xfrm>
            <a:off x="8478691" y="4197485"/>
            <a:ext cx="41096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业务成果</a:t>
            </a:r>
            <a:endParaRPr lang="en-US" sz="1600" dirty="0"/>
          </a:p>
        </p:txBody>
      </p:sp>
      <p:sp>
        <p:nvSpPr>
          <p:cNvPr id="234" name="Text 148"/>
          <p:cNvSpPr/>
          <p:nvPr/>
        </p:nvSpPr>
        <p:spPr>
          <a:xfrm>
            <a:off x="8286907" y="4371004"/>
            <a:ext cx="1611901" cy="264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647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1+2指标更稳、MO执行率更高、项目质量更好</a:t>
            </a:r>
            <a:endParaRPr lang="en-US" sz="1600" dirty="0"/>
          </a:p>
        </p:txBody>
      </p:sp>
      <p:sp>
        <p:nvSpPr>
          <p:cNvPr id="235" name="Shape 149"/>
          <p:cNvSpPr/>
          <p:nvPr/>
        </p:nvSpPr>
        <p:spPr>
          <a:xfrm>
            <a:off x="10002463" y="4124425"/>
            <a:ext cx="1716926" cy="584485"/>
          </a:xfrm>
          <a:custGeom>
            <a:avLst/>
            <a:gdLst/>
            <a:ahLst/>
            <a:cxnLst/>
            <a:rect l="l" t="t" r="r" b="b"/>
            <a:pathLst>
              <a:path w="1716926" h="584485">
                <a:moveTo>
                  <a:pt x="73061" y="0"/>
                </a:moveTo>
                <a:lnTo>
                  <a:pt x="1643865" y="0"/>
                </a:lnTo>
                <a:cubicBezTo>
                  <a:pt x="1684215" y="0"/>
                  <a:pt x="1716926" y="32710"/>
                  <a:pt x="1716926" y="73061"/>
                </a:cubicBezTo>
                <a:lnTo>
                  <a:pt x="1716926" y="511425"/>
                </a:lnTo>
                <a:cubicBezTo>
                  <a:pt x="1716926" y="551775"/>
                  <a:pt x="1684215" y="584485"/>
                  <a:pt x="1643865" y="584485"/>
                </a:cubicBezTo>
                <a:lnTo>
                  <a:pt x="73061" y="584485"/>
                </a:lnTo>
                <a:cubicBezTo>
                  <a:pt x="32737" y="584485"/>
                  <a:pt x="0" y="551748"/>
                  <a:pt x="0" y="511425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FFFFF">
              <a:alpha val="70196"/>
            </a:srgbClr>
          </a:solidFill>
          <a:ln/>
        </p:spPr>
      </p:sp>
      <p:sp>
        <p:nvSpPr>
          <p:cNvPr id="236" name="Shape 150"/>
          <p:cNvSpPr/>
          <p:nvPr/>
        </p:nvSpPr>
        <p:spPr>
          <a:xfrm>
            <a:off x="10082373" y="4211184"/>
            <a:ext cx="123290" cy="109591"/>
          </a:xfrm>
          <a:custGeom>
            <a:avLst/>
            <a:gdLst/>
            <a:ahLst/>
            <a:cxnLst/>
            <a:rect l="l" t="t" r="r" b="b"/>
            <a:pathLst>
              <a:path w="123290" h="109591">
                <a:moveTo>
                  <a:pt x="10274" y="41910"/>
                </a:moveTo>
                <a:lnTo>
                  <a:pt x="55052" y="60339"/>
                </a:lnTo>
                <a:cubicBezTo>
                  <a:pt x="57150" y="61195"/>
                  <a:pt x="59376" y="61645"/>
                  <a:pt x="61645" y="61645"/>
                </a:cubicBezTo>
                <a:cubicBezTo>
                  <a:pt x="63914" y="61645"/>
                  <a:pt x="66140" y="61195"/>
                  <a:pt x="68238" y="60339"/>
                </a:cubicBezTo>
                <a:lnTo>
                  <a:pt x="120122" y="38978"/>
                </a:lnTo>
                <a:cubicBezTo>
                  <a:pt x="122048" y="38186"/>
                  <a:pt x="123290" y="36323"/>
                  <a:pt x="123290" y="34247"/>
                </a:cubicBezTo>
                <a:cubicBezTo>
                  <a:pt x="123290" y="32171"/>
                  <a:pt x="122048" y="30309"/>
                  <a:pt x="120122" y="29517"/>
                </a:cubicBezTo>
                <a:lnTo>
                  <a:pt x="68238" y="8155"/>
                </a:lnTo>
                <a:cubicBezTo>
                  <a:pt x="66140" y="7299"/>
                  <a:pt x="63914" y="6849"/>
                  <a:pt x="61645" y="6849"/>
                </a:cubicBezTo>
                <a:cubicBezTo>
                  <a:pt x="59376" y="6849"/>
                  <a:pt x="57150" y="7299"/>
                  <a:pt x="55052" y="8155"/>
                </a:cubicBezTo>
                <a:lnTo>
                  <a:pt x="3168" y="29517"/>
                </a:lnTo>
                <a:cubicBezTo>
                  <a:pt x="1241" y="30309"/>
                  <a:pt x="0" y="32171"/>
                  <a:pt x="0" y="34247"/>
                </a:cubicBezTo>
                <a:lnTo>
                  <a:pt x="0" y="97604"/>
                </a:lnTo>
                <a:cubicBezTo>
                  <a:pt x="0" y="100451"/>
                  <a:pt x="2290" y="102742"/>
                  <a:pt x="5137" y="102742"/>
                </a:cubicBezTo>
                <a:cubicBezTo>
                  <a:pt x="7984" y="102742"/>
                  <a:pt x="10274" y="100451"/>
                  <a:pt x="10274" y="97604"/>
                </a:cubicBezTo>
                <a:lnTo>
                  <a:pt x="10274" y="41910"/>
                </a:lnTo>
                <a:close/>
                <a:moveTo>
                  <a:pt x="20548" y="57257"/>
                </a:moveTo>
                <a:lnTo>
                  <a:pt x="20548" y="82193"/>
                </a:lnTo>
                <a:cubicBezTo>
                  <a:pt x="20548" y="93538"/>
                  <a:pt x="38956" y="102742"/>
                  <a:pt x="61645" y="102742"/>
                </a:cubicBezTo>
                <a:cubicBezTo>
                  <a:pt x="84334" y="102742"/>
                  <a:pt x="102742" y="93538"/>
                  <a:pt x="102742" y="82193"/>
                </a:cubicBezTo>
                <a:lnTo>
                  <a:pt x="102742" y="57236"/>
                </a:lnTo>
                <a:lnTo>
                  <a:pt x="72155" y="69843"/>
                </a:lnTo>
                <a:cubicBezTo>
                  <a:pt x="68815" y="71213"/>
                  <a:pt x="65262" y="71919"/>
                  <a:pt x="61645" y="71919"/>
                </a:cubicBezTo>
                <a:cubicBezTo>
                  <a:pt x="58028" y="71919"/>
                  <a:pt x="54474" y="71213"/>
                  <a:pt x="51135" y="69843"/>
                </a:cubicBezTo>
                <a:lnTo>
                  <a:pt x="20548" y="57236"/>
                </a:lnTo>
                <a:close/>
              </a:path>
            </a:pathLst>
          </a:custGeom>
          <a:solidFill>
            <a:srgbClr val="81D4FA"/>
          </a:solidFill>
          <a:ln/>
        </p:spPr>
      </p:sp>
      <p:sp>
        <p:nvSpPr>
          <p:cNvPr id="237" name="Text 151"/>
          <p:cNvSpPr/>
          <p:nvPr/>
        </p:nvSpPr>
        <p:spPr>
          <a:xfrm>
            <a:off x="10267308" y="4197485"/>
            <a:ext cx="41096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能力成果</a:t>
            </a:r>
            <a:endParaRPr lang="en-US" sz="1600" dirty="0"/>
          </a:p>
        </p:txBody>
      </p:sp>
      <p:sp>
        <p:nvSpPr>
          <p:cNvPr id="238" name="Text 152"/>
          <p:cNvSpPr/>
          <p:nvPr/>
        </p:nvSpPr>
        <p:spPr>
          <a:xfrm>
            <a:off x="10075524" y="4371004"/>
            <a:ext cx="1611901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647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销售自主管理、自我完结能力显著提升</a:t>
            </a:r>
            <a:endParaRPr lang="en-US" sz="1600" dirty="0"/>
          </a:p>
        </p:txBody>
      </p:sp>
      <p:sp>
        <p:nvSpPr>
          <p:cNvPr id="239" name="Shape 153"/>
          <p:cNvSpPr/>
          <p:nvPr/>
        </p:nvSpPr>
        <p:spPr>
          <a:xfrm>
            <a:off x="8195581" y="4749620"/>
            <a:ext cx="3506912" cy="351323"/>
          </a:xfrm>
          <a:custGeom>
            <a:avLst/>
            <a:gdLst/>
            <a:ahLst/>
            <a:cxnLst/>
            <a:rect l="l" t="t" r="r" b="b"/>
            <a:pathLst>
              <a:path w="3506912" h="456629">
                <a:moveTo>
                  <a:pt x="73061" y="0"/>
                </a:moveTo>
                <a:lnTo>
                  <a:pt x="3433852" y="0"/>
                </a:lnTo>
                <a:cubicBezTo>
                  <a:pt x="3474202" y="0"/>
                  <a:pt x="3506912" y="32710"/>
                  <a:pt x="3506912" y="73061"/>
                </a:cubicBezTo>
                <a:lnTo>
                  <a:pt x="3506912" y="383569"/>
                </a:lnTo>
                <a:cubicBezTo>
                  <a:pt x="3506912" y="423919"/>
                  <a:pt x="3474202" y="456629"/>
                  <a:pt x="3433852" y="456629"/>
                </a:cubicBezTo>
                <a:lnTo>
                  <a:pt x="73061" y="456629"/>
                </a:lnTo>
                <a:cubicBezTo>
                  <a:pt x="32737" y="456629"/>
                  <a:pt x="0" y="423892"/>
                  <a:pt x="0" y="383569"/>
                </a:cubicBezTo>
                <a:lnTo>
                  <a:pt x="0" y="73061"/>
                </a:lnTo>
                <a:cubicBezTo>
                  <a:pt x="0" y="32737"/>
                  <a:pt x="32737" y="0"/>
                  <a:pt x="73061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240" name="Shape 154"/>
          <p:cNvSpPr/>
          <p:nvPr/>
        </p:nvSpPr>
        <p:spPr>
          <a:xfrm>
            <a:off x="8300606" y="4780958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82193" y="41097"/>
                </a:moveTo>
                <a:cubicBezTo>
                  <a:pt x="93538" y="41097"/>
                  <a:pt x="102742" y="31893"/>
                  <a:pt x="102742" y="20548"/>
                </a:cubicBezTo>
                <a:cubicBezTo>
                  <a:pt x="102742" y="9204"/>
                  <a:pt x="93538" y="0"/>
                  <a:pt x="82193" y="0"/>
                </a:cubicBezTo>
                <a:cubicBezTo>
                  <a:pt x="70849" y="0"/>
                  <a:pt x="61645" y="9204"/>
                  <a:pt x="61645" y="20548"/>
                </a:cubicBezTo>
                <a:cubicBezTo>
                  <a:pt x="61645" y="21704"/>
                  <a:pt x="61752" y="22860"/>
                  <a:pt x="61923" y="23973"/>
                </a:cubicBezTo>
                <a:lnTo>
                  <a:pt x="34162" y="39406"/>
                </a:lnTo>
                <a:cubicBezTo>
                  <a:pt x="30544" y="36195"/>
                  <a:pt x="25771" y="34247"/>
                  <a:pt x="20548" y="34247"/>
                </a:cubicBezTo>
                <a:cubicBezTo>
                  <a:pt x="9204" y="34247"/>
                  <a:pt x="0" y="43451"/>
                  <a:pt x="0" y="54796"/>
                </a:cubicBezTo>
                <a:cubicBezTo>
                  <a:pt x="0" y="66140"/>
                  <a:pt x="9204" y="75344"/>
                  <a:pt x="20548" y="75344"/>
                </a:cubicBezTo>
                <a:cubicBezTo>
                  <a:pt x="25771" y="75344"/>
                  <a:pt x="30523" y="73396"/>
                  <a:pt x="34162" y="70185"/>
                </a:cubicBezTo>
                <a:lnTo>
                  <a:pt x="61923" y="85618"/>
                </a:lnTo>
                <a:cubicBezTo>
                  <a:pt x="61731" y="86731"/>
                  <a:pt x="61645" y="87865"/>
                  <a:pt x="61645" y="89043"/>
                </a:cubicBezTo>
                <a:cubicBezTo>
                  <a:pt x="61645" y="100387"/>
                  <a:pt x="70849" y="109591"/>
                  <a:pt x="82193" y="109591"/>
                </a:cubicBezTo>
                <a:cubicBezTo>
                  <a:pt x="93538" y="109591"/>
                  <a:pt x="102742" y="100387"/>
                  <a:pt x="102742" y="89043"/>
                </a:cubicBezTo>
                <a:cubicBezTo>
                  <a:pt x="102742" y="77698"/>
                  <a:pt x="93538" y="68494"/>
                  <a:pt x="82193" y="68494"/>
                </a:cubicBezTo>
                <a:cubicBezTo>
                  <a:pt x="76971" y="68494"/>
                  <a:pt x="72219" y="70442"/>
                  <a:pt x="68580" y="73653"/>
                </a:cubicBezTo>
                <a:lnTo>
                  <a:pt x="40818" y="58220"/>
                </a:lnTo>
                <a:cubicBezTo>
                  <a:pt x="41011" y="57107"/>
                  <a:pt x="41097" y="55973"/>
                  <a:pt x="41097" y="54796"/>
                </a:cubicBezTo>
                <a:cubicBezTo>
                  <a:pt x="41097" y="53618"/>
                  <a:pt x="40990" y="52484"/>
                  <a:pt x="40818" y="51371"/>
                </a:cubicBezTo>
                <a:lnTo>
                  <a:pt x="68580" y="35938"/>
                </a:lnTo>
                <a:cubicBezTo>
                  <a:pt x="72197" y="39149"/>
                  <a:pt x="76971" y="41097"/>
                  <a:pt x="82193" y="41097"/>
                </a:cubicBezTo>
                <a:close/>
              </a:path>
            </a:pathLst>
          </a:custGeom>
          <a:solidFill>
            <a:srgbClr val="FFD15C"/>
          </a:solidFill>
          <a:ln/>
        </p:spPr>
      </p:sp>
      <p:sp>
        <p:nvSpPr>
          <p:cNvPr id="241" name="Text 155"/>
          <p:cNvSpPr/>
          <p:nvPr/>
        </p:nvSpPr>
        <p:spPr>
          <a:xfrm>
            <a:off x="8478691" y="4788041"/>
            <a:ext cx="410966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复制成果</a:t>
            </a:r>
            <a:endParaRPr lang="en-US" sz="1600" dirty="0"/>
          </a:p>
        </p:txBody>
      </p:sp>
      <p:sp>
        <p:nvSpPr>
          <p:cNvPr id="242" name="Text 156"/>
          <p:cNvSpPr/>
          <p:nvPr/>
        </p:nvSpPr>
        <p:spPr>
          <a:xfrm>
            <a:off x="8286907" y="4926926"/>
            <a:ext cx="3401888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647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可向全区域/全公司推广的标准化方法论</a:t>
            </a:r>
            <a:endParaRPr lang="en-US" sz="1600" dirty="0"/>
          </a:p>
        </p:txBody>
      </p:sp>
      <p:sp>
        <p:nvSpPr>
          <p:cNvPr id="243" name="Shape 157"/>
          <p:cNvSpPr/>
          <p:nvPr/>
        </p:nvSpPr>
        <p:spPr>
          <a:xfrm>
            <a:off x="8104256" y="5139767"/>
            <a:ext cx="3726094" cy="1497732"/>
          </a:xfrm>
          <a:custGeom>
            <a:avLst/>
            <a:gdLst/>
            <a:ahLst/>
            <a:cxnLst/>
            <a:rect l="l" t="t" r="r" b="b"/>
            <a:pathLst>
              <a:path w="3726094" h="1196369">
                <a:moveTo>
                  <a:pt x="109587" y="0"/>
                </a:moveTo>
                <a:lnTo>
                  <a:pt x="3616507" y="0"/>
                </a:lnTo>
                <a:cubicBezTo>
                  <a:pt x="3677030" y="0"/>
                  <a:pt x="3726094" y="49064"/>
                  <a:pt x="3726094" y="109587"/>
                </a:cubicBezTo>
                <a:lnTo>
                  <a:pt x="3726094" y="1086781"/>
                </a:lnTo>
                <a:cubicBezTo>
                  <a:pt x="3726094" y="1147305"/>
                  <a:pt x="3677030" y="1196369"/>
                  <a:pt x="3616507" y="1196369"/>
                </a:cubicBezTo>
                <a:lnTo>
                  <a:pt x="109587" y="1196369"/>
                </a:lnTo>
                <a:cubicBezTo>
                  <a:pt x="49064" y="1196369"/>
                  <a:pt x="0" y="1147305"/>
                  <a:pt x="0" y="1086781"/>
                </a:cubicBezTo>
                <a:lnTo>
                  <a:pt x="0" y="109587"/>
                </a:lnTo>
                <a:cubicBezTo>
                  <a:pt x="0" y="49104"/>
                  <a:pt x="49104" y="0"/>
                  <a:pt x="10958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398" dist="913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4" name="Shape 158"/>
          <p:cNvSpPr/>
          <p:nvPr/>
        </p:nvSpPr>
        <p:spPr>
          <a:xfrm>
            <a:off x="8195581" y="5303517"/>
            <a:ext cx="219182" cy="219182"/>
          </a:xfrm>
          <a:custGeom>
            <a:avLst/>
            <a:gdLst/>
            <a:ahLst/>
            <a:cxnLst/>
            <a:rect l="l" t="t" r="r" b="b"/>
            <a:pathLst>
              <a:path w="219182" h="219182">
                <a:moveTo>
                  <a:pt x="73060" y="0"/>
                </a:moveTo>
                <a:lnTo>
                  <a:pt x="146122" y="0"/>
                </a:lnTo>
                <a:cubicBezTo>
                  <a:pt x="186445" y="0"/>
                  <a:pt x="219182" y="32737"/>
                  <a:pt x="219182" y="73060"/>
                </a:cubicBezTo>
                <a:lnTo>
                  <a:pt x="219182" y="146122"/>
                </a:lnTo>
                <a:cubicBezTo>
                  <a:pt x="219182" y="186472"/>
                  <a:pt x="186472" y="219182"/>
                  <a:pt x="146122" y="219182"/>
                </a:cubicBezTo>
                <a:lnTo>
                  <a:pt x="73060" y="219182"/>
                </a:lnTo>
                <a:cubicBezTo>
                  <a:pt x="32710" y="219182"/>
                  <a:pt x="0" y="186472"/>
                  <a:pt x="0" y="146122"/>
                </a:cubicBezTo>
                <a:lnTo>
                  <a:pt x="0" y="73060"/>
                </a:lnTo>
                <a:cubicBezTo>
                  <a:pt x="0" y="32737"/>
                  <a:pt x="32737" y="0"/>
                  <a:pt x="73060" y="0"/>
                </a:cubicBezTo>
                <a:close/>
              </a:path>
            </a:pathLst>
          </a:custGeom>
          <a:solidFill>
            <a:srgbClr val="FF8C69">
              <a:alpha val="20000"/>
            </a:srgbClr>
          </a:solidFill>
          <a:ln/>
        </p:spPr>
      </p:sp>
      <p:sp>
        <p:nvSpPr>
          <p:cNvPr id="245" name="Shape 159"/>
          <p:cNvSpPr/>
          <p:nvPr/>
        </p:nvSpPr>
        <p:spPr>
          <a:xfrm>
            <a:off x="8250377" y="5358313"/>
            <a:ext cx="109591" cy="109591"/>
          </a:xfrm>
          <a:custGeom>
            <a:avLst/>
            <a:gdLst/>
            <a:ahLst/>
            <a:cxnLst/>
            <a:rect l="l" t="t" r="r" b="b"/>
            <a:pathLst>
              <a:path w="109591" h="109591">
                <a:moveTo>
                  <a:pt x="54796" y="0"/>
                </a:moveTo>
                <a:cubicBezTo>
                  <a:pt x="55780" y="0"/>
                  <a:pt x="56765" y="214"/>
                  <a:pt x="57664" y="621"/>
                </a:cubicBezTo>
                <a:lnTo>
                  <a:pt x="97990" y="17723"/>
                </a:lnTo>
                <a:cubicBezTo>
                  <a:pt x="102699" y="19714"/>
                  <a:pt x="106209" y="24358"/>
                  <a:pt x="106188" y="29966"/>
                </a:cubicBezTo>
                <a:cubicBezTo>
                  <a:pt x="106081" y="51200"/>
                  <a:pt x="97348" y="90049"/>
                  <a:pt x="60468" y="107707"/>
                </a:cubicBezTo>
                <a:cubicBezTo>
                  <a:pt x="56893" y="109420"/>
                  <a:pt x="52741" y="109420"/>
                  <a:pt x="49166" y="107707"/>
                </a:cubicBezTo>
                <a:cubicBezTo>
                  <a:pt x="12265" y="90049"/>
                  <a:pt x="3553" y="51200"/>
                  <a:pt x="3446" y="29966"/>
                </a:cubicBezTo>
                <a:cubicBezTo>
                  <a:pt x="3425" y="24358"/>
                  <a:pt x="6935" y="19714"/>
                  <a:pt x="11644" y="17723"/>
                </a:cubicBezTo>
                <a:lnTo>
                  <a:pt x="51949" y="621"/>
                </a:lnTo>
                <a:cubicBezTo>
                  <a:pt x="52848" y="214"/>
                  <a:pt x="53811" y="0"/>
                  <a:pt x="54796" y="0"/>
                </a:cubicBezTo>
                <a:close/>
                <a:moveTo>
                  <a:pt x="54796" y="14298"/>
                </a:moveTo>
                <a:lnTo>
                  <a:pt x="54796" y="95229"/>
                </a:lnTo>
                <a:cubicBezTo>
                  <a:pt x="84334" y="80930"/>
                  <a:pt x="92275" y="49252"/>
                  <a:pt x="92467" y="30287"/>
                </a:cubicBezTo>
                <a:lnTo>
                  <a:pt x="54796" y="14320"/>
                </a:lnTo>
                <a:lnTo>
                  <a:pt x="54796" y="14320"/>
                </a:lnTo>
                <a:close/>
              </a:path>
            </a:pathLst>
          </a:custGeom>
          <a:solidFill>
            <a:srgbClr val="FF8C69"/>
          </a:solidFill>
          <a:ln/>
        </p:spPr>
      </p:sp>
      <p:sp>
        <p:nvSpPr>
          <p:cNvPr id="246" name="Text 160"/>
          <p:cNvSpPr/>
          <p:nvPr/>
        </p:nvSpPr>
        <p:spPr>
          <a:xfrm>
            <a:off x="8487824" y="5324065"/>
            <a:ext cx="607317" cy="182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35" b="1" dirty="0">
                <a:solidFill>
                  <a:srgbClr val="4A4A4A"/>
                </a:solidFill>
                <a:latin typeface="ZCOOL KuaiLe" pitchFamily="34" charset="0"/>
                <a:ea typeface="ZCOOL KuaiLe" pitchFamily="34" charset="-122"/>
                <a:cs typeface="ZCOOL KuaiLe" pitchFamily="34" charset="-120"/>
              </a:rPr>
              <a:t>风险与应对</a:t>
            </a:r>
            <a:endParaRPr lang="en-US" sz="1600" dirty="0"/>
          </a:p>
        </p:txBody>
      </p:sp>
      <p:sp>
        <p:nvSpPr>
          <p:cNvPr id="247" name="Shape 161"/>
          <p:cNvSpPr/>
          <p:nvPr/>
        </p:nvSpPr>
        <p:spPr>
          <a:xfrm>
            <a:off x="8195581" y="5649919"/>
            <a:ext cx="1744324" cy="347038"/>
          </a:xfrm>
          <a:custGeom>
            <a:avLst/>
            <a:gdLst/>
            <a:ahLst/>
            <a:cxnLst/>
            <a:rect l="l" t="t" r="r" b="b"/>
            <a:pathLst>
              <a:path w="1744324" h="347038">
                <a:moveTo>
                  <a:pt x="36529" y="0"/>
                </a:moveTo>
                <a:lnTo>
                  <a:pt x="1707794" y="0"/>
                </a:lnTo>
                <a:cubicBezTo>
                  <a:pt x="1727969" y="0"/>
                  <a:pt x="1744324" y="16355"/>
                  <a:pt x="1744324" y="36529"/>
                </a:cubicBezTo>
                <a:lnTo>
                  <a:pt x="1744324" y="310509"/>
                </a:lnTo>
                <a:cubicBezTo>
                  <a:pt x="1744324" y="330684"/>
                  <a:pt x="1727969" y="347038"/>
                  <a:pt x="1707794" y="347038"/>
                </a:cubicBezTo>
                <a:lnTo>
                  <a:pt x="36529" y="347038"/>
                </a:lnTo>
                <a:cubicBezTo>
                  <a:pt x="16368" y="347038"/>
                  <a:pt x="0" y="330670"/>
                  <a:pt x="0" y="310509"/>
                </a:cubicBezTo>
                <a:lnTo>
                  <a:pt x="0" y="36529"/>
                </a:lnTo>
                <a:cubicBezTo>
                  <a:pt x="0" y="16355"/>
                  <a:pt x="16355" y="0"/>
                  <a:pt x="36529" y="0"/>
                </a:cubicBezTo>
                <a:close/>
              </a:path>
            </a:pathLst>
          </a:custGeom>
          <a:solidFill>
            <a:srgbClr val="FF8C69">
              <a:alpha val="5098"/>
            </a:srgbClr>
          </a:solidFill>
          <a:ln/>
        </p:spPr>
      </p:sp>
      <p:sp>
        <p:nvSpPr>
          <p:cNvPr id="248" name="Shape 162"/>
          <p:cNvSpPr/>
          <p:nvPr/>
        </p:nvSpPr>
        <p:spPr>
          <a:xfrm>
            <a:off x="8259509" y="5722979"/>
            <a:ext cx="82193" cy="82193"/>
          </a:xfrm>
          <a:custGeom>
            <a:avLst/>
            <a:gdLst/>
            <a:ahLst/>
            <a:cxnLst/>
            <a:rect l="l" t="t" r="r" b="b"/>
            <a:pathLst>
              <a:path w="82193" h="82193">
                <a:moveTo>
                  <a:pt x="41097" y="82193"/>
                </a:moveTo>
                <a:cubicBezTo>
                  <a:pt x="63778" y="82193"/>
                  <a:pt x="82193" y="63778"/>
                  <a:pt x="82193" y="41097"/>
                </a:cubicBezTo>
                <a:cubicBezTo>
                  <a:pt x="82193" y="18415"/>
                  <a:pt x="63778" y="0"/>
                  <a:pt x="41097" y="0"/>
                </a:cubicBezTo>
                <a:cubicBezTo>
                  <a:pt x="18415" y="0"/>
                  <a:pt x="0" y="18415"/>
                  <a:pt x="0" y="41097"/>
                </a:cubicBezTo>
                <a:cubicBezTo>
                  <a:pt x="0" y="63778"/>
                  <a:pt x="18415" y="82193"/>
                  <a:pt x="41097" y="82193"/>
                </a:cubicBezTo>
                <a:close/>
                <a:moveTo>
                  <a:pt x="41097" y="21833"/>
                </a:moveTo>
                <a:cubicBezTo>
                  <a:pt x="43232" y="21833"/>
                  <a:pt x="44949" y="23550"/>
                  <a:pt x="44949" y="25685"/>
                </a:cubicBezTo>
                <a:lnTo>
                  <a:pt x="44949" y="43665"/>
                </a:lnTo>
                <a:cubicBezTo>
                  <a:pt x="44949" y="45800"/>
                  <a:pt x="43232" y="47518"/>
                  <a:pt x="41097" y="47518"/>
                </a:cubicBezTo>
                <a:cubicBezTo>
                  <a:pt x="38962" y="47518"/>
                  <a:pt x="37244" y="45800"/>
                  <a:pt x="37244" y="43665"/>
                </a:cubicBezTo>
                <a:lnTo>
                  <a:pt x="37244" y="25685"/>
                </a:lnTo>
                <a:cubicBezTo>
                  <a:pt x="37244" y="23550"/>
                  <a:pt x="38962" y="21833"/>
                  <a:pt x="41097" y="21833"/>
                </a:cubicBezTo>
                <a:close/>
                <a:moveTo>
                  <a:pt x="36810" y="56508"/>
                </a:moveTo>
                <a:cubicBezTo>
                  <a:pt x="36713" y="54917"/>
                  <a:pt x="37506" y="53403"/>
                  <a:pt x="38870" y="52578"/>
                </a:cubicBezTo>
                <a:cubicBezTo>
                  <a:pt x="40234" y="51753"/>
                  <a:pt x="41943" y="51753"/>
                  <a:pt x="43307" y="52578"/>
                </a:cubicBezTo>
                <a:cubicBezTo>
                  <a:pt x="44671" y="53403"/>
                  <a:pt x="45464" y="54917"/>
                  <a:pt x="45367" y="56508"/>
                </a:cubicBezTo>
                <a:cubicBezTo>
                  <a:pt x="45464" y="58099"/>
                  <a:pt x="44671" y="59613"/>
                  <a:pt x="43307" y="60438"/>
                </a:cubicBezTo>
                <a:cubicBezTo>
                  <a:pt x="41943" y="61263"/>
                  <a:pt x="40234" y="61263"/>
                  <a:pt x="38870" y="60438"/>
                </a:cubicBezTo>
                <a:cubicBezTo>
                  <a:pt x="37506" y="59613"/>
                  <a:pt x="36713" y="58099"/>
                  <a:pt x="36810" y="56508"/>
                </a:cubicBezTo>
                <a:close/>
              </a:path>
            </a:pathLst>
          </a:custGeom>
          <a:solidFill>
            <a:srgbClr val="FF8C69"/>
          </a:solidFill>
          <a:ln/>
        </p:spPr>
      </p:sp>
      <p:sp>
        <p:nvSpPr>
          <p:cNvPr id="249" name="Text 163"/>
          <p:cNvSpPr/>
          <p:nvPr/>
        </p:nvSpPr>
        <p:spPr>
          <a:xfrm>
            <a:off x="8407914" y="5704714"/>
            <a:ext cx="1228333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7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销售执行不到位</a:t>
            </a:r>
            <a:endParaRPr lang="en-US" sz="1600" dirty="0"/>
          </a:p>
        </p:txBody>
      </p:sp>
      <p:sp>
        <p:nvSpPr>
          <p:cNvPr id="250" name="Text 164"/>
          <p:cNvSpPr/>
          <p:nvPr/>
        </p:nvSpPr>
        <p:spPr>
          <a:xfrm>
            <a:off x="8407914" y="5828004"/>
            <a:ext cx="1223766" cy="10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75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简化标准、强化培训、BP一对一辅导</a:t>
            </a:r>
            <a:endParaRPr lang="en-US" sz="1600" dirty="0"/>
          </a:p>
        </p:txBody>
      </p:sp>
      <p:sp>
        <p:nvSpPr>
          <p:cNvPr id="251" name="Shape 165"/>
          <p:cNvSpPr/>
          <p:nvPr/>
        </p:nvSpPr>
        <p:spPr>
          <a:xfrm>
            <a:off x="9993330" y="5649919"/>
            <a:ext cx="1744324" cy="347038"/>
          </a:xfrm>
          <a:custGeom>
            <a:avLst/>
            <a:gdLst/>
            <a:ahLst/>
            <a:cxnLst/>
            <a:rect l="l" t="t" r="r" b="b"/>
            <a:pathLst>
              <a:path w="1744324" h="347038">
                <a:moveTo>
                  <a:pt x="36529" y="0"/>
                </a:moveTo>
                <a:lnTo>
                  <a:pt x="1707794" y="0"/>
                </a:lnTo>
                <a:cubicBezTo>
                  <a:pt x="1727969" y="0"/>
                  <a:pt x="1744324" y="16355"/>
                  <a:pt x="1744324" y="36529"/>
                </a:cubicBezTo>
                <a:lnTo>
                  <a:pt x="1744324" y="310509"/>
                </a:lnTo>
                <a:cubicBezTo>
                  <a:pt x="1744324" y="330684"/>
                  <a:pt x="1727969" y="347038"/>
                  <a:pt x="1707794" y="347038"/>
                </a:cubicBezTo>
                <a:lnTo>
                  <a:pt x="36529" y="347038"/>
                </a:lnTo>
                <a:cubicBezTo>
                  <a:pt x="16368" y="347038"/>
                  <a:pt x="0" y="330670"/>
                  <a:pt x="0" y="310509"/>
                </a:cubicBezTo>
                <a:lnTo>
                  <a:pt x="0" y="36529"/>
                </a:lnTo>
                <a:cubicBezTo>
                  <a:pt x="0" y="16355"/>
                  <a:pt x="16355" y="0"/>
                  <a:pt x="36529" y="0"/>
                </a:cubicBezTo>
                <a:close/>
              </a:path>
            </a:pathLst>
          </a:custGeom>
          <a:solidFill>
            <a:srgbClr val="FF8C69">
              <a:alpha val="5098"/>
            </a:srgbClr>
          </a:solidFill>
          <a:ln/>
        </p:spPr>
      </p:sp>
      <p:sp>
        <p:nvSpPr>
          <p:cNvPr id="252" name="Shape 166"/>
          <p:cNvSpPr/>
          <p:nvPr/>
        </p:nvSpPr>
        <p:spPr>
          <a:xfrm>
            <a:off x="10057258" y="5722979"/>
            <a:ext cx="82193" cy="82193"/>
          </a:xfrm>
          <a:custGeom>
            <a:avLst/>
            <a:gdLst/>
            <a:ahLst/>
            <a:cxnLst/>
            <a:rect l="l" t="t" r="r" b="b"/>
            <a:pathLst>
              <a:path w="82193" h="82193">
                <a:moveTo>
                  <a:pt x="41097" y="82193"/>
                </a:moveTo>
                <a:cubicBezTo>
                  <a:pt x="63778" y="82193"/>
                  <a:pt x="82193" y="63778"/>
                  <a:pt x="82193" y="41097"/>
                </a:cubicBezTo>
                <a:cubicBezTo>
                  <a:pt x="82193" y="18415"/>
                  <a:pt x="63778" y="0"/>
                  <a:pt x="41097" y="0"/>
                </a:cubicBezTo>
                <a:cubicBezTo>
                  <a:pt x="18415" y="0"/>
                  <a:pt x="0" y="18415"/>
                  <a:pt x="0" y="41097"/>
                </a:cubicBezTo>
                <a:cubicBezTo>
                  <a:pt x="0" y="63778"/>
                  <a:pt x="18415" y="82193"/>
                  <a:pt x="41097" y="82193"/>
                </a:cubicBezTo>
                <a:close/>
                <a:moveTo>
                  <a:pt x="41097" y="21833"/>
                </a:moveTo>
                <a:cubicBezTo>
                  <a:pt x="43232" y="21833"/>
                  <a:pt x="44949" y="23550"/>
                  <a:pt x="44949" y="25685"/>
                </a:cubicBezTo>
                <a:lnTo>
                  <a:pt x="44949" y="43665"/>
                </a:lnTo>
                <a:cubicBezTo>
                  <a:pt x="44949" y="45800"/>
                  <a:pt x="43232" y="47518"/>
                  <a:pt x="41097" y="47518"/>
                </a:cubicBezTo>
                <a:cubicBezTo>
                  <a:pt x="38962" y="47518"/>
                  <a:pt x="37244" y="45800"/>
                  <a:pt x="37244" y="43665"/>
                </a:cubicBezTo>
                <a:lnTo>
                  <a:pt x="37244" y="25685"/>
                </a:lnTo>
                <a:cubicBezTo>
                  <a:pt x="37244" y="23550"/>
                  <a:pt x="38962" y="21833"/>
                  <a:pt x="41097" y="21833"/>
                </a:cubicBezTo>
                <a:close/>
                <a:moveTo>
                  <a:pt x="36810" y="56508"/>
                </a:moveTo>
                <a:cubicBezTo>
                  <a:pt x="36713" y="54917"/>
                  <a:pt x="37506" y="53403"/>
                  <a:pt x="38870" y="52578"/>
                </a:cubicBezTo>
                <a:cubicBezTo>
                  <a:pt x="40234" y="51753"/>
                  <a:pt x="41943" y="51753"/>
                  <a:pt x="43307" y="52578"/>
                </a:cubicBezTo>
                <a:cubicBezTo>
                  <a:pt x="44671" y="53403"/>
                  <a:pt x="45464" y="54917"/>
                  <a:pt x="45367" y="56508"/>
                </a:cubicBezTo>
                <a:cubicBezTo>
                  <a:pt x="45464" y="58099"/>
                  <a:pt x="44671" y="59613"/>
                  <a:pt x="43307" y="60438"/>
                </a:cubicBezTo>
                <a:cubicBezTo>
                  <a:pt x="41943" y="61263"/>
                  <a:pt x="40234" y="61263"/>
                  <a:pt x="38870" y="60438"/>
                </a:cubicBezTo>
                <a:cubicBezTo>
                  <a:pt x="37506" y="59613"/>
                  <a:pt x="36713" y="58099"/>
                  <a:pt x="36810" y="56508"/>
                </a:cubicBezTo>
                <a:close/>
              </a:path>
            </a:pathLst>
          </a:custGeom>
          <a:solidFill>
            <a:srgbClr val="FF8C69"/>
          </a:solidFill>
          <a:ln/>
        </p:spPr>
      </p:sp>
      <p:sp>
        <p:nvSpPr>
          <p:cNvPr id="253" name="Text 167"/>
          <p:cNvSpPr/>
          <p:nvPr/>
        </p:nvSpPr>
        <p:spPr>
          <a:xfrm>
            <a:off x="10205663" y="5704714"/>
            <a:ext cx="1210067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7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MO节点增加抵触</a:t>
            </a:r>
            <a:endParaRPr lang="en-US" sz="1600" dirty="0"/>
          </a:p>
        </p:txBody>
      </p:sp>
      <p:sp>
        <p:nvSpPr>
          <p:cNvPr id="254" name="Text 168"/>
          <p:cNvSpPr/>
          <p:nvPr/>
        </p:nvSpPr>
        <p:spPr>
          <a:xfrm>
            <a:off x="10205663" y="5828004"/>
            <a:ext cx="1205501" cy="10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75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明确价值、简化操作、系统支撑减负</a:t>
            </a:r>
            <a:endParaRPr lang="en-US" sz="1600" dirty="0"/>
          </a:p>
        </p:txBody>
      </p:sp>
      <p:sp>
        <p:nvSpPr>
          <p:cNvPr id="255" name="Shape 169"/>
          <p:cNvSpPr/>
          <p:nvPr/>
        </p:nvSpPr>
        <p:spPr>
          <a:xfrm>
            <a:off x="8195581" y="6047186"/>
            <a:ext cx="1744324" cy="347038"/>
          </a:xfrm>
          <a:custGeom>
            <a:avLst/>
            <a:gdLst/>
            <a:ahLst/>
            <a:cxnLst/>
            <a:rect l="l" t="t" r="r" b="b"/>
            <a:pathLst>
              <a:path w="1744324" h="347038">
                <a:moveTo>
                  <a:pt x="36529" y="0"/>
                </a:moveTo>
                <a:lnTo>
                  <a:pt x="1707794" y="0"/>
                </a:lnTo>
                <a:cubicBezTo>
                  <a:pt x="1727969" y="0"/>
                  <a:pt x="1744324" y="16355"/>
                  <a:pt x="1744324" y="36529"/>
                </a:cubicBezTo>
                <a:lnTo>
                  <a:pt x="1744324" y="310509"/>
                </a:lnTo>
                <a:cubicBezTo>
                  <a:pt x="1744324" y="330684"/>
                  <a:pt x="1727969" y="347038"/>
                  <a:pt x="1707794" y="347038"/>
                </a:cubicBezTo>
                <a:lnTo>
                  <a:pt x="36529" y="347038"/>
                </a:lnTo>
                <a:cubicBezTo>
                  <a:pt x="16368" y="347038"/>
                  <a:pt x="0" y="330670"/>
                  <a:pt x="0" y="310509"/>
                </a:cubicBezTo>
                <a:lnTo>
                  <a:pt x="0" y="36529"/>
                </a:lnTo>
                <a:cubicBezTo>
                  <a:pt x="0" y="16355"/>
                  <a:pt x="16355" y="0"/>
                  <a:pt x="36529" y="0"/>
                </a:cubicBezTo>
                <a:close/>
              </a:path>
            </a:pathLst>
          </a:custGeom>
          <a:solidFill>
            <a:srgbClr val="FF8C69">
              <a:alpha val="5098"/>
            </a:srgbClr>
          </a:solidFill>
          <a:ln/>
        </p:spPr>
      </p:sp>
      <p:sp>
        <p:nvSpPr>
          <p:cNvPr id="256" name="Shape 170"/>
          <p:cNvSpPr/>
          <p:nvPr/>
        </p:nvSpPr>
        <p:spPr>
          <a:xfrm>
            <a:off x="8259509" y="6120247"/>
            <a:ext cx="82193" cy="82193"/>
          </a:xfrm>
          <a:custGeom>
            <a:avLst/>
            <a:gdLst/>
            <a:ahLst/>
            <a:cxnLst/>
            <a:rect l="l" t="t" r="r" b="b"/>
            <a:pathLst>
              <a:path w="82193" h="82193">
                <a:moveTo>
                  <a:pt x="41097" y="82193"/>
                </a:moveTo>
                <a:cubicBezTo>
                  <a:pt x="63778" y="82193"/>
                  <a:pt x="82193" y="63778"/>
                  <a:pt x="82193" y="41097"/>
                </a:cubicBezTo>
                <a:cubicBezTo>
                  <a:pt x="82193" y="18415"/>
                  <a:pt x="63778" y="0"/>
                  <a:pt x="41097" y="0"/>
                </a:cubicBezTo>
                <a:cubicBezTo>
                  <a:pt x="18415" y="0"/>
                  <a:pt x="0" y="18415"/>
                  <a:pt x="0" y="41097"/>
                </a:cubicBezTo>
                <a:cubicBezTo>
                  <a:pt x="0" y="63778"/>
                  <a:pt x="18415" y="82193"/>
                  <a:pt x="41097" y="82193"/>
                </a:cubicBezTo>
                <a:close/>
                <a:moveTo>
                  <a:pt x="41097" y="21833"/>
                </a:moveTo>
                <a:cubicBezTo>
                  <a:pt x="43232" y="21833"/>
                  <a:pt x="44949" y="23550"/>
                  <a:pt x="44949" y="25685"/>
                </a:cubicBezTo>
                <a:lnTo>
                  <a:pt x="44949" y="43665"/>
                </a:lnTo>
                <a:cubicBezTo>
                  <a:pt x="44949" y="45800"/>
                  <a:pt x="43232" y="47518"/>
                  <a:pt x="41097" y="47518"/>
                </a:cubicBezTo>
                <a:cubicBezTo>
                  <a:pt x="38962" y="47518"/>
                  <a:pt x="37244" y="45800"/>
                  <a:pt x="37244" y="43665"/>
                </a:cubicBezTo>
                <a:lnTo>
                  <a:pt x="37244" y="25685"/>
                </a:lnTo>
                <a:cubicBezTo>
                  <a:pt x="37244" y="23550"/>
                  <a:pt x="38962" y="21833"/>
                  <a:pt x="41097" y="21833"/>
                </a:cubicBezTo>
                <a:close/>
                <a:moveTo>
                  <a:pt x="36810" y="56508"/>
                </a:moveTo>
                <a:cubicBezTo>
                  <a:pt x="36713" y="54917"/>
                  <a:pt x="37506" y="53403"/>
                  <a:pt x="38870" y="52578"/>
                </a:cubicBezTo>
                <a:cubicBezTo>
                  <a:pt x="40234" y="51753"/>
                  <a:pt x="41943" y="51753"/>
                  <a:pt x="43307" y="52578"/>
                </a:cubicBezTo>
                <a:cubicBezTo>
                  <a:pt x="44671" y="53403"/>
                  <a:pt x="45464" y="54917"/>
                  <a:pt x="45367" y="56508"/>
                </a:cubicBezTo>
                <a:cubicBezTo>
                  <a:pt x="45464" y="58099"/>
                  <a:pt x="44671" y="59613"/>
                  <a:pt x="43307" y="60438"/>
                </a:cubicBezTo>
                <a:cubicBezTo>
                  <a:pt x="41943" y="61263"/>
                  <a:pt x="40234" y="61263"/>
                  <a:pt x="38870" y="60438"/>
                </a:cubicBezTo>
                <a:cubicBezTo>
                  <a:pt x="37506" y="59613"/>
                  <a:pt x="36713" y="58099"/>
                  <a:pt x="36810" y="56508"/>
                </a:cubicBezTo>
                <a:close/>
              </a:path>
            </a:pathLst>
          </a:custGeom>
          <a:solidFill>
            <a:srgbClr val="FF8C69"/>
          </a:solidFill>
          <a:ln/>
        </p:spPr>
      </p:sp>
      <p:sp>
        <p:nvSpPr>
          <p:cNvPr id="257" name="Text 171"/>
          <p:cNvSpPr/>
          <p:nvPr/>
        </p:nvSpPr>
        <p:spPr>
          <a:xfrm>
            <a:off x="8407914" y="6101982"/>
            <a:ext cx="1063946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7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数据更新不及时</a:t>
            </a:r>
            <a:endParaRPr lang="en-US" sz="1600" dirty="0"/>
          </a:p>
        </p:txBody>
      </p:sp>
      <p:sp>
        <p:nvSpPr>
          <p:cNvPr id="258" name="Text 172"/>
          <p:cNvSpPr/>
          <p:nvPr/>
        </p:nvSpPr>
        <p:spPr>
          <a:xfrm>
            <a:off x="8407914" y="6225272"/>
            <a:ext cx="1059380" cy="10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575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定时提醒、周度校验、异常问责</a:t>
            </a:r>
            <a:endParaRPr lang="en-US" sz="1600" dirty="0"/>
          </a:p>
        </p:txBody>
      </p:sp>
      <p:sp>
        <p:nvSpPr>
          <p:cNvPr id="260" name="Shape 174"/>
          <p:cNvSpPr/>
          <p:nvPr/>
        </p:nvSpPr>
        <p:spPr>
          <a:xfrm>
            <a:off x="10057258" y="6129300"/>
            <a:ext cx="82193" cy="82193"/>
          </a:xfrm>
          <a:custGeom>
            <a:avLst/>
            <a:gdLst/>
            <a:ahLst/>
            <a:cxnLst/>
            <a:rect l="l" t="t" r="r" b="b"/>
            <a:pathLst>
              <a:path w="82193" h="82193">
                <a:moveTo>
                  <a:pt x="41097" y="82193"/>
                </a:moveTo>
                <a:cubicBezTo>
                  <a:pt x="63778" y="82193"/>
                  <a:pt x="82193" y="63778"/>
                  <a:pt x="82193" y="41097"/>
                </a:cubicBezTo>
                <a:cubicBezTo>
                  <a:pt x="82193" y="18415"/>
                  <a:pt x="63778" y="0"/>
                  <a:pt x="41097" y="0"/>
                </a:cubicBezTo>
                <a:cubicBezTo>
                  <a:pt x="18415" y="0"/>
                  <a:pt x="0" y="18415"/>
                  <a:pt x="0" y="41097"/>
                </a:cubicBezTo>
                <a:cubicBezTo>
                  <a:pt x="0" y="63778"/>
                  <a:pt x="18415" y="82193"/>
                  <a:pt x="41097" y="82193"/>
                </a:cubicBezTo>
                <a:close/>
                <a:moveTo>
                  <a:pt x="41097" y="21833"/>
                </a:moveTo>
                <a:cubicBezTo>
                  <a:pt x="43232" y="21833"/>
                  <a:pt x="44949" y="23550"/>
                  <a:pt x="44949" y="25685"/>
                </a:cubicBezTo>
                <a:lnTo>
                  <a:pt x="44949" y="43665"/>
                </a:lnTo>
                <a:cubicBezTo>
                  <a:pt x="44949" y="45800"/>
                  <a:pt x="43232" y="47518"/>
                  <a:pt x="41097" y="47518"/>
                </a:cubicBezTo>
                <a:cubicBezTo>
                  <a:pt x="38962" y="47518"/>
                  <a:pt x="37244" y="45800"/>
                  <a:pt x="37244" y="43665"/>
                </a:cubicBezTo>
                <a:lnTo>
                  <a:pt x="37244" y="25685"/>
                </a:lnTo>
                <a:cubicBezTo>
                  <a:pt x="37244" y="23550"/>
                  <a:pt x="38962" y="21833"/>
                  <a:pt x="41097" y="21833"/>
                </a:cubicBezTo>
                <a:close/>
                <a:moveTo>
                  <a:pt x="36810" y="56508"/>
                </a:moveTo>
                <a:cubicBezTo>
                  <a:pt x="36713" y="54917"/>
                  <a:pt x="37506" y="53403"/>
                  <a:pt x="38870" y="52578"/>
                </a:cubicBezTo>
                <a:cubicBezTo>
                  <a:pt x="40234" y="51753"/>
                  <a:pt x="41943" y="51753"/>
                  <a:pt x="43307" y="52578"/>
                </a:cubicBezTo>
                <a:cubicBezTo>
                  <a:pt x="44671" y="53403"/>
                  <a:pt x="45464" y="54917"/>
                  <a:pt x="45367" y="56508"/>
                </a:cubicBezTo>
                <a:cubicBezTo>
                  <a:pt x="45464" y="58099"/>
                  <a:pt x="44671" y="59613"/>
                  <a:pt x="43307" y="60438"/>
                </a:cubicBezTo>
                <a:cubicBezTo>
                  <a:pt x="41943" y="61263"/>
                  <a:pt x="40234" y="61263"/>
                  <a:pt x="38870" y="60438"/>
                </a:cubicBezTo>
                <a:cubicBezTo>
                  <a:pt x="37506" y="59613"/>
                  <a:pt x="36713" y="58099"/>
                  <a:pt x="36810" y="56508"/>
                </a:cubicBezTo>
                <a:close/>
              </a:path>
            </a:pathLst>
          </a:custGeom>
          <a:solidFill>
            <a:srgbClr val="FF8C69"/>
          </a:solidFill>
          <a:ln/>
        </p:spPr>
      </p:sp>
      <p:sp>
        <p:nvSpPr>
          <p:cNvPr id="261" name="Text 175"/>
          <p:cNvSpPr/>
          <p:nvPr/>
        </p:nvSpPr>
        <p:spPr>
          <a:xfrm>
            <a:off x="10205663" y="6083327"/>
            <a:ext cx="1301393" cy="1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647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跨部门协同不畅</a:t>
            </a:r>
            <a:endParaRPr lang="en-US" sz="1600" dirty="0"/>
          </a:p>
        </p:txBody>
      </p:sp>
      <p:sp>
        <p:nvSpPr>
          <p:cNvPr id="264" name="Shape 178"/>
          <p:cNvSpPr/>
          <p:nvPr/>
        </p:nvSpPr>
        <p:spPr>
          <a:xfrm>
            <a:off x="4381603" y="3098413"/>
            <a:ext cx="159820" cy="127856"/>
          </a:xfrm>
          <a:custGeom>
            <a:avLst/>
            <a:gdLst/>
            <a:ahLst/>
            <a:cxnLst/>
            <a:rect l="l" t="t" r="r" b="b"/>
            <a:pathLst>
              <a:path w="159820" h="127856">
                <a:moveTo>
                  <a:pt x="79910" y="3996"/>
                </a:moveTo>
                <a:cubicBezTo>
                  <a:pt x="94244" y="3996"/>
                  <a:pt x="105881" y="15633"/>
                  <a:pt x="105881" y="29966"/>
                </a:cubicBezTo>
                <a:cubicBezTo>
                  <a:pt x="105881" y="44300"/>
                  <a:pt x="94244" y="55937"/>
                  <a:pt x="79910" y="55937"/>
                </a:cubicBezTo>
                <a:cubicBezTo>
                  <a:pt x="65576" y="55937"/>
                  <a:pt x="53939" y="44300"/>
                  <a:pt x="53939" y="29966"/>
                </a:cubicBezTo>
                <a:cubicBezTo>
                  <a:pt x="53939" y="15633"/>
                  <a:pt x="65576" y="3996"/>
                  <a:pt x="79910" y="3996"/>
                </a:cubicBezTo>
                <a:close/>
                <a:moveTo>
                  <a:pt x="23973" y="21975"/>
                </a:moveTo>
                <a:cubicBezTo>
                  <a:pt x="33896" y="21975"/>
                  <a:pt x="41953" y="30032"/>
                  <a:pt x="41953" y="39955"/>
                </a:cubicBezTo>
                <a:cubicBezTo>
                  <a:pt x="41953" y="49878"/>
                  <a:pt x="33896" y="57935"/>
                  <a:pt x="23973" y="57935"/>
                </a:cubicBezTo>
                <a:cubicBezTo>
                  <a:pt x="14050" y="57935"/>
                  <a:pt x="5993" y="49878"/>
                  <a:pt x="5993" y="39955"/>
                </a:cubicBezTo>
                <a:cubicBezTo>
                  <a:pt x="5993" y="30032"/>
                  <a:pt x="14050" y="21975"/>
                  <a:pt x="23973" y="21975"/>
                </a:cubicBezTo>
                <a:close/>
                <a:moveTo>
                  <a:pt x="0" y="103883"/>
                </a:moveTo>
                <a:cubicBezTo>
                  <a:pt x="0" y="86228"/>
                  <a:pt x="14309" y="71919"/>
                  <a:pt x="31964" y="71919"/>
                </a:cubicBezTo>
                <a:cubicBezTo>
                  <a:pt x="35160" y="71919"/>
                  <a:pt x="38257" y="72394"/>
                  <a:pt x="41179" y="73268"/>
                </a:cubicBezTo>
                <a:cubicBezTo>
                  <a:pt x="32963" y="82457"/>
                  <a:pt x="27969" y="94594"/>
                  <a:pt x="27969" y="107879"/>
                </a:cubicBezTo>
                <a:lnTo>
                  <a:pt x="27969" y="111874"/>
                </a:lnTo>
                <a:cubicBezTo>
                  <a:pt x="27969" y="114721"/>
                  <a:pt x="28568" y="117418"/>
                  <a:pt x="29642" y="119865"/>
                </a:cubicBezTo>
                <a:lnTo>
                  <a:pt x="7991" y="119865"/>
                </a:lnTo>
                <a:cubicBezTo>
                  <a:pt x="3571" y="119865"/>
                  <a:pt x="0" y="116294"/>
                  <a:pt x="0" y="111874"/>
                </a:cubicBezTo>
                <a:lnTo>
                  <a:pt x="0" y="103883"/>
                </a:lnTo>
                <a:close/>
                <a:moveTo>
                  <a:pt x="130179" y="119865"/>
                </a:moveTo>
                <a:cubicBezTo>
                  <a:pt x="131252" y="117418"/>
                  <a:pt x="131852" y="114721"/>
                  <a:pt x="131852" y="111874"/>
                </a:cubicBezTo>
                <a:lnTo>
                  <a:pt x="131852" y="107879"/>
                </a:lnTo>
                <a:cubicBezTo>
                  <a:pt x="131852" y="94594"/>
                  <a:pt x="126857" y="82457"/>
                  <a:pt x="118642" y="73268"/>
                </a:cubicBezTo>
                <a:cubicBezTo>
                  <a:pt x="121563" y="72394"/>
                  <a:pt x="124660" y="71919"/>
                  <a:pt x="127856" y="71919"/>
                </a:cubicBezTo>
                <a:cubicBezTo>
                  <a:pt x="145511" y="71919"/>
                  <a:pt x="159820" y="86228"/>
                  <a:pt x="159820" y="103883"/>
                </a:cubicBezTo>
                <a:lnTo>
                  <a:pt x="159820" y="111874"/>
                </a:lnTo>
                <a:cubicBezTo>
                  <a:pt x="159820" y="116294"/>
                  <a:pt x="156249" y="119865"/>
                  <a:pt x="151829" y="119865"/>
                </a:cubicBezTo>
                <a:lnTo>
                  <a:pt x="130179" y="119865"/>
                </a:lnTo>
                <a:close/>
                <a:moveTo>
                  <a:pt x="117867" y="39955"/>
                </a:moveTo>
                <a:cubicBezTo>
                  <a:pt x="117867" y="30032"/>
                  <a:pt x="125924" y="21975"/>
                  <a:pt x="135847" y="21975"/>
                </a:cubicBezTo>
                <a:cubicBezTo>
                  <a:pt x="145770" y="21975"/>
                  <a:pt x="153827" y="30032"/>
                  <a:pt x="153827" y="39955"/>
                </a:cubicBezTo>
                <a:cubicBezTo>
                  <a:pt x="153827" y="49878"/>
                  <a:pt x="145770" y="57935"/>
                  <a:pt x="135847" y="57935"/>
                </a:cubicBezTo>
                <a:cubicBezTo>
                  <a:pt x="125924" y="57935"/>
                  <a:pt x="117867" y="49878"/>
                  <a:pt x="117867" y="39955"/>
                </a:cubicBezTo>
                <a:close/>
                <a:moveTo>
                  <a:pt x="39955" y="107879"/>
                </a:moveTo>
                <a:cubicBezTo>
                  <a:pt x="39955" y="85803"/>
                  <a:pt x="57835" y="67924"/>
                  <a:pt x="79910" y="67924"/>
                </a:cubicBezTo>
                <a:cubicBezTo>
                  <a:pt x="101985" y="67924"/>
                  <a:pt x="119865" y="85803"/>
                  <a:pt x="119865" y="107879"/>
                </a:cubicBezTo>
                <a:lnTo>
                  <a:pt x="119865" y="111874"/>
                </a:lnTo>
                <a:cubicBezTo>
                  <a:pt x="119865" y="116294"/>
                  <a:pt x="116294" y="119865"/>
                  <a:pt x="111874" y="119865"/>
                </a:cubicBezTo>
                <a:lnTo>
                  <a:pt x="47946" y="119865"/>
                </a:lnTo>
                <a:cubicBezTo>
                  <a:pt x="43526" y="119865"/>
                  <a:pt x="39955" y="116294"/>
                  <a:pt x="39955" y="111874"/>
                </a:cubicBezTo>
                <a:lnTo>
                  <a:pt x="39955" y="107879"/>
                </a:lnTo>
                <a:close/>
              </a:path>
            </a:pathLst>
          </a:custGeom>
          <a:solidFill>
            <a:srgbClr val="FFD15C"/>
          </a:solidFill>
          <a:ln/>
        </p:spPr>
      </p:sp>
      <p:sp>
        <p:nvSpPr>
          <p:cNvPr id="265" name="Text 179"/>
          <p:cNvSpPr/>
          <p:nvPr/>
        </p:nvSpPr>
        <p:spPr>
          <a:xfrm>
            <a:off x="4622001" y="3103326"/>
            <a:ext cx="3264899" cy="15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支援团队：</a:t>
            </a:r>
            <a:r>
              <a:rPr lang="en-US" sz="791" dirty="0">
                <a:solidFill>
                  <a:srgbClr val="4A4A4A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平台管理部、销管BP、区域经理、销售团队、售前/技术支撑</a:t>
            </a:r>
            <a:endParaRPr lang="en-US" sz="1600" dirty="0"/>
          </a:p>
        </p:txBody>
      </p:sp>
      <p:sp>
        <p:nvSpPr>
          <p:cNvPr id="267" name="Text 181"/>
          <p:cNvSpPr/>
          <p:nvPr/>
        </p:nvSpPr>
        <p:spPr>
          <a:xfrm>
            <a:off x="10219901" y="6209857"/>
            <a:ext cx="684944" cy="13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19" dirty="0">
                <a:solidFill>
                  <a:srgbClr val="4A4A4A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按季度闭环推进</a:t>
            </a:r>
            <a:endParaRPr lang="en-US" sz="1600" dirty="0"/>
          </a:p>
        </p:txBody>
      </p:sp>
      <p:sp>
        <p:nvSpPr>
          <p:cNvPr id="268" name="Shape 182"/>
          <p:cNvSpPr/>
          <p:nvPr/>
        </p:nvSpPr>
        <p:spPr>
          <a:xfrm>
            <a:off x="10823025" y="6128843"/>
            <a:ext cx="9133" cy="146121"/>
          </a:xfrm>
          <a:custGeom>
            <a:avLst/>
            <a:gdLst/>
            <a:ahLst/>
            <a:cxnLst/>
            <a:rect l="l" t="t" r="r" b="b"/>
            <a:pathLst>
              <a:path w="9133" h="146121">
                <a:moveTo>
                  <a:pt x="0" y="0"/>
                </a:moveTo>
                <a:lnTo>
                  <a:pt x="9133" y="0"/>
                </a:lnTo>
                <a:lnTo>
                  <a:pt x="9133" y="146121"/>
                </a:lnTo>
                <a:lnTo>
                  <a:pt x="0" y="146121"/>
                </a:lnTo>
                <a:lnTo>
                  <a:pt x="0" y="0"/>
                </a:lnTo>
                <a:close/>
              </a:path>
            </a:pathLst>
          </a:custGeom>
          <a:solidFill>
            <a:srgbClr val="4A4A4A">
              <a:alpha val="20000"/>
            </a:srgbClr>
          </a:solidFill>
          <a:ln/>
        </p:spPr>
      </p:sp>
      <p:sp>
        <p:nvSpPr>
          <p:cNvPr id="271" name="Shape 4"/>
          <p:cNvSpPr/>
          <p:nvPr/>
        </p:nvSpPr>
        <p:spPr>
          <a:xfrm>
            <a:off x="4377248" y="254215"/>
            <a:ext cx="721474" cy="328773"/>
          </a:xfrm>
          <a:custGeom>
            <a:avLst/>
            <a:gdLst/>
            <a:ahLst/>
            <a:cxnLst/>
            <a:rect l="l" t="t" r="r" b="b"/>
            <a:pathLst>
              <a:path w="721474" h="328773">
                <a:moveTo>
                  <a:pt x="164387" y="0"/>
                </a:moveTo>
                <a:lnTo>
                  <a:pt x="557088" y="0"/>
                </a:lnTo>
                <a:cubicBezTo>
                  <a:pt x="647876" y="0"/>
                  <a:pt x="721474" y="73598"/>
                  <a:pt x="721474" y="164387"/>
                </a:cubicBezTo>
                <a:lnTo>
                  <a:pt x="721474" y="164387"/>
                </a:lnTo>
                <a:cubicBezTo>
                  <a:pt x="721474" y="255175"/>
                  <a:pt x="647876" y="328773"/>
                  <a:pt x="557088" y="328773"/>
                </a:cubicBezTo>
                <a:lnTo>
                  <a:pt x="164387" y="328773"/>
                </a:lnTo>
                <a:cubicBezTo>
                  <a:pt x="73659" y="328773"/>
                  <a:pt x="0" y="255114"/>
                  <a:pt x="0" y="164387"/>
                </a:cubicBezTo>
                <a:lnTo>
                  <a:pt x="0" y="164387"/>
                </a:lnTo>
                <a:cubicBezTo>
                  <a:pt x="0" y="73659"/>
                  <a:pt x="73659" y="0"/>
                  <a:pt x="164387" y="0"/>
                </a:cubicBezTo>
                <a:close/>
              </a:path>
            </a:pathLst>
          </a:custGeom>
          <a:solidFill>
            <a:srgbClr val="FFD15C">
              <a:alpha val="20000"/>
            </a:srgbClr>
          </a:solidFill>
          <a:ln/>
        </p:spPr>
      </p:sp>
      <p:sp>
        <p:nvSpPr>
          <p:cNvPr id="272" name="Text 5"/>
          <p:cNvSpPr/>
          <p:nvPr/>
        </p:nvSpPr>
        <p:spPr>
          <a:xfrm>
            <a:off x="4486839" y="367459"/>
            <a:ext cx="552521" cy="13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自工序完结</a:t>
            </a:r>
            <a:endParaRPr lang="en-US" sz="1600" dirty="0"/>
          </a:p>
        </p:txBody>
      </p:sp>
      <p:sp>
        <p:nvSpPr>
          <p:cNvPr id="273" name="Shape 6"/>
          <p:cNvSpPr/>
          <p:nvPr/>
        </p:nvSpPr>
        <p:spPr>
          <a:xfrm>
            <a:off x="5171783" y="254215"/>
            <a:ext cx="721474" cy="328773"/>
          </a:xfrm>
          <a:custGeom>
            <a:avLst/>
            <a:gdLst/>
            <a:ahLst/>
            <a:cxnLst/>
            <a:rect l="l" t="t" r="r" b="b"/>
            <a:pathLst>
              <a:path w="721474" h="328773">
                <a:moveTo>
                  <a:pt x="164387" y="0"/>
                </a:moveTo>
                <a:lnTo>
                  <a:pt x="557088" y="0"/>
                </a:lnTo>
                <a:cubicBezTo>
                  <a:pt x="647876" y="0"/>
                  <a:pt x="721474" y="73598"/>
                  <a:pt x="721474" y="164387"/>
                </a:cubicBezTo>
                <a:lnTo>
                  <a:pt x="721474" y="164387"/>
                </a:lnTo>
                <a:cubicBezTo>
                  <a:pt x="721474" y="255175"/>
                  <a:pt x="647876" y="328773"/>
                  <a:pt x="557088" y="328773"/>
                </a:cubicBezTo>
                <a:lnTo>
                  <a:pt x="164387" y="328773"/>
                </a:lnTo>
                <a:cubicBezTo>
                  <a:pt x="73659" y="328773"/>
                  <a:pt x="0" y="255114"/>
                  <a:pt x="0" y="164387"/>
                </a:cubicBezTo>
                <a:lnTo>
                  <a:pt x="0" y="164387"/>
                </a:lnTo>
                <a:cubicBezTo>
                  <a:pt x="0" y="73659"/>
                  <a:pt x="73659" y="0"/>
                  <a:pt x="164387" y="0"/>
                </a:cubicBezTo>
                <a:close/>
              </a:path>
            </a:pathLst>
          </a:custGeom>
          <a:solidFill>
            <a:srgbClr val="A5D6A7">
              <a:alpha val="20000"/>
            </a:srgbClr>
          </a:solidFill>
          <a:ln/>
        </p:spPr>
      </p:sp>
      <p:sp>
        <p:nvSpPr>
          <p:cNvPr id="274" name="Text 7"/>
          <p:cNvSpPr/>
          <p:nvPr/>
        </p:nvSpPr>
        <p:spPr>
          <a:xfrm>
            <a:off x="5281374" y="367459"/>
            <a:ext cx="552521" cy="13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流程标准化</a:t>
            </a:r>
            <a:endParaRPr lang="en-US" sz="1600" dirty="0"/>
          </a:p>
        </p:txBody>
      </p:sp>
      <p:sp>
        <p:nvSpPr>
          <p:cNvPr id="275" name="Shape 8"/>
          <p:cNvSpPr/>
          <p:nvPr/>
        </p:nvSpPr>
        <p:spPr>
          <a:xfrm>
            <a:off x="5966318" y="254215"/>
            <a:ext cx="621016" cy="328773"/>
          </a:xfrm>
          <a:custGeom>
            <a:avLst/>
            <a:gdLst/>
            <a:ahLst/>
            <a:cxnLst/>
            <a:rect l="l" t="t" r="r" b="b"/>
            <a:pathLst>
              <a:path w="621016" h="328773">
                <a:moveTo>
                  <a:pt x="164387" y="0"/>
                </a:moveTo>
                <a:lnTo>
                  <a:pt x="456629" y="0"/>
                </a:lnTo>
                <a:cubicBezTo>
                  <a:pt x="547417" y="0"/>
                  <a:pt x="621016" y="73598"/>
                  <a:pt x="621016" y="164387"/>
                </a:cubicBezTo>
                <a:lnTo>
                  <a:pt x="621016" y="164387"/>
                </a:lnTo>
                <a:cubicBezTo>
                  <a:pt x="621016" y="255175"/>
                  <a:pt x="547417" y="328773"/>
                  <a:pt x="456629" y="328773"/>
                </a:cubicBezTo>
                <a:lnTo>
                  <a:pt x="164387" y="328773"/>
                </a:lnTo>
                <a:cubicBezTo>
                  <a:pt x="73659" y="328773"/>
                  <a:pt x="0" y="255114"/>
                  <a:pt x="0" y="164387"/>
                </a:cubicBezTo>
                <a:lnTo>
                  <a:pt x="0" y="164387"/>
                </a:lnTo>
                <a:cubicBezTo>
                  <a:pt x="0" y="73659"/>
                  <a:pt x="73659" y="0"/>
                  <a:pt x="164387" y="0"/>
                </a:cubicBezTo>
                <a:close/>
              </a:path>
            </a:pathLst>
          </a:custGeom>
          <a:solidFill>
            <a:srgbClr val="81D4FA">
              <a:alpha val="20000"/>
            </a:srgbClr>
          </a:solidFill>
          <a:ln/>
        </p:spPr>
      </p:sp>
      <p:sp>
        <p:nvSpPr>
          <p:cNvPr id="276" name="Text 9"/>
          <p:cNvSpPr/>
          <p:nvPr/>
        </p:nvSpPr>
        <p:spPr>
          <a:xfrm>
            <a:off x="6075909" y="367459"/>
            <a:ext cx="452063" cy="131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791" b="1" dirty="0">
                <a:solidFill>
                  <a:srgbClr val="4A4A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质量提升</a:t>
            </a:r>
            <a:endParaRPr lang="en-US" sz="1600" dirty="0"/>
          </a:p>
        </p:txBody>
      </p:sp>
      <p:sp>
        <p:nvSpPr>
          <p:cNvPr id="277" name="Shape 165"/>
          <p:cNvSpPr/>
          <p:nvPr/>
        </p:nvSpPr>
        <p:spPr>
          <a:xfrm>
            <a:off x="9975065" y="6084010"/>
            <a:ext cx="1744324" cy="347038"/>
          </a:xfrm>
          <a:custGeom>
            <a:avLst/>
            <a:gdLst/>
            <a:ahLst/>
            <a:cxnLst/>
            <a:rect l="l" t="t" r="r" b="b"/>
            <a:pathLst>
              <a:path w="1744324" h="347038">
                <a:moveTo>
                  <a:pt x="36529" y="0"/>
                </a:moveTo>
                <a:lnTo>
                  <a:pt x="1707794" y="0"/>
                </a:lnTo>
                <a:cubicBezTo>
                  <a:pt x="1727969" y="0"/>
                  <a:pt x="1744324" y="16355"/>
                  <a:pt x="1744324" y="36529"/>
                </a:cubicBezTo>
                <a:lnTo>
                  <a:pt x="1744324" y="310509"/>
                </a:lnTo>
                <a:cubicBezTo>
                  <a:pt x="1744324" y="330684"/>
                  <a:pt x="1727969" y="347038"/>
                  <a:pt x="1707794" y="347038"/>
                </a:cubicBezTo>
                <a:lnTo>
                  <a:pt x="36529" y="347038"/>
                </a:lnTo>
                <a:cubicBezTo>
                  <a:pt x="16368" y="347038"/>
                  <a:pt x="0" y="330670"/>
                  <a:pt x="0" y="310509"/>
                </a:cubicBezTo>
                <a:lnTo>
                  <a:pt x="0" y="36529"/>
                </a:lnTo>
                <a:cubicBezTo>
                  <a:pt x="0" y="16355"/>
                  <a:pt x="16355" y="0"/>
                  <a:pt x="36529" y="0"/>
                </a:cubicBezTo>
                <a:close/>
              </a:path>
            </a:pathLst>
          </a:custGeom>
          <a:solidFill>
            <a:srgbClr val="FF8C69">
              <a:alpha val="5098"/>
            </a:srgbClr>
          </a:solidFill>
          <a:ln/>
        </p:spPr>
      </p:sp>
    </p:spTree>
    <p:extLst>
      <p:ext uri="{BB962C8B-B14F-4D97-AF65-F5344CB8AC3E}">
        <p14:creationId xmlns:p14="http://schemas.microsoft.com/office/powerpoint/2010/main" val="1527771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ca20f8148c02fb619ac78471d7f15f0f0e639421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519" r="51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95000"/>
                </a:srgbClr>
              </a:gs>
              <a:gs pos="100000">
                <a:srgbClr val="1E40AF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525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295275" y="1552575"/>
            <a:ext cx="933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145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619375"/>
            <a:ext cx="47339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自工序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全流程细化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62475"/>
            <a:ext cx="4505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将MO关键动作嵌入1+2三层漏斗各工序环节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实现工序内自我完结、一次做对、质量可控</a:t>
            </a:r>
            <a:endParaRPr lang="en-US" sz="1600" dirty="0"/>
          </a:p>
        </p:txBody>
      </p:sp>
      <p:pic>
        <p:nvPicPr>
          <p:cNvPr id="9" name="图片 8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341" y="349341"/>
            <a:ext cx="11563186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kern="0" spc="55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 · 自工序全流程细化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341" y="628814"/>
            <a:ext cx="11650521" cy="34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6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第一层：本季度业绩兑现（碗里）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341" y="1082957"/>
            <a:ext cx="698682" cy="34934"/>
          </a:xfrm>
          <a:custGeom>
            <a:avLst/>
            <a:gdLst/>
            <a:ahLst/>
            <a:cxnLst/>
            <a:rect l="l" t="t" r="r" b="b"/>
            <a:pathLst>
              <a:path w="698682" h="34934">
                <a:moveTo>
                  <a:pt x="0" y="0"/>
                </a:moveTo>
                <a:lnTo>
                  <a:pt x="698682" y="0"/>
                </a:lnTo>
                <a:lnTo>
                  <a:pt x="698682" y="34934"/>
                </a:lnTo>
                <a:lnTo>
                  <a:pt x="0" y="34934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49341" y="1222693"/>
            <a:ext cx="3737948" cy="2969398"/>
          </a:xfrm>
          <a:custGeom>
            <a:avLst/>
            <a:gdLst/>
            <a:ahLst/>
            <a:cxnLst/>
            <a:rect l="l" t="t" r="r" b="b"/>
            <a:pathLst>
              <a:path w="3737948" h="2969398">
                <a:moveTo>
                  <a:pt x="104790" y="0"/>
                </a:moveTo>
                <a:lnTo>
                  <a:pt x="3633158" y="0"/>
                </a:lnTo>
                <a:cubicBezTo>
                  <a:pt x="3691032" y="0"/>
                  <a:pt x="3737948" y="46916"/>
                  <a:pt x="3737948" y="104790"/>
                </a:cubicBezTo>
                <a:lnTo>
                  <a:pt x="3737948" y="2864608"/>
                </a:lnTo>
                <a:cubicBezTo>
                  <a:pt x="3737948" y="2922482"/>
                  <a:pt x="3691032" y="2969398"/>
                  <a:pt x="3633158" y="2969398"/>
                </a:cubicBezTo>
                <a:lnTo>
                  <a:pt x="104790" y="2969398"/>
                </a:lnTo>
                <a:cubicBezTo>
                  <a:pt x="46916" y="2969398"/>
                  <a:pt x="0" y="2922482"/>
                  <a:pt x="0" y="2864608"/>
                </a:cubicBezTo>
                <a:lnTo>
                  <a:pt x="0" y="104790"/>
                </a:lnTo>
                <a:cubicBezTo>
                  <a:pt x="0" y="46955"/>
                  <a:pt x="46955" y="0"/>
                  <a:pt x="104790" y="0"/>
                </a:cubicBezTo>
                <a:close/>
              </a:path>
            </a:pathLst>
          </a:custGeom>
          <a:gradFill flip="none" rotWithShape="1">
            <a:gsLst>
              <a:gs pos="0">
                <a:srgbClr val="1E40AF"/>
              </a:gs>
              <a:gs pos="100000">
                <a:srgbClr val="3B82F6"/>
              </a:gs>
            </a:gsLst>
            <a:lin ang="2700000" scaled="1"/>
          </a:gradFill>
          <a:ln/>
          <a:effectLst>
            <a:outerShdw blurRad="131003" dist="873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5278" y="1379897"/>
            <a:ext cx="209605" cy="209605"/>
          </a:xfrm>
          <a:custGeom>
            <a:avLst/>
            <a:gdLst/>
            <a:ahLst/>
            <a:cxnLst/>
            <a:rect l="l" t="t" r="r" b="b"/>
            <a:pathLst>
              <a:path w="209605" h="209605">
                <a:moveTo>
                  <a:pt x="26201" y="26201"/>
                </a:moveTo>
                <a:cubicBezTo>
                  <a:pt x="26201" y="18954"/>
                  <a:pt x="20346" y="13100"/>
                  <a:pt x="13100" y="13100"/>
                </a:cubicBezTo>
                <a:cubicBezTo>
                  <a:pt x="5854" y="13100"/>
                  <a:pt x="0" y="18954"/>
                  <a:pt x="0" y="26201"/>
                </a:cubicBezTo>
                <a:lnTo>
                  <a:pt x="0" y="163754"/>
                </a:lnTo>
                <a:cubicBezTo>
                  <a:pt x="0" y="181848"/>
                  <a:pt x="14656" y="196504"/>
                  <a:pt x="32751" y="196504"/>
                </a:cubicBezTo>
                <a:lnTo>
                  <a:pt x="196504" y="196504"/>
                </a:lnTo>
                <a:cubicBezTo>
                  <a:pt x="203750" y="196504"/>
                  <a:pt x="209605" y="190650"/>
                  <a:pt x="209605" y="183404"/>
                </a:cubicBezTo>
                <a:cubicBezTo>
                  <a:pt x="209605" y="176158"/>
                  <a:pt x="203750" y="170304"/>
                  <a:pt x="196504" y="170304"/>
                </a:cubicBezTo>
                <a:lnTo>
                  <a:pt x="32751" y="170304"/>
                </a:lnTo>
                <a:cubicBezTo>
                  <a:pt x="29148" y="170304"/>
                  <a:pt x="26201" y="167356"/>
                  <a:pt x="26201" y="163754"/>
                </a:cubicBezTo>
                <a:lnTo>
                  <a:pt x="26201" y="26201"/>
                </a:lnTo>
                <a:close/>
                <a:moveTo>
                  <a:pt x="192656" y="61653"/>
                </a:moveTo>
                <a:cubicBezTo>
                  <a:pt x="197773" y="56536"/>
                  <a:pt x="197773" y="48225"/>
                  <a:pt x="192656" y="43108"/>
                </a:cubicBezTo>
                <a:cubicBezTo>
                  <a:pt x="187539" y="37991"/>
                  <a:pt x="179228" y="37991"/>
                  <a:pt x="174111" y="43108"/>
                </a:cubicBezTo>
                <a:lnTo>
                  <a:pt x="131003" y="86257"/>
                </a:lnTo>
                <a:lnTo>
                  <a:pt x="107504" y="62799"/>
                </a:lnTo>
                <a:cubicBezTo>
                  <a:pt x="102387" y="57682"/>
                  <a:pt x="94076" y="57682"/>
                  <a:pt x="88959" y="62799"/>
                </a:cubicBezTo>
                <a:lnTo>
                  <a:pt x="49658" y="102100"/>
                </a:lnTo>
                <a:cubicBezTo>
                  <a:pt x="44541" y="107218"/>
                  <a:pt x="44541" y="115528"/>
                  <a:pt x="49658" y="120645"/>
                </a:cubicBezTo>
                <a:cubicBezTo>
                  <a:pt x="54776" y="125763"/>
                  <a:pt x="63086" y="125763"/>
                  <a:pt x="68203" y="120645"/>
                </a:cubicBezTo>
                <a:lnTo>
                  <a:pt x="98252" y="90597"/>
                </a:lnTo>
                <a:lnTo>
                  <a:pt x="121751" y="114095"/>
                </a:lnTo>
                <a:cubicBezTo>
                  <a:pt x="126868" y="119213"/>
                  <a:pt x="135179" y="119213"/>
                  <a:pt x="140296" y="114095"/>
                </a:cubicBezTo>
                <a:lnTo>
                  <a:pt x="192697" y="616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5885" y="1362430"/>
            <a:ext cx="1135358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核心考核指标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9077" y="1711771"/>
            <a:ext cx="3458476" cy="768550"/>
          </a:xfrm>
          <a:custGeom>
            <a:avLst/>
            <a:gdLst/>
            <a:ahLst/>
            <a:cxnLst/>
            <a:rect l="l" t="t" r="r" b="b"/>
            <a:pathLst>
              <a:path w="3458476" h="768550">
                <a:moveTo>
                  <a:pt x="69869" y="0"/>
                </a:moveTo>
                <a:lnTo>
                  <a:pt x="3388607" y="0"/>
                </a:lnTo>
                <a:cubicBezTo>
                  <a:pt x="3427194" y="0"/>
                  <a:pt x="3458476" y="31281"/>
                  <a:pt x="3458476" y="69869"/>
                </a:cubicBezTo>
                <a:lnTo>
                  <a:pt x="3458476" y="698681"/>
                </a:lnTo>
                <a:cubicBezTo>
                  <a:pt x="3458476" y="737269"/>
                  <a:pt x="3427194" y="768550"/>
                  <a:pt x="3388607" y="768550"/>
                </a:cubicBezTo>
                <a:lnTo>
                  <a:pt x="69869" y="768550"/>
                </a:lnTo>
                <a:cubicBezTo>
                  <a:pt x="31281" y="768550"/>
                  <a:pt x="0" y="737269"/>
                  <a:pt x="0" y="698681"/>
                </a:cubicBezTo>
                <a:lnTo>
                  <a:pt x="0" y="69869"/>
                </a:lnTo>
                <a:cubicBezTo>
                  <a:pt x="0" y="31281"/>
                  <a:pt x="31281" y="0"/>
                  <a:pt x="6986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3880" y="1816573"/>
            <a:ext cx="3318739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季度预期兑现率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3880" y="2096046"/>
            <a:ext cx="3353673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 实际兑现金额 / 季度初预期金额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077" y="2585017"/>
            <a:ext cx="3528344" cy="45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聚焦该指标达成情况，以</a:t>
            </a:r>
            <a:r>
              <a:rPr lang="en-US" sz="1100" dirty="0">
                <a:solidFill>
                  <a:srgbClr val="FFFFFF"/>
                </a:solidFill>
                <a:highlight>
                  <a:srgbClr val="FFFFFF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"达标、待补、缺口" </a:t>
            </a:r>
            <a:r>
              <a:rPr lang="en-US" sz="11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为核心判定维度，动态管控业务风险，确保季度目标落地。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43183" y="1222693"/>
            <a:ext cx="7598166" cy="2969398"/>
          </a:xfrm>
          <a:custGeom>
            <a:avLst/>
            <a:gdLst/>
            <a:ahLst/>
            <a:cxnLst/>
            <a:rect l="l" t="t" r="r" b="b"/>
            <a:pathLst>
              <a:path w="7598166" h="2969398">
                <a:moveTo>
                  <a:pt x="34934" y="0"/>
                </a:moveTo>
                <a:lnTo>
                  <a:pt x="7493376" y="0"/>
                </a:lnTo>
                <a:cubicBezTo>
                  <a:pt x="7551250" y="0"/>
                  <a:pt x="7598166" y="46916"/>
                  <a:pt x="7598166" y="104790"/>
                </a:cubicBezTo>
                <a:lnTo>
                  <a:pt x="7598166" y="2864608"/>
                </a:lnTo>
                <a:cubicBezTo>
                  <a:pt x="7598166" y="2922482"/>
                  <a:pt x="7551250" y="2969398"/>
                  <a:pt x="7493376" y="2969398"/>
                </a:cubicBezTo>
                <a:lnTo>
                  <a:pt x="34934" y="2969398"/>
                </a:lnTo>
                <a:cubicBezTo>
                  <a:pt x="15641" y="2969398"/>
                  <a:pt x="0" y="2953758"/>
                  <a:pt x="0" y="2934464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401" dist="349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43183" y="1222693"/>
            <a:ext cx="34934" cy="2969398"/>
          </a:xfrm>
          <a:custGeom>
            <a:avLst/>
            <a:gdLst/>
            <a:ahLst/>
            <a:cxnLst/>
            <a:rect l="l" t="t" r="r" b="b"/>
            <a:pathLst>
              <a:path w="34934" h="2969398">
                <a:moveTo>
                  <a:pt x="34934" y="0"/>
                </a:moveTo>
                <a:lnTo>
                  <a:pt x="34934" y="0"/>
                </a:lnTo>
                <a:lnTo>
                  <a:pt x="34934" y="2969398"/>
                </a:lnTo>
                <a:lnTo>
                  <a:pt x="34934" y="2969398"/>
                </a:lnTo>
                <a:cubicBezTo>
                  <a:pt x="15641" y="2969398"/>
                  <a:pt x="0" y="2953758"/>
                  <a:pt x="0" y="2934464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14" name="Shape 12"/>
          <p:cNvSpPr/>
          <p:nvPr/>
        </p:nvSpPr>
        <p:spPr>
          <a:xfrm>
            <a:off x="4400386" y="1362430"/>
            <a:ext cx="419209" cy="419209"/>
          </a:xfrm>
          <a:custGeom>
            <a:avLst/>
            <a:gdLst/>
            <a:ahLst/>
            <a:cxnLst/>
            <a:rect l="l" t="t" r="r" b="b"/>
            <a:pathLst>
              <a:path w="419209" h="419209">
                <a:moveTo>
                  <a:pt x="69870" y="0"/>
                </a:moveTo>
                <a:lnTo>
                  <a:pt x="349340" y="0"/>
                </a:lnTo>
                <a:cubicBezTo>
                  <a:pt x="387927" y="0"/>
                  <a:pt x="419209" y="31282"/>
                  <a:pt x="419209" y="69870"/>
                </a:cubicBezTo>
                <a:lnTo>
                  <a:pt x="419209" y="349340"/>
                </a:lnTo>
                <a:cubicBezTo>
                  <a:pt x="419209" y="387927"/>
                  <a:pt x="387927" y="419209"/>
                  <a:pt x="349340" y="419209"/>
                </a:cubicBezTo>
                <a:lnTo>
                  <a:pt x="69870" y="419209"/>
                </a:lnTo>
                <a:cubicBezTo>
                  <a:pt x="31282" y="419209"/>
                  <a:pt x="0" y="387927"/>
                  <a:pt x="0" y="349340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22656" y="1484699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0" y="27292"/>
                </a:moveTo>
                <a:cubicBezTo>
                  <a:pt x="0" y="18252"/>
                  <a:pt x="7335" y="10917"/>
                  <a:pt x="16375" y="10917"/>
                </a:cubicBezTo>
                <a:lnTo>
                  <a:pt x="49126" y="10917"/>
                </a:lnTo>
                <a:cubicBezTo>
                  <a:pt x="58167" y="10917"/>
                  <a:pt x="65501" y="18252"/>
                  <a:pt x="65501" y="27292"/>
                </a:cubicBezTo>
                <a:lnTo>
                  <a:pt x="65501" y="32751"/>
                </a:lnTo>
                <a:lnTo>
                  <a:pt x="109169" y="32751"/>
                </a:lnTo>
                <a:lnTo>
                  <a:pt x="109169" y="27292"/>
                </a:lnTo>
                <a:cubicBezTo>
                  <a:pt x="109169" y="18252"/>
                  <a:pt x="116504" y="10917"/>
                  <a:pt x="125544" y="10917"/>
                </a:cubicBezTo>
                <a:lnTo>
                  <a:pt x="158295" y="10917"/>
                </a:lnTo>
                <a:cubicBezTo>
                  <a:pt x="167336" y="10917"/>
                  <a:pt x="174670" y="18252"/>
                  <a:pt x="174670" y="27292"/>
                </a:cubicBezTo>
                <a:lnTo>
                  <a:pt x="174670" y="60043"/>
                </a:lnTo>
                <a:cubicBezTo>
                  <a:pt x="174670" y="69084"/>
                  <a:pt x="167336" y="76418"/>
                  <a:pt x="158295" y="76418"/>
                </a:cubicBezTo>
                <a:lnTo>
                  <a:pt x="125544" y="76418"/>
                </a:lnTo>
                <a:cubicBezTo>
                  <a:pt x="116504" y="76418"/>
                  <a:pt x="109169" y="69084"/>
                  <a:pt x="109169" y="60043"/>
                </a:cubicBezTo>
                <a:lnTo>
                  <a:pt x="109169" y="54585"/>
                </a:lnTo>
                <a:lnTo>
                  <a:pt x="65501" y="54585"/>
                </a:lnTo>
                <a:lnTo>
                  <a:pt x="65501" y="60043"/>
                </a:lnTo>
                <a:cubicBezTo>
                  <a:pt x="65501" y="62533"/>
                  <a:pt x="64921" y="64921"/>
                  <a:pt x="63932" y="67037"/>
                </a:cubicBezTo>
                <a:lnTo>
                  <a:pt x="87335" y="98252"/>
                </a:lnTo>
                <a:lnTo>
                  <a:pt x="114628" y="98252"/>
                </a:lnTo>
                <a:cubicBezTo>
                  <a:pt x="123668" y="98252"/>
                  <a:pt x="131003" y="105587"/>
                  <a:pt x="131003" y="114628"/>
                </a:cubicBezTo>
                <a:lnTo>
                  <a:pt x="131003" y="147378"/>
                </a:lnTo>
                <a:cubicBezTo>
                  <a:pt x="131003" y="156419"/>
                  <a:pt x="123668" y="163754"/>
                  <a:pt x="114628" y="163754"/>
                </a:cubicBezTo>
                <a:lnTo>
                  <a:pt x="81877" y="163754"/>
                </a:lnTo>
                <a:cubicBezTo>
                  <a:pt x="72836" y="163754"/>
                  <a:pt x="65501" y="156419"/>
                  <a:pt x="65501" y="147378"/>
                </a:cubicBezTo>
                <a:lnTo>
                  <a:pt x="65501" y="114628"/>
                </a:lnTo>
                <a:cubicBezTo>
                  <a:pt x="65501" y="112137"/>
                  <a:pt x="66081" y="109749"/>
                  <a:pt x="67071" y="107634"/>
                </a:cubicBezTo>
                <a:lnTo>
                  <a:pt x="43668" y="76418"/>
                </a:lnTo>
                <a:lnTo>
                  <a:pt x="16375" y="76418"/>
                </a:lnTo>
                <a:cubicBezTo>
                  <a:pt x="7335" y="76418"/>
                  <a:pt x="0" y="69084"/>
                  <a:pt x="0" y="60043"/>
                </a:cubicBezTo>
                <a:lnTo>
                  <a:pt x="0" y="272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924398" y="1449765"/>
            <a:ext cx="3353673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自工序全流程（嵌入MO全链路关键动作）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00386" y="1886441"/>
            <a:ext cx="1406097" cy="1048023"/>
          </a:xfrm>
          <a:custGeom>
            <a:avLst/>
            <a:gdLst/>
            <a:ahLst/>
            <a:cxnLst/>
            <a:rect l="l" t="t" r="r" b="b"/>
            <a:pathLst>
              <a:path w="1406097" h="1048023">
                <a:moveTo>
                  <a:pt x="69872" y="0"/>
                </a:moveTo>
                <a:lnTo>
                  <a:pt x="1336226" y="0"/>
                </a:lnTo>
                <a:cubicBezTo>
                  <a:pt x="1374815" y="0"/>
                  <a:pt x="1406097" y="31283"/>
                  <a:pt x="1406097" y="69872"/>
                </a:cubicBezTo>
                <a:lnTo>
                  <a:pt x="1406097" y="978151"/>
                </a:lnTo>
                <a:cubicBezTo>
                  <a:pt x="1406097" y="1016740"/>
                  <a:pt x="1374815" y="1048023"/>
                  <a:pt x="1336226" y="1048023"/>
                </a:cubicBezTo>
                <a:lnTo>
                  <a:pt x="69872" y="1048023"/>
                </a:lnTo>
                <a:cubicBezTo>
                  <a:pt x="31283" y="1048023"/>
                  <a:pt x="0" y="1016740"/>
                  <a:pt x="0" y="978151"/>
                </a:cubicBezTo>
                <a:lnTo>
                  <a:pt x="0" y="69872"/>
                </a:lnTo>
                <a:cubicBezTo>
                  <a:pt x="0" y="31283"/>
                  <a:pt x="31283" y="0"/>
                  <a:pt x="69872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927564" y="1991244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174670" y="0"/>
                </a:moveTo>
                <a:lnTo>
                  <a:pt x="174670" y="0"/>
                </a:lnTo>
                <a:cubicBezTo>
                  <a:pt x="271074" y="0"/>
                  <a:pt x="349341" y="78267"/>
                  <a:pt x="349341" y="174670"/>
                </a:cubicBezTo>
                <a:lnTo>
                  <a:pt x="349341" y="174670"/>
                </a:lnTo>
                <a:cubicBezTo>
                  <a:pt x="349341" y="271074"/>
                  <a:pt x="271074" y="349341"/>
                  <a:pt x="174670" y="349341"/>
                </a:cubicBezTo>
                <a:lnTo>
                  <a:pt x="174670" y="349341"/>
                </a:lnTo>
                <a:cubicBezTo>
                  <a:pt x="78267" y="349341"/>
                  <a:pt x="0" y="271074"/>
                  <a:pt x="0" y="174670"/>
                </a:cubicBezTo>
                <a:lnTo>
                  <a:pt x="0" y="174670"/>
                </a:lnTo>
                <a:cubicBezTo>
                  <a:pt x="0" y="78267"/>
                  <a:pt x="78267" y="0"/>
                  <a:pt x="17467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19" name="Shape 17"/>
          <p:cNvSpPr/>
          <p:nvPr/>
        </p:nvSpPr>
        <p:spPr>
          <a:xfrm>
            <a:off x="5049833" y="2096046"/>
            <a:ext cx="104802" cy="139736"/>
          </a:xfrm>
          <a:custGeom>
            <a:avLst/>
            <a:gdLst/>
            <a:ahLst/>
            <a:cxnLst/>
            <a:rect l="l" t="t" r="r" b="b"/>
            <a:pathLst>
              <a:path w="104802" h="139736">
                <a:moveTo>
                  <a:pt x="84988" y="8734"/>
                </a:moveTo>
                <a:lnTo>
                  <a:pt x="87335" y="8734"/>
                </a:lnTo>
                <a:cubicBezTo>
                  <a:pt x="96969" y="8734"/>
                  <a:pt x="104802" y="16566"/>
                  <a:pt x="104802" y="26201"/>
                </a:cubicBezTo>
                <a:lnTo>
                  <a:pt x="104802" y="122269"/>
                </a:lnTo>
                <a:cubicBezTo>
                  <a:pt x="104802" y="131904"/>
                  <a:pt x="96969" y="139736"/>
                  <a:pt x="87335" y="139736"/>
                </a:cubicBezTo>
                <a:lnTo>
                  <a:pt x="17467" y="139736"/>
                </a:lnTo>
                <a:cubicBezTo>
                  <a:pt x="7833" y="139736"/>
                  <a:pt x="0" y="131904"/>
                  <a:pt x="0" y="122269"/>
                </a:cubicBezTo>
                <a:lnTo>
                  <a:pt x="0" y="26201"/>
                </a:lnTo>
                <a:cubicBezTo>
                  <a:pt x="0" y="16566"/>
                  <a:pt x="7833" y="8734"/>
                  <a:pt x="17467" y="8734"/>
                </a:cubicBezTo>
                <a:lnTo>
                  <a:pt x="19814" y="8734"/>
                </a:lnTo>
                <a:cubicBezTo>
                  <a:pt x="22816" y="3521"/>
                  <a:pt x="28466" y="0"/>
                  <a:pt x="34934" y="0"/>
                </a:cubicBezTo>
                <a:lnTo>
                  <a:pt x="69868" y="0"/>
                </a:lnTo>
                <a:cubicBezTo>
                  <a:pt x="76336" y="0"/>
                  <a:pt x="81986" y="3521"/>
                  <a:pt x="84988" y="8734"/>
                </a:cubicBezTo>
                <a:close/>
                <a:moveTo>
                  <a:pt x="67685" y="30567"/>
                </a:moveTo>
                <a:cubicBezTo>
                  <a:pt x="71315" y="30567"/>
                  <a:pt x="74235" y="27647"/>
                  <a:pt x="74235" y="24017"/>
                </a:cubicBezTo>
                <a:cubicBezTo>
                  <a:pt x="74235" y="20387"/>
                  <a:pt x="71315" y="17467"/>
                  <a:pt x="67685" y="17467"/>
                </a:cubicBezTo>
                <a:lnTo>
                  <a:pt x="37117" y="17467"/>
                </a:lnTo>
                <a:cubicBezTo>
                  <a:pt x="33488" y="17467"/>
                  <a:pt x="30567" y="20387"/>
                  <a:pt x="30567" y="24017"/>
                </a:cubicBezTo>
                <a:cubicBezTo>
                  <a:pt x="30567" y="27647"/>
                  <a:pt x="33488" y="30567"/>
                  <a:pt x="37117" y="30567"/>
                </a:cubicBezTo>
                <a:lnTo>
                  <a:pt x="67685" y="30567"/>
                </a:lnTo>
                <a:close/>
                <a:moveTo>
                  <a:pt x="34934" y="69868"/>
                </a:moveTo>
                <a:cubicBezTo>
                  <a:pt x="34934" y="65048"/>
                  <a:pt x="31021" y="61135"/>
                  <a:pt x="26201" y="61135"/>
                </a:cubicBezTo>
                <a:cubicBezTo>
                  <a:pt x="21380" y="61135"/>
                  <a:pt x="17467" y="65048"/>
                  <a:pt x="17467" y="69868"/>
                </a:cubicBezTo>
                <a:cubicBezTo>
                  <a:pt x="17467" y="74688"/>
                  <a:pt x="21380" y="78602"/>
                  <a:pt x="26201" y="78602"/>
                </a:cubicBezTo>
                <a:cubicBezTo>
                  <a:pt x="31021" y="78602"/>
                  <a:pt x="34934" y="74688"/>
                  <a:pt x="34934" y="69868"/>
                </a:cubicBezTo>
                <a:close/>
                <a:moveTo>
                  <a:pt x="43668" y="69868"/>
                </a:moveTo>
                <a:cubicBezTo>
                  <a:pt x="43668" y="73498"/>
                  <a:pt x="46588" y="76418"/>
                  <a:pt x="50218" y="76418"/>
                </a:cubicBezTo>
                <a:lnTo>
                  <a:pt x="80785" y="76418"/>
                </a:lnTo>
                <a:cubicBezTo>
                  <a:pt x="84415" y="76418"/>
                  <a:pt x="87335" y="73498"/>
                  <a:pt x="87335" y="69868"/>
                </a:cubicBezTo>
                <a:cubicBezTo>
                  <a:pt x="87335" y="66238"/>
                  <a:pt x="84415" y="63318"/>
                  <a:pt x="80785" y="63318"/>
                </a:cubicBezTo>
                <a:lnTo>
                  <a:pt x="50218" y="63318"/>
                </a:lnTo>
                <a:cubicBezTo>
                  <a:pt x="46588" y="63318"/>
                  <a:pt x="43668" y="66238"/>
                  <a:pt x="43668" y="69868"/>
                </a:cubicBezTo>
                <a:close/>
                <a:moveTo>
                  <a:pt x="43668" y="104802"/>
                </a:moveTo>
                <a:cubicBezTo>
                  <a:pt x="43668" y="108432"/>
                  <a:pt x="46588" y="111352"/>
                  <a:pt x="50218" y="111352"/>
                </a:cubicBezTo>
                <a:lnTo>
                  <a:pt x="80785" y="111352"/>
                </a:lnTo>
                <a:cubicBezTo>
                  <a:pt x="84415" y="111352"/>
                  <a:pt x="87335" y="108432"/>
                  <a:pt x="87335" y="104802"/>
                </a:cubicBezTo>
                <a:cubicBezTo>
                  <a:pt x="87335" y="101172"/>
                  <a:pt x="84415" y="98252"/>
                  <a:pt x="80785" y="98252"/>
                </a:cubicBezTo>
                <a:lnTo>
                  <a:pt x="50218" y="98252"/>
                </a:lnTo>
                <a:cubicBezTo>
                  <a:pt x="46588" y="98252"/>
                  <a:pt x="43668" y="101172"/>
                  <a:pt x="43668" y="104802"/>
                </a:cubicBezTo>
                <a:close/>
                <a:moveTo>
                  <a:pt x="26201" y="113536"/>
                </a:moveTo>
                <a:cubicBezTo>
                  <a:pt x="31021" y="113536"/>
                  <a:pt x="34934" y="109622"/>
                  <a:pt x="34934" y="104802"/>
                </a:cubicBezTo>
                <a:cubicBezTo>
                  <a:pt x="34934" y="99982"/>
                  <a:pt x="31021" y="96069"/>
                  <a:pt x="26201" y="96069"/>
                </a:cubicBezTo>
                <a:cubicBezTo>
                  <a:pt x="21380" y="96069"/>
                  <a:pt x="17467" y="99982"/>
                  <a:pt x="17467" y="104802"/>
                </a:cubicBezTo>
                <a:cubicBezTo>
                  <a:pt x="17467" y="109622"/>
                  <a:pt x="21380" y="113536"/>
                  <a:pt x="26201" y="1135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470255" y="2410453"/>
            <a:ext cx="1266361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MO立项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74622" y="2654991"/>
            <a:ext cx="1257628" cy="17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商机立项评审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88572" y="2323117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171464" y="95045"/>
                </a:moveTo>
                <a:cubicBezTo>
                  <a:pt x="175728" y="90781"/>
                  <a:pt x="175728" y="83855"/>
                  <a:pt x="171464" y="79591"/>
                </a:cubicBezTo>
                <a:lnTo>
                  <a:pt x="116879" y="25007"/>
                </a:lnTo>
                <a:cubicBezTo>
                  <a:pt x="112615" y="20742"/>
                  <a:pt x="105689" y="20742"/>
                  <a:pt x="101425" y="25007"/>
                </a:cubicBezTo>
                <a:cubicBezTo>
                  <a:pt x="97160" y="29271"/>
                  <a:pt x="97160" y="36196"/>
                  <a:pt x="101425" y="40461"/>
                </a:cubicBezTo>
                <a:lnTo>
                  <a:pt x="137382" y="76418"/>
                </a:lnTo>
                <a:lnTo>
                  <a:pt x="10917" y="76418"/>
                </a:lnTo>
                <a:cubicBezTo>
                  <a:pt x="4878" y="76418"/>
                  <a:pt x="0" y="81297"/>
                  <a:pt x="0" y="87335"/>
                </a:cubicBezTo>
                <a:cubicBezTo>
                  <a:pt x="0" y="93374"/>
                  <a:pt x="4878" y="98252"/>
                  <a:pt x="10917" y="98252"/>
                </a:cubicBezTo>
                <a:lnTo>
                  <a:pt x="137382" y="98252"/>
                </a:lnTo>
                <a:lnTo>
                  <a:pt x="101425" y="134210"/>
                </a:lnTo>
                <a:cubicBezTo>
                  <a:pt x="97160" y="138474"/>
                  <a:pt x="97160" y="145400"/>
                  <a:pt x="101425" y="149664"/>
                </a:cubicBezTo>
                <a:cubicBezTo>
                  <a:pt x="105689" y="153928"/>
                  <a:pt x="112615" y="153928"/>
                  <a:pt x="116879" y="149664"/>
                </a:cubicBezTo>
                <a:lnTo>
                  <a:pt x="171464" y="9507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7347732" y="1886441"/>
            <a:ext cx="1406097" cy="1048023"/>
          </a:xfrm>
          <a:custGeom>
            <a:avLst/>
            <a:gdLst/>
            <a:ahLst/>
            <a:cxnLst/>
            <a:rect l="l" t="t" r="r" b="b"/>
            <a:pathLst>
              <a:path w="1406097" h="1048023">
                <a:moveTo>
                  <a:pt x="69872" y="0"/>
                </a:moveTo>
                <a:lnTo>
                  <a:pt x="1336226" y="0"/>
                </a:lnTo>
                <a:cubicBezTo>
                  <a:pt x="1374815" y="0"/>
                  <a:pt x="1406097" y="31283"/>
                  <a:pt x="1406097" y="69872"/>
                </a:cubicBezTo>
                <a:lnTo>
                  <a:pt x="1406097" y="978151"/>
                </a:lnTo>
                <a:cubicBezTo>
                  <a:pt x="1406097" y="1016740"/>
                  <a:pt x="1374815" y="1048023"/>
                  <a:pt x="1336226" y="1048023"/>
                </a:cubicBezTo>
                <a:lnTo>
                  <a:pt x="69872" y="1048023"/>
                </a:lnTo>
                <a:cubicBezTo>
                  <a:pt x="31283" y="1048023"/>
                  <a:pt x="0" y="1016740"/>
                  <a:pt x="0" y="978151"/>
                </a:cubicBezTo>
                <a:lnTo>
                  <a:pt x="0" y="69872"/>
                </a:lnTo>
                <a:cubicBezTo>
                  <a:pt x="0" y="31283"/>
                  <a:pt x="31283" y="0"/>
                  <a:pt x="69872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874910" y="1991244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174670" y="0"/>
                </a:moveTo>
                <a:lnTo>
                  <a:pt x="174670" y="0"/>
                </a:lnTo>
                <a:cubicBezTo>
                  <a:pt x="271074" y="0"/>
                  <a:pt x="349341" y="78267"/>
                  <a:pt x="349341" y="174670"/>
                </a:cubicBezTo>
                <a:lnTo>
                  <a:pt x="349341" y="174670"/>
                </a:lnTo>
                <a:cubicBezTo>
                  <a:pt x="349341" y="271074"/>
                  <a:pt x="271074" y="349341"/>
                  <a:pt x="174670" y="349341"/>
                </a:cubicBezTo>
                <a:lnTo>
                  <a:pt x="174670" y="349341"/>
                </a:lnTo>
                <a:cubicBezTo>
                  <a:pt x="78267" y="349341"/>
                  <a:pt x="0" y="271074"/>
                  <a:pt x="0" y="174670"/>
                </a:cubicBezTo>
                <a:lnTo>
                  <a:pt x="0" y="174670"/>
                </a:lnTo>
                <a:cubicBezTo>
                  <a:pt x="0" y="78267"/>
                  <a:pt x="78267" y="0"/>
                  <a:pt x="17467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7997179" y="2096046"/>
            <a:ext cx="104802" cy="139736"/>
          </a:xfrm>
          <a:custGeom>
            <a:avLst/>
            <a:gdLst/>
            <a:ahLst/>
            <a:cxnLst/>
            <a:rect l="l" t="t" r="r" b="b"/>
            <a:pathLst>
              <a:path w="104802" h="139736">
                <a:moveTo>
                  <a:pt x="0" y="17467"/>
                </a:moveTo>
                <a:cubicBezTo>
                  <a:pt x="0" y="7833"/>
                  <a:pt x="7833" y="0"/>
                  <a:pt x="17467" y="0"/>
                </a:cubicBezTo>
                <a:lnTo>
                  <a:pt x="58269" y="0"/>
                </a:lnTo>
                <a:cubicBezTo>
                  <a:pt x="62909" y="0"/>
                  <a:pt x="67357" y="1829"/>
                  <a:pt x="70632" y="5104"/>
                </a:cubicBezTo>
                <a:lnTo>
                  <a:pt x="99699" y="34197"/>
                </a:lnTo>
                <a:cubicBezTo>
                  <a:pt x="102974" y="37472"/>
                  <a:pt x="104802" y="41921"/>
                  <a:pt x="104802" y="46561"/>
                </a:cubicBezTo>
                <a:lnTo>
                  <a:pt x="104802" y="122269"/>
                </a:lnTo>
                <a:cubicBezTo>
                  <a:pt x="104802" y="131904"/>
                  <a:pt x="96969" y="139736"/>
                  <a:pt x="87335" y="139736"/>
                </a:cubicBezTo>
                <a:lnTo>
                  <a:pt x="17467" y="139736"/>
                </a:lnTo>
                <a:cubicBezTo>
                  <a:pt x="7833" y="139736"/>
                  <a:pt x="0" y="131904"/>
                  <a:pt x="0" y="122269"/>
                </a:cubicBezTo>
                <a:lnTo>
                  <a:pt x="0" y="17467"/>
                </a:lnTo>
                <a:close/>
                <a:moveTo>
                  <a:pt x="56768" y="15966"/>
                </a:moveTo>
                <a:lnTo>
                  <a:pt x="56768" y="41484"/>
                </a:lnTo>
                <a:cubicBezTo>
                  <a:pt x="56768" y="45114"/>
                  <a:pt x="59688" y="48034"/>
                  <a:pt x="63318" y="48034"/>
                </a:cubicBezTo>
                <a:lnTo>
                  <a:pt x="88836" y="48034"/>
                </a:lnTo>
                <a:lnTo>
                  <a:pt x="56768" y="15966"/>
                </a:lnTo>
                <a:close/>
                <a:moveTo>
                  <a:pt x="24017" y="17467"/>
                </a:moveTo>
                <a:cubicBezTo>
                  <a:pt x="20387" y="17467"/>
                  <a:pt x="17467" y="20387"/>
                  <a:pt x="17467" y="24017"/>
                </a:cubicBezTo>
                <a:cubicBezTo>
                  <a:pt x="17467" y="27647"/>
                  <a:pt x="20387" y="30567"/>
                  <a:pt x="24017" y="30567"/>
                </a:cubicBezTo>
                <a:lnTo>
                  <a:pt x="37117" y="30567"/>
                </a:lnTo>
                <a:cubicBezTo>
                  <a:pt x="40747" y="30567"/>
                  <a:pt x="43668" y="27647"/>
                  <a:pt x="43668" y="24017"/>
                </a:cubicBezTo>
                <a:cubicBezTo>
                  <a:pt x="43668" y="20387"/>
                  <a:pt x="40747" y="17467"/>
                  <a:pt x="37117" y="17467"/>
                </a:cubicBezTo>
                <a:lnTo>
                  <a:pt x="24017" y="17467"/>
                </a:lnTo>
                <a:close/>
                <a:moveTo>
                  <a:pt x="24017" y="43668"/>
                </a:moveTo>
                <a:cubicBezTo>
                  <a:pt x="20387" y="43668"/>
                  <a:pt x="17467" y="46588"/>
                  <a:pt x="17467" y="50218"/>
                </a:cubicBezTo>
                <a:cubicBezTo>
                  <a:pt x="17467" y="53848"/>
                  <a:pt x="20387" y="56768"/>
                  <a:pt x="24017" y="56768"/>
                </a:cubicBezTo>
                <a:lnTo>
                  <a:pt x="37117" y="56768"/>
                </a:lnTo>
                <a:cubicBezTo>
                  <a:pt x="40747" y="56768"/>
                  <a:pt x="43668" y="53848"/>
                  <a:pt x="43668" y="50218"/>
                </a:cubicBezTo>
                <a:cubicBezTo>
                  <a:pt x="43668" y="46588"/>
                  <a:pt x="40747" y="43668"/>
                  <a:pt x="37117" y="43668"/>
                </a:cubicBezTo>
                <a:lnTo>
                  <a:pt x="24017" y="43668"/>
                </a:lnTo>
                <a:close/>
                <a:moveTo>
                  <a:pt x="43204" y="87335"/>
                </a:moveTo>
                <a:cubicBezTo>
                  <a:pt x="40120" y="87335"/>
                  <a:pt x="37227" y="88727"/>
                  <a:pt x="35316" y="91129"/>
                </a:cubicBezTo>
                <a:lnTo>
                  <a:pt x="18914" y="111625"/>
                </a:lnTo>
                <a:cubicBezTo>
                  <a:pt x="16648" y="114436"/>
                  <a:pt x="17112" y="118585"/>
                  <a:pt x="19923" y="120823"/>
                </a:cubicBezTo>
                <a:cubicBezTo>
                  <a:pt x="22734" y="123061"/>
                  <a:pt x="26883" y="122624"/>
                  <a:pt x="29121" y="119786"/>
                </a:cubicBezTo>
                <a:lnTo>
                  <a:pt x="41976" y="103738"/>
                </a:lnTo>
                <a:lnTo>
                  <a:pt x="46124" y="117575"/>
                </a:lnTo>
                <a:cubicBezTo>
                  <a:pt x="46943" y="120359"/>
                  <a:pt x="49508" y="122242"/>
                  <a:pt x="52401" y="122242"/>
                </a:cubicBezTo>
                <a:lnTo>
                  <a:pt x="80785" y="122242"/>
                </a:lnTo>
                <a:cubicBezTo>
                  <a:pt x="84415" y="122242"/>
                  <a:pt x="87335" y="119322"/>
                  <a:pt x="87335" y="115692"/>
                </a:cubicBezTo>
                <a:cubicBezTo>
                  <a:pt x="87335" y="112062"/>
                  <a:pt x="84415" y="109142"/>
                  <a:pt x="80785" y="109142"/>
                </a:cubicBezTo>
                <a:lnTo>
                  <a:pt x="57286" y="109142"/>
                </a:lnTo>
                <a:lnTo>
                  <a:pt x="52892" y="94513"/>
                </a:lnTo>
                <a:cubicBezTo>
                  <a:pt x="51610" y="90228"/>
                  <a:pt x="47680" y="87308"/>
                  <a:pt x="43204" y="873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417601" y="2410453"/>
            <a:ext cx="1266361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方案评审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21967" y="2654991"/>
            <a:ext cx="1257628" cy="17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技术方案确认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435918" y="2323117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171464" y="95045"/>
                </a:moveTo>
                <a:cubicBezTo>
                  <a:pt x="175728" y="90781"/>
                  <a:pt x="175728" y="83855"/>
                  <a:pt x="171464" y="79591"/>
                </a:cubicBezTo>
                <a:lnTo>
                  <a:pt x="116879" y="25007"/>
                </a:lnTo>
                <a:cubicBezTo>
                  <a:pt x="112615" y="20742"/>
                  <a:pt x="105689" y="20742"/>
                  <a:pt x="101425" y="25007"/>
                </a:cubicBezTo>
                <a:cubicBezTo>
                  <a:pt x="97160" y="29271"/>
                  <a:pt x="97160" y="36196"/>
                  <a:pt x="101425" y="40461"/>
                </a:cubicBezTo>
                <a:lnTo>
                  <a:pt x="137382" y="76418"/>
                </a:lnTo>
                <a:lnTo>
                  <a:pt x="10917" y="76418"/>
                </a:lnTo>
                <a:cubicBezTo>
                  <a:pt x="4878" y="76418"/>
                  <a:pt x="0" y="81297"/>
                  <a:pt x="0" y="87335"/>
                </a:cubicBezTo>
                <a:cubicBezTo>
                  <a:pt x="0" y="93374"/>
                  <a:pt x="4878" y="98252"/>
                  <a:pt x="10917" y="98252"/>
                </a:cubicBezTo>
                <a:lnTo>
                  <a:pt x="137382" y="98252"/>
                </a:lnTo>
                <a:lnTo>
                  <a:pt x="101425" y="134210"/>
                </a:lnTo>
                <a:cubicBezTo>
                  <a:pt x="97160" y="138474"/>
                  <a:pt x="97160" y="145400"/>
                  <a:pt x="101425" y="149664"/>
                </a:cubicBezTo>
                <a:cubicBezTo>
                  <a:pt x="105689" y="153928"/>
                  <a:pt x="112615" y="153928"/>
                  <a:pt x="116879" y="149664"/>
                </a:cubicBezTo>
                <a:lnTo>
                  <a:pt x="171464" y="95079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5079" y="1886441"/>
            <a:ext cx="1406097" cy="1048023"/>
          </a:xfrm>
          <a:custGeom>
            <a:avLst/>
            <a:gdLst/>
            <a:ahLst/>
            <a:cxnLst/>
            <a:rect l="l" t="t" r="r" b="b"/>
            <a:pathLst>
              <a:path w="1406097" h="1048023">
                <a:moveTo>
                  <a:pt x="69872" y="0"/>
                </a:moveTo>
                <a:lnTo>
                  <a:pt x="1336226" y="0"/>
                </a:lnTo>
                <a:cubicBezTo>
                  <a:pt x="1374815" y="0"/>
                  <a:pt x="1406097" y="31283"/>
                  <a:pt x="1406097" y="69872"/>
                </a:cubicBezTo>
                <a:lnTo>
                  <a:pt x="1406097" y="978151"/>
                </a:lnTo>
                <a:cubicBezTo>
                  <a:pt x="1406097" y="1016740"/>
                  <a:pt x="1374815" y="1048023"/>
                  <a:pt x="1336226" y="1048023"/>
                </a:cubicBezTo>
                <a:lnTo>
                  <a:pt x="69872" y="1048023"/>
                </a:lnTo>
                <a:cubicBezTo>
                  <a:pt x="31283" y="1048023"/>
                  <a:pt x="0" y="1016740"/>
                  <a:pt x="0" y="978151"/>
                </a:cubicBezTo>
                <a:lnTo>
                  <a:pt x="0" y="69872"/>
                </a:lnTo>
                <a:cubicBezTo>
                  <a:pt x="0" y="31283"/>
                  <a:pt x="31283" y="0"/>
                  <a:pt x="69872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822365" y="1991244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174670" y="0"/>
                </a:moveTo>
                <a:lnTo>
                  <a:pt x="174670" y="0"/>
                </a:lnTo>
                <a:cubicBezTo>
                  <a:pt x="271074" y="0"/>
                  <a:pt x="349341" y="78267"/>
                  <a:pt x="349341" y="174670"/>
                </a:cubicBezTo>
                <a:lnTo>
                  <a:pt x="349341" y="174670"/>
                </a:lnTo>
                <a:cubicBezTo>
                  <a:pt x="349341" y="271074"/>
                  <a:pt x="271074" y="349341"/>
                  <a:pt x="174670" y="349341"/>
                </a:cubicBezTo>
                <a:lnTo>
                  <a:pt x="174670" y="349341"/>
                </a:lnTo>
                <a:cubicBezTo>
                  <a:pt x="78267" y="349341"/>
                  <a:pt x="0" y="271074"/>
                  <a:pt x="0" y="174670"/>
                </a:cubicBezTo>
                <a:lnTo>
                  <a:pt x="0" y="174670"/>
                </a:lnTo>
                <a:cubicBezTo>
                  <a:pt x="0" y="78267"/>
                  <a:pt x="78267" y="0"/>
                  <a:pt x="17467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18434" y="2096046"/>
            <a:ext cx="157203" cy="139736"/>
          </a:xfrm>
          <a:custGeom>
            <a:avLst/>
            <a:gdLst/>
            <a:ahLst/>
            <a:cxnLst/>
            <a:rect l="l" t="t" r="r" b="b"/>
            <a:pathLst>
              <a:path w="157203" h="139736">
                <a:moveTo>
                  <a:pt x="46288" y="41866"/>
                </a:moveTo>
                <a:lnTo>
                  <a:pt x="41184" y="36763"/>
                </a:lnTo>
                <a:cubicBezTo>
                  <a:pt x="37772" y="33351"/>
                  <a:pt x="37772" y="27811"/>
                  <a:pt x="41184" y="24399"/>
                </a:cubicBezTo>
                <a:lnTo>
                  <a:pt x="72488" y="-6932"/>
                </a:lnTo>
                <a:cubicBezTo>
                  <a:pt x="75900" y="-10344"/>
                  <a:pt x="81440" y="-10344"/>
                  <a:pt x="84852" y="-6932"/>
                </a:cubicBezTo>
                <a:lnTo>
                  <a:pt x="89955" y="-1801"/>
                </a:lnTo>
                <a:cubicBezTo>
                  <a:pt x="93367" y="1610"/>
                  <a:pt x="93367" y="7151"/>
                  <a:pt x="89955" y="10562"/>
                </a:cubicBezTo>
                <a:lnTo>
                  <a:pt x="58651" y="41866"/>
                </a:lnTo>
                <a:cubicBezTo>
                  <a:pt x="55240" y="45278"/>
                  <a:pt x="49699" y="45278"/>
                  <a:pt x="46288" y="41866"/>
                </a:cubicBezTo>
                <a:close/>
                <a:moveTo>
                  <a:pt x="75327" y="57778"/>
                </a:moveTo>
                <a:lnTo>
                  <a:pt x="66757" y="49208"/>
                </a:lnTo>
                <a:lnTo>
                  <a:pt x="97324" y="18641"/>
                </a:lnTo>
                <a:lnTo>
                  <a:pt x="129911" y="51228"/>
                </a:lnTo>
                <a:lnTo>
                  <a:pt x="99344" y="81795"/>
                </a:lnTo>
                <a:lnTo>
                  <a:pt x="90774" y="73225"/>
                </a:lnTo>
                <a:lnTo>
                  <a:pt x="27456" y="136543"/>
                </a:lnTo>
                <a:cubicBezTo>
                  <a:pt x="23198" y="140801"/>
                  <a:pt x="16293" y="140801"/>
                  <a:pt x="12009" y="136543"/>
                </a:cubicBezTo>
                <a:cubicBezTo>
                  <a:pt x="7724" y="132286"/>
                  <a:pt x="7751" y="125381"/>
                  <a:pt x="12009" y="121096"/>
                </a:cubicBezTo>
                <a:lnTo>
                  <a:pt x="75327" y="57778"/>
                </a:lnTo>
                <a:close/>
                <a:moveTo>
                  <a:pt x="106685" y="102237"/>
                </a:moveTo>
                <a:cubicBezTo>
                  <a:pt x="103274" y="98825"/>
                  <a:pt x="103274" y="93285"/>
                  <a:pt x="106685" y="89873"/>
                </a:cubicBezTo>
                <a:lnTo>
                  <a:pt x="137990" y="58569"/>
                </a:lnTo>
                <a:cubicBezTo>
                  <a:pt x="141401" y="55158"/>
                  <a:pt x="146942" y="55158"/>
                  <a:pt x="150353" y="58569"/>
                </a:cubicBezTo>
                <a:lnTo>
                  <a:pt x="155457" y="63673"/>
                </a:lnTo>
                <a:cubicBezTo>
                  <a:pt x="158868" y="67084"/>
                  <a:pt x="158868" y="72625"/>
                  <a:pt x="155457" y="76036"/>
                </a:cubicBezTo>
                <a:lnTo>
                  <a:pt x="124153" y="107368"/>
                </a:lnTo>
                <a:cubicBezTo>
                  <a:pt x="120741" y="110779"/>
                  <a:pt x="115201" y="110779"/>
                  <a:pt x="111789" y="107368"/>
                </a:cubicBezTo>
                <a:lnTo>
                  <a:pt x="106685" y="1022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364947" y="2410453"/>
            <a:ext cx="1266361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369314" y="2654991"/>
            <a:ext cx="1257628" cy="17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投标评审执行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14899" y="3441009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171464" y="95045"/>
                </a:moveTo>
                <a:cubicBezTo>
                  <a:pt x="175728" y="90781"/>
                  <a:pt x="175728" y="83855"/>
                  <a:pt x="171464" y="79591"/>
                </a:cubicBezTo>
                <a:lnTo>
                  <a:pt x="116879" y="25007"/>
                </a:lnTo>
                <a:cubicBezTo>
                  <a:pt x="112615" y="20742"/>
                  <a:pt x="105689" y="20742"/>
                  <a:pt x="101425" y="25007"/>
                </a:cubicBezTo>
                <a:cubicBezTo>
                  <a:pt x="97160" y="29271"/>
                  <a:pt x="97160" y="36196"/>
                  <a:pt x="101425" y="40461"/>
                </a:cubicBezTo>
                <a:lnTo>
                  <a:pt x="137382" y="76418"/>
                </a:lnTo>
                <a:lnTo>
                  <a:pt x="10917" y="76418"/>
                </a:lnTo>
                <a:cubicBezTo>
                  <a:pt x="4878" y="76418"/>
                  <a:pt x="0" y="81297"/>
                  <a:pt x="0" y="87335"/>
                </a:cubicBezTo>
                <a:cubicBezTo>
                  <a:pt x="0" y="93374"/>
                  <a:pt x="4878" y="98252"/>
                  <a:pt x="10917" y="98252"/>
                </a:cubicBezTo>
                <a:lnTo>
                  <a:pt x="137382" y="98252"/>
                </a:lnTo>
                <a:lnTo>
                  <a:pt x="101425" y="134210"/>
                </a:lnTo>
                <a:cubicBezTo>
                  <a:pt x="97160" y="138474"/>
                  <a:pt x="97160" y="145400"/>
                  <a:pt x="101425" y="149664"/>
                </a:cubicBezTo>
                <a:cubicBezTo>
                  <a:pt x="105689" y="153928"/>
                  <a:pt x="112615" y="153928"/>
                  <a:pt x="116879" y="149664"/>
                </a:cubicBezTo>
                <a:lnTo>
                  <a:pt x="171464" y="95079"/>
                </a:ln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35" name="Shape 33"/>
          <p:cNvSpPr/>
          <p:nvPr/>
        </p:nvSpPr>
        <p:spPr>
          <a:xfrm>
            <a:off x="5874060" y="3004332"/>
            <a:ext cx="1406097" cy="1048023"/>
          </a:xfrm>
          <a:custGeom>
            <a:avLst/>
            <a:gdLst/>
            <a:ahLst/>
            <a:cxnLst/>
            <a:rect l="l" t="t" r="r" b="b"/>
            <a:pathLst>
              <a:path w="1406097" h="1048023">
                <a:moveTo>
                  <a:pt x="69872" y="0"/>
                </a:moveTo>
                <a:lnTo>
                  <a:pt x="1336226" y="0"/>
                </a:lnTo>
                <a:cubicBezTo>
                  <a:pt x="1374815" y="0"/>
                  <a:pt x="1406097" y="31283"/>
                  <a:pt x="1406097" y="69872"/>
                </a:cubicBezTo>
                <a:lnTo>
                  <a:pt x="1406097" y="978151"/>
                </a:lnTo>
                <a:cubicBezTo>
                  <a:pt x="1406097" y="1016740"/>
                  <a:pt x="1374815" y="1048023"/>
                  <a:pt x="1336226" y="1048023"/>
                </a:cubicBezTo>
                <a:lnTo>
                  <a:pt x="69872" y="1048023"/>
                </a:lnTo>
                <a:cubicBezTo>
                  <a:pt x="31283" y="1048023"/>
                  <a:pt x="0" y="1016740"/>
                  <a:pt x="0" y="978151"/>
                </a:cubicBezTo>
                <a:lnTo>
                  <a:pt x="0" y="69872"/>
                </a:lnTo>
                <a:cubicBezTo>
                  <a:pt x="0" y="31283"/>
                  <a:pt x="31283" y="0"/>
                  <a:pt x="69872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01237" y="3109135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174670" y="0"/>
                </a:moveTo>
                <a:lnTo>
                  <a:pt x="174670" y="0"/>
                </a:lnTo>
                <a:cubicBezTo>
                  <a:pt x="271074" y="0"/>
                  <a:pt x="349341" y="78267"/>
                  <a:pt x="349341" y="174670"/>
                </a:cubicBezTo>
                <a:lnTo>
                  <a:pt x="349341" y="174670"/>
                </a:lnTo>
                <a:cubicBezTo>
                  <a:pt x="349341" y="271074"/>
                  <a:pt x="271074" y="349341"/>
                  <a:pt x="174670" y="349341"/>
                </a:cubicBezTo>
                <a:lnTo>
                  <a:pt x="174670" y="349341"/>
                </a:lnTo>
                <a:cubicBezTo>
                  <a:pt x="78267" y="349341"/>
                  <a:pt x="0" y="271074"/>
                  <a:pt x="0" y="174670"/>
                </a:cubicBezTo>
                <a:lnTo>
                  <a:pt x="0" y="174670"/>
                </a:lnTo>
                <a:cubicBezTo>
                  <a:pt x="0" y="78267"/>
                  <a:pt x="78267" y="0"/>
                  <a:pt x="17467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37" name="Shape 35"/>
          <p:cNvSpPr/>
          <p:nvPr/>
        </p:nvSpPr>
        <p:spPr>
          <a:xfrm>
            <a:off x="6497306" y="3213937"/>
            <a:ext cx="157203" cy="139736"/>
          </a:xfrm>
          <a:custGeom>
            <a:avLst/>
            <a:gdLst/>
            <a:ahLst/>
            <a:cxnLst/>
            <a:rect l="l" t="t" r="r" b="b"/>
            <a:pathLst>
              <a:path w="157203" h="139736">
                <a:moveTo>
                  <a:pt x="73389" y="23253"/>
                </a:moveTo>
                <a:lnTo>
                  <a:pt x="41566" y="58624"/>
                </a:lnTo>
                <a:cubicBezTo>
                  <a:pt x="40311" y="60016"/>
                  <a:pt x="40365" y="62172"/>
                  <a:pt x="41703" y="63509"/>
                </a:cubicBezTo>
                <a:cubicBezTo>
                  <a:pt x="50027" y="71833"/>
                  <a:pt x="63536" y="71833"/>
                  <a:pt x="71861" y="63509"/>
                </a:cubicBezTo>
                <a:lnTo>
                  <a:pt x="80539" y="54830"/>
                </a:lnTo>
                <a:cubicBezTo>
                  <a:pt x="81686" y="53684"/>
                  <a:pt x="83132" y="53056"/>
                  <a:pt x="84606" y="52947"/>
                </a:cubicBezTo>
                <a:cubicBezTo>
                  <a:pt x="86462" y="52783"/>
                  <a:pt x="88372" y="53411"/>
                  <a:pt x="89792" y="54830"/>
                </a:cubicBezTo>
                <a:lnTo>
                  <a:pt x="137990" y="102619"/>
                </a:lnTo>
                <a:lnTo>
                  <a:pt x="157203" y="87335"/>
                </a:lnTo>
                <a:lnTo>
                  <a:pt x="157203" y="8734"/>
                </a:lnTo>
                <a:lnTo>
                  <a:pt x="126636" y="26201"/>
                </a:lnTo>
                <a:lnTo>
                  <a:pt x="120141" y="21861"/>
                </a:lnTo>
                <a:cubicBezTo>
                  <a:pt x="115828" y="18995"/>
                  <a:pt x="110779" y="17467"/>
                  <a:pt x="105594" y="17467"/>
                </a:cubicBezTo>
                <a:lnTo>
                  <a:pt x="86380" y="17467"/>
                </a:lnTo>
                <a:cubicBezTo>
                  <a:pt x="86080" y="17467"/>
                  <a:pt x="85752" y="17467"/>
                  <a:pt x="85452" y="17494"/>
                </a:cubicBezTo>
                <a:cubicBezTo>
                  <a:pt x="80840" y="17740"/>
                  <a:pt x="76500" y="19814"/>
                  <a:pt x="73389" y="23253"/>
                </a:cubicBezTo>
                <a:close/>
                <a:moveTo>
                  <a:pt x="31823" y="49863"/>
                </a:moveTo>
                <a:lnTo>
                  <a:pt x="60971" y="17467"/>
                </a:lnTo>
                <a:lnTo>
                  <a:pt x="50163" y="17467"/>
                </a:lnTo>
                <a:cubicBezTo>
                  <a:pt x="43204" y="17467"/>
                  <a:pt x="36544" y="20224"/>
                  <a:pt x="31632" y="25136"/>
                </a:cubicBezTo>
                <a:lnTo>
                  <a:pt x="30567" y="26201"/>
                </a:lnTo>
                <a:lnTo>
                  <a:pt x="0" y="8734"/>
                </a:lnTo>
                <a:lnTo>
                  <a:pt x="0" y="87335"/>
                </a:lnTo>
                <a:lnTo>
                  <a:pt x="42685" y="122897"/>
                </a:lnTo>
                <a:cubicBezTo>
                  <a:pt x="48962" y="128137"/>
                  <a:pt x="56877" y="131003"/>
                  <a:pt x="65037" y="131003"/>
                </a:cubicBezTo>
                <a:lnTo>
                  <a:pt x="69322" y="131003"/>
                </a:lnTo>
                <a:lnTo>
                  <a:pt x="67412" y="129092"/>
                </a:lnTo>
                <a:cubicBezTo>
                  <a:pt x="64846" y="126527"/>
                  <a:pt x="64846" y="122379"/>
                  <a:pt x="67412" y="119840"/>
                </a:cubicBezTo>
                <a:cubicBezTo>
                  <a:pt x="69977" y="117302"/>
                  <a:pt x="74126" y="117275"/>
                  <a:pt x="76664" y="119840"/>
                </a:cubicBezTo>
                <a:lnTo>
                  <a:pt x="87854" y="131030"/>
                </a:lnTo>
                <a:lnTo>
                  <a:pt x="90310" y="131030"/>
                </a:lnTo>
                <a:cubicBezTo>
                  <a:pt x="95523" y="131030"/>
                  <a:pt x="100627" y="129857"/>
                  <a:pt x="105266" y="127673"/>
                </a:cubicBezTo>
                <a:lnTo>
                  <a:pt x="97979" y="120359"/>
                </a:lnTo>
                <a:cubicBezTo>
                  <a:pt x="95414" y="117793"/>
                  <a:pt x="95414" y="113645"/>
                  <a:pt x="97979" y="111107"/>
                </a:cubicBezTo>
                <a:cubicBezTo>
                  <a:pt x="100545" y="108569"/>
                  <a:pt x="104693" y="108541"/>
                  <a:pt x="107231" y="111107"/>
                </a:cubicBezTo>
                <a:lnTo>
                  <a:pt x="115965" y="119840"/>
                </a:lnTo>
                <a:lnTo>
                  <a:pt x="120741" y="115064"/>
                </a:lnTo>
                <a:cubicBezTo>
                  <a:pt x="123170" y="112635"/>
                  <a:pt x="123880" y="109114"/>
                  <a:pt x="122815" y="106030"/>
                </a:cubicBezTo>
                <a:lnTo>
                  <a:pt x="85179" y="68695"/>
                </a:lnTo>
                <a:lnTo>
                  <a:pt x="81113" y="72761"/>
                </a:lnTo>
                <a:cubicBezTo>
                  <a:pt x="67658" y="86216"/>
                  <a:pt x="45878" y="86216"/>
                  <a:pt x="32423" y="72761"/>
                </a:cubicBezTo>
                <a:cubicBezTo>
                  <a:pt x="26146" y="66484"/>
                  <a:pt x="25900" y="56413"/>
                  <a:pt x="31823" y="49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928" y="3528344"/>
            <a:ext cx="1266361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签约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48294" y="3772883"/>
            <a:ext cx="1257628" cy="17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合同签订确认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962245" y="3441009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171464" y="95045"/>
                </a:moveTo>
                <a:cubicBezTo>
                  <a:pt x="175728" y="90781"/>
                  <a:pt x="175728" y="83855"/>
                  <a:pt x="171464" y="79591"/>
                </a:cubicBezTo>
                <a:lnTo>
                  <a:pt x="116879" y="25007"/>
                </a:lnTo>
                <a:cubicBezTo>
                  <a:pt x="112615" y="20742"/>
                  <a:pt x="105689" y="20742"/>
                  <a:pt x="101425" y="25007"/>
                </a:cubicBezTo>
                <a:cubicBezTo>
                  <a:pt x="97160" y="29271"/>
                  <a:pt x="97160" y="36196"/>
                  <a:pt x="101425" y="40461"/>
                </a:cubicBezTo>
                <a:lnTo>
                  <a:pt x="137382" y="76418"/>
                </a:lnTo>
                <a:lnTo>
                  <a:pt x="10917" y="76418"/>
                </a:lnTo>
                <a:cubicBezTo>
                  <a:pt x="4878" y="76418"/>
                  <a:pt x="0" y="81297"/>
                  <a:pt x="0" y="87335"/>
                </a:cubicBezTo>
                <a:cubicBezTo>
                  <a:pt x="0" y="93374"/>
                  <a:pt x="4878" y="98252"/>
                  <a:pt x="10917" y="98252"/>
                </a:cubicBezTo>
                <a:lnTo>
                  <a:pt x="137382" y="98252"/>
                </a:lnTo>
                <a:lnTo>
                  <a:pt x="101425" y="134210"/>
                </a:lnTo>
                <a:cubicBezTo>
                  <a:pt x="97160" y="138474"/>
                  <a:pt x="97160" y="145400"/>
                  <a:pt x="101425" y="149664"/>
                </a:cubicBezTo>
                <a:cubicBezTo>
                  <a:pt x="105689" y="153928"/>
                  <a:pt x="112615" y="153928"/>
                  <a:pt x="116879" y="149664"/>
                </a:cubicBezTo>
                <a:lnTo>
                  <a:pt x="171464" y="95079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1" name="Shape 39"/>
          <p:cNvSpPr/>
          <p:nvPr/>
        </p:nvSpPr>
        <p:spPr>
          <a:xfrm>
            <a:off x="8821405" y="3004332"/>
            <a:ext cx="1406097" cy="1048023"/>
          </a:xfrm>
          <a:custGeom>
            <a:avLst/>
            <a:gdLst/>
            <a:ahLst/>
            <a:cxnLst/>
            <a:rect l="l" t="t" r="r" b="b"/>
            <a:pathLst>
              <a:path w="1406097" h="1048023">
                <a:moveTo>
                  <a:pt x="69872" y="0"/>
                </a:moveTo>
                <a:lnTo>
                  <a:pt x="1336226" y="0"/>
                </a:lnTo>
                <a:cubicBezTo>
                  <a:pt x="1374815" y="0"/>
                  <a:pt x="1406097" y="31283"/>
                  <a:pt x="1406097" y="69872"/>
                </a:cubicBezTo>
                <a:lnTo>
                  <a:pt x="1406097" y="978151"/>
                </a:lnTo>
                <a:cubicBezTo>
                  <a:pt x="1406097" y="1016740"/>
                  <a:pt x="1374815" y="1048023"/>
                  <a:pt x="1336226" y="1048023"/>
                </a:cubicBezTo>
                <a:lnTo>
                  <a:pt x="69872" y="1048023"/>
                </a:lnTo>
                <a:cubicBezTo>
                  <a:pt x="31283" y="1048023"/>
                  <a:pt x="0" y="1016740"/>
                  <a:pt x="0" y="978151"/>
                </a:cubicBezTo>
                <a:lnTo>
                  <a:pt x="0" y="69872"/>
                </a:lnTo>
                <a:cubicBezTo>
                  <a:pt x="0" y="31283"/>
                  <a:pt x="31283" y="0"/>
                  <a:pt x="69872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348583" y="3109135"/>
            <a:ext cx="349341" cy="349341"/>
          </a:xfrm>
          <a:custGeom>
            <a:avLst/>
            <a:gdLst/>
            <a:ahLst/>
            <a:cxnLst/>
            <a:rect l="l" t="t" r="r" b="b"/>
            <a:pathLst>
              <a:path w="349341" h="349341">
                <a:moveTo>
                  <a:pt x="174670" y="0"/>
                </a:moveTo>
                <a:lnTo>
                  <a:pt x="174670" y="0"/>
                </a:lnTo>
                <a:cubicBezTo>
                  <a:pt x="271074" y="0"/>
                  <a:pt x="349341" y="78267"/>
                  <a:pt x="349341" y="174670"/>
                </a:cubicBezTo>
                <a:lnTo>
                  <a:pt x="349341" y="174670"/>
                </a:lnTo>
                <a:cubicBezTo>
                  <a:pt x="349341" y="271074"/>
                  <a:pt x="271074" y="349341"/>
                  <a:pt x="174670" y="349341"/>
                </a:cubicBezTo>
                <a:lnTo>
                  <a:pt x="174670" y="349341"/>
                </a:lnTo>
                <a:cubicBezTo>
                  <a:pt x="78267" y="349341"/>
                  <a:pt x="0" y="271074"/>
                  <a:pt x="0" y="174670"/>
                </a:cubicBezTo>
                <a:lnTo>
                  <a:pt x="0" y="174670"/>
                </a:lnTo>
                <a:cubicBezTo>
                  <a:pt x="0" y="78267"/>
                  <a:pt x="78267" y="0"/>
                  <a:pt x="17467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Shape 41"/>
          <p:cNvSpPr/>
          <p:nvPr/>
        </p:nvSpPr>
        <p:spPr>
          <a:xfrm>
            <a:off x="9453386" y="3213937"/>
            <a:ext cx="139736" cy="139736"/>
          </a:xfrm>
          <a:custGeom>
            <a:avLst/>
            <a:gdLst/>
            <a:ahLst/>
            <a:cxnLst/>
            <a:rect l="l" t="t" r="r" b="b"/>
            <a:pathLst>
              <a:path w="139736" h="139736">
                <a:moveTo>
                  <a:pt x="0" y="114518"/>
                </a:moveTo>
                <a:lnTo>
                  <a:pt x="0" y="29885"/>
                </a:lnTo>
                <a:cubicBezTo>
                  <a:pt x="0" y="23553"/>
                  <a:pt x="6577" y="19350"/>
                  <a:pt x="12636" y="21152"/>
                </a:cubicBezTo>
                <a:cubicBezTo>
                  <a:pt x="36572" y="28302"/>
                  <a:pt x="53493" y="22653"/>
                  <a:pt x="70523" y="16976"/>
                </a:cubicBezTo>
                <a:cubicBezTo>
                  <a:pt x="88127" y="11108"/>
                  <a:pt x="105839" y="5213"/>
                  <a:pt x="131467" y="13401"/>
                </a:cubicBezTo>
                <a:cubicBezTo>
                  <a:pt x="136516" y="15011"/>
                  <a:pt x="139736" y="19896"/>
                  <a:pt x="139736" y="25218"/>
                </a:cubicBezTo>
                <a:lnTo>
                  <a:pt x="139736" y="109851"/>
                </a:lnTo>
                <a:cubicBezTo>
                  <a:pt x="139736" y="116183"/>
                  <a:pt x="133159" y="120386"/>
                  <a:pt x="127127" y="118585"/>
                </a:cubicBezTo>
                <a:cubicBezTo>
                  <a:pt x="103192" y="111434"/>
                  <a:pt x="86244" y="117084"/>
                  <a:pt x="69240" y="122761"/>
                </a:cubicBezTo>
                <a:cubicBezTo>
                  <a:pt x="51637" y="128628"/>
                  <a:pt x="33924" y="134524"/>
                  <a:pt x="8297" y="126336"/>
                </a:cubicBezTo>
                <a:cubicBezTo>
                  <a:pt x="3248" y="124726"/>
                  <a:pt x="27" y="119840"/>
                  <a:pt x="27" y="114518"/>
                </a:cubicBezTo>
                <a:close/>
                <a:moveTo>
                  <a:pt x="91702" y="69868"/>
                </a:moveTo>
                <a:cubicBezTo>
                  <a:pt x="91702" y="55403"/>
                  <a:pt x="81931" y="43668"/>
                  <a:pt x="69868" y="43668"/>
                </a:cubicBezTo>
                <a:cubicBezTo>
                  <a:pt x="57805" y="43668"/>
                  <a:pt x="48034" y="55403"/>
                  <a:pt x="48034" y="69868"/>
                </a:cubicBezTo>
                <a:cubicBezTo>
                  <a:pt x="48034" y="84333"/>
                  <a:pt x="57805" y="96069"/>
                  <a:pt x="69868" y="96069"/>
                </a:cubicBezTo>
                <a:cubicBezTo>
                  <a:pt x="81931" y="96069"/>
                  <a:pt x="91702" y="84333"/>
                  <a:pt x="91702" y="69868"/>
                </a:cubicBezTo>
                <a:close/>
                <a:moveTo>
                  <a:pt x="32751" y="112881"/>
                </a:moveTo>
                <a:cubicBezTo>
                  <a:pt x="33952" y="112881"/>
                  <a:pt x="34907" y="111844"/>
                  <a:pt x="34716" y="110670"/>
                </a:cubicBezTo>
                <a:cubicBezTo>
                  <a:pt x="33460" y="103083"/>
                  <a:pt x="27347" y="97160"/>
                  <a:pt x="19650" y="96205"/>
                </a:cubicBezTo>
                <a:cubicBezTo>
                  <a:pt x="18450" y="96069"/>
                  <a:pt x="17467" y="97051"/>
                  <a:pt x="17467" y="98252"/>
                </a:cubicBezTo>
                <a:lnTo>
                  <a:pt x="17467" y="109142"/>
                </a:lnTo>
                <a:cubicBezTo>
                  <a:pt x="17467" y="110124"/>
                  <a:pt x="18122" y="110998"/>
                  <a:pt x="19105" y="111243"/>
                </a:cubicBezTo>
                <a:cubicBezTo>
                  <a:pt x="23990" y="112390"/>
                  <a:pt x="28466" y="112908"/>
                  <a:pt x="32751" y="112908"/>
                </a:cubicBezTo>
                <a:close/>
                <a:moveTo>
                  <a:pt x="119677" y="98934"/>
                </a:moveTo>
                <a:cubicBezTo>
                  <a:pt x="121041" y="99153"/>
                  <a:pt x="122269" y="98116"/>
                  <a:pt x="122269" y="96751"/>
                </a:cubicBezTo>
                <a:lnTo>
                  <a:pt x="122269" y="85125"/>
                </a:lnTo>
                <a:cubicBezTo>
                  <a:pt x="122269" y="83924"/>
                  <a:pt x="121287" y="82914"/>
                  <a:pt x="120086" y="83078"/>
                </a:cubicBezTo>
                <a:cubicBezTo>
                  <a:pt x="113208" y="83924"/>
                  <a:pt x="107559" y="88782"/>
                  <a:pt x="105566" y="95250"/>
                </a:cubicBezTo>
                <a:cubicBezTo>
                  <a:pt x="105184" y="96533"/>
                  <a:pt x="106194" y="97734"/>
                  <a:pt x="107532" y="97761"/>
                </a:cubicBezTo>
                <a:cubicBezTo>
                  <a:pt x="111407" y="97870"/>
                  <a:pt x="115446" y="98225"/>
                  <a:pt x="119649" y="98934"/>
                </a:cubicBezTo>
                <a:close/>
                <a:moveTo>
                  <a:pt x="122269" y="41484"/>
                </a:moveTo>
                <a:lnTo>
                  <a:pt x="122269" y="30595"/>
                </a:lnTo>
                <a:cubicBezTo>
                  <a:pt x="122269" y="29612"/>
                  <a:pt x="121587" y="28739"/>
                  <a:pt x="120632" y="28493"/>
                </a:cubicBezTo>
                <a:cubicBezTo>
                  <a:pt x="115746" y="27347"/>
                  <a:pt x="111271" y="26828"/>
                  <a:pt x="106986" y="26828"/>
                </a:cubicBezTo>
                <a:cubicBezTo>
                  <a:pt x="105785" y="26828"/>
                  <a:pt x="104830" y="27865"/>
                  <a:pt x="105021" y="29039"/>
                </a:cubicBezTo>
                <a:cubicBezTo>
                  <a:pt x="106276" y="36626"/>
                  <a:pt x="112390" y="42549"/>
                  <a:pt x="120086" y="43504"/>
                </a:cubicBezTo>
                <a:cubicBezTo>
                  <a:pt x="121287" y="43640"/>
                  <a:pt x="122269" y="42658"/>
                  <a:pt x="122269" y="41457"/>
                </a:cubicBezTo>
                <a:close/>
                <a:moveTo>
                  <a:pt x="34170" y="44459"/>
                </a:moveTo>
                <a:cubicBezTo>
                  <a:pt x="34552" y="43176"/>
                  <a:pt x="33542" y="41976"/>
                  <a:pt x="32205" y="41948"/>
                </a:cubicBezTo>
                <a:cubicBezTo>
                  <a:pt x="28329" y="41839"/>
                  <a:pt x="24290" y="41484"/>
                  <a:pt x="20087" y="40775"/>
                </a:cubicBezTo>
                <a:cubicBezTo>
                  <a:pt x="18722" y="40556"/>
                  <a:pt x="17494" y="41593"/>
                  <a:pt x="17494" y="42958"/>
                </a:cubicBezTo>
                <a:lnTo>
                  <a:pt x="17467" y="54585"/>
                </a:lnTo>
                <a:cubicBezTo>
                  <a:pt x="17467" y="55785"/>
                  <a:pt x="18450" y="56795"/>
                  <a:pt x="19650" y="56631"/>
                </a:cubicBezTo>
                <a:cubicBezTo>
                  <a:pt x="26528" y="55785"/>
                  <a:pt x="32178" y="50927"/>
                  <a:pt x="34170" y="444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8891274" y="3528344"/>
            <a:ext cx="1266361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zh-CN" altLang="en-US" sz="1100" b="1" dirty="0" smtClean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开票</a:t>
            </a:r>
            <a:r>
              <a:rPr lang="en-US" sz="1100" b="1" dirty="0" err="1" smtClean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回款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895640" y="3772883"/>
            <a:ext cx="1257628" cy="17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zh-CN" altLang="en-US" sz="963" dirty="0" smtClean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开票</a:t>
            </a:r>
            <a:r>
              <a:rPr lang="en-US" altLang="zh-CN" sz="963" dirty="0" smtClean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en-US" sz="963" dirty="0" err="1" smtClean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回款跟进闭环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66808" y="4296894"/>
            <a:ext cx="11475851" cy="2558923"/>
          </a:xfrm>
          <a:custGeom>
            <a:avLst/>
            <a:gdLst/>
            <a:ahLst/>
            <a:cxnLst/>
            <a:rect l="l" t="t" r="r" b="b"/>
            <a:pathLst>
              <a:path w="11475851" h="2558923">
                <a:moveTo>
                  <a:pt x="34934" y="0"/>
                </a:moveTo>
                <a:lnTo>
                  <a:pt x="11371038" y="0"/>
                </a:lnTo>
                <a:cubicBezTo>
                  <a:pt x="11428924" y="0"/>
                  <a:pt x="11475851" y="46927"/>
                  <a:pt x="11475851" y="104813"/>
                </a:cubicBezTo>
                <a:lnTo>
                  <a:pt x="11475851" y="2454109"/>
                </a:lnTo>
                <a:cubicBezTo>
                  <a:pt x="11475851" y="2511996"/>
                  <a:pt x="11428924" y="2558923"/>
                  <a:pt x="11371038" y="2558923"/>
                </a:cubicBezTo>
                <a:lnTo>
                  <a:pt x="34934" y="2558923"/>
                </a:lnTo>
                <a:cubicBezTo>
                  <a:pt x="15641" y="2558923"/>
                  <a:pt x="0" y="2543282"/>
                  <a:pt x="0" y="2523989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401" dist="349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6808" y="4296894"/>
            <a:ext cx="34934" cy="2558923"/>
          </a:xfrm>
          <a:custGeom>
            <a:avLst/>
            <a:gdLst/>
            <a:ahLst/>
            <a:cxnLst/>
            <a:rect l="l" t="t" r="r" b="b"/>
            <a:pathLst>
              <a:path w="34934" h="2558923">
                <a:moveTo>
                  <a:pt x="34934" y="0"/>
                </a:moveTo>
                <a:lnTo>
                  <a:pt x="34934" y="0"/>
                </a:lnTo>
                <a:lnTo>
                  <a:pt x="34934" y="2558923"/>
                </a:lnTo>
                <a:lnTo>
                  <a:pt x="34934" y="2558923"/>
                </a:lnTo>
                <a:cubicBezTo>
                  <a:pt x="15641" y="2558923"/>
                  <a:pt x="0" y="2543282"/>
                  <a:pt x="0" y="2523989"/>
                </a:cubicBezTo>
                <a:lnTo>
                  <a:pt x="0" y="34934"/>
                </a:lnTo>
                <a:cubicBezTo>
                  <a:pt x="0" y="15653"/>
                  <a:pt x="15653" y="0"/>
                  <a:pt x="34934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8" name="Shape 46"/>
          <p:cNvSpPr/>
          <p:nvPr/>
        </p:nvSpPr>
        <p:spPr>
          <a:xfrm>
            <a:off x="524011" y="4436630"/>
            <a:ext cx="419209" cy="419209"/>
          </a:xfrm>
          <a:custGeom>
            <a:avLst/>
            <a:gdLst/>
            <a:ahLst/>
            <a:cxnLst/>
            <a:rect l="l" t="t" r="r" b="b"/>
            <a:pathLst>
              <a:path w="419209" h="419209">
                <a:moveTo>
                  <a:pt x="69870" y="0"/>
                </a:moveTo>
                <a:lnTo>
                  <a:pt x="349340" y="0"/>
                </a:lnTo>
                <a:cubicBezTo>
                  <a:pt x="387927" y="0"/>
                  <a:pt x="419209" y="31282"/>
                  <a:pt x="419209" y="69870"/>
                </a:cubicBezTo>
                <a:lnTo>
                  <a:pt x="419209" y="349340"/>
                </a:lnTo>
                <a:cubicBezTo>
                  <a:pt x="419209" y="387927"/>
                  <a:pt x="387927" y="419209"/>
                  <a:pt x="349340" y="419209"/>
                </a:cubicBezTo>
                <a:lnTo>
                  <a:pt x="69870" y="419209"/>
                </a:lnTo>
                <a:cubicBezTo>
                  <a:pt x="31282" y="419209"/>
                  <a:pt x="0" y="387927"/>
                  <a:pt x="0" y="349340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9" name="Shape 47"/>
          <p:cNvSpPr/>
          <p:nvPr/>
        </p:nvSpPr>
        <p:spPr>
          <a:xfrm>
            <a:off x="668115" y="4558900"/>
            <a:ext cx="131003" cy="174670"/>
          </a:xfrm>
          <a:custGeom>
            <a:avLst/>
            <a:gdLst/>
            <a:ahLst/>
            <a:cxnLst/>
            <a:rect l="l" t="t" r="r" b="b"/>
            <a:pathLst>
              <a:path w="131003" h="174670">
                <a:moveTo>
                  <a:pt x="85254" y="22789"/>
                </a:moveTo>
                <a:cubicBezTo>
                  <a:pt x="88802" y="17911"/>
                  <a:pt x="87711" y="11087"/>
                  <a:pt x="82832" y="7539"/>
                </a:cubicBezTo>
                <a:cubicBezTo>
                  <a:pt x="77954" y="3991"/>
                  <a:pt x="71130" y="5083"/>
                  <a:pt x="67582" y="9962"/>
                </a:cubicBezTo>
                <a:lnTo>
                  <a:pt x="31420" y="59668"/>
                </a:lnTo>
                <a:lnTo>
                  <a:pt x="18627" y="46874"/>
                </a:lnTo>
                <a:cubicBezTo>
                  <a:pt x="14363" y="42610"/>
                  <a:pt x="7437" y="42610"/>
                  <a:pt x="3173" y="46874"/>
                </a:cubicBezTo>
                <a:cubicBezTo>
                  <a:pt x="-1092" y="51139"/>
                  <a:pt x="-1092" y="58064"/>
                  <a:pt x="3173" y="62329"/>
                </a:cubicBezTo>
                <a:lnTo>
                  <a:pt x="25007" y="84163"/>
                </a:lnTo>
                <a:cubicBezTo>
                  <a:pt x="27258" y="86414"/>
                  <a:pt x="30397" y="87574"/>
                  <a:pt x="33569" y="87335"/>
                </a:cubicBezTo>
                <a:cubicBezTo>
                  <a:pt x="36742" y="87096"/>
                  <a:pt x="39676" y="85459"/>
                  <a:pt x="41552" y="82866"/>
                </a:cubicBezTo>
                <a:lnTo>
                  <a:pt x="85220" y="22823"/>
                </a:lnTo>
                <a:close/>
                <a:moveTo>
                  <a:pt x="128922" y="69186"/>
                </a:moveTo>
                <a:cubicBezTo>
                  <a:pt x="132470" y="64307"/>
                  <a:pt x="131378" y="57484"/>
                  <a:pt x="126500" y="53936"/>
                </a:cubicBezTo>
                <a:cubicBezTo>
                  <a:pt x="121621" y="50388"/>
                  <a:pt x="114798" y="51480"/>
                  <a:pt x="111250" y="56359"/>
                </a:cubicBezTo>
                <a:lnTo>
                  <a:pt x="53254" y="136086"/>
                </a:lnTo>
                <a:lnTo>
                  <a:pt x="29544" y="112376"/>
                </a:lnTo>
                <a:cubicBezTo>
                  <a:pt x="25279" y="108111"/>
                  <a:pt x="18354" y="108111"/>
                  <a:pt x="14090" y="112376"/>
                </a:cubicBezTo>
                <a:cubicBezTo>
                  <a:pt x="9825" y="116640"/>
                  <a:pt x="9825" y="123566"/>
                  <a:pt x="14090" y="127830"/>
                </a:cubicBezTo>
                <a:lnTo>
                  <a:pt x="46840" y="160581"/>
                </a:lnTo>
                <a:cubicBezTo>
                  <a:pt x="49092" y="162832"/>
                  <a:pt x="52231" y="163992"/>
                  <a:pt x="55403" y="163754"/>
                </a:cubicBezTo>
                <a:cubicBezTo>
                  <a:pt x="58576" y="163515"/>
                  <a:pt x="61510" y="161877"/>
                  <a:pt x="63386" y="159284"/>
                </a:cubicBezTo>
                <a:lnTo>
                  <a:pt x="128888" y="6922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1048023" y="4523966"/>
            <a:ext cx="1790372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良品条件（3+1模式）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24011" y="4960642"/>
            <a:ext cx="2716126" cy="1755438"/>
          </a:xfrm>
          <a:custGeom>
            <a:avLst/>
            <a:gdLst/>
            <a:ahLst/>
            <a:cxnLst/>
            <a:rect l="l" t="t" r="r" b="b"/>
            <a:pathLst>
              <a:path w="2716126" h="1755438">
                <a:moveTo>
                  <a:pt x="69866" y="0"/>
                </a:moveTo>
                <a:lnTo>
                  <a:pt x="2646260" y="0"/>
                </a:lnTo>
                <a:cubicBezTo>
                  <a:pt x="2684846" y="0"/>
                  <a:pt x="2716126" y="31280"/>
                  <a:pt x="2716126" y="69866"/>
                </a:cubicBezTo>
                <a:lnTo>
                  <a:pt x="2716126" y="1685572"/>
                </a:lnTo>
                <a:cubicBezTo>
                  <a:pt x="2716126" y="1724158"/>
                  <a:pt x="2684846" y="1755438"/>
                  <a:pt x="2646260" y="1755438"/>
                </a:cubicBezTo>
                <a:lnTo>
                  <a:pt x="69866" y="1755438"/>
                </a:lnTo>
                <a:cubicBezTo>
                  <a:pt x="31280" y="1755438"/>
                  <a:pt x="0" y="1724158"/>
                  <a:pt x="0" y="1685572"/>
                </a:cubicBezTo>
                <a:lnTo>
                  <a:pt x="0" y="69866"/>
                </a:lnTo>
                <a:cubicBezTo>
                  <a:pt x="0" y="31280"/>
                  <a:pt x="31280" y="0"/>
                  <a:pt x="69866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814" y="5065444"/>
            <a:ext cx="279473" cy="279473"/>
          </a:xfrm>
          <a:custGeom>
            <a:avLst/>
            <a:gdLst/>
            <a:ahLst/>
            <a:cxnLst/>
            <a:rect l="l" t="t" r="r" b="b"/>
            <a:pathLst>
              <a:path w="279473" h="279473">
                <a:moveTo>
                  <a:pt x="139736" y="0"/>
                </a:moveTo>
                <a:lnTo>
                  <a:pt x="139736" y="0"/>
                </a:lnTo>
                <a:cubicBezTo>
                  <a:pt x="216859" y="0"/>
                  <a:pt x="279473" y="62614"/>
                  <a:pt x="279473" y="139736"/>
                </a:cubicBezTo>
                <a:lnTo>
                  <a:pt x="279473" y="139736"/>
                </a:lnTo>
                <a:cubicBezTo>
                  <a:pt x="279473" y="216859"/>
                  <a:pt x="216859" y="279473"/>
                  <a:pt x="139736" y="279473"/>
                </a:cubicBezTo>
                <a:lnTo>
                  <a:pt x="139736" y="279473"/>
                </a:lnTo>
                <a:cubicBezTo>
                  <a:pt x="62614" y="279473"/>
                  <a:pt x="0" y="216859"/>
                  <a:pt x="0" y="139736"/>
                </a:cubicBezTo>
                <a:lnTo>
                  <a:pt x="0" y="139736"/>
                </a:lnTo>
                <a:cubicBezTo>
                  <a:pt x="0" y="62614"/>
                  <a:pt x="62614" y="0"/>
                  <a:pt x="139736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53" name="Text 51"/>
          <p:cNvSpPr/>
          <p:nvPr/>
        </p:nvSpPr>
        <p:spPr>
          <a:xfrm>
            <a:off x="598246" y="5065444"/>
            <a:ext cx="340607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78155" y="5100378"/>
            <a:ext cx="628814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输入信息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61564" y="5499391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56" name="Text 54"/>
          <p:cNvSpPr/>
          <p:nvPr/>
        </p:nvSpPr>
        <p:spPr>
          <a:xfrm>
            <a:off x="829685" y="5464457"/>
            <a:ext cx="917020" cy="20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季度初预期目标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61564" y="5797423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58" name="Text 56"/>
          <p:cNvSpPr/>
          <p:nvPr/>
        </p:nvSpPr>
        <p:spPr>
          <a:xfrm>
            <a:off x="829685" y="5762489"/>
            <a:ext cx="995622" cy="20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MO立项商机清单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61564" y="6095454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60" name="Text 58"/>
          <p:cNvSpPr/>
          <p:nvPr/>
        </p:nvSpPr>
        <p:spPr>
          <a:xfrm>
            <a:off x="829685" y="6060520"/>
            <a:ext cx="1205226" cy="20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招投标/合同推进记录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61564" y="6393486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62" name="Text 60"/>
          <p:cNvSpPr/>
          <p:nvPr/>
        </p:nvSpPr>
        <p:spPr>
          <a:xfrm>
            <a:off x="829685" y="6358552"/>
            <a:ext cx="794751" cy="20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历史兑现数据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343957" y="4960642"/>
            <a:ext cx="2716126" cy="1755438"/>
          </a:xfrm>
          <a:custGeom>
            <a:avLst/>
            <a:gdLst/>
            <a:ahLst/>
            <a:cxnLst/>
            <a:rect l="l" t="t" r="r" b="b"/>
            <a:pathLst>
              <a:path w="2716126" h="1755438">
                <a:moveTo>
                  <a:pt x="69866" y="0"/>
                </a:moveTo>
                <a:lnTo>
                  <a:pt x="2646260" y="0"/>
                </a:lnTo>
                <a:cubicBezTo>
                  <a:pt x="2684846" y="0"/>
                  <a:pt x="2716126" y="31280"/>
                  <a:pt x="2716126" y="69866"/>
                </a:cubicBezTo>
                <a:lnTo>
                  <a:pt x="2716126" y="1685572"/>
                </a:lnTo>
                <a:cubicBezTo>
                  <a:pt x="2716126" y="1724158"/>
                  <a:pt x="2684846" y="1755438"/>
                  <a:pt x="2646260" y="1755438"/>
                </a:cubicBezTo>
                <a:lnTo>
                  <a:pt x="69866" y="1755438"/>
                </a:lnTo>
                <a:cubicBezTo>
                  <a:pt x="31280" y="1755438"/>
                  <a:pt x="0" y="1724158"/>
                  <a:pt x="0" y="1685572"/>
                </a:cubicBezTo>
                <a:lnTo>
                  <a:pt x="0" y="69866"/>
                </a:lnTo>
                <a:cubicBezTo>
                  <a:pt x="0" y="31280"/>
                  <a:pt x="31280" y="0"/>
                  <a:pt x="69866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448760" y="5065444"/>
            <a:ext cx="279473" cy="279473"/>
          </a:xfrm>
          <a:custGeom>
            <a:avLst/>
            <a:gdLst/>
            <a:ahLst/>
            <a:cxnLst/>
            <a:rect l="l" t="t" r="r" b="b"/>
            <a:pathLst>
              <a:path w="279473" h="279473">
                <a:moveTo>
                  <a:pt x="139736" y="0"/>
                </a:moveTo>
                <a:lnTo>
                  <a:pt x="139736" y="0"/>
                </a:lnTo>
                <a:cubicBezTo>
                  <a:pt x="216859" y="0"/>
                  <a:pt x="279473" y="62614"/>
                  <a:pt x="279473" y="139736"/>
                </a:cubicBezTo>
                <a:lnTo>
                  <a:pt x="279473" y="139736"/>
                </a:lnTo>
                <a:cubicBezTo>
                  <a:pt x="279473" y="216859"/>
                  <a:pt x="216859" y="279473"/>
                  <a:pt x="139736" y="279473"/>
                </a:cubicBezTo>
                <a:lnTo>
                  <a:pt x="139736" y="279473"/>
                </a:lnTo>
                <a:cubicBezTo>
                  <a:pt x="62614" y="279473"/>
                  <a:pt x="0" y="216859"/>
                  <a:pt x="0" y="139736"/>
                </a:cubicBezTo>
                <a:lnTo>
                  <a:pt x="0" y="139736"/>
                </a:lnTo>
                <a:cubicBezTo>
                  <a:pt x="0" y="62614"/>
                  <a:pt x="62614" y="0"/>
                  <a:pt x="13973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5" name="Text 63"/>
          <p:cNvSpPr/>
          <p:nvPr/>
        </p:nvSpPr>
        <p:spPr>
          <a:xfrm>
            <a:off x="3418192" y="5065444"/>
            <a:ext cx="340607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3798101" y="5100378"/>
            <a:ext cx="628814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所需工具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481510" y="5499391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8" name="Text 66"/>
          <p:cNvSpPr/>
          <p:nvPr/>
        </p:nvSpPr>
        <p:spPr>
          <a:xfrm>
            <a:off x="3649631" y="5464457"/>
            <a:ext cx="742350" cy="20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1+2管理看板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3481510" y="5797423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0" name="Text 68"/>
          <p:cNvSpPr/>
          <p:nvPr/>
        </p:nvSpPr>
        <p:spPr>
          <a:xfrm>
            <a:off x="3649631" y="5762489"/>
            <a:ext cx="1117891" cy="20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 smtClean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 </a:t>
            </a:r>
            <a:r>
              <a:rPr lang="zh-CN" altLang="en-US" sz="963" dirty="0" smtClean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</a:t>
            </a:r>
            <a:r>
              <a:rPr lang="en-US" sz="963" dirty="0" err="1" smtClean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商机全流程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481510" y="6095454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2" name="Text 70"/>
          <p:cNvSpPr/>
          <p:nvPr/>
        </p:nvSpPr>
        <p:spPr>
          <a:xfrm>
            <a:off x="3649631" y="6060520"/>
            <a:ext cx="576413" cy="20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CRM系统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481510" y="6393486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4" name="Text 72"/>
          <p:cNvSpPr/>
          <p:nvPr/>
        </p:nvSpPr>
        <p:spPr>
          <a:xfrm>
            <a:off x="3649631" y="6358552"/>
            <a:ext cx="1082957" cy="20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招投标/合同管理表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163903" y="4960642"/>
            <a:ext cx="2716126" cy="1755438"/>
          </a:xfrm>
          <a:custGeom>
            <a:avLst/>
            <a:gdLst/>
            <a:ahLst/>
            <a:cxnLst/>
            <a:rect l="l" t="t" r="r" b="b"/>
            <a:pathLst>
              <a:path w="2716126" h="1755438">
                <a:moveTo>
                  <a:pt x="69866" y="0"/>
                </a:moveTo>
                <a:lnTo>
                  <a:pt x="2646260" y="0"/>
                </a:lnTo>
                <a:cubicBezTo>
                  <a:pt x="2684846" y="0"/>
                  <a:pt x="2716126" y="31280"/>
                  <a:pt x="2716126" y="69866"/>
                </a:cubicBezTo>
                <a:lnTo>
                  <a:pt x="2716126" y="1685572"/>
                </a:lnTo>
                <a:cubicBezTo>
                  <a:pt x="2716126" y="1724158"/>
                  <a:pt x="2684846" y="1755438"/>
                  <a:pt x="2646260" y="1755438"/>
                </a:cubicBezTo>
                <a:lnTo>
                  <a:pt x="69866" y="1755438"/>
                </a:lnTo>
                <a:cubicBezTo>
                  <a:pt x="31280" y="1755438"/>
                  <a:pt x="0" y="1724158"/>
                  <a:pt x="0" y="1685572"/>
                </a:cubicBezTo>
                <a:lnTo>
                  <a:pt x="0" y="69866"/>
                </a:lnTo>
                <a:cubicBezTo>
                  <a:pt x="0" y="31280"/>
                  <a:pt x="31280" y="0"/>
                  <a:pt x="69866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6268706" y="5065444"/>
            <a:ext cx="279473" cy="279473"/>
          </a:xfrm>
          <a:custGeom>
            <a:avLst/>
            <a:gdLst/>
            <a:ahLst/>
            <a:cxnLst/>
            <a:rect l="l" t="t" r="r" b="b"/>
            <a:pathLst>
              <a:path w="279473" h="279473">
                <a:moveTo>
                  <a:pt x="139736" y="0"/>
                </a:moveTo>
                <a:lnTo>
                  <a:pt x="139736" y="0"/>
                </a:lnTo>
                <a:cubicBezTo>
                  <a:pt x="216859" y="0"/>
                  <a:pt x="279473" y="62614"/>
                  <a:pt x="279473" y="139736"/>
                </a:cubicBezTo>
                <a:lnTo>
                  <a:pt x="279473" y="139736"/>
                </a:lnTo>
                <a:cubicBezTo>
                  <a:pt x="279473" y="216859"/>
                  <a:pt x="216859" y="279473"/>
                  <a:pt x="139736" y="279473"/>
                </a:cubicBezTo>
                <a:lnTo>
                  <a:pt x="139736" y="279473"/>
                </a:lnTo>
                <a:cubicBezTo>
                  <a:pt x="62614" y="279473"/>
                  <a:pt x="0" y="216859"/>
                  <a:pt x="0" y="139736"/>
                </a:cubicBezTo>
                <a:lnTo>
                  <a:pt x="0" y="139736"/>
                </a:lnTo>
                <a:cubicBezTo>
                  <a:pt x="0" y="62614"/>
                  <a:pt x="62614" y="0"/>
                  <a:pt x="139736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7" name="Text 75"/>
          <p:cNvSpPr/>
          <p:nvPr/>
        </p:nvSpPr>
        <p:spPr>
          <a:xfrm>
            <a:off x="6238138" y="5065444"/>
            <a:ext cx="340607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618047" y="5100378"/>
            <a:ext cx="628814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必备能力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01456" y="5499391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0" name="Text 78"/>
          <p:cNvSpPr/>
          <p:nvPr/>
        </p:nvSpPr>
        <p:spPr>
          <a:xfrm>
            <a:off x="6469577" y="5464457"/>
            <a:ext cx="1117891" cy="20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MO全流程管控能力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01456" y="5797423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2" name="Text 80"/>
          <p:cNvSpPr/>
          <p:nvPr/>
        </p:nvSpPr>
        <p:spPr>
          <a:xfrm>
            <a:off x="6469577" y="5762489"/>
            <a:ext cx="794751" cy="20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进度预判能力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301456" y="6095454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4" name="Text 82"/>
          <p:cNvSpPr/>
          <p:nvPr/>
        </p:nvSpPr>
        <p:spPr>
          <a:xfrm>
            <a:off x="6469577" y="6060520"/>
            <a:ext cx="1039289" cy="20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异常问题补救能力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301456" y="6393486"/>
            <a:ext cx="65501" cy="104802"/>
          </a:xfrm>
          <a:custGeom>
            <a:avLst/>
            <a:gdLst/>
            <a:ahLst/>
            <a:cxnLst/>
            <a:rect l="l" t="t" r="r" b="b"/>
            <a:pathLst>
              <a:path w="65501" h="104802">
                <a:moveTo>
                  <a:pt x="63680" y="47775"/>
                </a:moveTo>
                <a:cubicBezTo>
                  <a:pt x="66238" y="50334"/>
                  <a:pt x="66238" y="54489"/>
                  <a:pt x="63680" y="57048"/>
                </a:cubicBezTo>
                <a:lnTo>
                  <a:pt x="24379" y="96349"/>
                </a:lnTo>
                <a:cubicBezTo>
                  <a:pt x="21820" y="98907"/>
                  <a:pt x="17665" y="98907"/>
                  <a:pt x="15106" y="96349"/>
                </a:cubicBezTo>
                <a:cubicBezTo>
                  <a:pt x="12548" y="93790"/>
                  <a:pt x="12548" y="89635"/>
                  <a:pt x="15106" y="87076"/>
                </a:cubicBezTo>
                <a:lnTo>
                  <a:pt x="49781" y="52401"/>
                </a:lnTo>
                <a:lnTo>
                  <a:pt x="15127" y="17726"/>
                </a:lnTo>
                <a:cubicBezTo>
                  <a:pt x="12568" y="15168"/>
                  <a:pt x="12568" y="11012"/>
                  <a:pt x="15127" y="8454"/>
                </a:cubicBezTo>
                <a:cubicBezTo>
                  <a:pt x="17685" y="5895"/>
                  <a:pt x="21841" y="5895"/>
                  <a:pt x="24399" y="8454"/>
                </a:cubicBezTo>
                <a:lnTo>
                  <a:pt x="63700" y="4775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86" name="Text 84"/>
          <p:cNvSpPr/>
          <p:nvPr/>
        </p:nvSpPr>
        <p:spPr>
          <a:xfrm>
            <a:off x="6469577" y="6358552"/>
            <a:ext cx="1289243" cy="200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963" dirty="0" smtClean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开票</a:t>
            </a:r>
            <a:r>
              <a:rPr lang="en-US" altLang="zh-CN" sz="963" dirty="0" smtClean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en-US" sz="963" dirty="0" err="1" smtClean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回款</a:t>
            </a:r>
            <a:r>
              <a:rPr lang="en-US" sz="963" dirty="0" smtClean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en-US" sz="963" dirty="0" err="1" smtClean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跟进能力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983849" y="4960642"/>
            <a:ext cx="2716126" cy="1755438"/>
          </a:xfrm>
          <a:custGeom>
            <a:avLst/>
            <a:gdLst/>
            <a:ahLst/>
            <a:cxnLst/>
            <a:rect l="l" t="t" r="r" b="b"/>
            <a:pathLst>
              <a:path w="2716126" h="1755438">
                <a:moveTo>
                  <a:pt x="69866" y="0"/>
                </a:moveTo>
                <a:lnTo>
                  <a:pt x="2646260" y="0"/>
                </a:lnTo>
                <a:cubicBezTo>
                  <a:pt x="2684846" y="0"/>
                  <a:pt x="2716126" y="31280"/>
                  <a:pt x="2716126" y="69866"/>
                </a:cubicBezTo>
                <a:lnTo>
                  <a:pt x="2716126" y="1685572"/>
                </a:lnTo>
                <a:cubicBezTo>
                  <a:pt x="2716126" y="1724158"/>
                  <a:pt x="2684846" y="1755438"/>
                  <a:pt x="2646260" y="1755438"/>
                </a:cubicBezTo>
                <a:lnTo>
                  <a:pt x="69866" y="1755438"/>
                </a:lnTo>
                <a:cubicBezTo>
                  <a:pt x="31280" y="1755438"/>
                  <a:pt x="0" y="1724158"/>
                  <a:pt x="0" y="1685572"/>
                </a:cubicBezTo>
                <a:lnTo>
                  <a:pt x="0" y="69866"/>
                </a:lnTo>
                <a:cubicBezTo>
                  <a:pt x="0" y="31280"/>
                  <a:pt x="31280" y="0"/>
                  <a:pt x="69866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9088651" y="5065444"/>
            <a:ext cx="279473" cy="279473"/>
          </a:xfrm>
          <a:custGeom>
            <a:avLst/>
            <a:gdLst/>
            <a:ahLst/>
            <a:cxnLst/>
            <a:rect l="l" t="t" r="r" b="b"/>
            <a:pathLst>
              <a:path w="279473" h="279473">
                <a:moveTo>
                  <a:pt x="139736" y="0"/>
                </a:moveTo>
                <a:lnTo>
                  <a:pt x="139736" y="0"/>
                </a:lnTo>
                <a:cubicBezTo>
                  <a:pt x="216859" y="0"/>
                  <a:pt x="279473" y="62614"/>
                  <a:pt x="279473" y="139736"/>
                </a:cubicBezTo>
                <a:lnTo>
                  <a:pt x="279473" y="139736"/>
                </a:lnTo>
                <a:cubicBezTo>
                  <a:pt x="279473" y="216859"/>
                  <a:pt x="216859" y="279473"/>
                  <a:pt x="139736" y="279473"/>
                </a:cubicBezTo>
                <a:lnTo>
                  <a:pt x="139736" y="279473"/>
                </a:lnTo>
                <a:cubicBezTo>
                  <a:pt x="62614" y="279473"/>
                  <a:pt x="0" y="216859"/>
                  <a:pt x="0" y="139736"/>
                </a:cubicBezTo>
                <a:lnTo>
                  <a:pt x="0" y="139736"/>
                </a:lnTo>
                <a:cubicBezTo>
                  <a:pt x="0" y="62614"/>
                  <a:pt x="62614" y="0"/>
                  <a:pt x="139736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89" name="Text 87"/>
          <p:cNvSpPr/>
          <p:nvPr/>
        </p:nvSpPr>
        <p:spPr>
          <a:xfrm>
            <a:off x="9058084" y="5065444"/>
            <a:ext cx="340607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3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9437992" y="5100378"/>
            <a:ext cx="960688" cy="209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注意事项/技巧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9101751" y="5449719"/>
            <a:ext cx="104802" cy="104802"/>
          </a:xfrm>
          <a:custGeom>
            <a:avLst/>
            <a:gdLst/>
            <a:ahLst/>
            <a:cxnLst/>
            <a:rect l="l" t="t" r="r" b="b"/>
            <a:pathLst>
              <a:path w="104802" h="104802">
                <a:moveTo>
                  <a:pt x="52401" y="0"/>
                </a:moveTo>
                <a:cubicBezTo>
                  <a:pt x="55410" y="0"/>
                  <a:pt x="58173" y="1658"/>
                  <a:pt x="59606" y="4299"/>
                </a:cubicBezTo>
                <a:lnTo>
                  <a:pt x="103820" y="86175"/>
                </a:lnTo>
                <a:cubicBezTo>
                  <a:pt x="105191" y="88714"/>
                  <a:pt x="105130" y="91784"/>
                  <a:pt x="103656" y="94261"/>
                </a:cubicBezTo>
                <a:cubicBezTo>
                  <a:pt x="102182" y="96737"/>
                  <a:pt x="99501" y="98252"/>
                  <a:pt x="96615" y="98252"/>
                </a:cubicBezTo>
                <a:lnTo>
                  <a:pt x="8188" y="98252"/>
                </a:lnTo>
                <a:cubicBezTo>
                  <a:pt x="5302" y="98252"/>
                  <a:pt x="2641" y="96737"/>
                  <a:pt x="1146" y="94261"/>
                </a:cubicBezTo>
                <a:cubicBezTo>
                  <a:pt x="-348" y="91784"/>
                  <a:pt x="-389" y="88714"/>
                  <a:pt x="983" y="86175"/>
                </a:cubicBezTo>
                <a:lnTo>
                  <a:pt x="45196" y="4299"/>
                </a:lnTo>
                <a:cubicBezTo>
                  <a:pt x="46629" y="1658"/>
                  <a:pt x="49392" y="0"/>
                  <a:pt x="52401" y="0"/>
                </a:cubicBezTo>
                <a:close/>
                <a:moveTo>
                  <a:pt x="52401" y="34388"/>
                </a:moveTo>
                <a:cubicBezTo>
                  <a:pt x="49679" y="34388"/>
                  <a:pt x="47489" y="36578"/>
                  <a:pt x="47489" y="39301"/>
                </a:cubicBezTo>
                <a:lnTo>
                  <a:pt x="47489" y="62226"/>
                </a:lnTo>
                <a:cubicBezTo>
                  <a:pt x="47489" y="64949"/>
                  <a:pt x="49679" y="67139"/>
                  <a:pt x="52401" y="67139"/>
                </a:cubicBezTo>
                <a:cubicBezTo>
                  <a:pt x="55124" y="67139"/>
                  <a:pt x="57314" y="64949"/>
                  <a:pt x="57314" y="62226"/>
                </a:cubicBezTo>
                <a:lnTo>
                  <a:pt x="57314" y="39301"/>
                </a:lnTo>
                <a:cubicBezTo>
                  <a:pt x="57314" y="36578"/>
                  <a:pt x="55124" y="34388"/>
                  <a:pt x="52401" y="34388"/>
                </a:cubicBezTo>
                <a:close/>
                <a:moveTo>
                  <a:pt x="57866" y="78602"/>
                </a:moveTo>
                <a:cubicBezTo>
                  <a:pt x="57991" y="76573"/>
                  <a:pt x="56979" y="74643"/>
                  <a:pt x="55240" y="73591"/>
                </a:cubicBezTo>
                <a:cubicBezTo>
                  <a:pt x="53501" y="72539"/>
                  <a:pt x="51322" y="72539"/>
                  <a:pt x="49583" y="73591"/>
                </a:cubicBezTo>
                <a:cubicBezTo>
                  <a:pt x="47844" y="74643"/>
                  <a:pt x="46832" y="76573"/>
                  <a:pt x="46956" y="78602"/>
                </a:cubicBezTo>
                <a:cubicBezTo>
                  <a:pt x="46832" y="80630"/>
                  <a:pt x="47844" y="82560"/>
                  <a:pt x="49583" y="83612"/>
                </a:cubicBezTo>
                <a:cubicBezTo>
                  <a:pt x="51322" y="84664"/>
                  <a:pt x="53501" y="84664"/>
                  <a:pt x="55240" y="83612"/>
                </a:cubicBezTo>
                <a:cubicBezTo>
                  <a:pt x="56979" y="82560"/>
                  <a:pt x="57991" y="80630"/>
                  <a:pt x="57866" y="7860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2" name="Text 90"/>
          <p:cNvSpPr/>
          <p:nvPr/>
        </p:nvSpPr>
        <p:spPr>
          <a:xfrm>
            <a:off x="9289522" y="5414785"/>
            <a:ext cx="2366785" cy="40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严格执行MO立项、方案评审、投标、签约全流程规范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9101751" y="5847095"/>
            <a:ext cx="104802" cy="104802"/>
          </a:xfrm>
          <a:custGeom>
            <a:avLst/>
            <a:gdLst/>
            <a:ahLst/>
            <a:cxnLst/>
            <a:rect l="l" t="t" r="r" b="b"/>
            <a:pathLst>
              <a:path w="104802" h="104802">
                <a:moveTo>
                  <a:pt x="52401" y="0"/>
                </a:moveTo>
                <a:cubicBezTo>
                  <a:pt x="55410" y="0"/>
                  <a:pt x="58173" y="1658"/>
                  <a:pt x="59606" y="4299"/>
                </a:cubicBezTo>
                <a:lnTo>
                  <a:pt x="103820" y="86175"/>
                </a:lnTo>
                <a:cubicBezTo>
                  <a:pt x="105191" y="88714"/>
                  <a:pt x="105130" y="91784"/>
                  <a:pt x="103656" y="94261"/>
                </a:cubicBezTo>
                <a:cubicBezTo>
                  <a:pt x="102182" y="96737"/>
                  <a:pt x="99501" y="98252"/>
                  <a:pt x="96615" y="98252"/>
                </a:cubicBezTo>
                <a:lnTo>
                  <a:pt x="8188" y="98252"/>
                </a:lnTo>
                <a:cubicBezTo>
                  <a:pt x="5302" y="98252"/>
                  <a:pt x="2641" y="96737"/>
                  <a:pt x="1146" y="94261"/>
                </a:cubicBezTo>
                <a:cubicBezTo>
                  <a:pt x="-348" y="91784"/>
                  <a:pt x="-389" y="88714"/>
                  <a:pt x="983" y="86175"/>
                </a:cubicBezTo>
                <a:lnTo>
                  <a:pt x="45196" y="4299"/>
                </a:lnTo>
                <a:cubicBezTo>
                  <a:pt x="46629" y="1658"/>
                  <a:pt x="49392" y="0"/>
                  <a:pt x="52401" y="0"/>
                </a:cubicBezTo>
                <a:close/>
                <a:moveTo>
                  <a:pt x="52401" y="34388"/>
                </a:moveTo>
                <a:cubicBezTo>
                  <a:pt x="49679" y="34388"/>
                  <a:pt x="47489" y="36578"/>
                  <a:pt x="47489" y="39301"/>
                </a:cubicBezTo>
                <a:lnTo>
                  <a:pt x="47489" y="62226"/>
                </a:lnTo>
                <a:cubicBezTo>
                  <a:pt x="47489" y="64949"/>
                  <a:pt x="49679" y="67139"/>
                  <a:pt x="52401" y="67139"/>
                </a:cubicBezTo>
                <a:cubicBezTo>
                  <a:pt x="55124" y="67139"/>
                  <a:pt x="57314" y="64949"/>
                  <a:pt x="57314" y="62226"/>
                </a:cubicBezTo>
                <a:lnTo>
                  <a:pt x="57314" y="39301"/>
                </a:lnTo>
                <a:cubicBezTo>
                  <a:pt x="57314" y="36578"/>
                  <a:pt x="55124" y="34388"/>
                  <a:pt x="52401" y="34388"/>
                </a:cubicBezTo>
                <a:close/>
                <a:moveTo>
                  <a:pt x="57866" y="78602"/>
                </a:moveTo>
                <a:cubicBezTo>
                  <a:pt x="57991" y="76573"/>
                  <a:pt x="56979" y="74643"/>
                  <a:pt x="55240" y="73591"/>
                </a:cubicBezTo>
                <a:cubicBezTo>
                  <a:pt x="53501" y="72539"/>
                  <a:pt x="51322" y="72539"/>
                  <a:pt x="49583" y="73591"/>
                </a:cubicBezTo>
                <a:cubicBezTo>
                  <a:pt x="47844" y="74643"/>
                  <a:pt x="46832" y="76573"/>
                  <a:pt x="46956" y="78602"/>
                </a:cubicBezTo>
                <a:cubicBezTo>
                  <a:pt x="46832" y="80630"/>
                  <a:pt x="47844" y="82560"/>
                  <a:pt x="49583" y="83612"/>
                </a:cubicBezTo>
                <a:cubicBezTo>
                  <a:pt x="51322" y="84664"/>
                  <a:pt x="53501" y="84664"/>
                  <a:pt x="55240" y="83612"/>
                </a:cubicBezTo>
                <a:cubicBezTo>
                  <a:pt x="56979" y="82560"/>
                  <a:pt x="57991" y="80630"/>
                  <a:pt x="57866" y="7860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4" name="Text 92"/>
          <p:cNvSpPr/>
          <p:nvPr/>
        </p:nvSpPr>
        <p:spPr>
          <a:xfrm>
            <a:off x="9289522" y="5812160"/>
            <a:ext cx="2366785" cy="40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周度发现的缺口商机需在3个工作日内制定补救方案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9101751" y="6244470"/>
            <a:ext cx="104802" cy="104802"/>
          </a:xfrm>
          <a:custGeom>
            <a:avLst/>
            <a:gdLst/>
            <a:ahLst/>
            <a:cxnLst/>
            <a:rect l="l" t="t" r="r" b="b"/>
            <a:pathLst>
              <a:path w="104802" h="104802">
                <a:moveTo>
                  <a:pt x="52401" y="0"/>
                </a:moveTo>
                <a:cubicBezTo>
                  <a:pt x="55410" y="0"/>
                  <a:pt x="58173" y="1658"/>
                  <a:pt x="59606" y="4299"/>
                </a:cubicBezTo>
                <a:lnTo>
                  <a:pt x="103820" y="86175"/>
                </a:lnTo>
                <a:cubicBezTo>
                  <a:pt x="105191" y="88714"/>
                  <a:pt x="105130" y="91784"/>
                  <a:pt x="103656" y="94261"/>
                </a:cubicBezTo>
                <a:cubicBezTo>
                  <a:pt x="102182" y="96737"/>
                  <a:pt x="99501" y="98252"/>
                  <a:pt x="96615" y="98252"/>
                </a:cubicBezTo>
                <a:lnTo>
                  <a:pt x="8188" y="98252"/>
                </a:lnTo>
                <a:cubicBezTo>
                  <a:pt x="5302" y="98252"/>
                  <a:pt x="2641" y="96737"/>
                  <a:pt x="1146" y="94261"/>
                </a:cubicBezTo>
                <a:cubicBezTo>
                  <a:pt x="-348" y="91784"/>
                  <a:pt x="-389" y="88714"/>
                  <a:pt x="983" y="86175"/>
                </a:cubicBezTo>
                <a:lnTo>
                  <a:pt x="45196" y="4299"/>
                </a:lnTo>
                <a:cubicBezTo>
                  <a:pt x="46629" y="1658"/>
                  <a:pt x="49392" y="0"/>
                  <a:pt x="52401" y="0"/>
                </a:cubicBezTo>
                <a:close/>
                <a:moveTo>
                  <a:pt x="52401" y="34388"/>
                </a:moveTo>
                <a:cubicBezTo>
                  <a:pt x="49679" y="34388"/>
                  <a:pt x="47489" y="36578"/>
                  <a:pt x="47489" y="39301"/>
                </a:cubicBezTo>
                <a:lnTo>
                  <a:pt x="47489" y="62226"/>
                </a:lnTo>
                <a:cubicBezTo>
                  <a:pt x="47489" y="64949"/>
                  <a:pt x="49679" y="67139"/>
                  <a:pt x="52401" y="67139"/>
                </a:cubicBezTo>
                <a:cubicBezTo>
                  <a:pt x="55124" y="67139"/>
                  <a:pt x="57314" y="64949"/>
                  <a:pt x="57314" y="62226"/>
                </a:cubicBezTo>
                <a:lnTo>
                  <a:pt x="57314" y="39301"/>
                </a:lnTo>
                <a:cubicBezTo>
                  <a:pt x="57314" y="36578"/>
                  <a:pt x="55124" y="34388"/>
                  <a:pt x="52401" y="34388"/>
                </a:cubicBezTo>
                <a:close/>
                <a:moveTo>
                  <a:pt x="57866" y="78602"/>
                </a:moveTo>
                <a:cubicBezTo>
                  <a:pt x="57991" y="76573"/>
                  <a:pt x="56979" y="74643"/>
                  <a:pt x="55240" y="73591"/>
                </a:cubicBezTo>
                <a:cubicBezTo>
                  <a:pt x="53501" y="72539"/>
                  <a:pt x="51322" y="72539"/>
                  <a:pt x="49583" y="73591"/>
                </a:cubicBezTo>
                <a:cubicBezTo>
                  <a:pt x="47844" y="74643"/>
                  <a:pt x="46832" y="76573"/>
                  <a:pt x="46956" y="78602"/>
                </a:cubicBezTo>
                <a:cubicBezTo>
                  <a:pt x="46832" y="80630"/>
                  <a:pt x="47844" y="82560"/>
                  <a:pt x="49583" y="83612"/>
                </a:cubicBezTo>
                <a:cubicBezTo>
                  <a:pt x="51322" y="84664"/>
                  <a:pt x="53501" y="84664"/>
                  <a:pt x="55240" y="83612"/>
                </a:cubicBezTo>
                <a:cubicBezTo>
                  <a:pt x="56979" y="82560"/>
                  <a:pt x="57991" y="80630"/>
                  <a:pt x="57866" y="7860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96" name="Text 94"/>
          <p:cNvSpPr/>
          <p:nvPr/>
        </p:nvSpPr>
        <p:spPr>
          <a:xfrm>
            <a:off x="9289522" y="6209536"/>
            <a:ext cx="2366785" cy="401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3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季度末未达预期的，需完成MO流程专项复盘</a:t>
            </a:r>
            <a:endParaRPr lang="en-US" sz="1600" dirty="0"/>
          </a:p>
        </p:txBody>
      </p:sp>
      <p:pic>
        <p:nvPicPr>
          <p:cNvPr id="97" name="图片 96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 · 自工序全流程细化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第二层：下季度业绩储备（锅里）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957347"/>
            <a:ext cx="3770313" cy="1936750"/>
          </a:xfrm>
          <a:custGeom>
            <a:avLst/>
            <a:gdLst/>
            <a:ahLst/>
            <a:cxnLst/>
            <a:rect l="l" t="t" r="r" b="b"/>
            <a:pathLst>
              <a:path w="3770313" h="1936750">
                <a:moveTo>
                  <a:pt x="95249" y="0"/>
                </a:moveTo>
                <a:lnTo>
                  <a:pt x="3675063" y="0"/>
                </a:lnTo>
                <a:cubicBezTo>
                  <a:pt x="3727668" y="0"/>
                  <a:pt x="3770313" y="42645"/>
                  <a:pt x="3770313" y="95249"/>
                </a:cubicBezTo>
                <a:lnTo>
                  <a:pt x="3770313" y="1841501"/>
                </a:lnTo>
                <a:cubicBezTo>
                  <a:pt x="3770313" y="1894105"/>
                  <a:pt x="3727668" y="1936750"/>
                  <a:pt x="3675063" y="1936750"/>
                </a:cubicBezTo>
                <a:lnTo>
                  <a:pt x="95249" y="1936750"/>
                </a:lnTo>
                <a:cubicBezTo>
                  <a:pt x="42645" y="1936750"/>
                  <a:pt x="0" y="1894105"/>
                  <a:pt x="0" y="1841501"/>
                </a:cubicBezTo>
                <a:lnTo>
                  <a:pt x="0" y="95249"/>
                </a:lnTo>
                <a:cubicBezTo>
                  <a:pt x="0" y="42645"/>
                  <a:pt x="42645" y="0"/>
                  <a:pt x="9524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/>
              </a:gs>
              <a:gs pos="100000">
                <a:srgbClr val="1E40AF"/>
              </a:gs>
            </a:gsLst>
            <a:lin ang="2700000" scaled="1"/>
          </a:gra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6406" y="110022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7875" y="1084347"/>
            <a:ext cx="103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核心管理指标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4500" y="1401847"/>
            <a:ext cx="3516313" cy="635000"/>
          </a:xfrm>
          <a:custGeom>
            <a:avLst/>
            <a:gdLst/>
            <a:ahLst/>
            <a:cxnLst/>
            <a:rect l="l" t="t" r="r" b="b"/>
            <a:pathLst>
              <a:path w="3516313" h="635000">
                <a:moveTo>
                  <a:pt x="63500" y="0"/>
                </a:moveTo>
                <a:lnTo>
                  <a:pt x="3452813" y="0"/>
                </a:lnTo>
                <a:cubicBezTo>
                  <a:pt x="3487859" y="0"/>
                  <a:pt x="3516313" y="28453"/>
                  <a:pt x="3516313" y="63500"/>
                </a:cubicBezTo>
                <a:lnTo>
                  <a:pt x="3516313" y="571500"/>
                </a:lnTo>
                <a:cubicBezTo>
                  <a:pt x="3516313" y="606547"/>
                  <a:pt x="3487859" y="635000"/>
                  <a:pt x="34528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9750" y="1497097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下季度潜力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750" y="1719347"/>
            <a:ext cx="3397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 下季度预期金额 / 下季度目标销量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4500" y="2132097"/>
            <a:ext cx="3516313" cy="635000"/>
          </a:xfrm>
          <a:custGeom>
            <a:avLst/>
            <a:gdLst/>
            <a:ahLst/>
            <a:cxnLst/>
            <a:rect l="l" t="t" r="r" b="b"/>
            <a:pathLst>
              <a:path w="3516313" h="635000">
                <a:moveTo>
                  <a:pt x="63500" y="0"/>
                </a:moveTo>
                <a:lnTo>
                  <a:pt x="3452813" y="0"/>
                </a:lnTo>
                <a:cubicBezTo>
                  <a:pt x="3487859" y="0"/>
                  <a:pt x="3516313" y="28453"/>
                  <a:pt x="3516313" y="63500"/>
                </a:cubicBezTo>
                <a:lnTo>
                  <a:pt x="3516313" y="571500"/>
                </a:lnTo>
                <a:cubicBezTo>
                  <a:pt x="3516313" y="606547"/>
                  <a:pt x="3487859" y="635000"/>
                  <a:pt x="3452813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39750" y="2227347"/>
            <a:ext cx="338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下季度漏斗内目标达成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750" y="2449597"/>
            <a:ext cx="3397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 下季度漏斗内金额 / 下季度目标销量 × 2.5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8009" y="957347"/>
            <a:ext cx="7643813" cy="1936750"/>
          </a:xfrm>
          <a:custGeom>
            <a:avLst/>
            <a:gdLst/>
            <a:ahLst/>
            <a:cxnLst/>
            <a:rect l="l" t="t" r="r" b="b"/>
            <a:pathLst>
              <a:path w="7643813" h="1936750">
                <a:moveTo>
                  <a:pt x="31750" y="0"/>
                </a:moveTo>
                <a:lnTo>
                  <a:pt x="7548563" y="0"/>
                </a:lnTo>
                <a:cubicBezTo>
                  <a:pt x="7601168" y="0"/>
                  <a:pt x="7643813" y="42645"/>
                  <a:pt x="7643813" y="95249"/>
                </a:cubicBezTo>
                <a:lnTo>
                  <a:pt x="7643813" y="1841501"/>
                </a:lnTo>
                <a:cubicBezTo>
                  <a:pt x="7643813" y="1894105"/>
                  <a:pt x="7601168" y="1936750"/>
                  <a:pt x="7548563" y="1936750"/>
                </a:cubicBez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28009" y="957347"/>
            <a:ext cx="31750" cy="1936750"/>
          </a:xfrm>
          <a:custGeom>
            <a:avLst/>
            <a:gdLst/>
            <a:ahLst/>
            <a:cxnLst/>
            <a:rect l="l" t="t" r="r" b="b"/>
            <a:pathLst>
              <a:path w="31750" h="1936750">
                <a:moveTo>
                  <a:pt x="31750" y="0"/>
                </a:moveTo>
                <a:lnTo>
                  <a:pt x="31750" y="0"/>
                </a:lnTo>
                <a:lnTo>
                  <a:pt x="31750" y="1936750"/>
                </a:lnTo>
                <a:lnTo>
                  <a:pt x="31750" y="1936750"/>
                </a:lnTo>
                <a:cubicBezTo>
                  <a:pt x="14227" y="1936750"/>
                  <a:pt x="0" y="1922523"/>
                  <a:pt x="0" y="190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0884" y="110022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2009" y="121134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8750" y="9922"/>
                </a:moveTo>
                <a:cubicBezTo>
                  <a:pt x="158750" y="43439"/>
                  <a:pt x="135000" y="71406"/>
                  <a:pt x="103436" y="77949"/>
                </a:cubicBezTo>
                <a:cubicBezTo>
                  <a:pt x="100986" y="59934"/>
                  <a:pt x="92894" y="43718"/>
                  <a:pt x="80956" y="31161"/>
                </a:cubicBezTo>
                <a:cubicBezTo>
                  <a:pt x="93390" y="12402"/>
                  <a:pt x="114691" y="0"/>
                  <a:pt x="138906" y="0"/>
                </a:cubicBezTo>
                <a:lnTo>
                  <a:pt x="148828" y="0"/>
                </a:lnTo>
                <a:cubicBezTo>
                  <a:pt x="154316" y="0"/>
                  <a:pt x="158750" y="4434"/>
                  <a:pt x="158750" y="9922"/>
                </a:cubicBezTo>
                <a:close/>
                <a:moveTo>
                  <a:pt x="0" y="29766"/>
                </a:moveTo>
                <a:cubicBezTo>
                  <a:pt x="0" y="24278"/>
                  <a:pt x="4434" y="19844"/>
                  <a:pt x="9922" y="19844"/>
                </a:cubicBezTo>
                <a:lnTo>
                  <a:pt x="19844" y="19844"/>
                </a:lnTo>
                <a:cubicBezTo>
                  <a:pt x="58198" y="19844"/>
                  <a:pt x="89297" y="50943"/>
                  <a:pt x="89297" y="89297"/>
                </a:cubicBezTo>
                <a:lnTo>
                  <a:pt x="89297" y="148828"/>
                </a:lnTo>
                <a:cubicBezTo>
                  <a:pt x="89297" y="154316"/>
                  <a:pt x="84863" y="158750"/>
                  <a:pt x="79375" y="158750"/>
                </a:cubicBezTo>
                <a:cubicBezTo>
                  <a:pt x="73887" y="158750"/>
                  <a:pt x="69453" y="154316"/>
                  <a:pt x="69453" y="148828"/>
                </a:cubicBezTo>
                <a:lnTo>
                  <a:pt x="69453" y="99219"/>
                </a:lnTo>
                <a:cubicBezTo>
                  <a:pt x="31099" y="99219"/>
                  <a:pt x="0" y="68120"/>
                  <a:pt x="0" y="297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7134" y="1084347"/>
            <a:ext cx="528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管理要求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7134" y="1306597"/>
            <a:ext cx="527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以「储备充足、储备待补、储备缺口」为核心判定维度，保障下季度业绩承接，避免业务断层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77234" y="1598697"/>
            <a:ext cx="2386013" cy="1028700"/>
          </a:xfrm>
          <a:custGeom>
            <a:avLst/>
            <a:gdLst/>
            <a:ahLst/>
            <a:cxnLst/>
            <a:rect l="l" t="t" r="r" b="b"/>
            <a:pathLst>
              <a:path w="2386013" h="1028700">
                <a:moveTo>
                  <a:pt x="63502" y="0"/>
                </a:moveTo>
                <a:lnTo>
                  <a:pt x="2322511" y="0"/>
                </a:lnTo>
                <a:cubicBezTo>
                  <a:pt x="2357582" y="0"/>
                  <a:pt x="2386013" y="28431"/>
                  <a:pt x="2386013" y="63502"/>
                </a:cubicBezTo>
                <a:lnTo>
                  <a:pt x="2386013" y="965198"/>
                </a:lnTo>
                <a:cubicBezTo>
                  <a:pt x="2386012" y="1000269"/>
                  <a:pt x="2357582" y="1028700"/>
                  <a:pt x="2322511" y="1028700"/>
                </a:cubicBezTo>
                <a:lnTo>
                  <a:pt x="63502" y="1028700"/>
                </a:lnTo>
                <a:cubicBezTo>
                  <a:pt x="28431" y="1028700"/>
                  <a:pt x="0" y="1000269"/>
                  <a:pt x="0" y="9651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2032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8053" y="17002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9178" y="181142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447084" y="2144798"/>
            <a:ext cx="2246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储备充足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51052" y="2367048"/>
            <a:ext cx="223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漏斗内金额≥目标×2.5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67823" y="1598697"/>
            <a:ext cx="2386013" cy="1028700"/>
          </a:xfrm>
          <a:custGeom>
            <a:avLst/>
            <a:gdLst/>
            <a:ahLst/>
            <a:cxnLst/>
            <a:rect l="l" t="t" r="r" b="b"/>
            <a:pathLst>
              <a:path w="2386013" h="1028700">
                <a:moveTo>
                  <a:pt x="63502" y="0"/>
                </a:moveTo>
                <a:lnTo>
                  <a:pt x="2322511" y="0"/>
                </a:lnTo>
                <a:cubicBezTo>
                  <a:pt x="2357582" y="0"/>
                  <a:pt x="2386013" y="28431"/>
                  <a:pt x="2386013" y="63502"/>
                </a:cubicBezTo>
                <a:lnTo>
                  <a:pt x="2386013" y="965198"/>
                </a:lnTo>
                <a:cubicBezTo>
                  <a:pt x="2386012" y="1000269"/>
                  <a:pt x="2357582" y="1028700"/>
                  <a:pt x="2322511" y="1028700"/>
                </a:cubicBezTo>
                <a:lnTo>
                  <a:pt x="63502" y="1028700"/>
                </a:lnTo>
                <a:cubicBezTo>
                  <a:pt x="28431" y="1028700"/>
                  <a:pt x="0" y="1000269"/>
                  <a:pt x="0" y="9651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8642" y="17002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7979767" y="181142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79375" y="42168"/>
                </a:moveTo>
                <a:cubicBezTo>
                  <a:pt x="83499" y="42168"/>
                  <a:pt x="86816" y="45486"/>
                  <a:pt x="86816" y="49609"/>
                </a:cubicBezTo>
                <a:lnTo>
                  <a:pt x="86816" y="84336"/>
                </a:lnTo>
                <a:cubicBezTo>
                  <a:pt x="86816" y="88460"/>
                  <a:pt x="83499" y="91777"/>
                  <a:pt x="79375" y="91777"/>
                </a:cubicBezTo>
                <a:cubicBezTo>
                  <a:pt x="75251" y="91777"/>
                  <a:pt x="71934" y="88460"/>
                  <a:pt x="71934" y="84336"/>
                </a:cubicBezTo>
                <a:lnTo>
                  <a:pt x="71934" y="49609"/>
                </a:lnTo>
                <a:cubicBezTo>
                  <a:pt x="71934" y="45486"/>
                  <a:pt x="75251" y="42168"/>
                  <a:pt x="79375" y="42168"/>
                </a:cubicBezTo>
                <a:close/>
                <a:moveTo>
                  <a:pt x="71096" y="109141"/>
                </a:moveTo>
                <a:cubicBezTo>
                  <a:pt x="70908" y="106068"/>
                  <a:pt x="72441" y="103144"/>
                  <a:pt x="75075" y="101551"/>
                </a:cubicBezTo>
                <a:cubicBezTo>
                  <a:pt x="77709" y="99957"/>
                  <a:pt x="81010" y="99957"/>
                  <a:pt x="83644" y="101551"/>
                </a:cubicBezTo>
                <a:cubicBezTo>
                  <a:pt x="86278" y="103144"/>
                  <a:pt x="87811" y="106068"/>
                  <a:pt x="87623" y="109141"/>
                </a:cubicBezTo>
                <a:cubicBezTo>
                  <a:pt x="87811" y="112214"/>
                  <a:pt x="86278" y="115137"/>
                  <a:pt x="83644" y="116731"/>
                </a:cubicBezTo>
                <a:cubicBezTo>
                  <a:pt x="81010" y="118324"/>
                  <a:pt x="77709" y="118324"/>
                  <a:pt x="75075" y="116731"/>
                </a:cubicBezTo>
                <a:cubicBezTo>
                  <a:pt x="72441" y="115137"/>
                  <a:pt x="70908" y="112214"/>
                  <a:pt x="71096" y="10914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937673" y="2144798"/>
            <a:ext cx="2246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储备待补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1642" y="2367048"/>
            <a:ext cx="223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漏斗内金额接近目标×2.5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58412" y="1598697"/>
            <a:ext cx="2386013" cy="1028700"/>
          </a:xfrm>
          <a:custGeom>
            <a:avLst/>
            <a:gdLst/>
            <a:ahLst/>
            <a:cxnLst/>
            <a:rect l="l" t="t" r="r" b="b"/>
            <a:pathLst>
              <a:path w="2386013" h="1028700">
                <a:moveTo>
                  <a:pt x="63502" y="0"/>
                </a:moveTo>
                <a:lnTo>
                  <a:pt x="2322511" y="0"/>
                </a:lnTo>
                <a:cubicBezTo>
                  <a:pt x="2357582" y="0"/>
                  <a:pt x="2386013" y="28431"/>
                  <a:pt x="2386013" y="63502"/>
                </a:cubicBezTo>
                <a:lnTo>
                  <a:pt x="2386013" y="965198"/>
                </a:lnTo>
                <a:cubicBezTo>
                  <a:pt x="2386012" y="1000269"/>
                  <a:pt x="2357582" y="1028700"/>
                  <a:pt x="2322511" y="1028700"/>
                </a:cubicBezTo>
                <a:lnTo>
                  <a:pt x="63502" y="1028700"/>
                </a:lnTo>
                <a:cubicBezTo>
                  <a:pt x="28431" y="1028700"/>
                  <a:pt x="0" y="1000269"/>
                  <a:pt x="0" y="96519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2032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59231" y="17002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70356" y="181142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9428262" y="2144798"/>
            <a:ext cx="2246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储备缺口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432230" y="2367048"/>
            <a:ext cx="223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漏斗内金额&lt;目标×2.5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33375" y="2989347"/>
            <a:ext cx="11541125" cy="3812283"/>
          </a:xfrm>
          <a:custGeom>
            <a:avLst/>
            <a:gdLst/>
            <a:ahLst/>
            <a:cxnLst/>
            <a:rect l="l" t="t" r="r" b="b"/>
            <a:pathLst>
              <a:path w="11541125" h="4206875">
                <a:moveTo>
                  <a:pt x="31750" y="0"/>
                </a:moveTo>
                <a:lnTo>
                  <a:pt x="11445881" y="0"/>
                </a:lnTo>
                <a:cubicBezTo>
                  <a:pt x="11498483" y="0"/>
                  <a:pt x="11541125" y="42642"/>
                  <a:pt x="11541125" y="95244"/>
                </a:cubicBezTo>
                <a:lnTo>
                  <a:pt x="11541125" y="4111631"/>
                </a:lnTo>
                <a:cubicBezTo>
                  <a:pt x="11541125" y="4164233"/>
                  <a:pt x="11498483" y="4206875"/>
                  <a:pt x="11445881" y="4206875"/>
                </a:cubicBezTo>
                <a:lnTo>
                  <a:pt x="31750" y="4206875"/>
                </a:lnTo>
                <a:cubicBezTo>
                  <a:pt x="14227" y="4206875"/>
                  <a:pt x="0" y="4192648"/>
                  <a:pt x="0" y="4175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3375" y="2989347"/>
            <a:ext cx="31750" cy="3780000"/>
          </a:xfrm>
          <a:custGeom>
            <a:avLst/>
            <a:gdLst/>
            <a:ahLst/>
            <a:cxnLst/>
            <a:rect l="l" t="t" r="r" b="b"/>
            <a:pathLst>
              <a:path w="31750" h="4206875">
                <a:moveTo>
                  <a:pt x="31750" y="0"/>
                </a:moveTo>
                <a:lnTo>
                  <a:pt x="31750" y="0"/>
                </a:lnTo>
                <a:lnTo>
                  <a:pt x="31750" y="4206875"/>
                </a:lnTo>
                <a:lnTo>
                  <a:pt x="31750" y="4206875"/>
                </a:lnTo>
                <a:cubicBezTo>
                  <a:pt x="14227" y="4206875"/>
                  <a:pt x="0" y="4192648"/>
                  <a:pt x="0" y="417512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476250" y="311634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587375" y="322747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1486" y="11255"/>
                </a:moveTo>
                <a:cubicBezTo>
                  <a:pt x="44865" y="13612"/>
                  <a:pt x="45672" y="18262"/>
                  <a:pt x="43315" y="21611"/>
                </a:cubicBezTo>
                <a:lnTo>
                  <a:pt x="25952" y="46416"/>
                </a:lnTo>
                <a:cubicBezTo>
                  <a:pt x="24681" y="48214"/>
                  <a:pt x="22696" y="49361"/>
                  <a:pt x="20495" y="49547"/>
                </a:cubicBezTo>
                <a:cubicBezTo>
                  <a:pt x="18293" y="49733"/>
                  <a:pt x="16123" y="48989"/>
                  <a:pt x="14573" y="47439"/>
                </a:cubicBezTo>
                <a:lnTo>
                  <a:pt x="2170" y="35037"/>
                </a:lnTo>
                <a:cubicBezTo>
                  <a:pt x="-713" y="32122"/>
                  <a:pt x="-713" y="27409"/>
                  <a:pt x="2170" y="24495"/>
                </a:cubicBezTo>
                <a:cubicBezTo>
                  <a:pt x="5054" y="21580"/>
                  <a:pt x="9798" y="21611"/>
                  <a:pt x="12712" y="24495"/>
                </a:cubicBezTo>
                <a:lnTo>
                  <a:pt x="18852" y="30634"/>
                </a:lnTo>
                <a:lnTo>
                  <a:pt x="31130" y="13084"/>
                </a:lnTo>
                <a:cubicBezTo>
                  <a:pt x="33486" y="9705"/>
                  <a:pt x="38137" y="8899"/>
                  <a:pt x="41486" y="11255"/>
                </a:cubicBezTo>
                <a:close/>
                <a:moveTo>
                  <a:pt x="41486" y="60865"/>
                </a:moveTo>
                <a:cubicBezTo>
                  <a:pt x="44865" y="63221"/>
                  <a:pt x="45672" y="67872"/>
                  <a:pt x="43315" y="71220"/>
                </a:cubicBezTo>
                <a:lnTo>
                  <a:pt x="25952" y="96025"/>
                </a:lnTo>
                <a:cubicBezTo>
                  <a:pt x="24681" y="97823"/>
                  <a:pt x="22696" y="98971"/>
                  <a:pt x="20495" y="99157"/>
                </a:cubicBezTo>
                <a:cubicBezTo>
                  <a:pt x="18293" y="99343"/>
                  <a:pt x="16123" y="98599"/>
                  <a:pt x="14573" y="97048"/>
                </a:cubicBezTo>
                <a:lnTo>
                  <a:pt x="2170" y="84646"/>
                </a:lnTo>
                <a:cubicBezTo>
                  <a:pt x="-744" y="81731"/>
                  <a:pt x="-744" y="77019"/>
                  <a:pt x="2170" y="74135"/>
                </a:cubicBezTo>
                <a:cubicBezTo>
                  <a:pt x="5085" y="71251"/>
                  <a:pt x="9798" y="71220"/>
                  <a:pt x="12681" y="74135"/>
                </a:cubicBezTo>
                <a:lnTo>
                  <a:pt x="18821" y="80274"/>
                </a:lnTo>
                <a:lnTo>
                  <a:pt x="31099" y="62725"/>
                </a:lnTo>
                <a:cubicBezTo>
                  <a:pt x="33455" y="59345"/>
                  <a:pt x="38106" y="58539"/>
                  <a:pt x="41455" y="60896"/>
                </a:cubicBezTo>
                <a:close/>
                <a:moveTo>
                  <a:pt x="69453" y="29766"/>
                </a:moveTo>
                <a:cubicBezTo>
                  <a:pt x="69453" y="24278"/>
                  <a:pt x="73887" y="19844"/>
                  <a:pt x="79375" y="19844"/>
                </a:cubicBez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79375" y="39688"/>
                </a:lnTo>
                <a:cubicBezTo>
                  <a:pt x="73887" y="39688"/>
                  <a:pt x="69453" y="35254"/>
                  <a:pt x="69453" y="29766"/>
                </a:cubicBezTo>
                <a:close/>
                <a:moveTo>
                  <a:pt x="69453" y="79375"/>
                </a:moveTo>
                <a:cubicBezTo>
                  <a:pt x="69453" y="73887"/>
                  <a:pt x="73887" y="69453"/>
                  <a:pt x="79375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79375" y="89297"/>
                </a:lnTo>
                <a:cubicBezTo>
                  <a:pt x="73887" y="89297"/>
                  <a:pt x="69453" y="84863"/>
                  <a:pt x="69453" y="79375"/>
                </a:cubicBezTo>
                <a:close/>
                <a:moveTo>
                  <a:pt x="49609" y="128984"/>
                </a:moveTo>
                <a:cubicBezTo>
                  <a:pt x="49609" y="123496"/>
                  <a:pt x="54043" y="119062"/>
                  <a:pt x="59531" y="119062"/>
                </a:cubicBez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59531" y="138906"/>
                </a:lnTo>
                <a:cubicBezTo>
                  <a:pt x="54043" y="138906"/>
                  <a:pt x="49609" y="134472"/>
                  <a:pt x="49609" y="128984"/>
                </a:cubicBezTo>
                <a:close/>
                <a:moveTo>
                  <a:pt x="19844" y="116582"/>
                </a:moveTo>
                <a:cubicBezTo>
                  <a:pt x="26689" y="116582"/>
                  <a:pt x="32246" y="122139"/>
                  <a:pt x="32246" y="128984"/>
                </a:cubicBezTo>
                <a:cubicBezTo>
                  <a:pt x="32246" y="135829"/>
                  <a:pt x="26689" y="141387"/>
                  <a:pt x="19844" y="141387"/>
                </a:cubicBezTo>
                <a:cubicBezTo>
                  <a:pt x="12999" y="141387"/>
                  <a:pt x="7441" y="135829"/>
                  <a:pt x="7441" y="128984"/>
                </a:cubicBezTo>
                <a:cubicBezTo>
                  <a:pt x="7441" y="122139"/>
                  <a:pt x="12999" y="116582"/>
                  <a:pt x="19844" y="11658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952500" y="3195722"/>
            <a:ext cx="2889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自工序全流程（嵌入MO商机培育动作）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76250" y="3556386"/>
            <a:ext cx="5572125" cy="853912"/>
          </a:xfrm>
          <a:custGeom>
            <a:avLst/>
            <a:gdLst/>
            <a:ahLst/>
            <a:cxnLst/>
            <a:rect l="l" t="t" r="r" b="b"/>
            <a:pathLst>
              <a:path w="5572125" h="1095375">
                <a:moveTo>
                  <a:pt x="63499" y="0"/>
                </a:moveTo>
                <a:lnTo>
                  <a:pt x="5508626" y="0"/>
                </a:lnTo>
                <a:cubicBezTo>
                  <a:pt x="5543696" y="0"/>
                  <a:pt x="5572125" y="28429"/>
                  <a:pt x="5572125" y="63499"/>
                </a:cubicBezTo>
                <a:lnTo>
                  <a:pt x="5572125" y="1031876"/>
                </a:lnTo>
                <a:cubicBezTo>
                  <a:pt x="5572125" y="1066946"/>
                  <a:pt x="5543696" y="1095375"/>
                  <a:pt x="5508626" y="1095375"/>
                </a:cubicBezTo>
                <a:lnTo>
                  <a:pt x="63499" y="1095375"/>
                </a:lnTo>
                <a:cubicBezTo>
                  <a:pt x="28429" y="1095375"/>
                  <a:pt x="0" y="1066946"/>
                  <a:pt x="0" y="10318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571500" y="376837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Shape 40"/>
          <p:cNvSpPr/>
          <p:nvPr/>
        </p:nvSpPr>
        <p:spPr>
          <a:xfrm>
            <a:off x="666750" y="386362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03188" y="51594"/>
                </a:moveTo>
                <a:cubicBezTo>
                  <a:pt x="103188" y="62979"/>
                  <a:pt x="99492" y="73496"/>
                  <a:pt x="93266" y="82029"/>
                </a:cubicBezTo>
                <a:lnTo>
                  <a:pt x="124668" y="113457"/>
                </a:lnTo>
                <a:cubicBezTo>
                  <a:pt x="127769" y="116557"/>
                  <a:pt x="127769" y="121593"/>
                  <a:pt x="124668" y="124693"/>
                </a:cubicBezTo>
                <a:cubicBezTo>
                  <a:pt x="121568" y="127794"/>
                  <a:pt x="116532" y="127794"/>
                  <a:pt x="113432" y="124693"/>
                </a:cubicBezTo>
                <a:lnTo>
                  <a:pt x="82029" y="93266"/>
                </a:lnTo>
                <a:cubicBezTo>
                  <a:pt x="73496" y="99492"/>
                  <a:pt x="62979" y="103188"/>
                  <a:pt x="51594" y="103188"/>
                </a:cubicBezTo>
                <a:cubicBezTo>
                  <a:pt x="23093" y="103188"/>
                  <a:pt x="0" y="80094"/>
                  <a:pt x="0" y="51594"/>
                </a:cubicBezTo>
                <a:cubicBezTo>
                  <a:pt x="0" y="23093"/>
                  <a:pt x="23093" y="0"/>
                  <a:pt x="51594" y="0"/>
                </a:cubicBezTo>
                <a:cubicBezTo>
                  <a:pt x="80094" y="0"/>
                  <a:pt x="103188" y="23093"/>
                  <a:pt x="103188" y="51594"/>
                </a:cubicBezTo>
                <a:close/>
                <a:moveTo>
                  <a:pt x="51594" y="87313"/>
                </a:moveTo>
                <a:cubicBezTo>
                  <a:pt x="71307" y="87313"/>
                  <a:pt x="87313" y="71307"/>
                  <a:pt x="87313" y="51594"/>
                </a:cubicBezTo>
                <a:cubicBezTo>
                  <a:pt x="87313" y="31880"/>
                  <a:pt x="71307" y="15875"/>
                  <a:pt x="51594" y="15875"/>
                </a:cubicBezTo>
                <a:cubicBezTo>
                  <a:pt x="31880" y="15875"/>
                  <a:pt x="15875" y="31880"/>
                  <a:pt x="15875" y="51594"/>
                </a:cubicBezTo>
                <a:cubicBezTo>
                  <a:pt x="15875" y="71307"/>
                  <a:pt x="31880" y="87313"/>
                  <a:pt x="51594" y="87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84250" y="3831872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商机挖掘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1500" y="4149372"/>
            <a:ext cx="54371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基于客户需求和市场趋势，主动挖掘潜在商机，建立初步联系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76250" y="4483384"/>
            <a:ext cx="5572125" cy="1095375"/>
          </a:xfrm>
          <a:custGeom>
            <a:avLst/>
            <a:gdLst/>
            <a:ahLst/>
            <a:cxnLst/>
            <a:rect l="l" t="t" r="r" b="b"/>
            <a:pathLst>
              <a:path w="5572125" h="1095375">
                <a:moveTo>
                  <a:pt x="63499" y="0"/>
                </a:moveTo>
                <a:lnTo>
                  <a:pt x="5508626" y="0"/>
                </a:lnTo>
                <a:cubicBezTo>
                  <a:pt x="5543696" y="0"/>
                  <a:pt x="5572125" y="28429"/>
                  <a:pt x="5572125" y="63499"/>
                </a:cubicBezTo>
                <a:lnTo>
                  <a:pt x="5572125" y="1031876"/>
                </a:lnTo>
                <a:cubicBezTo>
                  <a:pt x="5572125" y="1066946"/>
                  <a:pt x="5543696" y="1095375"/>
                  <a:pt x="5508626" y="1095375"/>
                </a:cubicBezTo>
                <a:lnTo>
                  <a:pt x="63499" y="1095375"/>
                </a:lnTo>
                <a:cubicBezTo>
                  <a:pt x="28429" y="1095375"/>
                  <a:pt x="0" y="1066946"/>
                  <a:pt x="0" y="10318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6" name="Shape 44"/>
          <p:cNvSpPr/>
          <p:nvPr/>
        </p:nvSpPr>
        <p:spPr>
          <a:xfrm>
            <a:off x="571500" y="4749786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7" name="Shape 45"/>
          <p:cNvSpPr/>
          <p:nvPr/>
        </p:nvSpPr>
        <p:spPr>
          <a:xfrm>
            <a:off x="682625" y="4845036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68560" y="64666"/>
                </a:moveTo>
                <a:cubicBezTo>
                  <a:pt x="70296" y="61888"/>
                  <a:pt x="69453" y="58217"/>
                  <a:pt x="66675" y="56455"/>
                </a:cubicBezTo>
                <a:cubicBezTo>
                  <a:pt x="63897" y="54694"/>
                  <a:pt x="60226" y="55563"/>
                  <a:pt x="58465" y="58341"/>
                </a:cubicBezTo>
                <a:lnTo>
                  <a:pt x="43235" y="82724"/>
                </a:lnTo>
                <a:lnTo>
                  <a:pt x="36537" y="73794"/>
                </a:lnTo>
                <a:cubicBezTo>
                  <a:pt x="34553" y="71165"/>
                  <a:pt x="30832" y="70619"/>
                  <a:pt x="28203" y="72603"/>
                </a:cubicBezTo>
                <a:cubicBezTo>
                  <a:pt x="25574" y="74588"/>
                  <a:pt x="25028" y="78308"/>
                  <a:pt x="27012" y="80938"/>
                </a:cubicBezTo>
                <a:lnTo>
                  <a:pt x="38919" y="96813"/>
                </a:lnTo>
                <a:cubicBezTo>
                  <a:pt x="40084" y="98375"/>
                  <a:pt x="41970" y="99268"/>
                  <a:pt x="43929" y="99194"/>
                </a:cubicBezTo>
                <a:cubicBezTo>
                  <a:pt x="45889" y="99120"/>
                  <a:pt x="47675" y="98078"/>
                  <a:pt x="48716" y="96391"/>
                </a:cubicBezTo>
                <a:lnTo>
                  <a:pt x="68560" y="6464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984250" y="4813286"/>
            <a:ext cx="77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MO立项评审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71500" y="5130786"/>
            <a:ext cx="54371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对挖掘的商机进行立项评审，明确商机价值、推进策略和资源需求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87362" y="5656527"/>
            <a:ext cx="5572125" cy="1095375"/>
          </a:xfrm>
          <a:custGeom>
            <a:avLst/>
            <a:gdLst/>
            <a:ahLst/>
            <a:cxnLst/>
            <a:rect l="l" t="t" r="r" b="b"/>
            <a:pathLst>
              <a:path w="5572125" h="1095375">
                <a:moveTo>
                  <a:pt x="63499" y="0"/>
                </a:moveTo>
                <a:lnTo>
                  <a:pt x="5508626" y="0"/>
                </a:lnTo>
                <a:cubicBezTo>
                  <a:pt x="5543696" y="0"/>
                  <a:pt x="5572125" y="28429"/>
                  <a:pt x="5572125" y="63499"/>
                </a:cubicBezTo>
                <a:lnTo>
                  <a:pt x="5572125" y="1031876"/>
                </a:lnTo>
                <a:cubicBezTo>
                  <a:pt x="5572125" y="1066946"/>
                  <a:pt x="5543696" y="1095375"/>
                  <a:pt x="5508626" y="1095375"/>
                </a:cubicBezTo>
                <a:lnTo>
                  <a:pt x="63499" y="1095375"/>
                </a:lnTo>
                <a:cubicBezTo>
                  <a:pt x="28429" y="1095375"/>
                  <a:pt x="0" y="1066946"/>
                  <a:pt x="0" y="103187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1" name="Shape 49"/>
          <p:cNvSpPr/>
          <p:nvPr/>
        </p:nvSpPr>
        <p:spPr>
          <a:xfrm>
            <a:off x="582612" y="592282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2" name="Shape 50"/>
          <p:cNvSpPr/>
          <p:nvPr/>
        </p:nvSpPr>
        <p:spPr>
          <a:xfrm>
            <a:off x="669925" y="6018078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95250" y="35719"/>
                </a:moveTo>
                <a:cubicBezTo>
                  <a:pt x="95250" y="59829"/>
                  <a:pt x="73918" y="79375"/>
                  <a:pt x="47625" y="79375"/>
                </a:cubicBezTo>
                <a:cubicBezTo>
                  <a:pt x="41002" y="79375"/>
                  <a:pt x="34702" y="78135"/>
                  <a:pt x="28972" y="75902"/>
                </a:cubicBezTo>
                <a:lnTo>
                  <a:pt x="8731" y="86618"/>
                </a:lnTo>
                <a:cubicBezTo>
                  <a:pt x="6424" y="87833"/>
                  <a:pt x="3597" y="87412"/>
                  <a:pt x="1736" y="85576"/>
                </a:cubicBezTo>
                <a:cubicBezTo>
                  <a:pt x="-124" y="83741"/>
                  <a:pt x="-546" y="80888"/>
                  <a:pt x="695" y="78581"/>
                </a:cubicBezTo>
                <a:lnTo>
                  <a:pt x="9525" y="61913"/>
                </a:lnTo>
                <a:cubicBezTo>
                  <a:pt x="3547" y="54620"/>
                  <a:pt x="0" y="45541"/>
                  <a:pt x="0" y="35719"/>
                </a:cubicBezTo>
                <a:cubicBezTo>
                  <a:pt x="0" y="11609"/>
                  <a:pt x="21332" y="-7937"/>
                  <a:pt x="47625" y="-7937"/>
                </a:cubicBezTo>
                <a:cubicBezTo>
                  <a:pt x="73918" y="-7937"/>
                  <a:pt x="95250" y="11609"/>
                  <a:pt x="95250" y="35719"/>
                </a:cubicBezTo>
                <a:close/>
                <a:moveTo>
                  <a:pt x="95250" y="127000"/>
                </a:moveTo>
                <a:cubicBezTo>
                  <a:pt x="71909" y="127000"/>
                  <a:pt x="52487" y="111596"/>
                  <a:pt x="48419" y="91281"/>
                </a:cubicBezTo>
                <a:cubicBezTo>
                  <a:pt x="78184" y="90909"/>
                  <a:pt x="104056" y="69726"/>
                  <a:pt x="106908" y="41002"/>
                </a:cubicBezTo>
                <a:cubicBezTo>
                  <a:pt x="127571" y="45765"/>
                  <a:pt x="142875" y="62905"/>
                  <a:pt x="142875" y="83344"/>
                </a:cubicBezTo>
                <a:cubicBezTo>
                  <a:pt x="142875" y="93166"/>
                  <a:pt x="139328" y="102245"/>
                  <a:pt x="133350" y="109538"/>
                </a:cubicBezTo>
                <a:lnTo>
                  <a:pt x="142180" y="126206"/>
                </a:lnTo>
                <a:cubicBezTo>
                  <a:pt x="143396" y="128513"/>
                  <a:pt x="142974" y="131341"/>
                  <a:pt x="141139" y="133201"/>
                </a:cubicBezTo>
                <a:cubicBezTo>
                  <a:pt x="139303" y="135062"/>
                  <a:pt x="136451" y="135483"/>
                  <a:pt x="134144" y="134243"/>
                </a:cubicBezTo>
                <a:lnTo>
                  <a:pt x="113903" y="123527"/>
                </a:lnTo>
                <a:cubicBezTo>
                  <a:pt x="108173" y="125760"/>
                  <a:pt x="101873" y="127000"/>
                  <a:pt x="95250" y="127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995362" y="5986328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需求沟通确认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82612" y="6303828"/>
            <a:ext cx="5437188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与客户深度沟通，明确需求细节，建立信任关系，推进商机培育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181725" y="3200321"/>
            <a:ext cx="5572125" cy="3476625"/>
          </a:xfrm>
          <a:custGeom>
            <a:avLst/>
            <a:gdLst/>
            <a:ahLst/>
            <a:cxnLst/>
            <a:rect l="l" t="t" r="r" b="b"/>
            <a:pathLst>
              <a:path w="5572125" h="3476625">
                <a:moveTo>
                  <a:pt x="63483" y="0"/>
                </a:moveTo>
                <a:lnTo>
                  <a:pt x="5508642" y="0"/>
                </a:lnTo>
                <a:cubicBezTo>
                  <a:pt x="5543703" y="0"/>
                  <a:pt x="5572125" y="28422"/>
                  <a:pt x="5572125" y="63483"/>
                </a:cubicBezTo>
                <a:lnTo>
                  <a:pt x="5572125" y="3413142"/>
                </a:lnTo>
                <a:cubicBezTo>
                  <a:pt x="5572125" y="3448203"/>
                  <a:pt x="5543703" y="3476625"/>
                  <a:pt x="5508642" y="3476625"/>
                </a:cubicBezTo>
                <a:lnTo>
                  <a:pt x="63483" y="3476625"/>
                </a:lnTo>
                <a:cubicBezTo>
                  <a:pt x="28422" y="3476625"/>
                  <a:pt x="0" y="3448203"/>
                  <a:pt x="0" y="3413142"/>
                </a:cubicBezTo>
                <a:lnTo>
                  <a:pt x="0" y="63483"/>
                </a:lnTo>
                <a:cubicBezTo>
                  <a:pt x="0" y="28446"/>
                  <a:pt x="28446" y="0"/>
                  <a:pt x="63483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316663" y="3359071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6467475" y="3327321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良品条件（3+1模式）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08725" y="3613071"/>
            <a:ext cx="5318125" cy="539750"/>
          </a:xfrm>
          <a:custGeom>
            <a:avLst/>
            <a:gdLst/>
            <a:ahLst/>
            <a:cxnLst/>
            <a:rect l="l" t="t" r="r" b="b"/>
            <a:pathLst>
              <a:path w="5318125" h="539750">
                <a:moveTo>
                  <a:pt x="63502" y="0"/>
                </a:moveTo>
                <a:lnTo>
                  <a:pt x="5254623" y="0"/>
                </a:lnTo>
                <a:cubicBezTo>
                  <a:pt x="5289694" y="0"/>
                  <a:pt x="5318125" y="28431"/>
                  <a:pt x="5318125" y="63502"/>
                </a:cubicBezTo>
                <a:lnTo>
                  <a:pt x="5318125" y="476248"/>
                </a:lnTo>
                <a:cubicBezTo>
                  <a:pt x="5318125" y="511319"/>
                  <a:pt x="5289694" y="539750"/>
                  <a:pt x="5254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6419850" y="373213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60" name="Text 58"/>
          <p:cNvSpPr/>
          <p:nvPr/>
        </p:nvSpPr>
        <p:spPr>
          <a:xfrm>
            <a:off x="6546850" y="3708321"/>
            <a:ext cx="504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40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输入信息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403975" y="3898821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下季度销量目标、MO在培育商机清单、客户需求记录、行业市场趋势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08725" y="4216321"/>
            <a:ext cx="5318125" cy="539750"/>
          </a:xfrm>
          <a:custGeom>
            <a:avLst/>
            <a:gdLst/>
            <a:ahLst/>
            <a:cxnLst/>
            <a:rect l="l" t="t" r="r" b="b"/>
            <a:pathLst>
              <a:path w="5318125" h="539750">
                <a:moveTo>
                  <a:pt x="63502" y="0"/>
                </a:moveTo>
                <a:lnTo>
                  <a:pt x="5254623" y="0"/>
                </a:lnTo>
                <a:cubicBezTo>
                  <a:pt x="5289694" y="0"/>
                  <a:pt x="5318125" y="28431"/>
                  <a:pt x="5318125" y="63502"/>
                </a:cubicBezTo>
                <a:lnTo>
                  <a:pt x="5318125" y="476248"/>
                </a:lnTo>
                <a:cubicBezTo>
                  <a:pt x="5318125" y="511319"/>
                  <a:pt x="5289694" y="539750"/>
                  <a:pt x="5254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Shape 61"/>
          <p:cNvSpPr/>
          <p:nvPr/>
        </p:nvSpPr>
        <p:spPr>
          <a:xfrm>
            <a:off x="6419850" y="4335384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38199" y="12154"/>
                </a:moveTo>
                <a:lnTo>
                  <a:pt x="38199" y="20836"/>
                </a:lnTo>
                <a:lnTo>
                  <a:pt x="72926" y="20836"/>
                </a:lnTo>
                <a:lnTo>
                  <a:pt x="72926" y="12154"/>
                </a:lnTo>
                <a:cubicBezTo>
                  <a:pt x="72926" y="11199"/>
                  <a:pt x="72144" y="10418"/>
                  <a:pt x="71189" y="10418"/>
                </a:cubicBezTo>
                <a:lnTo>
                  <a:pt x="39936" y="10418"/>
                </a:lnTo>
                <a:cubicBezTo>
                  <a:pt x="38981" y="10418"/>
                  <a:pt x="38199" y="11199"/>
                  <a:pt x="38199" y="12154"/>
                </a:cubicBezTo>
                <a:close/>
                <a:moveTo>
                  <a:pt x="27781" y="20836"/>
                </a:moveTo>
                <a:lnTo>
                  <a:pt x="27781" y="12154"/>
                </a:lnTo>
                <a:cubicBezTo>
                  <a:pt x="27781" y="5448"/>
                  <a:pt x="33229" y="0"/>
                  <a:pt x="39936" y="0"/>
                </a:cubicBezTo>
                <a:lnTo>
                  <a:pt x="71189" y="0"/>
                </a:lnTo>
                <a:cubicBezTo>
                  <a:pt x="77896" y="0"/>
                  <a:pt x="83344" y="5448"/>
                  <a:pt x="83344" y="12154"/>
                </a:cubicBezTo>
                <a:lnTo>
                  <a:pt x="83344" y="20836"/>
                </a:lnTo>
                <a:lnTo>
                  <a:pt x="89443" y="20836"/>
                </a:lnTo>
                <a:cubicBezTo>
                  <a:pt x="92199" y="20836"/>
                  <a:pt x="94847" y="21943"/>
                  <a:pt x="96800" y="23896"/>
                </a:cubicBezTo>
                <a:lnTo>
                  <a:pt x="108065" y="35161"/>
                </a:lnTo>
                <a:cubicBezTo>
                  <a:pt x="110018" y="37114"/>
                  <a:pt x="111125" y="39762"/>
                  <a:pt x="111125" y="42518"/>
                </a:cubicBezTo>
                <a:lnTo>
                  <a:pt x="111125" y="59035"/>
                </a:lnTo>
                <a:lnTo>
                  <a:pt x="81607" y="59035"/>
                </a:lnTo>
                <a:lnTo>
                  <a:pt x="81607" y="55563"/>
                </a:lnTo>
                <a:cubicBezTo>
                  <a:pt x="81607" y="52676"/>
                  <a:pt x="79285" y="50354"/>
                  <a:pt x="76398" y="50354"/>
                </a:cubicBezTo>
                <a:cubicBezTo>
                  <a:pt x="73512" y="50354"/>
                  <a:pt x="71189" y="52676"/>
                  <a:pt x="71189" y="55563"/>
                </a:cubicBezTo>
                <a:lnTo>
                  <a:pt x="71189" y="59035"/>
                </a:lnTo>
                <a:lnTo>
                  <a:pt x="39936" y="59035"/>
                </a:lnTo>
                <a:lnTo>
                  <a:pt x="39936" y="55563"/>
                </a:lnTo>
                <a:cubicBezTo>
                  <a:pt x="39936" y="52676"/>
                  <a:pt x="37613" y="50354"/>
                  <a:pt x="34727" y="50354"/>
                </a:cubicBezTo>
                <a:cubicBezTo>
                  <a:pt x="31840" y="50354"/>
                  <a:pt x="29518" y="52676"/>
                  <a:pt x="29518" y="55563"/>
                </a:cubicBezTo>
                <a:lnTo>
                  <a:pt x="29518" y="59035"/>
                </a:lnTo>
                <a:lnTo>
                  <a:pt x="0" y="59035"/>
                </a:lnTo>
                <a:lnTo>
                  <a:pt x="0" y="42518"/>
                </a:lnTo>
                <a:cubicBezTo>
                  <a:pt x="0" y="39762"/>
                  <a:pt x="1107" y="37114"/>
                  <a:pt x="3060" y="35161"/>
                </a:cubicBezTo>
                <a:lnTo>
                  <a:pt x="14325" y="23896"/>
                </a:lnTo>
                <a:cubicBezTo>
                  <a:pt x="16278" y="21943"/>
                  <a:pt x="18926" y="20836"/>
                  <a:pt x="21682" y="20836"/>
                </a:cubicBezTo>
                <a:lnTo>
                  <a:pt x="27781" y="20836"/>
                </a:lnTo>
                <a:close/>
                <a:moveTo>
                  <a:pt x="0" y="90289"/>
                </a:moveTo>
                <a:lnTo>
                  <a:pt x="0" y="69453"/>
                </a:lnTo>
                <a:lnTo>
                  <a:pt x="29518" y="69453"/>
                </a:lnTo>
                <a:lnTo>
                  <a:pt x="29518" y="72926"/>
                </a:lnTo>
                <a:cubicBezTo>
                  <a:pt x="29518" y="75812"/>
                  <a:pt x="31840" y="78135"/>
                  <a:pt x="34727" y="78135"/>
                </a:cubicBezTo>
                <a:cubicBezTo>
                  <a:pt x="37613" y="78135"/>
                  <a:pt x="39936" y="75812"/>
                  <a:pt x="39936" y="72926"/>
                </a:cubicBezTo>
                <a:lnTo>
                  <a:pt x="39936" y="69453"/>
                </a:lnTo>
                <a:lnTo>
                  <a:pt x="71189" y="69453"/>
                </a:lnTo>
                <a:lnTo>
                  <a:pt x="71189" y="72926"/>
                </a:lnTo>
                <a:cubicBezTo>
                  <a:pt x="71189" y="75812"/>
                  <a:pt x="73512" y="78135"/>
                  <a:pt x="76398" y="78135"/>
                </a:cubicBezTo>
                <a:cubicBezTo>
                  <a:pt x="79285" y="78135"/>
                  <a:pt x="81607" y="75812"/>
                  <a:pt x="81607" y="72926"/>
                </a:cubicBezTo>
                <a:lnTo>
                  <a:pt x="81607" y="69453"/>
                </a:lnTo>
                <a:lnTo>
                  <a:pt x="111125" y="69453"/>
                </a:lnTo>
                <a:lnTo>
                  <a:pt x="111125" y="90289"/>
                </a:lnTo>
                <a:cubicBezTo>
                  <a:pt x="111125" y="97951"/>
                  <a:pt x="104896" y="104180"/>
                  <a:pt x="97234" y="104180"/>
                </a:cubicBezTo>
                <a:lnTo>
                  <a:pt x="13891" y="104180"/>
                </a:lnTo>
                <a:cubicBezTo>
                  <a:pt x="6229" y="104180"/>
                  <a:pt x="0" y="97951"/>
                  <a:pt x="0" y="9028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4" name="Text 62"/>
          <p:cNvSpPr/>
          <p:nvPr/>
        </p:nvSpPr>
        <p:spPr>
          <a:xfrm>
            <a:off x="6546850" y="4311571"/>
            <a:ext cx="504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所需工具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403975" y="4502071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下季度潜力测算表、MO商机培育台账、1+2漏斗看板、立项评审表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08725" y="4819571"/>
            <a:ext cx="5318125" cy="539750"/>
          </a:xfrm>
          <a:custGeom>
            <a:avLst/>
            <a:gdLst/>
            <a:ahLst/>
            <a:cxnLst/>
            <a:rect l="l" t="t" r="r" b="b"/>
            <a:pathLst>
              <a:path w="5318125" h="539750">
                <a:moveTo>
                  <a:pt x="63502" y="0"/>
                </a:moveTo>
                <a:lnTo>
                  <a:pt x="5254623" y="0"/>
                </a:lnTo>
                <a:cubicBezTo>
                  <a:pt x="5289694" y="0"/>
                  <a:pt x="5318125" y="28431"/>
                  <a:pt x="5318125" y="63502"/>
                </a:cubicBezTo>
                <a:lnTo>
                  <a:pt x="5318125" y="476248"/>
                </a:lnTo>
                <a:cubicBezTo>
                  <a:pt x="5318125" y="511319"/>
                  <a:pt x="5289694" y="539750"/>
                  <a:pt x="5254623" y="539750"/>
                </a:cubicBezTo>
                <a:lnTo>
                  <a:pt x="63502" y="539750"/>
                </a:lnTo>
                <a:cubicBezTo>
                  <a:pt x="28431" y="539750"/>
                  <a:pt x="0" y="511319"/>
                  <a:pt x="0" y="476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6426795" y="486621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52372" y="-2822"/>
                </a:moveTo>
                <a:cubicBezTo>
                  <a:pt x="49898" y="-3321"/>
                  <a:pt x="47358" y="-3321"/>
                  <a:pt x="44884" y="-2822"/>
                </a:cubicBezTo>
                <a:lnTo>
                  <a:pt x="4189" y="5318"/>
                </a:lnTo>
                <a:cubicBezTo>
                  <a:pt x="1758" y="5795"/>
                  <a:pt x="0" y="7944"/>
                  <a:pt x="0" y="10418"/>
                </a:cubicBezTo>
                <a:cubicBezTo>
                  <a:pt x="0" y="12653"/>
                  <a:pt x="1411" y="14607"/>
                  <a:pt x="3473" y="15323"/>
                </a:cubicBezTo>
                <a:lnTo>
                  <a:pt x="3473" y="31254"/>
                </a:lnTo>
                <a:lnTo>
                  <a:pt x="65" y="48313"/>
                </a:lnTo>
                <a:cubicBezTo>
                  <a:pt x="22" y="48509"/>
                  <a:pt x="0" y="48726"/>
                  <a:pt x="0" y="48943"/>
                </a:cubicBezTo>
                <a:cubicBezTo>
                  <a:pt x="0" y="50679"/>
                  <a:pt x="1411" y="52112"/>
                  <a:pt x="3169" y="52112"/>
                </a:cubicBezTo>
                <a:lnTo>
                  <a:pt x="10744" y="52112"/>
                </a:lnTo>
                <a:cubicBezTo>
                  <a:pt x="12480" y="52112"/>
                  <a:pt x="13912" y="50701"/>
                  <a:pt x="13912" y="48943"/>
                </a:cubicBezTo>
                <a:cubicBezTo>
                  <a:pt x="13912" y="48726"/>
                  <a:pt x="13891" y="48530"/>
                  <a:pt x="13847" y="48313"/>
                </a:cubicBezTo>
                <a:lnTo>
                  <a:pt x="10418" y="31254"/>
                </a:lnTo>
                <a:lnTo>
                  <a:pt x="10418" y="16777"/>
                </a:lnTo>
                <a:lnTo>
                  <a:pt x="20836" y="18861"/>
                </a:lnTo>
                <a:lnTo>
                  <a:pt x="20836" y="31254"/>
                </a:lnTo>
                <a:cubicBezTo>
                  <a:pt x="20836" y="46599"/>
                  <a:pt x="33272" y="59035"/>
                  <a:pt x="48617" y="59035"/>
                </a:cubicBezTo>
                <a:cubicBezTo>
                  <a:pt x="63962" y="59035"/>
                  <a:pt x="76398" y="46599"/>
                  <a:pt x="76398" y="31254"/>
                </a:cubicBezTo>
                <a:lnTo>
                  <a:pt x="76398" y="18861"/>
                </a:lnTo>
                <a:lnTo>
                  <a:pt x="93045" y="15540"/>
                </a:lnTo>
                <a:cubicBezTo>
                  <a:pt x="95476" y="15041"/>
                  <a:pt x="97234" y="12892"/>
                  <a:pt x="97234" y="10418"/>
                </a:cubicBezTo>
                <a:cubicBezTo>
                  <a:pt x="97234" y="7944"/>
                  <a:pt x="95476" y="5795"/>
                  <a:pt x="93045" y="5318"/>
                </a:cubicBezTo>
                <a:lnTo>
                  <a:pt x="52372" y="-2822"/>
                </a:lnTo>
                <a:close/>
                <a:moveTo>
                  <a:pt x="48617" y="48617"/>
                </a:moveTo>
                <a:cubicBezTo>
                  <a:pt x="39024" y="48617"/>
                  <a:pt x="31254" y="40847"/>
                  <a:pt x="31254" y="31254"/>
                </a:cubicBezTo>
                <a:lnTo>
                  <a:pt x="65980" y="31254"/>
                </a:lnTo>
                <a:cubicBezTo>
                  <a:pt x="65980" y="40847"/>
                  <a:pt x="58210" y="48617"/>
                  <a:pt x="48617" y="48617"/>
                </a:cubicBezTo>
                <a:close/>
                <a:moveTo>
                  <a:pt x="26067" y="69475"/>
                </a:moveTo>
                <a:cubicBezTo>
                  <a:pt x="12740" y="75595"/>
                  <a:pt x="3473" y="89052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43408" y="111125"/>
                </a:lnTo>
                <a:lnTo>
                  <a:pt x="43408" y="79437"/>
                </a:lnTo>
                <a:lnTo>
                  <a:pt x="30950" y="70104"/>
                </a:lnTo>
                <a:cubicBezTo>
                  <a:pt x="29539" y="69041"/>
                  <a:pt x="27651" y="68759"/>
                  <a:pt x="26045" y="69497"/>
                </a:cubicBezTo>
                <a:close/>
                <a:moveTo>
                  <a:pt x="53826" y="111125"/>
                </a:move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9052"/>
                  <a:pt x="84494" y="75595"/>
                  <a:pt x="71168" y="69497"/>
                </a:cubicBezTo>
                <a:cubicBezTo>
                  <a:pt x="69562" y="68759"/>
                  <a:pt x="67673" y="69041"/>
                  <a:pt x="66263" y="70104"/>
                </a:cubicBezTo>
                <a:lnTo>
                  <a:pt x="53804" y="79437"/>
                </a:lnTo>
                <a:lnTo>
                  <a:pt x="53804" y="111125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8" name="Text 66"/>
          <p:cNvSpPr/>
          <p:nvPr/>
        </p:nvSpPr>
        <p:spPr>
          <a:xfrm>
            <a:off x="6546850" y="4914821"/>
            <a:ext cx="5040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必备能力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403975" y="5105321"/>
            <a:ext cx="5183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商机挖掘能力、MO立项流程能力、需求沟通能力、目标对齐能力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11900" y="5425996"/>
            <a:ext cx="5308600" cy="1117600"/>
          </a:xfrm>
          <a:custGeom>
            <a:avLst/>
            <a:gdLst/>
            <a:ahLst/>
            <a:cxnLst/>
            <a:rect l="l" t="t" r="r" b="b"/>
            <a:pathLst>
              <a:path w="5308600" h="1117600">
                <a:moveTo>
                  <a:pt x="63502" y="0"/>
                </a:moveTo>
                <a:lnTo>
                  <a:pt x="5245098" y="0"/>
                </a:lnTo>
                <a:cubicBezTo>
                  <a:pt x="5280169" y="0"/>
                  <a:pt x="5308600" y="28431"/>
                  <a:pt x="5308600" y="63502"/>
                </a:cubicBezTo>
                <a:lnTo>
                  <a:pt x="5308600" y="1054098"/>
                </a:lnTo>
                <a:cubicBezTo>
                  <a:pt x="5308600" y="1089169"/>
                  <a:pt x="5280169" y="1117600"/>
                  <a:pt x="5245098" y="1117600"/>
                </a:cubicBezTo>
                <a:lnTo>
                  <a:pt x="63502" y="1117600"/>
                </a:lnTo>
                <a:cubicBezTo>
                  <a:pt x="28431" y="1117600"/>
                  <a:pt x="0" y="1089169"/>
                  <a:pt x="0" y="1054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26200" y="554823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8753" y="0"/>
                  <a:pt x="61683" y="1758"/>
                  <a:pt x="63202" y="4558"/>
                </a:cubicBezTo>
                <a:lnTo>
                  <a:pt x="110083" y="91374"/>
                </a:lnTo>
                <a:cubicBezTo>
                  <a:pt x="111537" y="94066"/>
                  <a:pt x="111472" y="97321"/>
                  <a:pt x="109910" y="99947"/>
                </a:cubicBezTo>
                <a:cubicBezTo>
                  <a:pt x="108347" y="102574"/>
                  <a:pt x="105504" y="104180"/>
                  <a:pt x="102443" y="104180"/>
                </a:cubicBezTo>
                <a:lnTo>
                  <a:pt x="8682" y="104180"/>
                </a:lnTo>
                <a:cubicBezTo>
                  <a:pt x="5621" y="104180"/>
                  <a:pt x="2800" y="102574"/>
                  <a:pt x="1215" y="99947"/>
                </a:cubicBezTo>
                <a:cubicBezTo>
                  <a:pt x="-369" y="97321"/>
                  <a:pt x="-412" y="94066"/>
                  <a:pt x="1042" y="91374"/>
                </a:cubicBezTo>
                <a:lnTo>
                  <a:pt x="47923" y="4558"/>
                </a:lnTo>
                <a:cubicBezTo>
                  <a:pt x="49442" y="1758"/>
                  <a:pt x="52372" y="0"/>
                  <a:pt x="55563" y="0"/>
                </a:cubicBezTo>
                <a:close/>
                <a:moveTo>
                  <a:pt x="55563" y="36463"/>
                </a:moveTo>
                <a:cubicBezTo>
                  <a:pt x="52676" y="36463"/>
                  <a:pt x="50354" y="38785"/>
                  <a:pt x="50354" y="41672"/>
                </a:cubicBezTo>
                <a:lnTo>
                  <a:pt x="50354" y="65980"/>
                </a:lnTo>
                <a:cubicBezTo>
                  <a:pt x="50354" y="68867"/>
                  <a:pt x="52676" y="71189"/>
                  <a:pt x="55563" y="71189"/>
                </a:cubicBezTo>
                <a:cubicBezTo>
                  <a:pt x="58449" y="71189"/>
                  <a:pt x="60771" y="68867"/>
                  <a:pt x="60771" y="65980"/>
                </a:cubicBezTo>
                <a:lnTo>
                  <a:pt x="60771" y="41672"/>
                </a:lnTo>
                <a:cubicBezTo>
                  <a:pt x="60771" y="38785"/>
                  <a:pt x="58449" y="36463"/>
                  <a:pt x="55563" y="36463"/>
                </a:cubicBezTo>
                <a:close/>
                <a:moveTo>
                  <a:pt x="61357" y="83344"/>
                </a:moveTo>
                <a:cubicBezTo>
                  <a:pt x="61489" y="81193"/>
                  <a:pt x="60417" y="79146"/>
                  <a:pt x="58573" y="78031"/>
                </a:cubicBezTo>
                <a:cubicBezTo>
                  <a:pt x="56729" y="76915"/>
                  <a:pt x="54418" y="76915"/>
                  <a:pt x="52574" y="78031"/>
                </a:cubicBezTo>
                <a:cubicBezTo>
                  <a:pt x="50730" y="79146"/>
                  <a:pt x="49657" y="81193"/>
                  <a:pt x="49789" y="83344"/>
                </a:cubicBezTo>
                <a:cubicBezTo>
                  <a:pt x="49657" y="85495"/>
                  <a:pt x="50730" y="87541"/>
                  <a:pt x="52574" y="88657"/>
                </a:cubicBezTo>
                <a:cubicBezTo>
                  <a:pt x="54418" y="89772"/>
                  <a:pt x="56729" y="89772"/>
                  <a:pt x="58573" y="88657"/>
                </a:cubicBezTo>
                <a:cubicBezTo>
                  <a:pt x="60417" y="87541"/>
                  <a:pt x="61489" y="85495"/>
                  <a:pt x="61357" y="83344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2" name="Text 70"/>
          <p:cNvSpPr/>
          <p:nvPr/>
        </p:nvSpPr>
        <p:spPr>
          <a:xfrm>
            <a:off x="6553200" y="5524423"/>
            <a:ext cx="5024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注意事项/技巧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6410325" y="5714923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下季度漏斗内金额需足额覆盖目标×2.5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410325" y="5905423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若未达标需立即补充MO商机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410325" y="6095923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MO商机培育需按流程推进，避免跳过关键评审环节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410325" y="6286423"/>
            <a:ext cx="5167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储备不足的，需在1周内完成新增商机布局</a:t>
            </a:r>
            <a:endParaRPr lang="en-US" sz="1600" dirty="0"/>
          </a:p>
        </p:txBody>
      </p:sp>
      <p:pic>
        <p:nvPicPr>
          <p:cNvPr id="77" name="图片 76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091" y="349091"/>
            <a:ext cx="11563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kern="0" spc="55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 · 自工序全流程细化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091" y="628364"/>
            <a:ext cx="11650909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4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第三层：下下季度长期布局（田里）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091" y="1082182"/>
            <a:ext cx="698182" cy="34909"/>
          </a:xfrm>
          <a:custGeom>
            <a:avLst/>
            <a:gdLst/>
            <a:ahLst/>
            <a:cxnLst/>
            <a:rect l="l" t="t" r="r" b="b"/>
            <a:pathLst>
              <a:path w="698182" h="34909">
                <a:moveTo>
                  <a:pt x="0" y="0"/>
                </a:moveTo>
                <a:lnTo>
                  <a:pt x="698182" y="0"/>
                </a:lnTo>
                <a:lnTo>
                  <a:pt x="698182" y="34909"/>
                </a:lnTo>
                <a:lnTo>
                  <a:pt x="0" y="34909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49091" y="1221818"/>
            <a:ext cx="3735273" cy="2513455"/>
          </a:xfrm>
          <a:custGeom>
            <a:avLst/>
            <a:gdLst/>
            <a:ahLst/>
            <a:cxnLst/>
            <a:rect l="l" t="t" r="r" b="b"/>
            <a:pathLst>
              <a:path w="3735273" h="2653091">
                <a:moveTo>
                  <a:pt x="104717" y="0"/>
                </a:moveTo>
                <a:lnTo>
                  <a:pt x="3630555" y="0"/>
                </a:lnTo>
                <a:cubicBezTo>
                  <a:pt x="3688389" y="0"/>
                  <a:pt x="3735273" y="46884"/>
                  <a:pt x="3735273" y="104717"/>
                </a:cubicBezTo>
                <a:lnTo>
                  <a:pt x="3735273" y="2548373"/>
                </a:lnTo>
                <a:cubicBezTo>
                  <a:pt x="3735273" y="2606207"/>
                  <a:pt x="3688389" y="2653091"/>
                  <a:pt x="3630555" y="2653091"/>
                </a:cubicBezTo>
                <a:lnTo>
                  <a:pt x="104717" y="2653091"/>
                </a:lnTo>
                <a:cubicBezTo>
                  <a:pt x="46884" y="2653091"/>
                  <a:pt x="0" y="2606207"/>
                  <a:pt x="0" y="2548373"/>
                </a:cubicBezTo>
                <a:lnTo>
                  <a:pt x="0" y="104717"/>
                </a:lnTo>
                <a:cubicBezTo>
                  <a:pt x="0" y="46922"/>
                  <a:pt x="46922" y="0"/>
                  <a:pt x="104717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/>
              </a:gs>
              <a:gs pos="100000">
                <a:srgbClr val="1E40AF"/>
              </a:gs>
            </a:gsLst>
            <a:lin ang="2700000" scaled="1"/>
          </a:gradFill>
          <a:ln/>
          <a:effectLst>
            <a:outerShdw blurRad="130909" dist="8727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4909" y="1378909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04727" y="209455"/>
                </a:moveTo>
                <a:cubicBezTo>
                  <a:pt x="162528" y="209455"/>
                  <a:pt x="209455" y="162528"/>
                  <a:pt x="209455" y="104727"/>
                </a:cubicBezTo>
                <a:cubicBezTo>
                  <a:pt x="209455" y="46927"/>
                  <a:pt x="162528" y="0"/>
                  <a:pt x="104727" y="0"/>
                </a:cubicBezTo>
                <a:cubicBezTo>
                  <a:pt x="46927" y="0"/>
                  <a:pt x="0" y="46927"/>
                  <a:pt x="0" y="104727"/>
                </a:cubicBezTo>
                <a:cubicBezTo>
                  <a:pt x="0" y="162528"/>
                  <a:pt x="46927" y="209455"/>
                  <a:pt x="104727" y="209455"/>
                </a:cubicBezTo>
                <a:close/>
                <a:moveTo>
                  <a:pt x="125468" y="132995"/>
                </a:moveTo>
                <a:lnTo>
                  <a:pt x="66436" y="155700"/>
                </a:lnTo>
                <a:cubicBezTo>
                  <a:pt x="58500" y="158768"/>
                  <a:pt x="50686" y="150955"/>
                  <a:pt x="53755" y="143018"/>
                </a:cubicBezTo>
                <a:lnTo>
                  <a:pt x="76459" y="83986"/>
                </a:lnTo>
                <a:cubicBezTo>
                  <a:pt x="77809" y="80509"/>
                  <a:pt x="80509" y="77809"/>
                  <a:pt x="83986" y="76459"/>
                </a:cubicBezTo>
                <a:lnTo>
                  <a:pt x="143018" y="53755"/>
                </a:lnTo>
                <a:cubicBezTo>
                  <a:pt x="150955" y="50686"/>
                  <a:pt x="158768" y="58500"/>
                  <a:pt x="155700" y="66436"/>
                </a:cubicBezTo>
                <a:lnTo>
                  <a:pt x="132995" y="125468"/>
                </a:lnTo>
                <a:cubicBezTo>
                  <a:pt x="131686" y="128945"/>
                  <a:pt x="128945" y="131645"/>
                  <a:pt x="125468" y="132995"/>
                </a:cubicBezTo>
                <a:close/>
                <a:moveTo>
                  <a:pt x="117818" y="104727"/>
                </a:moveTo>
                <a:cubicBezTo>
                  <a:pt x="117818" y="97502"/>
                  <a:pt x="111952" y="91636"/>
                  <a:pt x="104727" y="91636"/>
                </a:cubicBezTo>
                <a:cubicBezTo>
                  <a:pt x="97502" y="91636"/>
                  <a:pt x="91636" y="97502"/>
                  <a:pt x="91636" y="104727"/>
                </a:cubicBezTo>
                <a:cubicBezTo>
                  <a:pt x="91636" y="111952"/>
                  <a:pt x="97502" y="117818"/>
                  <a:pt x="104727" y="117818"/>
                </a:cubicBezTo>
                <a:cubicBezTo>
                  <a:pt x="111952" y="117818"/>
                  <a:pt x="117818" y="111952"/>
                  <a:pt x="117818" y="1047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55273" y="1361455"/>
            <a:ext cx="1134545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核心管理指标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8727" y="1710545"/>
            <a:ext cx="3456000" cy="942545"/>
          </a:xfrm>
          <a:custGeom>
            <a:avLst/>
            <a:gdLst/>
            <a:ahLst/>
            <a:cxnLst/>
            <a:rect l="l" t="t" r="r" b="b"/>
            <a:pathLst>
              <a:path w="3456000" h="942545">
                <a:moveTo>
                  <a:pt x="69814" y="0"/>
                </a:moveTo>
                <a:lnTo>
                  <a:pt x="3386186" y="0"/>
                </a:lnTo>
                <a:cubicBezTo>
                  <a:pt x="3424717" y="0"/>
                  <a:pt x="3456000" y="31283"/>
                  <a:pt x="3456000" y="69814"/>
                </a:cubicBezTo>
                <a:lnTo>
                  <a:pt x="3456000" y="872731"/>
                </a:lnTo>
                <a:cubicBezTo>
                  <a:pt x="3456000" y="911289"/>
                  <a:pt x="3424743" y="942545"/>
                  <a:pt x="3386186" y="942545"/>
                </a:cubicBezTo>
                <a:lnTo>
                  <a:pt x="69814" y="942545"/>
                </a:lnTo>
                <a:cubicBezTo>
                  <a:pt x="31283" y="942545"/>
                  <a:pt x="0" y="911263"/>
                  <a:pt x="0" y="872731"/>
                </a:cubicBezTo>
                <a:lnTo>
                  <a:pt x="0" y="69814"/>
                </a:lnTo>
                <a:cubicBezTo>
                  <a:pt x="0" y="31257"/>
                  <a:pt x="31257" y="0"/>
                  <a:pt x="6981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3455" y="1815273"/>
            <a:ext cx="3316364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下下季度漏斗内金额目标达成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3455" y="2059636"/>
            <a:ext cx="3325091" cy="488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 下下季度漏斗内金额 / 下下季度目标销量 × 2.5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8727" y="2757818"/>
            <a:ext cx="3456000" cy="698182"/>
          </a:xfrm>
          <a:custGeom>
            <a:avLst/>
            <a:gdLst/>
            <a:ahLst/>
            <a:cxnLst/>
            <a:rect l="l" t="t" r="r" b="b"/>
            <a:pathLst>
              <a:path w="3456000" h="698182">
                <a:moveTo>
                  <a:pt x="69818" y="0"/>
                </a:moveTo>
                <a:lnTo>
                  <a:pt x="3386182" y="0"/>
                </a:lnTo>
                <a:cubicBezTo>
                  <a:pt x="3424741" y="0"/>
                  <a:pt x="3456000" y="31259"/>
                  <a:pt x="3456000" y="69818"/>
                </a:cubicBezTo>
                <a:lnTo>
                  <a:pt x="3456000" y="628364"/>
                </a:lnTo>
                <a:cubicBezTo>
                  <a:pt x="3456000" y="666923"/>
                  <a:pt x="3424741" y="698182"/>
                  <a:pt x="3386182" y="698182"/>
                </a:cubicBezTo>
                <a:lnTo>
                  <a:pt x="69818" y="698182"/>
                </a:lnTo>
                <a:cubicBezTo>
                  <a:pt x="31259" y="698182"/>
                  <a:pt x="0" y="666923"/>
                  <a:pt x="0" y="628364"/>
                </a:cubicBezTo>
                <a:lnTo>
                  <a:pt x="0" y="69818"/>
                </a:lnTo>
                <a:cubicBezTo>
                  <a:pt x="0" y="31284"/>
                  <a:pt x="31284" y="0"/>
                  <a:pt x="6981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3455" y="2862545"/>
            <a:ext cx="3316364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下下季度潜力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3455" y="3106909"/>
            <a:ext cx="3325091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= 下下季度预期金额 / 下下季度目标销量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45273" y="1221818"/>
            <a:ext cx="7601455" cy="2513455"/>
          </a:xfrm>
          <a:custGeom>
            <a:avLst/>
            <a:gdLst/>
            <a:ahLst/>
            <a:cxnLst/>
            <a:rect l="l" t="t" r="r" b="b"/>
            <a:pathLst>
              <a:path w="7601455" h="2653091">
                <a:moveTo>
                  <a:pt x="34909" y="0"/>
                </a:moveTo>
                <a:lnTo>
                  <a:pt x="7496737" y="0"/>
                </a:lnTo>
                <a:cubicBezTo>
                  <a:pt x="7554571" y="0"/>
                  <a:pt x="7601455" y="46884"/>
                  <a:pt x="7601455" y="104717"/>
                </a:cubicBezTo>
                <a:lnTo>
                  <a:pt x="7601455" y="2548373"/>
                </a:lnTo>
                <a:cubicBezTo>
                  <a:pt x="7601455" y="2606207"/>
                  <a:pt x="7554571" y="2653091"/>
                  <a:pt x="7496737" y="2653091"/>
                </a:cubicBezTo>
                <a:lnTo>
                  <a:pt x="34909" y="2653091"/>
                </a:lnTo>
                <a:cubicBezTo>
                  <a:pt x="15629" y="2653091"/>
                  <a:pt x="0" y="2637462"/>
                  <a:pt x="0" y="2618182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364" dist="3490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45273" y="1221818"/>
            <a:ext cx="34909" cy="2520000"/>
          </a:xfrm>
          <a:custGeom>
            <a:avLst/>
            <a:gdLst/>
            <a:ahLst/>
            <a:cxnLst/>
            <a:rect l="l" t="t" r="r" b="b"/>
            <a:pathLst>
              <a:path w="34909" h="2653091">
                <a:moveTo>
                  <a:pt x="34909" y="0"/>
                </a:moveTo>
                <a:lnTo>
                  <a:pt x="34909" y="0"/>
                </a:lnTo>
                <a:lnTo>
                  <a:pt x="34909" y="2653091"/>
                </a:lnTo>
                <a:lnTo>
                  <a:pt x="34909" y="2653091"/>
                </a:lnTo>
                <a:cubicBezTo>
                  <a:pt x="15629" y="2653091"/>
                  <a:pt x="0" y="2637462"/>
                  <a:pt x="0" y="2618182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4402364" y="1378909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69820" y="0"/>
                </a:moveTo>
                <a:lnTo>
                  <a:pt x="349090" y="0"/>
                </a:lnTo>
                <a:cubicBezTo>
                  <a:pt x="387624" y="0"/>
                  <a:pt x="418909" y="31285"/>
                  <a:pt x="418909" y="69820"/>
                </a:cubicBezTo>
                <a:lnTo>
                  <a:pt x="418909" y="349090"/>
                </a:lnTo>
                <a:cubicBezTo>
                  <a:pt x="418909" y="387624"/>
                  <a:pt x="387624" y="418909"/>
                  <a:pt x="349090" y="418909"/>
                </a:cubicBezTo>
                <a:lnTo>
                  <a:pt x="69820" y="418909"/>
                </a:lnTo>
                <a:cubicBezTo>
                  <a:pt x="31285" y="418909"/>
                  <a:pt x="0" y="387624"/>
                  <a:pt x="0" y="349090"/>
                </a:cubicBezTo>
                <a:lnTo>
                  <a:pt x="0" y="69820"/>
                </a:lnTo>
                <a:cubicBezTo>
                  <a:pt x="0" y="31259"/>
                  <a:pt x="31259" y="0"/>
                  <a:pt x="6982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4502727" y="1501091"/>
            <a:ext cx="218182" cy="174545"/>
          </a:xfrm>
          <a:custGeom>
            <a:avLst/>
            <a:gdLst/>
            <a:ahLst/>
            <a:cxnLst/>
            <a:rect l="l" t="t" r="r" b="b"/>
            <a:pathLst>
              <a:path w="218182" h="174545">
                <a:moveTo>
                  <a:pt x="196364" y="16364"/>
                </a:moveTo>
                <a:cubicBezTo>
                  <a:pt x="196364" y="12580"/>
                  <a:pt x="194420" y="9068"/>
                  <a:pt x="191182" y="7091"/>
                </a:cubicBezTo>
                <a:cubicBezTo>
                  <a:pt x="187943" y="5114"/>
                  <a:pt x="183955" y="4909"/>
                  <a:pt x="180580" y="6614"/>
                </a:cubicBezTo>
                <a:lnTo>
                  <a:pt x="140966" y="26420"/>
                </a:lnTo>
                <a:lnTo>
                  <a:pt x="79807" y="6000"/>
                </a:lnTo>
                <a:cubicBezTo>
                  <a:pt x="77045" y="5080"/>
                  <a:pt x="74080" y="5284"/>
                  <a:pt x="71489" y="6580"/>
                </a:cubicBezTo>
                <a:lnTo>
                  <a:pt x="27852" y="28398"/>
                </a:lnTo>
                <a:cubicBezTo>
                  <a:pt x="24136" y="30273"/>
                  <a:pt x="21818" y="34057"/>
                  <a:pt x="21818" y="38182"/>
                </a:cubicBezTo>
                <a:lnTo>
                  <a:pt x="21818" y="158182"/>
                </a:lnTo>
                <a:cubicBezTo>
                  <a:pt x="21818" y="161966"/>
                  <a:pt x="23761" y="165477"/>
                  <a:pt x="27000" y="167455"/>
                </a:cubicBezTo>
                <a:cubicBezTo>
                  <a:pt x="30239" y="169432"/>
                  <a:pt x="34227" y="169636"/>
                  <a:pt x="37602" y="167932"/>
                </a:cubicBezTo>
                <a:lnTo>
                  <a:pt x="77182" y="148125"/>
                </a:lnTo>
                <a:lnTo>
                  <a:pt x="136261" y="167830"/>
                </a:lnTo>
                <a:cubicBezTo>
                  <a:pt x="134795" y="165648"/>
                  <a:pt x="133364" y="163364"/>
                  <a:pt x="131966" y="161045"/>
                </a:cubicBezTo>
                <a:cubicBezTo>
                  <a:pt x="128216" y="154807"/>
                  <a:pt x="124500" y="147648"/>
                  <a:pt x="121739" y="139977"/>
                </a:cubicBezTo>
                <a:lnTo>
                  <a:pt x="87239" y="128489"/>
                </a:lnTo>
                <a:lnTo>
                  <a:pt x="87239" y="31500"/>
                </a:lnTo>
                <a:lnTo>
                  <a:pt x="130875" y="46057"/>
                </a:lnTo>
                <a:lnTo>
                  <a:pt x="130875" y="79909"/>
                </a:lnTo>
                <a:cubicBezTo>
                  <a:pt x="141443" y="67705"/>
                  <a:pt x="157125" y="60000"/>
                  <a:pt x="174511" y="60000"/>
                </a:cubicBezTo>
                <a:cubicBezTo>
                  <a:pt x="182216" y="60000"/>
                  <a:pt x="189580" y="61500"/>
                  <a:pt x="196330" y="64261"/>
                </a:cubicBezTo>
                <a:lnTo>
                  <a:pt x="196364" y="16364"/>
                </a:lnTo>
                <a:close/>
                <a:moveTo>
                  <a:pt x="174545" y="76364"/>
                </a:moveTo>
                <a:cubicBezTo>
                  <a:pt x="151943" y="76364"/>
                  <a:pt x="133636" y="94364"/>
                  <a:pt x="133636" y="116557"/>
                </a:cubicBezTo>
                <a:cubicBezTo>
                  <a:pt x="133636" y="140045"/>
                  <a:pt x="155489" y="167830"/>
                  <a:pt x="167250" y="181091"/>
                </a:cubicBezTo>
                <a:cubicBezTo>
                  <a:pt x="171205" y="185523"/>
                  <a:pt x="177920" y="185523"/>
                  <a:pt x="181875" y="181091"/>
                </a:cubicBezTo>
                <a:cubicBezTo>
                  <a:pt x="193636" y="167830"/>
                  <a:pt x="215489" y="140045"/>
                  <a:pt x="215489" y="116557"/>
                </a:cubicBezTo>
                <a:cubicBezTo>
                  <a:pt x="215489" y="94364"/>
                  <a:pt x="197182" y="76364"/>
                  <a:pt x="174580" y="76364"/>
                </a:cubicBezTo>
                <a:close/>
                <a:moveTo>
                  <a:pt x="160909" y="117273"/>
                </a:moveTo>
                <a:cubicBezTo>
                  <a:pt x="160909" y="109747"/>
                  <a:pt x="167019" y="103636"/>
                  <a:pt x="174545" y="103636"/>
                </a:cubicBezTo>
                <a:cubicBezTo>
                  <a:pt x="182072" y="103636"/>
                  <a:pt x="188182" y="109747"/>
                  <a:pt x="188182" y="117273"/>
                </a:cubicBezTo>
                <a:cubicBezTo>
                  <a:pt x="188182" y="124799"/>
                  <a:pt x="182072" y="130909"/>
                  <a:pt x="174545" y="130909"/>
                </a:cubicBezTo>
                <a:cubicBezTo>
                  <a:pt x="167019" y="130909"/>
                  <a:pt x="160909" y="124799"/>
                  <a:pt x="160909" y="11727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926000" y="1361455"/>
            <a:ext cx="6091636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管理要求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26000" y="1605818"/>
            <a:ext cx="6074182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以「布局充足、布局待补、布局缺口」为核心判定维度，提前布局长期商机，保障业务可持续发展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02364" y="1784203"/>
            <a:ext cx="7304727" cy="1815273"/>
          </a:xfrm>
          <a:custGeom>
            <a:avLst/>
            <a:gdLst/>
            <a:ahLst/>
            <a:cxnLst/>
            <a:rect l="l" t="t" r="r" b="b"/>
            <a:pathLst>
              <a:path w="7304727" h="1815273">
                <a:moveTo>
                  <a:pt x="69815" y="0"/>
                </a:moveTo>
                <a:lnTo>
                  <a:pt x="7234912" y="0"/>
                </a:lnTo>
                <a:cubicBezTo>
                  <a:pt x="7273470" y="0"/>
                  <a:pt x="7304727" y="31257"/>
                  <a:pt x="7304727" y="69815"/>
                </a:cubicBezTo>
                <a:lnTo>
                  <a:pt x="7304727" y="1745457"/>
                </a:lnTo>
                <a:cubicBezTo>
                  <a:pt x="7304727" y="1784015"/>
                  <a:pt x="7273470" y="1815273"/>
                  <a:pt x="7234912" y="1815273"/>
                </a:cubicBezTo>
                <a:lnTo>
                  <a:pt x="69815" y="1815273"/>
                </a:lnTo>
                <a:cubicBezTo>
                  <a:pt x="31283" y="1815273"/>
                  <a:pt x="0" y="1783990"/>
                  <a:pt x="0" y="1745457"/>
                </a:cubicBezTo>
                <a:lnTo>
                  <a:pt x="0" y="69815"/>
                </a:lnTo>
                <a:cubicBezTo>
                  <a:pt x="0" y="31283"/>
                  <a:pt x="31283" y="0"/>
                  <a:pt x="69815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5421818" y="1923839"/>
            <a:ext cx="488727" cy="488727"/>
          </a:xfrm>
          <a:custGeom>
            <a:avLst/>
            <a:gdLst/>
            <a:ahLst/>
            <a:cxnLst/>
            <a:rect l="l" t="t" r="r" b="b"/>
            <a:pathLst>
              <a:path w="488727" h="488727">
                <a:moveTo>
                  <a:pt x="244364" y="0"/>
                </a:moveTo>
                <a:lnTo>
                  <a:pt x="244364" y="0"/>
                </a:lnTo>
                <a:cubicBezTo>
                  <a:pt x="379232" y="0"/>
                  <a:pt x="488727" y="109496"/>
                  <a:pt x="488727" y="244364"/>
                </a:cubicBezTo>
                <a:lnTo>
                  <a:pt x="488727" y="244364"/>
                </a:lnTo>
                <a:cubicBezTo>
                  <a:pt x="488727" y="379232"/>
                  <a:pt x="379232" y="488727"/>
                  <a:pt x="244364" y="488727"/>
                </a:cubicBezTo>
                <a:lnTo>
                  <a:pt x="244364" y="488727"/>
                </a:lnTo>
                <a:cubicBezTo>
                  <a:pt x="109496" y="488727"/>
                  <a:pt x="0" y="379232"/>
                  <a:pt x="0" y="244364"/>
                </a:cubicBezTo>
                <a:lnTo>
                  <a:pt x="0" y="244364"/>
                </a:lnTo>
                <a:cubicBezTo>
                  <a:pt x="0" y="109496"/>
                  <a:pt x="109496" y="0"/>
                  <a:pt x="244364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2" name="Shape 20"/>
          <p:cNvSpPr/>
          <p:nvPr/>
        </p:nvSpPr>
        <p:spPr>
          <a:xfrm>
            <a:off x="5561455" y="2063476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04727" y="209455"/>
                </a:moveTo>
                <a:cubicBezTo>
                  <a:pt x="162528" y="209455"/>
                  <a:pt x="209455" y="162528"/>
                  <a:pt x="209455" y="104727"/>
                </a:cubicBezTo>
                <a:cubicBezTo>
                  <a:pt x="209455" y="46927"/>
                  <a:pt x="162528" y="0"/>
                  <a:pt x="104727" y="0"/>
                </a:cubicBezTo>
                <a:cubicBezTo>
                  <a:pt x="46927" y="0"/>
                  <a:pt x="0" y="46927"/>
                  <a:pt x="0" y="104727"/>
                </a:cubicBezTo>
                <a:cubicBezTo>
                  <a:pt x="0" y="162528"/>
                  <a:pt x="46927" y="209455"/>
                  <a:pt x="104727" y="209455"/>
                </a:cubicBezTo>
                <a:close/>
                <a:moveTo>
                  <a:pt x="139255" y="87014"/>
                </a:moveTo>
                <a:lnTo>
                  <a:pt x="106527" y="139377"/>
                </a:lnTo>
                <a:cubicBezTo>
                  <a:pt x="104809" y="142118"/>
                  <a:pt x="101864" y="143836"/>
                  <a:pt x="98632" y="144000"/>
                </a:cubicBezTo>
                <a:cubicBezTo>
                  <a:pt x="95400" y="144164"/>
                  <a:pt x="92291" y="142691"/>
                  <a:pt x="90368" y="140073"/>
                </a:cubicBezTo>
                <a:lnTo>
                  <a:pt x="70732" y="113891"/>
                </a:lnTo>
                <a:cubicBezTo>
                  <a:pt x="67459" y="109555"/>
                  <a:pt x="68359" y="103418"/>
                  <a:pt x="72695" y="100145"/>
                </a:cubicBezTo>
                <a:cubicBezTo>
                  <a:pt x="77032" y="96873"/>
                  <a:pt x="83168" y="97773"/>
                  <a:pt x="86441" y="102109"/>
                </a:cubicBezTo>
                <a:lnTo>
                  <a:pt x="97486" y="116836"/>
                </a:lnTo>
                <a:lnTo>
                  <a:pt x="122605" y="76623"/>
                </a:lnTo>
                <a:cubicBezTo>
                  <a:pt x="125468" y="72041"/>
                  <a:pt x="131523" y="70609"/>
                  <a:pt x="136145" y="73514"/>
                </a:cubicBezTo>
                <a:cubicBezTo>
                  <a:pt x="140768" y="76418"/>
                  <a:pt x="142159" y="82432"/>
                  <a:pt x="139255" y="870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07091" y="2482385"/>
            <a:ext cx="232145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布局充足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809818" y="1923839"/>
            <a:ext cx="488727" cy="488727"/>
          </a:xfrm>
          <a:custGeom>
            <a:avLst/>
            <a:gdLst/>
            <a:ahLst/>
            <a:cxnLst/>
            <a:rect l="l" t="t" r="r" b="b"/>
            <a:pathLst>
              <a:path w="488727" h="488727">
                <a:moveTo>
                  <a:pt x="244364" y="0"/>
                </a:moveTo>
                <a:lnTo>
                  <a:pt x="244364" y="0"/>
                </a:lnTo>
                <a:cubicBezTo>
                  <a:pt x="379232" y="0"/>
                  <a:pt x="488727" y="109496"/>
                  <a:pt x="488727" y="244364"/>
                </a:cubicBezTo>
                <a:lnTo>
                  <a:pt x="488727" y="244364"/>
                </a:lnTo>
                <a:cubicBezTo>
                  <a:pt x="488727" y="379232"/>
                  <a:pt x="379232" y="488727"/>
                  <a:pt x="244364" y="488727"/>
                </a:cubicBezTo>
                <a:lnTo>
                  <a:pt x="244364" y="488727"/>
                </a:lnTo>
                <a:cubicBezTo>
                  <a:pt x="109496" y="488727"/>
                  <a:pt x="0" y="379232"/>
                  <a:pt x="0" y="244364"/>
                </a:cubicBezTo>
                <a:lnTo>
                  <a:pt x="0" y="244364"/>
                </a:lnTo>
                <a:cubicBezTo>
                  <a:pt x="0" y="109496"/>
                  <a:pt x="109496" y="0"/>
                  <a:pt x="244364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7949455" y="2063476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04727" y="209455"/>
                </a:moveTo>
                <a:cubicBezTo>
                  <a:pt x="162528" y="209455"/>
                  <a:pt x="209455" y="162528"/>
                  <a:pt x="209455" y="104727"/>
                </a:cubicBezTo>
                <a:cubicBezTo>
                  <a:pt x="209455" y="46927"/>
                  <a:pt x="162528" y="0"/>
                  <a:pt x="104727" y="0"/>
                </a:cubicBezTo>
                <a:cubicBezTo>
                  <a:pt x="46927" y="0"/>
                  <a:pt x="0" y="46927"/>
                  <a:pt x="0" y="104727"/>
                </a:cubicBezTo>
                <a:cubicBezTo>
                  <a:pt x="0" y="162528"/>
                  <a:pt x="46927" y="209455"/>
                  <a:pt x="104727" y="209455"/>
                </a:cubicBezTo>
                <a:close/>
                <a:moveTo>
                  <a:pt x="104727" y="55636"/>
                </a:moveTo>
                <a:cubicBezTo>
                  <a:pt x="110168" y="55636"/>
                  <a:pt x="114545" y="60014"/>
                  <a:pt x="114545" y="65455"/>
                </a:cubicBezTo>
                <a:lnTo>
                  <a:pt x="114545" y="111273"/>
                </a:lnTo>
                <a:cubicBezTo>
                  <a:pt x="114545" y="116714"/>
                  <a:pt x="110168" y="121091"/>
                  <a:pt x="104727" y="121091"/>
                </a:cubicBezTo>
                <a:cubicBezTo>
                  <a:pt x="99286" y="121091"/>
                  <a:pt x="94909" y="116714"/>
                  <a:pt x="94909" y="111273"/>
                </a:cubicBezTo>
                <a:lnTo>
                  <a:pt x="94909" y="65455"/>
                </a:lnTo>
                <a:cubicBezTo>
                  <a:pt x="94909" y="60014"/>
                  <a:pt x="99286" y="55636"/>
                  <a:pt x="104727" y="55636"/>
                </a:cubicBezTo>
                <a:close/>
                <a:moveTo>
                  <a:pt x="93805" y="144000"/>
                </a:moveTo>
                <a:cubicBezTo>
                  <a:pt x="93556" y="139946"/>
                  <a:pt x="95578" y="136088"/>
                  <a:pt x="99054" y="133986"/>
                </a:cubicBezTo>
                <a:cubicBezTo>
                  <a:pt x="102529" y="131884"/>
                  <a:pt x="106884" y="131884"/>
                  <a:pt x="110360" y="133986"/>
                </a:cubicBezTo>
                <a:cubicBezTo>
                  <a:pt x="113836" y="136088"/>
                  <a:pt x="115858" y="139946"/>
                  <a:pt x="115609" y="144000"/>
                </a:cubicBezTo>
                <a:cubicBezTo>
                  <a:pt x="115858" y="148054"/>
                  <a:pt x="113836" y="151912"/>
                  <a:pt x="110360" y="154014"/>
                </a:cubicBezTo>
                <a:cubicBezTo>
                  <a:pt x="106884" y="156116"/>
                  <a:pt x="102529" y="156116"/>
                  <a:pt x="99054" y="154014"/>
                </a:cubicBezTo>
                <a:cubicBezTo>
                  <a:pt x="95578" y="151912"/>
                  <a:pt x="93556" y="148054"/>
                  <a:pt x="93805" y="144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895091" y="2482385"/>
            <a:ext cx="232145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布局待补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197818" y="1923839"/>
            <a:ext cx="488727" cy="488727"/>
          </a:xfrm>
          <a:custGeom>
            <a:avLst/>
            <a:gdLst/>
            <a:ahLst/>
            <a:cxnLst/>
            <a:rect l="l" t="t" r="r" b="b"/>
            <a:pathLst>
              <a:path w="488727" h="488727">
                <a:moveTo>
                  <a:pt x="244364" y="0"/>
                </a:moveTo>
                <a:lnTo>
                  <a:pt x="244364" y="0"/>
                </a:lnTo>
                <a:cubicBezTo>
                  <a:pt x="379232" y="0"/>
                  <a:pt x="488727" y="109496"/>
                  <a:pt x="488727" y="244364"/>
                </a:cubicBezTo>
                <a:lnTo>
                  <a:pt x="488727" y="244364"/>
                </a:lnTo>
                <a:cubicBezTo>
                  <a:pt x="488727" y="379232"/>
                  <a:pt x="379232" y="488727"/>
                  <a:pt x="244364" y="488727"/>
                </a:cubicBezTo>
                <a:lnTo>
                  <a:pt x="244364" y="488727"/>
                </a:lnTo>
                <a:cubicBezTo>
                  <a:pt x="109496" y="488727"/>
                  <a:pt x="0" y="379232"/>
                  <a:pt x="0" y="244364"/>
                </a:cubicBezTo>
                <a:lnTo>
                  <a:pt x="0" y="244364"/>
                </a:lnTo>
                <a:cubicBezTo>
                  <a:pt x="0" y="109496"/>
                  <a:pt x="109496" y="0"/>
                  <a:pt x="244364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337455" y="2063476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04727" y="209455"/>
                </a:moveTo>
                <a:cubicBezTo>
                  <a:pt x="162528" y="209455"/>
                  <a:pt x="209455" y="162528"/>
                  <a:pt x="209455" y="104727"/>
                </a:cubicBezTo>
                <a:cubicBezTo>
                  <a:pt x="209455" y="46927"/>
                  <a:pt x="162528" y="0"/>
                  <a:pt x="104727" y="0"/>
                </a:cubicBezTo>
                <a:cubicBezTo>
                  <a:pt x="46927" y="0"/>
                  <a:pt x="0" y="46927"/>
                  <a:pt x="0" y="104727"/>
                </a:cubicBezTo>
                <a:cubicBezTo>
                  <a:pt x="0" y="162528"/>
                  <a:pt x="46927" y="209455"/>
                  <a:pt x="104727" y="209455"/>
                </a:cubicBezTo>
                <a:close/>
                <a:moveTo>
                  <a:pt x="68318" y="68318"/>
                </a:moveTo>
                <a:cubicBezTo>
                  <a:pt x="72164" y="64473"/>
                  <a:pt x="78382" y="64473"/>
                  <a:pt x="82186" y="68318"/>
                </a:cubicBezTo>
                <a:lnTo>
                  <a:pt x="104686" y="90818"/>
                </a:lnTo>
                <a:lnTo>
                  <a:pt x="127186" y="68318"/>
                </a:lnTo>
                <a:cubicBezTo>
                  <a:pt x="131032" y="64473"/>
                  <a:pt x="137250" y="64473"/>
                  <a:pt x="141055" y="68318"/>
                </a:cubicBezTo>
                <a:cubicBezTo>
                  <a:pt x="144859" y="72164"/>
                  <a:pt x="144900" y="78382"/>
                  <a:pt x="141055" y="82186"/>
                </a:cubicBezTo>
                <a:lnTo>
                  <a:pt x="118555" y="104686"/>
                </a:lnTo>
                <a:lnTo>
                  <a:pt x="141055" y="127186"/>
                </a:lnTo>
                <a:cubicBezTo>
                  <a:pt x="144900" y="131032"/>
                  <a:pt x="144900" y="137250"/>
                  <a:pt x="141055" y="141055"/>
                </a:cubicBezTo>
                <a:cubicBezTo>
                  <a:pt x="137209" y="144859"/>
                  <a:pt x="130991" y="144900"/>
                  <a:pt x="127186" y="141055"/>
                </a:cubicBezTo>
                <a:lnTo>
                  <a:pt x="104686" y="118555"/>
                </a:lnTo>
                <a:lnTo>
                  <a:pt x="82186" y="141055"/>
                </a:lnTo>
                <a:cubicBezTo>
                  <a:pt x="78341" y="144900"/>
                  <a:pt x="72123" y="144900"/>
                  <a:pt x="68318" y="141055"/>
                </a:cubicBezTo>
                <a:cubicBezTo>
                  <a:pt x="64514" y="137209"/>
                  <a:pt x="64473" y="130991"/>
                  <a:pt x="68318" y="127186"/>
                </a:cubicBezTo>
                <a:lnTo>
                  <a:pt x="90818" y="104686"/>
                </a:lnTo>
                <a:lnTo>
                  <a:pt x="68318" y="82186"/>
                </a:lnTo>
                <a:cubicBezTo>
                  <a:pt x="64473" y="78341"/>
                  <a:pt x="64473" y="72123"/>
                  <a:pt x="68318" y="6831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283091" y="2482385"/>
            <a:ext cx="2321455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布局缺口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42000" y="2796567"/>
            <a:ext cx="7025455" cy="663273"/>
          </a:xfrm>
          <a:custGeom>
            <a:avLst/>
            <a:gdLst/>
            <a:ahLst/>
            <a:cxnLst/>
            <a:rect l="l" t="t" r="r" b="b"/>
            <a:pathLst>
              <a:path w="7025455" h="663273">
                <a:moveTo>
                  <a:pt x="69816" y="0"/>
                </a:moveTo>
                <a:lnTo>
                  <a:pt x="6955638" y="0"/>
                </a:lnTo>
                <a:cubicBezTo>
                  <a:pt x="6994197" y="0"/>
                  <a:pt x="7025455" y="31258"/>
                  <a:pt x="7025455" y="69816"/>
                </a:cubicBezTo>
                <a:lnTo>
                  <a:pt x="7025455" y="593457"/>
                </a:lnTo>
                <a:cubicBezTo>
                  <a:pt x="7025455" y="632015"/>
                  <a:pt x="6994197" y="663273"/>
                  <a:pt x="6955638" y="663273"/>
                </a:cubicBezTo>
                <a:lnTo>
                  <a:pt x="69816" y="663273"/>
                </a:lnTo>
                <a:cubicBezTo>
                  <a:pt x="31258" y="663273"/>
                  <a:pt x="0" y="632015"/>
                  <a:pt x="0" y="593457"/>
                </a:cubicBezTo>
                <a:lnTo>
                  <a:pt x="0" y="69816"/>
                </a:lnTo>
                <a:cubicBezTo>
                  <a:pt x="0" y="31258"/>
                  <a:pt x="31258" y="0"/>
                  <a:pt x="69816" y="0"/>
                </a:cubicBezTo>
                <a:close/>
              </a:path>
            </a:pathLst>
          </a:custGeom>
          <a:solidFill>
            <a:srgbClr val="1E40AF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81636" y="2936203"/>
            <a:ext cx="104727" cy="139636"/>
          </a:xfrm>
          <a:custGeom>
            <a:avLst/>
            <a:gdLst/>
            <a:ahLst/>
            <a:cxnLst/>
            <a:rect l="l" t="t" r="r" b="b"/>
            <a:pathLst>
              <a:path w="104727" h="139636">
                <a:moveTo>
                  <a:pt x="79882" y="104727"/>
                </a:moveTo>
                <a:cubicBezTo>
                  <a:pt x="81873" y="98645"/>
                  <a:pt x="85855" y="93136"/>
                  <a:pt x="90355" y="88391"/>
                </a:cubicBezTo>
                <a:cubicBezTo>
                  <a:pt x="99273" y="79009"/>
                  <a:pt x="104727" y="66327"/>
                  <a:pt x="104727" y="52364"/>
                </a:cubicBezTo>
                <a:cubicBezTo>
                  <a:pt x="104727" y="23455"/>
                  <a:pt x="81273" y="0"/>
                  <a:pt x="52364" y="0"/>
                </a:cubicBezTo>
                <a:cubicBezTo>
                  <a:pt x="23455" y="0"/>
                  <a:pt x="0" y="23455"/>
                  <a:pt x="0" y="52364"/>
                </a:cubicBezTo>
                <a:cubicBezTo>
                  <a:pt x="0" y="66327"/>
                  <a:pt x="5455" y="79009"/>
                  <a:pt x="14373" y="88391"/>
                </a:cubicBezTo>
                <a:cubicBezTo>
                  <a:pt x="18873" y="93136"/>
                  <a:pt x="22882" y="98645"/>
                  <a:pt x="24845" y="104727"/>
                </a:cubicBezTo>
                <a:lnTo>
                  <a:pt x="79855" y="104727"/>
                </a:lnTo>
                <a:close/>
                <a:moveTo>
                  <a:pt x="78545" y="117818"/>
                </a:moveTo>
                <a:lnTo>
                  <a:pt x="26182" y="117818"/>
                </a:lnTo>
                <a:lnTo>
                  <a:pt x="26182" y="122182"/>
                </a:lnTo>
                <a:cubicBezTo>
                  <a:pt x="26182" y="134236"/>
                  <a:pt x="35945" y="144000"/>
                  <a:pt x="48000" y="144000"/>
                </a:cubicBezTo>
                <a:lnTo>
                  <a:pt x="56727" y="144000"/>
                </a:lnTo>
                <a:cubicBezTo>
                  <a:pt x="68782" y="144000"/>
                  <a:pt x="78545" y="134236"/>
                  <a:pt x="78545" y="122182"/>
                </a:cubicBezTo>
                <a:lnTo>
                  <a:pt x="78545" y="117818"/>
                </a:lnTo>
                <a:close/>
                <a:moveTo>
                  <a:pt x="50182" y="30545"/>
                </a:moveTo>
                <a:cubicBezTo>
                  <a:pt x="39327" y="30545"/>
                  <a:pt x="30545" y="39327"/>
                  <a:pt x="30545" y="50182"/>
                </a:cubicBezTo>
                <a:cubicBezTo>
                  <a:pt x="30545" y="53809"/>
                  <a:pt x="27627" y="56727"/>
                  <a:pt x="24000" y="56727"/>
                </a:cubicBezTo>
                <a:cubicBezTo>
                  <a:pt x="20373" y="56727"/>
                  <a:pt x="17455" y="53809"/>
                  <a:pt x="17455" y="50182"/>
                </a:cubicBezTo>
                <a:cubicBezTo>
                  <a:pt x="17455" y="32100"/>
                  <a:pt x="32100" y="17455"/>
                  <a:pt x="50182" y="17455"/>
                </a:cubicBezTo>
                <a:cubicBezTo>
                  <a:pt x="53809" y="17455"/>
                  <a:pt x="56727" y="20373"/>
                  <a:pt x="56727" y="24000"/>
                </a:cubicBezTo>
                <a:cubicBezTo>
                  <a:pt x="56727" y="27627"/>
                  <a:pt x="53809" y="30545"/>
                  <a:pt x="50182" y="30545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869251" y="2901294"/>
            <a:ext cx="6663295" cy="4538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关键要点：</a:t>
            </a:r>
            <a:r>
              <a:rPr lang="en-US" sz="110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下下季度漏斗内金额需提前布局，避免业务断层；MO预立项商机需按周期跟进，确保培育节奏稳定；布局缺口的，需立即对接新的长期客户需求。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6545" y="3807627"/>
            <a:ext cx="11476364" cy="2007273"/>
          </a:xfrm>
          <a:custGeom>
            <a:avLst/>
            <a:gdLst/>
            <a:ahLst/>
            <a:cxnLst/>
            <a:rect l="l" t="t" r="r" b="b"/>
            <a:pathLst>
              <a:path w="11476364" h="2007273">
                <a:moveTo>
                  <a:pt x="34909" y="0"/>
                </a:moveTo>
                <a:lnTo>
                  <a:pt x="11371644" y="0"/>
                </a:lnTo>
                <a:cubicBezTo>
                  <a:pt x="11429479" y="0"/>
                  <a:pt x="11476364" y="46884"/>
                  <a:pt x="11476364" y="104719"/>
                </a:cubicBezTo>
                <a:lnTo>
                  <a:pt x="11476364" y="1902553"/>
                </a:lnTo>
                <a:cubicBezTo>
                  <a:pt x="11476364" y="1960388"/>
                  <a:pt x="11429479" y="2007273"/>
                  <a:pt x="11371644" y="2007273"/>
                </a:cubicBezTo>
                <a:lnTo>
                  <a:pt x="34909" y="2007273"/>
                </a:lnTo>
                <a:cubicBezTo>
                  <a:pt x="15629" y="2007273"/>
                  <a:pt x="0" y="1991643"/>
                  <a:pt x="0" y="1972364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364" dist="3490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6545" y="3807627"/>
            <a:ext cx="34909" cy="2007273"/>
          </a:xfrm>
          <a:custGeom>
            <a:avLst/>
            <a:gdLst/>
            <a:ahLst/>
            <a:cxnLst/>
            <a:rect l="l" t="t" r="r" b="b"/>
            <a:pathLst>
              <a:path w="34909" h="2007273">
                <a:moveTo>
                  <a:pt x="34909" y="0"/>
                </a:moveTo>
                <a:lnTo>
                  <a:pt x="34909" y="0"/>
                </a:lnTo>
                <a:lnTo>
                  <a:pt x="34909" y="2007273"/>
                </a:lnTo>
                <a:lnTo>
                  <a:pt x="34909" y="2007273"/>
                </a:lnTo>
                <a:cubicBezTo>
                  <a:pt x="15629" y="2007273"/>
                  <a:pt x="0" y="1991643"/>
                  <a:pt x="0" y="1972364"/>
                </a:cubicBezTo>
                <a:lnTo>
                  <a:pt x="0" y="34909"/>
                </a:lnTo>
                <a:cubicBezTo>
                  <a:pt x="0" y="15642"/>
                  <a:pt x="15642" y="0"/>
                  <a:pt x="34909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35" name="Shape 33"/>
          <p:cNvSpPr/>
          <p:nvPr/>
        </p:nvSpPr>
        <p:spPr>
          <a:xfrm>
            <a:off x="523636" y="3947264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69820" y="0"/>
                </a:moveTo>
                <a:lnTo>
                  <a:pt x="349090" y="0"/>
                </a:lnTo>
                <a:cubicBezTo>
                  <a:pt x="387624" y="0"/>
                  <a:pt x="418909" y="31285"/>
                  <a:pt x="418909" y="69820"/>
                </a:cubicBezTo>
                <a:lnTo>
                  <a:pt x="418909" y="349090"/>
                </a:lnTo>
                <a:cubicBezTo>
                  <a:pt x="418909" y="387624"/>
                  <a:pt x="387624" y="418909"/>
                  <a:pt x="349090" y="418909"/>
                </a:cubicBezTo>
                <a:lnTo>
                  <a:pt x="69820" y="418909"/>
                </a:lnTo>
                <a:cubicBezTo>
                  <a:pt x="31285" y="418909"/>
                  <a:pt x="0" y="387624"/>
                  <a:pt x="0" y="349090"/>
                </a:cubicBezTo>
                <a:lnTo>
                  <a:pt x="0" y="69820"/>
                </a:lnTo>
                <a:cubicBezTo>
                  <a:pt x="0" y="31259"/>
                  <a:pt x="31259" y="0"/>
                  <a:pt x="6982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36" name="Shape 34"/>
          <p:cNvSpPr/>
          <p:nvPr/>
        </p:nvSpPr>
        <p:spPr>
          <a:xfrm>
            <a:off x="645818" y="4069446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43636" y="109091"/>
                </a:moveTo>
                <a:lnTo>
                  <a:pt x="8352" y="109091"/>
                </a:lnTo>
                <a:cubicBezTo>
                  <a:pt x="-136" y="109091"/>
                  <a:pt x="-5352" y="99852"/>
                  <a:pt x="-989" y="92557"/>
                </a:cubicBezTo>
                <a:lnTo>
                  <a:pt x="17045" y="62489"/>
                </a:lnTo>
                <a:cubicBezTo>
                  <a:pt x="20011" y="57545"/>
                  <a:pt x="25330" y="54545"/>
                  <a:pt x="31091" y="54545"/>
                </a:cubicBezTo>
                <a:lnTo>
                  <a:pt x="63477" y="54545"/>
                </a:lnTo>
                <a:cubicBezTo>
                  <a:pt x="89420" y="10602"/>
                  <a:pt x="128114" y="8386"/>
                  <a:pt x="153989" y="12170"/>
                </a:cubicBezTo>
                <a:cubicBezTo>
                  <a:pt x="158352" y="12818"/>
                  <a:pt x="161761" y="16227"/>
                  <a:pt x="162375" y="20557"/>
                </a:cubicBezTo>
                <a:cubicBezTo>
                  <a:pt x="166159" y="46432"/>
                  <a:pt x="163943" y="85125"/>
                  <a:pt x="120000" y="111068"/>
                </a:cubicBezTo>
                <a:lnTo>
                  <a:pt x="120000" y="143455"/>
                </a:lnTo>
                <a:cubicBezTo>
                  <a:pt x="120000" y="149216"/>
                  <a:pt x="117000" y="154534"/>
                  <a:pt x="112057" y="157500"/>
                </a:cubicBezTo>
                <a:lnTo>
                  <a:pt x="81989" y="175534"/>
                </a:lnTo>
                <a:cubicBezTo>
                  <a:pt x="74727" y="179898"/>
                  <a:pt x="65455" y="174648"/>
                  <a:pt x="65455" y="166193"/>
                </a:cubicBezTo>
                <a:lnTo>
                  <a:pt x="65455" y="130909"/>
                </a:lnTo>
                <a:cubicBezTo>
                  <a:pt x="65455" y="118875"/>
                  <a:pt x="55670" y="109091"/>
                  <a:pt x="43636" y="109091"/>
                </a:cubicBezTo>
                <a:lnTo>
                  <a:pt x="43602" y="109091"/>
                </a:lnTo>
                <a:close/>
                <a:moveTo>
                  <a:pt x="136364" y="54545"/>
                </a:moveTo>
                <a:cubicBezTo>
                  <a:pt x="136364" y="45514"/>
                  <a:pt x="129031" y="38182"/>
                  <a:pt x="120000" y="38182"/>
                </a:cubicBezTo>
                <a:cubicBezTo>
                  <a:pt x="110969" y="38182"/>
                  <a:pt x="103636" y="45514"/>
                  <a:pt x="103636" y="54545"/>
                </a:cubicBezTo>
                <a:cubicBezTo>
                  <a:pt x="103636" y="63577"/>
                  <a:pt x="110969" y="70909"/>
                  <a:pt x="120000" y="70909"/>
                </a:cubicBezTo>
                <a:cubicBezTo>
                  <a:pt x="129031" y="70909"/>
                  <a:pt x="136364" y="63577"/>
                  <a:pt x="136364" y="545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047273" y="4034536"/>
            <a:ext cx="3176727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4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自工序全流程（嵌入MO商机储备动作）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3636" y="4470900"/>
            <a:ext cx="2155636" cy="1204364"/>
          </a:xfrm>
          <a:custGeom>
            <a:avLst/>
            <a:gdLst/>
            <a:ahLst/>
            <a:cxnLst/>
            <a:rect l="l" t="t" r="r" b="b"/>
            <a:pathLst>
              <a:path w="2155636" h="1204364">
                <a:moveTo>
                  <a:pt x="69817" y="0"/>
                </a:moveTo>
                <a:lnTo>
                  <a:pt x="2085819" y="0"/>
                </a:lnTo>
                <a:cubicBezTo>
                  <a:pt x="2124352" y="0"/>
                  <a:pt x="2155636" y="31284"/>
                  <a:pt x="2155636" y="69817"/>
                </a:cubicBezTo>
                <a:lnTo>
                  <a:pt x="2155636" y="1134547"/>
                </a:lnTo>
                <a:cubicBezTo>
                  <a:pt x="2155636" y="1173106"/>
                  <a:pt x="2124378" y="1204364"/>
                  <a:pt x="2085819" y="1204364"/>
                </a:cubicBezTo>
                <a:lnTo>
                  <a:pt x="69817" y="1204364"/>
                </a:lnTo>
                <a:cubicBezTo>
                  <a:pt x="31284" y="1204364"/>
                  <a:pt x="0" y="1173080"/>
                  <a:pt x="0" y="1134547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9" name="Shape 37"/>
          <p:cNvSpPr/>
          <p:nvPr/>
        </p:nvSpPr>
        <p:spPr>
          <a:xfrm>
            <a:off x="628364" y="45756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39636" y="0"/>
                </a:moveTo>
                <a:lnTo>
                  <a:pt x="139636" y="0"/>
                </a:lnTo>
                <a:cubicBezTo>
                  <a:pt x="216704" y="0"/>
                  <a:pt x="279273" y="62569"/>
                  <a:pt x="279273" y="139636"/>
                </a:cubicBezTo>
                <a:lnTo>
                  <a:pt x="279273" y="139636"/>
                </a:lnTo>
                <a:cubicBezTo>
                  <a:pt x="279273" y="216704"/>
                  <a:pt x="216704" y="279273"/>
                  <a:pt x="139636" y="279273"/>
                </a:cubicBezTo>
                <a:lnTo>
                  <a:pt x="139636" y="279273"/>
                </a:lnTo>
                <a:cubicBezTo>
                  <a:pt x="62569" y="279273"/>
                  <a:pt x="0" y="216704"/>
                  <a:pt x="0" y="139636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40" name="Text 38"/>
          <p:cNvSpPr/>
          <p:nvPr/>
        </p:nvSpPr>
        <p:spPr>
          <a:xfrm>
            <a:off x="597818" y="4575627"/>
            <a:ext cx="340364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77455" y="4610536"/>
            <a:ext cx="907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长期需求研判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28364" y="4924718"/>
            <a:ext cx="2007273" cy="401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2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基于行业趋势和客户战略，研判长期需求，识别潜在商机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5818" y="5417809"/>
            <a:ext cx="122182" cy="122182"/>
          </a:xfrm>
          <a:custGeom>
            <a:avLst/>
            <a:gdLst/>
            <a:ahLst/>
            <a:cxnLst/>
            <a:rect l="l" t="t" r="r" b="b"/>
            <a:pathLst>
              <a:path w="122182" h="122182">
                <a:moveTo>
                  <a:pt x="28636" y="13364"/>
                </a:moveTo>
                <a:cubicBezTo>
                  <a:pt x="28636" y="5990"/>
                  <a:pt x="34626" y="0"/>
                  <a:pt x="42000" y="0"/>
                </a:cubicBezTo>
                <a:lnTo>
                  <a:pt x="47727" y="0"/>
                </a:lnTo>
                <a:cubicBezTo>
                  <a:pt x="51951" y="0"/>
                  <a:pt x="55364" y="3413"/>
                  <a:pt x="55364" y="7636"/>
                </a:cubicBezTo>
                <a:lnTo>
                  <a:pt x="55364" y="114545"/>
                </a:lnTo>
                <a:cubicBezTo>
                  <a:pt x="55364" y="118769"/>
                  <a:pt x="51951" y="122182"/>
                  <a:pt x="47727" y="122182"/>
                </a:cubicBezTo>
                <a:lnTo>
                  <a:pt x="40091" y="122182"/>
                </a:lnTo>
                <a:cubicBezTo>
                  <a:pt x="32980" y="122182"/>
                  <a:pt x="26990" y="117314"/>
                  <a:pt x="25295" y="110727"/>
                </a:cubicBezTo>
                <a:cubicBezTo>
                  <a:pt x="25128" y="110727"/>
                  <a:pt x="24985" y="110727"/>
                  <a:pt x="24818" y="110727"/>
                </a:cubicBezTo>
                <a:cubicBezTo>
                  <a:pt x="14270" y="110727"/>
                  <a:pt x="5727" y="102184"/>
                  <a:pt x="5727" y="91636"/>
                </a:cubicBezTo>
                <a:cubicBezTo>
                  <a:pt x="5727" y="87341"/>
                  <a:pt x="7159" y="83380"/>
                  <a:pt x="9545" y="80182"/>
                </a:cubicBezTo>
                <a:cubicBezTo>
                  <a:pt x="4916" y="76698"/>
                  <a:pt x="1909" y="71161"/>
                  <a:pt x="1909" y="64909"/>
                </a:cubicBezTo>
                <a:cubicBezTo>
                  <a:pt x="1909" y="57535"/>
                  <a:pt x="6109" y="51116"/>
                  <a:pt x="12218" y="47942"/>
                </a:cubicBezTo>
                <a:cubicBezTo>
                  <a:pt x="10524" y="45078"/>
                  <a:pt x="9545" y="41738"/>
                  <a:pt x="9545" y="38182"/>
                </a:cubicBezTo>
                <a:cubicBezTo>
                  <a:pt x="9545" y="27634"/>
                  <a:pt x="18089" y="19091"/>
                  <a:pt x="28636" y="19091"/>
                </a:cubicBezTo>
                <a:lnTo>
                  <a:pt x="28636" y="13364"/>
                </a:lnTo>
                <a:close/>
                <a:moveTo>
                  <a:pt x="93545" y="13364"/>
                </a:moveTo>
                <a:lnTo>
                  <a:pt x="93545" y="19091"/>
                </a:lnTo>
                <a:cubicBezTo>
                  <a:pt x="104093" y="19091"/>
                  <a:pt x="112636" y="27634"/>
                  <a:pt x="112636" y="38182"/>
                </a:cubicBezTo>
                <a:cubicBezTo>
                  <a:pt x="112636" y="41761"/>
                  <a:pt x="111658" y="45102"/>
                  <a:pt x="109964" y="47942"/>
                </a:cubicBezTo>
                <a:cubicBezTo>
                  <a:pt x="116097" y="51116"/>
                  <a:pt x="120273" y="57511"/>
                  <a:pt x="120273" y="64909"/>
                </a:cubicBezTo>
                <a:cubicBezTo>
                  <a:pt x="120273" y="71161"/>
                  <a:pt x="117266" y="76698"/>
                  <a:pt x="112636" y="80182"/>
                </a:cubicBezTo>
                <a:cubicBezTo>
                  <a:pt x="115023" y="83380"/>
                  <a:pt x="116455" y="87341"/>
                  <a:pt x="116455" y="91636"/>
                </a:cubicBezTo>
                <a:cubicBezTo>
                  <a:pt x="116455" y="102184"/>
                  <a:pt x="107911" y="110727"/>
                  <a:pt x="97364" y="110727"/>
                </a:cubicBezTo>
                <a:cubicBezTo>
                  <a:pt x="97197" y="110727"/>
                  <a:pt x="97053" y="110727"/>
                  <a:pt x="96886" y="110727"/>
                </a:cubicBezTo>
                <a:cubicBezTo>
                  <a:pt x="95192" y="117314"/>
                  <a:pt x="89202" y="122182"/>
                  <a:pt x="82091" y="122182"/>
                </a:cubicBezTo>
                <a:lnTo>
                  <a:pt x="74455" y="122182"/>
                </a:lnTo>
                <a:cubicBezTo>
                  <a:pt x="70231" y="122182"/>
                  <a:pt x="66818" y="118769"/>
                  <a:pt x="66818" y="114545"/>
                </a:cubicBezTo>
                <a:lnTo>
                  <a:pt x="66818" y="7636"/>
                </a:lnTo>
                <a:cubicBezTo>
                  <a:pt x="66818" y="3413"/>
                  <a:pt x="70231" y="0"/>
                  <a:pt x="74455" y="0"/>
                </a:cubicBezTo>
                <a:lnTo>
                  <a:pt x="80182" y="0"/>
                </a:lnTo>
                <a:cubicBezTo>
                  <a:pt x="87556" y="0"/>
                  <a:pt x="93545" y="5990"/>
                  <a:pt x="93545" y="13364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44" name="Text 42"/>
          <p:cNvSpPr/>
          <p:nvPr/>
        </p:nvSpPr>
        <p:spPr>
          <a:xfrm>
            <a:off x="850909" y="5391627"/>
            <a:ext cx="549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1E40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战略洞察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781055" y="4470900"/>
            <a:ext cx="2155636" cy="1204364"/>
          </a:xfrm>
          <a:custGeom>
            <a:avLst/>
            <a:gdLst/>
            <a:ahLst/>
            <a:cxnLst/>
            <a:rect l="l" t="t" r="r" b="b"/>
            <a:pathLst>
              <a:path w="2155636" h="1204364">
                <a:moveTo>
                  <a:pt x="69817" y="0"/>
                </a:moveTo>
                <a:lnTo>
                  <a:pt x="2085819" y="0"/>
                </a:lnTo>
                <a:cubicBezTo>
                  <a:pt x="2124352" y="0"/>
                  <a:pt x="2155636" y="31284"/>
                  <a:pt x="2155636" y="69817"/>
                </a:cubicBezTo>
                <a:lnTo>
                  <a:pt x="2155636" y="1134547"/>
                </a:lnTo>
                <a:cubicBezTo>
                  <a:pt x="2155636" y="1173106"/>
                  <a:pt x="2124378" y="1204364"/>
                  <a:pt x="2085819" y="1204364"/>
                </a:cubicBezTo>
                <a:lnTo>
                  <a:pt x="69817" y="1204364"/>
                </a:lnTo>
                <a:cubicBezTo>
                  <a:pt x="31284" y="1204364"/>
                  <a:pt x="0" y="1173080"/>
                  <a:pt x="0" y="1134547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46" name="Shape 44"/>
          <p:cNvSpPr/>
          <p:nvPr/>
        </p:nvSpPr>
        <p:spPr>
          <a:xfrm>
            <a:off x="2885782" y="45756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39636" y="0"/>
                </a:moveTo>
                <a:lnTo>
                  <a:pt x="139636" y="0"/>
                </a:lnTo>
                <a:cubicBezTo>
                  <a:pt x="216704" y="0"/>
                  <a:pt x="279273" y="62569"/>
                  <a:pt x="279273" y="139636"/>
                </a:cubicBezTo>
                <a:lnTo>
                  <a:pt x="279273" y="139636"/>
                </a:lnTo>
                <a:cubicBezTo>
                  <a:pt x="279273" y="216704"/>
                  <a:pt x="216704" y="279273"/>
                  <a:pt x="139636" y="279273"/>
                </a:cubicBezTo>
                <a:lnTo>
                  <a:pt x="139636" y="279273"/>
                </a:lnTo>
                <a:cubicBezTo>
                  <a:pt x="62569" y="279273"/>
                  <a:pt x="0" y="216704"/>
                  <a:pt x="0" y="139636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2855236" y="4575627"/>
            <a:ext cx="340364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234873" y="4610536"/>
            <a:ext cx="907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客户关系维护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885782" y="4924718"/>
            <a:ext cx="2007273" cy="401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2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持续维护客户关系，建立长期合作基础，保持定期沟通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895600" y="5417809"/>
            <a:ext cx="137455" cy="122182"/>
          </a:xfrm>
          <a:custGeom>
            <a:avLst/>
            <a:gdLst/>
            <a:ahLst/>
            <a:cxnLst/>
            <a:rect l="l" t="t" r="r" b="b"/>
            <a:pathLst>
              <a:path w="137455" h="122182">
                <a:moveTo>
                  <a:pt x="64169" y="20332"/>
                </a:moveTo>
                <a:lnTo>
                  <a:pt x="36344" y="51259"/>
                </a:lnTo>
                <a:cubicBezTo>
                  <a:pt x="35247" y="52476"/>
                  <a:pt x="35294" y="54361"/>
                  <a:pt x="36464" y="55531"/>
                </a:cubicBezTo>
                <a:cubicBezTo>
                  <a:pt x="43742" y="62809"/>
                  <a:pt x="55555" y="62809"/>
                  <a:pt x="62833" y="55531"/>
                </a:cubicBezTo>
                <a:lnTo>
                  <a:pt x="70422" y="47942"/>
                </a:lnTo>
                <a:cubicBezTo>
                  <a:pt x="71424" y="46940"/>
                  <a:pt x="72689" y="46391"/>
                  <a:pt x="73977" y="46295"/>
                </a:cubicBezTo>
                <a:cubicBezTo>
                  <a:pt x="75600" y="46152"/>
                  <a:pt x="77270" y="46701"/>
                  <a:pt x="78511" y="47942"/>
                </a:cubicBezTo>
                <a:lnTo>
                  <a:pt x="120655" y="89727"/>
                </a:lnTo>
                <a:lnTo>
                  <a:pt x="137455" y="76364"/>
                </a:lnTo>
                <a:lnTo>
                  <a:pt x="137455" y="7636"/>
                </a:lnTo>
                <a:lnTo>
                  <a:pt x="110727" y="22909"/>
                </a:lnTo>
                <a:lnTo>
                  <a:pt x="105048" y="19115"/>
                </a:lnTo>
                <a:cubicBezTo>
                  <a:pt x="101277" y="16609"/>
                  <a:pt x="96863" y="15273"/>
                  <a:pt x="92328" y="15273"/>
                </a:cubicBezTo>
                <a:lnTo>
                  <a:pt x="75528" y="15273"/>
                </a:lnTo>
                <a:cubicBezTo>
                  <a:pt x="75266" y="15273"/>
                  <a:pt x="74980" y="15273"/>
                  <a:pt x="74717" y="15297"/>
                </a:cubicBezTo>
                <a:cubicBezTo>
                  <a:pt x="70684" y="15511"/>
                  <a:pt x="66890" y="17325"/>
                  <a:pt x="64169" y="20332"/>
                </a:cubicBezTo>
                <a:close/>
                <a:moveTo>
                  <a:pt x="27825" y="43599"/>
                </a:moveTo>
                <a:lnTo>
                  <a:pt x="53311" y="15273"/>
                </a:lnTo>
                <a:lnTo>
                  <a:pt x="43861" y="15273"/>
                </a:lnTo>
                <a:cubicBezTo>
                  <a:pt x="37776" y="15273"/>
                  <a:pt x="31953" y="17683"/>
                  <a:pt x="27658" y="21978"/>
                </a:cubicBezTo>
                <a:lnTo>
                  <a:pt x="26727" y="22909"/>
                </a:lnTo>
                <a:lnTo>
                  <a:pt x="0" y="7636"/>
                </a:lnTo>
                <a:lnTo>
                  <a:pt x="0" y="76364"/>
                </a:lnTo>
                <a:lnTo>
                  <a:pt x="37323" y="107458"/>
                </a:lnTo>
                <a:cubicBezTo>
                  <a:pt x="42811" y="112040"/>
                  <a:pt x="49732" y="114545"/>
                  <a:pt x="56867" y="114545"/>
                </a:cubicBezTo>
                <a:lnTo>
                  <a:pt x="60614" y="114545"/>
                </a:lnTo>
                <a:lnTo>
                  <a:pt x="58943" y="112875"/>
                </a:lnTo>
                <a:cubicBezTo>
                  <a:pt x="56700" y="110632"/>
                  <a:pt x="56700" y="107005"/>
                  <a:pt x="58943" y="104785"/>
                </a:cubicBezTo>
                <a:cubicBezTo>
                  <a:pt x="61186" y="102566"/>
                  <a:pt x="64814" y="102542"/>
                  <a:pt x="67033" y="104785"/>
                </a:cubicBezTo>
                <a:lnTo>
                  <a:pt x="76817" y="114569"/>
                </a:lnTo>
                <a:lnTo>
                  <a:pt x="78965" y="114569"/>
                </a:lnTo>
                <a:cubicBezTo>
                  <a:pt x="83523" y="114569"/>
                  <a:pt x="87985" y="113543"/>
                  <a:pt x="92042" y="111634"/>
                </a:cubicBezTo>
                <a:lnTo>
                  <a:pt x="85670" y="105239"/>
                </a:lnTo>
                <a:cubicBezTo>
                  <a:pt x="83427" y="102995"/>
                  <a:pt x="83427" y="99368"/>
                  <a:pt x="85670" y="97149"/>
                </a:cubicBezTo>
                <a:cubicBezTo>
                  <a:pt x="87914" y="94930"/>
                  <a:pt x="91541" y="94906"/>
                  <a:pt x="93760" y="97149"/>
                </a:cubicBezTo>
                <a:lnTo>
                  <a:pt x="101397" y="104785"/>
                </a:lnTo>
                <a:lnTo>
                  <a:pt x="105573" y="100609"/>
                </a:lnTo>
                <a:cubicBezTo>
                  <a:pt x="107697" y="98485"/>
                  <a:pt x="108317" y="95407"/>
                  <a:pt x="107386" y="92710"/>
                </a:cubicBezTo>
                <a:lnTo>
                  <a:pt x="74478" y="60065"/>
                </a:lnTo>
                <a:lnTo>
                  <a:pt x="70923" y="63620"/>
                </a:lnTo>
                <a:cubicBezTo>
                  <a:pt x="59158" y="75385"/>
                  <a:pt x="40115" y="75385"/>
                  <a:pt x="28350" y="63620"/>
                </a:cubicBezTo>
                <a:cubicBezTo>
                  <a:pt x="22861" y="58132"/>
                  <a:pt x="22647" y="49326"/>
                  <a:pt x="27825" y="4357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1" name="Text 49"/>
          <p:cNvSpPr/>
          <p:nvPr/>
        </p:nvSpPr>
        <p:spPr>
          <a:xfrm>
            <a:off x="3108327" y="5391627"/>
            <a:ext cx="549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关系深耕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038473" y="4470900"/>
            <a:ext cx="2155636" cy="1204364"/>
          </a:xfrm>
          <a:custGeom>
            <a:avLst/>
            <a:gdLst/>
            <a:ahLst/>
            <a:cxnLst/>
            <a:rect l="l" t="t" r="r" b="b"/>
            <a:pathLst>
              <a:path w="2155636" h="1204364">
                <a:moveTo>
                  <a:pt x="69817" y="0"/>
                </a:moveTo>
                <a:lnTo>
                  <a:pt x="2085819" y="0"/>
                </a:lnTo>
                <a:cubicBezTo>
                  <a:pt x="2124352" y="0"/>
                  <a:pt x="2155636" y="31284"/>
                  <a:pt x="2155636" y="69817"/>
                </a:cubicBezTo>
                <a:lnTo>
                  <a:pt x="2155636" y="1134547"/>
                </a:lnTo>
                <a:cubicBezTo>
                  <a:pt x="2155636" y="1173106"/>
                  <a:pt x="2124378" y="1204364"/>
                  <a:pt x="2085819" y="1204364"/>
                </a:cubicBezTo>
                <a:lnTo>
                  <a:pt x="69817" y="1204364"/>
                </a:lnTo>
                <a:cubicBezTo>
                  <a:pt x="31284" y="1204364"/>
                  <a:pt x="0" y="1173080"/>
                  <a:pt x="0" y="1134547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3" name="Shape 51"/>
          <p:cNvSpPr/>
          <p:nvPr/>
        </p:nvSpPr>
        <p:spPr>
          <a:xfrm>
            <a:off x="5143200" y="45756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39636" y="0"/>
                </a:moveTo>
                <a:lnTo>
                  <a:pt x="139636" y="0"/>
                </a:lnTo>
                <a:cubicBezTo>
                  <a:pt x="216704" y="0"/>
                  <a:pt x="279273" y="62569"/>
                  <a:pt x="279273" y="139636"/>
                </a:cubicBezTo>
                <a:lnTo>
                  <a:pt x="279273" y="139636"/>
                </a:lnTo>
                <a:cubicBezTo>
                  <a:pt x="279273" y="216704"/>
                  <a:pt x="216704" y="279273"/>
                  <a:pt x="139636" y="279273"/>
                </a:cubicBezTo>
                <a:lnTo>
                  <a:pt x="139636" y="279273"/>
                </a:lnTo>
                <a:cubicBezTo>
                  <a:pt x="62569" y="279273"/>
                  <a:pt x="0" y="216704"/>
                  <a:pt x="0" y="139636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5112655" y="4575627"/>
            <a:ext cx="340364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92291" y="4610536"/>
            <a:ext cx="715636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MO预立项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143200" y="4924718"/>
            <a:ext cx="2007273" cy="401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2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对潜在商机进行预立项，纳入长期跟进计划，明确培育策略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175927" y="5417809"/>
            <a:ext cx="91636" cy="122182"/>
          </a:xfrm>
          <a:custGeom>
            <a:avLst/>
            <a:gdLst/>
            <a:ahLst/>
            <a:cxnLst/>
            <a:rect l="l" t="t" r="r" b="b"/>
            <a:pathLst>
              <a:path w="91636" h="122182">
                <a:moveTo>
                  <a:pt x="74311" y="7636"/>
                </a:moveTo>
                <a:lnTo>
                  <a:pt x="76364" y="7636"/>
                </a:lnTo>
                <a:cubicBezTo>
                  <a:pt x="84788" y="7636"/>
                  <a:pt x="91636" y="14485"/>
                  <a:pt x="91636" y="22909"/>
                </a:cubicBezTo>
                <a:lnTo>
                  <a:pt x="91636" y="106909"/>
                </a:lnTo>
                <a:cubicBezTo>
                  <a:pt x="91636" y="115333"/>
                  <a:pt x="84788" y="122182"/>
                  <a:pt x="76364" y="122182"/>
                </a:cubicBezTo>
                <a:lnTo>
                  <a:pt x="15273" y="122182"/>
                </a:lnTo>
                <a:cubicBezTo>
                  <a:pt x="6849" y="122182"/>
                  <a:pt x="0" y="115333"/>
                  <a:pt x="0" y="106909"/>
                </a:cubicBezTo>
                <a:lnTo>
                  <a:pt x="0" y="22909"/>
                </a:lnTo>
                <a:cubicBezTo>
                  <a:pt x="0" y="14485"/>
                  <a:pt x="6849" y="7636"/>
                  <a:pt x="15273" y="7636"/>
                </a:cubicBezTo>
                <a:lnTo>
                  <a:pt x="17325" y="7636"/>
                </a:lnTo>
                <a:cubicBezTo>
                  <a:pt x="19950" y="3078"/>
                  <a:pt x="24890" y="0"/>
                  <a:pt x="30545" y="0"/>
                </a:cubicBezTo>
                <a:lnTo>
                  <a:pt x="61091" y="0"/>
                </a:lnTo>
                <a:cubicBezTo>
                  <a:pt x="66747" y="0"/>
                  <a:pt x="71686" y="3078"/>
                  <a:pt x="74311" y="7636"/>
                </a:cubicBezTo>
                <a:close/>
                <a:moveTo>
                  <a:pt x="59182" y="26727"/>
                </a:moveTo>
                <a:cubicBezTo>
                  <a:pt x="62356" y="26727"/>
                  <a:pt x="64909" y="24174"/>
                  <a:pt x="64909" y="21000"/>
                </a:cubicBezTo>
                <a:cubicBezTo>
                  <a:pt x="64909" y="17826"/>
                  <a:pt x="62356" y="15273"/>
                  <a:pt x="59182" y="15273"/>
                </a:cubicBezTo>
                <a:lnTo>
                  <a:pt x="32455" y="15273"/>
                </a:lnTo>
                <a:cubicBezTo>
                  <a:pt x="29281" y="15273"/>
                  <a:pt x="26727" y="17826"/>
                  <a:pt x="26727" y="21000"/>
                </a:cubicBezTo>
                <a:cubicBezTo>
                  <a:pt x="26727" y="24174"/>
                  <a:pt x="29281" y="26727"/>
                  <a:pt x="32455" y="26727"/>
                </a:cubicBezTo>
                <a:lnTo>
                  <a:pt x="59182" y="26727"/>
                </a:lnTo>
                <a:close/>
                <a:moveTo>
                  <a:pt x="30545" y="61091"/>
                </a:moveTo>
                <a:cubicBezTo>
                  <a:pt x="30545" y="56876"/>
                  <a:pt x="27124" y="53455"/>
                  <a:pt x="22909" y="53455"/>
                </a:cubicBezTo>
                <a:cubicBezTo>
                  <a:pt x="18694" y="53455"/>
                  <a:pt x="15273" y="56876"/>
                  <a:pt x="15273" y="61091"/>
                </a:cubicBezTo>
                <a:cubicBezTo>
                  <a:pt x="15273" y="65306"/>
                  <a:pt x="18694" y="68727"/>
                  <a:pt x="22909" y="68727"/>
                </a:cubicBezTo>
                <a:cubicBezTo>
                  <a:pt x="27124" y="68727"/>
                  <a:pt x="30545" y="65306"/>
                  <a:pt x="30545" y="61091"/>
                </a:cubicBezTo>
                <a:close/>
                <a:moveTo>
                  <a:pt x="38182" y="61091"/>
                </a:moveTo>
                <a:cubicBezTo>
                  <a:pt x="38182" y="64265"/>
                  <a:pt x="40735" y="66818"/>
                  <a:pt x="43909" y="66818"/>
                </a:cubicBezTo>
                <a:lnTo>
                  <a:pt x="70636" y="66818"/>
                </a:lnTo>
                <a:cubicBezTo>
                  <a:pt x="73810" y="66818"/>
                  <a:pt x="76364" y="64265"/>
                  <a:pt x="76364" y="61091"/>
                </a:cubicBezTo>
                <a:cubicBezTo>
                  <a:pt x="76364" y="57917"/>
                  <a:pt x="73810" y="55364"/>
                  <a:pt x="70636" y="55364"/>
                </a:cubicBezTo>
                <a:lnTo>
                  <a:pt x="43909" y="55364"/>
                </a:lnTo>
                <a:cubicBezTo>
                  <a:pt x="40735" y="55364"/>
                  <a:pt x="38182" y="57917"/>
                  <a:pt x="38182" y="61091"/>
                </a:cubicBezTo>
                <a:close/>
                <a:moveTo>
                  <a:pt x="38182" y="91636"/>
                </a:moveTo>
                <a:cubicBezTo>
                  <a:pt x="38182" y="94810"/>
                  <a:pt x="40735" y="97364"/>
                  <a:pt x="43909" y="97364"/>
                </a:cubicBezTo>
                <a:lnTo>
                  <a:pt x="70636" y="97364"/>
                </a:lnTo>
                <a:cubicBezTo>
                  <a:pt x="73810" y="97364"/>
                  <a:pt x="76364" y="94810"/>
                  <a:pt x="76364" y="91636"/>
                </a:cubicBezTo>
                <a:cubicBezTo>
                  <a:pt x="76364" y="88463"/>
                  <a:pt x="73810" y="85909"/>
                  <a:pt x="70636" y="85909"/>
                </a:cubicBezTo>
                <a:lnTo>
                  <a:pt x="43909" y="85909"/>
                </a:lnTo>
                <a:cubicBezTo>
                  <a:pt x="40735" y="85909"/>
                  <a:pt x="38182" y="88463"/>
                  <a:pt x="38182" y="91636"/>
                </a:cubicBezTo>
                <a:close/>
                <a:moveTo>
                  <a:pt x="22909" y="99273"/>
                </a:moveTo>
                <a:cubicBezTo>
                  <a:pt x="27124" y="99273"/>
                  <a:pt x="30545" y="95851"/>
                  <a:pt x="30545" y="91636"/>
                </a:cubicBezTo>
                <a:cubicBezTo>
                  <a:pt x="30545" y="87422"/>
                  <a:pt x="27124" y="84000"/>
                  <a:pt x="22909" y="84000"/>
                </a:cubicBezTo>
                <a:cubicBezTo>
                  <a:pt x="18694" y="84000"/>
                  <a:pt x="15273" y="87422"/>
                  <a:pt x="15273" y="91636"/>
                </a:cubicBezTo>
                <a:cubicBezTo>
                  <a:pt x="15273" y="95851"/>
                  <a:pt x="18694" y="99273"/>
                  <a:pt x="22909" y="9927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5365746" y="5391627"/>
            <a:ext cx="549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提前布局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295891" y="4470900"/>
            <a:ext cx="2155636" cy="1204364"/>
          </a:xfrm>
          <a:custGeom>
            <a:avLst/>
            <a:gdLst/>
            <a:ahLst/>
            <a:cxnLst/>
            <a:rect l="l" t="t" r="r" b="b"/>
            <a:pathLst>
              <a:path w="2155636" h="1204364">
                <a:moveTo>
                  <a:pt x="69817" y="0"/>
                </a:moveTo>
                <a:lnTo>
                  <a:pt x="2085819" y="0"/>
                </a:lnTo>
                <a:cubicBezTo>
                  <a:pt x="2124352" y="0"/>
                  <a:pt x="2155636" y="31284"/>
                  <a:pt x="2155636" y="69817"/>
                </a:cubicBezTo>
                <a:lnTo>
                  <a:pt x="2155636" y="1134547"/>
                </a:lnTo>
                <a:cubicBezTo>
                  <a:pt x="2155636" y="1173106"/>
                  <a:pt x="2124378" y="1204364"/>
                  <a:pt x="2085819" y="1204364"/>
                </a:cubicBezTo>
                <a:lnTo>
                  <a:pt x="69817" y="1204364"/>
                </a:lnTo>
                <a:cubicBezTo>
                  <a:pt x="31284" y="1204364"/>
                  <a:pt x="0" y="1173080"/>
                  <a:pt x="0" y="1134547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0" name="Shape 58"/>
          <p:cNvSpPr/>
          <p:nvPr/>
        </p:nvSpPr>
        <p:spPr>
          <a:xfrm>
            <a:off x="7400618" y="45756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39636" y="0"/>
                </a:moveTo>
                <a:lnTo>
                  <a:pt x="139636" y="0"/>
                </a:lnTo>
                <a:cubicBezTo>
                  <a:pt x="216704" y="0"/>
                  <a:pt x="279273" y="62569"/>
                  <a:pt x="279273" y="139636"/>
                </a:cubicBezTo>
                <a:lnTo>
                  <a:pt x="279273" y="139636"/>
                </a:lnTo>
                <a:cubicBezTo>
                  <a:pt x="279273" y="216704"/>
                  <a:pt x="216704" y="279273"/>
                  <a:pt x="139636" y="279273"/>
                </a:cubicBezTo>
                <a:lnTo>
                  <a:pt x="139636" y="279273"/>
                </a:lnTo>
                <a:cubicBezTo>
                  <a:pt x="62569" y="279273"/>
                  <a:pt x="0" y="216704"/>
                  <a:pt x="0" y="139636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61" name="Text 59"/>
          <p:cNvSpPr/>
          <p:nvPr/>
        </p:nvSpPr>
        <p:spPr>
          <a:xfrm>
            <a:off x="7370073" y="4575627"/>
            <a:ext cx="340364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749709" y="4610536"/>
            <a:ext cx="628364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周期跟进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400618" y="4924718"/>
            <a:ext cx="2007273" cy="401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2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按周期跟进预立项商机，更新进展，调整培育策略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418073" y="5417809"/>
            <a:ext cx="122182" cy="122182"/>
          </a:xfrm>
          <a:custGeom>
            <a:avLst/>
            <a:gdLst/>
            <a:ahLst/>
            <a:cxnLst/>
            <a:rect l="l" t="t" r="r" b="b"/>
            <a:pathLst>
              <a:path w="122182" h="122182">
                <a:moveTo>
                  <a:pt x="114569" y="45818"/>
                </a:moveTo>
                <a:lnTo>
                  <a:pt x="116455" y="45818"/>
                </a:lnTo>
                <a:cubicBezTo>
                  <a:pt x="119628" y="45818"/>
                  <a:pt x="122182" y="43265"/>
                  <a:pt x="122182" y="40091"/>
                </a:cubicBezTo>
                <a:lnTo>
                  <a:pt x="122182" y="5727"/>
                </a:lnTo>
                <a:cubicBezTo>
                  <a:pt x="122182" y="3413"/>
                  <a:pt x="120798" y="1313"/>
                  <a:pt x="118650" y="430"/>
                </a:cubicBezTo>
                <a:cubicBezTo>
                  <a:pt x="116502" y="-453"/>
                  <a:pt x="114044" y="48"/>
                  <a:pt x="112398" y="1670"/>
                </a:cubicBezTo>
                <a:lnTo>
                  <a:pt x="100060" y="14032"/>
                </a:lnTo>
                <a:cubicBezTo>
                  <a:pt x="89489" y="5274"/>
                  <a:pt x="75886" y="0"/>
                  <a:pt x="61091" y="0"/>
                </a:cubicBezTo>
                <a:cubicBezTo>
                  <a:pt x="30307" y="0"/>
                  <a:pt x="4844" y="22766"/>
                  <a:pt x="620" y="52381"/>
                </a:cubicBezTo>
                <a:cubicBezTo>
                  <a:pt x="24" y="56557"/>
                  <a:pt x="2911" y="60423"/>
                  <a:pt x="7088" y="61019"/>
                </a:cubicBezTo>
                <a:cubicBezTo>
                  <a:pt x="11264" y="61616"/>
                  <a:pt x="15130" y="58705"/>
                  <a:pt x="15726" y="54552"/>
                </a:cubicBezTo>
                <a:cubicBezTo>
                  <a:pt x="18900" y="32335"/>
                  <a:pt x="38015" y="15273"/>
                  <a:pt x="61091" y="15273"/>
                </a:cubicBezTo>
                <a:cubicBezTo>
                  <a:pt x="71686" y="15273"/>
                  <a:pt x="81423" y="18852"/>
                  <a:pt x="89178" y="24890"/>
                </a:cubicBezTo>
                <a:lnTo>
                  <a:pt x="78034" y="36034"/>
                </a:lnTo>
                <a:cubicBezTo>
                  <a:pt x="76388" y="37681"/>
                  <a:pt x="75910" y="40139"/>
                  <a:pt x="76793" y="42286"/>
                </a:cubicBezTo>
                <a:cubicBezTo>
                  <a:pt x="77676" y="44434"/>
                  <a:pt x="79776" y="45818"/>
                  <a:pt x="82091" y="45818"/>
                </a:cubicBezTo>
                <a:lnTo>
                  <a:pt x="114569" y="45818"/>
                </a:lnTo>
                <a:close/>
                <a:moveTo>
                  <a:pt x="121585" y="69801"/>
                </a:moveTo>
                <a:cubicBezTo>
                  <a:pt x="122182" y="65625"/>
                  <a:pt x="119270" y="61759"/>
                  <a:pt x="115118" y="61163"/>
                </a:cubicBezTo>
                <a:cubicBezTo>
                  <a:pt x="110966" y="60566"/>
                  <a:pt x="107076" y="63477"/>
                  <a:pt x="106480" y="67630"/>
                </a:cubicBezTo>
                <a:cubicBezTo>
                  <a:pt x="103306" y="89823"/>
                  <a:pt x="84191" y="106885"/>
                  <a:pt x="61115" y="106885"/>
                </a:cubicBezTo>
                <a:cubicBezTo>
                  <a:pt x="50519" y="106885"/>
                  <a:pt x="40783" y="103306"/>
                  <a:pt x="33027" y="97268"/>
                </a:cubicBezTo>
                <a:lnTo>
                  <a:pt x="44148" y="86148"/>
                </a:lnTo>
                <a:cubicBezTo>
                  <a:pt x="45794" y="84501"/>
                  <a:pt x="46272" y="82043"/>
                  <a:pt x="45389" y="79895"/>
                </a:cubicBezTo>
                <a:cubicBezTo>
                  <a:pt x="44506" y="77748"/>
                  <a:pt x="42406" y="76364"/>
                  <a:pt x="40091" y="76364"/>
                </a:cubicBezTo>
                <a:lnTo>
                  <a:pt x="5727" y="76364"/>
                </a:lnTo>
                <a:cubicBezTo>
                  <a:pt x="2553" y="76364"/>
                  <a:pt x="0" y="78917"/>
                  <a:pt x="0" y="82091"/>
                </a:cubicBezTo>
                <a:lnTo>
                  <a:pt x="0" y="116455"/>
                </a:lnTo>
                <a:cubicBezTo>
                  <a:pt x="0" y="118769"/>
                  <a:pt x="1384" y="120869"/>
                  <a:pt x="3532" y="121752"/>
                </a:cubicBezTo>
                <a:cubicBezTo>
                  <a:pt x="5680" y="122635"/>
                  <a:pt x="8138" y="122134"/>
                  <a:pt x="9784" y="120511"/>
                </a:cubicBezTo>
                <a:lnTo>
                  <a:pt x="22145" y="108150"/>
                </a:lnTo>
                <a:cubicBezTo>
                  <a:pt x="32693" y="116908"/>
                  <a:pt x="46295" y="122182"/>
                  <a:pt x="61091" y="122182"/>
                </a:cubicBezTo>
                <a:cubicBezTo>
                  <a:pt x="91875" y="122182"/>
                  <a:pt x="117338" y="99416"/>
                  <a:pt x="121561" y="69801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65" name="Text 63"/>
          <p:cNvSpPr/>
          <p:nvPr/>
        </p:nvSpPr>
        <p:spPr>
          <a:xfrm>
            <a:off x="7623164" y="5391627"/>
            <a:ext cx="549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1E40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持续培育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553309" y="4470900"/>
            <a:ext cx="2155636" cy="1204364"/>
          </a:xfrm>
          <a:custGeom>
            <a:avLst/>
            <a:gdLst/>
            <a:ahLst/>
            <a:cxnLst/>
            <a:rect l="l" t="t" r="r" b="b"/>
            <a:pathLst>
              <a:path w="2155636" h="1204364">
                <a:moveTo>
                  <a:pt x="69817" y="0"/>
                </a:moveTo>
                <a:lnTo>
                  <a:pt x="2085819" y="0"/>
                </a:lnTo>
                <a:cubicBezTo>
                  <a:pt x="2124352" y="0"/>
                  <a:pt x="2155636" y="31284"/>
                  <a:pt x="2155636" y="69817"/>
                </a:cubicBezTo>
                <a:lnTo>
                  <a:pt x="2155636" y="1134547"/>
                </a:lnTo>
                <a:cubicBezTo>
                  <a:pt x="2155636" y="1173106"/>
                  <a:pt x="2124378" y="1204364"/>
                  <a:pt x="2085819" y="1204364"/>
                </a:cubicBezTo>
                <a:lnTo>
                  <a:pt x="69817" y="1204364"/>
                </a:lnTo>
                <a:cubicBezTo>
                  <a:pt x="31284" y="1204364"/>
                  <a:pt x="0" y="1173080"/>
                  <a:pt x="0" y="1134547"/>
                </a:cubicBezTo>
                <a:lnTo>
                  <a:pt x="0" y="69817"/>
                </a:lnTo>
                <a:cubicBezTo>
                  <a:pt x="0" y="31258"/>
                  <a:pt x="31258" y="0"/>
                  <a:pt x="69817" y="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67" name="Shape 65"/>
          <p:cNvSpPr/>
          <p:nvPr/>
        </p:nvSpPr>
        <p:spPr>
          <a:xfrm>
            <a:off x="9658037" y="4575627"/>
            <a:ext cx="279273" cy="279273"/>
          </a:xfrm>
          <a:custGeom>
            <a:avLst/>
            <a:gdLst/>
            <a:ahLst/>
            <a:cxnLst/>
            <a:rect l="l" t="t" r="r" b="b"/>
            <a:pathLst>
              <a:path w="279273" h="279273">
                <a:moveTo>
                  <a:pt x="139636" y="0"/>
                </a:moveTo>
                <a:lnTo>
                  <a:pt x="139636" y="0"/>
                </a:lnTo>
                <a:cubicBezTo>
                  <a:pt x="216704" y="0"/>
                  <a:pt x="279273" y="62569"/>
                  <a:pt x="279273" y="139636"/>
                </a:cubicBezTo>
                <a:lnTo>
                  <a:pt x="279273" y="139636"/>
                </a:lnTo>
                <a:cubicBezTo>
                  <a:pt x="279273" y="216704"/>
                  <a:pt x="216704" y="279273"/>
                  <a:pt x="139636" y="279273"/>
                </a:cubicBezTo>
                <a:lnTo>
                  <a:pt x="139636" y="279273"/>
                </a:lnTo>
                <a:cubicBezTo>
                  <a:pt x="62569" y="279273"/>
                  <a:pt x="0" y="216704"/>
                  <a:pt x="0" y="139636"/>
                </a:cubicBezTo>
                <a:lnTo>
                  <a:pt x="0" y="139636"/>
                </a:lnTo>
                <a:cubicBezTo>
                  <a:pt x="0" y="62569"/>
                  <a:pt x="62569" y="0"/>
                  <a:pt x="13963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8" name="Text 66"/>
          <p:cNvSpPr/>
          <p:nvPr/>
        </p:nvSpPr>
        <p:spPr>
          <a:xfrm>
            <a:off x="9627491" y="4575627"/>
            <a:ext cx="340364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007127" y="4610536"/>
            <a:ext cx="628364" cy="20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商机转化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658037" y="4924718"/>
            <a:ext cx="2007273" cy="401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2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当商机成熟后，及时转入正式立项流程，推进签约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675491" y="5417809"/>
            <a:ext cx="122182" cy="122182"/>
          </a:xfrm>
          <a:custGeom>
            <a:avLst/>
            <a:gdLst/>
            <a:ahLst/>
            <a:cxnLst/>
            <a:rect l="l" t="t" r="r" b="b"/>
            <a:pathLst>
              <a:path w="122182" h="122182">
                <a:moveTo>
                  <a:pt x="119939" y="35939"/>
                </a:moveTo>
                <a:lnTo>
                  <a:pt x="97030" y="58848"/>
                </a:lnTo>
                <a:cubicBezTo>
                  <a:pt x="94834" y="61043"/>
                  <a:pt x="91565" y="61687"/>
                  <a:pt x="88701" y="60494"/>
                </a:cubicBezTo>
                <a:cubicBezTo>
                  <a:pt x="85838" y="59301"/>
                  <a:pt x="84000" y="56533"/>
                  <a:pt x="84000" y="53455"/>
                </a:cubicBezTo>
                <a:lnTo>
                  <a:pt x="84000" y="38182"/>
                </a:lnTo>
                <a:lnTo>
                  <a:pt x="7636" y="38182"/>
                </a:lnTo>
                <a:cubicBezTo>
                  <a:pt x="3413" y="38182"/>
                  <a:pt x="0" y="34769"/>
                  <a:pt x="0" y="30545"/>
                </a:cubicBezTo>
                <a:cubicBezTo>
                  <a:pt x="0" y="26322"/>
                  <a:pt x="3413" y="22909"/>
                  <a:pt x="7636" y="22909"/>
                </a:cubicBezTo>
                <a:lnTo>
                  <a:pt x="84000" y="22909"/>
                </a:lnTo>
                <a:lnTo>
                  <a:pt x="84000" y="7636"/>
                </a:lnTo>
                <a:cubicBezTo>
                  <a:pt x="84000" y="4558"/>
                  <a:pt x="85861" y="1766"/>
                  <a:pt x="88725" y="573"/>
                </a:cubicBezTo>
                <a:cubicBezTo>
                  <a:pt x="91589" y="-620"/>
                  <a:pt x="94858" y="48"/>
                  <a:pt x="97053" y="2219"/>
                </a:cubicBezTo>
                <a:lnTo>
                  <a:pt x="119963" y="25128"/>
                </a:lnTo>
                <a:cubicBezTo>
                  <a:pt x="122945" y="28111"/>
                  <a:pt x="122945" y="32956"/>
                  <a:pt x="119963" y="35939"/>
                </a:cubicBezTo>
                <a:close/>
                <a:moveTo>
                  <a:pt x="25128" y="119939"/>
                </a:moveTo>
                <a:lnTo>
                  <a:pt x="2219" y="97030"/>
                </a:lnTo>
                <a:cubicBezTo>
                  <a:pt x="-764" y="94047"/>
                  <a:pt x="-764" y="89202"/>
                  <a:pt x="2219" y="86219"/>
                </a:cubicBezTo>
                <a:lnTo>
                  <a:pt x="25128" y="63310"/>
                </a:lnTo>
                <a:cubicBezTo>
                  <a:pt x="27324" y="61115"/>
                  <a:pt x="30593" y="60470"/>
                  <a:pt x="33457" y="61664"/>
                </a:cubicBezTo>
                <a:cubicBezTo>
                  <a:pt x="36320" y="62857"/>
                  <a:pt x="38182" y="65649"/>
                  <a:pt x="38182" y="68727"/>
                </a:cubicBezTo>
                <a:lnTo>
                  <a:pt x="38182" y="84000"/>
                </a:lnTo>
                <a:lnTo>
                  <a:pt x="114545" y="84000"/>
                </a:lnTo>
                <a:cubicBezTo>
                  <a:pt x="118769" y="84000"/>
                  <a:pt x="122182" y="87413"/>
                  <a:pt x="122182" y="91636"/>
                </a:cubicBezTo>
                <a:cubicBezTo>
                  <a:pt x="122182" y="95860"/>
                  <a:pt x="118769" y="99273"/>
                  <a:pt x="114545" y="99273"/>
                </a:cubicBezTo>
                <a:lnTo>
                  <a:pt x="38182" y="99273"/>
                </a:lnTo>
                <a:lnTo>
                  <a:pt x="38182" y="114545"/>
                </a:lnTo>
                <a:cubicBezTo>
                  <a:pt x="38182" y="117624"/>
                  <a:pt x="36320" y="120416"/>
                  <a:pt x="33457" y="121609"/>
                </a:cubicBezTo>
                <a:cubicBezTo>
                  <a:pt x="30593" y="122802"/>
                  <a:pt x="27324" y="122134"/>
                  <a:pt x="25128" y="11996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2" name="Text 70"/>
          <p:cNvSpPr/>
          <p:nvPr/>
        </p:nvSpPr>
        <p:spPr>
          <a:xfrm>
            <a:off x="9880582" y="5391627"/>
            <a:ext cx="549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适时转化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49091" y="5915264"/>
            <a:ext cx="2792727" cy="768000"/>
          </a:xfrm>
          <a:custGeom>
            <a:avLst/>
            <a:gdLst/>
            <a:ahLst/>
            <a:cxnLst/>
            <a:rect l="l" t="t" r="r" b="b"/>
            <a:pathLst>
              <a:path w="2792727" h="768000">
                <a:moveTo>
                  <a:pt x="69819" y="0"/>
                </a:moveTo>
                <a:lnTo>
                  <a:pt x="2722908" y="0"/>
                </a:lnTo>
                <a:cubicBezTo>
                  <a:pt x="2761468" y="0"/>
                  <a:pt x="2792727" y="31259"/>
                  <a:pt x="2792727" y="69819"/>
                </a:cubicBezTo>
                <a:lnTo>
                  <a:pt x="2792727" y="698181"/>
                </a:lnTo>
                <a:cubicBezTo>
                  <a:pt x="2792727" y="736741"/>
                  <a:pt x="2761468" y="768000"/>
                  <a:pt x="2722908" y="768000"/>
                </a:cubicBezTo>
                <a:lnTo>
                  <a:pt x="69819" y="768000"/>
                </a:lnTo>
                <a:cubicBezTo>
                  <a:pt x="31259" y="768000"/>
                  <a:pt x="0" y="736741"/>
                  <a:pt x="0" y="698181"/>
                </a:cubicBezTo>
                <a:lnTo>
                  <a:pt x="0" y="69819"/>
                </a:lnTo>
                <a:cubicBezTo>
                  <a:pt x="0" y="31285"/>
                  <a:pt x="31285" y="0"/>
                  <a:pt x="69819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453818" y="6019991"/>
            <a:ext cx="2644364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1E40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输入信息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53818" y="6229446"/>
            <a:ext cx="2644364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下下季度目标规划、客户长期需求、行业市场动态、MO预立项商机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249382" y="5915264"/>
            <a:ext cx="2792727" cy="768000"/>
          </a:xfrm>
          <a:custGeom>
            <a:avLst/>
            <a:gdLst/>
            <a:ahLst/>
            <a:cxnLst/>
            <a:rect l="l" t="t" r="r" b="b"/>
            <a:pathLst>
              <a:path w="2792727" h="768000">
                <a:moveTo>
                  <a:pt x="69819" y="0"/>
                </a:moveTo>
                <a:lnTo>
                  <a:pt x="2722908" y="0"/>
                </a:lnTo>
                <a:cubicBezTo>
                  <a:pt x="2761468" y="0"/>
                  <a:pt x="2792727" y="31259"/>
                  <a:pt x="2792727" y="69819"/>
                </a:cubicBezTo>
                <a:lnTo>
                  <a:pt x="2792727" y="698181"/>
                </a:lnTo>
                <a:cubicBezTo>
                  <a:pt x="2792727" y="736741"/>
                  <a:pt x="2761468" y="768000"/>
                  <a:pt x="2722908" y="768000"/>
                </a:cubicBezTo>
                <a:lnTo>
                  <a:pt x="69819" y="768000"/>
                </a:lnTo>
                <a:cubicBezTo>
                  <a:pt x="31259" y="768000"/>
                  <a:pt x="0" y="736741"/>
                  <a:pt x="0" y="698181"/>
                </a:cubicBezTo>
                <a:lnTo>
                  <a:pt x="0" y="69819"/>
                </a:lnTo>
                <a:cubicBezTo>
                  <a:pt x="0" y="31285"/>
                  <a:pt x="31285" y="0"/>
                  <a:pt x="69819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3354109" y="6019991"/>
            <a:ext cx="2644364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所需工具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3354109" y="6229446"/>
            <a:ext cx="2644364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下下季度漏斗台账、MO预立项表、客户长期跟进计划、1+2长期管理看板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49782" y="5915264"/>
            <a:ext cx="2792727" cy="768000"/>
          </a:xfrm>
          <a:custGeom>
            <a:avLst/>
            <a:gdLst/>
            <a:ahLst/>
            <a:cxnLst/>
            <a:rect l="l" t="t" r="r" b="b"/>
            <a:pathLst>
              <a:path w="2792727" h="768000">
                <a:moveTo>
                  <a:pt x="69819" y="0"/>
                </a:moveTo>
                <a:lnTo>
                  <a:pt x="2722908" y="0"/>
                </a:lnTo>
                <a:cubicBezTo>
                  <a:pt x="2761468" y="0"/>
                  <a:pt x="2792727" y="31259"/>
                  <a:pt x="2792727" y="69819"/>
                </a:cubicBezTo>
                <a:lnTo>
                  <a:pt x="2792727" y="698181"/>
                </a:lnTo>
                <a:cubicBezTo>
                  <a:pt x="2792727" y="736741"/>
                  <a:pt x="2761468" y="768000"/>
                  <a:pt x="2722908" y="768000"/>
                </a:cubicBezTo>
                <a:lnTo>
                  <a:pt x="69819" y="768000"/>
                </a:lnTo>
                <a:cubicBezTo>
                  <a:pt x="31259" y="768000"/>
                  <a:pt x="0" y="736741"/>
                  <a:pt x="0" y="698181"/>
                </a:cubicBezTo>
                <a:lnTo>
                  <a:pt x="0" y="69819"/>
                </a:lnTo>
                <a:cubicBezTo>
                  <a:pt x="0" y="31285"/>
                  <a:pt x="31285" y="0"/>
                  <a:pt x="69819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</p:sp>
      <p:sp>
        <p:nvSpPr>
          <p:cNvPr id="80" name="Text 78"/>
          <p:cNvSpPr/>
          <p:nvPr/>
        </p:nvSpPr>
        <p:spPr>
          <a:xfrm>
            <a:off x="6254509" y="6019991"/>
            <a:ext cx="2644364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必备能力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254509" y="6229446"/>
            <a:ext cx="2644364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长期需求研判能力、客户关系维护能力、MO预立项流程能力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9050073" y="5915264"/>
            <a:ext cx="2792727" cy="768000"/>
          </a:xfrm>
          <a:custGeom>
            <a:avLst/>
            <a:gdLst/>
            <a:ahLst/>
            <a:cxnLst/>
            <a:rect l="l" t="t" r="r" b="b"/>
            <a:pathLst>
              <a:path w="2792727" h="768000">
                <a:moveTo>
                  <a:pt x="69819" y="0"/>
                </a:moveTo>
                <a:lnTo>
                  <a:pt x="2722908" y="0"/>
                </a:lnTo>
                <a:cubicBezTo>
                  <a:pt x="2761468" y="0"/>
                  <a:pt x="2792727" y="31259"/>
                  <a:pt x="2792727" y="69819"/>
                </a:cubicBezTo>
                <a:lnTo>
                  <a:pt x="2792727" y="698181"/>
                </a:lnTo>
                <a:cubicBezTo>
                  <a:pt x="2792727" y="736741"/>
                  <a:pt x="2761468" y="768000"/>
                  <a:pt x="2722908" y="768000"/>
                </a:cubicBezTo>
                <a:lnTo>
                  <a:pt x="69819" y="768000"/>
                </a:lnTo>
                <a:cubicBezTo>
                  <a:pt x="31259" y="768000"/>
                  <a:pt x="0" y="736741"/>
                  <a:pt x="0" y="698181"/>
                </a:cubicBezTo>
                <a:lnTo>
                  <a:pt x="0" y="69819"/>
                </a:lnTo>
                <a:cubicBezTo>
                  <a:pt x="0" y="31285"/>
                  <a:pt x="31285" y="0"/>
                  <a:pt x="69819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9154800" y="6019991"/>
            <a:ext cx="2644364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1E40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注意事项/技巧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9154800" y="6229446"/>
            <a:ext cx="2644364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提前布局避免业务断层、按周期跟进确保培育节奏、布局缺口立即对接新需求</a:t>
            </a:r>
            <a:endParaRPr lang="en-US" sz="1600" dirty="0"/>
          </a:p>
        </p:txBody>
      </p:sp>
      <p:pic>
        <p:nvPicPr>
          <p:cNvPr id="85" name="图片 84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8.alamy.com/dc26ee5c99b61242a16b216b13d6918127667d51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1795" b="1179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95000"/>
                </a:srgbClr>
              </a:gs>
              <a:gs pos="100000">
                <a:srgbClr val="3B82F6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552575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295275" y="1552575"/>
            <a:ext cx="9334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295400" y="19145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619375"/>
            <a:ext cx="42291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落地保障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1F5F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机制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562475"/>
            <a:ext cx="4000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构建完整的工具、机制与质量标准体系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确保自工序方案有效落地执行</a:t>
            </a:r>
            <a:endParaRPr lang="en-US" sz="1600" dirty="0"/>
          </a:p>
        </p:txBody>
      </p:sp>
      <p:pic>
        <p:nvPicPr>
          <p:cNvPr id="9" name="图片 8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 · 落地保障机制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 err="1" smtClean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落地保障体系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custGeom>
            <a:avLst/>
            <a:gdLst/>
            <a:ahLst/>
            <a:cxnLst/>
            <a:rect l="l" t="t" r="r" b="b"/>
            <a:pathLst>
              <a:path w="635000" h="31750">
                <a:moveTo>
                  <a:pt x="0" y="0"/>
                </a:moveTo>
                <a:lnTo>
                  <a:pt x="635000" y="0"/>
                </a:lnTo>
                <a:lnTo>
                  <a:pt x="635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125" y="1299765"/>
            <a:ext cx="5699125" cy="3643313"/>
          </a:xfrm>
          <a:custGeom>
            <a:avLst/>
            <a:gdLst/>
            <a:ahLst/>
            <a:cxnLst/>
            <a:rect l="l" t="t" r="r" b="b"/>
            <a:pathLst>
              <a:path w="5699125" h="3643313">
                <a:moveTo>
                  <a:pt x="31750" y="0"/>
                </a:moveTo>
                <a:lnTo>
                  <a:pt x="5603889" y="0"/>
                </a:lnTo>
                <a:cubicBezTo>
                  <a:pt x="5656486" y="0"/>
                  <a:pt x="5699125" y="42639"/>
                  <a:pt x="5699125" y="95236"/>
                </a:cubicBezTo>
                <a:lnTo>
                  <a:pt x="5699125" y="3548076"/>
                </a:lnTo>
                <a:cubicBezTo>
                  <a:pt x="5699125" y="3600674"/>
                  <a:pt x="5656486" y="3643313"/>
                  <a:pt x="5603889" y="3643313"/>
                </a:cubicBezTo>
                <a:lnTo>
                  <a:pt x="31750" y="3643313"/>
                </a:lnTo>
                <a:cubicBezTo>
                  <a:pt x="14215" y="3643313"/>
                  <a:pt x="0" y="3629098"/>
                  <a:pt x="0" y="3611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125" y="1299765"/>
            <a:ext cx="31750" cy="3643313"/>
          </a:xfrm>
          <a:custGeom>
            <a:avLst/>
            <a:gdLst/>
            <a:ahLst/>
            <a:cxnLst/>
            <a:rect l="l" t="t" r="r" b="b"/>
            <a:pathLst>
              <a:path w="31750" h="3643313">
                <a:moveTo>
                  <a:pt x="31750" y="0"/>
                </a:moveTo>
                <a:lnTo>
                  <a:pt x="31750" y="0"/>
                </a:lnTo>
                <a:lnTo>
                  <a:pt x="31750" y="3643313"/>
                </a:lnTo>
                <a:lnTo>
                  <a:pt x="31750" y="3643313"/>
                </a:lnTo>
                <a:cubicBezTo>
                  <a:pt x="14227" y="3643313"/>
                  <a:pt x="0" y="3629086"/>
                  <a:pt x="0" y="36115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Shape 35"/>
          <p:cNvSpPr/>
          <p:nvPr/>
        </p:nvSpPr>
        <p:spPr>
          <a:xfrm>
            <a:off x="508000" y="142676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Shape 36"/>
          <p:cNvSpPr/>
          <p:nvPr/>
        </p:nvSpPr>
        <p:spPr>
          <a:xfrm>
            <a:off x="599281" y="153789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128953" y="65267"/>
                </a:moveTo>
                <a:cubicBezTo>
                  <a:pt x="132736" y="64244"/>
                  <a:pt x="136705" y="66042"/>
                  <a:pt x="138410" y="69546"/>
                </a:cubicBezTo>
                <a:lnTo>
                  <a:pt x="144177" y="81204"/>
                </a:lnTo>
                <a:cubicBezTo>
                  <a:pt x="147371" y="81638"/>
                  <a:pt x="150502" y="82507"/>
                  <a:pt x="153448" y="83716"/>
                </a:cubicBezTo>
                <a:lnTo>
                  <a:pt x="164300" y="76491"/>
                </a:lnTo>
                <a:cubicBezTo>
                  <a:pt x="167556" y="74321"/>
                  <a:pt x="171865" y="74755"/>
                  <a:pt x="174625" y="77515"/>
                </a:cubicBezTo>
                <a:lnTo>
                  <a:pt x="180578" y="83468"/>
                </a:lnTo>
                <a:cubicBezTo>
                  <a:pt x="183338" y="86227"/>
                  <a:pt x="183772" y="90568"/>
                  <a:pt x="181601" y="93793"/>
                </a:cubicBezTo>
                <a:lnTo>
                  <a:pt x="174377" y="104614"/>
                </a:lnTo>
                <a:cubicBezTo>
                  <a:pt x="174966" y="106071"/>
                  <a:pt x="175493" y="107590"/>
                  <a:pt x="175927" y="109172"/>
                </a:cubicBezTo>
                <a:cubicBezTo>
                  <a:pt x="176361" y="110753"/>
                  <a:pt x="176640" y="112303"/>
                  <a:pt x="176857" y="113885"/>
                </a:cubicBezTo>
                <a:lnTo>
                  <a:pt x="188547" y="119652"/>
                </a:lnTo>
                <a:cubicBezTo>
                  <a:pt x="192050" y="121388"/>
                  <a:pt x="193849" y="125357"/>
                  <a:pt x="192825" y="129108"/>
                </a:cubicBezTo>
                <a:lnTo>
                  <a:pt x="190655" y="137232"/>
                </a:lnTo>
                <a:cubicBezTo>
                  <a:pt x="189632" y="140984"/>
                  <a:pt x="186128" y="143526"/>
                  <a:pt x="182221" y="143278"/>
                </a:cubicBezTo>
                <a:lnTo>
                  <a:pt x="169199" y="142441"/>
                </a:lnTo>
                <a:cubicBezTo>
                  <a:pt x="167246" y="144952"/>
                  <a:pt x="164982" y="147278"/>
                  <a:pt x="162409" y="149262"/>
                </a:cubicBezTo>
                <a:lnTo>
                  <a:pt x="163246" y="162254"/>
                </a:lnTo>
                <a:cubicBezTo>
                  <a:pt x="163494" y="166160"/>
                  <a:pt x="160951" y="169695"/>
                  <a:pt x="157200" y="170687"/>
                </a:cubicBezTo>
                <a:lnTo>
                  <a:pt x="149076" y="172858"/>
                </a:lnTo>
                <a:cubicBezTo>
                  <a:pt x="145293" y="173881"/>
                  <a:pt x="141356" y="172083"/>
                  <a:pt x="139619" y="168579"/>
                </a:cubicBezTo>
                <a:lnTo>
                  <a:pt x="133852" y="156921"/>
                </a:lnTo>
                <a:cubicBezTo>
                  <a:pt x="130659" y="156487"/>
                  <a:pt x="127527" y="155618"/>
                  <a:pt x="124582" y="154409"/>
                </a:cubicBezTo>
                <a:lnTo>
                  <a:pt x="113729" y="161634"/>
                </a:lnTo>
                <a:cubicBezTo>
                  <a:pt x="110474" y="163804"/>
                  <a:pt x="106164" y="163370"/>
                  <a:pt x="103405" y="160610"/>
                </a:cubicBezTo>
                <a:lnTo>
                  <a:pt x="97451" y="154657"/>
                </a:lnTo>
                <a:cubicBezTo>
                  <a:pt x="94692" y="151898"/>
                  <a:pt x="94258" y="147588"/>
                  <a:pt x="96428" y="144332"/>
                </a:cubicBezTo>
                <a:lnTo>
                  <a:pt x="103653" y="133480"/>
                </a:lnTo>
                <a:cubicBezTo>
                  <a:pt x="103063" y="132023"/>
                  <a:pt x="102536" y="130504"/>
                  <a:pt x="102102" y="128922"/>
                </a:cubicBezTo>
                <a:cubicBezTo>
                  <a:pt x="101668" y="127341"/>
                  <a:pt x="101389" y="125760"/>
                  <a:pt x="101172" y="124209"/>
                </a:cubicBezTo>
                <a:lnTo>
                  <a:pt x="89483" y="118442"/>
                </a:lnTo>
                <a:cubicBezTo>
                  <a:pt x="85979" y="116706"/>
                  <a:pt x="84212" y="112737"/>
                  <a:pt x="85204" y="108986"/>
                </a:cubicBezTo>
                <a:lnTo>
                  <a:pt x="87375" y="100862"/>
                </a:lnTo>
                <a:cubicBezTo>
                  <a:pt x="88398" y="97110"/>
                  <a:pt x="91901" y="94568"/>
                  <a:pt x="95808" y="94816"/>
                </a:cubicBezTo>
                <a:lnTo>
                  <a:pt x="108800" y="95653"/>
                </a:lnTo>
                <a:cubicBezTo>
                  <a:pt x="110753" y="93142"/>
                  <a:pt x="113016" y="90816"/>
                  <a:pt x="115590" y="88832"/>
                </a:cubicBezTo>
                <a:lnTo>
                  <a:pt x="114753" y="75871"/>
                </a:lnTo>
                <a:cubicBezTo>
                  <a:pt x="114505" y="71965"/>
                  <a:pt x="117047" y="68430"/>
                  <a:pt x="120799" y="67438"/>
                </a:cubicBezTo>
                <a:lnTo>
                  <a:pt x="128922" y="65267"/>
                </a:lnTo>
                <a:close/>
                <a:moveTo>
                  <a:pt x="139030" y="105420"/>
                </a:moveTo>
                <a:cubicBezTo>
                  <a:pt x="131501" y="105428"/>
                  <a:pt x="125395" y="111548"/>
                  <a:pt x="125403" y="119078"/>
                </a:cubicBezTo>
                <a:cubicBezTo>
                  <a:pt x="125412" y="126608"/>
                  <a:pt x="131532" y="132714"/>
                  <a:pt x="139061" y="132705"/>
                </a:cubicBezTo>
                <a:cubicBezTo>
                  <a:pt x="146591" y="132697"/>
                  <a:pt x="152697" y="126577"/>
                  <a:pt x="152688" y="119047"/>
                </a:cubicBezTo>
                <a:cubicBezTo>
                  <a:pt x="152680" y="111517"/>
                  <a:pt x="146560" y="105411"/>
                  <a:pt x="139030" y="105420"/>
                </a:cubicBezTo>
                <a:close/>
                <a:moveTo>
                  <a:pt x="69732" y="-14108"/>
                </a:moveTo>
                <a:lnTo>
                  <a:pt x="77856" y="-11937"/>
                </a:lnTo>
                <a:cubicBezTo>
                  <a:pt x="81607" y="-10914"/>
                  <a:pt x="84150" y="-7379"/>
                  <a:pt x="83902" y="-3504"/>
                </a:cubicBezTo>
                <a:lnTo>
                  <a:pt x="83065" y="9457"/>
                </a:lnTo>
                <a:cubicBezTo>
                  <a:pt x="85638" y="11441"/>
                  <a:pt x="87902" y="13736"/>
                  <a:pt x="89855" y="16278"/>
                </a:cubicBezTo>
                <a:lnTo>
                  <a:pt x="102877" y="15441"/>
                </a:lnTo>
                <a:cubicBezTo>
                  <a:pt x="106753" y="15193"/>
                  <a:pt x="110288" y="17735"/>
                  <a:pt x="111311" y="21487"/>
                </a:cubicBezTo>
                <a:lnTo>
                  <a:pt x="113481" y="29611"/>
                </a:lnTo>
                <a:cubicBezTo>
                  <a:pt x="114474" y="33362"/>
                  <a:pt x="112706" y="37331"/>
                  <a:pt x="109203" y="39067"/>
                </a:cubicBezTo>
                <a:lnTo>
                  <a:pt x="97513" y="44834"/>
                </a:lnTo>
                <a:cubicBezTo>
                  <a:pt x="97296" y="46416"/>
                  <a:pt x="96986" y="47997"/>
                  <a:pt x="96583" y="49547"/>
                </a:cubicBezTo>
                <a:cubicBezTo>
                  <a:pt x="96180" y="51098"/>
                  <a:pt x="95622" y="52648"/>
                  <a:pt x="95033" y="54105"/>
                </a:cubicBezTo>
                <a:lnTo>
                  <a:pt x="102257" y="64957"/>
                </a:lnTo>
                <a:cubicBezTo>
                  <a:pt x="104428" y="68213"/>
                  <a:pt x="103994" y="72523"/>
                  <a:pt x="101234" y="75282"/>
                </a:cubicBezTo>
                <a:lnTo>
                  <a:pt x="95281" y="81235"/>
                </a:lnTo>
                <a:cubicBezTo>
                  <a:pt x="92521" y="83995"/>
                  <a:pt x="88212" y="84429"/>
                  <a:pt x="84956" y="82259"/>
                </a:cubicBezTo>
                <a:lnTo>
                  <a:pt x="74104" y="75034"/>
                </a:lnTo>
                <a:cubicBezTo>
                  <a:pt x="71158" y="76243"/>
                  <a:pt x="68027" y="77112"/>
                  <a:pt x="64833" y="77546"/>
                </a:cubicBezTo>
                <a:lnTo>
                  <a:pt x="59066" y="89204"/>
                </a:lnTo>
                <a:cubicBezTo>
                  <a:pt x="57330" y="92708"/>
                  <a:pt x="53361" y="94475"/>
                  <a:pt x="49609" y="93483"/>
                </a:cubicBezTo>
                <a:lnTo>
                  <a:pt x="41486" y="91312"/>
                </a:lnTo>
                <a:cubicBezTo>
                  <a:pt x="37703" y="90289"/>
                  <a:pt x="35192" y="86754"/>
                  <a:pt x="35440" y="82879"/>
                </a:cubicBezTo>
                <a:lnTo>
                  <a:pt x="36277" y="69887"/>
                </a:lnTo>
                <a:cubicBezTo>
                  <a:pt x="33703" y="67903"/>
                  <a:pt x="31440" y="65608"/>
                  <a:pt x="29487" y="63066"/>
                </a:cubicBezTo>
                <a:lnTo>
                  <a:pt x="16464" y="63903"/>
                </a:lnTo>
                <a:cubicBezTo>
                  <a:pt x="12588" y="64151"/>
                  <a:pt x="9054" y="61609"/>
                  <a:pt x="8031" y="57857"/>
                </a:cubicBezTo>
                <a:lnTo>
                  <a:pt x="5860" y="49733"/>
                </a:lnTo>
                <a:cubicBezTo>
                  <a:pt x="4868" y="45982"/>
                  <a:pt x="6635" y="42013"/>
                  <a:pt x="10139" y="40277"/>
                </a:cubicBezTo>
                <a:lnTo>
                  <a:pt x="21828" y="34510"/>
                </a:lnTo>
                <a:cubicBezTo>
                  <a:pt x="22045" y="32928"/>
                  <a:pt x="22355" y="31378"/>
                  <a:pt x="22758" y="29797"/>
                </a:cubicBezTo>
                <a:cubicBezTo>
                  <a:pt x="23192" y="28215"/>
                  <a:pt x="23688" y="26696"/>
                  <a:pt x="24309" y="25239"/>
                </a:cubicBezTo>
                <a:lnTo>
                  <a:pt x="17084" y="14418"/>
                </a:lnTo>
                <a:cubicBezTo>
                  <a:pt x="14914" y="11162"/>
                  <a:pt x="15348" y="6852"/>
                  <a:pt x="18107" y="4093"/>
                </a:cubicBezTo>
                <a:lnTo>
                  <a:pt x="24061" y="-1860"/>
                </a:lnTo>
                <a:cubicBezTo>
                  <a:pt x="26820" y="-4620"/>
                  <a:pt x="31130" y="-5054"/>
                  <a:pt x="34385" y="-2884"/>
                </a:cubicBezTo>
                <a:lnTo>
                  <a:pt x="45238" y="4341"/>
                </a:lnTo>
                <a:cubicBezTo>
                  <a:pt x="48183" y="3132"/>
                  <a:pt x="51315" y="2263"/>
                  <a:pt x="54508" y="1829"/>
                </a:cubicBezTo>
                <a:lnTo>
                  <a:pt x="60275" y="-9829"/>
                </a:lnTo>
                <a:cubicBezTo>
                  <a:pt x="62012" y="-13333"/>
                  <a:pt x="65949" y="-15100"/>
                  <a:pt x="69732" y="-14108"/>
                </a:cubicBezTo>
                <a:close/>
                <a:moveTo>
                  <a:pt x="59655" y="26045"/>
                </a:moveTo>
                <a:cubicBezTo>
                  <a:pt x="52126" y="26045"/>
                  <a:pt x="46013" y="32158"/>
                  <a:pt x="46013" y="39688"/>
                </a:cubicBezTo>
                <a:cubicBezTo>
                  <a:pt x="46013" y="47217"/>
                  <a:pt x="52126" y="53330"/>
                  <a:pt x="59655" y="53330"/>
                </a:cubicBezTo>
                <a:cubicBezTo>
                  <a:pt x="67185" y="53330"/>
                  <a:pt x="73298" y="47217"/>
                  <a:pt x="73298" y="39688"/>
                </a:cubicBezTo>
                <a:cubicBezTo>
                  <a:pt x="73298" y="32158"/>
                  <a:pt x="67185" y="26045"/>
                  <a:pt x="59655" y="260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984250" y="1506140"/>
            <a:ext cx="714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管理机制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8000" y="1903015"/>
            <a:ext cx="549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贴合1+2考核节奏的完整管理机制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8000" y="2188765"/>
            <a:ext cx="5429250" cy="690563"/>
          </a:xfrm>
          <a:custGeom>
            <a:avLst/>
            <a:gdLst/>
            <a:ahLst/>
            <a:cxnLst/>
            <a:rect l="l" t="t" r="r" b="b"/>
            <a:pathLst>
              <a:path w="5429250" h="690563">
                <a:moveTo>
                  <a:pt x="63497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627065"/>
                </a:lnTo>
                <a:cubicBezTo>
                  <a:pt x="5429250" y="662134"/>
                  <a:pt x="5400821" y="690563"/>
                  <a:pt x="5365753" y="690563"/>
                </a:cubicBezTo>
                <a:lnTo>
                  <a:pt x="63497" y="690563"/>
                </a:lnTo>
                <a:cubicBezTo>
                  <a:pt x="28429" y="690563"/>
                  <a:pt x="0" y="662134"/>
                  <a:pt x="0" y="627065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3B82F6">
              <a:alpha val="5098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03250" y="2284015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Text 41"/>
          <p:cNvSpPr/>
          <p:nvPr/>
        </p:nvSpPr>
        <p:spPr>
          <a:xfrm>
            <a:off x="575469" y="2284015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20750" y="2315765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周度机制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3250" y="2601515"/>
            <a:ext cx="52943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召开1+2数据对话会，同步MO商机全流程进度，排查"达标、待补、缺口"商机，制定周度整改计划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8000" y="2940843"/>
            <a:ext cx="5429250" cy="690563"/>
          </a:xfrm>
          <a:custGeom>
            <a:avLst/>
            <a:gdLst/>
            <a:ahLst/>
            <a:cxnLst/>
            <a:rect l="l" t="t" r="r" b="b"/>
            <a:pathLst>
              <a:path w="5429250" h="690563">
                <a:moveTo>
                  <a:pt x="63497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627065"/>
                </a:lnTo>
                <a:cubicBezTo>
                  <a:pt x="5429250" y="662134"/>
                  <a:pt x="5400821" y="690563"/>
                  <a:pt x="5365753" y="690563"/>
                </a:cubicBezTo>
                <a:lnTo>
                  <a:pt x="63497" y="690563"/>
                </a:lnTo>
                <a:cubicBezTo>
                  <a:pt x="28429" y="690563"/>
                  <a:pt x="0" y="662134"/>
                  <a:pt x="0" y="627065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1E40AF">
              <a:alpha val="5098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3250" y="303609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48" name="Text 46"/>
          <p:cNvSpPr/>
          <p:nvPr/>
        </p:nvSpPr>
        <p:spPr>
          <a:xfrm>
            <a:off x="575469" y="3036093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20750" y="3067843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月度机制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03250" y="3353593"/>
            <a:ext cx="52943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开展1+2承诺盘点会，对齐下季度储备情况，复盘MO商机推进效率，优化培育策略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08000" y="3692921"/>
            <a:ext cx="5429250" cy="690563"/>
          </a:xfrm>
          <a:custGeom>
            <a:avLst/>
            <a:gdLst/>
            <a:ahLst/>
            <a:cxnLst/>
            <a:rect l="l" t="t" r="r" b="b"/>
            <a:pathLst>
              <a:path w="5429250" h="690563">
                <a:moveTo>
                  <a:pt x="63497" y="0"/>
                </a:moveTo>
                <a:lnTo>
                  <a:pt x="5365753" y="0"/>
                </a:lnTo>
                <a:cubicBezTo>
                  <a:pt x="5400821" y="0"/>
                  <a:pt x="5429250" y="28429"/>
                  <a:pt x="5429250" y="63497"/>
                </a:cubicBezTo>
                <a:lnTo>
                  <a:pt x="5429250" y="627065"/>
                </a:lnTo>
                <a:cubicBezTo>
                  <a:pt x="5429250" y="662134"/>
                  <a:pt x="5400821" y="690563"/>
                  <a:pt x="5365753" y="690563"/>
                </a:cubicBezTo>
                <a:lnTo>
                  <a:pt x="63497" y="690563"/>
                </a:lnTo>
                <a:cubicBezTo>
                  <a:pt x="28429" y="690563"/>
                  <a:pt x="0" y="662134"/>
                  <a:pt x="0" y="627065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F59E0B">
              <a:alpha val="5098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03250" y="378817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lnTo>
                  <a:pt x="127000" y="0"/>
                </a:lnTo>
                <a:cubicBezTo>
                  <a:pt x="197093" y="0"/>
                  <a:pt x="254000" y="56907"/>
                  <a:pt x="254000" y="127000"/>
                </a:cubicBezTo>
                <a:lnTo>
                  <a:pt x="254000" y="127000"/>
                </a:lnTo>
                <a:cubicBezTo>
                  <a:pt x="254000" y="197093"/>
                  <a:pt x="197093" y="254000"/>
                  <a:pt x="127000" y="254000"/>
                </a:cubicBezTo>
                <a:lnTo>
                  <a:pt x="127000" y="254000"/>
                </a:lnTo>
                <a:cubicBezTo>
                  <a:pt x="56907" y="254000"/>
                  <a:pt x="0" y="197093"/>
                  <a:pt x="0" y="12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575469" y="3788171"/>
            <a:ext cx="309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20750" y="3819921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季度机制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03250" y="4105671"/>
            <a:ext cx="5294313" cy="182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开展1+2兑现率考核，结合考核结果调整季度目标；同步开展下季度/下下季度漏斗指标复盘，布局后续业务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34113" y="424778"/>
            <a:ext cx="5703887" cy="1012825"/>
          </a:xfrm>
          <a:custGeom>
            <a:avLst/>
            <a:gdLst/>
            <a:ahLst/>
            <a:cxnLst/>
            <a:rect l="l" t="t" r="r" b="b"/>
            <a:pathLst>
              <a:path w="5703887" h="1012825">
                <a:moveTo>
                  <a:pt x="95246" y="0"/>
                </a:moveTo>
                <a:lnTo>
                  <a:pt x="5608641" y="0"/>
                </a:lnTo>
                <a:cubicBezTo>
                  <a:pt x="5661244" y="0"/>
                  <a:pt x="5703887" y="42643"/>
                  <a:pt x="5703887" y="95246"/>
                </a:cubicBezTo>
                <a:lnTo>
                  <a:pt x="5703887" y="917579"/>
                </a:lnTo>
                <a:cubicBezTo>
                  <a:pt x="5703887" y="970182"/>
                  <a:pt x="5661244" y="1012825"/>
                  <a:pt x="5608641" y="1012825"/>
                </a:cubicBezTo>
                <a:lnTo>
                  <a:pt x="95246" y="1012825"/>
                </a:lnTo>
                <a:cubicBezTo>
                  <a:pt x="42643" y="1012825"/>
                  <a:pt x="0" y="970182"/>
                  <a:pt x="0" y="917579"/>
                </a:cubicBezTo>
                <a:lnTo>
                  <a:pt x="0" y="95246"/>
                </a:lnTo>
                <a:cubicBezTo>
                  <a:pt x="0" y="42643"/>
                  <a:pt x="42643" y="0"/>
                  <a:pt x="95246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10000"/>
                </a:srgbClr>
              </a:gs>
              <a:gs pos="100000">
                <a:srgbClr val="1E40AF">
                  <a:alpha val="10000"/>
                </a:srgbClr>
              </a:gs>
            </a:gsLst>
            <a:lin ang="2700000" scaled="1"/>
          </a:gradFill>
          <a:ln w="20320">
            <a:solidFill>
              <a:srgbClr val="F59E0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67463" y="55813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8" name="Shape 56"/>
          <p:cNvSpPr/>
          <p:nvPr/>
        </p:nvSpPr>
        <p:spPr>
          <a:xfrm>
            <a:off x="6474620" y="645445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86897" y="8930"/>
                </a:moveTo>
                <a:lnTo>
                  <a:pt x="89297" y="8930"/>
                </a:lnTo>
                <a:cubicBezTo>
                  <a:pt x="99147" y="8930"/>
                  <a:pt x="107156" y="16939"/>
                  <a:pt x="107156" y="26789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26789"/>
                </a:lnTo>
                <a:cubicBezTo>
                  <a:pt x="0" y="16939"/>
                  <a:pt x="8009" y="8930"/>
                  <a:pt x="17859" y="8930"/>
                </a:cubicBezTo>
                <a:lnTo>
                  <a:pt x="20259" y="8930"/>
                </a:lnTo>
                <a:cubicBezTo>
                  <a:pt x="23329" y="3600"/>
                  <a:pt x="29105" y="0"/>
                  <a:pt x="35719" y="0"/>
                </a:cubicBezTo>
                <a:lnTo>
                  <a:pt x="71438" y="0"/>
                </a:lnTo>
                <a:cubicBezTo>
                  <a:pt x="78051" y="0"/>
                  <a:pt x="83827" y="3600"/>
                  <a:pt x="86897" y="8930"/>
                </a:cubicBezTo>
                <a:close/>
                <a:moveTo>
                  <a:pt x="69205" y="31254"/>
                </a:moveTo>
                <a:cubicBezTo>
                  <a:pt x="72916" y="31254"/>
                  <a:pt x="75902" y="28268"/>
                  <a:pt x="75902" y="24557"/>
                </a:cubicBezTo>
                <a:cubicBezTo>
                  <a:pt x="75902" y="20845"/>
                  <a:pt x="72916" y="17859"/>
                  <a:pt x="69205" y="17859"/>
                </a:cubicBezTo>
                <a:lnTo>
                  <a:pt x="37951" y="17859"/>
                </a:lnTo>
                <a:cubicBezTo>
                  <a:pt x="34240" y="17859"/>
                  <a:pt x="31254" y="20845"/>
                  <a:pt x="31254" y="24557"/>
                </a:cubicBezTo>
                <a:cubicBezTo>
                  <a:pt x="31254" y="28268"/>
                  <a:pt x="34240" y="31254"/>
                  <a:pt x="37951" y="31254"/>
                </a:cubicBezTo>
                <a:lnTo>
                  <a:pt x="69205" y="31254"/>
                </a:lnTo>
                <a:close/>
                <a:moveTo>
                  <a:pt x="77130" y="72749"/>
                </a:moveTo>
                <a:cubicBezTo>
                  <a:pt x="79084" y="69624"/>
                  <a:pt x="78135" y="65494"/>
                  <a:pt x="75009" y="63512"/>
                </a:cubicBezTo>
                <a:cubicBezTo>
                  <a:pt x="71884" y="61531"/>
                  <a:pt x="67754" y="62508"/>
                  <a:pt x="65773" y="65633"/>
                </a:cubicBezTo>
                <a:lnTo>
                  <a:pt x="48639" y="93064"/>
                </a:lnTo>
                <a:lnTo>
                  <a:pt x="41104" y="83018"/>
                </a:lnTo>
                <a:cubicBezTo>
                  <a:pt x="38872" y="80060"/>
                  <a:pt x="34686" y="79446"/>
                  <a:pt x="31728" y="81679"/>
                </a:cubicBezTo>
                <a:cubicBezTo>
                  <a:pt x="28770" y="83911"/>
                  <a:pt x="28156" y="88097"/>
                  <a:pt x="30389" y="91055"/>
                </a:cubicBezTo>
                <a:lnTo>
                  <a:pt x="43783" y="108914"/>
                </a:lnTo>
                <a:cubicBezTo>
                  <a:pt x="45095" y="110672"/>
                  <a:pt x="47216" y="111677"/>
                  <a:pt x="49420" y="111593"/>
                </a:cubicBezTo>
                <a:cubicBezTo>
                  <a:pt x="51625" y="111509"/>
                  <a:pt x="53634" y="110337"/>
                  <a:pt x="54806" y="108440"/>
                </a:cubicBezTo>
                <a:lnTo>
                  <a:pt x="77130" y="727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6780213" y="605758"/>
            <a:ext cx="881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MO专项机制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67463" y="939133"/>
            <a:ext cx="5492750" cy="365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按MO流程要求完成立项评审、方案评审、投标评审，将评审结果同步至1+2管理看板，作为指标管控的核心依据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65125" y="5076433"/>
            <a:ext cx="11541125" cy="1547813"/>
          </a:xfrm>
          <a:custGeom>
            <a:avLst/>
            <a:gdLst/>
            <a:ahLst/>
            <a:cxnLst/>
            <a:rect l="l" t="t" r="r" b="b"/>
            <a:pathLst>
              <a:path w="11541125" h="1547813">
                <a:moveTo>
                  <a:pt x="31750" y="0"/>
                </a:moveTo>
                <a:lnTo>
                  <a:pt x="11445873" y="0"/>
                </a:lnTo>
                <a:cubicBezTo>
                  <a:pt x="11498479" y="0"/>
                  <a:pt x="11541125" y="42646"/>
                  <a:pt x="11541125" y="95252"/>
                </a:cubicBezTo>
                <a:lnTo>
                  <a:pt x="11541125" y="1452560"/>
                </a:lnTo>
                <a:cubicBezTo>
                  <a:pt x="11541125" y="1505167"/>
                  <a:pt x="11498479" y="1547813"/>
                  <a:pt x="11445873" y="1547813"/>
                </a:cubicBezTo>
                <a:lnTo>
                  <a:pt x="31750" y="1547813"/>
                </a:lnTo>
                <a:cubicBezTo>
                  <a:pt x="14227" y="1547813"/>
                  <a:pt x="0" y="1533586"/>
                  <a:pt x="0" y="15160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365125" y="5076433"/>
            <a:ext cx="31750" cy="1547813"/>
          </a:xfrm>
          <a:custGeom>
            <a:avLst/>
            <a:gdLst/>
            <a:ahLst/>
            <a:cxnLst/>
            <a:rect l="l" t="t" r="r" b="b"/>
            <a:pathLst>
              <a:path w="31750" h="1547813">
                <a:moveTo>
                  <a:pt x="31750" y="0"/>
                </a:moveTo>
                <a:lnTo>
                  <a:pt x="31750" y="0"/>
                </a:lnTo>
                <a:lnTo>
                  <a:pt x="31750" y="1547813"/>
                </a:lnTo>
                <a:lnTo>
                  <a:pt x="31750" y="1547813"/>
                </a:lnTo>
                <a:cubicBezTo>
                  <a:pt x="14227" y="1547813"/>
                  <a:pt x="0" y="1533586"/>
                  <a:pt x="0" y="1516063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3" name="Shape 61"/>
          <p:cNvSpPr/>
          <p:nvPr/>
        </p:nvSpPr>
        <p:spPr>
          <a:xfrm>
            <a:off x="508000" y="52034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4" name="Shape 62"/>
          <p:cNvSpPr/>
          <p:nvPr/>
        </p:nvSpPr>
        <p:spPr>
          <a:xfrm>
            <a:off x="629047" y="5314558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76243" y="-8031"/>
                </a:moveTo>
                <a:cubicBezTo>
                  <a:pt x="72089" y="-10573"/>
                  <a:pt x="66849" y="-10573"/>
                  <a:pt x="62694" y="-8031"/>
                </a:cubicBezTo>
                <a:cubicBezTo>
                  <a:pt x="55128" y="-3411"/>
                  <a:pt x="50447" y="-2170"/>
                  <a:pt x="41579" y="-2356"/>
                </a:cubicBezTo>
                <a:cubicBezTo>
                  <a:pt x="36711" y="-2480"/>
                  <a:pt x="32184" y="155"/>
                  <a:pt x="29828" y="4434"/>
                </a:cubicBezTo>
                <a:cubicBezTo>
                  <a:pt x="25580" y="12216"/>
                  <a:pt x="22138" y="15658"/>
                  <a:pt x="14356" y="19906"/>
                </a:cubicBezTo>
                <a:cubicBezTo>
                  <a:pt x="10077" y="22231"/>
                  <a:pt x="7472" y="26789"/>
                  <a:pt x="7565" y="31657"/>
                </a:cubicBezTo>
                <a:cubicBezTo>
                  <a:pt x="7782" y="40525"/>
                  <a:pt x="6511" y="45207"/>
                  <a:pt x="1891" y="52772"/>
                </a:cubicBezTo>
                <a:cubicBezTo>
                  <a:pt x="-651" y="56927"/>
                  <a:pt x="-651" y="62167"/>
                  <a:pt x="1891" y="66322"/>
                </a:cubicBezTo>
                <a:cubicBezTo>
                  <a:pt x="6511" y="73887"/>
                  <a:pt x="7751" y="78569"/>
                  <a:pt x="7565" y="87437"/>
                </a:cubicBezTo>
                <a:cubicBezTo>
                  <a:pt x="7441" y="92304"/>
                  <a:pt x="10077" y="96831"/>
                  <a:pt x="14356" y="99188"/>
                </a:cubicBezTo>
                <a:cubicBezTo>
                  <a:pt x="21208" y="102939"/>
                  <a:pt x="24681" y="106040"/>
                  <a:pt x="28339" y="112055"/>
                </a:cubicBezTo>
                <a:lnTo>
                  <a:pt x="13240" y="142162"/>
                </a:lnTo>
                <a:cubicBezTo>
                  <a:pt x="11410" y="145852"/>
                  <a:pt x="12898" y="150316"/>
                  <a:pt x="16557" y="152146"/>
                </a:cubicBezTo>
                <a:lnTo>
                  <a:pt x="43222" y="165478"/>
                </a:lnTo>
                <a:cubicBezTo>
                  <a:pt x="46788" y="167246"/>
                  <a:pt x="51129" y="165912"/>
                  <a:pt x="53051" y="162440"/>
                </a:cubicBezTo>
                <a:lnTo>
                  <a:pt x="69422" y="132953"/>
                </a:lnTo>
                <a:lnTo>
                  <a:pt x="85793" y="162440"/>
                </a:lnTo>
                <a:cubicBezTo>
                  <a:pt x="87716" y="165912"/>
                  <a:pt x="92056" y="167277"/>
                  <a:pt x="95622" y="165478"/>
                </a:cubicBezTo>
                <a:lnTo>
                  <a:pt x="122287" y="152146"/>
                </a:lnTo>
                <a:cubicBezTo>
                  <a:pt x="125977" y="150316"/>
                  <a:pt x="127465" y="145852"/>
                  <a:pt x="125605" y="142162"/>
                </a:cubicBezTo>
                <a:lnTo>
                  <a:pt x="110536" y="112024"/>
                </a:lnTo>
                <a:cubicBezTo>
                  <a:pt x="114164" y="106009"/>
                  <a:pt x="117667" y="102908"/>
                  <a:pt x="124520" y="99157"/>
                </a:cubicBezTo>
                <a:cubicBezTo>
                  <a:pt x="128798" y="96831"/>
                  <a:pt x="131403" y="92273"/>
                  <a:pt x="131310" y="87406"/>
                </a:cubicBezTo>
                <a:cubicBezTo>
                  <a:pt x="131093" y="78538"/>
                  <a:pt x="132364" y="73856"/>
                  <a:pt x="136984" y="66291"/>
                </a:cubicBezTo>
                <a:cubicBezTo>
                  <a:pt x="139526" y="62136"/>
                  <a:pt x="139526" y="56896"/>
                  <a:pt x="136984" y="52741"/>
                </a:cubicBezTo>
                <a:cubicBezTo>
                  <a:pt x="132364" y="45176"/>
                  <a:pt x="131124" y="40494"/>
                  <a:pt x="131310" y="31626"/>
                </a:cubicBezTo>
                <a:cubicBezTo>
                  <a:pt x="131434" y="26758"/>
                  <a:pt x="128798" y="22231"/>
                  <a:pt x="124520" y="19875"/>
                </a:cubicBezTo>
                <a:cubicBezTo>
                  <a:pt x="116737" y="15627"/>
                  <a:pt x="113295" y="12185"/>
                  <a:pt x="109048" y="4403"/>
                </a:cubicBezTo>
                <a:cubicBezTo>
                  <a:pt x="106722" y="124"/>
                  <a:pt x="102164" y="-2480"/>
                  <a:pt x="97296" y="-2387"/>
                </a:cubicBezTo>
                <a:cubicBezTo>
                  <a:pt x="88429" y="-2170"/>
                  <a:pt x="83747" y="-3442"/>
                  <a:pt x="76181" y="-8062"/>
                </a:cubicBezTo>
                <a:close/>
                <a:moveTo>
                  <a:pt x="69453" y="29766"/>
                </a:moveTo>
                <a:cubicBezTo>
                  <a:pt x="85881" y="29766"/>
                  <a:pt x="99219" y="43103"/>
                  <a:pt x="99219" y="59531"/>
                </a:cubicBezTo>
                <a:cubicBezTo>
                  <a:pt x="99219" y="75959"/>
                  <a:pt x="85881" y="89297"/>
                  <a:pt x="69453" y="89297"/>
                </a:cubicBezTo>
                <a:cubicBezTo>
                  <a:pt x="53025" y="89297"/>
                  <a:pt x="39688" y="75959"/>
                  <a:pt x="39688" y="59531"/>
                </a:cubicBezTo>
                <a:cubicBezTo>
                  <a:pt x="39688" y="43103"/>
                  <a:pt x="53025" y="29766"/>
                  <a:pt x="69453" y="297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984250" y="5282808"/>
            <a:ext cx="2420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质量完结标准（1+2指标为核心）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514350" y="5686033"/>
            <a:ext cx="3656013" cy="806450"/>
          </a:xfrm>
          <a:custGeom>
            <a:avLst/>
            <a:gdLst/>
            <a:ahLst/>
            <a:cxnLst/>
            <a:rect l="l" t="t" r="r" b="b"/>
            <a:pathLst>
              <a:path w="3656013" h="806450">
                <a:moveTo>
                  <a:pt x="63500" y="0"/>
                </a:moveTo>
                <a:lnTo>
                  <a:pt x="3592513" y="0"/>
                </a:lnTo>
                <a:cubicBezTo>
                  <a:pt x="3627583" y="0"/>
                  <a:pt x="3656013" y="28430"/>
                  <a:pt x="3656013" y="63500"/>
                </a:cubicBezTo>
                <a:lnTo>
                  <a:pt x="3656013" y="742950"/>
                </a:lnTo>
                <a:cubicBezTo>
                  <a:pt x="3656013" y="778020"/>
                  <a:pt x="3627583" y="806450"/>
                  <a:pt x="3592513" y="806450"/>
                </a:cubicBezTo>
                <a:lnTo>
                  <a:pt x="63500" y="806450"/>
                </a:lnTo>
                <a:cubicBezTo>
                  <a:pt x="28430" y="806450"/>
                  <a:pt x="0" y="778020"/>
                  <a:pt x="0" y="7429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20320">
            <a:solidFill>
              <a:srgbClr val="22C55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5794" y="58035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4570" y="12402"/>
                </a:moveTo>
                <a:cubicBezTo>
                  <a:pt x="54570" y="8279"/>
                  <a:pt x="57888" y="4961"/>
                  <a:pt x="62012" y="4961"/>
                </a:cubicBezTo>
                <a:lnTo>
                  <a:pt x="66973" y="4961"/>
                </a:lnTo>
                <a:cubicBezTo>
                  <a:pt x="71096" y="4961"/>
                  <a:pt x="74414" y="8279"/>
                  <a:pt x="74414" y="12402"/>
                </a:cubicBezTo>
                <a:cubicBezTo>
                  <a:pt x="74414" y="16526"/>
                  <a:pt x="71096" y="19844"/>
                  <a:pt x="66973" y="19844"/>
                </a:cubicBezTo>
                <a:lnTo>
                  <a:pt x="62012" y="19844"/>
                </a:lnTo>
                <a:cubicBezTo>
                  <a:pt x="57888" y="19844"/>
                  <a:pt x="54570" y="16526"/>
                  <a:pt x="54570" y="12402"/>
                </a:cubicBezTo>
                <a:close/>
                <a:moveTo>
                  <a:pt x="62012" y="27285"/>
                </a:moveTo>
                <a:lnTo>
                  <a:pt x="66973" y="27285"/>
                </a:lnTo>
                <a:cubicBezTo>
                  <a:pt x="71096" y="27285"/>
                  <a:pt x="74414" y="30603"/>
                  <a:pt x="74414" y="34727"/>
                </a:cubicBezTo>
                <a:cubicBezTo>
                  <a:pt x="74414" y="38850"/>
                  <a:pt x="71096" y="42168"/>
                  <a:pt x="66973" y="42168"/>
                </a:cubicBezTo>
                <a:lnTo>
                  <a:pt x="62012" y="42168"/>
                </a:lnTo>
                <a:cubicBezTo>
                  <a:pt x="57888" y="42168"/>
                  <a:pt x="54570" y="38850"/>
                  <a:pt x="54570" y="34727"/>
                </a:cubicBezTo>
                <a:cubicBezTo>
                  <a:pt x="54570" y="30603"/>
                  <a:pt x="57888" y="27285"/>
                  <a:pt x="62012" y="27285"/>
                </a:cubicBezTo>
                <a:close/>
                <a:moveTo>
                  <a:pt x="17363" y="49609"/>
                </a:moveTo>
                <a:lnTo>
                  <a:pt x="22324" y="49609"/>
                </a:lnTo>
                <a:cubicBezTo>
                  <a:pt x="26448" y="49609"/>
                  <a:pt x="29766" y="52927"/>
                  <a:pt x="29766" y="57051"/>
                </a:cubicBezTo>
                <a:cubicBezTo>
                  <a:pt x="29766" y="61175"/>
                  <a:pt x="26448" y="64492"/>
                  <a:pt x="22324" y="64492"/>
                </a:cubicBezTo>
                <a:lnTo>
                  <a:pt x="17363" y="64492"/>
                </a:lnTo>
                <a:cubicBezTo>
                  <a:pt x="13240" y="64492"/>
                  <a:pt x="9922" y="61175"/>
                  <a:pt x="9922" y="57051"/>
                </a:cubicBezTo>
                <a:cubicBezTo>
                  <a:pt x="9922" y="52927"/>
                  <a:pt x="13240" y="49609"/>
                  <a:pt x="17363" y="49609"/>
                </a:cubicBezTo>
                <a:close/>
                <a:moveTo>
                  <a:pt x="0" y="87871"/>
                </a:moveTo>
                <a:cubicBezTo>
                  <a:pt x="0" y="83189"/>
                  <a:pt x="3814" y="79375"/>
                  <a:pt x="8496" y="79375"/>
                </a:cubicBezTo>
                <a:lnTo>
                  <a:pt x="150223" y="79375"/>
                </a:lnTo>
                <a:cubicBezTo>
                  <a:pt x="154905" y="79375"/>
                  <a:pt x="158719" y="83189"/>
                  <a:pt x="158719" y="87871"/>
                </a:cubicBezTo>
                <a:cubicBezTo>
                  <a:pt x="158719" y="109730"/>
                  <a:pt x="144952" y="128395"/>
                  <a:pt x="125636" y="135651"/>
                </a:cubicBezTo>
                <a:lnTo>
                  <a:pt x="125109" y="140146"/>
                </a:lnTo>
                <a:cubicBezTo>
                  <a:pt x="124489" y="145107"/>
                  <a:pt x="120272" y="148828"/>
                  <a:pt x="115249" y="148828"/>
                </a:cubicBezTo>
                <a:lnTo>
                  <a:pt x="43470" y="148828"/>
                </a:lnTo>
                <a:cubicBezTo>
                  <a:pt x="38478" y="148828"/>
                  <a:pt x="34230" y="145107"/>
                  <a:pt x="33610" y="140146"/>
                </a:cubicBezTo>
                <a:lnTo>
                  <a:pt x="33052" y="135682"/>
                </a:lnTo>
                <a:cubicBezTo>
                  <a:pt x="13767" y="128395"/>
                  <a:pt x="0" y="109730"/>
                  <a:pt x="0" y="87871"/>
                </a:cubicBezTo>
                <a:close/>
                <a:moveTo>
                  <a:pt x="69453" y="57051"/>
                </a:moveTo>
                <a:cubicBezTo>
                  <a:pt x="69453" y="52927"/>
                  <a:pt x="72771" y="49609"/>
                  <a:pt x="76895" y="49609"/>
                </a:cubicBezTo>
                <a:lnTo>
                  <a:pt x="81855" y="49609"/>
                </a:lnTo>
                <a:cubicBezTo>
                  <a:pt x="85979" y="49609"/>
                  <a:pt x="89297" y="52927"/>
                  <a:pt x="89297" y="57051"/>
                </a:cubicBezTo>
                <a:cubicBezTo>
                  <a:pt x="89297" y="61175"/>
                  <a:pt x="85979" y="64492"/>
                  <a:pt x="81855" y="64492"/>
                </a:cubicBezTo>
                <a:lnTo>
                  <a:pt x="76895" y="64492"/>
                </a:lnTo>
                <a:cubicBezTo>
                  <a:pt x="72771" y="64492"/>
                  <a:pt x="69453" y="61175"/>
                  <a:pt x="69453" y="57051"/>
                </a:cubicBezTo>
                <a:close/>
                <a:moveTo>
                  <a:pt x="39688" y="57051"/>
                </a:moveTo>
                <a:cubicBezTo>
                  <a:pt x="39688" y="52927"/>
                  <a:pt x="43005" y="49609"/>
                  <a:pt x="47129" y="49609"/>
                </a:cubicBezTo>
                <a:lnTo>
                  <a:pt x="52090" y="49609"/>
                </a:lnTo>
                <a:cubicBezTo>
                  <a:pt x="56214" y="49609"/>
                  <a:pt x="59531" y="52927"/>
                  <a:pt x="59531" y="57051"/>
                </a:cubicBezTo>
                <a:cubicBezTo>
                  <a:pt x="59531" y="61175"/>
                  <a:pt x="56214" y="64492"/>
                  <a:pt x="52090" y="64492"/>
                </a:cubicBezTo>
                <a:lnTo>
                  <a:pt x="47129" y="64492"/>
                </a:lnTo>
                <a:cubicBezTo>
                  <a:pt x="43005" y="64492"/>
                  <a:pt x="39688" y="61175"/>
                  <a:pt x="39688" y="57051"/>
                </a:cubicBezTo>
                <a:close/>
                <a:moveTo>
                  <a:pt x="32246" y="27285"/>
                </a:moveTo>
                <a:lnTo>
                  <a:pt x="37207" y="27285"/>
                </a:lnTo>
                <a:cubicBezTo>
                  <a:pt x="41331" y="27285"/>
                  <a:pt x="44648" y="30603"/>
                  <a:pt x="44648" y="34727"/>
                </a:cubicBezTo>
                <a:cubicBezTo>
                  <a:pt x="44648" y="38850"/>
                  <a:pt x="41331" y="42168"/>
                  <a:pt x="37207" y="42168"/>
                </a:cubicBezTo>
                <a:lnTo>
                  <a:pt x="32246" y="42168"/>
                </a:lnTo>
                <a:cubicBezTo>
                  <a:pt x="28122" y="42168"/>
                  <a:pt x="24805" y="38850"/>
                  <a:pt x="24805" y="34727"/>
                </a:cubicBezTo>
                <a:cubicBezTo>
                  <a:pt x="24805" y="30603"/>
                  <a:pt x="28122" y="27285"/>
                  <a:pt x="32246" y="27285"/>
                </a:cubicBezTo>
                <a:close/>
                <a:moveTo>
                  <a:pt x="99219" y="57051"/>
                </a:moveTo>
                <a:cubicBezTo>
                  <a:pt x="99219" y="52927"/>
                  <a:pt x="102536" y="49609"/>
                  <a:pt x="106660" y="49609"/>
                </a:cubicBezTo>
                <a:lnTo>
                  <a:pt x="111621" y="49609"/>
                </a:lnTo>
                <a:cubicBezTo>
                  <a:pt x="115745" y="49609"/>
                  <a:pt x="119062" y="52927"/>
                  <a:pt x="119062" y="57051"/>
                </a:cubicBezTo>
                <a:cubicBezTo>
                  <a:pt x="119062" y="61175"/>
                  <a:pt x="115745" y="64492"/>
                  <a:pt x="111621" y="64492"/>
                </a:cubicBezTo>
                <a:lnTo>
                  <a:pt x="106660" y="64492"/>
                </a:lnTo>
                <a:cubicBezTo>
                  <a:pt x="102536" y="64492"/>
                  <a:pt x="99219" y="61175"/>
                  <a:pt x="99219" y="57051"/>
                </a:cubicBezTo>
                <a:close/>
                <a:moveTo>
                  <a:pt x="91777" y="27285"/>
                </a:moveTo>
                <a:lnTo>
                  <a:pt x="96738" y="27285"/>
                </a:lnTo>
                <a:cubicBezTo>
                  <a:pt x="100862" y="27285"/>
                  <a:pt x="104180" y="30603"/>
                  <a:pt x="104180" y="34727"/>
                </a:cubicBezTo>
                <a:cubicBezTo>
                  <a:pt x="104180" y="38850"/>
                  <a:pt x="100862" y="42168"/>
                  <a:pt x="96738" y="42168"/>
                </a:cubicBezTo>
                <a:lnTo>
                  <a:pt x="91777" y="42168"/>
                </a:lnTo>
                <a:cubicBezTo>
                  <a:pt x="87654" y="42168"/>
                  <a:pt x="84336" y="38850"/>
                  <a:pt x="84336" y="34727"/>
                </a:cubicBezTo>
                <a:cubicBezTo>
                  <a:pt x="84336" y="30603"/>
                  <a:pt x="87654" y="27285"/>
                  <a:pt x="91777" y="27285"/>
                </a:cubicBezTo>
                <a:close/>
                <a:moveTo>
                  <a:pt x="128984" y="57051"/>
                </a:moveTo>
                <a:cubicBezTo>
                  <a:pt x="128984" y="52927"/>
                  <a:pt x="132302" y="49609"/>
                  <a:pt x="136426" y="49609"/>
                </a:cubicBezTo>
                <a:lnTo>
                  <a:pt x="141387" y="49609"/>
                </a:lnTo>
                <a:cubicBezTo>
                  <a:pt x="145510" y="49609"/>
                  <a:pt x="148828" y="52927"/>
                  <a:pt x="148828" y="57051"/>
                </a:cubicBezTo>
                <a:cubicBezTo>
                  <a:pt x="148828" y="61175"/>
                  <a:pt x="145510" y="64492"/>
                  <a:pt x="141387" y="64492"/>
                </a:cubicBezTo>
                <a:lnTo>
                  <a:pt x="136426" y="64492"/>
                </a:lnTo>
                <a:cubicBezTo>
                  <a:pt x="132302" y="64492"/>
                  <a:pt x="128984" y="61175"/>
                  <a:pt x="128984" y="57051"/>
                </a:cubicBezTo>
                <a:close/>
                <a:moveTo>
                  <a:pt x="121543" y="27285"/>
                </a:moveTo>
                <a:lnTo>
                  <a:pt x="126504" y="27285"/>
                </a:lnTo>
                <a:cubicBezTo>
                  <a:pt x="130628" y="27285"/>
                  <a:pt x="133945" y="30603"/>
                  <a:pt x="133945" y="34727"/>
                </a:cubicBezTo>
                <a:cubicBezTo>
                  <a:pt x="133945" y="38850"/>
                  <a:pt x="130628" y="42168"/>
                  <a:pt x="126504" y="42168"/>
                </a:cubicBezTo>
                <a:lnTo>
                  <a:pt x="121543" y="42168"/>
                </a:lnTo>
                <a:cubicBezTo>
                  <a:pt x="117419" y="42168"/>
                  <a:pt x="114102" y="38850"/>
                  <a:pt x="114102" y="34727"/>
                </a:cubicBezTo>
                <a:cubicBezTo>
                  <a:pt x="114102" y="30603"/>
                  <a:pt x="117419" y="27285"/>
                  <a:pt x="121543" y="27285"/>
                </a:cubicBezTo>
                <a:close/>
                <a:moveTo>
                  <a:pt x="91777" y="4961"/>
                </a:moveTo>
                <a:lnTo>
                  <a:pt x="96738" y="4961"/>
                </a:lnTo>
                <a:cubicBezTo>
                  <a:pt x="100862" y="4961"/>
                  <a:pt x="104180" y="8279"/>
                  <a:pt x="104180" y="12402"/>
                </a:cubicBezTo>
                <a:cubicBezTo>
                  <a:pt x="104180" y="16526"/>
                  <a:pt x="100862" y="19844"/>
                  <a:pt x="96738" y="19844"/>
                </a:cubicBezTo>
                <a:lnTo>
                  <a:pt x="91777" y="19844"/>
                </a:lnTo>
                <a:cubicBezTo>
                  <a:pt x="87654" y="19844"/>
                  <a:pt x="84336" y="16526"/>
                  <a:pt x="84336" y="12402"/>
                </a:cubicBezTo>
                <a:cubicBezTo>
                  <a:pt x="84336" y="8279"/>
                  <a:pt x="87654" y="4961"/>
                  <a:pt x="91777" y="496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8" name="Text 66"/>
          <p:cNvSpPr/>
          <p:nvPr/>
        </p:nvSpPr>
        <p:spPr>
          <a:xfrm>
            <a:off x="877887" y="5787638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本季度（碗里）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15950" y="6041638"/>
            <a:ext cx="350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准入：</a:t>
            </a: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MO立项商机清单、季度初预期目标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15950" y="6232138"/>
            <a:ext cx="350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22C5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准出：</a:t>
            </a: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季度预期兑现率达标、回款闭环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4313734" y="5686033"/>
            <a:ext cx="3656013" cy="806450"/>
          </a:xfrm>
          <a:custGeom>
            <a:avLst/>
            <a:gdLst/>
            <a:ahLst/>
            <a:cxnLst/>
            <a:rect l="l" t="t" r="r" b="b"/>
            <a:pathLst>
              <a:path w="3656013" h="806450">
                <a:moveTo>
                  <a:pt x="63500" y="0"/>
                </a:moveTo>
                <a:lnTo>
                  <a:pt x="3592513" y="0"/>
                </a:lnTo>
                <a:cubicBezTo>
                  <a:pt x="3627583" y="0"/>
                  <a:pt x="3656013" y="28430"/>
                  <a:pt x="3656013" y="63500"/>
                </a:cubicBezTo>
                <a:lnTo>
                  <a:pt x="3656013" y="742950"/>
                </a:lnTo>
                <a:cubicBezTo>
                  <a:pt x="3656013" y="778020"/>
                  <a:pt x="3627583" y="806450"/>
                  <a:pt x="3592513" y="806450"/>
                </a:cubicBezTo>
                <a:lnTo>
                  <a:pt x="63500" y="806450"/>
                </a:lnTo>
                <a:cubicBezTo>
                  <a:pt x="28430" y="806450"/>
                  <a:pt x="0" y="778020"/>
                  <a:pt x="0" y="7429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 w="20320">
            <a:solidFill>
              <a:srgbClr val="3B82F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435177" y="58035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20433" y="70848"/>
                </a:moveTo>
                <a:cubicBezTo>
                  <a:pt x="24557" y="42013"/>
                  <a:pt x="49392" y="19844"/>
                  <a:pt x="79375" y="19844"/>
                </a:cubicBezTo>
                <a:cubicBezTo>
                  <a:pt x="95808" y="19844"/>
                  <a:pt x="110691" y="26510"/>
                  <a:pt x="121481" y="37269"/>
                </a:cubicBezTo>
                <a:cubicBezTo>
                  <a:pt x="121543" y="37331"/>
                  <a:pt x="121605" y="37393"/>
                  <a:pt x="121667" y="37455"/>
                </a:cubicBezTo>
                <a:lnTo>
                  <a:pt x="124023" y="39688"/>
                </a:lnTo>
                <a:lnTo>
                  <a:pt x="109172" y="39688"/>
                </a:lnTo>
                <a:cubicBezTo>
                  <a:pt x="103684" y="39688"/>
                  <a:pt x="99250" y="44121"/>
                  <a:pt x="99250" y="49609"/>
                </a:cubicBezTo>
                <a:cubicBezTo>
                  <a:pt x="99250" y="55097"/>
                  <a:pt x="103684" y="59531"/>
                  <a:pt x="109172" y="59531"/>
                </a:cubicBezTo>
                <a:lnTo>
                  <a:pt x="148859" y="59531"/>
                </a:lnTo>
                <a:cubicBezTo>
                  <a:pt x="154347" y="59531"/>
                  <a:pt x="158781" y="55097"/>
                  <a:pt x="158781" y="49609"/>
                </a:cubicBezTo>
                <a:lnTo>
                  <a:pt x="158781" y="9922"/>
                </a:lnTo>
                <a:cubicBezTo>
                  <a:pt x="158781" y="4434"/>
                  <a:pt x="154347" y="0"/>
                  <a:pt x="148859" y="0"/>
                </a:cubicBezTo>
                <a:cubicBezTo>
                  <a:pt x="143371" y="0"/>
                  <a:pt x="138937" y="4434"/>
                  <a:pt x="138937" y="9922"/>
                </a:cubicBezTo>
                <a:lnTo>
                  <a:pt x="138937" y="26479"/>
                </a:lnTo>
                <a:lnTo>
                  <a:pt x="135434" y="23161"/>
                </a:lnTo>
                <a:cubicBezTo>
                  <a:pt x="121078" y="8868"/>
                  <a:pt x="101234" y="0"/>
                  <a:pt x="79375" y="0"/>
                </a:cubicBezTo>
                <a:cubicBezTo>
                  <a:pt x="39377" y="0"/>
                  <a:pt x="6294" y="29580"/>
                  <a:pt x="806" y="68058"/>
                </a:cubicBezTo>
                <a:cubicBezTo>
                  <a:pt x="31" y="73484"/>
                  <a:pt x="3783" y="78507"/>
                  <a:pt x="9209" y="79282"/>
                </a:cubicBezTo>
                <a:cubicBezTo>
                  <a:pt x="14635" y="80057"/>
                  <a:pt x="19658" y="76274"/>
                  <a:pt x="20433" y="70879"/>
                </a:cubicBezTo>
                <a:close/>
                <a:moveTo>
                  <a:pt x="157944" y="90692"/>
                </a:moveTo>
                <a:cubicBezTo>
                  <a:pt x="158719" y="85266"/>
                  <a:pt x="154936" y="80243"/>
                  <a:pt x="149541" y="79468"/>
                </a:cubicBezTo>
                <a:cubicBezTo>
                  <a:pt x="144146" y="78693"/>
                  <a:pt x="139092" y="82476"/>
                  <a:pt x="138317" y="87871"/>
                </a:cubicBezTo>
                <a:cubicBezTo>
                  <a:pt x="134193" y="116706"/>
                  <a:pt x="109358" y="138875"/>
                  <a:pt x="79375" y="138875"/>
                </a:cubicBezTo>
                <a:cubicBezTo>
                  <a:pt x="62942" y="138875"/>
                  <a:pt x="48059" y="132209"/>
                  <a:pt x="37269" y="121450"/>
                </a:cubicBezTo>
                <a:cubicBezTo>
                  <a:pt x="37207" y="121388"/>
                  <a:pt x="37145" y="121326"/>
                  <a:pt x="37083" y="121264"/>
                </a:cubicBezTo>
                <a:lnTo>
                  <a:pt x="34727" y="119031"/>
                </a:lnTo>
                <a:lnTo>
                  <a:pt x="49578" y="119031"/>
                </a:lnTo>
                <a:cubicBezTo>
                  <a:pt x="55066" y="119031"/>
                  <a:pt x="59500" y="114598"/>
                  <a:pt x="59500" y="109110"/>
                </a:cubicBezTo>
                <a:cubicBezTo>
                  <a:pt x="59500" y="103622"/>
                  <a:pt x="55066" y="99188"/>
                  <a:pt x="49578" y="99188"/>
                </a:cubicBezTo>
                <a:lnTo>
                  <a:pt x="9922" y="99219"/>
                </a:lnTo>
                <a:cubicBezTo>
                  <a:pt x="7286" y="99219"/>
                  <a:pt x="4744" y="100273"/>
                  <a:pt x="2884" y="102164"/>
                </a:cubicBezTo>
                <a:cubicBezTo>
                  <a:pt x="1023" y="104056"/>
                  <a:pt x="-31" y="106567"/>
                  <a:pt x="0" y="109234"/>
                </a:cubicBezTo>
                <a:lnTo>
                  <a:pt x="310" y="148611"/>
                </a:lnTo>
                <a:cubicBezTo>
                  <a:pt x="341" y="154099"/>
                  <a:pt x="4837" y="158502"/>
                  <a:pt x="10325" y="158440"/>
                </a:cubicBezTo>
                <a:cubicBezTo>
                  <a:pt x="15813" y="158378"/>
                  <a:pt x="20216" y="153913"/>
                  <a:pt x="20154" y="148425"/>
                </a:cubicBezTo>
                <a:lnTo>
                  <a:pt x="20030" y="132457"/>
                </a:lnTo>
                <a:lnTo>
                  <a:pt x="23347" y="135589"/>
                </a:lnTo>
                <a:cubicBezTo>
                  <a:pt x="37703" y="149882"/>
                  <a:pt x="57516" y="158750"/>
                  <a:pt x="79375" y="158750"/>
                </a:cubicBezTo>
                <a:cubicBezTo>
                  <a:pt x="119373" y="158750"/>
                  <a:pt x="152456" y="129170"/>
                  <a:pt x="157944" y="9069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3" name="Text 71"/>
          <p:cNvSpPr/>
          <p:nvPr/>
        </p:nvSpPr>
        <p:spPr>
          <a:xfrm>
            <a:off x="4677271" y="5787638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下季度（锅里）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4415334" y="6041638"/>
            <a:ext cx="350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准入：</a:t>
            </a: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下季度销量目标、MO在培育商机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415334" y="6232138"/>
            <a:ext cx="350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准出：</a:t>
            </a: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漏斗内金额≥目标×2.5、储备充足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113117" y="5686033"/>
            <a:ext cx="3656013" cy="806450"/>
          </a:xfrm>
          <a:custGeom>
            <a:avLst/>
            <a:gdLst/>
            <a:ahLst/>
            <a:cxnLst/>
            <a:rect l="l" t="t" r="r" b="b"/>
            <a:pathLst>
              <a:path w="3656013" h="806450">
                <a:moveTo>
                  <a:pt x="63500" y="0"/>
                </a:moveTo>
                <a:lnTo>
                  <a:pt x="3592513" y="0"/>
                </a:lnTo>
                <a:cubicBezTo>
                  <a:pt x="3627583" y="0"/>
                  <a:pt x="3656013" y="28430"/>
                  <a:pt x="3656013" y="63500"/>
                </a:cubicBezTo>
                <a:lnTo>
                  <a:pt x="3656013" y="742950"/>
                </a:lnTo>
                <a:cubicBezTo>
                  <a:pt x="3656013" y="778020"/>
                  <a:pt x="3627583" y="806450"/>
                  <a:pt x="3592513" y="806450"/>
                </a:cubicBezTo>
                <a:lnTo>
                  <a:pt x="63500" y="806450"/>
                </a:lnTo>
                <a:cubicBezTo>
                  <a:pt x="28430" y="806450"/>
                  <a:pt x="0" y="778020"/>
                  <a:pt x="0" y="7429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 w="20320">
            <a:solidFill>
              <a:srgbClr val="F59E0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34561" y="580351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58750" y="9922"/>
                </a:moveTo>
                <a:cubicBezTo>
                  <a:pt x="158750" y="43439"/>
                  <a:pt x="135000" y="71406"/>
                  <a:pt x="103436" y="77949"/>
                </a:cubicBezTo>
                <a:cubicBezTo>
                  <a:pt x="100986" y="59934"/>
                  <a:pt x="92894" y="43718"/>
                  <a:pt x="80956" y="31161"/>
                </a:cubicBezTo>
                <a:cubicBezTo>
                  <a:pt x="93390" y="12402"/>
                  <a:pt x="114691" y="0"/>
                  <a:pt x="138906" y="0"/>
                </a:cubicBezTo>
                <a:lnTo>
                  <a:pt x="148828" y="0"/>
                </a:lnTo>
                <a:cubicBezTo>
                  <a:pt x="154316" y="0"/>
                  <a:pt x="158750" y="4434"/>
                  <a:pt x="158750" y="9922"/>
                </a:cubicBezTo>
                <a:close/>
                <a:moveTo>
                  <a:pt x="0" y="29766"/>
                </a:moveTo>
                <a:cubicBezTo>
                  <a:pt x="0" y="24278"/>
                  <a:pt x="4434" y="19844"/>
                  <a:pt x="9922" y="19844"/>
                </a:cubicBezTo>
                <a:lnTo>
                  <a:pt x="19844" y="19844"/>
                </a:lnTo>
                <a:cubicBezTo>
                  <a:pt x="58198" y="19844"/>
                  <a:pt x="89297" y="50943"/>
                  <a:pt x="89297" y="89297"/>
                </a:cubicBezTo>
                <a:lnTo>
                  <a:pt x="89297" y="148828"/>
                </a:lnTo>
                <a:cubicBezTo>
                  <a:pt x="89297" y="154316"/>
                  <a:pt x="84863" y="158750"/>
                  <a:pt x="79375" y="158750"/>
                </a:cubicBezTo>
                <a:cubicBezTo>
                  <a:pt x="73887" y="158750"/>
                  <a:pt x="69453" y="154316"/>
                  <a:pt x="69453" y="148828"/>
                </a:cubicBezTo>
                <a:lnTo>
                  <a:pt x="69453" y="99219"/>
                </a:lnTo>
                <a:cubicBezTo>
                  <a:pt x="31099" y="99219"/>
                  <a:pt x="0" y="68120"/>
                  <a:pt x="0" y="29766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78" name="Text 76"/>
          <p:cNvSpPr/>
          <p:nvPr/>
        </p:nvSpPr>
        <p:spPr>
          <a:xfrm>
            <a:off x="8476655" y="5787638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下下季度（田里）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214718" y="6041638"/>
            <a:ext cx="350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准入：</a:t>
            </a: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下下季度目标规划、MO预立项商机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214718" y="6232138"/>
            <a:ext cx="3508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准出：</a:t>
            </a:r>
            <a:r>
              <a:rPr lang="en-US" sz="875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漏斗内金额≥目标×2.5、布局充足</a:t>
            </a:r>
            <a:endParaRPr lang="en-US" sz="1600" dirty="0"/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05" y="1506140"/>
            <a:ext cx="5709995" cy="3443623"/>
          </a:xfrm>
          <a:prstGeom prst="rect">
            <a:avLst/>
          </a:prstGeom>
        </p:spPr>
      </p:pic>
      <p:pic>
        <p:nvPicPr>
          <p:cNvPr id="82" name="图片 81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68905" y="85716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05 · 实施价值与展望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实施价值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2162175" cy="3619500"/>
          </a:xfrm>
          <a:custGeom>
            <a:avLst/>
            <a:gdLst/>
            <a:ahLst/>
            <a:cxnLst/>
            <a:rect l="l" t="t" r="r" b="b"/>
            <a:pathLst>
              <a:path w="2162175" h="36195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505207"/>
                </a:lnTo>
                <a:cubicBezTo>
                  <a:pt x="2162175" y="3568329"/>
                  <a:pt x="2111004" y="3619500"/>
                  <a:pt x="2047882" y="3619500"/>
                </a:cubicBezTo>
                <a:lnTo>
                  <a:pt x="114293" y="3619500"/>
                </a:lnTo>
                <a:cubicBezTo>
                  <a:pt x="51213" y="3619500"/>
                  <a:pt x="0" y="3568287"/>
                  <a:pt x="0" y="35052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906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7" name="Shape 5"/>
          <p:cNvSpPr/>
          <p:nvPr/>
        </p:nvSpPr>
        <p:spPr>
          <a:xfrm>
            <a:off x="115824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8" name="Text 6"/>
          <p:cNvSpPr/>
          <p:nvPr/>
        </p:nvSpPr>
        <p:spPr>
          <a:xfrm>
            <a:off x="1101090" y="15621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0538" y="2286000"/>
            <a:ext cx="1943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精准对齐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1+2管理口径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3400" y="2933700"/>
            <a:ext cx="19240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以三层漏斗为核心，MO流程仅作为动作支撑，不偏离管理主线，确保全区域执行口径统一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4896" y="467213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12" name="Text 10"/>
          <p:cNvSpPr/>
          <p:nvPr/>
        </p:nvSpPr>
        <p:spPr>
          <a:xfrm>
            <a:off x="1341596" y="4662608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40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口径统一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97480" y="1390650"/>
            <a:ext cx="2162175" cy="3619500"/>
          </a:xfrm>
          <a:custGeom>
            <a:avLst/>
            <a:gdLst/>
            <a:ahLst/>
            <a:cxnLst/>
            <a:rect l="l" t="t" r="r" b="b"/>
            <a:pathLst>
              <a:path w="2162175" h="36195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505207"/>
                </a:lnTo>
                <a:cubicBezTo>
                  <a:pt x="2162175" y="3568329"/>
                  <a:pt x="2111004" y="3619500"/>
                  <a:pt x="2047882" y="3619500"/>
                </a:cubicBezTo>
                <a:lnTo>
                  <a:pt x="114293" y="3619500"/>
                </a:lnTo>
                <a:cubicBezTo>
                  <a:pt x="51213" y="3619500"/>
                  <a:pt x="0" y="3568287"/>
                  <a:pt x="0" y="35052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7480" y="13906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347472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417570" y="15621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07018" y="2286000"/>
            <a:ext cx="1943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销售行为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全链路标准化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49880" y="2933700"/>
            <a:ext cx="19240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将MO关键动作嵌入1+2各工序环节，明确动作标准、执行顺序、质量要求，统一销售行为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80661" y="467213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475" y="32147"/>
                </a:moveTo>
                <a:cubicBezTo>
                  <a:pt x="134916" y="32147"/>
                  <a:pt x="129525" y="33654"/>
                  <a:pt x="124804" y="36400"/>
                </a:cubicBezTo>
                <a:cubicBezTo>
                  <a:pt x="119513" y="31042"/>
                  <a:pt x="113351" y="26555"/>
                  <a:pt x="106553" y="23173"/>
                </a:cubicBezTo>
                <a:cubicBezTo>
                  <a:pt x="115997" y="15136"/>
                  <a:pt x="128018" y="10716"/>
                  <a:pt x="140475" y="10716"/>
                </a:cubicBezTo>
                <a:cubicBezTo>
                  <a:pt x="169407" y="10716"/>
                  <a:pt x="192881" y="34156"/>
                  <a:pt x="192881" y="63122"/>
                </a:cubicBezTo>
                <a:cubicBezTo>
                  <a:pt x="192881" y="77019"/>
                  <a:pt x="187356" y="90346"/>
                  <a:pt x="177545" y="100158"/>
                </a:cubicBezTo>
                <a:lnTo>
                  <a:pt x="153736" y="123966"/>
                </a:lnTo>
                <a:cubicBezTo>
                  <a:pt x="143924" y="133778"/>
                  <a:pt x="130597" y="139303"/>
                  <a:pt x="116700" y="139303"/>
                </a:cubicBezTo>
                <a:cubicBezTo>
                  <a:pt x="87768" y="139303"/>
                  <a:pt x="64294" y="115863"/>
                  <a:pt x="64294" y="86897"/>
                </a:cubicBezTo>
                <a:cubicBezTo>
                  <a:pt x="64294" y="86395"/>
                  <a:pt x="64294" y="85892"/>
                  <a:pt x="64327" y="85390"/>
                </a:cubicBezTo>
                <a:cubicBezTo>
                  <a:pt x="64495" y="79463"/>
                  <a:pt x="69417" y="74808"/>
                  <a:pt x="75344" y="74976"/>
                </a:cubicBezTo>
                <a:cubicBezTo>
                  <a:pt x="81271" y="75143"/>
                  <a:pt x="85926" y="80066"/>
                  <a:pt x="85758" y="85993"/>
                </a:cubicBezTo>
                <a:cubicBezTo>
                  <a:pt x="85758" y="86294"/>
                  <a:pt x="85758" y="86596"/>
                  <a:pt x="85758" y="86864"/>
                </a:cubicBezTo>
                <a:cubicBezTo>
                  <a:pt x="85758" y="103975"/>
                  <a:pt x="99622" y="117838"/>
                  <a:pt x="116733" y="117838"/>
                </a:cubicBezTo>
                <a:cubicBezTo>
                  <a:pt x="124937" y="117838"/>
                  <a:pt x="132807" y="114590"/>
                  <a:pt x="138633" y="108764"/>
                </a:cubicBezTo>
                <a:lnTo>
                  <a:pt x="162442" y="84955"/>
                </a:lnTo>
                <a:cubicBezTo>
                  <a:pt x="168235" y="79162"/>
                  <a:pt x="171517" y="71259"/>
                  <a:pt x="171517" y="63055"/>
                </a:cubicBezTo>
                <a:cubicBezTo>
                  <a:pt x="171517" y="45943"/>
                  <a:pt x="157654" y="32080"/>
                  <a:pt x="140542" y="32080"/>
                </a:cubicBezTo>
                <a:close/>
                <a:moveTo>
                  <a:pt x="92154" y="58032"/>
                </a:moveTo>
                <a:cubicBezTo>
                  <a:pt x="91518" y="57764"/>
                  <a:pt x="90882" y="57396"/>
                  <a:pt x="90313" y="56994"/>
                </a:cubicBezTo>
                <a:cubicBezTo>
                  <a:pt x="86093" y="54817"/>
                  <a:pt x="81271" y="53578"/>
                  <a:pt x="76215" y="53578"/>
                </a:cubicBezTo>
                <a:cubicBezTo>
                  <a:pt x="68011" y="53578"/>
                  <a:pt x="60141" y="56826"/>
                  <a:pt x="54315" y="62653"/>
                </a:cubicBezTo>
                <a:lnTo>
                  <a:pt x="30506" y="86462"/>
                </a:lnTo>
                <a:cubicBezTo>
                  <a:pt x="24713" y="92255"/>
                  <a:pt x="21431" y="100158"/>
                  <a:pt x="21431" y="108362"/>
                </a:cubicBezTo>
                <a:cubicBezTo>
                  <a:pt x="21431" y="125473"/>
                  <a:pt x="35295" y="139337"/>
                  <a:pt x="52406" y="139337"/>
                </a:cubicBezTo>
                <a:cubicBezTo>
                  <a:pt x="57931" y="139337"/>
                  <a:pt x="63323" y="137863"/>
                  <a:pt x="68044" y="135117"/>
                </a:cubicBezTo>
                <a:cubicBezTo>
                  <a:pt x="73335" y="140475"/>
                  <a:pt x="79497" y="144962"/>
                  <a:pt x="86328" y="148344"/>
                </a:cubicBezTo>
                <a:cubicBezTo>
                  <a:pt x="76885" y="156348"/>
                  <a:pt x="64897" y="160801"/>
                  <a:pt x="52406" y="160801"/>
                </a:cubicBezTo>
                <a:cubicBezTo>
                  <a:pt x="23474" y="160801"/>
                  <a:pt x="0" y="137361"/>
                  <a:pt x="0" y="108395"/>
                </a:cubicBezTo>
                <a:cubicBezTo>
                  <a:pt x="0" y="94498"/>
                  <a:pt x="5525" y="81171"/>
                  <a:pt x="15337" y="71359"/>
                </a:cubicBezTo>
                <a:lnTo>
                  <a:pt x="39146" y="47551"/>
                </a:lnTo>
                <a:cubicBezTo>
                  <a:pt x="48957" y="37739"/>
                  <a:pt x="62285" y="32214"/>
                  <a:pt x="76181" y="32214"/>
                </a:cubicBezTo>
                <a:cubicBezTo>
                  <a:pt x="105181" y="32214"/>
                  <a:pt x="128588" y="55855"/>
                  <a:pt x="128588" y="84754"/>
                </a:cubicBezTo>
                <a:cubicBezTo>
                  <a:pt x="128588" y="85189"/>
                  <a:pt x="128588" y="85625"/>
                  <a:pt x="128588" y="86060"/>
                </a:cubicBezTo>
                <a:cubicBezTo>
                  <a:pt x="128454" y="91987"/>
                  <a:pt x="123531" y="96642"/>
                  <a:pt x="117604" y="96508"/>
                </a:cubicBezTo>
                <a:cubicBezTo>
                  <a:pt x="111677" y="96374"/>
                  <a:pt x="107022" y="91451"/>
                  <a:pt x="107156" y="85524"/>
                </a:cubicBezTo>
                <a:cubicBezTo>
                  <a:pt x="107156" y="85256"/>
                  <a:pt x="107156" y="85022"/>
                  <a:pt x="107156" y="84754"/>
                </a:cubicBezTo>
                <a:cubicBezTo>
                  <a:pt x="107156" y="73469"/>
                  <a:pt x="101129" y="63557"/>
                  <a:pt x="92154" y="5809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3658076" y="4662608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标准统一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13960" y="1390650"/>
            <a:ext cx="2162175" cy="3619500"/>
          </a:xfrm>
          <a:custGeom>
            <a:avLst/>
            <a:gdLst/>
            <a:ahLst/>
            <a:cxnLst/>
            <a:rect l="l" t="t" r="r" b="b"/>
            <a:pathLst>
              <a:path w="2162175" h="36195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505207"/>
                </a:lnTo>
                <a:cubicBezTo>
                  <a:pt x="2162175" y="3568329"/>
                  <a:pt x="2111004" y="3619500"/>
                  <a:pt x="2047882" y="3619500"/>
                </a:cubicBezTo>
                <a:lnTo>
                  <a:pt x="114293" y="3619500"/>
                </a:lnTo>
                <a:cubicBezTo>
                  <a:pt x="51213" y="3619500"/>
                  <a:pt x="0" y="3568287"/>
                  <a:pt x="0" y="35052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13960" y="13906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579120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734050" y="15621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3498" y="2286000"/>
            <a:ext cx="1943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工序内质量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自我完结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66360" y="2933700"/>
            <a:ext cx="19240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1+2各环节问题在本工序内识别、整改、闭环，避免问题后移，减少管理内耗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29288" y="4672133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83682" y="22369"/>
                </a:moveTo>
                <a:cubicBezTo>
                  <a:pt x="87165" y="17580"/>
                  <a:pt x="86093" y="10883"/>
                  <a:pt x="81305" y="7400"/>
                </a:cubicBezTo>
                <a:cubicBezTo>
                  <a:pt x="76516" y="3918"/>
                  <a:pt x="69819" y="4989"/>
                  <a:pt x="66336" y="9778"/>
                </a:cubicBezTo>
                <a:lnTo>
                  <a:pt x="30841" y="58568"/>
                </a:lnTo>
                <a:lnTo>
                  <a:pt x="18284" y="46010"/>
                </a:lnTo>
                <a:cubicBezTo>
                  <a:pt x="14098" y="41824"/>
                  <a:pt x="7300" y="41824"/>
                  <a:pt x="3114" y="46010"/>
                </a:cubicBezTo>
                <a:cubicBezTo>
                  <a:pt x="-1072" y="50196"/>
                  <a:pt x="-1072" y="56994"/>
                  <a:pt x="3114" y="61180"/>
                </a:cubicBezTo>
                <a:lnTo>
                  <a:pt x="24545" y="82611"/>
                </a:lnTo>
                <a:cubicBezTo>
                  <a:pt x="26756" y="84821"/>
                  <a:pt x="29836" y="85959"/>
                  <a:pt x="32951" y="85725"/>
                </a:cubicBezTo>
                <a:cubicBezTo>
                  <a:pt x="36065" y="85491"/>
                  <a:pt x="38945" y="83883"/>
                  <a:pt x="40786" y="81338"/>
                </a:cubicBezTo>
                <a:lnTo>
                  <a:pt x="83649" y="22402"/>
                </a:lnTo>
                <a:close/>
                <a:moveTo>
                  <a:pt x="126545" y="67910"/>
                </a:moveTo>
                <a:cubicBezTo>
                  <a:pt x="130027" y="63122"/>
                  <a:pt x="128956" y="56424"/>
                  <a:pt x="124167" y="52942"/>
                </a:cubicBezTo>
                <a:cubicBezTo>
                  <a:pt x="119379" y="49459"/>
                  <a:pt x="112681" y="50531"/>
                  <a:pt x="109199" y="55319"/>
                </a:cubicBezTo>
                <a:lnTo>
                  <a:pt x="52272" y="133577"/>
                </a:lnTo>
                <a:lnTo>
                  <a:pt x="28999" y="110304"/>
                </a:lnTo>
                <a:cubicBezTo>
                  <a:pt x="24813" y="106118"/>
                  <a:pt x="18016" y="106118"/>
                  <a:pt x="13830" y="110304"/>
                </a:cubicBezTo>
                <a:cubicBezTo>
                  <a:pt x="9644" y="114490"/>
                  <a:pt x="9644" y="121287"/>
                  <a:pt x="13830" y="125473"/>
                </a:cubicBezTo>
                <a:lnTo>
                  <a:pt x="45977" y="157620"/>
                </a:lnTo>
                <a:cubicBezTo>
                  <a:pt x="48187" y="159830"/>
                  <a:pt x="51268" y="160969"/>
                  <a:pt x="54382" y="160734"/>
                </a:cubicBezTo>
                <a:cubicBezTo>
                  <a:pt x="57496" y="160500"/>
                  <a:pt x="60376" y="158893"/>
                  <a:pt x="62218" y="156348"/>
                </a:cubicBezTo>
                <a:lnTo>
                  <a:pt x="126511" y="67944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5974556" y="4662608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59E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自我完结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30440" y="1390650"/>
            <a:ext cx="2162175" cy="3619500"/>
          </a:xfrm>
          <a:custGeom>
            <a:avLst/>
            <a:gdLst/>
            <a:ahLst/>
            <a:cxnLst/>
            <a:rect l="l" t="t" r="r" b="b"/>
            <a:pathLst>
              <a:path w="2162175" h="36195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505207"/>
                </a:lnTo>
                <a:cubicBezTo>
                  <a:pt x="2162175" y="3568329"/>
                  <a:pt x="2111004" y="3619500"/>
                  <a:pt x="2047882" y="3619500"/>
                </a:cubicBezTo>
                <a:lnTo>
                  <a:pt x="114293" y="3619500"/>
                </a:lnTo>
                <a:cubicBezTo>
                  <a:pt x="51213" y="3619500"/>
                  <a:pt x="0" y="3568287"/>
                  <a:pt x="0" y="35052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30440" y="13906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768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32" name="Text 30"/>
          <p:cNvSpPr/>
          <p:nvPr/>
        </p:nvSpPr>
        <p:spPr>
          <a:xfrm>
            <a:off x="8050530" y="15621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39978" y="2286000"/>
            <a:ext cx="1943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全周期指标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精准管控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82840" y="2933700"/>
            <a:ext cx="19240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从本季度兑现到下下季度长期布局，全链路嵌入MO流程管控，支撑1+2指标精准达成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024336" y="467213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1E40AF"/>
          </a:solidFill>
          <a:ln/>
        </p:spPr>
      </p:sp>
      <p:sp>
        <p:nvSpPr>
          <p:cNvPr id="36" name="Text 34"/>
          <p:cNvSpPr/>
          <p:nvPr/>
        </p:nvSpPr>
        <p:spPr>
          <a:xfrm>
            <a:off x="8291036" y="4662608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40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精准管控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646920" y="1390650"/>
            <a:ext cx="2162175" cy="3619500"/>
          </a:xfrm>
          <a:custGeom>
            <a:avLst/>
            <a:gdLst/>
            <a:ahLst/>
            <a:cxnLst/>
            <a:rect l="l" t="t" r="r" b="b"/>
            <a:pathLst>
              <a:path w="2162175" h="36195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505207"/>
                </a:lnTo>
                <a:cubicBezTo>
                  <a:pt x="2162175" y="3568329"/>
                  <a:pt x="2111004" y="3619500"/>
                  <a:pt x="2047882" y="3619500"/>
                </a:cubicBezTo>
                <a:lnTo>
                  <a:pt x="114293" y="3619500"/>
                </a:lnTo>
                <a:cubicBezTo>
                  <a:pt x="51213" y="3619500"/>
                  <a:pt x="0" y="3568287"/>
                  <a:pt x="0" y="350520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646920" y="13906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24160" y="1562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10367010" y="1562100"/>
            <a:ext cx="723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756458" y="2286000"/>
            <a:ext cx="1943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管理水平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持续提升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799320" y="2933700"/>
            <a:ext cx="19240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47556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通过自工序标准化，沉淀1+2+MO融合的管理方法论，推动业务良性循环与管理能力升级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330101" y="467213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53578"/>
                </a:moveTo>
                <a:cubicBezTo>
                  <a:pt x="122660" y="53578"/>
                  <a:pt x="117872" y="48790"/>
                  <a:pt x="117872" y="42863"/>
                </a:cubicBezTo>
                <a:cubicBezTo>
                  <a:pt x="117872" y="36935"/>
                  <a:pt x="122660" y="32147"/>
                  <a:pt x="128588" y="32147"/>
                </a:cubicBezTo>
                <a:lnTo>
                  <a:pt x="182166" y="32147"/>
                </a:lnTo>
                <a:cubicBezTo>
                  <a:pt x="188093" y="32147"/>
                  <a:pt x="192881" y="36935"/>
                  <a:pt x="192881" y="42863"/>
                </a:cubicBezTo>
                <a:lnTo>
                  <a:pt x="192881" y="96441"/>
                </a:lnTo>
                <a:cubicBezTo>
                  <a:pt x="192881" y="102368"/>
                  <a:pt x="188093" y="107156"/>
                  <a:pt x="182166" y="107156"/>
                </a:cubicBezTo>
                <a:cubicBezTo>
                  <a:pt x="176239" y="107156"/>
                  <a:pt x="171450" y="102368"/>
                  <a:pt x="171450" y="96441"/>
                </a:cubicBezTo>
                <a:lnTo>
                  <a:pt x="171450" y="68747"/>
                </a:lnTo>
                <a:lnTo>
                  <a:pt x="114724" y="125473"/>
                </a:lnTo>
                <a:cubicBezTo>
                  <a:pt x="110538" y="129659"/>
                  <a:pt x="103741" y="129659"/>
                  <a:pt x="99555" y="125473"/>
                </a:cubicBezTo>
                <a:lnTo>
                  <a:pt x="64294" y="90179"/>
                </a:lnTo>
                <a:lnTo>
                  <a:pt x="18284" y="136155"/>
                </a:lnTo>
                <a:cubicBezTo>
                  <a:pt x="14098" y="140341"/>
                  <a:pt x="7300" y="140341"/>
                  <a:pt x="3114" y="136155"/>
                </a:cubicBezTo>
                <a:cubicBezTo>
                  <a:pt x="-1072" y="131970"/>
                  <a:pt x="-1072" y="125172"/>
                  <a:pt x="3114" y="120986"/>
                </a:cubicBezTo>
                <a:lnTo>
                  <a:pt x="56692" y="67408"/>
                </a:lnTo>
                <a:cubicBezTo>
                  <a:pt x="60878" y="63222"/>
                  <a:pt x="67676" y="63222"/>
                  <a:pt x="71862" y="67408"/>
                </a:cubicBezTo>
                <a:lnTo>
                  <a:pt x="107156" y="102703"/>
                </a:lnTo>
                <a:lnTo>
                  <a:pt x="156281" y="53578"/>
                </a:lnTo>
                <a:lnTo>
                  <a:pt x="128588" y="53578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10607516" y="4662608"/>
            <a:ext cx="600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持续提升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1000" y="5157908"/>
            <a:ext cx="11430000" cy="1314450"/>
          </a:xfrm>
          <a:custGeom>
            <a:avLst/>
            <a:gdLst/>
            <a:ahLst/>
            <a:cxnLst/>
            <a:rect l="l" t="t" r="r" b="b"/>
            <a:pathLst>
              <a:path w="11430000" h="1314450">
                <a:moveTo>
                  <a:pt x="114305" y="0"/>
                </a:moveTo>
                <a:lnTo>
                  <a:pt x="11315695" y="0"/>
                </a:lnTo>
                <a:cubicBezTo>
                  <a:pt x="11378824" y="0"/>
                  <a:pt x="11430000" y="51176"/>
                  <a:pt x="11430000" y="114305"/>
                </a:cubicBezTo>
                <a:lnTo>
                  <a:pt x="11430000" y="1200145"/>
                </a:lnTo>
                <a:cubicBezTo>
                  <a:pt x="11430000" y="1263274"/>
                  <a:pt x="11378824" y="1314450"/>
                  <a:pt x="11315695" y="1314450"/>
                </a:cubicBezTo>
                <a:lnTo>
                  <a:pt x="114305" y="1314450"/>
                </a:lnTo>
                <a:cubicBezTo>
                  <a:pt x="51176" y="1314450"/>
                  <a:pt x="0" y="1263274"/>
                  <a:pt x="0" y="120014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1E40AF"/>
              </a:gs>
              <a:gs pos="100000">
                <a:srgbClr val="3B82F6"/>
              </a:gs>
            </a:gsLst>
            <a:lin ang="0" scaled="1"/>
          </a:gradFill>
          <a:ln/>
        </p:spPr>
      </p:sp>
      <p:sp>
        <p:nvSpPr>
          <p:cNvPr id="46" name="Shape 44"/>
          <p:cNvSpPr/>
          <p:nvPr/>
        </p:nvSpPr>
        <p:spPr>
          <a:xfrm>
            <a:off x="571500" y="5512594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35806" y="567451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1333500" y="5348408"/>
            <a:ext cx="1040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核心价值总结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333500" y="5729288"/>
            <a:ext cx="10372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通过自工序理念与1+2漏斗管理的深度融合，实现</a:t>
            </a:r>
            <a:r>
              <a:rPr lang="en-US" sz="1350" b="1" dirty="0">
                <a:solidFill>
                  <a:srgbClr val="FFFFFF"/>
                </a:solidFill>
                <a:highlight>
                  <a:srgbClr val="FFFFFF">
                    <a:alpha val="3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"工序内自我完结、一次做对、质量可控" </a:t>
            </a:r>
            <a:r>
              <a:rPr lang="en-US" sz="135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的销售管理体系，为销售漏斗管理的提升上一个新的台阶打好基础，支撑EBG业务持续健康发展。</a:t>
            </a:r>
            <a:endParaRPr lang="en-US" sz="1600" dirty="0"/>
          </a:p>
        </p:txBody>
      </p:sp>
      <p:pic>
        <p:nvPicPr>
          <p:cNvPr id="50" name="图片 49" descr="徽标&#10;&#10;描述已自动生成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ae00660d2a9d18ce0da834629f892f1c2448e96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9821" b="98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E40AF">
                  <a:alpha val="95000"/>
                </a:srgbClr>
              </a:gs>
              <a:gs pos="50000">
                <a:srgbClr val="3B82F6">
                  <a:alpha val="85000"/>
                </a:srgbClr>
              </a:gs>
              <a:gs pos="100000">
                <a:srgbClr val="1E40AF">
                  <a:alpha val="9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638800" y="106682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Shape 2"/>
          <p:cNvSpPr/>
          <p:nvPr/>
        </p:nvSpPr>
        <p:spPr>
          <a:xfrm>
            <a:off x="5867400" y="33528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3460075" y="1249682"/>
            <a:ext cx="52673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1F5F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做实做透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59E0B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质量跃升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545800" y="2907032"/>
            <a:ext cx="50958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以自工序理念为基石，构建1+2+MO融合管理体系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1F5F9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实现销售漏斗管理质的飞跃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19450" y="4263392"/>
            <a:ext cx="1760220" cy="1607820"/>
          </a:xfrm>
          <a:custGeom>
            <a:avLst/>
            <a:gdLst/>
            <a:ahLst/>
            <a:cxnLst/>
            <a:rect l="l" t="t" r="r" b="b"/>
            <a:pathLst>
              <a:path w="1760220" h="1607820">
                <a:moveTo>
                  <a:pt x="114300" y="0"/>
                </a:moveTo>
                <a:lnTo>
                  <a:pt x="1645920" y="0"/>
                </a:lnTo>
                <a:cubicBezTo>
                  <a:pt x="1709046" y="0"/>
                  <a:pt x="1760220" y="51174"/>
                  <a:pt x="1760220" y="114300"/>
                </a:cubicBezTo>
                <a:lnTo>
                  <a:pt x="1760220" y="1493520"/>
                </a:lnTo>
                <a:cubicBezTo>
                  <a:pt x="1760220" y="1556646"/>
                  <a:pt x="1709046" y="1607820"/>
                  <a:pt x="1645920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32860" y="4457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0" name="Shape 7"/>
          <p:cNvSpPr/>
          <p:nvPr/>
        </p:nvSpPr>
        <p:spPr>
          <a:xfrm>
            <a:off x="4013835" y="4610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11576" y="29825"/>
                </a:moveTo>
                <a:cubicBezTo>
                  <a:pt x="116220" y="23440"/>
                  <a:pt x="114791" y="14511"/>
                  <a:pt x="108406" y="9867"/>
                </a:cubicBezTo>
                <a:cubicBezTo>
                  <a:pt x="102022" y="5224"/>
                  <a:pt x="93092" y="6653"/>
                  <a:pt x="88449" y="13037"/>
                </a:cubicBezTo>
                <a:lnTo>
                  <a:pt x="41121" y="78090"/>
                </a:lnTo>
                <a:lnTo>
                  <a:pt x="24378" y="61347"/>
                </a:lnTo>
                <a:cubicBezTo>
                  <a:pt x="18797" y="55766"/>
                  <a:pt x="9733" y="55766"/>
                  <a:pt x="4152" y="61347"/>
                </a:cubicBezTo>
                <a:cubicBezTo>
                  <a:pt x="-1429" y="66928"/>
                  <a:pt x="-1429" y="75992"/>
                  <a:pt x="4152" y="81573"/>
                </a:cubicBezTo>
                <a:lnTo>
                  <a:pt x="32727" y="110148"/>
                </a:lnTo>
                <a:cubicBezTo>
                  <a:pt x="35674" y="113094"/>
                  <a:pt x="39782" y="114613"/>
                  <a:pt x="43934" y="114300"/>
                </a:cubicBezTo>
                <a:cubicBezTo>
                  <a:pt x="48086" y="113987"/>
                  <a:pt x="51926" y="111844"/>
                  <a:pt x="54382" y="108451"/>
                </a:cubicBezTo>
                <a:lnTo>
                  <a:pt x="111532" y="29870"/>
                </a:lnTo>
                <a:close/>
                <a:moveTo>
                  <a:pt x="168726" y="90547"/>
                </a:moveTo>
                <a:cubicBezTo>
                  <a:pt x="173370" y="84162"/>
                  <a:pt x="171941" y="75233"/>
                  <a:pt x="165556" y="70589"/>
                </a:cubicBezTo>
                <a:cubicBezTo>
                  <a:pt x="159172" y="65946"/>
                  <a:pt x="150242" y="67374"/>
                  <a:pt x="145599" y="73759"/>
                </a:cubicBezTo>
                <a:lnTo>
                  <a:pt x="69696" y="178103"/>
                </a:lnTo>
                <a:lnTo>
                  <a:pt x="38666" y="147072"/>
                </a:lnTo>
                <a:cubicBezTo>
                  <a:pt x="33084" y="141491"/>
                  <a:pt x="24021" y="141491"/>
                  <a:pt x="18440" y="147072"/>
                </a:cubicBezTo>
                <a:cubicBezTo>
                  <a:pt x="12859" y="152653"/>
                  <a:pt x="12859" y="161717"/>
                  <a:pt x="18440" y="167298"/>
                </a:cubicBezTo>
                <a:lnTo>
                  <a:pt x="61302" y="210160"/>
                </a:lnTo>
                <a:cubicBezTo>
                  <a:pt x="64249" y="213107"/>
                  <a:pt x="68357" y="214625"/>
                  <a:pt x="72509" y="214313"/>
                </a:cubicBezTo>
                <a:cubicBezTo>
                  <a:pt x="76661" y="214000"/>
                  <a:pt x="80501" y="211857"/>
                  <a:pt x="82957" y="208464"/>
                </a:cubicBezTo>
                <a:lnTo>
                  <a:pt x="168682" y="905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3370897" y="51054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工序内自我完结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75660" y="54483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一次做对，质量可控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15890" y="4263392"/>
            <a:ext cx="1760220" cy="1607820"/>
          </a:xfrm>
          <a:custGeom>
            <a:avLst/>
            <a:gdLst/>
            <a:ahLst/>
            <a:cxnLst/>
            <a:rect l="l" t="t" r="r" b="b"/>
            <a:pathLst>
              <a:path w="1760220" h="1607820">
                <a:moveTo>
                  <a:pt x="114300" y="0"/>
                </a:moveTo>
                <a:lnTo>
                  <a:pt x="1645920" y="0"/>
                </a:lnTo>
                <a:cubicBezTo>
                  <a:pt x="1709046" y="0"/>
                  <a:pt x="1760220" y="51174"/>
                  <a:pt x="1760220" y="114300"/>
                </a:cubicBezTo>
                <a:lnTo>
                  <a:pt x="1760220" y="1493520"/>
                </a:lnTo>
                <a:cubicBezTo>
                  <a:pt x="1760220" y="1556646"/>
                  <a:pt x="1709046" y="1607820"/>
                  <a:pt x="1645920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29300" y="4457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5" name="Shape 12"/>
          <p:cNvSpPr/>
          <p:nvPr/>
        </p:nvSpPr>
        <p:spPr>
          <a:xfrm>
            <a:off x="5981700" y="4610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367338" y="51054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业务良性循环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72100" y="54483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管理水平持续提升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212330" y="4263392"/>
            <a:ext cx="1760220" cy="1607820"/>
          </a:xfrm>
          <a:custGeom>
            <a:avLst/>
            <a:gdLst/>
            <a:ahLst/>
            <a:cxnLst/>
            <a:rect l="l" t="t" r="r" b="b"/>
            <a:pathLst>
              <a:path w="1760220" h="1607820">
                <a:moveTo>
                  <a:pt x="114300" y="0"/>
                </a:moveTo>
                <a:lnTo>
                  <a:pt x="1645920" y="0"/>
                </a:lnTo>
                <a:cubicBezTo>
                  <a:pt x="1709046" y="0"/>
                  <a:pt x="1760220" y="51174"/>
                  <a:pt x="1760220" y="114300"/>
                </a:cubicBezTo>
                <a:lnTo>
                  <a:pt x="1760220" y="1493520"/>
                </a:lnTo>
                <a:cubicBezTo>
                  <a:pt x="1760220" y="1556646"/>
                  <a:pt x="1709046" y="1607820"/>
                  <a:pt x="1645920" y="1607820"/>
                </a:cubicBezTo>
                <a:lnTo>
                  <a:pt x="114300" y="1607820"/>
                </a:lnTo>
                <a:cubicBezTo>
                  <a:pt x="51174" y="1607820"/>
                  <a:pt x="0" y="1556646"/>
                  <a:pt x="0" y="14935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25740" y="4457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0" name="Shape 17"/>
          <p:cNvSpPr/>
          <p:nvPr/>
        </p:nvSpPr>
        <p:spPr>
          <a:xfrm>
            <a:off x="7978140" y="4610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7363778" y="510540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1F5F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指标精准达成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68540" y="54483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支撑业务健康发展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607719" y="6256018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RUIJIE NETWORKS · 锐捷网络 EBG事业部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607719" y="6522718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1F5F9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2026年度销售管理体系升级</a:t>
            </a:r>
            <a:endParaRPr lang="en-US" sz="1600" dirty="0"/>
          </a:p>
        </p:txBody>
      </p:sp>
      <p:pic>
        <p:nvPicPr>
          <p:cNvPr id="25" name="图片 24" descr="徽标&#10;&#10;描述已自动生成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9954190" y="331372"/>
            <a:ext cx="2085672" cy="3544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1351</Words>
  <Application>Microsoft Office PowerPoint</Application>
  <PresentationFormat>宽屏</PresentationFormat>
  <Paragraphs>401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MiSans</vt:lpstr>
      <vt:lpstr>Alimama ShuHeiTi</vt:lpstr>
      <vt:lpstr>Calibri</vt:lpstr>
      <vt:lpstr>ZCOOL KuaiLe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EBG 2026年1+2销售管理・自工序完结细化方案</dc:title>
  <dc:subject>EBG 2026年1+2销售管理・自工序完结细化方案</dc:subject>
  <dc:creator>Kimi</dc:creator>
  <cp:lastModifiedBy>Lenovo</cp:lastModifiedBy>
  <cp:revision>9</cp:revision>
  <dcterms:created xsi:type="dcterms:W3CDTF">2026-04-13T07:54:19Z</dcterms:created>
  <dcterms:modified xsi:type="dcterms:W3CDTF">2026-04-14T00:21:14Z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{"Label":"EBG 2026年1+2销售管理・自工序完结细化方案","ContentProducer":"001191110108MACG2KBH8F10000","ProduceID":"19d85ca2-26c2-86b4-8000-00005bfebef9","ReservedCode1":"","ContentPropagator":"001191110108MACG2KBH8F20000","PropagateID":"19d85ca2-26c2-86b4-8000-00005bfebe</vt:lpwstr>
  </property>
</Properties>
</file>