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embeddedFontLst>
    <p:embeddedFont>
      <p:font typeface="MiSans" panose="02010600030101010101" charset="-122"/>
      <p:regular r:id="rId30"/>
    </p:embeddedFont>
    <p:embeddedFont>
      <p:font typeface="Calibri" panose="020F0502020204030204" pitchFamily="34" charset="0"/>
      <p:regular r:id="rId31"/>
      <p:bold r:id="rId32"/>
      <p:italic r:id="rId33"/>
      <p:boldItalic r:id="rId34"/>
    </p:embeddedFont>
  </p:embeddedFont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4" d="100"/>
          <a:sy n="84" d="100"/>
        </p:scale>
        <p:origin x="51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4.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3.fntdata"/><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font" Target="fonts/font1.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654061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PTIST_MASTER">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jpe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7.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2.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8.png"/><Relationship Id="rId4" Type="http://schemas.openxmlformats.org/officeDocument/2006/relationships/image" Target="../media/image17.jpeg"/></Relationships>
</file>

<file path=ppt/slides/_rels/slide9.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1.jpe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2.jpg"/></Relationships>
</file>

<file path=ppt/slides/_rels/slide1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2.png"/><Relationship Id="rId5" Type="http://schemas.openxmlformats.org/officeDocument/2006/relationships/image" Target="../media/image1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jpeg"/></Relationships>
</file>

<file path=ppt/slides/_rels/slide1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6.jpeg"/></Relationships>
</file>

<file path=ppt/slides/_rels/slide1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12.png"/></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12.png"/><Relationship Id="rId4" Type="http://schemas.openxmlformats.org/officeDocument/2006/relationships/image" Target="../media/image27.jpeg"/></Relationships>
</file>

<file path=ppt/slides/_rels/slide16.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28.jpeg"/><Relationship Id="rId4" Type="http://schemas.openxmlformats.org/officeDocument/2006/relationships/image" Target="../media/image7.png"/></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4.png"/></Relationships>
</file>

<file path=ppt/slides/_rels/slide18.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2.jpg"/></Relationships>
</file>

<file path=ppt/slides/_rels/slide1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12.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2.jpg"/></Relationships>
</file>

<file path=ppt/slides/_rels/slide2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0.png"/><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32.png"/><Relationship Id="rId4" Type="http://schemas.openxmlformats.org/officeDocument/2006/relationships/image" Target="../media/image31.jpeg"/></Relationships>
</file>

<file path=ppt/slides/_rels/slide2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jpeg"/></Relationships>
</file>

<file path=ppt/slides/_rels/slide2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9.png"/><Relationship Id="rId4" Type="http://schemas.openxmlformats.org/officeDocument/2006/relationships/image" Target="../media/image2.jpg"/></Relationships>
</file>

<file path=ppt/slides/_rels/slide2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6.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27.jpeg"/></Relationships>
</file>

<file path=ppt/slides/_rels/slide27.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2.jp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625475" y="1306195"/>
            <a:ext cx="7359015" cy="2221865"/>
          </a:xfrm>
          <a:prstGeom prst="rect">
            <a:avLst/>
          </a:prstGeom>
          <a:noFill/>
          <a:ln/>
        </p:spPr>
        <p:txBody>
          <a:bodyPr wrap="square" lIns="91440" tIns="45720" rIns="91440" bIns="45720" rtlCol="0" anchor="t">
            <a:spAutoFit/>
          </a:bodyPr>
          <a:lstStyle/>
          <a:p>
            <a:pPr>
              <a:lnSpc>
                <a:spcPct val="100000"/>
              </a:lnSpc>
            </a:pPr>
            <a:r>
              <a:rPr lang="en-US" sz="6600" b="1" dirty="0">
                <a:solidFill>
                  <a:srgbClr val="000000"/>
                </a:solidFill>
                <a:latin typeface="MiSans" pitchFamily="34" charset="0"/>
                <a:ea typeface="MiSans" pitchFamily="34" charset="-122"/>
                <a:cs typeface="MiSans" pitchFamily="34" charset="-120"/>
              </a:rPr>
              <a:t>锐捷EBG：AI赋能业务跃迁之路</a:t>
            </a:r>
            <a:endParaRPr lang="en-US" sz="1600" dirty="0"/>
          </a:p>
        </p:txBody>
      </p:sp>
      <p:pic>
        <p:nvPicPr>
          <p:cNvPr id="4" name="Image 1" descr="https://kimi-img.moonshot.cn/pub/slides/slides_tmpl/image/25-09-30-16:31:50-d3dpatgs8jdo4os5dgb0.png"/>
          <p:cNvPicPr>
            <a:picLocks noChangeAspect="1"/>
          </p:cNvPicPr>
          <p:nvPr/>
        </p:nvPicPr>
        <p:blipFill>
          <a:blip r:embed="rId5"/>
          <a:srcRect l="-4251" t="-10515" r="-1259" b="-11753"/>
          <a:stretch/>
        </p:blipFill>
        <p:spPr>
          <a:xfrm>
            <a:off x="743585" y="5060950"/>
            <a:ext cx="2561590" cy="753110"/>
          </a:xfrm>
          <a:prstGeom prst="rect">
            <a:avLst/>
          </a:prstGeom>
        </p:spPr>
      </p:pic>
      <p:sp>
        <p:nvSpPr>
          <p:cNvPr id="5" name="Text 1"/>
          <p:cNvSpPr/>
          <p:nvPr/>
        </p:nvSpPr>
        <p:spPr>
          <a:xfrm>
            <a:off x="743585" y="5234305"/>
            <a:ext cx="2561590" cy="400110"/>
          </a:xfrm>
          <a:prstGeom prst="rect">
            <a:avLst/>
          </a:prstGeom>
          <a:noFill/>
          <a:ln/>
        </p:spPr>
        <p:txBody>
          <a:bodyPr wrap="square" lIns="91440" tIns="45720" rIns="91440" bIns="45720" rtlCol="0" anchor="t">
            <a:spAutoFit/>
          </a:bodyPr>
          <a:lstStyle/>
          <a:p>
            <a:pPr algn="ctr">
              <a:lnSpc>
                <a:spcPct val="100000"/>
              </a:lnSpc>
            </a:pPr>
            <a:r>
              <a:rPr lang="en-US" sz="2000" dirty="0" err="1">
                <a:solidFill>
                  <a:srgbClr val="FFFFFF"/>
                </a:solidFill>
                <a:latin typeface="MiSans" pitchFamily="34" charset="0"/>
                <a:ea typeface="MiSans" pitchFamily="34" charset="-122"/>
                <a:cs typeface="MiSans" pitchFamily="34" charset="-120"/>
              </a:rPr>
              <a:t>汇报人</a:t>
            </a:r>
            <a:r>
              <a:rPr lang="en-US" sz="2000" dirty="0" smtClean="0">
                <a:solidFill>
                  <a:srgbClr val="FFFFFF"/>
                </a:solidFill>
                <a:latin typeface="MiSans" pitchFamily="34" charset="0"/>
                <a:ea typeface="MiSans" pitchFamily="34" charset="-122"/>
                <a:cs typeface="MiSans" pitchFamily="34" charset="-120"/>
              </a:rPr>
              <a:t>:</a:t>
            </a:r>
            <a:endParaRPr lang="en-US" sz="1600" dirty="0"/>
          </a:p>
        </p:txBody>
      </p:sp>
      <p:pic>
        <p:nvPicPr>
          <p:cNvPr id="6" name="Image 2" descr="https://kimi-img.moonshot.cn/pub/slides/slides_tmpl/image/25-09-30-16:31:50-d3dpatgs8jdo4os5dgb0.png"/>
          <p:cNvPicPr>
            <a:picLocks noChangeAspect="1"/>
          </p:cNvPicPr>
          <p:nvPr/>
        </p:nvPicPr>
        <p:blipFill>
          <a:blip r:embed="rId5"/>
          <a:srcRect l="-3093" t="-7577" r="-2849" b="-8754"/>
          <a:stretch/>
        </p:blipFill>
        <p:spPr>
          <a:xfrm>
            <a:off x="3312160" y="5060950"/>
            <a:ext cx="2702560" cy="753110"/>
          </a:xfrm>
          <a:prstGeom prst="rect">
            <a:avLst/>
          </a:prstGeom>
        </p:spPr>
      </p:pic>
      <p:sp>
        <p:nvSpPr>
          <p:cNvPr id="7" name="Text 2"/>
          <p:cNvSpPr/>
          <p:nvPr/>
        </p:nvSpPr>
        <p:spPr>
          <a:xfrm>
            <a:off x="3395980" y="5234305"/>
            <a:ext cx="2562225" cy="40011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时间:</a:t>
            </a:r>
            <a:r>
              <a:rPr lang="en-US" sz="2000" dirty="0" smtClean="0">
                <a:solidFill>
                  <a:srgbClr val="FFFFFF"/>
                </a:solidFill>
                <a:latin typeface="MiSans" pitchFamily="34" charset="0"/>
                <a:ea typeface="MiSans" pitchFamily="34" charset="-122"/>
                <a:cs typeface="MiSans" pitchFamily="34" charset="-120"/>
              </a:rPr>
              <a:t>2026/05/08</a:t>
            </a:r>
            <a:endParaRPr lang="en-US" sz="1600" dirty="0"/>
          </a:p>
        </p:txBody>
      </p:sp>
      <p:sp>
        <p:nvSpPr>
          <p:cNvPr id="8" name="Shape 3"/>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pic>
        <p:nvPicPr>
          <p:cNvPr id="9" name="Image 3" descr="https://kimi-img.moonshot.cn/pub/slides/slides_tmpl/image/25-09-30-16:31:50-d3dpatgs8jdo4os5dgbg.png"/>
          <p:cNvPicPr>
            <a:picLocks noChangeAspect="1"/>
          </p:cNvPicPr>
          <p:nvPr/>
        </p:nvPicPr>
        <p:blipFill>
          <a:blip r:embed="rId6"/>
          <a:stretch>
            <a:fillRect/>
          </a:stretch>
        </p:blipFill>
        <p:spPr>
          <a:xfrm rot="660000">
            <a:off x="7219950" y="1313815"/>
            <a:ext cx="4137025" cy="4790440"/>
          </a:xfrm>
          <a:prstGeom prst="rect">
            <a:avLst/>
          </a:prstGeom>
        </p:spPr>
      </p:pic>
      <p:sp>
        <p:nvSpPr>
          <p:cNvPr id="10" name="Shape 4"/>
          <p:cNvSpPr/>
          <p:nvPr/>
        </p:nvSpPr>
        <p:spPr>
          <a:xfrm>
            <a:off x="1818005" y="3602355"/>
            <a:ext cx="1160145" cy="822960"/>
          </a:xfrm>
          <a:custGeom>
            <a:avLst/>
            <a:gdLst/>
            <a:ahLst/>
            <a:cxnLst/>
            <a:rect l="l" t="t" r="r" b="b"/>
            <a:pathLst>
              <a:path w="1160145" h="822960">
                <a:moveTo>
                  <a:pt x="51650" y="29341"/>
                </a:moveTo>
                <a:cubicBezTo>
                  <a:pt x="51650" y="45609"/>
                  <a:pt x="39866" y="58797"/>
                  <a:pt x="25329" y="58797"/>
                </a:cubicBezTo>
                <a:cubicBezTo>
                  <a:pt x="10793" y="58797"/>
                  <a:pt x="-991" y="45609"/>
                  <a:pt x="-991" y="29341"/>
                </a:cubicBezTo>
                <a:cubicBezTo>
                  <a:pt x="-991" y="13073"/>
                  <a:pt x="10793" y="-115"/>
                  <a:pt x="25329" y="-115"/>
                </a:cubicBezTo>
                <a:cubicBezTo>
                  <a:pt x="39860" y="-123"/>
                  <a:pt x="51642" y="13053"/>
                  <a:pt x="51650" y="29313"/>
                </a:cubicBezTo>
                <a:cubicBezTo>
                  <a:pt x="51650" y="29323"/>
                  <a:pt x="51650" y="29332"/>
                  <a:pt x="51650" y="29341"/>
                </a:cubicBezTo>
                <a:close/>
                <a:moveTo>
                  <a:pt x="273361" y="29341"/>
                </a:moveTo>
                <a:cubicBezTo>
                  <a:pt x="273361" y="45609"/>
                  <a:pt x="261577" y="58797"/>
                  <a:pt x="247041" y="58797"/>
                </a:cubicBezTo>
                <a:cubicBezTo>
                  <a:pt x="232505" y="58797"/>
                  <a:pt x="220720" y="45609"/>
                  <a:pt x="220720" y="29341"/>
                </a:cubicBezTo>
                <a:cubicBezTo>
                  <a:pt x="220720" y="13073"/>
                  <a:pt x="232505" y="-115"/>
                  <a:pt x="247041" y="-115"/>
                </a:cubicBezTo>
                <a:cubicBezTo>
                  <a:pt x="261569" y="-96"/>
                  <a:pt x="273345" y="13081"/>
                  <a:pt x="273361" y="29341"/>
                </a:cubicBezTo>
                <a:close/>
                <a:moveTo>
                  <a:pt x="495012" y="29341"/>
                </a:moveTo>
                <a:cubicBezTo>
                  <a:pt x="495012" y="45609"/>
                  <a:pt x="483227" y="58797"/>
                  <a:pt x="468691" y="58797"/>
                </a:cubicBezTo>
                <a:cubicBezTo>
                  <a:pt x="454155" y="58797"/>
                  <a:pt x="442371" y="45609"/>
                  <a:pt x="442371" y="29341"/>
                </a:cubicBezTo>
                <a:cubicBezTo>
                  <a:pt x="442371" y="13073"/>
                  <a:pt x="454155" y="-115"/>
                  <a:pt x="468691" y="-115"/>
                </a:cubicBezTo>
                <a:cubicBezTo>
                  <a:pt x="483220" y="-123"/>
                  <a:pt x="495003" y="13053"/>
                  <a:pt x="495012" y="29313"/>
                </a:cubicBezTo>
                <a:cubicBezTo>
                  <a:pt x="495012" y="29323"/>
                  <a:pt x="495012" y="29332"/>
                  <a:pt x="495012" y="29341"/>
                </a:cubicBezTo>
                <a:close/>
                <a:moveTo>
                  <a:pt x="716723" y="29341"/>
                </a:moveTo>
                <a:cubicBezTo>
                  <a:pt x="716723" y="45609"/>
                  <a:pt x="704939" y="58797"/>
                  <a:pt x="690403" y="58797"/>
                </a:cubicBezTo>
                <a:cubicBezTo>
                  <a:pt x="675866" y="58797"/>
                  <a:pt x="664082" y="45609"/>
                  <a:pt x="664082" y="29341"/>
                </a:cubicBezTo>
                <a:cubicBezTo>
                  <a:pt x="664082" y="13073"/>
                  <a:pt x="675866" y="-115"/>
                  <a:pt x="690403" y="-115"/>
                </a:cubicBezTo>
                <a:cubicBezTo>
                  <a:pt x="704933" y="-123"/>
                  <a:pt x="716715" y="13053"/>
                  <a:pt x="716723" y="29313"/>
                </a:cubicBezTo>
                <a:cubicBezTo>
                  <a:pt x="716723" y="29323"/>
                  <a:pt x="716723" y="29332"/>
                  <a:pt x="716723" y="29341"/>
                </a:cubicBezTo>
                <a:close/>
                <a:moveTo>
                  <a:pt x="938435" y="29341"/>
                </a:moveTo>
                <a:cubicBezTo>
                  <a:pt x="938435" y="45609"/>
                  <a:pt x="926651" y="58797"/>
                  <a:pt x="912114" y="58797"/>
                </a:cubicBezTo>
                <a:cubicBezTo>
                  <a:pt x="897579" y="58797"/>
                  <a:pt x="885794" y="45609"/>
                  <a:pt x="885794" y="29341"/>
                </a:cubicBezTo>
                <a:cubicBezTo>
                  <a:pt x="885794" y="13073"/>
                  <a:pt x="897579" y="-115"/>
                  <a:pt x="912114" y="-115"/>
                </a:cubicBezTo>
                <a:cubicBezTo>
                  <a:pt x="926644" y="-123"/>
                  <a:pt x="938427" y="13053"/>
                  <a:pt x="938435" y="29313"/>
                </a:cubicBezTo>
                <a:cubicBezTo>
                  <a:pt x="938435" y="29323"/>
                  <a:pt x="938435" y="29332"/>
                  <a:pt x="938435" y="29341"/>
                </a:cubicBezTo>
                <a:close/>
                <a:moveTo>
                  <a:pt x="1160145" y="29341"/>
                </a:moveTo>
                <a:cubicBezTo>
                  <a:pt x="1160145" y="45609"/>
                  <a:pt x="1148361" y="58797"/>
                  <a:pt x="1133824" y="58797"/>
                </a:cubicBezTo>
                <a:cubicBezTo>
                  <a:pt x="1119288" y="58797"/>
                  <a:pt x="1107504" y="45609"/>
                  <a:pt x="1107504" y="29341"/>
                </a:cubicBezTo>
                <a:cubicBezTo>
                  <a:pt x="1107504" y="13073"/>
                  <a:pt x="1119288" y="-115"/>
                  <a:pt x="1133824" y="-115"/>
                </a:cubicBezTo>
                <a:cubicBezTo>
                  <a:pt x="1148353" y="-96"/>
                  <a:pt x="1160129" y="13081"/>
                  <a:pt x="1160145" y="29341"/>
                </a:cubicBezTo>
                <a:close/>
                <a:moveTo>
                  <a:pt x="51650" y="220382"/>
                </a:moveTo>
                <a:cubicBezTo>
                  <a:pt x="51650" y="236650"/>
                  <a:pt x="39866" y="249838"/>
                  <a:pt x="25329" y="249838"/>
                </a:cubicBezTo>
                <a:cubicBezTo>
                  <a:pt x="10793" y="249838"/>
                  <a:pt x="-991" y="236650"/>
                  <a:pt x="-991" y="220382"/>
                </a:cubicBezTo>
                <a:cubicBezTo>
                  <a:pt x="-991" y="204114"/>
                  <a:pt x="10793" y="190926"/>
                  <a:pt x="25329" y="190926"/>
                </a:cubicBezTo>
                <a:cubicBezTo>
                  <a:pt x="39860" y="190918"/>
                  <a:pt x="51642" y="204094"/>
                  <a:pt x="51650" y="220354"/>
                </a:cubicBezTo>
                <a:cubicBezTo>
                  <a:pt x="51650" y="220364"/>
                  <a:pt x="51650" y="220373"/>
                  <a:pt x="51650" y="220382"/>
                </a:cubicBezTo>
                <a:close/>
                <a:moveTo>
                  <a:pt x="273361" y="220382"/>
                </a:moveTo>
                <a:cubicBezTo>
                  <a:pt x="273361" y="236650"/>
                  <a:pt x="261577" y="249838"/>
                  <a:pt x="247041" y="249838"/>
                </a:cubicBezTo>
                <a:cubicBezTo>
                  <a:pt x="232505" y="249838"/>
                  <a:pt x="220720" y="236650"/>
                  <a:pt x="220720" y="220382"/>
                </a:cubicBezTo>
                <a:cubicBezTo>
                  <a:pt x="220720" y="204114"/>
                  <a:pt x="232505" y="190926"/>
                  <a:pt x="247041" y="190926"/>
                </a:cubicBezTo>
                <a:cubicBezTo>
                  <a:pt x="261569" y="190945"/>
                  <a:pt x="273345" y="204122"/>
                  <a:pt x="273361" y="220382"/>
                </a:cubicBezTo>
                <a:close/>
                <a:moveTo>
                  <a:pt x="495012" y="220382"/>
                </a:moveTo>
                <a:cubicBezTo>
                  <a:pt x="495012" y="236650"/>
                  <a:pt x="483227" y="249838"/>
                  <a:pt x="468691" y="249838"/>
                </a:cubicBezTo>
                <a:cubicBezTo>
                  <a:pt x="454155" y="249838"/>
                  <a:pt x="442371" y="236650"/>
                  <a:pt x="442371" y="220382"/>
                </a:cubicBezTo>
                <a:cubicBezTo>
                  <a:pt x="442371" y="204114"/>
                  <a:pt x="454155" y="190926"/>
                  <a:pt x="468691" y="190926"/>
                </a:cubicBezTo>
                <a:cubicBezTo>
                  <a:pt x="483220" y="190918"/>
                  <a:pt x="495003" y="204094"/>
                  <a:pt x="495012" y="220354"/>
                </a:cubicBezTo>
                <a:cubicBezTo>
                  <a:pt x="495012" y="220364"/>
                  <a:pt x="495012" y="220373"/>
                  <a:pt x="495012" y="220382"/>
                </a:cubicBezTo>
                <a:close/>
                <a:moveTo>
                  <a:pt x="716723" y="220382"/>
                </a:moveTo>
                <a:cubicBezTo>
                  <a:pt x="716723" y="236650"/>
                  <a:pt x="704939" y="249838"/>
                  <a:pt x="690403" y="249838"/>
                </a:cubicBezTo>
                <a:cubicBezTo>
                  <a:pt x="675866" y="249838"/>
                  <a:pt x="664082" y="236650"/>
                  <a:pt x="664082" y="220382"/>
                </a:cubicBezTo>
                <a:cubicBezTo>
                  <a:pt x="664082" y="204114"/>
                  <a:pt x="675866" y="190926"/>
                  <a:pt x="690403" y="190926"/>
                </a:cubicBezTo>
                <a:cubicBezTo>
                  <a:pt x="704933" y="190918"/>
                  <a:pt x="716715" y="204094"/>
                  <a:pt x="716723" y="220354"/>
                </a:cubicBezTo>
                <a:cubicBezTo>
                  <a:pt x="716723" y="220364"/>
                  <a:pt x="716723" y="220373"/>
                  <a:pt x="716723" y="220382"/>
                </a:cubicBezTo>
                <a:close/>
                <a:moveTo>
                  <a:pt x="938435" y="220382"/>
                </a:moveTo>
                <a:cubicBezTo>
                  <a:pt x="938435" y="236650"/>
                  <a:pt x="926651" y="249838"/>
                  <a:pt x="912114" y="249838"/>
                </a:cubicBezTo>
                <a:cubicBezTo>
                  <a:pt x="897579" y="249838"/>
                  <a:pt x="885794" y="236650"/>
                  <a:pt x="885794" y="220382"/>
                </a:cubicBezTo>
                <a:cubicBezTo>
                  <a:pt x="885794" y="204114"/>
                  <a:pt x="897579" y="190926"/>
                  <a:pt x="912114" y="190926"/>
                </a:cubicBezTo>
                <a:cubicBezTo>
                  <a:pt x="926644" y="190918"/>
                  <a:pt x="938427" y="204094"/>
                  <a:pt x="938435" y="220354"/>
                </a:cubicBezTo>
                <a:cubicBezTo>
                  <a:pt x="938435" y="220364"/>
                  <a:pt x="938435" y="220373"/>
                  <a:pt x="938435" y="220382"/>
                </a:cubicBezTo>
                <a:close/>
                <a:moveTo>
                  <a:pt x="1160145" y="220382"/>
                </a:moveTo>
                <a:cubicBezTo>
                  <a:pt x="1160145" y="236650"/>
                  <a:pt x="1148361" y="249838"/>
                  <a:pt x="1133824" y="249838"/>
                </a:cubicBezTo>
                <a:cubicBezTo>
                  <a:pt x="1119288" y="249838"/>
                  <a:pt x="1107504" y="236650"/>
                  <a:pt x="1107504" y="220382"/>
                </a:cubicBezTo>
                <a:cubicBezTo>
                  <a:pt x="1107504" y="204114"/>
                  <a:pt x="1119288" y="190926"/>
                  <a:pt x="1133824" y="190926"/>
                </a:cubicBezTo>
                <a:cubicBezTo>
                  <a:pt x="1148353" y="190945"/>
                  <a:pt x="1160129" y="204122"/>
                  <a:pt x="1160145" y="220382"/>
                </a:cubicBezTo>
                <a:close/>
                <a:moveTo>
                  <a:pt x="51650" y="411423"/>
                </a:moveTo>
                <a:cubicBezTo>
                  <a:pt x="51650" y="427691"/>
                  <a:pt x="39866" y="440878"/>
                  <a:pt x="25329" y="440878"/>
                </a:cubicBezTo>
                <a:cubicBezTo>
                  <a:pt x="10793" y="440878"/>
                  <a:pt x="-991" y="427691"/>
                  <a:pt x="-991" y="411423"/>
                </a:cubicBezTo>
                <a:cubicBezTo>
                  <a:pt x="-991" y="395154"/>
                  <a:pt x="10793" y="381967"/>
                  <a:pt x="25329" y="381967"/>
                </a:cubicBezTo>
                <a:cubicBezTo>
                  <a:pt x="39860" y="381959"/>
                  <a:pt x="51642" y="395134"/>
                  <a:pt x="51650" y="411394"/>
                </a:cubicBezTo>
                <a:cubicBezTo>
                  <a:pt x="51650" y="411403"/>
                  <a:pt x="51650" y="411413"/>
                  <a:pt x="51650" y="411423"/>
                </a:cubicBezTo>
                <a:close/>
                <a:moveTo>
                  <a:pt x="273361" y="411423"/>
                </a:moveTo>
                <a:cubicBezTo>
                  <a:pt x="273361" y="427691"/>
                  <a:pt x="261577" y="440878"/>
                  <a:pt x="247041" y="440878"/>
                </a:cubicBezTo>
                <a:cubicBezTo>
                  <a:pt x="232505" y="440878"/>
                  <a:pt x="220720" y="427691"/>
                  <a:pt x="220720" y="411423"/>
                </a:cubicBezTo>
                <a:cubicBezTo>
                  <a:pt x="220720" y="395154"/>
                  <a:pt x="232505" y="381967"/>
                  <a:pt x="247041" y="381967"/>
                </a:cubicBezTo>
                <a:cubicBezTo>
                  <a:pt x="261569" y="381986"/>
                  <a:pt x="273345" y="395162"/>
                  <a:pt x="273361" y="411423"/>
                </a:cubicBezTo>
                <a:close/>
                <a:moveTo>
                  <a:pt x="495012" y="411423"/>
                </a:moveTo>
                <a:cubicBezTo>
                  <a:pt x="495012" y="427691"/>
                  <a:pt x="483227" y="440878"/>
                  <a:pt x="468691" y="440878"/>
                </a:cubicBezTo>
                <a:cubicBezTo>
                  <a:pt x="454155" y="440878"/>
                  <a:pt x="442371" y="427691"/>
                  <a:pt x="442371" y="411423"/>
                </a:cubicBezTo>
                <a:cubicBezTo>
                  <a:pt x="442371" y="395154"/>
                  <a:pt x="454155" y="381967"/>
                  <a:pt x="468691" y="381967"/>
                </a:cubicBezTo>
                <a:cubicBezTo>
                  <a:pt x="483220" y="381959"/>
                  <a:pt x="495003" y="395134"/>
                  <a:pt x="495012" y="411394"/>
                </a:cubicBezTo>
                <a:cubicBezTo>
                  <a:pt x="495012" y="411403"/>
                  <a:pt x="495012" y="411413"/>
                  <a:pt x="495012" y="411423"/>
                </a:cubicBezTo>
                <a:close/>
                <a:moveTo>
                  <a:pt x="716723" y="411423"/>
                </a:moveTo>
                <a:cubicBezTo>
                  <a:pt x="716723" y="427691"/>
                  <a:pt x="704939" y="440878"/>
                  <a:pt x="690403" y="440878"/>
                </a:cubicBezTo>
                <a:cubicBezTo>
                  <a:pt x="675866" y="440878"/>
                  <a:pt x="664082" y="427691"/>
                  <a:pt x="664082" y="411423"/>
                </a:cubicBezTo>
                <a:cubicBezTo>
                  <a:pt x="664082" y="395154"/>
                  <a:pt x="675866" y="381967"/>
                  <a:pt x="690403" y="381967"/>
                </a:cubicBezTo>
                <a:cubicBezTo>
                  <a:pt x="704933" y="381959"/>
                  <a:pt x="716715" y="395134"/>
                  <a:pt x="716723" y="411394"/>
                </a:cubicBezTo>
                <a:cubicBezTo>
                  <a:pt x="716723" y="411403"/>
                  <a:pt x="716723" y="411413"/>
                  <a:pt x="716723" y="411423"/>
                </a:cubicBezTo>
                <a:close/>
                <a:moveTo>
                  <a:pt x="938435" y="411423"/>
                </a:moveTo>
                <a:cubicBezTo>
                  <a:pt x="938435" y="427691"/>
                  <a:pt x="926651" y="440878"/>
                  <a:pt x="912114" y="440878"/>
                </a:cubicBezTo>
                <a:cubicBezTo>
                  <a:pt x="897579" y="440878"/>
                  <a:pt x="885794" y="427691"/>
                  <a:pt x="885794" y="411423"/>
                </a:cubicBezTo>
                <a:cubicBezTo>
                  <a:pt x="885794" y="395154"/>
                  <a:pt x="897579" y="381967"/>
                  <a:pt x="912114" y="381967"/>
                </a:cubicBezTo>
                <a:cubicBezTo>
                  <a:pt x="926644" y="381959"/>
                  <a:pt x="938427" y="395134"/>
                  <a:pt x="938435" y="411394"/>
                </a:cubicBezTo>
                <a:cubicBezTo>
                  <a:pt x="938435" y="411403"/>
                  <a:pt x="938435" y="411413"/>
                  <a:pt x="938435" y="411423"/>
                </a:cubicBezTo>
                <a:close/>
                <a:moveTo>
                  <a:pt x="1160145" y="411423"/>
                </a:moveTo>
                <a:cubicBezTo>
                  <a:pt x="1160145" y="427691"/>
                  <a:pt x="1148361" y="440878"/>
                  <a:pt x="1133824" y="440878"/>
                </a:cubicBezTo>
                <a:cubicBezTo>
                  <a:pt x="1119288" y="440878"/>
                  <a:pt x="1107504" y="427691"/>
                  <a:pt x="1107504" y="411423"/>
                </a:cubicBezTo>
                <a:cubicBezTo>
                  <a:pt x="1107504" y="395154"/>
                  <a:pt x="1119288" y="381967"/>
                  <a:pt x="1133824" y="381967"/>
                </a:cubicBezTo>
                <a:cubicBezTo>
                  <a:pt x="1148353" y="381986"/>
                  <a:pt x="1160129" y="395162"/>
                  <a:pt x="1160145" y="411423"/>
                </a:cubicBezTo>
                <a:close/>
                <a:moveTo>
                  <a:pt x="51650" y="602463"/>
                </a:moveTo>
                <a:cubicBezTo>
                  <a:pt x="51650" y="618731"/>
                  <a:pt x="39866" y="631919"/>
                  <a:pt x="25329" y="631919"/>
                </a:cubicBezTo>
                <a:cubicBezTo>
                  <a:pt x="10793" y="631919"/>
                  <a:pt x="-991" y="618731"/>
                  <a:pt x="-991" y="602463"/>
                </a:cubicBezTo>
                <a:cubicBezTo>
                  <a:pt x="-991" y="586195"/>
                  <a:pt x="10793" y="573007"/>
                  <a:pt x="25329" y="573007"/>
                </a:cubicBezTo>
                <a:cubicBezTo>
                  <a:pt x="39860" y="572999"/>
                  <a:pt x="51642" y="586175"/>
                  <a:pt x="51650" y="602435"/>
                </a:cubicBezTo>
                <a:cubicBezTo>
                  <a:pt x="51650" y="602445"/>
                  <a:pt x="51650" y="602454"/>
                  <a:pt x="51650" y="602463"/>
                </a:cubicBezTo>
                <a:close/>
                <a:moveTo>
                  <a:pt x="273361" y="602463"/>
                </a:moveTo>
                <a:cubicBezTo>
                  <a:pt x="273361" y="618731"/>
                  <a:pt x="261577" y="631919"/>
                  <a:pt x="247041" y="631919"/>
                </a:cubicBezTo>
                <a:cubicBezTo>
                  <a:pt x="232505" y="631919"/>
                  <a:pt x="220720" y="618731"/>
                  <a:pt x="220720" y="602463"/>
                </a:cubicBezTo>
                <a:cubicBezTo>
                  <a:pt x="220720" y="586195"/>
                  <a:pt x="232505" y="573007"/>
                  <a:pt x="247041" y="573007"/>
                </a:cubicBezTo>
                <a:cubicBezTo>
                  <a:pt x="261569" y="573027"/>
                  <a:pt x="273345" y="586203"/>
                  <a:pt x="273361" y="602463"/>
                </a:cubicBezTo>
                <a:close/>
                <a:moveTo>
                  <a:pt x="495012" y="602463"/>
                </a:moveTo>
                <a:cubicBezTo>
                  <a:pt x="495012" y="618731"/>
                  <a:pt x="483227" y="631919"/>
                  <a:pt x="468691" y="631919"/>
                </a:cubicBezTo>
                <a:cubicBezTo>
                  <a:pt x="454155" y="631919"/>
                  <a:pt x="442371" y="618731"/>
                  <a:pt x="442371" y="602463"/>
                </a:cubicBezTo>
                <a:cubicBezTo>
                  <a:pt x="442371" y="586195"/>
                  <a:pt x="454155" y="573007"/>
                  <a:pt x="468691" y="573007"/>
                </a:cubicBezTo>
                <a:cubicBezTo>
                  <a:pt x="483220" y="572999"/>
                  <a:pt x="495003" y="586175"/>
                  <a:pt x="495012" y="602435"/>
                </a:cubicBezTo>
                <a:cubicBezTo>
                  <a:pt x="495012" y="602445"/>
                  <a:pt x="495012" y="602454"/>
                  <a:pt x="495012" y="602463"/>
                </a:cubicBezTo>
                <a:close/>
                <a:moveTo>
                  <a:pt x="716723" y="602463"/>
                </a:moveTo>
                <a:cubicBezTo>
                  <a:pt x="716723" y="618731"/>
                  <a:pt x="704939" y="631919"/>
                  <a:pt x="690403" y="631919"/>
                </a:cubicBezTo>
                <a:cubicBezTo>
                  <a:pt x="675866" y="631919"/>
                  <a:pt x="664082" y="618731"/>
                  <a:pt x="664082" y="602463"/>
                </a:cubicBezTo>
                <a:cubicBezTo>
                  <a:pt x="664082" y="586195"/>
                  <a:pt x="675866" y="573007"/>
                  <a:pt x="690403" y="573007"/>
                </a:cubicBezTo>
                <a:cubicBezTo>
                  <a:pt x="704933" y="572999"/>
                  <a:pt x="716715" y="586175"/>
                  <a:pt x="716723" y="602435"/>
                </a:cubicBezTo>
                <a:cubicBezTo>
                  <a:pt x="716723" y="602445"/>
                  <a:pt x="716723" y="602454"/>
                  <a:pt x="716723" y="602463"/>
                </a:cubicBezTo>
                <a:close/>
                <a:moveTo>
                  <a:pt x="938435" y="602463"/>
                </a:moveTo>
                <a:cubicBezTo>
                  <a:pt x="938435" y="618731"/>
                  <a:pt x="926651" y="631919"/>
                  <a:pt x="912114" y="631919"/>
                </a:cubicBezTo>
                <a:cubicBezTo>
                  <a:pt x="897579" y="631919"/>
                  <a:pt x="885794" y="618731"/>
                  <a:pt x="885794" y="602463"/>
                </a:cubicBezTo>
                <a:cubicBezTo>
                  <a:pt x="885794" y="586195"/>
                  <a:pt x="897579" y="573007"/>
                  <a:pt x="912114" y="573007"/>
                </a:cubicBezTo>
                <a:cubicBezTo>
                  <a:pt x="926644" y="572999"/>
                  <a:pt x="938427" y="586175"/>
                  <a:pt x="938435" y="602435"/>
                </a:cubicBezTo>
                <a:cubicBezTo>
                  <a:pt x="938435" y="602445"/>
                  <a:pt x="938435" y="602454"/>
                  <a:pt x="938435" y="602463"/>
                </a:cubicBezTo>
                <a:close/>
                <a:moveTo>
                  <a:pt x="1160145" y="602463"/>
                </a:moveTo>
                <a:cubicBezTo>
                  <a:pt x="1160145" y="618731"/>
                  <a:pt x="1148361" y="631919"/>
                  <a:pt x="1133824" y="631919"/>
                </a:cubicBezTo>
                <a:cubicBezTo>
                  <a:pt x="1119288" y="631919"/>
                  <a:pt x="1107504" y="618731"/>
                  <a:pt x="1107504" y="602463"/>
                </a:cubicBezTo>
                <a:cubicBezTo>
                  <a:pt x="1107504" y="586195"/>
                  <a:pt x="1119288" y="573007"/>
                  <a:pt x="1133824" y="573007"/>
                </a:cubicBezTo>
                <a:cubicBezTo>
                  <a:pt x="1148353" y="573027"/>
                  <a:pt x="1160129" y="586203"/>
                  <a:pt x="1160145" y="602463"/>
                </a:cubicBezTo>
                <a:close/>
                <a:moveTo>
                  <a:pt x="51650" y="793504"/>
                </a:moveTo>
                <a:cubicBezTo>
                  <a:pt x="51650" y="809772"/>
                  <a:pt x="39866" y="822960"/>
                  <a:pt x="25329" y="822960"/>
                </a:cubicBezTo>
                <a:cubicBezTo>
                  <a:pt x="10793" y="822960"/>
                  <a:pt x="-991" y="809772"/>
                  <a:pt x="-991" y="793504"/>
                </a:cubicBezTo>
                <a:cubicBezTo>
                  <a:pt x="-991" y="777236"/>
                  <a:pt x="10793" y="764048"/>
                  <a:pt x="25329" y="764048"/>
                </a:cubicBezTo>
                <a:cubicBezTo>
                  <a:pt x="39860" y="764040"/>
                  <a:pt x="51642" y="777215"/>
                  <a:pt x="51650" y="793476"/>
                </a:cubicBezTo>
                <a:cubicBezTo>
                  <a:pt x="51650" y="793485"/>
                  <a:pt x="51650" y="793494"/>
                  <a:pt x="51650" y="793504"/>
                </a:cubicBezTo>
                <a:close/>
                <a:moveTo>
                  <a:pt x="273361" y="793504"/>
                </a:moveTo>
                <a:cubicBezTo>
                  <a:pt x="273361" y="809772"/>
                  <a:pt x="261577" y="822960"/>
                  <a:pt x="247041" y="822960"/>
                </a:cubicBezTo>
                <a:cubicBezTo>
                  <a:pt x="232505" y="822960"/>
                  <a:pt x="220720" y="809772"/>
                  <a:pt x="220720" y="793504"/>
                </a:cubicBezTo>
                <a:cubicBezTo>
                  <a:pt x="220720" y="777236"/>
                  <a:pt x="232505" y="764048"/>
                  <a:pt x="247041" y="764048"/>
                </a:cubicBezTo>
                <a:cubicBezTo>
                  <a:pt x="261569" y="764066"/>
                  <a:pt x="273345" y="777244"/>
                  <a:pt x="273361" y="793504"/>
                </a:cubicBezTo>
                <a:close/>
                <a:moveTo>
                  <a:pt x="495012" y="793504"/>
                </a:moveTo>
                <a:cubicBezTo>
                  <a:pt x="495012" y="809772"/>
                  <a:pt x="483227" y="822960"/>
                  <a:pt x="468691" y="822960"/>
                </a:cubicBezTo>
                <a:cubicBezTo>
                  <a:pt x="454155" y="822960"/>
                  <a:pt x="442371" y="809772"/>
                  <a:pt x="442371" y="793504"/>
                </a:cubicBezTo>
                <a:cubicBezTo>
                  <a:pt x="442371" y="777236"/>
                  <a:pt x="454155" y="764048"/>
                  <a:pt x="468691" y="764048"/>
                </a:cubicBezTo>
                <a:cubicBezTo>
                  <a:pt x="483220" y="764040"/>
                  <a:pt x="495003" y="777215"/>
                  <a:pt x="495012" y="793476"/>
                </a:cubicBezTo>
                <a:cubicBezTo>
                  <a:pt x="495012" y="793485"/>
                  <a:pt x="495012" y="793494"/>
                  <a:pt x="495012" y="793504"/>
                </a:cubicBezTo>
                <a:close/>
                <a:moveTo>
                  <a:pt x="716723" y="793504"/>
                </a:moveTo>
                <a:cubicBezTo>
                  <a:pt x="716723" y="809772"/>
                  <a:pt x="704939" y="822960"/>
                  <a:pt x="690403" y="822960"/>
                </a:cubicBezTo>
                <a:cubicBezTo>
                  <a:pt x="675866" y="822960"/>
                  <a:pt x="664082" y="809772"/>
                  <a:pt x="664082" y="793504"/>
                </a:cubicBezTo>
                <a:cubicBezTo>
                  <a:pt x="664082" y="777236"/>
                  <a:pt x="675866" y="764048"/>
                  <a:pt x="690403" y="764048"/>
                </a:cubicBezTo>
                <a:cubicBezTo>
                  <a:pt x="704933" y="764040"/>
                  <a:pt x="716715" y="777215"/>
                  <a:pt x="716723" y="793476"/>
                </a:cubicBezTo>
                <a:cubicBezTo>
                  <a:pt x="716723" y="793485"/>
                  <a:pt x="716723" y="793494"/>
                  <a:pt x="716723" y="793504"/>
                </a:cubicBezTo>
                <a:close/>
                <a:moveTo>
                  <a:pt x="938435" y="793504"/>
                </a:moveTo>
                <a:cubicBezTo>
                  <a:pt x="938435" y="809772"/>
                  <a:pt x="926651" y="822960"/>
                  <a:pt x="912114" y="822960"/>
                </a:cubicBezTo>
                <a:cubicBezTo>
                  <a:pt x="897579" y="822960"/>
                  <a:pt x="885794" y="809772"/>
                  <a:pt x="885794" y="793504"/>
                </a:cubicBezTo>
                <a:cubicBezTo>
                  <a:pt x="885794" y="777236"/>
                  <a:pt x="897579" y="764048"/>
                  <a:pt x="912114" y="764048"/>
                </a:cubicBezTo>
                <a:cubicBezTo>
                  <a:pt x="926644" y="764040"/>
                  <a:pt x="938427" y="777215"/>
                  <a:pt x="938435" y="793476"/>
                </a:cubicBezTo>
                <a:cubicBezTo>
                  <a:pt x="938435" y="793485"/>
                  <a:pt x="938435" y="793494"/>
                  <a:pt x="938435" y="793504"/>
                </a:cubicBezTo>
                <a:close/>
                <a:moveTo>
                  <a:pt x="1160145" y="793504"/>
                </a:moveTo>
                <a:cubicBezTo>
                  <a:pt x="1160145" y="809772"/>
                  <a:pt x="1148361" y="822960"/>
                  <a:pt x="1133824" y="822960"/>
                </a:cubicBezTo>
                <a:cubicBezTo>
                  <a:pt x="1119288" y="822960"/>
                  <a:pt x="1107504" y="809772"/>
                  <a:pt x="1107504" y="793504"/>
                </a:cubicBezTo>
                <a:cubicBezTo>
                  <a:pt x="1107504" y="777236"/>
                  <a:pt x="1119288" y="764048"/>
                  <a:pt x="1133824" y="764048"/>
                </a:cubicBezTo>
                <a:cubicBezTo>
                  <a:pt x="1148353" y="764066"/>
                  <a:pt x="1160129" y="777244"/>
                  <a:pt x="1160145" y="793504"/>
                </a:cubicBezTo>
                <a:close/>
              </a:path>
            </a:pathLst>
          </a:custGeom>
          <a:solidFill>
            <a:srgbClr val="1199FB"/>
          </a:solidFill>
          <a:ln/>
        </p:spPr>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2-d3dpau0s8jdo4os5dgi0.png"/>
          <p:cNvPicPr>
            <a:picLocks noChangeAspect="1"/>
          </p:cNvPicPr>
          <p:nvPr/>
        </p:nvPicPr>
        <p:blipFill>
          <a:blip r:embed="rId4"/>
          <a:srcRect t="81" b="81"/>
          <a:stretch/>
        </p:blipFill>
        <p:spPr>
          <a:xfrm flipH="1">
            <a:off x="0" y="0"/>
            <a:ext cx="12213590" cy="6870700"/>
          </a:xfrm>
          <a:prstGeom prst="rect">
            <a:avLst/>
          </a:prstGeom>
        </p:spPr>
      </p:pic>
      <p:sp>
        <p:nvSpPr>
          <p:cNvPr id="3" name="Shape 0"/>
          <p:cNvSpPr/>
          <p:nvPr/>
        </p:nvSpPr>
        <p:spPr>
          <a:xfrm>
            <a:off x="1998980" y="827405"/>
            <a:ext cx="1139190" cy="720725"/>
          </a:xfrm>
          <a:custGeom>
            <a:avLst/>
            <a:gdLst/>
            <a:ahLst/>
            <a:cxnLst/>
            <a:rect l="l" t="t" r="r" b="b"/>
            <a:pathLst>
              <a:path w="1139190" h="720725">
                <a:moveTo>
                  <a:pt x="50717" y="25696"/>
                </a:moveTo>
                <a:cubicBezTo>
                  <a:pt x="50717" y="39943"/>
                  <a:pt x="39146" y="51493"/>
                  <a:pt x="24872" y="51493"/>
                </a:cubicBezTo>
                <a:cubicBezTo>
                  <a:pt x="10598" y="51493"/>
                  <a:pt x="-973" y="39943"/>
                  <a:pt x="-973" y="25696"/>
                </a:cubicBezTo>
                <a:cubicBezTo>
                  <a:pt x="-973" y="11449"/>
                  <a:pt x="10598" y="-101"/>
                  <a:pt x="24872" y="-101"/>
                </a:cubicBezTo>
                <a:cubicBezTo>
                  <a:pt x="39140" y="-108"/>
                  <a:pt x="50710" y="11432"/>
                  <a:pt x="50717" y="25671"/>
                </a:cubicBezTo>
                <a:cubicBezTo>
                  <a:pt x="50717" y="25680"/>
                  <a:pt x="50717" y="25688"/>
                  <a:pt x="50717" y="25696"/>
                </a:cubicBezTo>
                <a:close/>
                <a:moveTo>
                  <a:pt x="268424" y="25696"/>
                </a:moveTo>
                <a:cubicBezTo>
                  <a:pt x="268424" y="39943"/>
                  <a:pt x="256852" y="51493"/>
                  <a:pt x="242578" y="51493"/>
                </a:cubicBezTo>
                <a:cubicBezTo>
                  <a:pt x="228305" y="51493"/>
                  <a:pt x="216733" y="39943"/>
                  <a:pt x="216733" y="25696"/>
                </a:cubicBezTo>
                <a:cubicBezTo>
                  <a:pt x="216733" y="11449"/>
                  <a:pt x="228305" y="-101"/>
                  <a:pt x="242578" y="-101"/>
                </a:cubicBezTo>
                <a:cubicBezTo>
                  <a:pt x="256844" y="-84"/>
                  <a:pt x="268408" y="11456"/>
                  <a:pt x="268424" y="25696"/>
                </a:cubicBezTo>
                <a:close/>
                <a:moveTo>
                  <a:pt x="486070" y="25696"/>
                </a:moveTo>
                <a:cubicBezTo>
                  <a:pt x="486070" y="39943"/>
                  <a:pt x="474498" y="51493"/>
                  <a:pt x="460225" y="51493"/>
                </a:cubicBezTo>
                <a:cubicBezTo>
                  <a:pt x="445951" y="51493"/>
                  <a:pt x="434380" y="39943"/>
                  <a:pt x="434380" y="25696"/>
                </a:cubicBezTo>
                <a:cubicBezTo>
                  <a:pt x="434380" y="11449"/>
                  <a:pt x="445951" y="-101"/>
                  <a:pt x="460225" y="-101"/>
                </a:cubicBezTo>
                <a:cubicBezTo>
                  <a:pt x="474492" y="-108"/>
                  <a:pt x="486062" y="11432"/>
                  <a:pt x="486070" y="25671"/>
                </a:cubicBezTo>
                <a:cubicBezTo>
                  <a:pt x="486070" y="25680"/>
                  <a:pt x="486070" y="25688"/>
                  <a:pt x="486070" y="25696"/>
                </a:cubicBezTo>
                <a:close/>
                <a:moveTo>
                  <a:pt x="703777" y="25696"/>
                </a:moveTo>
                <a:cubicBezTo>
                  <a:pt x="703777" y="39943"/>
                  <a:pt x="692206" y="51493"/>
                  <a:pt x="677932" y="51493"/>
                </a:cubicBezTo>
                <a:cubicBezTo>
                  <a:pt x="663658" y="51493"/>
                  <a:pt x="652087" y="39943"/>
                  <a:pt x="652087" y="25696"/>
                </a:cubicBezTo>
                <a:cubicBezTo>
                  <a:pt x="652087" y="11449"/>
                  <a:pt x="663658" y="-101"/>
                  <a:pt x="677932" y="-101"/>
                </a:cubicBezTo>
                <a:cubicBezTo>
                  <a:pt x="692200" y="-108"/>
                  <a:pt x="703769" y="11432"/>
                  <a:pt x="703777" y="25671"/>
                </a:cubicBezTo>
                <a:cubicBezTo>
                  <a:pt x="703777" y="25680"/>
                  <a:pt x="703777" y="25688"/>
                  <a:pt x="703777" y="25696"/>
                </a:cubicBezTo>
                <a:close/>
                <a:moveTo>
                  <a:pt x="921484" y="25696"/>
                </a:moveTo>
                <a:cubicBezTo>
                  <a:pt x="921484" y="39943"/>
                  <a:pt x="909913" y="51493"/>
                  <a:pt x="895639" y="51493"/>
                </a:cubicBezTo>
                <a:cubicBezTo>
                  <a:pt x="881366" y="51493"/>
                  <a:pt x="869794" y="39943"/>
                  <a:pt x="869794" y="25696"/>
                </a:cubicBezTo>
                <a:cubicBezTo>
                  <a:pt x="869794" y="11449"/>
                  <a:pt x="881366" y="-101"/>
                  <a:pt x="895639" y="-101"/>
                </a:cubicBezTo>
                <a:cubicBezTo>
                  <a:pt x="909907" y="-108"/>
                  <a:pt x="921477" y="11432"/>
                  <a:pt x="921484" y="25671"/>
                </a:cubicBezTo>
                <a:cubicBezTo>
                  <a:pt x="921484" y="25680"/>
                  <a:pt x="921484" y="25688"/>
                  <a:pt x="921484" y="25696"/>
                </a:cubicBezTo>
                <a:close/>
                <a:moveTo>
                  <a:pt x="1139190" y="25696"/>
                </a:moveTo>
                <a:cubicBezTo>
                  <a:pt x="1139190" y="39943"/>
                  <a:pt x="1127619" y="51493"/>
                  <a:pt x="1113345" y="51493"/>
                </a:cubicBezTo>
                <a:cubicBezTo>
                  <a:pt x="1099071" y="51493"/>
                  <a:pt x="1087500" y="39943"/>
                  <a:pt x="1087500" y="25696"/>
                </a:cubicBezTo>
                <a:cubicBezTo>
                  <a:pt x="1087500" y="11449"/>
                  <a:pt x="1099071" y="-101"/>
                  <a:pt x="1113345" y="-101"/>
                </a:cubicBezTo>
                <a:cubicBezTo>
                  <a:pt x="1127611" y="-84"/>
                  <a:pt x="1139174" y="11456"/>
                  <a:pt x="1139190" y="25696"/>
                </a:cubicBezTo>
                <a:close/>
                <a:moveTo>
                  <a:pt x="50717" y="193004"/>
                </a:moveTo>
                <a:cubicBezTo>
                  <a:pt x="50717" y="207251"/>
                  <a:pt x="39146" y="218801"/>
                  <a:pt x="24872" y="218801"/>
                </a:cubicBezTo>
                <a:cubicBezTo>
                  <a:pt x="10598" y="218801"/>
                  <a:pt x="-973" y="207251"/>
                  <a:pt x="-973" y="193004"/>
                </a:cubicBezTo>
                <a:cubicBezTo>
                  <a:pt x="-973" y="178757"/>
                  <a:pt x="10598" y="167207"/>
                  <a:pt x="24872" y="167207"/>
                </a:cubicBezTo>
                <a:cubicBezTo>
                  <a:pt x="39140" y="167200"/>
                  <a:pt x="50710" y="178740"/>
                  <a:pt x="50717" y="192980"/>
                </a:cubicBezTo>
                <a:cubicBezTo>
                  <a:pt x="50717" y="192988"/>
                  <a:pt x="50717" y="192996"/>
                  <a:pt x="50717" y="193004"/>
                </a:cubicBezTo>
                <a:close/>
                <a:moveTo>
                  <a:pt x="268424" y="193004"/>
                </a:moveTo>
                <a:cubicBezTo>
                  <a:pt x="268424" y="207251"/>
                  <a:pt x="256852" y="218801"/>
                  <a:pt x="242578" y="218801"/>
                </a:cubicBezTo>
                <a:cubicBezTo>
                  <a:pt x="228305" y="218801"/>
                  <a:pt x="216733" y="207251"/>
                  <a:pt x="216733" y="193004"/>
                </a:cubicBezTo>
                <a:cubicBezTo>
                  <a:pt x="216733" y="178757"/>
                  <a:pt x="228305" y="167207"/>
                  <a:pt x="242578" y="167207"/>
                </a:cubicBezTo>
                <a:cubicBezTo>
                  <a:pt x="256844" y="167224"/>
                  <a:pt x="268408" y="178764"/>
                  <a:pt x="268424" y="193004"/>
                </a:cubicBezTo>
                <a:close/>
                <a:moveTo>
                  <a:pt x="486070" y="193004"/>
                </a:moveTo>
                <a:cubicBezTo>
                  <a:pt x="486070" y="207251"/>
                  <a:pt x="474498" y="218801"/>
                  <a:pt x="460225" y="218801"/>
                </a:cubicBezTo>
                <a:cubicBezTo>
                  <a:pt x="445951" y="218801"/>
                  <a:pt x="434380" y="207251"/>
                  <a:pt x="434380" y="193004"/>
                </a:cubicBezTo>
                <a:cubicBezTo>
                  <a:pt x="434380" y="178757"/>
                  <a:pt x="445951" y="167207"/>
                  <a:pt x="460225" y="167207"/>
                </a:cubicBezTo>
                <a:cubicBezTo>
                  <a:pt x="474492" y="167200"/>
                  <a:pt x="486062" y="178740"/>
                  <a:pt x="486070" y="192980"/>
                </a:cubicBezTo>
                <a:cubicBezTo>
                  <a:pt x="486070" y="192988"/>
                  <a:pt x="486070" y="192996"/>
                  <a:pt x="486070" y="193004"/>
                </a:cubicBezTo>
                <a:close/>
                <a:moveTo>
                  <a:pt x="703777" y="193004"/>
                </a:moveTo>
                <a:cubicBezTo>
                  <a:pt x="703777" y="207251"/>
                  <a:pt x="692206" y="218801"/>
                  <a:pt x="677932" y="218801"/>
                </a:cubicBezTo>
                <a:cubicBezTo>
                  <a:pt x="663658" y="218801"/>
                  <a:pt x="652087" y="207251"/>
                  <a:pt x="652087" y="193004"/>
                </a:cubicBezTo>
                <a:cubicBezTo>
                  <a:pt x="652087" y="178757"/>
                  <a:pt x="663658" y="167207"/>
                  <a:pt x="677932" y="167207"/>
                </a:cubicBezTo>
                <a:cubicBezTo>
                  <a:pt x="692200" y="167200"/>
                  <a:pt x="703769" y="178740"/>
                  <a:pt x="703777" y="192980"/>
                </a:cubicBezTo>
                <a:cubicBezTo>
                  <a:pt x="703777" y="192988"/>
                  <a:pt x="703777" y="192996"/>
                  <a:pt x="703777" y="193004"/>
                </a:cubicBezTo>
                <a:close/>
                <a:moveTo>
                  <a:pt x="921484" y="193004"/>
                </a:moveTo>
                <a:cubicBezTo>
                  <a:pt x="921484" y="207251"/>
                  <a:pt x="909913" y="218801"/>
                  <a:pt x="895639" y="218801"/>
                </a:cubicBezTo>
                <a:cubicBezTo>
                  <a:pt x="881366" y="218801"/>
                  <a:pt x="869794" y="207251"/>
                  <a:pt x="869794" y="193004"/>
                </a:cubicBezTo>
                <a:cubicBezTo>
                  <a:pt x="869794" y="178757"/>
                  <a:pt x="881366" y="167207"/>
                  <a:pt x="895639" y="167207"/>
                </a:cubicBezTo>
                <a:cubicBezTo>
                  <a:pt x="909907" y="167200"/>
                  <a:pt x="921477" y="178740"/>
                  <a:pt x="921484" y="192980"/>
                </a:cubicBezTo>
                <a:cubicBezTo>
                  <a:pt x="921484" y="192988"/>
                  <a:pt x="921484" y="192996"/>
                  <a:pt x="921484" y="193004"/>
                </a:cubicBezTo>
                <a:close/>
                <a:moveTo>
                  <a:pt x="1139190" y="193004"/>
                </a:moveTo>
                <a:cubicBezTo>
                  <a:pt x="1139190" y="207251"/>
                  <a:pt x="1127619" y="218801"/>
                  <a:pt x="1113345" y="218801"/>
                </a:cubicBezTo>
                <a:cubicBezTo>
                  <a:pt x="1099071" y="218801"/>
                  <a:pt x="1087500" y="207251"/>
                  <a:pt x="1087500" y="193004"/>
                </a:cubicBezTo>
                <a:cubicBezTo>
                  <a:pt x="1087500" y="178757"/>
                  <a:pt x="1099071" y="167207"/>
                  <a:pt x="1113345" y="167207"/>
                </a:cubicBezTo>
                <a:cubicBezTo>
                  <a:pt x="1127611" y="167224"/>
                  <a:pt x="1139174" y="178764"/>
                  <a:pt x="1139190" y="193004"/>
                </a:cubicBezTo>
                <a:close/>
                <a:moveTo>
                  <a:pt x="50717" y="360312"/>
                </a:moveTo>
                <a:cubicBezTo>
                  <a:pt x="50717" y="374559"/>
                  <a:pt x="39146" y="386109"/>
                  <a:pt x="24872" y="386109"/>
                </a:cubicBezTo>
                <a:cubicBezTo>
                  <a:pt x="10598" y="386109"/>
                  <a:pt x="-973" y="374559"/>
                  <a:pt x="-973" y="360312"/>
                </a:cubicBezTo>
                <a:cubicBezTo>
                  <a:pt x="-973" y="346065"/>
                  <a:pt x="10598" y="334516"/>
                  <a:pt x="24872" y="334516"/>
                </a:cubicBezTo>
                <a:cubicBezTo>
                  <a:pt x="39140" y="334509"/>
                  <a:pt x="50710" y="346047"/>
                  <a:pt x="50717" y="360287"/>
                </a:cubicBezTo>
                <a:cubicBezTo>
                  <a:pt x="50717" y="360295"/>
                  <a:pt x="50717" y="360304"/>
                  <a:pt x="50717" y="360312"/>
                </a:cubicBezTo>
                <a:close/>
                <a:moveTo>
                  <a:pt x="268424" y="360312"/>
                </a:moveTo>
                <a:cubicBezTo>
                  <a:pt x="268424" y="374559"/>
                  <a:pt x="256852" y="386109"/>
                  <a:pt x="242578" y="386109"/>
                </a:cubicBezTo>
                <a:cubicBezTo>
                  <a:pt x="228305" y="386109"/>
                  <a:pt x="216733" y="374559"/>
                  <a:pt x="216733" y="360312"/>
                </a:cubicBezTo>
                <a:cubicBezTo>
                  <a:pt x="216733" y="346065"/>
                  <a:pt x="228305" y="334516"/>
                  <a:pt x="242578" y="334516"/>
                </a:cubicBezTo>
                <a:cubicBezTo>
                  <a:pt x="256844" y="334532"/>
                  <a:pt x="268408" y="346072"/>
                  <a:pt x="268424" y="360312"/>
                </a:cubicBezTo>
                <a:close/>
                <a:moveTo>
                  <a:pt x="486070" y="360312"/>
                </a:moveTo>
                <a:cubicBezTo>
                  <a:pt x="486070" y="374559"/>
                  <a:pt x="474498" y="386109"/>
                  <a:pt x="460225" y="386109"/>
                </a:cubicBezTo>
                <a:cubicBezTo>
                  <a:pt x="445951" y="386109"/>
                  <a:pt x="434380" y="374559"/>
                  <a:pt x="434380" y="360312"/>
                </a:cubicBezTo>
                <a:cubicBezTo>
                  <a:pt x="434380" y="346065"/>
                  <a:pt x="445951" y="334516"/>
                  <a:pt x="460225" y="334516"/>
                </a:cubicBezTo>
                <a:cubicBezTo>
                  <a:pt x="474492" y="334509"/>
                  <a:pt x="486062" y="346047"/>
                  <a:pt x="486070" y="360287"/>
                </a:cubicBezTo>
                <a:cubicBezTo>
                  <a:pt x="486070" y="360295"/>
                  <a:pt x="486070" y="360304"/>
                  <a:pt x="486070" y="360312"/>
                </a:cubicBezTo>
                <a:close/>
                <a:moveTo>
                  <a:pt x="703777" y="360312"/>
                </a:moveTo>
                <a:cubicBezTo>
                  <a:pt x="703777" y="374559"/>
                  <a:pt x="692206" y="386109"/>
                  <a:pt x="677932" y="386109"/>
                </a:cubicBezTo>
                <a:cubicBezTo>
                  <a:pt x="663658" y="386109"/>
                  <a:pt x="652087" y="374559"/>
                  <a:pt x="652087" y="360312"/>
                </a:cubicBezTo>
                <a:cubicBezTo>
                  <a:pt x="652087" y="346065"/>
                  <a:pt x="663658" y="334516"/>
                  <a:pt x="677932" y="334516"/>
                </a:cubicBezTo>
                <a:cubicBezTo>
                  <a:pt x="692200" y="334509"/>
                  <a:pt x="703769" y="346047"/>
                  <a:pt x="703777" y="360287"/>
                </a:cubicBezTo>
                <a:cubicBezTo>
                  <a:pt x="703777" y="360295"/>
                  <a:pt x="703777" y="360304"/>
                  <a:pt x="703777" y="360312"/>
                </a:cubicBezTo>
                <a:close/>
                <a:moveTo>
                  <a:pt x="921484" y="360312"/>
                </a:moveTo>
                <a:cubicBezTo>
                  <a:pt x="921484" y="374559"/>
                  <a:pt x="909913" y="386109"/>
                  <a:pt x="895639" y="386109"/>
                </a:cubicBezTo>
                <a:cubicBezTo>
                  <a:pt x="881366" y="386109"/>
                  <a:pt x="869794" y="374559"/>
                  <a:pt x="869794" y="360312"/>
                </a:cubicBezTo>
                <a:cubicBezTo>
                  <a:pt x="869794" y="346065"/>
                  <a:pt x="881366" y="334516"/>
                  <a:pt x="895639" y="334516"/>
                </a:cubicBezTo>
                <a:cubicBezTo>
                  <a:pt x="909907" y="334509"/>
                  <a:pt x="921477" y="346047"/>
                  <a:pt x="921484" y="360287"/>
                </a:cubicBezTo>
                <a:cubicBezTo>
                  <a:pt x="921484" y="360295"/>
                  <a:pt x="921484" y="360304"/>
                  <a:pt x="921484" y="360312"/>
                </a:cubicBezTo>
                <a:close/>
                <a:moveTo>
                  <a:pt x="1139190" y="360312"/>
                </a:moveTo>
                <a:cubicBezTo>
                  <a:pt x="1139190" y="374559"/>
                  <a:pt x="1127619" y="386109"/>
                  <a:pt x="1113345" y="386109"/>
                </a:cubicBezTo>
                <a:cubicBezTo>
                  <a:pt x="1099071" y="386109"/>
                  <a:pt x="1087500" y="374559"/>
                  <a:pt x="1087500" y="360312"/>
                </a:cubicBezTo>
                <a:cubicBezTo>
                  <a:pt x="1087500" y="346065"/>
                  <a:pt x="1099071" y="334516"/>
                  <a:pt x="1113345" y="334516"/>
                </a:cubicBezTo>
                <a:cubicBezTo>
                  <a:pt x="1127611" y="334532"/>
                  <a:pt x="1139174" y="346072"/>
                  <a:pt x="1139190" y="360312"/>
                </a:cubicBezTo>
                <a:close/>
                <a:moveTo>
                  <a:pt x="50717" y="527620"/>
                </a:moveTo>
                <a:cubicBezTo>
                  <a:pt x="50717" y="541867"/>
                  <a:pt x="39146" y="553417"/>
                  <a:pt x="24872" y="553417"/>
                </a:cubicBezTo>
                <a:cubicBezTo>
                  <a:pt x="10598" y="553417"/>
                  <a:pt x="-973" y="541867"/>
                  <a:pt x="-973" y="527620"/>
                </a:cubicBezTo>
                <a:cubicBezTo>
                  <a:pt x="-973" y="513373"/>
                  <a:pt x="10598" y="501824"/>
                  <a:pt x="24872" y="501824"/>
                </a:cubicBezTo>
                <a:cubicBezTo>
                  <a:pt x="39140" y="501817"/>
                  <a:pt x="50710" y="513355"/>
                  <a:pt x="50717" y="527595"/>
                </a:cubicBezTo>
                <a:cubicBezTo>
                  <a:pt x="50717" y="527604"/>
                  <a:pt x="50717" y="527612"/>
                  <a:pt x="50717" y="527620"/>
                </a:cubicBezTo>
                <a:close/>
                <a:moveTo>
                  <a:pt x="268424" y="527620"/>
                </a:moveTo>
                <a:cubicBezTo>
                  <a:pt x="268424" y="541867"/>
                  <a:pt x="256852" y="553417"/>
                  <a:pt x="242578" y="553417"/>
                </a:cubicBezTo>
                <a:cubicBezTo>
                  <a:pt x="228305" y="553417"/>
                  <a:pt x="216733" y="541867"/>
                  <a:pt x="216733" y="527620"/>
                </a:cubicBezTo>
                <a:cubicBezTo>
                  <a:pt x="216733" y="513373"/>
                  <a:pt x="228305" y="501824"/>
                  <a:pt x="242578" y="501824"/>
                </a:cubicBezTo>
                <a:cubicBezTo>
                  <a:pt x="256844" y="501841"/>
                  <a:pt x="268408" y="513380"/>
                  <a:pt x="268424" y="527620"/>
                </a:cubicBezTo>
                <a:close/>
                <a:moveTo>
                  <a:pt x="486070" y="527620"/>
                </a:moveTo>
                <a:cubicBezTo>
                  <a:pt x="486070" y="541867"/>
                  <a:pt x="474498" y="553417"/>
                  <a:pt x="460225" y="553417"/>
                </a:cubicBezTo>
                <a:cubicBezTo>
                  <a:pt x="445951" y="553417"/>
                  <a:pt x="434380" y="541867"/>
                  <a:pt x="434380" y="527620"/>
                </a:cubicBezTo>
                <a:cubicBezTo>
                  <a:pt x="434380" y="513373"/>
                  <a:pt x="445951" y="501824"/>
                  <a:pt x="460225" y="501824"/>
                </a:cubicBezTo>
                <a:cubicBezTo>
                  <a:pt x="474492" y="501817"/>
                  <a:pt x="486062" y="513355"/>
                  <a:pt x="486070" y="527595"/>
                </a:cubicBezTo>
                <a:cubicBezTo>
                  <a:pt x="486070" y="527604"/>
                  <a:pt x="486070" y="527612"/>
                  <a:pt x="486070" y="527620"/>
                </a:cubicBezTo>
                <a:close/>
                <a:moveTo>
                  <a:pt x="703777" y="527620"/>
                </a:moveTo>
                <a:cubicBezTo>
                  <a:pt x="703777" y="541867"/>
                  <a:pt x="692206" y="553417"/>
                  <a:pt x="677932" y="553417"/>
                </a:cubicBezTo>
                <a:cubicBezTo>
                  <a:pt x="663658" y="553417"/>
                  <a:pt x="652087" y="541867"/>
                  <a:pt x="652087" y="527620"/>
                </a:cubicBezTo>
                <a:cubicBezTo>
                  <a:pt x="652087" y="513373"/>
                  <a:pt x="663658" y="501824"/>
                  <a:pt x="677932" y="501824"/>
                </a:cubicBezTo>
                <a:cubicBezTo>
                  <a:pt x="692200" y="501817"/>
                  <a:pt x="703769" y="513355"/>
                  <a:pt x="703777" y="527595"/>
                </a:cubicBezTo>
                <a:cubicBezTo>
                  <a:pt x="703777" y="527604"/>
                  <a:pt x="703777" y="527612"/>
                  <a:pt x="703777" y="527620"/>
                </a:cubicBezTo>
                <a:close/>
                <a:moveTo>
                  <a:pt x="921484" y="527620"/>
                </a:moveTo>
                <a:cubicBezTo>
                  <a:pt x="921484" y="541867"/>
                  <a:pt x="909913" y="553417"/>
                  <a:pt x="895639" y="553417"/>
                </a:cubicBezTo>
                <a:cubicBezTo>
                  <a:pt x="881366" y="553417"/>
                  <a:pt x="869794" y="541867"/>
                  <a:pt x="869794" y="527620"/>
                </a:cubicBezTo>
                <a:cubicBezTo>
                  <a:pt x="869794" y="513373"/>
                  <a:pt x="881366" y="501824"/>
                  <a:pt x="895639" y="501824"/>
                </a:cubicBezTo>
                <a:cubicBezTo>
                  <a:pt x="909907" y="501817"/>
                  <a:pt x="921477" y="513355"/>
                  <a:pt x="921484" y="527595"/>
                </a:cubicBezTo>
                <a:cubicBezTo>
                  <a:pt x="921484" y="527604"/>
                  <a:pt x="921484" y="527612"/>
                  <a:pt x="921484" y="527620"/>
                </a:cubicBezTo>
                <a:close/>
                <a:moveTo>
                  <a:pt x="1139190" y="527620"/>
                </a:moveTo>
                <a:cubicBezTo>
                  <a:pt x="1139190" y="541867"/>
                  <a:pt x="1127619" y="553417"/>
                  <a:pt x="1113345" y="553417"/>
                </a:cubicBezTo>
                <a:cubicBezTo>
                  <a:pt x="1099071" y="553417"/>
                  <a:pt x="1087500" y="541867"/>
                  <a:pt x="1087500" y="527620"/>
                </a:cubicBezTo>
                <a:cubicBezTo>
                  <a:pt x="1087500" y="513373"/>
                  <a:pt x="1099071" y="501824"/>
                  <a:pt x="1113345" y="501824"/>
                </a:cubicBezTo>
                <a:cubicBezTo>
                  <a:pt x="1127611" y="501841"/>
                  <a:pt x="1139174" y="513380"/>
                  <a:pt x="1139190" y="527620"/>
                </a:cubicBezTo>
                <a:close/>
                <a:moveTo>
                  <a:pt x="50717" y="694928"/>
                </a:moveTo>
                <a:cubicBezTo>
                  <a:pt x="50717" y="709176"/>
                  <a:pt x="39146" y="720725"/>
                  <a:pt x="24872" y="720725"/>
                </a:cubicBezTo>
                <a:cubicBezTo>
                  <a:pt x="10598" y="720725"/>
                  <a:pt x="-973" y="709176"/>
                  <a:pt x="-973" y="694928"/>
                </a:cubicBezTo>
                <a:cubicBezTo>
                  <a:pt x="-973" y="680681"/>
                  <a:pt x="10598" y="669132"/>
                  <a:pt x="24872" y="669132"/>
                </a:cubicBezTo>
                <a:cubicBezTo>
                  <a:pt x="39140" y="669125"/>
                  <a:pt x="50710" y="680663"/>
                  <a:pt x="50717" y="694903"/>
                </a:cubicBezTo>
                <a:cubicBezTo>
                  <a:pt x="50717" y="694911"/>
                  <a:pt x="50717" y="694919"/>
                  <a:pt x="50717" y="694928"/>
                </a:cubicBezTo>
                <a:close/>
                <a:moveTo>
                  <a:pt x="268424" y="694928"/>
                </a:moveTo>
                <a:cubicBezTo>
                  <a:pt x="268424" y="709176"/>
                  <a:pt x="256852" y="720725"/>
                  <a:pt x="242578" y="720725"/>
                </a:cubicBezTo>
                <a:cubicBezTo>
                  <a:pt x="228305" y="720725"/>
                  <a:pt x="216733" y="709176"/>
                  <a:pt x="216733" y="694928"/>
                </a:cubicBezTo>
                <a:cubicBezTo>
                  <a:pt x="216733" y="680681"/>
                  <a:pt x="228305" y="669132"/>
                  <a:pt x="242578" y="669132"/>
                </a:cubicBezTo>
                <a:cubicBezTo>
                  <a:pt x="256844" y="669148"/>
                  <a:pt x="268408" y="680688"/>
                  <a:pt x="268424" y="694928"/>
                </a:cubicBezTo>
                <a:close/>
                <a:moveTo>
                  <a:pt x="486070" y="694928"/>
                </a:moveTo>
                <a:cubicBezTo>
                  <a:pt x="486070" y="709176"/>
                  <a:pt x="474498" y="720725"/>
                  <a:pt x="460225" y="720725"/>
                </a:cubicBezTo>
                <a:cubicBezTo>
                  <a:pt x="445951" y="720725"/>
                  <a:pt x="434380" y="709176"/>
                  <a:pt x="434380" y="694928"/>
                </a:cubicBezTo>
                <a:cubicBezTo>
                  <a:pt x="434380" y="680681"/>
                  <a:pt x="445951" y="669132"/>
                  <a:pt x="460225" y="669132"/>
                </a:cubicBezTo>
                <a:cubicBezTo>
                  <a:pt x="474492" y="669125"/>
                  <a:pt x="486062" y="680663"/>
                  <a:pt x="486070" y="694903"/>
                </a:cubicBezTo>
                <a:cubicBezTo>
                  <a:pt x="486070" y="694911"/>
                  <a:pt x="486070" y="694919"/>
                  <a:pt x="486070" y="694928"/>
                </a:cubicBezTo>
                <a:close/>
                <a:moveTo>
                  <a:pt x="703777" y="694928"/>
                </a:moveTo>
                <a:cubicBezTo>
                  <a:pt x="703777" y="709176"/>
                  <a:pt x="692206" y="720725"/>
                  <a:pt x="677932" y="720725"/>
                </a:cubicBezTo>
                <a:cubicBezTo>
                  <a:pt x="663658" y="720725"/>
                  <a:pt x="652087" y="709176"/>
                  <a:pt x="652087" y="694928"/>
                </a:cubicBezTo>
                <a:cubicBezTo>
                  <a:pt x="652087" y="680681"/>
                  <a:pt x="663658" y="669132"/>
                  <a:pt x="677932" y="669132"/>
                </a:cubicBezTo>
                <a:cubicBezTo>
                  <a:pt x="692200" y="669125"/>
                  <a:pt x="703769" y="680663"/>
                  <a:pt x="703777" y="694903"/>
                </a:cubicBezTo>
                <a:cubicBezTo>
                  <a:pt x="703777" y="694911"/>
                  <a:pt x="703777" y="694919"/>
                  <a:pt x="703777" y="694928"/>
                </a:cubicBezTo>
                <a:close/>
                <a:moveTo>
                  <a:pt x="921484" y="694928"/>
                </a:moveTo>
                <a:cubicBezTo>
                  <a:pt x="921484" y="709176"/>
                  <a:pt x="909913" y="720725"/>
                  <a:pt x="895639" y="720725"/>
                </a:cubicBezTo>
                <a:cubicBezTo>
                  <a:pt x="881366" y="720725"/>
                  <a:pt x="869794" y="709176"/>
                  <a:pt x="869794" y="694928"/>
                </a:cubicBezTo>
                <a:cubicBezTo>
                  <a:pt x="869794" y="680681"/>
                  <a:pt x="881366" y="669132"/>
                  <a:pt x="895639" y="669132"/>
                </a:cubicBezTo>
                <a:cubicBezTo>
                  <a:pt x="909907" y="669125"/>
                  <a:pt x="921477" y="680663"/>
                  <a:pt x="921484" y="694903"/>
                </a:cubicBezTo>
                <a:cubicBezTo>
                  <a:pt x="921484" y="694911"/>
                  <a:pt x="921484" y="694919"/>
                  <a:pt x="921484" y="694928"/>
                </a:cubicBezTo>
                <a:close/>
                <a:moveTo>
                  <a:pt x="1139190" y="694928"/>
                </a:moveTo>
                <a:cubicBezTo>
                  <a:pt x="1139190" y="709176"/>
                  <a:pt x="1127619" y="720725"/>
                  <a:pt x="1113345" y="720725"/>
                </a:cubicBezTo>
                <a:cubicBezTo>
                  <a:pt x="1099071" y="720725"/>
                  <a:pt x="1087500" y="709176"/>
                  <a:pt x="1087500" y="694928"/>
                </a:cubicBezTo>
                <a:cubicBezTo>
                  <a:pt x="1087500" y="680681"/>
                  <a:pt x="1099071" y="669132"/>
                  <a:pt x="1113345" y="669132"/>
                </a:cubicBezTo>
                <a:cubicBezTo>
                  <a:pt x="1127611" y="669148"/>
                  <a:pt x="1139174" y="680688"/>
                  <a:pt x="1139190" y="694928"/>
                </a:cubicBezTo>
                <a:close/>
              </a:path>
            </a:pathLst>
          </a:custGeom>
          <a:solidFill>
            <a:srgbClr val="0D96FB"/>
          </a:solidFill>
          <a:ln/>
        </p:spPr>
      </p:sp>
      <p:pic>
        <p:nvPicPr>
          <p:cNvPr id="4" name="Image 1" descr="https://kimi-img.moonshot.cn/pub/slides/slides_tmpl/image/25-09-30-16:31:52-d3dpau0s8jdo4os5dgd0.png"/>
          <p:cNvPicPr>
            <a:picLocks noChangeAspect="1"/>
          </p:cNvPicPr>
          <p:nvPr/>
        </p:nvPicPr>
        <p:blipFill>
          <a:blip r:embed="rId5"/>
          <a:stretch>
            <a:fillRect/>
          </a:stretch>
        </p:blipFill>
        <p:spPr>
          <a:xfrm>
            <a:off x="724535" y="4652645"/>
            <a:ext cx="5304790" cy="731520"/>
          </a:xfrm>
          <a:prstGeom prst="rect">
            <a:avLst/>
          </a:prstGeom>
        </p:spPr>
      </p:pic>
      <p:pic>
        <p:nvPicPr>
          <p:cNvPr id="5" name="Image 2" descr="https://kimi-img.moonshot.cn/pub/slides/slides_tmpl/image/25-09-30-16:31:52-d3dpau0s8jdo4os5dgd0.png"/>
          <p:cNvPicPr>
            <a:picLocks noChangeAspect="1"/>
          </p:cNvPicPr>
          <p:nvPr/>
        </p:nvPicPr>
        <p:blipFill>
          <a:blip r:embed="rId5"/>
          <a:stretch>
            <a:fillRect/>
          </a:stretch>
        </p:blipFill>
        <p:spPr>
          <a:xfrm>
            <a:off x="6492875" y="3495040"/>
            <a:ext cx="5304790" cy="731520"/>
          </a:xfrm>
          <a:prstGeom prst="rect">
            <a:avLst/>
          </a:prstGeom>
        </p:spPr>
      </p:pic>
      <p:pic>
        <p:nvPicPr>
          <p:cNvPr id="6" name="Image 3" descr="https://kimi-img.moonshot.cn/pub/slides/slides_tmpl/image/25-09-30-16:31:52-d3dpau0s8jdo4os5dgd0.png"/>
          <p:cNvPicPr>
            <a:picLocks noChangeAspect="1"/>
          </p:cNvPicPr>
          <p:nvPr/>
        </p:nvPicPr>
        <p:blipFill>
          <a:blip r:embed="rId5"/>
          <a:stretch>
            <a:fillRect/>
          </a:stretch>
        </p:blipFill>
        <p:spPr>
          <a:xfrm>
            <a:off x="6492875" y="2352040"/>
            <a:ext cx="5304790" cy="731520"/>
          </a:xfrm>
          <a:prstGeom prst="rect">
            <a:avLst/>
          </a:prstGeom>
        </p:spPr>
      </p:pic>
      <p:pic>
        <p:nvPicPr>
          <p:cNvPr id="7" name="Image 4" descr="https://kimi-img.moonshot.cn/pub/slides/slides_tmpl/image/25-09-30-16:31:52-d3dpau0s8jdo4os5dgd0.png"/>
          <p:cNvPicPr>
            <a:picLocks noChangeAspect="1"/>
          </p:cNvPicPr>
          <p:nvPr/>
        </p:nvPicPr>
        <p:blipFill>
          <a:blip r:embed="rId5"/>
          <a:stretch>
            <a:fillRect/>
          </a:stretch>
        </p:blipFill>
        <p:spPr>
          <a:xfrm>
            <a:off x="724535" y="3504565"/>
            <a:ext cx="5304790" cy="731520"/>
          </a:xfrm>
          <a:prstGeom prst="rect">
            <a:avLst/>
          </a:prstGeom>
        </p:spPr>
      </p:pic>
      <p:pic>
        <p:nvPicPr>
          <p:cNvPr id="8" name="Image 5" descr="https://kimi-img.moonshot.cn/pub/slides/slides_tmpl/image/25-09-30-16:31:52-d3dpau0s8jdo4os5dgd0.png"/>
          <p:cNvPicPr>
            <a:picLocks noChangeAspect="1"/>
          </p:cNvPicPr>
          <p:nvPr/>
        </p:nvPicPr>
        <p:blipFill>
          <a:blip r:embed="rId5"/>
          <a:stretch>
            <a:fillRect/>
          </a:stretch>
        </p:blipFill>
        <p:spPr>
          <a:xfrm>
            <a:off x="724535" y="2374265"/>
            <a:ext cx="5304790" cy="731520"/>
          </a:xfrm>
          <a:prstGeom prst="rect">
            <a:avLst/>
          </a:prstGeom>
        </p:spPr>
      </p:pic>
      <p:pic>
        <p:nvPicPr>
          <p:cNvPr id="9" name="Image 6" descr="https://kimi-img.moonshot.cn/pub/slides/slides_tmpl/image/25-09-30-16:31:52-d3dpau0s8jdo4os5dgcg.png"/>
          <p:cNvPicPr>
            <a:picLocks noChangeAspect="1"/>
          </p:cNvPicPr>
          <p:nvPr/>
        </p:nvPicPr>
        <p:blipFill>
          <a:blip r:embed="rId6"/>
          <a:srcRect/>
          <a:stretch/>
        </p:blipFill>
        <p:spPr>
          <a:xfrm>
            <a:off x="432753" y="2374900"/>
            <a:ext cx="708660" cy="708660"/>
          </a:xfrm>
          <a:prstGeom prst="rect">
            <a:avLst/>
          </a:prstGeom>
        </p:spPr>
      </p:pic>
      <p:pic>
        <p:nvPicPr>
          <p:cNvPr id="10" name="Image 7" descr="https://kimi-img.moonshot.cn/pub/slides/slides_tmpl/image/25-09-30-16:31:52-d3dpau0s8jdo4os5dgcg.png"/>
          <p:cNvPicPr>
            <a:picLocks noChangeAspect="1"/>
          </p:cNvPicPr>
          <p:nvPr/>
        </p:nvPicPr>
        <p:blipFill>
          <a:blip r:embed="rId6"/>
          <a:srcRect/>
          <a:stretch/>
        </p:blipFill>
        <p:spPr>
          <a:xfrm>
            <a:off x="432753" y="3517265"/>
            <a:ext cx="708660" cy="708660"/>
          </a:xfrm>
          <a:prstGeom prst="rect">
            <a:avLst/>
          </a:prstGeom>
        </p:spPr>
      </p:pic>
      <p:pic>
        <p:nvPicPr>
          <p:cNvPr id="11" name="Image 8" descr="https://kimi-img.moonshot.cn/pub/slides/slides_tmpl/image/25-09-30-16:31:52-d3dpau0s8jdo4os5dgcg.png"/>
          <p:cNvPicPr>
            <a:picLocks noChangeAspect="1"/>
          </p:cNvPicPr>
          <p:nvPr/>
        </p:nvPicPr>
        <p:blipFill>
          <a:blip r:embed="rId6"/>
          <a:srcRect/>
          <a:stretch/>
        </p:blipFill>
        <p:spPr>
          <a:xfrm>
            <a:off x="6201093" y="2360930"/>
            <a:ext cx="708660" cy="708660"/>
          </a:xfrm>
          <a:prstGeom prst="rect">
            <a:avLst/>
          </a:prstGeom>
        </p:spPr>
      </p:pic>
      <p:pic>
        <p:nvPicPr>
          <p:cNvPr id="12" name="Image 9" descr="https://kimi-img.moonshot.cn/pub/slides/slides_tmpl/image/25-09-30-16:31:52-d3dpau0s8jdo4os5dgcg.png"/>
          <p:cNvPicPr>
            <a:picLocks noChangeAspect="1"/>
          </p:cNvPicPr>
          <p:nvPr/>
        </p:nvPicPr>
        <p:blipFill>
          <a:blip r:embed="rId6"/>
          <a:srcRect/>
          <a:stretch/>
        </p:blipFill>
        <p:spPr>
          <a:xfrm>
            <a:off x="6201093" y="3495675"/>
            <a:ext cx="708660" cy="708660"/>
          </a:xfrm>
          <a:prstGeom prst="rect">
            <a:avLst/>
          </a:prstGeom>
        </p:spPr>
      </p:pic>
      <p:pic>
        <p:nvPicPr>
          <p:cNvPr id="13" name="Image 10" descr="https://kimi-img.moonshot.cn/pub/slides/slides_tmpl/image/25-09-30-16:31:52-d3dpau0s8jdo4os5dgcg.png"/>
          <p:cNvPicPr>
            <a:picLocks noChangeAspect="1"/>
          </p:cNvPicPr>
          <p:nvPr/>
        </p:nvPicPr>
        <p:blipFill>
          <a:blip r:embed="rId6"/>
          <a:srcRect/>
          <a:stretch/>
        </p:blipFill>
        <p:spPr>
          <a:xfrm>
            <a:off x="432753" y="4655820"/>
            <a:ext cx="708660" cy="708660"/>
          </a:xfrm>
          <a:prstGeom prst="rect">
            <a:avLst/>
          </a:prstGeom>
        </p:spPr>
      </p:pic>
      <p:sp>
        <p:nvSpPr>
          <p:cNvPr id="14" name="Shape 1"/>
          <p:cNvSpPr/>
          <p:nvPr/>
        </p:nvSpPr>
        <p:spPr>
          <a:xfrm>
            <a:off x="6299200" y="827405"/>
            <a:ext cx="1051560" cy="622300"/>
          </a:xfrm>
          <a:custGeom>
            <a:avLst/>
            <a:gdLst/>
            <a:ahLst/>
            <a:cxnLst/>
            <a:rect l="l" t="t" r="r" b="b"/>
            <a:pathLst>
              <a:path w="1051560" h="622300">
                <a:moveTo>
                  <a:pt x="46815" y="22187"/>
                </a:moveTo>
                <a:cubicBezTo>
                  <a:pt x="46815" y="34488"/>
                  <a:pt x="36134" y="44461"/>
                  <a:pt x="22958" y="44461"/>
                </a:cubicBezTo>
                <a:cubicBezTo>
                  <a:pt x="9782" y="44461"/>
                  <a:pt x="-899" y="34488"/>
                  <a:pt x="-899" y="22187"/>
                </a:cubicBezTo>
                <a:cubicBezTo>
                  <a:pt x="-899" y="9885"/>
                  <a:pt x="9782" y="-87"/>
                  <a:pt x="22958" y="-87"/>
                </a:cubicBezTo>
                <a:cubicBezTo>
                  <a:pt x="36129" y="-93"/>
                  <a:pt x="46809" y="9871"/>
                  <a:pt x="46815" y="22165"/>
                </a:cubicBezTo>
                <a:cubicBezTo>
                  <a:pt x="46815" y="22173"/>
                  <a:pt x="46815" y="22180"/>
                  <a:pt x="46815" y="22187"/>
                </a:cubicBezTo>
                <a:close/>
                <a:moveTo>
                  <a:pt x="247776" y="22187"/>
                </a:moveTo>
                <a:cubicBezTo>
                  <a:pt x="247776" y="34488"/>
                  <a:pt x="237095" y="44461"/>
                  <a:pt x="223919" y="44461"/>
                </a:cubicBezTo>
                <a:cubicBezTo>
                  <a:pt x="210744" y="44461"/>
                  <a:pt x="200062" y="34488"/>
                  <a:pt x="200062" y="22187"/>
                </a:cubicBezTo>
                <a:cubicBezTo>
                  <a:pt x="200062" y="9885"/>
                  <a:pt x="210744" y="-87"/>
                  <a:pt x="223919" y="-87"/>
                </a:cubicBezTo>
                <a:cubicBezTo>
                  <a:pt x="237087" y="-72"/>
                  <a:pt x="247761" y="9891"/>
                  <a:pt x="247776" y="22187"/>
                </a:cubicBezTo>
                <a:close/>
                <a:moveTo>
                  <a:pt x="448680" y="22187"/>
                </a:moveTo>
                <a:cubicBezTo>
                  <a:pt x="448680" y="34488"/>
                  <a:pt x="437998" y="44461"/>
                  <a:pt x="424823" y="44461"/>
                </a:cubicBezTo>
                <a:cubicBezTo>
                  <a:pt x="411647" y="44461"/>
                  <a:pt x="400966" y="34488"/>
                  <a:pt x="400966" y="22187"/>
                </a:cubicBezTo>
                <a:cubicBezTo>
                  <a:pt x="400966" y="9885"/>
                  <a:pt x="411647" y="-87"/>
                  <a:pt x="424823" y="-87"/>
                </a:cubicBezTo>
                <a:cubicBezTo>
                  <a:pt x="437993" y="-93"/>
                  <a:pt x="448673" y="9871"/>
                  <a:pt x="448680" y="22165"/>
                </a:cubicBezTo>
                <a:cubicBezTo>
                  <a:pt x="448680" y="22173"/>
                  <a:pt x="448680" y="22180"/>
                  <a:pt x="448680" y="22187"/>
                </a:cubicBezTo>
                <a:close/>
                <a:moveTo>
                  <a:pt x="649641" y="22187"/>
                </a:moveTo>
                <a:cubicBezTo>
                  <a:pt x="649641" y="34488"/>
                  <a:pt x="638960" y="44461"/>
                  <a:pt x="625784" y="44461"/>
                </a:cubicBezTo>
                <a:cubicBezTo>
                  <a:pt x="612608" y="44461"/>
                  <a:pt x="601927" y="34488"/>
                  <a:pt x="601927" y="22187"/>
                </a:cubicBezTo>
                <a:cubicBezTo>
                  <a:pt x="601927" y="9885"/>
                  <a:pt x="612608" y="-87"/>
                  <a:pt x="625784" y="-87"/>
                </a:cubicBezTo>
                <a:cubicBezTo>
                  <a:pt x="638954" y="-93"/>
                  <a:pt x="649633" y="9871"/>
                  <a:pt x="649641" y="22165"/>
                </a:cubicBezTo>
                <a:cubicBezTo>
                  <a:pt x="649641" y="22173"/>
                  <a:pt x="649641" y="22180"/>
                  <a:pt x="649641" y="22187"/>
                </a:cubicBezTo>
                <a:close/>
                <a:moveTo>
                  <a:pt x="850601" y="22187"/>
                </a:moveTo>
                <a:cubicBezTo>
                  <a:pt x="850601" y="34488"/>
                  <a:pt x="839920" y="44461"/>
                  <a:pt x="826744" y="44461"/>
                </a:cubicBezTo>
                <a:cubicBezTo>
                  <a:pt x="813569" y="44461"/>
                  <a:pt x="802887" y="34488"/>
                  <a:pt x="802887" y="22187"/>
                </a:cubicBezTo>
                <a:cubicBezTo>
                  <a:pt x="802887" y="9885"/>
                  <a:pt x="813569" y="-87"/>
                  <a:pt x="826744" y="-87"/>
                </a:cubicBezTo>
                <a:cubicBezTo>
                  <a:pt x="839914" y="-93"/>
                  <a:pt x="850594" y="9871"/>
                  <a:pt x="850601" y="22165"/>
                </a:cubicBezTo>
                <a:cubicBezTo>
                  <a:pt x="850601" y="22173"/>
                  <a:pt x="850601" y="22180"/>
                  <a:pt x="850601" y="22187"/>
                </a:cubicBezTo>
                <a:close/>
                <a:moveTo>
                  <a:pt x="1051560" y="22187"/>
                </a:moveTo>
                <a:cubicBezTo>
                  <a:pt x="1051560" y="34488"/>
                  <a:pt x="1040879" y="44461"/>
                  <a:pt x="1027703" y="44461"/>
                </a:cubicBezTo>
                <a:cubicBezTo>
                  <a:pt x="1014527" y="44461"/>
                  <a:pt x="1003846" y="34488"/>
                  <a:pt x="1003846" y="22187"/>
                </a:cubicBezTo>
                <a:cubicBezTo>
                  <a:pt x="1003846" y="9885"/>
                  <a:pt x="1014527" y="-87"/>
                  <a:pt x="1027703" y="-87"/>
                </a:cubicBezTo>
                <a:cubicBezTo>
                  <a:pt x="1040872" y="-72"/>
                  <a:pt x="1051545" y="9891"/>
                  <a:pt x="1051560" y="22187"/>
                </a:cubicBezTo>
                <a:close/>
                <a:moveTo>
                  <a:pt x="46815" y="166647"/>
                </a:moveTo>
                <a:cubicBezTo>
                  <a:pt x="46815" y="178948"/>
                  <a:pt x="36134" y="188920"/>
                  <a:pt x="22958" y="188920"/>
                </a:cubicBezTo>
                <a:cubicBezTo>
                  <a:pt x="9782" y="188920"/>
                  <a:pt x="-899" y="178948"/>
                  <a:pt x="-899" y="166647"/>
                </a:cubicBezTo>
                <a:cubicBezTo>
                  <a:pt x="-899" y="154345"/>
                  <a:pt x="9782" y="144373"/>
                  <a:pt x="22958" y="144373"/>
                </a:cubicBezTo>
                <a:cubicBezTo>
                  <a:pt x="36129" y="144367"/>
                  <a:pt x="46809" y="154331"/>
                  <a:pt x="46815" y="166626"/>
                </a:cubicBezTo>
                <a:cubicBezTo>
                  <a:pt x="46815" y="166633"/>
                  <a:pt x="46815" y="166640"/>
                  <a:pt x="46815" y="166647"/>
                </a:cubicBezTo>
                <a:close/>
                <a:moveTo>
                  <a:pt x="247776" y="166647"/>
                </a:moveTo>
                <a:cubicBezTo>
                  <a:pt x="247776" y="178948"/>
                  <a:pt x="237095" y="188920"/>
                  <a:pt x="223919" y="188920"/>
                </a:cubicBezTo>
                <a:cubicBezTo>
                  <a:pt x="210744" y="188920"/>
                  <a:pt x="200062" y="178948"/>
                  <a:pt x="200062" y="166647"/>
                </a:cubicBezTo>
                <a:cubicBezTo>
                  <a:pt x="200062" y="154345"/>
                  <a:pt x="210744" y="144373"/>
                  <a:pt x="223919" y="144373"/>
                </a:cubicBezTo>
                <a:cubicBezTo>
                  <a:pt x="237087" y="144388"/>
                  <a:pt x="247761" y="154351"/>
                  <a:pt x="247776" y="166647"/>
                </a:cubicBezTo>
                <a:close/>
                <a:moveTo>
                  <a:pt x="448680" y="166647"/>
                </a:moveTo>
                <a:cubicBezTo>
                  <a:pt x="448680" y="178948"/>
                  <a:pt x="437998" y="188920"/>
                  <a:pt x="424823" y="188920"/>
                </a:cubicBezTo>
                <a:cubicBezTo>
                  <a:pt x="411647" y="188920"/>
                  <a:pt x="400966" y="178948"/>
                  <a:pt x="400966" y="166647"/>
                </a:cubicBezTo>
                <a:cubicBezTo>
                  <a:pt x="400966" y="154345"/>
                  <a:pt x="411647" y="144373"/>
                  <a:pt x="424823" y="144373"/>
                </a:cubicBezTo>
                <a:cubicBezTo>
                  <a:pt x="437993" y="144367"/>
                  <a:pt x="448673" y="154331"/>
                  <a:pt x="448680" y="166626"/>
                </a:cubicBezTo>
                <a:cubicBezTo>
                  <a:pt x="448680" y="166633"/>
                  <a:pt x="448680" y="166640"/>
                  <a:pt x="448680" y="166647"/>
                </a:cubicBezTo>
                <a:close/>
                <a:moveTo>
                  <a:pt x="649641" y="166647"/>
                </a:moveTo>
                <a:cubicBezTo>
                  <a:pt x="649641" y="178948"/>
                  <a:pt x="638960" y="188920"/>
                  <a:pt x="625784" y="188920"/>
                </a:cubicBezTo>
                <a:cubicBezTo>
                  <a:pt x="612608" y="188920"/>
                  <a:pt x="601927" y="178948"/>
                  <a:pt x="601927" y="166647"/>
                </a:cubicBezTo>
                <a:cubicBezTo>
                  <a:pt x="601927" y="154345"/>
                  <a:pt x="612608" y="144373"/>
                  <a:pt x="625784" y="144373"/>
                </a:cubicBezTo>
                <a:cubicBezTo>
                  <a:pt x="638954" y="144367"/>
                  <a:pt x="649633" y="154331"/>
                  <a:pt x="649641" y="166626"/>
                </a:cubicBezTo>
                <a:cubicBezTo>
                  <a:pt x="649641" y="166633"/>
                  <a:pt x="649641" y="166640"/>
                  <a:pt x="649641" y="166647"/>
                </a:cubicBezTo>
                <a:close/>
                <a:moveTo>
                  <a:pt x="850601" y="166647"/>
                </a:moveTo>
                <a:cubicBezTo>
                  <a:pt x="850601" y="178948"/>
                  <a:pt x="839920" y="188920"/>
                  <a:pt x="826744" y="188920"/>
                </a:cubicBezTo>
                <a:cubicBezTo>
                  <a:pt x="813569" y="188920"/>
                  <a:pt x="802887" y="178948"/>
                  <a:pt x="802887" y="166647"/>
                </a:cubicBezTo>
                <a:cubicBezTo>
                  <a:pt x="802887" y="154345"/>
                  <a:pt x="813569" y="144373"/>
                  <a:pt x="826744" y="144373"/>
                </a:cubicBezTo>
                <a:cubicBezTo>
                  <a:pt x="839914" y="144367"/>
                  <a:pt x="850594" y="154331"/>
                  <a:pt x="850601" y="166626"/>
                </a:cubicBezTo>
                <a:cubicBezTo>
                  <a:pt x="850601" y="166633"/>
                  <a:pt x="850601" y="166640"/>
                  <a:pt x="850601" y="166647"/>
                </a:cubicBezTo>
                <a:close/>
                <a:moveTo>
                  <a:pt x="1051560" y="166647"/>
                </a:moveTo>
                <a:cubicBezTo>
                  <a:pt x="1051560" y="178948"/>
                  <a:pt x="1040879" y="188920"/>
                  <a:pt x="1027703" y="188920"/>
                </a:cubicBezTo>
                <a:cubicBezTo>
                  <a:pt x="1014527" y="188920"/>
                  <a:pt x="1003846" y="178948"/>
                  <a:pt x="1003846" y="166647"/>
                </a:cubicBezTo>
                <a:cubicBezTo>
                  <a:pt x="1003846" y="154345"/>
                  <a:pt x="1014527" y="144373"/>
                  <a:pt x="1027703" y="144373"/>
                </a:cubicBezTo>
                <a:cubicBezTo>
                  <a:pt x="1040872" y="144388"/>
                  <a:pt x="1051545" y="154351"/>
                  <a:pt x="1051560" y="166647"/>
                </a:cubicBezTo>
                <a:close/>
                <a:moveTo>
                  <a:pt x="46815" y="311107"/>
                </a:moveTo>
                <a:cubicBezTo>
                  <a:pt x="46815" y="323408"/>
                  <a:pt x="36134" y="333380"/>
                  <a:pt x="22958" y="333380"/>
                </a:cubicBezTo>
                <a:cubicBezTo>
                  <a:pt x="9782" y="333380"/>
                  <a:pt x="-899" y="323408"/>
                  <a:pt x="-899" y="311107"/>
                </a:cubicBezTo>
                <a:cubicBezTo>
                  <a:pt x="-899" y="298805"/>
                  <a:pt x="9782" y="288833"/>
                  <a:pt x="22958" y="288833"/>
                </a:cubicBezTo>
                <a:cubicBezTo>
                  <a:pt x="36129" y="288827"/>
                  <a:pt x="46809" y="298789"/>
                  <a:pt x="46815" y="311085"/>
                </a:cubicBezTo>
                <a:cubicBezTo>
                  <a:pt x="46815" y="311092"/>
                  <a:pt x="46815" y="311100"/>
                  <a:pt x="46815" y="311107"/>
                </a:cubicBezTo>
                <a:close/>
                <a:moveTo>
                  <a:pt x="247776" y="311107"/>
                </a:moveTo>
                <a:cubicBezTo>
                  <a:pt x="247776" y="323408"/>
                  <a:pt x="237095" y="333380"/>
                  <a:pt x="223919" y="333380"/>
                </a:cubicBezTo>
                <a:cubicBezTo>
                  <a:pt x="210744" y="333380"/>
                  <a:pt x="200062" y="323408"/>
                  <a:pt x="200062" y="311107"/>
                </a:cubicBezTo>
                <a:cubicBezTo>
                  <a:pt x="200062" y="298805"/>
                  <a:pt x="210744" y="288833"/>
                  <a:pt x="223919" y="288833"/>
                </a:cubicBezTo>
                <a:cubicBezTo>
                  <a:pt x="237087" y="288847"/>
                  <a:pt x="247761" y="298811"/>
                  <a:pt x="247776" y="311107"/>
                </a:cubicBezTo>
                <a:close/>
                <a:moveTo>
                  <a:pt x="448680" y="311107"/>
                </a:moveTo>
                <a:cubicBezTo>
                  <a:pt x="448680" y="323408"/>
                  <a:pt x="437998" y="333380"/>
                  <a:pt x="424823" y="333380"/>
                </a:cubicBezTo>
                <a:cubicBezTo>
                  <a:pt x="411647" y="333380"/>
                  <a:pt x="400966" y="323408"/>
                  <a:pt x="400966" y="311107"/>
                </a:cubicBezTo>
                <a:cubicBezTo>
                  <a:pt x="400966" y="298805"/>
                  <a:pt x="411647" y="288833"/>
                  <a:pt x="424823" y="288833"/>
                </a:cubicBezTo>
                <a:cubicBezTo>
                  <a:pt x="437993" y="288827"/>
                  <a:pt x="448673" y="298789"/>
                  <a:pt x="448680" y="311085"/>
                </a:cubicBezTo>
                <a:cubicBezTo>
                  <a:pt x="448680" y="311092"/>
                  <a:pt x="448680" y="311100"/>
                  <a:pt x="448680" y="311107"/>
                </a:cubicBezTo>
                <a:close/>
                <a:moveTo>
                  <a:pt x="649641" y="311107"/>
                </a:moveTo>
                <a:cubicBezTo>
                  <a:pt x="649641" y="323408"/>
                  <a:pt x="638960" y="333380"/>
                  <a:pt x="625784" y="333380"/>
                </a:cubicBezTo>
                <a:cubicBezTo>
                  <a:pt x="612608" y="333380"/>
                  <a:pt x="601927" y="323408"/>
                  <a:pt x="601927" y="311107"/>
                </a:cubicBezTo>
                <a:cubicBezTo>
                  <a:pt x="601927" y="298805"/>
                  <a:pt x="612608" y="288833"/>
                  <a:pt x="625784" y="288833"/>
                </a:cubicBezTo>
                <a:cubicBezTo>
                  <a:pt x="638954" y="288827"/>
                  <a:pt x="649633" y="298789"/>
                  <a:pt x="649641" y="311085"/>
                </a:cubicBezTo>
                <a:cubicBezTo>
                  <a:pt x="649641" y="311092"/>
                  <a:pt x="649641" y="311100"/>
                  <a:pt x="649641" y="311107"/>
                </a:cubicBezTo>
                <a:close/>
                <a:moveTo>
                  <a:pt x="850601" y="311107"/>
                </a:moveTo>
                <a:cubicBezTo>
                  <a:pt x="850601" y="323408"/>
                  <a:pt x="839920" y="333380"/>
                  <a:pt x="826744" y="333380"/>
                </a:cubicBezTo>
                <a:cubicBezTo>
                  <a:pt x="813569" y="333380"/>
                  <a:pt x="802887" y="323408"/>
                  <a:pt x="802887" y="311107"/>
                </a:cubicBezTo>
                <a:cubicBezTo>
                  <a:pt x="802887" y="298805"/>
                  <a:pt x="813569" y="288833"/>
                  <a:pt x="826744" y="288833"/>
                </a:cubicBezTo>
                <a:cubicBezTo>
                  <a:pt x="839914" y="288827"/>
                  <a:pt x="850594" y="298789"/>
                  <a:pt x="850601" y="311085"/>
                </a:cubicBezTo>
                <a:cubicBezTo>
                  <a:pt x="850601" y="311092"/>
                  <a:pt x="850601" y="311100"/>
                  <a:pt x="850601" y="311107"/>
                </a:cubicBezTo>
                <a:close/>
                <a:moveTo>
                  <a:pt x="1051560" y="311107"/>
                </a:moveTo>
                <a:cubicBezTo>
                  <a:pt x="1051560" y="323408"/>
                  <a:pt x="1040879" y="333380"/>
                  <a:pt x="1027703" y="333380"/>
                </a:cubicBezTo>
                <a:cubicBezTo>
                  <a:pt x="1014527" y="333380"/>
                  <a:pt x="1003846" y="323408"/>
                  <a:pt x="1003846" y="311107"/>
                </a:cubicBezTo>
                <a:cubicBezTo>
                  <a:pt x="1003846" y="298805"/>
                  <a:pt x="1014527" y="288833"/>
                  <a:pt x="1027703" y="288833"/>
                </a:cubicBezTo>
                <a:cubicBezTo>
                  <a:pt x="1040872" y="288847"/>
                  <a:pt x="1051545" y="298811"/>
                  <a:pt x="1051560" y="311107"/>
                </a:cubicBezTo>
                <a:close/>
                <a:moveTo>
                  <a:pt x="46815" y="455566"/>
                </a:moveTo>
                <a:cubicBezTo>
                  <a:pt x="46815" y="467868"/>
                  <a:pt x="36134" y="477840"/>
                  <a:pt x="22958" y="477840"/>
                </a:cubicBezTo>
                <a:cubicBezTo>
                  <a:pt x="9782" y="477840"/>
                  <a:pt x="-899" y="467868"/>
                  <a:pt x="-899" y="455566"/>
                </a:cubicBezTo>
                <a:cubicBezTo>
                  <a:pt x="-899" y="443265"/>
                  <a:pt x="9782" y="433293"/>
                  <a:pt x="22958" y="433293"/>
                </a:cubicBezTo>
                <a:cubicBezTo>
                  <a:pt x="36129" y="433287"/>
                  <a:pt x="46809" y="443249"/>
                  <a:pt x="46815" y="455545"/>
                </a:cubicBezTo>
                <a:cubicBezTo>
                  <a:pt x="46815" y="455553"/>
                  <a:pt x="46815" y="455560"/>
                  <a:pt x="46815" y="455566"/>
                </a:cubicBezTo>
                <a:close/>
                <a:moveTo>
                  <a:pt x="247776" y="455566"/>
                </a:moveTo>
                <a:cubicBezTo>
                  <a:pt x="247776" y="467868"/>
                  <a:pt x="237095" y="477840"/>
                  <a:pt x="223919" y="477840"/>
                </a:cubicBezTo>
                <a:cubicBezTo>
                  <a:pt x="210744" y="477840"/>
                  <a:pt x="200062" y="467868"/>
                  <a:pt x="200062" y="455566"/>
                </a:cubicBezTo>
                <a:cubicBezTo>
                  <a:pt x="200062" y="443265"/>
                  <a:pt x="210744" y="433293"/>
                  <a:pt x="223919" y="433293"/>
                </a:cubicBezTo>
                <a:cubicBezTo>
                  <a:pt x="237087" y="433307"/>
                  <a:pt x="247761" y="443271"/>
                  <a:pt x="247776" y="455566"/>
                </a:cubicBezTo>
                <a:close/>
                <a:moveTo>
                  <a:pt x="448680" y="455566"/>
                </a:moveTo>
                <a:cubicBezTo>
                  <a:pt x="448680" y="467868"/>
                  <a:pt x="437998" y="477840"/>
                  <a:pt x="424823" y="477840"/>
                </a:cubicBezTo>
                <a:cubicBezTo>
                  <a:pt x="411647" y="477840"/>
                  <a:pt x="400966" y="467868"/>
                  <a:pt x="400966" y="455566"/>
                </a:cubicBezTo>
                <a:cubicBezTo>
                  <a:pt x="400966" y="443265"/>
                  <a:pt x="411647" y="433293"/>
                  <a:pt x="424823" y="433293"/>
                </a:cubicBezTo>
                <a:cubicBezTo>
                  <a:pt x="437993" y="433287"/>
                  <a:pt x="448673" y="443249"/>
                  <a:pt x="448680" y="455545"/>
                </a:cubicBezTo>
                <a:cubicBezTo>
                  <a:pt x="448680" y="455553"/>
                  <a:pt x="448680" y="455560"/>
                  <a:pt x="448680" y="455566"/>
                </a:cubicBezTo>
                <a:close/>
                <a:moveTo>
                  <a:pt x="649641" y="455566"/>
                </a:moveTo>
                <a:cubicBezTo>
                  <a:pt x="649641" y="467868"/>
                  <a:pt x="638960" y="477840"/>
                  <a:pt x="625784" y="477840"/>
                </a:cubicBezTo>
                <a:cubicBezTo>
                  <a:pt x="612608" y="477840"/>
                  <a:pt x="601927" y="467868"/>
                  <a:pt x="601927" y="455566"/>
                </a:cubicBezTo>
                <a:cubicBezTo>
                  <a:pt x="601927" y="443265"/>
                  <a:pt x="612608" y="433293"/>
                  <a:pt x="625784" y="433293"/>
                </a:cubicBezTo>
                <a:cubicBezTo>
                  <a:pt x="638954" y="433287"/>
                  <a:pt x="649633" y="443249"/>
                  <a:pt x="649641" y="455545"/>
                </a:cubicBezTo>
                <a:cubicBezTo>
                  <a:pt x="649641" y="455553"/>
                  <a:pt x="649641" y="455560"/>
                  <a:pt x="649641" y="455566"/>
                </a:cubicBezTo>
                <a:close/>
                <a:moveTo>
                  <a:pt x="850601" y="455566"/>
                </a:moveTo>
                <a:cubicBezTo>
                  <a:pt x="850601" y="467868"/>
                  <a:pt x="839920" y="477840"/>
                  <a:pt x="826744" y="477840"/>
                </a:cubicBezTo>
                <a:cubicBezTo>
                  <a:pt x="813569" y="477840"/>
                  <a:pt x="802887" y="467868"/>
                  <a:pt x="802887" y="455566"/>
                </a:cubicBezTo>
                <a:cubicBezTo>
                  <a:pt x="802887" y="443265"/>
                  <a:pt x="813569" y="433293"/>
                  <a:pt x="826744" y="433293"/>
                </a:cubicBezTo>
                <a:cubicBezTo>
                  <a:pt x="839914" y="433287"/>
                  <a:pt x="850594" y="443249"/>
                  <a:pt x="850601" y="455545"/>
                </a:cubicBezTo>
                <a:cubicBezTo>
                  <a:pt x="850601" y="455553"/>
                  <a:pt x="850601" y="455560"/>
                  <a:pt x="850601" y="455566"/>
                </a:cubicBezTo>
                <a:close/>
                <a:moveTo>
                  <a:pt x="1051560" y="455566"/>
                </a:moveTo>
                <a:cubicBezTo>
                  <a:pt x="1051560" y="467868"/>
                  <a:pt x="1040879" y="477840"/>
                  <a:pt x="1027703" y="477840"/>
                </a:cubicBezTo>
                <a:cubicBezTo>
                  <a:pt x="1014527" y="477840"/>
                  <a:pt x="1003846" y="467868"/>
                  <a:pt x="1003846" y="455566"/>
                </a:cubicBezTo>
                <a:cubicBezTo>
                  <a:pt x="1003846" y="443265"/>
                  <a:pt x="1014527" y="433293"/>
                  <a:pt x="1027703" y="433293"/>
                </a:cubicBezTo>
                <a:cubicBezTo>
                  <a:pt x="1040872" y="433307"/>
                  <a:pt x="1051545" y="443271"/>
                  <a:pt x="1051560" y="455566"/>
                </a:cubicBezTo>
                <a:close/>
                <a:moveTo>
                  <a:pt x="46815" y="600026"/>
                </a:moveTo>
                <a:cubicBezTo>
                  <a:pt x="46815" y="612328"/>
                  <a:pt x="36134" y="622300"/>
                  <a:pt x="22958" y="622300"/>
                </a:cubicBezTo>
                <a:cubicBezTo>
                  <a:pt x="9782" y="622300"/>
                  <a:pt x="-899" y="612328"/>
                  <a:pt x="-899" y="600026"/>
                </a:cubicBezTo>
                <a:cubicBezTo>
                  <a:pt x="-899" y="587725"/>
                  <a:pt x="9782" y="577752"/>
                  <a:pt x="22958" y="577752"/>
                </a:cubicBezTo>
                <a:cubicBezTo>
                  <a:pt x="36129" y="577746"/>
                  <a:pt x="46809" y="587709"/>
                  <a:pt x="46815" y="600005"/>
                </a:cubicBezTo>
                <a:cubicBezTo>
                  <a:pt x="46815" y="600012"/>
                  <a:pt x="46815" y="600018"/>
                  <a:pt x="46815" y="600026"/>
                </a:cubicBezTo>
                <a:close/>
                <a:moveTo>
                  <a:pt x="247776" y="600026"/>
                </a:moveTo>
                <a:cubicBezTo>
                  <a:pt x="247776" y="612328"/>
                  <a:pt x="237095" y="622300"/>
                  <a:pt x="223919" y="622300"/>
                </a:cubicBezTo>
                <a:cubicBezTo>
                  <a:pt x="210744" y="622300"/>
                  <a:pt x="200062" y="612328"/>
                  <a:pt x="200062" y="600026"/>
                </a:cubicBezTo>
                <a:cubicBezTo>
                  <a:pt x="200062" y="587725"/>
                  <a:pt x="210744" y="577752"/>
                  <a:pt x="223919" y="577752"/>
                </a:cubicBezTo>
                <a:cubicBezTo>
                  <a:pt x="237087" y="577766"/>
                  <a:pt x="247761" y="587731"/>
                  <a:pt x="247776" y="600026"/>
                </a:cubicBezTo>
                <a:close/>
                <a:moveTo>
                  <a:pt x="448680" y="600026"/>
                </a:moveTo>
                <a:cubicBezTo>
                  <a:pt x="448680" y="612328"/>
                  <a:pt x="437998" y="622300"/>
                  <a:pt x="424823" y="622300"/>
                </a:cubicBezTo>
                <a:cubicBezTo>
                  <a:pt x="411647" y="622300"/>
                  <a:pt x="400966" y="612328"/>
                  <a:pt x="400966" y="600026"/>
                </a:cubicBezTo>
                <a:cubicBezTo>
                  <a:pt x="400966" y="587725"/>
                  <a:pt x="411647" y="577752"/>
                  <a:pt x="424823" y="577752"/>
                </a:cubicBezTo>
                <a:cubicBezTo>
                  <a:pt x="437993" y="577746"/>
                  <a:pt x="448673" y="587709"/>
                  <a:pt x="448680" y="600005"/>
                </a:cubicBezTo>
                <a:cubicBezTo>
                  <a:pt x="448680" y="600012"/>
                  <a:pt x="448680" y="600018"/>
                  <a:pt x="448680" y="600026"/>
                </a:cubicBezTo>
                <a:close/>
                <a:moveTo>
                  <a:pt x="649641" y="600026"/>
                </a:moveTo>
                <a:cubicBezTo>
                  <a:pt x="649641" y="612328"/>
                  <a:pt x="638960" y="622300"/>
                  <a:pt x="625784" y="622300"/>
                </a:cubicBezTo>
                <a:cubicBezTo>
                  <a:pt x="612608" y="622300"/>
                  <a:pt x="601927" y="612328"/>
                  <a:pt x="601927" y="600026"/>
                </a:cubicBezTo>
                <a:cubicBezTo>
                  <a:pt x="601927" y="587725"/>
                  <a:pt x="612608" y="577752"/>
                  <a:pt x="625784" y="577752"/>
                </a:cubicBezTo>
                <a:cubicBezTo>
                  <a:pt x="638954" y="577746"/>
                  <a:pt x="649633" y="587709"/>
                  <a:pt x="649641" y="600005"/>
                </a:cubicBezTo>
                <a:cubicBezTo>
                  <a:pt x="649641" y="600012"/>
                  <a:pt x="649641" y="600018"/>
                  <a:pt x="649641" y="600026"/>
                </a:cubicBezTo>
                <a:close/>
                <a:moveTo>
                  <a:pt x="850601" y="600026"/>
                </a:moveTo>
                <a:cubicBezTo>
                  <a:pt x="850601" y="612328"/>
                  <a:pt x="839920" y="622300"/>
                  <a:pt x="826744" y="622300"/>
                </a:cubicBezTo>
                <a:cubicBezTo>
                  <a:pt x="813569" y="622300"/>
                  <a:pt x="802887" y="612328"/>
                  <a:pt x="802887" y="600026"/>
                </a:cubicBezTo>
                <a:cubicBezTo>
                  <a:pt x="802887" y="587725"/>
                  <a:pt x="813569" y="577752"/>
                  <a:pt x="826744" y="577752"/>
                </a:cubicBezTo>
                <a:cubicBezTo>
                  <a:pt x="839914" y="577746"/>
                  <a:pt x="850594" y="587709"/>
                  <a:pt x="850601" y="600005"/>
                </a:cubicBezTo>
                <a:cubicBezTo>
                  <a:pt x="850601" y="600012"/>
                  <a:pt x="850601" y="600018"/>
                  <a:pt x="850601" y="600026"/>
                </a:cubicBezTo>
                <a:close/>
                <a:moveTo>
                  <a:pt x="1051560" y="600026"/>
                </a:moveTo>
                <a:cubicBezTo>
                  <a:pt x="1051560" y="612328"/>
                  <a:pt x="1040879" y="622300"/>
                  <a:pt x="1027703" y="622300"/>
                </a:cubicBezTo>
                <a:cubicBezTo>
                  <a:pt x="1014527" y="622300"/>
                  <a:pt x="1003846" y="612328"/>
                  <a:pt x="1003846" y="600026"/>
                </a:cubicBezTo>
                <a:cubicBezTo>
                  <a:pt x="1003846" y="587725"/>
                  <a:pt x="1014527" y="577752"/>
                  <a:pt x="1027703" y="577752"/>
                </a:cubicBezTo>
                <a:cubicBezTo>
                  <a:pt x="1040872" y="577766"/>
                  <a:pt x="1051545" y="587731"/>
                  <a:pt x="1051560" y="600026"/>
                </a:cubicBezTo>
                <a:close/>
              </a:path>
            </a:pathLst>
          </a:custGeom>
          <a:solidFill>
            <a:srgbClr val="FFFFFF"/>
          </a:solidFill>
          <a:ln/>
        </p:spPr>
      </p:sp>
      <p:sp>
        <p:nvSpPr>
          <p:cNvPr id="15" name="Text 2"/>
          <p:cNvSpPr/>
          <p:nvPr/>
        </p:nvSpPr>
        <p:spPr>
          <a:xfrm>
            <a:off x="4476115" y="1174750"/>
            <a:ext cx="3239135" cy="1012190"/>
          </a:xfrm>
          <a:prstGeom prst="rect">
            <a:avLst/>
          </a:prstGeom>
          <a:noFill/>
          <a:ln/>
        </p:spPr>
        <p:txBody>
          <a:bodyPr wrap="square" lIns="91440" tIns="45720" rIns="91440" bIns="45720" rtlCol="0" anchor="t">
            <a:spAutoFit/>
          </a:bodyPr>
          <a:lstStyle/>
          <a:p>
            <a:pPr algn="ctr">
              <a:lnSpc>
                <a:spcPct val="100000"/>
              </a:lnSpc>
            </a:pPr>
            <a:r>
              <a:rPr lang="en-US" sz="6000" b="1" dirty="0">
                <a:solidFill>
                  <a:srgbClr val="000000"/>
                </a:solidFill>
                <a:latin typeface="MiSans" pitchFamily="34" charset="0"/>
                <a:ea typeface="MiSans" pitchFamily="34" charset="-122"/>
                <a:cs typeface="MiSans" pitchFamily="34" charset="-120"/>
              </a:rPr>
              <a:t>目录</a:t>
            </a:r>
            <a:endParaRPr lang="en-US" sz="1600" dirty="0"/>
          </a:p>
        </p:txBody>
      </p:sp>
      <p:sp>
        <p:nvSpPr>
          <p:cNvPr id="16" name="Text 3"/>
          <p:cNvSpPr/>
          <p:nvPr/>
        </p:nvSpPr>
        <p:spPr>
          <a:xfrm>
            <a:off x="3431540" y="595630"/>
            <a:ext cx="5328920"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000000"/>
                </a:solidFill>
                <a:latin typeface="MiSans" pitchFamily="34" charset="0"/>
                <a:ea typeface="MiSans" pitchFamily="34" charset="-122"/>
                <a:cs typeface="MiSans" pitchFamily="34" charset="-120"/>
              </a:rPr>
              <a:t>CONTENTS</a:t>
            </a:r>
            <a:endParaRPr lang="en-US" sz="1600" dirty="0"/>
          </a:p>
        </p:txBody>
      </p:sp>
      <p:pic>
        <p:nvPicPr>
          <p:cNvPr id="17" name="Image 11" descr="https://kimi-img.moonshot.cn/pub/slides/slides_tmpl/image/25-09-30-16:31:52-d3dpau0s8jdo4os5dgf0.png"/>
          <p:cNvPicPr>
            <a:picLocks noChangeAspect="1"/>
          </p:cNvPicPr>
          <p:nvPr/>
        </p:nvPicPr>
        <p:blipFill>
          <a:blip r:embed="rId7"/>
          <a:srcRect t="3182" b="3182"/>
          <a:stretch/>
        </p:blipFill>
        <p:spPr>
          <a:xfrm rot="3660000">
            <a:off x="9153525" y="916305"/>
            <a:ext cx="1581785" cy="1440815"/>
          </a:xfrm>
          <a:prstGeom prst="rect">
            <a:avLst/>
          </a:prstGeom>
        </p:spPr>
      </p:pic>
      <p:pic>
        <p:nvPicPr>
          <p:cNvPr id="18" name="Image 12" descr="https://kimi-img.moonshot.cn/pub/slides/slides_tmpl/image/25-09-30-16:31:52-d3dpau0s8jdo4os5dgd0.png"/>
          <p:cNvPicPr>
            <a:picLocks noChangeAspect="1"/>
          </p:cNvPicPr>
          <p:nvPr/>
        </p:nvPicPr>
        <p:blipFill>
          <a:blip r:embed="rId5"/>
          <a:stretch>
            <a:fillRect/>
          </a:stretch>
        </p:blipFill>
        <p:spPr>
          <a:xfrm>
            <a:off x="6501130" y="4655820"/>
            <a:ext cx="5304790" cy="731520"/>
          </a:xfrm>
          <a:prstGeom prst="rect">
            <a:avLst/>
          </a:prstGeom>
        </p:spPr>
      </p:pic>
      <p:pic>
        <p:nvPicPr>
          <p:cNvPr id="19" name="Image 13" descr="https://kimi-img.moonshot.cn/pub/slides/slides_tmpl/image/25-09-30-16:31:52-d3dpau0s8jdo4os5dgcg.png"/>
          <p:cNvPicPr>
            <a:picLocks noChangeAspect="1"/>
          </p:cNvPicPr>
          <p:nvPr/>
        </p:nvPicPr>
        <p:blipFill>
          <a:blip r:embed="rId6"/>
          <a:srcRect/>
          <a:stretch/>
        </p:blipFill>
        <p:spPr>
          <a:xfrm>
            <a:off x="6209348" y="4658995"/>
            <a:ext cx="708660" cy="708660"/>
          </a:xfrm>
          <a:prstGeom prst="rect">
            <a:avLst/>
          </a:prstGeom>
        </p:spPr>
      </p:pic>
      <p:pic>
        <p:nvPicPr>
          <p:cNvPr id="20" name="Image 14" descr="https://kimi-img.moonshot.cn/pub/slides/slides_tmpl/image/25-09-30-16:31:52-d3dpau0s8jdo4os5dgf0.png"/>
          <p:cNvPicPr>
            <a:picLocks noChangeAspect="1"/>
          </p:cNvPicPr>
          <p:nvPr/>
        </p:nvPicPr>
        <p:blipFill>
          <a:blip r:embed="rId7"/>
          <a:srcRect t="3182" b="3182"/>
          <a:stretch/>
        </p:blipFill>
        <p:spPr>
          <a:xfrm rot="7140000">
            <a:off x="821690" y="5361940"/>
            <a:ext cx="788670" cy="718185"/>
          </a:xfrm>
          <a:prstGeom prst="rect">
            <a:avLst/>
          </a:prstGeom>
        </p:spPr>
      </p:pic>
      <p:sp>
        <p:nvSpPr>
          <p:cNvPr id="21" name="Text 4"/>
          <p:cNvSpPr/>
          <p:nvPr/>
        </p:nvSpPr>
        <p:spPr>
          <a:xfrm>
            <a:off x="367665" y="2455545"/>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01</a:t>
            </a:r>
            <a:endParaRPr lang="en-US" sz="1600" dirty="0"/>
          </a:p>
        </p:txBody>
      </p:sp>
      <p:sp>
        <p:nvSpPr>
          <p:cNvPr id="22" name="Text 5"/>
          <p:cNvSpPr/>
          <p:nvPr/>
        </p:nvSpPr>
        <p:spPr>
          <a:xfrm>
            <a:off x="1376045" y="2562225"/>
            <a:ext cx="4536440" cy="368300"/>
          </a:xfrm>
          <a:prstGeom prst="rect">
            <a:avLst/>
          </a:prstGeom>
          <a:noFill/>
          <a:ln/>
        </p:spPr>
        <p:txBody>
          <a:bodyPr wrap="square" lIns="0" tIns="0" rIns="0" bIns="0" rtlCol="0" anchor="t">
            <a:spAutoFit/>
          </a:bodyPr>
          <a:lstStyle/>
          <a:p>
            <a:pPr>
              <a:lnSpc>
                <a:spcPct val="100000"/>
              </a:lnSpc>
            </a:pPr>
            <a:r>
              <a:rPr lang="en-US" sz="2400" b="1" kern="0" spc="300" dirty="0">
                <a:solidFill>
                  <a:srgbClr val="262626"/>
                </a:solidFill>
                <a:latin typeface="MiSans" pitchFamily="34" charset="0"/>
                <a:ea typeface="MiSans" pitchFamily="34" charset="-122"/>
                <a:cs typeface="MiSans" pitchFamily="34" charset="-120"/>
              </a:rPr>
              <a:t>破局之思：为何推进AI创新</a:t>
            </a:r>
            <a:endParaRPr lang="en-US" sz="1600" dirty="0"/>
          </a:p>
        </p:txBody>
      </p:sp>
      <p:sp>
        <p:nvSpPr>
          <p:cNvPr id="23" name="Text 6"/>
          <p:cNvSpPr/>
          <p:nvPr/>
        </p:nvSpPr>
        <p:spPr>
          <a:xfrm>
            <a:off x="367665" y="3597910"/>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02</a:t>
            </a:r>
            <a:endParaRPr lang="en-US" sz="1600" dirty="0"/>
          </a:p>
        </p:txBody>
      </p:sp>
      <p:sp>
        <p:nvSpPr>
          <p:cNvPr id="24" name="Text 7"/>
          <p:cNvSpPr/>
          <p:nvPr/>
        </p:nvSpPr>
        <p:spPr>
          <a:xfrm>
            <a:off x="1376045" y="3709035"/>
            <a:ext cx="4536440" cy="368300"/>
          </a:xfrm>
          <a:prstGeom prst="rect">
            <a:avLst/>
          </a:prstGeom>
          <a:noFill/>
          <a:ln/>
        </p:spPr>
        <p:txBody>
          <a:bodyPr wrap="square" lIns="0" tIns="0" rIns="0" bIns="0" rtlCol="0" anchor="t">
            <a:spAutoFit/>
          </a:bodyPr>
          <a:lstStyle/>
          <a:p>
            <a:pPr>
              <a:lnSpc>
                <a:spcPct val="100000"/>
              </a:lnSpc>
            </a:pPr>
            <a:r>
              <a:rPr lang="en-US" sz="2400" b="1" dirty="0">
                <a:solidFill>
                  <a:srgbClr val="000000"/>
                </a:solidFill>
                <a:latin typeface="MiSans" pitchFamily="34" charset="0"/>
                <a:ea typeface="MiSans" pitchFamily="34" charset="-122"/>
                <a:cs typeface="MiSans" pitchFamily="34" charset="-120"/>
              </a:rPr>
              <a:t>组织之基：谁来驱动AI创新</a:t>
            </a:r>
            <a:endParaRPr lang="en-US" sz="1600" dirty="0"/>
          </a:p>
        </p:txBody>
      </p:sp>
      <p:sp>
        <p:nvSpPr>
          <p:cNvPr id="25" name="Text 8"/>
          <p:cNvSpPr/>
          <p:nvPr/>
        </p:nvSpPr>
        <p:spPr>
          <a:xfrm>
            <a:off x="6136005" y="2441575"/>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03</a:t>
            </a:r>
            <a:endParaRPr lang="en-US" sz="1600" dirty="0"/>
          </a:p>
        </p:txBody>
      </p:sp>
      <p:sp>
        <p:nvSpPr>
          <p:cNvPr id="26" name="Text 9"/>
          <p:cNvSpPr/>
          <p:nvPr/>
        </p:nvSpPr>
        <p:spPr>
          <a:xfrm>
            <a:off x="7144385" y="2523490"/>
            <a:ext cx="4536440" cy="368300"/>
          </a:xfrm>
          <a:prstGeom prst="rect">
            <a:avLst/>
          </a:prstGeom>
          <a:noFill/>
          <a:ln/>
        </p:spPr>
        <p:txBody>
          <a:bodyPr wrap="square" lIns="0" tIns="0" rIns="0" bIns="0" rtlCol="0" anchor="t">
            <a:spAutoFit/>
          </a:bodyPr>
          <a:lstStyle/>
          <a:p>
            <a:pPr>
              <a:lnSpc>
                <a:spcPct val="100000"/>
              </a:lnSpc>
            </a:pPr>
            <a:r>
              <a:rPr lang="en-US" sz="2400" b="1" dirty="0">
                <a:solidFill>
                  <a:srgbClr val="000000"/>
                </a:solidFill>
                <a:latin typeface="MiSans" pitchFamily="34" charset="0"/>
                <a:ea typeface="MiSans" pitchFamily="34" charset="-122"/>
                <a:cs typeface="MiSans" pitchFamily="34" charset="-120"/>
              </a:rPr>
              <a:t>流程之道：如何闭环落地AI项目</a:t>
            </a:r>
            <a:endParaRPr lang="en-US" sz="1600" dirty="0"/>
          </a:p>
        </p:txBody>
      </p:sp>
      <p:sp>
        <p:nvSpPr>
          <p:cNvPr id="27" name="Text 10"/>
          <p:cNvSpPr/>
          <p:nvPr/>
        </p:nvSpPr>
        <p:spPr>
          <a:xfrm>
            <a:off x="6136005" y="3576320"/>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04</a:t>
            </a:r>
            <a:endParaRPr lang="en-US" sz="1600" dirty="0"/>
          </a:p>
        </p:txBody>
      </p:sp>
      <p:sp>
        <p:nvSpPr>
          <p:cNvPr id="28" name="Text 11"/>
          <p:cNvSpPr/>
          <p:nvPr/>
        </p:nvSpPr>
        <p:spPr>
          <a:xfrm>
            <a:off x="7144385" y="3702685"/>
            <a:ext cx="4536440" cy="774700"/>
          </a:xfrm>
          <a:prstGeom prst="rect">
            <a:avLst/>
          </a:prstGeom>
          <a:noFill/>
          <a:ln/>
        </p:spPr>
        <p:txBody>
          <a:bodyPr wrap="square" lIns="0" tIns="0" rIns="0" bIns="0" rtlCol="0" anchor="t">
            <a:spAutoFit/>
          </a:bodyPr>
          <a:lstStyle/>
          <a:p>
            <a:pPr>
              <a:lnSpc>
                <a:spcPct val="100000"/>
              </a:lnSpc>
            </a:pPr>
            <a:r>
              <a:rPr lang="en-US" sz="2400" b="1" dirty="0">
                <a:solidFill>
                  <a:srgbClr val="000000"/>
                </a:solidFill>
                <a:latin typeface="MiSans" pitchFamily="34" charset="0"/>
                <a:ea typeface="MiSans" pitchFamily="34" charset="-122"/>
                <a:cs typeface="MiSans" pitchFamily="34" charset="-120"/>
              </a:rPr>
              <a:t>保障之盾：四大机制破解核心瓶颈</a:t>
            </a:r>
            <a:endParaRPr lang="en-US" sz="1600" dirty="0"/>
          </a:p>
        </p:txBody>
      </p:sp>
      <p:sp>
        <p:nvSpPr>
          <p:cNvPr id="29" name="Text 12"/>
          <p:cNvSpPr/>
          <p:nvPr/>
        </p:nvSpPr>
        <p:spPr>
          <a:xfrm>
            <a:off x="367665" y="4736465"/>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05</a:t>
            </a:r>
            <a:endParaRPr lang="en-US" sz="1600" dirty="0"/>
          </a:p>
        </p:txBody>
      </p:sp>
      <p:sp>
        <p:nvSpPr>
          <p:cNvPr id="30" name="Text 13"/>
          <p:cNvSpPr/>
          <p:nvPr/>
        </p:nvSpPr>
        <p:spPr>
          <a:xfrm>
            <a:off x="1376045" y="4872355"/>
            <a:ext cx="4536440" cy="368300"/>
          </a:xfrm>
          <a:prstGeom prst="rect">
            <a:avLst/>
          </a:prstGeom>
          <a:noFill/>
          <a:ln/>
        </p:spPr>
        <p:txBody>
          <a:bodyPr wrap="square" lIns="0" tIns="0" rIns="0" bIns="0" rtlCol="0" anchor="t">
            <a:spAutoFit/>
          </a:bodyPr>
          <a:lstStyle/>
          <a:p>
            <a:pPr>
              <a:lnSpc>
                <a:spcPct val="100000"/>
              </a:lnSpc>
            </a:pPr>
            <a:r>
              <a:rPr lang="en-US" sz="2400" b="1" dirty="0">
                <a:solidFill>
                  <a:srgbClr val="000000"/>
                </a:solidFill>
                <a:latin typeface="MiSans" pitchFamily="34" charset="0"/>
                <a:ea typeface="MiSans" pitchFamily="34" charset="-122"/>
                <a:cs typeface="MiSans" pitchFamily="34" charset="-120"/>
              </a:rPr>
              <a:t>践行之路：三阶段稳步推进</a:t>
            </a:r>
            <a:endParaRPr lang="en-US" sz="1600" dirty="0"/>
          </a:p>
        </p:txBody>
      </p:sp>
      <p:sp>
        <p:nvSpPr>
          <p:cNvPr id="31" name="Text 14"/>
          <p:cNvSpPr/>
          <p:nvPr/>
        </p:nvSpPr>
        <p:spPr>
          <a:xfrm>
            <a:off x="6144260" y="4739640"/>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06</a:t>
            </a:r>
            <a:endParaRPr lang="en-US" sz="1600" dirty="0"/>
          </a:p>
        </p:txBody>
      </p:sp>
      <p:sp>
        <p:nvSpPr>
          <p:cNvPr id="32" name="Text 15"/>
          <p:cNvSpPr/>
          <p:nvPr/>
        </p:nvSpPr>
        <p:spPr>
          <a:xfrm>
            <a:off x="7152640" y="4875530"/>
            <a:ext cx="4536440" cy="368300"/>
          </a:xfrm>
          <a:prstGeom prst="rect">
            <a:avLst/>
          </a:prstGeom>
          <a:noFill/>
          <a:ln/>
        </p:spPr>
        <p:txBody>
          <a:bodyPr wrap="square" lIns="0" tIns="0" rIns="0" bIns="0" rtlCol="0" anchor="t">
            <a:spAutoFit/>
          </a:bodyPr>
          <a:lstStyle/>
          <a:p>
            <a:pPr>
              <a:lnSpc>
                <a:spcPct val="100000"/>
              </a:lnSpc>
            </a:pPr>
            <a:r>
              <a:rPr lang="en-US" sz="2400" b="1" dirty="0">
                <a:solidFill>
                  <a:srgbClr val="000000"/>
                </a:solidFill>
                <a:latin typeface="MiSans" pitchFamily="34" charset="0"/>
                <a:ea typeface="MiSans" pitchFamily="34" charset="-122"/>
                <a:cs typeface="MiSans" pitchFamily="34" charset="-120"/>
              </a:rPr>
              <a:t>未来之景：预期成效与风险应对</a:t>
            </a:r>
            <a:endParaRPr lang="en-US" sz="1600" dirty="0"/>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3117533" y="3429000"/>
            <a:ext cx="5956935" cy="164084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1199FB"/>
                </a:solidFill>
                <a:latin typeface="MiSans" pitchFamily="34" charset="0"/>
                <a:ea typeface="MiSans" pitchFamily="34" charset="-122"/>
                <a:cs typeface="MiSans" pitchFamily="34" charset="-120"/>
              </a:rPr>
              <a:t>破局之思：为何推进AI创新</a:t>
            </a:r>
            <a:endParaRPr lang="en-US" sz="1600" dirty="0"/>
          </a:p>
        </p:txBody>
      </p:sp>
      <p:sp>
        <p:nvSpPr>
          <p:cNvPr id="4" name="Text 1"/>
          <p:cNvSpPr/>
          <p:nvPr/>
        </p:nvSpPr>
        <p:spPr>
          <a:xfrm>
            <a:off x="3117533" y="1860550"/>
            <a:ext cx="5956935" cy="1574760"/>
          </a:xfrm>
          <a:prstGeom prst="rect">
            <a:avLst/>
          </a:prstGeom>
          <a:noFill/>
          <a:ln/>
        </p:spPr>
        <p:txBody>
          <a:bodyPr wrap="square" lIns="91440" tIns="45720" rIns="91440" bIns="45720" rtlCol="0" anchor="t">
            <a:spAutoFit/>
          </a:bodyPr>
          <a:lstStyle/>
          <a:p>
            <a:pPr algn="ctr">
              <a:lnSpc>
                <a:spcPct val="100000"/>
              </a:lnSpc>
            </a:pPr>
            <a:r>
              <a:rPr lang="en-US" sz="9600" b="1" dirty="0">
                <a:solidFill>
                  <a:srgbClr val="1199FB"/>
                </a:solidFill>
                <a:latin typeface="MiSans" pitchFamily="34" charset="0"/>
                <a:ea typeface="MiSans" pitchFamily="34" charset="-122"/>
                <a:cs typeface="MiSans" pitchFamily="34" charset="-120"/>
              </a:rPr>
              <a:t>01</a:t>
            </a:r>
            <a:endParaRPr lang="en-US" sz="1600" dirty="0"/>
          </a:p>
        </p:txBody>
      </p:sp>
      <p:pic>
        <p:nvPicPr>
          <p:cNvPr id="5" name="Image 1" descr="https://kimi-img.moonshot.cn/pub/slides/slides_tmpl/image/25-09-30-16:31:52-d3dpau0s8jdo4os5dghg.png"/>
          <p:cNvPicPr>
            <a:picLocks noChangeAspect="1"/>
          </p:cNvPicPr>
          <p:nvPr/>
        </p:nvPicPr>
        <p:blipFill>
          <a:blip r:embed="rId5"/>
          <a:stretch>
            <a:fillRect/>
          </a:stretch>
        </p:blipFill>
        <p:spPr>
          <a:xfrm>
            <a:off x="1180465" y="1539875"/>
            <a:ext cx="2349500" cy="2733040"/>
          </a:xfrm>
          <a:prstGeom prst="rect">
            <a:avLst/>
          </a:prstGeom>
        </p:spPr>
      </p:pic>
      <p:pic>
        <p:nvPicPr>
          <p:cNvPr id="6" name="Image 2" descr="https://kimi-img.moonshot.cn/pub/slides/slides_tmpl/image/25-09-30-16:31:52-d3dpau0s8jdo4os5dgf0.png"/>
          <p:cNvPicPr>
            <a:picLocks noChangeAspect="1"/>
          </p:cNvPicPr>
          <p:nvPr/>
        </p:nvPicPr>
        <p:blipFill>
          <a:blip r:embed="rId6"/>
          <a:srcRect t="3182" b="3182"/>
          <a:stretch/>
        </p:blipFill>
        <p:spPr>
          <a:xfrm rot="3660000">
            <a:off x="9880600" y="4845050"/>
            <a:ext cx="1117600" cy="1017905"/>
          </a:xfrm>
          <a:prstGeom prst="rect">
            <a:avLst/>
          </a:prstGeom>
        </p:spPr>
      </p:pic>
      <p:sp>
        <p:nvSpPr>
          <p:cNvPr id="7" name="Shape 2"/>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10-d3dpb2gs8jdo4os5dgo0.png"/>
          <p:cNvPicPr>
            <a:picLocks noChangeAspect="1"/>
          </p:cNvPicPr>
          <p:nvPr/>
        </p:nvPicPr>
        <p:blipFill>
          <a:blip r:embed="rId4"/>
          <a:srcRect t="9" b="9"/>
          <a:stretch/>
        </p:blipFill>
        <p:spPr>
          <a:xfrm>
            <a:off x="4472940" y="3754755"/>
            <a:ext cx="6900545" cy="2218690"/>
          </a:xfrm>
          <a:prstGeom prst="rect">
            <a:avLst/>
          </a:prstGeom>
        </p:spPr>
      </p:pic>
      <p:pic>
        <p:nvPicPr>
          <p:cNvPr id="3" name="Image 1" descr="https://kimi-img.moonshot.cn/pub/slides/slides_tmpl/image/25-09-30-16:32:11-d3dpb2os8jdo4os5dgq0.jpeg"/>
          <p:cNvPicPr>
            <a:picLocks noChangeAspect="1"/>
          </p:cNvPicPr>
          <p:nvPr/>
        </p:nvPicPr>
        <p:blipFill>
          <a:blip r:embed="rId5"/>
          <a:srcRect l="2349" r="2349"/>
          <a:stretch/>
        </p:blipFill>
        <p:spPr>
          <a:xfrm flipH="1">
            <a:off x="767080" y="3754755"/>
            <a:ext cx="3467100" cy="2216785"/>
          </a:xfrm>
          <a:prstGeom prst="rect">
            <a:avLst/>
          </a:prstGeom>
        </p:spPr>
      </p:pic>
      <p:sp>
        <p:nvSpPr>
          <p:cNvPr id="4" name="Shape 0"/>
          <p:cNvSpPr/>
          <p:nvPr/>
        </p:nvSpPr>
        <p:spPr>
          <a:xfrm>
            <a:off x="10201275" y="669925"/>
            <a:ext cx="1160145" cy="707390"/>
          </a:xfrm>
          <a:custGeom>
            <a:avLst/>
            <a:gdLst/>
            <a:ahLst/>
            <a:cxnLst/>
            <a:rect l="l" t="t" r="r" b="b"/>
            <a:pathLst>
              <a:path w="1160145" h="707390">
                <a:moveTo>
                  <a:pt x="51650" y="25221"/>
                </a:moveTo>
                <a:cubicBezTo>
                  <a:pt x="51650" y="39204"/>
                  <a:pt x="39866" y="50540"/>
                  <a:pt x="25329" y="50540"/>
                </a:cubicBezTo>
                <a:cubicBezTo>
                  <a:pt x="10793" y="50540"/>
                  <a:pt x="-991" y="39204"/>
                  <a:pt x="-991" y="25221"/>
                </a:cubicBezTo>
                <a:cubicBezTo>
                  <a:pt x="-991" y="11237"/>
                  <a:pt x="10793" y="-99"/>
                  <a:pt x="25329" y="-99"/>
                </a:cubicBezTo>
                <a:cubicBezTo>
                  <a:pt x="39860" y="-106"/>
                  <a:pt x="51642" y="11220"/>
                  <a:pt x="51650" y="25196"/>
                </a:cubicBezTo>
                <a:cubicBezTo>
                  <a:pt x="51650" y="25205"/>
                  <a:pt x="51650" y="25213"/>
                  <a:pt x="51650" y="25221"/>
                </a:cubicBezTo>
                <a:close/>
                <a:moveTo>
                  <a:pt x="273361" y="25221"/>
                </a:moveTo>
                <a:cubicBezTo>
                  <a:pt x="273361" y="39204"/>
                  <a:pt x="261577" y="50540"/>
                  <a:pt x="247041" y="50540"/>
                </a:cubicBezTo>
                <a:cubicBezTo>
                  <a:pt x="232505" y="50540"/>
                  <a:pt x="220720" y="39204"/>
                  <a:pt x="220720" y="25221"/>
                </a:cubicBezTo>
                <a:cubicBezTo>
                  <a:pt x="220720" y="11237"/>
                  <a:pt x="232505" y="-99"/>
                  <a:pt x="247041" y="-99"/>
                </a:cubicBezTo>
                <a:cubicBezTo>
                  <a:pt x="261569" y="-82"/>
                  <a:pt x="273345" y="11244"/>
                  <a:pt x="273361" y="25221"/>
                </a:cubicBezTo>
                <a:close/>
                <a:moveTo>
                  <a:pt x="495012" y="25221"/>
                </a:moveTo>
                <a:cubicBezTo>
                  <a:pt x="495012" y="39204"/>
                  <a:pt x="483227" y="50540"/>
                  <a:pt x="468691" y="50540"/>
                </a:cubicBezTo>
                <a:cubicBezTo>
                  <a:pt x="454155" y="50540"/>
                  <a:pt x="442371" y="39204"/>
                  <a:pt x="442371" y="25221"/>
                </a:cubicBezTo>
                <a:cubicBezTo>
                  <a:pt x="442371" y="11237"/>
                  <a:pt x="454155" y="-99"/>
                  <a:pt x="468691" y="-99"/>
                </a:cubicBezTo>
                <a:cubicBezTo>
                  <a:pt x="483220" y="-106"/>
                  <a:pt x="495003" y="11220"/>
                  <a:pt x="495012" y="25196"/>
                </a:cubicBezTo>
                <a:cubicBezTo>
                  <a:pt x="495012" y="25205"/>
                  <a:pt x="495012" y="25213"/>
                  <a:pt x="495012" y="25221"/>
                </a:cubicBezTo>
                <a:close/>
                <a:moveTo>
                  <a:pt x="716723" y="25221"/>
                </a:moveTo>
                <a:cubicBezTo>
                  <a:pt x="716723" y="39204"/>
                  <a:pt x="704939" y="50540"/>
                  <a:pt x="690403" y="50540"/>
                </a:cubicBezTo>
                <a:cubicBezTo>
                  <a:pt x="675866" y="50540"/>
                  <a:pt x="664082" y="39204"/>
                  <a:pt x="664082" y="25221"/>
                </a:cubicBezTo>
                <a:cubicBezTo>
                  <a:pt x="664082" y="11237"/>
                  <a:pt x="675866" y="-99"/>
                  <a:pt x="690403" y="-99"/>
                </a:cubicBezTo>
                <a:cubicBezTo>
                  <a:pt x="704933" y="-106"/>
                  <a:pt x="716715" y="11220"/>
                  <a:pt x="716723" y="25196"/>
                </a:cubicBezTo>
                <a:cubicBezTo>
                  <a:pt x="716723" y="25205"/>
                  <a:pt x="716723" y="25213"/>
                  <a:pt x="716723" y="25221"/>
                </a:cubicBezTo>
                <a:close/>
                <a:moveTo>
                  <a:pt x="938435" y="25221"/>
                </a:moveTo>
                <a:cubicBezTo>
                  <a:pt x="938435" y="39204"/>
                  <a:pt x="926651" y="50540"/>
                  <a:pt x="912114" y="50540"/>
                </a:cubicBezTo>
                <a:cubicBezTo>
                  <a:pt x="897579" y="50540"/>
                  <a:pt x="885794" y="39204"/>
                  <a:pt x="885794" y="25221"/>
                </a:cubicBezTo>
                <a:cubicBezTo>
                  <a:pt x="885794" y="11237"/>
                  <a:pt x="897579" y="-99"/>
                  <a:pt x="912114" y="-99"/>
                </a:cubicBezTo>
                <a:cubicBezTo>
                  <a:pt x="926644" y="-106"/>
                  <a:pt x="938427" y="11220"/>
                  <a:pt x="938435" y="25196"/>
                </a:cubicBezTo>
                <a:cubicBezTo>
                  <a:pt x="938435" y="25205"/>
                  <a:pt x="938435" y="25213"/>
                  <a:pt x="938435" y="25221"/>
                </a:cubicBezTo>
                <a:close/>
                <a:moveTo>
                  <a:pt x="1160145" y="25221"/>
                </a:moveTo>
                <a:cubicBezTo>
                  <a:pt x="1160145" y="39204"/>
                  <a:pt x="1148361" y="50540"/>
                  <a:pt x="1133824" y="50540"/>
                </a:cubicBezTo>
                <a:cubicBezTo>
                  <a:pt x="1119288" y="50540"/>
                  <a:pt x="1107504" y="39204"/>
                  <a:pt x="1107504" y="25221"/>
                </a:cubicBezTo>
                <a:cubicBezTo>
                  <a:pt x="1107504" y="11237"/>
                  <a:pt x="1119288" y="-99"/>
                  <a:pt x="1133824" y="-99"/>
                </a:cubicBezTo>
                <a:cubicBezTo>
                  <a:pt x="1148353" y="-82"/>
                  <a:pt x="1160129" y="11244"/>
                  <a:pt x="1160145" y="25221"/>
                </a:cubicBezTo>
                <a:close/>
                <a:moveTo>
                  <a:pt x="51650" y="189433"/>
                </a:moveTo>
                <a:cubicBezTo>
                  <a:pt x="51650" y="203417"/>
                  <a:pt x="39866" y="214752"/>
                  <a:pt x="25329" y="214752"/>
                </a:cubicBezTo>
                <a:cubicBezTo>
                  <a:pt x="10793" y="214752"/>
                  <a:pt x="-991" y="203417"/>
                  <a:pt x="-991" y="189433"/>
                </a:cubicBezTo>
                <a:cubicBezTo>
                  <a:pt x="-991" y="175449"/>
                  <a:pt x="10793" y="164114"/>
                  <a:pt x="25329" y="164114"/>
                </a:cubicBezTo>
                <a:cubicBezTo>
                  <a:pt x="39860" y="164107"/>
                  <a:pt x="51642" y="175433"/>
                  <a:pt x="51650" y="189410"/>
                </a:cubicBezTo>
                <a:cubicBezTo>
                  <a:pt x="51650" y="189417"/>
                  <a:pt x="51650" y="189425"/>
                  <a:pt x="51650" y="189433"/>
                </a:cubicBezTo>
                <a:close/>
                <a:moveTo>
                  <a:pt x="273361" y="189433"/>
                </a:moveTo>
                <a:cubicBezTo>
                  <a:pt x="273361" y="203417"/>
                  <a:pt x="261577" y="214752"/>
                  <a:pt x="247041" y="214752"/>
                </a:cubicBezTo>
                <a:cubicBezTo>
                  <a:pt x="232505" y="214752"/>
                  <a:pt x="220720" y="203417"/>
                  <a:pt x="220720" y="189433"/>
                </a:cubicBezTo>
                <a:cubicBezTo>
                  <a:pt x="220720" y="175449"/>
                  <a:pt x="232505" y="164114"/>
                  <a:pt x="247041" y="164114"/>
                </a:cubicBezTo>
                <a:cubicBezTo>
                  <a:pt x="261569" y="164130"/>
                  <a:pt x="273345" y="175456"/>
                  <a:pt x="273361" y="189433"/>
                </a:cubicBezTo>
                <a:close/>
                <a:moveTo>
                  <a:pt x="495012" y="189433"/>
                </a:moveTo>
                <a:cubicBezTo>
                  <a:pt x="495012" y="203417"/>
                  <a:pt x="483227" y="214752"/>
                  <a:pt x="468691" y="214752"/>
                </a:cubicBezTo>
                <a:cubicBezTo>
                  <a:pt x="454155" y="214752"/>
                  <a:pt x="442371" y="203417"/>
                  <a:pt x="442371" y="189433"/>
                </a:cubicBezTo>
                <a:cubicBezTo>
                  <a:pt x="442371" y="175449"/>
                  <a:pt x="454155" y="164114"/>
                  <a:pt x="468691" y="164114"/>
                </a:cubicBezTo>
                <a:cubicBezTo>
                  <a:pt x="483220" y="164107"/>
                  <a:pt x="495003" y="175433"/>
                  <a:pt x="495012" y="189410"/>
                </a:cubicBezTo>
                <a:cubicBezTo>
                  <a:pt x="495012" y="189417"/>
                  <a:pt x="495012" y="189425"/>
                  <a:pt x="495012" y="189433"/>
                </a:cubicBezTo>
                <a:close/>
                <a:moveTo>
                  <a:pt x="716723" y="189433"/>
                </a:moveTo>
                <a:cubicBezTo>
                  <a:pt x="716723" y="203417"/>
                  <a:pt x="704939" y="214752"/>
                  <a:pt x="690403" y="214752"/>
                </a:cubicBezTo>
                <a:cubicBezTo>
                  <a:pt x="675866" y="214752"/>
                  <a:pt x="664082" y="203417"/>
                  <a:pt x="664082" y="189433"/>
                </a:cubicBezTo>
                <a:cubicBezTo>
                  <a:pt x="664082" y="175449"/>
                  <a:pt x="675866" y="164114"/>
                  <a:pt x="690403" y="164114"/>
                </a:cubicBezTo>
                <a:cubicBezTo>
                  <a:pt x="704933" y="164107"/>
                  <a:pt x="716715" y="175433"/>
                  <a:pt x="716723" y="189410"/>
                </a:cubicBezTo>
                <a:cubicBezTo>
                  <a:pt x="716723" y="189417"/>
                  <a:pt x="716723" y="189425"/>
                  <a:pt x="716723" y="189433"/>
                </a:cubicBezTo>
                <a:close/>
                <a:moveTo>
                  <a:pt x="938435" y="189433"/>
                </a:moveTo>
                <a:cubicBezTo>
                  <a:pt x="938435" y="203417"/>
                  <a:pt x="926651" y="214752"/>
                  <a:pt x="912114" y="214752"/>
                </a:cubicBezTo>
                <a:cubicBezTo>
                  <a:pt x="897579" y="214752"/>
                  <a:pt x="885794" y="203417"/>
                  <a:pt x="885794" y="189433"/>
                </a:cubicBezTo>
                <a:cubicBezTo>
                  <a:pt x="885794" y="175449"/>
                  <a:pt x="897579" y="164114"/>
                  <a:pt x="912114" y="164114"/>
                </a:cubicBezTo>
                <a:cubicBezTo>
                  <a:pt x="926644" y="164107"/>
                  <a:pt x="938427" y="175433"/>
                  <a:pt x="938435" y="189410"/>
                </a:cubicBezTo>
                <a:cubicBezTo>
                  <a:pt x="938435" y="189417"/>
                  <a:pt x="938435" y="189425"/>
                  <a:pt x="938435" y="189433"/>
                </a:cubicBezTo>
                <a:close/>
                <a:moveTo>
                  <a:pt x="1160145" y="189433"/>
                </a:moveTo>
                <a:cubicBezTo>
                  <a:pt x="1160145" y="203417"/>
                  <a:pt x="1148361" y="214752"/>
                  <a:pt x="1133824" y="214752"/>
                </a:cubicBezTo>
                <a:cubicBezTo>
                  <a:pt x="1119288" y="214752"/>
                  <a:pt x="1107504" y="203417"/>
                  <a:pt x="1107504" y="189433"/>
                </a:cubicBezTo>
                <a:cubicBezTo>
                  <a:pt x="1107504" y="175449"/>
                  <a:pt x="1119288" y="164114"/>
                  <a:pt x="1133824" y="164114"/>
                </a:cubicBezTo>
                <a:cubicBezTo>
                  <a:pt x="1148353" y="164130"/>
                  <a:pt x="1160129" y="175456"/>
                  <a:pt x="1160145" y="189433"/>
                </a:cubicBezTo>
                <a:close/>
                <a:moveTo>
                  <a:pt x="51650" y="353646"/>
                </a:moveTo>
                <a:cubicBezTo>
                  <a:pt x="51650" y="367629"/>
                  <a:pt x="39866" y="378965"/>
                  <a:pt x="25329" y="378965"/>
                </a:cubicBezTo>
                <a:cubicBezTo>
                  <a:pt x="10793" y="378965"/>
                  <a:pt x="-991" y="367629"/>
                  <a:pt x="-991" y="353646"/>
                </a:cubicBezTo>
                <a:cubicBezTo>
                  <a:pt x="-991" y="339662"/>
                  <a:pt x="10793" y="328326"/>
                  <a:pt x="25329" y="328326"/>
                </a:cubicBezTo>
                <a:cubicBezTo>
                  <a:pt x="39860" y="328319"/>
                  <a:pt x="51642" y="339644"/>
                  <a:pt x="51650" y="353621"/>
                </a:cubicBezTo>
                <a:cubicBezTo>
                  <a:pt x="51650" y="353629"/>
                  <a:pt x="51650" y="353638"/>
                  <a:pt x="51650" y="353646"/>
                </a:cubicBezTo>
                <a:close/>
                <a:moveTo>
                  <a:pt x="273361" y="353646"/>
                </a:moveTo>
                <a:cubicBezTo>
                  <a:pt x="273361" y="367629"/>
                  <a:pt x="261577" y="378965"/>
                  <a:pt x="247041" y="378965"/>
                </a:cubicBezTo>
                <a:cubicBezTo>
                  <a:pt x="232505" y="378965"/>
                  <a:pt x="220720" y="367629"/>
                  <a:pt x="220720" y="353646"/>
                </a:cubicBezTo>
                <a:cubicBezTo>
                  <a:pt x="220720" y="339662"/>
                  <a:pt x="232505" y="328326"/>
                  <a:pt x="247041" y="328326"/>
                </a:cubicBezTo>
                <a:cubicBezTo>
                  <a:pt x="261569" y="328343"/>
                  <a:pt x="273345" y="339669"/>
                  <a:pt x="273361" y="353646"/>
                </a:cubicBezTo>
                <a:close/>
                <a:moveTo>
                  <a:pt x="495012" y="353646"/>
                </a:moveTo>
                <a:cubicBezTo>
                  <a:pt x="495012" y="367629"/>
                  <a:pt x="483227" y="378965"/>
                  <a:pt x="468691" y="378965"/>
                </a:cubicBezTo>
                <a:cubicBezTo>
                  <a:pt x="454155" y="378965"/>
                  <a:pt x="442371" y="367629"/>
                  <a:pt x="442371" y="353646"/>
                </a:cubicBezTo>
                <a:cubicBezTo>
                  <a:pt x="442371" y="339662"/>
                  <a:pt x="454155" y="328326"/>
                  <a:pt x="468691" y="328326"/>
                </a:cubicBezTo>
                <a:cubicBezTo>
                  <a:pt x="483220" y="328319"/>
                  <a:pt x="495003" y="339644"/>
                  <a:pt x="495012" y="353621"/>
                </a:cubicBezTo>
                <a:cubicBezTo>
                  <a:pt x="495012" y="353629"/>
                  <a:pt x="495012" y="353638"/>
                  <a:pt x="495012" y="353646"/>
                </a:cubicBezTo>
                <a:close/>
                <a:moveTo>
                  <a:pt x="716723" y="353646"/>
                </a:moveTo>
                <a:cubicBezTo>
                  <a:pt x="716723" y="367629"/>
                  <a:pt x="704939" y="378965"/>
                  <a:pt x="690403" y="378965"/>
                </a:cubicBezTo>
                <a:cubicBezTo>
                  <a:pt x="675866" y="378965"/>
                  <a:pt x="664082" y="367629"/>
                  <a:pt x="664082" y="353646"/>
                </a:cubicBezTo>
                <a:cubicBezTo>
                  <a:pt x="664082" y="339662"/>
                  <a:pt x="675866" y="328326"/>
                  <a:pt x="690403" y="328326"/>
                </a:cubicBezTo>
                <a:cubicBezTo>
                  <a:pt x="704933" y="328319"/>
                  <a:pt x="716715" y="339644"/>
                  <a:pt x="716723" y="353621"/>
                </a:cubicBezTo>
                <a:cubicBezTo>
                  <a:pt x="716723" y="353629"/>
                  <a:pt x="716723" y="353638"/>
                  <a:pt x="716723" y="353646"/>
                </a:cubicBezTo>
                <a:close/>
                <a:moveTo>
                  <a:pt x="938435" y="353646"/>
                </a:moveTo>
                <a:cubicBezTo>
                  <a:pt x="938435" y="367629"/>
                  <a:pt x="926651" y="378965"/>
                  <a:pt x="912114" y="378965"/>
                </a:cubicBezTo>
                <a:cubicBezTo>
                  <a:pt x="897579" y="378965"/>
                  <a:pt x="885794" y="367629"/>
                  <a:pt x="885794" y="353646"/>
                </a:cubicBezTo>
                <a:cubicBezTo>
                  <a:pt x="885794" y="339662"/>
                  <a:pt x="897579" y="328326"/>
                  <a:pt x="912114" y="328326"/>
                </a:cubicBezTo>
                <a:cubicBezTo>
                  <a:pt x="926644" y="328319"/>
                  <a:pt x="938427" y="339644"/>
                  <a:pt x="938435" y="353621"/>
                </a:cubicBezTo>
                <a:cubicBezTo>
                  <a:pt x="938435" y="353629"/>
                  <a:pt x="938435" y="353638"/>
                  <a:pt x="938435" y="353646"/>
                </a:cubicBezTo>
                <a:close/>
                <a:moveTo>
                  <a:pt x="1160145" y="353646"/>
                </a:moveTo>
                <a:cubicBezTo>
                  <a:pt x="1160145" y="367629"/>
                  <a:pt x="1148361" y="378965"/>
                  <a:pt x="1133824" y="378965"/>
                </a:cubicBezTo>
                <a:cubicBezTo>
                  <a:pt x="1119288" y="378965"/>
                  <a:pt x="1107504" y="367629"/>
                  <a:pt x="1107504" y="353646"/>
                </a:cubicBezTo>
                <a:cubicBezTo>
                  <a:pt x="1107504" y="339662"/>
                  <a:pt x="1119288" y="328326"/>
                  <a:pt x="1133824" y="328326"/>
                </a:cubicBezTo>
                <a:cubicBezTo>
                  <a:pt x="1148353" y="328343"/>
                  <a:pt x="1160129" y="339669"/>
                  <a:pt x="1160145" y="353646"/>
                </a:cubicBezTo>
                <a:close/>
                <a:moveTo>
                  <a:pt x="51650" y="517858"/>
                </a:moveTo>
                <a:cubicBezTo>
                  <a:pt x="51650" y="531842"/>
                  <a:pt x="39866" y="543177"/>
                  <a:pt x="25329" y="543177"/>
                </a:cubicBezTo>
                <a:cubicBezTo>
                  <a:pt x="10793" y="543177"/>
                  <a:pt x="-991" y="531842"/>
                  <a:pt x="-991" y="517858"/>
                </a:cubicBezTo>
                <a:cubicBezTo>
                  <a:pt x="-991" y="503875"/>
                  <a:pt x="10793" y="492539"/>
                  <a:pt x="25329" y="492539"/>
                </a:cubicBezTo>
                <a:cubicBezTo>
                  <a:pt x="39860" y="492532"/>
                  <a:pt x="51642" y="503857"/>
                  <a:pt x="51650" y="517834"/>
                </a:cubicBezTo>
                <a:cubicBezTo>
                  <a:pt x="51650" y="517842"/>
                  <a:pt x="51650" y="517850"/>
                  <a:pt x="51650" y="517858"/>
                </a:cubicBezTo>
                <a:close/>
                <a:moveTo>
                  <a:pt x="273361" y="517858"/>
                </a:moveTo>
                <a:cubicBezTo>
                  <a:pt x="273361" y="531842"/>
                  <a:pt x="261577" y="543177"/>
                  <a:pt x="247041" y="543177"/>
                </a:cubicBezTo>
                <a:cubicBezTo>
                  <a:pt x="232505" y="543177"/>
                  <a:pt x="220720" y="531842"/>
                  <a:pt x="220720" y="517858"/>
                </a:cubicBezTo>
                <a:cubicBezTo>
                  <a:pt x="220720" y="503875"/>
                  <a:pt x="232505" y="492539"/>
                  <a:pt x="247041" y="492539"/>
                </a:cubicBezTo>
                <a:cubicBezTo>
                  <a:pt x="261569" y="492555"/>
                  <a:pt x="273345" y="503881"/>
                  <a:pt x="273361" y="517858"/>
                </a:cubicBezTo>
                <a:close/>
                <a:moveTo>
                  <a:pt x="495012" y="517858"/>
                </a:moveTo>
                <a:cubicBezTo>
                  <a:pt x="495012" y="531842"/>
                  <a:pt x="483227" y="543177"/>
                  <a:pt x="468691" y="543177"/>
                </a:cubicBezTo>
                <a:cubicBezTo>
                  <a:pt x="454155" y="543177"/>
                  <a:pt x="442371" y="531842"/>
                  <a:pt x="442371" y="517858"/>
                </a:cubicBezTo>
                <a:cubicBezTo>
                  <a:pt x="442371" y="503875"/>
                  <a:pt x="454155" y="492539"/>
                  <a:pt x="468691" y="492539"/>
                </a:cubicBezTo>
                <a:cubicBezTo>
                  <a:pt x="483220" y="492532"/>
                  <a:pt x="495003" y="503857"/>
                  <a:pt x="495012" y="517834"/>
                </a:cubicBezTo>
                <a:cubicBezTo>
                  <a:pt x="495012" y="517842"/>
                  <a:pt x="495012" y="517850"/>
                  <a:pt x="495012" y="517858"/>
                </a:cubicBezTo>
                <a:close/>
                <a:moveTo>
                  <a:pt x="716723" y="517858"/>
                </a:moveTo>
                <a:cubicBezTo>
                  <a:pt x="716723" y="531842"/>
                  <a:pt x="704939" y="543177"/>
                  <a:pt x="690403" y="543177"/>
                </a:cubicBezTo>
                <a:cubicBezTo>
                  <a:pt x="675866" y="543177"/>
                  <a:pt x="664082" y="531842"/>
                  <a:pt x="664082" y="517858"/>
                </a:cubicBezTo>
                <a:cubicBezTo>
                  <a:pt x="664082" y="503875"/>
                  <a:pt x="675866" y="492539"/>
                  <a:pt x="690403" y="492539"/>
                </a:cubicBezTo>
                <a:cubicBezTo>
                  <a:pt x="704933" y="492532"/>
                  <a:pt x="716715" y="503857"/>
                  <a:pt x="716723" y="517834"/>
                </a:cubicBezTo>
                <a:cubicBezTo>
                  <a:pt x="716723" y="517842"/>
                  <a:pt x="716723" y="517850"/>
                  <a:pt x="716723" y="517858"/>
                </a:cubicBezTo>
                <a:close/>
                <a:moveTo>
                  <a:pt x="938435" y="517858"/>
                </a:moveTo>
                <a:cubicBezTo>
                  <a:pt x="938435" y="531842"/>
                  <a:pt x="926651" y="543177"/>
                  <a:pt x="912114" y="543177"/>
                </a:cubicBezTo>
                <a:cubicBezTo>
                  <a:pt x="897579" y="543177"/>
                  <a:pt x="885794" y="531842"/>
                  <a:pt x="885794" y="517858"/>
                </a:cubicBezTo>
                <a:cubicBezTo>
                  <a:pt x="885794" y="503875"/>
                  <a:pt x="897579" y="492539"/>
                  <a:pt x="912114" y="492539"/>
                </a:cubicBezTo>
                <a:cubicBezTo>
                  <a:pt x="926644" y="492532"/>
                  <a:pt x="938427" y="503857"/>
                  <a:pt x="938435" y="517834"/>
                </a:cubicBezTo>
                <a:cubicBezTo>
                  <a:pt x="938435" y="517842"/>
                  <a:pt x="938435" y="517850"/>
                  <a:pt x="938435" y="517858"/>
                </a:cubicBezTo>
                <a:close/>
                <a:moveTo>
                  <a:pt x="1160145" y="517858"/>
                </a:moveTo>
                <a:cubicBezTo>
                  <a:pt x="1160145" y="531842"/>
                  <a:pt x="1148361" y="543177"/>
                  <a:pt x="1133824" y="543177"/>
                </a:cubicBezTo>
                <a:cubicBezTo>
                  <a:pt x="1119288" y="543177"/>
                  <a:pt x="1107504" y="531842"/>
                  <a:pt x="1107504" y="517858"/>
                </a:cubicBezTo>
                <a:cubicBezTo>
                  <a:pt x="1107504" y="503875"/>
                  <a:pt x="1119288" y="492539"/>
                  <a:pt x="1133824" y="492539"/>
                </a:cubicBezTo>
                <a:cubicBezTo>
                  <a:pt x="1148353" y="492555"/>
                  <a:pt x="1160129" y="503881"/>
                  <a:pt x="1160145" y="517858"/>
                </a:cubicBezTo>
                <a:close/>
                <a:moveTo>
                  <a:pt x="51650" y="682071"/>
                </a:moveTo>
                <a:cubicBezTo>
                  <a:pt x="51650" y="696054"/>
                  <a:pt x="39866" y="707390"/>
                  <a:pt x="25329" y="707390"/>
                </a:cubicBezTo>
                <a:cubicBezTo>
                  <a:pt x="10793" y="707390"/>
                  <a:pt x="-991" y="696054"/>
                  <a:pt x="-991" y="682071"/>
                </a:cubicBezTo>
                <a:cubicBezTo>
                  <a:pt x="-991" y="668087"/>
                  <a:pt x="10793" y="656751"/>
                  <a:pt x="25329" y="656751"/>
                </a:cubicBezTo>
                <a:cubicBezTo>
                  <a:pt x="39860" y="656744"/>
                  <a:pt x="51642" y="668069"/>
                  <a:pt x="51650" y="682046"/>
                </a:cubicBezTo>
                <a:cubicBezTo>
                  <a:pt x="51650" y="682054"/>
                  <a:pt x="51650" y="682062"/>
                  <a:pt x="51650" y="682071"/>
                </a:cubicBezTo>
                <a:close/>
                <a:moveTo>
                  <a:pt x="273361" y="682071"/>
                </a:moveTo>
                <a:cubicBezTo>
                  <a:pt x="273361" y="696054"/>
                  <a:pt x="261577" y="707390"/>
                  <a:pt x="247041" y="707390"/>
                </a:cubicBezTo>
                <a:cubicBezTo>
                  <a:pt x="232505" y="707390"/>
                  <a:pt x="220720" y="696054"/>
                  <a:pt x="220720" y="682071"/>
                </a:cubicBezTo>
                <a:cubicBezTo>
                  <a:pt x="220720" y="668087"/>
                  <a:pt x="232505" y="656751"/>
                  <a:pt x="247041" y="656751"/>
                </a:cubicBezTo>
                <a:cubicBezTo>
                  <a:pt x="261569" y="656767"/>
                  <a:pt x="273345" y="668094"/>
                  <a:pt x="273361" y="682071"/>
                </a:cubicBezTo>
                <a:close/>
                <a:moveTo>
                  <a:pt x="495012" y="682071"/>
                </a:moveTo>
                <a:cubicBezTo>
                  <a:pt x="495012" y="696054"/>
                  <a:pt x="483227" y="707390"/>
                  <a:pt x="468691" y="707390"/>
                </a:cubicBezTo>
                <a:cubicBezTo>
                  <a:pt x="454155" y="707390"/>
                  <a:pt x="442371" y="696054"/>
                  <a:pt x="442371" y="682071"/>
                </a:cubicBezTo>
                <a:cubicBezTo>
                  <a:pt x="442371" y="668087"/>
                  <a:pt x="454155" y="656751"/>
                  <a:pt x="468691" y="656751"/>
                </a:cubicBezTo>
                <a:cubicBezTo>
                  <a:pt x="483220" y="656744"/>
                  <a:pt x="495003" y="668069"/>
                  <a:pt x="495012" y="682046"/>
                </a:cubicBezTo>
                <a:cubicBezTo>
                  <a:pt x="495012" y="682054"/>
                  <a:pt x="495012" y="682062"/>
                  <a:pt x="495012" y="682071"/>
                </a:cubicBezTo>
                <a:close/>
                <a:moveTo>
                  <a:pt x="716723" y="682071"/>
                </a:moveTo>
                <a:cubicBezTo>
                  <a:pt x="716723" y="696054"/>
                  <a:pt x="704939" y="707390"/>
                  <a:pt x="690403" y="707390"/>
                </a:cubicBezTo>
                <a:cubicBezTo>
                  <a:pt x="675866" y="707390"/>
                  <a:pt x="664082" y="696054"/>
                  <a:pt x="664082" y="682071"/>
                </a:cubicBezTo>
                <a:cubicBezTo>
                  <a:pt x="664082" y="668087"/>
                  <a:pt x="675866" y="656751"/>
                  <a:pt x="690403" y="656751"/>
                </a:cubicBezTo>
                <a:cubicBezTo>
                  <a:pt x="704933" y="656744"/>
                  <a:pt x="716715" y="668069"/>
                  <a:pt x="716723" y="682046"/>
                </a:cubicBezTo>
                <a:cubicBezTo>
                  <a:pt x="716723" y="682054"/>
                  <a:pt x="716723" y="682062"/>
                  <a:pt x="716723" y="682071"/>
                </a:cubicBezTo>
                <a:close/>
                <a:moveTo>
                  <a:pt x="938435" y="682071"/>
                </a:moveTo>
                <a:cubicBezTo>
                  <a:pt x="938435" y="696054"/>
                  <a:pt x="926651" y="707390"/>
                  <a:pt x="912114" y="707390"/>
                </a:cubicBezTo>
                <a:cubicBezTo>
                  <a:pt x="897579" y="707390"/>
                  <a:pt x="885794" y="696054"/>
                  <a:pt x="885794" y="682071"/>
                </a:cubicBezTo>
                <a:cubicBezTo>
                  <a:pt x="885794" y="668087"/>
                  <a:pt x="897579" y="656751"/>
                  <a:pt x="912114" y="656751"/>
                </a:cubicBezTo>
                <a:cubicBezTo>
                  <a:pt x="926644" y="656744"/>
                  <a:pt x="938427" y="668069"/>
                  <a:pt x="938435" y="682046"/>
                </a:cubicBezTo>
                <a:cubicBezTo>
                  <a:pt x="938435" y="682054"/>
                  <a:pt x="938435" y="682062"/>
                  <a:pt x="938435" y="682071"/>
                </a:cubicBezTo>
                <a:close/>
                <a:moveTo>
                  <a:pt x="1160145" y="682071"/>
                </a:moveTo>
                <a:cubicBezTo>
                  <a:pt x="1160145" y="696054"/>
                  <a:pt x="1148361" y="707390"/>
                  <a:pt x="1133824" y="707390"/>
                </a:cubicBezTo>
                <a:cubicBezTo>
                  <a:pt x="1119288" y="707390"/>
                  <a:pt x="1107504" y="696054"/>
                  <a:pt x="1107504" y="682071"/>
                </a:cubicBezTo>
                <a:cubicBezTo>
                  <a:pt x="1107504" y="668087"/>
                  <a:pt x="1119288" y="656751"/>
                  <a:pt x="1133824" y="656751"/>
                </a:cubicBezTo>
                <a:cubicBezTo>
                  <a:pt x="1148353" y="656767"/>
                  <a:pt x="1160129" y="668094"/>
                  <a:pt x="1160145" y="682071"/>
                </a:cubicBezTo>
                <a:close/>
              </a:path>
            </a:pathLst>
          </a:custGeom>
          <a:solidFill>
            <a:srgbClr val="9595FF"/>
          </a:solidFill>
          <a:ln/>
        </p:spPr>
      </p:sp>
      <p:sp>
        <p:nvSpPr>
          <p:cNvPr id="5" name="Text 1"/>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四大痛点制约EBG智能化进程</a:t>
            </a:r>
            <a:endParaRPr lang="en-US" sz="1600" dirty="0"/>
          </a:p>
        </p:txBody>
      </p:sp>
      <p:pic>
        <p:nvPicPr>
          <p:cNvPr id="6" name="Image 2" descr="https://kimi-img.moonshot.cn/pub/slides/slides_tmpl/image/25-09-30-16:31:52-d3dpau0s8jdo4os5dgh0.png"/>
          <p:cNvPicPr>
            <a:picLocks noChangeAspect="1"/>
          </p:cNvPicPr>
          <p:nvPr/>
        </p:nvPicPr>
        <p:blipFill>
          <a:blip r:embed="rId6"/>
          <a:srcRect t="110" b="110"/>
          <a:stretch/>
        </p:blipFill>
        <p:spPr>
          <a:xfrm>
            <a:off x="2540" y="550545"/>
            <a:ext cx="579755" cy="652145"/>
          </a:xfrm>
          <a:prstGeom prst="rect">
            <a:avLst/>
          </a:prstGeom>
        </p:spPr>
      </p:pic>
      <p:pic>
        <p:nvPicPr>
          <p:cNvPr id="7" name="Image 3" descr="https://kimi-img.moonshot.cn/pub/slides/slides_tmpl/image/25-09-30-16:32:11-d3dpb2os8jdo4os5dgpg.png"/>
          <p:cNvPicPr>
            <a:picLocks noChangeAspect="1"/>
          </p:cNvPicPr>
          <p:nvPr/>
        </p:nvPicPr>
        <p:blipFill>
          <a:blip r:embed="rId7"/>
          <a:stretch>
            <a:fillRect/>
          </a:stretch>
        </p:blipFill>
        <p:spPr>
          <a:xfrm>
            <a:off x="913130" y="2114550"/>
            <a:ext cx="5943600" cy="146050"/>
          </a:xfrm>
          <a:prstGeom prst="rect">
            <a:avLst/>
          </a:prstGeom>
        </p:spPr>
      </p:pic>
      <p:sp>
        <p:nvSpPr>
          <p:cNvPr id="8" name="Text 2"/>
          <p:cNvSpPr/>
          <p:nvPr/>
        </p:nvSpPr>
        <p:spPr>
          <a:xfrm>
            <a:off x="806450" y="1668145"/>
            <a:ext cx="10554970" cy="524431"/>
          </a:xfrm>
          <a:prstGeom prst="rect">
            <a:avLst/>
          </a:prstGeom>
          <a:noFill/>
          <a:ln/>
        </p:spPr>
        <p:txBody>
          <a:bodyPr wrap="square" lIns="91440" tIns="45720" rIns="91440" bIns="45720" rtlCol="0" anchor="t">
            <a:spAutoFit/>
          </a:bodyPr>
          <a:lstStyle/>
          <a:p>
            <a:pPr algn="just">
              <a:lnSpc>
                <a:spcPct val="100000"/>
              </a:lnSpc>
            </a:pPr>
            <a:r>
              <a:rPr lang="en-US" sz="2800" b="1" dirty="0">
                <a:solidFill>
                  <a:srgbClr val="000000"/>
                </a:solidFill>
                <a:latin typeface="MiSans" pitchFamily="34" charset="0"/>
                <a:ea typeface="MiSans" pitchFamily="34" charset="-122"/>
                <a:cs typeface="MiSans" pitchFamily="34" charset="-120"/>
              </a:rPr>
              <a:t>流程与资源瓶颈</a:t>
            </a:r>
            <a:endParaRPr lang="en-US" sz="1600" dirty="0"/>
          </a:p>
        </p:txBody>
      </p:sp>
      <p:sp>
        <p:nvSpPr>
          <p:cNvPr id="9" name="Text 3"/>
          <p:cNvSpPr/>
          <p:nvPr/>
        </p:nvSpPr>
        <p:spPr>
          <a:xfrm>
            <a:off x="819150" y="2330450"/>
            <a:ext cx="10554335" cy="804426"/>
          </a:xfrm>
          <a:prstGeom prst="rect">
            <a:avLst/>
          </a:prstGeom>
          <a:noFill/>
          <a:ln/>
        </p:spPr>
        <p:txBody>
          <a:bodyPr wrap="square" lIns="91440" tIns="45720" rIns="91440" bIns="45720" rtlCol="0" anchor="t">
            <a:spAutoFit/>
          </a:bodyPr>
          <a:lstStyle/>
          <a:p>
            <a:pPr algn="just">
              <a:lnSpc>
                <a:spcPct val="130000"/>
              </a:lnSpc>
            </a:pPr>
            <a:r>
              <a:rPr lang="en-US" sz="1800" b="1" dirty="0">
                <a:solidFill>
                  <a:srgbClr val="404040"/>
                </a:solidFill>
                <a:latin typeface="MiSans" pitchFamily="34" charset="0"/>
                <a:ea typeface="MiSans" pitchFamily="34" charset="-122"/>
                <a:cs typeface="MiSans" pitchFamily="34" charset="-120"/>
              </a:rPr>
              <a:t>流程成熟度不均导致部分业务难以快速接入AI能力，数据基础薄弱使模型训练缺乏有效支撑；同时IT资源投入不足严重限制技术落地规模，各部门各自为战缺乏统一规划，制约整体智能化进程。</a:t>
            </a:r>
            <a:endParaRPr lang="en-US" sz="1600" dirty="0"/>
          </a:p>
        </p:txBody>
      </p:sp>
      <p:sp>
        <p:nvSpPr>
          <p:cNvPr id="10" name="Text 4"/>
          <p:cNvSpPr/>
          <p:nvPr/>
        </p:nvSpPr>
        <p:spPr>
          <a:xfrm>
            <a:off x="4566920" y="3970020"/>
            <a:ext cx="6375600" cy="394851"/>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FFFFFF"/>
                </a:solidFill>
                <a:latin typeface="MiSans" pitchFamily="34" charset="0"/>
                <a:ea typeface="MiSans" pitchFamily="34" charset="-122"/>
                <a:cs typeface="MiSans" pitchFamily="34" charset="-120"/>
              </a:rPr>
              <a:t>转型紧迫性</a:t>
            </a:r>
            <a:endParaRPr lang="en-US" sz="1600" dirty="0"/>
          </a:p>
        </p:txBody>
      </p:sp>
      <p:sp>
        <p:nvSpPr>
          <p:cNvPr id="11" name="Text 5"/>
          <p:cNvSpPr/>
          <p:nvPr/>
        </p:nvSpPr>
        <p:spPr>
          <a:xfrm>
            <a:off x="4592320" y="4382135"/>
            <a:ext cx="6375400" cy="1051481"/>
          </a:xfrm>
          <a:prstGeom prst="rect">
            <a:avLst/>
          </a:prstGeom>
          <a:noFill/>
          <a:ln/>
        </p:spPr>
        <p:txBody>
          <a:bodyPr wrap="square" lIns="91440" tIns="45720" rIns="91440" bIns="45720" rtlCol="0" anchor="t">
            <a:spAutoFit/>
          </a:bodyPr>
          <a:lstStyle/>
          <a:p>
            <a:pPr algn="just">
              <a:lnSpc>
                <a:spcPct val="150000"/>
              </a:lnSpc>
            </a:pPr>
            <a:r>
              <a:rPr lang="en-US" sz="1400" b="1" dirty="0">
                <a:solidFill>
                  <a:srgbClr val="FFFFFF"/>
                </a:solidFill>
                <a:latin typeface="MiSans" pitchFamily="34" charset="0"/>
                <a:ea typeface="MiSans" pitchFamily="34" charset="-122"/>
                <a:cs typeface="MiSans" pitchFamily="34" charset="-120"/>
              </a:rPr>
              <a:t>面对从流程落地向智能高效跃迁的战略方向，必须以流程部为统筹核心，立足现有业务框架推进AI深度融合，系统性破解四大瓶颈，实现业务突破与创新，打造锐捷EBG体验驱动网络的核心竞争力。</a:t>
            </a:r>
            <a:endParaRPr lang="en-US" sz="1600" dirty="0"/>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11-d3dpb2os8jdo4os5dgqg.png"/>
          <p:cNvPicPr>
            <a:picLocks noChangeAspect="1"/>
          </p:cNvPicPr>
          <p:nvPr/>
        </p:nvPicPr>
        <p:blipFill>
          <a:blip r:embed="rId4"/>
          <a:srcRect l="8565" r="8565"/>
          <a:stretch/>
        </p:blipFill>
        <p:spPr>
          <a:xfrm>
            <a:off x="521970" y="1976755"/>
            <a:ext cx="3616960" cy="4173855"/>
          </a:xfrm>
          <a:prstGeom prst="rect">
            <a:avLst/>
          </a:prstGeom>
        </p:spPr>
      </p:pic>
      <p:pic>
        <p:nvPicPr>
          <p:cNvPr id="3" name="Image 1" descr="https://kimi-img.moonshot.cn/pub/slides/slides_tmpl/image/25-09-30-16:31:52-d3dpau0s8jdo4os5dgcg.png"/>
          <p:cNvPicPr>
            <a:picLocks noChangeAspect="1"/>
          </p:cNvPicPr>
          <p:nvPr/>
        </p:nvPicPr>
        <p:blipFill>
          <a:blip r:embed="rId5"/>
          <a:srcRect t="34" b="34"/>
          <a:stretch/>
        </p:blipFill>
        <p:spPr>
          <a:xfrm>
            <a:off x="1859915" y="1757680"/>
            <a:ext cx="941070" cy="941070"/>
          </a:xfrm>
          <a:prstGeom prst="rect">
            <a:avLst/>
          </a:prstGeom>
        </p:spPr>
      </p:pic>
      <p:pic>
        <p:nvPicPr>
          <p:cNvPr id="4" name="Image 2" descr="https://kimi-img.moonshot.cn/pub/slides/slides_tmpl/image/25-09-30-16:32:11-d3dpb2os8jdo4os5dgqg.png"/>
          <p:cNvPicPr>
            <a:picLocks noChangeAspect="1"/>
          </p:cNvPicPr>
          <p:nvPr/>
        </p:nvPicPr>
        <p:blipFill>
          <a:blip r:embed="rId4"/>
          <a:srcRect l="8565" r="8565"/>
          <a:stretch/>
        </p:blipFill>
        <p:spPr>
          <a:xfrm>
            <a:off x="4246880" y="1976755"/>
            <a:ext cx="3616960" cy="4173855"/>
          </a:xfrm>
          <a:prstGeom prst="rect">
            <a:avLst/>
          </a:prstGeom>
        </p:spPr>
      </p:pic>
      <p:pic>
        <p:nvPicPr>
          <p:cNvPr id="5" name="Image 3" descr="https://kimi-img.moonshot.cn/pub/slides/slides_tmpl/image/25-09-30-16:31:52-d3dpau0s8jdo4os5dgcg.png"/>
          <p:cNvPicPr>
            <a:picLocks noChangeAspect="1"/>
          </p:cNvPicPr>
          <p:nvPr/>
        </p:nvPicPr>
        <p:blipFill>
          <a:blip r:embed="rId5"/>
          <a:srcRect t="34" b="34"/>
          <a:stretch/>
        </p:blipFill>
        <p:spPr>
          <a:xfrm>
            <a:off x="5584825" y="1757680"/>
            <a:ext cx="941070" cy="941070"/>
          </a:xfrm>
          <a:prstGeom prst="rect">
            <a:avLst/>
          </a:prstGeom>
        </p:spPr>
      </p:pic>
      <p:pic>
        <p:nvPicPr>
          <p:cNvPr id="6" name="Image 4" descr="https://kimi-img.moonshot.cn/pub/slides/slides_tmpl/image/25-09-30-16:32:11-d3dpb2os8jdo4os5dgqg.png"/>
          <p:cNvPicPr>
            <a:picLocks noChangeAspect="1"/>
          </p:cNvPicPr>
          <p:nvPr/>
        </p:nvPicPr>
        <p:blipFill>
          <a:blip r:embed="rId4"/>
          <a:srcRect l="8565" r="8565"/>
          <a:stretch/>
        </p:blipFill>
        <p:spPr>
          <a:xfrm>
            <a:off x="8035925" y="1976755"/>
            <a:ext cx="3616960" cy="4173855"/>
          </a:xfrm>
          <a:prstGeom prst="rect">
            <a:avLst/>
          </a:prstGeom>
        </p:spPr>
      </p:pic>
      <p:pic>
        <p:nvPicPr>
          <p:cNvPr id="7" name="Image 5" descr="https://kimi-img.moonshot.cn/pub/slides/slides_tmpl/image/25-09-30-16:31:52-d3dpau0s8jdo4os5dgcg.png"/>
          <p:cNvPicPr>
            <a:picLocks noChangeAspect="1"/>
          </p:cNvPicPr>
          <p:nvPr/>
        </p:nvPicPr>
        <p:blipFill>
          <a:blip r:embed="rId5"/>
          <a:srcRect t="34" b="34"/>
          <a:stretch/>
        </p:blipFill>
        <p:spPr>
          <a:xfrm>
            <a:off x="9373870" y="1757680"/>
            <a:ext cx="941070" cy="941070"/>
          </a:xfrm>
          <a:prstGeom prst="rect">
            <a:avLst/>
          </a:prstGeom>
        </p:spPr>
      </p:pic>
      <p:sp>
        <p:nvSpPr>
          <p:cNvPr id="8" name="Text 0"/>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核心定位与五项推进原则</a:t>
            </a:r>
            <a:endParaRPr lang="en-US" sz="1600" dirty="0"/>
          </a:p>
        </p:txBody>
      </p:sp>
      <p:pic>
        <p:nvPicPr>
          <p:cNvPr id="9" name="Image 6" descr="https://kimi-img.moonshot.cn/pub/slides/slides_tmpl/image/25-09-30-16:31:52-d3dpau0s8jdo4os5dgh0.png"/>
          <p:cNvPicPr>
            <a:picLocks noChangeAspect="1"/>
          </p:cNvPicPr>
          <p:nvPr/>
        </p:nvPicPr>
        <p:blipFill>
          <a:blip r:embed="rId6"/>
          <a:srcRect t="110" b="110"/>
          <a:stretch/>
        </p:blipFill>
        <p:spPr>
          <a:xfrm>
            <a:off x="2540" y="550545"/>
            <a:ext cx="579755" cy="652145"/>
          </a:xfrm>
          <a:prstGeom prst="rect">
            <a:avLst/>
          </a:prstGeom>
        </p:spPr>
      </p:pic>
      <p:pic>
        <p:nvPicPr>
          <p:cNvPr id="10" name="Image 7" descr="https://kimi-img.moonshot.cn/pub/slides/slides_tmpl/image/25-09-30-16:31:52-d3dpau0s8jdo4os5dgf0.png"/>
          <p:cNvPicPr>
            <a:picLocks noChangeAspect="1"/>
          </p:cNvPicPr>
          <p:nvPr/>
        </p:nvPicPr>
        <p:blipFill>
          <a:blip r:embed="rId7"/>
          <a:srcRect t="3182" b="3182"/>
          <a:stretch/>
        </p:blipFill>
        <p:spPr>
          <a:xfrm rot="5700000">
            <a:off x="10024110" y="485140"/>
            <a:ext cx="1088390" cy="991870"/>
          </a:xfrm>
          <a:prstGeom prst="rect">
            <a:avLst/>
          </a:prstGeom>
        </p:spPr>
      </p:pic>
      <p:sp>
        <p:nvSpPr>
          <p:cNvPr id="11" name="Text 1"/>
          <p:cNvSpPr/>
          <p:nvPr/>
        </p:nvSpPr>
        <p:spPr>
          <a:xfrm>
            <a:off x="1911033" y="1936433"/>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01</a:t>
            </a:r>
            <a:endParaRPr lang="en-US" sz="1600" dirty="0"/>
          </a:p>
        </p:txBody>
      </p:sp>
      <p:sp>
        <p:nvSpPr>
          <p:cNvPr id="12" name="Text 2"/>
          <p:cNvSpPr/>
          <p:nvPr/>
        </p:nvSpPr>
        <p:spPr>
          <a:xfrm>
            <a:off x="1083799" y="2774950"/>
            <a:ext cx="2275663" cy="367665"/>
          </a:xfrm>
          <a:prstGeom prst="rect">
            <a:avLst/>
          </a:prstGeom>
          <a:noFill/>
          <a:ln/>
        </p:spPr>
        <p:txBody>
          <a:bodyPr wrap="square" lIns="91440" tIns="45720" rIns="91440" bIns="4572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核心定位</a:t>
            </a:r>
            <a:endParaRPr lang="en-US" sz="1600" dirty="0"/>
          </a:p>
        </p:txBody>
      </p:sp>
      <p:sp>
        <p:nvSpPr>
          <p:cNvPr id="13" name="Text 3"/>
          <p:cNvSpPr/>
          <p:nvPr/>
        </p:nvSpPr>
        <p:spPr>
          <a:xfrm>
            <a:off x="848995" y="3496310"/>
            <a:ext cx="2746375" cy="181625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以流程部为统筹核心，联动业务部门、IT部门与业务执委，建立需求识别到迭代优化的全流程闭环机制，实现AI与业务深度融合，推动从流程落地向智能高效的战略跃迁。</a:t>
            </a:r>
            <a:endParaRPr lang="en-US" sz="1600" dirty="0"/>
          </a:p>
        </p:txBody>
      </p:sp>
      <p:sp>
        <p:nvSpPr>
          <p:cNvPr id="14" name="Text 4"/>
          <p:cNvSpPr/>
          <p:nvPr/>
        </p:nvSpPr>
        <p:spPr>
          <a:xfrm>
            <a:off x="5635943" y="1936433"/>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02</a:t>
            </a:r>
            <a:endParaRPr lang="en-US" sz="1600" dirty="0"/>
          </a:p>
        </p:txBody>
      </p:sp>
      <p:sp>
        <p:nvSpPr>
          <p:cNvPr id="15" name="Text 5"/>
          <p:cNvSpPr/>
          <p:nvPr/>
        </p:nvSpPr>
        <p:spPr>
          <a:xfrm>
            <a:off x="4808709" y="2774950"/>
            <a:ext cx="2275663" cy="367665"/>
          </a:xfrm>
          <a:prstGeom prst="rect">
            <a:avLst/>
          </a:prstGeom>
          <a:noFill/>
          <a:ln/>
        </p:spPr>
        <p:txBody>
          <a:bodyPr wrap="square" lIns="91440" tIns="45720" rIns="91440" bIns="4572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分层分类与痛点先行</a:t>
            </a:r>
            <a:endParaRPr lang="en-US" sz="1600" dirty="0"/>
          </a:p>
        </p:txBody>
      </p:sp>
      <p:sp>
        <p:nvSpPr>
          <p:cNvPr id="16" name="Text 6"/>
          <p:cNvSpPr/>
          <p:nvPr/>
        </p:nvSpPr>
        <p:spPr>
          <a:xfrm>
            <a:off x="4573905" y="3496310"/>
            <a:ext cx="2746375" cy="1528921"/>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实事求是分层推进，根据流程成熟度差异化制定策略；业务导向痛点先行，确保AI创新解决运维效率低、客户响应慢等实际业务问题，避免为了AI而AI。</a:t>
            </a:r>
            <a:endParaRPr lang="en-US" sz="1600" dirty="0"/>
          </a:p>
        </p:txBody>
      </p:sp>
      <p:sp>
        <p:nvSpPr>
          <p:cNvPr id="17" name="Text 7"/>
          <p:cNvSpPr/>
          <p:nvPr/>
        </p:nvSpPr>
        <p:spPr>
          <a:xfrm>
            <a:off x="9424988" y="1936433"/>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03</a:t>
            </a:r>
            <a:endParaRPr lang="en-US" sz="1600" dirty="0"/>
          </a:p>
        </p:txBody>
      </p:sp>
      <p:sp>
        <p:nvSpPr>
          <p:cNvPr id="18" name="Text 8"/>
          <p:cNvSpPr/>
          <p:nvPr/>
        </p:nvSpPr>
        <p:spPr>
          <a:xfrm>
            <a:off x="8597754" y="2774950"/>
            <a:ext cx="2275663" cy="367665"/>
          </a:xfrm>
          <a:prstGeom prst="rect">
            <a:avLst/>
          </a:prstGeom>
          <a:noFill/>
          <a:ln/>
        </p:spPr>
        <p:txBody>
          <a:bodyPr wrap="square" lIns="91440" tIns="45720" rIns="91440" bIns="45720" rtlCol="0" anchor="t">
            <a:spAutoFit/>
          </a:bodyPr>
          <a:lstStyle/>
          <a:p>
            <a:pPr algn="ctr">
              <a:lnSpc>
                <a:spcPct val="100000"/>
              </a:lnSpc>
            </a:pPr>
            <a:r>
              <a:rPr lang="en-US" sz="1800" b="1" dirty="0">
                <a:solidFill>
                  <a:srgbClr val="000000"/>
                </a:solidFill>
                <a:latin typeface="MiSans" pitchFamily="34" charset="0"/>
                <a:ea typeface="MiSans" pitchFamily="34" charset="-122"/>
                <a:cs typeface="MiSans" pitchFamily="34" charset="-120"/>
              </a:rPr>
              <a:t>轻量验证与闭环迭代</a:t>
            </a:r>
            <a:endParaRPr lang="en-US" sz="1600" dirty="0"/>
          </a:p>
        </p:txBody>
      </p:sp>
      <p:sp>
        <p:nvSpPr>
          <p:cNvPr id="19" name="Text 9"/>
          <p:cNvSpPr/>
          <p:nvPr/>
        </p:nvSpPr>
        <p:spPr>
          <a:xfrm>
            <a:off x="8362950" y="3496310"/>
            <a:ext cx="2746375" cy="1528921"/>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短平快验证降低试错成本，优先采用低代码工具小范围试点；统筹协调资源联动打破部门壁垒，建立需求到迭代的闭环管理，持续优化沉淀最佳实践。</a:t>
            </a:r>
            <a:endParaRPr lang="en-US" sz="1600" dirty="0"/>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3117533" y="3429000"/>
            <a:ext cx="5956935" cy="164084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1199FB"/>
                </a:solidFill>
                <a:latin typeface="MiSans" pitchFamily="34" charset="0"/>
                <a:ea typeface="MiSans" pitchFamily="34" charset="-122"/>
                <a:cs typeface="MiSans" pitchFamily="34" charset="-120"/>
              </a:rPr>
              <a:t>组织之基：谁来驱动AI创新</a:t>
            </a:r>
            <a:endParaRPr lang="en-US" sz="1600" dirty="0"/>
          </a:p>
        </p:txBody>
      </p:sp>
      <p:sp>
        <p:nvSpPr>
          <p:cNvPr id="4" name="Text 1"/>
          <p:cNvSpPr/>
          <p:nvPr/>
        </p:nvSpPr>
        <p:spPr>
          <a:xfrm>
            <a:off x="3117533" y="1860550"/>
            <a:ext cx="5956935" cy="1574760"/>
          </a:xfrm>
          <a:prstGeom prst="rect">
            <a:avLst/>
          </a:prstGeom>
          <a:noFill/>
          <a:ln/>
        </p:spPr>
        <p:txBody>
          <a:bodyPr wrap="square" lIns="91440" tIns="45720" rIns="91440" bIns="45720" rtlCol="0" anchor="t">
            <a:spAutoFit/>
          </a:bodyPr>
          <a:lstStyle/>
          <a:p>
            <a:pPr algn="ctr">
              <a:lnSpc>
                <a:spcPct val="100000"/>
              </a:lnSpc>
            </a:pPr>
            <a:r>
              <a:rPr lang="en-US" sz="9600" b="1" dirty="0">
                <a:solidFill>
                  <a:srgbClr val="1199FB"/>
                </a:solidFill>
                <a:latin typeface="MiSans" pitchFamily="34" charset="0"/>
                <a:ea typeface="MiSans" pitchFamily="34" charset="-122"/>
                <a:cs typeface="MiSans" pitchFamily="34" charset="-120"/>
              </a:rPr>
              <a:t>02</a:t>
            </a:r>
            <a:endParaRPr lang="en-US" sz="1600" dirty="0"/>
          </a:p>
        </p:txBody>
      </p:sp>
      <p:pic>
        <p:nvPicPr>
          <p:cNvPr id="5" name="Image 1" descr="https://kimi-img.moonshot.cn/pub/slides/slides_tmpl/image/25-09-30-16:31:52-d3dpau0s8jdo4os5dghg.png"/>
          <p:cNvPicPr>
            <a:picLocks noChangeAspect="1"/>
          </p:cNvPicPr>
          <p:nvPr/>
        </p:nvPicPr>
        <p:blipFill>
          <a:blip r:embed="rId5"/>
          <a:stretch>
            <a:fillRect/>
          </a:stretch>
        </p:blipFill>
        <p:spPr>
          <a:xfrm>
            <a:off x="1180465" y="1539875"/>
            <a:ext cx="2349500" cy="2733040"/>
          </a:xfrm>
          <a:prstGeom prst="rect">
            <a:avLst/>
          </a:prstGeom>
        </p:spPr>
      </p:pic>
      <p:pic>
        <p:nvPicPr>
          <p:cNvPr id="6" name="Image 2" descr="https://kimi-img.moonshot.cn/pub/slides/slides_tmpl/image/25-09-30-16:31:52-d3dpau0s8jdo4os5dgf0.png"/>
          <p:cNvPicPr>
            <a:picLocks noChangeAspect="1"/>
          </p:cNvPicPr>
          <p:nvPr/>
        </p:nvPicPr>
        <p:blipFill>
          <a:blip r:embed="rId6"/>
          <a:srcRect t="3182" b="3182"/>
          <a:stretch/>
        </p:blipFill>
        <p:spPr>
          <a:xfrm rot="3660000">
            <a:off x="9880600" y="4845050"/>
            <a:ext cx="1117600" cy="1017905"/>
          </a:xfrm>
          <a:prstGeom prst="rect">
            <a:avLst/>
          </a:prstGeom>
        </p:spPr>
      </p:pic>
      <p:sp>
        <p:nvSpPr>
          <p:cNvPr id="7" name="Shape 2"/>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24-d3dpb60s8jdo4os5dh0g.png"/>
          <p:cNvPicPr>
            <a:picLocks noChangeAspect="1"/>
          </p:cNvPicPr>
          <p:nvPr/>
        </p:nvPicPr>
        <p:blipFill>
          <a:blip r:embed="rId4"/>
          <a:srcRect l="69" r="69"/>
          <a:stretch/>
        </p:blipFill>
        <p:spPr>
          <a:xfrm>
            <a:off x="8096885" y="1448435"/>
            <a:ext cx="3383280" cy="4632960"/>
          </a:xfrm>
          <a:prstGeom prst="rect">
            <a:avLst/>
          </a:prstGeom>
        </p:spPr>
      </p:pic>
      <p:sp>
        <p:nvSpPr>
          <p:cNvPr id="3" name="Shape 0"/>
          <p:cNvSpPr/>
          <p:nvPr/>
        </p:nvSpPr>
        <p:spPr>
          <a:xfrm>
            <a:off x="1082040" y="3046095"/>
            <a:ext cx="6698615" cy="0"/>
          </a:xfrm>
          <a:prstGeom prst="line">
            <a:avLst/>
          </a:prstGeom>
          <a:noFill/>
          <a:ln w="12700">
            <a:solidFill>
              <a:srgbClr val="0B207A"/>
            </a:solidFill>
            <a:prstDash val="dash"/>
            <a:headEnd type="none"/>
            <a:tailEnd type="none"/>
          </a:ln>
        </p:spPr>
      </p:sp>
      <p:sp>
        <p:nvSpPr>
          <p:cNvPr id="4" name="Shape 1"/>
          <p:cNvSpPr/>
          <p:nvPr/>
        </p:nvSpPr>
        <p:spPr>
          <a:xfrm>
            <a:off x="1082040" y="4487545"/>
            <a:ext cx="6698615" cy="0"/>
          </a:xfrm>
          <a:prstGeom prst="line">
            <a:avLst/>
          </a:prstGeom>
          <a:noFill/>
          <a:ln w="12700">
            <a:solidFill>
              <a:srgbClr val="0B207A"/>
            </a:solidFill>
            <a:prstDash val="dash"/>
            <a:headEnd type="none"/>
            <a:tailEnd type="none"/>
          </a:ln>
        </p:spPr>
      </p:sp>
      <p:sp>
        <p:nvSpPr>
          <p:cNvPr id="5" name="Text 2"/>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一个核心三组协同的权责架构</a:t>
            </a:r>
            <a:endParaRPr lang="en-US" sz="1600" dirty="0"/>
          </a:p>
        </p:txBody>
      </p:sp>
      <p:pic>
        <p:nvPicPr>
          <p:cNvPr id="6" name="Image 1" descr="https://kimi-img.moonshot.cn/pub/slides/slides_tmpl/image/25-09-30-16:31:52-d3dpau0s8jdo4os5dgh0.png"/>
          <p:cNvPicPr>
            <a:picLocks noChangeAspect="1"/>
          </p:cNvPicPr>
          <p:nvPr/>
        </p:nvPicPr>
        <p:blipFill>
          <a:blip r:embed="rId5"/>
          <a:srcRect t="110" b="110"/>
          <a:stretch/>
        </p:blipFill>
        <p:spPr>
          <a:xfrm>
            <a:off x="15875" y="550545"/>
            <a:ext cx="579755" cy="652145"/>
          </a:xfrm>
          <a:prstGeom prst="rect">
            <a:avLst/>
          </a:prstGeom>
        </p:spPr>
      </p:pic>
      <p:pic>
        <p:nvPicPr>
          <p:cNvPr id="7" name="Image 2" descr="https://kimi-img.moonshot.cn/pub/slides/slides_tmpl/image/25-09-30-16:31:52-d3dpau0s8jdo4os5dgfg.png"/>
          <p:cNvPicPr>
            <a:picLocks noChangeAspect="1"/>
          </p:cNvPicPr>
          <p:nvPr/>
        </p:nvPicPr>
        <p:blipFill>
          <a:blip r:embed="rId6"/>
          <a:stretch>
            <a:fillRect/>
          </a:stretch>
        </p:blipFill>
        <p:spPr>
          <a:xfrm>
            <a:off x="10339070" y="747395"/>
            <a:ext cx="1141095" cy="1179830"/>
          </a:xfrm>
          <a:prstGeom prst="rect">
            <a:avLst/>
          </a:prstGeom>
        </p:spPr>
      </p:pic>
      <p:sp>
        <p:nvSpPr>
          <p:cNvPr id="8" name="Text 3"/>
          <p:cNvSpPr/>
          <p:nvPr/>
        </p:nvSpPr>
        <p:spPr>
          <a:xfrm>
            <a:off x="1082040" y="1762125"/>
            <a:ext cx="669861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流程部：总牵头</a:t>
            </a:r>
            <a:endParaRPr lang="en-US" sz="1600" dirty="0"/>
          </a:p>
        </p:txBody>
      </p:sp>
      <p:sp>
        <p:nvSpPr>
          <p:cNvPr id="9" name="Text 4"/>
          <p:cNvSpPr/>
          <p:nvPr/>
        </p:nvSpPr>
        <p:spPr>
          <a:xfrm>
            <a:off x="1082040" y="2101215"/>
            <a:ext cx="6698615" cy="648256"/>
          </a:xfrm>
          <a:prstGeom prst="rect">
            <a:avLst/>
          </a:prstGeom>
          <a:noFill/>
          <a:ln/>
        </p:spPr>
        <p:txBody>
          <a:bodyPr wrap="square" lIns="91440" tIns="45720" rIns="91440" bIns="45720" rtlCol="0" anchor="t">
            <a:spAutoFit/>
          </a:bodyPr>
          <a:lstStyle/>
          <a:p>
            <a:pPr algn="just">
              <a:lnSpc>
                <a:spcPct val="130000"/>
              </a:lnSpc>
            </a:pPr>
            <a:r>
              <a:rPr lang="en-US" sz="1200" b="1" dirty="0">
                <a:solidFill>
                  <a:srgbClr val="404040"/>
                </a:solidFill>
                <a:latin typeface="MiSans" pitchFamily="34" charset="0"/>
                <a:ea typeface="MiSans" pitchFamily="34" charset="-122"/>
                <a:cs typeface="MiSans" pitchFamily="34" charset="-120"/>
              </a:rPr>
              <a:t>流程部AI创新推进小组担任总牵头、总协调、总管控，配备2-3名专职人员，负责需求统筹、方案审核、进度跟踪与知识沉淀，确保推进有序高效。</a:t>
            </a:r>
            <a:endParaRPr lang="en-US" sz="1600" dirty="0"/>
          </a:p>
        </p:txBody>
      </p:sp>
      <p:sp>
        <p:nvSpPr>
          <p:cNvPr id="10" name="Text 5"/>
          <p:cNvSpPr/>
          <p:nvPr/>
        </p:nvSpPr>
        <p:spPr>
          <a:xfrm>
            <a:off x="1082040" y="3203575"/>
            <a:ext cx="669861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业务部门：需求与落地</a:t>
            </a:r>
            <a:endParaRPr lang="en-US" sz="1600" dirty="0"/>
          </a:p>
        </p:txBody>
      </p:sp>
      <p:sp>
        <p:nvSpPr>
          <p:cNvPr id="11" name="Text 6"/>
          <p:cNvSpPr/>
          <p:nvPr/>
        </p:nvSpPr>
        <p:spPr>
          <a:xfrm>
            <a:off x="1082040" y="3542665"/>
            <a:ext cx="6698615" cy="648256"/>
          </a:xfrm>
          <a:prstGeom prst="rect">
            <a:avLst/>
          </a:prstGeom>
          <a:noFill/>
          <a:ln/>
        </p:spPr>
        <p:txBody>
          <a:bodyPr wrap="square" lIns="91440" tIns="45720" rIns="91440" bIns="45720" rtlCol="0" anchor="t">
            <a:spAutoFit/>
          </a:bodyPr>
          <a:lstStyle/>
          <a:p>
            <a:pPr algn="just">
              <a:lnSpc>
                <a:spcPct val="130000"/>
              </a:lnSpc>
            </a:pPr>
            <a:r>
              <a:rPr lang="en-US" sz="1200" b="1" dirty="0">
                <a:solidFill>
                  <a:srgbClr val="404040"/>
                </a:solidFill>
                <a:latin typeface="MiSans" pitchFamily="34" charset="0"/>
                <a:ea typeface="MiSans" pitchFamily="34" charset="-122"/>
                <a:cs typeface="MiSans" pitchFamily="34" charset="-120"/>
              </a:rPr>
              <a:t>业务部门主动提出创新需求，组建对接人参与方案设计，执行业务落地并确保数据真实完整，在方案设计中占据主导地位确保贴合实际。</a:t>
            </a:r>
            <a:endParaRPr lang="en-US" sz="1600" dirty="0"/>
          </a:p>
        </p:txBody>
      </p:sp>
      <p:sp>
        <p:nvSpPr>
          <p:cNvPr id="12" name="Text 7"/>
          <p:cNvSpPr/>
          <p:nvPr/>
        </p:nvSpPr>
        <p:spPr>
          <a:xfrm>
            <a:off x="1082040" y="4633595"/>
            <a:ext cx="669861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IT部门：技术支撑</a:t>
            </a:r>
            <a:endParaRPr lang="en-US" sz="1600" dirty="0"/>
          </a:p>
        </p:txBody>
      </p:sp>
      <p:sp>
        <p:nvSpPr>
          <p:cNvPr id="13" name="Text 8"/>
          <p:cNvSpPr/>
          <p:nvPr/>
        </p:nvSpPr>
        <p:spPr>
          <a:xfrm>
            <a:off x="1082040" y="4984115"/>
            <a:ext cx="6698615" cy="648256"/>
          </a:xfrm>
          <a:prstGeom prst="rect">
            <a:avLst/>
          </a:prstGeom>
          <a:noFill/>
          <a:ln/>
        </p:spPr>
        <p:txBody>
          <a:bodyPr wrap="square" lIns="91440" tIns="45720" rIns="91440" bIns="45720" rtlCol="0" anchor="t">
            <a:spAutoFit/>
          </a:bodyPr>
          <a:lstStyle/>
          <a:p>
            <a:pPr algn="just">
              <a:lnSpc>
                <a:spcPct val="130000"/>
              </a:lnSpc>
            </a:pPr>
            <a:r>
              <a:rPr lang="en-US" sz="1200" b="1" dirty="0">
                <a:solidFill>
                  <a:srgbClr val="404040"/>
                </a:solidFill>
                <a:latin typeface="MiSans" pitchFamily="34" charset="0"/>
                <a:ea typeface="MiSans" pitchFamily="34" charset="-122"/>
                <a:cs typeface="MiSans" pitchFamily="34" charset="-120"/>
              </a:rPr>
              <a:t>IT部门梳理现有数字化能力与数据现状，为成熟场景提供模型选型与系统对接，指导基础薄弱场景使用低代码工具，推进数据平台建设。</a:t>
            </a:r>
            <a:endParaRPr lang="en-US" sz="1600" dirty="0"/>
          </a:p>
        </p:txBody>
      </p:sp>
      <p:sp>
        <p:nvSpPr>
          <p:cNvPr id="14" name="Text 9"/>
          <p:cNvSpPr/>
          <p:nvPr/>
        </p:nvSpPr>
        <p:spPr>
          <a:xfrm>
            <a:off x="8443595" y="2101215"/>
            <a:ext cx="267525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业务执委：战略决策</a:t>
            </a:r>
            <a:endParaRPr lang="en-US" sz="1600" dirty="0"/>
          </a:p>
        </p:txBody>
      </p:sp>
      <p:sp>
        <p:nvSpPr>
          <p:cNvPr id="15" name="Text 10"/>
          <p:cNvSpPr/>
          <p:nvPr/>
        </p:nvSpPr>
        <p:spPr>
          <a:xfrm>
            <a:off x="8443595" y="3046095"/>
            <a:ext cx="2778125" cy="2201545"/>
          </a:xfrm>
          <a:prstGeom prst="rect">
            <a:avLst/>
          </a:prstGeom>
          <a:noFill/>
          <a:ln/>
        </p:spPr>
        <p:txBody>
          <a:bodyPr wrap="square" lIns="91440" tIns="45720" rIns="91440" bIns="45720" rtlCol="0" anchor="t"/>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业务执委负责项目评审、资源审批与战略方向把控，依据业务价值与可行性做出立项决策，协调解决跨部门重大协同问题。</a:t>
            </a:r>
            <a:endParaRPr lang="en-US" sz="1600"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3119755" y="1664335"/>
            <a:ext cx="8328025" cy="2134870"/>
          </a:xfrm>
          <a:prstGeom prst="rect">
            <a:avLst/>
          </a:prstGeom>
          <a:solidFill>
            <a:srgbClr val="1199FB"/>
          </a:solidFill>
          <a:ln/>
        </p:spPr>
      </p:sp>
      <p:pic>
        <p:nvPicPr>
          <p:cNvPr id="3" name="Image 0" descr="https://kimi-img.moonshot.cn/pub/slides/slides_tmpl/image/25-09-30-16:32:10-d3dpb2gs8jdo4os5dgog.jpeg"/>
          <p:cNvPicPr>
            <a:picLocks noChangeAspect="1"/>
          </p:cNvPicPr>
          <p:nvPr/>
        </p:nvPicPr>
        <p:blipFill>
          <a:blip r:embed="rId4"/>
          <a:srcRect l="14345" r="14345"/>
          <a:stretch/>
        </p:blipFill>
        <p:spPr>
          <a:xfrm>
            <a:off x="745490" y="1664335"/>
            <a:ext cx="2282825" cy="2133600"/>
          </a:xfrm>
          <a:prstGeom prst="rect">
            <a:avLst/>
          </a:prstGeom>
        </p:spPr>
      </p:pic>
      <p:sp>
        <p:nvSpPr>
          <p:cNvPr id="4" name="Shape 1"/>
          <p:cNvSpPr/>
          <p:nvPr/>
        </p:nvSpPr>
        <p:spPr>
          <a:xfrm flipH="1">
            <a:off x="744855" y="3976370"/>
            <a:ext cx="8328025" cy="2134870"/>
          </a:xfrm>
          <a:prstGeom prst="rect">
            <a:avLst/>
          </a:prstGeom>
          <a:solidFill>
            <a:srgbClr val="1199FB"/>
          </a:solidFill>
          <a:ln/>
        </p:spPr>
      </p:sp>
      <p:pic>
        <p:nvPicPr>
          <p:cNvPr id="5" name="Image 1" descr="https://kimi-img.moonshot.cn/pub/slides/slides_tmpl/image/25-09-30-16:32:11-d3dpb2os8jdo4os5dgr0.png"/>
          <p:cNvPicPr>
            <a:picLocks noChangeAspect="1"/>
          </p:cNvPicPr>
          <p:nvPr/>
        </p:nvPicPr>
        <p:blipFill>
          <a:blip r:embed="rId5"/>
          <a:srcRect t="83" b="83"/>
          <a:stretch/>
        </p:blipFill>
        <p:spPr>
          <a:xfrm>
            <a:off x="9164320" y="3976370"/>
            <a:ext cx="2282825" cy="2133600"/>
          </a:xfrm>
          <a:prstGeom prst="rect">
            <a:avLst/>
          </a:prstGeom>
        </p:spPr>
      </p:pic>
      <p:sp>
        <p:nvSpPr>
          <p:cNvPr id="6" name="Shape 2"/>
          <p:cNvSpPr/>
          <p:nvPr/>
        </p:nvSpPr>
        <p:spPr>
          <a:xfrm>
            <a:off x="10356850" y="635000"/>
            <a:ext cx="1160145" cy="707390"/>
          </a:xfrm>
          <a:custGeom>
            <a:avLst/>
            <a:gdLst/>
            <a:ahLst/>
            <a:cxnLst/>
            <a:rect l="l" t="t" r="r" b="b"/>
            <a:pathLst>
              <a:path w="1160145" h="707390">
                <a:moveTo>
                  <a:pt x="51650" y="25221"/>
                </a:moveTo>
                <a:cubicBezTo>
                  <a:pt x="51650" y="39204"/>
                  <a:pt x="39866" y="50540"/>
                  <a:pt x="25329" y="50540"/>
                </a:cubicBezTo>
                <a:cubicBezTo>
                  <a:pt x="10793" y="50540"/>
                  <a:pt x="-991" y="39204"/>
                  <a:pt x="-991" y="25221"/>
                </a:cubicBezTo>
                <a:cubicBezTo>
                  <a:pt x="-991" y="11237"/>
                  <a:pt x="10793" y="-99"/>
                  <a:pt x="25329" y="-99"/>
                </a:cubicBezTo>
                <a:cubicBezTo>
                  <a:pt x="39860" y="-106"/>
                  <a:pt x="51642" y="11220"/>
                  <a:pt x="51650" y="25196"/>
                </a:cubicBezTo>
                <a:cubicBezTo>
                  <a:pt x="51650" y="25205"/>
                  <a:pt x="51650" y="25213"/>
                  <a:pt x="51650" y="25221"/>
                </a:cubicBezTo>
                <a:close/>
                <a:moveTo>
                  <a:pt x="273361" y="25221"/>
                </a:moveTo>
                <a:cubicBezTo>
                  <a:pt x="273361" y="39204"/>
                  <a:pt x="261577" y="50540"/>
                  <a:pt x="247041" y="50540"/>
                </a:cubicBezTo>
                <a:cubicBezTo>
                  <a:pt x="232505" y="50540"/>
                  <a:pt x="220720" y="39204"/>
                  <a:pt x="220720" y="25221"/>
                </a:cubicBezTo>
                <a:cubicBezTo>
                  <a:pt x="220720" y="11237"/>
                  <a:pt x="232505" y="-99"/>
                  <a:pt x="247041" y="-99"/>
                </a:cubicBezTo>
                <a:cubicBezTo>
                  <a:pt x="261569" y="-82"/>
                  <a:pt x="273345" y="11244"/>
                  <a:pt x="273361" y="25221"/>
                </a:cubicBezTo>
                <a:close/>
                <a:moveTo>
                  <a:pt x="495012" y="25221"/>
                </a:moveTo>
                <a:cubicBezTo>
                  <a:pt x="495012" y="39204"/>
                  <a:pt x="483227" y="50540"/>
                  <a:pt x="468691" y="50540"/>
                </a:cubicBezTo>
                <a:cubicBezTo>
                  <a:pt x="454155" y="50540"/>
                  <a:pt x="442371" y="39204"/>
                  <a:pt x="442371" y="25221"/>
                </a:cubicBezTo>
                <a:cubicBezTo>
                  <a:pt x="442371" y="11237"/>
                  <a:pt x="454155" y="-99"/>
                  <a:pt x="468691" y="-99"/>
                </a:cubicBezTo>
                <a:cubicBezTo>
                  <a:pt x="483220" y="-106"/>
                  <a:pt x="495003" y="11220"/>
                  <a:pt x="495012" y="25196"/>
                </a:cubicBezTo>
                <a:cubicBezTo>
                  <a:pt x="495012" y="25205"/>
                  <a:pt x="495012" y="25213"/>
                  <a:pt x="495012" y="25221"/>
                </a:cubicBezTo>
                <a:close/>
                <a:moveTo>
                  <a:pt x="716723" y="25221"/>
                </a:moveTo>
                <a:cubicBezTo>
                  <a:pt x="716723" y="39204"/>
                  <a:pt x="704939" y="50540"/>
                  <a:pt x="690403" y="50540"/>
                </a:cubicBezTo>
                <a:cubicBezTo>
                  <a:pt x="675866" y="50540"/>
                  <a:pt x="664082" y="39204"/>
                  <a:pt x="664082" y="25221"/>
                </a:cubicBezTo>
                <a:cubicBezTo>
                  <a:pt x="664082" y="11237"/>
                  <a:pt x="675866" y="-99"/>
                  <a:pt x="690403" y="-99"/>
                </a:cubicBezTo>
                <a:cubicBezTo>
                  <a:pt x="704933" y="-106"/>
                  <a:pt x="716715" y="11220"/>
                  <a:pt x="716723" y="25196"/>
                </a:cubicBezTo>
                <a:cubicBezTo>
                  <a:pt x="716723" y="25205"/>
                  <a:pt x="716723" y="25213"/>
                  <a:pt x="716723" y="25221"/>
                </a:cubicBezTo>
                <a:close/>
                <a:moveTo>
                  <a:pt x="938435" y="25221"/>
                </a:moveTo>
                <a:cubicBezTo>
                  <a:pt x="938435" y="39204"/>
                  <a:pt x="926651" y="50540"/>
                  <a:pt x="912114" y="50540"/>
                </a:cubicBezTo>
                <a:cubicBezTo>
                  <a:pt x="897579" y="50540"/>
                  <a:pt x="885794" y="39204"/>
                  <a:pt x="885794" y="25221"/>
                </a:cubicBezTo>
                <a:cubicBezTo>
                  <a:pt x="885794" y="11237"/>
                  <a:pt x="897579" y="-99"/>
                  <a:pt x="912114" y="-99"/>
                </a:cubicBezTo>
                <a:cubicBezTo>
                  <a:pt x="926644" y="-106"/>
                  <a:pt x="938427" y="11220"/>
                  <a:pt x="938435" y="25196"/>
                </a:cubicBezTo>
                <a:cubicBezTo>
                  <a:pt x="938435" y="25205"/>
                  <a:pt x="938435" y="25213"/>
                  <a:pt x="938435" y="25221"/>
                </a:cubicBezTo>
                <a:close/>
                <a:moveTo>
                  <a:pt x="1160145" y="25221"/>
                </a:moveTo>
                <a:cubicBezTo>
                  <a:pt x="1160145" y="39204"/>
                  <a:pt x="1148361" y="50540"/>
                  <a:pt x="1133824" y="50540"/>
                </a:cubicBezTo>
                <a:cubicBezTo>
                  <a:pt x="1119288" y="50540"/>
                  <a:pt x="1107504" y="39204"/>
                  <a:pt x="1107504" y="25221"/>
                </a:cubicBezTo>
                <a:cubicBezTo>
                  <a:pt x="1107504" y="11237"/>
                  <a:pt x="1119288" y="-99"/>
                  <a:pt x="1133824" y="-99"/>
                </a:cubicBezTo>
                <a:cubicBezTo>
                  <a:pt x="1148353" y="-82"/>
                  <a:pt x="1160129" y="11244"/>
                  <a:pt x="1160145" y="25221"/>
                </a:cubicBezTo>
                <a:close/>
                <a:moveTo>
                  <a:pt x="51650" y="189433"/>
                </a:moveTo>
                <a:cubicBezTo>
                  <a:pt x="51650" y="203417"/>
                  <a:pt x="39866" y="214752"/>
                  <a:pt x="25329" y="214752"/>
                </a:cubicBezTo>
                <a:cubicBezTo>
                  <a:pt x="10793" y="214752"/>
                  <a:pt x="-991" y="203417"/>
                  <a:pt x="-991" y="189433"/>
                </a:cubicBezTo>
                <a:cubicBezTo>
                  <a:pt x="-991" y="175449"/>
                  <a:pt x="10793" y="164114"/>
                  <a:pt x="25329" y="164114"/>
                </a:cubicBezTo>
                <a:cubicBezTo>
                  <a:pt x="39860" y="164107"/>
                  <a:pt x="51642" y="175433"/>
                  <a:pt x="51650" y="189410"/>
                </a:cubicBezTo>
                <a:cubicBezTo>
                  <a:pt x="51650" y="189417"/>
                  <a:pt x="51650" y="189425"/>
                  <a:pt x="51650" y="189433"/>
                </a:cubicBezTo>
                <a:close/>
                <a:moveTo>
                  <a:pt x="273361" y="189433"/>
                </a:moveTo>
                <a:cubicBezTo>
                  <a:pt x="273361" y="203417"/>
                  <a:pt x="261577" y="214752"/>
                  <a:pt x="247041" y="214752"/>
                </a:cubicBezTo>
                <a:cubicBezTo>
                  <a:pt x="232505" y="214752"/>
                  <a:pt x="220720" y="203417"/>
                  <a:pt x="220720" y="189433"/>
                </a:cubicBezTo>
                <a:cubicBezTo>
                  <a:pt x="220720" y="175449"/>
                  <a:pt x="232505" y="164114"/>
                  <a:pt x="247041" y="164114"/>
                </a:cubicBezTo>
                <a:cubicBezTo>
                  <a:pt x="261569" y="164130"/>
                  <a:pt x="273345" y="175456"/>
                  <a:pt x="273361" y="189433"/>
                </a:cubicBezTo>
                <a:close/>
                <a:moveTo>
                  <a:pt x="495012" y="189433"/>
                </a:moveTo>
                <a:cubicBezTo>
                  <a:pt x="495012" y="203417"/>
                  <a:pt x="483227" y="214752"/>
                  <a:pt x="468691" y="214752"/>
                </a:cubicBezTo>
                <a:cubicBezTo>
                  <a:pt x="454155" y="214752"/>
                  <a:pt x="442371" y="203417"/>
                  <a:pt x="442371" y="189433"/>
                </a:cubicBezTo>
                <a:cubicBezTo>
                  <a:pt x="442371" y="175449"/>
                  <a:pt x="454155" y="164114"/>
                  <a:pt x="468691" y="164114"/>
                </a:cubicBezTo>
                <a:cubicBezTo>
                  <a:pt x="483220" y="164107"/>
                  <a:pt x="495003" y="175433"/>
                  <a:pt x="495012" y="189410"/>
                </a:cubicBezTo>
                <a:cubicBezTo>
                  <a:pt x="495012" y="189417"/>
                  <a:pt x="495012" y="189425"/>
                  <a:pt x="495012" y="189433"/>
                </a:cubicBezTo>
                <a:close/>
                <a:moveTo>
                  <a:pt x="716723" y="189433"/>
                </a:moveTo>
                <a:cubicBezTo>
                  <a:pt x="716723" y="203417"/>
                  <a:pt x="704939" y="214752"/>
                  <a:pt x="690403" y="214752"/>
                </a:cubicBezTo>
                <a:cubicBezTo>
                  <a:pt x="675866" y="214752"/>
                  <a:pt x="664082" y="203417"/>
                  <a:pt x="664082" y="189433"/>
                </a:cubicBezTo>
                <a:cubicBezTo>
                  <a:pt x="664082" y="175449"/>
                  <a:pt x="675866" y="164114"/>
                  <a:pt x="690403" y="164114"/>
                </a:cubicBezTo>
                <a:cubicBezTo>
                  <a:pt x="704933" y="164107"/>
                  <a:pt x="716715" y="175433"/>
                  <a:pt x="716723" y="189410"/>
                </a:cubicBezTo>
                <a:cubicBezTo>
                  <a:pt x="716723" y="189417"/>
                  <a:pt x="716723" y="189425"/>
                  <a:pt x="716723" y="189433"/>
                </a:cubicBezTo>
                <a:close/>
                <a:moveTo>
                  <a:pt x="938435" y="189433"/>
                </a:moveTo>
                <a:cubicBezTo>
                  <a:pt x="938435" y="203417"/>
                  <a:pt x="926651" y="214752"/>
                  <a:pt x="912114" y="214752"/>
                </a:cubicBezTo>
                <a:cubicBezTo>
                  <a:pt x="897579" y="214752"/>
                  <a:pt x="885794" y="203417"/>
                  <a:pt x="885794" y="189433"/>
                </a:cubicBezTo>
                <a:cubicBezTo>
                  <a:pt x="885794" y="175449"/>
                  <a:pt x="897579" y="164114"/>
                  <a:pt x="912114" y="164114"/>
                </a:cubicBezTo>
                <a:cubicBezTo>
                  <a:pt x="926644" y="164107"/>
                  <a:pt x="938427" y="175433"/>
                  <a:pt x="938435" y="189410"/>
                </a:cubicBezTo>
                <a:cubicBezTo>
                  <a:pt x="938435" y="189417"/>
                  <a:pt x="938435" y="189425"/>
                  <a:pt x="938435" y="189433"/>
                </a:cubicBezTo>
                <a:close/>
                <a:moveTo>
                  <a:pt x="1160145" y="189433"/>
                </a:moveTo>
                <a:cubicBezTo>
                  <a:pt x="1160145" y="203417"/>
                  <a:pt x="1148361" y="214752"/>
                  <a:pt x="1133824" y="214752"/>
                </a:cubicBezTo>
                <a:cubicBezTo>
                  <a:pt x="1119288" y="214752"/>
                  <a:pt x="1107504" y="203417"/>
                  <a:pt x="1107504" y="189433"/>
                </a:cubicBezTo>
                <a:cubicBezTo>
                  <a:pt x="1107504" y="175449"/>
                  <a:pt x="1119288" y="164114"/>
                  <a:pt x="1133824" y="164114"/>
                </a:cubicBezTo>
                <a:cubicBezTo>
                  <a:pt x="1148353" y="164130"/>
                  <a:pt x="1160129" y="175456"/>
                  <a:pt x="1160145" y="189433"/>
                </a:cubicBezTo>
                <a:close/>
                <a:moveTo>
                  <a:pt x="51650" y="353646"/>
                </a:moveTo>
                <a:cubicBezTo>
                  <a:pt x="51650" y="367629"/>
                  <a:pt x="39866" y="378965"/>
                  <a:pt x="25329" y="378965"/>
                </a:cubicBezTo>
                <a:cubicBezTo>
                  <a:pt x="10793" y="378965"/>
                  <a:pt x="-991" y="367629"/>
                  <a:pt x="-991" y="353646"/>
                </a:cubicBezTo>
                <a:cubicBezTo>
                  <a:pt x="-991" y="339662"/>
                  <a:pt x="10793" y="328326"/>
                  <a:pt x="25329" y="328326"/>
                </a:cubicBezTo>
                <a:cubicBezTo>
                  <a:pt x="39860" y="328319"/>
                  <a:pt x="51642" y="339644"/>
                  <a:pt x="51650" y="353621"/>
                </a:cubicBezTo>
                <a:cubicBezTo>
                  <a:pt x="51650" y="353629"/>
                  <a:pt x="51650" y="353638"/>
                  <a:pt x="51650" y="353646"/>
                </a:cubicBezTo>
                <a:close/>
                <a:moveTo>
                  <a:pt x="273361" y="353646"/>
                </a:moveTo>
                <a:cubicBezTo>
                  <a:pt x="273361" y="367629"/>
                  <a:pt x="261577" y="378965"/>
                  <a:pt x="247041" y="378965"/>
                </a:cubicBezTo>
                <a:cubicBezTo>
                  <a:pt x="232505" y="378965"/>
                  <a:pt x="220720" y="367629"/>
                  <a:pt x="220720" y="353646"/>
                </a:cubicBezTo>
                <a:cubicBezTo>
                  <a:pt x="220720" y="339662"/>
                  <a:pt x="232505" y="328326"/>
                  <a:pt x="247041" y="328326"/>
                </a:cubicBezTo>
                <a:cubicBezTo>
                  <a:pt x="261569" y="328343"/>
                  <a:pt x="273345" y="339669"/>
                  <a:pt x="273361" y="353646"/>
                </a:cubicBezTo>
                <a:close/>
                <a:moveTo>
                  <a:pt x="495012" y="353646"/>
                </a:moveTo>
                <a:cubicBezTo>
                  <a:pt x="495012" y="367629"/>
                  <a:pt x="483227" y="378965"/>
                  <a:pt x="468691" y="378965"/>
                </a:cubicBezTo>
                <a:cubicBezTo>
                  <a:pt x="454155" y="378965"/>
                  <a:pt x="442371" y="367629"/>
                  <a:pt x="442371" y="353646"/>
                </a:cubicBezTo>
                <a:cubicBezTo>
                  <a:pt x="442371" y="339662"/>
                  <a:pt x="454155" y="328326"/>
                  <a:pt x="468691" y="328326"/>
                </a:cubicBezTo>
                <a:cubicBezTo>
                  <a:pt x="483220" y="328319"/>
                  <a:pt x="495003" y="339644"/>
                  <a:pt x="495012" y="353621"/>
                </a:cubicBezTo>
                <a:cubicBezTo>
                  <a:pt x="495012" y="353629"/>
                  <a:pt x="495012" y="353638"/>
                  <a:pt x="495012" y="353646"/>
                </a:cubicBezTo>
                <a:close/>
                <a:moveTo>
                  <a:pt x="716723" y="353646"/>
                </a:moveTo>
                <a:cubicBezTo>
                  <a:pt x="716723" y="367629"/>
                  <a:pt x="704939" y="378965"/>
                  <a:pt x="690403" y="378965"/>
                </a:cubicBezTo>
                <a:cubicBezTo>
                  <a:pt x="675866" y="378965"/>
                  <a:pt x="664082" y="367629"/>
                  <a:pt x="664082" y="353646"/>
                </a:cubicBezTo>
                <a:cubicBezTo>
                  <a:pt x="664082" y="339662"/>
                  <a:pt x="675866" y="328326"/>
                  <a:pt x="690403" y="328326"/>
                </a:cubicBezTo>
                <a:cubicBezTo>
                  <a:pt x="704933" y="328319"/>
                  <a:pt x="716715" y="339644"/>
                  <a:pt x="716723" y="353621"/>
                </a:cubicBezTo>
                <a:cubicBezTo>
                  <a:pt x="716723" y="353629"/>
                  <a:pt x="716723" y="353638"/>
                  <a:pt x="716723" y="353646"/>
                </a:cubicBezTo>
                <a:close/>
                <a:moveTo>
                  <a:pt x="938435" y="353646"/>
                </a:moveTo>
                <a:cubicBezTo>
                  <a:pt x="938435" y="367629"/>
                  <a:pt x="926651" y="378965"/>
                  <a:pt x="912114" y="378965"/>
                </a:cubicBezTo>
                <a:cubicBezTo>
                  <a:pt x="897579" y="378965"/>
                  <a:pt x="885794" y="367629"/>
                  <a:pt x="885794" y="353646"/>
                </a:cubicBezTo>
                <a:cubicBezTo>
                  <a:pt x="885794" y="339662"/>
                  <a:pt x="897579" y="328326"/>
                  <a:pt x="912114" y="328326"/>
                </a:cubicBezTo>
                <a:cubicBezTo>
                  <a:pt x="926644" y="328319"/>
                  <a:pt x="938427" y="339644"/>
                  <a:pt x="938435" y="353621"/>
                </a:cubicBezTo>
                <a:cubicBezTo>
                  <a:pt x="938435" y="353629"/>
                  <a:pt x="938435" y="353638"/>
                  <a:pt x="938435" y="353646"/>
                </a:cubicBezTo>
                <a:close/>
                <a:moveTo>
                  <a:pt x="1160145" y="353646"/>
                </a:moveTo>
                <a:cubicBezTo>
                  <a:pt x="1160145" y="367629"/>
                  <a:pt x="1148361" y="378965"/>
                  <a:pt x="1133824" y="378965"/>
                </a:cubicBezTo>
                <a:cubicBezTo>
                  <a:pt x="1119288" y="378965"/>
                  <a:pt x="1107504" y="367629"/>
                  <a:pt x="1107504" y="353646"/>
                </a:cubicBezTo>
                <a:cubicBezTo>
                  <a:pt x="1107504" y="339662"/>
                  <a:pt x="1119288" y="328326"/>
                  <a:pt x="1133824" y="328326"/>
                </a:cubicBezTo>
                <a:cubicBezTo>
                  <a:pt x="1148353" y="328343"/>
                  <a:pt x="1160129" y="339669"/>
                  <a:pt x="1160145" y="353646"/>
                </a:cubicBezTo>
                <a:close/>
                <a:moveTo>
                  <a:pt x="51650" y="517858"/>
                </a:moveTo>
                <a:cubicBezTo>
                  <a:pt x="51650" y="531842"/>
                  <a:pt x="39866" y="543177"/>
                  <a:pt x="25329" y="543177"/>
                </a:cubicBezTo>
                <a:cubicBezTo>
                  <a:pt x="10793" y="543177"/>
                  <a:pt x="-991" y="531842"/>
                  <a:pt x="-991" y="517858"/>
                </a:cubicBezTo>
                <a:cubicBezTo>
                  <a:pt x="-991" y="503875"/>
                  <a:pt x="10793" y="492539"/>
                  <a:pt x="25329" y="492539"/>
                </a:cubicBezTo>
                <a:cubicBezTo>
                  <a:pt x="39860" y="492532"/>
                  <a:pt x="51642" y="503857"/>
                  <a:pt x="51650" y="517834"/>
                </a:cubicBezTo>
                <a:cubicBezTo>
                  <a:pt x="51650" y="517842"/>
                  <a:pt x="51650" y="517850"/>
                  <a:pt x="51650" y="517858"/>
                </a:cubicBezTo>
                <a:close/>
                <a:moveTo>
                  <a:pt x="273361" y="517858"/>
                </a:moveTo>
                <a:cubicBezTo>
                  <a:pt x="273361" y="531842"/>
                  <a:pt x="261577" y="543177"/>
                  <a:pt x="247041" y="543177"/>
                </a:cubicBezTo>
                <a:cubicBezTo>
                  <a:pt x="232505" y="543177"/>
                  <a:pt x="220720" y="531842"/>
                  <a:pt x="220720" y="517858"/>
                </a:cubicBezTo>
                <a:cubicBezTo>
                  <a:pt x="220720" y="503875"/>
                  <a:pt x="232505" y="492539"/>
                  <a:pt x="247041" y="492539"/>
                </a:cubicBezTo>
                <a:cubicBezTo>
                  <a:pt x="261569" y="492555"/>
                  <a:pt x="273345" y="503881"/>
                  <a:pt x="273361" y="517858"/>
                </a:cubicBezTo>
                <a:close/>
                <a:moveTo>
                  <a:pt x="495012" y="517858"/>
                </a:moveTo>
                <a:cubicBezTo>
                  <a:pt x="495012" y="531842"/>
                  <a:pt x="483227" y="543177"/>
                  <a:pt x="468691" y="543177"/>
                </a:cubicBezTo>
                <a:cubicBezTo>
                  <a:pt x="454155" y="543177"/>
                  <a:pt x="442371" y="531842"/>
                  <a:pt x="442371" y="517858"/>
                </a:cubicBezTo>
                <a:cubicBezTo>
                  <a:pt x="442371" y="503875"/>
                  <a:pt x="454155" y="492539"/>
                  <a:pt x="468691" y="492539"/>
                </a:cubicBezTo>
                <a:cubicBezTo>
                  <a:pt x="483220" y="492532"/>
                  <a:pt x="495003" y="503857"/>
                  <a:pt x="495012" y="517834"/>
                </a:cubicBezTo>
                <a:cubicBezTo>
                  <a:pt x="495012" y="517842"/>
                  <a:pt x="495012" y="517850"/>
                  <a:pt x="495012" y="517858"/>
                </a:cubicBezTo>
                <a:close/>
                <a:moveTo>
                  <a:pt x="716723" y="517858"/>
                </a:moveTo>
                <a:cubicBezTo>
                  <a:pt x="716723" y="531842"/>
                  <a:pt x="704939" y="543177"/>
                  <a:pt x="690403" y="543177"/>
                </a:cubicBezTo>
                <a:cubicBezTo>
                  <a:pt x="675866" y="543177"/>
                  <a:pt x="664082" y="531842"/>
                  <a:pt x="664082" y="517858"/>
                </a:cubicBezTo>
                <a:cubicBezTo>
                  <a:pt x="664082" y="503875"/>
                  <a:pt x="675866" y="492539"/>
                  <a:pt x="690403" y="492539"/>
                </a:cubicBezTo>
                <a:cubicBezTo>
                  <a:pt x="704933" y="492532"/>
                  <a:pt x="716715" y="503857"/>
                  <a:pt x="716723" y="517834"/>
                </a:cubicBezTo>
                <a:cubicBezTo>
                  <a:pt x="716723" y="517842"/>
                  <a:pt x="716723" y="517850"/>
                  <a:pt x="716723" y="517858"/>
                </a:cubicBezTo>
                <a:close/>
                <a:moveTo>
                  <a:pt x="938435" y="517858"/>
                </a:moveTo>
                <a:cubicBezTo>
                  <a:pt x="938435" y="531842"/>
                  <a:pt x="926651" y="543177"/>
                  <a:pt x="912114" y="543177"/>
                </a:cubicBezTo>
                <a:cubicBezTo>
                  <a:pt x="897579" y="543177"/>
                  <a:pt x="885794" y="531842"/>
                  <a:pt x="885794" y="517858"/>
                </a:cubicBezTo>
                <a:cubicBezTo>
                  <a:pt x="885794" y="503875"/>
                  <a:pt x="897579" y="492539"/>
                  <a:pt x="912114" y="492539"/>
                </a:cubicBezTo>
                <a:cubicBezTo>
                  <a:pt x="926644" y="492532"/>
                  <a:pt x="938427" y="503857"/>
                  <a:pt x="938435" y="517834"/>
                </a:cubicBezTo>
                <a:cubicBezTo>
                  <a:pt x="938435" y="517842"/>
                  <a:pt x="938435" y="517850"/>
                  <a:pt x="938435" y="517858"/>
                </a:cubicBezTo>
                <a:close/>
                <a:moveTo>
                  <a:pt x="1160145" y="517858"/>
                </a:moveTo>
                <a:cubicBezTo>
                  <a:pt x="1160145" y="531842"/>
                  <a:pt x="1148361" y="543177"/>
                  <a:pt x="1133824" y="543177"/>
                </a:cubicBezTo>
                <a:cubicBezTo>
                  <a:pt x="1119288" y="543177"/>
                  <a:pt x="1107504" y="531842"/>
                  <a:pt x="1107504" y="517858"/>
                </a:cubicBezTo>
                <a:cubicBezTo>
                  <a:pt x="1107504" y="503875"/>
                  <a:pt x="1119288" y="492539"/>
                  <a:pt x="1133824" y="492539"/>
                </a:cubicBezTo>
                <a:cubicBezTo>
                  <a:pt x="1148353" y="492555"/>
                  <a:pt x="1160129" y="503881"/>
                  <a:pt x="1160145" y="517858"/>
                </a:cubicBezTo>
                <a:close/>
                <a:moveTo>
                  <a:pt x="51650" y="682071"/>
                </a:moveTo>
                <a:cubicBezTo>
                  <a:pt x="51650" y="696054"/>
                  <a:pt x="39866" y="707390"/>
                  <a:pt x="25329" y="707390"/>
                </a:cubicBezTo>
                <a:cubicBezTo>
                  <a:pt x="10793" y="707390"/>
                  <a:pt x="-991" y="696054"/>
                  <a:pt x="-991" y="682071"/>
                </a:cubicBezTo>
                <a:cubicBezTo>
                  <a:pt x="-991" y="668087"/>
                  <a:pt x="10793" y="656751"/>
                  <a:pt x="25329" y="656751"/>
                </a:cubicBezTo>
                <a:cubicBezTo>
                  <a:pt x="39860" y="656744"/>
                  <a:pt x="51642" y="668069"/>
                  <a:pt x="51650" y="682046"/>
                </a:cubicBezTo>
                <a:cubicBezTo>
                  <a:pt x="51650" y="682054"/>
                  <a:pt x="51650" y="682062"/>
                  <a:pt x="51650" y="682071"/>
                </a:cubicBezTo>
                <a:close/>
                <a:moveTo>
                  <a:pt x="273361" y="682071"/>
                </a:moveTo>
                <a:cubicBezTo>
                  <a:pt x="273361" y="696054"/>
                  <a:pt x="261577" y="707390"/>
                  <a:pt x="247041" y="707390"/>
                </a:cubicBezTo>
                <a:cubicBezTo>
                  <a:pt x="232505" y="707390"/>
                  <a:pt x="220720" y="696054"/>
                  <a:pt x="220720" y="682071"/>
                </a:cubicBezTo>
                <a:cubicBezTo>
                  <a:pt x="220720" y="668087"/>
                  <a:pt x="232505" y="656751"/>
                  <a:pt x="247041" y="656751"/>
                </a:cubicBezTo>
                <a:cubicBezTo>
                  <a:pt x="261569" y="656767"/>
                  <a:pt x="273345" y="668094"/>
                  <a:pt x="273361" y="682071"/>
                </a:cubicBezTo>
                <a:close/>
                <a:moveTo>
                  <a:pt x="495012" y="682071"/>
                </a:moveTo>
                <a:cubicBezTo>
                  <a:pt x="495012" y="696054"/>
                  <a:pt x="483227" y="707390"/>
                  <a:pt x="468691" y="707390"/>
                </a:cubicBezTo>
                <a:cubicBezTo>
                  <a:pt x="454155" y="707390"/>
                  <a:pt x="442371" y="696054"/>
                  <a:pt x="442371" y="682071"/>
                </a:cubicBezTo>
                <a:cubicBezTo>
                  <a:pt x="442371" y="668087"/>
                  <a:pt x="454155" y="656751"/>
                  <a:pt x="468691" y="656751"/>
                </a:cubicBezTo>
                <a:cubicBezTo>
                  <a:pt x="483220" y="656744"/>
                  <a:pt x="495003" y="668069"/>
                  <a:pt x="495012" y="682046"/>
                </a:cubicBezTo>
                <a:cubicBezTo>
                  <a:pt x="495012" y="682054"/>
                  <a:pt x="495012" y="682062"/>
                  <a:pt x="495012" y="682071"/>
                </a:cubicBezTo>
                <a:close/>
                <a:moveTo>
                  <a:pt x="716723" y="682071"/>
                </a:moveTo>
                <a:cubicBezTo>
                  <a:pt x="716723" y="696054"/>
                  <a:pt x="704939" y="707390"/>
                  <a:pt x="690403" y="707390"/>
                </a:cubicBezTo>
                <a:cubicBezTo>
                  <a:pt x="675866" y="707390"/>
                  <a:pt x="664082" y="696054"/>
                  <a:pt x="664082" y="682071"/>
                </a:cubicBezTo>
                <a:cubicBezTo>
                  <a:pt x="664082" y="668087"/>
                  <a:pt x="675866" y="656751"/>
                  <a:pt x="690403" y="656751"/>
                </a:cubicBezTo>
                <a:cubicBezTo>
                  <a:pt x="704933" y="656744"/>
                  <a:pt x="716715" y="668069"/>
                  <a:pt x="716723" y="682046"/>
                </a:cubicBezTo>
                <a:cubicBezTo>
                  <a:pt x="716723" y="682054"/>
                  <a:pt x="716723" y="682062"/>
                  <a:pt x="716723" y="682071"/>
                </a:cubicBezTo>
                <a:close/>
                <a:moveTo>
                  <a:pt x="938435" y="682071"/>
                </a:moveTo>
                <a:cubicBezTo>
                  <a:pt x="938435" y="696054"/>
                  <a:pt x="926651" y="707390"/>
                  <a:pt x="912114" y="707390"/>
                </a:cubicBezTo>
                <a:cubicBezTo>
                  <a:pt x="897579" y="707390"/>
                  <a:pt x="885794" y="696054"/>
                  <a:pt x="885794" y="682071"/>
                </a:cubicBezTo>
                <a:cubicBezTo>
                  <a:pt x="885794" y="668087"/>
                  <a:pt x="897579" y="656751"/>
                  <a:pt x="912114" y="656751"/>
                </a:cubicBezTo>
                <a:cubicBezTo>
                  <a:pt x="926644" y="656744"/>
                  <a:pt x="938427" y="668069"/>
                  <a:pt x="938435" y="682046"/>
                </a:cubicBezTo>
                <a:cubicBezTo>
                  <a:pt x="938435" y="682054"/>
                  <a:pt x="938435" y="682062"/>
                  <a:pt x="938435" y="682071"/>
                </a:cubicBezTo>
                <a:close/>
                <a:moveTo>
                  <a:pt x="1160145" y="682071"/>
                </a:moveTo>
                <a:cubicBezTo>
                  <a:pt x="1160145" y="696054"/>
                  <a:pt x="1148361" y="707390"/>
                  <a:pt x="1133824" y="707390"/>
                </a:cubicBezTo>
                <a:cubicBezTo>
                  <a:pt x="1119288" y="707390"/>
                  <a:pt x="1107504" y="696054"/>
                  <a:pt x="1107504" y="682071"/>
                </a:cubicBezTo>
                <a:cubicBezTo>
                  <a:pt x="1107504" y="668087"/>
                  <a:pt x="1119288" y="656751"/>
                  <a:pt x="1133824" y="656751"/>
                </a:cubicBezTo>
                <a:cubicBezTo>
                  <a:pt x="1148353" y="656767"/>
                  <a:pt x="1160129" y="668094"/>
                  <a:pt x="1160145" y="682071"/>
                </a:cubicBezTo>
                <a:close/>
              </a:path>
            </a:pathLst>
          </a:custGeom>
          <a:solidFill>
            <a:srgbClr val="9595FF"/>
          </a:solidFill>
          <a:ln/>
        </p:spPr>
      </p:sp>
      <p:sp>
        <p:nvSpPr>
          <p:cNvPr id="7" name="Text 3"/>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流程部统筹职责与运作机制</a:t>
            </a:r>
            <a:endParaRPr lang="en-US" sz="1600" dirty="0"/>
          </a:p>
        </p:txBody>
      </p:sp>
      <p:pic>
        <p:nvPicPr>
          <p:cNvPr id="8" name="Image 2" descr="https://kimi-img.moonshot.cn/pub/slides/slides_tmpl/image/25-09-30-16:31:52-d3dpau0s8jdo4os5dgh0.png"/>
          <p:cNvPicPr>
            <a:picLocks noChangeAspect="1"/>
          </p:cNvPicPr>
          <p:nvPr/>
        </p:nvPicPr>
        <p:blipFill>
          <a:blip r:embed="rId6"/>
          <a:srcRect t="110" b="110"/>
          <a:stretch/>
        </p:blipFill>
        <p:spPr>
          <a:xfrm>
            <a:off x="2540" y="550545"/>
            <a:ext cx="579755" cy="652145"/>
          </a:xfrm>
          <a:prstGeom prst="rect">
            <a:avLst/>
          </a:prstGeom>
        </p:spPr>
      </p:pic>
      <p:sp>
        <p:nvSpPr>
          <p:cNvPr id="9" name="Text 4"/>
          <p:cNvSpPr/>
          <p:nvPr/>
        </p:nvSpPr>
        <p:spPr>
          <a:xfrm>
            <a:off x="3199816" y="1820444"/>
            <a:ext cx="7664450" cy="394851"/>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FFFFFF"/>
                </a:solidFill>
                <a:latin typeface="MiSans" pitchFamily="34" charset="0"/>
                <a:ea typeface="MiSans" pitchFamily="34" charset="-122"/>
                <a:cs typeface="MiSans" pitchFamily="34" charset="-120"/>
              </a:rPr>
              <a:t>七大核心职责</a:t>
            </a:r>
            <a:endParaRPr lang="en-US" sz="1600" dirty="0"/>
          </a:p>
        </p:txBody>
      </p:sp>
      <p:sp>
        <p:nvSpPr>
          <p:cNvPr id="10" name="Text 5"/>
          <p:cNvSpPr/>
          <p:nvPr/>
        </p:nvSpPr>
        <p:spPr>
          <a:xfrm>
            <a:off x="1169570" y="4458758"/>
            <a:ext cx="7663180" cy="1554321"/>
          </a:xfrm>
          <a:prstGeom prst="rect">
            <a:avLst/>
          </a:prstGeom>
          <a:noFill/>
          <a:ln/>
        </p:spPr>
        <p:txBody>
          <a:bodyPr wrap="square" lIns="91440" tIns="45720" rIns="91440" bIns="45720" rtlCol="0" anchor="t">
            <a:spAutoFit/>
          </a:bodyPr>
          <a:lstStyle/>
          <a:p>
            <a:pPr>
              <a:lnSpc>
                <a:spcPct val="150000"/>
              </a:lnSpc>
            </a:pPr>
            <a:r>
              <a:rPr lang="en-US" sz="1600" b="1" dirty="0">
                <a:solidFill>
                  <a:srgbClr val="FFFFFF"/>
                </a:solidFill>
                <a:latin typeface="MiSans" pitchFamily="34" charset="0"/>
                <a:ea typeface="MiSans" pitchFamily="34" charset="-122"/>
                <a:cs typeface="MiSans" pitchFamily="34" charset="-120"/>
              </a:rPr>
              <a:t>统筹整体规划与分层策略制定，联合业务部门挖掘痛点识别赋能领域，审核创新方案可行性与资源合理性，组织执委评审会协调资源落地，跟踪项目进度解决跨部门协同问题，组织效果评价推动方案迭代优化，建立AI创新知识库促进经验复用与流程成熟度提升。</a:t>
            </a:r>
            <a:endParaRPr lang="en-US" sz="1600" dirty="0"/>
          </a:p>
        </p:txBody>
      </p:sp>
      <p:sp>
        <p:nvSpPr>
          <p:cNvPr id="11" name="Text 6"/>
          <p:cNvSpPr/>
          <p:nvPr/>
        </p:nvSpPr>
        <p:spPr>
          <a:xfrm>
            <a:off x="1168350" y="4058979"/>
            <a:ext cx="7664400" cy="394851"/>
          </a:xfrm>
          <a:prstGeom prst="rect">
            <a:avLst/>
          </a:prstGeom>
          <a:noFill/>
          <a:ln/>
        </p:spPr>
        <p:txBody>
          <a:bodyPr wrap="square" lIns="91440" tIns="45720" rIns="91440" bIns="45720" rtlCol="0" anchor="t">
            <a:spAutoFit/>
          </a:bodyPr>
          <a:lstStyle/>
          <a:p>
            <a:pPr algn="r">
              <a:lnSpc>
                <a:spcPct val="100000"/>
              </a:lnSpc>
            </a:pPr>
            <a:r>
              <a:rPr lang="en-US" sz="2000" b="1" dirty="0">
                <a:solidFill>
                  <a:srgbClr val="FFFFFF"/>
                </a:solidFill>
                <a:latin typeface="MiSans" pitchFamily="34" charset="0"/>
                <a:ea typeface="MiSans" pitchFamily="34" charset="-122"/>
                <a:cs typeface="MiSans" pitchFamily="34" charset="-120"/>
              </a:rPr>
              <a:t>常态化运作机制</a:t>
            </a:r>
            <a:endParaRPr lang="en-US" sz="1600" dirty="0"/>
          </a:p>
        </p:txBody>
      </p:sp>
      <p:sp>
        <p:nvSpPr>
          <p:cNvPr id="12" name="Text 7"/>
          <p:cNvSpPr/>
          <p:nvPr/>
        </p:nvSpPr>
        <p:spPr>
          <a:xfrm>
            <a:off x="3408045" y="2297904"/>
            <a:ext cx="7663180" cy="1188601"/>
          </a:xfrm>
          <a:prstGeom prst="rect">
            <a:avLst/>
          </a:prstGeom>
          <a:noFill/>
          <a:ln/>
        </p:spPr>
        <p:txBody>
          <a:bodyPr wrap="square" lIns="91440" tIns="45720" rIns="91440" bIns="45720" rtlCol="0" anchor="t">
            <a:spAutoFit/>
          </a:bodyPr>
          <a:lstStyle/>
          <a:p>
            <a:pPr algn="just">
              <a:lnSpc>
                <a:spcPct val="150000"/>
              </a:lnSpc>
            </a:pPr>
            <a:r>
              <a:rPr lang="en-US" sz="1600" b="1" dirty="0">
                <a:solidFill>
                  <a:srgbClr val="FFFFFF"/>
                </a:solidFill>
                <a:latin typeface="MiSans" pitchFamily="34" charset="0"/>
                <a:ea typeface="MiSans" pitchFamily="34" charset="-122"/>
                <a:cs typeface="MiSans" pitchFamily="34" charset="-120"/>
              </a:rPr>
              <a:t>主动对接业务部门简化需求提报与方案编制流程减少负担，定期每周每月召开推进复盘会汇总项目情况解决问题，每季度向业务执委汇报推进情况调整规划争取资源支持，形成从规划到沉淀的完整管理闭环，确保AI创新持续贴合业务需求。</a:t>
            </a:r>
            <a:endParaRPr lang="en-US" sz="16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13-d3dpb38s8jdo4os5dgs0.png"/>
          <p:cNvPicPr>
            <a:picLocks noChangeAspect="1"/>
          </p:cNvPicPr>
          <p:nvPr/>
        </p:nvPicPr>
        <p:blipFill>
          <a:blip r:embed="rId4"/>
          <a:srcRect l="-1062" t="-3376" b="624"/>
          <a:stretch/>
        </p:blipFill>
        <p:spPr>
          <a:xfrm>
            <a:off x="3721100" y="3117850"/>
            <a:ext cx="7974330" cy="1620520"/>
          </a:xfrm>
          <a:prstGeom prst="rect">
            <a:avLst/>
          </a:prstGeom>
        </p:spPr>
      </p:pic>
      <p:pic>
        <p:nvPicPr>
          <p:cNvPr id="3" name="Image 1" descr="https://kimi-img.moonshot.cn/pub/slides/slides_tmpl/image/25-09-30-16:32:13-d3dpb38s8jdo4os5dgs0.png"/>
          <p:cNvPicPr>
            <a:picLocks noChangeAspect="1"/>
          </p:cNvPicPr>
          <p:nvPr/>
        </p:nvPicPr>
        <p:blipFill>
          <a:blip r:embed="rId4"/>
          <a:srcRect l="-1062" t="-3376" b="624"/>
          <a:stretch/>
        </p:blipFill>
        <p:spPr>
          <a:xfrm>
            <a:off x="3721100" y="1416050"/>
            <a:ext cx="7974330" cy="1620520"/>
          </a:xfrm>
          <a:prstGeom prst="rect">
            <a:avLst/>
          </a:prstGeom>
        </p:spPr>
      </p:pic>
      <p:pic>
        <p:nvPicPr>
          <p:cNvPr id="4" name="Image 2" descr="https://kimi-img.moonshot.cn/pub/slides/slides_tmpl/image/25-09-30-16:32:13-d3dpb38s8jdo4os5dgsg.png"/>
          <p:cNvPicPr>
            <a:picLocks noChangeAspect="1"/>
          </p:cNvPicPr>
          <p:nvPr/>
        </p:nvPicPr>
        <p:blipFill>
          <a:blip r:embed="rId5"/>
          <a:srcRect t="6" b="6"/>
          <a:stretch/>
        </p:blipFill>
        <p:spPr>
          <a:xfrm>
            <a:off x="937895" y="4836160"/>
            <a:ext cx="10757535" cy="1529715"/>
          </a:xfrm>
          <a:prstGeom prst="rect">
            <a:avLst/>
          </a:prstGeom>
        </p:spPr>
      </p:pic>
      <p:pic>
        <p:nvPicPr>
          <p:cNvPr id="5" name="Image 3" descr="https://kimi-img.moonshot.cn/pub/slides/slides_tmpl/image/25-09-30-16:32:17-d3dpb48s8jdo4os5dgv0.jpeg"/>
          <p:cNvPicPr>
            <a:picLocks noChangeAspect="1"/>
          </p:cNvPicPr>
          <p:nvPr/>
        </p:nvPicPr>
        <p:blipFill>
          <a:blip r:embed="rId6"/>
          <a:srcRect l="21920" r="21920"/>
          <a:stretch/>
        </p:blipFill>
        <p:spPr>
          <a:xfrm>
            <a:off x="937260" y="1459865"/>
            <a:ext cx="2700655" cy="3205480"/>
          </a:xfrm>
          <a:prstGeom prst="rect">
            <a:avLst/>
          </a:prstGeom>
        </p:spPr>
      </p:pic>
      <p:sp>
        <p:nvSpPr>
          <p:cNvPr id="6" name="Text 0"/>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业务部门与IT部门的协同边界</a:t>
            </a:r>
            <a:endParaRPr lang="en-US" sz="1600" dirty="0"/>
          </a:p>
        </p:txBody>
      </p:sp>
      <p:pic>
        <p:nvPicPr>
          <p:cNvPr id="7" name="Image 4" descr="https://kimi-img.moonshot.cn/pub/slides/slides_tmpl/image/25-09-30-16:31:52-d3dpau0s8jdo4os5dgh0.png"/>
          <p:cNvPicPr>
            <a:picLocks noChangeAspect="1"/>
          </p:cNvPicPr>
          <p:nvPr/>
        </p:nvPicPr>
        <p:blipFill>
          <a:blip r:embed="rId7"/>
          <a:srcRect t="110" b="110"/>
          <a:stretch/>
        </p:blipFill>
        <p:spPr>
          <a:xfrm>
            <a:off x="2540" y="550545"/>
            <a:ext cx="579755" cy="652145"/>
          </a:xfrm>
          <a:prstGeom prst="rect">
            <a:avLst/>
          </a:prstGeom>
        </p:spPr>
      </p:pic>
      <p:pic>
        <p:nvPicPr>
          <p:cNvPr id="8" name="Image 5" descr="https://kimi-img.moonshot.cn/pub/slides/slides_tmpl/image/25-09-30-16:31:52-d3dpau0s8jdo4os5dgf0.png"/>
          <p:cNvPicPr>
            <a:picLocks noChangeAspect="1"/>
          </p:cNvPicPr>
          <p:nvPr/>
        </p:nvPicPr>
        <p:blipFill>
          <a:blip r:embed="rId8"/>
          <a:srcRect t="3182" b="3182"/>
          <a:stretch/>
        </p:blipFill>
        <p:spPr>
          <a:xfrm rot="5700000">
            <a:off x="9712325" y="673100"/>
            <a:ext cx="1264285" cy="1151890"/>
          </a:xfrm>
          <a:prstGeom prst="rect">
            <a:avLst/>
          </a:prstGeom>
        </p:spPr>
      </p:pic>
      <p:sp>
        <p:nvSpPr>
          <p:cNvPr id="9" name="Text 1"/>
          <p:cNvSpPr/>
          <p:nvPr/>
        </p:nvSpPr>
        <p:spPr>
          <a:xfrm>
            <a:off x="3933190" y="1632585"/>
            <a:ext cx="71501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业务部门主导价值创造</a:t>
            </a:r>
            <a:endParaRPr lang="en-US" sz="1600" dirty="0"/>
          </a:p>
        </p:txBody>
      </p:sp>
      <p:sp>
        <p:nvSpPr>
          <p:cNvPr id="10" name="Text 2"/>
          <p:cNvSpPr/>
          <p:nvPr/>
        </p:nvSpPr>
        <p:spPr>
          <a:xfrm>
            <a:off x="3933190" y="1960245"/>
            <a:ext cx="7150100" cy="66631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主动提出创新需求并明确具体场景，组建专职对接人深度参与方案设计与试点验证，执行业务落地确保试点数据真实完整，基于一线反馈优化方案推动AI与业务深度融合。</a:t>
            </a:r>
            <a:endParaRPr lang="en-US" sz="1600" dirty="0"/>
          </a:p>
        </p:txBody>
      </p:sp>
      <p:sp>
        <p:nvSpPr>
          <p:cNvPr id="11" name="Text 3"/>
          <p:cNvSpPr/>
          <p:nvPr/>
        </p:nvSpPr>
        <p:spPr>
          <a:xfrm>
            <a:off x="3933190" y="3346450"/>
            <a:ext cx="71501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IT部门赋能技术实现</a:t>
            </a:r>
            <a:endParaRPr lang="en-US" sz="1600" dirty="0"/>
          </a:p>
        </p:txBody>
      </p:sp>
      <p:sp>
        <p:nvSpPr>
          <p:cNvPr id="12" name="Text 4"/>
          <p:cNvSpPr/>
          <p:nvPr/>
        </p:nvSpPr>
        <p:spPr>
          <a:xfrm>
            <a:off x="3933190" y="3696970"/>
            <a:ext cx="7150100" cy="66631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梳理现有数字化能力与数据短板为方案提供技术评估，成熟场景提供模型选型系统对接与数据治理，基础薄弱场景指导低代码飞书电子表等轻量化工具快速验证。</a:t>
            </a:r>
            <a:endParaRPr lang="en-US" sz="1600" dirty="0"/>
          </a:p>
        </p:txBody>
      </p:sp>
      <p:sp>
        <p:nvSpPr>
          <p:cNvPr id="13" name="Text 5"/>
          <p:cNvSpPr/>
          <p:nvPr/>
        </p:nvSpPr>
        <p:spPr>
          <a:xfrm>
            <a:off x="1249763" y="5086985"/>
            <a:ext cx="939863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流程部纽带协同机制</a:t>
            </a:r>
            <a:endParaRPr lang="en-US" sz="1600" dirty="0"/>
          </a:p>
        </p:txBody>
      </p:sp>
      <p:sp>
        <p:nvSpPr>
          <p:cNvPr id="14" name="Text 6"/>
          <p:cNvSpPr/>
          <p:nvPr/>
        </p:nvSpPr>
        <p:spPr>
          <a:xfrm>
            <a:off x="1249763" y="5460365"/>
            <a:ext cx="9985424" cy="66631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FFFFFF"/>
                </a:solidFill>
                <a:latin typeface="MiSans" pitchFamily="34" charset="0"/>
                <a:ea typeface="MiSans" pitchFamily="34" charset="-122"/>
                <a:cs typeface="MiSans" pitchFamily="34" charset="-120"/>
              </a:rPr>
              <a:t>以流程部为信息枢纽与协调中枢，建立双向传导机制确保业务需求准确转化为技术方案，技术可行性及时反馈调整业务预期，定期组织三方联席会议对齐进度解决问题。</a:t>
            </a:r>
            <a:endParaRPr lang="en-US" sz="1600" dirty="0"/>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3117533" y="3429000"/>
            <a:ext cx="5956935" cy="164084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1199FB"/>
                </a:solidFill>
                <a:latin typeface="MiSans" pitchFamily="34" charset="0"/>
                <a:ea typeface="MiSans" pitchFamily="34" charset="-122"/>
                <a:cs typeface="MiSans" pitchFamily="34" charset="-120"/>
              </a:rPr>
              <a:t>流程之道：如何闭环落地AI项目</a:t>
            </a:r>
            <a:endParaRPr lang="en-US" sz="1600" dirty="0"/>
          </a:p>
        </p:txBody>
      </p:sp>
      <p:sp>
        <p:nvSpPr>
          <p:cNvPr id="4" name="Text 1"/>
          <p:cNvSpPr/>
          <p:nvPr/>
        </p:nvSpPr>
        <p:spPr>
          <a:xfrm>
            <a:off x="3117533" y="1860550"/>
            <a:ext cx="5956935" cy="1574760"/>
          </a:xfrm>
          <a:prstGeom prst="rect">
            <a:avLst/>
          </a:prstGeom>
          <a:noFill/>
          <a:ln/>
        </p:spPr>
        <p:txBody>
          <a:bodyPr wrap="square" lIns="91440" tIns="45720" rIns="91440" bIns="45720" rtlCol="0" anchor="t">
            <a:spAutoFit/>
          </a:bodyPr>
          <a:lstStyle/>
          <a:p>
            <a:pPr algn="ctr">
              <a:lnSpc>
                <a:spcPct val="100000"/>
              </a:lnSpc>
            </a:pPr>
            <a:r>
              <a:rPr lang="en-US" sz="9600" b="1" dirty="0">
                <a:solidFill>
                  <a:srgbClr val="1199FB"/>
                </a:solidFill>
                <a:latin typeface="MiSans" pitchFamily="34" charset="0"/>
                <a:ea typeface="MiSans" pitchFamily="34" charset="-122"/>
                <a:cs typeface="MiSans" pitchFamily="34" charset="-120"/>
              </a:rPr>
              <a:t>03</a:t>
            </a:r>
            <a:endParaRPr lang="en-US" sz="1600" dirty="0"/>
          </a:p>
        </p:txBody>
      </p:sp>
      <p:pic>
        <p:nvPicPr>
          <p:cNvPr id="5" name="Image 1" descr="https://kimi-img.moonshot.cn/pub/slides/slides_tmpl/image/25-09-30-16:31:52-d3dpau0s8jdo4os5dghg.png"/>
          <p:cNvPicPr>
            <a:picLocks noChangeAspect="1"/>
          </p:cNvPicPr>
          <p:nvPr/>
        </p:nvPicPr>
        <p:blipFill>
          <a:blip r:embed="rId5"/>
          <a:stretch>
            <a:fillRect/>
          </a:stretch>
        </p:blipFill>
        <p:spPr>
          <a:xfrm>
            <a:off x="1180465" y="1539875"/>
            <a:ext cx="2349500" cy="2733040"/>
          </a:xfrm>
          <a:prstGeom prst="rect">
            <a:avLst/>
          </a:prstGeom>
        </p:spPr>
      </p:pic>
      <p:pic>
        <p:nvPicPr>
          <p:cNvPr id="6" name="Image 2" descr="https://kimi-img.moonshot.cn/pub/slides/slides_tmpl/image/25-09-30-16:31:52-d3dpau0s8jdo4os5dgf0.png"/>
          <p:cNvPicPr>
            <a:picLocks noChangeAspect="1"/>
          </p:cNvPicPr>
          <p:nvPr/>
        </p:nvPicPr>
        <p:blipFill>
          <a:blip r:embed="rId6"/>
          <a:srcRect t="3182" b="3182"/>
          <a:stretch/>
        </p:blipFill>
        <p:spPr>
          <a:xfrm rot="3660000">
            <a:off x="9880600" y="4845050"/>
            <a:ext cx="1117600" cy="1017905"/>
          </a:xfrm>
          <a:prstGeom prst="rect">
            <a:avLst/>
          </a:prstGeom>
        </p:spPr>
      </p:pic>
      <p:sp>
        <p:nvSpPr>
          <p:cNvPr id="7" name="Shape 2"/>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2-d3dpau0s8jdo4os5dgd0.png"/>
          <p:cNvPicPr>
            <a:picLocks noChangeAspect="1"/>
          </p:cNvPicPr>
          <p:nvPr/>
        </p:nvPicPr>
        <p:blipFill>
          <a:blip r:embed="rId4"/>
          <a:srcRect l="18759" r="18759"/>
          <a:stretch/>
        </p:blipFill>
        <p:spPr>
          <a:xfrm>
            <a:off x="595630" y="1500636"/>
            <a:ext cx="7025005" cy="4094405"/>
          </a:xfrm>
          <a:prstGeom prst="rect">
            <a:avLst/>
          </a:prstGeom>
        </p:spPr>
      </p:pic>
      <p:sp>
        <p:nvSpPr>
          <p:cNvPr id="3" name="Shape 0"/>
          <p:cNvSpPr/>
          <p:nvPr/>
        </p:nvSpPr>
        <p:spPr>
          <a:xfrm>
            <a:off x="10201275" y="558165"/>
            <a:ext cx="1160145" cy="822960"/>
          </a:xfrm>
          <a:custGeom>
            <a:avLst/>
            <a:gdLst/>
            <a:ahLst/>
            <a:cxnLst/>
            <a:rect l="l" t="t" r="r" b="b"/>
            <a:pathLst>
              <a:path w="1160145" h="822960">
                <a:moveTo>
                  <a:pt x="51650" y="29341"/>
                </a:moveTo>
                <a:cubicBezTo>
                  <a:pt x="51650" y="45609"/>
                  <a:pt x="39866" y="58797"/>
                  <a:pt x="25329" y="58797"/>
                </a:cubicBezTo>
                <a:cubicBezTo>
                  <a:pt x="10793" y="58797"/>
                  <a:pt x="-991" y="45609"/>
                  <a:pt x="-991" y="29341"/>
                </a:cubicBezTo>
                <a:cubicBezTo>
                  <a:pt x="-991" y="13073"/>
                  <a:pt x="10793" y="-115"/>
                  <a:pt x="25329" y="-115"/>
                </a:cubicBezTo>
                <a:cubicBezTo>
                  <a:pt x="39860" y="-123"/>
                  <a:pt x="51642" y="13053"/>
                  <a:pt x="51650" y="29313"/>
                </a:cubicBezTo>
                <a:cubicBezTo>
                  <a:pt x="51650" y="29323"/>
                  <a:pt x="51650" y="29332"/>
                  <a:pt x="51650" y="29341"/>
                </a:cubicBezTo>
                <a:close/>
                <a:moveTo>
                  <a:pt x="273361" y="29341"/>
                </a:moveTo>
                <a:cubicBezTo>
                  <a:pt x="273361" y="45609"/>
                  <a:pt x="261577" y="58797"/>
                  <a:pt x="247041" y="58797"/>
                </a:cubicBezTo>
                <a:cubicBezTo>
                  <a:pt x="232505" y="58797"/>
                  <a:pt x="220720" y="45609"/>
                  <a:pt x="220720" y="29341"/>
                </a:cubicBezTo>
                <a:cubicBezTo>
                  <a:pt x="220720" y="13073"/>
                  <a:pt x="232505" y="-115"/>
                  <a:pt x="247041" y="-115"/>
                </a:cubicBezTo>
                <a:cubicBezTo>
                  <a:pt x="261569" y="-96"/>
                  <a:pt x="273345" y="13081"/>
                  <a:pt x="273361" y="29341"/>
                </a:cubicBezTo>
                <a:close/>
                <a:moveTo>
                  <a:pt x="495012" y="29341"/>
                </a:moveTo>
                <a:cubicBezTo>
                  <a:pt x="495012" y="45609"/>
                  <a:pt x="483227" y="58797"/>
                  <a:pt x="468691" y="58797"/>
                </a:cubicBezTo>
                <a:cubicBezTo>
                  <a:pt x="454155" y="58797"/>
                  <a:pt x="442371" y="45609"/>
                  <a:pt x="442371" y="29341"/>
                </a:cubicBezTo>
                <a:cubicBezTo>
                  <a:pt x="442371" y="13073"/>
                  <a:pt x="454155" y="-115"/>
                  <a:pt x="468691" y="-115"/>
                </a:cubicBezTo>
                <a:cubicBezTo>
                  <a:pt x="483220" y="-123"/>
                  <a:pt x="495003" y="13053"/>
                  <a:pt x="495012" y="29313"/>
                </a:cubicBezTo>
                <a:cubicBezTo>
                  <a:pt x="495012" y="29323"/>
                  <a:pt x="495012" y="29332"/>
                  <a:pt x="495012" y="29341"/>
                </a:cubicBezTo>
                <a:close/>
                <a:moveTo>
                  <a:pt x="716723" y="29341"/>
                </a:moveTo>
                <a:cubicBezTo>
                  <a:pt x="716723" y="45609"/>
                  <a:pt x="704939" y="58797"/>
                  <a:pt x="690403" y="58797"/>
                </a:cubicBezTo>
                <a:cubicBezTo>
                  <a:pt x="675866" y="58797"/>
                  <a:pt x="664082" y="45609"/>
                  <a:pt x="664082" y="29341"/>
                </a:cubicBezTo>
                <a:cubicBezTo>
                  <a:pt x="664082" y="13073"/>
                  <a:pt x="675866" y="-115"/>
                  <a:pt x="690403" y="-115"/>
                </a:cubicBezTo>
                <a:cubicBezTo>
                  <a:pt x="704933" y="-123"/>
                  <a:pt x="716715" y="13053"/>
                  <a:pt x="716723" y="29313"/>
                </a:cubicBezTo>
                <a:cubicBezTo>
                  <a:pt x="716723" y="29323"/>
                  <a:pt x="716723" y="29332"/>
                  <a:pt x="716723" y="29341"/>
                </a:cubicBezTo>
                <a:close/>
                <a:moveTo>
                  <a:pt x="938435" y="29341"/>
                </a:moveTo>
                <a:cubicBezTo>
                  <a:pt x="938435" y="45609"/>
                  <a:pt x="926651" y="58797"/>
                  <a:pt x="912114" y="58797"/>
                </a:cubicBezTo>
                <a:cubicBezTo>
                  <a:pt x="897579" y="58797"/>
                  <a:pt x="885794" y="45609"/>
                  <a:pt x="885794" y="29341"/>
                </a:cubicBezTo>
                <a:cubicBezTo>
                  <a:pt x="885794" y="13073"/>
                  <a:pt x="897579" y="-115"/>
                  <a:pt x="912114" y="-115"/>
                </a:cubicBezTo>
                <a:cubicBezTo>
                  <a:pt x="926644" y="-123"/>
                  <a:pt x="938427" y="13053"/>
                  <a:pt x="938435" y="29313"/>
                </a:cubicBezTo>
                <a:cubicBezTo>
                  <a:pt x="938435" y="29323"/>
                  <a:pt x="938435" y="29332"/>
                  <a:pt x="938435" y="29341"/>
                </a:cubicBezTo>
                <a:close/>
                <a:moveTo>
                  <a:pt x="1160145" y="29341"/>
                </a:moveTo>
                <a:cubicBezTo>
                  <a:pt x="1160145" y="45609"/>
                  <a:pt x="1148361" y="58797"/>
                  <a:pt x="1133824" y="58797"/>
                </a:cubicBezTo>
                <a:cubicBezTo>
                  <a:pt x="1119288" y="58797"/>
                  <a:pt x="1107504" y="45609"/>
                  <a:pt x="1107504" y="29341"/>
                </a:cubicBezTo>
                <a:cubicBezTo>
                  <a:pt x="1107504" y="13073"/>
                  <a:pt x="1119288" y="-115"/>
                  <a:pt x="1133824" y="-115"/>
                </a:cubicBezTo>
                <a:cubicBezTo>
                  <a:pt x="1148353" y="-96"/>
                  <a:pt x="1160129" y="13081"/>
                  <a:pt x="1160145" y="29341"/>
                </a:cubicBezTo>
                <a:close/>
                <a:moveTo>
                  <a:pt x="51650" y="220382"/>
                </a:moveTo>
                <a:cubicBezTo>
                  <a:pt x="51650" y="236650"/>
                  <a:pt x="39866" y="249838"/>
                  <a:pt x="25329" y="249838"/>
                </a:cubicBezTo>
                <a:cubicBezTo>
                  <a:pt x="10793" y="249838"/>
                  <a:pt x="-991" y="236650"/>
                  <a:pt x="-991" y="220382"/>
                </a:cubicBezTo>
                <a:cubicBezTo>
                  <a:pt x="-991" y="204114"/>
                  <a:pt x="10793" y="190926"/>
                  <a:pt x="25329" y="190926"/>
                </a:cubicBezTo>
                <a:cubicBezTo>
                  <a:pt x="39860" y="190918"/>
                  <a:pt x="51642" y="204094"/>
                  <a:pt x="51650" y="220354"/>
                </a:cubicBezTo>
                <a:cubicBezTo>
                  <a:pt x="51650" y="220364"/>
                  <a:pt x="51650" y="220373"/>
                  <a:pt x="51650" y="220382"/>
                </a:cubicBezTo>
                <a:close/>
                <a:moveTo>
                  <a:pt x="273361" y="220382"/>
                </a:moveTo>
                <a:cubicBezTo>
                  <a:pt x="273361" y="236650"/>
                  <a:pt x="261577" y="249838"/>
                  <a:pt x="247041" y="249838"/>
                </a:cubicBezTo>
                <a:cubicBezTo>
                  <a:pt x="232505" y="249838"/>
                  <a:pt x="220720" y="236650"/>
                  <a:pt x="220720" y="220382"/>
                </a:cubicBezTo>
                <a:cubicBezTo>
                  <a:pt x="220720" y="204114"/>
                  <a:pt x="232505" y="190926"/>
                  <a:pt x="247041" y="190926"/>
                </a:cubicBezTo>
                <a:cubicBezTo>
                  <a:pt x="261569" y="190945"/>
                  <a:pt x="273345" y="204122"/>
                  <a:pt x="273361" y="220382"/>
                </a:cubicBezTo>
                <a:close/>
                <a:moveTo>
                  <a:pt x="495012" y="220382"/>
                </a:moveTo>
                <a:cubicBezTo>
                  <a:pt x="495012" y="236650"/>
                  <a:pt x="483227" y="249838"/>
                  <a:pt x="468691" y="249838"/>
                </a:cubicBezTo>
                <a:cubicBezTo>
                  <a:pt x="454155" y="249838"/>
                  <a:pt x="442371" y="236650"/>
                  <a:pt x="442371" y="220382"/>
                </a:cubicBezTo>
                <a:cubicBezTo>
                  <a:pt x="442371" y="204114"/>
                  <a:pt x="454155" y="190926"/>
                  <a:pt x="468691" y="190926"/>
                </a:cubicBezTo>
                <a:cubicBezTo>
                  <a:pt x="483220" y="190918"/>
                  <a:pt x="495003" y="204094"/>
                  <a:pt x="495012" y="220354"/>
                </a:cubicBezTo>
                <a:cubicBezTo>
                  <a:pt x="495012" y="220364"/>
                  <a:pt x="495012" y="220373"/>
                  <a:pt x="495012" y="220382"/>
                </a:cubicBezTo>
                <a:close/>
                <a:moveTo>
                  <a:pt x="716723" y="220382"/>
                </a:moveTo>
                <a:cubicBezTo>
                  <a:pt x="716723" y="236650"/>
                  <a:pt x="704939" y="249838"/>
                  <a:pt x="690403" y="249838"/>
                </a:cubicBezTo>
                <a:cubicBezTo>
                  <a:pt x="675866" y="249838"/>
                  <a:pt x="664082" y="236650"/>
                  <a:pt x="664082" y="220382"/>
                </a:cubicBezTo>
                <a:cubicBezTo>
                  <a:pt x="664082" y="204114"/>
                  <a:pt x="675866" y="190926"/>
                  <a:pt x="690403" y="190926"/>
                </a:cubicBezTo>
                <a:cubicBezTo>
                  <a:pt x="704933" y="190918"/>
                  <a:pt x="716715" y="204094"/>
                  <a:pt x="716723" y="220354"/>
                </a:cubicBezTo>
                <a:cubicBezTo>
                  <a:pt x="716723" y="220364"/>
                  <a:pt x="716723" y="220373"/>
                  <a:pt x="716723" y="220382"/>
                </a:cubicBezTo>
                <a:close/>
                <a:moveTo>
                  <a:pt x="938435" y="220382"/>
                </a:moveTo>
                <a:cubicBezTo>
                  <a:pt x="938435" y="236650"/>
                  <a:pt x="926651" y="249838"/>
                  <a:pt x="912114" y="249838"/>
                </a:cubicBezTo>
                <a:cubicBezTo>
                  <a:pt x="897579" y="249838"/>
                  <a:pt x="885794" y="236650"/>
                  <a:pt x="885794" y="220382"/>
                </a:cubicBezTo>
                <a:cubicBezTo>
                  <a:pt x="885794" y="204114"/>
                  <a:pt x="897579" y="190926"/>
                  <a:pt x="912114" y="190926"/>
                </a:cubicBezTo>
                <a:cubicBezTo>
                  <a:pt x="926644" y="190918"/>
                  <a:pt x="938427" y="204094"/>
                  <a:pt x="938435" y="220354"/>
                </a:cubicBezTo>
                <a:cubicBezTo>
                  <a:pt x="938435" y="220364"/>
                  <a:pt x="938435" y="220373"/>
                  <a:pt x="938435" y="220382"/>
                </a:cubicBezTo>
                <a:close/>
                <a:moveTo>
                  <a:pt x="1160145" y="220382"/>
                </a:moveTo>
                <a:cubicBezTo>
                  <a:pt x="1160145" y="236650"/>
                  <a:pt x="1148361" y="249838"/>
                  <a:pt x="1133824" y="249838"/>
                </a:cubicBezTo>
                <a:cubicBezTo>
                  <a:pt x="1119288" y="249838"/>
                  <a:pt x="1107504" y="236650"/>
                  <a:pt x="1107504" y="220382"/>
                </a:cubicBezTo>
                <a:cubicBezTo>
                  <a:pt x="1107504" y="204114"/>
                  <a:pt x="1119288" y="190926"/>
                  <a:pt x="1133824" y="190926"/>
                </a:cubicBezTo>
                <a:cubicBezTo>
                  <a:pt x="1148353" y="190945"/>
                  <a:pt x="1160129" y="204122"/>
                  <a:pt x="1160145" y="220382"/>
                </a:cubicBezTo>
                <a:close/>
                <a:moveTo>
                  <a:pt x="51650" y="411423"/>
                </a:moveTo>
                <a:cubicBezTo>
                  <a:pt x="51650" y="427691"/>
                  <a:pt x="39866" y="440878"/>
                  <a:pt x="25329" y="440878"/>
                </a:cubicBezTo>
                <a:cubicBezTo>
                  <a:pt x="10793" y="440878"/>
                  <a:pt x="-991" y="427691"/>
                  <a:pt x="-991" y="411423"/>
                </a:cubicBezTo>
                <a:cubicBezTo>
                  <a:pt x="-991" y="395154"/>
                  <a:pt x="10793" y="381967"/>
                  <a:pt x="25329" y="381967"/>
                </a:cubicBezTo>
                <a:cubicBezTo>
                  <a:pt x="39860" y="381959"/>
                  <a:pt x="51642" y="395134"/>
                  <a:pt x="51650" y="411394"/>
                </a:cubicBezTo>
                <a:cubicBezTo>
                  <a:pt x="51650" y="411403"/>
                  <a:pt x="51650" y="411413"/>
                  <a:pt x="51650" y="411423"/>
                </a:cubicBezTo>
                <a:close/>
                <a:moveTo>
                  <a:pt x="273361" y="411423"/>
                </a:moveTo>
                <a:cubicBezTo>
                  <a:pt x="273361" y="427691"/>
                  <a:pt x="261577" y="440878"/>
                  <a:pt x="247041" y="440878"/>
                </a:cubicBezTo>
                <a:cubicBezTo>
                  <a:pt x="232505" y="440878"/>
                  <a:pt x="220720" y="427691"/>
                  <a:pt x="220720" y="411423"/>
                </a:cubicBezTo>
                <a:cubicBezTo>
                  <a:pt x="220720" y="395154"/>
                  <a:pt x="232505" y="381967"/>
                  <a:pt x="247041" y="381967"/>
                </a:cubicBezTo>
                <a:cubicBezTo>
                  <a:pt x="261569" y="381986"/>
                  <a:pt x="273345" y="395162"/>
                  <a:pt x="273361" y="411423"/>
                </a:cubicBezTo>
                <a:close/>
                <a:moveTo>
                  <a:pt x="495012" y="411423"/>
                </a:moveTo>
                <a:cubicBezTo>
                  <a:pt x="495012" y="427691"/>
                  <a:pt x="483227" y="440878"/>
                  <a:pt x="468691" y="440878"/>
                </a:cubicBezTo>
                <a:cubicBezTo>
                  <a:pt x="454155" y="440878"/>
                  <a:pt x="442371" y="427691"/>
                  <a:pt x="442371" y="411423"/>
                </a:cubicBezTo>
                <a:cubicBezTo>
                  <a:pt x="442371" y="395154"/>
                  <a:pt x="454155" y="381967"/>
                  <a:pt x="468691" y="381967"/>
                </a:cubicBezTo>
                <a:cubicBezTo>
                  <a:pt x="483220" y="381959"/>
                  <a:pt x="495003" y="395134"/>
                  <a:pt x="495012" y="411394"/>
                </a:cubicBezTo>
                <a:cubicBezTo>
                  <a:pt x="495012" y="411403"/>
                  <a:pt x="495012" y="411413"/>
                  <a:pt x="495012" y="411423"/>
                </a:cubicBezTo>
                <a:close/>
                <a:moveTo>
                  <a:pt x="716723" y="411423"/>
                </a:moveTo>
                <a:cubicBezTo>
                  <a:pt x="716723" y="427691"/>
                  <a:pt x="704939" y="440878"/>
                  <a:pt x="690403" y="440878"/>
                </a:cubicBezTo>
                <a:cubicBezTo>
                  <a:pt x="675866" y="440878"/>
                  <a:pt x="664082" y="427691"/>
                  <a:pt x="664082" y="411423"/>
                </a:cubicBezTo>
                <a:cubicBezTo>
                  <a:pt x="664082" y="395154"/>
                  <a:pt x="675866" y="381967"/>
                  <a:pt x="690403" y="381967"/>
                </a:cubicBezTo>
                <a:cubicBezTo>
                  <a:pt x="704933" y="381959"/>
                  <a:pt x="716715" y="395134"/>
                  <a:pt x="716723" y="411394"/>
                </a:cubicBezTo>
                <a:cubicBezTo>
                  <a:pt x="716723" y="411403"/>
                  <a:pt x="716723" y="411413"/>
                  <a:pt x="716723" y="411423"/>
                </a:cubicBezTo>
                <a:close/>
                <a:moveTo>
                  <a:pt x="938435" y="411423"/>
                </a:moveTo>
                <a:cubicBezTo>
                  <a:pt x="938435" y="427691"/>
                  <a:pt x="926651" y="440878"/>
                  <a:pt x="912114" y="440878"/>
                </a:cubicBezTo>
                <a:cubicBezTo>
                  <a:pt x="897579" y="440878"/>
                  <a:pt x="885794" y="427691"/>
                  <a:pt x="885794" y="411423"/>
                </a:cubicBezTo>
                <a:cubicBezTo>
                  <a:pt x="885794" y="395154"/>
                  <a:pt x="897579" y="381967"/>
                  <a:pt x="912114" y="381967"/>
                </a:cubicBezTo>
                <a:cubicBezTo>
                  <a:pt x="926644" y="381959"/>
                  <a:pt x="938427" y="395134"/>
                  <a:pt x="938435" y="411394"/>
                </a:cubicBezTo>
                <a:cubicBezTo>
                  <a:pt x="938435" y="411403"/>
                  <a:pt x="938435" y="411413"/>
                  <a:pt x="938435" y="411423"/>
                </a:cubicBezTo>
                <a:close/>
                <a:moveTo>
                  <a:pt x="1160145" y="411423"/>
                </a:moveTo>
                <a:cubicBezTo>
                  <a:pt x="1160145" y="427691"/>
                  <a:pt x="1148361" y="440878"/>
                  <a:pt x="1133824" y="440878"/>
                </a:cubicBezTo>
                <a:cubicBezTo>
                  <a:pt x="1119288" y="440878"/>
                  <a:pt x="1107504" y="427691"/>
                  <a:pt x="1107504" y="411423"/>
                </a:cubicBezTo>
                <a:cubicBezTo>
                  <a:pt x="1107504" y="395154"/>
                  <a:pt x="1119288" y="381967"/>
                  <a:pt x="1133824" y="381967"/>
                </a:cubicBezTo>
                <a:cubicBezTo>
                  <a:pt x="1148353" y="381986"/>
                  <a:pt x="1160129" y="395162"/>
                  <a:pt x="1160145" y="411423"/>
                </a:cubicBezTo>
                <a:close/>
                <a:moveTo>
                  <a:pt x="51650" y="602463"/>
                </a:moveTo>
                <a:cubicBezTo>
                  <a:pt x="51650" y="618731"/>
                  <a:pt x="39866" y="631919"/>
                  <a:pt x="25329" y="631919"/>
                </a:cubicBezTo>
                <a:cubicBezTo>
                  <a:pt x="10793" y="631919"/>
                  <a:pt x="-991" y="618731"/>
                  <a:pt x="-991" y="602463"/>
                </a:cubicBezTo>
                <a:cubicBezTo>
                  <a:pt x="-991" y="586195"/>
                  <a:pt x="10793" y="573007"/>
                  <a:pt x="25329" y="573007"/>
                </a:cubicBezTo>
                <a:cubicBezTo>
                  <a:pt x="39860" y="572999"/>
                  <a:pt x="51642" y="586175"/>
                  <a:pt x="51650" y="602435"/>
                </a:cubicBezTo>
                <a:cubicBezTo>
                  <a:pt x="51650" y="602445"/>
                  <a:pt x="51650" y="602454"/>
                  <a:pt x="51650" y="602463"/>
                </a:cubicBezTo>
                <a:close/>
                <a:moveTo>
                  <a:pt x="273361" y="602463"/>
                </a:moveTo>
                <a:cubicBezTo>
                  <a:pt x="273361" y="618731"/>
                  <a:pt x="261577" y="631919"/>
                  <a:pt x="247041" y="631919"/>
                </a:cubicBezTo>
                <a:cubicBezTo>
                  <a:pt x="232505" y="631919"/>
                  <a:pt x="220720" y="618731"/>
                  <a:pt x="220720" y="602463"/>
                </a:cubicBezTo>
                <a:cubicBezTo>
                  <a:pt x="220720" y="586195"/>
                  <a:pt x="232505" y="573007"/>
                  <a:pt x="247041" y="573007"/>
                </a:cubicBezTo>
                <a:cubicBezTo>
                  <a:pt x="261569" y="573027"/>
                  <a:pt x="273345" y="586203"/>
                  <a:pt x="273361" y="602463"/>
                </a:cubicBezTo>
                <a:close/>
                <a:moveTo>
                  <a:pt x="495012" y="602463"/>
                </a:moveTo>
                <a:cubicBezTo>
                  <a:pt x="495012" y="618731"/>
                  <a:pt x="483227" y="631919"/>
                  <a:pt x="468691" y="631919"/>
                </a:cubicBezTo>
                <a:cubicBezTo>
                  <a:pt x="454155" y="631919"/>
                  <a:pt x="442371" y="618731"/>
                  <a:pt x="442371" y="602463"/>
                </a:cubicBezTo>
                <a:cubicBezTo>
                  <a:pt x="442371" y="586195"/>
                  <a:pt x="454155" y="573007"/>
                  <a:pt x="468691" y="573007"/>
                </a:cubicBezTo>
                <a:cubicBezTo>
                  <a:pt x="483220" y="572999"/>
                  <a:pt x="495003" y="586175"/>
                  <a:pt x="495012" y="602435"/>
                </a:cubicBezTo>
                <a:cubicBezTo>
                  <a:pt x="495012" y="602445"/>
                  <a:pt x="495012" y="602454"/>
                  <a:pt x="495012" y="602463"/>
                </a:cubicBezTo>
                <a:close/>
                <a:moveTo>
                  <a:pt x="716723" y="602463"/>
                </a:moveTo>
                <a:cubicBezTo>
                  <a:pt x="716723" y="618731"/>
                  <a:pt x="704939" y="631919"/>
                  <a:pt x="690403" y="631919"/>
                </a:cubicBezTo>
                <a:cubicBezTo>
                  <a:pt x="675866" y="631919"/>
                  <a:pt x="664082" y="618731"/>
                  <a:pt x="664082" y="602463"/>
                </a:cubicBezTo>
                <a:cubicBezTo>
                  <a:pt x="664082" y="586195"/>
                  <a:pt x="675866" y="573007"/>
                  <a:pt x="690403" y="573007"/>
                </a:cubicBezTo>
                <a:cubicBezTo>
                  <a:pt x="704933" y="572999"/>
                  <a:pt x="716715" y="586175"/>
                  <a:pt x="716723" y="602435"/>
                </a:cubicBezTo>
                <a:cubicBezTo>
                  <a:pt x="716723" y="602445"/>
                  <a:pt x="716723" y="602454"/>
                  <a:pt x="716723" y="602463"/>
                </a:cubicBezTo>
                <a:close/>
                <a:moveTo>
                  <a:pt x="938435" y="602463"/>
                </a:moveTo>
                <a:cubicBezTo>
                  <a:pt x="938435" y="618731"/>
                  <a:pt x="926651" y="631919"/>
                  <a:pt x="912114" y="631919"/>
                </a:cubicBezTo>
                <a:cubicBezTo>
                  <a:pt x="897579" y="631919"/>
                  <a:pt x="885794" y="618731"/>
                  <a:pt x="885794" y="602463"/>
                </a:cubicBezTo>
                <a:cubicBezTo>
                  <a:pt x="885794" y="586195"/>
                  <a:pt x="897579" y="573007"/>
                  <a:pt x="912114" y="573007"/>
                </a:cubicBezTo>
                <a:cubicBezTo>
                  <a:pt x="926644" y="572999"/>
                  <a:pt x="938427" y="586175"/>
                  <a:pt x="938435" y="602435"/>
                </a:cubicBezTo>
                <a:cubicBezTo>
                  <a:pt x="938435" y="602445"/>
                  <a:pt x="938435" y="602454"/>
                  <a:pt x="938435" y="602463"/>
                </a:cubicBezTo>
                <a:close/>
                <a:moveTo>
                  <a:pt x="1160145" y="602463"/>
                </a:moveTo>
                <a:cubicBezTo>
                  <a:pt x="1160145" y="618731"/>
                  <a:pt x="1148361" y="631919"/>
                  <a:pt x="1133824" y="631919"/>
                </a:cubicBezTo>
                <a:cubicBezTo>
                  <a:pt x="1119288" y="631919"/>
                  <a:pt x="1107504" y="618731"/>
                  <a:pt x="1107504" y="602463"/>
                </a:cubicBezTo>
                <a:cubicBezTo>
                  <a:pt x="1107504" y="586195"/>
                  <a:pt x="1119288" y="573007"/>
                  <a:pt x="1133824" y="573007"/>
                </a:cubicBezTo>
                <a:cubicBezTo>
                  <a:pt x="1148353" y="573027"/>
                  <a:pt x="1160129" y="586203"/>
                  <a:pt x="1160145" y="602463"/>
                </a:cubicBezTo>
                <a:close/>
                <a:moveTo>
                  <a:pt x="51650" y="793504"/>
                </a:moveTo>
                <a:cubicBezTo>
                  <a:pt x="51650" y="809772"/>
                  <a:pt x="39866" y="822960"/>
                  <a:pt x="25329" y="822960"/>
                </a:cubicBezTo>
                <a:cubicBezTo>
                  <a:pt x="10793" y="822960"/>
                  <a:pt x="-991" y="809772"/>
                  <a:pt x="-991" y="793504"/>
                </a:cubicBezTo>
                <a:cubicBezTo>
                  <a:pt x="-991" y="777236"/>
                  <a:pt x="10793" y="764048"/>
                  <a:pt x="25329" y="764048"/>
                </a:cubicBezTo>
                <a:cubicBezTo>
                  <a:pt x="39860" y="764040"/>
                  <a:pt x="51642" y="777215"/>
                  <a:pt x="51650" y="793476"/>
                </a:cubicBezTo>
                <a:cubicBezTo>
                  <a:pt x="51650" y="793485"/>
                  <a:pt x="51650" y="793494"/>
                  <a:pt x="51650" y="793504"/>
                </a:cubicBezTo>
                <a:close/>
                <a:moveTo>
                  <a:pt x="273361" y="793504"/>
                </a:moveTo>
                <a:cubicBezTo>
                  <a:pt x="273361" y="809772"/>
                  <a:pt x="261577" y="822960"/>
                  <a:pt x="247041" y="822960"/>
                </a:cubicBezTo>
                <a:cubicBezTo>
                  <a:pt x="232505" y="822960"/>
                  <a:pt x="220720" y="809772"/>
                  <a:pt x="220720" y="793504"/>
                </a:cubicBezTo>
                <a:cubicBezTo>
                  <a:pt x="220720" y="777236"/>
                  <a:pt x="232505" y="764048"/>
                  <a:pt x="247041" y="764048"/>
                </a:cubicBezTo>
                <a:cubicBezTo>
                  <a:pt x="261569" y="764066"/>
                  <a:pt x="273345" y="777244"/>
                  <a:pt x="273361" y="793504"/>
                </a:cubicBezTo>
                <a:close/>
                <a:moveTo>
                  <a:pt x="495012" y="793504"/>
                </a:moveTo>
                <a:cubicBezTo>
                  <a:pt x="495012" y="809772"/>
                  <a:pt x="483227" y="822960"/>
                  <a:pt x="468691" y="822960"/>
                </a:cubicBezTo>
                <a:cubicBezTo>
                  <a:pt x="454155" y="822960"/>
                  <a:pt x="442371" y="809772"/>
                  <a:pt x="442371" y="793504"/>
                </a:cubicBezTo>
                <a:cubicBezTo>
                  <a:pt x="442371" y="777236"/>
                  <a:pt x="454155" y="764048"/>
                  <a:pt x="468691" y="764048"/>
                </a:cubicBezTo>
                <a:cubicBezTo>
                  <a:pt x="483220" y="764040"/>
                  <a:pt x="495003" y="777215"/>
                  <a:pt x="495012" y="793476"/>
                </a:cubicBezTo>
                <a:cubicBezTo>
                  <a:pt x="495012" y="793485"/>
                  <a:pt x="495012" y="793494"/>
                  <a:pt x="495012" y="793504"/>
                </a:cubicBezTo>
                <a:close/>
                <a:moveTo>
                  <a:pt x="716723" y="793504"/>
                </a:moveTo>
                <a:cubicBezTo>
                  <a:pt x="716723" y="809772"/>
                  <a:pt x="704939" y="822960"/>
                  <a:pt x="690403" y="822960"/>
                </a:cubicBezTo>
                <a:cubicBezTo>
                  <a:pt x="675866" y="822960"/>
                  <a:pt x="664082" y="809772"/>
                  <a:pt x="664082" y="793504"/>
                </a:cubicBezTo>
                <a:cubicBezTo>
                  <a:pt x="664082" y="777236"/>
                  <a:pt x="675866" y="764048"/>
                  <a:pt x="690403" y="764048"/>
                </a:cubicBezTo>
                <a:cubicBezTo>
                  <a:pt x="704933" y="764040"/>
                  <a:pt x="716715" y="777215"/>
                  <a:pt x="716723" y="793476"/>
                </a:cubicBezTo>
                <a:cubicBezTo>
                  <a:pt x="716723" y="793485"/>
                  <a:pt x="716723" y="793494"/>
                  <a:pt x="716723" y="793504"/>
                </a:cubicBezTo>
                <a:close/>
                <a:moveTo>
                  <a:pt x="938435" y="793504"/>
                </a:moveTo>
                <a:cubicBezTo>
                  <a:pt x="938435" y="809772"/>
                  <a:pt x="926651" y="822960"/>
                  <a:pt x="912114" y="822960"/>
                </a:cubicBezTo>
                <a:cubicBezTo>
                  <a:pt x="897579" y="822960"/>
                  <a:pt x="885794" y="809772"/>
                  <a:pt x="885794" y="793504"/>
                </a:cubicBezTo>
                <a:cubicBezTo>
                  <a:pt x="885794" y="777236"/>
                  <a:pt x="897579" y="764048"/>
                  <a:pt x="912114" y="764048"/>
                </a:cubicBezTo>
                <a:cubicBezTo>
                  <a:pt x="926644" y="764040"/>
                  <a:pt x="938427" y="777215"/>
                  <a:pt x="938435" y="793476"/>
                </a:cubicBezTo>
                <a:cubicBezTo>
                  <a:pt x="938435" y="793485"/>
                  <a:pt x="938435" y="793494"/>
                  <a:pt x="938435" y="793504"/>
                </a:cubicBezTo>
                <a:close/>
                <a:moveTo>
                  <a:pt x="1160145" y="793504"/>
                </a:moveTo>
                <a:cubicBezTo>
                  <a:pt x="1160145" y="809772"/>
                  <a:pt x="1148361" y="822960"/>
                  <a:pt x="1133824" y="822960"/>
                </a:cubicBezTo>
                <a:cubicBezTo>
                  <a:pt x="1119288" y="822960"/>
                  <a:pt x="1107504" y="809772"/>
                  <a:pt x="1107504" y="793504"/>
                </a:cubicBezTo>
                <a:cubicBezTo>
                  <a:pt x="1107504" y="777236"/>
                  <a:pt x="1119288" y="764048"/>
                  <a:pt x="1133824" y="764048"/>
                </a:cubicBezTo>
                <a:cubicBezTo>
                  <a:pt x="1148353" y="764066"/>
                  <a:pt x="1160129" y="777244"/>
                  <a:pt x="1160145" y="793504"/>
                </a:cubicBezTo>
                <a:close/>
              </a:path>
            </a:pathLst>
          </a:custGeom>
          <a:solidFill>
            <a:srgbClr val="9595FF"/>
          </a:solidFill>
          <a:ln/>
        </p:spPr>
      </p:sp>
      <p:sp>
        <p:nvSpPr>
          <p:cNvPr id="4" name="Text 1"/>
          <p:cNvSpPr/>
          <p:nvPr/>
        </p:nvSpPr>
        <p:spPr>
          <a:xfrm>
            <a:off x="595630" y="5124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六环闭环：从需求识别到迭代优化</a:t>
            </a:r>
            <a:endParaRPr lang="en-US" sz="1600" dirty="0"/>
          </a:p>
        </p:txBody>
      </p:sp>
      <p:pic>
        <p:nvPicPr>
          <p:cNvPr id="5" name="Image 1" descr="https://kimi-img.moonshot.cn/pub/slides/slides_tmpl/image/25-09-30-16:31:52-d3dpau0s8jdo4os5dgh0.png"/>
          <p:cNvPicPr>
            <a:picLocks noChangeAspect="1"/>
          </p:cNvPicPr>
          <p:nvPr/>
        </p:nvPicPr>
        <p:blipFill>
          <a:blip r:embed="rId5"/>
          <a:srcRect t="110" b="110"/>
          <a:stretch/>
        </p:blipFill>
        <p:spPr>
          <a:xfrm>
            <a:off x="2540" y="487045"/>
            <a:ext cx="579755" cy="652145"/>
          </a:xfrm>
          <a:prstGeom prst="rect">
            <a:avLst/>
          </a:prstGeom>
        </p:spPr>
      </p:pic>
      <p:pic>
        <p:nvPicPr>
          <p:cNvPr id="6" name="Image 2" descr="https://kimi-img.moonshot.cn/pub/slides/slides_tmpl/image/25-09-30-16:31:57-d3dpav8s8jdo4os5dgjg.png"/>
          <p:cNvPicPr>
            <a:picLocks noChangeAspect="1"/>
          </p:cNvPicPr>
          <p:nvPr/>
        </p:nvPicPr>
        <p:blipFill>
          <a:blip r:embed="rId6"/>
          <a:stretch>
            <a:fillRect/>
          </a:stretch>
        </p:blipFill>
        <p:spPr>
          <a:xfrm rot="1380000">
            <a:off x="7898765" y="2301875"/>
            <a:ext cx="3267075" cy="3371850"/>
          </a:xfrm>
          <a:prstGeom prst="rect">
            <a:avLst/>
          </a:prstGeom>
        </p:spPr>
      </p:pic>
      <p:sp>
        <p:nvSpPr>
          <p:cNvPr id="7" name="Text 2"/>
          <p:cNvSpPr/>
          <p:nvPr/>
        </p:nvSpPr>
        <p:spPr>
          <a:xfrm>
            <a:off x="721077" y="1606086"/>
            <a:ext cx="6536690" cy="524431"/>
          </a:xfrm>
          <a:prstGeom prst="rect">
            <a:avLst/>
          </a:prstGeom>
          <a:noFill/>
          <a:ln/>
        </p:spPr>
        <p:txBody>
          <a:bodyPr wrap="square" lIns="91440" tIns="45720" rIns="91440" bIns="45720" rtlCol="0" anchor="t">
            <a:spAutoFit/>
          </a:bodyPr>
          <a:lstStyle/>
          <a:p>
            <a:pPr algn="just">
              <a:lnSpc>
                <a:spcPct val="100000"/>
              </a:lnSpc>
            </a:pPr>
            <a:r>
              <a:rPr lang="en-US" sz="2800" b="1" dirty="0">
                <a:solidFill>
                  <a:srgbClr val="1199FB"/>
                </a:solidFill>
                <a:latin typeface="MiSans" pitchFamily="34" charset="0"/>
                <a:ea typeface="MiSans" pitchFamily="34" charset="-122"/>
                <a:cs typeface="MiSans" pitchFamily="34" charset="-120"/>
              </a:rPr>
              <a:t>全生命周期管理范式</a:t>
            </a:r>
            <a:endParaRPr lang="en-US" sz="1600" dirty="0"/>
          </a:p>
        </p:txBody>
      </p:sp>
      <p:sp>
        <p:nvSpPr>
          <p:cNvPr id="8" name="Text 3"/>
          <p:cNvSpPr/>
          <p:nvPr/>
        </p:nvSpPr>
        <p:spPr>
          <a:xfrm>
            <a:off x="714410" y="2130517"/>
            <a:ext cx="6536690" cy="3291840"/>
          </a:xfrm>
          <a:prstGeom prst="rect">
            <a:avLst/>
          </a:prstGeom>
          <a:noFill/>
          <a:ln/>
        </p:spPr>
        <p:txBody>
          <a:bodyPr wrap="square" lIns="91440" tIns="45720" rIns="91440" bIns="45720" rtlCol="0" anchor="t">
            <a:spAutoFit/>
          </a:bodyPr>
          <a:lstStyle/>
          <a:p>
            <a:pPr algn="just">
              <a:lnSpc>
                <a:spcPct val="150000"/>
              </a:lnSpc>
            </a:pPr>
            <a:r>
              <a:rPr lang="en-US" sz="2000" b="1" dirty="0">
                <a:solidFill>
                  <a:srgbClr val="404040"/>
                </a:solidFill>
                <a:latin typeface="MiSans" pitchFamily="34" charset="0"/>
                <a:ea typeface="MiSans" pitchFamily="34" charset="-122"/>
                <a:cs typeface="MiSans" pitchFamily="34" charset="-120"/>
              </a:rPr>
              <a:t>六大闭环环节依次为需求识别与痛点挖掘、AI创新方案设计、业务执委评审与立项、落地验证、效果评价、迭代优化与长期沉淀。该体系兼顾短平快验证与长期规模化目标，适配锐捷EBG流程成熟度不均、资源不足的现状，每个环节明确核心动作、责任主体与输出物确保可执行可追溯，形成需求到迭代的螺旋上升持续改进机制，推动AI创新从试点走向规模化常态化发展。</a:t>
            </a:r>
            <a:endParaRPr lang="en-US" sz="1600" dirty="0"/>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45490" y="1475105"/>
            <a:ext cx="3524250" cy="2437765"/>
          </a:xfrm>
          <a:prstGeom prst="rect">
            <a:avLst/>
          </a:prstGeom>
          <a:solidFill>
            <a:srgbClr val="1199FB"/>
          </a:solidFill>
          <a:ln/>
        </p:spPr>
      </p:sp>
      <p:pic>
        <p:nvPicPr>
          <p:cNvPr id="3" name="Image 0" descr="https://kimi-img.moonshot.cn/pub/slides/slides_tmpl/image/25-09-30-16:31:57-d3dpav8s8jdo4os5dgk0.jpeg"/>
          <p:cNvPicPr>
            <a:picLocks noChangeAspect="1"/>
          </p:cNvPicPr>
          <p:nvPr/>
        </p:nvPicPr>
        <p:blipFill>
          <a:blip r:embed="rId4"/>
          <a:srcRect l="-8" t="512" r="8" b="512"/>
          <a:stretch/>
        </p:blipFill>
        <p:spPr>
          <a:xfrm>
            <a:off x="745490" y="3977005"/>
            <a:ext cx="3524885" cy="2343150"/>
          </a:xfrm>
          <a:prstGeom prst="rect">
            <a:avLst/>
          </a:prstGeom>
        </p:spPr>
      </p:pic>
      <p:sp>
        <p:nvSpPr>
          <p:cNvPr id="4" name="Shape 1"/>
          <p:cNvSpPr/>
          <p:nvPr/>
        </p:nvSpPr>
        <p:spPr>
          <a:xfrm>
            <a:off x="8035290" y="1475105"/>
            <a:ext cx="3524250" cy="2437765"/>
          </a:xfrm>
          <a:prstGeom prst="rect">
            <a:avLst/>
          </a:prstGeom>
          <a:solidFill>
            <a:srgbClr val="1199FB"/>
          </a:solidFill>
          <a:ln/>
        </p:spPr>
      </p:sp>
      <p:pic>
        <p:nvPicPr>
          <p:cNvPr id="5" name="Image 1" descr="https://kimi-img.moonshot.cn/pub/slides/slides_tmpl/image/25-09-30-16:32:14-d3dpb3gs8jdo4os5dgt0.png"/>
          <p:cNvPicPr>
            <a:picLocks noChangeAspect="1"/>
          </p:cNvPicPr>
          <p:nvPr/>
        </p:nvPicPr>
        <p:blipFill>
          <a:blip r:embed="rId5"/>
          <a:srcRect l="-8" t="24" r="8" b="24"/>
          <a:stretch/>
        </p:blipFill>
        <p:spPr>
          <a:xfrm>
            <a:off x="8035290" y="3977005"/>
            <a:ext cx="3524885" cy="2343150"/>
          </a:xfrm>
          <a:prstGeom prst="rect">
            <a:avLst/>
          </a:prstGeom>
        </p:spPr>
      </p:pic>
      <p:sp>
        <p:nvSpPr>
          <p:cNvPr id="6" name="Shape 2"/>
          <p:cNvSpPr/>
          <p:nvPr/>
        </p:nvSpPr>
        <p:spPr>
          <a:xfrm>
            <a:off x="4390390" y="3907155"/>
            <a:ext cx="3524250" cy="2437765"/>
          </a:xfrm>
          <a:prstGeom prst="rect">
            <a:avLst/>
          </a:prstGeom>
          <a:solidFill>
            <a:srgbClr val="1199FB"/>
          </a:solidFill>
          <a:ln/>
        </p:spPr>
      </p:sp>
      <p:pic>
        <p:nvPicPr>
          <p:cNvPr id="7" name="Image 2" descr="https://kimi-img.moonshot.cn/pub/slides/slides_tmpl/image/25-09-30-16:32:11-d3dpb2os8jdo4os5dgp0.jpeg"/>
          <p:cNvPicPr>
            <a:picLocks noChangeAspect="1"/>
          </p:cNvPicPr>
          <p:nvPr/>
        </p:nvPicPr>
        <p:blipFill>
          <a:blip r:embed="rId6"/>
          <a:srcRect t="216" b="216"/>
          <a:stretch/>
        </p:blipFill>
        <p:spPr>
          <a:xfrm>
            <a:off x="4390390" y="1475105"/>
            <a:ext cx="3524885" cy="2343150"/>
          </a:xfrm>
          <a:prstGeom prst="rect">
            <a:avLst/>
          </a:prstGeom>
        </p:spPr>
      </p:pic>
      <p:sp>
        <p:nvSpPr>
          <p:cNvPr id="8" name="Text 3"/>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需求识别：双渠道收集与三层分类</a:t>
            </a:r>
            <a:endParaRPr lang="en-US" sz="1600" dirty="0"/>
          </a:p>
        </p:txBody>
      </p:sp>
      <p:pic>
        <p:nvPicPr>
          <p:cNvPr id="9" name="Image 3" descr="https://kimi-img.moonshot.cn/pub/slides/slides_tmpl/image/25-09-30-16:31:52-d3dpau0s8jdo4os5dgh0.png"/>
          <p:cNvPicPr>
            <a:picLocks noChangeAspect="1"/>
          </p:cNvPicPr>
          <p:nvPr/>
        </p:nvPicPr>
        <p:blipFill>
          <a:blip r:embed="rId7"/>
          <a:srcRect t="110" b="110"/>
          <a:stretch/>
        </p:blipFill>
        <p:spPr>
          <a:xfrm>
            <a:off x="2540" y="550545"/>
            <a:ext cx="579755" cy="652145"/>
          </a:xfrm>
          <a:prstGeom prst="rect">
            <a:avLst/>
          </a:prstGeom>
        </p:spPr>
      </p:pic>
      <p:sp>
        <p:nvSpPr>
          <p:cNvPr id="10" name="Text 4"/>
          <p:cNvSpPr/>
          <p:nvPr/>
        </p:nvSpPr>
        <p:spPr>
          <a:xfrm>
            <a:off x="974945" y="1602740"/>
            <a:ext cx="3219746"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双渠道需求收集</a:t>
            </a:r>
            <a:endParaRPr lang="en-US" sz="1600" dirty="0"/>
          </a:p>
        </p:txBody>
      </p:sp>
      <p:sp>
        <p:nvSpPr>
          <p:cNvPr id="11" name="Text 5"/>
          <p:cNvSpPr/>
          <p:nvPr/>
        </p:nvSpPr>
        <p:spPr>
          <a:xfrm>
            <a:off x="974945" y="1957070"/>
            <a:ext cx="3141005" cy="1762125"/>
          </a:xfrm>
          <a:prstGeom prst="rect">
            <a:avLst/>
          </a:prstGeom>
          <a:noFill/>
          <a:ln/>
        </p:spPr>
        <p:txBody>
          <a:bodyPr wrap="square" lIns="91440" tIns="45720" rIns="91440" bIns="45720" rtlCol="0" anchor="t"/>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业务主动提报填写需求申请表明确痛点背景与期望成效，流程部联合业务部门开展流程梳理，重点挖掘高重复高耗时低效率且数据可采集的环节识别AI赋能潜力。</a:t>
            </a:r>
            <a:endParaRPr lang="en-US" sz="1600" dirty="0"/>
          </a:p>
        </p:txBody>
      </p:sp>
      <p:sp>
        <p:nvSpPr>
          <p:cNvPr id="12" name="Text 6"/>
          <p:cNvSpPr/>
          <p:nvPr/>
        </p:nvSpPr>
        <p:spPr>
          <a:xfrm>
            <a:off x="8203229" y="1602740"/>
            <a:ext cx="314100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初步筛选标准</a:t>
            </a:r>
            <a:endParaRPr lang="en-US" sz="1600" dirty="0"/>
          </a:p>
        </p:txBody>
      </p:sp>
      <p:sp>
        <p:nvSpPr>
          <p:cNvPr id="13" name="Text 7"/>
          <p:cNvSpPr/>
          <p:nvPr/>
        </p:nvSpPr>
        <p:spPr>
          <a:xfrm>
            <a:off x="8218608" y="1957070"/>
            <a:ext cx="3219746" cy="1710690"/>
          </a:xfrm>
          <a:prstGeom prst="rect">
            <a:avLst/>
          </a:prstGeom>
          <a:noFill/>
          <a:ln/>
        </p:spPr>
        <p:txBody>
          <a:bodyPr wrap="square" lIns="91440" tIns="45720" rIns="91440" bIns="45720" rtlCol="0" anchor="t"/>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剔除不切实际无业务价值或技术难度过高的需求，重点保留痛点明确投入小见效快的项目，优先筛选高成熟度流程的需求，确保资源投向最具落地价值的场景。</a:t>
            </a:r>
            <a:endParaRPr lang="en-US" sz="1600" dirty="0"/>
          </a:p>
        </p:txBody>
      </p:sp>
      <p:sp>
        <p:nvSpPr>
          <p:cNvPr id="14" name="Text 8"/>
          <p:cNvSpPr/>
          <p:nvPr/>
        </p:nvSpPr>
        <p:spPr>
          <a:xfrm>
            <a:off x="4542950" y="4034790"/>
            <a:ext cx="3141621"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三层分类体系</a:t>
            </a:r>
            <a:endParaRPr lang="en-US" sz="1600" dirty="0"/>
          </a:p>
        </p:txBody>
      </p:sp>
      <p:sp>
        <p:nvSpPr>
          <p:cNvPr id="15" name="Text 9"/>
          <p:cNvSpPr/>
          <p:nvPr/>
        </p:nvSpPr>
        <p:spPr>
          <a:xfrm>
            <a:off x="4542950" y="4410075"/>
            <a:ext cx="3219746" cy="1796415"/>
          </a:xfrm>
          <a:prstGeom prst="rect">
            <a:avLst/>
          </a:prstGeom>
          <a:noFill/>
          <a:ln/>
        </p:spPr>
        <p:txBody>
          <a:bodyPr wrap="square" lIns="91440" tIns="45720" rIns="91440" bIns="45720" rtlCol="0" anchor="t"/>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优先赋能类流程成熟度高可快速落地见效，潜力培育类中等成熟度通过轻量化验证逐步完善，基础完善类低成熟度先优化流程补充数据后再纳入创新范围。</a:t>
            </a:r>
            <a:endParaRPr lang="en-US" sz="16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0" y="1294765"/>
            <a:ext cx="3924935" cy="5085715"/>
          </a:xfrm>
          <a:prstGeom prst="rect">
            <a:avLst/>
          </a:prstGeom>
          <a:solidFill>
            <a:srgbClr val="1199FB"/>
          </a:solidFill>
          <a:ln/>
        </p:spPr>
      </p:sp>
      <p:sp>
        <p:nvSpPr>
          <p:cNvPr id="3" name="Shape 1"/>
          <p:cNvSpPr/>
          <p:nvPr/>
        </p:nvSpPr>
        <p:spPr>
          <a:xfrm>
            <a:off x="260985" y="3806825"/>
            <a:ext cx="3403600" cy="0"/>
          </a:xfrm>
          <a:prstGeom prst="line">
            <a:avLst/>
          </a:prstGeom>
          <a:noFill/>
          <a:ln w="12700">
            <a:solidFill>
              <a:srgbClr val="FFFFFF"/>
            </a:solidFill>
            <a:prstDash val="dash"/>
            <a:headEnd type="none"/>
            <a:tailEnd type="none"/>
          </a:ln>
        </p:spPr>
      </p:sp>
      <p:sp>
        <p:nvSpPr>
          <p:cNvPr id="4" name="Shape 2"/>
          <p:cNvSpPr/>
          <p:nvPr/>
        </p:nvSpPr>
        <p:spPr>
          <a:xfrm>
            <a:off x="8264525" y="1294765"/>
            <a:ext cx="3924935" cy="5085715"/>
          </a:xfrm>
          <a:prstGeom prst="rect">
            <a:avLst/>
          </a:prstGeom>
          <a:solidFill>
            <a:srgbClr val="1199FB"/>
          </a:solidFill>
          <a:ln/>
        </p:spPr>
      </p:sp>
      <p:sp>
        <p:nvSpPr>
          <p:cNvPr id="5" name="Shape 3"/>
          <p:cNvSpPr/>
          <p:nvPr/>
        </p:nvSpPr>
        <p:spPr>
          <a:xfrm>
            <a:off x="8525510" y="3806825"/>
            <a:ext cx="3403600" cy="0"/>
          </a:xfrm>
          <a:prstGeom prst="line">
            <a:avLst/>
          </a:prstGeom>
          <a:noFill/>
          <a:ln w="12700">
            <a:solidFill>
              <a:srgbClr val="FFFFFF"/>
            </a:solidFill>
            <a:prstDash val="dash"/>
            <a:headEnd type="none"/>
            <a:tailEnd type="none"/>
          </a:ln>
        </p:spPr>
      </p:sp>
      <p:pic>
        <p:nvPicPr>
          <p:cNvPr id="6" name="Image 0" descr="https://kimi-img.moonshot.cn/pub/slides/slides_tmpl/image/25-09-30-16:32:26-d3dpb6gs8jdo4os5dh20.jpeg"/>
          <p:cNvPicPr>
            <a:picLocks noChangeAspect="1"/>
          </p:cNvPicPr>
          <p:nvPr/>
        </p:nvPicPr>
        <p:blipFill>
          <a:blip r:embed="rId4"/>
          <a:srcRect l="24448" r="24448"/>
          <a:stretch/>
        </p:blipFill>
        <p:spPr>
          <a:xfrm>
            <a:off x="4146550" y="1294130"/>
            <a:ext cx="3895725" cy="5086985"/>
          </a:xfrm>
          <a:prstGeom prst="rect">
            <a:avLst/>
          </a:prstGeom>
        </p:spPr>
      </p:pic>
      <p:sp>
        <p:nvSpPr>
          <p:cNvPr id="7" name="Text 4"/>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方案设计：痛点复盘与双模式落地</a:t>
            </a:r>
            <a:endParaRPr lang="en-US" sz="1600" dirty="0"/>
          </a:p>
        </p:txBody>
      </p:sp>
      <p:pic>
        <p:nvPicPr>
          <p:cNvPr id="8" name="Image 1" descr="https://kimi-img.moonshot.cn/pub/slides/slides_tmpl/image/25-09-30-16:31:52-d3dpau0s8jdo4os5dgh0.png"/>
          <p:cNvPicPr>
            <a:picLocks noChangeAspect="1"/>
          </p:cNvPicPr>
          <p:nvPr/>
        </p:nvPicPr>
        <p:blipFill>
          <a:blip r:embed="rId5"/>
          <a:srcRect t="110" b="110"/>
          <a:stretch/>
        </p:blipFill>
        <p:spPr>
          <a:xfrm>
            <a:off x="15875" y="550545"/>
            <a:ext cx="579755" cy="652145"/>
          </a:xfrm>
          <a:prstGeom prst="rect">
            <a:avLst/>
          </a:prstGeom>
        </p:spPr>
      </p:pic>
      <p:sp>
        <p:nvSpPr>
          <p:cNvPr id="9" name="Text 5"/>
          <p:cNvSpPr/>
          <p:nvPr/>
        </p:nvSpPr>
        <p:spPr>
          <a:xfrm>
            <a:off x="260985" y="1569720"/>
            <a:ext cx="3403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痛点复盘与思路明确</a:t>
            </a:r>
            <a:endParaRPr lang="en-US" sz="1600" dirty="0"/>
          </a:p>
        </p:txBody>
      </p:sp>
      <p:sp>
        <p:nvSpPr>
          <p:cNvPr id="10" name="Text 6"/>
          <p:cNvSpPr/>
          <p:nvPr/>
        </p:nvSpPr>
        <p:spPr>
          <a:xfrm>
            <a:off x="260985" y="1943100"/>
            <a:ext cx="3521075" cy="975281"/>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量化现有瓶颈如运维故障平均处理时长120分钟，明确AI应用场景与核心功能，确保方案贴合锐捷EBG体验驱动的业务导向。</a:t>
            </a:r>
            <a:endParaRPr lang="en-US" sz="1600" dirty="0"/>
          </a:p>
        </p:txBody>
      </p:sp>
      <p:sp>
        <p:nvSpPr>
          <p:cNvPr id="11" name="Text 7"/>
          <p:cNvSpPr/>
          <p:nvPr/>
        </p:nvSpPr>
        <p:spPr>
          <a:xfrm>
            <a:off x="260985" y="3963670"/>
            <a:ext cx="3403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双模式落地方法</a:t>
            </a:r>
            <a:endParaRPr lang="en-US" sz="1600" dirty="0"/>
          </a:p>
        </p:txBody>
      </p:sp>
      <p:sp>
        <p:nvSpPr>
          <p:cNvPr id="12" name="Text 8"/>
          <p:cNvSpPr/>
          <p:nvPr/>
        </p:nvSpPr>
        <p:spPr>
          <a:xfrm>
            <a:off x="260985" y="4337050"/>
            <a:ext cx="3521075" cy="975281"/>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成熟场景采用正规AI技术由IT部门完成模型对接与系统集成，数据技术不足场景采用低代码工具或飞书电子表小范围试点手动补充数据快速验证。</a:t>
            </a:r>
            <a:endParaRPr lang="en-US" sz="1600" dirty="0"/>
          </a:p>
        </p:txBody>
      </p:sp>
      <p:sp>
        <p:nvSpPr>
          <p:cNvPr id="13" name="Text 9"/>
          <p:cNvSpPr/>
          <p:nvPr/>
        </p:nvSpPr>
        <p:spPr>
          <a:xfrm>
            <a:off x="8422640" y="1574800"/>
            <a:ext cx="3403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资源与成效量化</a:t>
            </a:r>
            <a:endParaRPr lang="en-US" sz="1600" dirty="0"/>
          </a:p>
        </p:txBody>
      </p:sp>
      <p:sp>
        <p:nvSpPr>
          <p:cNvPr id="14" name="Text 10"/>
          <p:cNvSpPr/>
          <p:nvPr/>
        </p:nvSpPr>
        <p:spPr>
          <a:xfrm>
            <a:off x="8406765" y="1943100"/>
            <a:ext cx="3572510" cy="975281"/>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明确人力预算IT支持与数据补充需求避免浪费，设定可量化成效指标如效率提升50%响应时间缩短至10分钟，分阶段设定时间节点推进。</a:t>
            </a:r>
            <a:endParaRPr lang="en-US" sz="1600" dirty="0"/>
          </a:p>
        </p:txBody>
      </p:sp>
      <p:sp>
        <p:nvSpPr>
          <p:cNvPr id="15" name="Text 11"/>
          <p:cNvSpPr/>
          <p:nvPr/>
        </p:nvSpPr>
        <p:spPr>
          <a:xfrm>
            <a:off x="8411210" y="3963670"/>
            <a:ext cx="3403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风险预案与方案审核</a:t>
            </a:r>
            <a:endParaRPr lang="en-US" sz="1600" dirty="0"/>
          </a:p>
        </p:txBody>
      </p:sp>
      <p:sp>
        <p:nvSpPr>
          <p:cNvPr id="16" name="Text 12"/>
          <p:cNvSpPr/>
          <p:nvPr/>
        </p:nvSpPr>
        <p:spPr>
          <a:xfrm>
            <a:off x="8411210" y="4337050"/>
            <a:ext cx="3571875" cy="975281"/>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FFFFFF"/>
                </a:solidFill>
                <a:latin typeface="MiSans" pitchFamily="34" charset="0"/>
                <a:ea typeface="MiSans" pitchFamily="34" charset="-122"/>
                <a:cs typeface="MiSans" pitchFamily="34" charset="-120"/>
              </a:rPr>
              <a:t>预判数据缺失业务不配合技术故障等问题制定应对措施，流程部联合IT审核可行性资源合理性与指标量化性，确保贴合现有资源与流程实际。</a:t>
            </a:r>
            <a:endParaRPr lang="en-US" sz="16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6870700" y="4445"/>
            <a:ext cx="5321300" cy="6854190"/>
          </a:xfrm>
          <a:custGeom>
            <a:avLst/>
            <a:gdLst/>
            <a:ahLst/>
            <a:cxnLst/>
            <a:rect l="l" t="t" r="r" b="b"/>
            <a:pathLst>
              <a:path w="5321300" h="6854190">
                <a:moveTo>
                  <a:pt x="853585" y="0"/>
                </a:moveTo>
                <a:lnTo>
                  <a:pt x="5321300" y="0"/>
                </a:lnTo>
                <a:lnTo>
                  <a:pt x="5321300" y="6854190"/>
                </a:lnTo>
                <a:lnTo>
                  <a:pt x="916820" y="6854190"/>
                </a:lnTo>
                <a:lnTo>
                  <a:pt x="813147" y="6679520"/>
                </a:lnTo>
                <a:cubicBezTo>
                  <a:pt x="305157" y="5781193"/>
                  <a:pt x="0" y="4629518"/>
                  <a:pt x="0" y="3373826"/>
                </a:cubicBezTo>
                <a:cubicBezTo>
                  <a:pt x="0" y="2118134"/>
                  <a:pt x="305157" y="966458"/>
                  <a:pt x="813146" y="68131"/>
                </a:cubicBezTo>
                <a:close/>
              </a:path>
            </a:pathLst>
          </a:custGeom>
          <a:solidFill>
            <a:srgbClr val="1199FB"/>
          </a:solidFill>
          <a:ln/>
        </p:spPr>
      </p:sp>
      <p:sp>
        <p:nvSpPr>
          <p:cNvPr id="3" name="Shape 1"/>
          <p:cNvSpPr/>
          <p:nvPr/>
        </p:nvSpPr>
        <p:spPr>
          <a:xfrm>
            <a:off x="1056005" y="1828800"/>
            <a:ext cx="10176510" cy="3943350"/>
          </a:xfrm>
          <a:prstGeom prst="roundRect">
            <a:avLst>
              <a:gd name="adj" fmla="val 0"/>
            </a:avLst>
          </a:prstGeom>
          <a:solidFill>
            <a:srgbClr val="FFFFFF"/>
          </a:solidFill>
          <a:ln w="19050">
            <a:solidFill>
              <a:srgbClr val="D2DAFB"/>
            </a:solidFill>
            <a:prstDash val="solid"/>
          </a:ln>
        </p:spPr>
      </p:sp>
      <p:sp>
        <p:nvSpPr>
          <p:cNvPr id="4" name="Shape 2"/>
          <p:cNvSpPr/>
          <p:nvPr/>
        </p:nvSpPr>
        <p:spPr>
          <a:xfrm>
            <a:off x="6144578" y="2144395"/>
            <a:ext cx="0" cy="3312160"/>
          </a:xfrm>
          <a:prstGeom prst="straightConnector1">
            <a:avLst/>
          </a:prstGeom>
          <a:noFill/>
          <a:ln w="12700">
            <a:solidFill>
              <a:srgbClr val="1199FB"/>
            </a:solidFill>
            <a:prstDash val="dash"/>
            <a:headEnd type="none"/>
            <a:tailEnd type="none"/>
          </a:ln>
        </p:spPr>
      </p:sp>
      <p:sp>
        <p:nvSpPr>
          <p:cNvPr id="5" name="Text 3"/>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评审立项：执委决策与资源确权</a:t>
            </a:r>
            <a:endParaRPr lang="en-US" sz="1600" dirty="0"/>
          </a:p>
        </p:txBody>
      </p:sp>
      <p:pic>
        <p:nvPicPr>
          <p:cNvPr id="6" name="Image 0" descr="https://kimi-img.moonshot.cn/pub/slides/slides_tmpl/image/25-09-30-16:31:52-d3dpau0s8jdo4os5dgh0.png"/>
          <p:cNvPicPr>
            <a:picLocks noChangeAspect="1"/>
          </p:cNvPicPr>
          <p:nvPr/>
        </p:nvPicPr>
        <p:blipFill>
          <a:blip r:embed="rId4"/>
          <a:srcRect t="110" b="110"/>
          <a:stretch/>
        </p:blipFill>
        <p:spPr>
          <a:xfrm>
            <a:off x="2540" y="550545"/>
            <a:ext cx="579755" cy="652145"/>
          </a:xfrm>
          <a:prstGeom prst="rect">
            <a:avLst/>
          </a:prstGeom>
        </p:spPr>
      </p:pic>
      <p:pic>
        <p:nvPicPr>
          <p:cNvPr id="7" name="Image 1" descr="https://kimi-img.moonshot.cn/pub/slides/slides_tmpl/image/25-09-30-16:31:52-d3dpau0s8jdo4os5dgf0.png"/>
          <p:cNvPicPr>
            <a:picLocks noChangeAspect="1"/>
          </p:cNvPicPr>
          <p:nvPr/>
        </p:nvPicPr>
        <p:blipFill>
          <a:blip r:embed="rId5"/>
          <a:srcRect t="3182" b="3182"/>
          <a:stretch/>
        </p:blipFill>
        <p:spPr>
          <a:xfrm rot="3660000">
            <a:off x="330835" y="5154295"/>
            <a:ext cx="1384935" cy="1261745"/>
          </a:xfrm>
          <a:prstGeom prst="rect">
            <a:avLst/>
          </a:prstGeom>
        </p:spPr>
      </p:pic>
      <p:pic>
        <p:nvPicPr>
          <p:cNvPr id="8" name="Image 2" descr="https://kimi-img.moonshot.cn/pub/slides/slides_tmpl/image/25-09-30-16:31:52-d3dpau0s8jdo4os5dgf0.png"/>
          <p:cNvPicPr>
            <a:picLocks noChangeAspect="1"/>
          </p:cNvPicPr>
          <p:nvPr/>
        </p:nvPicPr>
        <p:blipFill>
          <a:blip r:embed="rId5"/>
          <a:srcRect t="3182" b="3182"/>
          <a:stretch/>
        </p:blipFill>
        <p:spPr>
          <a:xfrm rot="5700000">
            <a:off x="9850755" y="992505"/>
            <a:ext cx="1384935" cy="1261745"/>
          </a:xfrm>
          <a:prstGeom prst="rect">
            <a:avLst/>
          </a:prstGeom>
        </p:spPr>
      </p:pic>
      <p:sp>
        <p:nvSpPr>
          <p:cNvPr id="9" name="Text 4"/>
          <p:cNvSpPr/>
          <p:nvPr/>
        </p:nvSpPr>
        <p:spPr>
          <a:xfrm>
            <a:off x="1509078" y="2271395"/>
            <a:ext cx="4285615" cy="459740"/>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000000"/>
                </a:solidFill>
                <a:latin typeface="MiSans" pitchFamily="34" charset="0"/>
                <a:ea typeface="MiSans" pitchFamily="34" charset="-122"/>
                <a:cs typeface="MiSans" pitchFamily="34" charset="-120"/>
              </a:rPr>
              <a:t>评审会议运作机制</a:t>
            </a:r>
            <a:endParaRPr lang="en-US" sz="1600" dirty="0"/>
          </a:p>
        </p:txBody>
      </p:sp>
      <p:sp>
        <p:nvSpPr>
          <p:cNvPr id="10" name="Text 5"/>
          <p:cNvSpPr/>
          <p:nvPr/>
        </p:nvSpPr>
        <p:spPr>
          <a:xfrm>
            <a:off x="1509078" y="2775585"/>
            <a:ext cx="4284228" cy="1920240"/>
          </a:xfrm>
          <a:prstGeom prst="rect">
            <a:avLst/>
          </a:prstGeom>
          <a:noFill/>
          <a:ln/>
        </p:spPr>
        <p:txBody>
          <a:bodyPr wrap="square" lIns="91440" tIns="45720" rIns="91440" bIns="45720" rtlCol="0" anchor="t">
            <a:spAutoFit/>
          </a:bodyPr>
          <a:lstStyle/>
          <a:p>
            <a:pPr algn="just">
              <a:lnSpc>
                <a:spcPct val="150000"/>
              </a:lnSpc>
            </a:pPr>
            <a:r>
              <a:rPr lang="en-US" sz="1600" b="1" dirty="0">
                <a:solidFill>
                  <a:srgbClr val="404040"/>
                </a:solidFill>
                <a:latin typeface="MiSans" pitchFamily="34" charset="0"/>
                <a:ea typeface="MiSans" pitchFamily="34" charset="-122"/>
                <a:cs typeface="MiSans" pitchFamily="34" charset="-120"/>
              </a:rPr>
              <a:t>流程部汇总审核通过的方案提交执委评审，附上需求清单与审核意见明确项目优先级；会议由业务部门汇报方案痛点思路成效与资源需求，IT部门补充技术可行性说明，流程部补充统筹意见，确保决策信息充分对称。</a:t>
            </a:r>
            <a:endParaRPr lang="en-US" sz="1600" dirty="0"/>
          </a:p>
        </p:txBody>
      </p:sp>
      <p:sp>
        <p:nvSpPr>
          <p:cNvPr id="11" name="Text 6"/>
          <p:cNvSpPr/>
          <p:nvPr/>
        </p:nvSpPr>
        <p:spPr>
          <a:xfrm>
            <a:off x="6494463" y="2271395"/>
            <a:ext cx="4285615" cy="459740"/>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000000"/>
                </a:solidFill>
                <a:latin typeface="MiSans" pitchFamily="34" charset="0"/>
                <a:ea typeface="MiSans" pitchFamily="34" charset="-122"/>
                <a:cs typeface="MiSans" pitchFamily="34" charset="-120"/>
              </a:rPr>
              <a:t>三级决策与资源确权</a:t>
            </a:r>
            <a:endParaRPr lang="en-US" sz="1600" dirty="0"/>
          </a:p>
        </p:txBody>
      </p:sp>
      <p:sp>
        <p:nvSpPr>
          <p:cNvPr id="12" name="Text 7"/>
          <p:cNvSpPr/>
          <p:nvPr/>
        </p:nvSpPr>
        <p:spPr>
          <a:xfrm>
            <a:off x="6494463" y="2775585"/>
            <a:ext cx="4284228" cy="2651681"/>
          </a:xfrm>
          <a:prstGeom prst="rect">
            <a:avLst/>
          </a:prstGeom>
          <a:noFill/>
          <a:ln/>
        </p:spPr>
        <p:txBody>
          <a:bodyPr wrap="square" lIns="91440" tIns="45720" rIns="91440" bIns="45720" rtlCol="0" anchor="t">
            <a:spAutoFit/>
          </a:bodyPr>
          <a:lstStyle/>
          <a:p>
            <a:pPr algn="just">
              <a:lnSpc>
                <a:spcPct val="150000"/>
              </a:lnSpc>
            </a:pPr>
            <a:r>
              <a:rPr lang="en-US" sz="1600" b="1" dirty="0">
                <a:solidFill>
                  <a:srgbClr val="404040"/>
                </a:solidFill>
                <a:latin typeface="MiSans" pitchFamily="34" charset="0"/>
                <a:ea typeface="MiSans" pitchFamily="34" charset="-122"/>
                <a:cs typeface="MiSans" pitchFamily="34" charset="-120"/>
              </a:rPr>
              <a:t>执委依据业务价值可行性资源需求与战略契合度做出批准立项修改后立项或不予立项决策，明确立项项目的预算IT资源与人力分配；流程部出具立项通知书明确项目负责人责任部门时间节点与资源支持，确保权责清晰推进有据，从源头解决资源投入不足与缺乏统一规划问题。</a:t>
            </a:r>
            <a:endParaRPr lang="en-US" sz="1600" dirty="0"/>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14-d3dpb3gs8jdo4os5dgu0.jpeg"/>
          <p:cNvPicPr>
            <a:picLocks noChangeAspect="1"/>
          </p:cNvPicPr>
          <p:nvPr/>
        </p:nvPicPr>
        <p:blipFill>
          <a:blip r:embed="rId4"/>
          <a:srcRect t="35404" b="35404"/>
          <a:stretch/>
        </p:blipFill>
        <p:spPr>
          <a:xfrm>
            <a:off x="743585" y="1354455"/>
            <a:ext cx="10554335" cy="2054225"/>
          </a:xfrm>
          <a:prstGeom prst="rect">
            <a:avLst/>
          </a:prstGeom>
        </p:spPr>
      </p:pic>
      <p:sp>
        <p:nvSpPr>
          <p:cNvPr id="3" name="Text 0"/>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落地验证：分层执行与进度跟踪</a:t>
            </a:r>
            <a:endParaRPr lang="en-US" sz="1600" dirty="0"/>
          </a:p>
        </p:txBody>
      </p:sp>
      <p:pic>
        <p:nvPicPr>
          <p:cNvPr id="4" name="Image 1" descr="https://kimi-img.moonshot.cn/pub/slides/slides_tmpl/image/25-09-30-16:31:52-d3dpau0s8jdo4os5dgh0.png"/>
          <p:cNvPicPr>
            <a:picLocks noChangeAspect="1"/>
          </p:cNvPicPr>
          <p:nvPr/>
        </p:nvPicPr>
        <p:blipFill>
          <a:blip r:embed="rId5"/>
          <a:srcRect t="110" b="110"/>
          <a:stretch/>
        </p:blipFill>
        <p:spPr>
          <a:xfrm>
            <a:off x="2540" y="550545"/>
            <a:ext cx="579755" cy="652145"/>
          </a:xfrm>
          <a:prstGeom prst="rect">
            <a:avLst/>
          </a:prstGeom>
        </p:spPr>
      </p:pic>
      <p:pic>
        <p:nvPicPr>
          <p:cNvPr id="5" name="Image 2" descr="https://kimi-img.moonshot.cn/pub/slides/slides_tmpl/image/25-09-30-16:31:52-d3dpau0s8jdo4os5dgcg.png"/>
          <p:cNvPicPr>
            <a:picLocks noChangeAspect="1"/>
          </p:cNvPicPr>
          <p:nvPr/>
        </p:nvPicPr>
        <p:blipFill>
          <a:blip r:embed="rId6"/>
          <a:srcRect/>
          <a:stretch/>
        </p:blipFill>
        <p:spPr>
          <a:xfrm>
            <a:off x="1571625" y="2795905"/>
            <a:ext cx="996315" cy="996315"/>
          </a:xfrm>
          <a:prstGeom prst="rect">
            <a:avLst/>
          </a:prstGeom>
        </p:spPr>
      </p:pic>
      <p:pic>
        <p:nvPicPr>
          <p:cNvPr id="6" name="Image 3" descr="https://kimi-img.moonshot.cn/pub/slides/slides_tmpl/image/25-09-30-16:31:52-d3dpau0s8jdo4os5dgcg.png"/>
          <p:cNvPicPr>
            <a:picLocks noChangeAspect="1"/>
          </p:cNvPicPr>
          <p:nvPr/>
        </p:nvPicPr>
        <p:blipFill>
          <a:blip r:embed="rId6"/>
          <a:srcRect/>
          <a:stretch/>
        </p:blipFill>
        <p:spPr>
          <a:xfrm>
            <a:off x="5342890" y="2794000"/>
            <a:ext cx="996315" cy="996315"/>
          </a:xfrm>
          <a:prstGeom prst="rect">
            <a:avLst/>
          </a:prstGeom>
        </p:spPr>
      </p:pic>
      <p:pic>
        <p:nvPicPr>
          <p:cNvPr id="7" name="Image 4" descr="https://kimi-img.moonshot.cn/pub/slides/slides_tmpl/image/25-09-30-16:31:52-d3dpau0s8jdo4os5dgcg.png"/>
          <p:cNvPicPr>
            <a:picLocks noChangeAspect="1"/>
          </p:cNvPicPr>
          <p:nvPr/>
        </p:nvPicPr>
        <p:blipFill>
          <a:blip r:embed="rId6"/>
          <a:srcRect/>
          <a:stretch/>
        </p:blipFill>
        <p:spPr>
          <a:xfrm>
            <a:off x="9114155" y="2795905"/>
            <a:ext cx="996315" cy="996315"/>
          </a:xfrm>
          <a:prstGeom prst="rect">
            <a:avLst/>
          </a:prstGeom>
        </p:spPr>
      </p:pic>
      <p:pic>
        <p:nvPicPr>
          <p:cNvPr id="8" name="Image 5" descr="https://kimi-img.moonshot.cn/pub/slides/slides_tmpl/image/25-09-30-16:31:52-d3dpau0s8jdo4os5dgf0.png"/>
          <p:cNvPicPr>
            <a:picLocks noChangeAspect="1"/>
          </p:cNvPicPr>
          <p:nvPr/>
        </p:nvPicPr>
        <p:blipFill>
          <a:blip r:embed="rId7"/>
          <a:srcRect t="3182" b="3182"/>
          <a:stretch/>
        </p:blipFill>
        <p:spPr>
          <a:xfrm rot="5700000">
            <a:off x="9916160" y="822325"/>
            <a:ext cx="1384935" cy="1261745"/>
          </a:xfrm>
          <a:prstGeom prst="rect">
            <a:avLst/>
          </a:prstGeom>
        </p:spPr>
      </p:pic>
      <p:sp>
        <p:nvSpPr>
          <p:cNvPr id="9" name="Text 1"/>
          <p:cNvSpPr/>
          <p:nvPr/>
        </p:nvSpPr>
        <p:spPr>
          <a:xfrm>
            <a:off x="1650365" y="3002280"/>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01</a:t>
            </a:r>
            <a:endParaRPr lang="en-US" sz="1600" dirty="0"/>
          </a:p>
        </p:txBody>
      </p:sp>
      <p:sp>
        <p:nvSpPr>
          <p:cNvPr id="10" name="Text 2"/>
          <p:cNvSpPr/>
          <p:nvPr/>
        </p:nvSpPr>
        <p:spPr>
          <a:xfrm>
            <a:off x="721360" y="3910330"/>
            <a:ext cx="313499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项目启动与分工明确</a:t>
            </a:r>
            <a:endParaRPr lang="en-US" sz="1600" dirty="0"/>
          </a:p>
        </p:txBody>
      </p:sp>
      <p:sp>
        <p:nvSpPr>
          <p:cNvPr id="11" name="Text 3"/>
          <p:cNvSpPr/>
          <p:nvPr/>
        </p:nvSpPr>
        <p:spPr>
          <a:xfrm>
            <a:off x="721360" y="4283710"/>
            <a:ext cx="3134995" cy="1528921"/>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立项后由业务负责人牵头召开启动会明确分工与时间节点，流程部与IT部门配合形成三方协同的落地执行小组，确保各方对目标与职责达成共识。</a:t>
            </a:r>
            <a:endParaRPr lang="en-US" sz="1600" dirty="0"/>
          </a:p>
        </p:txBody>
      </p:sp>
      <p:sp>
        <p:nvSpPr>
          <p:cNvPr id="12" name="Text 4"/>
          <p:cNvSpPr/>
          <p:nvPr/>
        </p:nvSpPr>
        <p:spPr>
          <a:xfrm>
            <a:off x="5421630" y="3000375"/>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02</a:t>
            </a:r>
            <a:endParaRPr lang="en-US" sz="1600" dirty="0"/>
          </a:p>
        </p:txBody>
      </p:sp>
      <p:sp>
        <p:nvSpPr>
          <p:cNvPr id="13" name="Text 5"/>
          <p:cNvSpPr/>
          <p:nvPr/>
        </p:nvSpPr>
        <p:spPr>
          <a:xfrm>
            <a:off x="4412615" y="3910330"/>
            <a:ext cx="313499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分层落地策略</a:t>
            </a:r>
            <a:endParaRPr lang="en-US" sz="1600" dirty="0"/>
          </a:p>
        </p:txBody>
      </p:sp>
      <p:sp>
        <p:nvSpPr>
          <p:cNvPr id="14" name="Text 6"/>
          <p:cNvSpPr/>
          <p:nvPr/>
        </p:nvSpPr>
        <p:spPr>
          <a:xfrm>
            <a:off x="4412615" y="4283710"/>
            <a:ext cx="3134995" cy="2103795"/>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优先赋能类由IT提供技术支撑完成模型对接与系统集成，业务部门配合试点收集数据验证成效；潜力培育类采用低代码或飞书电子表轻量化方式在一至两个业务单元小范围试点，手动补充缺失数据模拟AI场景，快速验证可行性不投入大量IT资源。</a:t>
            </a:r>
            <a:endParaRPr lang="en-US" sz="1600" dirty="0"/>
          </a:p>
        </p:txBody>
      </p:sp>
      <p:sp>
        <p:nvSpPr>
          <p:cNvPr id="15" name="Text 7"/>
          <p:cNvSpPr/>
          <p:nvPr/>
        </p:nvSpPr>
        <p:spPr>
          <a:xfrm>
            <a:off x="9192895" y="3002280"/>
            <a:ext cx="838835" cy="579001"/>
          </a:xfrm>
          <a:prstGeom prst="rect">
            <a:avLst/>
          </a:prstGeom>
          <a:noFill/>
          <a:ln/>
        </p:spPr>
        <p:txBody>
          <a:bodyPr wrap="square" lIns="91440" tIns="45720" rIns="91440" bIns="45720" rtlCol="0" anchor="t">
            <a:spAutoFit/>
          </a:bodyPr>
          <a:lstStyle/>
          <a:p>
            <a:pPr algn="ctr">
              <a:lnSpc>
                <a:spcPct val="100000"/>
              </a:lnSpc>
            </a:pPr>
            <a:r>
              <a:rPr lang="en-US" sz="3200" b="1" dirty="0">
                <a:solidFill>
                  <a:srgbClr val="FFFFFF"/>
                </a:solidFill>
                <a:latin typeface="MiSans" pitchFamily="34" charset="0"/>
                <a:ea typeface="MiSans" pitchFamily="34" charset="-122"/>
                <a:cs typeface="MiSans" pitchFamily="34" charset="-120"/>
              </a:rPr>
              <a:t>03</a:t>
            </a:r>
            <a:endParaRPr lang="en-US" sz="1600" dirty="0"/>
          </a:p>
        </p:txBody>
      </p:sp>
      <p:sp>
        <p:nvSpPr>
          <p:cNvPr id="16" name="Text 8"/>
          <p:cNvSpPr/>
          <p:nvPr/>
        </p:nvSpPr>
        <p:spPr>
          <a:xfrm>
            <a:off x="8103870" y="3910330"/>
            <a:ext cx="313499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过程管控与数据收集</a:t>
            </a:r>
            <a:endParaRPr lang="en-US" sz="1600" dirty="0"/>
          </a:p>
        </p:txBody>
      </p:sp>
      <p:sp>
        <p:nvSpPr>
          <p:cNvPr id="17" name="Text 9"/>
          <p:cNvSpPr/>
          <p:nvPr/>
        </p:nvSpPr>
        <p:spPr>
          <a:xfrm>
            <a:off x="8103870" y="4283710"/>
            <a:ext cx="3134995" cy="181625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流程部定期每周或每月跟踪进度召开推进会，协调解决跨部门协同技术与业务配合问题记录措施；业务部门与IT配合收集处理效率成本客户满意度等数据，为效果评价提供依据并逐步完善数据基础。</a:t>
            </a:r>
            <a:endParaRPr lang="en-US" sz="1600"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2-d3dpau0s8jdo4os5dgcg.png"/>
          <p:cNvPicPr>
            <a:picLocks noChangeAspect="1"/>
          </p:cNvPicPr>
          <p:nvPr/>
        </p:nvPicPr>
        <p:blipFill>
          <a:blip r:embed="rId4"/>
          <a:srcRect l="-11364" t="-9259" r="-8838" b="-22054"/>
          <a:stretch/>
        </p:blipFill>
        <p:spPr>
          <a:xfrm>
            <a:off x="8049895" y="4025900"/>
            <a:ext cx="453390" cy="495300"/>
          </a:xfrm>
          <a:prstGeom prst="rect">
            <a:avLst/>
          </a:prstGeom>
        </p:spPr>
      </p:pic>
      <p:pic>
        <p:nvPicPr>
          <p:cNvPr id="3" name="Image 1" descr="https://kimi-img.moonshot.cn/pub/slides/slides_tmpl/image/25-09-30-16:31:52-d3dpau0s8jdo4os5dgcg.png"/>
          <p:cNvPicPr>
            <a:picLocks noChangeAspect="1"/>
          </p:cNvPicPr>
          <p:nvPr/>
        </p:nvPicPr>
        <p:blipFill>
          <a:blip r:embed="rId4"/>
          <a:srcRect l="-12205" t="-9259" r="-3788" b="-6734"/>
          <a:stretch/>
        </p:blipFill>
        <p:spPr>
          <a:xfrm>
            <a:off x="739775" y="4025900"/>
            <a:ext cx="437515" cy="437515"/>
          </a:xfrm>
          <a:prstGeom prst="rect">
            <a:avLst/>
          </a:prstGeom>
        </p:spPr>
      </p:pic>
      <p:pic>
        <p:nvPicPr>
          <p:cNvPr id="4" name="Image 2" descr="https://kimi-img.moonshot.cn/pub/slides/slides_tmpl/image/25-09-30-16:32:19-d3dpb4os8jdo4os5dgvg.jpeg"/>
          <p:cNvPicPr>
            <a:picLocks noChangeAspect="1"/>
          </p:cNvPicPr>
          <p:nvPr/>
        </p:nvPicPr>
        <p:blipFill>
          <a:blip r:embed="rId5"/>
          <a:srcRect t="14086" b="14086"/>
          <a:stretch/>
        </p:blipFill>
        <p:spPr>
          <a:xfrm>
            <a:off x="749935" y="1503998"/>
            <a:ext cx="4814570" cy="2305050"/>
          </a:xfrm>
          <a:prstGeom prst="rect">
            <a:avLst/>
          </a:prstGeom>
        </p:spPr>
      </p:pic>
      <p:sp>
        <p:nvSpPr>
          <p:cNvPr id="5" name="Shape 0"/>
          <p:cNvSpPr/>
          <p:nvPr/>
        </p:nvSpPr>
        <p:spPr>
          <a:xfrm>
            <a:off x="5612765" y="1504522"/>
            <a:ext cx="5867400" cy="2304000"/>
          </a:xfrm>
          <a:prstGeom prst="rect">
            <a:avLst/>
          </a:prstGeom>
          <a:solidFill>
            <a:srgbClr val="1199FB"/>
          </a:solidFill>
          <a:ln/>
        </p:spPr>
      </p:sp>
      <p:pic>
        <p:nvPicPr>
          <p:cNvPr id="6" name="Image 3" descr="https://kimi-img.moonshot.cn/pub/slides/slides_tmpl/image/25-09-30-16:31:52-d3dpau0s8jdo4os5dgcg.png"/>
          <p:cNvPicPr>
            <a:picLocks noChangeAspect="1"/>
          </p:cNvPicPr>
          <p:nvPr/>
        </p:nvPicPr>
        <p:blipFill>
          <a:blip r:embed="rId4"/>
          <a:srcRect l="-11364" t="-9259" r="-8838" b="-22054"/>
          <a:stretch/>
        </p:blipFill>
        <p:spPr>
          <a:xfrm>
            <a:off x="4438650" y="4025900"/>
            <a:ext cx="453390" cy="495300"/>
          </a:xfrm>
          <a:prstGeom prst="rect">
            <a:avLst/>
          </a:prstGeom>
        </p:spPr>
      </p:pic>
      <p:sp>
        <p:nvSpPr>
          <p:cNvPr id="7" name="Text 1"/>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效果评价：五维量化与三级结论</a:t>
            </a:r>
            <a:endParaRPr lang="en-US" sz="1600" dirty="0"/>
          </a:p>
        </p:txBody>
      </p:sp>
      <p:pic>
        <p:nvPicPr>
          <p:cNvPr id="8" name="Image 4" descr="https://kimi-img.moonshot.cn/pub/slides/slides_tmpl/image/25-09-30-16:31:52-d3dpau0s8jdo4os5dgh0.png"/>
          <p:cNvPicPr>
            <a:picLocks noChangeAspect="1"/>
          </p:cNvPicPr>
          <p:nvPr/>
        </p:nvPicPr>
        <p:blipFill>
          <a:blip r:embed="rId6"/>
          <a:srcRect t="110" b="110"/>
          <a:stretch/>
        </p:blipFill>
        <p:spPr>
          <a:xfrm>
            <a:off x="15875" y="550545"/>
            <a:ext cx="579755" cy="652145"/>
          </a:xfrm>
          <a:prstGeom prst="rect">
            <a:avLst/>
          </a:prstGeom>
        </p:spPr>
      </p:pic>
      <p:pic>
        <p:nvPicPr>
          <p:cNvPr id="9" name="Image 5" descr="https://kimi-img.moonshot.cn/pub/slides/slides_tmpl/image/25-09-30-16:31:52-d3dpau0s8jdo4os5dgf0.png"/>
          <p:cNvPicPr>
            <a:picLocks noChangeAspect="1"/>
          </p:cNvPicPr>
          <p:nvPr/>
        </p:nvPicPr>
        <p:blipFill>
          <a:blip r:embed="rId7"/>
          <a:srcRect t="3182" b="3182"/>
          <a:stretch/>
        </p:blipFill>
        <p:spPr>
          <a:xfrm rot="5700000">
            <a:off x="9972040" y="548005"/>
            <a:ext cx="1214120" cy="1106805"/>
          </a:xfrm>
          <a:prstGeom prst="rect">
            <a:avLst/>
          </a:prstGeom>
        </p:spPr>
      </p:pic>
      <p:sp>
        <p:nvSpPr>
          <p:cNvPr id="10" name="Text 2"/>
          <p:cNvSpPr/>
          <p:nvPr/>
        </p:nvSpPr>
        <p:spPr>
          <a:xfrm>
            <a:off x="887730" y="4093845"/>
            <a:ext cx="315658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评价启动与对标检验</a:t>
            </a:r>
            <a:endParaRPr lang="en-US" sz="1600" dirty="0"/>
          </a:p>
        </p:txBody>
      </p:sp>
      <p:sp>
        <p:nvSpPr>
          <p:cNvPr id="11" name="Text 3"/>
          <p:cNvSpPr/>
          <p:nvPr/>
        </p:nvSpPr>
        <p:spPr>
          <a:xfrm>
            <a:off x="878205" y="4449445"/>
            <a:ext cx="3156585" cy="975281"/>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404040"/>
                </a:solidFill>
                <a:latin typeface="MiSans" pitchFamily="34" charset="0"/>
                <a:ea typeface="MiSans" pitchFamily="34" charset="-122"/>
                <a:cs typeface="MiSans" pitchFamily="34" charset="-120"/>
              </a:rPr>
              <a:t>试点结束后流程部牵头组织三方开展效果评价，对照方案中的成效指标进行量化对比，确保评价客观有据。</a:t>
            </a:r>
            <a:endParaRPr lang="en-US" sz="1600" dirty="0"/>
          </a:p>
        </p:txBody>
      </p:sp>
      <p:sp>
        <p:nvSpPr>
          <p:cNvPr id="12" name="Text 4"/>
          <p:cNvSpPr/>
          <p:nvPr/>
        </p:nvSpPr>
        <p:spPr>
          <a:xfrm>
            <a:off x="5901690" y="1854835"/>
            <a:ext cx="54229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五维评价维度</a:t>
            </a:r>
            <a:endParaRPr lang="en-US" sz="1600" dirty="0"/>
          </a:p>
        </p:txBody>
      </p:sp>
      <p:sp>
        <p:nvSpPr>
          <p:cNvPr id="13" name="Text 5"/>
          <p:cNvSpPr/>
          <p:nvPr/>
        </p:nvSpPr>
        <p:spPr>
          <a:xfrm>
            <a:off x="5901690" y="2285365"/>
            <a:ext cx="5422900" cy="1241385"/>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FFFFFF"/>
                </a:solidFill>
                <a:latin typeface="MiSans" pitchFamily="34" charset="0"/>
                <a:ea typeface="MiSans" pitchFamily="34" charset="-122"/>
                <a:cs typeface="MiSans" pitchFamily="34" charset="-120"/>
              </a:rPr>
              <a:t>业务成效是否达到效率成本转化率预期，落地难度是否顺利及问题解决效率，资源投入实际与申请一致性及利用效率，业务适配性是否贴合流程并获人员认可，数据基础提升是否补充数据推动成熟度提升。</a:t>
            </a:r>
            <a:endParaRPr lang="en-US" sz="1600" dirty="0"/>
          </a:p>
        </p:txBody>
      </p:sp>
      <p:sp>
        <p:nvSpPr>
          <p:cNvPr id="14" name="Text 6"/>
          <p:cNvSpPr/>
          <p:nvPr/>
        </p:nvSpPr>
        <p:spPr>
          <a:xfrm>
            <a:off x="4583430" y="4093845"/>
            <a:ext cx="315658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三级结论应用</a:t>
            </a:r>
            <a:endParaRPr lang="en-US" sz="1600" dirty="0"/>
          </a:p>
        </p:txBody>
      </p:sp>
      <p:sp>
        <p:nvSpPr>
          <p:cNvPr id="15" name="Text 7"/>
          <p:cNvSpPr/>
          <p:nvPr/>
        </p:nvSpPr>
        <p:spPr>
          <a:xfrm>
            <a:off x="4573905" y="4449445"/>
            <a:ext cx="3156585" cy="1269960"/>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404040"/>
                </a:solidFill>
                <a:latin typeface="MiSans" pitchFamily="34" charset="0"/>
                <a:ea typeface="MiSans" pitchFamily="34" charset="-122"/>
                <a:cs typeface="MiSans" pitchFamily="34" charset="-120"/>
              </a:rPr>
              <a:t>通过评价可规模化推广并沉淀最佳实践，优化后推广分析原因再次试点重点优化数据补充技术适配，终止试点总结经验避免资源浪费。</a:t>
            </a:r>
            <a:endParaRPr lang="en-US" sz="1600" dirty="0"/>
          </a:p>
        </p:txBody>
      </p:sp>
      <p:sp>
        <p:nvSpPr>
          <p:cNvPr id="16" name="Text 8"/>
          <p:cNvSpPr/>
          <p:nvPr/>
        </p:nvSpPr>
        <p:spPr>
          <a:xfrm>
            <a:off x="8172450" y="4058920"/>
            <a:ext cx="3156585"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结果反馈与动态调整</a:t>
            </a:r>
            <a:endParaRPr lang="en-US" sz="1600" dirty="0"/>
          </a:p>
        </p:txBody>
      </p:sp>
      <p:sp>
        <p:nvSpPr>
          <p:cNvPr id="17" name="Text 9"/>
          <p:cNvSpPr/>
          <p:nvPr/>
        </p:nvSpPr>
        <p:spPr>
          <a:xfrm>
            <a:off x="8162925" y="4414520"/>
            <a:ext cx="3156585" cy="1269960"/>
          </a:xfrm>
          <a:prstGeom prst="rect">
            <a:avLst/>
          </a:prstGeom>
          <a:noFill/>
          <a:ln/>
        </p:spPr>
        <p:txBody>
          <a:bodyPr wrap="square" lIns="91440" tIns="45720" rIns="91440" bIns="45720" rtlCol="0" anchor="t">
            <a:spAutoFit/>
          </a:bodyPr>
          <a:lstStyle/>
          <a:p>
            <a:pPr algn="just">
              <a:lnSpc>
                <a:spcPct val="150000"/>
              </a:lnSpc>
            </a:pPr>
            <a:r>
              <a:rPr lang="en-US" sz="1200" b="1" dirty="0">
                <a:solidFill>
                  <a:srgbClr val="404040"/>
                </a:solidFill>
                <a:latin typeface="MiSans" pitchFamily="34" charset="0"/>
                <a:ea typeface="MiSans" pitchFamily="34" charset="-122"/>
                <a:cs typeface="MiSans" pitchFamily="34" charset="-120"/>
              </a:rPr>
              <a:t>评价结论反馈各部门与执委，同步更新需求清单调整项目优先级，确保资源持续投向最有价值的创新场景，形成评价驱动决策的良性循环。</a:t>
            </a:r>
            <a:endParaRPr lang="en-US" sz="1600" dirty="0"/>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11-d3dpb2os8jdo4os5dgqg.png"/>
          <p:cNvPicPr>
            <a:picLocks noChangeAspect="1"/>
          </p:cNvPicPr>
          <p:nvPr/>
        </p:nvPicPr>
        <p:blipFill>
          <a:blip r:embed="rId4"/>
          <a:srcRect l="-2535" t="-2560" r="-871" b="-1450"/>
          <a:stretch/>
        </p:blipFill>
        <p:spPr>
          <a:xfrm rot="16200000">
            <a:off x="1068705" y="978233"/>
            <a:ext cx="4448810" cy="5237480"/>
          </a:xfrm>
          <a:prstGeom prst="rect">
            <a:avLst/>
          </a:prstGeom>
        </p:spPr>
      </p:pic>
      <p:sp>
        <p:nvSpPr>
          <p:cNvPr id="3" name="Text 0"/>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迭代优化：经验沉淀与常态发展</a:t>
            </a:r>
            <a:endParaRPr lang="en-US" sz="1600" dirty="0"/>
          </a:p>
        </p:txBody>
      </p:sp>
      <p:pic>
        <p:nvPicPr>
          <p:cNvPr id="4" name="Image 1" descr="https://kimi-img.moonshot.cn/pub/slides/slides_tmpl/image/25-09-30-16:31:52-d3dpau0s8jdo4os5dgh0.png"/>
          <p:cNvPicPr>
            <a:picLocks noChangeAspect="1"/>
          </p:cNvPicPr>
          <p:nvPr/>
        </p:nvPicPr>
        <p:blipFill>
          <a:blip r:embed="rId5"/>
          <a:srcRect t="110" b="110"/>
          <a:stretch/>
        </p:blipFill>
        <p:spPr>
          <a:xfrm>
            <a:off x="2540" y="550545"/>
            <a:ext cx="579755" cy="652145"/>
          </a:xfrm>
          <a:prstGeom prst="rect">
            <a:avLst/>
          </a:prstGeom>
        </p:spPr>
      </p:pic>
      <p:pic>
        <p:nvPicPr>
          <p:cNvPr id="5" name="Image 2" descr="https://kimi-img.moonshot.cn/pub/slides/slides_tmpl/image/25-09-30-16:32:11-d3dpb2os8jdo4os5dgqg.png"/>
          <p:cNvPicPr>
            <a:picLocks noChangeAspect="1"/>
          </p:cNvPicPr>
          <p:nvPr/>
        </p:nvPicPr>
        <p:blipFill>
          <a:blip r:embed="rId4"/>
          <a:srcRect l="-2535" t="-2560" r="-871" b="-1450"/>
          <a:stretch/>
        </p:blipFill>
        <p:spPr>
          <a:xfrm rot="16200000">
            <a:off x="6570344" y="978232"/>
            <a:ext cx="4448812" cy="5237480"/>
          </a:xfrm>
          <a:prstGeom prst="rect">
            <a:avLst/>
          </a:prstGeom>
        </p:spPr>
      </p:pic>
      <p:sp>
        <p:nvSpPr>
          <p:cNvPr id="6" name="Text 1"/>
          <p:cNvSpPr/>
          <p:nvPr/>
        </p:nvSpPr>
        <p:spPr>
          <a:xfrm>
            <a:off x="1181735" y="1962483"/>
            <a:ext cx="4222115" cy="394851"/>
          </a:xfrm>
          <a:prstGeom prst="rect">
            <a:avLst/>
          </a:prstGeom>
          <a:noFill/>
          <a:ln/>
        </p:spPr>
        <p:txBody>
          <a:bodyPr wrap="square" lIns="91440" tIns="45720" rIns="91440" bIns="45720" rtlCol="0" anchor="t">
            <a:spAutoFit/>
          </a:bodyPr>
          <a:lstStyle/>
          <a:p>
            <a:pPr algn="ctr">
              <a:lnSpc>
                <a:spcPct val="100000"/>
              </a:lnSpc>
            </a:pPr>
            <a:r>
              <a:rPr lang="en-US" sz="2000" b="1" dirty="0">
                <a:solidFill>
                  <a:srgbClr val="000000"/>
                </a:solidFill>
                <a:latin typeface="MiSans" pitchFamily="34" charset="0"/>
                <a:ea typeface="MiSans" pitchFamily="34" charset="-122"/>
                <a:cs typeface="MiSans" pitchFamily="34" charset="-120"/>
              </a:rPr>
              <a:t>方案优化与规模推广</a:t>
            </a:r>
            <a:endParaRPr lang="en-US" sz="1600" dirty="0"/>
          </a:p>
        </p:txBody>
      </p:sp>
      <p:sp>
        <p:nvSpPr>
          <p:cNvPr id="7" name="Text 2"/>
          <p:cNvSpPr/>
          <p:nvPr/>
        </p:nvSpPr>
        <p:spPr>
          <a:xfrm>
            <a:off x="1179830" y="2438733"/>
            <a:ext cx="4224020" cy="3017401"/>
          </a:xfrm>
          <a:prstGeom prst="rect">
            <a:avLst/>
          </a:prstGeom>
          <a:noFill/>
          <a:ln/>
        </p:spPr>
        <p:txBody>
          <a:bodyPr wrap="square" lIns="91440" tIns="45720" rIns="91440" bIns="45720" rtlCol="0" anchor="t">
            <a:spAutoFit/>
          </a:bodyPr>
          <a:lstStyle/>
          <a:p>
            <a:pPr algn="just">
              <a:lnSpc>
                <a:spcPct val="150000"/>
              </a:lnSpc>
            </a:pPr>
            <a:r>
              <a:rPr lang="en-US" sz="1600" b="1" dirty="0">
                <a:solidFill>
                  <a:srgbClr val="404040"/>
                </a:solidFill>
                <a:latin typeface="MiSans" pitchFamily="34" charset="0"/>
                <a:ea typeface="MiSans" pitchFamily="34" charset="-122"/>
                <a:cs typeface="MiSans" pitchFamily="34" charset="-120"/>
              </a:rPr>
              <a:t>针对优化后推广的项目由业务部门牵头结合评价意见优化方案重点解决数据缺失技术适配与业务贴合度问题，流程部与IT配合提供支持；通过评价的项目由流程部牵头制定规模化推广计划逐步覆盖相关业务单元，确保AI与业务流程深度融合，如将AI故障诊断模型推广至全园区运维场景，实现单点突破到全局赋能的跨越。</a:t>
            </a:r>
            <a:endParaRPr lang="en-US" sz="1600" dirty="0"/>
          </a:p>
        </p:txBody>
      </p:sp>
      <p:sp>
        <p:nvSpPr>
          <p:cNvPr id="8" name="Text 3"/>
          <p:cNvSpPr/>
          <p:nvPr/>
        </p:nvSpPr>
        <p:spPr>
          <a:xfrm>
            <a:off x="6683375" y="1962483"/>
            <a:ext cx="4222115" cy="394851"/>
          </a:xfrm>
          <a:prstGeom prst="rect">
            <a:avLst/>
          </a:prstGeom>
          <a:noFill/>
          <a:ln/>
        </p:spPr>
        <p:txBody>
          <a:bodyPr wrap="square" lIns="91440" tIns="45720" rIns="91440" bIns="45720" rtlCol="0" anchor="t">
            <a:spAutoFit/>
          </a:bodyPr>
          <a:lstStyle/>
          <a:p>
            <a:pPr algn="ctr">
              <a:lnSpc>
                <a:spcPct val="100000"/>
              </a:lnSpc>
            </a:pPr>
            <a:r>
              <a:rPr lang="en-US" sz="2000" b="1" dirty="0">
                <a:solidFill>
                  <a:srgbClr val="000000"/>
                </a:solidFill>
                <a:latin typeface="MiSans" pitchFamily="34" charset="0"/>
                <a:ea typeface="MiSans" pitchFamily="34" charset="-122"/>
                <a:cs typeface="MiSans" pitchFamily="34" charset="-120"/>
              </a:rPr>
              <a:t>基础完善与知识沉淀</a:t>
            </a:r>
            <a:endParaRPr lang="en-US" sz="1600" dirty="0"/>
          </a:p>
        </p:txBody>
      </p:sp>
      <p:sp>
        <p:nvSpPr>
          <p:cNvPr id="9" name="Text 4"/>
          <p:cNvSpPr/>
          <p:nvPr/>
        </p:nvSpPr>
        <p:spPr>
          <a:xfrm>
            <a:off x="6681470" y="2438733"/>
            <a:ext cx="4224020" cy="2651681"/>
          </a:xfrm>
          <a:prstGeom prst="rect">
            <a:avLst/>
          </a:prstGeom>
          <a:noFill/>
          <a:ln/>
        </p:spPr>
        <p:txBody>
          <a:bodyPr wrap="square" lIns="91440" tIns="45720" rIns="91440" bIns="45720" rtlCol="0" anchor="t">
            <a:spAutoFit/>
          </a:bodyPr>
          <a:lstStyle/>
          <a:p>
            <a:pPr algn="just">
              <a:lnSpc>
                <a:spcPct val="150000"/>
              </a:lnSpc>
            </a:pPr>
            <a:r>
              <a:rPr lang="en-US" sz="1600" b="1" dirty="0">
                <a:solidFill>
                  <a:srgbClr val="404040"/>
                </a:solidFill>
                <a:latin typeface="MiSans" pitchFamily="34" charset="0"/>
                <a:ea typeface="MiSans" pitchFamily="34" charset="-122"/>
                <a:cs typeface="MiSans" pitchFamily="34" charset="-120"/>
              </a:rPr>
              <a:t>结合落地经验推动基础完善类流程优化，联合IT部门搭建公司级主数据与业务数据平台完善数据治理；汇总所有项目方案成效经验教训更新知识库组织交流学习推广最佳实践，每季度汇总推进情况调整规划向执委汇报争取资源支持，推动AI创新从试点走向规模化常态化，打造锐捷EBG AI加业务新范式。</a:t>
            </a:r>
            <a:endParaRPr lang="en-US" sz="1600" dirty="0"/>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3117533" y="3429000"/>
            <a:ext cx="5956935" cy="164084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1199FB"/>
                </a:solidFill>
                <a:latin typeface="MiSans" pitchFamily="34" charset="0"/>
                <a:ea typeface="MiSans" pitchFamily="34" charset="-122"/>
                <a:cs typeface="MiSans" pitchFamily="34" charset="-120"/>
              </a:rPr>
              <a:t>保障之盾：四大机制破解核心瓶颈</a:t>
            </a:r>
            <a:endParaRPr lang="en-US" sz="1600" dirty="0"/>
          </a:p>
        </p:txBody>
      </p:sp>
      <p:sp>
        <p:nvSpPr>
          <p:cNvPr id="4" name="Text 1"/>
          <p:cNvSpPr/>
          <p:nvPr/>
        </p:nvSpPr>
        <p:spPr>
          <a:xfrm>
            <a:off x="3117533" y="1860550"/>
            <a:ext cx="5956935" cy="1574760"/>
          </a:xfrm>
          <a:prstGeom prst="rect">
            <a:avLst/>
          </a:prstGeom>
          <a:noFill/>
          <a:ln/>
        </p:spPr>
        <p:txBody>
          <a:bodyPr wrap="square" lIns="91440" tIns="45720" rIns="91440" bIns="45720" rtlCol="0" anchor="t">
            <a:spAutoFit/>
          </a:bodyPr>
          <a:lstStyle/>
          <a:p>
            <a:pPr algn="ctr">
              <a:lnSpc>
                <a:spcPct val="100000"/>
              </a:lnSpc>
            </a:pPr>
            <a:r>
              <a:rPr lang="en-US" sz="9600" b="1" dirty="0">
                <a:solidFill>
                  <a:srgbClr val="1199FB"/>
                </a:solidFill>
                <a:latin typeface="MiSans" pitchFamily="34" charset="0"/>
                <a:ea typeface="MiSans" pitchFamily="34" charset="-122"/>
                <a:cs typeface="MiSans" pitchFamily="34" charset="-120"/>
              </a:rPr>
              <a:t>04</a:t>
            </a:r>
            <a:endParaRPr lang="en-US" sz="1600" dirty="0"/>
          </a:p>
        </p:txBody>
      </p:sp>
      <p:pic>
        <p:nvPicPr>
          <p:cNvPr id="5" name="Image 1" descr="https://kimi-img.moonshot.cn/pub/slides/slides_tmpl/image/25-09-30-16:31:52-d3dpau0s8jdo4os5dghg.png"/>
          <p:cNvPicPr>
            <a:picLocks noChangeAspect="1"/>
          </p:cNvPicPr>
          <p:nvPr/>
        </p:nvPicPr>
        <p:blipFill>
          <a:blip r:embed="rId5"/>
          <a:stretch>
            <a:fillRect/>
          </a:stretch>
        </p:blipFill>
        <p:spPr>
          <a:xfrm>
            <a:off x="1180465" y="1539875"/>
            <a:ext cx="2349500" cy="2733040"/>
          </a:xfrm>
          <a:prstGeom prst="rect">
            <a:avLst/>
          </a:prstGeom>
        </p:spPr>
      </p:pic>
      <p:pic>
        <p:nvPicPr>
          <p:cNvPr id="6" name="Image 2" descr="https://kimi-img.moonshot.cn/pub/slides/slides_tmpl/image/25-09-30-16:31:52-d3dpau0s8jdo4os5dgf0.png"/>
          <p:cNvPicPr>
            <a:picLocks noChangeAspect="1"/>
          </p:cNvPicPr>
          <p:nvPr/>
        </p:nvPicPr>
        <p:blipFill>
          <a:blip r:embed="rId6"/>
          <a:srcRect t="3182" b="3182"/>
          <a:stretch/>
        </p:blipFill>
        <p:spPr>
          <a:xfrm rot="3660000">
            <a:off x="9880600" y="4845050"/>
            <a:ext cx="1117600" cy="1017905"/>
          </a:xfrm>
          <a:prstGeom prst="rect">
            <a:avLst/>
          </a:prstGeom>
        </p:spPr>
      </p:pic>
      <p:sp>
        <p:nvSpPr>
          <p:cNvPr id="7" name="Shape 2"/>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name="Slide 19">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2-d3dpau0s8jdo4os5dgd0.png"/>
          <p:cNvPicPr>
            <a:picLocks noChangeAspect="1"/>
          </p:cNvPicPr>
          <p:nvPr/>
        </p:nvPicPr>
        <p:blipFill>
          <a:blip r:embed="rId4"/>
          <a:srcRect l="38804" r="38804"/>
          <a:stretch/>
        </p:blipFill>
        <p:spPr>
          <a:xfrm>
            <a:off x="8196580" y="1719580"/>
            <a:ext cx="3224530" cy="4438015"/>
          </a:xfrm>
          <a:prstGeom prst="rect">
            <a:avLst/>
          </a:prstGeom>
        </p:spPr>
      </p:pic>
      <p:pic>
        <p:nvPicPr>
          <p:cNvPr id="3" name="Image 1" descr="https://kimi-img.moonshot.cn/pub/slides/slides_tmpl/image/25-09-30-16:31:52-d3dpau0s8jdo4os5dgd0.png"/>
          <p:cNvPicPr>
            <a:picLocks noChangeAspect="1"/>
          </p:cNvPicPr>
          <p:nvPr/>
        </p:nvPicPr>
        <p:blipFill>
          <a:blip r:embed="rId4"/>
          <a:srcRect l="38804" r="38804"/>
          <a:stretch/>
        </p:blipFill>
        <p:spPr>
          <a:xfrm>
            <a:off x="4498340" y="1719580"/>
            <a:ext cx="3224530" cy="4438015"/>
          </a:xfrm>
          <a:prstGeom prst="rect">
            <a:avLst/>
          </a:prstGeom>
        </p:spPr>
      </p:pic>
      <p:pic>
        <p:nvPicPr>
          <p:cNvPr id="4" name="Image 2" descr="https://kimi-img.moonshot.cn/pub/slides/slides_tmpl/image/25-09-30-16:31:52-d3dpau0s8jdo4os5dgd0.png"/>
          <p:cNvPicPr>
            <a:picLocks noChangeAspect="1"/>
          </p:cNvPicPr>
          <p:nvPr/>
        </p:nvPicPr>
        <p:blipFill>
          <a:blip r:embed="rId4"/>
          <a:srcRect l="38804" r="38804"/>
          <a:stretch/>
        </p:blipFill>
        <p:spPr>
          <a:xfrm>
            <a:off x="847090" y="1719580"/>
            <a:ext cx="3224530" cy="4438015"/>
          </a:xfrm>
          <a:prstGeom prst="rect">
            <a:avLst/>
          </a:prstGeom>
        </p:spPr>
      </p:pic>
      <p:sp>
        <p:nvSpPr>
          <p:cNvPr id="5" name="Text 0"/>
          <p:cNvSpPr/>
          <p:nvPr/>
        </p:nvSpPr>
        <p:spPr>
          <a:xfrm>
            <a:off x="19987895" y="4526280"/>
            <a:ext cx="4064000" cy="266065"/>
          </a:xfrm>
          <a:prstGeom prst="rect">
            <a:avLst/>
          </a:prstGeom>
          <a:noFill/>
          <a:ln/>
        </p:spPr>
        <p:txBody>
          <a:bodyPr wrap="square" lIns="91440" tIns="45720" rIns="91440" bIns="45720" rtlCol="0" anchor="t">
            <a:spAutoFit/>
          </a:bodyPr>
          <a:lstStyle/>
          <a:p>
            <a:pPr>
              <a:lnSpc>
                <a:spcPct val="100000"/>
              </a:lnSpc>
            </a:pPr>
            <a:r>
              <a:rPr lang="en-US" sz="1800" dirty="0">
                <a:solidFill>
                  <a:srgbClr val="000000"/>
                </a:solidFill>
                <a:latin typeface="MiSans" pitchFamily="34" charset="0"/>
                <a:ea typeface="MiSans" pitchFamily="34" charset="-122"/>
                <a:cs typeface="MiSans" pitchFamily="34" charset="-120"/>
              </a:rPr>
              <a:t> </a:t>
            </a:r>
            <a:endParaRPr lang="en-US" sz="1600" dirty="0"/>
          </a:p>
        </p:txBody>
      </p:sp>
      <p:sp>
        <p:nvSpPr>
          <p:cNvPr id="6" name="Text 1"/>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分层分类与数据完善双机制</a:t>
            </a:r>
            <a:endParaRPr lang="en-US" sz="1600" dirty="0"/>
          </a:p>
        </p:txBody>
      </p:sp>
      <p:pic>
        <p:nvPicPr>
          <p:cNvPr id="7" name="Image 3" descr="https://kimi-img.moonshot.cn/pub/slides/slides_tmpl/image/25-09-30-16:31:52-d3dpau0s8jdo4os5dgh0.png"/>
          <p:cNvPicPr>
            <a:picLocks noChangeAspect="1"/>
          </p:cNvPicPr>
          <p:nvPr/>
        </p:nvPicPr>
        <p:blipFill>
          <a:blip r:embed="rId5"/>
          <a:srcRect t="110" b="110"/>
          <a:stretch/>
        </p:blipFill>
        <p:spPr>
          <a:xfrm>
            <a:off x="2540" y="550545"/>
            <a:ext cx="579755" cy="652145"/>
          </a:xfrm>
          <a:prstGeom prst="rect">
            <a:avLst/>
          </a:prstGeom>
        </p:spPr>
      </p:pic>
      <p:pic>
        <p:nvPicPr>
          <p:cNvPr id="8" name="Image 4" descr="https://kimi-img.moonshot.cn/pub/slides/slides_tmpl/image/25-09-30-16:31:52-d3dpau0s8jdo4os5dgf0.png"/>
          <p:cNvPicPr>
            <a:picLocks noChangeAspect="1"/>
          </p:cNvPicPr>
          <p:nvPr/>
        </p:nvPicPr>
        <p:blipFill>
          <a:blip r:embed="rId6"/>
          <a:srcRect t="3182" b="3182"/>
          <a:stretch/>
        </p:blipFill>
        <p:spPr>
          <a:xfrm rot="3660000">
            <a:off x="10095865" y="591820"/>
            <a:ext cx="1384935" cy="1261745"/>
          </a:xfrm>
          <a:prstGeom prst="rect">
            <a:avLst/>
          </a:prstGeom>
        </p:spPr>
      </p:pic>
      <p:sp>
        <p:nvSpPr>
          <p:cNvPr id="9" name="Text 2"/>
          <p:cNvSpPr/>
          <p:nvPr/>
        </p:nvSpPr>
        <p:spPr>
          <a:xfrm>
            <a:off x="1207135" y="2134235"/>
            <a:ext cx="2631440" cy="394851"/>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000000"/>
                </a:solidFill>
                <a:latin typeface="MiSans" pitchFamily="34" charset="0"/>
                <a:ea typeface="MiSans" pitchFamily="34" charset="-122"/>
                <a:cs typeface="MiSans" pitchFamily="34" charset="-120"/>
              </a:rPr>
              <a:t>分层分类推进机制</a:t>
            </a:r>
            <a:endParaRPr lang="en-US" sz="1600" dirty="0"/>
          </a:p>
        </p:txBody>
      </p:sp>
      <p:sp>
        <p:nvSpPr>
          <p:cNvPr id="10" name="Text 3"/>
          <p:cNvSpPr/>
          <p:nvPr/>
        </p:nvSpPr>
        <p:spPr>
          <a:xfrm>
            <a:off x="1207135" y="2945765"/>
            <a:ext cx="2631440" cy="2971760"/>
          </a:xfrm>
          <a:prstGeom prst="rect">
            <a:avLst/>
          </a:prstGeom>
          <a:noFill/>
          <a:ln/>
        </p:spPr>
        <p:txBody>
          <a:bodyPr wrap="square" lIns="91440" tIns="45720" rIns="91440" bIns="45720" rtlCol="0" anchor="t">
            <a:spAutoFit/>
          </a:bodyPr>
          <a:lstStyle/>
          <a:p>
            <a:pPr algn="just">
              <a:lnSpc>
                <a:spcPct val="150000"/>
              </a:lnSpc>
            </a:pPr>
            <a:r>
              <a:rPr lang="en-US" sz="1400" b="1" dirty="0">
                <a:solidFill>
                  <a:srgbClr val="404040"/>
                </a:solidFill>
                <a:latin typeface="MiSans" pitchFamily="34" charset="0"/>
                <a:ea typeface="MiSans" pitchFamily="34" charset="-122"/>
                <a:cs typeface="MiSans" pitchFamily="34" charset="-120"/>
              </a:rPr>
              <a:t>优先赋能类建立快速落地通道一至三个月完成试点三至六个月规模化推广聚焦核心业务；潜力培育类建立轻量化验证通道一个月内小范围试点验证后逐步完善数据升级方案；基础完善类建立流程优化加数据补充通道每季度梳理一至两个流程待达标后纳入创新范围。</a:t>
            </a:r>
            <a:endParaRPr lang="en-US" sz="1600" dirty="0"/>
          </a:p>
        </p:txBody>
      </p:sp>
      <p:sp>
        <p:nvSpPr>
          <p:cNvPr id="11" name="Text 4"/>
          <p:cNvSpPr/>
          <p:nvPr/>
        </p:nvSpPr>
        <p:spPr>
          <a:xfrm>
            <a:off x="4896485" y="2134235"/>
            <a:ext cx="2631440" cy="394851"/>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000000"/>
                </a:solidFill>
                <a:latin typeface="MiSans" pitchFamily="34" charset="0"/>
                <a:ea typeface="MiSans" pitchFamily="34" charset="-122"/>
                <a:cs typeface="MiSans" pitchFamily="34" charset="-120"/>
              </a:rPr>
              <a:t>数据基础三阶段完善</a:t>
            </a:r>
            <a:endParaRPr lang="en-US" sz="1600" dirty="0"/>
          </a:p>
        </p:txBody>
      </p:sp>
      <p:sp>
        <p:nvSpPr>
          <p:cNvPr id="12" name="Text 5"/>
          <p:cNvSpPr/>
          <p:nvPr/>
        </p:nvSpPr>
        <p:spPr>
          <a:xfrm>
            <a:off x="4896485" y="2945765"/>
            <a:ext cx="2631440" cy="2651681"/>
          </a:xfrm>
          <a:prstGeom prst="rect">
            <a:avLst/>
          </a:prstGeom>
          <a:noFill/>
          <a:ln/>
        </p:spPr>
        <p:txBody>
          <a:bodyPr wrap="square" lIns="91440" tIns="45720" rIns="91440" bIns="45720" rtlCol="0" anchor="t">
            <a:spAutoFit/>
          </a:bodyPr>
          <a:lstStyle/>
          <a:p>
            <a:pPr algn="just">
              <a:lnSpc>
                <a:spcPct val="150000"/>
              </a:lnSpc>
            </a:pPr>
            <a:r>
              <a:rPr lang="en-US" sz="1400" b="1" dirty="0">
                <a:solidFill>
                  <a:srgbClr val="404040"/>
                </a:solidFill>
                <a:latin typeface="MiSans" pitchFamily="34" charset="0"/>
                <a:ea typeface="MiSans" pitchFamily="34" charset="-122"/>
                <a:cs typeface="MiSans" pitchFamily="34" charset="-120"/>
              </a:rPr>
              <a:t>短期一至三个月手动补充加飞书电子表统计补齐试点数据降低缺失影响；中期三至六个月梳理公司级主数据与业务数据搭建简易汇总平台实现统一收集管理；长期六至十二个月建成公司级数据平台完善治理体系实现自动化采集清洗分析。</a:t>
            </a:r>
            <a:endParaRPr lang="en-US" sz="1600" dirty="0"/>
          </a:p>
        </p:txBody>
      </p:sp>
      <p:sp>
        <p:nvSpPr>
          <p:cNvPr id="13" name="Text 6"/>
          <p:cNvSpPr/>
          <p:nvPr/>
        </p:nvSpPr>
        <p:spPr>
          <a:xfrm>
            <a:off x="8585835" y="2134235"/>
            <a:ext cx="2631440" cy="394851"/>
          </a:xfrm>
          <a:prstGeom prst="rect">
            <a:avLst/>
          </a:prstGeom>
          <a:noFill/>
          <a:ln/>
        </p:spPr>
        <p:txBody>
          <a:bodyPr wrap="square" lIns="91440" tIns="45720" rIns="91440" bIns="45720" rtlCol="0" anchor="t">
            <a:spAutoFit/>
          </a:bodyPr>
          <a:lstStyle/>
          <a:p>
            <a:pPr algn="just">
              <a:lnSpc>
                <a:spcPct val="100000"/>
              </a:lnSpc>
            </a:pPr>
            <a:r>
              <a:rPr lang="en-US" sz="2000" b="1" dirty="0">
                <a:solidFill>
                  <a:srgbClr val="000000"/>
                </a:solidFill>
                <a:latin typeface="MiSans" pitchFamily="34" charset="0"/>
                <a:ea typeface="MiSans" pitchFamily="34" charset="-122"/>
                <a:cs typeface="MiSans" pitchFamily="34" charset="-120"/>
              </a:rPr>
              <a:t>数据责任体系</a:t>
            </a:r>
            <a:endParaRPr lang="en-US" sz="1600" dirty="0"/>
          </a:p>
        </p:txBody>
      </p:sp>
      <p:sp>
        <p:nvSpPr>
          <p:cNvPr id="14" name="Text 7"/>
          <p:cNvSpPr/>
          <p:nvPr/>
        </p:nvSpPr>
        <p:spPr>
          <a:xfrm>
            <a:off x="8585835" y="2945765"/>
            <a:ext cx="2631440" cy="2331601"/>
          </a:xfrm>
          <a:prstGeom prst="rect">
            <a:avLst/>
          </a:prstGeom>
          <a:noFill/>
          <a:ln/>
        </p:spPr>
        <p:txBody>
          <a:bodyPr wrap="square" lIns="91440" tIns="45720" rIns="91440" bIns="45720" rtlCol="0" anchor="t">
            <a:spAutoFit/>
          </a:bodyPr>
          <a:lstStyle/>
          <a:p>
            <a:pPr algn="just">
              <a:lnSpc>
                <a:spcPct val="150000"/>
              </a:lnSpc>
            </a:pPr>
            <a:r>
              <a:rPr lang="en-US" sz="1400" b="1" dirty="0">
                <a:solidFill>
                  <a:srgbClr val="404040"/>
                </a:solidFill>
                <a:latin typeface="MiSans" pitchFamily="34" charset="0"/>
                <a:ea typeface="MiSans" pitchFamily="34" charset="-122"/>
                <a:cs typeface="MiSans" pitchFamily="34" charset="-120"/>
              </a:rPr>
              <a:t>各部门指定数据管理员负责本部门数据收集整理更新，流程部定期检查数据质量确保真实完整可用，将数据建设从被动响应转为主动治理，为规模化AI创新提供可持续的数据保障。</a:t>
            </a:r>
            <a:endParaRPr lang="en-US" sz="1600" dirty="0"/>
          </a:p>
        </p:txBody>
      </p:sp>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name="Slide 20">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2-d3dpau0s8jdo4os5dgd0.png"/>
          <p:cNvPicPr>
            <a:picLocks noChangeAspect="1"/>
          </p:cNvPicPr>
          <p:nvPr/>
        </p:nvPicPr>
        <p:blipFill>
          <a:blip r:embed="rId4"/>
          <a:srcRect t="38412" b="38412"/>
          <a:stretch/>
        </p:blipFill>
        <p:spPr>
          <a:xfrm>
            <a:off x="675640" y="5656580"/>
            <a:ext cx="11000740" cy="786130"/>
          </a:xfrm>
          <a:prstGeom prst="rect">
            <a:avLst/>
          </a:prstGeom>
        </p:spPr>
      </p:pic>
      <p:pic>
        <p:nvPicPr>
          <p:cNvPr id="3" name="Image 1" descr="https://kimi-img.moonshot.cn/pub/slides/slides_tmpl/image/25-09-30-16:31:52-d3dpau0s8jdo4os5dgd0.png"/>
          <p:cNvPicPr>
            <a:picLocks noChangeAspect="1"/>
          </p:cNvPicPr>
          <p:nvPr/>
        </p:nvPicPr>
        <p:blipFill>
          <a:blip r:embed="rId4"/>
          <a:srcRect t="38412" b="38412"/>
          <a:stretch/>
        </p:blipFill>
        <p:spPr>
          <a:xfrm>
            <a:off x="675640" y="4354830"/>
            <a:ext cx="11000740" cy="786130"/>
          </a:xfrm>
          <a:prstGeom prst="rect">
            <a:avLst/>
          </a:prstGeom>
        </p:spPr>
      </p:pic>
      <p:pic>
        <p:nvPicPr>
          <p:cNvPr id="4" name="Image 2" descr="https://kimi-img.moonshot.cn/pub/slides/slides_tmpl/image/25-09-30-16:31:52-d3dpau0s8jdo4os5dgd0.png"/>
          <p:cNvPicPr>
            <a:picLocks noChangeAspect="1"/>
          </p:cNvPicPr>
          <p:nvPr/>
        </p:nvPicPr>
        <p:blipFill>
          <a:blip r:embed="rId4"/>
          <a:srcRect t="38412" b="38412"/>
          <a:stretch/>
        </p:blipFill>
        <p:spPr>
          <a:xfrm>
            <a:off x="675640" y="3104515"/>
            <a:ext cx="11000740" cy="786130"/>
          </a:xfrm>
          <a:prstGeom prst="rect">
            <a:avLst/>
          </a:prstGeom>
        </p:spPr>
      </p:pic>
      <p:pic>
        <p:nvPicPr>
          <p:cNvPr id="5" name="Image 3" descr="https://kimi-img.moonshot.cn/pub/slides/slides_tmpl/image/25-09-30-16:31:52-d3dpau0s8jdo4os5dgd0.png"/>
          <p:cNvPicPr>
            <a:picLocks noChangeAspect="1"/>
          </p:cNvPicPr>
          <p:nvPr/>
        </p:nvPicPr>
        <p:blipFill>
          <a:blip r:embed="rId4"/>
          <a:srcRect t="38412" b="38412"/>
          <a:stretch/>
        </p:blipFill>
        <p:spPr>
          <a:xfrm>
            <a:off x="675640" y="1804670"/>
            <a:ext cx="11000740" cy="786130"/>
          </a:xfrm>
          <a:prstGeom prst="rect">
            <a:avLst/>
          </a:prstGeom>
        </p:spPr>
      </p:pic>
      <p:sp>
        <p:nvSpPr>
          <p:cNvPr id="6" name="Text 0"/>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资源统筹与统一规划双机制</a:t>
            </a:r>
            <a:endParaRPr lang="en-US" sz="1600" dirty="0"/>
          </a:p>
        </p:txBody>
      </p:sp>
      <p:pic>
        <p:nvPicPr>
          <p:cNvPr id="7" name="Image 4" descr="https://kimi-img.moonshot.cn/pub/slides/slides_tmpl/image/25-09-30-16:31:52-d3dpau0s8jdo4os5dgh0.png"/>
          <p:cNvPicPr>
            <a:picLocks noChangeAspect="1"/>
          </p:cNvPicPr>
          <p:nvPr/>
        </p:nvPicPr>
        <p:blipFill>
          <a:blip r:embed="rId5"/>
          <a:srcRect t="110" b="110"/>
          <a:stretch/>
        </p:blipFill>
        <p:spPr>
          <a:xfrm>
            <a:off x="15875" y="550545"/>
            <a:ext cx="579755" cy="652145"/>
          </a:xfrm>
          <a:prstGeom prst="rect">
            <a:avLst/>
          </a:prstGeom>
        </p:spPr>
      </p:pic>
      <p:sp>
        <p:nvSpPr>
          <p:cNvPr id="8" name="Text 1"/>
          <p:cNvSpPr/>
          <p:nvPr/>
        </p:nvSpPr>
        <p:spPr>
          <a:xfrm>
            <a:off x="743585" y="1450975"/>
            <a:ext cx="322199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1199FB"/>
                </a:solidFill>
                <a:latin typeface="MiSans" pitchFamily="34" charset="0"/>
                <a:ea typeface="MiSans" pitchFamily="34" charset="-122"/>
                <a:cs typeface="MiSans" pitchFamily="34" charset="-120"/>
              </a:rPr>
              <a:t>资源优先级分配</a:t>
            </a:r>
            <a:endParaRPr lang="en-US" sz="1600" dirty="0"/>
          </a:p>
        </p:txBody>
      </p:sp>
      <p:sp>
        <p:nvSpPr>
          <p:cNvPr id="9" name="Text 2"/>
          <p:cNvSpPr/>
          <p:nvPr/>
        </p:nvSpPr>
        <p:spPr>
          <a:xfrm>
            <a:off x="843280" y="1886585"/>
            <a:ext cx="10203180" cy="379373"/>
          </a:xfrm>
          <a:prstGeom prst="rect">
            <a:avLst/>
          </a:prstGeom>
          <a:noFill/>
          <a:ln/>
        </p:spPr>
        <p:txBody>
          <a:bodyPr wrap="square" lIns="91440" tIns="45720" rIns="91440" bIns="45720" rtlCol="0" anchor="t">
            <a:spAutoFit/>
          </a:bodyPr>
          <a:lstStyle/>
          <a:p>
            <a:pPr algn="just">
              <a:lnSpc>
                <a:spcPct val="130000"/>
              </a:lnSpc>
            </a:pPr>
            <a:r>
              <a:rPr lang="en-US" sz="1300" b="1" dirty="0">
                <a:solidFill>
                  <a:srgbClr val="404040"/>
                </a:solidFill>
                <a:latin typeface="MiSans" pitchFamily="34" charset="0"/>
                <a:ea typeface="MiSans" pitchFamily="34" charset="-122"/>
                <a:cs typeface="MiSans" pitchFamily="34" charset="-120"/>
              </a:rPr>
              <a:t>按项目优先级分配资源优先保障高价值快见效项目，整合内部IT资源复用现有系统工具避免重复投入，提高资源利用效率。</a:t>
            </a:r>
            <a:endParaRPr lang="en-US" sz="1600" dirty="0"/>
          </a:p>
        </p:txBody>
      </p:sp>
      <p:sp>
        <p:nvSpPr>
          <p:cNvPr id="10" name="Text 3"/>
          <p:cNvSpPr/>
          <p:nvPr/>
        </p:nvSpPr>
        <p:spPr>
          <a:xfrm>
            <a:off x="743585" y="2749550"/>
            <a:ext cx="3221990" cy="367665"/>
          </a:xfrm>
          <a:prstGeom prst="rect">
            <a:avLst/>
          </a:prstGeom>
          <a:noFill/>
          <a:ln/>
        </p:spPr>
        <p:txBody>
          <a:bodyPr wrap="square" lIns="91440" tIns="45720" rIns="91440" bIns="45720" rtlCol="0" anchor="t">
            <a:spAutoFit/>
          </a:bodyPr>
          <a:lstStyle/>
          <a:p>
            <a:pPr>
              <a:lnSpc>
                <a:spcPct val="100000"/>
              </a:lnSpc>
            </a:pPr>
            <a:r>
              <a:rPr lang="en-US" sz="1800" b="1" dirty="0">
                <a:solidFill>
                  <a:srgbClr val="1199FB"/>
                </a:solidFill>
                <a:latin typeface="MiSans" pitchFamily="34" charset="0"/>
                <a:ea typeface="MiSans" pitchFamily="34" charset="-122"/>
                <a:cs typeface="MiSans" pitchFamily="34" charset="-120"/>
              </a:rPr>
              <a:t>内外资源协同</a:t>
            </a:r>
            <a:endParaRPr lang="en-US" sz="1600" dirty="0"/>
          </a:p>
        </p:txBody>
      </p:sp>
      <p:sp>
        <p:nvSpPr>
          <p:cNvPr id="11" name="Text 4"/>
          <p:cNvSpPr/>
          <p:nvPr/>
        </p:nvSpPr>
        <p:spPr>
          <a:xfrm>
            <a:off x="894080" y="3169285"/>
            <a:ext cx="10203180" cy="667306"/>
          </a:xfrm>
          <a:prstGeom prst="rect">
            <a:avLst/>
          </a:prstGeom>
          <a:noFill/>
          <a:ln/>
        </p:spPr>
        <p:txBody>
          <a:bodyPr wrap="square" lIns="91440" tIns="45720" rIns="91440" bIns="45720" rtlCol="0" anchor="t">
            <a:spAutoFit/>
          </a:bodyPr>
          <a:lstStyle/>
          <a:p>
            <a:pPr algn="just">
              <a:lnSpc>
                <a:spcPct val="130000"/>
              </a:lnSpc>
            </a:pPr>
            <a:r>
              <a:rPr lang="en-US" sz="1300" b="1" dirty="0">
                <a:solidFill>
                  <a:srgbClr val="404040"/>
                </a:solidFill>
                <a:latin typeface="MiSans" pitchFamily="34" charset="0"/>
                <a:ea typeface="MiSans" pitchFamily="34" charset="-122"/>
                <a:cs typeface="MiSans" pitchFamily="34" charset="-120"/>
              </a:rPr>
              <a:t>针对核心高价值项目适当引入外部技术支持控制成本确保质量，流程部定期跟踪使用情况动态调配确保投入与需求匹配，避免资源闲置或不足。</a:t>
            </a:r>
            <a:endParaRPr lang="en-US" sz="1600" dirty="0"/>
          </a:p>
        </p:txBody>
      </p:sp>
      <p:sp>
        <p:nvSpPr>
          <p:cNvPr id="12" name="Text 5"/>
          <p:cNvSpPr/>
          <p:nvPr/>
        </p:nvSpPr>
        <p:spPr>
          <a:xfrm>
            <a:off x="743585" y="3999865"/>
            <a:ext cx="322199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1199FB"/>
                </a:solidFill>
                <a:latin typeface="MiSans" pitchFamily="34" charset="0"/>
                <a:ea typeface="MiSans" pitchFamily="34" charset="-122"/>
                <a:cs typeface="MiSans" pitchFamily="34" charset="-120"/>
              </a:rPr>
              <a:t>统一规划管理</a:t>
            </a:r>
            <a:endParaRPr lang="en-US" sz="1600" dirty="0"/>
          </a:p>
        </p:txBody>
      </p:sp>
      <p:sp>
        <p:nvSpPr>
          <p:cNvPr id="13" name="Text 6"/>
          <p:cNvSpPr/>
          <p:nvPr/>
        </p:nvSpPr>
        <p:spPr>
          <a:xfrm>
            <a:off x="843280" y="4451985"/>
            <a:ext cx="10203180" cy="667306"/>
          </a:xfrm>
          <a:prstGeom prst="rect">
            <a:avLst/>
          </a:prstGeom>
          <a:noFill/>
          <a:ln/>
        </p:spPr>
        <p:txBody>
          <a:bodyPr wrap="square" lIns="91440" tIns="45720" rIns="91440" bIns="45720" rtlCol="0" anchor="t">
            <a:spAutoFit/>
          </a:bodyPr>
          <a:lstStyle/>
          <a:p>
            <a:pPr algn="just">
              <a:lnSpc>
                <a:spcPct val="130000"/>
              </a:lnSpc>
            </a:pPr>
            <a:r>
              <a:rPr lang="en-US" sz="1300" b="1" dirty="0">
                <a:solidFill>
                  <a:srgbClr val="404040"/>
                </a:solidFill>
                <a:latin typeface="MiSans" pitchFamily="34" charset="0"/>
                <a:ea typeface="MiSans" pitchFamily="34" charset="-122"/>
                <a:cs typeface="MiSans" pitchFamily="34" charset="-120"/>
              </a:rPr>
              <a:t>流程部每季度制定AI创新推进计划明确目标重点项目与资源需求报执委审批，建立项目台账统一管理全生命周期信息实现可追溯，确保推进有序。</a:t>
            </a:r>
            <a:endParaRPr lang="en-US" sz="1600" dirty="0"/>
          </a:p>
        </p:txBody>
      </p:sp>
      <p:sp>
        <p:nvSpPr>
          <p:cNvPr id="14" name="Text 7"/>
          <p:cNvSpPr/>
          <p:nvPr/>
        </p:nvSpPr>
        <p:spPr>
          <a:xfrm>
            <a:off x="743585" y="5295265"/>
            <a:ext cx="322199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1199FB"/>
                </a:solidFill>
                <a:latin typeface="MiSans" pitchFamily="34" charset="0"/>
                <a:ea typeface="MiSans" pitchFamily="34" charset="-122"/>
                <a:cs typeface="MiSans" pitchFamily="34" charset="-120"/>
              </a:rPr>
              <a:t>激励与培训机制</a:t>
            </a:r>
            <a:endParaRPr lang="en-US" sz="1600" dirty="0"/>
          </a:p>
        </p:txBody>
      </p:sp>
      <p:sp>
        <p:nvSpPr>
          <p:cNvPr id="15" name="Text 8"/>
          <p:cNvSpPr/>
          <p:nvPr/>
        </p:nvSpPr>
        <p:spPr>
          <a:xfrm>
            <a:off x="894080" y="5734685"/>
            <a:ext cx="10203180" cy="667306"/>
          </a:xfrm>
          <a:prstGeom prst="rect">
            <a:avLst/>
          </a:prstGeom>
          <a:noFill/>
          <a:ln/>
        </p:spPr>
        <p:txBody>
          <a:bodyPr wrap="square" lIns="91440" tIns="45720" rIns="91440" bIns="45720" rtlCol="0" anchor="t">
            <a:spAutoFit/>
          </a:bodyPr>
          <a:lstStyle/>
          <a:p>
            <a:pPr algn="just">
              <a:lnSpc>
                <a:spcPct val="130000"/>
              </a:lnSpc>
            </a:pPr>
            <a:r>
              <a:rPr lang="en-US" sz="1300" b="1" dirty="0">
                <a:solidFill>
                  <a:srgbClr val="404040"/>
                </a:solidFill>
                <a:latin typeface="MiSans" pitchFamily="34" charset="0"/>
                <a:ea typeface="MiSans" pitchFamily="34" charset="-122"/>
                <a:cs typeface="MiSans" pitchFamily="34" charset="-120"/>
              </a:rPr>
              <a:t>建立激励政策对成效显著的部门个人给予表彰激发积极性，联合IT部门定期开展低代码工具与AI应用场景培训提升全员认知与操作能力，为创新推进提供人才支撑。</a:t>
            </a:r>
            <a:endParaRPr lang="en-US" sz="1600" dirty="0"/>
          </a:p>
        </p:txBody>
      </p:sp>
    </p:spTree>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name="Slide 21">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3117533" y="3429000"/>
            <a:ext cx="5956935" cy="164084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1199FB"/>
                </a:solidFill>
                <a:latin typeface="MiSans" pitchFamily="34" charset="0"/>
                <a:ea typeface="MiSans" pitchFamily="34" charset="-122"/>
                <a:cs typeface="MiSans" pitchFamily="34" charset="-120"/>
              </a:rPr>
              <a:t>践行之路：三阶段稳步推进</a:t>
            </a:r>
            <a:endParaRPr lang="en-US" sz="1600" dirty="0"/>
          </a:p>
        </p:txBody>
      </p:sp>
      <p:sp>
        <p:nvSpPr>
          <p:cNvPr id="4" name="Text 1"/>
          <p:cNvSpPr/>
          <p:nvPr/>
        </p:nvSpPr>
        <p:spPr>
          <a:xfrm>
            <a:off x="3117533" y="1860550"/>
            <a:ext cx="5956935" cy="1574760"/>
          </a:xfrm>
          <a:prstGeom prst="rect">
            <a:avLst/>
          </a:prstGeom>
          <a:noFill/>
          <a:ln/>
        </p:spPr>
        <p:txBody>
          <a:bodyPr wrap="square" lIns="91440" tIns="45720" rIns="91440" bIns="45720" rtlCol="0" anchor="t">
            <a:spAutoFit/>
          </a:bodyPr>
          <a:lstStyle/>
          <a:p>
            <a:pPr algn="ctr">
              <a:lnSpc>
                <a:spcPct val="100000"/>
              </a:lnSpc>
            </a:pPr>
            <a:r>
              <a:rPr lang="en-US" sz="9600" b="1" dirty="0">
                <a:solidFill>
                  <a:srgbClr val="1199FB"/>
                </a:solidFill>
                <a:latin typeface="MiSans" pitchFamily="34" charset="0"/>
                <a:ea typeface="MiSans" pitchFamily="34" charset="-122"/>
                <a:cs typeface="MiSans" pitchFamily="34" charset="-120"/>
              </a:rPr>
              <a:t>05</a:t>
            </a:r>
            <a:endParaRPr lang="en-US" sz="1600" dirty="0"/>
          </a:p>
        </p:txBody>
      </p:sp>
      <p:pic>
        <p:nvPicPr>
          <p:cNvPr id="5" name="Image 1" descr="https://kimi-img.moonshot.cn/pub/slides/slides_tmpl/image/25-09-30-16:31:52-d3dpau0s8jdo4os5dghg.png"/>
          <p:cNvPicPr>
            <a:picLocks noChangeAspect="1"/>
          </p:cNvPicPr>
          <p:nvPr/>
        </p:nvPicPr>
        <p:blipFill>
          <a:blip r:embed="rId5"/>
          <a:stretch>
            <a:fillRect/>
          </a:stretch>
        </p:blipFill>
        <p:spPr>
          <a:xfrm>
            <a:off x="1180465" y="1539875"/>
            <a:ext cx="2349500" cy="2733040"/>
          </a:xfrm>
          <a:prstGeom prst="rect">
            <a:avLst/>
          </a:prstGeom>
        </p:spPr>
      </p:pic>
      <p:pic>
        <p:nvPicPr>
          <p:cNvPr id="6" name="Image 2" descr="https://kimi-img.moonshot.cn/pub/slides/slides_tmpl/image/25-09-30-16:31:52-d3dpau0s8jdo4os5dgf0.png"/>
          <p:cNvPicPr>
            <a:picLocks noChangeAspect="1"/>
          </p:cNvPicPr>
          <p:nvPr/>
        </p:nvPicPr>
        <p:blipFill>
          <a:blip r:embed="rId6"/>
          <a:srcRect t="3182" b="3182"/>
          <a:stretch/>
        </p:blipFill>
        <p:spPr>
          <a:xfrm rot="3660000">
            <a:off x="9880600" y="4845050"/>
            <a:ext cx="1117600" cy="1017905"/>
          </a:xfrm>
          <a:prstGeom prst="rect">
            <a:avLst/>
          </a:prstGeom>
        </p:spPr>
      </p:pic>
      <p:sp>
        <p:nvSpPr>
          <p:cNvPr id="7" name="Shape 2"/>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name="Slide 22">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24-d3dpb60s8jdo4os5dh10.jpeg"/>
          <p:cNvPicPr>
            <a:picLocks noChangeAspect="1"/>
          </p:cNvPicPr>
          <p:nvPr/>
        </p:nvPicPr>
        <p:blipFill>
          <a:blip r:embed="rId4"/>
          <a:srcRect t="25558" b="25558"/>
          <a:stretch/>
        </p:blipFill>
        <p:spPr>
          <a:xfrm>
            <a:off x="744220" y="1390015"/>
            <a:ext cx="3868420" cy="2327275"/>
          </a:xfrm>
          <a:prstGeom prst="rect">
            <a:avLst/>
          </a:prstGeom>
        </p:spPr>
      </p:pic>
      <p:sp>
        <p:nvSpPr>
          <p:cNvPr id="3" name="Shape 0"/>
          <p:cNvSpPr/>
          <p:nvPr/>
        </p:nvSpPr>
        <p:spPr>
          <a:xfrm>
            <a:off x="755015" y="3847465"/>
            <a:ext cx="3869581" cy="2474595"/>
          </a:xfrm>
          <a:prstGeom prst="rect">
            <a:avLst/>
          </a:prstGeom>
          <a:solidFill>
            <a:srgbClr val="1199FB"/>
          </a:solidFill>
          <a:ln/>
        </p:spPr>
      </p:sp>
      <p:pic>
        <p:nvPicPr>
          <p:cNvPr id="4" name="Image 1" descr="https://kimi-img.moonshot.cn/pub/slides/slides_tmpl/image/25-09-30-16:32:16-d3dpb40s8jdo4os5dgug.png"/>
          <p:cNvPicPr>
            <a:picLocks noChangeAspect="1"/>
          </p:cNvPicPr>
          <p:nvPr/>
        </p:nvPicPr>
        <p:blipFill>
          <a:blip r:embed="rId5"/>
          <a:srcRect t="83" b="83"/>
          <a:stretch/>
        </p:blipFill>
        <p:spPr>
          <a:xfrm>
            <a:off x="4996815" y="1390015"/>
            <a:ext cx="384175" cy="298450"/>
          </a:xfrm>
          <a:prstGeom prst="rect">
            <a:avLst/>
          </a:prstGeom>
        </p:spPr>
      </p:pic>
      <p:pic>
        <p:nvPicPr>
          <p:cNvPr id="5" name="Image 2" descr="https://kimi-img.moonshot.cn/pub/slides/slides_tmpl/image/25-09-30-16:32:16-d3dpb40s8jdo4os5dgug.png"/>
          <p:cNvPicPr>
            <a:picLocks noChangeAspect="1"/>
          </p:cNvPicPr>
          <p:nvPr/>
        </p:nvPicPr>
        <p:blipFill>
          <a:blip r:embed="rId5"/>
          <a:srcRect t="83" b="83"/>
          <a:stretch/>
        </p:blipFill>
        <p:spPr>
          <a:xfrm>
            <a:off x="4996815" y="3085465"/>
            <a:ext cx="384175" cy="298450"/>
          </a:xfrm>
          <a:prstGeom prst="rect">
            <a:avLst/>
          </a:prstGeom>
        </p:spPr>
      </p:pic>
      <p:pic>
        <p:nvPicPr>
          <p:cNvPr id="6" name="Image 3" descr="https://kimi-img.moonshot.cn/pub/slides/slides_tmpl/image/25-09-30-16:32:16-d3dpb40s8jdo4os5dgug.png"/>
          <p:cNvPicPr>
            <a:picLocks noChangeAspect="1"/>
          </p:cNvPicPr>
          <p:nvPr/>
        </p:nvPicPr>
        <p:blipFill>
          <a:blip r:embed="rId5"/>
          <a:srcRect t="83" b="83"/>
          <a:stretch/>
        </p:blipFill>
        <p:spPr>
          <a:xfrm>
            <a:off x="4996815" y="4803775"/>
            <a:ext cx="384175" cy="298450"/>
          </a:xfrm>
          <a:prstGeom prst="rect">
            <a:avLst/>
          </a:prstGeom>
        </p:spPr>
      </p:pic>
      <p:sp>
        <p:nvSpPr>
          <p:cNvPr id="7" name="Text 1"/>
          <p:cNvSpPr/>
          <p:nvPr/>
        </p:nvSpPr>
        <p:spPr>
          <a:xfrm>
            <a:off x="595630" y="575945"/>
            <a:ext cx="843470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启动试点期：搭台子、找需求、验模式</a:t>
            </a:r>
            <a:endParaRPr lang="en-US" sz="1600" dirty="0"/>
          </a:p>
        </p:txBody>
      </p:sp>
      <p:pic>
        <p:nvPicPr>
          <p:cNvPr id="8" name="Image 4" descr="https://kimi-img.moonshot.cn/pub/slides/slides_tmpl/image/25-09-30-16:31:52-d3dpau0s8jdo4os5dgh0.png"/>
          <p:cNvPicPr>
            <a:picLocks noChangeAspect="1"/>
          </p:cNvPicPr>
          <p:nvPr/>
        </p:nvPicPr>
        <p:blipFill>
          <a:blip r:embed="rId6"/>
          <a:srcRect t="110" b="110"/>
          <a:stretch/>
        </p:blipFill>
        <p:spPr>
          <a:xfrm>
            <a:off x="15875" y="550545"/>
            <a:ext cx="579755" cy="652145"/>
          </a:xfrm>
          <a:prstGeom prst="rect">
            <a:avLst/>
          </a:prstGeom>
        </p:spPr>
      </p:pic>
      <p:sp>
        <p:nvSpPr>
          <p:cNvPr id="9" name="Text 2"/>
          <p:cNvSpPr/>
          <p:nvPr/>
        </p:nvSpPr>
        <p:spPr>
          <a:xfrm>
            <a:off x="5342890" y="1403985"/>
            <a:ext cx="6070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组织架构搭建</a:t>
            </a:r>
            <a:endParaRPr lang="en-US" sz="1600" dirty="0"/>
          </a:p>
        </p:txBody>
      </p:sp>
      <p:sp>
        <p:nvSpPr>
          <p:cNvPr id="10" name="Text 3"/>
          <p:cNvSpPr/>
          <p:nvPr/>
        </p:nvSpPr>
        <p:spPr>
          <a:xfrm>
            <a:off x="5342890" y="1720215"/>
            <a:ext cx="6070600" cy="66631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成立流程部AI创新推进小组明确各部门职责，配备专职人员完成组织架构搭建，为后续推进奠定组织基础。</a:t>
            </a:r>
            <a:endParaRPr lang="en-US" sz="1600" dirty="0"/>
          </a:p>
        </p:txBody>
      </p:sp>
      <p:sp>
        <p:nvSpPr>
          <p:cNvPr id="11" name="Text 4"/>
          <p:cNvSpPr/>
          <p:nvPr/>
        </p:nvSpPr>
        <p:spPr>
          <a:xfrm>
            <a:off x="945583" y="4064635"/>
            <a:ext cx="3576818"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FFFFFF"/>
                </a:solidFill>
                <a:latin typeface="MiSans" pitchFamily="34" charset="0"/>
                <a:ea typeface="MiSans" pitchFamily="34" charset="-122"/>
                <a:cs typeface="MiSans" pitchFamily="34" charset="-120"/>
              </a:rPr>
              <a:t>需求收集分类</a:t>
            </a:r>
            <a:endParaRPr lang="en-US" sz="1600" dirty="0"/>
          </a:p>
        </p:txBody>
      </p:sp>
      <p:sp>
        <p:nvSpPr>
          <p:cNvPr id="12" name="Text 5"/>
          <p:cNvSpPr/>
          <p:nvPr/>
        </p:nvSpPr>
        <p:spPr>
          <a:xfrm>
            <a:off x="945583" y="4438015"/>
            <a:ext cx="3576818" cy="953849"/>
          </a:xfrm>
          <a:prstGeom prst="rect">
            <a:avLst/>
          </a:prstGeom>
          <a:noFill/>
          <a:ln/>
        </p:spPr>
        <p:txBody>
          <a:bodyPr wrap="square" lIns="91440" tIns="45720" rIns="91440" bIns="45720" rtlCol="0" anchor="t">
            <a:spAutoFit/>
          </a:bodyPr>
          <a:lstStyle/>
          <a:p>
            <a:pPr algn="just">
              <a:lnSpc>
                <a:spcPct val="130000"/>
              </a:lnSpc>
            </a:pPr>
            <a:r>
              <a:rPr lang="en-US" sz="1400" dirty="0">
                <a:solidFill>
                  <a:srgbClr val="FFFFFF"/>
                </a:solidFill>
                <a:latin typeface="MiSans" pitchFamily="34" charset="0"/>
                <a:ea typeface="MiSans" pitchFamily="34" charset="-122"/>
                <a:cs typeface="MiSans" pitchFamily="34" charset="-120"/>
              </a:rPr>
              <a:t>开展全量需求收集与挖掘完成需求清单编制与三层分类，识别高价值可落地场景建立结构化项目储备池。</a:t>
            </a:r>
            <a:endParaRPr lang="en-US" sz="1600" dirty="0"/>
          </a:p>
        </p:txBody>
      </p:sp>
      <p:sp>
        <p:nvSpPr>
          <p:cNvPr id="13" name="Text 6"/>
          <p:cNvSpPr/>
          <p:nvPr/>
        </p:nvSpPr>
        <p:spPr>
          <a:xfrm>
            <a:off x="5342890" y="3083560"/>
            <a:ext cx="6070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项目评审立项</a:t>
            </a:r>
            <a:endParaRPr lang="en-US" sz="1600" dirty="0"/>
          </a:p>
        </p:txBody>
      </p:sp>
      <p:sp>
        <p:nvSpPr>
          <p:cNvPr id="14" name="Text 7"/>
          <p:cNvSpPr/>
          <p:nvPr/>
        </p:nvSpPr>
        <p:spPr>
          <a:xfrm>
            <a:off x="5342890" y="3388360"/>
            <a:ext cx="6070600" cy="66631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完成优先赋能类与潜力培育类项目方案设计审核，提交业务执委评审立项，确保项目经过严格论证与资源确权。</a:t>
            </a:r>
            <a:endParaRPr lang="en-US" sz="1600" dirty="0"/>
          </a:p>
        </p:txBody>
      </p:sp>
      <p:sp>
        <p:nvSpPr>
          <p:cNvPr id="15" name="Text 8"/>
          <p:cNvSpPr/>
          <p:nvPr/>
        </p:nvSpPr>
        <p:spPr>
          <a:xfrm>
            <a:off x="5342890" y="4785995"/>
            <a:ext cx="607060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轻量化试点验证</a:t>
            </a:r>
            <a:endParaRPr lang="en-US" sz="1600" dirty="0"/>
          </a:p>
        </p:txBody>
      </p:sp>
      <p:sp>
        <p:nvSpPr>
          <p:cNvPr id="16" name="Text 9"/>
          <p:cNvSpPr/>
          <p:nvPr/>
        </p:nvSpPr>
        <p:spPr>
          <a:xfrm>
            <a:off x="5342890" y="5136515"/>
            <a:ext cx="6070600" cy="95384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启动试点优先采用低代码飞书电子表等轻量化方式验证收集数据解决初期问题，建立项目台账需求清单知识库完善分层推进与资源调配机制，为后续阶段积累原始经验与运行数据。</a:t>
            </a:r>
            <a:endParaRPr lang="en-US" sz="1600" dirty="0"/>
          </a:p>
        </p:txBody>
      </p:sp>
    </p:spTree>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name="Slide 23">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5208905" y="2054225"/>
            <a:ext cx="887095" cy="3228975"/>
          </a:xfrm>
          <a:prstGeom prst="rect">
            <a:avLst/>
          </a:prstGeom>
          <a:solidFill>
            <a:srgbClr val="1199FB"/>
          </a:solidFill>
          <a:ln/>
        </p:spPr>
      </p:sp>
      <p:pic>
        <p:nvPicPr>
          <p:cNvPr id="3" name="Image 0" descr="https://kimi-img.moonshot.cn/pub/slides/slides_tmpl/image/25-09-30-16:32:06-d3dpb1gs8jdo4os5dgn0.jpeg"/>
          <p:cNvPicPr>
            <a:picLocks noChangeAspect="1"/>
          </p:cNvPicPr>
          <p:nvPr/>
        </p:nvPicPr>
        <p:blipFill>
          <a:blip r:embed="rId4"/>
          <a:srcRect l="9007" r="9007"/>
          <a:stretch/>
        </p:blipFill>
        <p:spPr>
          <a:xfrm>
            <a:off x="815368" y="1831975"/>
            <a:ext cx="5059680" cy="3669665"/>
          </a:xfrm>
          <a:prstGeom prst="rect">
            <a:avLst/>
          </a:prstGeom>
        </p:spPr>
      </p:pic>
      <p:pic>
        <p:nvPicPr>
          <p:cNvPr id="4" name="Image 1" descr="https://kimi-img.moonshot.cn/pub/slides/slides_tmpl/image/25-09-30-16:31:59-d3dpavos8jdo4os5dgkg.png"/>
          <p:cNvPicPr>
            <a:picLocks noChangeAspect="1"/>
          </p:cNvPicPr>
          <p:nvPr/>
        </p:nvPicPr>
        <p:blipFill>
          <a:blip r:embed="rId5">
            <a:alphaModFix amt="30000"/>
          </a:blip>
          <a:stretch>
            <a:fillRect/>
          </a:stretch>
        </p:blipFill>
        <p:spPr>
          <a:xfrm>
            <a:off x="6752590" y="1725930"/>
            <a:ext cx="30480" cy="6181090"/>
          </a:xfrm>
          <a:prstGeom prst="rect">
            <a:avLst/>
          </a:prstGeom>
        </p:spPr>
      </p:pic>
      <p:sp>
        <p:nvSpPr>
          <p:cNvPr id="5" name="Shape 1"/>
          <p:cNvSpPr/>
          <p:nvPr/>
        </p:nvSpPr>
        <p:spPr>
          <a:xfrm>
            <a:off x="10201275" y="643890"/>
            <a:ext cx="1160145" cy="822960"/>
          </a:xfrm>
          <a:custGeom>
            <a:avLst/>
            <a:gdLst/>
            <a:ahLst/>
            <a:cxnLst/>
            <a:rect l="l" t="t" r="r" b="b"/>
            <a:pathLst>
              <a:path w="1160145" h="822960">
                <a:moveTo>
                  <a:pt x="51650" y="29341"/>
                </a:moveTo>
                <a:cubicBezTo>
                  <a:pt x="51650" y="45609"/>
                  <a:pt x="39866" y="58797"/>
                  <a:pt x="25329" y="58797"/>
                </a:cubicBezTo>
                <a:cubicBezTo>
                  <a:pt x="10793" y="58797"/>
                  <a:pt x="-991" y="45609"/>
                  <a:pt x="-991" y="29341"/>
                </a:cubicBezTo>
                <a:cubicBezTo>
                  <a:pt x="-991" y="13073"/>
                  <a:pt x="10793" y="-115"/>
                  <a:pt x="25329" y="-115"/>
                </a:cubicBezTo>
                <a:cubicBezTo>
                  <a:pt x="39860" y="-123"/>
                  <a:pt x="51642" y="13053"/>
                  <a:pt x="51650" y="29313"/>
                </a:cubicBezTo>
                <a:cubicBezTo>
                  <a:pt x="51650" y="29323"/>
                  <a:pt x="51650" y="29332"/>
                  <a:pt x="51650" y="29341"/>
                </a:cubicBezTo>
                <a:close/>
                <a:moveTo>
                  <a:pt x="273361" y="29341"/>
                </a:moveTo>
                <a:cubicBezTo>
                  <a:pt x="273361" y="45609"/>
                  <a:pt x="261577" y="58797"/>
                  <a:pt x="247041" y="58797"/>
                </a:cubicBezTo>
                <a:cubicBezTo>
                  <a:pt x="232505" y="58797"/>
                  <a:pt x="220720" y="45609"/>
                  <a:pt x="220720" y="29341"/>
                </a:cubicBezTo>
                <a:cubicBezTo>
                  <a:pt x="220720" y="13073"/>
                  <a:pt x="232505" y="-115"/>
                  <a:pt x="247041" y="-115"/>
                </a:cubicBezTo>
                <a:cubicBezTo>
                  <a:pt x="261569" y="-96"/>
                  <a:pt x="273345" y="13081"/>
                  <a:pt x="273361" y="29341"/>
                </a:cubicBezTo>
                <a:close/>
                <a:moveTo>
                  <a:pt x="495012" y="29341"/>
                </a:moveTo>
                <a:cubicBezTo>
                  <a:pt x="495012" y="45609"/>
                  <a:pt x="483227" y="58797"/>
                  <a:pt x="468691" y="58797"/>
                </a:cubicBezTo>
                <a:cubicBezTo>
                  <a:pt x="454155" y="58797"/>
                  <a:pt x="442371" y="45609"/>
                  <a:pt x="442371" y="29341"/>
                </a:cubicBezTo>
                <a:cubicBezTo>
                  <a:pt x="442371" y="13073"/>
                  <a:pt x="454155" y="-115"/>
                  <a:pt x="468691" y="-115"/>
                </a:cubicBezTo>
                <a:cubicBezTo>
                  <a:pt x="483220" y="-123"/>
                  <a:pt x="495003" y="13053"/>
                  <a:pt x="495012" y="29313"/>
                </a:cubicBezTo>
                <a:cubicBezTo>
                  <a:pt x="495012" y="29323"/>
                  <a:pt x="495012" y="29332"/>
                  <a:pt x="495012" y="29341"/>
                </a:cubicBezTo>
                <a:close/>
                <a:moveTo>
                  <a:pt x="716723" y="29341"/>
                </a:moveTo>
                <a:cubicBezTo>
                  <a:pt x="716723" y="45609"/>
                  <a:pt x="704939" y="58797"/>
                  <a:pt x="690403" y="58797"/>
                </a:cubicBezTo>
                <a:cubicBezTo>
                  <a:pt x="675866" y="58797"/>
                  <a:pt x="664082" y="45609"/>
                  <a:pt x="664082" y="29341"/>
                </a:cubicBezTo>
                <a:cubicBezTo>
                  <a:pt x="664082" y="13073"/>
                  <a:pt x="675866" y="-115"/>
                  <a:pt x="690403" y="-115"/>
                </a:cubicBezTo>
                <a:cubicBezTo>
                  <a:pt x="704933" y="-123"/>
                  <a:pt x="716715" y="13053"/>
                  <a:pt x="716723" y="29313"/>
                </a:cubicBezTo>
                <a:cubicBezTo>
                  <a:pt x="716723" y="29323"/>
                  <a:pt x="716723" y="29332"/>
                  <a:pt x="716723" y="29341"/>
                </a:cubicBezTo>
                <a:close/>
                <a:moveTo>
                  <a:pt x="938435" y="29341"/>
                </a:moveTo>
                <a:cubicBezTo>
                  <a:pt x="938435" y="45609"/>
                  <a:pt x="926651" y="58797"/>
                  <a:pt x="912114" y="58797"/>
                </a:cubicBezTo>
                <a:cubicBezTo>
                  <a:pt x="897579" y="58797"/>
                  <a:pt x="885794" y="45609"/>
                  <a:pt x="885794" y="29341"/>
                </a:cubicBezTo>
                <a:cubicBezTo>
                  <a:pt x="885794" y="13073"/>
                  <a:pt x="897579" y="-115"/>
                  <a:pt x="912114" y="-115"/>
                </a:cubicBezTo>
                <a:cubicBezTo>
                  <a:pt x="926644" y="-123"/>
                  <a:pt x="938427" y="13053"/>
                  <a:pt x="938435" y="29313"/>
                </a:cubicBezTo>
                <a:cubicBezTo>
                  <a:pt x="938435" y="29323"/>
                  <a:pt x="938435" y="29332"/>
                  <a:pt x="938435" y="29341"/>
                </a:cubicBezTo>
                <a:close/>
                <a:moveTo>
                  <a:pt x="1160145" y="29341"/>
                </a:moveTo>
                <a:cubicBezTo>
                  <a:pt x="1160145" y="45609"/>
                  <a:pt x="1148361" y="58797"/>
                  <a:pt x="1133824" y="58797"/>
                </a:cubicBezTo>
                <a:cubicBezTo>
                  <a:pt x="1119288" y="58797"/>
                  <a:pt x="1107504" y="45609"/>
                  <a:pt x="1107504" y="29341"/>
                </a:cubicBezTo>
                <a:cubicBezTo>
                  <a:pt x="1107504" y="13073"/>
                  <a:pt x="1119288" y="-115"/>
                  <a:pt x="1133824" y="-115"/>
                </a:cubicBezTo>
                <a:cubicBezTo>
                  <a:pt x="1148353" y="-96"/>
                  <a:pt x="1160129" y="13081"/>
                  <a:pt x="1160145" y="29341"/>
                </a:cubicBezTo>
                <a:close/>
                <a:moveTo>
                  <a:pt x="51650" y="220382"/>
                </a:moveTo>
                <a:cubicBezTo>
                  <a:pt x="51650" y="236650"/>
                  <a:pt x="39866" y="249838"/>
                  <a:pt x="25329" y="249838"/>
                </a:cubicBezTo>
                <a:cubicBezTo>
                  <a:pt x="10793" y="249838"/>
                  <a:pt x="-991" y="236650"/>
                  <a:pt x="-991" y="220382"/>
                </a:cubicBezTo>
                <a:cubicBezTo>
                  <a:pt x="-991" y="204114"/>
                  <a:pt x="10793" y="190926"/>
                  <a:pt x="25329" y="190926"/>
                </a:cubicBezTo>
                <a:cubicBezTo>
                  <a:pt x="39860" y="190918"/>
                  <a:pt x="51642" y="204094"/>
                  <a:pt x="51650" y="220354"/>
                </a:cubicBezTo>
                <a:cubicBezTo>
                  <a:pt x="51650" y="220364"/>
                  <a:pt x="51650" y="220373"/>
                  <a:pt x="51650" y="220382"/>
                </a:cubicBezTo>
                <a:close/>
                <a:moveTo>
                  <a:pt x="273361" y="220382"/>
                </a:moveTo>
                <a:cubicBezTo>
                  <a:pt x="273361" y="236650"/>
                  <a:pt x="261577" y="249838"/>
                  <a:pt x="247041" y="249838"/>
                </a:cubicBezTo>
                <a:cubicBezTo>
                  <a:pt x="232505" y="249838"/>
                  <a:pt x="220720" y="236650"/>
                  <a:pt x="220720" y="220382"/>
                </a:cubicBezTo>
                <a:cubicBezTo>
                  <a:pt x="220720" y="204114"/>
                  <a:pt x="232505" y="190926"/>
                  <a:pt x="247041" y="190926"/>
                </a:cubicBezTo>
                <a:cubicBezTo>
                  <a:pt x="261569" y="190945"/>
                  <a:pt x="273345" y="204122"/>
                  <a:pt x="273361" y="220382"/>
                </a:cubicBezTo>
                <a:close/>
                <a:moveTo>
                  <a:pt x="495012" y="220382"/>
                </a:moveTo>
                <a:cubicBezTo>
                  <a:pt x="495012" y="236650"/>
                  <a:pt x="483227" y="249838"/>
                  <a:pt x="468691" y="249838"/>
                </a:cubicBezTo>
                <a:cubicBezTo>
                  <a:pt x="454155" y="249838"/>
                  <a:pt x="442371" y="236650"/>
                  <a:pt x="442371" y="220382"/>
                </a:cubicBezTo>
                <a:cubicBezTo>
                  <a:pt x="442371" y="204114"/>
                  <a:pt x="454155" y="190926"/>
                  <a:pt x="468691" y="190926"/>
                </a:cubicBezTo>
                <a:cubicBezTo>
                  <a:pt x="483220" y="190918"/>
                  <a:pt x="495003" y="204094"/>
                  <a:pt x="495012" y="220354"/>
                </a:cubicBezTo>
                <a:cubicBezTo>
                  <a:pt x="495012" y="220364"/>
                  <a:pt x="495012" y="220373"/>
                  <a:pt x="495012" y="220382"/>
                </a:cubicBezTo>
                <a:close/>
                <a:moveTo>
                  <a:pt x="716723" y="220382"/>
                </a:moveTo>
                <a:cubicBezTo>
                  <a:pt x="716723" y="236650"/>
                  <a:pt x="704939" y="249838"/>
                  <a:pt x="690403" y="249838"/>
                </a:cubicBezTo>
                <a:cubicBezTo>
                  <a:pt x="675866" y="249838"/>
                  <a:pt x="664082" y="236650"/>
                  <a:pt x="664082" y="220382"/>
                </a:cubicBezTo>
                <a:cubicBezTo>
                  <a:pt x="664082" y="204114"/>
                  <a:pt x="675866" y="190926"/>
                  <a:pt x="690403" y="190926"/>
                </a:cubicBezTo>
                <a:cubicBezTo>
                  <a:pt x="704933" y="190918"/>
                  <a:pt x="716715" y="204094"/>
                  <a:pt x="716723" y="220354"/>
                </a:cubicBezTo>
                <a:cubicBezTo>
                  <a:pt x="716723" y="220364"/>
                  <a:pt x="716723" y="220373"/>
                  <a:pt x="716723" y="220382"/>
                </a:cubicBezTo>
                <a:close/>
                <a:moveTo>
                  <a:pt x="938435" y="220382"/>
                </a:moveTo>
                <a:cubicBezTo>
                  <a:pt x="938435" y="236650"/>
                  <a:pt x="926651" y="249838"/>
                  <a:pt x="912114" y="249838"/>
                </a:cubicBezTo>
                <a:cubicBezTo>
                  <a:pt x="897579" y="249838"/>
                  <a:pt x="885794" y="236650"/>
                  <a:pt x="885794" y="220382"/>
                </a:cubicBezTo>
                <a:cubicBezTo>
                  <a:pt x="885794" y="204114"/>
                  <a:pt x="897579" y="190926"/>
                  <a:pt x="912114" y="190926"/>
                </a:cubicBezTo>
                <a:cubicBezTo>
                  <a:pt x="926644" y="190918"/>
                  <a:pt x="938427" y="204094"/>
                  <a:pt x="938435" y="220354"/>
                </a:cubicBezTo>
                <a:cubicBezTo>
                  <a:pt x="938435" y="220364"/>
                  <a:pt x="938435" y="220373"/>
                  <a:pt x="938435" y="220382"/>
                </a:cubicBezTo>
                <a:close/>
                <a:moveTo>
                  <a:pt x="1160145" y="220382"/>
                </a:moveTo>
                <a:cubicBezTo>
                  <a:pt x="1160145" y="236650"/>
                  <a:pt x="1148361" y="249838"/>
                  <a:pt x="1133824" y="249838"/>
                </a:cubicBezTo>
                <a:cubicBezTo>
                  <a:pt x="1119288" y="249838"/>
                  <a:pt x="1107504" y="236650"/>
                  <a:pt x="1107504" y="220382"/>
                </a:cubicBezTo>
                <a:cubicBezTo>
                  <a:pt x="1107504" y="204114"/>
                  <a:pt x="1119288" y="190926"/>
                  <a:pt x="1133824" y="190926"/>
                </a:cubicBezTo>
                <a:cubicBezTo>
                  <a:pt x="1148353" y="190945"/>
                  <a:pt x="1160129" y="204122"/>
                  <a:pt x="1160145" y="220382"/>
                </a:cubicBezTo>
                <a:close/>
                <a:moveTo>
                  <a:pt x="51650" y="411423"/>
                </a:moveTo>
                <a:cubicBezTo>
                  <a:pt x="51650" y="427691"/>
                  <a:pt x="39866" y="440878"/>
                  <a:pt x="25329" y="440878"/>
                </a:cubicBezTo>
                <a:cubicBezTo>
                  <a:pt x="10793" y="440878"/>
                  <a:pt x="-991" y="427691"/>
                  <a:pt x="-991" y="411423"/>
                </a:cubicBezTo>
                <a:cubicBezTo>
                  <a:pt x="-991" y="395154"/>
                  <a:pt x="10793" y="381967"/>
                  <a:pt x="25329" y="381967"/>
                </a:cubicBezTo>
                <a:cubicBezTo>
                  <a:pt x="39860" y="381959"/>
                  <a:pt x="51642" y="395134"/>
                  <a:pt x="51650" y="411394"/>
                </a:cubicBezTo>
                <a:cubicBezTo>
                  <a:pt x="51650" y="411403"/>
                  <a:pt x="51650" y="411413"/>
                  <a:pt x="51650" y="411423"/>
                </a:cubicBezTo>
                <a:close/>
                <a:moveTo>
                  <a:pt x="273361" y="411423"/>
                </a:moveTo>
                <a:cubicBezTo>
                  <a:pt x="273361" y="427691"/>
                  <a:pt x="261577" y="440878"/>
                  <a:pt x="247041" y="440878"/>
                </a:cubicBezTo>
                <a:cubicBezTo>
                  <a:pt x="232505" y="440878"/>
                  <a:pt x="220720" y="427691"/>
                  <a:pt x="220720" y="411423"/>
                </a:cubicBezTo>
                <a:cubicBezTo>
                  <a:pt x="220720" y="395154"/>
                  <a:pt x="232505" y="381967"/>
                  <a:pt x="247041" y="381967"/>
                </a:cubicBezTo>
                <a:cubicBezTo>
                  <a:pt x="261569" y="381986"/>
                  <a:pt x="273345" y="395162"/>
                  <a:pt x="273361" y="411423"/>
                </a:cubicBezTo>
                <a:close/>
                <a:moveTo>
                  <a:pt x="495012" y="411423"/>
                </a:moveTo>
                <a:cubicBezTo>
                  <a:pt x="495012" y="427691"/>
                  <a:pt x="483227" y="440878"/>
                  <a:pt x="468691" y="440878"/>
                </a:cubicBezTo>
                <a:cubicBezTo>
                  <a:pt x="454155" y="440878"/>
                  <a:pt x="442371" y="427691"/>
                  <a:pt x="442371" y="411423"/>
                </a:cubicBezTo>
                <a:cubicBezTo>
                  <a:pt x="442371" y="395154"/>
                  <a:pt x="454155" y="381967"/>
                  <a:pt x="468691" y="381967"/>
                </a:cubicBezTo>
                <a:cubicBezTo>
                  <a:pt x="483220" y="381959"/>
                  <a:pt x="495003" y="395134"/>
                  <a:pt x="495012" y="411394"/>
                </a:cubicBezTo>
                <a:cubicBezTo>
                  <a:pt x="495012" y="411403"/>
                  <a:pt x="495012" y="411413"/>
                  <a:pt x="495012" y="411423"/>
                </a:cubicBezTo>
                <a:close/>
                <a:moveTo>
                  <a:pt x="716723" y="411423"/>
                </a:moveTo>
                <a:cubicBezTo>
                  <a:pt x="716723" y="427691"/>
                  <a:pt x="704939" y="440878"/>
                  <a:pt x="690403" y="440878"/>
                </a:cubicBezTo>
                <a:cubicBezTo>
                  <a:pt x="675866" y="440878"/>
                  <a:pt x="664082" y="427691"/>
                  <a:pt x="664082" y="411423"/>
                </a:cubicBezTo>
                <a:cubicBezTo>
                  <a:pt x="664082" y="395154"/>
                  <a:pt x="675866" y="381967"/>
                  <a:pt x="690403" y="381967"/>
                </a:cubicBezTo>
                <a:cubicBezTo>
                  <a:pt x="704933" y="381959"/>
                  <a:pt x="716715" y="395134"/>
                  <a:pt x="716723" y="411394"/>
                </a:cubicBezTo>
                <a:cubicBezTo>
                  <a:pt x="716723" y="411403"/>
                  <a:pt x="716723" y="411413"/>
                  <a:pt x="716723" y="411423"/>
                </a:cubicBezTo>
                <a:close/>
                <a:moveTo>
                  <a:pt x="938435" y="411423"/>
                </a:moveTo>
                <a:cubicBezTo>
                  <a:pt x="938435" y="427691"/>
                  <a:pt x="926651" y="440878"/>
                  <a:pt x="912114" y="440878"/>
                </a:cubicBezTo>
                <a:cubicBezTo>
                  <a:pt x="897579" y="440878"/>
                  <a:pt x="885794" y="427691"/>
                  <a:pt x="885794" y="411423"/>
                </a:cubicBezTo>
                <a:cubicBezTo>
                  <a:pt x="885794" y="395154"/>
                  <a:pt x="897579" y="381967"/>
                  <a:pt x="912114" y="381967"/>
                </a:cubicBezTo>
                <a:cubicBezTo>
                  <a:pt x="926644" y="381959"/>
                  <a:pt x="938427" y="395134"/>
                  <a:pt x="938435" y="411394"/>
                </a:cubicBezTo>
                <a:cubicBezTo>
                  <a:pt x="938435" y="411403"/>
                  <a:pt x="938435" y="411413"/>
                  <a:pt x="938435" y="411423"/>
                </a:cubicBezTo>
                <a:close/>
                <a:moveTo>
                  <a:pt x="1160145" y="411423"/>
                </a:moveTo>
                <a:cubicBezTo>
                  <a:pt x="1160145" y="427691"/>
                  <a:pt x="1148361" y="440878"/>
                  <a:pt x="1133824" y="440878"/>
                </a:cubicBezTo>
                <a:cubicBezTo>
                  <a:pt x="1119288" y="440878"/>
                  <a:pt x="1107504" y="427691"/>
                  <a:pt x="1107504" y="411423"/>
                </a:cubicBezTo>
                <a:cubicBezTo>
                  <a:pt x="1107504" y="395154"/>
                  <a:pt x="1119288" y="381967"/>
                  <a:pt x="1133824" y="381967"/>
                </a:cubicBezTo>
                <a:cubicBezTo>
                  <a:pt x="1148353" y="381986"/>
                  <a:pt x="1160129" y="395162"/>
                  <a:pt x="1160145" y="411423"/>
                </a:cubicBezTo>
                <a:close/>
                <a:moveTo>
                  <a:pt x="51650" y="602463"/>
                </a:moveTo>
                <a:cubicBezTo>
                  <a:pt x="51650" y="618731"/>
                  <a:pt x="39866" y="631919"/>
                  <a:pt x="25329" y="631919"/>
                </a:cubicBezTo>
                <a:cubicBezTo>
                  <a:pt x="10793" y="631919"/>
                  <a:pt x="-991" y="618731"/>
                  <a:pt x="-991" y="602463"/>
                </a:cubicBezTo>
                <a:cubicBezTo>
                  <a:pt x="-991" y="586195"/>
                  <a:pt x="10793" y="573007"/>
                  <a:pt x="25329" y="573007"/>
                </a:cubicBezTo>
                <a:cubicBezTo>
                  <a:pt x="39860" y="572999"/>
                  <a:pt x="51642" y="586175"/>
                  <a:pt x="51650" y="602435"/>
                </a:cubicBezTo>
                <a:cubicBezTo>
                  <a:pt x="51650" y="602445"/>
                  <a:pt x="51650" y="602454"/>
                  <a:pt x="51650" y="602463"/>
                </a:cubicBezTo>
                <a:close/>
                <a:moveTo>
                  <a:pt x="273361" y="602463"/>
                </a:moveTo>
                <a:cubicBezTo>
                  <a:pt x="273361" y="618731"/>
                  <a:pt x="261577" y="631919"/>
                  <a:pt x="247041" y="631919"/>
                </a:cubicBezTo>
                <a:cubicBezTo>
                  <a:pt x="232505" y="631919"/>
                  <a:pt x="220720" y="618731"/>
                  <a:pt x="220720" y="602463"/>
                </a:cubicBezTo>
                <a:cubicBezTo>
                  <a:pt x="220720" y="586195"/>
                  <a:pt x="232505" y="573007"/>
                  <a:pt x="247041" y="573007"/>
                </a:cubicBezTo>
                <a:cubicBezTo>
                  <a:pt x="261569" y="573027"/>
                  <a:pt x="273345" y="586203"/>
                  <a:pt x="273361" y="602463"/>
                </a:cubicBezTo>
                <a:close/>
                <a:moveTo>
                  <a:pt x="495012" y="602463"/>
                </a:moveTo>
                <a:cubicBezTo>
                  <a:pt x="495012" y="618731"/>
                  <a:pt x="483227" y="631919"/>
                  <a:pt x="468691" y="631919"/>
                </a:cubicBezTo>
                <a:cubicBezTo>
                  <a:pt x="454155" y="631919"/>
                  <a:pt x="442371" y="618731"/>
                  <a:pt x="442371" y="602463"/>
                </a:cubicBezTo>
                <a:cubicBezTo>
                  <a:pt x="442371" y="586195"/>
                  <a:pt x="454155" y="573007"/>
                  <a:pt x="468691" y="573007"/>
                </a:cubicBezTo>
                <a:cubicBezTo>
                  <a:pt x="483220" y="572999"/>
                  <a:pt x="495003" y="586175"/>
                  <a:pt x="495012" y="602435"/>
                </a:cubicBezTo>
                <a:cubicBezTo>
                  <a:pt x="495012" y="602445"/>
                  <a:pt x="495012" y="602454"/>
                  <a:pt x="495012" y="602463"/>
                </a:cubicBezTo>
                <a:close/>
                <a:moveTo>
                  <a:pt x="716723" y="602463"/>
                </a:moveTo>
                <a:cubicBezTo>
                  <a:pt x="716723" y="618731"/>
                  <a:pt x="704939" y="631919"/>
                  <a:pt x="690403" y="631919"/>
                </a:cubicBezTo>
                <a:cubicBezTo>
                  <a:pt x="675866" y="631919"/>
                  <a:pt x="664082" y="618731"/>
                  <a:pt x="664082" y="602463"/>
                </a:cubicBezTo>
                <a:cubicBezTo>
                  <a:pt x="664082" y="586195"/>
                  <a:pt x="675866" y="573007"/>
                  <a:pt x="690403" y="573007"/>
                </a:cubicBezTo>
                <a:cubicBezTo>
                  <a:pt x="704933" y="572999"/>
                  <a:pt x="716715" y="586175"/>
                  <a:pt x="716723" y="602435"/>
                </a:cubicBezTo>
                <a:cubicBezTo>
                  <a:pt x="716723" y="602445"/>
                  <a:pt x="716723" y="602454"/>
                  <a:pt x="716723" y="602463"/>
                </a:cubicBezTo>
                <a:close/>
                <a:moveTo>
                  <a:pt x="938435" y="602463"/>
                </a:moveTo>
                <a:cubicBezTo>
                  <a:pt x="938435" y="618731"/>
                  <a:pt x="926651" y="631919"/>
                  <a:pt x="912114" y="631919"/>
                </a:cubicBezTo>
                <a:cubicBezTo>
                  <a:pt x="897579" y="631919"/>
                  <a:pt x="885794" y="618731"/>
                  <a:pt x="885794" y="602463"/>
                </a:cubicBezTo>
                <a:cubicBezTo>
                  <a:pt x="885794" y="586195"/>
                  <a:pt x="897579" y="573007"/>
                  <a:pt x="912114" y="573007"/>
                </a:cubicBezTo>
                <a:cubicBezTo>
                  <a:pt x="926644" y="572999"/>
                  <a:pt x="938427" y="586175"/>
                  <a:pt x="938435" y="602435"/>
                </a:cubicBezTo>
                <a:cubicBezTo>
                  <a:pt x="938435" y="602445"/>
                  <a:pt x="938435" y="602454"/>
                  <a:pt x="938435" y="602463"/>
                </a:cubicBezTo>
                <a:close/>
                <a:moveTo>
                  <a:pt x="1160145" y="602463"/>
                </a:moveTo>
                <a:cubicBezTo>
                  <a:pt x="1160145" y="618731"/>
                  <a:pt x="1148361" y="631919"/>
                  <a:pt x="1133824" y="631919"/>
                </a:cubicBezTo>
                <a:cubicBezTo>
                  <a:pt x="1119288" y="631919"/>
                  <a:pt x="1107504" y="618731"/>
                  <a:pt x="1107504" y="602463"/>
                </a:cubicBezTo>
                <a:cubicBezTo>
                  <a:pt x="1107504" y="586195"/>
                  <a:pt x="1119288" y="573007"/>
                  <a:pt x="1133824" y="573007"/>
                </a:cubicBezTo>
                <a:cubicBezTo>
                  <a:pt x="1148353" y="573027"/>
                  <a:pt x="1160129" y="586203"/>
                  <a:pt x="1160145" y="602463"/>
                </a:cubicBezTo>
                <a:close/>
                <a:moveTo>
                  <a:pt x="51650" y="793504"/>
                </a:moveTo>
                <a:cubicBezTo>
                  <a:pt x="51650" y="809772"/>
                  <a:pt x="39866" y="822960"/>
                  <a:pt x="25329" y="822960"/>
                </a:cubicBezTo>
                <a:cubicBezTo>
                  <a:pt x="10793" y="822960"/>
                  <a:pt x="-991" y="809772"/>
                  <a:pt x="-991" y="793504"/>
                </a:cubicBezTo>
                <a:cubicBezTo>
                  <a:pt x="-991" y="777236"/>
                  <a:pt x="10793" y="764048"/>
                  <a:pt x="25329" y="764048"/>
                </a:cubicBezTo>
                <a:cubicBezTo>
                  <a:pt x="39860" y="764040"/>
                  <a:pt x="51642" y="777215"/>
                  <a:pt x="51650" y="793476"/>
                </a:cubicBezTo>
                <a:cubicBezTo>
                  <a:pt x="51650" y="793485"/>
                  <a:pt x="51650" y="793494"/>
                  <a:pt x="51650" y="793504"/>
                </a:cubicBezTo>
                <a:close/>
                <a:moveTo>
                  <a:pt x="273361" y="793504"/>
                </a:moveTo>
                <a:cubicBezTo>
                  <a:pt x="273361" y="809772"/>
                  <a:pt x="261577" y="822960"/>
                  <a:pt x="247041" y="822960"/>
                </a:cubicBezTo>
                <a:cubicBezTo>
                  <a:pt x="232505" y="822960"/>
                  <a:pt x="220720" y="809772"/>
                  <a:pt x="220720" y="793504"/>
                </a:cubicBezTo>
                <a:cubicBezTo>
                  <a:pt x="220720" y="777236"/>
                  <a:pt x="232505" y="764048"/>
                  <a:pt x="247041" y="764048"/>
                </a:cubicBezTo>
                <a:cubicBezTo>
                  <a:pt x="261569" y="764066"/>
                  <a:pt x="273345" y="777244"/>
                  <a:pt x="273361" y="793504"/>
                </a:cubicBezTo>
                <a:close/>
                <a:moveTo>
                  <a:pt x="495012" y="793504"/>
                </a:moveTo>
                <a:cubicBezTo>
                  <a:pt x="495012" y="809772"/>
                  <a:pt x="483227" y="822960"/>
                  <a:pt x="468691" y="822960"/>
                </a:cubicBezTo>
                <a:cubicBezTo>
                  <a:pt x="454155" y="822960"/>
                  <a:pt x="442371" y="809772"/>
                  <a:pt x="442371" y="793504"/>
                </a:cubicBezTo>
                <a:cubicBezTo>
                  <a:pt x="442371" y="777236"/>
                  <a:pt x="454155" y="764048"/>
                  <a:pt x="468691" y="764048"/>
                </a:cubicBezTo>
                <a:cubicBezTo>
                  <a:pt x="483220" y="764040"/>
                  <a:pt x="495003" y="777215"/>
                  <a:pt x="495012" y="793476"/>
                </a:cubicBezTo>
                <a:cubicBezTo>
                  <a:pt x="495012" y="793485"/>
                  <a:pt x="495012" y="793494"/>
                  <a:pt x="495012" y="793504"/>
                </a:cubicBezTo>
                <a:close/>
                <a:moveTo>
                  <a:pt x="716723" y="793504"/>
                </a:moveTo>
                <a:cubicBezTo>
                  <a:pt x="716723" y="809772"/>
                  <a:pt x="704939" y="822960"/>
                  <a:pt x="690403" y="822960"/>
                </a:cubicBezTo>
                <a:cubicBezTo>
                  <a:pt x="675866" y="822960"/>
                  <a:pt x="664082" y="809772"/>
                  <a:pt x="664082" y="793504"/>
                </a:cubicBezTo>
                <a:cubicBezTo>
                  <a:pt x="664082" y="777236"/>
                  <a:pt x="675866" y="764048"/>
                  <a:pt x="690403" y="764048"/>
                </a:cubicBezTo>
                <a:cubicBezTo>
                  <a:pt x="704933" y="764040"/>
                  <a:pt x="716715" y="777215"/>
                  <a:pt x="716723" y="793476"/>
                </a:cubicBezTo>
                <a:cubicBezTo>
                  <a:pt x="716723" y="793485"/>
                  <a:pt x="716723" y="793494"/>
                  <a:pt x="716723" y="793504"/>
                </a:cubicBezTo>
                <a:close/>
                <a:moveTo>
                  <a:pt x="938435" y="793504"/>
                </a:moveTo>
                <a:cubicBezTo>
                  <a:pt x="938435" y="809772"/>
                  <a:pt x="926651" y="822960"/>
                  <a:pt x="912114" y="822960"/>
                </a:cubicBezTo>
                <a:cubicBezTo>
                  <a:pt x="897579" y="822960"/>
                  <a:pt x="885794" y="809772"/>
                  <a:pt x="885794" y="793504"/>
                </a:cubicBezTo>
                <a:cubicBezTo>
                  <a:pt x="885794" y="777236"/>
                  <a:pt x="897579" y="764048"/>
                  <a:pt x="912114" y="764048"/>
                </a:cubicBezTo>
                <a:cubicBezTo>
                  <a:pt x="926644" y="764040"/>
                  <a:pt x="938427" y="777215"/>
                  <a:pt x="938435" y="793476"/>
                </a:cubicBezTo>
                <a:cubicBezTo>
                  <a:pt x="938435" y="793485"/>
                  <a:pt x="938435" y="793494"/>
                  <a:pt x="938435" y="793504"/>
                </a:cubicBezTo>
                <a:close/>
                <a:moveTo>
                  <a:pt x="1160145" y="793504"/>
                </a:moveTo>
                <a:cubicBezTo>
                  <a:pt x="1160145" y="809772"/>
                  <a:pt x="1148361" y="822960"/>
                  <a:pt x="1133824" y="822960"/>
                </a:cubicBezTo>
                <a:cubicBezTo>
                  <a:pt x="1119288" y="822960"/>
                  <a:pt x="1107504" y="809772"/>
                  <a:pt x="1107504" y="793504"/>
                </a:cubicBezTo>
                <a:cubicBezTo>
                  <a:pt x="1107504" y="777236"/>
                  <a:pt x="1119288" y="764048"/>
                  <a:pt x="1133824" y="764048"/>
                </a:cubicBezTo>
                <a:cubicBezTo>
                  <a:pt x="1148353" y="764066"/>
                  <a:pt x="1160129" y="777244"/>
                  <a:pt x="1160145" y="793504"/>
                </a:cubicBezTo>
                <a:close/>
              </a:path>
            </a:pathLst>
          </a:custGeom>
          <a:solidFill>
            <a:srgbClr val="9595FF"/>
          </a:solidFill>
          <a:ln/>
        </p:spPr>
      </p:sp>
      <p:sp>
        <p:nvSpPr>
          <p:cNvPr id="6" name="Text 2"/>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优化推广期：评效果、扩覆盖、夯基础</a:t>
            </a:r>
            <a:endParaRPr lang="en-US" sz="1600" dirty="0"/>
          </a:p>
        </p:txBody>
      </p:sp>
      <p:pic>
        <p:nvPicPr>
          <p:cNvPr id="7" name="Image 2" descr="https://kimi-img.moonshot.cn/pub/slides/slides_tmpl/image/25-09-30-16:31:52-d3dpau0s8jdo4os5dgh0.png"/>
          <p:cNvPicPr>
            <a:picLocks noChangeAspect="1"/>
          </p:cNvPicPr>
          <p:nvPr/>
        </p:nvPicPr>
        <p:blipFill>
          <a:blip r:embed="rId6"/>
          <a:srcRect t="110" b="110"/>
          <a:stretch/>
        </p:blipFill>
        <p:spPr>
          <a:xfrm>
            <a:off x="2540" y="550545"/>
            <a:ext cx="579755" cy="652145"/>
          </a:xfrm>
          <a:prstGeom prst="rect">
            <a:avLst/>
          </a:prstGeom>
        </p:spPr>
      </p:pic>
      <p:sp>
        <p:nvSpPr>
          <p:cNvPr id="8" name="Text 3"/>
          <p:cNvSpPr/>
          <p:nvPr/>
        </p:nvSpPr>
        <p:spPr>
          <a:xfrm>
            <a:off x="6783070" y="1569759"/>
            <a:ext cx="3916680" cy="524431"/>
          </a:xfrm>
          <a:prstGeom prst="rect">
            <a:avLst/>
          </a:prstGeom>
          <a:noFill/>
          <a:ln/>
        </p:spPr>
        <p:txBody>
          <a:bodyPr wrap="square" lIns="91440" tIns="45720" rIns="91440" bIns="45720" rtlCol="0" anchor="t">
            <a:spAutoFit/>
          </a:bodyPr>
          <a:lstStyle/>
          <a:p>
            <a:pPr algn="just">
              <a:lnSpc>
                <a:spcPct val="100000"/>
              </a:lnSpc>
            </a:pPr>
            <a:r>
              <a:rPr lang="en-US" sz="2800" b="1" dirty="0">
                <a:solidFill>
                  <a:srgbClr val="000000"/>
                </a:solidFill>
                <a:latin typeface="MiSans" pitchFamily="34" charset="0"/>
                <a:ea typeface="MiSans" pitchFamily="34" charset="-122"/>
                <a:cs typeface="MiSans" pitchFamily="34" charset="-120"/>
              </a:rPr>
              <a:t>全面优化与推广攻坚</a:t>
            </a:r>
            <a:endParaRPr lang="en-US" sz="1600" dirty="0"/>
          </a:p>
        </p:txBody>
      </p:sp>
      <p:sp>
        <p:nvSpPr>
          <p:cNvPr id="9" name="Text 4"/>
          <p:cNvSpPr/>
          <p:nvPr/>
        </p:nvSpPr>
        <p:spPr>
          <a:xfrm>
            <a:off x="6973542" y="2094190"/>
            <a:ext cx="4614894" cy="3693319"/>
          </a:xfrm>
          <a:prstGeom prst="rect">
            <a:avLst/>
          </a:prstGeom>
          <a:noFill/>
          <a:ln/>
        </p:spPr>
        <p:txBody>
          <a:bodyPr wrap="square" lIns="91440" tIns="45720" rIns="91440" bIns="45720" rtlCol="0" anchor="t">
            <a:spAutoFit/>
          </a:bodyPr>
          <a:lstStyle/>
          <a:p>
            <a:pPr algn="just">
              <a:lnSpc>
                <a:spcPct val="130000"/>
              </a:lnSpc>
            </a:pPr>
            <a:r>
              <a:rPr lang="en-US" sz="1800" b="1" dirty="0">
                <a:solidFill>
                  <a:srgbClr val="404040"/>
                </a:solidFill>
                <a:latin typeface="MiSans" pitchFamily="34" charset="0"/>
                <a:ea typeface="MiSans" pitchFamily="34" charset="-122"/>
                <a:cs typeface="MiSans" pitchFamily="34" charset="-120"/>
              </a:rPr>
              <a:t>完成试点项目效果评价出具报告优化改进方案终止无价值项目，推动通过评价的优先赋能类项目规模化推广覆盖相关业务单元沉淀最佳实践；推进潜力培育类项目优化完善数据补充部分升级为正规AI落地模式扩大试点范围，启动公司级主数据梳理搭建简易数据汇总平台完善数据基础，同步完善激励机制与培训机制开展首次AI创新培训提升全员认知与操作能力，实现从试点验证到规模推广的跨越，为规模化发展创造条件。</a:t>
            </a:r>
            <a:endParaRPr lang="en-US" sz="1600" dirty="0"/>
          </a:p>
        </p:txBody>
      </p:sp>
    </p:spTree>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name="Slide 24">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031240" y="1827530"/>
            <a:ext cx="19050" cy="4343400"/>
          </a:xfrm>
          <a:prstGeom prst="line">
            <a:avLst/>
          </a:prstGeom>
          <a:noFill/>
          <a:ln w="12700">
            <a:solidFill>
              <a:srgbClr val="404040"/>
            </a:solidFill>
            <a:prstDash val="dash"/>
            <a:headEnd type="none"/>
            <a:tailEnd type="none"/>
          </a:ln>
        </p:spPr>
      </p:sp>
      <p:pic>
        <p:nvPicPr>
          <p:cNvPr id="3" name="Image 0" descr="https://kimi-img.moonshot.cn/pub/slides/slides_tmpl/image/25-09-30-16:32:11-d3dpb2os8jdo4os5dgq0.jpeg"/>
          <p:cNvPicPr>
            <a:picLocks noChangeAspect="1"/>
          </p:cNvPicPr>
          <p:nvPr/>
        </p:nvPicPr>
        <p:blipFill>
          <a:blip r:embed="rId4"/>
          <a:srcRect l="29764" r="29764"/>
          <a:stretch/>
        </p:blipFill>
        <p:spPr>
          <a:xfrm>
            <a:off x="7637145" y="1202690"/>
            <a:ext cx="4554855" cy="5655310"/>
          </a:xfrm>
          <a:prstGeom prst="rect">
            <a:avLst/>
          </a:prstGeom>
        </p:spPr>
      </p:pic>
      <p:sp>
        <p:nvSpPr>
          <p:cNvPr id="4" name="Shape 1"/>
          <p:cNvSpPr/>
          <p:nvPr/>
        </p:nvSpPr>
        <p:spPr>
          <a:xfrm>
            <a:off x="897890" y="1560830"/>
            <a:ext cx="266700" cy="266700"/>
          </a:xfrm>
          <a:prstGeom prst="ellipse">
            <a:avLst/>
          </a:prstGeom>
          <a:solidFill>
            <a:srgbClr val="1199FB"/>
          </a:solidFill>
          <a:ln/>
        </p:spPr>
      </p:sp>
      <p:sp>
        <p:nvSpPr>
          <p:cNvPr id="5" name="Shape 2"/>
          <p:cNvSpPr/>
          <p:nvPr/>
        </p:nvSpPr>
        <p:spPr>
          <a:xfrm>
            <a:off x="897890" y="3202305"/>
            <a:ext cx="266700" cy="266700"/>
          </a:xfrm>
          <a:prstGeom prst="ellipse">
            <a:avLst/>
          </a:prstGeom>
          <a:solidFill>
            <a:srgbClr val="1199FB"/>
          </a:solidFill>
          <a:ln/>
        </p:spPr>
      </p:sp>
      <p:sp>
        <p:nvSpPr>
          <p:cNvPr id="6" name="Shape 3"/>
          <p:cNvSpPr/>
          <p:nvPr/>
        </p:nvSpPr>
        <p:spPr>
          <a:xfrm>
            <a:off x="897890" y="4843780"/>
            <a:ext cx="266700" cy="266700"/>
          </a:xfrm>
          <a:prstGeom prst="ellipse">
            <a:avLst/>
          </a:prstGeom>
          <a:solidFill>
            <a:srgbClr val="1199FB"/>
          </a:solidFill>
          <a:ln/>
        </p:spPr>
      </p:sp>
      <p:sp>
        <p:nvSpPr>
          <p:cNvPr id="7" name="Text 4"/>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规模常态期：全覆盖、建平台、成范式</a:t>
            </a:r>
            <a:endParaRPr lang="en-US" sz="1600" dirty="0"/>
          </a:p>
        </p:txBody>
      </p:sp>
      <p:pic>
        <p:nvPicPr>
          <p:cNvPr id="8" name="Image 1" descr="https://kimi-img.moonshot.cn/pub/slides/slides_tmpl/image/25-09-30-16:31:52-d3dpau0s8jdo4os5dgh0.png"/>
          <p:cNvPicPr>
            <a:picLocks noChangeAspect="1"/>
          </p:cNvPicPr>
          <p:nvPr/>
        </p:nvPicPr>
        <p:blipFill>
          <a:blip r:embed="rId5"/>
          <a:srcRect t="110" b="110"/>
          <a:stretch/>
        </p:blipFill>
        <p:spPr>
          <a:xfrm>
            <a:off x="2540" y="550545"/>
            <a:ext cx="579755" cy="652145"/>
          </a:xfrm>
          <a:prstGeom prst="rect">
            <a:avLst/>
          </a:prstGeom>
        </p:spPr>
      </p:pic>
      <p:sp>
        <p:nvSpPr>
          <p:cNvPr id="9" name="Text 5"/>
          <p:cNvSpPr/>
          <p:nvPr/>
        </p:nvSpPr>
        <p:spPr>
          <a:xfrm>
            <a:off x="1296670" y="1524635"/>
            <a:ext cx="577596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全面覆盖推广</a:t>
            </a:r>
            <a:endParaRPr lang="en-US" sz="1600" dirty="0"/>
          </a:p>
        </p:txBody>
      </p:sp>
      <p:sp>
        <p:nvSpPr>
          <p:cNvPr id="10" name="Text 6"/>
          <p:cNvSpPr/>
          <p:nvPr/>
        </p:nvSpPr>
        <p:spPr>
          <a:xfrm>
            <a:off x="1296670" y="1859915"/>
            <a:ext cx="5775960" cy="666313"/>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将成熟AI应用推广至更多业务单元覆盖优先赋能类全部流程，扩大AI创新覆盖范围实现核心业务场景智能化升级，打造锐捷EBG特色优势。</a:t>
            </a:r>
            <a:endParaRPr lang="en-US" sz="1600" dirty="0"/>
          </a:p>
        </p:txBody>
      </p:sp>
      <p:sp>
        <p:nvSpPr>
          <p:cNvPr id="11" name="Text 7"/>
          <p:cNvSpPr/>
          <p:nvPr/>
        </p:nvSpPr>
        <p:spPr>
          <a:xfrm>
            <a:off x="1296670" y="3166110"/>
            <a:ext cx="577596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数据平台建成</a:t>
            </a:r>
            <a:endParaRPr lang="en-US" sz="1600" dirty="0"/>
          </a:p>
        </p:txBody>
      </p:sp>
      <p:sp>
        <p:nvSpPr>
          <p:cNvPr id="12" name="Text 8"/>
          <p:cNvSpPr/>
          <p:nvPr/>
        </p:nvSpPr>
        <p:spPr>
          <a:xfrm>
            <a:off x="1296670" y="3501390"/>
            <a:ext cx="5775960" cy="95384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推进公司级主数据与业务数据平台建设完善数据治理体系，为规模化AI创新提供坚实数据保障，破解数据缺失核心痛点，呼应AI加专项行动夯实数据基座要求。</a:t>
            </a:r>
            <a:endParaRPr lang="en-US" sz="1600" dirty="0"/>
          </a:p>
        </p:txBody>
      </p:sp>
      <p:sp>
        <p:nvSpPr>
          <p:cNvPr id="13" name="Text 9"/>
          <p:cNvSpPr/>
          <p:nvPr/>
        </p:nvSpPr>
        <p:spPr>
          <a:xfrm>
            <a:off x="1296670" y="4807585"/>
            <a:ext cx="5775960" cy="367665"/>
          </a:xfrm>
          <a:prstGeom prst="rect">
            <a:avLst/>
          </a:prstGeom>
          <a:noFill/>
          <a:ln/>
        </p:spPr>
        <p:txBody>
          <a:bodyPr wrap="square" lIns="91440" tIns="45720" rIns="91440" bIns="45720" rtlCol="0" anchor="t">
            <a:spAutoFit/>
          </a:bodyPr>
          <a:lstStyle/>
          <a:p>
            <a:pPr algn="just">
              <a:lnSpc>
                <a:spcPct val="100000"/>
              </a:lnSpc>
            </a:pPr>
            <a:r>
              <a:rPr lang="en-US" sz="1800" b="1" dirty="0">
                <a:solidFill>
                  <a:srgbClr val="000000"/>
                </a:solidFill>
                <a:latin typeface="MiSans" pitchFamily="34" charset="0"/>
                <a:ea typeface="MiSans" pitchFamily="34" charset="-122"/>
                <a:cs typeface="MiSans" pitchFamily="34" charset="-120"/>
              </a:rPr>
              <a:t>常态化机制确立</a:t>
            </a:r>
            <a:endParaRPr lang="en-US" sz="1600" dirty="0"/>
          </a:p>
        </p:txBody>
      </p:sp>
      <p:sp>
        <p:nvSpPr>
          <p:cNvPr id="14" name="Text 10"/>
          <p:cNvSpPr/>
          <p:nvPr/>
        </p:nvSpPr>
        <p:spPr>
          <a:xfrm>
            <a:off x="1296670" y="5142865"/>
            <a:ext cx="5775960" cy="953849"/>
          </a:xfrm>
          <a:prstGeom prst="rect">
            <a:avLst/>
          </a:prstGeom>
          <a:noFill/>
          <a:ln/>
        </p:spPr>
        <p:txBody>
          <a:bodyPr wrap="square" lIns="91440" tIns="45720" rIns="91440" bIns="45720" rtlCol="0" anchor="t">
            <a:spAutoFit/>
          </a:bodyPr>
          <a:lstStyle/>
          <a:p>
            <a:pPr algn="just">
              <a:lnSpc>
                <a:spcPct val="130000"/>
              </a:lnSpc>
            </a:pPr>
            <a:r>
              <a:rPr lang="en-US" sz="1400" b="1" dirty="0">
                <a:solidFill>
                  <a:srgbClr val="404040"/>
                </a:solidFill>
                <a:latin typeface="MiSans" pitchFamily="34" charset="0"/>
                <a:ea typeface="MiSans" pitchFamily="34" charset="-122"/>
                <a:cs typeface="MiSans" pitchFamily="34" charset="-120"/>
              </a:rPr>
              <a:t>建立AI创新全流程自动化规范化机制，优化基础完善类流程提升成熟度纳入创新范围，总结全年成效制定下一年度规划推动AI与EBG业务深度融合，打造AI加业务新范式，实现从流程落地向智能高效的战略跃迁。</a:t>
            </a:r>
            <a:endParaRPr lang="en-US" sz="1600" dirty="0"/>
          </a:p>
        </p:txBody>
      </p:sp>
    </p:spTree>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name="Slide 25">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3117533" y="3429000"/>
            <a:ext cx="5956935" cy="1640840"/>
          </a:xfrm>
          <a:prstGeom prst="rect">
            <a:avLst/>
          </a:prstGeom>
          <a:noFill/>
          <a:ln/>
        </p:spPr>
        <p:txBody>
          <a:bodyPr wrap="square" lIns="91440" tIns="45720" rIns="91440" bIns="45720" rtlCol="0" anchor="t">
            <a:spAutoFit/>
          </a:bodyPr>
          <a:lstStyle/>
          <a:p>
            <a:pPr algn="ctr">
              <a:lnSpc>
                <a:spcPct val="100000"/>
              </a:lnSpc>
            </a:pPr>
            <a:r>
              <a:rPr lang="en-US" sz="4800" b="1" dirty="0">
                <a:solidFill>
                  <a:srgbClr val="1199FB"/>
                </a:solidFill>
                <a:latin typeface="MiSans" pitchFamily="34" charset="0"/>
                <a:ea typeface="MiSans" pitchFamily="34" charset="-122"/>
                <a:cs typeface="MiSans" pitchFamily="34" charset="-120"/>
              </a:rPr>
              <a:t>未来之景：预期成效与风险应对</a:t>
            </a:r>
            <a:endParaRPr lang="en-US" sz="1600" dirty="0"/>
          </a:p>
        </p:txBody>
      </p:sp>
      <p:sp>
        <p:nvSpPr>
          <p:cNvPr id="4" name="Text 1"/>
          <p:cNvSpPr/>
          <p:nvPr/>
        </p:nvSpPr>
        <p:spPr>
          <a:xfrm>
            <a:off x="3117533" y="1860550"/>
            <a:ext cx="5956935" cy="1574760"/>
          </a:xfrm>
          <a:prstGeom prst="rect">
            <a:avLst/>
          </a:prstGeom>
          <a:noFill/>
          <a:ln/>
        </p:spPr>
        <p:txBody>
          <a:bodyPr wrap="square" lIns="91440" tIns="45720" rIns="91440" bIns="45720" rtlCol="0" anchor="t">
            <a:spAutoFit/>
          </a:bodyPr>
          <a:lstStyle/>
          <a:p>
            <a:pPr algn="ctr">
              <a:lnSpc>
                <a:spcPct val="100000"/>
              </a:lnSpc>
            </a:pPr>
            <a:r>
              <a:rPr lang="en-US" sz="9600" b="1" dirty="0">
                <a:solidFill>
                  <a:srgbClr val="1199FB"/>
                </a:solidFill>
                <a:latin typeface="MiSans" pitchFamily="34" charset="0"/>
                <a:ea typeface="MiSans" pitchFamily="34" charset="-122"/>
                <a:cs typeface="MiSans" pitchFamily="34" charset="-120"/>
              </a:rPr>
              <a:t>06</a:t>
            </a:r>
            <a:endParaRPr lang="en-US" sz="1600" dirty="0"/>
          </a:p>
        </p:txBody>
      </p:sp>
      <p:pic>
        <p:nvPicPr>
          <p:cNvPr id="5" name="Image 1" descr="https://kimi-img.moonshot.cn/pub/slides/slides_tmpl/image/25-09-30-16:31:52-d3dpau0s8jdo4os5dghg.png"/>
          <p:cNvPicPr>
            <a:picLocks noChangeAspect="1"/>
          </p:cNvPicPr>
          <p:nvPr/>
        </p:nvPicPr>
        <p:blipFill>
          <a:blip r:embed="rId5"/>
          <a:stretch>
            <a:fillRect/>
          </a:stretch>
        </p:blipFill>
        <p:spPr>
          <a:xfrm>
            <a:off x="1180465" y="1539875"/>
            <a:ext cx="2349500" cy="2733040"/>
          </a:xfrm>
          <a:prstGeom prst="rect">
            <a:avLst/>
          </a:prstGeom>
        </p:spPr>
      </p:pic>
      <p:pic>
        <p:nvPicPr>
          <p:cNvPr id="6" name="Image 2" descr="https://kimi-img.moonshot.cn/pub/slides/slides_tmpl/image/25-09-30-16:31:52-d3dpau0s8jdo4os5dgf0.png"/>
          <p:cNvPicPr>
            <a:picLocks noChangeAspect="1"/>
          </p:cNvPicPr>
          <p:nvPr/>
        </p:nvPicPr>
        <p:blipFill>
          <a:blip r:embed="rId6"/>
          <a:srcRect t="3182" b="3182"/>
          <a:stretch/>
        </p:blipFill>
        <p:spPr>
          <a:xfrm rot="3660000">
            <a:off x="9880600" y="4845050"/>
            <a:ext cx="1117600" cy="1017905"/>
          </a:xfrm>
          <a:prstGeom prst="rect">
            <a:avLst/>
          </a:prstGeom>
        </p:spPr>
      </p:pic>
      <p:sp>
        <p:nvSpPr>
          <p:cNvPr id="7" name="Shape 2"/>
          <p:cNvSpPr/>
          <p:nvPr/>
        </p:nvSpPr>
        <p:spPr>
          <a:xfrm>
            <a:off x="10724515" y="549275"/>
            <a:ext cx="919480" cy="619125"/>
          </a:xfrm>
          <a:custGeom>
            <a:avLst/>
            <a:gdLst/>
            <a:ahLst/>
            <a:cxnLst/>
            <a:rect l="l" t="t" r="r" b="b"/>
            <a:pathLst>
              <a:path w="919480" h="619125">
                <a:moveTo>
                  <a:pt x="40935" y="22074"/>
                </a:moveTo>
                <a:cubicBezTo>
                  <a:pt x="40935" y="34312"/>
                  <a:pt x="31596" y="44234"/>
                  <a:pt x="20075" y="44234"/>
                </a:cubicBezTo>
                <a:cubicBezTo>
                  <a:pt x="8554" y="44234"/>
                  <a:pt x="-786" y="34312"/>
                  <a:pt x="-786" y="22074"/>
                </a:cubicBezTo>
                <a:cubicBezTo>
                  <a:pt x="-786" y="9835"/>
                  <a:pt x="8554" y="-86"/>
                  <a:pt x="20075" y="-86"/>
                </a:cubicBezTo>
                <a:cubicBezTo>
                  <a:pt x="31591" y="-92"/>
                  <a:pt x="40930" y="9820"/>
                  <a:pt x="40935" y="22052"/>
                </a:cubicBezTo>
                <a:cubicBezTo>
                  <a:pt x="40935" y="22060"/>
                  <a:pt x="40935" y="22067"/>
                  <a:pt x="40935" y="22074"/>
                </a:cubicBezTo>
                <a:close/>
                <a:moveTo>
                  <a:pt x="216654" y="22074"/>
                </a:moveTo>
                <a:cubicBezTo>
                  <a:pt x="216654" y="34312"/>
                  <a:pt x="207315" y="44234"/>
                  <a:pt x="195794" y="44234"/>
                </a:cubicBezTo>
                <a:cubicBezTo>
                  <a:pt x="184273" y="44234"/>
                  <a:pt x="174933" y="34312"/>
                  <a:pt x="174933" y="22074"/>
                </a:cubicBezTo>
                <a:cubicBezTo>
                  <a:pt x="174933" y="9835"/>
                  <a:pt x="184273" y="-86"/>
                  <a:pt x="195794" y="-86"/>
                </a:cubicBezTo>
                <a:cubicBezTo>
                  <a:pt x="207308" y="-72"/>
                  <a:pt x="216641" y="9841"/>
                  <a:pt x="216654" y="22074"/>
                </a:cubicBezTo>
                <a:close/>
                <a:moveTo>
                  <a:pt x="392324" y="22074"/>
                </a:moveTo>
                <a:cubicBezTo>
                  <a:pt x="392324" y="34312"/>
                  <a:pt x="382984" y="44234"/>
                  <a:pt x="371464" y="44234"/>
                </a:cubicBezTo>
                <a:cubicBezTo>
                  <a:pt x="359943" y="44234"/>
                  <a:pt x="350603" y="34312"/>
                  <a:pt x="350603" y="22074"/>
                </a:cubicBezTo>
                <a:cubicBezTo>
                  <a:pt x="350603" y="9835"/>
                  <a:pt x="359943" y="-86"/>
                  <a:pt x="371464" y="-86"/>
                </a:cubicBezTo>
                <a:cubicBezTo>
                  <a:pt x="382979" y="-92"/>
                  <a:pt x="392318" y="9820"/>
                  <a:pt x="392324" y="22052"/>
                </a:cubicBezTo>
                <a:cubicBezTo>
                  <a:pt x="392324" y="22060"/>
                  <a:pt x="392324" y="22067"/>
                  <a:pt x="392324" y="22074"/>
                </a:cubicBezTo>
                <a:close/>
                <a:moveTo>
                  <a:pt x="568043" y="22074"/>
                </a:moveTo>
                <a:cubicBezTo>
                  <a:pt x="568043" y="34312"/>
                  <a:pt x="558704" y="44234"/>
                  <a:pt x="547183" y="44234"/>
                </a:cubicBezTo>
                <a:cubicBezTo>
                  <a:pt x="535662" y="44234"/>
                  <a:pt x="526322" y="34312"/>
                  <a:pt x="526322" y="22074"/>
                </a:cubicBezTo>
                <a:cubicBezTo>
                  <a:pt x="526322" y="9835"/>
                  <a:pt x="535662" y="-86"/>
                  <a:pt x="547183" y="-86"/>
                </a:cubicBezTo>
                <a:cubicBezTo>
                  <a:pt x="558699" y="-92"/>
                  <a:pt x="568037" y="9820"/>
                  <a:pt x="568043" y="22052"/>
                </a:cubicBezTo>
                <a:cubicBezTo>
                  <a:pt x="568043" y="22060"/>
                  <a:pt x="568043" y="22067"/>
                  <a:pt x="568043" y="22074"/>
                </a:cubicBezTo>
                <a:close/>
                <a:moveTo>
                  <a:pt x="743762" y="22074"/>
                </a:moveTo>
                <a:cubicBezTo>
                  <a:pt x="743762" y="34312"/>
                  <a:pt x="734423" y="44234"/>
                  <a:pt x="722902" y="44234"/>
                </a:cubicBezTo>
                <a:cubicBezTo>
                  <a:pt x="711381" y="44234"/>
                  <a:pt x="702041" y="34312"/>
                  <a:pt x="702041" y="22074"/>
                </a:cubicBezTo>
                <a:cubicBezTo>
                  <a:pt x="702041" y="9835"/>
                  <a:pt x="711381" y="-86"/>
                  <a:pt x="722902" y="-86"/>
                </a:cubicBezTo>
                <a:cubicBezTo>
                  <a:pt x="734418" y="-92"/>
                  <a:pt x="743756" y="9820"/>
                  <a:pt x="743762" y="22052"/>
                </a:cubicBezTo>
                <a:cubicBezTo>
                  <a:pt x="743762" y="22060"/>
                  <a:pt x="743762" y="22067"/>
                  <a:pt x="743762" y="22074"/>
                </a:cubicBezTo>
                <a:close/>
                <a:moveTo>
                  <a:pt x="919480" y="22074"/>
                </a:moveTo>
                <a:cubicBezTo>
                  <a:pt x="919480" y="34312"/>
                  <a:pt x="910141" y="44234"/>
                  <a:pt x="898620" y="44234"/>
                </a:cubicBezTo>
                <a:cubicBezTo>
                  <a:pt x="887099" y="44234"/>
                  <a:pt x="877759" y="34312"/>
                  <a:pt x="877759" y="22074"/>
                </a:cubicBezTo>
                <a:cubicBezTo>
                  <a:pt x="877759" y="9835"/>
                  <a:pt x="887099" y="-86"/>
                  <a:pt x="898620" y="-86"/>
                </a:cubicBezTo>
                <a:cubicBezTo>
                  <a:pt x="910134" y="-72"/>
                  <a:pt x="919467" y="9841"/>
                  <a:pt x="919480" y="22074"/>
                </a:cubicBezTo>
                <a:close/>
                <a:moveTo>
                  <a:pt x="40935" y="165796"/>
                </a:moveTo>
                <a:cubicBezTo>
                  <a:pt x="40935" y="178035"/>
                  <a:pt x="31596" y="187957"/>
                  <a:pt x="20075" y="187957"/>
                </a:cubicBezTo>
                <a:cubicBezTo>
                  <a:pt x="8554" y="187957"/>
                  <a:pt x="-786" y="178035"/>
                  <a:pt x="-786" y="165796"/>
                </a:cubicBezTo>
                <a:cubicBezTo>
                  <a:pt x="-786" y="153558"/>
                  <a:pt x="8554" y="143636"/>
                  <a:pt x="20075" y="143636"/>
                </a:cubicBezTo>
                <a:cubicBezTo>
                  <a:pt x="31591" y="143630"/>
                  <a:pt x="40930" y="153543"/>
                  <a:pt x="40935" y="165776"/>
                </a:cubicBezTo>
                <a:cubicBezTo>
                  <a:pt x="40935" y="165783"/>
                  <a:pt x="40935" y="165790"/>
                  <a:pt x="40935" y="165796"/>
                </a:cubicBezTo>
                <a:close/>
                <a:moveTo>
                  <a:pt x="216654" y="165796"/>
                </a:moveTo>
                <a:cubicBezTo>
                  <a:pt x="216654" y="178035"/>
                  <a:pt x="207315" y="187957"/>
                  <a:pt x="195794" y="187957"/>
                </a:cubicBezTo>
                <a:cubicBezTo>
                  <a:pt x="184273" y="187957"/>
                  <a:pt x="174933" y="178035"/>
                  <a:pt x="174933" y="165796"/>
                </a:cubicBezTo>
                <a:cubicBezTo>
                  <a:pt x="174933" y="153558"/>
                  <a:pt x="184273" y="143636"/>
                  <a:pt x="195794" y="143636"/>
                </a:cubicBezTo>
                <a:cubicBezTo>
                  <a:pt x="207308" y="143651"/>
                  <a:pt x="216641" y="153564"/>
                  <a:pt x="216654" y="165796"/>
                </a:cubicBezTo>
                <a:close/>
                <a:moveTo>
                  <a:pt x="392324" y="165796"/>
                </a:moveTo>
                <a:cubicBezTo>
                  <a:pt x="392324" y="178035"/>
                  <a:pt x="382984" y="187957"/>
                  <a:pt x="371464" y="187957"/>
                </a:cubicBezTo>
                <a:cubicBezTo>
                  <a:pt x="359943" y="187957"/>
                  <a:pt x="350603" y="178035"/>
                  <a:pt x="350603" y="165796"/>
                </a:cubicBezTo>
                <a:cubicBezTo>
                  <a:pt x="350603" y="153558"/>
                  <a:pt x="359943" y="143636"/>
                  <a:pt x="371464" y="143636"/>
                </a:cubicBezTo>
                <a:cubicBezTo>
                  <a:pt x="382979" y="143630"/>
                  <a:pt x="392318" y="153543"/>
                  <a:pt x="392324" y="165776"/>
                </a:cubicBezTo>
                <a:cubicBezTo>
                  <a:pt x="392324" y="165783"/>
                  <a:pt x="392324" y="165790"/>
                  <a:pt x="392324" y="165796"/>
                </a:cubicBezTo>
                <a:close/>
                <a:moveTo>
                  <a:pt x="568043" y="165796"/>
                </a:moveTo>
                <a:cubicBezTo>
                  <a:pt x="568043" y="178035"/>
                  <a:pt x="558704" y="187957"/>
                  <a:pt x="547183" y="187957"/>
                </a:cubicBezTo>
                <a:cubicBezTo>
                  <a:pt x="535662" y="187957"/>
                  <a:pt x="526322" y="178035"/>
                  <a:pt x="526322" y="165796"/>
                </a:cubicBezTo>
                <a:cubicBezTo>
                  <a:pt x="526322" y="153558"/>
                  <a:pt x="535662" y="143636"/>
                  <a:pt x="547183" y="143636"/>
                </a:cubicBezTo>
                <a:cubicBezTo>
                  <a:pt x="558699" y="143630"/>
                  <a:pt x="568037" y="153543"/>
                  <a:pt x="568043" y="165776"/>
                </a:cubicBezTo>
                <a:cubicBezTo>
                  <a:pt x="568043" y="165783"/>
                  <a:pt x="568043" y="165790"/>
                  <a:pt x="568043" y="165796"/>
                </a:cubicBezTo>
                <a:close/>
                <a:moveTo>
                  <a:pt x="743762" y="165796"/>
                </a:moveTo>
                <a:cubicBezTo>
                  <a:pt x="743762" y="178035"/>
                  <a:pt x="734423" y="187957"/>
                  <a:pt x="722902" y="187957"/>
                </a:cubicBezTo>
                <a:cubicBezTo>
                  <a:pt x="711381" y="187957"/>
                  <a:pt x="702041" y="178035"/>
                  <a:pt x="702041" y="165796"/>
                </a:cubicBezTo>
                <a:cubicBezTo>
                  <a:pt x="702041" y="153558"/>
                  <a:pt x="711381" y="143636"/>
                  <a:pt x="722902" y="143636"/>
                </a:cubicBezTo>
                <a:cubicBezTo>
                  <a:pt x="734418" y="143630"/>
                  <a:pt x="743756" y="153543"/>
                  <a:pt x="743762" y="165776"/>
                </a:cubicBezTo>
                <a:cubicBezTo>
                  <a:pt x="743762" y="165783"/>
                  <a:pt x="743762" y="165790"/>
                  <a:pt x="743762" y="165796"/>
                </a:cubicBezTo>
                <a:close/>
                <a:moveTo>
                  <a:pt x="919480" y="165796"/>
                </a:moveTo>
                <a:cubicBezTo>
                  <a:pt x="919480" y="178035"/>
                  <a:pt x="910141" y="187957"/>
                  <a:pt x="898620" y="187957"/>
                </a:cubicBezTo>
                <a:cubicBezTo>
                  <a:pt x="887099" y="187957"/>
                  <a:pt x="877759" y="178035"/>
                  <a:pt x="877759" y="165796"/>
                </a:cubicBezTo>
                <a:cubicBezTo>
                  <a:pt x="877759" y="153558"/>
                  <a:pt x="887099" y="143636"/>
                  <a:pt x="898620" y="143636"/>
                </a:cubicBezTo>
                <a:cubicBezTo>
                  <a:pt x="910134" y="143651"/>
                  <a:pt x="919467" y="153564"/>
                  <a:pt x="919480" y="165796"/>
                </a:cubicBezTo>
                <a:close/>
                <a:moveTo>
                  <a:pt x="40935" y="309519"/>
                </a:moveTo>
                <a:cubicBezTo>
                  <a:pt x="40935" y="321758"/>
                  <a:pt x="31596" y="331679"/>
                  <a:pt x="20075" y="331679"/>
                </a:cubicBezTo>
                <a:cubicBezTo>
                  <a:pt x="8554" y="331679"/>
                  <a:pt x="-786" y="321758"/>
                  <a:pt x="-786" y="309519"/>
                </a:cubicBezTo>
                <a:cubicBezTo>
                  <a:pt x="-786" y="297280"/>
                  <a:pt x="8554" y="287359"/>
                  <a:pt x="20075" y="287359"/>
                </a:cubicBezTo>
                <a:cubicBezTo>
                  <a:pt x="31591" y="287353"/>
                  <a:pt x="40930" y="297265"/>
                  <a:pt x="40935" y="309498"/>
                </a:cubicBezTo>
                <a:cubicBezTo>
                  <a:pt x="40935" y="309505"/>
                  <a:pt x="40935" y="309512"/>
                  <a:pt x="40935" y="309519"/>
                </a:cubicBezTo>
                <a:close/>
                <a:moveTo>
                  <a:pt x="216654" y="309519"/>
                </a:moveTo>
                <a:cubicBezTo>
                  <a:pt x="216654" y="321758"/>
                  <a:pt x="207315" y="331679"/>
                  <a:pt x="195794" y="331679"/>
                </a:cubicBezTo>
                <a:cubicBezTo>
                  <a:pt x="184273" y="331679"/>
                  <a:pt x="174933" y="321758"/>
                  <a:pt x="174933" y="309519"/>
                </a:cubicBezTo>
                <a:cubicBezTo>
                  <a:pt x="174933" y="297280"/>
                  <a:pt x="184273" y="287359"/>
                  <a:pt x="195794" y="287359"/>
                </a:cubicBezTo>
                <a:cubicBezTo>
                  <a:pt x="207308" y="287374"/>
                  <a:pt x="216641" y="297286"/>
                  <a:pt x="216654" y="309519"/>
                </a:cubicBezTo>
                <a:close/>
                <a:moveTo>
                  <a:pt x="392324" y="309519"/>
                </a:moveTo>
                <a:cubicBezTo>
                  <a:pt x="392324" y="321758"/>
                  <a:pt x="382984" y="331679"/>
                  <a:pt x="371464" y="331679"/>
                </a:cubicBezTo>
                <a:cubicBezTo>
                  <a:pt x="359943" y="331679"/>
                  <a:pt x="350603" y="321758"/>
                  <a:pt x="350603" y="309519"/>
                </a:cubicBezTo>
                <a:cubicBezTo>
                  <a:pt x="350603" y="297280"/>
                  <a:pt x="359943" y="287359"/>
                  <a:pt x="371464" y="287359"/>
                </a:cubicBezTo>
                <a:cubicBezTo>
                  <a:pt x="382979" y="287353"/>
                  <a:pt x="392318" y="297265"/>
                  <a:pt x="392324" y="309498"/>
                </a:cubicBezTo>
                <a:cubicBezTo>
                  <a:pt x="392324" y="309505"/>
                  <a:pt x="392324" y="309512"/>
                  <a:pt x="392324" y="309519"/>
                </a:cubicBezTo>
                <a:close/>
                <a:moveTo>
                  <a:pt x="568043" y="309519"/>
                </a:moveTo>
                <a:cubicBezTo>
                  <a:pt x="568043" y="321758"/>
                  <a:pt x="558704" y="331679"/>
                  <a:pt x="547183" y="331679"/>
                </a:cubicBezTo>
                <a:cubicBezTo>
                  <a:pt x="535662" y="331679"/>
                  <a:pt x="526322" y="321758"/>
                  <a:pt x="526322" y="309519"/>
                </a:cubicBezTo>
                <a:cubicBezTo>
                  <a:pt x="526322" y="297280"/>
                  <a:pt x="535662" y="287359"/>
                  <a:pt x="547183" y="287359"/>
                </a:cubicBezTo>
                <a:cubicBezTo>
                  <a:pt x="558699" y="287353"/>
                  <a:pt x="568037" y="297265"/>
                  <a:pt x="568043" y="309498"/>
                </a:cubicBezTo>
                <a:cubicBezTo>
                  <a:pt x="568043" y="309505"/>
                  <a:pt x="568043" y="309512"/>
                  <a:pt x="568043" y="309519"/>
                </a:cubicBezTo>
                <a:close/>
                <a:moveTo>
                  <a:pt x="743762" y="309519"/>
                </a:moveTo>
                <a:cubicBezTo>
                  <a:pt x="743762" y="321758"/>
                  <a:pt x="734423" y="331679"/>
                  <a:pt x="722902" y="331679"/>
                </a:cubicBezTo>
                <a:cubicBezTo>
                  <a:pt x="711381" y="331679"/>
                  <a:pt x="702041" y="321758"/>
                  <a:pt x="702041" y="309519"/>
                </a:cubicBezTo>
                <a:cubicBezTo>
                  <a:pt x="702041" y="297280"/>
                  <a:pt x="711381" y="287359"/>
                  <a:pt x="722902" y="287359"/>
                </a:cubicBezTo>
                <a:cubicBezTo>
                  <a:pt x="734418" y="287353"/>
                  <a:pt x="743756" y="297265"/>
                  <a:pt x="743762" y="309498"/>
                </a:cubicBezTo>
                <a:cubicBezTo>
                  <a:pt x="743762" y="309505"/>
                  <a:pt x="743762" y="309512"/>
                  <a:pt x="743762" y="309519"/>
                </a:cubicBezTo>
                <a:close/>
                <a:moveTo>
                  <a:pt x="919480" y="309519"/>
                </a:moveTo>
                <a:cubicBezTo>
                  <a:pt x="919480" y="321758"/>
                  <a:pt x="910141" y="331679"/>
                  <a:pt x="898620" y="331679"/>
                </a:cubicBezTo>
                <a:cubicBezTo>
                  <a:pt x="887099" y="331679"/>
                  <a:pt x="877759" y="321758"/>
                  <a:pt x="877759" y="309519"/>
                </a:cubicBezTo>
                <a:cubicBezTo>
                  <a:pt x="877759" y="297280"/>
                  <a:pt x="887099" y="287359"/>
                  <a:pt x="898620" y="287359"/>
                </a:cubicBezTo>
                <a:cubicBezTo>
                  <a:pt x="910134" y="287374"/>
                  <a:pt x="919467" y="297286"/>
                  <a:pt x="919480" y="309519"/>
                </a:cubicBezTo>
                <a:close/>
                <a:moveTo>
                  <a:pt x="40935" y="453242"/>
                </a:moveTo>
                <a:cubicBezTo>
                  <a:pt x="40935" y="465481"/>
                  <a:pt x="31596" y="475402"/>
                  <a:pt x="20075" y="475402"/>
                </a:cubicBezTo>
                <a:cubicBezTo>
                  <a:pt x="8554" y="475402"/>
                  <a:pt x="-786" y="465481"/>
                  <a:pt x="-786" y="453242"/>
                </a:cubicBezTo>
                <a:cubicBezTo>
                  <a:pt x="-786" y="441003"/>
                  <a:pt x="8554" y="431082"/>
                  <a:pt x="20075" y="431082"/>
                </a:cubicBezTo>
                <a:cubicBezTo>
                  <a:pt x="31591" y="431076"/>
                  <a:pt x="40930" y="440988"/>
                  <a:pt x="40935" y="453221"/>
                </a:cubicBezTo>
                <a:cubicBezTo>
                  <a:pt x="40935" y="453228"/>
                  <a:pt x="40935" y="453235"/>
                  <a:pt x="40935" y="453242"/>
                </a:cubicBezTo>
                <a:close/>
                <a:moveTo>
                  <a:pt x="216654" y="453242"/>
                </a:moveTo>
                <a:cubicBezTo>
                  <a:pt x="216654" y="465481"/>
                  <a:pt x="207315" y="475402"/>
                  <a:pt x="195794" y="475402"/>
                </a:cubicBezTo>
                <a:cubicBezTo>
                  <a:pt x="184273" y="475402"/>
                  <a:pt x="174933" y="465481"/>
                  <a:pt x="174933" y="453242"/>
                </a:cubicBezTo>
                <a:cubicBezTo>
                  <a:pt x="174933" y="441003"/>
                  <a:pt x="184273" y="431082"/>
                  <a:pt x="195794" y="431082"/>
                </a:cubicBezTo>
                <a:cubicBezTo>
                  <a:pt x="207308" y="431096"/>
                  <a:pt x="216641" y="441009"/>
                  <a:pt x="216654" y="453242"/>
                </a:cubicBezTo>
                <a:close/>
                <a:moveTo>
                  <a:pt x="392324" y="453242"/>
                </a:moveTo>
                <a:cubicBezTo>
                  <a:pt x="392324" y="465481"/>
                  <a:pt x="382984" y="475402"/>
                  <a:pt x="371464" y="475402"/>
                </a:cubicBezTo>
                <a:cubicBezTo>
                  <a:pt x="359943" y="475402"/>
                  <a:pt x="350603" y="465481"/>
                  <a:pt x="350603" y="453242"/>
                </a:cubicBezTo>
                <a:cubicBezTo>
                  <a:pt x="350603" y="441003"/>
                  <a:pt x="359943" y="431082"/>
                  <a:pt x="371464" y="431082"/>
                </a:cubicBezTo>
                <a:cubicBezTo>
                  <a:pt x="382979" y="431076"/>
                  <a:pt x="392318" y="440988"/>
                  <a:pt x="392324" y="453221"/>
                </a:cubicBezTo>
                <a:cubicBezTo>
                  <a:pt x="392324" y="453228"/>
                  <a:pt x="392324" y="453235"/>
                  <a:pt x="392324" y="453242"/>
                </a:cubicBezTo>
                <a:close/>
                <a:moveTo>
                  <a:pt x="568043" y="453242"/>
                </a:moveTo>
                <a:cubicBezTo>
                  <a:pt x="568043" y="465481"/>
                  <a:pt x="558704" y="475402"/>
                  <a:pt x="547183" y="475402"/>
                </a:cubicBezTo>
                <a:cubicBezTo>
                  <a:pt x="535662" y="475402"/>
                  <a:pt x="526322" y="465481"/>
                  <a:pt x="526322" y="453242"/>
                </a:cubicBezTo>
                <a:cubicBezTo>
                  <a:pt x="526322" y="441003"/>
                  <a:pt x="535662" y="431082"/>
                  <a:pt x="547183" y="431082"/>
                </a:cubicBezTo>
                <a:cubicBezTo>
                  <a:pt x="558699" y="431076"/>
                  <a:pt x="568037" y="440988"/>
                  <a:pt x="568043" y="453221"/>
                </a:cubicBezTo>
                <a:cubicBezTo>
                  <a:pt x="568043" y="453228"/>
                  <a:pt x="568043" y="453235"/>
                  <a:pt x="568043" y="453242"/>
                </a:cubicBezTo>
                <a:close/>
                <a:moveTo>
                  <a:pt x="743762" y="453242"/>
                </a:moveTo>
                <a:cubicBezTo>
                  <a:pt x="743762" y="465481"/>
                  <a:pt x="734423" y="475402"/>
                  <a:pt x="722902" y="475402"/>
                </a:cubicBezTo>
                <a:cubicBezTo>
                  <a:pt x="711381" y="475402"/>
                  <a:pt x="702041" y="465481"/>
                  <a:pt x="702041" y="453242"/>
                </a:cubicBezTo>
                <a:cubicBezTo>
                  <a:pt x="702041" y="441003"/>
                  <a:pt x="711381" y="431082"/>
                  <a:pt x="722902" y="431082"/>
                </a:cubicBezTo>
                <a:cubicBezTo>
                  <a:pt x="734418" y="431076"/>
                  <a:pt x="743756" y="440988"/>
                  <a:pt x="743762" y="453221"/>
                </a:cubicBezTo>
                <a:cubicBezTo>
                  <a:pt x="743762" y="453228"/>
                  <a:pt x="743762" y="453235"/>
                  <a:pt x="743762" y="453242"/>
                </a:cubicBezTo>
                <a:close/>
                <a:moveTo>
                  <a:pt x="919480" y="453242"/>
                </a:moveTo>
                <a:cubicBezTo>
                  <a:pt x="919480" y="465481"/>
                  <a:pt x="910141" y="475402"/>
                  <a:pt x="898620" y="475402"/>
                </a:cubicBezTo>
                <a:cubicBezTo>
                  <a:pt x="887099" y="475402"/>
                  <a:pt x="877759" y="465481"/>
                  <a:pt x="877759" y="453242"/>
                </a:cubicBezTo>
                <a:cubicBezTo>
                  <a:pt x="877759" y="441003"/>
                  <a:pt x="887099" y="431082"/>
                  <a:pt x="898620" y="431082"/>
                </a:cubicBezTo>
                <a:cubicBezTo>
                  <a:pt x="910134" y="431096"/>
                  <a:pt x="919467" y="441009"/>
                  <a:pt x="919480" y="453242"/>
                </a:cubicBezTo>
                <a:close/>
                <a:moveTo>
                  <a:pt x="40935" y="596965"/>
                </a:moveTo>
                <a:cubicBezTo>
                  <a:pt x="40935" y="609204"/>
                  <a:pt x="31596" y="619125"/>
                  <a:pt x="20075" y="619125"/>
                </a:cubicBezTo>
                <a:cubicBezTo>
                  <a:pt x="8554" y="619125"/>
                  <a:pt x="-786" y="609204"/>
                  <a:pt x="-786" y="596965"/>
                </a:cubicBezTo>
                <a:cubicBezTo>
                  <a:pt x="-786" y="584726"/>
                  <a:pt x="8554" y="574805"/>
                  <a:pt x="20075" y="574805"/>
                </a:cubicBezTo>
                <a:cubicBezTo>
                  <a:pt x="31591" y="574799"/>
                  <a:pt x="40930" y="584711"/>
                  <a:pt x="40935" y="596943"/>
                </a:cubicBezTo>
                <a:cubicBezTo>
                  <a:pt x="40935" y="596950"/>
                  <a:pt x="40935" y="596957"/>
                  <a:pt x="40935" y="596965"/>
                </a:cubicBezTo>
                <a:close/>
                <a:moveTo>
                  <a:pt x="216654" y="596965"/>
                </a:moveTo>
                <a:cubicBezTo>
                  <a:pt x="216654" y="609204"/>
                  <a:pt x="207315" y="619125"/>
                  <a:pt x="195794" y="619125"/>
                </a:cubicBezTo>
                <a:cubicBezTo>
                  <a:pt x="184273" y="619125"/>
                  <a:pt x="174933" y="609204"/>
                  <a:pt x="174933" y="596965"/>
                </a:cubicBezTo>
                <a:cubicBezTo>
                  <a:pt x="174933" y="584726"/>
                  <a:pt x="184273" y="574805"/>
                  <a:pt x="195794" y="574805"/>
                </a:cubicBezTo>
                <a:cubicBezTo>
                  <a:pt x="207308" y="574818"/>
                  <a:pt x="216641" y="584732"/>
                  <a:pt x="216654" y="596965"/>
                </a:cubicBezTo>
                <a:close/>
                <a:moveTo>
                  <a:pt x="392324" y="596965"/>
                </a:moveTo>
                <a:cubicBezTo>
                  <a:pt x="392324" y="609204"/>
                  <a:pt x="382984" y="619125"/>
                  <a:pt x="371464" y="619125"/>
                </a:cubicBezTo>
                <a:cubicBezTo>
                  <a:pt x="359943" y="619125"/>
                  <a:pt x="350603" y="609204"/>
                  <a:pt x="350603" y="596965"/>
                </a:cubicBezTo>
                <a:cubicBezTo>
                  <a:pt x="350603" y="584726"/>
                  <a:pt x="359943" y="574805"/>
                  <a:pt x="371464" y="574805"/>
                </a:cubicBezTo>
                <a:cubicBezTo>
                  <a:pt x="382979" y="574799"/>
                  <a:pt x="392318" y="584711"/>
                  <a:pt x="392324" y="596943"/>
                </a:cubicBezTo>
                <a:cubicBezTo>
                  <a:pt x="392324" y="596950"/>
                  <a:pt x="392324" y="596957"/>
                  <a:pt x="392324" y="596965"/>
                </a:cubicBezTo>
                <a:close/>
                <a:moveTo>
                  <a:pt x="568043" y="596965"/>
                </a:moveTo>
                <a:cubicBezTo>
                  <a:pt x="568043" y="609204"/>
                  <a:pt x="558704" y="619125"/>
                  <a:pt x="547183" y="619125"/>
                </a:cubicBezTo>
                <a:cubicBezTo>
                  <a:pt x="535662" y="619125"/>
                  <a:pt x="526322" y="609204"/>
                  <a:pt x="526322" y="596965"/>
                </a:cubicBezTo>
                <a:cubicBezTo>
                  <a:pt x="526322" y="584726"/>
                  <a:pt x="535662" y="574805"/>
                  <a:pt x="547183" y="574805"/>
                </a:cubicBezTo>
                <a:cubicBezTo>
                  <a:pt x="558699" y="574799"/>
                  <a:pt x="568037" y="584711"/>
                  <a:pt x="568043" y="596943"/>
                </a:cubicBezTo>
                <a:cubicBezTo>
                  <a:pt x="568043" y="596950"/>
                  <a:pt x="568043" y="596957"/>
                  <a:pt x="568043" y="596965"/>
                </a:cubicBezTo>
                <a:close/>
                <a:moveTo>
                  <a:pt x="743762" y="596965"/>
                </a:moveTo>
                <a:cubicBezTo>
                  <a:pt x="743762" y="609204"/>
                  <a:pt x="734423" y="619125"/>
                  <a:pt x="722902" y="619125"/>
                </a:cubicBezTo>
                <a:cubicBezTo>
                  <a:pt x="711381" y="619125"/>
                  <a:pt x="702041" y="609204"/>
                  <a:pt x="702041" y="596965"/>
                </a:cubicBezTo>
                <a:cubicBezTo>
                  <a:pt x="702041" y="584726"/>
                  <a:pt x="711381" y="574805"/>
                  <a:pt x="722902" y="574805"/>
                </a:cubicBezTo>
                <a:cubicBezTo>
                  <a:pt x="734418" y="574799"/>
                  <a:pt x="743756" y="584711"/>
                  <a:pt x="743762" y="596943"/>
                </a:cubicBezTo>
                <a:cubicBezTo>
                  <a:pt x="743762" y="596950"/>
                  <a:pt x="743762" y="596957"/>
                  <a:pt x="743762" y="596965"/>
                </a:cubicBezTo>
                <a:close/>
                <a:moveTo>
                  <a:pt x="919480" y="596965"/>
                </a:moveTo>
                <a:cubicBezTo>
                  <a:pt x="919480" y="609204"/>
                  <a:pt x="910141" y="619125"/>
                  <a:pt x="898620" y="619125"/>
                </a:cubicBezTo>
                <a:cubicBezTo>
                  <a:pt x="887099" y="619125"/>
                  <a:pt x="877759" y="609204"/>
                  <a:pt x="877759" y="596965"/>
                </a:cubicBezTo>
                <a:cubicBezTo>
                  <a:pt x="877759" y="584726"/>
                  <a:pt x="887099" y="574805"/>
                  <a:pt x="898620" y="574805"/>
                </a:cubicBezTo>
                <a:cubicBezTo>
                  <a:pt x="910134" y="574818"/>
                  <a:pt x="919467" y="584732"/>
                  <a:pt x="919480" y="596965"/>
                </a:cubicBezTo>
                <a:close/>
              </a:path>
            </a:pathLst>
          </a:custGeom>
          <a:solidFill>
            <a:srgbClr val="FFFFFF"/>
          </a:solidFill>
          <a:ln/>
        </p:spPr>
      </p:sp>
    </p:spTree>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name="Slide 26">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2:14-d3dpb3gs8jdo4os5dgu0.jpeg"/>
          <p:cNvPicPr>
            <a:picLocks noChangeAspect="1"/>
          </p:cNvPicPr>
          <p:nvPr/>
        </p:nvPicPr>
        <p:blipFill>
          <a:blip r:embed="rId4"/>
          <a:srcRect l="29551" r="29551"/>
          <a:stretch/>
        </p:blipFill>
        <p:spPr>
          <a:xfrm>
            <a:off x="7973695" y="0"/>
            <a:ext cx="4218305" cy="6875145"/>
          </a:xfrm>
          <a:prstGeom prst="rect">
            <a:avLst/>
          </a:prstGeom>
        </p:spPr>
      </p:pic>
      <p:sp>
        <p:nvSpPr>
          <p:cNvPr id="3" name="Shape 0"/>
          <p:cNvSpPr/>
          <p:nvPr/>
        </p:nvSpPr>
        <p:spPr>
          <a:xfrm>
            <a:off x="65883" y="3728444"/>
            <a:ext cx="7899513" cy="2379980"/>
          </a:xfrm>
          <a:prstGeom prst="rect">
            <a:avLst/>
          </a:prstGeom>
          <a:solidFill>
            <a:srgbClr val="1199FB"/>
          </a:solidFill>
          <a:ln/>
        </p:spPr>
      </p:sp>
      <p:sp>
        <p:nvSpPr>
          <p:cNvPr id="4" name="Text 1"/>
          <p:cNvSpPr/>
          <p:nvPr/>
        </p:nvSpPr>
        <p:spPr>
          <a:xfrm>
            <a:off x="595630" y="575945"/>
            <a:ext cx="11160125" cy="654010"/>
          </a:xfrm>
          <a:prstGeom prst="rect">
            <a:avLst/>
          </a:prstGeom>
          <a:noFill/>
          <a:ln/>
        </p:spPr>
        <p:txBody>
          <a:bodyPr wrap="square" lIns="91440" tIns="45720" rIns="91440" bIns="45720" rtlCol="0" anchor="t">
            <a:spAutoFit/>
          </a:bodyPr>
          <a:lstStyle/>
          <a:p>
            <a:pPr>
              <a:lnSpc>
                <a:spcPct val="100000"/>
              </a:lnSpc>
            </a:pPr>
            <a:r>
              <a:rPr lang="en-US" sz="3600" b="1" dirty="0">
                <a:solidFill>
                  <a:srgbClr val="000000"/>
                </a:solidFill>
                <a:latin typeface="MiSans" pitchFamily="34" charset="0"/>
                <a:ea typeface="MiSans" pitchFamily="34" charset="-122"/>
                <a:cs typeface="MiSans" pitchFamily="34" charset="-120"/>
              </a:rPr>
              <a:t>四维成效目标与六大风险预案</a:t>
            </a:r>
            <a:endParaRPr lang="en-US" sz="1600" dirty="0"/>
          </a:p>
        </p:txBody>
      </p:sp>
      <p:pic>
        <p:nvPicPr>
          <p:cNvPr id="5" name="Image 1" descr="https://kimi-img.moonshot.cn/pub/slides/slides_tmpl/image/25-09-30-16:31:52-d3dpau0s8jdo4os5dgh0.png"/>
          <p:cNvPicPr>
            <a:picLocks noChangeAspect="1"/>
          </p:cNvPicPr>
          <p:nvPr/>
        </p:nvPicPr>
        <p:blipFill>
          <a:blip r:embed="rId5"/>
          <a:srcRect t="110" b="110"/>
          <a:stretch/>
        </p:blipFill>
        <p:spPr>
          <a:xfrm>
            <a:off x="2540" y="550545"/>
            <a:ext cx="579755" cy="652145"/>
          </a:xfrm>
          <a:prstGeom prst="rect">
            <a:avLst/>
          </a:prstGeom>
        </p:spPr>
      </p:pic>
      <p:sp>
        <p:nvSpPr>
          <p:cNvPr id="6" name="Text 2"/>
          <p:cNvSpPr/>
          <p:nvPr/>
        </p:nvSpPr>
        <p:spPr>
          <a:xfrm>
            <a:off x="582295" y="1319345"/>
            <a:ext cx="6261052" cy="459740"/>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000000"/>
                </a:solidFill>
                <a:latin typeface="MiSans" pitchFamily="34" charset="0"/>
                <a:ea typeface="MiSans" pitchFamily="34" charset="-122"/>
                <a:cs typeface="MiSans" pitchFamily="34" charset="-120"/>
              </a:rPr>
              <a:t>四维预期成效</a:t>
            </a:r>
            <a:endParaRPr lang="en-US" sz="1600" dirty="0"/>
          </a:p>
        </p:txBody>
      </p:sp>
      <p:sp>
        <p:nvSpPr>
          <p:cNvPr id="7" name="Text 3"/>
          <p:cNvSpPr/>
          <p:nvPr/>
        </p:nvSpPr>
        <p:spPr>
          <a:xfrm>
            <a:off x="923608" y="1784676"/>
            <a:ext cx="6263005" cy="1798002"/>
          </a:xfrm>
          <a:prstGeom prst="rect">
            <a:avLst/>
          </a:prstGeom>
          <a:noFill/>
          <a:ln/>
        </p:spPr>
        <p:txBody>
          <a:bodyPr wrap="square" lIns="91440" tIns="45720" rIns="91440" bIns="45720" rtlCol="0" anchor="t">
            <a:spAutoFit/>
          </a:bodyPr>
          <a:lstStyle/>
          <a:p>
            <a:pPr algn="just">
              <a:lnSpc>
                <a:spcPct val="140000"/>
              </a:lnSpc>
            </a:pPr>
            <a:r>
              <a:rPr lang="en-US" sz="1600" b="1" dirty="0">
                <a:solidFill>
                  <a:srgbClr val="404040"/>
                </a:solidFill>
                <a:latin typeface="MiSans" pitchFamily="34" charset="0"/>
                <a:ea typeface="MiSans" pitchFamily="34" charset="-122"/>
                <a:cs typeface="MiSans" pitchFamily="34" charset="-120"/>
              </a:rPr>
              <a:t>业务层面十二个月内实现五至八个核心流程AI赋能效率提升30%以上成本降低20%以上客户满意度提升15%以上；流程层面成熟度显著提升形成流程优化数据完善AI赋能良性循环；数据层面初步建成公司级数据平台解决缺失问题；组织层面形成流程部主导各部门协同的常态化机制全员创新能力提升，为长期发展注入新动能。</a:t>
            </a:r>
            <a:endParaRPr lang="en-US" sz="1600" dirty="0"/>
          </a:p>
        </p:txBody>
      </p:sp>
      <p:sp>
        <p:nvSpPr>
          <p:cNvPr id="8" name="Text 4"/>
          <p:cNvSpPr/>
          <p:nvPr/>
        </p:nvSpPr>
        <p:spPr>
          <a:xfrm>
            <a:off x="173946" y="3772618"/>
            <a:ext cx="7041223" cy="459740"/>
          </a:xfrm>
          <a:prstGeom prst="rect">
            <a:avLst/>
          </a:prstGeom>
          <a:noFill/>
          <a:ln/>
        </p:spPr>
        <p:txBody>
          <a:bodyPr wrap="square" lIns="91440" tIns="45720" rIns="91440" bIns="45720" rtlCol="0" anchor="t">
            <a:spAutoFit/>
          </a:bodyPr>
          <a:lstStyle/>
          <a:p>
            <a:pPr algn="just">
              <a:lnSpc>
                <a:spcPct val="100000"/>
              </a:lnSpc>
            </a:pPr>
            <a:r>
              <a:rPr lang="en-US" sz="2400" b="1" dirty="0">
                <a:solidFill>
                  <a:srgbClr val="FFFFFF"/>
                </a:solidFill>
                <a:latin typeface="MiSans" pitchFamily="34" charset="0"/>
                <a:ea typeface="MiSans" pitchFamily="34" charset="-122"/>
                <a:cs typeface="MiSans" pitchFamily="34" charset="-120"/>
              </a:rPr>
              <a:t>六大风险预案</a:t>
            </a:r>
            <a:endParaRPr lang="en-US" sz="1600" dirty="0"/>
          </a:p>
        </p:txBody>
      </p:sp>
      <p:sp>
        <p:nvSpPr>
          <p:cNvPr id="9" name="Text 5"/>
          <p:cNvSpPr/>
          <p:nvPr/>
        </p:nvSpPr>
        <p:spPr>
          <a:xfrm>
            <a:off x="180048" y="4307114"/>
            <a:ext cx="7793647" cy="1471172"/>
          </a:xfrm>
          <a:prstGeom prst="rect">
            <a:avLst/>
          </a:prstGeom>
          <a:noFill/>
          <a:ln/>
        </p:spPr>
        <p:txBody>
          <a:bodyPr wrap="square" lIns="91440" tIns="45720" rIns="91440" bIns="45720" rtlCol="0" anchor="t">
            <a:spAutoFit/>
          </a:bodyPr>
          <a:lstStyle/>
          <a:p>
            <a:pPr algn="just">
              <a:lnSpc>
                <a:spcPct val="140000"/>
              </a:lnSpc>
            </a:pPr>
            <a:r>
              <a:rPr lang="en-US" sz="1600" b="1" dirty="0">
                <a:solidFill>
                  <a:srgbClr val="FFFFFF"/>
                </a:solidFill>
                <a:latin typeface="MiSans" pitchFamily="34" charset="0"/>
                <a:ea typeface="MiSans" pitchFamily="34" charset="-122"/>
                <a:cs typeface="MiSans" pitchFamily="34" charset="-120"/>
              </a:rPr>
              <a:t>业务部门积极性不足建立激励简化流程优先选见效快项目；IT资源不足按优先级分配整合内部资源引入外部支持；数据缺失采用手动补充轻量化方式同步推进基础完善；AI与业务脱节强化业务部门主导小范围试点及时反馈；评审效率低提前汇总线上评审结合绿色通道；其他技术或协同风险建立动态响应机制，确保推进稳健可控。</a:t>
            </a:r>
            <a:endParaRPr lang="en-US" sz="1600" dirty="0"/>
          </a:p>
        </p:txBody>
      </p:sp>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name="Slide 27">
    <p:bg>
      <p:bgPr>
        <a:blipFill dpi="0" rotWithShape="1">
          <a:blip r:embed="rId3">
            <a:alphaModFix/>
            <a:lum/>
          </a:blip>
          <a:srcRect/>
          <a:stretch>
            <a:fillRect/>
          </a:stretch>
        </a:blipFill>
        <a:effectLst/>
      </p:bgPr>
    </p:bg>
    <p:spTree>
      <p:nvGrpSpPr>
        <p:cNvPr id="1" name=""/>
        <p:cNvGrpSpPr/>
        <p:nvPr/>
      </p:nvGrpSpPr>
      <p:grpSpPr>
        <a:xfrm>
          <a:off x="0" y="0"/>
          <a:ext cx="0" cy="0"/>
          <a:chOff x="0" y="0"/>
          <a:chExt cx="0" cy="0"/>
        </a:xfrm>
      </p:grpSpPr>
      <p:pic>
        <p:nvPicPr>
          <p:cNvPr id="2" name="Image 0" descr="https://kimi-img.moonshot.cn/pub/slides/slides_tmpl/image/25-09-30-16:31:51-d3dpatos8jdo4os5dgc0.jpg"/>
          <p:cNvPicPr>
            <a:picLocks noChangeAspect="1"/>
          </p:cNvPicPr>
          <p:nvPr/>
        </p:nvPicPr>
        <p:blipFill>
          <a:blip r:embed="rId4"/>
          <a:srcRect t="81" b="81"/>
          <a:stretch/>
        </p:blipFill>
        <p:spPr>
          <a:xfrm rot="21600000">
            <a:off x="0" y="0"/>
            <a:ext cx="12213590" cy="6870700"/>
          </a:xfrm>
          <a:prstGeom prst="rect">
            <a:avLst/>
          </a:prstGeom>
        </p:spPr>
      </p:pic>
      <p:sp>
        <p:nvSpPr>
          <p:cNvPr id="3" name="Text 0"/>
          <p:cNvSpPr/>
          <p:nvPr/>
        </p:nvSpPr>
        <p:spPr>
          <a:xfrm>
            <a:off x="865505" y="1656715"/>
            <a:ext cx="4873625" cy="2938621"/>
          </a:xfrm>
          <a:prstGeom prst="rect">
            <a:avLst/>
          </a:prstGeom>
          <a:noFill/>
          <a:ln/>
        </p:spPr>
        <p:txBody>
          <a:bodyPr wrap="square" lIns="91440" tIns="45720" rIns="91440" bIns="45720" rtlCol="0" anchor="t">
            <a:spAutoFit/>
          </a:bodyPr>
          <a:lstStyle/>
          <a:p>
            <a:pPr algn="just">
              <a:lnSpc>
                <a:spcPct val="100000"/>
              </a:lnSpc>
            </a:pPr>
            <a:r>
              <a:rPr lang="en-US" sz="8800" b="1" dirty="0">
                <a:solidFill>
                  <a:srgbClr val="000000"/>
                </a:solidFill>
                <a:latin typeface="MiSans" pitchFamily="34" charset="0"/>
                <a:ea typeface="MiSans" pitchFamily="34" charset="-122"/>
                <a:cs typeface="MiSans" pitchFamily="34" charset="-120"/>
              </a:rPr>
              <a:t>感谢您的观看</a:t>
            </a:r>
            <a:endParaRPr lang="en-US" sz="1600" dirty="0"/>
          </a:p>
        </p:txBody>
      </p:sp>
      <p:sp>
        <p:nvSpPr>
          <p:cNvPr id="4" name="Text 1"/>
          <p:cNvSpPr/>
          <p:nvPr/>
        </p:nvSpPr>
        <p:spPr>
          <a:xfrm>
            <a:off x="961390" y="1196340"/>
            <a:ext cx="4716780" cy="459740"/>
          </a:xfrm>
          <a:prstGeom prst="rect">
            <a:avLst/>
          </a:prstGeom>
          <a:noFill/>
          <a:ln/>
        </p:spPr>
        <p:txBody>
          <a:bodyPr wrap="square" lIns="91440" tIns="45720" rIns="91440" bIns="45720" rtlCol="0" anchor="t">
            <a:spAutoFit/>
          </a:bodyPr>
          <a:lstStyle/>
          <a:p>
            <a:pPr algn="just">
              <a:lnSpc>
                <a:spcPct val="100000"/>
              </a:lnSpc>
            </a:pPr>
            <a:r>
              <a:rPr lang="en-US" sz="2400" dirty="0">
                <a:solidFill>
                  <a:srgbClr val="000000"/>
                </a:solidFill>
                <a:latin typeface="MiSans" pitchFamily="34" charset="0"/>
                <a:ea typeface="MiSans" pitchFamily="34" charset="-122"/>
                <a:cs typeface="MiSans" pitchFamily="34" charset="-120"/>
              </a:rPr>
              <a:t>THANK YOU FOR WATCHING</a:t>
            </a:r>
            <a:endParaRPr lang="en-US" sz="1600" dirty="0"/>
          </a:p>
        </p:txBody>
      </p:sp>
      <p:pic>
        <p:nvPicPr>
          <p:cNvPr id="5" name="Image 1" descr="https://kimi-img.moonshot.cn/pub/slides/slides_tmpl/image/25-09-30-16:32:24-d3dpb60s8jdo4os5dh00.png"/>
          <p:cNvPicPr>
            <a:picLocks noChangeAspect="1"/>
          </p:cNvPicPr>
          <p:nvPr/>
        </p:nvPicPr>
        <p:blipFill>
          <a:blip r:embed="rId5"/>
          <a:srcRect t="358" b="358"/>
          <a:stretch/>
        </p:blipFill>
        <p:spPr>
          <a:xfrm>
            <a:off x="798195" y="1000760"/>
            <a:ext cx="4845050" cy="138430"/>
          </a:xfrm>
          <a:prstGeom prst="rect">
            <a:avLst/>
          </a:prstGeom>
        </p:spPr>
      </p:pic>
      <p:sp>
        <p:nvSpPr>
          <p:cNvPr id="6" name="Shape 2"/>
          <p:cNvSpPr/>
          <p:nvPr/>
        </p:nvSpPr>
        <p:spPr>
          <a:xfrm>
            <a:off x="9738360" y="496570"/>
            <a:ext cx="1160145" cy="638810"/>
          </a:xfrm>
          <a:custGeom>
            <a:avLst/>
            <a:gdLst/>
            <a:ahLst/>
            <a:cxnLst/>
            <a:rect l="l" t="t" r="r" b="b"/>
            <a:pathLst>
              <a:path w="1160145" h="638810">
                <a:moveTo>
                  <a:pt x="51650" y="22775"/>
                </a:moveTo>
                <a:cubicBezTo>
                  <a:pt x="51650" y="35403"/>
                  <a:pt x="39866" y="45640"/>
                  <a:pt x="25329" y="45640"/>
                </a:cubicBezTo>
                <a:cubicBezTo>
                  <a:pt x="10793" y="45640"/>
                  <a:pt x="-991" y="35403"/>
                  <a:pt x="-991" y="22775"/>
                </a:cubicBezTo>
                <a:cubicBezTo>
                  <a:pt x="-991" y="10148"/>
                  <a:pt x="10793" y="-89"/>
                  <a:pt x="25329" y="-89"/>
                </a:cubicBezTo>
                <a:cubicBezTo>
                  <a:pt x="39860" y="-95"/>
                  <a:pt x="51642" y="10133"/>
                  <a:pt x="51650" y="22753"/>
                </a:cubicBezTo>
                <a:cubicBezTo>
                  <a:pt x="51650" y="22761"/>
                  <a:pt x="51650" y="22768"/>
                  <a:pt x="51650" y="22775"/>
                </a:cubicBezTo>
                <a:close/>
                <a:moveTo>
                  <a:pt x="273361" y="22775"/>
                </a:moveTo>
                <a:cubicBezTo>
                  <a:pt x="273361" y="35403"/>
                  <a:pt x="261577" y="45640"/>
                  <a:pt x="247041" y="45640"/>
                </a:cubicBezTo>
                <a:cubicBezTo>
                  <a:pt x="232505" y="45640"/>
                  <a:pt x="220720" y="35403"/>
                  <a:pt x="220720" y="22775"/>
                </a:cubicBezTo>
                <a:cubicBezTo>
                  <a:pt x="220720" y="10148"/>
                  <a:pt x="232505" y="-89"/>
                  <a:pt x="247041" y="-89"/>
                </a:cubicBezTo>
                <a:cubicBezTo>
                  <a:pt x="261569" y="-74"/>
                  <a:pt x="273345" y="10154"/>
                  <a:pt x="273361" y="22775"/>
                </a:cubicBezTo>
                <a:close/>
                <a:moveTo>
                  <a:pt x="495012" y="22775"/>
                </a:moveTo>
                <a:cubicBezTo>
                  <a:pt x="495012" y="35403"/>
                  <a:pt x="483227" y="45640"/>
                  <a:pt x="468691" y="45640"/>
                </a:cubicBezTo>
                <a:cubicBezTo>
                  <a:pt x="454155" y="45640"/>
                  <a:pt x="442371" y="35403"/>
                  <a:pt x="442371" y="22775"/>
                </a:cubicBezTo>
                <a:cubicBezTo>
                  <a:pt x="442371" y="10148"/>
                  <a:pt x="454155" y="-89"/>
                  <a:pt x="468691" y="-89"/>
                </a:cubicBezTo>
                <a:cubicBezTo>
                  <a:pt x="483220" y="-95"/>
                  <a:pt x="495003" y="10133"/>
                  <a:pt x="495012" y="22753"/>
                </a:cubicBezTo>
                <a:cubicBezTo>
                  <a:pt x="495012" y="22761"/>
                  <a:pt x="495012" y="22768"/>
                  <a:pt x="495012" y="22775"/>
                </a:cubicBezTo>
                <a:close/>
                <a:moveTo>
                  <a:pt x="716723" y="22775"/>
                </a:moveTo>
                <a:cubicBezTo>
                  <a:pt x="716723" y="35403"/>
                  <a:pt x="704939" y="45640"/>
                  <a:pt x="690403" y="45640"/>
                </a:cubicBezTo>
                <a:cubicBezTo>
                  <a:pt x="675866" y="45640"/>
                  <a:pt x="664082" y="35403"/>
                  <a:pt x="664082" y="22775"/>
                </a:cubicBezTo>
                <a:cubicBezTo>
                  <a:pt x="664082" y="10148"/>
                  <a:pt x="675866" y="-89"/>
                  <a:pt x="690403" y="-89"/>
                </a:cubicBezTo>
                <a:cubicBezTo>
                  <a:pt x="704933" y="-95"/>
                  <a:pt x="716715" y="10133"/>
                  <a:pt x="716723" y="22753"/>
                </a:cubicBezTo>
                <a:cubicBezTo>
                  <a:pt x="716723" y="22761"/>
                  <a:pt x="716723" y="22768"/>
                  <a:pt x="716723" y="22775"/>
                </a:cubicBezTo>
                <a:close/>
                <a:moveTo>
                  <a:pt x="938435" y="22775"/>
                </a:moveTo>
                <a:cubicBezTo>
                  <a:pt x="938435" y="35403"/>
                  <a:pt x="926651" y="45640"/>
                  <a:pt x="912114" y="45640"/>
                </a:cubicBezTo>
                <a:cubicBezTo>
                  <a:pt x="897579" y="45640"/>
                  <a:pt x="885794" y="35403"/>
                  <a:pt x="885794" y="22775"/>
                </a:cubicBezTo>
                <a:cubicBezTo>
                  <a:pt x="885794" y="10148"/>
                  <a:pt x="897579" y="-89"/>
                  <a:pt x="912114" y="-89"/>
                </a:cubicBezTo>
                <a:cubicBezTo>
                  <a:pt x="926644" y="-95"/>
                  <a:pt x="938427" y="10133"/>
                  <a:pt x="938435" y="22753"/>
                </a:cubicBezTo>
                <a:cubicBezTo>
                  <a:pt x="938435" y="22761"/>
                  <a:pt x="938435" y="22768"/>
                  <a:pt x="938435" y="22775"/>
                </a:cubicBezTo>
                <a:close/>
                <a:moveTo>
                  <a:pt x="1160145" y="22775"/>
                </a:moveTo>
                <a:cubicBezTo>
                  <a:pt x="1160145" y="35403"/>
                  <a:pt x="1148361" y="45640"/>
                  <a:pt x="1133824" y="45640"/>
                </a:cubicBezTo>
                <a:cubicBezTo>
                  <a:pt x="1119288" y="45640"/>
                  <a:pt x="1107504" y="35403"/>
                  <a:pt x="1107504" y="22775"/>
                </a:cubicBezTo>
                <a:cubicBezTo>
                  <a:pt x="1107504" y="10148"/>
                  <a:pt x="1119288" y="-89"/>
                  <a:pt x="1133824" y="-89"/>
                </a:cubicBezTo>
                <a:cubicBezTo>
                  <a:pt x="1148353" y="-74"/>
                  <a:pt x="1160129" y="10154"/>
                  <a:pt x="1160145" y="22775"/>
                </a:cubicBezTo>
                <a:close/>
                <a:moveTo>
                  <a:pt x="51650" y="171068"/>
                </a:moveTo>
                <a:cubicBezTo>
                  <a:pt x="51650" y="183696"/>
                  <a:pt x="39866" y="193933"/>
                  <a:pt x="25329" y="193933"/>
                </a:cubicBezTo>
                <a:cubicBezTo>
                  <a:pt x="10793" y="193933"/>
                  <a:pt x="-991" y="183696"/>
                  <a:pt x="-991" y="171068"/>
                </a:cubicBezTo>
                <a:cubicBezTo>
                  <a:pt x="-991" y="158440"/>
                  <a:pt x="10793" y="148203"/>
                  <a:pt x="25329" y="148203"/>
                </a:cubicBezTo>
                <a:cubicBezTo>
                  <a:pt x="39860" y="148197"/>
                  <a:pt x="51642" y="158425"/>
                  <a:pt x="51650" y="171047"/>
                </a:cubicBezTo>
                <a:cubicBezTo>
                  <a:pt x="51650" y="171054"/>
                  <a:pt x="51650" y="171061"/>
                  <a:pt x="51650" y="171068"/>
                </a:cubicBezTo>
                <a:close/>
                <a:moveTo>
                  <a:pt x="273361" y="171068"/>
                </a:moveTo>
                <a:cubicBezTo>
                  <a:pt x="273361" y="183696"/>
                  <a:pt x="261577" y="193933"/>
                  <a:pt x="247041" y="193933"/>
                </a:cubicBezTo>
                <a:cubicBezTo>
                  <a:pt x="232505" y="193933"/>
                  <a:pt x="220720" y="183696"/>
                  <a:pt x="220720" y="171068"/>
                </a:cubicBezTo>
                <a:cubicBezTo>
                  <a:pt x="220720" y="158440"/>
                  <a:pt x="232505" y="148203"/>
                  <a:pt x="247041" y="148203"/>
                </a:cubicBezTo>
                <a:cubicBezTo>
                  <a:pt x="261569" y="148218"/>
                  <a:pt x="273345" y="158446"/>
                  <a:pt x="273361" y="171068"/>
                </a:cubicBezTo>
                <a:close/>
                <a:moveTo>
                  <a:pt x="495012" y="171068"/>
                </a:moveTo>
                <a:cubicBezTo>
                  <a:pt x="495012" y="183696"/>
                  <a:pt x="483227" y="193933"/>
                  <a:pt x="468691" y="193933"/>
                </a:cubicBezTo>
                <a:cubicBezTo>
                  <a:pt x="454155" y="193933"/>
                  <a:pt x="442371" y="183696"/>
                  <a:pt x="442371" y="171068"/>
                </a:cubicBezTo>
                <a:cubicBezTo>
                  <a:pt x="442371" y="158440"/>
                  <a:pt x="454155" y="148203"/>
                  <a:pt x="468691" y="148203"/>
                </a:cubicBezTo>
                <a:cubicBezTo>
                  <a:pt x="483220" y="148197"/>
                  <a:pt x="495003" y="158425"/>
                  <a:pt x="495012" y="171047"/>
                </a:cubicBezTo>
                <a:cubicBezTo>
                  <a:pt x="495012" y="171054"/>
                  <a:pt x="495012" y="171061"/>
                  <a:pt x="495012" y="171068"/>
                </a:cubicBezTo>
                <a:close/>
                <a:moveTo>
                  <a:pt x="716723" y="171068"/>
                </a:moveTo>
                <a:cubicBezTo>
                  <a:pt x="716723" y="183696"/>
                  <a:pt x="704939" y="193933"/>
                  <a:pt x="690403" y="193933"/>
                </a:cubicBezTo>
                <a:cubicBezTo>
                  <a:pt x="675866" y="193933"/>
                  <a:pt x="664082" y="183696"/>
                  <a:pt x="664082" y="171068"/>
                </a:cubicBezTo>
                <a:cubicBezTo>
                  <a:pt x="664082" y="158440"/>
                  <a:pt x="675866" y="148203"/>
                  <a:pt x="690403" y="148203"/>
                </a:cubicBezTo>
                <a:cubicBezTo>
                  <a:pt x="704933" y="148197"/>
                  <a:pt x="716715" y="158425"/>
                  <a:pt x="716723" y="171047"/>
                </a:cubicBezTo>
                <a:cubicBezTo>
                  <a:pt x="716723" y="171054"/>
                  <a:pt x="716723" y="171061"/>
                  <a:pt x="716723" y="171068"/>
                </a:cubicBezTo>
                <a:close/>
                <a:moveTo>
                  <a:pt x="938435" y="171068"/>
                </a:moveTo>
                <a:cubicBezTo>
                  <a:pt x="938435" y="183696"/>
                  <a:pt x="926651" y="193933"/>
                  <a:pt x="912114" y="193933"/>
                </a:cubicBezTo>
                <a:cubicBezTo>
                  <a:pt x="897579" y="193933"/>
                  <a:pt x="885794" y="183696"/>
                  <a:pt x="885794" y="171068"/>
                </a:cubicBezTo>
                <a:cubicBezTo>
                  <a:pt x="885794" y="158440"/>
                  <a:pt x="897579" y="148203"/>
                  <a:pt x="912114" y="148203"/>
                </a:cubicBezTo>
                <a:cubicBezTo>
                  <a:pt x="926644" y="148197"/>
                  <a:pt x="938427" y="158425"/>
                  <a:pt x="938435" y="171047"/>
                </a:cubicBezTo>
                <a:cubicBezTo>
                  <a:pt x="938435" y="171054"/>
                  <a:pt x="938435" y="171061"/>
                  <a:pt x="938435" y="171068"/>
                </a:cubicBezTo>
                <a:close/>
                <a:moveTo>
                  <a:pt x="1160145" y="171068"/>
                </a:moveTo>
                <a:cubicBezTo>
                  <a:pt x="1160145" y="183696"/>
                  <a:pt x="1148361" y="193933"/>
                  <a:pt x="1133824" y="193933"/>
                </a:cubicBezTo>
                <a:cubicBezTo>
                  <a:pt x="1119288" y="193933"/>
                  <a:pt x="1107504" y="183696"/>
                  <a:pt x="1107504" y="171068"/>
                </a:cubicBezTo>
                <a:cubicBezTo>
                  <a:pt x="1107504" y="158440"/>
                  <a:pt x="1119288" y="148203"/>
                  <a:pt x="1133824" y="148203"/>
                </a:cubicBezTo>
                <a:cubicBezTo>
                  <a:pt x="1148353" y="148218"/>
                  <a:pt x="1160129" y="158446"/>
                  <a:pt x="1160145" y="171068"/>
                </a:cubicBezTo>
                <a:close/>
                <a:moveTo>
                  <a:pt x="51650" y="319360"/>
                </a:moveTo>
                <a:cubicBezTo>
                  <a:pt x="51650" y="331988"/>
                  <a:pt x="39866" y="342225"/>
                  <a:pt x="25329" y="342225"/>
                </a:cubicBezTo>
                <a:cubicBezTo>
                  <a:pt x="10793" y="342225"/>
                  <a:pt x="-991" y="331988"/>
                  <a:pt x="-991" y="319360"/>
                </a:cubicBezTo>
                <a:cubicBezTo>
                  <a:pt x="-991" y="306732"/>
                  <a:pt x="10793" y="296496"/>
                  <a:pt x="25329" y="296496"/>
                </a:cubicBezTo>
                <a:cubicBezTo>
                  <a:pt x="39860" y="296490"/>
                  <a:pt x="51642" y="306717"/>
                  <a:pt x="51650" y="319338"/>
                </a:cubicBezTo>
                <a:cubicBezTo>
                  <a:pt x="51650" y="319345"/>
                  <a:pt x="51650" y="319353"/>
                  <a:pt x="51650" y="319360"/>
                </a:cubicBezTo>
                <a:close/>
                <a:moveTo>
                  <a:pt x="273361" y="319360"/>
                </a:moveTo>
                <a:cubicBezTo>
                  <a:pt x="273361" y="331988"/>
                  <a:pt x="261577" y="342225"/>
                  <a:pt x="247041" y="342225"/>
                </a:cubicBezTo>
                <a:cubicBezTo>
                  <a:pt x="232505" y="342225"/>
                  <a:pt x="220720" y="331988"/>
                  <a:pt x="220720" y="319360"/>
                </a:cubicBezTo>
                <a:cubicBezTo>
                  <a:pt x="220720" y="306732"/>
                  <a:pt x="232505" y="296496"/>
                  <a:pt x="247041" y="296496"/>
                </a:cubicBezTo>
                <a:cubicBezTo>
                  <a:pt x="261569" y="296511"/>
                  <a:pt x="273345" y="306739"/>
                  <a:pt x="273361" y="319360"/>
                </a:cubicBezTo>
                <a:close/>
                <a:moveTo>
                  <a:pt x="495012" y="319360"/>
                </a:moveTo>
                <a:cubicBezTo>
                  <a:pt x="495012" y="331988"/>
                  <a:pt x="483227" y="342225"/>
                  <a:pt x="468691" y="342225"/>
                </a:cubicBezTo>
                <a:cubicBezTo>
                  <a:pt x="454155" y="342225"/>
                  <a:pt x="442371" y="331988"/>
                  <a:pt x="442371" y="319360"/>
                </a:cubicBezTo>
                <a:cubicBezTo>
                  <a:pt x="442371" y="306732"/>
                  <a:pt x="454155" y="296496"/>
                  <a:pt x="468691" y="296496"/>
                </a:cubicBezTo>
                <a:cubicBezTo>
                  <a:pt x="483220" y="296490"/>
                  <a:pt x="495003" y="306717"/>
                  <a:pt x="495012" y="319338"/>
                </a:cubicBezTo>
                <a:cubicBezTo>
                  <a:pt x="495012" y="319345"/>
                  <a:pt x="495012" y="319353"/>
                  <a:pt x="495012" y="319360"/>
                </a:cubicBezTo>
                <a:close/>
                <a:moveTo>
                  <a:pt x="716723" y="319360"/>
                </a:moveTo>
                <a:cubicBezTo>
                  <a:pt x="716723" y="331988"/>
                  <a:pt x="704939" y="342225"/>
                  <a:pt x="690403" y="342225"/>
                </a:cubicBezTo>
                <a:cubicBezTo>
                  <a:pt x="675866" y="342225"/>
                  <a:pt x="664082" y="331988"/>
                  <a:pt x="664082" y="319360"/>
                </a:cubicBezTo>
                <a:cubicBezTo>
                  <a:pt x="664082" y="306732"/>
                  <a:pt x="675866" y="296496"/>
                  <a:pt x="690403" y="296496"/>
                </a:cubicBezTo>
                <a:cubicBezTo>
                  <a:pt x="704933" y="296490"/>
                  <a:pt x="716715" y="306717"/>
                  <a:pt x="716723" y="319338"/>
                </a:cubicBezTo>
                <a:cubicBezTo>
                  <a:pt x="716723" y="319345"/>
                  <a:pt x="716723" y="319353"/>
                  <a:pt x="716723" y="319360"/>
                </a:cubicBezTo>
                <a:close/>
                <a:moveTo>
                  <a:pt x="938435" y="319360"/>
                </a:moveTo>
                <a:cubicBezTo>
                  <a:pt x="938435" y="331988"/>
                  <a:pt x="926651" y="342225"/>
                  <a:pt x="912114" y="342225"/>
                </a:cubicBezTo>
                <a:cubicBezTo>
                  <a:pt x="897579" y="342225"/>
                  <a:pt x="885794" y="331988"/>
                  <a:pt x="885794" y="319360"/>
                </a:cubicBezTo>
                <a:cubicBezTo>
                  <a:pt x="885794" y="306732"/>
                  <a:pt x="897579" y="296496"/>
                  <a:pt x="912114" y="296496"/>
                </a:cubicBezTo>
                <a:cubicBezTo>
                  <a:pt x="926644" y="296490"/>
                  <a:pt x="938427" y="306717"/>
                  <a:pt x="938435" y="319338"/>
                </a:cubicBezTo>
                <a:cubicBezTo>
                  <a:pt x="938435" y="319345"/>
                  <a:pt x="938435" y="319353"/>
                  <a:pt x="938435" y="319360"/>
                </a:cubicBezTo>
                <a:close/>
                <a:moveTo>
                  <a:pt x="1160145" y="319360"/>
                </a:moveTo>
                <a:cubicBezTo>
                  <a:pt x="1160145" y="331988"/>
                  <a:pt x="1148361" y="342225"/>
                  <a:pt x="1133824" y="342225"/>
                </a:cubicBezTo>
                <a:cubicBezTo>
                  <a:pt x="1119288" y="342225"/>
                  <a:pt x="1107504" y="331988"/>
                  <a:pt x="1107504" y="319360"/>
                </a:cubicBezTo>
                <a:cubicBezTo>
                  <a:pt x="1107504" y="306732"/>
                  <a:pt x="1119288" y="296496"/>
                  <a:pt x="1133824" y="296496"/>
                </a:cubicBezTo>
                <a:cubicBezTo>
                  <a:pt x="1148353" y="296511"/>
                  <a:pt x="1160129" y="306739"/>
                  <a:pt x="1160145" y="319360"/>
                </a:cubicBezTo>
                <a:close/>
                <a:moveTo>
                  <a:pt x="51650" y="467653"/>
                </a:moveTo>
                <a:cubicBezTo>
                  <a:pt x="51650" y="480281"/>
                  <a:pt x="39866" y="490518"/>
                  <a:pt x="25329" y="490518"/>
                </a:cubicBezTo>
                <a:cubicBezTo>
                  <a:pt x="10793" y="490518"/>
                  <a:pt x="-991" y="480281"/>
                  <a:pt x="-991" y="467653"/>
                </a:cubicBezTo>
                <a:cubicBezTo>
                  <a:pt x="-991" y="455025"/>
                  <a:pt x="10793" y="444788"/>
                  <a:pt x="25329" y="444788"/>
                </a:cubicBezTo>
                <a:cubicBezTo>
                  <a:pt x="39860" y="444782"/>
                  <a:pt x="51642" y="455009"/>
                  <a:pt x="51650" y="467631"/>
                </a:cubicBezTo>
                <a:cubicBezTo>
                  <a:pt x="51650" y="467639"/>
                  <a:pt x="51650" y="467646"/>
                  <a:pt x="51650" y="467653"/>
                </a:cubicBezTo>
                <a:close/>
                <a:moveTo>
                  <a:pt x="273361" y="467653"/>
                </a:moveTo>
                <a:cubicBezTo>
                  <a:pt x="273361" y="480281"/>
                  <a:pt x="261577" y="490518"/>
                  <a:pt x="247041" y="490518"/>
                </a:cubicBezTo>
                <a:cubicBezTo>
                  <a:pt x="232505" y="490518"/>
                  <a:pt x="220720" y="480281"/>
                  <a:pt x="220720" y="467653"/>
                </a:cubicBezTo>
                <a:cubicBezTo>
                  <a:pt x="220720" y="455025"/>
                  <a:pt x="232505" y="444788"/>
                  <a:pt x="247041" y="444788"/>
                </a:cubicBezTo>
                <a:cubicBezTo>
                  <a:pt x="261569" y="444803"/>
                  <a:pt x="273345" y="455031"/>
                  <a:pt x="273361" y="467653"/>
                </a:cubicBezTo>
                <a:close/>
                <a:moveTo>
                  <a:pt x="495012" y="467653"/>
                </a:moveTo>
                <a:cubicBezTo>
                  <a:pt x="495012" y="480281"/>
                  <a:pt x="483227" y="490518"/>
                  <a:pt x="468691" y="490518"/>
                </a:cubicBezTo>
                <a:cubicBezTo>
                  <a:pt x="454155" y="490518"/>
                  <a:pt x="442371" y="480281"/>
                  <a:pt x="442371" y="467653"/>
                </a:cubicBezTo>
                <a:cubicBezTo>
                  <a:pt x="442371" y="455025"/>
                  <a:pt x="454155" y="444788"/>
                  <a:pt x="468691" y="444788"/>
                </a:cubicBezTo>
                <a:cubicBezTo>
                  <a:pt x="483220" y="444782"/>
                  <a:pt x="495003" y="455009"/>
                  <a:pt x="495012" y="467631"/>
                </a:cubicBezTo>
                <a:cubicBezTo>
                  <a:pt x="495012" y="467639"/>
                  <a:pt x="495012" y="467646"/>
                  <a:pt x="495012" y="467653"/>
                </a:cubicBezTo>
                <a:close/>
                <a:moveTo>
                  <a:pt x="716723" y="467653"/>
                </a:moveTo>
                <a:cubicBezTo>
                  <a:pt x="716723" y="480281"/>
                  <a:pt x="704939" y="490518"/>
                  <a:pt x="690403" y="490518"/>
                </a:cubicBezTo>
                <a:cubicBezTo>
                  <a:pt x="675866" y="490518"/>
                  <a:pt x="664082" y="480281"/>
                  <a:pt x="664082" y="467653"/>
                </a:cubicBezTo>
                <a:cubicBezTo>
                  <a:pt x="664082" y="455025"/>
                  <a:pt x="675866" y="444788"/>
                  <a:pt x="690403" y="444788"/>
                </a:cubicBezTo>
                <a:cubicBezTo>
                  <a:pt x="704933" y="444782"/>
                  <a:pt x="716715" y="455009"/>
                  <a:pt x="716723" y="467631"/>
                </a:cubicBezTo>
                <a:cubicBezTo>
                  <a:pt x="716723" y="467639"/>
                  <a:pt x="716723" y="467646"/>
                  <a:pt x="716723" y="467653"/>
                </a:cubicBezTo>
                <a:close/>
                <a:moveTo>
                  <a:pt x="938435" y="467653"/>
                </a:moveTo>
                <a:cubicBezTo>
                  <a:pt x="938435" y="480281"/>
                  <a:pt x="926651" y="490518"/>
                  <a:pt x="912114" y="490518"/>
                </a:cubicBezTo>
                <a:cubicBezTo>
                  <a:pt x="897579" y="490518"/>
                  <a:pt x="885794" y="480281"/>
                  <a:pt x="885794" y="467653"/>
                </a:cubicBezTo>
                <a:cubicBezTo>
                  <a:pt x="885794" y="455025"/>
                  <a:pt x="897579" y="444788"/>
                  <a:pt x="912114" y="444788"/>
                </a:cubicBezTo>
                <a:cubicBezTo>
                  <a:pt x="926644" y="444782"/>
                  <a:pt x="938427" y="455009"/>
                  <a:pt x="938435" y="467631"/>
                </a:cubicBezTo>
                <a:cubicBezTo>
                  <a:pt x="938435" y="467639"/>
                  <a:pt x="938435" y="467646"/>
                  <a:pt x="938435" y="467653"/>
                </a:cubicBezTo>
                <a:close/>
                <a:moveTo>
                  <a:pt x="1160145" y="467653"/>
                </a:moveTo>
                <a:cubicBezTo>
                  <a:pt x="1160145" y="480281"/>
                  <a:pt x="1148361" y="490518"/>
                  <a:pt x="1133824" y="490518"/>
                </a:cubicBezTo>
                <a:cubicBezTo>
                  <a:pt x="1119288" y="490518"/>
                  <a:pt x="1107504" y="480281"/>
                  <a:pt x="1107504" y="467653"/>
                </a:cubicBezTo>
                <a:cubicBezTo>
                  <a:pt x="1107504" y="455025"/>
                  <a:pt x="1119288" y="444788"/>
                  <a:pt x="1133824" y="444788"/>
                </a:cubicBezTo>
                <a:cubicBezTo>
                  <a:pt x="1148353" y="444803"/>
                  <a:pt x="1160129" y="455031"/>
                  <a:pt x="1160145" y="467653"/>
                </a:cubicBezTo>
                <a:close/>
                <a:moveTo>
                  <a:pt x="51650" y="615945"/>
                </a:moveTo>
                <a:cubicBezTo>
                  <a:pt x="51650" y="628573"/>
                  <a:pt x="39866" y="638810"/>
                  <a:pt x="25329" y="638810"/>
                </a:cubicBezTo>
                <a:cubicBezTo>
                  <a:pt x="10793" y="638810"/>
                  <a:pt x="-991" y="628573"/>
                  <a:pt x="-991" y="615945"/>
                </a:cubicBezTo>
                <a:cubicBezTo>
                  <a:pt x="-991" y="603317"/>
                  <a:pt x="10793" y="593081"/>
                  <a:pt x="25329" y="593081"/>
                </a:cubicBezTo>
                <a:cubicBezTo>
                  <a:pt x="39860" y="593074"/>
                  <a:pt x="51642" y="603301"/>
                  <a:pt x="51650" y="615923"/>
                </a:cubicBezTo>
                <a:cubicBezTo>
                  <a:pt x="51650" y="615930"/>
                  <a:pt x="51650" y="615937"/>
                  <a:pt x="51650" y="615945"/>
                </a:cubicBezTo>
                <a:close/>
                <a:moveTo>
                  <a:pt x="273361" y="615945"/>
                </a:moveTo>
                <a:cubicBezTo>
                  <a:pt x="273361" y="628573"/>
                  <a:pt x="261577" y="638810"/>
                  <a:pt x="247041" y="638810"/>
                </a:cubicBezTo>
                <a:cubicBezTo>
                  <a:pt x="232505" y="638810"/>
                  <a:pt x="220720" y="628573"/>
                  <a:pt x="220720" y="615945"/>
                </a:cubicBezTo>
                <a:cubicBezTo>
                  <a:pt x="220720" y="603317"/>
                  <a:pt x="232505" y="593081"/>
                  <a:pt x="247041" y="593081"/>
                </a:cubicBezTo>
                <a:cubicBezTo>
                  <a:pt x="261569" y="593095"/>
                  <a:pt x="273345" y="603324"/>
                  <a:pt x="273361" y="615945"/>
                </a:cubicBezTo>
                <a:close/>
                <a:moveTo>
                  <a:pt x="495012" y="615945"/>
                </a:moveTo>
                <a:cubicBezTo>
                  <a:pt x="495012" y="628573"/>
                  <a:pt x="483227" y="638810"/>
                  <a:pt x="468691" y="638810"/>
                </a:cubicBezTo>
                <a:cubicBezTo>
                  <a:pt x="454155" y="638810"/>
                  <a:pt x="442371" y="628573"/>
                  <a:pt x="442371" y="615945"/>
                </a:cubicBezTo>
                <a:cubicBezTo>
                  <a:pt x="442371" y="603317"/>
                  <a:pt x="454155" y="593081"/>
                  <a:pt x="468691" y="593081"/>
                </a:cubicBezTo>
                <a:cubicBezTo>
                  <a:pt x="483220" y="593074"/>
                  <a:pt x="495003" y="603301"/>
                  <a:pt x="495012" y="615923"/>
                </a:cubicBezTo>
                <a:cubicBezTo>
                  <a:pt x="495012" y="615930"/>
                  <a:pt x="495012" y="615937"/>
                  <a:pt x="495012" y="615945"/>
                </a:cubicBezTo>
                <a:close/>
                <a:moveTo>
                  <a:pt x="716723" y="615945"/>
                </a:moveTo>
                <a:cubicBezTo>
                  <a:pt x="716723" y="628573"/>
                  <a:pt x="704939" y="638810"/>
                  <a:pt x="690403" y="638810"/>
                </a:cubicBezTo>
                <a:cubicBezTo>
                  <a:pt x="675866" y="638810"/>
                  <a:pt x="664082" y="628573"/>
                  <a:pt x="664082" y="615945"/>
                </a:cubicBezTo>
                <a:cubicBezTo>
                  <a:pt x="664082" y="603317"/>
                  <a:pt x="675866" y="593081"/>
                  <a:pt x="690403" y="593081"/>
                </a:cubicBezTo>
                <a:cubicBezTo>
                  <a:pt x="704933" y="593074"/>
                  <a:pt x="716715" y="603301"/>
                  <a:pt x="716723" y="615923"/>
                </a:cubicBezTo>
                <a:cubicBezTo>
                  <a:pt x="716723" y="615930"/>
                  <a:pt x="716723" y="615937"/>
                  <a:pt x="716723" y="615945"/>
                </a:cubicBezTo>
                <a:close/>
                <a:moveTo>
                  <a:pt x="938435" y="615945"/>
                </a:moveTo>
                <a:cubicBezTo>
                  <a:pt x="938435" y="628573"/>
                  <a:pt x="926651" y="638810"/>
                  <a:pt x="912114" y="638810"/>
                </a:cubicBezTo>
                <a:cubicBezTo>
                  <a:pt x="897579" y="638810"/>
                  <a:pt x="885794" y="628573"/>
                  <a:pt x="885794" y="615945"/>
                </a:cubicBezTo>
                <a:cubicBezTo>
                  <a:pt x="885794" y="603317"/>
                  <a:pt x="897579" y="593081"/>
                  <a:pt x="912114" y="593081"/>
                </a:cubicBezTo>
                <a:cubicBezTo>
                  <a:pt x="926644" y="593074"/>
                  <a:pt x="938427" y="603301"/>
                  <a:pt x="938435" y="615923"/>
                </a:cubicBezTo>
                <a:cubicBezTo>
                  <a:pt x="938435" y="615930"/>
                  <a:pt x="938435" y="615937"/>
                  <a:pt x="938435" y="615945"/>
                </a:cubicBezTo>
                <a:close/>
                <a:moveTo>
                  <a:pt x="1160145" y="615945"/>
                </a:moveTo>
                <a:cubicBezTo>
                  <a:pt x="1160145" y="628573"/>
                  <a:pt x="1148361" y="638810"/>
                  <a:pt x="1133824" y="638810"/>
                </a:cubicBezTo>
                <a:cubicBezTo>
                  <a:pt x="1119288" y="638810"/>
                  <a:pt x="1107504" y="628573"/>
                  <a:pt x="1107504" y="615945"/>
                </a:cubicBezTo>
                <a:cubicBezTo>
                  <a:pt x="1107504" y="603317"/>
                  <a:pt x="1119288" y="593081"/>
                  <a:pt x="1133824" y="593081"/>
                </a:cubicBezTo>
                <a:cubicBezTo>
                  <a:pt x="1148353" y="593095"/>
                  <a:pt x="1160129" y="603324"/>
                  <a:pt x="1160145" y="615945"/>
                </a:cubicBezTo>
                <a:close/>
              </a:path>
            </a:pathLst>
          </a:custGeom>
          <a:solidFill>
            <a:srgbClr val="FFFFFF"/>
          </a:solidFill>
          <a:ln/>
        </p:spPr>
      </p:sp>
      <p:pic>
        <p:nvPicPr>
          <p:cNvPr id="7" name="Image 2" descr="https://kimi-img.moonshot.cn/pub/slides/slides_tmpl/image/25-09-30-16:32:25-d3dpb68s8jdo4os5dh1g.png"/>
          <p:cNvPicPr>
            <a:picLocks noChangeAspect="1"/>
          </p:cNvPicPr>
          <p:nvPr/>
        </p:nvPicPr>
        <p:blipFill>
          <a:blip r:embed="rId6"/>
          <a:stretch>
            <a:fillRect/>
          </a:stretch>
        </p:blipFill>
        <p:spPr>
          <a:xfrm>
            <a:off x="6257290" y="1294765"/>
            <a:ext cx="5430520" cy="4714875"/>
          </a:xfrm>
          <a:prstGeom prst="rect">
            <a:avLst/>
          </a:prstGeom>
        </p:spPr>
      </p:pic>
      <p:pic>
        <p:nvPicPr>
          <p:cNvPr id="8" name="Image 3" descr="https://kimi-img.moonshot.cn/pub/slides/slides_tmpl/image/25-09-30-16:31:50-d3dpatgs8jdo4os5dgb0.png"/>
          <p:cNvPicPr>
            <a:picLocks noChangeAspect="1"/>
          </p:cNvPicPr>
          <p:nvPr/>
        </p:nvPicPr>
        <p:blipFill>
          <a:blip r:embed="rId7"/>
          <a:srcRect l="-4251" t="-10515" r="-1259" b="-11753"/>
          <a:stretch/>
        </p:blipFill>
        <p:spPr>
          <a:xfrm>
            <a:off x="743585" y="5060950"/>
            <a:ext cx="2561590" cy="753110"/>
          </a:xfrm>
          <a:prstGeom prst="rect">
            <a:avLst/>
          </a:prstGeom>
        </p:spPr>
      </p:pic>
      <p:sp>
        <p:nvSpPr>
          <p:cNvPr id="9" name="Text 3"/>
          <p:cNvSpPr/>
          <p:nvPr/>
        </p:nvSpPr>
        <p:spPr>
          <a:xfrm>
            <a:off x="743585" y="5234305"/>
            <a:ext cx="2561590" cy="400110"/>
          </a:xfrm>
          <a:prstGeom prst="rect">
            <a:avLst/>
          </a:prstGeom>
          <a:noFill/>
          <a:ln/>
        </p:spPr>
        <p:txBody>
          <a:bodyPr wrap="square" lIns="91440" tIns="45720" rIns="91440" bIns="45720" rtlCol="0" anchor="t">
            <a:spAutoFit/>
          </a:bodyPr>
          <a:lstStyle/>
          <a:p>
            <a:pPr algn="ctr">
              <a:lnSpc>
                <a:spcPct val="100000"/>
              </a:lnSpc>
            </a:pPr>
            <a:r>
              <a:rPr lang="en-US" sz="2000" dirty="0" err="1" smtClean="0">
                <a:solidFill>
                  <a:srgbClr val="FFFFFF"/>
                </a:solidFill>
                <a:latin typeface="MiSans" pitchFamily="34" charset="0"/>
                <a:ea typeface="MiSans" pitchFamily="34" charset="-122"/>
                <a:cs typeface="MiSans" pitchFamily="34" charset="-120"/>
              </a:rPr>
              <a:t>汇报人</a:t>
            </a:r>
            <a:endParaRPr lang="en-US" sz="1600" dirty="0"/>
          </a:p>
        </p:txBody>
      </p:sp>
      <p:pic>
        <p:nvPicPr>
          <p:cNvPr id="10" name="Image 4" descr="https://kimi-img.moonshot.cn/pub/slides/slides_tmpl/image/25-09-30-16:31:50-d3dpatgs8jdo4os5dgb0.png"/>
          <p:cNvPicPr>
            <a:picLocks noChangeAspect="1"/>
          </p:cNvPicPr>
          <p:nvPr/>
        </p:nvPicPr>
        <p:blipFill>
          <a:blip r:embed="rId7"/>
          <a:srcRect l="-3093" t="-7577" r="-2849" b="-8754"/>
          <a:stretch/>
        </p:blipFill>
        <p:spPr>
          <a:xfrm>
            <a:off x="3312160" y="5060950"/>
            <a:ext cx="2702560" cy="753110"/>
          </a:xfrm>
          <a:prstGeom prst="rect">
            <a:avLst/>
          </a:prstGeom>
        </p:spPr>
      </p:pic>
      <p:sp>
        <p:nvSpPr>
          <p:cNvPr id="11" name="Text 4"/>
          <p:cNvSpPr/>
          <p:nvPr/>
        </p:nvSpPr>
        <p:spPr>
          <a:xfrm>
            <a:off x="3395980" y="5234305"/>
            <a:ext cx="2562225" cy="400110"/>
          </a:xfrm>
          <a:prstGeom prst="rect">
            <a:avLst/>
          </a:prstGeom>
          <a:noFill/>
          <a:ln/>
        </p:spPr>
        <p:txBody>
          <a:bodyPr wrap="square" lIns="91440" tIns="45720" rIns="91440" bIns="45720" rtlCol="0" anchor="t">
            <a:spAutoFit/>
          </a:bodyPr>
          <a:lstStyle/>
          <a:p>
            <a:pPr algn="ctr">
              <a:lnSpc>
                <a:spcPct val="100000"/>
              </a:lnSpc>
            </a:pPr>
            <a:r>
              <a:rPr lang="en-US" sz="2000" dirty="0">
                <a:solidFill>
                  <a:srgbClr val="FFFFFF"/>
                </a:solidFill>
                <a:latin typeface="MiSans" pitchFamily="34" charset="0"/>
                <a:ea typeface="MiSans" pitchFamily="34" charset="-122"/>
                <a:cs typeface="MiSans" pitchFamily="34" charset="-120"/>
              </a:rPr>
              <a:t>时间</a:t>
            </a:r>
            <a:r>
              <a:rPr lang="en-US" sz="2000" dirty="0" smtClean="0">
                <a:solidFill>
                  <a:srgbClr val="FFFFFF"/>
                </a:solidFill>
                <a:latin typeface="MiSans" pitchFamily="34" charset="0"/>
                <a:ea typeface="MiSans" pitchFamily="34" charset="-122"/>
                <a:cs typeface="MiSans" pitchFamily="34" charset="-120"/>
              </a:rPr>
              <a:t>:2026</a:t>
            </a:r>
            <a:r>
              <a:rPr lang="en-US" sz="2000" dirty="0" smtClean="0">
                <a:solidFill>
                  <a:srgbClr val="FFFFFF"/>
                </a:solidFill>
                <a:latin typeface="MiSans" pitchFamily="34" charset="0"/>
                <a:ea typeface="MiSans" pitchFamily="34" charset="-122"/>
                <a:cs typeface="MiSans" pitchFamily="34" charset="-120"/>
              </a:rPr>
              <a:t>/05</a:t>
            </a:r>
            <a:endParaRPr lang="en-US" sz="1600" dirty="0"/>
          </a:p>
        </p:txBody>
      </p:sp>
    </p:spTree>
  </p:cSld>
  <p:clrMapOvr>
    <a:masterClrMapping/>
  </p:clrMapOvr>
  <p:transition>
    <p:fade/>
  </p:transition>
</p:sld>
</file>

<file path=ppt/theme/theme1.xml><?xml version="1.0" encoding="utf-8"?>
<a:theme xmlns:a="http://schemas.openxmlformats.org/drawingml/2006/main" name="Custom Theme">
  <a:themeElements>
    <a:clrScheme name="Custom">
      <a:dk1>
        <a:srgbClr val="000000"/>
      </a:dk1>
      <a:lt1>
        <a:srgbClr val="FFFFFF"/>
      </a:lt1>
      <a:dk2>
        <a:srgbClr val="44546A"/>
      </a:dk2>
      <a:lt2>
        <a:srgbClr val="E7E6E6"/>
      </a:lt2>
      <a:accent1>
        <a:srgbClr val="1E46EB"/>
      </a:accent1>
      <a:accent2>
        <a:srgbClr val="1CA97E"/>
      </a:accent2>
      <a:accent3>
        <a:srgbClr val="5D91F0"/>
      </a:accent3>
      <a:accent4>
        <a:srgbClr val="000000"/>
      </a:accent4>
      <a:accent5>
        <a:srgbClr val="FFFFFF"/>
      </a:accent5>
      <a:accent6>
        <a:srgbClr val="FF9202"/>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790</Words>
  <Application>Microsoft Office PowerPoint</Application>
  <PresentationFormat>宽屏</PresentationFormat>
  <Paragraphs>185</Paragraphs>
  <Slides>27</Slides>
  <Notes>27</Notes>
  <HiddenSlides>0</HiddenSlides>
  <MMClips>0</MMClips>
  <ScaleCrop>false</ScaleCrop>
  <HeadingPairs>
    <vt:vector size="6" baseType="variant">
      <vt:variant>
        <vt:lpstr>已用的字体</vt:lpstr>
      </vt:variant>
      <vt:variant>
        <vt:i4>3</vt:i4>
      </vt:variant>
      <vt:variant>
        <vt:lpstr>主题</vt:lpstr>
      </vt:variant>
      <vt:variant>
        <vt:i4>1</vt:i4>
      </vt:variant>
      <vt:variant>
        <vt:lpstr>幻灯片标题</vt:lpstr>
      </vt:variant>
      <vt:variant>
        <vt:i4>27</vt:i4>
      </vt:variant>
    </vt:vector>
  </HeadingPairs>
  <TitlesOfParts>
    <vt:vector size="31" baseType="lpstr">
      <vt:lpstr>Arial</vt:lpstr>
      <vt:lpstr>MiSans</vt:lpstr>
      <vt:lpstr>Calibri</vt:lpstr>
      <vt:lpstr>Custom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Moonshot</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锐捷EBG：AI赋能业务跃迁之路</dc:title>
  <dc:subject>锐捷EBG：AI赋能业务跃迁之路</dc:subject>
  <dc:creator>Kimi</dc:creator>
  <cp:lastModifiedBy>Lenovo</cp:lastModifiedBy>
  <cp:revision>2</cp:revision>
  <dcterms:created xsi:type="dcterms:W3CDTF">2026-05-08T00:29:13Z</dcterms:created>
  <dcterms:modified xsi:type="dcterms:W3CDTF">2026-05-08T00:34:46Z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{"Label":"锐捷EBG：AI赋能业务跃迁之路","ContentProducer":"001191110108MACG2KBH8F10000","ProduceID":"19e04fba-4002-8dfc-8000-000022f468fd","ReservedCode1":"","ContentPropagator":"001191110108MACG2KBH8F20000","PropagateID":"19e04fba-4002-8dfc-8000-000022f468fd","Reser</vt:lpwstr>
  </property>
</Properties>
</file>