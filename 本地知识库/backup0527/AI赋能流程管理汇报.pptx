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44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分享的主题是“AI赋能流程管理：从效率工具到战略引擎的升级之路”。随着AI技术进入工业化阶段，如何将其转化为可衡量的商业价值，成为企业关注的焦点。本次汇报将深入探讨AI如何在流程管理中发挥作用，并结合业界最佳实践，为大家提供一套完整的落地指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三个部分。首先，我们将探讨AI赋能流程管理的核心逻辑与前提条件，明确“先流程、后系统、再AI”的基本原则。接着，我们将深入剖析AI在流程设计、知识管理、执行自动化和监控优化这四大核心场景的应用。最后，我们将总结关键的落地逻辑，并提出具体的行动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现在我们进入第一部分：核心逻辑与落地前提。在这里，我们将明确一个至关重要的原则，那就是“先流程、后系统、再AI”。这不仅是理论指导，更是众多企业实践经验的总结，是确保AI项目成功的基石。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企业的流程管理能力遵循一个清晰的演进路径，即流程成熟度模型。从L1的初始级到L5的优化级，AI的应用应主要发生在L4和L5阶段。在流程尚未标准化的情况下盲目上马AI项目，是导致失败的主要原因。这张图清晰地展示了不同阶段的特征和对应的管理重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量研究表明，数字化转型失败的根源往往不在于技术，而在于流程。数据显示，超过60%的企业因流程问题遭遇障碍。默克集团的负责人也强调，理解流程是成功实施AI的前提。因此，我们必须遵循“流程标准化是基础，系统固化是载体，AI赋能是升华”这一内在逻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接下来，我们进入第二部分，也是本次汇报的核心内容：AI赋能流程管理的四大核心场景。我们将看到，在流程标准化和数字化的坚实基础上，AI如何在流程管理的全生命周期中发挥关键作用。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第一个场景是辅助流程设计与建模。传统设计依赖经验，而AI能实现从“经验驱动”到“数据驱动”的转变。以西门子为例，他们的Industrial Copilot允许工程师通过自然语言对话，让AI自动生成复杂的工艺流程图，极大地提升了效率并激发了创新。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这就是西门子Industrial Copilot的界面。大家可以看到，设计师可以通过简单的语言指令，让AI快速生成复杂的3D模型和流程图。这种人机协同的方式，不仅极大地提升了设计效率，更重要的是，它将专家的设计知识沉淀下来，成为企业可复用的宝贵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场景是流程知识管理。企业中大量的隐性知识，如专家经验，通常难以传承。AI可以将这些知识显性化、可计算化。以山东省第二人民医院为例，他们利用AI构建了智能药学体系，将用药错误拦截率提升到惊人的99.7%，同时极大地提升了药师的工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生动地展示了AI在医疗场景中的应用。医生在电脑前工作时，AI系统会实时提供辅助决策支持。通过将海量的医学知识转化为可计算的模型，AI不仅提升了医疗服务的准确性和效率，更让高水平的药学服务能够惠及更多患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场景是流程执行的提效与自动化。大量重复性工作是流程效率的瓶颈。工商银行通过部署超过3900名“数字员工”，实现了“人机协同”的新范式。这些数字员工能够自动完成跨系统操作、数据录入等任务，将单账户处理时间从2小时缩短到15分钟，效果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形象地展示了AI在金融领域的应用。工商银行的数字员工就像不知疲倦的机器人，在后台高效地处理着海量数据。通过将RPA和AI技术结合，他们不仅实现了效率的剧增，还显著降低了操作风险，真正实现了降本增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第四个场景是流程监控分析与优化决策。传统管理方式是“事后复盘”，而AI能实现“实时洞察”。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左侧展示了AI流程挖掘技术的核心价值，即通过实时分析海量系统日志，精准定位流程瓶颈与异常，实现从被动到主动的管理转变。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以西门子为例，它面对极其复杂的订单到现金流程，引入AI挖掘技术，最终实现了自动化率提升24%、返工率减少11%的显著运营改进，并带来了高达870万美元的直接经济收益。这充分说明了AI在优化复杂业务流程中的巨大潜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流程挖掘技术的原理。它通过分析系统日志，就像给流程做了一次CT扫描，能够清晰地还原出真实的执行路径，帮助管理者看到平时看不到的瓶颈和异常。西门子通过这项技术，每年减少了1000万次人工操作，并带来了数百万美元的财务收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最后，我们进入第三部分：总结与行动建议。在了解了AI赋能流程管理的核心逻辑和应用场景后，我们该如何将这些理念落地呢？这里将为大家提供清晰的行动指南。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领先企业的实践，成功实现AI赋能流程管理需要把握三大核心逻辑：首先，要进行架构重塑，而不仅仅是工具叠加，像伊利集团重构供应链那样；其次，要将隐性知识显性化，打造企业的智能决策模型；最后，要推动人机协同进化，改造组织能力，明确人机分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这些逻辑，我们建议采取“四步走”战略。第一步，诊断与评估，摸清家底；第二步，试点与验证，打造样板；第三步，平台化与规模化，复制成功；第四步，建立治理与度量体系，确保可持续发展。通过这四个步骤，企业可以避免陷入“为了AI而AI”的陷阱，真正将AI打造为驱动业务增长的战略引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我的汇报到此结束，感谢大家的聆听。现在是问答环节，欢迎大家提问交流。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jpe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jpeg" Type="http://schemas.openxmlformats.org/officeDocument/2006/relationships/image"/><Relationship Id="rId12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jpe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30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37.jpeg" Type="http://schemas.openxmlformats.org/officeDocument/2006/relationships/image"/><Relationship Id="rId6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8.jpe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39.jpe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3.jpe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8.jpeg" Type="http://schemas.openxmlformats.org/officeDocument/2006/relationships/image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9.jpeg" Type="http://schemas.openxmlformats.org/officeDocument/2006/relationships/image"/><Relationship Id="rId3" Target="../notesSlides/notesSlide18.xml" Type="http://schemas.openxmlformats.org/officeDocument/2006/relationships/notesSlide"/><Relationship Id="rId4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AI赋能流程管理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从效率工具到战略引擎的升级之路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46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汇报人：[您的姓名]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false" i="false" strike="noStrike" u="none" sz="2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F2937">
              <a:alpha val="90000"/>
            </a:srgbClr>
          </a:solidFill>
          <a:ln w="25400" cmpd="sng" cap="flat">
            <a:solidFill>
              <a:srgbClr val="34D399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241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810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核心逻辑与落地前提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68500" y="4826000"/>
            <a:ext cx="889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“先流程、后系统、再AI”</a:t>
            </a: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的实施原则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F2937">
              <a:alpha val="90000"/>
            </a:srgbClr>
          </a:solidFill>
          <a:ln w="25400" cmpd="sng" cap="flat">
            <a:solidFill>
              <a:srgbClr val="34D399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241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810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AI赋能流程管理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四大核心场景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651500" y="4826000"/>
            <a:ext cx="889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辅助设计 · 知识管理</a:t>
            </a: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执行提效 · 监控优化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F2937">
              <a:alpha val="90000"/>
            </a:srgbClr>
          </a:solidFill>
          <a:ln w="25400" cmpd="sng" cap="flat">
            <a:solidFill>
              <a:srgbClr val="34D399">
                <a:alpha val="6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413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3810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总结与行动建议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34500" y="4826000"/>
            <a:ext cx="889000" cy="381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533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关键落地逻辑</a:t>
            </a: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与四步走战略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228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794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核心逻辑与落地前提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318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“先流程、后系统、再AI”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理论基石：流程成熟度模型 (BPMM)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032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52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L1 初始级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Initial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667000"/>
            <a:ext cx="177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流程随意混乱，缺乏标准，严重依赖个人能力与经验，结果不可预测。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2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引入系统/AI无异于空中楼阁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1651000"/>
            <a:ext cx="2032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21000" y="1651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921000" y="1752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L2 可重复级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Managed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48000" y="2667000"/>
            <a:ext cx="177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关键流程已初步标准化，建立了基本的管理规范和操作手册，结果相对可预期。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🎯 重点：流程梳理与标准化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0" y="1651000"/>
            <a:ext cx="2032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0" y="1651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0" y="1752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L3 已定义级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Defined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207000" y="2667000"/>
            <a:ext cx="177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核心业务流程被全面体系化、文档化，并形成组织级标准流程集，全员共享。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🔧 系统建设(IT赋能)的基础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239000" y="1651000"/>
            <a:ext cx="2032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34D399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239000" y="1651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1752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L4 已管理级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Quantitatively Managed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366000" y="2667000"/>
            <a:ext cx="177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流程具备可监控、可量化的能力，建立了完整的KPI体系以跟踪流程绩效。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📊 数据驱动决策的前提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398000" y="1651000"/>
            <a:ext cx="2032000" cy="381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34D399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398000" y="1651000"/>
            <a:ext cx="2032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98000" y="17526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L5 优化级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0FDF4"/>
                </a:solidFill>
                <a:latin typeface="Noto Sans SC"/>
                <a:ea typeface="Noto Sans SC"/>
                <a:cs typeface="Noto Sans SC"/>
                <a:sym typeface="Noto Sans SC"/>
              </a:rPr>
              <a:t>Optimizing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0" y="2667000"/>
            <a:ext cx="1778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具备持续改进能力，主动寻找优化机会，利用预测性分析预判流程未来表现。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AI深度赋能的理想阶段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715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9055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778000" y="5778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核心洞察：AI的应用不应“平地起高楼”，应主要发生在</a:t>
            </a: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L4 (已管理级)</a:t>
            </a: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L5 (优化级)</a:t>
            </a: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阶段，以确保技术价值最大化。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数字化转型的“阿喀琉斯之踵”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711200" cy="711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778000"/>
            <a:ext cx="368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约 61%</a:t>
            </a: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的中国企业在数字化转型中，因“流程梳理不清晰”而遭遇重大障碍。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r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tru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— 来源：FineReport, 2025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711200" cy="711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366000" y="1778000"/>
            <a:ext cx="381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tru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“若缺乏洞察实际运作方式的工具，优化并统一流程的目标将难以实现。若能将‘流程理解’纳入AI计划，并强调‘需先理解流程才能成功实施AI’，就能获得广泛认同。”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r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Steve Carpenter</a:t>
            </a: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| 默克集团数字化负责人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3556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318000"/>
            <a:ext cx="3175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流程标准化是基础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打破部门壁垒，在企业内部建立统一的业务语言和执行规则，是转型的基石。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4064000"/>
            <a:ext cx="3556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4318000"/>
            <a:ext cx="3175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系统固化是载体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将标准化流程嵌入IT系统中，实现业务流转自动化，同时为转型积累高质量数据资产。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4064000"/>
            <a:ext cx="3556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4318000"/>
            <a:ext cx="3175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赋能是升华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基于系统沉淀的数据，应用AI模型进行深度分析与预测，最终实现业务决策智能化。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889000"/>
            <a:ext cx="203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794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AI赋能流程管理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四大核心场景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588000"/>
            <a:ext cx="1270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场景一：辅助流程设计与建模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从“经验驱动”到“数据驱动”的流程变革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3241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流程重塑的核心价值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传统流程设计依赖专家经验，不仅耗时费力，还极易遗漏复杂的边缘场景。引入AI后，系统可基于海量历史数据与实时业务流，自动生成、模拟并优化流程模型，让企业的流程创新速度呈指数级提升。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4356100"/>
            <a:ext cx="419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标杆案例：西门子 (Siemens) Industrial Copilot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953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产品设计与生产规划环节，应对复杂数据处理与操作流程。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AI赋能：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设计师通过</a:t>
            </a: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自然语言对话</a:t>
            </a: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提出需求，AI即刻生成包含精准单元布局与设备互联逻辑的可视化流程图。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rcRect l="0" r="0" t="12867" b="12867"/>
          <a:stretch>
            <a:fillRect/>
          </a:stretch>
        </p:blipFill>
        <p:spPr>
          <a:xfrm rot="0" flipH="false" flipV="false">
            <a:off x="6223000" y="2159000"/>
            <a:ext cx="5207000" cy="2413000"/>
          </a:xfrm>
          <a:prstGeom prst="roundRect">
            <a:avLst>
              <a:gd name="adj" fmla="val 6315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6223000" y="4826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2D3748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5143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5080000"/>
            <a:ext cx="114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效率飞跃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数小时工作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缩短至数分钟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91500" y="5143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763000" y="5080000"/>
            <a:ext cx="114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激发创新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快速探索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多种设计方案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906000" y="5143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414000" y="5080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知识沉淀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优秀实践融入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CBD5E0"/>
                </a:solidFill>
                <a:latin typeface="Noto Sans SC"/>
                <a:ea typeface="Noto Sans SC"/>
                <a:cs typeface="Noto Sans SC"/>
                <a:sym typeface="Noto Sans SC"/>
              </a:rPr>
              <a:t>AI模型资产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场景一案例：西门子Industrial Copilot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58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设计师可以直接说：“帮我生成一个氢气生产工厂的工艺流程图”，AI就能自动生成包含精准单元布局和互联功能的流程图。这种高效的人机协同模式正在重塑工业设计流程。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921000"/>
            <a:ext cx="266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111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3073400"/>
            <a:ext cx="184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自然语言交互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用日常口语化的描述代替复杂的指令代码，大幅降低操作门槛，简化繁琐的设计指令输入。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83000" y="2921000"/>
            <a:ext cx="266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873500" y="3111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381500" y="3073400"/>
            <a:ext cx="184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快速方案生成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将传统需数小时的工程设计工作缩短至几分钟，显著提升整体研发与设计的响应速度。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266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978400"/>
            <a:ext cx="184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设计方案探索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快速生成并展示多种技术路径的设计方案，辅助工程师快速权衡利弊，优化最终决策。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4826000"/>
            <a:ext cx="2667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873500" y="5016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381500" y="4978400"/>
            <a:ext cx="184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知识复用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将企业沉淀的优秀设计实践和工程经验融入AI模型，实现企业技术资产的传承与复用。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rcRect l="0" r="0" t="7777" b="7777"/>
          <a:stretch>
            <a:fillRect/>
          </a:stretch>
        </p:blipFill>
        <p:spPr>
          <a:xfrm rot="0" flipH="false" flipV="false">
            <a:off x="6731000" y="1905000"/>
            <a:ext cx="4699000" cy="4318000"/>
          </a:xfrm>
          <a:prstGeom prst="roundRect">
            <a:avLst>
              <a:gd name="adj" fmla="val 3529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场景二：流程知识管理与推广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06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将隐性知识显性化、可计算化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413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4130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价值点：打破知识壁垒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3302000"/>
            <a:ext cx="4572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企业中大量的流程知识（如SOP、规章制度、专家经验）通常以非结构化文档或员工个人经验的形式存在，分散且难以标准化，导致获取难、复用率低。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AI技术能够将这些</a:t>
            </a:r>
            <a:r>
              <a:rPr lang="en-US" b="true" i="false" strike="noStrike" u="none" sz="1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隐性知识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转化为结构化的知识库，并通过智能检索、语义理解和实时问答，让一线员工随时获取所需知识，实现“人找知识”到“知识找人”的转变，赋能全员高效工作。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21957" b="21957"/>
          <a:stretch>
            <a:fillRect/>
          </a:stretch>
        </p:blipFill>
        <p:spPr>
          <a:xfrm rot="0" flipH="false" flipV="false">
            <a:off x="6413500" y="2222500"/>
            <a:ext cx="4826000" cy="1524000"/>
          </a:xfrm>
          <a:prstGeom prst="roundRect">
            <a:avLst>
              <a:gd name="adj" fmla="val 6666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413500" y="3873500"/>
            <a:ext cx="482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案例：山东省第二人民医院药学智能化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临床药学涉及海量复杂规则。AI自动解析文献构建动态知识库，提供精准用药建议和相互作用警示，全面提升服务质量。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48895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5016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99.7%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用药错误拦截率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02600" y="48895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02600" y="5016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↓ 85%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药师书写药历时间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779000" y="4889500"/>
            <a:ext cx="1460500" cy="1270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779000" y="5016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↑ 70%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患者药学监护覆盖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场景二案例：智能药学体系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b="true" i="false" strike="noStrike" u="none" sz="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AI 赋能药学服务全流程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能够自动解析海量的药学文献、药品说明书和临床指南，构建动态更新的知识库。当临床药师需要审核处方或进行用药监护时，AI可以实时提供精准的用药建议、相互作用警示和剂量调整方案，全面提升药学服务的质量与效率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19187" b="19187"/>
          <a:stretch>
            <a:fillRect/>
          </a:stretch>
        </p:blipFill>
        <p:spPr>
          <a:xfrm rot="0" flipH="false" flipV="false">
            <a:off x="6223000" y="1524000"/>
            <a:ext cx="5207000" cy="2540000"/>
          </a:xfrm>
          <a:prstGeom prst="roundRect">
            <a:avLst>
              <a:gd name="adj" fmla="val 6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635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4572000"/>
            <a:ext cx="241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99.7%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用药错误拦截率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基于动态知识库，精准识别药物相互作用、禁忌证及配伍禁忌，守护患者用药安全。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4445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35500" y="4635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4572000"/>
            <a:ext cx="241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-85%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药师书写药历时间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AI自动抓取并生成标准化药历初稿，显著降低药师重复性劳动，释放更多精力投入临床。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4445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18500" y="4635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26500" y="4572000"/>
            <a:ext cx="241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+70%</a:t>
            </a: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患者药学监护覆盖率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000"/>
              </a:spcBef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突破人力资源瓶颈，扩大药学服务半径，实现住院及门诊患者的全人群精准用药覆盖。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场景三：流程执行提效与自动化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实现“人机协同”的新范式，释放高价值创造力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476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438400"/>
            <a:ext cx="3937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核心价值逻辑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3302000"/>
            <a:ext cx="45720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在日常运营中，大量</a:t>
            </a:r>
            <a:r>
              <a:rPr lang="en-US" b="true" i="false" strike="noStrike" u="none" sz="1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重复性、规则化的流程任务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（如数据录入、跨系统操作、单据核对）消耗了员工的大量精力，成为业务提效的隐形瓶颈。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600"/>
              </a:spcBef>
            </a:pP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通过将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RPA（机器人流程自动化）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AI（人工智能）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深度融合，可实现上述任务的</a:t>
            </a:r>
            <a:r>
              <a:rPr lang="en-US" b="true" i="false" strike="noStrike" u="none" sz="1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端到端自动化闭环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。这不仅消除了人工操作误差，更将人力资源从机械性劳动中彻底解放出来，专注于客户洞察、策略优化等</a:t>
            </a:r>
            <a:r>
              <a:rPr lang="en-US" b="tru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更高价值的创造性工作</a:t>
            </a:r>
            <a:r>
              <a:rPr lang="en-US" b="false" i="false" strike="noStrike" u="none" sz="14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25584" b="25584"/>
          <a:stretch>
            <a:fillRect/>
          </a:stretch>
        </p:blipFill>
        <p:spPr>
          <a:xfrm rot="0" flipH="false" flipV="false">
            <a:off x="6223000" y="2159000"/>
            <a:ext cx="5207000" cy="1905000"/>
          </a:xfrm>
          <a:prstGeom prst="roundRect">
            <a:avLst>
              <a:gd name="adj" fmla="val 8000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0" id="10"/>
          <p:cNvSpPr/>
          <p:nvPr/>
        </p:nvSpPr>
        <p:spPr>
          <a:xfrm rot="0" flipH="false" flipV="false">
            <a:off x="6223000" y="4191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43815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标杆案例：中国工商银行 (ICBC) 数字员工矩阵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4953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r>
              <a:rPr lang="en-US" b="true" i="false" strike="noStrike" u="none" sz="1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3900+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名数字员工，覆盖信贷审批、反洗钱等9大业务条线，实现：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效率：单账户处理时间 2h →</a:t>
            </a:r>
            <a:r>
              <a:rPr lang="en-US" b="true" i="false" strike="noStrike" u="none" sz="1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15min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，信贷审批效率提升60%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• 降本与风控：年节约</a:t>
            </a:r>
            <a:r>
              <a:rPr lang="en-US" b="true" i="false" strike="noStrike" u="none" sz="1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2.2万人年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工作量，信贷不良率下降</a:t>
            </a:r>
            <a:r>
              <a:rPr lang="en-US" b="true" i="false" strike="noStrike" u="none" sz="1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0.25%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场景三案例：工商银行数字员工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对公账户开立 · AI驱动的自动化变革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在对公账户开立场景，AI数字员工能自动从工商、税务、征信等多个外部系统抓取数据，通过NLP技术校验信息一致性，并自动完成大部分表单填写工作，实现业务流程的“无感”自动化。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651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367" r="367" t="0" b="0"/>
          <a:stretch>
            <a:fillRect/>
          </a:stretch>
        </p:blipFill>
        <p:spPr>
          <a:xfrm rot="0" flipH="false" flipV="false">
            <a:off x="6350000" y="1778000"/>
            <a:ext cx="1651000" cy="1651000"/>
          </a:xfrm>
          <a:prstGeom prst="roundRect">
            <a:avLst>
              <a:gd name="adj" fmla="val 923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128000" y="2032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技术融合赋能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结合RPA与NLP技术，打造不知疲倦的“数字员工”，实现后台海量数据的高效、准确处理。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4318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-85%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人工审核量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大幅释放人力资源，聚焦高价值工作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406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4318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-87.5%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单账户处理时间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2小时 ➔ 15分钟，极速响应客户需求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4064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4318000"/>
            <a:ext cx="3048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-0.25%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信贷审批不良率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技术校验更精准，有效降低操作风险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场景四：流程监控分析与优化决策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从“事后复盘”到“实时洞察”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11303" b="11303"/>
          <a:stretch>
            <a:fillRect/>
          </a:stretch>
        </p:blipFill>
        <p:spPr>
          <a:xfrm rot="0" flipH="false" flipV="false">
            <a:off x="1016000" y="2286000"/>
            <a:ext cx="4699000" cy="2032000"/>
          </a:xfrm>
          <a:prstGeom prst="roundRect">
            <a:avLst>
              <a:gd name="adj" fmla="val 5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4508500"/>
            <a:ext cx="469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流程挖掘技术价值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传统流程管理多为“事后诸葛亮”。AI驱动的流程挖掘能实时分析海量系统日志，自动还原真实业务路径，精准定位流程中的瓶颈、返工节点与合规异常，让企业从被动应对转变为主动优化。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5207000" cy="4191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286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应用案例：西门子 (Siemens)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针对极其复杂的全球“订单到现金 (O2C)”流程（含60个步骤及数百万种变体），引入AI流程挖掘平台，实时分析并自动发现效率瓶颈与风险点，重塑流程管理。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3683000"/>
            <a:ext cx="1473200" cy="2159000"/>
          </a:xfrm>
          <a:prstGeom prst="roundRect">
            <a:avLst>
              <a:gd name="adj" fmla="val 689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832600" y="3937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540500" y="4572000"/>
            <a:ext cx="1346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+24%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全球流程自动化率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89900" y="3683000"/>
            <a:ext cx="1473200" cy="2159000"/>
          </a:xfrm>
          <a:prstGeom prst="roundRect">
            <a:avLst>
              <a:gd name="adj" fmla="val 689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45500" y="3937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153400" y="4572000"/>
            <a:ext cx="1346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-11%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流程返工率降低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702800" y="3683000"/>
            <a:ext cx="1473200" cy="2159000"/>
          </a:xfrm>
          <a:prstGeom prst="roundRect">
            <a:avLst>
              <a:gd name="adj" fmla="val 689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058400" y="3937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766300" y="4572000"/>
            <a:ext cx="1346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$870万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数字库存优化收益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场景四案例：流程挖掘技术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流程挖掘技术能够实时分析系统日志，自动还原真实的流程执行路径，精准定位瓶颈、返工和异常，为企业业务流程的持续优化提供客观、数据驱动的科学决策依据。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3147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3238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实时监控 · 精准洞察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自动发现流程中的隐性瓶颈、高频返工路径与合规风险点，让流程透明化。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445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699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4699000"/>
            <a:ext cx="165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1000万+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次/年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减少重复性人工操作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4445000"/>
            <a:ext cx="2540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619500" y="4699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127500" y="4699000"/>
            <a:ext cx="165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经济增加值 (EVA)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24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$870万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显著的降本增效收益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5681" r="5681" t="0" b="0"/>
          <a:stretch>
            <a:fillRect/>
          </a:stretch>
        </p:blipFill>
        <p:spPr>
          <a:xfrm rot="0" flipH="false" flipV="false">
            <a:off x="6350000" y="2159000"/>
            <a:ext cx="5080000" cy="2794000"/>
          </a:xfrm>
          <a:prstGeom prst="roundRect">
            <a:avLst>
              <a:gd name="adj" fmla="val 5454"/>
            </a:avLst>
          </a:prstGeom>
          <a:noFill/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5207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“给业务流程做一次CT扫描”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通过对海量系统日志的智能分析，将无形的业务流程可视化，精准定位优化空间。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3175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794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总结与行动建议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SUMMARY &amp; ACTION PLAN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1270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关键落地逻辑总结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6174" b="6174"/>
          <a:stretch>
            <a:fillRect/>
          </a:stretch>
        </p:blipFill>
        <p:spPr>
          <a:xfrm rot="0" flipH="false" flipV="false">
            <a:off x="889000" y="1778000"/>
            <a:ext cx="3048000" cy="1778000"/>
          </a:xfrm>
          <a:prstGeom prst="roundRect">
            <a:avLst>
              <a:gd name="adj" fmla="val 5714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952500" y="3683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架构重塑而非工具叠加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445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AI赋能不是简单地在现有流程上“贴”一个AI工具，而是要对核心工作流进行系统性的重新设计。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588000"/>
            <a:ext cx="2921000" cy="635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6515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1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案例：伊利集团通过混合式AI架构重构了整个供应链。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651000"/>
            <a:ext cx="3302000" cy="1016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334000" y="2032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知识资产显性化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3048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将隐藏在员工大脑和非结构化文档中的隐性知识，通过AI转化为可计算、可调用的智能决策模型，沉淀为企业的核心数字资产。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4699000"/>
            <a:ext cx="2921000" cy="1397000"/>
          </a:xfrm>
          <a:prstGeom prst="roundRect">
            <a:avLst>
              <a:gd name="adj" fmla="val 363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762500" y="4826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true" strike="noStrike" u="none" sz="11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案例：工商银行的风控规则库、山东省第二人民医院的药学知识库。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651000"/>
            <a:ext cx="3302000" cy="1016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508000" cy="508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017000" y="20320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人机协同进化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18500" y="3048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成功的企业会同步改造组织能力，明确人机分工边界，建立“人在回路”的监督和干预机制，让AI成为员工的增强工具而非替代者。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18500" y="4699000"/>
            <a:ext cx="2921000" cy="1397000"/>
          </a:xfrm>
          <a:prstGeom prst="roundRect">
            <a:avLst>
              <a:gd name="adj" fmla="val 3636"/>
            </a:avLst>
          </a:prstGeom>
          <a:solidFill>
            <a:srgbClr val="F0FDF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45500" y="4826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true" strike="noStrike" u="none" sz="11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案例：默克集团采用“自下而上”的赋能策略，将AI工具交给一线员工，提升整体工作效率。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行动建议：四步走战略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8110" r="18110" t="0" b="0"/>
          <a:stretch>
            <a:fillRect/>
          </a:stretch>
        </p:blipFill>
        <p:spPr>
          <a:xfrm rot="0" flipH="false" flipV="false">
            <a:off x="762000" y="1778000"/>
            <a:ext cx="5080000" cy="4318000"/>
          </a:xfrm>
          <a:prstGeom prst="roundRect">
            <a:avLst>
              <a:gd name="adj" fmla="val 3529"/>
            </a:avLst>
          </a:prstGeom>
          <a:noFill/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6223000" y="1778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223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477000" y="1968500"/>
            <a:ext cx="2222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诊断与评估</a:t>
            </a: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(Assess)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运用流程成熟度模型（BPMM）全面评估，识别短板和机会点，摸清企业流程现状的“家底”。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0" y="1778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144000" y="1778000"/>
            <a:ext cx="762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98000" y="1968500"/>
            <a:ext cx="2222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试点与验证</a:t>
            </a: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(Pilot)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选择1-2个痛点明确、价值高的流程作为试点，快速实施并验证效果，打造具有说服力的“快速胜利”案例。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4191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4381500"/>
            <a:ext cx="2222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平台化与规模化</a:t>
            </a: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(Scale)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将试点成功经验标准化、平台化封装，建立卓越中心（CoE）赋能业务，在全企业范围内实现规模化复制。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0" y="4191000"/>
            <a:ext cx="2667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DF2F7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144000" y="4191000"/>
            <a:ext cx="76200" cy="2095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398000" y="4381500"/>
            <a:ext cx="2222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8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true" i="false" strike="noStrike" u="none" sz="1800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治理与度量</a:t>
            </a:r>
            <a:r>
              <a:rPr lang="en-US" b="false" i="false" strike="noStrike" u="none" sz="14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(Govern)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1200"/>
              </a:spcBef>
            </a:pP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建立完善的流程优化KPI体系和AI治理框架，确保智能化流程长期稳定运行，实现“可控、可审计、可度量”。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1016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461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欢迎各位批评指正 · 共同交流探讨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