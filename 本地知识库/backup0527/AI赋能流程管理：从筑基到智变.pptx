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MiSans" panose="02010600030101010101" charset="-122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807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3"/>
          <a:srcRect l="2846" t="2254" r="3013" b="8961"/>
          <a:stretch/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0585" y="1882140"/>
            <a:ext cx="7750810" cy="22218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AI赋能流程管理：从筑基到智变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9059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/>
        </p:spPr>
      </p:sp>
      <p:sp>
        <p:nvSpPr>
          <p:cNvPr id="5" name="Text 2"/>
          <p:cNvSpPr/>
          <p:nvPr/>
        </p:nvSpPr>
        <p:spPr>
          <a:xfrm>
            <a:off x="3455670" y="4476115"/>
            <a:ext cx="238569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 err="1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</a:t>
            </a:r>
            <a:r>
              <a:rPr lang="zh-CN" altLang="en-US" sz="20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14616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/>
        </p:spPr>
      </p:sp>
      <p:sp>
        <p:nvSpPr>
          <p:cNvPr id="7" name="Text 4"/>
          <p:cNvSpPr/>
          <p:nvPr/>
        </p:nvSpPr>
        <p:spPr>
          <a:xfrm>
            <a:off x="6111240" y="4476115"/>
            <a:ext cx="238569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时间:</a:t>
            </a:r>
            <a:r>
              <a:rPr lang="en-US" sz="2000" b="1" dirty="0" smtClean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2026/01/01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  <a:ln/>
        </p:spPr>
      </p:sp>
      <p:sp>
        <p:nvSpPr>
          <p:cNvPr id="9" name="Shape 6"/>
          <p:cNvSpPr/>
          <p:nvPr/>
        </p:nvSpPr>
        <p:spPr>
          <a:xfrm>
            <a:off x="10230150" y="156968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  <a:ln/>
        </p:spPr>
      </p:sp>
      <p:pic>
        <p:nvPicPr>
          <p:cNvPr id="10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25000"/>
          </a:blip>
          <a:srcRect t="22162"/>
          <a:stretch/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235" y="647700"/>
            <a:ext cx="6924675" cy="9220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18235" y="647700"/>
            <a:ext cx="6924675" cy="9220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r>
              <a:rPr lang="en-US" sz="3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/CONTENTS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/>
        </p:blipFill>
        <p:spPr>
          <a:xfrm>
            <a:off x="7494905" y="2640330"/>
            <a:ext cx="4050665" cy="3154045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4">
            <a:alphaModFix amt="13000"/>
          </a:blip>
          <a:stretch>
            <a:fillRect/>
          </a:stretch>
        </p:blipFill>
        <p:spPr>
          <a:xfrm flipH="1" flipV="1">
            <a:off x="9610725" y="723265"/>
            <a:ext cx="1656080" cy="133286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1911985"/>
            <a:ext cx="361315" cy="29146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2616200"/>
            <a:ext cx="361315" cy="291465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308985"/>
            <a:ext cx="361315" cy="291465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028440"/>
            <a:ext cx="361315" cy="291465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698365"/>
            <a:ext cx="361315" cy="291465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5403850"/>
            <a:ext cx="361315" cy="291465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1202055" y="1777365"/>
            <a:ext cx="780415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2156460" y="1837055"/>
            <a:ext cx="61601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认知重塑：AI赋能的底层逻辑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1202055" y="2470150"/>
            <a:ext cx="818515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2156460" y="2528570"/>
            <a:ext cx="61601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评估先行：企业流程成熟度诊断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1202055" y="3162935"/>
            <a:ext cx="818515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2156460" y="3221355"/>
            <a:ext cx="61601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策略规划：由简到繁分阶推进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1202055" y="3855720"/>
            <a:ext cx="818515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2156460" y="3914140"/>
            <a:ext cx="61601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场景落地：四大核心应用实践</a:t>
            </a:r>
            <a:endParaRPr lang="en-US" sz="1600" dirty="0"/>
          </a:p>
        </p:txBody>
      </p:sp>
      <p:sp>
        <p:nvSpPr>
          <p:cNvPr id="21" name="Text 10"/>
          <p:cNvSpPr/>
          <p:nvPr/>
        </p:nvSpPr>
        <p:spPr>
          <a:xfrm>
            <a:off x="1202055" y="4548505"/>
            <a:ext cx="818515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2156460" y="4600575"/>
            <a:ext cx="61601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价值闭环：效能提升与业务支撑</a:t>
            </a:r>
            <a:endParaRPr lang="en-US" sz="1600" dirty="0"/>
          </a:p>
        </p:txBody>
      </p:sp>
      <p:sp>
        <p:nvSpPr>
          <p:cNvPr id="23" name="Text 12"/>
          <p:cNvSpPr/>
          <p:nvPr/>
        </p:nvSpPr>
        <p:spPr>
          <a:xfrm>
            <a:off x="1202055" y="5241290"/>
            <a:ext cx="818515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2156460" y="5287010"/>
            <a:ext cx="6160135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行动指南：落地逻辑与关键原则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64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认知重塑：AI赋能的底层逻辑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2-d2v63olnfo2stf9dk5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1923415"/>
            <a:ext cx="3718560" cy="3718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47110" y="1637030"/>
            <a:ext cx="913130" cy="913130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4" name="Shape 1"/>
          <p:cNvSpPr/>
          <p:nvPr/>
        </p:nvSpPr>
        <p:spPr>
          <a:xfrm>
            <a:off x="4036060" y="3326130"/>
            <a:ext cx="913130" cy="913130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5" name="Shape 2"/>
          <p:cNvSpPr/>
          <p:nvPr/>
        </p:nvSpPr>
        <p:spPr>
          <a:xfrm>
            <a:off x="3547110" y="5015230"/>
            <a:ext cx="913130" cy="913130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6" name="Text 3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AI不是起点而是高阶赋能工具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8-12:56:04-d2v63p5nfo2stf9dk58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75" y="2012315"/>
            <a:ext cx="3340735" cy="34810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71875" y="1804670"/>
            <a:ext cx="863600" cy="539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16120" y="1638935"/>
            <a:ext cx="665162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三阶演进路径：标准化→信息化→智能化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16120" y="2012315"/>
            <a:ext cx="6848475" cy="6663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企业流程建设须遵循"先有流程底座、再有系统承载、最后AI加持"的三阶演进规律，跨越阶段直接上马AI将导致根基不稳、价值虚化。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060825" y="3493770"/>
            <a:ext cx="863600" cy="539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005070" y="3328035"/>
            <a:ext cx="665162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AI赋能的刚性前提条件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005070" y="3701415"/>
            <a:ext cx="6795770" cy="6663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无标准化流程、无信息系统、无数据沉淀的薄弱环节，AI流程赋能无法落地，这是业界普遍共识与不可逾越的边界。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571875" y="5182870"/>
            <a:ext cx="863600" cy="539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516120" y="5017135"/>
            <a:ext cx="665162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避免盲目上马导致空心化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16120" y="5390515"/>
            <a:ext cx="6978650" cy="6663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将AI视为流程建设起点是典型认知误区，企业需先夯实流程底座与数字化基础，再引入AI实现高阶价值跃迁。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23-d2v63ttnfo2stf9dk5eg.jpeg"/>
          <p:cNvPicPr>
            <a:picLocks noChangeAspect="1"/>
          </p:cNvPicPr>
          <p:nvPr/>
        </p:nvPicPr>
        <p:blipFill>
          <a:blip r:embed="rId3"/>
          <a:srcRect l="587" r="587"/>
          <a:stretch/>
        </p:blipFill>
        <p:spPr>
          <a:xfrm>
            <a:off x="744220" y="1390015"/>
            <a:ext cx="3868420" cy="23272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5015" y="3847465"/>
            <a:ext cx="3869581" cy="2474595"/>
          </a:xfrm>
          <a:prstGeom prst="rect">
            <a:avLst/>
          </a:prstGeom>
          <a:solidFill>
            <a:srgbClr val="015DBB"/>
          </a:solidFill>
          <a:ln/>
        </p:spPr>
      </p:sp>
      <p:sp>
        <p:nvSpPr>
          <p:cNvPr id="4" name="Text 1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流程成熟度决定AI落地边界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6:08-d2v63q5nfo2stf9dk5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6815" y="1390015"/>
            <a:ext cx="384175" cy="29845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6:08-d2v63q5nfo2stf9dk5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6815" y="3085465"/>
            <a:ext cx="384175" cy="29845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8-12:56:08-d2v63q5nfo2stf9dk5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6815" y="4780915"/>
            <a:ext cx="384175" cy="29845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42890" y="1403985"/>
            <a:ext cx="607060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流程成熟度前提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5342890" y="1777365"/>
            <a:ext cx="6070600" cy="597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业务流程须已标准化、权责清晰、流转规则明确，杜绝依赖个人经验的混乱口头流程，确保AI有规则可循。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945583" y="4064635"/>
            <a:ext cx="3576818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数字化底座前提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945583" y="4563110"/>
            <a:ext cx="3576818" cy="1526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需具备ERP、OA、CRM等业务系统支撑流程线上化运行，线下手工台账无法沉淀数据，AI无从分析。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5342890" y="3083560"/>
            <a:ext cx="607060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数据质量前提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342890" y="3456940"/>
            <a:ext cx="6070600" cy="597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基础主数据、业务数据、流程日志须完整规范，数据杂乱、口径不统一将直接导致AI分析失真、决策偏差。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5342890" y="4763135"/>
            <a:ext cx="607060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场景取舍原则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5342890" y="5136515"/>
            <a:ext cx="6070600" cy="597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标准化、重复化、规则化流程优先上AI；个性化、非固定、线下零散流程须先完成信息化标准化建设。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64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评估先行：企业流程成熟度诊断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5-d2v63mtnfo2stf9dk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595" y="1928495"/>
            <a:ext cx="4681855" cy="31089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55-d2v63mtnfo2stf9dk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55" y="1928495"/>
            <a:ext cx="4681855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构建流程成熟度四级评估模型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35" y="5396230"/>
            <a:ext cx="12192635" cy="14706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89355" y="2105660"/>
            <a:ext cx="4222115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四级成熟度定义与特征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189355" y="2559685"/>
            <a:ext cx="4224020" cy="228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乱级依赖口头传递，规范级已书面化但未线上运行，数字化级通过ERP/OA系统承载且数据可沉淀，智能级在数字化基础上引入AI辅助设计、执行与优化。企业须先完成自我诊断，明确所处阶段，再制定由简到繁的AI推进路径，杜绝跨越阶段的盲目建设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6764655" y="2105660"/>
            <a:ext cx="4222115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评估模型的战略价值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6764655" y="2559685"/>
            <a:ext cx="4224020" cy="192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四级模型为企业AI落地提供客观诊断依据，避免"一刀切"式推进。不同成熟度流程对应差异化策略：高成熟度立即AI赋能、中成熟度先补数字化短板、低成熟度从标准化起步，确保资源精准投放与风险可控。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1240" y="1827530"/>
            <a:ext cx="19050" cy="4343400"/>
          </a:xfrm>
          <a:prstGeom prst="line">
            <a:avLst/>
          </a:prstGeom>
          <a:noFill/>
          <a:ln w="12700">
            <a:solidFill>
              <a:srgbClr val="404040"/>
            </a:solidFill>
            <a:prstDash val="dash"/>
            <a:headEnd type="none"/>
            <a:tailEnd type="none"/>
          </a:ln>
        </p:spPr>
      </p:sp>
      <p:pic>
        <p:nvPicPr>
          <p:cNvPr id="3" name="Image 0" descr="https://kimi-img.moonshot.cn/pub/slides/slides_tmpl/image/25-09-08-12:55:59-d2v63ntnfo2stf9dk54g.jpeg"/>
          <p:cNvPicPr>
            <a:picLocks noChangeAspect="1"/>
          </p:cNvPicPr>
          <p:nvPr/>
        </p:nvPicPr>
        <p:blipFill>
          <a:blip r:embed="rId3"/>
          <a:srcRect l="27870" r="27870"/>
          <a:stretch/>
        </p:blipFill>
        <p:spPr>
          <a:xfrm>
            <a:off x="7637145" y="0"/>
            <a:ext cx="455485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7890" y="1560830"/>
            <a:ext cx="266700" cy="266700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5" name="Shape 2"/>
          <p:cNvSpPr/>
          <p:nvPr/>
        </p:nvSpPr>
        <p:spPr>
          <a:xfrm>
            <a:off x="897890" y="3202305"/>
            <a:ext cx="266700" cy="266700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6" name="Shape 3"/>
          <p:cNvSpPr/>
          <p:nvPr/>
        </p:nvSpPr>
        <p:spPr>
          <a:xfrm>
            <a:off x="897890" y="4843780"/>
            <a:ext cx="266700" cy="266700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7" name="Text 4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诊断工具与评估实施路径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6670" y="1524635"/>
            <a:ext cx="577596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四维评分卡设计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96670" y="1859915"/>
            <a:ext cx="5775960" cy="597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从流程标准化覆盖率、系统承载率、数据完整率、规则明确度四个维度设计量化评分卡，对核心业务流程逐项打分评估。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96670" y="3166110"/>
            <a:ext cx="577596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关键价值链全覆盖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96670" y="3501390"/>
            <a:ext cx="5775960" cy="597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评估对象覆盖采购、销售、生产、财务、人力等关键价值链环节，识别各业务板块的成熟度差异与短板所在。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96670" y="4807585"/>
            <a:ext cx="577596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可视化矩阵输出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296670" y="5142865"/>
            <a:ext cx="5775960" cy="597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评估结果形成可视化矩阵，标注高成熟度立即AI赋能领域、中成熟度补数字化短板领域、低成熟度从标准化做起领域。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64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策略规划：由简到繁分阶推进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2-d2v63olnfo2stf9dk55g.png"/>
          <p:cNvPicPr>
            <a:picLocks noChangeAspect="1"/>
          </p:cNvPicPr>
          <p:nvPr/>
        </p:nvPicPr>
        <p:blipFill>
          <a:blip r:embed="rId3"/>
          <a:srcRect t="154" b="154"/>
          <a:stretch/>
        </p:blipFill>
        <p:spPr>
          <a:xfrm>
            <a:off x="743585" y="1354455"/>
            <a:ext cx="10554335" cy="205422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2-d2v63olnfo2stf9dk5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130" y="2901950"/>
            <a:ext cx="987425" cy="9874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制定三阶递进AI落地路线图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2:56:02-d2v63olnfo2stf9dk5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900" y="2917825"/>
            <a:ext cx="987425" cy="95440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8-12:56:02-d2v63olnfo2stf9dk5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3370" y="2927350"/>
            <a:ext cx="987425" cy="95440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881505" y="3128645"/>
            <a:ext cx="815340" cy="5244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721360" y="3910330"/>
            <a:ext cx="313499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筑基期：快速验证价值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721360" y="4283710"/>
            <a:ext cx="3134995" cy="1241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聚焦高成熟度流程，应用AI进行知识固化与执行提效，如智能问答、自动催办，短期内获得可量化成果，建立组织信心。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5502275" y="3129280"/>
            <a:ext cx="815340" cy="504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4412615" y="3910330"/>
            <a:ext cx="313499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扩展期：由点到面覆盖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4412615" y="4283710"/>
            <a:ext cx="3134995" cy="95384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针对中等成熟度流程，同步推进数字化补齐与AI试点，在系统建设与智能应用双线并进中实现场景覆盖扩展。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262745" y="3138805"/>
            <a:ext cx="815340" cy="504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103870" y="3910330"/>
            <a:ext cx="313499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深化期：构建智能体系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8103870" y="4283710"/>
            <a:ext cx="3134995" cy="1241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对复杂核心流程进行AI辅助设计与智能决策，构建覆盖全流程的智能化管理体系，实现从效率提升到战略支撑的跃迁。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5-d2v63mtnfo2stf9dk52g.jpeg"/>
          <p:cNvPicPr>
            <a:picLocks noChangeAspect="1"/>
          </p:cNvPicPr>
          <p:nvPr/>
        </p:nvPicPr>
        <p:blipFill>
          <a:blip r:embed="rId3"/>
          <a:srcRect l="29542" r="29542"/>
          <a:stretch/>
        </p:blipFill>
        <p:spPr>
          <a:xfrm>
            <a:off x="7973695" y="0"/>
            <a:ext cx="4218305" cy="68751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5180" y="3684270"/>
            <a:ext cx="7791450" cy="2379980"/>
          </a:xfrm>
          <a:prstGeom prst="rect">
            <a:avLst/>
          </a:prstGeom>
          <a:solidFill>
            <a:srgbClr val="015DBB"/>
          </a:solidFill>
          <a:ln w="19050">
            <a:solidFill>
              <a:srgbClr val="1E46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场景优先级排序与资源聚焦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3822" y="1544320"/>
            <a:ext cx="6261052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四项优先排序标准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72845" y="2029460"/>
            <a:ext cx="6263005" cy="14566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流程成熟度最高、业务重复频率最高、人工操作耗时最长、数据质量最优四项标准排序，确保资源聚焦高价值场景。典型高优场景包括标准化审批智能催办、高频单据OCR自动识别、常见流程问题语义问答，低优场景则涉及非标合同审批、线下临时协作流程。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73943" y="3893820"/>
            <a:ext cx="7041223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短期成果驱动信心建设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72845" y="4378960"/>
            <a:ext cx="7043420" cy="11153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通过聚焦高优先级场景，企业可在3至6个月内获得可量化的效率提升成果，如审批时效提升30%以上、人工录入减少50%，以实际数据建立业务部门对AI流程赋能的信任，为后续扩展奠定组织基础。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64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场景落地：四大核心应用实践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975" y="1662430"/>
            <a:ext cx="3255010" cy="44380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45" y="1651000"/>
            <a:ext cx="3255010" cy="44380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0" y="1662430"/>
            <a:ext cx="3255010" cy="443801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943100" y="1852930"/>
            <a:ext cx="1071880" cy="1072515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6" name="Shape 1"/>
          <p:cNvSpPr/>
          <p:nvPr/>
        </p:nvSpPr>
        <p:spPr>
          <a:xfrm>
            <a:off x="5540375" y="1852930"/>
            <a:ext cx="1071880" cy="1072515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7" name="Shape 2"/>
          <p:cNvSpPr/>
          <p:nvPr/>
        </p:nvSpPr>
        <p:spPr>
          <a:xfrm>
            <a:off x="9137650" y="1852930"/>
            <a:ext cx="1071880" cy="1072515"/>
          </a:xfrm>
          <a:prstGeom prst="ellipse">
            <a:avLst/>
          </a:prstGeom>
          <a:solidFill>
            <a:srgbClr val="015DBB"/>
          </a:solidFill>
          <a:ln/>
        </p:spPr>
      </p:sp>
      <p:sp>
        <p:nvSpPr>
          <p:cNvPr id="8" name="Text 3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AI辅助流程从零到一的规划设计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363585" y="1651000"/>
            <a:ext cx="4064000" cy="2660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1982590" y="2076518"/>
            <a:ext cx="993526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106170" y="3067685"/>
            <a:ext cx="274637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AI自动梳理业务现状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106170" y="3688715"/>
            <a:ext cx="2746375" cy="1241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抓取制度文件、岗位职责、历史工单及聊天记录，自动识别业务节点、角色与流转逻辑，快速输出初步流程图与岗位职责矩阵。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579865" y="2076518"/>
            <a:ext cx="993526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703445" y="3067685"/>
            <a:ext cx="274637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AI流程合规校验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703445" y="3688715"/>
            <a:ext cx="2746375" cy="1241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内置行业制度、内控规则与风控红线，新建流程时自动校验节点缺失、权责交叉与合规漏洞，提前规避设计缺陷。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177140" y="2076518"/>
            <a:ext cx="993526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300720" y="3067685"/>
            <a:ext cx="274637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标杆流程智能对标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00720" y="3688715"/>
            <a:ext cx="2746375" cy="1241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AI匹配同行业最佳实践流程，给出现有流程优化对标建议，提升流程设计的科学性与行业竞争力。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5390" y="1849120"/>
            <a:ext cx="4457065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9265" y="1630680"/>
            <a:ext cx="3409950" cy="36957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</p:sp>
      <p:sp>
        <p:nvSpPr>
          <p:cNvPr id="4" name="Shape 2"/>
          <p:cNvSpPr/>
          <p:nvPr/>
        </p:nvSpPr>
        <p:spPr>
          <a:xfrm>
            <a:off x="6358890" y="1849120"/>
            <a:ext cx="4457065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82765" y="1630680"/>
            <a:ext cx="3409950" cy="36957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</p:sp>
      <p:sp>
        <p:nvSpPr>
          <p:cNvPr id="6" name="Shape 4"/>
          <p:cNvSpPr/>
          <p:nvPr/>
        </p:nvSpPr>
        <p:spPr>
          <a:xfrm>
            <a:off x="1264920" y="4262120"/>
            <a:ext cx="4290060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9265" y="4043877"/>
            <a:ext cx="3409950" cy="369373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</p:sp>
      <p:sp>
        <p:nvSpPr>
          <p:cNvPr id="8" name="Shape 6"/>
          <p:cNvSpPr/>
          <p:nvPr/>
        </p:nvSpPr>
        <p:spPr>
          <a:xfrm>
            <a:off x="6421120" y="4262120"/>
            <a:ext cx="4290060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95465" y="4043877"/>
            <a:ext cx="3409950" cy="369373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/>
        </p:spPr>
      </p:sp>
      <p:sp>
        <p:nvSpPr>
          <p:cNvPr id="10" name="Text 8"/>
          <p:cNvSpPr/>
          <p:nvPr/>
        </p:nvSpPr>
        <p:spPr>
          <a:xfrm>
            <a:off x="595630" y="55181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AI驱动流程知识沉淀与智能服务</a:t>
            </a:r>
            <a:endParaRPr lang="en-US" sz="1600" dirty="0"/>
          </a:p>
        </p:txBody>
      </p:sp>
      <p:pic>
        <p:nvPicPr>
          <p:cNvPr id="11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502603"/>
            <a:ext cx="579755" cy="65214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17370" y="1623695"/>
            <a:ext cx="322199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流程知识私有化知识库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39215" y="2143125"/>
            <a:ext cx="4218305" cy="920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将流程图、制度规范、操作手册、审批规则全部入库，支持员工口语化提问即时获取流程信息，告别翻文档时代。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817666" y="4036695"/>
            <a:ext cx="3222278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流程智能引导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03479" y="4556125"/>
            <a:ext cx="4218048" cy="920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新人入职与跨部门办理时，AI按岗位推送必学流程、操作步骤与常见报错处理，大幅降低培训推广成本。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60870" y="1623695"/>
            <a:ext cx="322199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流程版本智能管控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59855" y="2143125"/>
            <a:ext cx="4218305" cy="6440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AI自动记录流程迭代版本、变更原因与适用场景，避免新旧流程混用导致的执行偏差与合规风险。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73866" y="4036695"/>
            <a:ext cx="3222278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隐性知识显性化转化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59679" y="4556125"/>
            <a:ext cx="4184851" cy="920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把依赖个人经验的隐性流程知识转化为可随时调用的组织能力，实现制度流程向业务能力的深度转化。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4-d2v63p5nfo2stf9dk59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580" y="1719580"/>
            <a:ext cx="3224530" cy="44380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4-d2v63p5nfo2stf9dk59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40" y="1719580"/>
            <a:ext cx="3224530" cy="44380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4-d2v63p5nfo2stf9dk59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90" y="1719580"/>
            <a:ext cx="3224530" cy="443801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AI替代重复操作实现执行提效</a:t>
            </a:r>
            <a:endParaRPr lang="en-US" sz="1600" dirty="0"/>
          </a:p>
        </p:txBody>
      </p:sp>
      <p:pic>
        <p:nvPicPr>
          <p:cNvPr id="6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207135" y="2134235"/>
            <a:ext cx="2631440" cy="730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规则类工作智能自动处理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207135" y="2945765"/>
            <a:ext cx="2631440" cy="137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AI按业务规则自动完成数据填报、单据校验、资料匹配、流程发起及低风险节点自动审批，释放人工处理压力。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4896485" y="2134235"/>
            <a:ext cx="2631440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智能单据与信息识别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896485" y="2945765"/>
            <a:ext cx="2631440" cy="137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合同、发票、申请单等非结构化资料通过AI OCR加语义理解自动提取关键字段并回填表单，规避人为错填漏填。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8585835" y="2134235"/>
            <a:ext cx="2631440" cy="3948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流程异常智能兜底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585835" y="2945765"/>
            <a:ext cx="2631440" cy="137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卡审、滞留、资料缺失时AI自动提醒责任人、补齐资料并智能催办，确保流程流转效率与执行稳定性。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5-d2v63mtnfo2stf9dk53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95" y="1249680"/>
            <a:ext cx="1257935" cy="14147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70700" y="4445"/>
            <a:ext cx="5321300" cy="6854190"/>
          </a:xfrm>
          <a:custGeom>
            <a:avLst/>
            <a:gdLst/>
            <a:ahLst/>
            <a:cxnLst/>
            <a:rect l="l" t="t" r="r" b="b"/>
            <a:pathLst>
              <a:path w="5321300" h="6854190">
                <a:moveTo>
                  <a:pt x="853585" y="0"/>
                </a:moveTo>
                <a:lnTo>
                  <a:pt x="5321300" y="0"/>
                </a:lnTo>
                <a:lnTo>
                  <a:pt x="5321300" y="6854190"/>
                </a:lnTo>
                <a:lnTo>
                  <a:pt x="916820" y="6854190"/>
                </a:lnTo>
                <a:lnTo>
                  <a:pt x="813147" y="6679520"/>
                </a:lnTo>
                <a:cubicBezTo>
                  <a:pt x="305157" y="5781193"/>
                  <a:pt x="0" y="4629518"/>
                  <a:pt x="0" y="3373826"/>
                </a:cubicBezTo>
                <a:cubicBezTo>
                  <a:pt x="0" y="2118134"/>
                  <a:pt x="305157" y="966458"/>
                  <a:pt x="813146" y="68131"/>
                </a:cubicBezTo>
                <a:close/>
              </a:path>
            </a:pathLst>
          </a:custGeom>
          <a:solidFill>
            <a:srgbClr val="015DBB"/>
          </a:solidFill>
          <a:ln/>
        </p:spPr>
      </p:sp>
      <p:sp>
        <p:nvSpPr>
          <p:cNvPr id="4" name="Shape 1"/>
          <p:cNvSpPr/>
          <p:nvPr/>
        </p:nvSpPr>
        <p:spPr>
          <a:xfrm>
            <a:off x="1056005" y="1828800"/>
            <a:ext cx="10176510" cy="39433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2DAF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44578" y="2144395"/>
            <a:ext cx="0" cy="3312160"/>
          </a:xfrm>
          <a:prstGeom prst="straightConnector1">
            <a:avLst/>
          </a:prstGeom>
          <a:noFill/>
          <a:ln w="12700">
            <a:solidFill>
              <a:srgbClr val="0B207A"/>
            </a:solidFill>
            <a:prstDash val="dash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AI洞察数据支撑流程优化决策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9078" y="2271395"/>
            <a:ext cx="4285615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实时态势监控与根因分析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09078" y="2775585"/>
            <a:ext cx="4284228" cy="15543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AI实时抓取全流程数据，统计流转时长、审批效率、驳回率与卡点节点；效率异常时自动拆解根因，定位制度、人员、系统或节点冗余问题，将事后复盘转变为实时监控与智能诊断。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94463" y="2271395"/>
            <a:ext cx="4285615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辅助迭代决策与经营分析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94463" y="2775585"/>
            <a:ext cx="4284228" cy="192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基于历史数据AI给出流程精简、节点合并、权限调整建议，同时输出毛利、周转、渠道效率等经营分析结论，推动流程优化从经验驱动向数据驱动转变，实现主动优化与战略决策支撑。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64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价值闭环：效能提升与业务支撑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9-d2v63qdnfo2stf9dk5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" y="5690870"/>
            <a:ext cx="10686415" cy="7378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9-d2v63qdnfo2stf9dk5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" y="4327525"/>
            <a:ext cx="10686415" cy="73787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9-d2v63qdnfo2stf9dk5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" y="2988310"/>
            <a:ext cx="10686415" cy="73787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2:56:09-d2v63qdnfo2stf9dk5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" y="1659890"/>
            <a:ext cx="10686415" cy="73787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5630" y="50609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量化AI赋能流程管理的核心效能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502603"/>
            <a:ext cx="579755" cy="65214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823595" y="1280160"/>
            <a:ext cx="322199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时间效率维度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923290" y="1703705"/>
            <a:ext cx="10203180" cy="3787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流程设计周期缩短40%至60%，审批流转时长下降30%至50%，实现业务响应速度质的飞跃。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23595" y="2599690"/>
            <a:ext cx="322199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成本节约维度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974090" y="3032125"/>
            <a:ext cx="10203180" cy="3787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人工处理单据量减少50%以上，新人流程培训成本降低60%以上，释放大量人力投入高价值工作。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23595" y="3939540"/>
            <a:ext cx="322199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质量提升维度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923290" y="4371340"/>
            <a:ext cx="10203180" cy="3787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流程合规违规率下降70%以上，数据填报准确率提升至95%以上，从源头减少执行偏差与返工成本。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823595" y="5288280"/>
            <a:ext cx="322199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决策加速维度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974090" y="5711825"/>
            <a:ext cx="10203180" cy="3787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流程优化建议采纳率超80%，经营分析报表产出时效从天级缩短至小时级，支撑管理层快速决策。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490" y="1475105"/>
            <a:ext cx="3524250" cy="2437765"/>
          </a:xfrm>
          <a:prstGeom prst="rect">
            <a:avLst/>
          </a:prstGeom>
          <a:solidFill>
            <a:srgbClr val="015DBB"/>
          </a:solidFill>
          <a:ln/>
        </p:spPr>
      </p:sp>
      <p:pic>
        <p:nvPicPr>
          <p:cNvPr id="3" name="Image 0" descr="https://kimi-img.moonshot.cn/pub/slides/slides_tmpl/image/25-09-08-12:56:03-d2v63otnfo2stf9dk570.jpeg"/>
          <p:cNvPicPr>
            <a:picLocks noChangeAspect="1"/>
          </p:cNvPicPr>
          <p:nvPr/>
        </p:nvPicPr>
        <p:blipFill>
          <a:blip r:embed="rId3"/>
          <a:srcRect l="-8" t="512" r="8" b="512"/>
          <a:stretch/>
        </p:blipFill>
        <p:spPr>
          <a:xfrm>
            <a:off x="745490" y="3977005"/>
            <a:ext cx="3524885" cy="23431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35290" y="1475105"/>
            <a:ext cx="3524250" cy="2437765"/>
          </a:xfrm>
          <a:prstGeom prst="rect">
            <a:avLst/>
          </a:prstGeom>
          <a:solidFill>
            <a:srgbClr val="015DBB"/>
          </a:solidFill>
          <a:ln/>
        </p:spPr>
      </p:sp>
      <p:pic>
        <p:nvPicPr>
          <p:cNvPr id="5" name="Image 1" descr="https://kimi-img.moonshot.cn/pub/slides/slides_tmpl/image/25-09-08-12:56:00-d2v63o5nfo2stf9dk550.png"/>
          <p:cNvPicPr>
            <a:picLocks noChangeAspect="1"/>
          </p:cNvPicPr>
          <p:nvPr/>
        </p:nvPicPr>
        <p:blipFill>
          <a:blip r:embed="rId4"/>
          <a:srcRect l="-8" t="24" r="8" b="24"/>
          <a:stretch/>
        </p:blipFill>
        <p:spPr>
          <a:xfrm>
            <a:off x="8035290" y="3977005"/>
            <a:ext cx="3524885" cy="23431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390390" y="3882390"/>
            <a:ext cx="3524250" cy="2437765"/>
          </a:xfrm>
          <a:prstGeom prst="rect">
            <a:avLst/>
          </a:prstGeom>
          <a:solidFill>
            <a:srgbClr val="015DBB"/>
          </a:solidFill>
          <a:ln/>
        </p:spPr>
      </p:sp>
      <p:pic>
        <p:nvPicPr>
          <p:cNvPr id="7" name="Image 2" descr="https://kimi-img.moonshot.cn/pub/slides/slides_tmpl/image/25-09-08-12:55:47-d2v63ktnfo2stf9dk4v0.jpeg"/>
          <p:cNvPicPr>
            <a:picLocks noChangeAspect="1"/>
          </p:cNvPicPr>
          <p:nvPr/>
        </p:nvPicPr>
        <p:blipFill>
          <a:blip r:embed="rId5"/>
          <a:srcRect l="7696" r="7696"/>
          <a:stretch/>
        </p:blipFill>
        <p:spPr>
          <a:xfrm>
            <a:off x="4390390" y="1475105"/>
            <a:ext cx="3524885" cy="23431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从流程效率到业务支撑的跃迁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4725" y="1602740"/>
            <a:ext cx="321945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采购流程支撑供应链敏捷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974725" y="1957070"/>
            <a:ext cx="3140710" cy="1762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采购审批与供应商协同流程提速，支撑供应链快速响应市场变化，降低库存积压与断供风险。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202930" y="1602740"/>
            <a:ext cx="314134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销售流程驱动客户转化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8218170" y="1957070"/>
            <a:ext cx="3220085" cy="17106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报价、合同、交付流程优化提升客户体验与成交转化效率，将流程能力转化为市场竞争优势。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542950" y="4010025"/>
            <a:ext cx="3141621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财务流程赋能资金风控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542950" y="4364355"/>
            <a:ext cx="3219746" cy="1796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费用报销、资金审批自动化释放财务人力，实时风控预警保障资金安全，支撑业务稳健扩张。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640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行动指南：落地逻辑与关键原则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74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4"/>
          <a:srcRect t="1192" b="1192"/>
          <a:stretch/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>
            <a:alphaModFix amt="30000"/>
          </a:blip>
          <a:srcRect t="22162"/>
          <a:stretch/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0-d2v63llnfo2stf9dk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10" y="1814830"/>
            <a:ext cx="4900930" cy="42246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牢记先成熟后AI的核心落地逻辑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8-12:55:50-d2v63llnfo2stf9dk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90" y="1814830"/>
            <a:ext cx="4900930" cy="422465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82065" y="2446020"/>
            <a:ext cx="4243070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十二字方针与协同机制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1281430" y="3121660"/>
            <a:ext cx="4072255" cy="30174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坚持"先筑牢标准化底座，再完成线上化数字化，最后用AI做辅助设计、知识固化、执行替代、监控优化"的十二字方针。建立流程管理部门、IT部门与业务部门的三角协同机制，明确各方在标准化建设、系统开发、AI应用中的职责分工，形成持续迭代的长效运营机制而非一次性项目，杜绝运动式建设。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722745" y="2446020"/>
            <a:ext cx="4243070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坚守边界防止空心化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722110" y="3121660"/>
            <a:ext cx="4072255" cy="228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牢记"先成熟后AI、先系统后智能"原则，对未达标流程坚决不做AI包装。定期审计AI应用的实际运行数据，识别并清理"伪智能"场景，确保每一分AI投入都建立在扎实的流程底座与数字化基础之上，避免技术空转与资源浪费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3-d2v63otnfo2stf9dk5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780" y="3222625"/>
            <a:ext cx="7583170" cy="150558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3-d2v63otnfo2stf9dk5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780" y="1482725"/>
            <a:ext cx="7583170" cy="150558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4-d2v63p5nfo2stf9dk5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30" y="4836160"/>
            <a:ext cx="10447020" cy="152971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2:56:05-d2v63pdnfo2stf9dk5a0.png"/>
          <p:cNvPicPr>
            <a:picLocks noChangeAspect="1"/>
          </p:cNvPicPr>
          <p:nvPr/>
        </p:nvPicPr>
        <p:blipFill>
          <a:blip r:embed="rId5"/>
          <a:srcRect l="106" r="106"/>
          <a:stretch/>
        </p:blipFill>
        <p:spPr>
          <a:xfrm>
            <a:off x="937260" y="1459865"/>
            <a:ext cx="2700655" cy="32054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5630" y="525145"/>
            <a:ext cx="7004685" cy="654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构建可持续演进的流程智能体系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933190" y="1586865"/>
            <a:ext cx="715010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从单点向全链路智能扩展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3933190" y="1960245"/>
            <a:ext cx="7302500" cy="6663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突破单一环节AI应用，逐步实现流程规划设计、知识服务、执行自动化、监控优化的全链路智能覆盖。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3933190" y="3300730"/>
            <a:ext cx="7150100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从规则驱动向预测驱动升级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933190" y="3674110"/>
            <a:ext cx="7302500" cy="66631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演进方向从基于固定规则的自动化，迈向基于数据洞察的预测性流程优化与自主决策能力构建。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1249763" y="5023485"/>
            <a:ext cx="9398635" cy="367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保持动态演进的长期视角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1249763" y="5396865"/>
            <a:ext cx="9985424" cy="3787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定期复盘流程成熟度与AI应用深度的匹配状态，动态调整推进策略，构建自我学习、自我优化的流程智能体系。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3"/>
          <a:srcRect l="6625" t="8858" r="11055" b="15857"/>
          <a:stretch/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2195830"/>
            <a:ext cx="7026275" cy="14451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800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0890" y="3501390"/>
            <a:ext cx="4716780" cy="459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015D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5"/>
          <a:srcRect t="22162"/>
          <a:stretch/>
        </p:blipFill>
        <p:spPr>
          <a:xfrm>
            <a:off x="7364095" y="1974850"/>
            <a:ext cx="4268470" cy="3323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707</Words>
  <Application>Microsoft Office PowerPoint</Application>
  <PresentationFormat>宽屏</PresentationFormat>
  <Paragraphs>159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MiSans</vt:lpstr>
      <vt:lpstr>Calibri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AI赋能流程管理：从筑基到智变</dc:title>
  <dc:subject>AI赋能流程管理：从筑基到智变</dc:subject>
  <dc:creator>Kimi</dc:creator>
  <cp:lastModifiedBy>Lenovo</cp:lastModifiedBy>
  <cp:revision>2</cp:revision>
  <dcterms:created xsi:type="dcterms:W3CDTF">2026-05-06T08:48:07Z</dcterms:created>
  <dcterms:modified xsi:type="dcterms:W3CDTF">2026-05-06T08:51:06Z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赋能流程管理：从筑基到智变","ContentProducer":"001191110108MACG2KBH8F10000","ProduceID":"19dfc76f-d292-87ef-8000-0000c518fc10","ReservedCode1":"","ContentPropagator":"001191110108MACG2KBH8F20000","PropagateID":"19dfc76f-d292-87ef-8000-0000c518fc10","Reserv</vt:lpwstr>
  </property>
</Properties>
</file>