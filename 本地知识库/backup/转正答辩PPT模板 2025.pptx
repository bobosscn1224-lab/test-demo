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57" r:id="rId3"/>
    <p:sldId id="289" r:id="rId4"/>
    <p:sldId id="307" r:id="rId5"/>
    <p:sldId id="293" r:id="rId6"/>
    <p:sldId id="292" r:id="rId7"/>
    <p:sldId id="311" r:id="rId8"/>
    <p:sldId id="264" r:id="rId9"/>
  </p:sldIdLst>
  <p:sldSz cx="9144000" cy="6858000" type="screen4x3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33"/>
    <a:srgbClr val="910015"/>
    <a:srgbClr val="27C39E"/>
    <a:srgbClr val="2CD4AC"/>
    <a:srgbClr val="2CDCAC"/>
    <a:srgbClr val="27BF9B"/>
    <a:srgbClr val="00FFCC"/>
    <a:srgbClr val="996600"/>
    <a:srgbClr val="D09C0A"/>
    <a:srgbClr val="A07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1" autoAdjust="0"/>
    <p:restoredTop sz="83356" autoAdjust="0"/>
  </p:normalViewPr>
  <p:slideViewPr>
    <p:cSldViewPr showGuides="1">
      <p:cViewPr varScale="1">
        <p:scale>
          <a:sx n="73" d="100"/>
          <a:sy n="73" d="100"/>
        </p:scale>
        <p:origin x="1560" y="48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BC01C-0604-4629-ACC8-3F5670522AC3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42B2D-961B-4F11-9D4F-F4B940EBF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8665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5765E-E08B-4CCB-AE85-B4DEE85320BC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4498C-04FC-4C57-9267-2C30343E44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575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1—3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页为封面页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991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62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、对试用期的目标达成情况进行量化描述，如无法量化，需写明工作结果及里程碑的差距。</a:t>
            </a:r>
            <a:endParaRPr lang="en-US" altLang="zh-CN" sz="1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、说明工作中遇到的具体问题，解决方案、实施步骤及结果。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07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工作亮点为工作中表现的闪光点，可给别人提供正向参考价值，可沉淀经验</a:t>
            </a:r>
            <a:endParaRPr lang="en-US" altLang="zh-CN" dirty="0"/>
          </a:p>
          <a:p>
            <a:r>
              <a:rPr lang="zh-CN" altLang="en-US" dirty="0"/>
              <a:t>工作机会点为工作中可改善的，或可大力发展的方面。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606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框内填写规则：</a:t>
            </a:r>
            <a:endParaRPr lang="en-US" altLang="zh-CN" sz="12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、额外的学习情况</a:t>
            </a:r>
            <a:endParaRPr lang="en-US" altLang="zh-CN" sz="12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、总体的成长记进步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605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、针对自己下一步工作目标，结合当前市场情况，描述具体的行动计划。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、量化说明具体的目标，具体说明业务、动作。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544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、针对自己下一步工作目标，结合当前市场情况，描述具体的行动计划。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、量化说明具体的目标，具体说明业务、动作。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75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24—26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底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51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83569" y="4077072"/>
            <a:ext cx="3312368" cy="2880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作者：代用名  </a:t>
            </a:r>
            <a:endParaRPr lang="en-US" altLang="zh-CN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683568" y="4365104"/>
            <a:ext cx="3312368" cy="288031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日期：</a:t>
            </a:r>
            <a:r>
              <a:rPr lang="en-US" altLang="zh-CN" dirty="0"/>
              <a:t>xx/xx/xx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7" y="0"/>
            <a:ext cx="9144635" cy="6858000"/>
          </a:xfrm>
          <a:prstGeom prst="rect">
            <a:avLst/>
          </a:prstGeom>
          <a:noFill/>
        </p:spPr>
      </p:pic>
      <p:pic>
        <p:nvPicPr>
          <p:cNvPr id="2" name="图片 1" descr="场景无限 智享物联 锐捷网络移动医疗解决方案2018-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sp>
        <p:nvSpPr>
          <p:cNvPr id="8" name="任意多边形 7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与场景亲密接触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做方案创新专家</a:t>
            </a:r>
          </a:p>
        </p:txBody>
      </p:sp>
      <p:sp>
        <p:nvSpPr>
          <p:cNvPr id="11" name="标题 19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试用期员工转正答辩</a:t>
            </a:r>
          </a:p>
        </p:txBody>
      </p:sp>
      <p:sp>
        <p:nvSpPr>
          <p:cNvPr id="12" name="副标题 20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/>
          <a:p>
            <a:endParaRPr lang="en-US" altLang="zh-CN" dirty="0">
              <a:cs typeface="+mn-ea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idx="13"/>
          </p:nvPr>
        </p:nvSpPr>
        <p:spPr>
          <a:xfrm>
            <a:off x="683569" y="4077072"/>
            <a:ext cx="3312368" cy="288032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姓名：***</a:t>
            </a:r>
          </a:p>
        </p:txBody>
      </p:sp>
      <p:sp>
        <p:nvSpPr>
          <p:cNvPr id="14" name="文本占位符 22"/>
          <p:cNvSpPr>
            <a:spLocks noGrp="1"/>
          </p:cNvSpPr>
          <p:nvPr>
            <p:ph type="body" idx="14"/>
          </p:nvPr>
        </p:nvSpPr>
        <p:spPr>
          <a:xfrm>
            <a:off x="683568" y="4365104"/>
            <a:ext cx="3312368" cy="288031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日期：***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404664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Contents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目录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404664"/>
            <a:ext cx="467544" cy="504056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2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占位符 43"/>
          <p:cNvSpPr txBox="1"/>
          <p:nvPr/>
        </p:nvSpPr>
        <p:spPr>
          <a:xfrm>
            <a:off x="611561" y="1268760"/>
            <a:ext cx="7860356" cy="42484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300"/>
              </a:spcAft>
              <a:buFont typeface="+mj-lt"/>
              <a:buAutoNum type="arabicPeriod"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试用期目标及达成情况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工作中的亮点和机会点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试用期期间的经验与能力提升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25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年下半年的绩效承诺</a:t>
            </a: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对部门或业务的建议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1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、试用期目标及达成情况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3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39450" y="908720"/>
          <a:ext cx="8465101" cy="3384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909"/>
                <a:gridCol w="994877"/>
                <a:gridCol w="1479660"/>
                <a:gridCol w="2808312"/>
                <a:gridCol w="720080"/>
                <a:gridCol w="693815"/>
                <a:gridCol w="946448"/>
              </a:tblGrid>
              <a:tr h="6227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主要工作职责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本周期内的关键目标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目标的考核标准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关键举措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权重（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目标完成情况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自评分值</a:t>
                      </a:r>
                      <a:b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</a:b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（每项满分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分）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728072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zh-CN" altLang="en-US" sz="140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zh-CN" altLang="en-US" sz="140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、</a:t>
            </a:r>
            <a:r>
              <a:rPr lang="zh-CN" altLang="zh-CN" dirty="0">
                <a:solidFill>
                  <a:srgbClr val="E60033"/>
                </a:solidFill>
                <a:sym typeface="+mn-ea"/>
              </a:rPr>
              <a:t>工作中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的亮点、机会点</a:t>
            </a:r>
            <a:endParaRPr lang="zh-CN" altLang="en-US" dirty="0">
              <a:solidFill>
                <a:srgbClr val="E6003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6" name="Oval 4"/>
          <p:cNvSpPr/>
          <p:nvPr/>
        </p:nvSpPr>
        <p:spPr>
          <a:xfrm>
            <a:off x="5042136" y="1196752"/>
            <a:ext cx="903035" cy="90821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7" name="Oval 5"/>
          <p:cNvSpPr/>
          <p:nvPr/>
        </p:nvSpPr>
        <p:spPr>
          <a:xfrm>
            <a:off x="3209521" y="1196752"/>
            <a:ext cx="903035" cy="908217"/>
          </a:xfrm>
          <a:prstGeom prst="ellipse">
            <a:avLst/>
          </a:prstGeom>
          <a:solidFill>
            <a:srgbClr val="E60033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10" name="Freeform 45"/>
          <p:cNvSpPr>
            <a:spLocks noEditPoints="1"/>
          </p:cNvSpPr>
          <p:nvPr/>
        </p:nvSpPr>
        <p:spPr bwMode="auto">
          <a:xfrm>
            <a:off x="3457715" y="1388642"/>
            <a:ext cx="406647" cy="524434"/>
          </a:xfrm>
          <a:custGeom>
            <a:avLst/>
            <a:gdLst>
              <a:gd name="T0" fmla="*/ 104 w 109"/>
              <a:gd name="T1" fmla="*/ 67 h 141"/>
              <a:gd name="T2" fmla="*/ 96 w 109"/>
              <a:gd name="T3" fmla="*/ 67 h 141"/>
              <a:gd name="T4" fmla="*/ 96 w 109"/>
              <a:gd name="T5" fmla="*/ 44 h 141"/>
              <a:gd name="T6" fmla="*/ 84 w 109"/>
              <a:gd name="T7" fmla="*/ 13 h 141"/>
              <a:gd name="T8" fmla="*/ 55 w 109"/>
              <a:gd name="T9" fmla="*/ 0 h 141"/>
              <a:gd name="T10" fmla="*/ 25 w 109"/>
              <a:gd name="T11" fmla="*/ 13 h 141"/>
              <a:gd name="T12" fmla="*/ 13 w 109"/>
              <a:gd name="T13" fmla="*/ 44 h 141"/>
              <a:gd name="T14" fmla="*/ 13 w 109"/>
              <a:gd name="T15" fmla="*/ 67 h 141"/>
              <a:gd name="T16" fmla="*/ 6 w 109"/>
              <a:gd name="T17" fmla="*/ 67 h 141"/>
              <a:gd name="T18" fmla="*/ 0 w 109"/>
              <a:gd name="T19" fmla="*/ 73 h 141"/>
              <a:gd name="T20" fmla="*/ 0 w 109"/>
              <a:gd name="T21" fmla="*/ 136 h 141"/>
              <a:gd name="T22" fmla="*/ 6 w 109"/>
              <a:gd name="T23" fmla="*/ 141 h 141"/>
              <a:gd name="T24" fmla="*/ 104 w 109"/>
              <a:gd name="T25" fmla="*/ 141 h 141"/>
              <a:gd name="T26" fmla="*/ 109 w 109"/>
              <a:gd name="T27" fmla="*/ 136 h 141"/>
              <a:gd name="T28" fmla="*/ 109 w 109"/>
              <a:gd name="T29" fmla="*/ 73 h 141"/>
              <a:gd name="T30" fmla="*/ 104 w 109"/>
              <a:gd name="T31" fmla="*/ 67 h 141"/>
              <a:gd name="T32" fmla="*/ 67 w 109"/>
              <a:gd name="T33" fmla="*/ 124 h 141"/>
              <a:gd name="T34" fmla="*/ 55 w 109"/>
              <a:gd name="T35" fmla="*/ 136 h 141"/>
              <a:gd name="T36" fmla="*/ 43 w 109"/>
              <a:gd name="T37" fmla="*/ 124 h 141"/>
              <a:gd name="T38" fmla="*/ 43 w 109"/>
              <a:gd name="T39" fmla="*/ 102 h 141"/>
              <a:gd name="T40" fmla="*/ 55 w 109"/>
              <a:gd name="T41" fmla="*/ 90 h 141"/>
              <a:gd name="T42" fmla="*/ 67 w 109"/>
              <a:gd name="T43" fmla="*/ 102 h 141"/>
              <a:gd name="T44" fmla="*/ 67 w 109"/>
              <a:gd name="T45" fmla="*/ 124 h 141"/>
              <a:gd name="T46" fmla="*/ 77 w 109"/>
              <a:gd name="T47" fmla="*/ 67 h 141"/>
              <a:gd name="T48" fmla="*/ 33 w 109"/>
              <a:gd name="T49" fmla="*/ 67 h 141"/>
              <a:gd name="T50" fmla="*/ 33 w 109"/>
              <a:gd name="T51" fmla="*/ 44 h 141"/>
              <a:gd name="T52" fmla="*/ 39 w 109"/>
              <a:gd name="T53" fmla="*/ 26 h 141"/>
              <a:gd name="T54" fmla="*/ 55 w 109"/>
              <a:gd name="T55" fmla="*/ 19 h 141"/>
              <a:gd name="T56" fmla="*/ 70 w 109"/>
              <a:gd name="T57" fmla="*/ 26 h 141"/>
              <a:gd name="T58" fmla="*/ 77 w 109"/>
              <a:gd name="T59" fmla="*/ 44 h 141"/>
              <a:gd name="T60" fmla="*/ 77 w 109"/>
              <a:gd name="T61" fmla="*/ 67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9" h="141">
                <a:moveTo>
                  <a:pt x="104" y="67"/>
                </a:moveTo>
                <a:cubicBezTo>
                  <a:pt x="96" y="67"/>
                  <a:pt x="96" y="67"/>
                  <a:pt x="96" y="67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32"/>
                  <a:pt x="92" y="21"/>
                  <a:pt x="84" y="13"/>
                </a:cubicBezTo>
                <a:cubicBezTo>
                  <a:pt x="77" y="5"/>
                  <a:pt x="66" y="0"/>
                  <a:pt x="55" y="0"/>
                </a:cubicBezTo>
                <a:cubicBezTo>
                  <a:pt x="43" y="0"/>
                  <a:pt x="32" y="5"/>
                  <a:pt x="25" y="13"/>
                </a:cubicBezTo>
                <a:cubicBezTo>
                  <a:pt x="18" y="21"/>
                  <a:pt x="13" y="32"/>
                  <a:pt x="13" y="44"/>
                </a:cubicBezTo>
                <a:cubicBezTo>
                  <a:pt x="13" y="67"/>
                  <a:pt x="13" y="67"/>
                  <a:pt x="13" y="67"/>
                </a:cubicBezTo>
                <a:cubicBezTo>
                  <a:pt x="6" y="67"/>
                  <a:pt x="6" y="67"/>
                  <a:pt x="6" y="67"/>
                </a:cubicBezTo>
                <a:cubicBezTo>
                  <a:pt x="3" y="67"/>
                  <a:pt x="0" y="70"/>
                  <a:pt x="0" y="73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9"/>
                  <a:pt x="3" y="141"/>
                  <a:pt x="6" y="141"/>
                </a:cubicBezTo>
                <a:cubicBezTo>
                  <a:pt x="104" y="141"/>
                  <a:pt x="104" y="141"/>
                  <a:pt x="104" y="141"/>
                </a:cubicBezTo>
                <a:cubicBezTo>
                  <a:pt x="107" y="141"/>
                  <a:pt x="109" y="139"/>
                  <a:pt x="109" y="136"/>
                </a:cubicBezTo>
                <a:cubicBezTo>
                  <a:pt x="109" y="73"/>
                  <a:pt x="109" y="73"/>
                  <a:pt x="109" y="73"/>
                </a:cubicBezTo>
                <a:cubicBezTo>
                  <a:pt x="109" y="70"/>
                  <a:pt x="107" y="67"/>
                  <a:pt x="104" y="67"/>
                </a:cubicBezTo>
                <a:close/>
                <a:moveTo>
                  <a:pt x="67" y="124"/>
                </a:moveTo>
                <a:cubicBezTo>
                  <a:pt x="67" y="130"/>
                  <a:pt x="61" y="136"/>
                  <a:pt x="55" y="136"/>
                </a:cubicBezTo>
                <a:cubicBezTo>
                  <a:pt x="48" y="136"/>
                  <a:pt x="43" y="130"/>
                  <a:pt x="43" y="124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43" y="95"/>
                  <a:pt x="48" y="90"/>
                  <a:pt x="55" y="90"/>
                </a:cubicBezTo>
                <a:cubicBezTo>
                  <a:pt x="61" y="90"/>
                  <a:pt x="67" y="95"/>
                  <a:pt x="67" y="102"/>
                </a:cubicBezTo>
                <a:lnTo>
                  <a:pt x="67" y="124"/>
                </a:lnTo>
                <a:close/>
                <a:moveTo>
                  <a:pt x="77" y="67"/>
                </a:moveTo>
                <a:cubicBezTo>
                  <a:pt x="33" y="67"/>
                  <a:pt x="33" y="67"/>
                  <a:pt x="33" y="67"/>
                </a:cubicBezTo>
                <a:cubicBezTo>
                  <a:pt x="33" y="44"/>
                  <a:pt x="33" y="44"/>
                  <a:pt x="33" y="44"/>
                </a:cubicBezTo>
                <a:cubicBezTo>
                  <a:pt x="33" y="37"/>
                  <a:pt x="35" y="31"/>
                  <a:pt x="39" y="26"/>
                </a:cubicBezTo>
                <a:cubicBezTo>
                  <a:pt x="44" y="22"/>
                  <a:pt x="49" y="19"/>
                  <a:pt x="55" y="19"/>
                </a:cubicBezTo>
                <a:cubicBezTo>
                  <a:pt x="61" y="19"/>
                  <a:pt x="66" y="22"/>
                  <a:pt x="70" y="26"/>
                </a:cubicBezTo>
                <a:cubicBezTo>
                  <a:pt x="74" y="31"/>
                  <a:pt x="77" y="37"/>
                  <a:pt x="77" y="44"/>
                </a:cubicBezTo>
                <a:lnTo>
                  <a:pt x="77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grpSp>
        <p:nvGrpSpPr>
          <p:cNvPr id="11" name="Group 32"/>
          <p:cNvGrpSpPr/>
          <p:nvPr/>
        </p:nvGrpSpPr>
        <p:grpSpPr>
          <a:xfrm>
            <a:off x="5227209" y="1388642"/>
            <a:ext cx="532893" cy="524434"/>
            <a:chOff x="1587575" y="2265358"/>
            <a:chExt cx="314468" cy="309477"/>
          </a:xfrm>
          <a:solidFill>
            <a:schemeClr val="bg1"/>
          </a:solidFill>
        </p:grpSpPr>
        <p:sp>
          <p:nvSpPr>
            <p:cNvPr id="12" name="Freeform 59"/>
            <p:cNvSpPr>
              <a:spLocks noEditPoints="1"/>
            </p:cNvSpPr>
            <p:nvPr/>
          </p:nvSpPr>
          <p:spPr bwMode="auto">
            <a:xfrm>
              <a:off x="1587575" y="2265358"/>
              <a:ext cx="314468" cy="309477"/>
            </a:xfrm>
            <a:custGeom>
              <a:avLst/>
              <a:gdLst>
                <a:gd name="T0" fmla="*/ 82 w 95"/>
                <a:gd name="T1" fmla="*/ 57 h 93"/>
                <a:gd name="T2" fmla="*/ 95 w 95"/>
                <a:gd name="T3" fmla="*/ 51 h 93"/>
                <a:gd name="T4" fmla="*/ 95 w 95"/>
                <a:gd name="T5" fmla="*/ 41 h 93"/>
                <a:gd name="T6" fmla="*/ 82 w 95"/>
                <a:gd name="T7" fmla="*/ 36 h 93"/>
                <a:gd name="T8" fmla="*/ 80 w 95"/>
                <a:gd name="T9" fmla="*/ 30 h 93"/>
                <a:gd name="T10" fmla="*/ 85 w 95"/>
                <a:gd name="T11" fmla="*/ 17 h 93"/>
                <a:gd name="T12" fmla="*/ 77 w 95"/>
                <a:gd name="T13" fmla="*/ 10 h 93"/>
                <a:gd name="T14" fmla="*/ 64 w 95"/>
                <a:gd name="T15" fmla="*/ 15 h 93"/>
                <a:gd name="T16" fmla="*/ 59 w 95"/>
                <a:gd name="T17" fmla="*/ 13 h 93"/>
                <a:gd name="T18" fmla="*/ 53 w 95"/>
                <a:gd name="T19" fmla="*/ 0 h 93"/>
                <a:gd name="T20" fmla="*/ 42 w 95"/>
                <a:gd name="T21" fmla="*/ 0 h 93"/>
                <a:gd name="T22" fmla="*/ 37 w 95"/>
                <a:gd name="T23" fmla="*/ 13 h 93"/>
                <a:gd name="T24" fmla="*/ 31 w 95"/>
                <a:gd name="T25" fmla="*/ 15 h 93"/>
                <a:gd name="T26" fmla="*/ 18 w 95"/>
                <a:gd name="T27" fmla="*/ 10 h 93"/>
                <a:gd name="T28" fmla="*/ 10 w 95"/>
                <a:gd name="T29" fmla="*/ 17 h 93"/>
                <a:gd name="T30" fmla="*/ 16 w 95"/>
                <a:gd name="T31" fmla="*/ 30 h 93"/>
                <a:gd name="T32" fmla="*/ 13 w 95"/>
                <a:gd name="T33" fmla="*/ 36 h 93"/>
                <a:gd name="T34" fmla="*/ 0 w 95"/>
                <a:gd name="T35" fmla="*/ 41 h 93"/>
                <a:gd name="T36" fmla="*/ 0 w 95"/>
                <a:gd name="T37" fmla="*/ 52 h 93"/>
                <a:gd name="T38" fmla="*/ 13 w 95"/>
                <a:gd name="T39" fmla="*/ 57 h 93"/>
                <a:gd name="T40" fmla="*/ 16 w 95"/>
                <a:gd name="T41" fmla="*/ 63 h 93"/>
                <a:gd name="T42" fmla="*/ 11 w 95"/>
                <a:gd name="T43" fmla="*/ 76 h 93"/>
                <a:gd name="T44" fmla="*/ 18 w 95"/>
                <a:gd name="T45" fmla="*/ 83 h 93"/>
                <a:gd name="T46" fmla="*/ 31 w 95"/>
                <a:gd name="T47" fmla="*/ 78 h 93"/>
                <a:gd name="T48" fmla="*/ 37 w 95"/>
                <a:gd name="T49" fmla="*/ 80 h 93"/>
                <a:gd name="T50" fmla="*/ 43 w 95"/>
                <a:gd name="T51" fmla="*/ 93 h 93"/>
                <a:gd name="T52" fmla="*/ 53 w 95"/>
                <a:gd name="T53" fmla="*/ 93 h 93"/>
                <a:gd name="T54" fmla="*/ 59 w 95"/>
                <a:gd name="T55" fmla="*/ 80 h 93"/>
                <a:gd name="T56" fmla="*/ 64 w 95"/>
                <a:gd name="T57" fmla="*/ 78 h 93"/>
                <a:gd name="T58" fmla="*/ 78 w 95"/>
                <a:gd name="T59" fmla="*/ 83 h 93"/>
                <a:gd name="T60" fmla="*/ 85 w 95"/>
                <a:gd name="T61" fmla="*/ 75 h 93"/>
                <a:gd name="T62" fmla="*/ 80 w 95"/>
                <a:gd name="T63" fmla="*/ 63 h 93"/>
                <a:gd name="T64" fmla="*/ 82 w 95"/>
                <a:gd name="T65" fmla="*/ 57 h 93"/>
                <a:gd name="T66" fmla="*/ 48 w 95"/>
                <a:gd name="T67" fmla="*/ 61 h 93"/>
                <a:gd name="T68" fmla="*/ 33 w 95"/>
                <a:gd name="T69" fmla="*/ 46 h 93"/>
                <a:gd name="T70" fmla="*/ 48 w 95"/>
                <a:gd name="T71" fmla="*/ 32 h 93"/>
                <a:gd name="T72" fmla="*/ 63 w 95"/>
                <a:gd name="T73" fmla="*/ 46 h 93"/>
                <a:gd name="T74" fmla="*/ 48 w 95"/>
                <a:gd name="T75" fmla="*/ 6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3">
                  <a:moveTo>
                    <a:pt x="82" y="57"/>
                  </a:moveTo>
                  <a:cubicBezTo>
                    <a:pt x="82" y="57"/>
                    <a:pt x="95" y="52"/>
                    <a:pt x="95" y="5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0"/>
                    <a:pt x="82" y="36"/>
                    <a:pt x="82" y="36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5" y="17"/>
                    <a:pt x="85" y="17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9"/>
                    <a:pt x="64" y="15"/>
                    <a:pt x="64" y="15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13"/>
                    <a:pt x="53" y="0"/>
                    <a:pt x="5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7" y="13"/>
                    <a:pt x="37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18" y="10"/>
                    <a:pt x="18" y="1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6" y="30"/>
                    <a:pt x="16" y="30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0" y="41"/>
                    <a:pt x="0" y="4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" y="57"/>
                    <a:pt x="13" y="57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0" y="75"/>
                    <a:pt x="11" y="76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9" y="84"/>
                    <a:pt x="31" y="78"/>
                    <a:pt x="31" y="78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42" y="93"/>
                    <a:pt x="4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3"/>
                    <a:pt x="59" y="80"/>
                    <a:pt x="59" y="80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4" y="78"/>
                    <a:pt x="77" y="83"/>
                    <a:pt x="78" y="83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6" y="75"/>
                    <a:pt x="80" y="63"/>
                    <a:pt x="80" y="63"/>
                  </a:cubicBezTo>
                  <a:lnTo>
                    <a:pt x="82" y="57"/>
                  </a:lnTo>
                  <a:close/>
                  <a:moveTo>
                    <a:pt x="48" y="61"/>
                  </a:moveTo>
                  <a:cubicBezTo>
                    <a:pt x="39" y="61"/>
                    <a:pt x="33" y="55"/>
                    <a:pt x="33" y="46"/>
                  </a:cubicBezTo>
                  <a:cubicBezTo>
                    <a:pt x="33" y="38"/>
                    <a:pt x="39" y="32"/>
                    <a:pt x="48" y="32"/>
                  </a:cubicBezTo>
                  <a:cubicBezTo>
                    <a:pt x="56" y="32"/>
                    <a:pt x="63" y="38"/>
                    <a:pt x="63" y="46"/>
                  </a:cubicBezTo>
                  <a:cubicBezTo>
                    <a:pt x="63" y="55"/>
                    <a:pt x="56" y="61"/>
                    <a:pt x="48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  <p:sp>
          <p:nvSpPr>
            <p:cNvPr id="13" name="Oval 60"/>
            <p:cNvSpPr>
              <a:spLocks noChangeArrowheads="1"/>
            </p:cNvSpPr>
            <p:nvPr/>
          </p:nvSpPr>
          <p:spPr bwMode="auto">
            <a:xfrm>
              <a:off x="1712364" y="2387652"/>
              <a:ext cx="64890" cy="6239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4" name="Rectangle 21"/>
          <p:cNvSpPr/>
          <p:nvPr/>
        </p:nvSpPr>
        <p:spPr>
          <a:xfrm flipH="1" flipV="1">
            <a:off x="4606234" y="1320138"/>
            <a:ext cx="52493" cy="4133795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2005304" y="1388642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E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373132" y="1320138"/>
            <a:ext cx="1583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机会点</a:t>
            </a:r>
          </a:p>
        </p:txBody>
      </p:sp>
      <p:sp>
        <p:nvSpPr>
          <p:cNvPr id="3" name="矩形 2"/>
          <p:cNvSpPr/>
          <p:nvPr/>
        </p:nvSpPr>
        <p:spPr>
          <a:xfrm>
            <a:off x="107504" y="2192389"/>
            <a:ext cx="4438250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流程梳理与设计：按照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季度目标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要求顺利推进了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MO/DG 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各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L3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流程的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V0.9/1.0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版本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的评审和发布</a:t>
            </a: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流程落地与执行：布局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流程的推广和执行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，加强流程宣贯，设计流程运转方法和机制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业务流程咨询：对于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业务比较关注的问题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，在积极参与探讨的同时能结合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业界标杆和前期工作经验给出专业性的指导和建议</a:t>
            </a: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4788048" y="2254776"/>
            <a:ext cx="3841824" cy="28367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深入业务，了解业务，通过设计有效的机制推进流程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的执行与落地。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把流程管理与数字化做有机结合，通过数字化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手段赋能业务，提效，留痕，为持续的流程迭代优化提供支持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加强与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PO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沟通，调动流程项目组成员积极性，投入更多时间参与到流程设计，执行与迭代优化的工作之中来。</a:t>
            </a:r>
            <a:endParaRPr lang="zh-CN" altLang="en-US" sz="1600" b="1" dirty="0"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3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、试用期期间的经验与能力提升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5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1912" y="1196752"/>
            <a:ext cx="778450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1</a:t>
            </a:r>
            <a:r>
              <a:rPr lang="zh-CN" altLang="en-US" sz="1600" dirty="0"/>
              <a:t>）额外的学习情况​</a:t>
            </a:r>
          </a:p>
          <a:p>
            <a:r>
              <a:rPr lang="zh-CN" altLang="en-US" sz="1600" dirty="0"/>
              <a:t>在试用期内，我围绕流程管理工作展开了多维度的学习与实践。在标准化建设上，我深入钻研流程管理规范，设计并推行流程文档 “七件套” 模板，将流程文件编制标准系统化，显著提升文档的规范性与可读性；在项目推进方面，创新性地采用树立标杆案例、激励优秀 </a:t>
            </a:r>
            <a:r>
              <a:rPr lang="en-US" altLang="zh-CN" sz="1600" dirty="0"/>
              <a:t>PO</a:t>
            </a:r>
            <a:r>
              <a:rPr lang="zh-CN" altLang="en-US" sz="1600" dirty="0"/>
              <a:t>、及时通报阶段性成果等手段，打破传统推进模式，有效激发团队积极性，提升流程认可度与执行力；同时，我积极学习并构建 “立项 </a:t>
            </a:r>
            <a:r>
              <a:rPr lang="en-US" altLang="zh-CN" sz="1600" dirty="0"/>
              <a:t>- </a:t>
            </a:r>
            <a:r>
              <a:rPr lang="zh-CN" altLang="en-US" sz="1600" dirty="0"/>
              <a:t>评审发布 </a:t>
            </a:r>
            <a:r>
              <a:rPr lang="en-US" altLang="zh-CN" sz="1600" dirty="0"/>
              <a:t>- </a:t>
            </a:r>
            <a:r>
              <a:rPr lang="zh-CN" altLang="en-US" sz="1600" dirty="0"/>
              <a:t>案例优化” 的标准化流程推进体系，将前沿方法论深度融入工作，确保流程建设各环节科学有序、环环相扣。</a:t>
            </a:r>
            <a:r>
              <a:rPr lang="zh-CN" altLang="en-US" sz="1600" dirty="0" smtClean="0"/>
              <a:t>​</a:t>
            </a:r>
            <a:endParaRPr lang="en-US" altLang="zh-CN" sz="1600" dirty="0" smtClean="0"/>
          </a:p>
          <a:p>
            <a:endParaRPr lang="zh-CN" altLang="en-US" sz="1600" dirty="0"/>
          </a:p>
          <a:p>
            <a:r>
              <a:rPr lang="en-US" altLang="zh-CN" sz="1600" dirty="0"/>
              <a:t>2</a:t>
            </a:r>
            <a:r>
              <a:rPr lang="zh-CN" altLang="en-US" sz="1600" dirty="0"/>
              <a:t>）总体成长与进步​</a:t>
            </a:r>
          </a:p>
          <a:p>
            <a:r>
              <a:rPr lang="zh-CN" altLang="en-US" sz="1600" dirty="0"/>
              <a:t>通过深度参与公司流程建设与管理工作，我实现了从经验应用到能力突破的全面成长。不仅将过往经验与行业前沿方法论有机结合，主导完成 </a:t>
            </a:r>
            <a:r>
              <a:rPr lang="en-US" altLang="zh-CN" sz="1600" dirty="0"/>
              <a:t>MO </a:t>
            </a:r>
            <a:r>
              <a:rPr lang="zh-CN" altLang="en-US" sz="1600" dirty="0"/>
              <a:t>和 </a:t>
            </a:r>
            <a:r>
              <a:rPr lang="en-US" altLang="zh-CN" sz="1600" dirty="0"/>
              <a:t>DG </a:t>
            </a:r>
            <a:r>
              <a:rPr lang="zh-CN" altLang="en-US" sz="1600" dirty="0"/>
              <a:t>领域的全流程梳理与搭建，还通过 “流程 </a:t>
            </a:r>
            <a:r>
              <a:rPr lang="en-US" altLang="zh-CN" sz="1600" dirty="0"/>
              <a:t>+ IT” </a:t>
            </a:r>
            <a:r>
              <a:rPr lang="zh-CN" altLang="en-US" sz="1600" dirty="0"/>
              <a:t>双轮驱动模式，推动流程数字化转型。在这一过程中，我不仅强化了流程落地效果，更在流程数字化管理、跨领域协作等方面获得新突破，形成了对流程全生命周期管理的系统性认知，为未来持续优化企业流程运营体系、推动业务高效运转奠定了坚实基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4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en-US" altLang="zh-CN" dirty="0">
                <a:solidFill>
                  <a:srgbClr val="E60033"/>
                </a:solidFill>
                <a:cs typeface="+mn-ea"/>
              </a:rPr>
              <a:t>25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年下半年的绩效承诺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6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" y="948690"/>
            <a:ext cx="82296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一、核心目标​</a:t>
            </a:r>
          </a:p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在市场竞争加剧、技术快速迭代背景下，聚焦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V1.0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流程落地，实现 “流程被执行” 与 “业务有改善”，发挥流程专家价值，助力公司发展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。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二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、关键行动​</a:t>
            </a:r>
          </a:p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（一）流程执行推动​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329"/>
                </a:solidFill>
                <a:latin typeface="Inter"/>
              </a:rPr>
              <a:t>深度协同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：通过每周例会加强进度跟踪与计划拉齐​</a:t>
            </a:r>
            <a:endParaRPr lang="zh-CN" altLang="en-US" dirty="0">
              <a:solidFill>
                <a:srgbClr val="1F2329"/>
              </a:solidFill>
              <a:latin typeface="Inte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329"/>
                </a:solidFill>
                <a:latin typeface="Inter"/>
              </a:rPr>
              <a:t>精准赋能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：继续推动流程宣贯，培训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覆盖率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100%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，掌握率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≥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80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%​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329"/>
                </a:solidFill>
                <a:latin typeface="Inter"/>
              </a:rPr>
              <a:t>智能监控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：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搭建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IT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平台做到流程执行情况能够实时追踪，月度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/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季度看板数据自动生成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zh-CN" altLang="en-US" dirty="0"/>
              <a:t>（二）业务改善促进​</a:t>
            </a:r>
          </a:p>
          <a:p>
            <a:r>
              <a:rPr lang="zh-CN" altLang="en-US" b="1" dirty="0"/>
              <a:t>指标牵引</a:t>
            </a:r>
            <a:r>
              <a:rPr lang="zh-CN" altLang="en-US" dirty="0"/>
              <a:t>：协同</a:t>
            </a:r>
            <a:r>
              <a:rPr lang="zh-CN" altLang="en-US" dirty="0" smtClean="0"/>
              <a:t>制定流程</a:t>
            </a:r>
            <a:r>
              <a:rPr lang="zh-CN" altLang="en-US" dirty="0"/>
              <a:t>关键指标（如 </a:t>
            </a:r>
            <a:r>
              <a:rPr lang="en-US" altLang="zh-CN" dirty="0"/>
              <a:t>MO </a:t>
            </a:r>
            <a:r>
              <a:rPr lang="zh-CN" altLang="en-US" dirty="0" smtClean="0"/>
              <a:t>效率</a:t>
            </a:r>
            <a:r>
              <a:rPr lang="zh-CN" altLang="en-US" dirty="0"/>
              <a:t>提升</a:t>
            </a:r>
            <a:r>
              <a:rPr lang="en-US" altLang="zh-CN" dirty="0" smtClean="0"/>
              <a:t>20</a:t>
            </a:r>
            <a:r>
              <a:rPr lang="en-US" altLang="zh-CN" dirty="0"/>
              <a:t>%</a:t>
            </a:r>
            <a:r>
              <a:rPr lang="zh-CN" altLang="en-US" dirty="0"/>
              <a:t>、</a:t>
            </a:r>
            <a:r>
              <a:rPr lang="en-US" altLang="zh-CN" dirty="0" smtClean="0"/>
              <a:t>DG</a:t>
            </a:r>
            <a:r>
              <a:rPr lang="zh-CN" altLang="en-US" dirty="0" smtClean="0"/>
              <a:t>活动开展质量</a:t>
            </a:r>
            <a:r>
              <a:rPr lang="zh-CN" altLang="en-US" dirty="0"/>
              <a:t>合格率≥</a:t>
            </a:r>
            <a:r>
              <a:rPr lang="en-US" altLang="zh-CN" dirty="0" smtClean="0"/>
              <a:t>95%</a:t>
            </a:r>
            <a:r>
              <a:rPr lang="zh-CN" altLang="en-US" dirty="0" smtClean="0"/>
              <a:t>等），进行月度季度跟踪与分析</a:t>
            </a:r>
            <a:r>
              <a:rPr lang="zh-CN" altLang="en-US" dirty="0"/>
              <a:t>​</a:t>
            </a:r>
          </a:p>
          <a:p>
            <a:r>
              <a:rPr lang="zh-CN" altLang="en-US" b="1" dirty="0"/>
              <a:t>闭环优化</a:t>
            </a:r>
            <a:r>
              <a:rPr lang="zh-CN" altLang="en-US" dirty="0"/>
              <a:t>：季度研讨流程，</a:t>
            </a:r>
            <a:r>
              <a:rPr lang="en-US" altLang="zh-CN" dirty="0"/>
              <a:t>1 </a:t>
            </a:r>
            <a:r>
              <a:rPr lang="zh-CN" altLang="en-US" dirty="0"/>
              <a:t>个月内完成调整，</a:t>
            </a:r>
            <a:r>
              <a:rPr lang="en-US" altLang="zh-CN" dirty="0"/>
              <a:t>2 </a:t>
            </a:r>
            <a:r>
              <a:rPr lang="zh-CN" altLang="en-US" dirty="0"/>
              <a:t>个月跟踪效果​</a:t>
            </a:r>
          </a:p>
          <a:p>
            <a:r>
              <a:rPr lang="zh-CN" altLang="en-US" b="1" dirty="0"/>
              <a:t>标杆复制</a:t>
            </a:r>
            <a:r>
              <a:rPr lang="zh-CN" altLang="en-US" dirty="0"/>
              <a:t>：</a:t>
            </a:r>
            <a:r>
              <a:rPr lang="zh-CN" altLang="en-US" dirty="0" smtClean="0"/>
              <a:t>每季度至少输出 </a:t>
            </a:r>
            <a:r>
              <a:rPr lang="en-US" altLang="zh-CN" dirty="0" smtClean="0"/>
              <a:t>1-2 </a:t>
            </a:r>
            <a:r>
              <a:rPr lang="zh-CN" altLang="en-US" dirty="0"/>
              <a:t>个</a:t>
            </a:r>
            <a:r>
              <a:rPr lang="zh-CN" altLang="en-US" dirty="0" smtClean="0"/>
              <a:t>标杆优秀案例</a:t>
            </a:r>
            <a:endParaRPr lang="en-US" altLang="zh-CN" dirty="0" smtClean="0"/>
          </a:p>
          <a:p>
            <a:r>
              <a:rPr lang="zh-CN" altLang="en-US" dirty="0"/>
              <a:t>（三）深化专家角色​</a:t>
            </a:r>
          </a:p>
          <a:p>
            <a:r>
              <a:rPr lang="zh-CN" altLang="en-US" b="1" dirty="0"/>
              <a:t>跨域协同</a:t>
            </a:r>
            <a:r>
              <a:rPr lang="zh-CN" altLang="en-US" dirty="0"/>
              <a:t>：每月参与≥</a:t>
            </a:r>
            <a:r>
              <a:rPr lang="en-US" altLang="zh-CN" dirty="0"/>
              <a:t>2 </a:t>
            </a:r>
            <a:r>
              <a:rPr lang="zh-CN" altLang="en-US" dirty="0"/>
              <a:t>个</a:t>
            </a:r>
            <a:r>
              <a:rPr lang="zh-CN" altLang="en-US" dirty="0" smtClean="0"/>
              <a:t>流程内部探讨，</a:t>
            </a:r>
            <a:r>
              <a:rPr lang="zh-CN" altLang="en-US" dirty="0"/>
              <a:t>输出专业建议​</a:t>
            </a:r>
          </a:p>
          <a:p>
            <a:r>
              <a:rPr lang="zh-CN" altLang="en-US" b="1" dirty="0"/>
              <a:t>问题攻坚</a:t>
            </a:r>
            <a:r>
              <a:rPr lang="zh-CN" altLang="en-US" dirty="0"/>
              <a:t>：每</a:t>
            </a:r>
            <a:r>
              <a:rPr lang="zh-CN" altLang="en-US" dirty="0" smtClean="0"/>
              <a:t>周至少</a:t>
            </a:r>
            <a:r>
              <a:rPr lang="en-US" altLang="zh-CN" dirty="0" smtClean="0"/>
              <a:t>2 </a:t>
            </a:r>
            <a:r>
              <a:rPr lang="zh-CN" altLang="en-US" dirty="0"/>
              <a:t>次</a:t>
            </a:r>
            <a:r>
              <a:rPr lang="zh-CN" altLang="en-US" dirty="0" smtClean="0"/>
              <a:t>深入一线业务对话，了解流程痛点与执行效果，同时答疑解惑。​</a:t>
            </a:r>
            <a:endParaRPr lang="zh-CN" altLang="en-US" dirty="0"/>
          </a:p>
          <a:p>
            <a:r>
              <a:rPr lang="zh-CN" altLang="en-US" b="1" dirty="0"/>
              <a:t>知识共享</a:t>
            </a:r>
            <a:r>
              <a:rPr lang="zh-CN" altLang="en-US" dirty="0"/>
              <a:t>：每季度 </a:t>
            </a:r>
            <a:r>
              <a:rPr lang="zh-CN" altLang="en-US" dirty="0" smtClean="0"/>
              <a:t>至少</a:t>
            </a:r>
            <a:r>
              <a:rPr lang="en-US" altLang="zh-CN" dirty="0" smtClean="0"/>
              <a:t>1 </a:t>
            </a:r>
            <a:r>
              <a:rPr lang="zh-CN" altLang="en-US" dirty="0" smtClean="0"/>
              <a:t>次流程知识分享（内部</a:t>
            </a:r>
            <a:r>
              <a:rPr lang="zh-CN" altLang="en-US" dirty="0"/>
              <a:t>或</a:t>
            </a:r>
            <a:r>
              <a:rPr lang="zh-CN" altLang="en-US" dirty="0" smtClean="0"/>
              <a:t>外部）</a:t>
            </a:r>
            <a:endParaRPr lang="en-US" altLang="zh-CN" dirty="0" smtClean="0"/>
          </a:p>
          <a:p>
            <a:endParaRPr lang="zh-CN" altLang="en-US" dirty="0"/>
          </a:p>
          <a:p>
            <a:endParaRPr lang="zh-CN" altLang="en-US" b="0" i="0" dirty="0">
              <a:solidFill>
                <a:srgbClr val="1F2329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zh-CN" dirty="0">
                <a:solidFill>
                  <a:srgbClr val="E60033"/>
                </a:solidFill>
                <a:cs typeface="+mn-ea"/>
              </a:rPr>
              <a:t>对部门或业务的建议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7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8760" y="980728"/>
            <a:ext cx="8686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对部门及业务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，个人建议如下：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1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、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面对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工作量大难以聚焦的困境，建议引入科学的任务优先级排序工具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，将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任务按紧急重要程度划分为四类，每日工作前花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10-15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分钟梳理，集中精力先攻克紧急重要任务，预计可节省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25%-35%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的无效精力损耗，避免因任务无序而分散精力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。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​</a:t>
            </a:r>
            <a:endParaRPr lang="zh-CN" altLang="en-US" dirty="0">
              <a:solidFill>
                <a:srgbClr val="1F2329"/>
              </a:solidFill>
              <a:latin typeface="Inter"/>
            </a:endParaRPr>
          </a:p>
          <a:p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2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、针对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数字化底子薄，尤其是销售领域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CRM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系统问题，应明确其从单纯管理工具向赋能型、连接型平台转型的定位。在设计方向上，以销售关键用户需求为核心，融入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AI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技术实现智能推荐、自动线索分配，提升销售效率；优化功能设计，如简化操作流程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，同时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，建立用户反馈机制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，收集用户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意见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，针对性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优化，逐步提升用户体验，从根本上改善数据与内容质量问题。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​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endParaRPr lang="zh-CN" altLang="en-US" dirty="0">
              <a:solidFill>
                <a:srgbClr val="1F2329"/>
              </a:solidFill>
              <a:latin typeface="Inter"/>
            </a:endParaRPr>
          </a:p>
          <a:p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3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、为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提升流程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PO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参与度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通过建立激励机制、简化流程、强化价值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共识的同时，建议从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MTCV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整个流程建设层面，针对一些重要的话题和业务问题，组织对应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PO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们进行线下面对面沟通互动，加深了解，充分调动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PO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参与流程建设的积极性，形成 “减负提效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+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系统赋能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+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全员协同” 的良性循环。</a:t>
            </a:r>
            <a:endParaRPr lang="zh-CN" altLang="en-US" b="0" i="0" dirty="0">
              <a:solidFill>
                <a:srgbClr val="1F2329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" y="0"/>
            <a:ext cx="9142730" cy="6856644"/>
          </a:xfrm>
          <a:prstGeom prst="rect">
            <a:avLst/>
          </a:prstGeom>
          <a:noFill/>
        </p:spPr>
      </p:pic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3635896" y="1935694"/>
            <a:ext cx="5098799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solidFill>
                  <a:srgbClr val="E60033"/>
                </a:solidFill>
                <a:ea typeface="微软雅黑" panose="020B0503020204020204" pitchFamily="34" charset="-122"/>
                <a:cs typeface="+mn-ea"/>
              </a:rPr>
              <a:t>THANKS</a:t>
            </a:r>
          </a:p>
        </p:txBody>
      </p:sp>
      <p:sp>
        <p:nvSpPr>
          <p:cNvPr id="8" name="TextBox 7"/>
          <p:cNvSpPr>
            <a:spLocks noChangeArrowheads="1"/>
          </p:cNvSpPr>
          <p:nvPr/>
        </p:nvSpPr>
        <p:spPr bwMode="auto">
          <a:xfrm>
            <a:off x="3635896" y="2610381"/>
            <a:ext cx="5259943" cy="14666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锐捷网络股份有限公司</a:t>
            </a:r>
            <a:endParaRPr lang="en-US" altLang="zh-CN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地址：北京海淀区复兴路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29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号中意鹏奥大厦东塔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座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11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层   邮编：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100036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Office Tel: 010-5171 5999     Fax: 010-5171 5872</a:t>
            </a:r>
          </a:p>
          <a:p>
            <a:pPr eaLnBrk="1" hangingPunct="1">
              <a:lnSpc>
                <a:spcPct val="150000"/>
              </a:lnSpc>
            </a:pP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www.ruijie.com.cn 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8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pic>
        <p:nvPicPr>
          <p:cNvPr id="4" name="图片 3" descr="组 13 拷贝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2215" y="1545590"/>
            <a:ext cx="5596890" cy="3184525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与场景亲密接触</a:t>
            </a:r>
            <a:endParaRPr lang="en-US" altLang="zh-CN" sz="1400" dirty="0">
              <a:solidFill>
                <a:schemeClr val="bg1"/>
              </a:solidFill>
              <a:cs typeface="+mn-ea"/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做方案创新专家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UwNDA3MDQzYTc3NDEzNzFkMDFmZDJkM2M2YzQzNG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qomxa5u">
      <a:majorFont>
        <a:latin typeface=""/>
        <a:ea typeface="微软雅黑 Light"/>
        <a:cs typeface=""/>
      </a:majorFont>
      <a:minorFont>
        <a:latin typeface="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1299</Words>
  <Application>Microsoft Office PowerPoint</Application>
  <PresentationFormat>全屏显示(4:3)</PresentationFormat>
  <Paragraphs>94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Inter</vt:lpstr>
      <vt:lpstr>仿宋</vt:lpstr>
      <vt:lpstr>宋体</vt:lpstr>
      <vt:lpstr>微软雅黑</vt:lpstr>
      <vt:lpstr>微软雅黑 Light</vt:lpstr>
      <vt:lpstr>Arial</vt:lpstr>
      <vt:lpstr>Calibri</vt:lpstr>
      <vt:lpstr>Office 主题</vt:lpstr>
      <vt:lpstr>试用期员工转正答辩</vt:lpstr>
      <vt:lpstr>PowerPoint 演示文稿</vt:lpstr>
      <vt:lpstr>1、试用期目标及达成情况</vt:lpstr>
      <vt:lpstr>2、工作中的亮点、机会点</vt:lpstr>
      <vt:lpstr>3、试用期期间的经验与能力提升</vt:lpstr>
      <vt:lpstr>4、25年下半年的绩效承诺</vt:lpstr>
      <vt:lpstr>5、对部门或业务的建议</vt:lpstr>
      <vt:lpstr>PowerPoint 演示文稿</vt:lpstr>
    </vt:vector>
  </TitlesOfParts>
  <Company>锐捷网络股份有限公司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2018公司PPT模版</dc:title>
  <dc:creator>林士扬(HR 北京)</dc:creator>
  <cp:lastModifiedBy>Lenovo</cp:lastModifiedBy>
  <cp:revision>410</cp:revision>
  <dcterms:created xsi:type="dcterms:W3CDTF">2018-01-30T14:18:00Z</dcterms:created>
  <dcterms:modified xsi:type="dcterms:W3CDTF">2025-07-01T10:22:46Z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7FC3DE202B1E413C95DB8359213743D9</vt:lpwstr>
  </property>
</Properties>
</file>