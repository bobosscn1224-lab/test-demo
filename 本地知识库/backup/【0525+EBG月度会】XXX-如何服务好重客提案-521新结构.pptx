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32"/>
  </p:notesMasterIdLst>
  <p:sldIdLst>
    <p:sldId id="270" r:id="rId3"/>
    <p:sldId id="274" r:id="rId4"/>
    <p:sldId id="287" r:id="rId5"/>
    <p:sldId id="293" r:id="rId6"/>
    <p:sldId id="288" r:id="rId7"/>
    <p:sldId id="290" r:id="rId8"/>
    <p:sldId id="291" r:id="rId9"/>
    <p:sldId id="294" r:id="rId10"/>
    <p:sldId id="292" r:id="rId11"/>
    <p:sldId id="278" r:id="rId12"/>
    <p:sldId id="276" r:id="rId13"/>
    <p:sldId id="296" r:id="rId14"/>
    <p:sldId id="279" r:id="rId15"/>
    <p:sldId id="295" r:id="rId16"/>
    <p:sldId id="297" r:id="rId17"/>
    <p:sldId id="281" r:id="rId18"/>
    <p:sldId id="298" r:id="rId19"/>
    <p:sldId id="299" r:id="rId20"/>
    <p:sldId id="301" r:id="rId21"/>
    <p:sldId id="282" r:id="rId22"/>
    <p:sldId id="300" r:id="rId23"/>
    <p:sldId id="280" r:id="rId24"/>
    <p:sldId id="273" r:id="rId25"/>
    <p:sldId id="259" r:id="rId26"/>
    <p:sldId id="285" r:id="rId27"/>
    <p:sldId id="286" r:id="rId28"/>
    <p:sldId id="283" r:id="rId29"/>
    <p:sldId id="277" r:id="rId30"/>
    <p:sldId id="266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036"/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87961" autoAdjust="0"/>
  </p:normalViewPr>
  <p:slideViewPr>
    <p:cSldViewPr snapToGrid="0">
      <p:cViewPr varScale="1">
        <p:scale>
          <a:sx n="77" d="100"/>
          <a:sy n="77" d="100"/>
        </p:scale>
        <p:origin x="3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58A31-3087-41CF-ACA7-E181E5F76B2D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7DEA7-9E98-4868-9329-FDB1658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2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918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203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1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247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178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319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198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057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642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568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223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23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CM</a:t>
            </a:r>
            <a:r>
              <a:rPr lang="zh-CN" altLang="en-US" dirty="0" smtClean="0"/>
              <a:t>客户管理流程：如何定义重客，客户的组织保障（负责人，虚拟组织的设计与组成，常态化客户运营）</a:t>
            </a:r>
            <a:endParaRPr lang="en-US" altLang="zh-CN" dirty="0" smtClean="0"/>
          </a:p>
          <a:p>
            <a:r>
              <a:rPr lang="zh-CN" altLang="en-US" dirty="0" smtClean="0"/>
              <a:t>客户计划流程：对等沟通机制，领导池建立</a:t>
            </a:r>
            <a:endParaRPr lang="en-US" altLang="zh-CN" dirty="0" smtClean="0"/>
          </a:p>
          <a:p>
            <a:r>
              <a:rPr lang="en-US" altLang="zh-CN" dirty="0" smtClean="0"/>
              <a:t>MM</a:t>
            </a:r>
            <a:r>
              <a:rPr lang="zh-CN" altLang="en-US" dirty="0" smtClean="0"/>
              <a:t>流程：重客战略洞察</a:t>
            </a:r>
            <a:endParaRPr lang="en-US" altLang="zh-CN" dirty="0" smtClean="0"/>
          </a:p>
          <a:p>
            <a:r>
              <a:rPr lang="en-US" altLang="zh-CN" dirty="0" smtClean="0"/>
              <a:t>DG</a:t>
            </a:r>
            <a:r>
              <a:rPr lang="zh-CN" altLang="en-US" dirty="0" smtClean="0"/>
              <a:t>流程：重客的营销策略与计划</a:t>
            </a:r>
            <a:endParaRPr lang="en-US" altLang="zh-CN" dirty="0" smtClean="0"/>
          </a:p>
          <a:p>
            <a:r>
              <a:rPr lang="en-US" altLang="zh-CN" dirty="0" smtClean="0"/>
              <a:t>MO</a:t>
            </a:r>
            <a:r>
              <a:rPr lang="zh-CN" altLang="en-US" dirty="0" smtClean="0"/>
              <a:t>流程：重客的销售流程与机制；需求的响应（</a:t>
            </a:r>
            <a:r>
              <a:rPr lang="en-US" altLang="zh-CN" dirty="0" smtClean="0"/>
              <a:t>EC,DC</a:t>
            </a:r>
            <a:r>
              <a:rPr lang="zh-CN" altLang="en-US" dirty="0" smtClean="0"/>
              <a:t>），非标诉求的应对（标前，合同评审）</a:t>
            </a:r>
            <a:endParaRPr lang="en-US" altLang="zh-CN" dirty="0" smtClean="0"/>
          </a:p>
          <a:p>
            <a:r>
              <a:rPr lang="en-US" altLang="zh-CN" dirty="0" smtClean="0"/>
              <a:t>SD</a:t>
            </a:r>
            <a:r>
              <a:rPr lang="zh-CN" altLang="en-US" dirty="0" smtClean="0"/>
              <a:t>流程：重客项目如何高质量交付，成立专项交付项目组，订单、开票、回款。</a:t>
            </a:r>
            <a:endParaRPr lang="en-US" altLang="zh-CN" dirty="0" smtClean="0"/>
          </a:p>
          <a:p>
            <a:r>
              <a:rPr lang="en-US" altLang="zh-CN" dirty="0" smtClean="0"/>
              <a:t>ITR</a:t>
            </a:r>
            <a:r>
              <a:rPr lang="zh-CN" altLang="en-US" dirty="0" smtClean="0"/>
              <a:t>流程：重客服务流程如何设计与重点关注</a:t>
            </a:r>
            <a:endParaRPr lang="en-US" altLang="zh-CN" dirty="0" smtClean="0"/>
          </a:p>
          <a:p>
            <a:r>
              <a:rPr lang="en-US" altLang="zh-CN" dirty="0" smtClean="0"/>
              <a:t>IPD</a:t>
            </a:r>
            <a:r>
              <a:rPr lang="zh-CN" altLang="en-US" dirty="0" smtClean="0"/>
              <a:t>流程：产品退市流程对重客的影响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602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470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案例，问题，提案，引导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444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2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/>
              <a:t>｜ </a:t>
            </a:r>
            <a:r>
              <a:rPr kumimoji="1" lang="en-US" altLang="zh-CN" dirty="0"/>
              <a:t>www.ruijie.com.cn</a:t>
            </a:r>
            <a:endParaRPr kumimoji="1" lang="zh-CN" altLang="en-US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00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04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jpeg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2025/5/21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8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6.xml"/><Relationship Id="rId4" Type="http://schemas.openxmlformats.org/officeDocument/2006/relationships/slide" Target="slide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片包含 游戏机, 桌子, 水, 船&#10;&#10;描述已自动生成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2015" y="5468044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2025.05.25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2015" y="2301330"/>
            <a:ext cx="5513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XXX-</a:t>
            </a:r>
            <a:r>
              <a:rPr kumimoji="1"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如何服务好重客提案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469930"/>
            <a:ext cx="4634230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当前存在的问题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看到的差距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改进策略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重客试点计划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重客的定义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65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20523" y="2878417"/>
            <a:ext cx="100335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问题一：重客的负责人应该是谁？支撑组织怎么设计？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180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429405" y="261835"/>
            <a:ext cx="5405364" cy="495935"/>
          </a:xfrm>
        </p:spPr>
        <p:txBody>
          <a:bodyPr/>
          <a:lstStyle/>
          <a:p>
            <a:r>
              <a:rPr lang="zh-CN" altLang="en-US" dirty="0"/>
              <a:t>宁波</a:t>
            </a:r>
            <a:r>
              <a:rPr lang="zh-CN" altLang="en-US" dirty="0" smtClean="0"/>
              <a:t>地铁</a:t>
            </a:r>
            <a:r>
              <a:rPr lang="en-US" altLang="zh-CN" dirty="0" smtClean="0"/>
              <a:t>-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案例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分享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Freeform 102"/>
          <p:cNvSpPr/>
          <p:nvPr/>
        </p:nvSpPr>
        <p:spPr>
          <a:xfrm rot="1434555">
            <a:off x="12399" y="3238935"/>
            <a:ext cx="12268206" cy="668674"/>
          </a:xfrm>
          <a:custGeom>
            <a:avLst/>
            <a:gdLst>
              <a:gd name="connsiteX0" fmla="*/ 0 w 10382596"/>
              <a:gd name="connsiteY0" fmla="*/ 470471 h 869968"/>
              <a:gd name="connsiteX1" fmla="*/ 1180407 w 10382596"/>
              <a:gd name="connsiteY1" fmla="*/ 96398 h 869968"/>
              <a:gd name="connsiteX2" fmla="*/ 1803862 w 10382596"/>
              <a:gd name="connsiteY2" fmla="*/ 13271 h 869968"/>
              <a:gd name="connsiteX3" fmla="*/ 2460567 w 10382596"/>
              <a:gd name="connsiteY3" fmla="*/ 129649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69968"/>
              <a:gd name="connsiteX1" fmla="*/ 1180407 w 10382596"/>
              <a:gd name="connsiteY1" fmla="*/ 96398 h 869968"/>
              <a:gd name="connsiteX2" fmla="*/ 1803862 w 10382596"/>
              <a:gd name="connsiteY2" fmla="*/ 13271 h 869968"/>
              <a:gd name="connsiteX3" fmla="*/ 2460567 w 10382596"/>
              <a:gd name="connsiteY3" fmla="*/ 129649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69968"/>
              <a:gd name="connsiteX1" fmla="*/ 1180407 w 10382596"/>
              <a:gd name="connsiteY1" fmla="*/ 96398 h 869968"/>
              <a:gd name="connsiteX2" fmla="*/ 1803862 w 10382596"/>
              <a:gd name="connsiteY2" fmla="*/ 13271 h 869968"/>
              <a:gd name="connsiteX3" fmla="*/ 2460567 w 10382596"/>
              <a:gd name="connsiteY3" fmla="*/ 129649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69968"/>
              <a:gd name="connsiteX1" fmla="*/ 1180407 w 10382596"/>
              <a:gd name="connsiteY1" fmla="*/ 96398 h 869968"/>
              <a:gd name="connsiteX2" fmla="*/ 1803862 w 10382596"/>
              <a:gd name="connsiteY2" fmla="*/ 13271 h 869968"/>
              <a:gd name="connsiteX3" fmla="*/ 2460567 w 10382596"/>
              <a:gd name="connsiteY3" fmla="*/ 129649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69968"/>
              <a:gd name="connsiteX1" fmla="*/ 997527 w 10382596"/>
              <a:gd name="connsiteY1" fmla="*/ 129649 h 869968"/>
              <a:gd name="connsiteX2" fmla="*/ 1803862 w 10382596"/>
              <a:gd name="connsiteY2" fmla="*/ 13271 h 869968"/>
              <a:gd name="connsiteX3" fmla="*/ 2460567 w 10382596"/>
              <a:gd name="connsiteY3" fmla="*/ 129649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69968"/>
              <a:gd name="connsiteX1" fmla="*/ 947651 w 10382596"/>
              <a:gd name="connsiteY1" fmla="*/ 162900 h 869968"/>
              <a:gd name="connsiteX2" fmla="*/ 1803862 w 10382596"/>
              <a:gd name="connsiteY2" fmla="*/ 13271 h 869968"/>
              <a:gd name="connsiteX3" fmla="*/ 2460567 w 10382596"/>
              <a:gd name="connsiteY3" fmla="*/ 129649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69968"/>
              <a:gd name="connsiteX1" fmla="*/ 947651 w 10382596"/>
              <a:gd name="connsiteY1" fmla="*/ 162900 h 869968"/>
              <a:gd name="connsiteX2" fmla="*/ 1720735 w 10382596"/>
              <a:gd name="connsiteY2" fmla="*/ 13271 h 869968"/>
              <a:gd name="connsiteX3" fmla="*/ 2460567 w 10382596"/>
              <a:gd name="connsiteY3" fmla="*/ 129649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69968"/>
              <a:gd name="connsiteX1" fmla="*/ 889461 w 10382596"/>
              <a:gd name="connsiteY1" fmla="*/ 196151 h 869968"/>
              <a:gd name="connsiteX2" fmla="*/ 1720735 w 10382596"/>
              <a:gd name="connsiteY2" fmla="*/ 13271 h 869968"/>
              <a:gd name="connsiteX3" fmla="*/ 2460567 w 10382596"/>
              <a:gd name="connsiteY3" fmla="*/ 129649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69968"/>
              <a:gd name="connsiteX1" fmla="*/ 889461 w 10382596"/>
              <a:gd name="connsiteY1" fmla="*/ 196151 h 869968"/>
              <a:gd name="connsiteX2" fmla="*/ 1629295 w 10382596"/>
              <a:gd name="connsiteY2" fmla="*/ 46522 h 869968"/>
              <a:gd name="connsiteX3" fmla="*/ 2460567 w 10382596"/>
              <a:gd name="connsiteY3" fmla="*/ 129649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69968"/>
              <a:gd name="connsiteX1" fmla="*/ 889461 w 10382596"/>
              <a:gd name="connsiteY1" fmla="*/ 196151 h 869968"/>
              <a:gd name="connsiteX2" fmla="*/ 1629295 w 10382596"/>
              <a:gd name="connsiteY2" fmla="*/ 46522 h 869968"/>
              <a:gd name="connsiteX3" fmla="*/ 2460567 w 10382596"/>
              <a:gd name="connsiteY3" fmla="*/ 171213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69968"/>
              <a:gd name="connsiteX1" fmla="*/ 889461 w 10382596"/>
              <a:gd name="connsiteY1" fmla="*/ 196151 h 869968"/>
              <a:gd name="connsiteX2" fmla="*/ 1629295 w 10382596"/>
              <a:gd name="connsiteY2" fmla="*/ 46522 h 869968"/>
              <a:gd name="connsiteX3" fmla="*/ 2460567 w 10382596"/>
              <a:gd name="connsiteY3" fmla="*/ 196151 h 869968"/>
              <a:gd name="connsiteX4" fmla="*/ 3100647 w 10382596"/>
              <a:gd name="connsiteY4" fmla="*/ 512034 h 869968"/>
              <a:gd name="connsiteX5" fmla="*/ 4089862 w 10382596"/>
              <a:gd name="connsiteY5" fmla="*/ 852856 h 869968"/>
              <a:gd name="connsiteX6" fmla="*/ 5004262 w 10382596"/>
              <a:gd name="connsiteY6" fmla="*/ 786354 h 869968"/>
              <a:gd name="connsiteX7" fmla="*/ 5461462 w 10382596"/>
              <a:gd name="connsiteY7" fmla="*/ 503722 h 869968"/>
              <a:gd name="connsiteX8" fmla="*/ 5760720 w 10382596"/>
              <a:gd name="connsiteY8" fmla="*/ 229402 h 869968"/>
              <a:gd name="connsiteX9" fmla="*/ 6259484 w 10382596"/>
              <a:gd name="connsiteY9" fmla="*/ 13271 h 869968"/>
              <a:gd name="connsiteX10" fmla="*/ 7032567 w 10382596"/>
              <a:gd name="connsiteY10" fmla="*/ 63147 h 869968"/>
              <a:gd name="connsiteX11" fmla="*/ 7772400 w 10382596"/>
              <a:gd name="connsiteY11" fmla="*/ 387343 h 869968"/>
              <a:gd name="connsiteX12" fmla="*/ 8204662 w 10382596"/>
              <a:gd name="connsiteY12" fmla="*/ 669976 h 869968"/>
              <a:gd name="connsiteX13" fmla="*/ 8744989 w 10382596"/>
              <a:gd name="connsiteY13" fmla="*/ 769729 h 869968"/>
              <a:gd name="connsiteX14" fmla="*/ 9368444 w 10382596"/>
              <a:gd name="connsiteY14" fmla="*/ 786354 h 869968"/>
              <a:gd name="connsiteX15" fmla="*/ 9966960 w 10382596"/>
              <a:gd name="connsiteY15" fmla="*/ 620100 h 869968"/>
              <a:gd name="connsiteX16" fmla="*/ 10341033 w 10382596"/>
              <a:gd name="connsiteY16" fmla="*/ 246027 h 869968"/>
              <a:gd name="connsiteX17" fmla="*/ 10365971 w 10382596"/>
              <a:gd name="connsiteY17" fmla="*/ 212776 h 869968"/>
              <a:gd name="connsiteX18" fmla="*/ 10382596 w 10382596"/>
              <a:gd name="connsiteY18" fmla="*/ 229402 h 869968"/>
              <a:gd name="connsiteX0" fmla="*/ 0 w 10382596"/>
              <a:gd name="connsiteY0" fmla="*/ 595162 h 816769"/>
              <a:gd name="connsiteX1" fmla="*/ 889461 w 10382596"/>
              <a:gd name="connsiteY1" fmla="*/ 196151 h 816769"/>
              <a:gd name="connsiteX2" fmla="*/ 1629295 w 10382596"/>
              <a:gd name="connsiteY2" fmla="*/ 46522 h 816769"/>
              <a:gd name="connsiteX3" fmla="*/ 2460567 w 10382596"/>
              <a:gd name="connsiteY3" fmla="*/ 196151 h 816769"/>
              <a:gd name="connsiteX4" fmla="*/ 3100647 w 10382596"/>
              <a:gd name="connsiteY4" fmla="*/ 512034 h 816769"/>
              <a:gd name="connsiteX5" fmla="*/ 3898669 w 10382596"/>
              <a:gd name="connsiteY5" fmla="*/ 778042 h 816769"/>
              <a:gd name="connsiteX6" fmla="*/ 5004262 w 10382596"/>
              <a:gd name="connsiteY6" fmla="*/ 786354 h 816769"/>
              <a:gd name="connsiteX7" fmla="*/ 5461462 w 10382596"/>
              <a:gd name="connsiteY7" fmla="*/ 503722 h 816769"/>
              <a:gd name="connsiteX8" fmla="*/ 5760720 w 10382596"/>
              <a:gd name="connsiteY8" fmla="*/ 229402 h 816769"/>
              <a:gd name="connsiteX9" fmla="*/ 6259484 w 10382596"/>
              <a:gd name="connsiteY9" fmla="*/ 13271 h 816769"/>
              <a:gd name="connsiteX10" fmla="*/ 7032567 w 10382596"/>
              <a:gd name="connsiteY10" fmla="*/ 63147 h 816769"/>
              <a:gd name="connsiteX11" fmla="*/ 7772400 w 10382596"/>
              <a:gd name="connsiteY11" fmla="*/ 387343 h 816769"/>
              <a:gd name="connsiteX12" fmla="*/ 8204662 w 10382596"/>
              <a:gd name="connsiteY12" fmla="*/ 669976 h 816769"/>
              <a:gd name="connsiteX13" fmla="*/ 8744989 w 10382596"/>
              <a:gd name="connsiteY13" fmla="*/ 769729 h 816769"/>
              <a:gd name="connsiteX14" fmla="*/ 9368444 w 10382596"/>
              <a:gd name="connsiteY14" fmla="*/ 786354 h 816769"/>
              <a:gd name="connsiteX15" fmla="*/ 9966960 w 10382596"/>
              <a:gd name="connsiteY15" fmla="*/ 620100 h 816769"/>
              <a:gd name="connsiteX16" fmla="*/ 10341033 w 10382596"/>
              <a:gd name="connsiteY16" fmla="*/ 246027 h 816769"/>
              <a:gd name="connsiteX17" fmla="*/ 10365971 w 10382596"/>
              <a:gd name="connsiteY17" fmla="*/ 212776 h 816769"/>
              <a:gd name="connsiteX18" fmla="*/ 10382596 w 10382596"/>
              <a:gd name="connsiteY18" fmla="*/ 229402 h 816769"/>
              <a:gd name="connsiteX0" fmla="*/ 0 w 10382596"/>
              <a:gd name="connsiteY0" fmla="*/ 595162 h 811813"/>
              <a:gd name="connsiteX1" fmla="*/ 889461 w 10382596"/>
              <a:gd name="connsiteY1" fmla="*/ 196151 h 811813"/>
              <a:gd name="connsiteX2" fmla="*/ 1629295 w 10382596"/>
              <a:gd name="connsiteY2" fmla="*/ 46522 h 811813"/>
              <a:gd name="connsiteX3" fmla="*/ 2460567 w 10382596"/>
              <a:gd name="connsiteY3" fmla="*/ 196151 h 811813"/>
              <a:gd name="connsiteX4" fmla="*/ 3100647 w 10382596"/>
              <a:gd name="connsiteY4" fmla="*/ 512034 h 811813"/>
              <a:gd name="connsiteX5" fmla="*/ 3898669 w 10382596"/>
              <a:gd name="connsiteY5" fmla="*/ 778042 h 811813"/>
              <a:gd name="connsiteX6" fmla="*/ 4813069 w 10382596"/>
              <a:gd name="connsiteY6" fmla="*/ 778041 h 811813"/>
              <a:gd name="connsiteX7" fmla="*/ 5461462 w 10382596"/>
              <a:gd name="connsiteY7" fmla="*/ 503722 h 811813"/>
              <a:gd name="connsiteX8" fmla="*/ 5760720 w 10382596"/>
              <a:gd name="connsiteY8" fmla="*/ 229402 h 811813"/>
              <a:gd name="connsiteX9" fmla="*/ 6259484 w 10382596"/>
              <a:gd name="connsiteY9" fmla="*/ 13271 h 811813"/>
              <a:gd name="connsiteX10" fmla="*/ 7032567 w 10382596"/>
              <a:gd name="connsiteY10" fmla="*/ 63147 h 811813"/>
              <a:gd name="connsiteX11" fmla="*/ 7772400 w 10382596"/>
              <a:gd name="connsiteY11" fmla="*/ 387343 h 811813"/>
              <a:gd name="connsiteX12" fmla="*/ 8204662 w 10382596"/>
              <a:gd name="connsiteY12" fmla="*/ 669976 h 811813"/>
              <a:gd name="connsiteX13" fmla="*/ 8744989 w 10382596"/>
              <a:gd name="connsiteY13" fmla="*/ 769729 h 811813"/>
              <a:gd name="connsiteX14" fmla="*/ 9368444 w 10382596"/>
              <a:gd name="connsiteY14" fmla="*/ 786354 h 811813"/>
              <a:gd name="connsiteX15" fmla="*/ 9966960 w 10382596"/>
              <a:gd name="connsiteY15" fmla="*/ 620100 h 811813"/>
              <a:gd name="connsiteX16" fmla="*/ 10341033 w 10382596"/>
              <a:gd name="connsiteY16" fmla="*/ 246027 h 811813"/>
              <a:gd name="connsiteX17" fmla="*/ 10365971 w 10382596"/>
              <a:gd name="connsiteY17" fmla="*/ 212776 h 811813"/>
              <a:gd name="connsiteX18" fmla="*/ 10382596 w 10382596"/>
              <a:gd name="connsiteY18" fmla="*/ 229402 h 811813"/>
              <a:gd name="connsiteX0" fmla="*/ 0 w 10382596"/>
              <a:gd name="connsiteY0" fmla="*/ 595162 h 807338"/>
              <a:gd name="connsiteX1" fmla="*/ 889461 w 10382596"/>
              <a:gd name="connsiteY1" fmla="*/ 196151 h 807338"/>
              <a:gd name="connsiteX2" fmla="*/ 1629295 w 10382596"/>
              <a:gd name="connsiteY2" fmla="*/ 46522 h 807338"/>
              <a:gd name="connsiteX3" fmla="*/ 2460567 w 10382596"/>
              <a:gd name="connsiteY3" fmla="*/ 196151 h 807338"/>
              <a:gd name="connsiteX4" fmla="*/ 3100647 w 10382596"/>
              <a:gd name="connsiteY4" fmla="*/ 512034 h 807338"/>
              <a:gd name="connsiteX5" fmla="*/ 3898669 w 10382596"/>
              <a:gd name="connsiteY5" fmla="*/ 778042 h 807338"/>
              <a:gd name="connsiteX6" fmla="*/ 4729942 w 10382596"/>
              <a:gd name="connsiteY6" fmla="*/ 769728 h 807338"/>
              <a:gd name="connsiteX7" fmla="*/ 5461462 w 10382596"/>
              <a:gd name="connsiteY7" fmla="*/ 503722 h 807338"/>
              <a:gd name="connsiteX8" fmla="*/ 5760720 w 10382596"/>
              <a:gd name="connsiteY8" fmla="*/ 229402 h 807338"/>
              <a:gd name="connsiteX9" fmla="*/ 6259484 w 10382596"/>
              <a:gd name="connsiteY9" fmla="*/ 13271 h 807338"/>
              <a:gd name="connsiteX10" fmla="*/ 7032567 w 10382596"/>
              <a:gd name="connsiteY10" fmla="*/ 63147 h 807338"/>
              <a:gd name="connsiteX11" fmla="*/ 7772400 w 10382596"/>
              <a:gd name="connsiteY11" fmla="*/ 387343 h 807338"/>
              <a:gd name="connsiteX12" fmla="*/ 8204662 w 10382596"/>
              <a:gd name="connsiteY12" fmla="*/ 669976 h 807338"/>
              <a:gd name="connsiteX13" fmla="*/ 8744989 w 10382596"/>
              <a:gd name="connsiteY13" fmla="*/ 769729 h 807338"/>
              <a:gd name="connsiteX14" fmla="*/ 9368444 w 10382596"/>
              <a:gd name="connsiteY14" fmla="*/ 786354 h 807338"/>
              <a:gd name="connsiteX15" fmla="*/ 9966960 w 10382596"/>
              <a:gd name="connsiteY15" fmla="*/ 620100 h 807338"/>
              <a:gd name="connsiteX16" fmla="*/ 10341033 w 10382596"/>
              <a:gd name="connsiteY16" fmla="*/ 246027 h 807338"/>
              <a:gd name="connsiteX17" fmla="*/ 10365971 w 10382596"/>
              <a:gd name="connsiteY17" fmla="*/ 212776 h 807338"/>
              <a:gd name="connsiteX18" fmla="*/ 10382596 w 10382596"/>
              <a:gd name="connsiteY18" fmla="*/ 229402 h 807338"/>
              <a:gd name="connsiteX0" fmla="*/ 0 w 10382596"/>
              <a:gd name="connsiteY0" fmla="*/ 595162 h 807338"/>
              <a:gd name="connsiteX1" fmla="*/ 889461 w 10382596"/>
              <a:gd name="connsiteY1" fmla="*/ 196151 h 807338"/>
              <a:gd name="connsiteX2" fmla="*/ 1629295 w 10382596"/>
              <a:gd name="connsiteY2" fmla="*/ 46522 h 807338"/>
              <a:gd name="connsiteX3" fmla="*/ 2435628 w 10382596"/>
              <a:gd name="connsiteY3" fmla="*/ 196151 h 807338"/>
              <a:gd name="connsiteX4" fmla="*/ 3100647 w 10382596"/>
              <a:gd name="connsiteY4" fmla="*/ 512034 h 807338"/>
              <a:gd name="connsiteX5" fmla="*/ 3898669 w 10382596"/>
              <a:gd name="connsiteY5" fmla="*/ 778042 h 807338"/>
              <a:gd name="connsiteX6" fmla="*/ 4729942 w 10382596"/>
              <a:gd name="connsiteY6" fmla="*/ 769728 h 807338"/>
              <a:gd name="connsiteX7" fmla="*/ 5461462 w 10382596"/>
              <a:gd name="connsiteY7" fmla="*/ 503722 h 807338"/>
              <a:gd name="connsiteX8" fmla="*/ 5760720 w 10382596"/>
              <a:gd name="connsiteY8" fmla="*/ 229402 h 807338"/>
              <a:gd name="connsiteX9" fmla="*/ 6259484 w 10382596"/>
              <a:gd name="connsiteY9" fmla="*/ 13271 h 807338"/>
              <a:gd name="connsiteX10" fmla="*/ 7032567 w 10382596"/>
              <a:gd name="connsiteY10" fmla="*/ 63147 h 807338"/>
              <a:gd name="connsiteX11" fmla="*/ 7772400 w 10382596"/>
              <a:gd name="connsiteY11" fmla="*/ 387343 h 807338"/>
              <a:gd name="connsiteX12" fmla="*/ 8204662 w 10382596"/>
              <a:gd name="connsiteY12" fmla="*/ 669976 h 807338"/>
              <a:gd name="connsiteX13" fmla="*/ 8744989 w 10382596"/>
              <a:gd name="connsiteY13" fmla="*/ 769729 h 807338"/>
              <a:gd name="connsiteX14" fmla="*/ 9368444 w 10382596"/>
              <a:gd name="connsiteY14" fmla="*/ 786354 h 807338"/>
              <a:gd name="connsiteX15" fmla="*/ 9966960 w 10382596"/>
              <a:gd name="connsiteY15" fmla="*/ 620100 h 807338"/>
              <a:gd name="connsiteX16" fmla="*/ 10341033 w 10382596"/>
              <a:gd name="connsiteY16" fmla="*/ 246027 h 807338"/>
              <a:gd name="connsiteX17" fmla="*/ 10365971 w 10382596"/>
              <a:gd name="connsiteY17" fmla="*/ 212776 h 807338"/>
              <a:gd name="connsiteX18" fmla="*/ 10382596 w 10382596"/>
              <a:gd name="connsiteY18" fmla="*/ 229402 h 807338"/>
              <a:gd name="connsiteX0" fmla="*/ 0 w 10382596"/>
              <a:gd name="connsiteY0" fmla="*/ 595162 h 807338"/>
              <a:gd name="connsiteX1" fmla="*/ 889461 w 10382596"/>
              <a:gd name="connsiteY1" fmla="*/ 196151 h 807338"/>
              <a:gd name="connsiteX2" fmla="*/ 1629295 w 10382596"/>
              <a:gd name="connsiteY2" fmla="*/ 46522 h 807338"/>
              <a:gd name="connsiteX3" fmla="*/ 2435628 w 10382596"/>
              <a:gd name="connsiteY3" fmla="*/ 196151 h 807338"/>
              <a:gd name="connsiteX4" fmla="*/ 3100647 w 10382596"/>
              <a:gd name="connsiteY4" fmla="*/ 512034 h 807338"/>
              <a:gd name="connsiteX5" fmla="*/ 3898669 w 10382596"/>
              <a:gd name="connsiteY5" fmla="*/ 778042 h 807338"/>
              <a:gd name="connsiteX6" fmla="*/ 4729942 w 10382596"/>
              <a:gd name="connsiteY6" fmla="*/ 769728 h 807338"/>
              <a:gd name="connsiteX7" fmla="*/ 5461462 w 10382596"/>
              <a:gd name="connsiteY7" fmla="*/ 503722 h 807338"/>
              <a:gd name="connsiteX8" fmla="*/ 5760720 w 10382596"/>
              <a:gd name="connsiteY8" fmla="*/ 229402 h 807338"/>
              <a:gd name="connsiteX9" fmla="*/ 6259484 w 10382596"/>
              <a:gd name="connsiteY9" fmla="*/ 13271 h 807338"/>
              <a:gd name="connsiteX10" fmla="*/ 7032567 w 10382596"/>
              <a:gd name="connsiteY10" fmla="*/ 63147 h 807338"/>
              <a:gd name="connsiteX11" fmla="*/ 7772400 w 10382596"/>
              <a:gd name="connsiteY11" fmla="*/ 387343 h 807338"/>
              <a:gd name="connsiteX12" fmla="*/ 8204662 w 10382596"/>
              <a:gd name="connsiteY12" fmla="*/ 669976 h 807338"/>
              <a:gd name="connsiteX13" fmla="*/ 8744989 w 10382596"/>
              <a:gd name="connsiteY13" fmla="*/ 769729 h 807338"/>
              <a:gd name="connsiteX14" fmla="*/ 9368444 w 10382596"/>
              <a:gd name="connsiteY14" fmla="*/ 786354 h 807338"/>
              <a:gd name="connsiteX15" fmla="*/ 9966960 w 10382596"/>
              <a:gd name="connsiteY15" fmla="*/ 620100 h 807338"/>
              <a:gd name="connsiteX16" fmla="*/ 10341033 w 10382596"/>
              <a:gd name="connsiteY16" fmla="*/ 246027 h 807338"/>
              <a:gd name="connsiteX17" fmla="*/ 10365971 w 10382596"/>
              <a:gd name="connsiteY17" fmla="*/ 212776 h 807338"/>
              <a:gd name="connsiteX18" fmla="*/ 10382596 w 10382596"/>
              <a:gd name="connsiteY18" fmla="*/ 229402 h 807338"/>
              <a:gd name="connsiteX0" fmla="*/ 0 w 10382596"/>
              <a:gd name="connsiteY0" fmla="*/ 595162 h 805026"/>
              <a:gd name="connsiteX1" fmla="*/ 889461 w 10382596"/>
              <a:gd name="connsiteY1" fmla="*/ 196151 h 805026"/>
              <a:gd name="connsiteX2" fmla="*/ 1629295 w 10382596"/>
              <a:gd name="connsiteY2" fmla="*/ 46522 h 805026"/>
              <a:gd name="connsiteX3" fmla="*/ 2435628 w 10382596"/>
              <a:gd name="connsiteY3" fmla="*/ 196151 h 805026"/>
              <a:gd name="connsiteX4" fmla="*/ 3100647 w 10382596"/>
              <a:gd name="connsiteY4" fmla="*/ 512034 h 805026"/>
              <a:gd name="connsiteX5" fmla="*/ 3898669 w 10382596"/>
              <a:gd name="connsiteY5" fmla="*/ 778042 h 805026"/>
              <a:gd name="connsiteX6" fmla="*/ 4729942 w 10382596"/>
              <a:gd name="connsiteY6" fmla="*/ 769728 h 805026"/>
              <a:gd name="connsiteX7" fmla="*/ 5320146 w 10382596"/>
              <a:gd name="connsiteY7" fmla="*/ 545286 h 805026"/>
              <a:gd name="connsiteX8" fmla="*/ 5760720 w 10382596"/>
              <a:gd name="connsiteY8" fmla="*/ 229402 h 805026"/>
              <a:gd name="connsiteX9" fmla="*/ 6259484 w 10382596"/>
              <a:gd name="connsiteY9" fmla="*/ 13271 h 805026"/>
              <a:gd name="connsiteX10" fmla="*/ 7032567 w 10382596"/>
              <a:gd name="connsiteY10" fmla="*/ 63147 h 805026"/>
              <a:gd name="connsiteX11" fmla="*/ 7772400 w 10382596"/>
              <a:gd name="connsiteY11" fmla="*/ 387343 h 805026"/>
              <a:gd name="connsiteX12" fmla="*/ 8204662 w 10382596"/>
              <a:gd name="connsiteY12" fmla="*/ 669976 h 805026"/>
              <a:gd name="connsiteX13" fmla="*/ 8744989 w 10382596"/>
              <a:gd name="connsiteY13" fmla="*/ 769729 h 805026"/>
              <a:gd name="connsiteX14" fmla="*/ 9368444 w 10382596"/>
              <a:gd name="connsiteY14" fmla="*/ 786354 h 805026"/>
              <a:gd name="connsiteX15" fmla="*/ 9966960 w 10382596"/>
              <a:gd name="connsiteY15" fmla="*/ 620100 h 805026"/>
              <a:gd name="connsiteX16" fmla="*/ 10341033 w 10382596"/>
              <a:gd name="connsiteY16" fmla="*/ 246027 h 805026"/>
              <a:gd name="connsiteX17" fmla="*/ 10365971 w 10382596"/>
              <a:gd name="connsiteY17" fmla="*/ 212776 h 805026"/>
              <a:gd name="connsiteX18" fmla="*/ 10382596 w 10382596"/>
              <a:gd name="connsiteY18" fmla="*/ 229402 h 805026"/>
              <a:gd name="connsiteX0" fmla="*/ 0 w 10382596"/>
              <a:gd name="connsiteY0" fmla="*/ 595162 h 804581"/>
              <a:gd name="connsiteX1" fmla="*/ 889461 w 10382596"/>
              <a:gd name="connsiteY1" fmla="*/ 196151 h 804581"/>
              <a:gd name="connsiteX2" fmla="*/ 1629295 w 10382596"/>
              <a:gd name="connsiteY2" fmla="*/ 46522 h 804581"/>
              <a:gd name="connsiteX3" fmla="*/ 2435628 w 10382596"/>
              <a:gd name="connsiteY3" fmla="*/ 196151 h 804581"/>
              <a:gd name="connsiteX4" fmla="*/ 3100647 w 10382596"/>
              <a:gd name="connsiteY4" fmla="*/ 512034 h 804581"/>
              <a:gd name="connsiteX5" fmla="*/ 3898669 w 10382596"/>
              <a:gd name="connsiteY5" fmla="*/ 778042 h 804581"/>
              <a:gd name="connsiteX6" fmla="*/ 4729942 w 10382596"/>
              <a:gd name="connsiteY6" fmla="*/ 769728 h 804581"/>
              <a:gd name="connsiteX7" fmla="*/ 5286895 w 10382596"/>
              <a:gd name="connsiteY7" fmla="*/ 553598 h 804581"/>
              <a:gd name="connsiteX8" fmla="*/ 5760720 w 10382596"/>
              <a:gd name="connsiteY8" fmla="*/ 229402 h 804581"/>
              <a:gd name="connsiteX9" fmla="*/ 6259484 w 10382596"/>
              <a:gd name="connsiteY9" fmla="*/ 13271 h 804581"/>
              <a:gd name="connsiteX10" fmla="*/ 7032567 w 10382596"/>
              <a:gd name="connsiteY10" fmla="*/ 63147 h 804581"/>
              <a:gd name="connsiteX11" fmla="*/ 7772400 w 10382596"/>
              <a:gd name="connsiteY11" fmla="*/ 387343 h 804581"/>
              <a:gd name="connsiteX12" fmla="*/ 8204662 w 10382596"/>
              <a:gd name="connsiteY12" fmla="*/ 669976 h 804581"/>
              <a:gd name="connsiteX13" fmla="*/ 8744989 w 10382596"/>
              <a:gd name="connsiteY13" fmla="*/ 769729 h 804581"/>
              <a:gd name="connsiteX14" fmla="*/ 9368444 w 10382596"/>
              <a:gd name="connsiteY14" fmla="*/ 786354 h 804581"/>
              <a:gd name="connsiteX15" fmla="*/ 9966960 w 10382596"/>
              <a:gd name="connsiteY15" fmla="*/ 620100 h 804581"/>
              <a:gd name="connsiteX16" fmla="*/ 10341033 w 10382596"/>
              <a:gd name="connsiteY16" fmla="*/ 246027 h 804581"/>
              <a:gd name="connsiteX17" fmla="*/ 10365971 w 10382596"/>
              <a:gd name="connsiteY17" fmla="*/ 212776 h 804581"/>
              <a:gd name="connsiteX18" fmla="*/ 10382596 w 10382596"/>
              <a:gd name="connsiteY18" fmla="*/ 229402 h 804581"/>
              <a:gd name="connsiteX0" fmla="*/ 0 w 10382596"/>
              <a:gd name="connsiteY0" fmla="*/ 595162 h 804581"/>
              <a:gd name="connsiteX1" fmla="*/ 889461 w 10382596"/>
              <a:gd name="connsiteY1" fmla="*/ 196151 h 804581"/>
              <a:gd name="connsiteX2" fmla="*/ 1629295 w 10382596"/>
              <a:gd name="connsiteY2" fmla="*/ 46522 h 804581"/>
              <a:gd name="connsiteX3" fmla="*/ 2435628 w 10382596"/>
              <a:gd name="connsiteY3" fmla="*/ 196151 h 804581"/>
              <a:gd name="connsiteX4" fmla="*/ 3100647 w 10382596"/>
              <a:gd name="connsiteY4" fmla="*/ 512034 h 804581"/>
              <a:gd name="connsiteX5" fmla="*/ 3898669 w 10382596"/>
              <a:gd name="connsiteY5" fmla="*/ 778042 h 804581"/>
              <a:gd name="connsiteX6" fmla="*/ 4572001 w 10382596"/>
              <a:gd name="connsiteY6" fmla="*/ 769728 h 804581"/>
              <a:gd name="connsiteX7" fmla="*/ 5286895 w 10382596"/>
              <a:gd name="connsiteY7" fmla="*/ 553598 h 804581"/>
              <a:gd name="connsiteX8" fmla="*/ 5760720 w 10382596"/>
              <a:gd name="connsiteY8" fmla="*/ 229402 h 804581"/>
              <a:gd name="connsiteX9" fmla="*/ 6259484 w 10382596"/>
              <a:gd name="connsiteY9" fmla="*/ 13271 h 804581"/>
              <a:gd name="connsiteX10" fmla="*/ 7032567 w 10382596"/>
              <a:gd name="connsiteY10" fmla="*/ 63147 h 804581"/>
              <a:gd name="connsiteX11" fmla="*/ 7772400 w 10382596"/>
              <a:gd name="connsiteY11" fmla="*/ 387343 h 804581"/>
              <a:gd name="connsiteX12" fmla="*/ 8204662 w 10382596"/>
              <a:gd name="connsiteY12" fmla="*/ 669976 h 804581"/>
              <a:gd name="connsiteX13" fmla="*/ 8744989 w 10382596"/>
              <a:gd name="connsiteY13" fmla="*/ 769729 h 804581"/>
              <a:gd name="connsiteX14" fmla="*/ 9368444 w 10382596"/>
              <a:gd name="connsiteY14" fmla="*/ 786354 h 804581"/>
              <a:gd name="connsiteX15" fmla="*/ 9966960 w 10382596"/>
              <a:gd name="connsiteY15" fmla="*/ 620100 h 804581"/>
              <a:gd name="connsiteX16" fmla="*/ 10341033 w 10382596"/>
              <a:gd name="connsiteY16" fmla="*/ 246027 h 804581"/>
              <a:gd name="connsiteX17" fmla="*/ 10365971 w 10382596"/>
              <a:gd name="connsiteY17" fmla="*/ 212776 h 804581"/>
              <a:gd name="connsiteX18" fmla="*/ 10382596 w 10382596"/>
              <a:gd name="connsiteY18" fmla="*/ 229402 h 804581"/>
              <a:gd name="connsiteX0" fmla="*/ 0 w 10382596"/>
              <a:gd name="connsiteY0" fmla="*/ 595162 h 804581"/>
              <a:gd name="connsiteX1" fmla="*/ 889461 w 10382596"/>
              <a:gd name="connsiteY1" fmla="*/ 196151 h 804581"/>
              <a:gd name="connsiteX2" fmla="*/ 1629295 w 10382596"/>
              <a:gd name="connsiteY2" fmla="*/ 46522 h 804581"/>
              <a:gd name="connsiteX3" fmla="*/ 2435628 w 10382596"/>
              <a:gd name="connsiteY3" fmla="*/ 196151 h 804581"/>
              <a:gd name="connsiteX4" fmla="*/ 3100647 w 10382596"/>
              <a:gd name="connsiteY4" fmla="*/ 512034 h 804581"/>
              <a:gd name="connsiteX5" fmla="*/ 3898669 w 10382596"/>
              <a:gd name="connsiteY5" fmla="*/ 778042 h 804581"/>
              <a:gd name="connsiteX6" fmla="*/ 4621878 w 10382596"/>
              <a:gd name="connsiteY6" fmla="*/ 769728 h 804581"/>
              <a:gd name="connsiteX7" fmla="*/ 5286895 w 10382596"/>
              <a:gd name="connsiteY7" fmla="*/ 553598 h 804581"/>
              <a:gd name="connsiteX8" fmla="*/ 5760720 w 10382596"/>
              <a:gd name="connsiteY8" fmla="*/ 229402 h 804581"/>
              <a:gd name="connsiteX9" fmla="*/ 6259484 w 10382596"/>
              <a:gd name="connsiteY9" fmla="*/ 13271 h 804581"/>
              <a:gd name="connsiteX10" fmla="*/ 7032567 w 10382596"/>
              <a:gd name="connsiteY10" fmla="*/ 63147 h 804581"/>
              <a:gd name="connsiteX11" fmla="*/ 7772400 w 10382596"/>
              <a:gd name="connsiteY11" fmla="*/ 387343 h 804581"/>
              <a:gd name="connsiteX12" fmla="*/ 8204662 w 10382596"/>
              <a:gd name="connsiteY12" fmla="*/ 669976 h 804581"/>
              <a:gd name="connsiteX13" fmla="*/ 8744989 w 10382596"/>
              <a:gd name="connsiteY13" fmla="*/ 769729 h 804581"/>
              <a:gd name="connsiteX14" fmla="*/ 9368444 w 10382596"/>
              <a:gd name="connsiteY14" fmla="*/ 786354 h 804581"/>
              <a:gd name="connsiteX15" fmla="*/ 9966960 w 10382596"/>
              <a:gd name="connsiteY15" fmla="*/ 620100 h 804581"/>
              <a:gd name="connsiteX16" fmla="*/ 10341033 w 10382596"/>
              <a:gd name="connsiteY16" fmla="*/ 246027 h 804581"/>
              <a:gd name="connsiteX17" fmla="*/ 10365971 w 10382596"/>
              <a:gd name="connsiteY17" fmla="*/ 212776 h 804581"/>
              <a:gd name="connsiteX18" fmla="*/ 10382596 w 10382596"/>
              <a:gd name="connsiteY18" fmla="*/ 229402 h 804581"/>
              <a:gd name="connsiteX0" fmla="*/ 0 w 10382596"/>
              <a:gd name="connsiteY0" fmla="*/ 595162 h 799399"/>
              <a:gd name="connsiteX1" fmla="*/ 889461 w 10382596"/>
              <a:gd name="connsiteY1" fmla="*/ 196151 h 799399"/>
              <a:gd name="connsiteX2" fmla="*/ 1629295 w 10382596"/>
              <a:gd name="connsiteY2" fmla="*/ 46522 h 799399"/>
              <a:gd name="connsiteX3" fmla="*/ 2435628 w 10382596"/>
              <a:gd name="connsiteY3" fmla="*/ 196151 h 799399"/>
              <a:gd name="connsiteX4" fmla="*/ 3100647 w 10382596"/>
              <a:gd name="connsiteY4" fmla="*/ 512034 h 799399"/>
              <a:gd name="connsiteX5" fmla="*/ 3807229 w 10382596"/>
              <a:gd name="connsiteY5" fmla="*/ 769729 h 799399"/>
              <a:gd name="connsiteX6" fmla="*/ 4621878 w 10382596"/>
              <a:gd name="connsiteY6" fmla="*/ 769728 h 799399"/>
              <a:gd name="connsiteX7" fmla="*/ 5286895 w 10382596"/>
              <a:gd name="connsiteY7" fmla="*/ 553598 h 799399"/>
              <a:gd name="connsiteX8" fmla="*/ 5760720 w 10382596"/>
              <a:gd name="connsiteY8" fmla="*/ 229402 h 799399"/>
              <a:gd name="connsiteX9" fmla="*/ 6259484 w 10382596"/>
              <a:gd name="connsiteY9" fmla="*/ 13271 h 799399"/>
              <a:gd name="connsiteX10" fmla="*/ 7032567 w 10382596"/>
              <a:gd name="connsiteY10" fmla="*/ 63147 h 799399"/>
              <a:gd name="connsiteX11" fmla="*/ 7772400 w 10382596"/>
              <a:gd name="connsiteY11" fmla="*/ 387343 h 799399"/>
              <a:gd name="connsiteX12" fmla="*/ 8204662 w 10382596"/>
              <a:gd name="connsiteY12" fmla="*/ 669976 h 799399"/>
              <a:gd name="connsiteX13" fmla="*/ 8744989 w 10382596"/>
              <a:gd name="connsiteY13" fmla="*/ 769729 h 799399"/>
              <a:gd name="connsiteX14" fmla="*/ 9368444 w 10382596"/>
              <a:gd name="connsiteY14" fmla="*/ 786354 h 799399"/>
              <a:gd name="connsiteX15" fmla="*/ 9966960 w 10382596"/>
              <a:gd name="connsiteY15" fmla="*/ 620100 h 799399"/>
              <a:gd name="connsiteX16" fmla="*/ 10341033 w 10382596"/>
              <a:gd name="connsiteY16" fmla="*/ 246027 h 799399"/>
              <a:gd name="connsiteX17" fmla="*/ 10365971 w 10382596"/>
              <a:gd name="connsiteY17" fmla="*/ 212776 h 799399"/>
              <a:gd name="connsiteX18" fmla="*/ 10382596 w 10382596"/>
              <a:gd name="connsiteY18" fmla="*/ 229402 h 799399"/>
              <a:gd name="connsiteX0" fmla="*/ 0 w 10382596"/>
              <a:gd name="connsiteY0" fmla="*/ 577115 h 781352"/>
              <a:gd name="connsiteX1" fmla="*/ 889461 w 10382596"/>
              <a:gd name="connsiteY1" fmla="*/ 178104 h 781352"/>
              <a:gd name="connsiteX2" fmla="*/ 1629295 w 10382596"/>
              <a:gd name="connsiteY2" fmla="*/ 28475 h 781352"/>
              <a:gd name="connsiteX3" fmla="*/ 2435628 w 10382596"/>
              <a:gd name="connsiteY3" fmla="*/ 178104 h 781352"/>
              <a:gd name="connsiteX4" fmla="*/ 3100647 w 10382596"/>
              <a:gd name="connsiteY4" fmla="*/ 493987 h 781352"/>
              <a:gd name="connsiteX5" fmla="*/ 3807229 w 10382596"/>
              <a:gd name="connsiteY5" fmla="*/ 751682 h 781352"/>
              <a:gd name="connsiteX6" fmla="*/ 4621878 w 10382596"/>
              <a:gd name="connsiteY6" fmla="*/ 751681 h 781352"/>
              <a:gd name="connsiteX7" fmla="*/ 5286895 w 10382596"/>
              <a:gd name="connsiteY7" fmla="*/ 535551 h 781352"/>
              <a:gd name="connsiteX8" fmla="*/ 5760720 w 10382596"/>
              <a:gd name="connsiteY8" fmla="*/ 211355 h 781352"/>
              <a:gd name="connsiteX9" fmla="*/ 6301047 w 10382596"/>
              <a:gd name="connsiteY9" fmla="*/ 20162 h 781352"/>
              <a:gd name="connsiteX10" fmla="*/ 7032567 w 10382596"/>
              <a:gd name="connsiteY10" fmla="*/ 45100 h 781352"/>
              <a:gd name="connsiteX11" fmla="*/ 7772400 w 10382596"/>
              <a:gd name="connsiteY11" fmla="*/ 369296 h 781352"/>
              <a:gd name="connsiteX12" fmla="*/ 8204662 w 10382596"/>
              <a:gd name="connsiteY12" fmla="*/ 651929 h 781352"/>
              <a:gd name="connsiteX13" fmla="*/ 8744989 w 10382596"/>
              <a:gd name="connsiteY13" fmla="*/ 751682 h 781352"/>
              <a:gd name="connsiteX14" fmla="*/ 9368444 w 10382596"/>
              <a:gd name="connsiteY14" fmla="*/ 768307 h 781352"/>
              <a:gd name="connsiteX15" fmla="*/ 9966960 w 10382596"/>
              <a:gd name="connsiteY15" fmla="*/ 602053 h 781352"/>
              <a:gd name="connsiteX16" fmla="*/ 10341033 w 10382596"/>
              <a:gd name="connsiteY16" fmla="*/ 227980 h 781352"/>
              <a:gd name="connsiteX17" fmla="*/ 10365971 w 10382596"/>
              <a:gd name="connsiteY17" fmla="*/ 194729 h 781352"/>
              <a:gd name="connsiteX18" fmla="*/ 10382596 w 10382596"/>
              <a:gd name="connsiteY18" fmla="*/ 211355 h 781352"/>
              <a:gd name="connsiteX0" fmla="*/ 0 w 10382596"/>
              <a:gd name="connsiteY0" fmla="*/ 580000 h 784237"/>
              <a:gd name="connsiteX1" fmla="*/ 889461 w 10382596"/>
              <a:gd name="connsiteY1" fmla="*/ 180989 h 784237"/>
              <a:gd name="connsiteX2" fmla="*/ 1629295 w 10382596"/>
              <a:gd name="connsiteY2" fmla="*/ 31360 h 784237"/>
              <a:gd name="connsiteX3" fmla="*/ 2435628 w 10382596"/>
              <a:gd name="connsiteY3" fmla="*/ 180989 h 784237"/>
              <a:gd name="connsiteX4" fmla="*/ 3100647 w 10382596"/>
              <a:gd name="connsiteY4" fmla="*/ 496872 h 784237"/>
              <a:gd name="connsiteX5" fmla="*/ 3807229 w 10382596"/>
              <a:gd name="connsiteY5" fmla="*/ 754567 h 784237"/>
              <a:gd name="connsiteX6" fmla="*/ 4621878 w 10382596"/>
              <a:gd name="connsiteY6" fmla="*/ 754566 h 784237"/>
              <a:gd name="connsiteX7" fmla="*/ 5286895 w 10382596"/>
              <a:gd name="connsiteY7" fmla="*/ 538436 h 784237"/>
              <a:gd name="connsiteX8" fmla="*/ 5769033 w 10382596"/>
              <a:gd name="connsiteY8" fmla="*/ 255803 h 784237"/>
              <a:gd name="connsiteX9" fmla="*/ 6301047 w 10382596"/>
              <a:gd name="connsiteY9" fmla="*/ 23047 h 784237"/>
              <a:gd name="connsiteX10" fmla="*/ 7032567 w 10382596"/>
              <a:gd name="connsiteY10" fmla="*/ 47985 h 784237"/>
              <a:gd name="connsiteX11" fmla="*/ 7772400 w 10382596"/>
              <a:gd name="connsiteY11" fmla="*/ 372181 h 784237"/>
              <a:gd name="connsiteX12" fmla="*/ 8204662 w 10382596"/>
              <a:gd name="connsiteY12" fmla="*/ 654814 h 784237"/>
              <a:gd name="connsiteX13" fmla="*/ 8744989 w 10382596"/>
              <a:gd name="connsiteY13" fmla="*/ 754567 h 784237"/>
              <a:gd name="connsiteX14" fmla="*/ 9368444 w 10382596"/>
              <a:gd name="connsiteY14" fmla="*/ 771192 h 784237"/>
              <a:gd name="connsiteX15" fmla="*/ 9966960 w 10382596"/>
              <a:gd name="connsiteY15" fmla="*/ 604938 h 784237"/>
              <a:gd name="connsiteX16" fmla="*/ 10341033 w 10382596"/>
              <a:gd name="connsiteY16" fmla="*/ 230865 h 784237"/>
              <a:gd name="connsiteX17" fmla="*/ 10365971 w 10382596"/>
              <a:gd name="connsiteY17" fmla="*/ 197614 h 784237"/>
              <a:gd name="connsiteX18" fmla="*/ 10382596 w 10382596"/>
              <a:gd name="connsiteY18" fmla="*/ 214240 h 784237"/>
              <a:gd name="connsiteX0" fmla="*/ 0 w 10382596"/>
              <a:gd name="connsiteY0" fmla="*/ 561817 h 766054"/>
              <a:gd name="connsiteX1" fmla="*/ 889461 w 10382596"/>
              <a:gd name="connsiteY1" fmla="*/ 162806 h 766054"/>
              <a:gd name="connsiteX2" fmla="*/ 1629295 w 10382596"/>
              <a:gd name="connsiteY2" fmla="*/ 13177 h 766054"/>
              <a:gd name="connsiteX3" fmla="*/ 2435628 w 10382596"/>
              <a:gd name="connsiteY3" fmla="*/ 162806 h 766054"/>
              <a:gd name="connsiteX4" fmla="*/ 3100647 w 10382596"/>
              <a:gd name="connsiteY4" fmla="*/ 478689 h 766054"/>
              <a:gd name="connsiteX5" fmla="*/ 3807229 w 10382596"/>
              <a:gd name="connsiteY5" fmla="*/ 736384 h 766054"/>
              <a:gd name="connsiteX6" fmla="*/ 4621878 w 10382596"/>
              <a:gd name="connsiteY6" fmla="*/ 736383 h 766054"/>
              <a:gd name="connsiteX7" fmla="*/ 5286895 w 10382596"/>
              <a:gd name="connsiteY7" fmla="*/ 520253 h 766054"/>
              <a:gd name="connsiteX8" fmla="*/ 5769033 w 10382596"/>
              <a:gd name="connsiteY8" fmla="*/ 237620 h 766054"/>
              <a:gd name="connsiteX9" fmla="*/ 6317672 w 10382596"/>
              <a:gd name="connsiteY9" fmla="*/ 38115 h 766054"/>
              <a:gd name="connsiteX10" fmla="*/ 7032567 w 10382596"/>
              <a:gd name="connsiteY10" fmla="*/ 29802 h 766054"/>
              <a:gd name="connsiteX11" fmla="*/ 7772400 w 10382596"/>
              <a:gd name="connsiteY11" fmla="*/ 353998 h 766054"/>
              <a:gd name="connsiteX12" fmla="*/ 8204662 w 10382596"/>
              <a:gd name="connsiteY12" fmla="*/ 636631 h 766054"/>
              <a:gd name="connsiteX13" fmla="*/ 8744989 w 10382596"/>
              <a:gd name="connsiteY13" fmla="*/ 736384 h 766054"/>
              <a:gd name="connsiteX14" fmla="*/ 9368444 w 10382596"/>
              <a:gd name="connsiteY14" fmla="*/ 753009 h 766054"/>
              <a:gd name="connsiteX15" fmla="*/ 9966960 w 10382596"/>
              <a:gd name="connsiteY15" fmla="*/ 586755 h 766054"/>
              <a:gd name="connsiteX16" fmla="*/ 10341033 w 10382596"/>
              <a:gd name="connsiteY16" fmla="*/ 212682 h 766054"/>
              <a:gd name="connsiteX17" fmla="*/ 10365971 w 10382596"/>
              <a:gd name="connsiteY17" fmla="*/ 179431 h 766054"/>
              <a:gd name="connsiteX18" fmla="*/ 10382596 w 10382596"/>
              <a:gd name="connsiteY18" fmla="*/ 196057 h 766054"/>
              <a:gd name="connsiteX0" fmla="*/ 0 w 10382596"/>
              <a:gd name="connsiteY0" fmla="*/ 548640 h 752877"/>
              <a:gd name="connsiteX1" fmla="*/ 889461 w 10382596"/>
              <a:gd name="connsiteY1" fmla="*/ 149629 h 752877"/>
              <a:gd name="connsiteX2" fmla="*/ 1629295 w 10382596"/>
              <a:gd name="connsiteY2" fmla="*/ 0 h 752877"/>
              <a:gd name="connsiteX3" fmla="*/ 2435628 w 10382596"/>
              <a:gd name="connsiteY3" fmla="*/ 149629 h 752877"/>
              <a:gd name="connsiteX4" fmla="*/ 3100647 w 10382596"/>
              <a:gd name="connsiteY4" fmla="*/ 465512 h 752877"/>
              <a:gd name="connsiteX5" fmla="*/ 3807229 w 10382596"/>
              <a:gd name="connsiteY5" fmla="*/ 723207 h 752877"/>
              <a:gd name="connsiteX6" fmla="*/ 4621878 w 10382596"/>
              <a:gd name="connsiteY6" fmla="*/ 723206 h 752877"/>
              <a:gd name="connsiteX7" fmla="*/ 5286895 w 10382596"/>
              <a:gd name="connsiteY7" fmla="*/ 507076 h 752877"/>
              <a:gd name="connsiteX8" fmla="*/ 5769033 w 10382596"/>
              <a:gd name="connsiteY8" fmla="*/ 224443 h 752877"/>
              <a:gd name="connsiteX9" fmla="*/ 6317672 w 10382596"/>
              <a:gd name="connsiteY9" fmla="*/ 24938 h 752877"/>
              <a:gd name="connsiteX10" fmla="*/ 7032567 w 10382596"/>
              <a:gd name="connsiteY10" fmla="*/ 49875 h 752877"/>
              <a:gd name="connsiteX11" fmla="*/ 7772400 w 10382596"/>
              <a:gd name="connsiteY11" fmla="*/ 340821 h 752877"/>
              <a:gd name="connsiteX12" fmla="*/ 8204662 w 10382596"/>
              <a:gd name="connsiteY12" fmla="*/ 623454 h 752877"/>
              <a:gd name="connsiteX13" fmla="*/ 8744989 w 10382596"/>
              <a:gd name="connsiteY13" fmla="*/ 723207 h 752877"/>
              <a:gd name="connsiteX14" fmla="*/ 9368444 w 10382596"/>
              <a:gd name="connsiteY14" fmla="*/ 739832 h 752877"/>
              <a:gd name="connsiteX15" fmla="*/ 9966960 w 10382596"/>
              <a:gd name="connsiteY15" fmla="*/ 573578 h 752877"/>
              <a:gd name="connsiteX16" fmla="*/ 10341033 w 10382596"/>
              <a:gd name="connsiteY16" fmla="*/ 199505 h 752877"/>
              <a:gd name="connsiteX17" fmla="*/ 10365971 w 10382596"/>
              <a:gd name="connsiteY17" fmla="*/ 166254 h 752877"/>
              <a:gd name="connsiteX18" fmla="*/ 10382596 w 10382596"/>
              <a:gd name="connsiteY18" fmla="*/ 182880 h 752877"/>
              <a:gd name="connsiteX0" fmla="*/ 0 w 10382596"/>
              <a:gd name="connsiteY0" fmla="*/ 548640 h 752877"/>
              <a:gd name="connsiteX1" fmla="*/ 889461 w 10382596"/>
              <a:gd name="connsiteY1" fmla="*/ 149629 h 752877"/>
              <a:gd name="connsiteX2" fmla="*/ 1629295 w 10382596"/>
              <a:gd name="connsiteY2" fmla="*/ 0 h 752877"/>
              <a:gd name="connsiteX3" fmla="*/ 2435628 w 10382596"/>
              <a:gd name="connsiteY3" fmla="*/ 149629 h 752877"/>
              <a:gd name="connsiteX4" fmla="*/ 3100647 w 10382596"/>
              <a:gd name="connsiteY4" fmla="*/ 465512 h 752877"/>
              <a:gd name="connsiteX5" fmla="*/ 3807229 w 10382596"/>
              <a:gd name="connsiteY5" fmla="*/ 723207 h 752877"/>
              <a:gd name="connsiteX6" fmla="*/ 4621878 w 10382596"/>
              <a:gd name="connsiteY6" fmla="*/ 723206 h 752877"/>
              <a:gd name="connsiteX7" fmla="*/ 5286895 w 10382596"/>
              <a:gd name="connsiteY7" fmla="*/ 507076 h 752877"/>
              <a:gd name="connsiteX8" fmla="*/ 5769033 w 10382596"/>
              <a:gd name="connsiteY8" fmla="*/ 224443 h 752877"/>
              <a:gd name="connsiteX9" fmla="*/ 6342610 w 10382596"/>
              <a:gd name="connsiteY9" fmla="*/ 58188 h 752877"/>
              <a:gd name="connsiteX10" fmla="*/ 7032567 w 10382596"/>
              <a:gd name="connsiteY10" fmla="*/ 49875 h 752877"/>
              <a:gd name="connsiteX11" fmla="*/ 7772400 w 10382596"/>
              <a:gd name="connsiteY11" fmla="*/ 340821 h 752877"/>
              <a:gd name="connsiteX12" fmla="*/ 8204662 w 10382596"/>
              <a:gd name="connsiteY12" fmla="*/ 623454 h 752877"/>
              <a:gd name="connsiteX13" fmla="*/ 8744989 w 10382596"/>
              <a:gd name="connsiteY13" fmla="*/ 723207 h 752877"/>
              <a:gd name="connsiteX14" fmla="*/ 9368444 w 10382596"/>
              <a:gd name="connsiteY14" fmla="*/ 739832 h 752877"/>
              <a:gd name="connsiteX15" fmla="*/ 9966960 w 10382596"/>
              <a:gd name="connsiteY15" fmla="*/ 573578 h 752877"/>
              <a:gd name="connsiteX16" fmla="*/ 10341033 w 10382596"/>
              <a:gd name="connsiteY16" fmla="*/ 199505 h 752877"/>
              <a:gd name="connsiteX17" fmla="*/ 10365971 w 10382596"/>
              <a:gd name="connsiteY17" fmla="*/ 166254 h 752877"/>
              <a:gd name="connsiteX18" fmla="*/ 10382596 w 10382596"/>
              <a:gd name="connsiteY18" fmla="*/ 182880 h 752877"/>
              <a:gd name="connsiteX0" fmla="*/ 0 w 10382596"/>
              <a:gd name="connsiteY0" fmla="*/ 548640 h 752877"/>
              <a:gd name="connsiteX1" fmla="*/ 889461 w 10382596"/>
              <a:gd name="connsiteY1" fmla="*/ 149629 h 752877"/>
              <a:gd name="connsiteX2" fmla="*/ 1629295 w 10382596"/>
              <a:gd name="connsiteY2" fmla="*/ 0 h 752877"/>
              <a:gd name="connsiteX3" fmla="*/ 2435628 w 10382596"/>
              <a:gd name="connsiteY3" fmla="*/ 149629 h 752877"/>
              <a:gd name="connsiteX4" fmla="*/ 3100647 w 10382596"/>
              <a:gd name="connsiteY4" fmla="*/ 465512 h 752877"/>
              <a:gd name="connsiteX5" fmla="*/ 3807229 w 10382596"/>
              <a:gd name="connsiteY5" fmla="*/ 723207 h 752877"/>
              <a:gd name="connsiteX6" fmla="*/ 4621878 w 10382596"/>
              <a:gd name="connsiteY6" fmla="*/ 723206 h 752877"/>
              <a:gd name="connsiteX7" fmla="*/ 5286895 w 10382596"/>
              <a:gd name="connsiteY7" fmla="*/ 507076 h 752877"/>
              <a:gd name="connsiteX8" fmla="*/ 5769033 w 10382596"/>
              <a:gd name="connsiteY8" fmla="*/ 224443 h 752877"/>
              <a:gd name="connsiteX9" fmla="*/ 6342610 w 10382596"/>
              <a:gd name="connsiteY9" fmla="*/ 58188 h 752877"/>
              <a:gd name="connsiteX10" fmla="*/ 7032567 w 10382596"/>
              <a:gd name="connsiteY10" fmla="*/ 49875 h 752877"/>
              <a:gd name="connsiteX11" fmla="*/ 7664335 w 10382596"/>
              <a:gd name="connsiteY11" fmla="*/ 307570 h 752877"/>
              <a:gd name="connsiteX12" fmla="*/ 8204662 w 10382596"/>
              <a:gd name="connsiteY12" fmla="*/ 623454 h 752877"/>
              <a:gd name="connsiteX13" fmla="*/ 8744989 w 10382596"/>
              <a:gd name="connsiteY13" fmla="*/ 723207 h 752877"/>
              <a:gd name="connsiteX14" fmla="*/ 9368444 w 10382596"/>
              <a:gd name="connsiteY14" fmla="*/ 739832 h 752877"/>
              <a:gd name="connsiteX15" fmla="*/ 9966960 w 10382596"/>
              <a:gd name="connsiteY15" fmla="*/ 573578 h 752877"/>
              <a:gd name="connsiteX16" fmla="*/ 10341033 w 10382596"/>
              <a:gd name="connsiteY16" fmla="*/ 199505 h 752877"/>
              <a:gd name="connsiteX17" fmla="*/ 10365971 w 10382596"/>
              <a:gd name="connsiteY17" fmla="*/ 166254 h 752877"/>
              <a:gd name="connsiteX18" fmla="*/ 10382596 w 10382596"/>
              <a:gd name="connsiteY18" fmla="*/ 182880 h 752877"/>
              <a:gd name="connsiteX0" fmla="*/ 0 w 10382596"/>
              <a:gd name="connsiteY0" fmla="*/ 548640 h 752877"/>
              <a:gd name="connsiteX1" fmla="*/ 889461 w 10382596"/>
              <a:gd name="connsiteY1" fmla="*/ 149629 h 752877"/>
              <a:gd name="connsiteX2" fmla="*/ 1629295 w 10382596"/>
              <a:gd name="connsiteY2" fmla="*/ 0 h 752877"/>
              <a:gd name="connsiteX3" fmla="*/ 2435628 w 10382596"/>
              <a:gd name="connsiteY3" fmla="*/ 149629 h 752877"/>
              <a:gd name="connsiteX4" fmla="*/ 3100647 w 10382596"/>
              <a:gd name="connsiteY4" fmla="*/ 465512 h 752877"/>
              <a:gd name="connsiteX5" fmla="*/ 3807229 w 10382596"/>
              <a:gd name="connsiteY5" fmla="*/ 723207 h 752877"/>
              <a:gd name="connsiteX6" fmla="*/ 4621878 w 10382596"/>
              <a:gd name="connsiteY6" fmla="*/ 723206 h 752877"/>
              <a:gd name="connsiteX7" fmla="*/ 5286895 w 10382596"/>
              <a:gd name="connsiteY7" fmla="*/ 507076 h 752877"/>
              <a:gd name="connsiteX8" fmla="*/ 5769033 w 10382596"/>
              <a:gd name="connsiteY8" fmla="*/ 224443 h 752877"/>
              <a:gd name="connsiteX9" fmla="*/ 6342610 w 10382596"/>
              <a:gd name="connsiteY9" fmla="*/ 58188 h 752877"/>
              <a:gd name="connsiteX10" fmla="*/ 7032567 w 10382596"/>
              <a:gd name="connsiteY10" fmla="*/ 49875 h 752877"/>
              <a:gd name="connsiteX11" fmla="*/ 7664335 w 10382596"/>
              <a:gd name="connsiteY11" fmla="*/ 307570 h 752877"/>
              <a:gd name="connsiteX12" fmla="*/ 8204662 w 10382596"/>
              <a:gd name="connsiteY12" fmla="*/ 598516 h 752877"/>
              <a:gd name="connsiteX13" fmla="*/ 8744989 w 10382596"/>
              <a:gd name="connsiteY13" fmla="*/ 723207 h 752877"/>
              <a:gd name="connsiteX14" fmla="*/ 9368444 w 10382596"/>
              <a:gd name="connsiteY14" fmla="*/ 739832 h 752877"/>
              <a:gd name="connsiteX15" fmla="*/ 9966960 w 10382596"/>
              <a:gd name="connsiteY15" fmla="*/ 573578 h 752877"/>
              <a:gd name="connsiteX16" fmla="*/ 10341033 w 10382596"/>
              <a:gd name="connsiteY16" fmla="*/ 199505 h 752877"/>
              <a:gd name="connsiteX17" fmla="*/ 10365971 w 10382596"/>
              <a:gd name="connsiteY17" fmla="*/ 166254 h 752877"/>
              <a:gd name="connsiteX18" fmla="*/ 10382596 w 10382596"/>
              <a:gd name="connsiteY18" fmla="*/ 182880 h 752877"/>
              <a:gd name="connsiteX0" fmla="*/ 0 w 10382596"/>
              <a:gd name="connsiteY0" fmla="*/ 548640 h 752877"/>
              <a:gd name="connsiteX1" fmla="*/ 889461 w 10382596"/>
              <a:gd name="connsiteY1" fmla="*/ 149629 h 752877"/>
              <a:gd name="connsiteX2" fmla="*/ 1629295 w 10382596"/>
              <a:gd name="connsiteY2" fmla="*/ 0 h 752877"/>
              <a:gd name="connsiteX3" fmla="*/ 2435628 w 10382596"/>
              <a:gd name="connsiteY3" fmla="*/ 149629 h 752877"/>
              <a:gd name="connsiteX4" fmla="*/ 3100647 w 10382596"/>
              <a:gd name="connsiteY4" fmla="*/ 465512 h 752877"/>
              <a:gd name="connsiteX5" fmla="*/ 3807229 w 10382596"/>
              <a:gd name="connsiteY5" fmla="*/ 723207 h 752877"/>
              <a:gd name="connsiteX6" fmla="*/ 4621878 w 10382596"/>
              <a:gd name="connsiteY6" fmla="*/ 723206 h 752877"/>
              <a:gd name="connsiteX7" fmla="*/ 5286895 w 10382596"/>
              <a:gd name="connsiteY7" fmla="*/ 507076 h 752877"/>
              <a:gd name="connsiteX8" fmla="*/ 5769033 w 10382596"/>
              <a:gd name="connsiteY8" fmla="*/ 224443 h 752877"/>
              <a:gd name="connsiteX9" fmla="*/ 6342610 w 10382596"/>
              <a:gd name="connsiteY9" fmla="*/ 58188 h 752877"/>
              <a:gd name="connsiteX10" fmla="*/ 7032567 w 10382596"/>
              <a:gd name="connsiteY10" fmla="*/ 49875 h 752877"/>
              <a:gd name="connsiteX11" fmla="*/ 7664335 w 10382596"/>
              <a:gd name="connsiteY11" fmla="*/ 307570 h 752877"/>
              <a:gd name="connsiteX12" fmla="*/ 8204662 w 10382596"/>
              <a:gd name="connsiteY12" fmla="*/ 598516 h 752877"/>
              <a:gd name="connsiteX13" fmla="*/ 8744989 w 10382596"/>
              <a:gd name="connsiteY13" fmla="*/ 723207 h 752877"/>
              <a:gd name="connsiteX14" fmla="*/ 9368444 w 10382596"/>
              <a:gd name="connsiteY14" fmla="*/ 739832 h 752877"/>
              <a:gd name="connsiteX15" fmla="*/ 9966960 w 10382596"/>
              <a:gd name="connsiteY15" fmla="*/ 573578 h 752877"/>
              <a:gd name="connsiteX16" fmla="*/ 10341033 w 10382596"/>
              <a:gd name="connsiteY16" fmla="*/ 199505 h 752877"/>
              <a:gd name="connsiteX17" fmla="*/ 10365971 w 10382596"/>
              <a:gd name="connsiteY17" fmla="*/ 166254 h 752877"/>
              <a:gd name="connsiteX18" fmla="*/ 10382596 w 10382596"/>
              <a:gd name="connsiteY18" fmla="*/ 182880 h 752877"/>
              <a:gd name="connsiteX0" fmla="*/ 0 w 10382596"/>
              <a:gd name="connsiteY0" fmla="*/ 548640 h 752877"/>
              <a:gd name="connsiteX1" fmla="*/ 889461 w 10382596"/>
              <a:gd name="connsiteY1" fmla="*/ 149629 h 752877"/>
              <a:gd name="connsiteX2" fmla="*/ 1629295 w 10382596"/>
              <a:gd name="connsiteY2" fmla="*/ 0 h 752877"/>
              <a:gd name="connsiteX3" fmla="*/ 2435628 w 10382596"/>
              <a:gd name="connsiteY3" fmla="*/ 149629 h 752877"/>
              <a:gd name="connsiteX4" fmla="*/ 3100647 w 10382596"/>
              <a:gd name="connsiteY4" fmla="*/ 465512 h 752877"/>
              <a:gd name="connsiteX5" fmla="*/ 3807229 w 10382596"/>
              <a:gd name="connsiteY5" fmla="*/ 723207 h 752877"/>
              <a:gd name="connsiteX6" fmla="*/ 4621878 w 10382596"/>
              <a:gd name="connsiteY6" fmla="*/ 723206 h 752877"/>
              <a:gd name="connsiteX7" fmla="*/ 5286895 w 10382596"/>
              <a:gd name="connsiteY7" fmla="*/ 507076 h 752877"/>
              <a:gd name="connsiteX8" fmla="*/ 5769033 w 10382596"/>
              <a:gd name="connsiteY8" fmla="*/ 224443 h 752877"/>
              <a:gd name="connsiteX9" fmla="*/ 6342610 w 10382596"/>
              <a:gd name="connsiteY9" fmla="*/ 58188 h 752877"/>
              <a:gd name="connsiteX10" fmla="*/ 7032567 w 10382596"/>
              <a:gd name="connsiteY10" fmla="*/ 49875 h 752877"/>
              <a:gd name="connsiteX11" fmla="*/ 7664335 w 10382596"/>
              <a:gd name="connsiteY11" fmla="*/ 307570 h 752877"/>
              <a:gd name="connsiteX12" fmla="*/ 8204662 w 10382596"/>
              <a:gd name="connsiteY12" fmla="*/ 598516 h 752877"/>
              <a:gd name="connsiteX13" fmla="*/ 8744989 w 10382596"/>
              <a:gd name="connsiteY13" fmla="*/ 723207 h 752877"/>
              <a:gd name="connsiteX14" fmla="*/ 9368444 w 10382596"/>
              <a:gd name="connsiteY14" fmla="*/ 731520 h 752877"/>
              <a:gd name="connsiteX15" fmla="*/ 9966960 w 10382596"/>
              <a:gd name="connsiteY15" fmla="*/ 573578 h 752877"/>
              <a:gd name="connsiteX16" fmla="*/ 10341033 w 10382596"/>
              <a:gd name="connsiteY16" fmla="*/ 199505 h 752877"/>
              <a:gd name="connsiteX17" fmla="*/ 10365971 w 10382596"/>
              <a:gd name="connsiteY17" fmla="*/ 166254 h 752877"/>
              <a:gd name="connsiteX18" fmla="*/ 10382596 w 10382596"/>
              <a:gd name="connsiteY18" fmla="*/ 182880 h 752877"/>
              <a:gd name="connsiteX0" fmla="*/ 0 w 10382596"/>
              <a:gd name="connsiteY0" fmla="*/ 548640 h 752877"/>
              <a:gd name="connsiteX1" fmla="*/ 889461 w 10382596"/>
              <a:gd name="connsiteY1" fmla="*/ 149629 h 752877"/>
              <a:gd name="connsiteX2" fmla="*/ 1629295 w 10382596"/>
              <a:gd name="connsiteY2" fmla="*/ 0 h 752877"/>
              <a:gd name="connsiteX3" fmla="*/ 2435628 w 10382596"/>
              <a:gd name="connsiteY3" fmla="*/ 149629 h 752877"/>
              <a:gd name="connsiteX4" fmla="*/ 3100647 w 10382596"/>
              <a:gd name="connsiteY4" fmla="*/ 465512 h 752877"/>
              <a:gd name="connsiteX5" fmla="*/ 3807229 w 10382596"/>
              <a:gd name="connsiteY5" fmla="*/ 723207 h 752877"/>
              <a:gd name="connsiteX6" fmla="*/ 4621878 w 10382596"/>
              <a:gd name="connsiteY6" fmla="*/ 723206 h 752877"/>
              <a:gd name="connsiteX7" fmla="*/ 5286895 w 10382596"/>
              <a:gd name="connsiteY7" fmla="*/ 507076 h 752877"/>
              <a:gd name="connsiteX8" fmla="*/ 5769033 w 10382596"/>
              <a:gd name="connsiteY8" fmla="*/ 224443 h 752877"/>
              <a:gd name="connsiteX9" fmla="*/ 6342610 w 10382596"/>
              <a:gd name="connsiteY9" fmla="*/ 58188 h 752877"/>
              <a:gd name="connsiteX10" fmla="*/ 7032567 w 10382596"/>
              <a:gd name="connsiteY10" fmla="*/ 49875 h 752877"/>
              <a:gd name="connsiteX11" fmla="*/ 7664335 w 10382596"/>
              <a:gd name="connsiteY11" fmla="*/ 307570 h 752877"/>
              <a:gd name="connsiteX12" fmla="*/ 8204662 w 10382596"/>
              <a:gd name="connsiteY12" fmla="*/ 598516 h 752877"/>
              <a:gd name="connsiteX13" fmla="*/ 8744989 w 10382596"/>
              <a:gd name="connsiteY13" fmla="*/ 723207 h 752877"/>
              <a:gd name="connsiteX14" fmla="*/ 9368444 w 10382596"/>
              <a:gd name="connsiteY14" fmla="*/ 731520 h 752877"/>
              <a:gd name="connsiteX15" fmla="*/ 9966960 w 10382596"/>
              <a:gd name="connsiteY15" fmla="*/ 548639 h 752877"/>
              <a:gd name="connsiteX16" fmla="*/ 10341033 w 10382596"/>
              <a:gd name="connsiteY16" fmla="*/ 199505 h 752877"/>
              <a:gd name="connsiteX17" fmla="*/ 10365971 w 10382596"/>
              <a:gd name="connsiteY17" fmla="*/ 166254 h 752877"/>
              <a:gd name="connsiteX18" fmla="*/ 10382596 w 10382596"/>
              <a:gd name="connsiteY18" fmla="*/ 182880 h 752877"/>
              <a:gd name="connsiteX0" fmla="*/ 0 w 10399222"/>
              <a:gd name="connsiteY0" fmla="*/ 548640 h 752877"/>
              <a:gd name="connsiteX1" fmla="*/ 889461 w 10399222"/>
              <a:gd name="connsiteY1" fmla="*/ 149629 h 752877"/>
              <a:gd name="connsiteX2" fmla="*/ 1629295 w 10399222"/>
              <a:gd name="connsiteY2" fmla="*/ 0 h 752877"/>
              <a:gd name="connsiteX3" fmla="*/ 2435628 w 10399222"/>
              <a:gd name="connsiteY3" fmla="*/ 149629 h 752877"/>
              <a:gd name="connsiteX4" fmla="*/ 3100647 w 10399222"/>
              <a:gd name="connsiteY4" fmla="*/ 465512 h 752877"/>
              <a:gd name="connsiteX5" fmla="*/ 3807229 w 10399222"/>
              <a:gd name="connsiteY5" fmla="*/ 723207 h 752877"/>
              <a:gd name="connsiteX6" fmla="*/ 4621878 w 10399222"/>
              <a:gd name="connsiteY6" fmla="*/ 723206 h 752877"/>
              <a:gd name="connsiteX7" fmla="*/ 5286895 w 10399222"/>
              <a:gd name="connsiteY7" fmla="*/ 507076 h 752877"/>
              <a:gd name="connsiteX8" fmla="*/ 5769033 w 10399222"/>
              <a:gd name="connsiteY8" fmla="*/ 224443 h 752877"/>
              <a:gd name="connsiteX9" fmla="*/ 6342610 w 10399222"/>
              <a:gd name="connsiteY9" fmla="*/ 58188 h 752877"/>
              <a:gd name="connsiteX10" fmla="*/ 7032567 w 10399222"/>
              <a:gd name="connsiteY10" fmla="*/ 49875 h 752877"/>
              <a:gd name="connsiteX11" fmla="*/ 7664335 w 10399222"/>
              <a:gd name="connsiteY11" fmla="*/ 307570 h 752877"/>
              <a:gd name="connsiteX12" fmla="*/ 8204662 w 10399222"/>
              <a:gd name="connsiteY12" fmla="*/ 598516 h 752877"/>
              <a:gd name="connsiteX13" fmla="*/ 8744989 w 10399222"/>
              <a:gd name="connsiteY13" fmla="*/ 723207 h 752877"/>
              <a:gd name="connsiteX14" fmla="*/ 9368444 w 10399222"/>
              <a:gd name="connsiteY14" fmla="*/ 731520 h 752877"/>
              <a:gd name="connsiteX15" fmla="*/ 9966960 w 10399222"/>
              <a:gd name="connsiteY15" fmla="*/ 548639 h 752877"/>
              <a:gd name="connsiteX16" fmla="*/ 10341033 w 10399222"/>
              <a:gd name="connsiteY16" fmla="*/ 199505 h 752877"/>
              <a:gd name="connsiteX17" fmla="*/ 10365971 w 10399222"/>
              <a:gd name="connsiteY17" fmla="*/ 166254 h 752877"/>
              <a:gd name="connsiteX18" fmla="*/ 10399222 w 10399222"/>
              <a:gd name="connsiteY18" fmla="*/ 191193 h 752877"/>
              <a:gd name="connsiteX0" fmla="*/ 0 w 10399222"/>
              <a:gd name="connsiteY0" fmla="*/ 548640 h 752877"/>
              <a:gd name="connsiteX1" fmla="*/ 889461 w 10399222"/>
              <a:gd name="connsiteY1" fmla="*/ 149629 h 752877"/>
              <a:gd name="connsiteX2" fmla="*/ 1629295 w 10399222"/>
              <a:gd name="connsiteY2" fmla="*/ 0 h 752877"/>
              <a:gd name="connsiteX3" fmla="*/ 2435628 w 10399222"/>
              <a:gd name="connsiteY3" fmla="*/ 149629 h 752877"/>
              <a:gd name="connsiteX4" fmla="*/ 3100647 w 10399222"/>
              <a:gd name="connsiteY4" fmla="*/ 465512 h 752877"/>
              <a:gd name="connsiteX5" fmla="*/ 3807229 w 10399222"/>
              <a:gd name="connsiteY5" fmla="*/ 723207 h 752877"/>
              <a:gd name="connsiteX6" fmla="*/ 4621878 w 10399222"/>
              <a:gd name="connsiteY6" fmla="*/ 723206 h 752877"/>
              <a:gd name="connsiteX7" fmla="*/ 5286895 w 10399222"/>
              <a:gd name="connsiteY7" fmla="*/ 507076 h 752877"/>
              <a:gd name="connsiteX8" fmla="*/ 5777346 w 10399222"/>
              <a:gd name="connsiteY8" fmla="*/ 249381 h 752877"/>
              <a:gd name="connsiteX9" fmla="*/ 6342610 w 10399222"/>
              <a:gd name="connsiteY9" fmla="*/ 58188 h 752877"/>
              <a:gd name="connsiteX10" fmla="*/ 7032567 w 10399222"/>
              <a:gd name="connsiteY10" fmla="*/ 49875 h 752877"/>
              <a:gd name="connsiteX11" fmla="*/ 7664335 w 10399222"/>
              <a:gd name="connsiteY11" fmla="*/ 307570 h 752877"/>
              <a:gd name="connsiteX12" fmla="*/ 8204662 w 10399222"/>
              <a:gd name="connsiteY12" fmla="*/ 598516 h 752877"/>
              <a:gd name="connsiteX13" fmla="*/ 8744989 w 10399222"/>
              <a:gd name="connsiteY13" fmla="*/ 723207 h 752877"/>
              <a:gd name="connsiteX14" fmla="*/ 9368444 w 10399222"/>
              <a:gd name="connsiteY14" fmla="*/ 731520 h 752877"/>
              <a:gd name="connsiteX15" fmla="*/ 9966960 w 10399222"/>
              <a:gd name="connsiteY15" fmla="*/ 548639 h 752877"/>
              <a:gd name="connsiteX16" fmla="*/ 10341033 w 10399222"/>
              <a:gd name="connsiteY16" fmla="*/ 199505 h 752877"/>
              <a:gd name="connsiteX17" fmla="*/ 10365971 w 10399222"/>
              <a:gd name="connsiteY17" fmla="*/ 166254 h 752877"/>
              <a:gd name="connsiteX18" fmla="*/ 10399222 w 10399222"/>
              <a:gd name="connsiteY18" fmla="*/ 191193 h 752877"/>
              <a:gd name="connsiteX0" fmla="*/ 0 w 10399222"/>
              <a:gd name="connsiteY0" fmla="*/ 548640 h 752877"/>
              <a:gd name="connsiteX1" fmla="*/ 889461 w 10399222"/>
              <a:gd name="connsiteY1" fmla="*/ 149629 h 752877"/>
              <a:gd name="connsiteX2" fmla="*/ 1629295 w 10399222"/>
              <a:gd name="connsiteY2" fmla="*/ 0 h 752877"/>
              <a:gd name="connsiteX3" fmla="*/ 2435628 w 10399222"/>
              <a:gd name="connsiteY3" fmla="*/ 149629 h 752877"/>
              <a:gd name="connsiteX4" fmla="*/ 3100647 w 10399222"/>
              <a:gd name="connsiteY4" fmla="*/ 465512 h 752877"/>
              <a:gd name="connsiteX5" fmla="*/ 3807229 w 10399222"/>
              <a:gd name="connsiteY5" fmla="*/ 723207 h 752877"/>
              <a:gd name="connsiteX6" fmla="*/ 4621878 w 10399222"/>
              <a:gd name="connsiteY6" fmla="*/ 723206 h 752877"/>
              <a:gd name="connsiteX7" fmla="*/ 5286895 w 10399222"/>
              <a:gd name="connsiteY7" fmla="*/ 507076 h 752877"/>
              <a:gd name="connsiteX8" fmla="*/ 5777346 w 10399222"/>
              <a:gd name="connsiteY8" fmla="*/ 249381 h 752877"/>
              <a:gd name="connsiteX9" fmla="*/ 6317671 w 10399222"/>
              <a:gd name="connsiteY9" fmla="*/ 49875 h 752877"/>
              <a:gd name="connsiteX10" fmla="*/ 7032567 w 10399222"/>
              <a:gd name="connsiteY10" fmla="*/ 49875 h 752877"/>
              <a:gd name="connsiteX11" fmla="*/ 7664335 w 10399222"/>
              <a:gd name="connsiteY11" fmla="*/ 307570 h 752877"/>
              <a:gd name="connsiteX12" fmla="*/ 8204662 w 10399222"/>
              <a:gd name="connsiteY12" fmla="*/ 598516 h 752877"/>
              <a:gd name="connsiteX13" fmla="*/ 8744989 w 10399222"/>
              <a:gd name="connsiteY13" fmla="*/ 723207 h 752877"/>
              <a:gd name="connsiteX14" fmla="*/ 9368444 w 10399222"/>
              <a:gd name="connsiteY14" fmla="*/ 731520 h 752877"/>
              <a:gd name="connsiteX15" fmla="*/ 9966960 w 10399222"/>
              <a:gd name="connsiteY15" fmla="*/ 548639 h 752877"/>
              <a:gd name="connsiteX16" fmla="*/ 10341033 w 10399222"/>
              <a:gd name="connsiteY16" fmla="*/ 199505 h 752877"/>
              <a:gd name="connsiteX17" fmla="*/ 10365971 w 10399222"/>
              <a:gd name="connsiteY17" fmla="*/ 166254 h 752877"/>
              <a:gd name="connsiteX18" fmla="*/ 10399222 w 10399222"/>
              <a:gd name="connsiteY18" fmla="*/ 191193 h 752877"/>
              <a:gd name="connsiteX0" fmla="*/ 0 w 10399222"/>
              <a:gd name="connsiteY0" fmla="*/ 548640 h 752877"/>
              <a:gd name="connsiteX1" fmla="*/ 889461 w 10399222"/>
              <a:gd name="connsiteY1" fmla="*/ 149629 h 752877"/>
              <a:gd name="connsiteX2" fmla="*/ 1629295 w 10399222"/>
              <a:gd name="connsiteY2" fmla="*/ 0 h 752877"/>
              <a:gd name="connsiteX3" fmla="*/ 2435628 w 10399222"/>
              <a:gd name="connsiteY3" fmla="*/ 149629 h 752877"/>
              <a:gd name="connsiteX4" fmla="*/ 3100647 w 10399222"/>
              <a:gd name="connsiteY4" fmla="*/ 465512 h 752877"/>
              <a:gd name="connsiteX5" fmla="*/ 3807229 w 10399222"/>
              <a:gd name="connsiteY5" fmla="*/ 723207 h 752877"/>
              <a:gd name="connsiteX6" fmla="*/ 4621878 w 10399222"/>
              <a:gd name="connsiteY6" fmla="*/ 723206 h 752877"/>
              <a:gd name="connsiteX7" fmla="*/ 5286895 w 10399222"/>
              <a:gd name="connsiteY7" fmla="*/ 507076 h 752877"/>
              <a:gd name="connsiteX8" fmla="*/ 5777346 w 10399222"/>
              <a:gd name="connsiteY8" fmla="*/ 249381 h 752877"/>
              <a:gd name="connsiteX9" fmla="*/ 6317671 w 10399222"/>
              <a:gd name="connsiteY9" fmla="*/ 49875 h 752877"/>
              <a:gd name="connsiteX10" fmla="*/ 6991003 w 10399222"/>
              <a:gd name="connsiteY10" fmla="*/ 66500 h 752877"/>
              <a:gd name="connsiteX11" fmla="*/ 7664335 w 10399222"/>
              <a:gd name="connsiteY11" fmla="*/ 307570 h 752877"/>
              <a:gd name="connsiteX12" fmla="*/ 8204662 w 10399222"/>
              <a:gd name="connsiteY12" fmla="*/ 598516 h 752877"/>
              <a:gd name="connsiteX13" fmla="*/ 8744989 w 10399222"/>
              <a:gd name="connsiteY13" fmla="*/ 723207 h 752877"/>
              <a:gd name="connsiteX14" fmla="*/ 9368444 w 10399222"/>
              <a:gd name="connsiteY14" fmla="*/ 731520 h 752877"/>
              <a:gd name="connsiteX15" fmla="*/ 9966960 w 10399222"/>
              <a:gd name="connsiteY15" fmla="*/ 548639 h 752877"/>
              <a:gd name="connsiteX16" fmla="*/ 10341033 w 10399222"/>
              <a:gd name="connsiteY16" fmla="*/ 199505 h 752877"/>
              <a:gd name="connsiteX17" fmla="*/ 10365971 w 10399222"/>
              <a:gd name="connsiteY17" fmla="*/ 166254 h 752877"/>
              <a:gd name="connsiteX18" fmla="*/ 10399222 w 10399222"/>
              <a:gd name="connsiteY18" fmla="*/ 191193 h 752877"/>
              <a:gd name="connsiteX0" fmla="*/ 0 w 10399222"/>
              <a:gd name="connsiteY0" fmla="*/ 548640 h 752877"/>
              <a:gd name="connsiteX1" fmla="*/ 889461 w 10399222"/>
              <a:gd name="connsiteY1" fmla="*/ 149629 h 752877"/>
              <a:gd name="connsiteX2" fmla="*/ 1629295 w 10399222"/>
              <a:gd name="connsiteY2" fmla="*/ 0 h 752877"/>
              <a:gd name="connsiteX3" fmla="*/ 2435628 w 10399222"/>
              <a:gd name="connsiteY3" fmla="*/ 149629 h 752877"/>
              <a:gd name="connsiteX4" fmla="*/ 3100647 w 10399222"/>
              <a:gd name="connsiteY4" fmla="*/ 465512 h 752877"/>
              <a:gd name="connsiteX5" fmla="*/ 3807229 w 10399222"/>
              <a:gd name="connsiteY5" fmla="*/ 723207 h 752877"/>
              <a:gd name="connsiteX6" fmla="*/ 4621878 w 10399222"/>
              <a:gd name="connsiteY6" fmla="*/ 723206 h 752877"/>
              <a:gd name="connsiteX7" fmla="*/ 5286895 w 10399222"/>
              <a:gd name="connsiteY7" fmla="*/ 507076 h 752877"/>
              <a:gd name="connsiteX8" fmla="*/ 5777346 w 10399222"/>
              <a:gd name="connsiteY8" fmla="*/ 249381 h 752877"/>
              <a:gd name="connsiteX9" fmla="*/ 6359235 w 10399222"/>
              <a:gd name="connsiteY9" fmla="*/ 49875 h 752877"/>
              <a:gd name="connsiteX10" fmla="*/ 6991003 w 10399222"/>
              <a:gd name="connsiteY10" fmla="*/ 66500 h 752877"/>
              <a:gd name="connsiteX11" fmla="*/ 7664335 w 10399222"/>
              <a:gd name="connsiteY11" fmla="*/ 307570 h 752877"/>
              <a:gd name="connsiteX12" fmla="*/ 8204662 w 10399222"/>
              <a:gd name="connsiteY12" fmla="*/ 598516 h 752877"/>
              <a:gd name="connsiteX13" fmla="*/ 8744989 w 10399222"/>
              <a:gd name="connsiteY13" fmla="*/ 723207 h 752877"/>
              <a:gd name="connsiteX14" fmla="*/ 9368444 w 10399222"/>
              <a:gd name="connsiteY14" fmla="*/ 731520 h 752877"/>
              <a:gd name="connsiteX15" fmla="*/ 9966960 w 10399222"/>
              <a:gd name="connsiteY15" fmla="*/ 548639 h 752877"/>
              <a:gd name="connsiteX16" fmla="*/ 10341033 w 10399222"/>
              <a:gd name="connsiteY16" fmla="*/ 199505 h 752877"/>
              <a:gd name="connsiteX17" fmla="*/ 10365971 w 10399222"/>
              <a:gd name="connsiteY17" fmla="*/ 166254 h 752877"/>
              <a:gd name="connsiteX18" fmla="*/ 10399222 w 10399222"/>
              <a:gd name="connsiteY18" fmla="*/ 191193 h 752877"/>
              <a:gd name="connsiteX0" fmla="*/ 0 w 10399222"/>
              <a:gd name="connsiteY0" fmla="*/ 548640 h 752877"/>
              <a:gd name="connsiteX1" fmla="*/ 889461 w 10399222"/>
              <a:gd name="connsiteY1" fmla="*/ 149629 h 752877"/>
              <a:gd name="connsiteX2" fmla="*/ 1629295 w 10399222"/>
              <a:gd name="connsiteY2" fmla="*/ 0 h 752877"/>
              <a:gd name="connsiteX3" fmla="*/ 2435628 w 10399222"/>
              <a:gd name="connsiteY3" fmla="*/ 149629 h 752877"/>
              <a:gd name="connsiteX4" fmla="*/ 3100647 w 10399222"/>
              <a:gd name="connsiteY4" fmla="*/ 465512 h 752877"/>
              <a:gd name="connsiteX5" fmla="*/ 3807229 w 10399222"/>
              <a:gd name="connsiteY5" fmla="*/ 723207 h 752877"/>
              <a:gd name="connsiteX6" fmla="*/ 4621878 w 10399222"/>
              <a:gd name="connsiteY6" fmla="*/ 723206 h 752877"/>
              <a:gd name="connsiteX7" fmla="*/ 5286895 w 10399222"/>
              <a:gd name="connsiteY7" fmla="*/ 507076 h 752877"/>
              <a:gd name="connsiteX8" fmla="*/ 5777346 w 10399222"/>
              <a:gd name="connsiteY8" fmla="*/ 249381 h 752877"/>
              <a:gd name="connsiteX9" fmla="*/ 6359235 w 10399222"/>
              <a:gd name="connsiteY9" fmla="*/ 49875 h 752877"/>
              <a:gd name="connsiteX10" fmla="*/ 7007628 w 10399222"/>
              <a:gd name="connsiteY10" fmla="*/ 58187 h 752877"/>
              <a:gd name="connsiteX11" fmla="*/ 7664335 w 10399222"/>
              <a:gd name="connsiteY11" fmla="*/ 307570 h 752877"/>
              <a:gd name="connsiteX12" fmla="*/ 8204662 w 10399222"/>
              <a:gd name="connsiteY12" fmla="*/ 598516 h 752877"/>
              <a:gd name="connsiteX13" fmla="*/ 8744989 w 10399222"/>
              <a:gd name="connsiteY13" fmla="*/ 723207 h 752877"/>
              <a:gd name="connsiteX14" fmla="*/ 9368444 w 10399222"/>
              <a:gd name="connsiteY14" fmla="*/ 731520 h 752877"/>
              <a:gd name="connsiteX15" fmla="*/ 9966960 w 10399222"/>
              <a:gd name="connsiteY15" fmla="*/ 548639 h 752877"/>
              <a:gd name="connsiteX16" fmla="*/ 10341033 w 10399222"/>
              <a:gd name="connsiteY16" fmla="*/ 199505 h 752877"/>
              <a:gd name="connsiteX17" fmla="*/ 10365971 w 10399222"/>
              <a:gd name="connsiteY17" fmla="*/ 166254 h 752877"/>
              <a:gd name="connsiteX18" fmla="*/ 10399222 w 10399222"/>
              <a:gd name="connsiteY18" fmla="*/ 191193 h 752877"/>
              <a:gd name="connsiteX0" fmla="*/ 0 w 10399222"/>
              <a:gd name="connsiteY0" fmla="*/ 548640 h 752877"/>
              <a:gd name="connsiteX1" fmla="*/ 889461 w 10399222"/>
              <a:gd name="connsiteY1" fmla="*/ 149629 h 752877"/>
              <a:gd name="connsiteX2" fmla="*/ 1629295 w 10399222"/>
              <a:gd name="connsiteY2" fmla="*/ 0 h 752877"/>
              <a:gd name="connsiteX3" fmla="*/ 2435628 w 10399222"/>
              <a:gd name="connsiteY3" fmla="*/ 149629 h 752877"/>
              <a:gd name="connsiteX4" fmla="*/ 3100647 w 10399222"/>
              <a:gd name="connsiteY4" fmla="*/ 465512 h 752877"/>
              <a:gd name="connsiteX5" fmla="*/ 3807229 w 10399222"/>
              <a:gd name="connsiteY5" fmla="*/ 723207 h 752877"/>
              <a:gd name="connsiteX6" fmla="*/ 4621878 w 10399222"/>
              <a:gd name="connsiteY6" fmla="*/ 723206 h 752877"/>
              <a:gd name="connsiteX7" fmla="*/ 5286895 w 10399222"/>
              <a:gd name="connsiteY7" fmla="*/ 507076 h 752877"/>
              <a:gd name="connsiteX8" fmla="*/ 5777346 w 10399222"/>
              <a:gd name="connsiteY8" fmla="*/ 249381 h 752877"/>
              <a:gd name="connsiteX9" fmla="*/ 6359235 w 10399222"/>
              <a:gd name="connsiteY9" fmla="*/ 49875 h 752877"/>
              <a:gd name="connsiteX10" fmla="*/ 7007628 w 10399222"/>
              <a:gd name="connsiteY10" fmla="*/ 58187 h 752877"/>
              <a:gd name="connsiteX11" fmla="*/ 7656022 w 10399222"/>
              <a:gd name="connsiteY11" fmla="*/ 274319 h 752877"/>
              <a:gd name="connsiteX12" fmla="*/ 8204662 w 10399222"/>
              <a:gd name="connsiteY12" fmla="*/ 598516 h 752877"/>
              <a:gd name="connsiteX13" fmla="*/ 8744989 w 10399222"/>
              <a:gd name="connsiteY13" fmla="*/ 723207 h 752877"/>
              <a:gd name="connsiteX14" fmla="*/ 9368444 w 10399222"/>
              <a:gd name="connsiteY14" fmla="*/ 731520 h 752877"/>
              <a:gd name="connsiteX15" fmla="*/ 9966960 w 10399222"/>
              <a:gd name="connsiteY15" fmla="*/ 548639 h 752877"/>
              <a:gd name="connsiteX16" fmla="*/ 10341033 w 10399222"/>
              <a:gd name="connsiteY16" fmla="*/ 199505 h 752877"/>
              <a:gd name="connsiteX17" fmla="*/ 10365971 w 10399222"/>
              <a:gd name="connsiteY17" fmla="*/ 166254 h 752877"/>
              <a:gd name="connsiteX18" fmla="*/ 10399222 w 10399222"/>
              <a:gd name="connsiteY18" fmla="*/ 191193 h 752877"/>
              <a:gd name="connsiteX0" fmla="*/ 0 w 10399222"/>
              <a:gd name="connsiteY0" fmla="*/ 548640 h 753691"/>
              <a:gd name="connsiteX1" fmla="*/ 889461 w 10399222"/>
              <a:gd name="connsiteY1" fmla="*/ 149629 h 753691"/>
              <a:gd name="connsiteX2" fmla="*/ 1629295 w 10399222"/>
              <a:gd name="connsiteY2" fmla="*/ 0 h 753691"/>
              <a:gd name="connsiteX3" fmla="*/ 2435628 w 10399222"/>
              <a:gd name="connsiteY3" fmla="*/ 149629 h 753691"/>
              <a:gd name="connsiteX4" fmla="*/ 3100647 w 10399222"/>
              <a:gd name="connsiteY4" fmla="*/ 465512 h 753691"/>
              <a:gd name="connsiteX5" fmla="*/ 3807229 w 10399222"/>
              <a:gd name="connsiteY5" fmla="*/ 723207 h 753691"/>
              <a:gd name="connsiteX6" fmla="*/ 4621878 w 10399222"/>
              <a:gd name="connsiteY6" fmla="*/ 723206 h 753691"/>
              <a:gd name="connsiteX7" fmla="*/ 5286895 w 10399222"/>
              <a:gd name="connsiteY7" fmla="*/ 507076 h 753691"/>
              <a:gd name="connsiteX8" fmla="*/ 5777346 w 10399222"/>
              <a:gd name="connsiteY8" fmla="*/ 249381 h 753691"/>
              <a:gd name="connsiteX9" fmla="*/ 6359235 w 10399222"/>
              <a:gd name="connsiteY9" fmla="*/ 49875 h 753691"/>
              <a:gd name="connsiteX10" fmla="*/ 7007628 w 10399222"/>
              <a:gd name="connsiteY10" fmla="*/ 58187 h 753691"/>
              <a:gd name="connsiteX11" fmla="*/ 7656022 w 10399222"/>
              <a:gd name="connsiteY11" fmla="*/ 274319 h 753691"/>
              <a:gd name="connsiteX12" fmla="*/ 8204662 w 10399222"/>
              <a:gd name="connsiteY12" fmla="*/ 598516 h 753691"/>
              <a:gd name="connsiteX13" fmla="*/ 8744989 w 10399222"/>
              <a:gd name="connsiteY13" fmla="*/ 723207 h 753691"/>
              <a:gd name="connsiteX14" fmla="*/ 9301943 w 10399222"/>
              <a:gd name="connsiteY14" fmla="*/ 739832 h 753691"/>
              <a:gd name="connsiteX15" fmla="*/ 9966960 w 10399222"/>
              <a:gd name="connsiteY15" fmla="*/ 548639 h 753691"/>
              <a:gd name="connsiteX16" fmla="*/ 10341033 w 10399222"/>
              <a:gd name="connsiteY16" fmla="*/ 199505 h 753691"/>
              <a:gd name="connsiteX17" fmla="*/ 10365971 w 10399222"/>
              <a:gd name="connsiteY17" fmla="*/ 166254 h 753691"/>
              <a:gd name="connsiteX18" fmla="*/ 10399222 w 10399222"/>
              <a:gd name="connsiteY18" fmla="*/ 191193 h 753691"/>
              <a:gd name="connsiteX0" fmla="*/ 0 w 10399222"/>
              <a:gd name="connsiteY0" fmla="*/ 548640 h 754685"/>
              <a:gd name="connsiteX1" fmla="*/ 889461 w 10399222"/>
              <a:gd name="connsiteY1" fmla="*/ 149629 h 754685"/>
              <a:gd name="connsiteX2" fmla="*/ 1629295 w 10399222"/>
              <a:gd name="connsiteY2" fmla="*/ 0 h 754685"/>
              <a:gd name="connsiteX3" fmla="*/ 2435628 w 10399222"/>
              <a:gd name="connsiteY3" fmla="*/ 149629 h 754685"/>
              <a:gd name="connsiteX4" fmla="*/ 3100647 w 10399222"/>
              <a:gd name="connsiteY4" fmla="*/ 465512 h 754685"/>
              <a:gd name="connsiteX5" fmla="*/ 3807229 w 10399222"/>
              <a:gd name="connsiteY5" fmla="*/ 723207 h 754685"/>
              <a:gd name="connsiteX6" fmla="*/ 4621878 w 10399222"/>
              <a:gd name="connsiteY6" fmla="*/ 723206 h 754685"/>
              <a:gd name="connsiteX7" fmla="*/ 5286895 w 10399222"/>
              <a:gd name="connsiteY7" fmla="*/ 507076 h 754685"/>
              <a:gd name="connsiteX8" fmla="*/ 5777346 w 10399222"/>
              <a:gd name="connsiteY8" fmla="*/ 249381 h 754685"/>
              <a:gd name="connsiteX9" fmla="*/ 6359235 w 10399222"/>
              <a:gd name="connsiteY9" fmla="*/ 49875 h 754685"/>
              <a:gd name="connsiteX10" fmla="*/ 7007628 w 10399222"/>
              <a:gd name="connsiteY10" fmla="*/ 58187 h 754685"/>
              <a:gd name="connsiteX11" fmla="*/ 7656022 w 10399222"/>
              <a:gd name="connsiteY11" fmla="*/ 274319 h 754685"/>
              <a:gd name="connsiteX12" fmla="*/ 8171411 w 10399222"/>
              <a:gd name="connsiteY12" fmla="*/ 573578 h 754685"/>
              <a:gd name="connsiteX13" fmla="*/ 8744989 w 10399222"/>
              <a:gd name="connsiteY13" fmla="*/ 723207 h 754685"/>
              <a:gd name="connsiteX14" fmla="*/ 9301943 w 10399222"/>
              <a:gd name="connsiteY14" fmla="*/ 739832 h 754685"/>
              <a:gd name="connsiteX15" fmla="*/ 9966960 w 10399222"/>
              <a:gd name="connsiteY15" fmla="*/ 548639 h 754685"/>
              <a:gd name="connsiteX16" fmla="*/ 10341033 w 10399222"/>
              <a:gd name="connsiteY16" fmla="*/ 199505 h 754685"/>
              <a:gd name="connsiteX17" fmla="*/ 10365971 w 10399222"/>
              <a:gd name="connsiteY17" fmla="*/ 166254 h 754685"/>
              <a:gd name="connsiteX18" fmla="*/ 10399222 w 10399222"/>
              <a:gd name="connsiteY18" fmla="*/ 191193 h 754685"/>
              <a:gd name="connsiteX0" fmla="*/ 0 w 10399222"/>
              <a:gd name="connsiteY0" fmla="*/ 548640 h 753459"/>
              <a:gd name="connsiteX1" fmla="*/ 889461 w 10399222"/>
              <a:gd name="connsiteY1" fmla="*/ 149629 h 753459"/>
              <a:gd name="connsiteX2" fmla="*/ 1629295 w 10399222"/>
              <a:gd name="connsiteY2" fmla="*/ 0 h 753459"/>
              <a:gd name="connsiteX3" fmla="*/ 2435628 w 10399222"/>
              <a:gd name="connsiteY3" fmla="*/ 149629 h 753459"/>
              <a:gd name="connsiteX4" fmla="*/ 3100647 w 10399222"/>
              <a:gd name="connsiteY4" fmla="*/ 465512 h 753459"/>
              <a:gd name="connsiteX5" fmla="*/ 3807229 w 10399222"/>
              <a:gd name="connsiteY5" fmla="*/ 723207 h 753459"/>
              <a:gd name="connsiteX6" fmla="*/ 4621878 w 10399222"/>
              <a:gd name="connsiteY6" fmla="*/ 723206 h 753459"/>
              <a:gd name="connsiteX7" fmla="*/ 5286895 w 10399222"/>
              <a:gd name="connsiteY7" fmla="*/ 507076 h 753459"/>
              <a:gd name="connsiteX8" fmla="*/ 5777346 w 10399222"/>
              <a:gd name="connsiteY8" fmla="*/ 249381 h 753459"/>
              <a:gd name="connsiteX9" fmla="*/ 6359235 w 10399222"/>
              <a:gd name="connsiteY9" fmla="*/ 49875 h 753459"/>
              <a:gd name="connsiteX10" fmla="*/ 7007628 w 10399222"/>
              <a:gd name="connsiteY10" fmla="*/ 58187 h 753459"/>
              <a:gd name="connsiteX11" fmla="*/ 7656022 w 10399222"/>
              <a:gd name="connsiteY11" fmla="*/ 274319 h 753459"/>
              <a:gd name="connsiteX12" fmla="*/ 8171411 w 10399222"/>
              <a:gd name="connsiteY12" fmla="*/ 573578 h 753459"/>
              <a:gd name="connsiteX13" fmla="*/ 8744989 w 10399222"/>
              <a:gd name="connsiteY13" fmla="*/ 723207 h 753459"/>
              <a:gd name="connsiteX14" fmla="*/ 9301943 w 10399222"/>
              <a:gd name="connsiteY14" fmla="*/ 739832 h 753459"/>
              <a:gd name="connsiteX15" fmla="*/ 9933709 w 10399222"/>
              <a:gd name="connsiteY15" fmla="*/ 565264 h 753459"/>
              <a:gd name="connsiteX16" fmla="*/ 10341033 w 10399222"/>
              <a:gd name="connsiteY16" fmla="*/ 199505 h 753459"/>
              <a:gd name="connsiteX17" fmla="*/ 10365971 w 10399222"/>
              <a:gd name="connsiteY17" fmla="*/ 166254 h 753459"/>
              <a:gd name="connsiteX18" fmla="*/ 10399222 w 10399222"/>
              <a:gd name="connsiteY18" fmla="*/ 191193 h 753459"/>
              <a:gd name="connsiteX0" fmla="*/ 0 w 10378141"/>
              <a:gd name="connsiteY0" fmla="*/ 548640 h 753459"/>
              <a:gd name="connsiteX1" fmla="*/ 889461 w 10378141"/>
              <a:gd name="connsiteY1" fmla="*/ 149629 h 753459"/>
              <a:gd name="connsiteX2" fmla="*/ 1629295 w 10378141"/>
              <a:gd name="connsiteY2" fmla="*/ 0 h 753459"/>
              <a:gd name="connsiteX3" fmla="*/ 2435628 w 10378141"/>
              <a:gd name="connsiteY3" fmla="*/ 149629 h 753459"/>
              <a:gd name="connsiteX4" fmla="*/ 3100647 w 10378141"/>
              <a:gd name="connsiteY4" fmla="*/ 465512 h 753459"/>
              <a:gd name="connsiteX5" fmla="*/ 3807229 w 10378141"/>
              <a:gd name="connsiteY5" fmla="*/ 723207 h 753459"/>
              <a:gd name="connsiteX6" fmla="*/ 4621878 w 10378141"/>
              <a:gd name="connsiteY6" fmla="*/ 723206 h 753459"/>
              <a:gd name="connsiteX7" fmla="*/ 5286895 w 10378141"/>
              <a:gd name="connsiteY7" fmla="*/ 507076 h 753459"/>
              <a:gd name="connsiteX8" fmla="*/ 5777346 w 10378141"/>
              <a:gd name="connsiteY8" fmla="*/ 249381 h 753459"/>
              <a:gd name="connsiteX9" fmla="*/ 6359235 w 10378141"/>
              <a:gd name="connsiteY9" fmla="*/ 49875 h 753459"/>
              <a:gd name="connsiteX10" fmla="*/ 7007628 w 10378141"/>
              <a:gd name="connsiteY10" fmla="*/ 58187 h 753459"/>
              <a:gd name="connsiteX11" fmla="*/ 7656022 w 10378141"/>
              <a:gd name="connsiteY11" fmla="*/ 274319 h 753459"/>
              <a:gd name="connsiteX12" fmla="*/ 8171411 w 10378141"/>
              <a:gd name="connsiteY12" fmla="*/ 573578 h 753459"/>
              <a:gd name="connsiteX13" fmla="*/ 8744989 w 10378141"/>
              <a:gd name="connsiteY13" fmla="*/ 723207 h 753459"/>
              <a:gd name="connsiteX14" fmla="*/ 9301943 w 10378141"/>
              <a:gd name="connsiteY14" fmla="*/ 739832 h 753459"/>
              <a:gd name="connsiteX15" fmla="*/ 9933709 w 10378141"/>
              <a:gd name="connsiteY15" fmla="*/ 565264 h 753459"/>
              <a:gd name="connsiteX16" fmla="*/ 10341033 w 10378141"/>
              <a:gd name="connsiteY16" fmla="*/ 199505 h 753459"/>
              <a:gd name="connsiteX17" fmla="*/ 10365971 w 10378141"/>
              <a:gd name="connsiteY17" fmla="*/ 166254 h 753459"/>
              <a:gd name="connsiteX0" fmla="*/ 0 w 10341033"/>
              <a:gd name="connsiteY0" fmla="*/ 548640 h 753459"/>
              <a:gd name="connsiteX1" fmla="*/ 889461 w 10341033"/>
              <a:gd name="connsiteY1" fmla="*/ 149629 h 753459"/>
              <a:gd name="connsiteX2" fmla="*/ 1629295 w 10341033"/>
              <a:gd name="connsiteY2" fmla="*/ 0 h 753459"/>
              <a:gd name="connsiteX3" fmla="*/ 2435628 w 10341033"/>
              <a:gd name="connsiteY3" fmla="*/ 149629 h 753459"/>
              <a:gd name="connsiteX4" fmla="*/ 3100647 w 10341033"/>
              <a:gd name="connsiteY4" fmla="*/ 465512 h 753459"/>
              <a:gd name="connsiteX5" fmla="*/ 3807229 w 10341033"/>
              <a:gd name="connsiteY5" fmla="*/ 723207 h 753459"/>
              <a:gd name="connsiteX6" fmla="*/ 4621878 w 10341033"/>
              <a:gd name="connsiteY6" fmla="*/ 723206 h 753459"/>
              <a:gd name="connsiteX7" fmla="*/ 5286895 w 10341033"/>
              <a:gd name="connsiteY7" fmla="*/ 507076 h 753459"/>
              <a:gd name="connsiteX8" fmla="*/ 5777346 w 10341033"/>
              <a:gd name="connsiteY8" fmla="*/ 249381 h 753459"/>
              <a:gd name="connsiteX9" fmla="*/ 6359235 w 10341033"/>
              <a:gd name="connsiteY9" fmla="*/ 49875 h 753459"/>
              <a:gd name="connsiteX10" fmla="*/ 7007628 w 10341033"/>
              <a:gd name="connsiteY10" fmla="*/ 58187 h 753459"/>
              <a:gd name="connsiteX11" fmla="*/ 7656022 w 10341033"/>
              <a:gd name="connsiteY11" fmla="*/ 274319 h 753459"/>
              <a:gd name="connsiteX12" fmla="*/ 8171411 w 10341033"/>
              <a:gd name="connsiteY12" fmla="*/ 573578 h 753459"/>
              <a:gd name="connsiteX13" fmla="*/ 8744989 w 10341033"/>
              <a:gd name="connsiteY13" fmla="*/ 723207 h 753459"/>
              <a:gd name="connsiteX14" fmla="*/ 9301943 w 10341033"/>
              <a:gd name="connsiteY14" fmla="*/ 739832 h 753459"/>
              <a:gd name="connsiteX15" fmla="*/ 9933709 w 10341033"/>
              <a:gd name="connsiteY15" fmla="*/ 565264 h 753459"/>
              <a:gd name="connsiteX16" fmla="*/ 10341033 w 10341033"/>
              <a:gd name="connsiteY16" fmla="*/ 199505 h 753459"/>
              <a:gd name="connsiteX0" fmla="*/ 0 w 10399222"/>
              <a:gd name="connsiteY0" fmla="*/ 548640 h 753459"/>
              <a:gd name="connsiteX1" fmla="*/ 889461 w 10399222"/>
              <a:gd name="connsiteY1" fmla="*/ 149629 h 753459"/>
              <a:gd name="connsiteX2" fmla="*/ 1629295 w 10399222"/>
              <a:gd name="connsiteY2" fmla="*/ 0 h 753459"/>
              <a:gd name="connsiteX3" fmla="*/ 2435628 w 10399222"/>
              <a:gd name="connsiteY3" fmla="*/ 149629 h 753459"/>
              <a:gd name="connsiteX4" fmla="*/ 3100647 w 10399222"/>
              <a:gd name="connsiteY4" fmla="*/ 465512 h 753459"/>
              <a:gd name="connsiteX5" fmla="*/ 3807229 w 10399222"/>
              <a:gd name="connsiteY5" fmla="*/ 723207 h 753459"/>
              <a:gd name="connsiteX6" fmla="*/ 4621878 w 10399222"/>
              <a:gd name="connsiteY6" fmla="*/ 723206 h 753459"/>
              <a:gd name="connsiteX7" fmla="*/ 5286895 w 10399222"/>
              <a:gd name="connsiteY7" fmla="*/ 507076 h 753459"/>
              <a:gd name="connsiteX8" fmla="*/ 5777346 w 10399222"/>
              <a:gd name="connsiteY8" fmla="*/ 249381 h 753459"/>
              <a:gd name="connsiteX9" fmla="*/ 6359235 w 10399222"/>
              <a:gd name="connsiteY9" fmla="*/ 49875 h 753459"/>
              <a:gd name="connsiteX10" fmla="*/ 7007628 w 10399222"/>
              <a:gd name="connsiteY10" fmla="*/ 58187 h 753459"/>
              <a:gd name="connsiteX11" fmla="*/ 7656022 w 10399222"/>
              <a:gd name="connsiteY11" fmla="*/ 274319 h 753459"/>
              <a:gd name="connsiteX12" fmla="*/ 8171411 w 10399222"/>
              <a:gd name="connsiteY12" fmla="*/ 573578 h 753459"/>
              <a:gd name="connsiteX13" fmla="*/ 8744989 w 10399222"/>
              <a:gd name="connsiteY13" fmla="*/ 723207 h 753459"/>
              <a:gd name="connsiteX14" fmla="*/ 9301943 w 10399222"/>
              <a:gd name="connsiteY14" fmla="*/ 739832 h 753459"/>
              <a:gd name="connsiteX15" fmla="*/ 9933709 w 10399222"/>
              <a:gd name="connsiteY15" fmla="*/ 565264 h 753459"/>
              <a:gd name="connsiteX16" fmla="*/ 10399222 w 10399222"/>
              <a:gd name="connsiteY16" fmla="*/ 257694 h 753459"/>
              <a:gd name="connsiteX0" fmla="*/ 0 w 10432473"/>
              <a:gd name="connsiteY0" fmla="*/ 548640 h 753459"/>
              <a:gd name="connsiteX1" fmla="*/ 889461 w 10432473"/>
              <a:gd name="connsiteY1" fmla="*/ 149629 h 753459"/>
              <a:gd name="connsiteX2" fmla="*/ 1629295 w 10432473"/>
              <a:gd name="connsiteY2" fmla="*/ 0 h 753459"/>
              <a:gd name="connsiteX3" fmla="*/ 2435628 w 10432473"/>
              <a:gd name="connsiteY3" fmla="*/ 149629 h 753459"/>
              <a:gd name="connsiteX4" fmla="*/ 3100647 w 10432473"/>
              <a:gd name="connsiteY4" fmla="*/ 465512 h 753459"/>
              <a:gd name="connsiteX5" fmla="*/ 3807229 w 10432473"/>
              <a:gd name="connsiteY5" fmla="*/ 723207 h 753459"/>
              <a:gd name="connsiteX6" fmla="*/ 4621878 w 10432473"/>
              <a:gd name="connsiteY6" fmla="*/ 723206 h 753459"/>
              <a:gd name="connsiteX7" fmla="*/ 5286895 w 10432473"/>
              <a:gd name="connsiteY7" fmla="*/ 507076 h 753459"/>
              <a:gd name="connsiteX8" fmla="*/ 5777346 w 10432473"/>
              <a:gd name="connsiteY8" fmla="*/ 249381 h 753459"/>
              <a:gd name="connsiteX9" fmla="*/ 6359235 w 10432473"/>
              <a:gd name="connsiteY9" fmla="*/ 49875 h 753459"/>
              <a:gd name="connsiteX10" fmla="*/ 7007628 w 10432473"/>
              <a:gd name="connsiteY10" fmla="*/ 58187 h 753459"/>
              <a:gd name="connsiteX11" fmla="*/ 7656022 w 10432473"/>
              <a:gd name="connsiteY11" fmla="*/ 274319 h 753459"/>
              <a:gd name="connsiteX12" fmla="*/ 8171411 w 10432473"/>
              <a:gd name="connsiteY12" fmla="*/ 573578 h 753459"/>
              <a:gd name="connsiteX13" fmla="*/ 8744989 w 10432473"/>
              <a:gd name="connsiteY13" fmla="*/ 723207 h 753459"/>
              <a:gd name="connsiteX14" fmla="*/ 9301943 w 10432473"/>
              <a:gd name="connsiteY14" fmla="*/ 739832 h 753459"/>
              <a:gd name="connsiteX15" fmla="*/ 9933709 w 10432473"/>
              <a:gd name="connsiteY15" fmla="*/ 565264 h 753459"/>
              <a:gd name="connsiteX16" fmla="*/ 10432473 w 10432473"/>
              <a:gd name="connsiteY16" fmla="*/ 282632 h 753459"/>
              <a:gd name="connsiteX0" fmla="*/ 0 w 10432473"/>
              <a:gd name="connsiteY0" fmla="*/ 548640 h 752877"/>
              <a:gd name="connsiteX1" fmla="*/ 889461 w 10432473"/>
              <a:gd name="connsiteY1" fmla="*/ 149629 h 752877"/>
              <a:gd name="connsiteX2" fmla="*/ 1629295 w 10432473"/>
              <a:gd name="connsiteY2" fmla="*/ 0 h 752877"/>
              <a:gd name="connsiteX3" fmla="*/ 2435628 w 10432473"/>
              <a:gd name="connsiteY3" fmla="*/ 149629 h 752877"/>
              <a:gd name="connsiteX4" fmla="*/ 3100647 w 10432473"/>
              <a:gd name="connsiteY4" fmla="*/ 465512 h 752877"/>
              <a:gd name="connsiteX5" fmla="*/ 3807229 w 10432473"/>
              <a:gd name="connsiteY5" fmla="*/ 723207 h 752877"/>
              <a:gd name="connsiteX6" fmla="*/ 4621878 w 10432473"/>
              <a:gd name="connsiteY6" fmla="*/ 723206 h 752877"/>
              <a:gd name="connsiteX7" fmla="*/ 5286895 w 10432473"/>
              <a:gd name="connsiteY7" fmla="*/ 507076 h 752877"/>
              <a:gd name="connsiteX8" fmla="*/ 5777346 w 10432473"/>
              <a:gd name="connsiteY8" fmla="*/ 249381 h 752877"/>
              <a:gd name="connsiteX9" fmla="*/ 6359235 w 10432473"/>
              <a:gd name="connsiteY9" fmla="*/ 49875 h 752877"/>
              <a:gd name="connsiteX10" fmla="*/ 7007628 w 10432473"/>
              <a:gd name="connsiteY10" fmla="*/ 58187 h 752877"/>
              <a:gd name="connsiteX11" fmla="*/ 7656022 w 10432473"/>
              <a:gd name="connsiteY11" fmla="*/ 274319 h 752877"/>
              <a:gd name="connsiteX12" fmla="*/ 8171411 w 10432473"/>
              <a:gd name="connsiteY12" fmla="*/ 573578 h 752877"/>
              <a:gd name="connsiteX13" fmla="*/ 8744989 w 10432473"/>
              <a:gd name="connsiteY13" fmla="*/ 723207 h 752877"/>
              <a:gd name="connsiteX14" fmla="*/ 9301943 w 10432473"/>
              <a:gd name="connsiteY14" fmla="*/ 739832 h 752877"/>
              <a:gd name="connsiteX15" fmla="*/ 9942021 w 10432473"/>
              <a:gd name="connsiteY15" fmla="*/ 581889 h 752877"/>
              <a:gd name="connsiteX16" fmla="*/ 10432473 w 10432473"/>
              <a:gd name="connsiteY16" fmla="*/ 282632 h 752877"/>
              <a:gd name="connsiteX0" fmla="*/ 0 w 10432473"/>
              <a:gd name="connsiteY0" fmla="*/ 548730 h 752967"/>
              <a:gd name="connsiteX1" fmla="*/ 889461 w 10432473"/>
              <a:gd name="connsiteY1" fmla="*/ 149719 h 752967"/>
              <a:gd name="connsiteX2" fmla="*/ 1629295 w 10432473"/>
              <a:gd name="connsiteY2" fmla="*/ 90 h 752967"/>
              <a:gd name="connsiteX3" fmla="*/ 2394064 w 10432473"/>
              <a:gd name="connsiteY3" fmla="*/ 166345 h 752967"/>
              <a:gd name="connsiteX4" fmla="*/ 3100647 w 10432473"/>
              <a:gd name="connsiteY4" fmla="*/ 465602 h 752967"/>
              <a:gd name="connsiteX5" fmla="*/ 3807229 w 10432473"/>
              <a:gd name="connsiteY5" fmla="*/ 723297 h 752967"/>
              <a:gd name="connsiteX6" fmla="*/ 4621878 w 10432473"/>
              <a:gd name="connsiteY6" fmla="*/ 723296 h 752967"/>
              <a:gd name="connsiteX7" fmla="*/ 5286895 w 10432473"/>
              <a:gd name="connsiteY7" fmla="*/ 507166 h 752967"/>
              <a:gd name="connsiteX8" fmla="*/ 5777346 w 10432473"/>
              <a:gd name="connsiteY8" fmla="*/ 249471 h 752967"/>
              <a:gd name="connsiteX9" fmla="*/ 6359235 w 10432473"/>
              <a:gd name="connsiteY9" fmla="*/ 49965 h 752967"/>
              <a:gd name="connsiteX10" fmla="*/ 7007628 w 10432473"/>
              <a:gd name="connsiteY10" fmla="*/ 58277 h 752967"/>
              <a:gd name="connsiteX11" fmla="*/ 7656022 w 10432473"/>
              <a:gd name="connsiteY11" fmla="*/ 274409 h 752967"/>
              <a:gd name="connsiteX12" fmla="*/ 8171411 w 10432473"/>
              <a:gd name="connsiteY12" fmla="*/ 573668 h 752967"/>
              <a:gd name="connsiteX13" fmla="*/ 8744989 w 10432473"/>
              <a:gd name="connsiteY13" fmla="*/ 723297 h 752967"/>
              <a:gd name="connsiteX14" fmla="*/ 9301943 w 10432473"/>
              <a:gd name="connsiteY14" fmla="*/ 739922 h 752967"/>
              <a:gd name="connsiteX15" fmla="*/ 9942021 w 10432473"/>
              <a:gd name="connsiteY15" fmla="*/ 581979 h 752967"/>
              <a:gd name="connsiteX16" fmla="*/ 10432473 w 10432473"/>
              <a:gd name="connsiteY16" fmla="*/ 282722 h 752967"/>
              <a:gd name="connsiteX0" fmla="*/ 0 w 10432473"/>
              <a:gd name="connsiteY0" fmla="*/ 548730 h 752326"/>
              <a:gd name="connsiteX1" fmla="*/ 889461 w 10432473"/>
              <a:gd name="connsiteY1" fmla="*/ 149719 h 752326"/>
              <a:gd name="connsiteX2" fmla="*/ 1629295 w 10432473"/>
              <a:gd name="connsiteY2" fmla="*/ 90 h 752326"/>
              <a:gd name="connsiteX3" fmla="*/ 2394064 w 10432473"/>
              <a:gd name="connsiteY3" fmla="*/ 166345 h 752326"/>
              <a:gd name="connsiteX4" fmla="*/ 3075708 w 10432473"/>
              <a:gd name="connsiteY4" fmla="*/ 482228 h 752326"/>
              <a:gd name="connsiteX5" fmla="*/ 3807229 w 10432473"/>
              <a:gd name="connsiteY5" fmla="*/ 723297 h 752326"/>
              <a:gd name="connsiteX6" fmla="*/ 4621878 w 10432473"/>
              <a:gd name="connsiteY6" fmla="*/ 723296 h 752326"/>
              <a:gd name="connsiteX7" fmla="*/ 5286895 w 10432473"/>
              <a:gd name="connsiteY7" fmla="*/ 507166 h 752326"/>
              <a:gd name="connsiteX8" fmla="*/ 5777346 w 10432473"/>
              <a:gd name="connsiteY8" fmla="*/ 249471 h 752326"/>
              <a:gd name="connsiteX9" fmla="*/ 6359235 w 10432473"/>
              <a:gd name="connsiteY9" fmla="*/ 49965 h 752326"/>
              <a:gd name="connsiteX10" fmla="*/ 7007628 w 10432473"/>
              <a:gd name="connsiteY10" fmla="*/ 58277 h 752326"/>
              <a:gd name="connsiteX11" fmla="*/ 7656022 w 10432473"/>
              <a:gd name="connsiteY11" fmla="*/ 274409 h 752326"/>
              <a:gd name="connsiteX12" fmla="*/ 8171411 w 10432473"/>
              <a:gd name="connsiteY12" fmla="*/ 573668 h 752326"/>
              <a:gd name="connsiteX13" fmla="*/ 8744989 w 10432473"/>
              <a:gd name="connsiteY13" fmla="*/ 723297 h 752326"/>
              <a:gd name="connsiteX14" fmla="*/ 9301943 w 10432473"/>
              <a:gd name="connsiteY14" fmla="*/ 739922 h 752326"/>
              <a:gd name="connsiteX15" fmla="*/ 9942021 w 10432473"/>
              <a:gd name="connsiteY15" fmla="*/ 581979 h 752326"/>
              <a:gd name="connsiteX16" fmla="*/ 10432473 w 10432473"/>
              <a:gd name="connsiteY16" fmla="*/ 282722 h 752326"/>
              <a:gd name="connsiteX0" fmla="*/ 0 w 10432473"/>
              <a:gd name="connsiteY0" fmla="*/ 523836 h 727432"/>
              <a:gd name="connsiteX1" fmla="*/ 889461 w 10432473"/>
              <a:gd name="connsiteY1" fmla="*/ 124825 h 727432"/>
              <a:gd name="connsiteX2" fmla="*/ 1645920 w 10432473"/>
              <a:gd name="connsiteY2" fmla="*/ 134 h 727432"/>
              <a:gd name="connsiteX3" fmla="*/ 2394064 w 10432473"/>
              <a:gd name="connsiteY3" fmla="*/ 141451 h 727432"/>
              <a:gd name="connsiteX4" fmla="*/ 3075708 w 10432473"/>
              <a:gd name="connsiteY4" fmla="*/ 457334 h 727432"/>
              <a:gd name="connsiteX5" fmla="*/ 3807229 w 10432473"/>
              <a:gd name="connsiteY5" fmla="*/ 698403 h 727432"/>
              <a:gd name="connsiteX6" fmla="*/ 4621878 w 10432473"/>
              <a:gd name="connsiteY6" fmla="*/ 698402 h 727432"/>
              <a:gd name="connsiteX7" fmla="*/ 5286895 w 10432473"/>
              <a:gd name="connsiteY7" fmla="*/ 482272 h 727432"/>
              <a:gd name="connsiteX8" fmla="*/ 5777346 w 10432473"/>
              <a:gd name="connsiteY8" fmla="*/ 224577 h 727432"/>
              <a:gd name="connsiteX9" fmla="*/ 6359235 w 10432473"/>
              <a:gd name="connsiteY9" fmla="*/ 25071 h 727432"/>
              <a:gd name="connsiteX10" fmla="*/ 7007628 w 10432473"/>
              <a:gd name="connsiteY10" fmla="*/ 33383 h 727432"/>
              <a:gd name="connsiteX11" fmla="*/ 7656022 w 10432473"/>
              <a:gd name="connsiteY11" fmla="*/ 249515 h 727432"/>
              <a:gd name="connsiteX12" fmla="*/ 8171411 w 10432473"/>
              <a:gd name="connsiteY12" fmla="*/ 548774 h 727432"/>
              <a:gd name="connsiteX13" fmla="*/ 8744989 w 10432473"/>
              <a:gd name="connsiteY13" fmla="*/ 698403 h 727432"/>
              <a:gd name="connsiteX14" fmla="*/ 9301943 w 10432473"/>
              <a:gd name="connsiteY14" fmla="*/ 715028 h 727432"/>
              <a:gd name="connsiteX15" fmla="*/ 9942021 w 10432473"/>
              <a:gd name="connsiteY15" fmla="*/ 557085 h 727432"/>
              <a:gd name="connsiteX16" fmla="*/ 10432473 w 10432473"/>
              <a:gd name="connsiteY16" fmla="*/ 257828 h 727432"/>
              <a:gd name="connsiteX0" fmla="*/ 0 w 10432473"/>
              <a:gd name="connsiteY0" fmla="*/ 523836 h 727432"/>
              <a:gd name="connsiteX1" fmla="*/ 889461 w 10432473"/>
              <a:gd name="connsiteY1" fmla="*/ 124825 h 727432"/>
              <a:gd name="connsiteX2" fmla="*/ 1645920 w 10432473"/>
              <a:gd name="connsiteY2" fmla="*/ 134 h 727432"/>
              <a:gd name="connsiteX3" fmla="*/ 2394064 w 10432473"/>
              <a:gd name="connsiteY3" fmla="*/ 141451 h 727432"/>
              <a:gd name="connsiteX4" fmla="*/ 3075708 w 10432473"/>
              <a:gd name="connsiteY4" fmla="*/ 457334 h 727432"/>
              <a:gd name="connsiteX5" fmla="*/ 3807229 w 10432473"/>
              <a:gd name="connsiteY5" fmla="*/ 698403 h 727432"/>
              <a:gd name="connsiteX6" fmla="*/ 4621878 w 10432473"/>
              <a:gd name="connsiteY6" fmla="*/ 698402 h 727432"/>
              <a:gd name="connsiteX7" fmla="*/ 5286895 w 10432473"/>
              <a:gd name="connsiteY7" fmla="*/ 482272 h 727432"/>
              <a:gd name="connsiteX8" fmla="*/ 5777346 w 10432473"/>
              <a:gd name="connsiteY8" fmla="*/ 224577 h 727432"/>
              <a:gd name="connsiteX9" fmla="*/ 6359235 w 10432473"/>
              <a:gd name="connsiteY9" fmla="*/ 25071 h 727432"/>
              <a:gd name="connsiteX10" fmla="*/ 7007628 w 10432473"/>
              <a:gd name="connsiteY10" fmla="*/ 33383 h 727432"/>
              <a:gd name="connsiteX11" fmla="*/ 7656022 w 10432473"/>
              <a:gd name="connsiteY11" fmla="*/ 249515 h 727432"/>
              <a:gd name="connsiteX12" fmla="*/ 8171411 w 10432473"/>
              <a:gd name="connsiteY12" fmla="*/ 548774 h 727432"/>
              <a:gd name="connsiteX13" fmla="*/ 8744989 w 10432473"/>
              <a:gd name="connsiteY13" fmla="*/ 698403 h 727432"/>
              <a:gd name="connsiteX14" fmla="*/ 9301943 w 10432473"/>
              <a:gd name="connsiteY14" fmla="*/ 715028 h 727432"/>
              <a:gd name="connsiteX15" fmla="*/ 9942021 w 10432473"/>
              <a:gd name="connsiteY15" fmla="*/ 557085 h 727432"/>
              <a:gd name="connsiteX16" fmla="*/ 10432473 w 10432473"/>
              <a:gd name="connsiteY16" fmla="*/ 257828 h 727432"/>
              <a:gd name="connsiteX0" fmla="*/ 0 w 10432473"/>
              <a:gd name="connsiteY0" fmla="*/ 523836 h 727432"/>
              <a:gd name="connsiteX1" fmla="*/ 889461 w 10432473"/>
              <a:gd name="connsiteY1" fmla="*/ 124825 h 727432"/>
              <a:gd name="connsiteX2" fmla="*/ 1645920 w 10432473"/>
              <a:gd name="connsiteY2" fmla="*/ 134 h 727432"/>
              <a:gd name="connsiteX3" fmla="*/ 2394064 w 10432473"/>
              <a:gd name="connsiteY3" fmla="*/ 141451 h 727432"/>
              <a:gd name="connsiteX4" fmla="*/ 3075708 w 10432473"/>
              <a:gd name="connsiteY4" fmla="*/ 457334 h 727432"/>
              <a:gd name="connsiteX5" fmla="*/ 3807229 w 10432473"/>
              <a:gd name="connsiteY5" fmla="*/ 698403 h 727432"/>
              <a:gd name="connsiteX6" fmla="*/ 4621878 w 10432473"/>
              <a:gd name="connsiteY6" fmla="*/ 698402 h 727432"/>
              <a:gd name="connsiteX7" fmla="*/ 5286895 w 10432473"/>
              <a:gd name="connsiteY7" fmla="*/ 482272 h 727432"/>
              <a:gd name="connsiteX8" fmla="*/ 5777346 w 10432473"/>
              <a:gd name="connsiteY8" fmla="*/ 224577 h 727432"/>
              <a:gd name="connsiteX9" fmla="*/ 6359235 w 10432473"/>
              <a:gd name="connsiteY9" fmla="*/ 25071 h 727432"/>
              <a:gd name="connsiteX10" fmla="*/ 7007628 w 10432473"/>
              <a:gd name="connsiteY10" fmla="*/ 33383 h 727432"/>
              <a:gd name="connsiteX11" fmla="*/ 7622771 w 10432473"/>
              <a:gd name="connsiteY11" fmla="*/ 249515 h 727432"/>
              <a:gd name="connsiteX12" fmla="*/ 8171411 w 10432473"/>
              <a:gd name="connsiteY12" fmla="*/ 548774 h 727432"/>
              <a:gd name="connsiteX13" fmla="*/ 8744989 w 10432473"/>
              <a:gd name="connsiteY13" fmla="*/ 698403 h 727432"/>
              <a:gd name="connsiteX14" fmla="*/ 9301943 w 10432473"/>
              <a:gd name="connsiteY14" fmla="*/ 715028 h 727432"/>
              <a:gd name="connsiteX15" fmla="*/ 9942021 w 10432473"/>
              <a:gd name="connsiteY15" fmla="*/ 557085 h 727432"/>
              <a:gd name="connsiteX16" fmla="*/ 10432473 w 10432473"/>
              <a:gd name="connsiteY16" fmla="*/ 257828 h 727432"/>
              <a:gd name="connsiteX0" fmla="*/ 0 w 10432473"/>
              <a:gd name="connsiteY0" fmla="*/ 523836 h 727432"/>
              <a:gd name="connsiteX1" fmla="*/ 889461 w 10432473"/>
              <a:gd name="connsiteY1" fmla="*/ 124825 h 727432"/>
              <a:gd name="connsiteX2" fmla="*/ 1645920 w 10432473"/>
              <a:gd name="connsiteY2" fmla="*/ 134 h 727432"/>
              <a:gd name="connsiteX3" fmla="*/ 2394064 w 10432473"/>
              <a:gd name="connsiteY3" fmla="*/ 141451 h 727432"/>
              <a:gd name="connsiteX4" fmla="*/ 3075708 w 10432473"/>
              <a:gd name="connsiteY4" fmla="*/ 457334 h 727432"/>
              <a:gd name="connsiteX5" fmla="*/ 3807229 w 10432473"/>
              <a:gd name="connsiteY5" fmla="*/ 698403 h 727432"/>
              <a:gd name="connsiteX6" fmla="*/ 4621878 w 10432473"/>
              <a:gd name="connsiteY6" fmla="*/ 698402 h 727432"/>
              <a:gd name="connsiteX7" fmla="*/ 5286895 w 10432473"/>
              <a:gd name="connsiteY7" fmla="*/ 482272 h 727432"/>
              <a:gd name="connsiteX8" fmla="*/ 5777346 w 10432473"/>
              <a:gd name="connsiteY8" fmla="*/ 224577 h 727432"/>
              <a:gd name="connsiteX9" fmla="*/ 6359235 w 10432473"/>
              <a:gd name="connsiteY9" fmla="*/ 25071 h 727432"/>
              <a:gd name="connsiteX10" fmla="*/ 7007628 w 10432473"/>
              <a:gd name="connsiteY10" fmla="*/ 33383 h 727432"/>
              <a:gd name="connsiteX11" fmla="*/ 7622771 w 10432473"/>
              <a:gd name="connsiteY11" fmla="*/ 249515 h 727432"/>
              <a:gd name="connsiteX12" fmla="*/ 8171411 w 10432473"/>
              <a:gd name="connsiteY12" fmla="*/ 548774 h 727432"/>
              <a:gd name="connsiteX13" fmla="*/ 8744989 w 10432473"/>
              <a:gd name="connsiteY13" fmla="*/ 698403 h 727432"/>
              <a:gd name="connsiteX14" fmla="*/ 9301943 w 10432473"/>
              <a:gd name="connsiteY14" fmla="*/ 715028 h 727432"/>
              <a:gd name="connsiteX15" fmla="*/ 9942021 w 10432473"/>
              <a:gd name="connsiteY15" fmla="*/ 557085 h 727432"/>
              <a:gd name="connsiteX16" fmla="*/ 10432473 w 10432473"/>
              <a:gd name="connsiteY16" fmla="*/ 257828 h 727432"/>
              <a:gd name="connsiteX0" fmla="*/ 0 w 10432473"/>
              <a:gd name="connsiteY0" fmla="*/ 523836 h 727432"/>
              <a:gd name="connsiteX1" fmla="*/ 889461 w 10432473"/>
              <a:gd name="connsiteY1" fmla="*/ 124825 h 727432"/>
              <a:gd name="connsiteX2" fmla="*/ 1645920 w 10432473"/>
              <a:gd name="connsiteY2" fmla="*/ 134 h 727432"/>
              <a:gd name="connsiteX3" fmla="*/ 2394064 w 10432473"/>
              <a:gd name="connsiteY3" fmla="*/ 141451 h 727432"/>
              <a:gd name="connsiteX4" fmla="*/ 3075708 w 10432473"/>
              <a:gd name="connsiteY4" fmla="*/ 457334 h 727432"/>
              <a:gd name="connsiteX5" fmla="*/ 3807229 w 10432473"/>
              <a:gd name="connsiteY5" fmla="*/ 698403 h 727432"/>
              <a:gd name="connsiteX6" fmla="*/ 4621878 w 10432473"/>
              <a:gd name="connsiteY6" fmla="*/ 698402 h 727432"/>
              <a:gd name="connsiteX7" fmla="*/ 5286895 w 10432473"/>
              <a:gd name="connsiteY7" fmla="*/ 482272 h 727432"/>
              <a:gd name="connsiteX8" fmla="*/ 5777346 w 10432473"/>
              <a:gd name="connsiteY8" fmla="*/ 224577 h 727432"/>
              <a:gd name="connsiteX9" fmla="*/ 6359235 w 10432473"/>
              <a:gd name="connsiteY9" fmla="*/ 25071 h 727432"/>
              <a:gd name="connsiteX10" fmla="*/ 7007628 w 10432473"/>
              <a:gd name="connsiteY10" fmla="*/ 33383 h 727432"/>
              <a:gd name="connsiteX11" fmla="*/ 7622771 w 10432473"/>
              <a:gd name="connsiteY11" fmla="*/ 249515 h 727432"/>
              <a:gd name="connsiteX12" fmla="*/ 8171411 w 10432473"/>
              <a:gd name="connsiteY12" fmla="*/ 548774 h 727432"/>
              <a:gd name="connsiteX13" fmla="*/ 8744989 w 10432473"/>
              <a:gd name="connsiteY13" fmla="*/ 698403 h 727432"/>
              <a:gd name="connsiteX14" fmla="*/ 9301943 w 10432473"/>
              <a:gd name="connsiteY14" fmla="*/ 715028 h 727432"/>
              <a:gd name="connsiteX15" fmla="*/ 9942021 w 10432473"/>
              <a:gd name="connsiteY15" fmla="*/ 557085 h 727432"/>
              <a:gd name="connsiteX16" fmla="*/ 10432473 w 10432473"/>
              <a:gd name="connsiteY16" fmla="*/ 257828 h 727432"/>
              <a:gd name="connsiteX0" fmla="*/ 0 w 10432473"/>
              <a:gd name="connsiteY0" fmla="*/ 523836 h 727432"/>
              <a:gd name="connsiteX1" fmla="*/ 889461 w 10432473"/>
              <a:gd name="connsiteY1" fmla="*/ 124825 h 727432"/>
              <a:gd name="connsiteX2" fmla="*/ 1645920 w 10432473"/>
              <a:gd name="connsiteY2" fmla="*/ 134 h 727432"/>
              <a:gd name="connsiteX3" fmla="*/ 2394064 w 10432473"/>
              <a:gd name="connsiteY3" fmla="*/ 141451 h 727432"/>
              <a:gd name="connsiteX4" fmla="*/ 3075708 w 10432473"/>
              <a:gd name="connsiteY4" fmla="*/ 457334 h 727432"/>
              <a:gd name="connsiteX5" fmla="*/ 3807229 w 10432473"/>
              <a:gd name="connsiteY5" fmla="*/ 698403 h 727432"/>
              <a:gd name="connsiteX6" fmla="*/ 4621878 w 10432473"/>
              <a:gd name="connsiteY6" fmla="*/ 698402 h 727432"/>
              <a:gd name="connsiteX7" fmla="*/ 5286895 w 10432473"/>
              <a:gd name="connsiteY7" fmla="*/ 482272 h 727432"/>
              <a:gd name="connsiteX8" fmla="*/ 5777346 w 10432473"/>
              <a:gd name="connsiteY8" fmla="*/ 224577 h 727432"/>
              <a:gd name="connsiteX9" fmla="*/ 6359235 w 10432473"/>
              <a:gd name="connsiteY9" fmla="*/ 25071 h 727432"/>
              <a:gd name="connsiteX10" fmla="*/ 7007628 w 10432473"/>
              <a:gd name="connsiteY10" fmla="*/ 33383 h 727432"/>
              <a:gd name="connsiteX11" fmla="*/ 7622771 w 10432473"/>
              <a:gd name="connsiteY11" fmla="*/ 249515 h 727432"/>
              <a:gd name="connsiteX12" fmla="*/ 8171411 w 10432473"/>
              <a:gd name="connsiteY12" fmla="*/ 548774 h 727432"/>
              <a:gd name="connsiteX13" fmla="*/ 8744989 w 10432473"/>
              <a:gd name="connsiteY13" fmla="*/ 698403 h 727432"/>
              <a:gd name="connsiteX14" fmla="*/ 9301943 w 10432473"/>
              <a:gd name="connsiteY14" fmla="*/ 715028 h 727432"/>
              <a:gd name="connsiteX15" fmla="*/ 9942021 w 10432473"/>
              <a:gd name="connsiteY15" fmla="*/ 557085 h 727432"/>
              <a:gd name="connsiteX16" fmla="*/ 10432473 w 10432473"/>
              <a:gd name="connsiteY16" fmla="*/ 257828 h 727432"/>
              <a:gd name="connsiteX0" fmla="*/ 0 w 10432473"/>
              <a:gd name="connsiteY0" fmla="*/ 523836 h 727432"/>
              <a:gd name="connsiteX1" fmla="*/ 889461 w 10432473"/>
              <a:gd name="connsiteY1" fmla="*/ 124825 h 727432"/>
              <a:gd name="connsiteX2" fmla="*/ 1645920 w 10432473"/>
              <a:gd name="connsiteY2" fmla="*/ 134 h 727432"/>
              <a:gd name="connsiteX3" fmla="*/ 2394064 w 10432473"/>
              <a:gd name="connsiteY3" fmla="*/ 141451 h 727432"/>
              <a:gd name="connsiteX4" fmla="*/ 3075708 w 10432473"/>
              <a:gd name="connsiteY4" fmla="*/ 457334 h 727432"/>
              <a:gd name="connsiteX5" fmla="*/ 3807229 w 10432473"/>
              <a:gd name="connsiteY5" fmla="*/ 698403 h 727432"/>
              <a:gd name="connsiteX6" fmla="*/ 4621878 w 10432473"/>
              <a:gd name="connsiteY6" fmla="*/ 698402 h 727432"/>
              <a:gd name="connsiteX7" fmla="*/ 5286895 w 10432473"/>
              <a:gd name="connsiteY7" fmla="*/ 482272 h 727432"/>
              <a:gd name="connsiteX8" fmla="*/ 5777346 w 10432473"/>
              <a:gd name="connsiteY8" fmla="*/ 224577 h 727432"/>
              <a:gd name="connsiteX9" fmla="*/ 6359235 w 10432473"/>
              <a:gd name="connsiteY9" fmla="*/ 25071 h 727432"/>
              <a:gd name="connsiteX10" fmla="*/ 7007628 w 10432473"/>
              <a:gd name="connsiteY10" fmla="*/ 33383 h 727432"/>
              <a:gd name="connsiteX11" fmla="*/ 7622771 w 10432473"/>
              <a:gd name="connsiteY11" fmla="*/ 249515 h 727432"/>
              <a:gd name="connsiteX12" fmla="*/ 8171411 w 10432473"/>
              <a:gd name="connsiteY12" fmla="*/ 548774 h 727432"/>
              <a:gd name="connsiteX13" fmla="*/ 8744989 w 10432473"/>
              <a:gd name="connsiteY13" fmla="*/ 698403 h 727432"/>
              <a:gd name="connsiteX14" fmla="*/ 9301943 w 10432473"/>
              <a:gd name="connsiteY14" fmla="*/ 715028 h 727432"/>
              <a:gd name="connsiteX15" fmla="*/ 9942021 w 10432473"/>
              <a:gd name="connsiteY15" fmla="*/ 557085 h 727432"/>
              <a:gd name="connsiteX16" fmla="*/ 10432473 w 10432473"/>
              <a:gd name="connsiteY16" fmla="*/ 257828 h 727432"/>
              <a:gd name="connsiteX0" fmla="*/ 0 w 10432473"/>
              <a:gd name="connsiteY0" fmla="*/ 523836 h 728201"/>
              <a:gd name="connsiteX1" fmla="*/ 889461 w 10432473"/>
              <a:gd name="connsiteY1" fmla="*/ 124825 h 728201"/>
              <a:gd name="connsiteX2" fmla="*/ 1645920 w 10432473"/>
              <a:gd name="connsiteY2" fmla="*/ 134 h 728201"/>
              <a:gd name="connsiteX3" fmla="*/ 2394064 w 10432473"/>
              <a:gd name="connsiteY3" fmla="*/ 141451 h 728201"/>
              <a:gd name="connsiteX4" fmla="*/ 3075708 w 10432473"/>
              <a:gd name="connsiteY4" fmla="*/ 457334 h 728201"/>
              <a:gd name="connsiteX5" fmla="*/ 3807229 w 10432473"/>
              <a:gd name="connsiteY5" fmla="*/ 698403 h 728201"/>
              <a:gd name="connsiteX6" fmla="*/ 4621878 w 10432473"/>
              <a:gd name="connsiteY6" fmla="*/ 698402 h 728201"/>
              <a:gd name="connsiteX7" fmla="*/ 5286895 w 10432473"/>
              <a:gd name="connsiteY7" fmla="*/ 482272 h 728201"/>
              <a:gd name="connsiteX8" fmla="*/ 5777346 w 10432473"/>
              <a:gd name="connsiteY8" fmla="*/ 224577 h 728201"/>
              <a:gd name="connsiteX9" fmla="*/ 6359235 w 10432473"/>
              <a:gd name="connsiteY9" fmla="*/ 25071 h 728201"/>
              <a:gd name="connsiteX10" fmla="*/ 7007628 w 10432473"/>
              <a:gd name="connsiteY10" fmla="*/ 33383 h 728201"/>
              <a:gd name="connsiteX11" fmla="*/ 7622771 w 10432473"/>
              <a:gd name="connsiteY11" fmla="*/ 249515 h 728201"/>
              <a:gd name="connsiteX12" fmla="*/ 8171411 w 10432473"/>
              <a:gd name="connsiteY12" fmla="*/ 548774 h 728201"/>
              <a:gd name="connsiteX13" fmla="*/ 8744989 w 10432473"/>
              <a:gd name="connsiteY13" fmla="*/ 698403 h 728201"/>
              <a:gd name="connsiteX14" fmla="*/ 9301943 w 10432473"/>
              <a:gd name="connsiteY14" fmla="*/ 715028 h 728201"/>
              <a:gd name="connsiteX15" fmla="*/ 9942021 w 10432473"/>
              <a:gd name="connsiteY15" fmla="*/ 557085 h 728201"/>
              <a:gd name="connsiteX16" fmla="*/ 10432473 w 10432473"/>
              <a:gd name="connsiteY16" fmla="*/ 257828 h 728201"/>
              <a:gd name="connsiteX0" fmla="*/ 0 w 10432473"/>
              <a:gd name="connsiteY0" fmla="*/ 523836 h 728201"/>
              <a:gd name="connsiteX1" fmla="*/ 889461 w 10432473"/>
              <a:gd name="connsiteY1" fmla="*/ 124825 h 728201"/>
              <a:gd name="connsiteX2" fmla="*/ 1645920 w 10432473"/>
              <a:gd name="connsiteY2" fmla="*/ 134 h 728201"/>
              <a:gd name="connsiteX3" fmla="*/ 2394064 w 10432473"/>
              <a:gd name="connsiteY3" fmla="*/ 141451 h 728201"/>
              <a:gd name="connsiteX4" fmla="*/ 3075708 w 10432473"/>
              <a:gd name="connsiteY4" fmla="*/ 457334 h 728201"/>
              <a:gd name="connsiteX5" fmla="*/ 3807229 w 10432473"/>
              <a:gd name="connsiteY5" fmla="*/ 698403 h 728201"/>
              <a:gd name="connsiteX6" fmla="*/ 4621878 w 10432473"/>
              <a:gd name="connsiteY6" fmla="*/ 698402 h 728201"/>
              <a:gd name="connsiteX7" fmla="*/ 5286895 w 10432473"/>
              <a:gd name="connsiteY7" fmla="*/ 482272 h 728201"/>
              <a:gd name="connsiteX8" fmla="*/ 5777346 w 10432473"/>
              <a:gd name="connsiteY8" fmla="*/ 224577 h 728201"/>
              <a:gd name="connsiteX9" fmla="*/ 6359235 w 10432473"/>
              <a:gd name="connsiteY9" fmla="*/ 25071 h 728201"/>
              <a:gd name="connsiteX10" fmla="*/ 7007628 w 10432473"/>
              <a:gd name="connsiteY10" fmla="*/ 33383 h 728201"/>
              <a:gd name="connsiteX11" fmla="*/ 7622771 w 10432473"/>
              <a:gd name="connsiteY11" fmla="*/ 249515 h 728201"/>
              <a:gd name="connsiteX12" fmla="*/ 8171411 w 10432473"/>
              <a:gd name="connsiteY12" fmla="*/ 548774 h 728201"/>
              <a:gd name="connsiteX13" fmla="*/ 8744989 w 10432473"/>
              <a:gd name="connsiteY13" fmla="*/ 698403 h 728201"/>
              <a:gd name="connsiteX14" fmla="*/ 9301943 w 10432473"/>
              <a:gd name="connsiteY14" fmla="*/ 715028 h 728201"/>
              <a:gd name="connsiteX15" fmla="*/ 9942021 w 10432473"/>
              <a:gd name="connsiteY15" fmla="*/ 557085 h 728201"/>
              <a:gd name="connsiteX16" fmla="*/ 10432473 w 10432473"/>
              <a:gd name="connsiteY16" fmla="*/ 257828 h 728201"/>
              <a:gd name="connsiteX0" fmla="*/ 0 w 10432473"/>
              <a:gd name="connsiteY0" fmla="*/ 523836 h 728201"/>
              <a:gd name="connsiteX1" fmla="*/ 889461 w 10432473"/>
              <a:gd name="connsiteY1" fmla="*/ 124825 h 728201"/>
              <a:gd name="connsiteX2" fmla="*/ 1645920 w 10432473"/>
              <a:gd name="connsiteY2" fmla="*/ 134 h 728201"/>
              <a:gd name="connsiteX3" fmla="*/ 2394064 w 10432473"/>
              <a:gd name="connsiteY3" fmla="*/ 141451 h 728201"/>
              <a:gd name="connsiteX4" fmla="*/ 3075708 w 10432473"/>
              <a:gd name="connsiteY4" fmla="*/ 457334 h 728201"/>
              <a:gd name="connsiteX5" fmla="*/ 3807229 w 10432473"/>
              <a:gd name="connsiteY5" fmla="*/ 698403 h 728201"/>
              <a:gd name="connsiteX6" fmla="*/ 4621878 w 10432473"/>
              <a:gd name="connsiteY6" fmla="*/ 698402 h 728201"/>
              <a:gd name="connsiteX7" fmla="*/ 5286895 w 10432473"/>
              <a:gd name="connsiteY7" fmla="*/ 482272 h 728201"/>
              <a:gd name="connsiteX8" fmla="*/ 5777346 w 10432473"/>
              <a:gd name="connsiteY8" fmla="*/ 224577 h 728201"/>
              <a:gd name="connsiteX9" fmla="*/ 6359235 w 10432473"/>
              <a:gd name="connsiteY9" fmla="*/ 25071 h 728201"/>
              <a:gd name="connsiteX10" fmla="*/ 7007628 w 10432473"/>
              <a:gd name="connsiteY10" fmla="*/ 33383 h 728201"/>
              <a:gd name="connsiteX11" fmla="*/ 7622771 w 10432473"/>
              <a:gd name="connsiteY11" fmla="*/ 249515 h 728201"/>
              <a:gd name="connsiteX12" fmla="*/ 8171411 w 10432473"/>
              <a:gd name="connsiteY12" fmla="*/ 548774 h 728201"/>
              <a:gd name="connsiteX13" fmla="*/ 8744989 w 10432473"/>
              <a:gd name="connsiteY13" fmla="*/ 698403 h 728201"/>
              <a:gd name="connsiteX14" fmla="*/ 9301943 w 10432473"/>
              <a:gd name="connsiteY14" fmla="*/ 715028 h 728201"/>
              <a:gd name="connsiteX15" fmla="*/ 9942021 w 10432473"/>
              <a:gd name="connsiteY15" fmla="*/ 557085 h 728201"/>
              <a:gd name="connsiteX16" fmla="*/ 10432473 w 10432473"/>
              <a:gd name="connsiteY16" fmla="*/ 257828 h 72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432473" h="728201">
                <a:moveTo>
                  <a:pt x="0" y="523836"/>
                </a:moveTo>
                <a:cubicBezTo>
                  <a:pt x="373380" y="300084"/>
                  <a:pt x="615141" y="212109"/>
                  <a:pt x="889461" y="124825"/>
                </a:cubicBezTo>
                <a:cubicBezTo>
                  <a:pt x="1163781" y="37541"/>
                  <a:pt x="1395153" y="-2637"/>
                  <a:pt x="1645920" y="134"/>
                </a:cubicBezTo>
                <a:cubicBezTo>
                  <a:pt x="1896687" y="2905"/>
                  <a:pt x="2164079" y="65251"/>
                  <a:pt x="2394064" y="141451"/>
                </a:cubicBezTo>
                <a:cubicBezTo>
                  <a:pt x="2624049" y="217651"/>
                  <a:pt x="2840181" y="364509"/>
                  <a:pt x="3075708" y="457334"/>
                </a:cubicBezTo>
                <a:cubicBezTo>
                  <a:pt x="3311235" y="550159"/>
                  <a:pt x="3549534" y="658225"/>
                  <a:pt x="3807229" y="698403"/>
                </a:cubicBezTo>
                <a:cubicBezTo>
                  <a:pt x="4064924" y="738581"/>
                  <a:pt x="4375267" y="734424"/>
                  <a:pt x="4621878" y="698402"/>
                </a:cubicBezTo>
                <a:cubicBezTo>
                  <a:pt x="4868489" y="662380"/>
                  <a:pt x="5099207" y="575912"/>
                  <a:pt x="5286895" y="482272"/>
                </a:cubicBezTo>
                <a:cubicBezTo>
                  <a:pt x="5474583" y="388632"/>
                  <a:pt x="5603513" y="305667"/>
                  <a:pt x="5777346" y="224577"/>
                </a:cubicBezTo>
                <a:cubicBezTo>
                  <a:pt x="5951179" y="143487"/>
                  <a:pt x="6154188" y="56937"/>
                  <a:pt x="6359235" y="25071"/>
                </a:cubicBezTo>
                <a:cubicBezTo>
                  <a:pt x="6564282" y="-6795"/>
                  <a:pt x="6797039" y="-4024"/>
                  <a:pt x="7007628" y="33383"/>
                </a:cubicBezTo>
                <a:cubicBezTo>
                  <a:pt x="7218217" y="70790"/>
                  <a:pt x="7428807" y="154825"/>
                  <a:pt x="7622771" y="249515"/>
                </a:cubicBezTo>
                <a:cubicBezTo>
                  <a:pt x="7816735" y="344205"/>
                  <a:pt x="7993168" y="471029"/>
                  <a:pt x="8171411" y="548774"/>
                </a:cubicBezTo>
                <a:cubicBezTo>
                  <a:pt x="8349654" y="626519"/>
                  <a:pt x="8559498" y="667763"/>
                  <a:pt x="8744989" y="698403"/>
                </a:cubicBezTo>
                <a:cubicBezTo>
                  <a:pt x="8930480" y="729043"/>
                  <a:pt x="9102438" y="738581"/>
                  <a:pt x="9301943" y="715028"/>
                </a:cubicBezTo>
                <a:cubicBezTo>
                  <a:pt x="9501448" y="691475"/>
                  <a:pt x="9753599" y="633285"/>
                  <a:pt x="9942021" y="557085"/>
                </a:cubicBezTo>
                <a:cubicBezTo>
                  <a:pt x="10130443" y="480885"/>
                  <a:pt x="10360429" y="324330"/>
                  <a:pt x="10432473" y="257828"/>
                </a:cubicBezTo>
              </a:path>
            </a:pathLst>
          </a:custGeom>
          <a:noFill/>
          <a:ln w="508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20202020204"/>
              <a:ea typeface="微软雅黑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9281" y="1450009"/>
            <a:ext cx="2080767" cy="116955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2023</a:t>
            </a:r>
            <a:r>
              <a:rPr lang="zh-CN" altLang="en-US" sz="1400" b="1" dirty="0"/>
              <a:t>年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月</a:t>
            </a:r>
            <a:r>
              <a:rPr lang="zh-CN" altLang="en-US" sz="1400" dirty="0"/>
              <a:t>份销售开始接触宁波地铁，想宁波地铁的轨道相关的生意。和客户做了一些</a:t>
            </a:r>
            <a:r>
              <a:rPr lang="en-US" altLang="zh-CN" sz="1400" dirty="0"/>
              <a:t>SID</a:t>
            </a:r>
            <a:r>
              <a:rPr lang="zh-CN" altLang="en-US" sz="1400" dirty="0"/>
              <a:t>相关的方案交流。</a:t>
            </a:r>
          </a:p>
        </p:txBody>
      </p:sp>
      <p:sp>
        <p:nvSpPr>
          <p:cNvPr id="4" name="椭圆 3"/>
          <p:cNvSpPr/>
          <p:nvPr/>
        </p:nvSpPr>
        <p:spPr>
          <a:xfrm>
            <a:off x="429405" y="1166627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210052" y="1443203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047488" y="823384"/>
            <a:ext cx="8842243" cy="52322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23</a:t>
            </a:r>
            <a:r>
              <a:rPr lang="zh-CN" altLang="en-US" sz="1400" b="1" dirty="0"/>
              <a:t>年</a:t>
            </a:r>
            <a:r>
              <a:rPr lang="en-US" altLang="zh-CN" sz="1400" b="1" dirty="0"/>
              <a:t>11</a:t>
            </a:r>
            <a:r>
              <a:rPr lang="zh-CN" altLang="en-US" sz="1400" b="1" dirty="0"/>
              <a:t>月初</a:t>
            </a:r>
            <a:r>
              <a:rPr lang="zh-CN" altLang="en-US" sz="1400" dirty="0"/>
              <a:t>，销售拜访宁波地铁三产公司宁波一卡通的管总（二把手），当时了解到宁波地铁属于省属国企，客户有收到相关文件，要三年内要完成国产化的改造。管总让我们找汪可可，汪可可是一卡通公司的一把手</a:t>
            </a:r>
            <a:r>
              <a:rPr lang="zh-CN" altLang="en-US" sz="1400" dirty="0" smtClean="0"/>
              <a:t>。</a:t>
            </a:r>
            <a:endParaRPr lang="zh-CN" altLang="en-US" sz="1400" dirty="0"/>
          </a:p>
        </p:txBody>
      </p:sp>
      <p:sp>
        <p:nvSpPr>
          <p:cNvPr id="8" name="椭圆 7"/>
          <p:cNvSpPr/>
          <p:nvPr/>
        </p:nvSpPr>
        <p:spPr>
          <a:xfrm>
            <a:off x="2806184" y="1760060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24646" y="1502364"/>
            <a:ext cx="8565083" cy="314624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24</a:t>
            </a:r>
            <a:r>
              <a:rPr lang="zh-CN" altLang="en-US" sz="1400" b="1" dirty="0"/>
              <a:t>年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月</a:t>
            </a:r>
            <a:r>
              <a:rPr lang="en-US" altLang="zh-CN" sz="1400" b="1" dirty="0"/>
              <a:t>15</a:t>
            </a:r>
            <a:r>
              <a:rPr lang="zh-CN" altLang="en-US" sz="1400" b="1" dirty="0"/>
              <a:t>日，</a:t>
            </a:r>
            <a:r>
              <a:rPr lang="zh-CN" altLang="en-US" sz="1400" dirty="0"/>
              <a:t>销售找白宏山寻求帮助，希望系统部能够支持一下。</a:t>
            </a:r>
          </a:p>
        </p:txBody>
      </p:sp>
      <p:sp>
        <p:nvSpPr>
          <p:cNvPr id="9" name="矩形 8"/>
          <p:cNvSpPr/>
          <p:nvPr/>
        </p:nvSpPr>
        <p:spPr>
          <a:xfrm>
            <a:off x="4298953" y="1944390"/>
            <a:ext cx="7590778" cy="52322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24</a:t>
            </a:r>
            <a:r>
              <a:rPr lang="zh-CN" altLang="en-US" sz="1400" b="1" dirty="0"/>
              <a:t>年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月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日</a:t>
            </a:r>
            <a:r>
              <a:rPr lang="zh-CN" altLang="en-US" sz="1400" dirty="0"/>
              <a:t>白宏山安排了一个会议，由张辉组织，会上定了下一步行动计划是当周内安排相关人员来调研，但是最后并未调研。</a:t>
            </a:r>
          </a:p>
        </p:txBody>
      </p:sp>
      <p:sp>
        <p:nvSpPr>
          <p:cNvPr id="11" name="椭圆 10"/>
          <p:cNvSpPr/>
          <p:nvPr/>
        </p:nvSpPr>
        <p:spPr>
          <a:xfrm>
            <a:off x="3324646" y="2182998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42337" y="2842069"/>
            <a:ext cx="3913848" cy="95410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24</a:t>
            </a:r>
            <a:r>
              <a:rPr lang="zh-CN" altLang="en-US" sz="1400" b="1" dirty="0"/>
              <a:t>年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月</a:t>
            </a:r>
            <a:r>
              <a:rPr lang="en-US" altLang="zh-CN" sz="1400" b="1" dirty="0"/>
              <a:t>22</a:t>
            </a:r>
            <a:r>
              <a:rPr lang="zh-CN" altLang="en-US" sz="1400" b="1" dirty="0"/>
              <a:t>日</a:t>
            </a:r>
            <a:r>
              <a:rPr lang="zh-CN" altLang="en-US" sz="1400" dirty="0"/>
              <a:t>，销售给白宏山和何鑫腾发了邮件申请支持。系统部希望反馈需求情况，一线提供以后，提出希望召开大项目分析会，通过三产公司联合开发战略合作</a:t>
            </a:r>
            <a:r>
              <a:rPr lang="zh-CN" altLang="en-US" sz="1400" dirty="0">
                <a:solidFill>
                  <a:srgbClr val="D83931"/>
                </a:solidFill>
              </a:rPr>
              <a:t>。没有人回复邮件。</a:t>
            </a:r>
            <a:endParaRPr lang="zh-CN" altLang="en-US" sz="1400" dirty="0"/>
          </a:p>
        </p:txBody>
      </p:sp>
      <p:sp>
        <p:nvSpPr>
          <p:cNvPr id="13" name="椭圆 12"/>
          <p:cNvSpPr/>
          <p:nvPr/>
        </p:nvSpPr>
        <p:spPr>
          <a:xfrm>
            <a:off x="3763106" y="2595014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298953" y="3024177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5050801" y="2556637"/>
            <a:ext cx="6838928" cy="738664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1</a:t>
            </a:r>
            <a:r>
              <a:rPr lang="zh-CN" altLang="en-US" sz="1400" b="1" dirty="0"/>
              <a:t>月</a:t>
            </a:r>
            <a:r>
              <a:rPr lang="en-US" altLang="zh-CN" sz="1400" b="1" dirty="0"/>
              <a:t>22</a:t>
            </a:r>
            <a:r>
              <a:rPr lang="zh-CN" altLang="en-US" sz="1400" b="1" dirty="0"/>
              <a:t>日中午</a:t>
            </a:r>
            <a:r>
              <a:rPr lang="zh-CN" altLang="en-US" sz="1400" dirty="0"/>
              <a:t>，何鑫腾找张毅说有个大项目（打电话、邮件），要联合开发要做战略合作 ，张毅回邮件，安排会议，并交代要定哪些人参加。</a:t>
            </a:r>
            <a:r>
              <a:rPr lang="zh-CN" altLang="en-US" sz="1400" dirty="0">
                <a:solidFill>
                  <a:srgbClr val="D83931"/>
                </a:solidFill>
              </a:rPr>
              <a:t>随即张毅就拉了飞书群，群内有海滨、建勋白宏山、兴斌等人。</a:t>
            </a:r>
            <a:endParaRPr lang="zh-CN" altLang="en-US" sz="1400" dirty="0"/>
          </a:p>
        </p:txBody>
      </p:sp>
      <p:sp>
        <p:nvSpPr>
          <p:cNvPr id="49" name="椭圆 48"/>
          <p:cNvSpPr/>
          <p:nvPr/>
        </p:nvSpPr>
        <p:spPr>
          <a:xfrm>
            <a:off x="5050801" y="3429272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142338" y="3992317"/>
            <a:ext cx="1850585" cy="181588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1</a:t>
            </a:r>
            <a:r>
              <a:rPr lang="zh-CN" altLang="en-US" sz="1400" b="1" dirty="0"/>
              <a:t>月</a:t>
            </a:r>
            <a:r>
              <a:rPr lang="en-US" altLang="zh-CN" sz="1400" b="1" dirty="0"/>
              <a:t>23</a:t>
            </a:r>
            <a:r>
              <a:rPr lang="zh-CN" altLang="en-US" sz="1400" b="1" dirty="0"/>
              <a:t>日</a:t>
            </a:r>
            <a:r>
              <a:rPr lang="zh-CN" altLang="en-US" sz="1400" dirty="0"/>
              <a:t>吴勉就组织了会议，系统部白宏山、海滨、肖建勋； 产品部兴彬等参会，</a:t>
            </a:r>
            <a:r>
              <a:rPr lang="zh-CN" altLang="en-US" sz="1400" dirty="0">
                <a:solidFill>
                  <a:srgbClr val="D83931"/>
                </a:solidFill>
              </a:rPr>
              <a:t>会议的结论：需要明确该客户哪些生意我们可以做，然后要把客户需求边界弄清楚。</a:t>
            </a:r>
            <a:endParaRPr lang="zh-CN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2851582" y="4131971"/>
            <a:ext cx="2705967" cy="2677656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2</a:t>
            </a:r>
            <a:r>
              <a:rPr lang="zh-CN" altLang="en-US" sz="1400" b="1" dirty="0"/>
              <a:t>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日</a:t>
            </a:r>
            <a:r>
              <a:rPr lang="zh-CN" altLang="en-US" sz="1400" dirty="0"/>
              <a:t>晚上召开第二次会议，鑫腾组织，拉了更多人进群，并提前和张毅沟通，明确了会议目的和议程，当时定了几个具体动作。</a:t>
            </a:r>
          </a:p>
          <a:p>
            <a:r>
              <a:rPr lang="en-US" altLang="zh-CN" sz="1400" dirty="0"/>
              <a:t>1</a:t>
            </a:r>
            <a:r>
              <a:rPr lang="zh-CN" altLang="en-US" sz="1400" dirty="0"/>
              <a:t>、满足客户需求，需要和客户的身份平台接口，需要产品部和行业部整理对接清楚。</a:t>
            </a:r>
          </a:p>
          <a:p>
            <a:r>
              <a:rPr lang="en-US" altLang="zh-CN" sz="1400" dirty="0"/>
              <a:t>2</a:t>
            </a:r>
            <a:r>
              <a:rPr lang="zh-CN" altLang="en-US" sz="1400" dirty="0"/>
              <a:t>、招标之前要把控标参数提前埋入，要准备对我司有利的控标参数</a:t>
            </a:r>
          </a:p>
          <a:p>
            <a:r>
              <a:rPr lang="en-US" altLang="zh-CN" sz="1400" dirty="0"/>
              <a:t>3</a:t>
            </a:r>
            <a:r>
              <a:rPr lang="zh-CN" altLang="en-US" sz="1400" dirty="0"/>
              <a:t>、拟定战略合作协议，推动协议签订</a:t>
            </a:r>
          </a:p>
        </p:txBody>
      </p:sp>
      <p:sp>
        <p:nvSpPr>
          <p:cNvPr id="57" name="椭圆 56"/>
          <p:cNvSpPr/>
          <p:nvPr/>
        </p:nvSpPr>
        <p:spPr>
          <a:xfrm>
            <a:off x="6445898" y="3621685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8673229" y="3384328"/>
            <a:ext cx="3216500" cy="738664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2024</a:t>
            </a:r>
            <a:r>
              <a:rPr lang="zh-CN" altLang="en-US" sz="1400" b="1" dirty="0"/>
              <a:t>年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月初</a:t>
            </a:r>
            <a:r>
              <a:rPr lang="zh-CN" altLang="en-US" sz="1400" dirty="0"/>
              <a:t>销售罗红英希望协调人能够和客户高层交流；</a:t>
            </a:r>
            <a:r>
              <a:rPr lang="en-US" altLang="zh-CN" sz="1400" dirty="0"/>
              <a:t>3</a:t>
            </a:r>
            <a:r>
              <a:rPr lang="zh-CN" altLang="en-US" sz="1400" dirty="0"/>
              <a:t>月</a:t>
            </a:r>
            <a:r>
              <a:rPr lang="en-US" altLang="zh-CN" sz="1400" dirty="0"/>
              <a:t>14</a:t>
            </a:r>
            <a:r>
              <a:rPr lang="zh-CN" altLang="en-US" sz="1400" dirty="0"/>
              <a:t>日区域经理邀请张毅进行高层拜访。</a:t>
            </a:r>
          </a:p>
        </p:txBody>
      </p:sp>
      <p:sp>
        <p:nvSpPr>
          <p:cNvPr id="64" name="椭圆 63"/>
          <p:cNvSpPr/>
          <p:nvPr/>
        </p:nvSpPr>
        <p:spPr>
          <a:xfrm>
            <a:off x="7644037" y="3803831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8604063" y="4402833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6051478" y="4626166"/>
            <a:ext cx="2058656" cy="203132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2024</a:t>
            </a:r>
            <a:r>
              <a:rPr lang="zh-CN" altLang="en-US" sz="1400" b="1" dirty="0"/>
              <a:t>年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月</a:t>
            </a:r>
            <a:r>
              <a:rPr lang="en-US" altLang="zh-CN" sz="1400" b="1" dirty="0"/>
              <a:t>23</a:t>
            </a:r>
            <a:r>
              <a:rPr lang="zh-CN" altLang="en-US" sz="1400" b="1" dirty="0"/>
              <a:t>日，</a:t>
            </a:r>
            <a:r>
              <a:rPr lang="zh-CN" altLang="en-US" sz="1400" dirty="0"/>
              <a:t>邀请了姚总（轨道集团总经理）和汪总去福州总部去参观，借助数字中国的会，把客户邀请到公司，育辉接待，带着客户从头到尾参观了产线。客户对我们的研发和生产能力比较认可</a:t>
            </a:r>
          </a:p>
        </p:txBody>
      </p:sp>
      <p:sp>
        <p:nvSpPr>
          <p:cNvPr id="77" name="矩形 76"/>
          <p:cNvSpPr/>
          <p:nvPr/>
        </p:nvSpPr>
        <p:spPr>
          <a:xfrm>
            <a:off x="9575564" y="4305961"/>
            <a:ext cx="2478525" cy="95410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b="1" dirty="0"/>
              <a:t>2024</a:t>
            </a:r>
            <a:r>
              <a:rPr lang="zh-CN" altLang="en-US" sz="1400" b="1" dirty="0"/>
              <a:t>年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月：</a:t>
            </a:r>
            <a:r>
              <a:rPr lang="zh-CN" altLang="en-US" sz="1400" dirty="0"/>
              <a:t>经总部参观，客户对我司逐渐认可，福州回来以后，和永宁供应链签订了代理部分的战略协议</a:t>
            </a:r>
            <a:endParaRPr lang="zh-CN" altLang="en-US" sz="1400" dirty="0">
              <a:effectLst/>
            </a:endParaRPr>
          </a:p>
        </p:txBody>
      </p:sp>
      <p:sp>
        <p:nvSpPr>
          <p:cNvPr id="84" name="任意多边形 83"/>
          <p:cNvSpPr/>
          <p:nvPr/>
        </p:nvSpPr>
        <p:spPr>
          <a:xfrm>
            <a:off x="2016369" y="3546427"/>
            <a:ext cx="3034429" cy="1236588"/>
          </a:xfrm>
          <a:custGeom>
            <a:avLst/>
            <a:gdLst>
              <a:gd name="connsiteX0" fmla="*/ 3071446 w 3071446"/>
              <a:gd name="connsiteY0" fmla="*/ 0 h 1301261"/>
              <a:gd name="connsiteX1" fmla="*/ 2121877 w 3071446"/>
              <a:gd name="connsiteY1" fmla="*/ 480646 h 1301261"/>
              <a:gd name="connsiteX2" fmla="*/ 351693 w 3071446"/>
              <a:gd name="connsiteY2" fmla="*/ 562708 h 1301261"/>
              <a:gd name="connsiteX3" fmla="*/ 0 w 3071446"/>
              <a:gd name="connsiteY3" fmla="*/ 1301261 h 1301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1446" h="1301261">
                <a:moveTo>
                  <a:pt x="3071446" y="0"/>
                </a:moveTo>
                <a:cubicBezTo>
                  <a:pt x="2823307" y="193430"/>
                  <a:pt x="2575169" y="386861"/>
                  <a:pt x="2121877" y="480646"/>
                </a:cubicBezTo>
                <a:cubicBezTo>
                  <a:pt x="1668585" y="574431"/>
                  <a:pt x="705339" y="425939"/>
                  <a:pt x="351693" y="562708"/>
                </a:cubicBezTo>
                <a:cubicBezTo>
                  <a:pt x="-1953" y="699477"/>
                  <a:pt x="23446" y="1143000"/>
                  <a:pt x="0" y="1301261"/>
                </a:cubicBezTo>
              </a:path>
            </a:pathLst>
          </a:custGeom>
          <a:noFill/>
          <a:ln w="25400">
            <a:solidFill>
              <a:schemeClr val="tx1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 84"/>
          <p:cNvSpPr/>
          <p:nvPr/>
        </p:nvSpPr>
        <p:spPr>
          <a:xfrm>
            <a:off x="2293015" y="2291434"/>
            <a:ext cx="1106437" cy="586475"/>
          </a:xfrm>
          <a:custGeom>
            <a:avLst/>
            <a:gdLst>
              <a:gd name="connsiteX0" fmla="*/ 3071446 w 3071446"/>
              <a:gd name="connsiteY0" fmla="*/ 0 h 1301261"/>
              <a:gd name="connsiteX1" fmla="*/ 2121877 w 3071446"/>
              <a:gd name="connsiteY1" fmla="*/ 480646 h 1301261"/>
              <a:gd name="connsiteX2" fmla="*/ 351693 w 3071446"/>
              <a:gd name="connsiteY2" fmla="*/ 562708 h 1301261"/>
              <a:gd name="connsiteX3" fmla="*/ 0 w 3071446"/>
              <a:gd name="connsiteY3" fmla="*/ 1301261 h 1301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1446" h="1301261">
                <a:moveTo>
                  <a:pt x="3071446" y="0"/>
                </a:moveTo>
                <a:cubicBezTo>
                  <a:pt x="2823307" y="193430"/>
                  <a:pt x="2575169" y="386861"/>
                  <a:pt x="2121877" y="480646"/>
                </a:cubicBezTo>
                <a:cubicBezTo>
                  <a:pt x="1668585" y="574431"/>
                  <a:pt x="705339" y="425939"/>
                  <a:pt x="351693" y="562708"/>
                </a:cubicBezTo>
                <a:cubicBezTo>
                  <a:pt x="-1953" y="699477"/>
                  <a:pt x="23446" y="1143000"/>
                  <a:pt x="0" y="1301261"/>
                </a:cubicBezTo>
              </a:path>
            </a:pathLst>
          </a:custGeom>
          <a:noFill/>
          <a:ln w="25400">
            <a:solidFill>
              <a:schemeClr val="tx1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 87"/>
          <p:cNvSpPr/>
          <p:nvPr/>
        </p:nvSpPr>
        <p:spPr>
          <a:xfrm>
            <a:off x="4549146" y="3705080"/>
            <a:ext cx="1914684" cy="417912"/>
          </a:xfrm>
          <a:custGeom>
            <a:avLst/>
            <a:gdLst>
              <a:gd name="connsiteX0" fmla="*/ 2004647 w 2004647"/>
              <a:gd name="connsiteY0" fmla="*/ 0 h 398585"/>
              <a:gd name="connsiteX1" fmla="*/ 668216 w 2004647"/>
              <a:gd name="connsiteY1" fmla="*/ 152400 h 398585"/>
              <a:gd name="connsiteX2" fmla="*/ 0 w 2004647"/>
              <a:gd name="connsiteY2" fmla="*/ 398585 h 39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4647" h="398585">
                <a:moveTo>
                  <a:pt x="2004647" y="0"/>
                </a:moveTo>
                <a:cubicBezTo>
                  <a:pt x="1503485" y="42984"/>
                  <a:pt x="1002324" y="85969"/>
                  <a:pt x="668216" y="152400"/>
                </a:cubicBezTo>
                <a:cubicBezTo>
                  <a:pt x="334108" y="218831"/>
                  <a:pt x="64477" y="330200"/>
                  <a:pt x="0" y="398585"/>
                </a:cubicBezTo>
              </a:path>
            </a:pathLst>
          </a:custGeom>
          <a:noFill/>
          <a:ln w="25400">
            <a:solidFill>
              <a:schemeClr val="tx1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任意多边形 88"/>
          <p:cNvSpPr/>
          <p:nvPr/>
        </p:nvSpPr>
        <p:spPr>
          <a:xfrm>
            <a:off x="4427537" y="2842068"/>
            <a:ext cx="623261" cy="223327"/>
          </a:xfrm>
          <a:custGeom>
            <a:avLst/>
            <a:gdLst>
              <a:gd name="connsiteX0" fmla="*/ 2004647 w 2004647"/>
              <a:gd name="connsiteY0" fmla="*/ 0 h 398585"/>
              <a:gd name="connsiteX1" fmla="*/ 668216 w 2004647"/>
              <a:gd name="connsiteY1" fmla="*/ 152400 h 398585"/>
              <a:gd name="connsiteX2" fmla="*/ 0 w 2004647"/>
              <a:gd name="connsiteY2" fmla="*/ 398585 h 39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4647" h="398585">
                <a:moveTo>
                  <a:pt x="2004647" y="0"/>
                </a:moveTo>
                <a:cubicBezTo>
                  <a:pt x="1503485" y="42984"/>
                  <a:pt x="1002324" y="85969"/>
                  <a:pt x="668216" y="152400"/>
                </a:cubicBezTo>
                <a:cubicBezTo>
                  <a:pt x="334108" y="218831"/>
                  <a:pt x="64477" y="330200"/>
                  <a:pt x="0" y="398585"/>
                </a:cubicBezTo>
              </a:path>
            </a:pathLst>
          </a:custGeom>
          <a:noFill/>
          <a:ln w="25400"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任意多边形 90"/>
          <p:cNvSpPr/>
          <p:nvPr/>
        </p:nvSpPr>
        <p:spPr>
          <a:xfrm>
            <a:off x="2950184" y="1620051"/>
            <a:ext cx="374459" cy="175285"/>
          </a:xfrm>
          <a:custGeom>
            <a:avLst/>
            <a:gdLst>
              <a:gd name="connsiteX0" fmla="*/ 2004647 w 2004647"/>
              <a:gd name="connsiteY0" fmla="*/ 0 h 398585"/>
              <a:gd name="connsiteX1" fmla="*/ 668216 w 2004647"/>
              <a:gd name="connsiteY1" fmla="*/ 152400 h 398585"/>
              <a:gd name="connsiteX2" fmla="*/ 0 w 2004647"/>
              <a:gd name="connsiteY2" fmla="*/ 398585 h 39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4647" h="398585">
                <a:moveTo>
                  <a:pt x="2004647" y="0"/>
                </a:moveTo>
                <a:cubicBezTo>
                  <a:pt x="1503485" y="42984"/>
                  <a:pt x="1002324" y="85969"/>
                  <a:pt x="668216" y="152400"/>
                </a:cubicBezTo>
                <a:cubicBezTo>
                  <a:pt x="334108" y="218831"/>
                  <a:pt x="64477" y="330200"/>
                  <a:pt x="0" y="398585"/>
                </a:cubicBezTo>
              </a:path>
            </a:pathLst>
          </a:custGeom>
          <a:noFill/>
          <a:ln w="25400"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任意多边形 91"/>
          <p:cNvSpPr/>
          <p:nvPr/>
        </p:nvSpPr>
        <p:spPr>
          <a:xfrm>
            <a:off x="2284264" y="1077194"/>
            <a:ext cx="763222" cy="409420"/>
          </a:xfrm>
          <a:custGeom>
            <a:avLst/>
            <a:gdLst>
              <a:gd name="connsiteX0" fmla="*/ 2004647 w 2004647"/>
              <a:gd name="connsiteY0" fmla="*/ 0 h 398585"/>
              <a:gd name="connsiteX1" fmla="*/ 668216 w 2004647"/>
              <a:gd name="connsiteY1" fmla="*/ 152400 h 398585"/>
              <a:gd name="connsiteX2" fmla="*/ 0 w 2004647"/>
              <a:gd name="connsiteY2" fmla="*/ 398585 h 39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4647" h="398585">
                <a:moveTo>
                  <a:pt x="2004647" y="0"/>
                </a:moveTo>
                <a:cubicBezTo>
                  <a:pt x="1503485" y="42984"/>
                  <a:pt x="1002324" y="85969"/>
                  <a:pt x="668216" y="152400"/>
                </a:cubicBezTo>
                <a:cubicBezTo>
                  <a:pt x="334108" y="218831"/>
                  <a:pt x="64477" y="330200"/>
                  <a:pt x="0" y="398585"/>
                </a:cubicBezTo>
              </a:path>
            </a:pathLst>
          </a:custGeom>
          <a:noFill/>
          <a:ln w="25400"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任意多边形 92"/>
          <p:cNvSpPr/>
          <p:nvPr/>
        </p:nvSpPr>
        <p:spPr>
          <a:xfrm flipH="1">
            <a:off x="573405" y="1253868"/>
            <a:ext cx="575456" cy="184858"/>
          </a:xfrm>
          <a:custGeom>
            <a:avLst/>
            <a:gdLst>
              <a:gd name="connsiteX0" fmla="*/ 2004647 w 2004647"/>
              <a:gd name="connsiteY0" fmla="*/ 0 h 398585"/>
              <a:gd name="connsiteX1" fmla="*/ 668216 w 2004647"/>
              <a:gd name="connsiteY1" fmla="*/ 152400 h 398585"/>
              <a:gd name="connsiteX2" fmla="*/ 0 w 2004647"/>
              <a:gd name="connsiteY2" fmla="*/ 398585 h 39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4647" h="398585">
                <a:moveTo>
                  <a:pt x="2004647" y="0"/>
                </a:moveTo>
                <a:cubicBezTo>
                  <a:pt x="1503485" y="42984"/>
                  <a:pt x="1002324" y="85969"/>
                  <a:pt x="668216" y="152400"/>
                </a:cubicBezTo>
                <a:cubicBezTo>
                  <a:pt x="334108" y="218831"/>
                  <a:pt x="64477" y="330200"/>
                  <a:pt x="0" y="398585"/>
                </a:cubicBezTo>
              </a:path>
            </a:pathLst>
          </a:custGeom>
          <a:noFill/>
          <a:ln w="25400">
            <a:solidFill>
              <a:schemeClr val="tx1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任意多边形 93"/>
          <p:cNvSpPr/>
          <p:nvPr/>
        </p:nvSpPr>
        <p:spPr>
          <a:xfrm>
            <a:off x="7770105" y="3621686"/>
            <a:ext cx="866411" cy="182145"/>
          </a:xfrm>
          <a:custGeom>
            <a:avLst/>
            <a:gdLst>
              <a:gd name="connsiteX0" fmla="*/ 2004647 w 2004647"/>
              <a:gd name="connsiteY0" fmla="*/ 0 h 398585"/>
              <a:gd name="connsiteX1" fmla="*/ 668216 w 2004647"/>
              <a:gd name="connsiteY1" fmla="*/ 152400 h 398585"/>
              <a:gd name="connsiteX2" fmla="*/ 0 w 2004647"/>
              <a:gd name="connsiteY2" fmla="*/ 398585 h 39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4647" h="398585">
                <a:moveTo>
                  <a:pt x="2004647" y="0"/>
                </a:moveTo>
                <a:cubicBezTo>
                  <a:pt x="1503485" y="42984"/>
                  <a:pt x="1002324" y="85969"/>
                  <a:pt x="668216" y="152400"/>
                </a:cubicBezTo>
                <a:cubicBezTo>
                  <a:pt x="334108" y="218831"/>
                  <a:pt x="64477" y="330200"/>
                  <a:pt x="0" y="398585"/>
                </a:cubicBezTo>
              </a:path>
            </a:pathLst>
          </a:custGeom>
          <a:noFill/>
          <a:ln w="25400"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/>
        </p:nvSpPr>
        <p:spPr>
          <a:xfrm>
            <a:off x="9017814" y="4900258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任意多边形 97"/>
          <p:cNvSpPr/>
          <p:nvPr/>
        </p:nvSpPr>
        <p:spPr>
          <a:xfrm>
            <a:off x="9105830" y="4546833"/>
            <a:ext cx="469733" cy="353425"/>
          </a:xfrm>
          <a:custGeom>
            <a:avLst/>
            <a:gdLst>
              <a:gd name="connsiteX0" fmla="*/ 2004647 w 2004647"/>
              <a:gd name="connsiteY0" fmla="*/ 0 h 398585"/>
              <a:gd name="connsiteX1" fmla="*/ 668216 w 2004647"/>
              <a:gd name="connsiteY1" fmla="*/ 152400 h 398585"/>
              <a:gd name="connsiteX2" fmla="*/ 0 w 2004647"/>
              <a:gd name="connsiteY2" fmla="*/ 398585 h 39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4647" h="398585">
                <a:moveTo>
                  <a:pt x="2004647" y="0"/>
                </a:moveTo>
                <a:cubicBezTo>
                  <a:pt x="1503485" y="42984"/>
                  <a:pt x="1002324" y="85969"/>
                  <a:pt x="668216" y="152400"/>
                </a:cubicBezTo>
                <a:cubicBezTo>
                  <a:pt x="334108" y="218831"/>
                  <a:pt x="64477" y="330200"/>
                  <a:pt x="0" y="398585"/>
                </a:cubicBezTo>
              </a:path>
            </a:pathLst>
          </a:custGeom>
          <a:noFill/>
          <a:ln w="25400"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/>
          <p:cNvSpPr/>
          <p:nvPr/>
        </p:nvSpPr>
        <p:spPr>
          <a:xfrm>
            <a:off x="10209479" y="5712274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8606596" y="6051410"/>
            <a:ext cx="2509549" cy="73866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最新进展：</a:t>
            </a:r>
            <a:r>
              <a:rPr lang="zh-CN" altLang="en-US" sz="1400" dirty="0"/>
              <a:t>轨道开发了身份中台给我们，我们中标，目前桌面云优先与锐捷合作。</a:t>
            </a:r>
          </a:p>
        </p:txBody>
      </p:sp>
      <p:sp>
        <p:nvSpPr>
          <p:cNvPr id="101" name="任意多边形 100"/>
          <p:cNvSpPr/>
          <p:nvPr/>
        </p:nvSpPr>
        <p:spPr>
          <a:xfrm>
            <a:off x="9575563" y="5784274"/>
            <a:ext cx="633916" cy="267136"/>
          </a:xfrm>
          <a:custGeom>
            <a:avLst/>
            <a:gdLst>
              <a:gd name="connsiteX0" fmla="*/ 2004647 w 2004647"/>
              <a:gd name="connsiteY0" fmla="*/ 0 h 398585"/>
              <a:gd name="connsiteX1" fmla="*/ 668216 w 2004647"/>
              <a:gd name="connsiteY1" fmla="*/ 152400 h 398585"/>
              <a:gd name="connsiteX2" fmla="*/ 0 w 2004647"/>
              <a:gd name="connsiteY2" fmla="*/ 398585 h 39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4647" h="398585">
                <a:moveTo>
                  <a:pt x="2004647" y="0"/>
                </a:moveTo>
                <a:cubicBezTo>
                  <a:pt x="1503485" y="42984"/>
                  <a:pt x="1002324" y="85969"/>
                  <a:pt x="668216" y="152400"/>
                </a:cubicBezTo>
                <a:cubicBezTo>
                  <a:pt x="334108" y="218831"/>
                  <a:pt x="64477" y="330200"/>
                  <a:pt x="0" y="398585"/>
                </a:cubicBezTo>
              </a:path>
            </a:pathLst>
          </a:custGeom>
          <a:noFill/>
          <a:ln w="25400">
            <a:solidFill>
              <a:schemeClr val="tx1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多边形 101"/>
          <p:cNvSpPr/>
          <p:nvPr/>
        </p:nvSpPr>
        <p:spPr>
          <a:xfrm>
            <a:off x="6963508" y="4194378"/>
            <a:ext cx="1676400" cy="412791"/>
          </a:xfrm>
          <a:custGeom>
            <a:avLst/>
            <a:gdLst>
              <a:gd name="connsiteX0" fmla="*/ 1676400 w 1676400"/>
              <a:gd name="connsiteY0" fmla="*/ 272114 h 412791"/>
              <a:gd name="connsiteX1" fmla="*/ 504092 w 1676400"/>
              <a:gd name="connsiteY1" fmla="*/ 2484 h 412791"/>
              <a:gd name="connsiteX2" fmla="*/ 0 w 1676400"/>
              <a:gd name="connsiteY2" fmla="*/ 412791 h 412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6400" h="412791">
                <a:moveTo>
                  <a:pt x="1676400" y="272114"/>
                </a:moveTo>
                <a:cubicBezTo>
                  <a:pt x="1229946" y="125576"/>
                  <a:pt x="783492" y="-20962"/>
                  <a:pt x="504092" y="2484"/>
                </a:cubicBezTo>
                <a:cubicBezTo>
                  <a:pt x="224692" y="25930"/>
                  <a:pt x="39077" y="242807"/>
                  <a:pt x="0" y="412791"/>
                </a:cubicBezTo>
              </a:path>
            </a:pathLst>
          </a:custGeom>
          <a:noFill/>
          <a:ln w="25400">
            <a:solidFill>
              <a:schemeClr val="tx1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任意多边形 103"/>
          <p:cNvSpPr/>
          <p:nvPr/>
        </p:nvSpPr>
        <p:spPr>
          <a:xfrm>
            <a:off x="3856892" y="2150485"/>
            <a:ext cx="422031" cy="452038"/>
          </a:xfrm>
          <a:custGeom>
            <a:avLst/>
            <a:gdLst>
              <a:gd name="connsiteX0" fmla="*/ 0 w 422031"/>
              <a:gd name="connsiteY0" fmla="*/ 452038 h 452038"/>
              <a:gd name="connsiteX1" fmla="*/ 187570 w 422031"/>
              <a:gd name="connsiteY1" fmla="*/ 76900 h 452038"/>
              <a:gd name="connsiteX2" fmla="*/ 422031 w 422031"/>
              <a:gd name="connsiteY2" fmla="*/ 18284 h 452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2031" h="452038">
                <a:moveTo>
                  <a:pt x="0" y="452038"/>
                </a:moveTo>
                <a:cubicBezTo>
                  <a:pt x="58615" y="300615"/>
                  <a:pt x="117231" y="149192"/>
                  <a:pt x="187570" y="76900"/>
                </a:cubicBezTo>
                <a:cubicBezTo>
                  <a:pt x="257909" y="4608"/>
                  <a:pt x="353647" y="-20793"/>
                  <a:pt x="422031" y="18284"/>
                </a:cubicBezTo>
              </a:path>
            </a:pathLst>
          </a:custGeom>
          <a:noFill/>
          <a:ln w="25400">
            <a:solidFill>
              <a:schemeClr val="tx1"/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47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等腰三角形 49"/>
          <p:cNvSpPr/>
          <p:nvPr/>
        </p:nvSpPr>
        <p:spPr>
          <a:xfrm rot="16200000" flipH="1">
            <a:off x="1904622" y="2629732"/>
            <a:ext cx="4638217" cy="2446255"/>
          </a:xfrm>
          <a:prstGeom prst="triangle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lt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5512834" y="1670323"/>
            <a:ext cx="6632842" cy="4433156"/>
            <a:chOff x="856180" y="1767682"/>
            <a:chExt cx="4782619" cy="1859609"/>
          </a:xfrm>
        </p:grpSpPr>
        <p:sp>
          <p:nvSpPr>
            <p:cNvPr id="53" name="矩形: 圆角 50"/>
            <p:cNvSpPr/>
            <p:nvPr/>
          </p:nvSpPr>
          <p:spPr>
            <a:xfrm>
              <a:off x="856180" y="1767683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55" name="矩形: 圆角 52"/>
            <p:cNvSpPr/>
            <p:nvPr/>
          </p:nvSpPr>
          <p:spPr>
            <a:xfrm>
              <a:off x="882462" y="1767682"/>
              <a:ext cx="4756337" cy="1859609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提议：</a:t>
            </a:r>
            <a:endParaRPr lang="zh-CN" altLang="en-US" dirty="0"/>
          </a:p>
        </p:txBody>
      </p:sp>
      <p:sp>
        <p:nvSpPr>
          <p:cNvPr id="4" name="文本占位符 9"/>
          <p:cNvSpPr txBox="1">
            <a:spLocks/>
          </p:cNvSpPr>
          <p:nvPr/>
        </p:nvSpPr>
        <p:spPr>
          <a:xfrm>
            <a:off x="2048733" y="835093"/>
            <a:ext cx="9601201" cy="49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由相关负责人牵头成立重客专项组形成常态化跟进重客业务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36530" y="1812753"/>
            <a:ext cx="4220849" cy="4010860"/>
            <a:chOff x="471907" y="1325581"/>
            <a:chExt cx="4744150" cy="4508126"/>
          </a:xfrm>
        </p:grpSpPr>
        <p:sp>
          <p:nvSpPr>
            <p:cNvPr id="20" name="弧形 19"/>
            <p:cNvSpPr/>
            <p:nvPr/>
          </p:nvSpPr>
          <p:spPr>
            <a:xfrm>
              <a:off x="546100" y="1325581"/>
              <a:ext cx="4508126" cy="4508126"/>
            </a:xfrm>
            <a:prstGeom prst="arc">
              <a:avLst>
                <a:gd name="adj1" fmla="val 16200000"/>
                <a:gd name="adj2" fmla="val 2541715"/>
              </a:avLst>
            </a:prstGeom>
            <a:noFill/>
            <a:ln w="381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head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sp>
          <p:nvSpPr>
            <p:cNvPr id="21" name="弧形 20"/>
            <p:cNvSpPr/>
            <p:nvPr/>
          </p:nvSpPr>
          <p:spPr>
            <a:xfrm flipH="1">
              <a:off x="546100" y="1325581"/>
              <a:ext cx="4508126" cy="4508126"/>
            </a:xfrm>
            <a:prstGeom prst="arc">
              <a:avLst>
                <a:gd name="adj1" fmla="val 16200000"/>
                <a:gd name="adj2" fmla="val 7087541"/>
              </a:avLst>
            </a:prstGeom>
            <a:noFill/>
            <a:ln w="38100"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16200000" scaled="1"/>
                <a:tileRect/>
              </a:gra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375569" y="2155050"/>
              <a:ext cx="2849188" cy="2849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471907" y="2339572"/>
              <a:ext cx="4744150" cy="2835784"/>
              <a:chOff x="158218" y="2170310"/>
              <a:chExt cx="5380271" cy="3216022"/>
            </a:xfrm>
          </p:grpSpPr>
          <p:sp>
            <p:nvSpPr>
              <p:cNvPr id="24" name="任意多边形: 形状 43"/>
              <p:cNvSpPr/>
              <p:nvPr/>
            </p:nvSpPr>
            <p:spPr bwMode="auto">
              <a:xfrm rot="2889919">
                <a:off x="1180764" y="1147764"/>
                <a:ext cx="2045090" cy="4090181"/>
              </a:xfrm>
              <a:custGeom>
                <a:avLst/>
                <a:gdLst>
                  <a:gd name="connsiteX0" fmla="*/ 1254992 w 4831054"/>
                  <a:gd name="connsiteY0" fmla="*/ 1582730 h 9662107"/>
                  <a:gd name="connsiteX1" fmla="*/ 4831053 w 4831054"/>
                  <a:gd name="connsiteY1" fmla="*/ 0 h 9662107"/>
                  <a:gd name="connsiteX2" fmla="*/ 4831054 w 4831054"/>
                  <a:gd name="connsiteY2" fmla="*/ 1468765 h 9662107"/>
                  <a:gd name="connsiteX3" fmla="*/ 4645907 w 4831054"/>
                  <a:gd name="connsiteY3" fmla="*/ 1470160 h 9662107"/>
                  <a:gd name="connsiteX4" fmla="*/ 2324355 w 4831054"/>
                  <a:gd name="connsiteY4" fmla="*/ 2585718 h 9662107"/>
                  <a:gd name="connsiteX5" fmla="*/ 2587145 w 4831054"/>
                  <a:gd name="connsiteY5" fmla="*/ 7337673 h 9662107"/>
                  <a:gd name="connsiteX6" fmla="*/ 4694620 w 4831054"/>
                  <a:gd name="connsiteY6" fmla="*/ 8192874 h 9662107"/>
                  <a:gd name="connsiteX7" fmla="*/ 4831054 w 4831054"/>
                  <a:gd name="connsiteY7" fmla="*/ 8191846 h 9662107"/>
                  <a:gd name="connsiteX8" fmla="*/ 4831054 w 4831054"/>
                  <a:gd name="connsiteY8" fmla="*/ 9662107 h 9662107"/>
                  <a:gd name="connsiteX9" fmla="*/ 0 w 4831054"/>
                  <a:gd name="connsiteY9" fmla="*/ 4831053 h 9662107"/>
                  <a:gd name="connsiteX10" fmla="*/ 1254992 w 4831054"/>
                  <a:gd name="connsiteY10" fmla="*/ 1582730 h 9662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1054" h="9662107">
                    <a:moveTo>
                      <a:pt x="1254992" y="1582730"/>
                    </a:moveTo>
                    <a:cubicBezTo>
                      <a:pt x="2138715" y="610415"/>
                      <a:pt x="3413573" y="0"/>
                      <a:pt x="4831053" y="0"/>
                    </a:cubicBezTo>
                    <a:lnTo>
                      <a:pt x="4831054" y="1468765"/>
                    </a:lnTo>
                    <a:lnTo>
                      <a:pt x="4645907" y="1470160"/>
                    </a:lnTo>
                    <a:cubicBezTo>
                      <a:pt x="3785972" y="1517715"/>
                      <a:pt x="2944179" y="1893325"/>
                      <a:pt x="2324355" y="2585718"/>
                    </a:cubicBezTo>
                    <a:cubicBezTo>
                      <a:pt x="1084706" y="3970502"/>
                      <a:pt x="1202361" y="6098024"/>
                      <a:pt x="2587145" y="7337673"/>
                    </a:cubicBezTo>
                    <a:cubicBezTo>
                      <a:pt x="3192988" y="7880019"/>
                      <a:pt x="3940996" y="8162569"/>
                      <a:pt x="4694620" y="8192874"/>
                    </a:cubicBezTo>
                    <a:lnTo>
                      <a:pt x="4831054" y="8191846"/>
                    </a:lnTo>
                    <a:lnTo>
                      <a:pt x="4831054" y="9662107"/>
                    </a:lnTo>
                    <a:cubicBezTo>
                      <a:pt x="2162856" y="9662107"/>
                      <a:pt x="0" y="7499250"/>
                      <a:pt x="0" y="4831053"/>
                    </a:cubicBezTo>
                    <a:cubicBezTo>
                      <a:pt x="0" y="3580336"/>
                      <a:pt x="475237" y="2440655"/>
                      <a:pt x="1254992" y="158273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73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900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5" name="任意多边形: 形状 42"/>
              <p:cNvSpPr/>
              <p:nvPr/>
            </p:nvSpPr>
            <p:spPr bwMode="auto">
              <a:xfrm rot="2889919">
                <a:off x="2470852" y="2318696"/>
                <a:ext cx="2045091" cy="4090182"/>
              </a:xfrm>
              <a:custGeom>
                <a:avLst/>
                <a:gdLst>
                  <a:gd name="connsiteX0" fmla="*/ 1 w 4831054"/>
                  <a:gd name="connsiteY0" fmla="*/ 0 h 9662109"/>
                  <a:gd name="connsiteX1" fmla="*/ 4831054 w 4831054"/>
                  <a:gd name="connsiteY1" fmla="*/ 4831423 h 9662109"/>
                  <a:gd name="connsiteX2" fmla="*/ 0 w 4831054"/>
                  <a:gd name="connsiteY2" fmla="*/ 9662109 h 9662109"/>
                  <a:gd name="connsiteX3" fmla="*/ 0 w 4831054"/>
                  <a:gd name="connsiteY3" fmla="*/ 8191848 h 9662109"/>
                  <a:gd name="connsiteX4" fmla="*/ 186495 w 4831054"/>
                  <a:gd name="connsiteY4" fmla="*/ 8190443 h 9662109"/>
                  <a:gd name="connsiteX5" fmla="*/ 2508047 w 4831054"/>
                  <a:gd name="connsiteY5" fmla="*/ 7074885 h 9662109"/>
                  <a:gd name="connsiteX6" fmla="*/ 2245257 w 4831054"/>
                  <a:gd name="connsiteY6" fmla="*/ 2322930 h 9662109"/>
                  <a:gd name="connsiteX7" fmla="*/ 137782 w 4831054"/>
                  <a:gd name="connsiteY7" fmla="*/ 1467728 h 9662109"/>
                  <a:gd name="connsiteX8" fmla="*/ 0 w 4831054"/>
                  <a:gd name="connsiteY8" fmla="*/ 1468767 h 9662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31054" h="9662109">
                    <a:moveTo>
                      <a:pt x="1" y="0"/>
                    </a:moveTo>
                    <a:cubicBezTo>
                      <a:pt x="2668400" y="1"/>
                      <a:pt x="4831054" y="2163226"/>
                      <a:pt x="4831054" y="4831423"/>
                    </a:cubicBezTo>
                    <a:cubicBezTo>
                      <a:pt x="4831054" y="7499619"/>
                      <a:pt x="2668400" y="9662109"/>
                      <a:pt x="0" y="9662109"/>
                    </a:cubicBezTo>
                    <a:lnTo>
                      <a:pt x="0" y="8191848"/>
                    </a:lnTo>
                    <a:lnTo>
                      <a:pt x="186495" y="8190443"/>
                    </a:lnTo>
                    <a:cubicBezTo>
                      <a:pt x="1046430" y="8142887"/>
                      <a:pt x="1888222" y="7767277"/>
                      <a:pt x="2508047" y="7074885"/>
                    </a:cubicBezTo>
                    <a:cubicBezTo>
                      <a:pt x="3747696" y="5690101"/>
                      <a:pt x="3630041" y="3562579"/>
                      <a:pt x="2245257" y="2322930"/>
                    </a:cubicBezTo>
                    <a:cubicBezTo>
                      <a:pt x="1639414" y="1780584"/>
                      <a:pt x="891406" y="1498033"/>
                      <a:pt x="137782" y="1467728"/>
                    </a:cubicBezTo>
                    <a:lnTo>
                      <a:pt x="0" y="14687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83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900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6" name="文本框 25"/>
          <p:cNvSpPr txBox="1"/>
          <p:nvPr/>
        </p:nvSpPr>
        <p:spPr>
          <a:xfrm rot="20516712">
            <a:off x="1561332" y="2826885"/>
            <a:ext cx="2160000" cy="135804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Up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战略布局的核心要素</a:t>
            </a:r>
          </a:p>
        </p:txBody>
      </p:sp>
      <p:sp>
        <p:nvSpPr>
          <p:cNvPr id="27" name="文本框 26"/>
          <p:cNvSpPr txBox="1"/>
          <p:nvPr/>
        </p:nvSpPr>
        <p:spPr>
          <a:xfrm rot="20921467">
            <a:off x="1852892" y="3812970"/>
            <a:ext cx="2160000" cy="137085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Down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用户需求驱动的优化方案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120331" y="3565933"/>
            <a:ext cx="12105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+mj-ea"/>
                <a:ea typeface="+mj-ea"/>
                <a:cs typeface="OPPOSans B" panose="00020600040101010101" pitchFamily="18" charset="-122"/>
              </a:rPr>
              <a:t>重客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+mj-ea"/>
              <a:ea typeface="+mj-ea"/>
              <a:cs typeface="OPPOSans B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 flipH="1">
            <a:off x="1739449" y="1670323"/>
            <a:ext cx="925882" cy="55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cap="none" spc="0" normalizeH="0" baseline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/>
              <a:t>客户关系负责人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 flipH="1">
            <a:off x="3470232" y="5284114"/>
            <a:ext cx="13252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cap="none" spc="0" normalizeH="0" baseline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/>
              <a:t>履约交付负责人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 flipH="1">
            <a:off x="219456" y="2767901"/>
            <a:ext cx="1297759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cap="none" spc="0" normalizeH="0" baseline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/>
              <a:t>技术负责人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 flipH="1">
            <a:off x="132060" y="4414819"/>
            <a:ext cx="1297759" cy="55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cap="none" spc="0" normalizeH="0" baseline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/>
              <a:t>客户体验负责人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 flipH="1">
            <a:off x="4192310" y="3338063"/>
            <a:ext cx="1325216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cap="none" spc="0" normalizeH="0" baseline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/>
              <a:t>产研负责人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5733724" y="1509050"/>
            <a:ext cx="6297981" cy="558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1200" b="1" dirty="0" smtClean="0">
                <a:latin typeface="+mn-ea"/>
                <a:cs typeface="OPPOSans R" panose="00020600040101010101" pitchFamily="18" charset="-122"/>
              </a:rPr>
              <a:t>客户关系负责人：</a:t>
            </a:r>
            <a:endParaRPr lang="en-US" altLang="zh-CN" sz="1200" b="1" dirty="0" smtClean="0">
              <a:latin typeface="+mn-ea"/>
              <a:cs typeface="OPPOSans R" panose="00020600040101010101" pitchFamily="18" charset="-122"/>
            </a:endParaRP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1200" dirty="0" smtClean="0"/>
              <a:t>主导</a:t>
            </a:r>
            <a:r>
              <a:rPr lang="zh-CN" altLang="en-US" sz="1200" dirty="0"/>
              <a:t>重客整体关系维护，制定客户分层策略，建立高层定期沟通</a:t>
            </a:r>
            <a:r>
              <a:rPr lang="zh-CN" altLang="en-US" sz="1200" dirty="0" smtClean="0"/>
              <a:t>机制</a:t>
            </a:r>
            <a:endParaRPr lang="en-US" altLang="zh-CN" sz="1200" dirty="0" smtClean="0"/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1200" dirty="0" smtClean="0"/>
              <a:t>挖掘</a:t>
            </a:r>
            <a:r>
              <a:rPr lang="zh-CN" altLang="en-US" sz="1200" dirty="0"/>
              <a:t>客户潜在需求，推动跨部门资源</a:t>
            </a:r>
            <a:r>
              <a:rPr lang="zh-CN" altLang="en-US" sz="1200" dirty="0" smtClean="0"/>
              <a:t>整合</a:t>
            </a:r>
            <a:endParaRPr lang="en-US" altLang="zh-CN" sz="1200" dirty="0" smtClean="0"/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1200" dirty="0" smtClean="0"/>
              <a:t>协调</a:t>
            </a:r>
            <a:r>
              <a:rPr lang="zh-CN" altLang="en-US" sz="1200" dirty="0"/>
              <a:t>处理客户重大投诉或合作危机，确保客户留存与</a:t>
            </a:r>
            <a:r>
              <a:rPr lang="zh-CN" altLang="en-US" sz="1200" dirty="0" smtClean="0"/>
              <a:t>续约</a:t>
            </a:r>
            <a:endParaRPr lang="en-US" altLang="zh-CN" sz="1200" dirty="0" smtClean="0"/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1200" dirty="0" smtClean="0"/>
              <a:t>跟踪</a:t>
            </a:r>
            <a:r>
              <a:rPr lang="zh-CN" altLang="en-US" sz="1200" dirty="0"/>
              <a:t>行业动态与竞品信息，为客户提供战略增值</a:t>
            </a:r>
            <a:r>
              <a:rPr lang="zh-CN" altLang="en-US" sz="1200" dirty="0" smtClean="0"/>
              <a:t>建议</a:t>
            </a:r>
            <a:endParaRPr lang="en-US" altLang="zh-CN" sz="1200" dirty="0" smtClean="0"/>
          </a:p>
          <a:p>
            <a:pPr lvl="0">
              <a:lnSpc>
                <a:spcPct val="120000"/>
              </a:lnSpc>
              <a:defRPr/>
            </a:pPr>
            <a:r>
              <a:rPr lang="zh-CN" altLang="en-US" sz="1200" b="1" noProof="0" dirty="0" smtClean="0">
                <a:latin typeface="+mn-ea"/>
                <a:cs typeface="OPPOSans R" panose="00020600040101010101" pitchFamily="18" charset="-122"/>
              </a:rPr>
              <a:t>技术负责人：</a:t>
            </a:r>
            <a:endParaRPr lang="en-US" altLang="zh-CN" sz="1200" b="1" noProof="0" dirty="0" smtClean="0">
              <a:latin typeface="+mn-ea"/>
              <a:cs typeface="OPPOSans R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牵头重客技术方案设计，主导需求分析与技术可行性</a:t>
            </a:r>
            <a:r>
              <a:rPr lang="zh-CN" altLang="en-US" sz="1200" dirty="0" smtClean="0"/>
              <a:t>评估</a:t>
            </a:r>
            <a:endParaRPr lang="zh-CN" altLang="en-US" sz="12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协调研发团队资源，确保技术方案按时落地（如与研发负责人对接排期）；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负责技术风险管控（如系统稳定性测试、数据安全合规性审查）；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为客户提供技术培训与知识转移（如 </a:t>
            </a:r>
            <a:r>
              <a:rPr lang="en-US" altLang="zh-CN" sz="1200" dirty="0"/>
              <a:t>API </a:t>
            </a:r>
            <a:r>
              <a:rPr lang="zh-CN" altLang="en-US" sz="1200" dirty="0"/>
              <a:t>使用培训、系统操作手册编写</a:t>
            </a:r>
            <a:r>
              <a:rPr lang="zh-CN" altLang="en-US" sz="1200" dirty="0" smtClean="0"/>
              <a:t>）</a:t>
            </a:r>
            <a:endParaRPr lang="en-US" altLang="zh-CN" sz="1200" dirty="0"/>
          </a:p>
          <a:p>
            <a:r>
              <a:rPr lang="zh-CN" altLang="en-US" sz="1200" b="1" dirty="0" smtClean="0"/>
              <a:t>客户体验负责人</a:t>
            </a:r>
            <a:r>
              <a:rPr lang="zh-CN" altLang="en-US" sz="1200" dirty="0" smtClean="0"/>
              <a:t>：</a:t>
            </a:r>
            <a:endParaRPr lang="en-US" altLang="zh-CN" sz="12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搭建客户体验指标体系（如 </a:t>
            </a:r>
            <a:r>
              <a:rPr lang="en-US" altLang="zh-CN" sz="1200" dirty="0"/>
              <a:t>NPS</a:t>
            </a:r>
            <a:r>
              <a:rPr lang="zh-CN" altLang="en-US" sz="1200" dirty="0"/>
              <a:t>、</a:t>
            </a:r>
            <a:r>
              <a:rPr lang="en-US" altLang="zh-CN" sz="1200" dirty="0"/>
              <a:t>CSAT </a:t>
            </a:r>
            <a:r>
              <a:rPr lang="zh-CN" altLang="en-US" sz="1200" dirty="0"/>
              <a:t>调研），定期分析反馈数据并推动优化；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设计标准化服务流程（如 </a:t>
            </a:r>
            <a:r>
              <a:rPr lang="en-US" altLang="zh-CN" sz="1200" dirty="0"/>
              <a:t>7×24 </a:t>
            </a:r>
            <a:r>
              <a:rPr lang="zh-CN" altLang="en-US" sz="1200" dirty="0"/>
              <a:t>小时专属服务通道、故障响应时效承诺）；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管理服务团队（如客户经理、售后工程师），确保服务质量与效率；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收集客户反馈，推动跨部门改进（如联合产品团队优化界面易用性）。</a:t>
            </a:r>
          </a:p>
          <a:p>
            <a:r>
              <a:rPr lang="zh-CN" altLang="en-US" sz="1200" b="1" dirty="0" smtClean="0"/>
              <a:t>履约交付负责人：</a:t>
            </a:r>
            <a:endParaRPr lang="en-US" altLang="zh-CN" sz="1200" b="1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制定项目交付计划，协调资源确保按时交付（如硬件设备安装、软件系统上线）；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监控交付过程中的风险（如供应链延迟、需求变更），及时调整方案；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主导验收环节，确保交付成果符合合同要求（如功能验收测试、文档移交）；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200" dirty="0"/>
              <a:t>对接客户项目团队，同步进展并处理交付中的问题（如现场技术支持）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r>
              <a:rPr lang="zh-CN" altLang="en-US" sz="1200" b="1" dirty="0" smtClean="0"/>
              <a:t>产研负责人：</a:t>
            </a:r>
            <a:endParaRPr lang="en-US" altLang="zh-CN" sz="1200" b="1" dirty="0" smtClean="0"/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/>
              <a:t>规划重客定制化产品研发路线，协调研发资源（如分配开发团队、排定优先级）；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/>
              <a:t>确保研发质量（如代码评审、单元测试）与进度（如敏捷开发迭代管理）；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/>
              <a:t>推动技术创新（如引入 </a:t>
            </a:r>
            <a:r>
              <a:rPr lang="en-US" altLang="zh-CN" sz="1200" dirty="0"/>
              <a:t>AI</a:t>
            </a:r>
            <a:r>
              <a:rPr lang="zh-CN" altLang="en-US" sz="1200" dirty="0"/>
              <a:t>、大数据等新技术优化解决方案）；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/>
              <a:t>与技术负责人协作，解决开发中的技术难题（如架构调整、性能优化）。</a:t>
            </a:r>
          </a:p>
          <a:p>
            <a:endParaRPr lang="zh-CN" altLang="en-US" sz="1200" dirty="0"/>
          </a:p>
          <a:p>
            <a:endParaRPr lang="zh-CN" altLang="en-US" sz="1400" dirty="0"/>
          </a:p>
          <a:p>
            <a:pPr lvl="0">
              <a:lnSpc>
                <a:spcPct val="120000"/>
              </a:lnSpc>
              <a:defRPr/>
            </a:pP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024306" y="1215275"/>
            <a:ext cx="2834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dirty="0" smtClean="0">
                <a:latin typeface="+mn-ea"/>
                <a:ea typeface="+mn-ea"/>
                <a:cs typeface="OPPOSans M" panose="00020600040101010101" pitchFamily="18" charset="-122"/>
              </a:rPr>
              <a:t>关键角色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OPPOSans M" panose="00020600040101010101" pitchFamily="18" charset="-122"/>
              </a:rPr>
              <a:t>职责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OPPOSans M" panose="00020600040101010101" pitchFamily="18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6669320" y="1527707"/>
            <a:ext cx="41891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32060" y="1391478"/>
            <a:ext cx="5314799" cy="493974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56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研讨：</a:t>
            </a:r>
            <a:endParaRPr lang="zh-CN" altLang="en-US" dirty="0"/>
          </a:p>
        </p:txBody>
      </p:sp>
      <p:sp>
        <p:nvSpPr>
          <p:cNvPr id="3" name="文本占位符 9"/>
          <p:cNvSpPr txBox="1">
            <a:spLocks/>
          </p:cNvSpPr>
          <p:nvPr/>
        </p:nvSpPr>
        <p:spPr>
          <a:xfrm>
            <a:off x="655661" y="1080664"/>
            <a:ext cx="8862647" cy="49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花点时间我们一起研讨一下对策：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53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20523" y="2878417"/>
            <a:ext cx="86821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问题二：</a:t>
            </a:r>
            <a:r>
              <a:rPr kumimoji="1" lang="en-US" altLang="zh-CN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</a:t>
            </a:r>
            <a:r>
              <a:rPr kumimoji="1"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</a:t>
            </a:r>
            <a:r>
              <a:rPr kumimoji="1"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类重客需求如何对接和跟进？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070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6718646" cy="495935"/>
          </a:xfrm>
        </p:spPr>
        <p:txBody>
          <a:bodyPr/>
          <a:lstStyle/>
          <a:p>
            <a:r>
              <a:rPr lang="en-US" altLang="zh-CN" dirty="0" smtClean="0"/>
              <a:t>EC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DC</a:t>
            </a:r>
            <a:r>
              <a:rPr lang="zh-CN" altLang="en-US" dirty="0" smtClean="0"/>
              <a:t>类需求</a:t>
            </a:r>
            <a:r>
              <a:rPr lang="zh-CN" altLang="en-US" dirty="0" smtClean="0"/>
              <a:t>跟进</a:t>
            </a:r>
            <a:r>
              <a:rPr lang="zh-CN" altLang="en-US" dirty="0" smtClean="0"/>
              <a:t>案例分析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94" y="1250656"/>
            <a:ext cx="8230313" cy="86113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74391" y="1269857"/>
            <a:ext cx="2102503" cy="84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顺丰案例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（</a:t>
            </a:r>
            <a:r>
              <a:rPr lang="en-US" altLang="zh-CN" sz="1400" dirty="0" smtClean="0"/>
              <a:t>DC</a:t>
            </a:r>
            <a:r>
              <a:rPr lang="zh-CN" altLang="en-US" sz="1400" dirty="0" smtClean="0"/>
              <a:t>开发类需求）</a:t>
            </a:r>
            <a:endParaRPr lang="zh-CN" altLang="en-US" sz="1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350" y="2747905"/>
            <a:ext cx="6478017" cy="97544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74391" y="2748826"/>
            <a:ext cx="2102503" cy="84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南网</a:t>
            </a:r>
            <a:r>
              <a:rPr lang="zh-CN" altLang="en-US" sz="1400" dirty="0" smtClean="0"/>
              <a:t>案例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（</a:t>
            </a:r>
            <a:r>
              <a:rPr lang="en-US" altLang="zh-CN" sz="1400" dirty="0" smtClean="0"/>
              <a:t>DC</a:t>
            </a:r>
            <a:r>
              <a:rPr lang="zh-CN" altLang="en-US" sz="1400" dirty="0" smtClean="0"/>
              <a:t>开发类需求）</a:t>
            </a:r>
            <a:endParaRPr lang="zh-CN" altLang="en-US" sz="1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350" y="3839100"/>
            <a:ext cx="6126384" cy="135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9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改进策略提议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564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/>
              <a:t>针对客户端</a:t>
            </a:r>
            <a:r>
              <a:rPr lang="en-US" altLang="zh-CN" sz="1400" dirty="0"/>
              <a:t>EC</a:t>
            </a:r>
            <a:r>
              <a:rPr lang="zh-CN" altLang="en-US" sz="1400" dirty="0"/>
              <a:t>类、</a:t>
            </a:r>
            <a:r>
              <a:rPr lang="en-US" altLang="zh-CN" sz="1400" dirty="0"/>
              <a:t>DC</a:t>
            </a:r>
            <a:r>
              <a:rPr lang="zh-CN" altLang="en-US" sz="1400" dirty="0"/>
              <a:t>类项目</a:t>
            </a:r>
            <a:r>
              <a:rPr lang="zh-CN" altLang="en-US" sz="1400" dirty="0" smtClean="0"/>
              <a:t>信息反馈：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1</a:t>
            </a:r>
            <a:r>
              <a:rPr lang="zh-CN" altLang="en-US" sz="1400" dirty="0" smtClean="0"/>
              <a:t>、建议在</a:t>
            </a:r>
            <a:r>
              <a:rPr lang="en-US" altLang="zh-CN" sz="1400" dirty="0"/>
              <a:t>ML</a:t>
            </a:r>
            <a:r>
              <a:rPr lang="zh-CN" altLang="en-US" sz="1400" dirty="0"/>
              <a:t>流程中，建立需求反馈跟进机制，一线发现相关线索、机会后，直接同步系统部拓展，由系统部牵头组织解决方案、产品、研发、服务进行客户需求分析，决策是否参与，参与支持团队及负责人，全周期运转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2</a:t>
            </a:r>
            <a:r>
              <a:rPr lang="zh-CN" altLang="en-US" sz="1400" dirty="0" smtClean="0"/>
              <a:t>、项目</a:t>
            </a:r>
            <a:r>
              <a:rPr lang="en-US" altLang="zh-CN" sz="1400" dirty="0"/>
              <a:t>MANT</a:t>
            </a:r>
            <a:r>
              <a:rPr lang="zh-CN" altLang="en-US" sz="1400" dirty="0"/>
              <a:t>明确后，进入漏斗内，第一时间触发</a:t>
            </a:r>
            <a:r>
              <a:rPr lang="en-US" altLang="zh-CN" sz="1400" dirty="0"/>
              <a:t>BU</a:t>
            </a:r>
            <a:r>
              <a:rPr lang="zh-CN" altLang="en-US" sz="1400" dirty="0"/>
              <a:t>级立项，按照流程执行；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DC,EC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类需求，资源匹配及专业支撑问题；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324703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978054" y="2367527"/>
            <a:ext cx="6341000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Oval 140"/>
          <p:cNvSpPr>
            <a:spLocks noChangeAspect="1"/>
          </p:cNvSpPr>
          <p:nvPr/>
        </p:nvSpPr>
        <p:spPr>
          <a:xfrm>
            <a:off x="4771537" y="232196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91" name="矩形 90"/>
          <p:cNvSpPr/>
          <p:nvPr/>
        </p:nvSpPr>
        <p:spPr>
          <a:xfrm>
            <a:off x="4933846" y="4527262"/>
            <a:ext cx="6385208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Oval 140"/>
          <p:cNvSpPr>
            <a:spLocks noChangeAspect="1"/>
          </p:cNvSpPr>
          <p:nvPr/>
        </p:nvSpPr>
        <p:spPr>
          <a:xfrm>
            <a:off x="4760217" y="4503356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93" name="文本占位符 9"/>
          <p:cNvSpPr txBox="1">
            <a:spLocks/>
          </p:cNvSpPr>
          <p:nvPr/>
        </p:nvSpPr>
        <p:spPr>
          <a:xfrm>
            <a:off x="7812034" y="4527262"/>
            <a:ext cx="1348507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立项流程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236819" y="2638885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EC</a:t>
            </a:r>
            <a:r>
              <a:rPr lang="zh-CN" altLang="en-US" sz="1400" dirty="0" smtClean="0"/>
              <a:t>线索机会</a:t>
            </a:r>
            <a:endParaRPr lang="zh-CN" altLang="en-US" sz="1400" dirty="0"/>
          </a:p>
        </p:txBody>
      </p:sp>
      <p:sp>
        <p:nvSpPr>
          <p:cNvPr id="99" name="矩形 98"/>
          <p:cNvSpPr/>
          <p:nvPr/>
        </p:nvSpPr>
        <p:spPr>
          <a:xfrm>
            <a:off x="5236819" y="3353978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</a:t>
            </a:r>
            <a:r>
              <a:rPr lang="en-US" altLang="zh-CN" sz="1400" dirty="0" smtClean="0"/>
              <a:t>C</a:t>
            </a:r>
            <a:r>
              <a:rPr lang="zh-CN" altLang="en-US" sz="1400" dirty="0" smtClean="0"/>
              <a:t>线索机会</a:t>
            </a:r>
            <a:endParaRPr lang="zh-CN" altLang="en-US" sz="1400" dirty="0"/>
          </a:p>
        </p:txBody>
      </p:sp>
      <p:sp>
        <p:nvSpPr>
          <p:cNvPr id="100" name="矩形 99"/>
          <p:cNvSpPr/>
          <p:nvPr/>
        </p:nvSpPr>
        <p:spPr>
          <a:xfrm>
            <a:off x="7573785" y="2953937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上报系统部</a:t>
            </a:r>
            <a:endParaRPr lang="zh-CN" altLang="en-US" sz="1400" dirty="0"/>
          </a:p>
        </p:txBody>
      </p:sp>
      <p:sp>
        <p:nvSpPr>
          <p:cNvPr id="101" name="矩形 100"/>
          <p:cNvSpPr/>
          <p:nvPr/>
        </p:nvSpPr>
        <p:spPr>
          <a:xfrm>
            <a:off x="9501693" y="248396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系统部拓展</a:t>
            </a:r>
            <a:endParaRPr lang="zh-CN" altLang="en-US" sz="1400" dirty="0"/>
          </a:p>
        </p:txBody>
      </p:sp>
      <p:cxnSp>
        <p:nvCxnSpPr>
          <p:cNvPr id="14" name="肘形连接符 13"/>
          <p:cNvCxnSpPr>
            <a:stCxn id="98" idx="3"/>
            <a:endCxn id="100" idx="1"/>
          </p:cNvCxnSpPr>
          <p:nvPr/>
        </p:nvCxnSpPr>
        <p:spPr>
          <a:xfrm>
            <a:off x="7164727" y="2869351"/>
            <a:ext cx="409058" cy="3150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99" idx="3"/>
            <a:endCxn id="100" idx="1"/>
          </p:cNvCxnSpPr>
          <p:nvPr/>
        </p:nvCxnSpPr>
        <p:spPr>
          <a:xfrm flipV="1">
            <a:off x="7164727" y="3184403"/>
            <a:ext cx="409058" cy="4000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9501693" y="297978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解决方案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9501693" y="347560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产品研发</a:t>
            </a:r>
            <a:endParaRPr lang="zh-CN" altLang="en-US" sz="1400" dirty="0"/>
          </a:p>
        </p:txBody>
      </p:sp>
      <p:cxnSp>
        <p:nvCxnSpPr>
          <p:cNvPr id="105" name="肘形连接符 104"/>
          <p:cNvCxnSpPr>
            <a:stCxn id="100" idx="3"/>
            <a:endCxn id="101" idx="1"/>
          </p:cNvCxnSpPr>
          <p:nvPr/>
        </p:nvCxnSpPr>
        <p:spPr>
          <a:xfrm flipV="1">
            <a:off x="9030321" y="2681969"/>
            <a:ext cx="471372" cy="5024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肘形连接符 105"/>
          <p:cNvCxnSpPr>
            <a:stCxn id="100" idx="3"/>
            <a:endCxn id="103" idx="1"/>
          </p:cNvCxnSpPr>
          <p:nvPr/>
        </p:nvCxnSpPr>
        <p:spPr>
          <a:xfrm flipV="1">
            <a:off x="9030321" y="3177789"/>
            <a:ext cx="471372" cy="66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连接符 106"/>
          <p:cNvCxnSpPr>
            <a:stCxn id="100" idx="3"/>
            <a:endCxn id="104" idx="1"/>
          </p:cNvCxnSpPr>
          <p:nvPr/>
        </p:nvCxnSpPr>
        <p:spPr>
          <a:xfrm>
            <a:off x="9030321" y="3184403"/>
            <a:ext cx="471372" cy="4892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9501693" y="3971430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客户体验部</a:t>
            </a:r>
            <a:endParaRPr lang="zh-CN" altLang="en-US" sz="1400" dirty="0"/>
          </a:p>
        </p:txBody>
      </p:sp>
      <p:cxnSp>
        <p:nvCxnSpPr>
          <p:cNvPr id="109" name="肘形连接符 108"/>
          <p:cNvCxnSpPr>
            <a:stCxn id="100" idx="3"/>
            <a:endCxn id="108" idx="1"/>
          </p:cNvCxnSpPr>
          <p:nvPr/>
        </p:nvCxnSpPr>
        <p:spPr>
          <a:xfrm>
            <a:off x="9030321" y="3184403"/>
            <a:ext cx="471372" cy="9850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5117672" y="5345404"/>
            <a:ext cx="1927909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商机填报（</a:t>
            </a:r>
            <a:r>
              <a:rPr lang="en-US" altLang="zh-CN" sz="1400" dirty="0" smtClean="0"/>
              <a:t>MANT</a:t>
            </a:r>
            <a:r>
              <a:rPr lang="zh-CN" altLang="en-US" sz="1400" dirty="0" smtClean="0"/>
              <a:t>）</a:t>
            </a:r>
            <a:endParaRPr lang="zh-CN" altLang="en-US" sz="1400" dirty="0"/>
          </a:p>
        </p:txBody>
      </p:sp>
      <p:sp>
        <p:nvSpPr>
          <p:cNvPr id="125" name="矩形 124"/>
          <p:cNvSpPr/>
          <p:nvPr/>
        </p:nvSpPr>
        <p:spPr>
          <a:xfrm>
            <a:off x="7584857" y="5337691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立项评审</a:t>
            </a:r>
            <a:endParaRPr lang="zh-CN" altLang="en-US" sz="1400" dirty="0"/>
          </a:p>
        </p:txBody>
      </p:sp>
      <p:sp>
        <p:nvSpPr>
          <p:cNvPr id="126" name="矩形 125"/>
          <p:cNvSpPr/>
          <p:nvPr/>
        </p:nvSpPr>
        <p:spPr>
          <a:xfrm>
            <a:off x="9580670" y="5337692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成立专属项目组</a:t>
            </a:r>
            <a:endParaRPr lang="zh-CN" altLang="en-US" sz="1400" dirty="0"/>
          </a:p>
        </p:txBody>
      </p:sp>
      <p:cxnSp>
        <p:nvCxnSpPr>
          <p:cNvPr id="128" name="肘形连接符 127"/>
          <p:cNvCxnSpPr>
            <a:stCxn id="123" idx="3"/>
            <a:endCxn id="125" idx="1"/>
          </p:cNvCxnSpPr>
          <p:nvPr/>
        </p:nvCxnSpPr>
        <p:spPr>
          <a:xfrm flipV="1">
            <a:off x="7045581" y="5568157"/>
            <a:ext cx="539276" cy="7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肘形连接符 129"/>
          <p:cNvCxnSpPr>
            <a:stCxn id="125" idx="3"/>
            <a:endCxn id="126" idx="1"/>
          </p:cNvCxnSpPr>
          <p:nvPr/>
        </p:nvCxnSpPr>
        <p:spPr>
          <a:xfrm>
            <a:off x="9041393" y="5568157"/>
            <a:ext cx="5392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等腰三角形 135"/>
          <p:cNvSpPr/>
          <p:nvPr/>
        </p:nvSpPr>
        <p:spPr>
          <a:xfrm>
            <a:off x="10301471" y="6082966"/>
            <a:ext cx="428264" cy="34696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占位符 9"/>
          <p:cNvSpPr txBox="1">
            <a:spLocks/>
          </p:cNvSpPr>
          <p:nvPr/>
        </p:nvSpPr>
        <p:spPr>
          <a:xfrm>
            <a:off x="10287919" y="580864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8" name="文本占位符 9"/>
          <p:cNvSpPr txBox="1">
            <a:spLocks/>
          </p:cNvSpPr>
          <p:nvPr/>
        </p:nvSpPr>
        <p:spPr>
          <a:xfrm>
            <a:off x="9875173" y="621347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9" name="文本占位符 9"/>
          <p:cNvSpPr txBox="1">
            <a:spLocks/>
          </p:cNvSpPr>
          <p:nvPr/>
        </p:nvSpPr>
        <p:spPr>
          <a:xfrm>
            <a:off x="10737355" y="6236270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4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看到的差距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911439"/>
              </p:ext>
            </p:extLst>
          </p:nvPr>
        </p:nvGraphicFramePr>
        <p:xfrm>
          <a:off x="575119" y="1202123"/>
          <a:ext cx="10669119" cy="5171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919"/>
                <a:gridCol w="3444875"/>
                <a:gridCol w="4465325"/>
              </a:tblGrid>
              <a:tr h="3427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5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问题分析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看到的差距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重客前期沟通交流，资源流程保障，区域能力不足问题。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部分重客项目前期沟通不及时，不充分，不质量，直接导致错失项目介入最佳时机。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沟通响应时效滞后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沟通深度与广度不足，质量不佳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资源短缺且配置不合理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缺乏流程支撑</a:t>
                      </a:r>
                    </a:p>
                  </a:txBody>
                  <a:tcPr anchor="ctr"/>
                </a:tc>
              </a:tr>
              <a:tr h="977265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  <a:sym typeface="+mn-ea"/>
                        </a:rPr>
                        <a:t>DC,EC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  <a:sym typeface="+mn-ea"/>
                        </a:rPr>
                        <a:t>类需求，资源匹配及专业支撑问题；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对于重客的一些特殊类需求，一线人员跟进之后回到公司找不到具体的负责人和接口人，最后不了了之，错失介入布局机会。如：</a:t>
                      </a:r>
                      <a:r>
                        <a:rPr lang="en-US" altLang="zh-CN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DC,EC</a:t>
                      </a: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类需求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缺乏专职重客需求对接体系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职责边界模糊与授权缺失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需求流转流程断层</a:t>
                      </a:r>
                    </a:p>
                  </a:txBody>
                  <a:tcPr marL="9525" marR="9525" marT="9525" marB="0" anchor="ctr"/>
                </a:tc>
              </a:tr>
              <a:tr h="1197719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重客非标类需求专业响应及闭环问题；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(OC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、特殊服务）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对于客户的非标类特殊诉求没有分析清楚，导致后续流程失控，影响流程推进质量及后期客户体验和满意度。如：</a:t>
                      </a:r>
                      <a:r>
                        <a:rPr lang="zh-CN" altLang="en-US" sz="1400" b="0" dirty="0">
                          <a:sym typeface="+mn-ea"/>
                        </a:rPr>
                        <a:t>直签类，非标准化特殊产品服务项目，</a:t>
                      </a:r>
                      <a:r>
                        <a:rPr lang="en-US" altLang="zh-CN" sz="1400" b="0" dirty="0">
                          <a:sym typeface="+mn-ea"/>
                        </a:rPr>
                        <a:t>OC</a:t>
                      </a:r>
                      <a:r>
                        <a:rPr lang="zh-CN" altLang="en-US" sz="1400" b="0" dirty="0">
                          <a:sym typeface="+mn-ea"/>
                        </a:rPr>
                        <a:t>类项目</a:t>
                      </a:r>
                      <a:endParaRPr lang="zh-CN" altLang="en-US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对特殊项目类型定义不清晰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跨领域专业能力缺失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缺乏流程关键控制点支撑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标前评审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合同评审</a:t>
                      </a:r>
                    </a:p>
                    <a:p>
                      <a:pPr marL="0" marR="0" lvl="0" indent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缺乏持续的客户运营计划与对等沟通机制。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缺乏高质量客户运营计划，无法实现有效的客户拜访及互动沟通。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目标模糊：缺乏分层运营策略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内容单薄：缺乏价值型互动设计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执行断层：缺乏闭环管理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缺乏沟通层级对等机制</a:t>
                      </a: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产品退市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停产对重客生命周期内产生的影响没有做好管理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产品退市流程缺乏对重客产品及服务的处理及预警机制，影响客户增补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扩容需求。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预警机制缺失：信息传递滞后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重客需求响应断层：处理方案缺乏针对性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跨部门协作不够：责任链条不清晰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20523" y="2878417"/>
            <a:ext cx="100335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问题三：重客非标准化需求如何得到专业响应和支撑？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675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策略提议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1773932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/>
              <a:t>OC</a:t>
            </a:r>
            <a:r>
              <a:rPr lang="zh-CN" altLang="en-US" sz="1400" dirty="0"/>
              <a:t>类项目，进漏斗触发</a:t>
            </a:r>
            <a:r>
              <a:rPr lang="en-US" altLang="zh-CN" sz="1400" dirty="0"/>
              <a:t>BU</a:t>
            </a:r>
            <a:r>
              <a:rPr lang="zh-CN" altLang="en-US" sz="1400" dirty="0"/>
              <a:t>级立项，在</a:t>
            </a:r>
            <a:r>
              <a:rPr lang="en-US" altLang="zh-CN" sz="1400" dirty="0"/>
              <a:t>MO</a:t>
            </a:r>
            <a:r>
              <a:rPr lang="zh-CN" altLang="en-US" sz="1400" dirty="0"/>
              <a:t>流程</a:t>
            </a:r>
            <a:r>
              <a:rPr lang="en-US" altLang="zh-CN" sz="1400" dirty="0"/>
              <a:t>L3”</a:t>
            </a:r>
            <a:r>
              <a:rPr lang="zh-CN" altLang="en-US" sz="1400" dirty="0"/>
              <a:t>制定与执行投标策略“”谈判并签订合同“流程中，加入基于销管、信控、法务、财务、交付等参与决策的评审流程，标准化执行； 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1773589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重客非标类需求专业响应及闭环问题；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(OC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、特殊服务）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2133592" y="4187549"/>
            <a:ext cx="2263829" cy="23438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701" y="2206625"/>
            <a:ext cx="8076236" cy="42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9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研讨：</a:t>
            </a:r>
            <a:endParaRPr lang="zh-CN" altLang="en-US" dirty="0"/>
          </a:p>
        </p:txBody>
      </p:sp>
      <p:sp>
        <p:nvSpPr>
          <p:cNvPr id="3" name="文本占位符 9"/>
          <p:cNvSpPr txBox="1">
            <a:spLocks/>
          </p:cNvSpPr>
          <p:nvPr/>
        </p:nvSpPr>
        <p:spPr>
          <a:xfrm>
            <a:off x="655661" y="1080664"/>
            <a:ext cx="8862647" cy="49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花点时间我们一起研讨一下对策：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565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20523" y="2878417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问题四：如何做好客户运营计划？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223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907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/>
              <a:t>通过客户计划覆盖和信息收集，持续运转，提升对客户业务、需求、愿景的理解专业性，基于客户端</a:t>
            </a:r>
            <a:r>
              <a:rPr lang="en-US" altLang="zh-CN" sz="1400" dirty="0"/>
              <a:t>FOP</a:t>
            </a:r>
            <a:r>
              <a:rPr lang="zh-CN" altLang="en-US" sz="1400" dirty="0"/>
              <a:t>进行分析与制定策略；</a:t>
            </a:r>
            <a:r>
              <a:rPr lang="en-US" altLang="zh-CN" sz="1400" dirty="0"/>
              <a:t>EBG</a:t>
            </a:r>
            <a:r>
              <a:rPr lang="zh-CN" altLang="en-US" sz="1400" dirty="0"/>
              <a:t>市场、解决方案、客户体验、产品研发部门建立客户端中高层拜访资源池，供重客负责团队按需调用；</a:t>
            </a:r>
            <a:endParaRPr lang="zh-CN" altLang="en-US" sz="1400" b="1" dirty="0"/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缺乏持续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的客户运营</a:t>
            </a: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计划及对等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沟通</a:t>
            </a: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机制</a:t>
            </a:r>
            <a:endParaRPr lang="zh-CN" altLang="en-US" sz="14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192676" y="4131490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985" y="2254168"/>
            <a:ext cx="5129575" cy="22210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985" y="4475242"/>
            <a:ext cx="5129575" cy="204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6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研讨：</a:t>
            </a:r>
            <a:endParaRPr lang="zh-CN" altLang="en-US" dirty="0"/>
          </a:p>
        </p:txBody>
      </p:sp>
      <p:sp>
        <p:nvSpPr>
          <p:cNvPr id="3" name="文本占位符 9"/>
          <p:cNvSpPr txBox="1">
            <a:spLocks/>
          </p:cNvSpPr>
          <p:nvPr/>
        </p:nvSpPr>
        <p:spPr>
          <a:xfrm>
            <a:off x="655661" y="1080664"/>
            <a:ext cx="8862647" cy="49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花点时间我们一起研讨一下对策：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451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20523" y="2878417"/>
            <a:ext cx="9406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问题五：如何处理好产品退市</a:t>
            </a:r>
            <a:r>
              <a:rPr kumimoji="1" lang="en-US" altLang="zh-CN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停产对重客的影响？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796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产品退市、停产对重客影响案例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903" y="1228511"/>
            <a:ext cx="6744284" cy="188230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19748" y="1327729"/>
            <a:ext cx="2102503" cy="84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南方电网案例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56888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策略提议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297607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r>
              <a:rPr lang="zh-CN" altLang="en-US" sz="1400" dirty="0"/>
              <a:t>建议在</a:t>
            </a:r>
            <a:r>
              <a:rPr lang="en-US" altLang="zh-CN" sz="1400" dirty="0"/>
              <a:t>IPD</a:t>
            </a:r>
            <a:r>
              <a:rPr lang="zh-CN" altLang="en-US" sz="1400" dirty="0"/>
              <a:t>流程退市子流程，基于重客使用产品进行生命周期分析评估，输出预警预案及专属方案，保障与客户端共识与我司退市产品方案相关的替代方案；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2972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2687721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4191073" y="2356178"/>
            <a:ext cx="7209989" cy="4114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6497487" y="3215291"/>
            <a:ext cx="792000" cy="19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重</a:t>
            </a:r>
            <a:r>
              <a:rPr lang="zh-CN" altLang="en-US" sz="1400" dirty="0" smtClean="0"/>
              <a:t>客影响分析评审</a:t>
            </a:r>
            <a:endParaRPr lang="zh-CN" altLang="en-US" sz="1400" dirty="0"/>
          </a:p>
        </p:txBody>
      </p:sp>
      <p:sp>
        <p:nvSpPr>
          <p:cNvPr id="44" name="矩形 43"/>
          <p:cNvSpPr/>
          <p:nvPr/>
        </p:nvSpPr>
        <p:spPr>
          <a:xfrm>
            <a:off x="4817120" y="3215291"/>
            <a:ext cx="792000" cy="194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产品研发</a:t>
            </a:r>
            <a:r>
              <a:rPr lang="en-US" altLang="zh-CN" sz="1400" dirty="0" smtClean="0"/>
              <a:t>IPD</a:t>
            </a:r>
            <a:r>
              <a:rPr lang="zh-CN" altLang="en-US" sz="1400" dirty="0" smtClean="0"/>
              <a:t>退市子流程</a:t>
            </a:r>
            <a:r>
              <a:rPr lang="en-US" altLang="zh-CN" sz="1400" dirty="0" smtClean="0"/>
              <a:t>-</a:t>
            </a:r>
            <a:r>
              <a:rPr lang="zh-CN" altLang="en-US" sz="1400" dirty="0" smtClean="0"/>
              <a:t>产品停产，退市预警</a:t>
            </a:r>
            <a:endParaRPr lang="zh-CN" altLang="en-US" sz="1400" dirty="0"/>
          </a:p>
        </p:txBody>
      </p:sp>
      <p:sp>
        <p:nvSpPr>
          <p:cNvPr id="45" name="矩形 44"/>
          <p:cNvSpPr/>
          <p:nvPr/>
        </p:nvSpPr>
        <p:spPr>
          <a:xfrm>
            <a:off x="9858222" y="3215291"/>
            <a:ext cx="792000" cy="19440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重客认可</a:t>
            </a:r>
            <a:endParaRPr lang="zh-CN" altLang="en-US" sz="1400" dirty="0"/>
          </a:p>
        </p:txBody>
      </p:sp>
      <p:sp>
        <p:nvSpPr>
          <p:cNvPr id="2" name="右箭头 1"/>
          <p:cNvSpPr/>
          <p:nvPr/>
        </p:nvSpPr>
        <p:spPr>
          <a:xfrm>
            <a:off x="5805587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9142369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177854" y="3239709"/>
            <a:ext cx="792000" cy="19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输出预案并进行客户沟通</a:t>
            </a:r>
            <a:endParaRPr lang="zh-CN" altLang="en-US" sz="1400" dirty="0"/>
          </a:p>
        </p:txBody>
      </p:sp>
      <p:sp>
        <p:nvSpPr>
          <p:cNvPr id="51" name="右箭头 50"/>
          <p:cNvSpPr/>
          <p:nvPr/>
        </p:nvSpPr>
        <p:spPr>
          <a:xfrm>
            <a:off x="7485551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9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研讨：</a:t>
            </a:r>
            <a:endParaRPr lang="zh-CN" altLang="en-US" dirty="0"/>
          </a:p>
        </p:txBody>
      </p:sp>
      <p:sp>
        <p:nvSpPr>
          <p:cNvPr id="3" name="文本占位符 9"/>
          <p:cNvSpPr txBox="1">
            <a:spLocks/>
          </p:cNvSpPr>
          <p:nvPr/>
        </p:nvSpPr>
        <p:spPr>
          <a:xfrm>
            <a:off x="655661" y="1080664"/>
            <a:ext cx="8862647" cy="49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花点时间我们一起研讨一下对策：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440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" y="1840865"/>
            <a:ext cx="11744325" cy="468376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当前看到的问题总结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1310644" y="1613538"/>
            <a:ext cx="1244596" cy="4414517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213360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重客的责任人及组织保障不清晰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>
            <a:endCxn id="6" idx="2"/>
          </p:cNvCxnSpPr>
          <p:nvPr/>
        </p:nvCxnSpPr>
        <p:spPr>
          <a:xfrm flipH="1" flipV="1">
            <a:off x="3916045" y="1637665"/>
            <a:ext cx="16510" cy="237553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 135"/>
          <p:cNvSpPr/>
          <p:nvPr/>
        </p:nvSpPr>
        <p:spPr>
          <a:xfrm>
            <a:off x="27451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DC,EC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需求或项目无法有效的支撑和闭环；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7" name="直接箭头连接符 6"/>
          <p:cNvCxnSpPr>
            <a:endCxn id="8" idx="2"/>
          </p:cNvCxnSpPr>
          <p:nvPr/>
        </p:nvCxnSpPr>
        <p:spPr>
          <a:xfrm flipH="1" flipV="1">
            <a:off x="10723245" y="1637665"/>
            <a:ext cx="55245" cy="237553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135"/>
          <p:cNvSpPr/>
          <p:nvPr/>
        </p:nvSpPr>
        <p:spPr>
          <a:xfrm>
            <a:off x="9552305" y="973455"/>
            <a:ext cx="2341880" cy="664210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/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cxnSp>
        <p:nvCxnSpPr>
          <p:cNvPr id="9" name="直接箭头连接符 8"/>
          <p:cNvCxnSpPr>
            <a:endCxn id="11" idx="2"/>
          </p:cNvCxnSpPr>
          <p:nvPr/>
        </p:nvCxnSpPr>
        <p:spPr>
          <a:xfrm flipH="1" flipV="1">
            <a:off x="8542655" y="1627505"/>
            <a:ext cx="86995" cy="440055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 135"/>
          <p:cNvSpPr/>
          <p:nvPr/>
        </p:nvSpPr>
        <p:spPr>
          <a:xfrm>
            <a:off x="7605395" y="963295"/>
            <a:ext cx="1874520" cy="664210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缺乏持续的客户运营计划与对等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沟通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机制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12" name="Rectangle 135"/>
          <p:cNvSpPr/>
          <p:nvPr/>
        </p:nvSpPr>
        <p:spPr>
          <a:xfrm>
            <a:off x="5175250" y="94932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缺乏重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客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非标准项目的投标及合同标准、规范及组织保障；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(OC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、特殊服务）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806440" y="1568768"/>
            <a:ext cx="57150" cy="2444432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占位符 9"/>
          <p:cNvSpPr txBox="1">
            <a:spLocks/>
          </p:cNvSpPr>
          <p:nvPr/>
        </p:nvSpPr>
        <p:spPr>
          <a:xfrm>
            <a:off x="11456145" y="1591847"/>
            <a:ext cx="583280" cy="247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 action="ppaction://hlinksldjump"/>
              </a:rPr>
              <a:t>案例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文本占位符 9"/>
          <p:cNvSpPr txBox="1">
            <a:spLocks/>
          </p:cNvSpPr>
          <p:nvPr/>
        </p:nvSpPr>
        <p:spPr>
          <a:xfrm>
            <a:off x="4594492" y="1568767"/>
            <a:ext cx="583280" cy="247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5" action="ppaction://hlinksldjump"/>
              </a:rPr>
              <a:t>案例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2023110" y="1637665"/>
            <a:ext cx="1325881" cy="2042796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Rectangle 135"/>
          <p:cNvSpPr/>
          <p:nvPr/>
        </p:nvSpPr>
        <p:spPr>
          <a:xfrm>
            <a:off x="7827327" y="258285"/>
            <a:ext cx="1101725" cy="43200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营销销售领域主责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32" name="Rectangle 135"/>
          <p:cNvSpPr/>
          <p:nvPr/>
        </p:nvSpPr>
        <p:spPr>
          <a:xfrm>
            <a:off x="8929052" y="258285"/>
            <a:ext cx="1101725" cy="432000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其他业务领域主责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209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重客试点计划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3405" y="1120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责任人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立项计划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>
          <a:xfrm>
            <a:off x="926465" y="1675130"/>
            <a:ext cx="10481945" cy="2885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ctr"/>
          <a:lstStyle/>
          <a:p>
            <a:pPr indent="0" algn="ctr">
              <a:lnSpc>
                <a:spcPct val="200000"/>
              </a:lnSpc>
              <a:defRPr/>
            </a:pPr>
            <a:r>
              <a:rPr lang="en-US" sz="40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讨论</a:t>
            </a:r>
            <a:r>
              <a:rPr 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针对本提案</a:t>
            </a: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建议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>
              <a:lnSpc>
                <a:spcPct val="200000"/>
              </a:lnSpc>
              <a:defRPr/>
            </a:pP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小组讨论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分钟，分享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</a:t>
            </a:r>
            <a:endParaRPr lang="en-US" sz="24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产品退市、停产对重客影响案例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903" y="1228511"/>
            <a:ext cx="6744284" cy="188230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19748" y="1327729"/>
            <a:ext cx="2102503" cy="84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南方电网案例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97069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6718646" cy="495935"/>
          </a:xfrm>
        </p:spPr>
        <p:txBody>
          <a:bodyPr/>
          <a:lstStyle/>
          <a:p>
            <a:r>
              <a:rPr lang="en-US" altLang="zh-CN" dirty="0" smtClean="0"/>
              <a:t>EC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DC</a:t>
            </a:r>
            <a:r>
              <a:rPr lang="zh-CN" altLang="en-US" dirty="0" smtClean="0"/>
              <a:t>类需求跟进问题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94" y="1250656"/>
            <a:ext cx="8230313" cy="86113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74391" y="1269857"/>
            <a:ext cx="2102503" cy="84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顺丰案例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（</a:t>
            </a:r>
            <a:r>
              <a:rPr lang="en-US" altLang="zh-CN" sz="1400" dirty="0" smtClean="0"/>
              <a:t>DC</a:t>
            </a:r>
            <a:r>
              <a:rPr lang="zh-CN" altLang="en-US" sz="1400" dirty="0" smtClean="0"/>
              <a:t>开发类需求）</a:t>
            </a:r>
            <a:endParaRPr lang="zh-CN" altLang="en-US" sz="1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350" y="2747905"/>
            <a:ext cx="6478017" cy="97544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74391" y="2748826"/>
            <a:ext cx="2102503" cy="84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南网</a:t>
            </a:r>
            <a:r>
              <a:rPr lang="zh-CN" altLang="en-US" sz="1400" dirty="0" smtClean="0"/>
              <a:t>案例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（</a:t>
            </a:r>
            <a:r>
              <a:rPr lang="en-US" altLang="zh-CN" sz="1400" dirty="0" smtClean="0"/>
              <a:t>DC</a:t>
            </a:r>
            <a:r>
              <a:rPr lang="zh-CN" altLang="en-US" sz="1400" dirty="0" smtClean="0"/>
              <a:t>开发类需求）</a:t>
            </a:r>
            <a:endParaRPr lang="zh-CN" altLang="en-US" sz="1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350" y="3839100"/>
            <a:ext cx="6126384" cy="135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25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48962" y="1812753"/>
            <a:ext cx="4220849" cy="4010860"/>
            <a:chOff x="471907" y="1325581"/>
            <a:chExt cx="4744150" cy="4508126"/>
          </a:xfrm>
        </p:grpSpPr>
        <p:sp>
          <p:nvSpPr>
            <p:cNvPr id="6" name="弧形 5"/>
            <p:cNvSpPr/>
            <p:nvPr/>
          </p:nvSpPr>
          <p:spPr>
            <a:xfrm>
              <a:off x="546100" y="1325581"/>
              <a:ext cx="4508126" cy="4508126"/>
            </a:xfrm>
            <a:prstGeom prst="arc">
              <a:avLst>
                <a:gd name="adj1" fmla="val 16200000"/>
                <a:gd name="adj2" fmla="val 2541715"/>
              </a:avLst>
            </a:prstGeom>
            <a:noFill/>
            <a:ln w="381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head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sp>
          <p:nvSpPr>
            <p:cNvPr id="7" name="弧形 6"/>
            <p:cNvSpPr/>
            <p:nvPr/>
          </p:nvSpPr>
          <p:spPr>
            <a:xfrm flipH="1">
              <a:off x="546100" y="1325581"/>
              <a:ext cx="4508126" cy="4508126"/>
            </a:xfrm>
            <a:prstGeom prst="arc">
              <a:avLst>
                <a:gd name="adj1" fmla="val 16200000"/>
                <a:gd name="adj2" fmla="val 7087541"/>
              </a:avLst>
            </a:prstGeom>
            <a:noFill/>
            <a:ln w="38100"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16200000" scaled="1"/>
                <a:tileRect/>
              </a:gra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375569" y="2155050"/>
              <a:ext cx="2849188" cy="2849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471907" y="2339572"/>
              <a:ext cx="4744150" cy="2835784"/>
              <a:chOff x="158218" y="2170310"/>
              <a:chExt cx="5380271" cy="3216022"/>
            </a:xfrm>
          </p:grpSpPr>
          <p:sp>
            <p:nvSpPr>
              <p:cNvPr id="11" name="任意多边形: 形状 43"/>
              <p:cNvSpPr/>
              <p:nvPr/>
            </p:nvSpPr>
            <p:spPr bwMode="auto">
              <a:xfrm rot="2889919">
                <a:off x="1180764" y="1147764"/>
                <a:ext cx="2045090" cy="4090181"/>
              </a:xfrm>
              <a:custGeom>
                <a:avLst/>
                <a:gdLst>
                  <a:gd name="connsiteX0" fmla="*/ 1254992 w 4831054"/>
                  <a:gd name="connsiteY0" fmla="*/ 1582730 h 9662107"/>
                  <a:gd name="connsiteX1" fmla="*/ 4831053 w 4831054"/>
                  <a:gd name="connsiteY1" fmla="*/ 0 h 9662107"/>
                  <a:gd name="connsiteX2" fmla="*/ 4831054 w 4831054"/>
                  <a:gd name="connsiteY2" fmla="*/ 1468765 h 9662107"/>
                  <a:gd name="connsiteX3" fmla="*/ 4645907 w 4831054"/>
                  <a:gd name="connsiteY3" fmla="*/ 1470160 h 9662107"/>
                  <a:gd name="connsiteX4" fmla="*/ 2324355 w 4831054"/>
                  <a:gd name="connsiteY4" fmla="*/ 2585718 h 9662107"/>
                  <a:gd name="connsiteX5" fmla="*/ 2587145 w 4831054"/>
                  <a:gd name="connsiteY5" fmla="*/ 7337673 h 9662107"/>
                  <a:gd name="connsiteX6" fmla="*/ 4694620 w 4831054"/>
                  <a:gd name="connsiteY6" fmla="*/ 8192874 h 9662107"/>
                  <a:gd name="connsiteX7" fmla="*/ 4831054 w 4831054"/>
                  <a:gd name="connsiteY7" fmla="*/ 8191846 h 9662107"/>
                  <a:gd name="connsiteX8" fmla="*/ 4831054 w 4831054"/>
                  <a:gd name="connsiteY8" fmla="*/ 9662107 h 9662107"/>
                  <a:gd name="connsiteX9" fmla="*/ 0 w 4831054"/>
                  <a:gd name="connsiteY9" fmla="*/ 4831053 h 9662107"/>
                  <a:gd name="connsiteX10" fmla="*/ 1254992 w 4831054"/>
                  <a:gd name="connsiteY10" fmla="*/ 1582730 h 9662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1054" h="9662107">
                    <a:moveTo>
                      <a:pt x="1254992" y="1582730"/>
                    </a:moveTo>
                    <a:cubicBezTo>
                      <a:pt x="2138715" y="610415"/>
                      <a:pt x="3413573" y="0"/>
                      <a:pt x="4831053" y="0"/>
                    </a:cubicBezTo>
                    <a:lnTo>
                      <a:pt x="4831054" y="1468765"/>
                    </a:lnTo>
                    <a:lnTo>
                      <a:pt x="4645907" y="1470160"/>
                    </a:lnTo>
                    <a:cubicBezTo>
                      <a:pt x="3785972" y="1517715"/>
                      <a:pt x="2944179" y="1893325"/>
                      <a:pt x="2324355" y="2585718"/>
                    </a:cubicBezTo>
                    <a:cubicBezTo>
                      <a:pt x="1084706" y="3970502"/>
                      <a:pt x="1202361" y="6098024"/>
                      <a:pt x="2587145" y="7337673"/>
                    </a:cubicBezTo>
                    <a:cubicBezTo>
                      <a:pt x="3192988" y="7880019"/>
                      <a:pt x="3940996" y="8162569"/>
                      <a:pt x="4694620" y="8192874"/>
                    </a:cubicBezTo>
                    <a:lnTo>
                      <a:pt x="4831054" y="8191846"/>
                    </a:lnTo>
                    <a:lnTo>
                      <a:pt x="4831054" y="9662107"/>
                    </a:lnTo>
                    <a:cubicBezTo>
                      <a:pt x="2162856" y="9662107"/>
                      <a:pt x="0" y="7499250"/>
                      <a:pt x="0" y="4831053"/>
                    </a:cubicBezTo>
                    <a:cubicBezTo>
                      <a:pt x="0" y="3580336"/>
                      <a:pt x="475237" y="2440655"/>
                      <a:pt x="1254992" y="158273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73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900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" name="任意多边形: 形状 42"/>
              <p:cNvSpPr/>
              <p:nvPr/>
            </p:nvSpPr>
            <p:spPr bwMode="auto">
              <a:xfrm rot="2889919">
                <a:off x="2470852" y="2318696"/>
                <a:ext cx="2045091" cy="4090182"/>
              </a:xfrm>
              <a:custGeom>
                <a:avLst/>
                <a:gdLst>
                  <a:gd name="connsiteX0" fmla="*/ 1 w 4831054"/>
                  <a:gd name="connsiteY0" fmla="*/ 0 h 9662109"/>
                  <a:gd name="connsiteX1" fmla="*/ 4831054 w 4831054"/>
                  <a:gd name="connsiteY1" fmla="*/ 4831423 h 9662109"/>
                  <a:gd name="connsiteX2" fmla="*/ 0 w 4831054"/>
                  <a:gd name="connsiteY2" fmla="*/ 9662109 h 9662109"/>
                  <a:gd name="connsiteX3" fmla="*/ 0 w 4831054"/>
                  <a:gd name="connsiteY3" fmla="*/ 8191848 h 9662109"/>
                  <a:gd name="connsiteX4" fmla="*/ 186495 w 4831054"/>
                  <a:gd name="connsiteY4" fmla="*/ 8190443 h 9662109"/>
                  <a:gd name="connsiteX5" fmla="*/ 2508047 w 4831054"/>
                  <a:gd name="connsiteY5" fmla="*/ 7074885 h 9662109"/>
                  <a:gd name="connsiteX6" fmla="*/ 2245257 w 4831054"/>
                  <a:gd name="connsiteY6" fmla="*/ 2322930 h 9662109"/>
                  <a:gd name="connsiteX7" fmla="*/ 137782 w 4831054"/>
                  <a:gd name="connsiteY7" fmla="*/ 1467728 h 9662109"/>
                  <a:gd name="connsiteX8" fmla="*/ 0 w 4831054"/>
                  <a:gd name="connsiteY8" fmla="*/ 1468767 h 9662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31054" h="9662109">
                    <a:moveTo>
                      <a:pt x="1" y="0"/>
                    </a:moveTo>
                    <a:cubicBezTo>
                      <a:pt x="2668400" y="1"/>
                      <a:pt x="4831054" y="2163226"/>
                      <a:pt x="4831054" y="4831423"/>
                    </a:cubicBezTo>
                    <a:cubicBezTo>
                      <a:pt x="4831054" y="7499619"/>
                      <a:pt x="2668400" y="9662109"/>
                      <a:pt x="0" y="9662109"/>
                    </a:cubicBezTo>
                    <a:lnTo>
                      <a:pt x="0" y="8191848"/>
                    </a:lnTo>
                    <a:lnTo>
                      <a:pt x="186495" y="8190443"/>
                    </a:lnTo>
                    <a:cubicBezTo>
                      <a:pt x="1046430" y="8142887"/>
                      <a:pt x="1888222" y="7767277"/>
                      <a:pt x="2508047" y="7074885"/>
                    </a:cubicBezTo>
                    <a:cubicBezTo>
                      <a:pt x="3747696" y="5690101"/>
                      <a:pt x="3630041" y="3562579"/>
                      <a:pt x="2245257" y="2322930"/>
                    </a:cubicBezTo>
                    <a:cubicBezTo>
                      <a:pt x="1639414" y="1780584"/>
                      <a:pt x="891406" y="1498033"/>
                      <a:pt x="137782" y="1467728"/>
                    </a:cubicBezTo>
                    <a:lnTo>
                      <a:pt x="0" y="14687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83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900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 rot="20516712">
            <a:off x="1373764" y="2826885"/>
            <a:ext cx="2160000" cy="135804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Up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战略布局的核心要素</a:t>
            </a:r>
          </a:p>
        </p:txBody>
      </p:sp>
      <p:sp>
        <p:nvSpPr>
          <p:cNvPr id="52" name="文本框 51"/>
          <p:cNvSpPr txBox="1"/>
          <p:nvPr/>
        </p:nvSpPr>
        <p:spPr>
          <a:xfrm rot="20921467">
            <a:off x="1665324" y="3812970"/>
            <a:ext cx="2160000" cy="137085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Down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用户需求驱动的优化方案</a:t>
            </a:r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策略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总体思路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16200000" flipH="1">
            <a:off x="1904622" y="2629732"/>
            <a:ext cx="4638217" cy="2446255"/>
          </a:xfrm>
          <a:prstGeom prst="triangle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lt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784559" y="1577107"/>
            <a:ext cx="6632842" cy="4488613"/>
            <a:chOff x="856180" y="1767682"/>
            <a:chExt cx="4782619" cy="3984541"/>
          </a:xfrm>
        </p:grpSpPr>
        <p:sp>
          <p:nvSpPr>
            <p:cNvPr id="13" name="矩形: 圆角 49"/>
            <p:cNvSpPr/>
            <p:nvPr/>
          </p:nvSpPr>
          <p:spPr>
            <a:xfrm>
              <a:off x="856180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矩形: 圆角 50"/>
            <p:cNvSpPr/>
            <p:nvPr/>
          </p:nvSpPr>
          <p:spPr>
            <a:xfrm>
              <a:off x="856180" y="1767683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5" name="矩形: 圆角 51"/>
            <p:cNvSpPr/>
            <p:nvPr/>
          </p:nvSpPr>
          <p:spPr>
            <a:xfrm>
              <a:off x="882462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6" name="矩形: 圆角 52"/>
            <p:cNvSpPr/>
            <p:nvPr/>
          </p:nvSpPr>
          <p:spPr>
            <a:xfrm>
              <a:off x="882462" y="1767682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897964" y="2071191"/>
            <a:ext cx="4220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设计有区别于普通客户的重客流程与相关保障机制，具体包括：</a:t>
            </a:r>
            <a:endParaRPr kumimoji="0" lang="en-US" altLang="zh-CN" sz="1400" i="0" u="none" strike="noStrike" kern="1200" cap="none" spc="0" normalizeH="0" baseline="0" noProof="0" dirty="0" smtClean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1</a:t>
            </a:r>
            <a:r>
              <a:rPr lang="zh-CN" altLang="en-US" sz="1400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）落实客户计划，推进重客全生命周期价值运营。</a:t>
            </a:r>
            <a:endParaRPr lang="en-US" altLang="zh-CN" sz="1400" dirty="0" smtClean="0">
              <a:solidFill>
                <a:srgbClr val="313131">
                  <a:alpha val="65000"/>
                </a:srgbClr>
              </a:solidFill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2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）梳理优化</a:t>
            </a: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ML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、</a:t>
            </a: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MO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、产品退市流程，设计运营保障机制，确保重客业务高质量开展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92340" y="1642032"/>
            <a:ext cx="283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OPPOSans M" panose="00020600040101010101" pitchFamily="18" charset="-122"/>
              </a:rPr>
              <a:t>流程建设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OPPOSans M" panose="00020600040101010101" pitchFamily="18" charset="-122"/>
            </a:endParaRPr>
          </a:p>
        </p:txBody>
      </p:sp>
      <p:sp>
        <p:nvSpPr>
          <p:cNvPr id="19" name="矩形: 圆角 79"/>
          <p:cNvSpPr/>
          <p:nvPr/>
        </p:nvSpPr>
        <p:spPr>
          <a:xfrm>
            <a:off x="9229336" y="1656297"/>
            <a:ext cx="2064003" cy="1952740"/>
          </a:xfrm>
          <a:prstGeom prst="roundRect">
            <a:avLst>
              <a:gd name="adj" fmla="val 5158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17180" y="201735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有效的客户计划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317180" y="260282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高质量的业务活动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317180" y="323459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完善的保障机制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75847" y="1694767"/>
            <a:ext cx="251383" cy="251382"/>
            <a:chOff x="7986757" y="4416196"/>
            <a:chExt cx="251383" cy="251382"/>
          </a:xfrm>
        </p:grpSpPr>
        <p:sp>
          <p:nvSpPr>
            <p:cNvPr id="24" name="椭圆 2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175847" y="2303842"/>
            <a:ext cx="251383" cy="251382"/>
            <a:chOff x="7986757" y="4416196"/>
            <a:chExt cx="251383" cy="251382"/>
          </a:xfrm>
        </p:grpSpPr>
        <p:sp>
          <p:nvSpPr>
            <p:cNvPr id="27" name="椭圆 2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175847" y="2959217"/>
            <a:ext cx="251383" cy="251382"/>
            <a:chOff x="7986757" y="4416196"/>
            <a:chExt cx="251383" cy="251382"/>
          </a:xfrm>
        </p:grpSpPr>
        <p:sp>
          <p:nvSpPr>
            <p:cNvPr id="30" name="椭圆 29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1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6389542" y="1895619"/>
            <a:ext cx="2569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972293" y="4430517"/>
            <a:ext cx="41461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50" b="0" i="0" u="none" strike="noStrike" cap="none" spc="0" normalizeH="0" baseline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defRPr>
            </a:lvl1pPr>
          </a:lstStyle>
          <a:p>
            <a:r>
              <a:rPr lang="zh-CN" altLang="en-US" sz="1400" dirty="0" smtClean="0"/>
              <a:t>人员能力提升：加强重客辅导与培训，提升业务人员重客服务意识与关键领域业务能力。</a:t>
            </a:r>
            <a:endParaRPr lang="en-US" altLang="zh-CN" sz="1400" dirty="0" smtClean="0"/>
          </a:p>
          <a:p>
            <a:r>
              <a:rPr lang="zh-CN" altLang="en-US" sz="1400" dirty="0"/>
              <a:t>数字化</a:t>
            </a:r>
            <a:r>
              <a:rPr lang="zh-CN" altLang="en-US" sz="1400" dirty="0" smtClean="0"/>
              <a:t>能力提升：加强</a:t>
            </a:r>
            <a:r>
              <a:rPr lang="zh-CN" altLang="en-US" sz="1400" dirty="0"/>
              <a:t>数字化</a:t>
            </a:r>
            <a:r>
              <a:rPr lang="zh-CN" altLang="en-US" sz="1400" dirty="0" smtClean="0"/>
              <a:t>建设，实现业务在线，数据在线，决策在线的数字化运营能力，高效赋能重客业务开展。</a:t>
            </a:r>
            <a:endParaRPr lang="zh-CN" altLang="en-US" sz="1400" dirty="0"/>
          </a:p>
        </p:txBody>
      </p:sp>
      <p:sp>
        <p:nvSpPr>
          <p:cNvPr id="34" name="文本框 33"/>
          <p:cNvSpPr txBox="1"/>
          <p:nvPr/>
        </p:nvSpPr>
        <p:spPr>
          <a:xfrm>
            <a:off x="4892340" y="4023592"/>
            <a:ext cx="283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2000" dirty="0" smtClean="0">
                <a:solidFill>
                  <a:schemeClr val="accent2"/>
                </a:solidFill>
              </a:rPr>
              <a:t>能力提升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35" name="矩形: 圆角 92"/>
          <p:cNvSpPr/>
          <p:nvPr/>
        </p:nvSpPr>
        <p:spPr>
          <a:xfrm>
            <a:off x="9229336" y="4053065"/>
            <a:ext cx="2064003" cy="1952740"/>
          </a:xfrm>
          <a:prstGeom prst="roundRect">
            <a:avLst>
              <a:gd name="adj" fmla="val 5158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389542" y="4288961"/>
            <a:ext cx="256945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317180" y="4454418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会沟通</a:t>
            </a:r>
            <a:endParaRPr lang="zh-CN" altLang="en-US" sz="1600" dirty="0"/>
          </a:p>
        </p:txBody>
      </p:sp>
      <p:sp>
        <p:nvSpPr>
          <p:cNvPr id="38" name="文本框 37"/>
          <p:cNvSpPr txBox="1"/>
          <p:nvPr/>
        </p:nvSpPr>
        <p:spPr>
          <a:xfrm>
            <a:off x="9317180" y="5049414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会经营</a:t>
            </a:r>
            <a:endParaRPr lang="zh-CN" altLang="en-US" sz="1600" dirty="0"/>
          </a:p>
        </p:txBody>
      </p:sp>
      <p:sp>
        <p:nvSpPr>
          <p:cNvPr id="39" name="文本框 38"/>
          <p:cNvSpPr txBox="1"/>
          <p:nvPr/>
        </p:nvSpPr>
        <p:spPr>
          <a:xfrm>
            <a:off x="9350589" y="5632831"/>
            <a:ext cx="182149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会服务</a:t>
            </a:r>
            <a:endParaRPr lang="zh-CN" altLang="en-US" sz="160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10175847" y="4141542"/>
            <a:ext cx="251383" cy="251382"/>
            <a:chOff x="7986757" y="4416196"/>
            <a:chExt cx="251383" cy="251382"/>
          </a:xfrm>
        </p:grpSpPr>
        <p:sp>
          <p:nvSpPr>
            <p:cNvPr id="41" name="椭圆 40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2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175847" y="4776531"/>
            <a:ext cx="251383" cy="251382"/>
            <a:chOff x="7986757" y="4416196"/>
            <a:chExt cx="251383" cy="251382"/>
          </a:xfrm>
        </p:grpSpPr>
        <p:sp>
          <p:nvSpPr>
            <p:cNvPr id="44" name="椭圆 4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175847" y="5360186"/>
            <a:ext cx="251383" cy="251382"/>
            <a:chOff x="7986757" y="4416196"/>
            <a:chExt cx="251383" cy="251382"/>
          </a:xfrm>
        </p:grpSpPr>
        <p:sp>
          <p:nvSpPr>
            <p:cNvPr id="47" name="椭圆 4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932763" y="3565933"/>
            <a:ext cx="12105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+mj-ea"/>
                <a:ea typeface="+mj-ea"/>
                <a:cs typeface="OPPOSans B" panose="00020600040101010101" pitchFamily="18" charset="-122"/>
              </a:rPr>
              <a:t>重客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+mj-ea"/>
              <a:ea typeface="+mj-ea"/>
              <a:cs typeface="OPPOSans B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1590334" y="1750340"/>
            <a:ext cx="92588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技术引领</a:t>
            </a:r>
          </a:p>
        </p:txBody>
      </p:sp>
      <p:sp>
        <p:nvSpPr>
          <p:cNvPr id="54" name="文本框 53"/>
          <p:cNvSpPr txBox="1"/>
          <p:nvPr/>
        </p:nvSpPr>
        <p:spPr>
          <a:xfrm flipH="1">
            <a:off x="3282664" y="5284114"/>
            <a:ext cx="92588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客户至上</a:t>
            </a:r>
          </a:p>
        </p:txBody>
      </p:sp>
    </p:spTree>
    <p:extLst>
      <p:ext uri="{BB962C8B-B14F-4D97-AF65-F5344CB8AC3E}">
        <p14:creationId xmlns:p14="http://schemas.microsoft.com/office/powerpoint/2010/main" val="179156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78054" y="2367527"/>
            <a:ext cx="6341000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564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 smtClean="0"/>
              <a:t>提前</a:t>
            </a:r>
            <a:r>
              <a:rPr lang="zh-CN" altLang="en-US" sz="1400" dirty="0"/>
              <a:t>介入了解和收集重客业务和相关信息，”看全，看清</a:t>
            </a:r>
            <a:r>
              <a:rPr lang="en-US" altLang="zh-CN" sz="1400" dirty="0"/>
              <a:t>FOP”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、通过</a:t>
            </a:r>
            <a:r>
              <a:rPr lang="zh-CN" altLang="en-US" sz="1400" dirty="0"/>
              <a:t>客户计划运转落地，在运转过程中，基于重客高质量交流、需求洞察关键节点，客户责任人上报系统部，协调解决方案、产品研发专家给予汇报资料和专家到场支持，解决方案、产品部基于每个重客，明确接口责任人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2</a:t>
            </a:r>
            <a:r>
              <a:rPr lang="zh-CN" altLang="en-US" sz="1400" dirty="0" smtClean="0"/>
              <a:t>、非</a:t>
            </a:r>
            <a:r>
              <a:rPr lang="zh-CN" altLang="en-US" sz="1400" dirty="0"/>
              <a:t>优势重客首单、各系统部解决方案前三单，按级别触发</a:t>
            </a:r>
            <a:r>
              <a:rPr lang="en-US" altLang="zh-CN" sz="1400" dirty="0"/>
              <a:t>BG</a:t>
            </a:r>
            <a:r>
              <a:rPr lang="zh-CN" altLang="en-US" sz="1400" dirty="0"/>
              <a:t>、</a:t>
            </a:r>
            <a:r>
              <a:rPr lang="en-US" altLang="zh-CN" sz="1400" dirty="0"/>
              <a:t>BU</a:t>
            </a:r>
            <a:r>
              <a:rPr lang="zh-CN" altLang="en-US" sz="1400" dirty="0"/>
              <a:t>级项目立项，成立专属重客项目铁三角团队，整合资源按标准流程执行； 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重客前期沟通交流，资源流程保障，区域能力不足问题。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324703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5293591" y="2532112"/>
            <a:ext cx="5412993" cy="1693789"/>
            <a:chOff x="4876901" y="2359982"/>
            <a:chExt cx="6476721" cy="2271306"/>
          </a:xfrm>
        </p:grpSpPr>
        <p:sp>
          <p:nvSpPr>
            <p:cNvPr id="8" name="矩形 7"/>
            <p:cNvSpPr/>
            <p:nvPr/>
          </p:nvSpPr>
          <p:spPr>
            <a:xfrm>
              <a:off x="4876901" y="2621713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高质量技术交流</a:t>
              </a:r>
              <a:endParaRPr lang="zh-CN" altLang="en-US" sz="1400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4876901" y="3519787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需求洞察</a:t>
              </a:r>
              <a:endParaRPr lang="zh-CN" altLang="en-US" sz="1400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7546015" y="2978074"/>
              <a:ext cx="1431668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上报系统部</a:t>
              </a:r>
              <a:endParaRPr lang="zh-CN" altLang="en-US" sz="1400" dirty="0"/>
            </a:p>
          </p:txBody>
        </p:sp>
        <p:cxnSp>
          <p:nvCxnSpPr>
            <p:cNvPr id="11" name="肘形连接符 10"/>
            <p:cNvCxnSpPr>
              <a:stCxn id="8" idx="3"/>
              <a:endCxn id="34" idx="1"/>
            </p:cNvCxnSpPr>
            <p:nvPr/>
          </p:nvCxnSpPr>
          <p:spPr>
            <a:xfrm>
              <a:off x="6782765" y="2930759"/>
              <a:ext cx="763250" cy="35636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肘形连接符 37"/>
            <p:cNvCxnSpPr>
              <a:stCxn id="33" idx="3"/>
              <a:endCxn id="34" idx="1"/>
            </p:cNvCxnSpPr>
            <p:nvPr/>
          </p:nvCxnSpPr>
          <p:spPr>
            <a:xfrm flipV="1">
              <a:off x="6782765" y="3287120"/>
              <a:ext cx="763250" cy="54171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9447758" y="2359982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行业营销拓展</a:t>
              </a:r>
              <a:endParaRPr lang="zh-CN" altLang="en-US" sz="1400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9447758" y="3172700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解决方案</a:t>
              </a:r>
              <a:endParaRPr lang="zh-CN" altLang="en-US" sz="1400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9447758" y="4013196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产品研发</a:t>
              </a:r>
              <a:endParaRPr lang="zh-CN" altLang="en-US" sz="1400" dirty="0"/>
            </a:p>
          </p:txBody>
        </p:sp>
        <p:cxnSp>
          <p:nvCxnSpPr>
            <p:cNvPr id="48" name="肘形连接符 47"/>
            <p:cNvCxnSpPr>
              <a:stCxn id="34" idx="3"/>
              <a:endCxn id="43" idx="1"/>
            </p:cNvCxnSpPr>
            <p:nvPr/>
          </p:nvCxnSpPr>
          <p:spPr>
            <a:xfrm flipV="1">
              <a:off x="8977683" y="2669028"/>
              <a:ext cx="470075" cy="61809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>
              <a:stCxn id="34" idx="3"/>
              <a:endCxn id="46" idx="1"/>
            </p:cNvCxnSpPr>
            <p:nvPr/>
          </p:nvCxnSpPr>
          <p:spPr>
            <a:xfrm>
              <a:off x="8977683" y="3287120"/>
              <a:ext cx="470075" cy="19462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肘形连接符 54"/>
            <p:cNvCxnSpPr>
              <a:stCxn id="34" idx="3"/>
              <a:endCxn id="47" idx="1"/>
            </p:cNvCxnSpPr>
            <p:nvPr/>
          </p:nvCxnSpPr>
          <p:spPr>
            <a:xfrm>
              <a:off x="8977683" y="3287120"/>
              <a:ext cx="470075" cy="103512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Oval 140"/>
          <p:cNvSpPr>
            <a:spLocks noChangeAspect="1"/>
          </p:cNvSpPr>
          <p:nvPr/>
        </p:nvSpPr>
        <p:spPr>
          <a:xfrm>
            <a:off x="4771537" y="232196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5" name="矩形 64"/>
          <p:cNvSpPr/>
          <p:nvPr/>
        </p:nvSpPr>
        <p:spPr>
          <a:xfrm>
            <a:off x="5236821" y="4665356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立项项目池</a:t>
            </a:r>
            <a:endParaRPr lang="zh-CN" altLang="en-US" sz="1400" dirty="0"/>
          </a:p>
        </p:txBody>
      </p:sp>
      <p:sp>
        <p:nvSpPr>
          <p:cNvPr id="66" name="矩形 65"/>
          <p:cNvSpPr/>
          <p:nvPr/>
        </p:nvSpPr>
        <p:spPr>
          <a:xfrm>
            <a:off x="5236820" y="5416416"/>
            <a:ext cx="1927909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系统</a:t>
            </a:r>
            <a:r>
              <a:rPr lang="zh-CN" altLang="en-US" sz="1400" dirty="0" smtClean="0"/>
              <a:t>部重客首单</a:t>
            </a:r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5236819" y="6090061"/>
            <a:ext cx="1927910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系统部解决方案前三单</a:t>
            </a:r>
            <a:endParaRPr lang="zh-CN" altLang="en-US" sz="1400" dirty="0"/>
          </a:p>
        </p:txBody>
      </p:sp>
      <p:sp>
        <p:nvSpPr>
          <p:cNvPr id="69" name="矩形 68"/>
          <p:cNvSpPr/>
          <p:nvPr/>
        </p:nvSpPr>
        <p:spPr>
          <a:xfrm>
            <a:off x="7704005" y="5408703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立项评审</a:t>
            </a:r>
            <a:endParaRPr lang="zh-CN" altLang="en-US" sz="1400" dirty="0"/>
          </a:p>
        </p:txBody>
      </p:sp>
      <p:sp>
        <p:nvSpPr>
          <p:cNvPr id="70" name="矩形 69"/>
          <p:cNvSpPr/>
          <p:nvPr/>
        </p:nvSpPr>
        <p:spPr>
          <a:xfrm>
            <a:off x="9699818" y="5408704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成立专属项目组</a:t>
            </a:r>
            <a:endParaRPr lang="zh-CN" altLang="en-US" sz="1400" dirty="0"/>
          </a:p>
        </p:txBody>
      </p:sp>
      <p:cxnSp>
        <p:nvCxnSpPr>
          <p:cNvPr id="44" name="肘形连接符 43"/>
          <p:cNvCxnSpPr>
            <a:stCxn id="65" idx="3"/>
            <a:endCxn id="69" idx="1"/>
          </p:cNvCxnSpPr>
          <p:nvPr/>
        </p:nvCxnSpPr>
        <p:spPr>
          <a:xfrm>
            <a:off x="7164729" y="4895822"/>
            <a:ext cx="539276" cy="7433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连接符 72"/>
          <p:cNvCxnSpPr>
            <a:stCxn id="66" idx="3"/>
            <a:endCxn id="69" idx="1"/>
          </p:cNvCxnSpPr>
          <p:nvPr/>
        </p:nvCxnSpPr>
        <p:spPr>
          <a:xfrm flipV="1">
            <a:off x="7164729" y="5639169"/>
            <a:ext cx="539276" cy="7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肘形连接符 75"/>
          <p:cNvCxnSpPr>
            <a:stCxn id="68" idx="3"/>
            <a:endCxn id="69" idx="1"/>
          </p:cNvCxnSpPr>
          <p:nvPr/>
        </p:nvCxnSpPr>
        <p:spPr>
          <a:xfrm flipV="1">
            <a:off x="7164729" y="5639169"/>
            <a:ext cx="539276" cy="6813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/>
          <p:cNvCxnSpPr>
            <a:stCxn id="69" idx="3"/>
            <a:endCxn id="70" idx="1"/>
          </p:cNvCxnSpPr>
          <p:nvPr/>
        </p:nvCxnSpPr>
        <p:spPr>
          <a:xfrm>
            <a:off x="9160541" y="5639169"/>
            <a:ext cx="5392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4933846" y="4527262"/>
            <a:ext cx="6385208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Oval 140"/>
          <p:cNvSpPr>
            <a:spLocks noChangeAspect="1"/>
          </p:cNvSpPr>
          <p:nvPr/>
        </p:nvSpPr>
        <p:spPr>
          <a:xfrm>
            <a:off x="4760217" y="4503356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83" name="文本占位符 9"/>
          <p:cNvSpPr txBox="1">
            <a:spLocks/>
          </p:cNvSpPr>
          <p:nvPr/>
        </p:nvSpPr>
        <p:spPr>
          <a:xfrm>
            <a:off x="7812034" y="4527262"/>
            <a:ext cx="1348507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立项流程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等腰三角形 55"/>
          <p:cNvSpPr/>
          <p:nvPr/>
        </p:nvSpPr>
        <p:spPr>
          <a:xfrm>
            <a:off x="10301471" y="6082966"/>
            <a:ext cx="428264" cy="34696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占位符 9"/>
          <p:cNvSpPr txBox="1">
            <a:spLocks/>
          </p:cNvSpPr>
          <p:nvPr/>
        </p:nvSpPr>
        <p:spPr>
          <a:xfrm>
            <a:off x="10287919" y="580864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文本占位符 9"/>
          <p:cNvSpPr txBox="1">
            <a:spLocks/>
          </p:cNvSpPr>
          <p:nvPr/>
        </p:nvSpPr>
        <p:spPr>
          <a:xfrm>
            <a:off x="9875173" y="621347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0" name="文本占位符 9"/>
          <p:cNvSpPr txBox="1">
            <a:spLocks/>
          </p:cNvSpPr>
          <p:nvPr/>
        </p:nvSpPr>
        <p:spPr>
          <a:xfrm>
            <a:off x="10737355" y="6236270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74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2705</Words>
  <Application>Microsoft Office PowerPoint</Application>
  <PresentationFormat>宽屏</PresentationFormat>
  <Paragraphs>268</Paragraphs>
  <Slides>29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OPPOSans B</vt:lpstr>
      <vt:lpstr>OPPOSans M</vt:lpstr>
      <vt:lpstr>OPPOSans R</vt:lpstr>
      <vt:lpstr>等线</vt:lpstr>
      <vt:lpstr>等线 Light</vt:lpstr>
      <vt:lpstr>黑体</vt:lpstr>
      <vt:lpstr>SimSun</vt:lpstr>
      <vt:lpstr>Microsoft YaHei</vt:lpstr>
      <vt:lpstr>Arial</vt:lpstr>
      <vt:lpstr>Calibri</vt:lpstr>
      <vt:lpstr>Verdana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Lenovo</cp:lastModifiedBy>
  <cp:revision>48</cp:revision>
  <dcterms:created xsi:type="dcterms:W3CDTF">2025-05-17T07:29:00Z</dcterms:created>
  <dcterms:modified xsi:type="dcterms:W3CDTF">2025-05-21T10:14:55Z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CC50D88284534345BA152804333C22B7_13</vt:lpwstr>
  </property>
  <property fmtid="{D5CDD505-2E9C-101B-9397-08002B2CF9AE}" pid="3" name="KSOProductBuildVer">
    <vt:lpwstr>2052-12.1.0.21171</vt:lpwstr>
  </property>
</Properties>
</file>