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2"/>
  </p:notesMasterIdLst>
  <p:sldIdLst>
    <p:sldId id="256" r:id="rId3"/>
    <p:sldId id="259" r:id="rId4"/>
    <p:sldId id="267" r:id="rId5"/>
    <p:sldId id="276" r:id="rId6"/>
    <p:sldId id="278" r:id="rId7"/>
    <p:sldId id="273" r:id="rId8"/>
    <p:sldId id="271" r:id="rId9"/>
    <p:sldId id="270" r:id="rId10"/>
    <p:sldId id="266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24" autoAdjust="0"/>
  </p:normalViewPr>
  <p:slideViewPr>
    <p:cSldViewPr snapToGrid="0">
      <p:cViewPr varScale="1">
        <p:scale>
          <a:sx n="116" d="100"/>
          <a:sy n="116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50FCB-07F6-4B22-B162-6C5FE8368D04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51AD-B4A1-46FE-A52F-08C91A080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2025/4/22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864"/>
            <a:ext cx="12193538" cy="6857136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2015" y="2301330"/>
            <a:ext cx="8348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M8.3 </a:t>
            </a:r>
            <a:r>
              <a:rPr kumimoji="1" lang="zh-CN" altLang="en-US" sz="36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</a:t>
            </a:r>
            <a:r>
              <a:rPr kumimoji="1" lang="zh-CN" altLang="en-US" sz="3600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客户回应与</a:t>
            </a:r>
            <a:r>
              <a:rPr kumimoji="1" lang="zh-CN" altLang="en-US" sz="36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线索生成流程发布</a:t>
            </a:r>
            <a:endParaRPr kumimoji="1" lang="zh-CN" altLang="en-US" sz="3600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2015" y="2947661"/>
            <a:ext cx="278634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 </a:t>
            </a:r>
            <a:r>
              <a:rPr kumimoji="1" lang="zh-CN" altLang="en-US" sz="2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需求线索</a:t>
            </a:r>
            <a:r>
              <a:rPr kumimoji="1" lang="zh-CN" altLang="en-US" sz="26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endParaRPr kumimoji="1" lang="zh-CN" altLang="en-US" sz="2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2015" y="5468044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 &amp; </a:t>
            </a:r>
            <a:r>
              <a:rPr kumimoji="1"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品牌营销部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2025.04.23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4" y="2469930"/>
            <a:ext cx="5073794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dirty="0" smtClean="0"/>
              <a:t>M8.3 </a:t>
            </a:r>
            <a:r>
              <a:rPr lang="zh-CN" altLang="en-US" dirty="0" smtClean="0"/>
              <a:t>这个业务是什么？</a:t>
            </a:r>
            <a:endParaRPr lang="en-US" altLang="zh-CN" dirty="0" smtClean="0"/>
          </a:p>
          <a:p>
            <a:pPr>
              <a:lnSpc>
                <a:spcPct val="150000"/>
              </a:lnSpc>
              <a:defRPr/>
            </a:pPr>
            <a:r>
              <a:rPr lang="zh-CN" altLang="en-US" dirty="0" smtClean="0"/>
              <a:t>客户代表要做什么？怎么</a:t>
            </a:r>
            <a:r>
              <a:rPr lang="zh-CN" altLang="en-US" dirty="0"/>
              <a:t>做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>
              <a:lnSpc>
                <a:spcPct val="150000"/>
              </a:lnSpc>
              <a:defRPr/>
            </a:pPr>
            <a:r>
              <a:rPr lang="en-US" altLang="zh-CN" dirty="0" smtClean="0"/>
              <a:t>CRM</a:t>
            </a:r>
            <a:r>
              <a:rPr lang="zh-CN" altLang="en-US" dirty="0" smtClean="0"/>
              <a:t>系统操作指导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 smtClean="0"/>
              <a:t>M8.3</a:t>
            </a:r>
            <a:r>
              <a:rPr lang="zh-CN" altLang="en-US" dirty="0" smtClean="0"/>
              <a:t>推进客户回应与线索生成：这个业务是什么？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90329" y="1380870"/>
            <a:ext cx="5482280" cy="1332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Demand Generation 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是要基于行业的重大机会、战略意图、细分市场、客户、主打方案和增长目标，从客户需求</a:t>
            </a:r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出发（而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不是从产品的功能</a:t>
            </a:r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出发），通过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规划并执行系列营销活动组合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，从品牌发声、价值主张、内容和体验设计等实现统一规划、协同一致、区域适配、闭环管理，高效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激发客户购买意愿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，从而为公司的产品、服务或解决方案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生成销售线索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或激发销售的市场营销举措</a:t>
            </a:r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0328" y="98451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流程定义：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19745" y="1380870"/>
            <a:ext cx="4471823" cy="107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从客户的场景和业务需求出发，而不是产品方案价值的角度，策划统一主题和发声、价值主张明确、客户收益量化、体验感强的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营销活动组合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激发客户购买意愿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达成获客和线索构建目标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，支撑部门重大机会达成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319744" y="98451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8" y="2712901"/>
            <a:ext cx="10012237" cy="366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8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5300174" cy="495935"/>
          </a:xfrm>
        </p:spPr>
        <p:txBody>
          <a:bodyPr/>
          <a:lstStyle/>
          <a:p>
            <a:r>
              <a:rPr lang="zh-CN" altLang="en-US" dirty="0" smtClean="0"/>
              <a:t>为什么要推进客户回应呢？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77" y="1769548"/>
            <a:ext cx="4344583" cy="365747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03629" y="1400216"/>
            <a:ext cx="2171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AIDA</a:t>
            </a:r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漏斗模型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2386" y="1934167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这是什么？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吸引客户的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注意力，使他们对产品或服务产生兴趣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通过广告、宣传活动、独特的产品包装等方式实现。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72386" y="2786768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我喜欢这个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吸引客户注意力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的基础上，进一步激发他们对产品或服务的兴趣，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让客户了解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产品或服务的特点、优势和价值。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72386" y="3676581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我想要这个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激发客户的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购买欲望，使他们产生对产品或服务的渴望和需求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通过强调产品的独特卖点、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满足客户的特定需求等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方式实现。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525039" y="2322619"/>
            <a:ext cx="906162" cy="2636457"/>
            <a:chOff x="3912973" y="2339545"/>
            <a:chExt cx="1515762" cy="2636457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3912973" y="2339545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V="1">
              <a:off x="3912973" y="3192146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3912973" y="4081959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V="1">
              <a:off x="3912973" y="4976001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4472386" y="4570623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我要得到这个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促使客户采取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购买行动，将购买欲望转化为实际的购买行为。企业可以通过提供便捷的购买渠道、促销活动等方式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鼓励客户购买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燕尾形 23"/>
          <p:cNvSpPr/>
          <p:nvPr/>
        </p:nvSpPr>
        <p:spPr>
          <a:xfrm flipH="1">
            <a:off x="9052627" y="2143636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DG </a:t>
            </a:r>
            <a:r>
              <a:rPr lang="zh-CN" altLang="en-US" sz="1400" dirty="0" smtClean="0">
                <a:solidFill>
                  <a:schemeClr val="bg1"/>
                </a:solidFill>
              </a:rPr>
              <a:t>数字营销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5" name="燕尾形 24"/>
          <p:cNvSpPr/>
          <p:nvPr/>
        </p:nvSpPr>
        <p:spPr>
          <a:xfrm flipH="1">
            <a:off x="9052627" y="2996237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DG </a:t>
            </a:r>
            <a:r>
              <a:rPr lang="zh-CN" altLang="en-US" sz="1400" dirty="0" smtClean="0">
                <a:solidFill>
                  <a:schemeClr val="bg1"/>
                </a:solidFill>
              </a:rPr>
              <a:t>市场活动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6" name="燕尾形 25"/>
          <p:cNvSpPr/>
          <p:nvPr/>
        </p:nvSpPr>
        <p:spPr>
          <a:xfrm flipH="1">
            <a:off x="9052627" y="3781920"/>
            <a:ext cx="2397212" cy="647631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rgbClr val="FFC000"/>
                </a:solidFill>
              </a:rPr>
              <a:t>通过回访推进客户回应</a:t>
            </a:r>
            <a:endParaRPr lang="en-US" altLang="zh-CN" sz="1400" b="1" dirty="0" smtClean="0">
              <a:solidFill>
                <a:srgbClr val="FFC000"/>
              </a:solidFill>
            </a:endParaRPr>
          </a:p>
          <a:p>
            <a:pPr algn="ctr"/>
            <a:r>
              <a:rPr lang="zh-CN" altLang="en-US" sz="1400" b="1" dirty="0" smtClean="0">
                <a:solidFill>
                  <a:srgbClr val="FFC000"/>
                </a:solidFill>
              </a:rPr>
              <a:t>激发客户的需求和欲望</a:t>
            </a:r>
            <a:endParaRPr lang="zh-CN" altLang="en-US" sz="1400" b="1" dirty="0">
              <a:solidFill>
                <a:srgbClr val="FFC000"/>
              </a:solidFill>
            </a:endParaRPr>
          </a:p>
        </p:txBody>
      </p:sp>
      <p:sp>
        <p:nvSpPr>
          <p:cNvPr id="27" name="燕尾形 26"/>
          <p:cNvSpPr/>
          <p:nvPr/>
        </p:nvSpPr>
        <p:spPr>
          <a:xfrm flipH="1">
            <a:off x="9110292" y="4780092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</a:rPr>
              <a:t>生成线索并持续跟进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763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142205" y="4359393"/>
            <a:ext cx="4794421" cy="17366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现在，有关联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47784" y="4359393"/>
            <a:ext cx="4794421" cy="1736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原来，没关联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9316184" cy="495935"/>
          </a:xfrm>
        </p:spPr>
        <p:txBody>
          <a:bodyPr/>
          <a:lstStyle/>
          <a:p>
            <a:r>
              <a:rPr lang="zh-CN" altLang="en-US" dirty="0" smtClean="0"/>
              <a:t>客户代表怎么做？跟之前的做法有什么</a:t>
            </a:r>
            <a:r>
              <a:rPr lang="zh-CN" altLang="en-US" dirty="0"/>
              <a:t>不同？“</a:t>
            </a: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zh-CN" altLang="en-US" dirty="0" smtClean="0">
                <a:solidFill>
                  <a:srgbClr val="FF0000"/>
                </a:solidFill>
              </a:rPr>
              <a:t>回访</a:t>
            </a:r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</a:rPr>
              <a:t>一个关联</a:t>
            </a:r>
            <a:r>
              <a:rPr lang="zh-CN" altLang="en-US" dirty="0" smtClean="0"/>
              <a:t>”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573404" y="1496627"/>
            <a:ext cx="5423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研究显示：活动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结束后，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一周内对客户进行回访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询问客户对产品的兴趣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点，及时解答可能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存在的疑问，促进进一步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沟通和购买意向从而生成线索，及时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提供相关资料和解答，推动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购买决策。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10561"/>
              </p:ext>
            </p:extLst>
          </p:nvPr>
        </p:nvGraphicFramePr>
        <p:xfrm>
          <a:off x="6502062" y="1465946"/>
          <a:ext cx="4087379" cy="12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852"/>
                <a:gridCol w="2455527"/>
              </a:tblGrid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n-ea"/>
                          <a:ea typeface="+mn-ea"/>
                        </a:rPr>
                        <a:t>回访天数</a:t>
                      </a:r>
                      <a:endParaRPr lang="zh-CN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n-ea"/>
                          <a:ea typeface="+mn-ea"/>
                        </a:rPr>
                        <a:t>购买意向成功率</a:t>
                      </a:r>
                      <a:endParaRPr lang="zh-CN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1 - 3 </a:t>
                      </a:r>
                      <a:r>
                        <a:rPr lang="zh-CN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天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60% - 80%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3 - 7 </a:t>
                      </a:r>
                      <a:r>
                        <a:rPr lang="zh-CN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天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40% - 60%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+mn-ea"/>
                          <a:ea typeface="+mn-ea"/>
                        </a:rPr>
                        <a:t>7 </a:t>
                      </a:r>
                      <a:r>
                        <a:rPr lang="zh-CN" altLang="en-US" sz="1200" b="0" dirty="0" smtClean="0">
                          <a:latin typeface="+mn-ea"/>
                          <a:ea typeface="+mn-ea"/>
                        </a:rPr>
                        <a:t>天以上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+mn-ea"/>
                          <a:ea typeface="+mn-ea"/>
                        </a:rPr>
                        <a:t>30% </a:t>
                      </a:r>
                      <a:r>
                        <a:rPr lang="zh-CN" altLang="en-US" sz="1200" b="0" dirty="0" smtClean="0">
                          <a:latin typeface="+mn-ea"/>
                          <a:ea typeface="+mn-ea"/>
                        </a:rPr>
                        <a:t>以下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573404" y="3721891"/>
            <a:ext cx="515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回访后生成的线索，在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创建线索时，要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关联上“营销活动”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3404" y="4359393"/>
            <a:ext cx="2301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为什么要关联活动？</a:t>
            </a:r>
            <a:endParaRPr lang="en-US" altLang="zh-CN" sz="1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3404" y="112729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一个回访：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73404" y="336760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一个关联：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燕尾形 31"/>
          <p:cNvSpPr/>
          <p:nvPr/>
        </p:nvSpPr>
        <p:spPr>
          <a:xfrm>
            <a:off x="2463806" y="4778682"/>
            <a:ext cx="2578443" cy="1202724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原来市场活动质量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评估不准确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不知道哪场好，哪场不好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3" name="燕尾形 32"/>
          <p:cNvSpPr/>
          <p:nvPr/>
        </p:nvSpPr>
        <p:spPr>
          <a:xfrm>
            <a:off x="5233058" y="4778682"/>
            <a:ext cx="1826132" cy="1202724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营销费用的预算、计划、审批全凭经验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4" name="燕尾形 33"/>
          <p:cNvSpPr/>
          <p:nvPr/>
        </p:nvSpPr>
        <p:spPr>
          <a:xfrm>
            <a:off x="7249999" y="4778682"/>
            <a:ext cx="2270281" cy="1202724"/>
          </a:xfrm>
          <a:prstGeom prst="chevron">
            <a:avLst>
              <a:gd name="adj" fmla="val 29167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关联后，活动质量评估变得准确，可见，效果好，费用支持高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5" name="燕尾形 34"/>
          <p:cNvSpPr/>
          <p:nvPr/>
        </p:nvSpPr>
        <p:spPr>
          <a:xfrm>
            <a:off x="9711088" y="4778682"/>
            <a:ext cx="1886465" cy="1202724"/>
          </a:xfrm>
          <a:prstGeom prst="chevron">
            <a:avLst>
              <a:gd name="adj" fmla="val 29167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rgbClr val="FFC000"/>
                </a:solidFill>
              </a:rPr>
              <a:t>越关联越</a:t>
            </a:r>
            <a:r>
              <a:rPr lang="zh-CN" altLang="en-US" sz="1200" b="1" dirty="0" smtClean="0">
                <a:solidFill>
                  <a:srgbClr val="FFC000"/>
                </a:solidFill>
              </a:rPr>
              <a:t>有钱</a:t>
            </a:r>
            <a:endParaRPr lang="en-US" altLang="zh-CN" sz="1200" b="1" dirty="0" smtClean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 smtClean="0">
                <a:solidFill>
                  <a:srgbClr val="FFC000"/>
                </a:solidFill>
              </a:rPr>
              <a:t>不</a:t>
            </a:r>
            <a:r>
              <a:rPr lang="zh-CN" altLang="en-US" sz="1200" b="1" dirty="0">
                <a:solidFill>
                  <a:srgbClr val="FFC000"/>
                </a:solidFill>
              </a:rPr>
              <a:t>关联没有钱</a:t>
            </a:r>
          </a:p>
        </p:txBody>
      </p:sp>
    </p:spTree>
    <p:extLst>
      <p:ext uri="{BB962C8B-B14F-4D97-AF65-F5344CB8AC3E}">
        <p14:creationId xmlns:p14="http://schemas.microsoft.com/office/powerpoint/2010/main" val="263542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5440217" cy="495935"/>
          </a:xfrm>
        </p:spPr>
        <p:txBody>
          <a:bodyPr/>
          <a:lstStyle/>
          <a:p>
            <a:r>
              <a:rPr lang="zh-CN" altLang="en-US" dirty="0" smtClean="0"/>
              <a:t>如何关联？</a:t>
            </a:r>
            <a:r>
              <a:rPr lang="en-US" altLang="zh-CN" dirty="0" smtClean="0"/>
              <a:t>CRM</a:t>
            </a:r>
            <a:r>
              <a:rPr lang="zh-CN" altLang="en-US" dirty="0" smtClean="0"/>
              <a:t>截图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642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8" y="2366912"/>
            <a:ext cx="10760356" cy="3943273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6319764" cy="495935"/>
          </a:xfrm>
        </p:spPr>
        <p:txBody>
          <a:bodyPr/>
          <a:lstStyle/>
          <a:p>
            <a:r>
              <a:rPr lang="en-US" altLang="zh-CN" dirty="0" smtClean="0"/>
              <a:t>M8.3 </a:t>
            </a:r>
            <a:r>
              <a:rPr lang="zh-CN" altLang="en-US" dirty="0" smtClean="0"/>
              <a:t>推进</a:t>
            </a:r>
            <a:r>
              <a:rPr lang="zh-CN" altLang="en-US" dirty="0"/>
              <a:t>客户回应与线索</a:t>
            </a:r>
            <a:r>
              <a:rPr lang="zh-CN" altLang="en-US" dirty="0" smtClean="0"/>
              <a:t>生成流程回顾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90329" y="1446774"/>
            <a:ext cx="548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满足外部客户的需求与问题反馈，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及时响应并跟进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解决，从营销活动中获取到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足够多的营销线索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，为一线销售扩大漏斗提供输入。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0328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19745" y="1446774"/>
            <a:ext cx="4471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本流程适用于通过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营销活动收集到客户信息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后，根据不同类型通过不同方式推进客户回应，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生成线索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19744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形标注 6"/>
          <p:cNvSpPr/>
          <p:nvPr/>
        </p:nvSpPr>
        <p:spPr>
          <a:xfrm>
            <a:off x="6072609" y="3229769"/>
            <a:ext cx="740083" cy="444843"/>
          </a:xfrm>
          <a:prstGeom prst="wedgeEllipseCallout">
            <a:avLst>
              <a:gd name="adj1" fmla="val -40161"/>
              <a:gd name="adj2" fmla="val 643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一个回访</a:t>
            </a:r>
            <a:endParaRPr lang="zh-CN" altLang="en-US" sz="1200" b="1" dirty="0"/>
          </a:p>
        </p:txBody>
      </p:sp>
      <p:sp>
        <p:nvSpPr>
          <p:cNvPr id="14" name="椭圆形标注 13"/>
          <p:cNvSpPr/>
          <p:nvPr/>
        </p:nvSpPr>
        <p:spPr>
          <a:xfrm>
            <a:off x="8119033" y="3467340"/>
            <a:ext cx="740083" cy="444843"/>
          </a:xfrm>
          <a:prstGeom prst="wedgeEllipseCallout">
            <a:avLst>
              <a:gd name="adj1" fmla="val -40161"/>
              <a:gd name="adj2" fmla="val 643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一个关联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499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26818" y="3330246"/>
            <a:ext cx="10750782" cy="3433019"/>
          </a:xfrm>
          <a:prstGeom prst="roundRect">
            <a:avLst>
              <a:gd name="adj" fmla="val 5792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C</a:t>
            </a:r>
          </a:p>
          <a:p>
            <a:r>
              <a:rPr lang="en-US" altLang="zh-CN" dirty="0" smtClean="0">
                <a:solidFill>
                  <a:schemeClr val="tx1"/>
                </a:solidFill>
              </a:rPr>
              <a:t>R</a:t>
            </a:r>
          </a:p>
          <a:p>
            <a:r>
              <a:rPr lang="en-US" altLang="zh-CN" dirty="0" smtClean="0">
                <a:solidFill>
                  <a:schemeClr val="tx1"/>
                </a:solidFill>
              </a:rPr>
              <a:t>M</a:t>
            </a:r>
          </a:p>
          <a:p>
            <a:r>
              <a:rPr lang="zh-CN" altLang="en-US" dirty="0" smtClean="0">
                <a:solidFill>
                  <a:schemeClr val="tx1"/>
                </a:solidFill>
              </a:rPr>
              <a:t>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26818" y="897652"/>
            <a:ext cx="10750782" cy="2415357"/>
          </a:xfrm>
          <a:prstGeom prst="roundRect">
            <a:avLst>
              <a:gd name="adj" fmla="val 579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动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5456692" cy="495935"/>
          </a:xfrm>
        </p:spPr>
        <p:txBody>
          <a:bodyPr/>
          <a:lstStyle/>
          <a:p>
            <a:r>
              <a:rPr lang="zh-CN" altLang="en-US" dirty="0" smtClean="0"/>
              <a:t>活动系统与</a:t>
            </a:r>
            <a:r>
              <a:rPr lang="en-US" altLang="zh-CN" dirty="0" smtClean="0"/>
              <a:t>CRM</a:t>
            </a:r>
            <a:r>
              <a:rPr lang="zh-CN" altLang="en-US" dirty="0" smtClean="0"/>
              <a:t>系统操作指导</a:t>
            </a:r>
            <a:endParaRPr lang="zh-CN" altLang="en-US" dirty="0"/>
          </a:p>
        </p:txBody>
      </p:sp>
      <p:sp>
        <p:nvSpPr>
          <p:cNvPr id="5" name="燕尾形 4"/>
          <p:cNvSpPr/>
          <p:nvPr/>
        </p:nvSpPr>
        <p:spPr>
          <a:xfrm>
            <a:off x="1364237" y="1012126"/>
            <a:ext cx="3697180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1</a:t>
            </a:r>
            <a:r>
              <a:rPr lang="zh-CN" altLang="en-US" sz="1400" dirty="0" smtClean="0">
                <a:solidFill>
                  <a:schemeClr val="bg1"/>
                </a:solidFill>
              </a:rPr>
              <a:t>、使用活动系统的二维码签到和问卷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21447"/>
          <a:stretch/>
        </p:blipFill>
        <p:spPr>
          <a:xfrm>
            <a:off x="5842104" y="1599988"/>
            <a:ext cx="5097744" cy="1621007"/>
          </a:xfrm>
          <a:prstGeom prst="rect">
            <a:avLst/>
          </a:prstGeom>
        </p:spPr>
      </p:pic>
      <p:sp>
        <p:nvSpPr>
          <p:cNvPr id="7" name="燕尾形 6"/>
          <p:cNvSpPr/>
          <p:nvPr/>
        </p:nvSpPr>
        <p:spPr>
          <a:xfrm>
            <a:off x="5842104" y="1012126"/>
            <a:ext cx="5097744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2</a:t>
            </a:r>
            <a:r>
              <a:rPr lang="zh-CN" altLang="en-US" sz="1400" dirty="0" smtClean="0">
                <a:solidFill>
                  <a:schemeClr val="bg1"/>
                </a:solidFill>
              </a:rPr>
              <a:t>、活动系统参会客户页面，点击“创建</a:t>
            </a:r>
            <a:r>
              <a:rPr lang="en-US" altLang="zh-CN" sz="1400" dirty="0" err="1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客户”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67" y="3853332"/>
            <a:ext cx="3341793" cy="2835792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364236" y="1599988"/>
            <a:ext cx="3697182" cy="1658077"/>
            <a:chOff x="458074" y="1591750"/>
            <a:chExt cx="3697182" cy="165807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4"/>
            <a:srcRect b="72512"/>
            <a:stretch/>
          </p:blipFill>
          <p:spPr>
            <a:xfrm>
              <a:off x="458075" y="1591750"/>
              <a:ext cx="3697181" cy="69013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t="61447"/>
            <a:stretch/>
          </p:blipFill>
          <p:spPr>
            <a:xfrm>
              <a:off x="458074" y="2281881"/>
              <a:ext cx="3697181" cy="967946"/>
            </a:xfrm>
            <a:prstGeom prst="rect">
              <a:avLst/>
            </a:prstGeom>
          </p:spPr>
        </p:pic>
      </p:grpSp>
      <p:sp>
        <p:nvSpPr>
          <p:cNvPr id="11" name="燕尾形 10"/>
          <p:cNvSpPr/>
          <p:nvPr/>
        </p:nvSpPr>
        <p:spPr>
          <a:xfrm>
            <a:off x="1364236" y="3373106"/>
            <a:ext cx="4015072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3</a:t>
            </a:r>
            <a:r>
              <a:rPr lang="zh-CN" altLang="en-US" sz="1400" dirty="0" smtClean="0">
                <a:solidFill>
                  <a:schemeClr val="bg1"/>
                </a:solidFill>
              </a:rPr>
              <a:t>、</a:t>
            </a:r>
            <a:r>
              <a:rPr lang="en-US" altLang="zh-CN" sz="1400" dirty="0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客户页面添加回访的沟通记录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5842104" y="3373106"/>
            <a:ext cx="5097744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</a:rPr>
              <a:t>4</a:t>
            </a:r>
            <a:r>
              <a:rPr lang="zh-CN" altLang="en-US" sz="1400" dirty="0" smtClean="0">
                <a:solidFill>
                  <a:schemeClr val="bg1"/>
                </a:solidFill>
              </a:rPr>
              <a:t>、发现新线索，在</a:t>
            </a:r>
            <a:r>
              <a:rPr lang="en-US" altLang="zh-CN" sz="1400" dirty="0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上创建线索并关联“营销活动”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爆炸形 1 12"/>
          <p:cNvSpPr/>
          <p:nvPr/>
        </p:nvSpPr>
        <p:spPr>
          <a:xfrm>
            <a:off x="3745919" y="3801184"/>
            <a:ext cx="1864787" cy="864973"/>
          </a:xfrm>
          <a:prstGeom prst="irregularSeal1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r>
              <a:rPr lang="zh-CN" altLang="en-US" sz="1400" dirty="0" smtClean="0"/>
              <a:t>周内回访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2231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740</Words>
  <Application>Microsoft Office PowerPoint</Application>
  <PresentationFormat>宽屏</PresentationFormat>
  <Paragraphs>75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等线</vt:lpstr>
      <vt:lpstr>等线 Light</vt:lpstr>
      <vt:lpstr>宋体</vt:lpstr>
      <vt:lpstr>微软雅黑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ruijie</cp:lastModifiedBy>
  <cp:revision>155</cp:revision>
  <dcterms:created xsi:type="dcterms:W3CDTF">2023-01-31T08:37:00Z</dcterms:created>
  <dcterms:modified xsi:type="dcterms:W3CDTF">2025-04-22T08:37:11Z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FC3DAD5E4268449992511FCE7F88E9A6</vt:lpwstr>
  </property>
  <property fmtid="{D5CDD505-2E9C-101B-9397-08002B2CF9AE}" pid="3" name="KSOProductBuildVer">
    <vt:lpwstr>2052-11.1.0.14309</vt:lpwstr>
  </property>
</Properties>
</file>