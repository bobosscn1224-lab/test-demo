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0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67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4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7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5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0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12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0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1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3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24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347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98E00-EE51-4045-B933-7319A988C347}" type="datetimeFigureOut">
              <a:rPr lang="zh-CN" altLang="en-US" smtClean="0"/>
              <a:t>2025/4/15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54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234"/>
          <p:cNvSpPr/>
          <p:nvPr/>
        </p:nvSpPr>
        <p:spPr>
          <a:xfrm>
            <a:off x="1239081" y="1904251"/>
            <a:ext cx="10743010" cy="2314065"/>
          </a:xfrm>
          <a:prstGeom prst="rect">
            <a:avLst/>
          </a:prstGeom>
          <a:solidFill>
            <a:srgbClr val="FF6A00">
              <a:lumMod val="20000"/>
              <a:lumOff val="80000"/>
            </a:srgbClr>
          </a:solidFill>
          <a:ln w="9525" algn="ctr">
            <a:solidFill>
              <a:srgbClr val="808080"/>
            </a:solidFill>
            <a:round/>
          </a:ln>
          <a:effectLst/>
        </p:spPr>
        <p:txBody>
          <a:bodyPr wrap="square" lIns="73095" tIns="73095" rIns="73095" bIns="73095" anchor="ctr">
            <a:noAutofit/>
          </a:bodyPr>
          <a:lstStyle/>
          <a:p>
            <a:pPr marL="0" marR="0" lvl="0" indent="0" algn="l" defTabSz="121819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57" y="220217"/>
            <a:ext cx="4658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 smtClean="0">
                <a:latin typeface="微软雅黑"/>
                <a:cs typeface="微软雅黑"/>
              </a:rPr>
              <a:t>端到端整体业务方案架</a:t>
            </a:r>
            <a:r>
              <a:rPr sz="2800" b="1" spc="-50" dirty="0" err="1" smtClean="0">
                <a:latin typeface="微软雅黑"/>
                <a:cs typeface="微软雅黑"/>
              </a:rPr>
              <a:t>构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  <p:grpSp>
        <p:nvGrpSpPr>
          <p:cNvPr id="98" name="Group 220"/>
          <p:cNvGrpSpPr/>
          <p:nvPr/>
        </p:nvGrpSpPr>
        <p:grpSpPr>
          <a:xfrm>
            <a:off x="1349649" y="1192003"/>
            <a:ext cx="10523175" cy="550923"/>
            <a:chOff x="1764637" y="866353"/>
            <a:chExt cx="11157859" cy="551067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99" name="Chevron 221"/>
            <p:cNvSpPr/>
            <p:nvPr/>
          </p:nvSpPr>
          <p:spPr>
            <a:xfrm>
              <a:off x="3153830" y="872629"/>
              <a:ext cx="1463803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b="1" kern="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0" name="Chevron 222"/>
            <p:cNvSpPr/>
            <p:nvPr/>
          </p:nvSpPr>
          <p:spPr>
            <a:xfrm>
              <a:off x="4380045" y="871347"/>
              <a:ext cx="1626782" cy="5389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商机到合同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1" name="Chevron 223"/>
            <p:cNvSpPr/>
            <p:nvPr/>
          </p:nvSpPr>
          <p:spPr>
            <a:xfrm>
              <a:off x="5748223" y="871347"/>
              <a:ext cx="1772260" cy="5443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Chevron 224"/>
            <p:cNvSpPr/>
            <p:nvPr/>
          </p:nvSpPr>
          <p:spPr>
            <a:xfrm>
              <a:off x="7285106" y="869931"/>
              <a:ext cx="1457906" cy="54658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Chevron 225"/>
            <p:cNvSpPr/>
            <p:nvPr/>
          </p:nvSpPr>
          <p:spPr>
            <a:xfrm>
              <a:off x="8524434" y="870381"/>
              <a:ext cx="1284162" cy="539883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Chevron 226"/>
            <p:cNvSpPr/>
            <p:nvPr/>
          </p:nvSpPr>
          <p:spPr>
            <a:xfrm>
              <a:off x="9575045" y="870380"/>
              <a:ext cx="1368179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物资发货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5" name="Chevron 227"/>
            <p:cNvSpPr/>
            <p:nvPr/>
          </p:nvSpPr>
          <p:spPr>
            <a:xfrm>
              <a:off x="10691936" y="866353"/>
              <a:ext cx="1195455" cy="55106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6" name="Chevron 228"/>
            <p:cNvSpPr/>
            <p:nvPr/>
          </p:nvSpPr>
          <p:spPr>
            <a:xfrm>
              <a:off x="11648055" y="870380"/>
              <a:ext cx="1274441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Chevron 230"/>
            <p:cNvSpPr/>
            <p:nvPr/>
          </p:nvSpPr>
          <p:spPr>
            <a:xfrm>
              <a:off x="1764637" y="873856"/>
              <a:ext cx="1613666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>
            <a:off x="220427" y="1904251"/>
            <a:ext cx="901007" cy="231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P1</a:t>
            </a:r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>
            <a:off x="220426" y="4399471"/>
            <a:ext cx="901007" cy="1897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P2</a:t>
            </a:r>
            <a:endParaRPr lang="zh-CN" altLang="en-US" dirty="0"/>
          </a:p>
        </p:txBody>
      </p:sp>
      <p:grpSp>
        <p:nvGrpSpPr>
          <p:cNvPr id="111" name="Group 217"/>
          <p:cNvGrpSpPr/>
          <p:nvPr/>
        </p:nvGrpSpPr>
        <p:grpSpPr>
          <a:xfrm>
            <a:off x="1545195" y="1987048"/>
            <a:ext cx="821253" cy="562939"/>
            <a:chOff x="1045221" y="1797823"/>
            <a:chExt cx="909599" cy="793856"/>
          </a:xfrm>
        </p:grpSpPr>
        <p:sp>
          <p:nvSpPr>
            <p:cNvPr id="112" name="Rectangle 91"/>
            <p:cNvSpPr>
              <a:spLocks noChangeArrowheads="1"/>
            </p:cNvSpPr>
            <p:nvPr/>
          </p:nvSpPr>
          <p:spPr bwMode="auto">
            <a:xfrm>
              <a:off x="1045221" y="2105679"/>
              <a:ext cx="882731" cy="48600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客户信息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销售锁定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247"/>
          <p:cNvGrpSpPr/>
          <p:nvPr/>
        </p:nvGrpSpPr>
        <p:grpSpPr>
          <a:xfrm>
            <a:off x="4040361" y="2017165"/>
            <a:ext cx="820640" cy="581408"/>
            <a:chOff x="1045898" y="1797823"/>
            <a:chExt cx="908920" cy="819899"/>
          </a:xfrm>
        </p:grpSpPr>
        <p:sp>
          <p:nvSpPr>
            <p:cNvPr id="115" name="Rectangle 91"/>
            <p:cNvSpPr>
              <a:spLocks noChangeArrowheads="1"/>
            </p:cNvSpPr>
            <p:nvPr/>
          </p:nvSpPr>
          <p:spPr bwMode="auto">
            <a:xfrm>
              <a:off x="1045898" y="2131721"/>
              <a:ext cx="901545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销售商机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商机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48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7" name="Group 247"/>
          <p:cNvGrpSpPr/>
          <p:nvPr/>
        </p:nvGrpSpPr>
        <p:grpSpPr>
          <a:xfrm>
            <a:off x="2794137" y="2001293"/>
            <a:ext cx="821254" cy="581409"/>
            <a:chOff x="1045220" y="1797823"/>
            <a:chExt cx="909600" cy="819901"/>
          </a:xfrm>
        </p:grpSpPr>
        <p:sp>
          <p:nvSpPr>
            <p:cNvPr id="118" name="Rectangle 91"/>
            <p:cNvSpPr>
              <a:spLocks noChangeArrowheads="1"/>
            </p:cNvSpPr>
            <p:nvPr/>
          </p:nvSpPr>
          <p:spPr bwMode="auto">
            <a:xfrm>
              <a:off x="1045220" y="2131722"/>
              <a:ext cx="882731" cy="486002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营销线索</a:t>
              </a:r>
              <a:endParaRPr lang="en-US" altLang="zh-CN" sz="1000" kern="0" noProof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销售线索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20" name="Elbow Connector 250"/>
          <p:cNvCxnSpPr>
            <a:stCxn id="112" idx="3"/>
            <a:endCxn id="118" idx="1"/>
          </p:cNvCxnSpPr>
          <p:nvPr/>
        </p:nvCxnSpPr>
        <p:spPr>
          <a:xfrm>
            <a:off x="2342190" y="2377671"/>
            <a:ext cx="451947" cy="3271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30" name="Elbow Connector 250"/>
          <p:cNvCxnSpPr>
            <a:stCxn id="118" idx="3"/>
            <a:endCxn id="115" idx="1"/>
          </p:cNvCxnSpPr>
          <p:nvPr/>
        </p:nvCxnSpPr>
        <p:spPr>
          <a:xfrm>
            <a:off x="3591132" y="2410385"/>
            <a:ext cx="449229" cy="158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33" name="Group 251"/>
          <p:cNvGrpSpPr/>
          <p:nvPr/>
        </p:nvGrpSpPr>
        <p:grpSpPr>
          <a:xfrm>
            <a:off x="4028231" y="2795997"/>
            <a:ext cx="821253" cy="572175"/>
            <a:chOff x="1045221" y="1797822"/>
            <a:chExt cx="909599" cy="806879"/>
          </a:xfrm>
        </p:grpSpPr>
        <p:sp>
          <p:nvSpPr>
            <p:cNvPr id="134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立项管理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特价审批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Text Box 9"/>
            <p:cNvSpPr txBox="1">
              <a:spLocks noChangeArrowheads="1"/>
            </p:cNvSpPr>
            <p:nvPr/>
          </p:nvSpPr>
          <p:spPr bwMode="auto">
            <a:xfrm>
              <a:off x="1049570" y="1797822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CPQ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36" name="Elbow Connector 250"/>
          <p:cNvCxnSpPr>
            <a:stCxn id="115" idx="2"/>
            <a:endCxn id="135" idx="0"/>
          </p:cNvCxnSpPr>
          <p:nvPr/>
        </p:nvCxnSpPr>
        <p:spPr>
          <a:xfrm rot="5400000">
            <a:off x="4345375" y="2694020"/>
            <a:ext cx="197424" cy="653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0" name="Group 251"/>
          <p:cNvGrpSpPr/>
          <p:nvPr/>
        </p:nvGrpSpPr>
        <p:grpSpPr>
          <a:xfrm>
            <a:off x="4016103" y="3552699"/>
            <a:ext cx="821253" cy="572174"/>
            <a:chOff x="1045221" y="1797823"/>
            <a:chExt cx="909599" cy="806878"/>
          </a:xfrm>
        </p:grpSpPr>
        <p:sp>
          <p:nvSpPr>
            <p:cNvPr id="141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合同签署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订单申请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合同管理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44" name="Elbow Connector 250"/>
          <p:cNvCxnSpPr>
            <a:stCxn id="134" idx="2"/>
            <a:endCxn id="142" idx="0"/>
          </p:cNvCxnSpPr>
          <p:nvPr/>
        </p:nvCxnSpPr>
        <p:spPr>
          <a:xfrm rot="16200000" flipH="1">
            <a:off x="4335448" y="3459453"/>
            <a:ext cx="184527" cy="196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7" name="Group 251"/>
          <p:cNvGrpSpPr/>
          <p:nvPr/>
        </p:nvGrpSpPr>
        <p:grpSpPr>
          <a:xfrm>
            <a:off x="5430836" y="2010528"/>
            <a:ext cx="821253" cy="572174"/>
            <a:chOff x="1045221" y="1797823"/>
            <a:chExt cx="909599" cy="806878"/>
          </a:xfrm>
        </p:grpSpPr>
        <p:sp>
          <p:nvSpPr>
            <p:cNvPr id="148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订单下单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订单交付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52" name="Elbow Connector 250"/>
          <p:cNvCxnSpPr>
            <a:stCxn id="141" idx="3"/>
            <a:endCxn id="148" idx="1"/>
          </p:cNvCxnSpPr>
          <p:nvPr/>
        </p:nvCxnSpPr>
        <p:spPr>
          <a:xfrm flipV="1">
            <a:off x="4813098" y="2410386"/>
            <a:ext cx="617738" cy="15421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55" name="Group 251"/>
          <p:cNvGrpSpPr/>
          <p:nvPr/>
        </p:nvGrpSpPr>
        <p:grpSpPr>
          <a:xfrm>
            <a:off x="6778090" y="1987048"/>
            <a:ext cx="821253" cy="572174"/>
            <a:chOff x="1045221" y="1797823"/>
            <a:chExt cx="909599" cy="806878"/>
          </a:xfrm>
        </p:grpSpPr>
        <p:sp>
          <p:nvSpPr>
            <p:cNvPr id="15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需求预测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产能与排产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58" name="Group 251"/>
          <p:cNvGrpSpPr/>
          <p:nvPr/>
        </p:nvGrpSpPr>
        <p:grpSpPr>
          <a:xfrm>
            <a:off x="6778090" y="2909768"/>
            <a:ext cx="821253" cy="572174"/>
            <a:chOff x="1045221" y="1797823"/>
            <a:chExt cx="909599" cy="806878"/>
          </a:xfrm>
        </p:grpSpPr>
        <p:sp>
          <p:nvSpPr>
            <p:cNvPr id="15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供应商管理</a:t>
              </a:r>
              <a:endParaRPr lang="en-US" altLang="zh-CN" sz="100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采购合同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采购管理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61" name="Elbow Connector 250"/>
          <p:cNvCxnSpPr>
            <a:stCxn id="148" idx="3"/>
            <a:endCxn id="156" idx="1"/>
          </p:cNvCxnSpPr>
          <p:nvPr/>
        </p:nvCxnSpPr>
        <p:spPr>
          <a:xfrm flipV="1">
            <a:off x="6227831" y="2386906"/>
            <a:ext cx="550259" cy="2348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65" name="Elbow Connector 250"/>
          <p:cNvCxnSpPr>
            <a:stCxn id="156" idx="2"/>
            <a:endCxn id="160" idx="0"/>
          </p:cNvCxnSpPr>
          <p:nvPr/>
        </p:nvCxnSpPr>
        <p:spPr>
          <a:xfrm rot="16200000" flipH="1">
            <a:off x="7008361" y="2727449"/>
            <a:ext cx="350546" cy="1409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68" name="Group 251"/>
          <p:cNvGrpSpPr/>
          <p:nvPr/>
        </p:nvGrpSpPr>
        <p:grpSpPr>
          <a:xfrm>
            <a:off x="7931078" y="2001293"/>
            <a:ext cx="821253" cy="572174"/>
            <a:chOff x="1045221" y="1797823"/>
            <a:chExt cx="909599" cy="806878"/>
          </a:xfrm>
        </p:grpSpPr>
        <p:sp>
          <p:nvSpPr>
            <p:cNvPr id="16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计划调度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生产管理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2" name="Elbow Connector 250"/>
          <p:cNvCxnSpPr>
            <a:stCxn id="159" idx="3"/>
            <a:endCxn id="169" idx="1"/>
          </p:cNvCxnSpPr>
          <p:nvPr/>
        </p:nvCxnSpPr>
        <p:spPr>
          <a:xfrm flipV="1">
            <a:off x="7575085" y="2401151"/>
            <a:ext cx="355993" cy="90847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75" name="Group 251"/>
          <p:cNvGrpSpPr/>
          <p:nvPr/>
        </p:nvGrpSpPr>
        <p:grpSpPr>
          <a:xfrm>
            <a:off x="8822437" y="2795996"/>
            <a:ext cx="1077047" cy="575466"/>
            <a:chOff x="1045221" y="1793180"/>
            <a:chExt cx="882731" cy="811521"/>
          </a:xfrm>
        </p:grpSpPr>
        <p:sp>
          <p:nvSpPr>
            <p:cNvPr id="17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WMS</a:t>
              </a: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Text Box 9"/>
            <p:cNvSpPr txBox="1">
              <a:spLocks noChangeArrowheads="1"/>
            </p:cNvSpPr>
            <p:nvPr/>
          </p:nvSpPr>
          <p:spPr bwMode="auto">
            <a:xfrm>
              <a:off x="1045221" y="1793180"/>
              <a:ext cx="882731" cy="32551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仓储物流管理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8" name="Elbow Connector 250"/>
          <p:cNvCxnSpPr>
            <a:stCxn id="169" idx="3"/>
            <a:endCxn id="177" idx="0"/>
          </p:cNvCxnSpPr>
          <p:nvPr/>
        </p:nvCxnSpPr>
        <p:spPr>
          <a:xfrm>
            <a:off x="8728073" y="2401151"/>
            <a:ext cx="632888" cy="394845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81" name="Group 251"/>
          <p:cNvGrpSpPr/>
          <p:nvPr/>
        </p:nvGrpSpPr>
        <p:grpSpPr>
          <a:xfrm>
            <a:off x="9944716" y="2011542"/>
            <a:ext cx="1884208" cy="656231"/>
            <a:chOff x="1045221" y="1797823"/>
            <a:chExt cx="2086901" cy="925416"/>
          </a:xfrm>
        </p:grpSpPr>
        <p:sp>
          <p:nvSpPr>
            <p:cNvPr id="182" name="Rectangle 91"/>
            <p:cNvSpPr>
              <a:spLocks noChangeArrowheads="1"/>
            </p:cNvSpPr>
            <p:nvPr/>
          </p:nvSpPr>
          <p:spPr bwMode="auto">
            <a:xfrm>
              <a:off x="1045221" y="2118701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</a:t>
              </a:r>
              <a:r>
                <a:rPr lang="en-US" altLang="zh-CN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</a:t>
              </a:r>
              <a:endParaRPr kumimoji="0" lang="en-US" altLang="zh-CN" sz="1000" b="0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开票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91"/>
            <p:cNvSpPr>
              <a:spLocks noChangeArrowheads="1"/>
            </p:cNvSpPr>
            <p:nvPr/>
          </p:nvSpPr>
          <p:spPr bwMode="auto">
            <a:xfrm>
              <a:off x="2238131" y="2127319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维保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增值服务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9" name="Text Box 9"/>
            <p:cNvSpPr txBox="1">
              <a:spLocks noChangeArrowheads="1"/>
            </p:cNvSpPr>
            <p:nvPr/>
          </p:nvSpPr>
          <p:spPr bwMode="auto">
            <a:xfrm>
              <a:off x="2226872" y="181693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84" name="Elbow Connector 250"/>
          <p:cNvCxnSpPr>
            <a:stCxn id="176" idx="3"/>
            <a:endCxn id="182" idx="2"/>
          </p:cNvCxnSpPr>
          <p:nvPr/>
        </p:nvCxnSpPr>
        <p:spPr>
          <a:xfrm flipV="1">
            <a:off x="9899484" y="2661663"/>
            <a:ext cx="443730" cy="53748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90" name="Elbow Connector 250"/>
          <p:cNvCxnSpPr>
            <a:stCxn id="182" idx="3"/>
            <a:endCxn id="188" idx="1"/>
          </p:cNvCxnSpPr>
          <p:nvPr/>
        </p:nvCxnSpPr>
        <p:spPr>
          <a:xfrm>
            <a:off x="10741711" y="2450373"/>
            <a:ext cx="280052" cy="611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4002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274280" y="4471782"/>
            <a:ext cx="2793391" cy="228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矩形 96"/>
          <p:cNvSpPr/>
          <p:nvPr/>
        </p:nvSpPr>
        <p:spPr>
          <a:xfrm>
            <a:off x="339483" y="4737088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bject 8"/>
          <p:cNvSpPr txBox="1"/>
          <p:nvPr/>
        </p:nvSpPr>
        <p:spPr>
          <a:xfrm>
            <a:off x="116348" y="17583"/>
            <a:ext cx="465899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400" b="1" spc="-35" dirty="0" smtClean="0">
                <a:latin typeface="微软雅黑"/>
                <a:cs typeface="微软雅黑"/>
              </a:rPr>
              <a:t>国内营销流程框架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8993" y="530525"/>
            <a:ext cx="2793391" cy="3904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78993" y="5305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市场规划</a:t>
            </a:r>
            <a:endParaRPr lang="zh-CN" altLang="en-US" sz="1200" b="1" dirty="0"/>
          </a:p>
        </p:txBody>
      </p:sp>
      <p:sp>
        <p:nvSpPr>
          <p:cNvPr id="4" name="矩形 3"/>
          <p:cNvSpPr/>
          <p:nvPr/>
        </p:nvSpPr>
        <p:spPr>
          <a:xfrm>
            <a:off x="339483" y="807524"/>
            <a:ext cx="2620518" cy="1048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265423" y="80295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市场分析与调研</a:t>
            </a:r>
            <a:endParaRPr lang="zh-CN" altLang="en-US" sz="1100" b="1" dirty="0"/>
          </a:p>
        </p:txBody>
      </p:sp>
      <p:sp>
        <p:nvSpPr>
          <p:cNvPr id="5" name="矩形 4"/>
          <p:cNvSpPr/>
          <p:nvPr/>
        </p:nvSpPr>
        <p:spPr>
          <a:xfrm>
            <a:off x="415290" y="107995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市场宏观消费分析研究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677174" y="107994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渠道终端需求分析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15290" y="14319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市场竞争分析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661" y="1919652"/>
            <a:ext cx="2620518" cy="131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274819" y="191277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市场策略</a:t>
            </a:r>
            <a:endParaRPr lang="zh-CN" altLang="en-US" sz="1100" b="1" dirty="0"/>
          </a:p>
        </p:txBody>
      </p:sp>
      <p:sp>
        <p:nvSpPr>
          <p:cNvPr id="79" name="矩形 78"/>
          <p:cNvSpPr/>
          <p:nvPr/>
        </p:nvSpPr>
        <p:spPr>
          <a:xfrm>
            <a:off x="412635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市场活动准备与宣贯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70977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市场活动供应商选择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12635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广告</a:t>
            </a:r>
            <a:r>
              <a:rPr lang="en-US" altLang="zh-CN" sz="900" dirty="0" smtClean="0">
                <a:solidFill>
                  <a:schemeClr val="tx1"/>
                </a:solidFill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</a:rPr>
              <a:t>宣传物料制作与投放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83092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终端活动现场管理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12635" y="285456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市场资源配置规划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26376" y="3299953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/>
        </p:nvSpPr>
        <p:spPr>
          <a:xfrm>
            <a:off x="252315" y="3279896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市场活动规划</a:t>
            </a:r>
            <a:endParaRPr lang="zh-CN" altLang="en-US" sz="1100" b="1" dirty="0"/>
          </a:p>
        </p:txBody>
      </p:sp>
      <p:sp>
        <p:nvSpPr>
          <p:cNvPr id="86" name="矩形 85"/>
          <p:cNvSpPr/>
          <p:nvPr/>
        </p:nvSpPr>
        <p:spPr>
          <a:xfrm>
            <a:off x="402920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市场推广活动规划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670976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详细市场活动计划制定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02920" y="387380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产品推广策略制定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2315" y="447714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市场推广执行</a:t>
            </a:r>
            <a:endParaRPr lang="zh-CN" altLang="en-US" sz="12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306150" y="473354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市场活动执行</a:t>
            </a:r>
            <a:endParaRPr lang="zh-CN" altLang="en-US" sz="1100" b="1" dirty="0"/>
          </a:p>
        </p:txBody>
      </p:sp>
      <p:sp>
        <p:nvSpPr>
          <p:cNvPr id="121" name="矩形 120"/>
          <p:cNvSpPr/>
          <p:nvPr/>
        </p:nvSpPr>
        <p:spPr>
          <a:xfrm>
            <a:off x="412635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市场进入与退出策略制定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670977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品牌策略制定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12635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产品推广策略制定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683092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产品销售通路选择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39483" y="5711665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350754" y="5727935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市场活动绩效监控</a:t>
            </a:r>
            <a:endParaRPr lang="zh-CN" altLang="en-US" sz="1100" b="1" dirty="0"/>
          </a:p>
        </p:txBody>
      </p:sp>
      <p:sp>
        <p:nvSpPr>
          <p:cNvPr id="127" name="矩形 126"/>
          <p:cNvSpPr/>
          <p:nvPr/>
        </p:nvSpPr>
        <p:spPr>
          <a:xfrm>
            <a:off x="412635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市场活动过程监督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670977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市场活动结果统计与评价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412635" y="631209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市场活动案例总结与推广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168358" y="530525"/>
            <a:ext cx="2793391" cy="1216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2" name="文本框 131"/>
          <p:cNvSpPr txBox="1"/>
          <p:nvPr/>
        </p:nvSpPr>
        <p:spPr>
          <a:xfrm>
            <a:off x="3112224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客户规划</a:t>
            </a:r>
            <a:endParaRPr lang="zh-CN" altLang="en-US" sz="1200" b="1" dirty="0"/>
          </a:p>
        </p:txBody>
      </p:sp>
      <p:sp>
        <p:nvSpPr>
          <p:cNvPr id="137" name="矩形 136"/>
          <p:cNvSpPr/>
          <p:nvPr/>
        </p:nvSpPr>
        <p:spPr>
          <a:xfrm>
            <a:off x="3205790" y="789038"/>
            <a:ext cx="2620518" cy="804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文本框 137"/>
          <p:cNvSpPr txBox="1"/>
          <p:nvPr/>
        </p:nvSpPr>
        <p:spPr>
          <a:xfrm>
            <a:off x="3131730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客户细分</a:t>
            </a:r>
            <a:endParaRPr lang="zh-CN" altLang="en-US" sz="1100" b="1" dirty="0"/>
          </a:p>
        </p:txBody>
      </p:sp>
      <p:sp>
        <p:nvSpPr>
          <p:cNvPr id="139" name="矩形 138"/>
          <p:cNvSpPr/>
          <p:nvPr/>
        </p:nvSpPr>
        <p:spPr>
          <a:xfrm>
            <a:off x="3276416" y="106603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客户分级标准制定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538300" y="10660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客户评级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168358" y="1809327"/>
            <a:ext cx="2793391" cy="4948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/>
          <p:cNvSpPr/>
          <p:nvPr/>
        </p:nvSpPr>
        <p:spPr>
          <a:xfrm>
            <a:off x="3205790" y="2067840"/>
            <a:ext cx="2620518" cy="7367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矩形 149"/>
          <p:cNvSpPr/>
          <p:nvPr/>
        </p:nvSpPr>
        <p:spPr>
          <a:xfrm>
            <a:off x="3276416" y="234484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538300" y="234483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3168358" y="180069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客户维护</a:t>
            </a:r>
            <a:endParaRPr lang="zh-CN" altLang="en-US" sz="1200" b="1" dirty="0"/>
          </a:p>
        </p:txBody>
      </p:sp>
      <p:sp>
        <p:nvSpPr>
          <p:cNvPr id="154" name="文本框 153"/>
          <p:cNvSpPr txBox="1"/>
          <p:nvPr/>
        </p:nvSpPr>
        <p:spPr>
          <a:xfrm>
            <a:off x="3168358" y="2055443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客户引入</a:t>
            </a:r>
            <a:endParaRPr lang="zh-CN" altLang="en-US" sz="1100" b="1" dirty="0"/>
          </a:p>
        </p:txBody>
      </p:sp>
      <p:sp>
        <p:nvSpPr>
          <p:cNvPr id="163" name="矩形 162"/>
          <p:cNvSpPr/>
          <p:nvPr/>
        </p:nvSpPr>
        <p:spPr>
          <a:xfrm>
            <a:off x="3197592" y="2864214"/>
            <a:ext cx="2620518" cy="7644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 163"/>
          <p:cNvSpPr/>
          <p:nvPr/>
        </p:nvSpPr>
        <p:spPr>
          <a:xfrm>
            <a:off x="3268218" y="314121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530102" y="314121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3160160" y="285181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客户引入</a:t>
            </a:r>
            <a:endParaRPr lang="zh-CN" altLang="en-US" sz="1100" b="1" dirty="0"/>
          </a:p>
        </p:txBody>
      </p:sp>
      <p:sp>
        <p:nvSpPr>
          <p:cNvPr id="173" name="矩形 172"/>
          <p:cNvSpPr/>
          <p:nvPr/>
        </p:nvSpPr>
        <p:spPr>
          <a:xfrm>
            <a:off x="3197592" y="3668396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 173"/>
          <p:cNvSpPr/>
          <p:nvPr/>
        </p:nvSpPr>
        <p:spPr>
          <a:xfrm>
            <a:off x="3268218" y="394539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4530102" y="394539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客户培训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3160160" y="365599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客户培养</a:t>
            </a:r>
            <a:endParaRPr lang="zh-CN" altLang="en-US" sz="1100" b="1" dirty="0"/>
          </a:p>
        </p:txBody>
      </p:sp>
      <p:sp>
        <p:nvSpPr>
          <p:cNvPr id="185" name="矩形 184"/>
          <p:cNvSpPr/>
          <p:nvPr/>
        </p:nvSpPr>
        <p:spPr>
          <a:xfrm>
            <a:off x="3268218" y="429446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4530102" y="429446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客户满意度调查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3197592" y="4783358"/>
            <a:ext cx="2620518" cy="82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/>
          <p:cNvSpPr/>
          <p:nvPr/>
        </p:nvSpPr>
        <p:spPr>
          <a:xfrm>
            <a:off x="3268218" y="506035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客户交易分析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4530102" y="506035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客户绩效跟踪与考核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160160" y="4770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客户评价</a:t>
            </a:r>
            <a:endParaRPr lang="zh-CN" altLang="en-US" sz="1100" b="1" dirty="0"/>
          </a:p>
        </p:txBody>
      </p:sp>
      <p:sp>
        <p:nvSpPr>
          <p:cNvPr id="197" name="矩形 196"/>
          <p:cNvSpPr/>
          <p:nvPr/>
        </p:nvSpPr>
        <p:spPr>
          <a:xfrm>
            <a:off x="3197592" y="5631721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 197"/>
          <p:cNvSpPr/>
          <p:nvPr/>
        </p:nvSpPr>
        <p:spPr>
          <a:xfrm>
            <a:off x="3268218" y="59087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530102" y="590872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客户培训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3160160" y="561932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客户退出</a:t>
            </a:r>
            <a:endParaRPr lang="zh-CN" altLang="en-US" sz="1100" b="1" dirty="0"/>
          </a:p>
        </p:txBody>
      </p:sp>
      <p:sp>
        <p:nvSpPr>
          <p:cNvPr id="201" name="矩形 200"/>
          <p:cNvSpPr/>
          <p:nvPr/>
        </p:nvSpPr>
        <p:spPr>
          <a:xfrm>
            <a:off x="3268218" y="625779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4530102" y="625779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客户满意度调查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6032375" y="530525"/>
            <a:ext cx="5973697" cy="2769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4" name="文本框 203"/>
          <p:cNvSpPr txBox="1"/>
          <p:nvPr/>
        </p:nvSpPr>
        <p:spPr>
          <a:xfrm>
            <a:off x="6062318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销售规划</a:t>
            </a:r>
            <a:endParaRPr lang="zh-CN" altLang="en-US" sz="1200" b="1" dirty="0"/>
          </a:p>
        </p:txBody>
      </p:sp>
      <p:sp>
        <p:nvSpPr>
          <p:cNvPr id="205" name="矩形 204"/>
          <p:cNvSpPr/>
          <p:nvPr/>
        </p:nvSpPr>
        <p:spPr>
          <a:xfrm>
            <a:off x="6141014" y="783339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文本框 205"/>
          <p:cNvSpPr txBox="1"/>
          <p:nvPr/>
        </p:nvSpPr>
        <p:spPr>
          <a:xfrm>
            <a:off x="6134908" y="78446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销售目标管理</a:t>
            </a:r>
            <a:endParaRPr lang="zh-CN" altLang="en-US" sz="1100" b="1" dirty="0"/>
          </a:p>
        </p:txBody>
      </p:sp>
      <p:sp>
        <p:nvSpPr>
          <p:cNvPr id="207" name="矩形 206"/>
          <p:cNvSpPr/>
          <p:nvPr/>
        </p:nvSpPr>
        <p:spPr>
          <a:xfrm>
            <a:off x="6205636" y="10460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销售目标设定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7467520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大客户销售计划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6205636" y="139514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销售计划制定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7467520" y="139514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销售进度管理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9063093" y="783339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 211"/>
          <p:cNvSpPr/>
          <p:nvPr/>
        </p:nvSpPr>
        <p:spPr>
          <a:xfrm>
            <a:off x="9127715" y="10460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渠道规划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10389599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渠道招募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9039535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渠道开发</a:t>
            </a:r>
            <a:endParaRPr lang="zh-CN" altLang="en-US" sz="1100" b="1" dirty="0"/>
          </a:p>
        </p:txBody>
      </p:sp>
      <p:sp>
        <p:nvSpPr>
          <p:cNvPr id="217" name="矩形 216"/>
          <p:cNvSpPr/>
          <p:nvPr/>
        </p:nvSpPr>
        <p:spPr>
          <a:xfrm>
            <a:off x="6138703" y="2021842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文本框 217"/>
          <p:cNvSpPr txBox="1"/>
          <p:nvPr/>
        </p:nvSpPr>
        <p:spPr>
          <a:xfrm>
            <a:off x="6132597" y="202296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销售策略</a:t>
            </a:r>
            <a:endParaRPr lang="zh-CN" altLang="en-US" sz="1100" b="1" dirty="0"/>
          </a:p>
        </p:txBody>
      </p:sp>
      <p:sp>
        <p:nvSpPr>
          <p:cNvPr id="219" name="矩形 218"/>
          <p:cNvSpPr/>
          <p:nvPr/>
        </p:nvSpPr>
        <p:spPr>
          <a:xfrm>
            <a:off x="6203325" y="228457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销售政策制定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465209" y="228457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销售费用政策制定与发布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6203325" y="263364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产品价格政策制定与发布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9057415" y="2020802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文本框 223"/>
          <p:cNvSpPr txBox="1"/>
          <p:nvPr/>
        </p:nvSpPr>
        <p:spPr>
          <a:xfrm>
            <a:off x="9051309" y="202192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渠道资源调配</a:t>
            </a:r>
            <a:endParaRPr lang="zh-CN" altLang="en-US" sz="1100" b="1" dirty="0"/>
          </a:p>
        </p:txBody>
      </p:sp>
      <p:sp>
        <p:nvSpPr>
          <p:cNvPr id="225" name="矩形 224"/>
          <p:cNvSpPr/>
          <p:nvPr/>
        </p:nvSpPr>
        <p:spPr>
          <a:xfrm>
            <a:off x="9122037" y="228353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销售组织</a:t>
            </a:r>
            <a:r>
              <a:rPr lang="en-US" altLang="zh-CN" sz="900" dirty="0" smtClean="0">
                <a:solidFill>
                  <a:schemeClr val="tx1"/>
                </a:solidFill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</a:rPr>
              <a:t>人员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0383921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销售费用调配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6023678" y="3361023"/>
            <a:ext cx="5973697" cy="3396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0" name="文本框 229"/>
          <p:cNvSpPr txBox="1"/>
          <p:nvPr/>
        </p:nvSpPr>
        <p:spPr>
          <a:xfrm>
            <a:off x="6057723" y="338645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销售执行</a:t>
            </a:r>
            <a:endParaRPr lang="zh-CN" altLang="en-US" sz="1200" b="1" dirty="0"/>
          </a:p>
        </p:txBody>
      </p:sp>
      <p:sp>
        <p:nvSpPr>
          <p:cNvPr id="231" name="矩形 230"/>
          <p:cNvSpPr/>
          <p:nvPr/>
        </p:nvSpPr>
        <p:spPr>
          <a:xfrm>
            <a:off x="6117066" y="3634500"/>
            <a:ext cx="2620518" cy="1012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文本框 231"/>
          <p:cNvSpPr txBox="1"/>
          <p:nvPr/>
        </p:nvSpPr>
        <p:spPr>
          <a:xfrm>
            <a:off x="6110960" y="363562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商机管理</a:t>
            </a:r>
            <a:endParaRPr lang="zh-CN" altLang="en-US" sz="1100" b="1" dirty="0"/>
          </a:p>
        </p:txBody>
      </p:sp>
      <p:sp>
        <p:nvSpPr>
          <p:cNvPr id="233" name="矩形 232"/>
          <p:cNvSpPr/>
          <p:nvPr/>
        </p:nvSpPr>
        <p:spPr>
          <a:xfrm>
            <a:off x="6181688" y="38972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销售线索管理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7443572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商机确认与分配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6181688" y="424630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商机推进管理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7443572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投标管理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9051309" y="3634501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文本框 238"/>
          <p:cNvSpPr txBox="1"/>
          <p:nvPr/>
        </p:nvSpPr>
        <p:spPr>
          <a:xfrm>
            <a:off x="9045203" y="363562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立项报价管理</a:t>
            </a:r>
            <a:endParaRPr lang="zh-CN" altLang="en-US" sz="1100" b="1" dirty="0"/>
          </a:p>
        </p:txBody>
      </p:sp>
      <p:sp>
        <p:nvSpPr>
          <p:cNvPr id="240" name="矩形 239"/>
          <p:cNvSpPr/>
          <p:nvPr/>
        </p:nvSpPr>
        <p:spPr>
          <a:xfrm>
            <a:off x="9115931" y="38972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方案配置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10377815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价格审批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110960" y="4664338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文本框 245"/>
          <p:cNvSpPr txBox="1"/>
          <p:nvPr/>
        </p:nvSpPr>
        <p:spPr>
          <a:xfrm>
            <a:off x="6104854" y="466546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协议合同管理</a:t>
            </a:r>
            <a:endParaRPr lang="zh-CN" altLang="en-US" sz="1100" b="1" dirty="0"/>
          </a:p>
        </p:txBody>
      </p:sp>
      <p:sp>
        <p:nvSpPr>
          <p:cNvPr id="247" name="矩形 246"/>
          <p:cNvSpPr/>
          <p:nvPr/>
        </p:nvSpPr>
        <p:spPr>
          <a:xfrm>
            <a:off x="6175582" y="492707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协议管理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7437466" y="492707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合同管理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9051309" y="4434840"/>
            <a:ext cx="2620518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文本框 249"/>
          <p:cNvSpPr txBox="1"/>
          <p:nvPr/>
        </p:nvSpPr>
        <p:spPr>
          <a:xfrm>
            <a:off x="9045203" y="44359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订单管理</a:t>
            </a:r>
            <a:endParaRPr lang="zh-CN" altLang="en-US" sz="1100" b="1" dirty="0"/>
          </a:p>
        </p:txBody>
      </p:sp>
      <p:sp>
        <p:nvSpPr>
          <p:cNvPr id="251" name="矩形 250"/>
          <p:cNvSpPr/>
          <p:nvPr/>
        </p:nvSpPr>
        <p:spPr>
          <a:xfrm>
            <a:off x="9115931" y="469757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订单计划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10377815" y="46975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订单下达与变更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104240" y="5027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订单交付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10366124" y="502793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销售开单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6110960" y="5409013"/>
            <a:ext cx="2620518" cy="675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文本框 255"/>
          <p:cNvSpPr txBox="1"/>
          <p:nvPr/>
        </p:nvSpPr>
        <p:spPr>
          <a:xfrm>
            <a:off x="6104854" y="5437569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销售终端支持</a:t>
            </a:r>
            <a:endParaRPr lang="zh-CN" altLang="en-US" sz="1100" b="1" dirty="0"/>
          </a:p>
        </p:txBody>
      </p:sp>
      <p:sp>
        <p:nvSpPr>
          <p:cNvPr id="257" name="矩形 256"/>
          <p:cNvSpPr/>
          <p:nvPr/>
        </p:nvSpPr>
        <p:spPr>
          <a:xfrm>
            <a:off x="6175582" y="569918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产品目录发布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7437466" y="569917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促销信息发布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9033039" y="5501750"/>
            <a:ext cx="2620518" cy="119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文本框 259"/>
          <p:cNvSpPr txBox="1"/>
          <p:nvPr/>
        </p:nvSpPr>
        <p:spPr>
          <a:xfrm>
            <a:off x="9026933" y="550287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渠道管理</a:t>
            </a:r>
            <a:endParaRPr lang="zh-CN" altLang="en-US" sz="1100" b="1" dirty="0"/>
          </a:p>
        </p:txBody>
      </p:sp>
      <p:sp>
        <p:nvSpPr>
          <p:cNvPr id="261" name="矩形 260"/>
          <p:cNvSpPr/>
          <p:nvPr/>
        </p:nvSpPr>
        <p:spPr>
          <a:xfrm>
            <a:off x="9097661" y="576448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</a:t>
            </a:r>
            <a:r>
              <a:rPr lang="en-US" altLang="zh-CN" sz="900" dirty="0" smtClean="0">
                <a:solidFill>
                  <a:schemeClr val="tx1"/>
                </a:solidFill>
              </a:rPr>
              <a:t>3S</a:t>
            </a:r>
            <a:r>
              <a:rPr lang="zh-CN" altLang="en-US" sz="900" dirty="0" smtClean="0">
                <a:solidFill>
                  <a:schemeClr val="tx1"/>
                </a:solidFill>
              </a:rPr>
              <a:t>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10359545" y="576448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渠道往来账务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9097661" y="61119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营销费用管理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0359545" y="61119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渠道激励奖励政策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6104854" y="6099695"/>
            <a:ext cx="2620518" cy="597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文本框 265"/>
          <p:cNvSpPr txBox="1"/>
          <p:nvPr/>
        </p:nvSpPr>
        <p:spPr>
          <a:xfrm>
            <a:off x="6098748" y="6073388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/>
              <a:t>销售业绩考核与激励</a:t>
            </a:r>
            <a:endParaRPr lang="zh-CN" altLang="en-US" sz="1100" b="1" dirty="0"/>
          </a:p>
        </p:txBody>
      </p:sp>
      <p:sp>
        <p:nvSpPr>
          <p:cNvPr id="267" name="矩形 266"/>
          <p:cNvSpPr/>
          <p:nvPr/>
        </p:nvSpPr>
        <p:spPr>
          <a:xfrm>
            <a:off x="6169476" y="634414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销售人员业绩考核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7431360" y="634414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销售政策兑现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33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81" y="6600152"/>
            <a:ext cx="97027" cy="733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857" y="220217"/>
            <a:ext cx="10608310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>
                <a:latin typeface="微软雅黑"/>
                <a:cs typeface="微软雅黑"/>
              </a:rPr>
              <a:t>基于业界实践</a:t>
            </a:r>
            <a:r>
              <a:rPr sz="2800" b="1" spc="-35" dirty="0" err="1" smtClean="0">
                <a:latin typeface="微软雅黑"/>
                <a:cs typeface="微软雅黑"/>
              </a:rPr>
              <a:t>，建议应用架构设计</a:t>
            </a:r>
            <a:r>
              <a:rPr sz="2800" b="1" spc="-40" dirty="0" err="1" smtClean="0">
                <a:latin typeface="微软雅黑"/>
                <a:cs typeface="微软雅黑"/>
              </a:rPr>
              <a:t>原则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1600" spc="-25" dirty="0">
                <a:latin typeface="微软雅黑"/>
                <a:cs typeface="微软雅黑"/>
              </a:rPr>
              <a:t>业务驱动的服务化分层分级架构</a:t>
            </a:r>
            <a:r>
              <a:rPr sz="1600" spc="-20" dirty="0">
                <a:latin typeface="微软雅黑"/>
                <a:cs typeface="微软雅黑"/>
              </a:rPr>
              <a:t>，快</a:t>
            </a:r>
            <a:r>
              <a:rPr sz="1600" spc="-25" dirty="0">
                <a:latin typeface="微软雅黑"/>
                <a:cs typeface="微软雅黑"/>
              </a:rPr>
              <a:t>速响</a:t>
            </a:r>
            <a:r>
              <a:rPr sz="1600" spc="-10" dirty="0">
                <a:latin typeface="微软雅黑"/>
                <a:cs typeface="微软雅黑"/>
              </a:rPr>
              <a:t>应</a:t>
            </a:r>
            <a:r>
              <a:rPr sz="1600" spc="-25" dirty="0">
                <a:latin typeface="微软雅黑"/>
                <a:cs typeface="微软雅黑"/>
              </a:rPr>
              <a:t>业务</a:t>
            </a:r>
            <a:r>
              <a:rPr sz="1600" spc="-20" dirty="0">
                <a:latin typeface="微软雅黑"/>
                <a:cs typeface="微软雅黑"/>
              </a:rPr>
              <a:t>，实现IT资产</a:t>
            </a:r>
            <a:r>
              <a:rPr sz="1600" spc="-25" dirty="0">
                <a:latin typeface="微软雅黑"/>
                <a:cs typeface="微软雅黑"/>
              </a:rPr>
              <a:t>复用</a:t>
            </a:r>
            <a:r>
              <a:rPr sz="1600" spc="-10" dirty="0">
                <a:latin typeface="微软雅黑"/>
                <a:cs typeface="微软雅黑"/>
              </a:rPr>
              <a:t>，</a:t>
            </a:r>
            <a:r>
              <a:rPr sz="1600" spc="-25" dirty="0">
                <a:latin typeface="微软雅黑"/>
                <a:cs typeface="微软雅黑"/>
              </a:rPr>
              <a:t>提升</a:t>
            </a:r>
            <a:r>
              <a:rPr sz="1600" spc="-10" dirty="0">
                <a:latin typeface="微软雅黑"/>
                <a:cs typeface="微软雅黑"/>
              </a:rPr>
              <a:t>用</a:t>
            </a:r>
            <a:r>
              <a:rPr sz="1600" spc="-25" dirty="0">
                <a:latin typeface="微软雅黑"/>
                <a:cs typeface="微软雅黑"/>
              </a:rPr>
              <a:t>户体</a:t>
            </a:r>
            <a:r>
              <a:rPr sz="1600" spc="-20" dirty="0">
                <a:latin typeface="微软雅黑"/>
                <a:cs typeface="微软雅黑"/>
              </a:rPr>
              <a:t>验，</a:t>
            </a:r>
            <a:r>
              <a:rPr sz="1600" spc="-25" dirty="0">
                <a:latin typeface="微软雅黑"/>
                <a:cs typeface="微软雅黑"/>
              </a:rPr>
              <a:t>保</a:t>
            </a:r>
            <a:r>
              <a:rPr sz="1600" spc="-10" dirty="0">
                <a:latin typeface="微软雅黑"/>
                <a:cs typeface="微软雅黑"/>
              </a:rPr>
              <a:t>证</a:t>
            </a:r>
            <a:r>
              <a:rPr sz="1600" spc="-25" dirty="0">
                <a:latin typeface="微软雅黑"/>
                <a:cs typeface="微软雅黑"/>
              </a:rPr>
              <a:t>架构</a:t>
            </a:r>
            <a:r>
              <a:rPr sz="1600" spc="-10" dirty="0">
                <a:latin typeface="微软雅黑"/>
                <a:cs typeface="微软雅黑"/>
              </a:rPr>
              <a:t>设</a:t>
            </a:r>
            <a:r>
              <a:rPr sz="1600" spc="-25" dirty="0">
                <a:latin typeface="微软雅黑"/>
                <a:cs typeface="微软雅黑"/>
              </a:rPr>
              <a:t>计的</a:t>
            </a:r>
            <a:r>
              <a:rPr sz="1600" spc="-10" dirty="0">
                <a:latin typeface="微软雅黑"/>
                <a:cs typeface="微软雅黑"/>
              </a:rPr>
              <a:t>前</a:t>
            </a:r>
            <a:r>
              <a:rPr sz="1600" spc="-25" dirty="0">
                <a:latin typeface="微软雅黑"/>
                <a:cs typeface="微软雅黑"/>
              </a:rPr>
              <a:t>瞻性</a:t>
            </a:r>
            <a:r>
              <a:rPr sz="1600" spc="-10" dirty="0">
                <a:latin typeface="微软雅黑"/>
                <a:cs typeface="微软雅黑"/>
              </a:rPr>
              <a:t>和</a:t>
            </a:r>
            <a:r>
              <a:rPr sz="1600" spc="-25" dirty="0">
                <a:latin typeface="微软雅黑"/>
                <a:cs typeface="微软雅黑"/>
              </a:rPr>
              <a:t>可扩</a:t>
            </a:r>
            <a:r>
              <a:rPr sz="1600" spc="-40" dirty="0">
                <a:latin typeface="微软雅黑"/>
                <a:cs typeface="微软雅黑"/>
              </a:rPr>
              <a:t>展性.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3017" y="2091689"/>
            <a:ext cx="2395855" cy="3965575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5F0094"/>
                </a:solidFill>
                <a:latin typeface="微软雅黑"/>
                <a:cs typeface="微软雅黑"/>
              </a:rPr>
              <a:t>服务化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421005" marR="32384" indent="-287020">
              <a:lnSpc>
                <a:spcPct val="100000"/>
              </a:lnSpc>
              <a:buFont typeface="Arial"/>
              <a:buChar char="•"/>
              <a:tabLst>
                <a:tab pos="421005" algn="l"/>
                <a:tab pos="421640" algn="l"/>
              </a:tabLst>
            </a:pPr>
            <a:r>
              <a:rPr sz="1400" dirty="0">
                <a:latin typeface="微软雅黑"/>
                <a:cs typeface="微软雅黑"/>
              </a:rPr>
              <a:t>基于PSD</a:t>
            </a:r>
            <a:r>
              <a:rPr sz="1400" spc="-10" dirty="0">
                <a:latin typeface="微软雅黑"/>
                <a:cs typeface="微软雅黑"/>
              </a:rPr>
              <a:t>端到端业务进</a:t>
            </a:r>
            <a:r>
              <a:rPr sz="1400" spc="-5" dirty="0">
                <a:latin typeface="微软雅黑"/>
                <a:cs typeface="微软雅黑"/>
              </a:rPr>
              <a:t>行数字化解耦，模块化</a:t>
            </a:r>
            <a:r>
              <a:rPr sz="1400" dirty="0">
                <a:latin typeface="微软雅黑"/>
                <a:cs typeface="微软雅黑"/>
              </a:rPr>
              <a:t>构建</a:t>
            </a:r>
            <a:r>
              <a:rPr sz="1400" spc="-10" dirty="0">
                <a:latin typeface="微软雅黑"/>
                <a:cs typeface="微软雅黑"/>
              </a:rPr>
              <a:t>IT</a:t>
            </a:r>
            <a:r>
              <a:rPr sz="1400" spc="-20" dirty="0">
                <a:latin typeface="微软雅黑"/>
                <a:cs typeface="微软雅黑"/>
              </a:rPr>
              <a:t>资产，构建弹性、</a:t>
            </a:r>
            <a:r>
              <a:rPr sz="1400" dirty="0">
                <a:latin typeface="微软雅黑"/>
                <a:cs typeface="微软雅黑"/>
              </a:rPr>
              <a:t>敏捷的轻量级</a:t>
            </a:r>
            <a:r>
              <a:rPr sz="1400" spc="-10" dirty="0">
                <a:latin typeface="微软雅黑"/>
                <a:cs typeface="微软雅黑"/>
              </a:rPr>
              <a:t>IT</a:t>
            </a:r>
            <a:r>
              <a:rPr sz="1400" spc="-15" dirty="0">
                <a:latin typeface="微软雅黑"/>
                <a:cs typeface="微软雅黑"/>
              </a:rPr>
              <a:t>架构，快</a:t>
            </a:r>
            <a:r>
              <a:rPr sz="1400" spc="-20" dirty="0">
                <a:latin typeface="微软雅黑"/>
                <a:cs typeface="微软雅黑"/>
              </a:rPr>
              <a:t>速响应变化</a:t>
            </a:r>
            <a:endParaRPr sz="1400">
              <a:latin typeface="微软雅黑"/>
              <a:cs typeface="微软雅黑"/>
            </a:endParaRPr>
          </a:p>
          <a:p>
            <a:pPr marL="421005" marR="183515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421640" algn="l"/>
              </a:tabLst>
            </a:pPr>
            <a:r>
              <a:rPr sz="1400" spc="-5" dirty="0">
                <a:latin typeface="微软雅黑"/>
                <a:cs typeface="微软雅黑"/>
              </a:rPr>
              <a:t>根据业务和服务需求的增长，实现动态和灵活的伸缩，构建可扩展的</a:t>
            </a:r>
            <a:r>
              <a:rPr sz="1400" spc="-25" dirty="0">
                <a:latin typeface="微软雅黑"/>
                <a:cs typeface="微软雅黑"/>
              </a:rPr>
              <a:t>架构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1917" y="2091689"/>
            <a:ext cx="2395855" cy="3965575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68897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用户体验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5" dirty="0">
                <a:latin typeface="微软雅黑"/>
                <a:cs typeface="微软雅黑"/>
              </a:rPr>
              <a:t>从后端应用系统的整合到前端客户体验驱动的</a:t>
            </a:r>
            <a:r>
              <a:rPr sz="1400" spc="-25" dirty="0">
                <a:latin typeface="微软雅黑"/>
                <a:cs typeface="微软雅黑"/>
              </a:rPr>
              <a:t>转变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10" dirty="0">
                <a:latin typeface="微软雅黑"/>
                <a:cs typeface="微软雅黑"/>
              </a:rPr>
              <a:t>采用</a:t>
            </a:r>
            <a:r>
              <a:rPr sz="1400" dirty="0">
                <a:latin typeface="微软雅黑"/>
                <a:cs typeface="微软雅黑"/>
              </a:rPr>
              <a:t>Design</a:t>
            </a:r>
            <a:r>
              <a:rPr sz="1400" spc="-25" dirty="0">
                <a:latin typeface="微软雅黑"/>
                <a:cs typeface="微软雅黑"/>
              </a:rPr>
              <a:t> </a:t>
            </a:r>
            <a:r>
              <a:rPr sz="1400" spc="-10" dirty="0">
                <a:latin typeface="微软雅黑"/>
                <a:cs typeface="微软雅黑"/>
              </a:rPr>
              <a:t>Thinking</a:t>
            </a:r>
            <a:r>
              <a:rPr sz="1400" spc="-5" dirty="0">
                <a:latin typeface="微软雅黑"/>
                <a:cs typeface="微软雅黑"/>
              </a:rPr>
              <a:t>思维驱动用户画像及前</a:t>
            </a:r>
            <a:r>
              <a:rPr sz="1400" spc="-10" dirty="0">
                <a:latin typeface="微软雅黑"/>
                <a:cs typeface="微软雅黑"/>
              </a:rPr>
              <a:t>台交互体验设计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5014" y="2091689"/>
            <a:ext cx="2395855" cy="3965575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69024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共享复用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378460" marR="17907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dirty="0">
                <a:latin typeface="微软雅黑"/>
                <a:cs typeface="微软雅黑"/>
              </a:rPr>
              <a:t>整合业界成熟的SaaS</a:t>
            </a:r>
            <a:r>
              <a:rPr sz="1400" spc="-50" dirty="0">
                <a:latin typeface="微软雅黑"/>
                <a:cs typeface="微软雅黑"/>
              </a:rPr>
              <a:t>服</a:t>
            </a:r>
            <a:r>
              <a:rPr sz="1400" spc="-10" dirty="0">
                <a:latin typeface="微软雅黑"/>
                <a:cs typeface="微软雅黑"/>
              </a:rPr>
              <a:t>务及软件包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>
              <a:latin typeface="微软雅黑"/>
              <a:cs typeface="微软雅黑"/>
            </a:endParaRPr>
          </a:p>
          <a:p>
            <a:pPr marL="37846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spc="-20" dirty="0">
                <a:latin typeface="微软雅黑"/>
                <a:cs typeface="微软雅黑"/>
              </a:rPr>
              <a:t>共享集团公用服务能力，</a:t>
            </a:r>
            <a:endParaRPr sz="1400">
              <a:latin typeface="微软雅黑"/>
              <a:cs typeface="微软雅黑"/>
            </a:endParaRPr>
          </a:p>
          <a:p>
            <a:pPr marL="378460">
              <a:lnSpc>
                <a:spcPct val="100000"/>
              </a:lnSpc>
            </a:pPr>
            <a:r>
              <a:rPr sz="1400" spc="-10" dirty="0">
                <a:latin typeface="微软雅黑"/>
                <a:cs typeface="微软雅黑"/>
              </a:rPr>
              <a:t>实现IT</a:t>
            </a:r>
            <a:r>
              <a:rPr sz="1400" spc="-20" dirty="0">
                <a:latin typeface="微软雅黑"/>
                <a:cs typeface="微软雅黑"/>
              </a:rPr>
              <a:t>资产的复用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5820" y="1467548"/>
            <a:ext cx="10989945" cy="475615"/>
            <a:chOff x="595820" y="1467548"/>
            <a:chExt cx="10989945" cy="475615"/>
          </a:xfrm>
        </p:grpSpPr>
        <p:sp>
          <p:nvSpPr>
            <p:cNvPr id="8" name="object 8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10986516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10986516" y="472439"/>
                  </a:lnTo>
                  <a:lnTo>
                    <a:pt x="10986516" y="0"/>
                  </a:lnTo>
                  <a:close/>
                </a:path>
              </a:pathLst>
            </a:custGeom>
            <a:solidFill>
              <a:srgbClr val="750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0" y="472439"/>
                  </a:moveTo>
                  <a:lnTo>
                    <a:pt x="10986516" y="472439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72439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29378" y="1547240"/>
            <a:ext cx="232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PSD</a:t>
            </a: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应用架构设计原则</a:t>
            </a:r>
            <a:endParaRPr sz="180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313" y="1936813"/>
            <a:ext cx="10996295" cy="4333240"/>
            <a:chOff x="603313" y="1936813"/>
            <a:chExt cx="10996295" cy="4333240"/>
          </a:xfrm>
        </p:grpSpPr>
        <p:sp>
          <p:nvSpPr>
            <p:cNvPr id="12" name="object 12"/>
            <p:cNvSpPr/>
            <p:nvPr/>
          </p:nvSpPr>
          <p:spPr>
            <a:xfrm>
              <a:off x="608076" y="1941576"/>
              <a:ext cx="10986770" cy="4323715"/>
            </a:xfrm>
            <a:custGeom>
              <a:avLst/>
              <a:gdLst/>
              <a:ahLst/>
              <a:cxnLst/>
              <a:rect l="l" t="t" r="r" b="b"/>
              <a:pathLst>
                <a:path w="10986770" h="4323715">
                  <a:moveTo>
                    <a:pt x="0" y="4323588"/>
                  </a:moveTo>
                  <a:lnTo>
                    <a:pt x="10986516" y="4323588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323588"/>
                  </a:lnTo>
                  <a:close/>
                </a:path>
              </a:pathLst>
            </a:custGeom>
            <a:ln w="9525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768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20656" y="2430779"/>
              <a:ext cx="539750" cy="527685"/>
            </a:xfrm>
            <a:custGeom>
              <a:avLst/>
              <a:gdLst/>
              <a:ahLst/>
              <a:cxnLst/>
              <a:rect l="l" t="t" r="r" b="b"/>
              <a:pathLst>
                <a:path w="539750" h="527685">
                  <a:moveTo>
                    <a:pt x="539496" y="44196"/>
                  </a:moveTo>
                  <a:lnTo>
                    <a:pt x="535940" y="27165"/>
                  </a:lnTo>
                  <a:lnTo>
                    <a:pt x="532485" y="22098"/>
                  </a:lnTo>
                  <a:lnTo>
                    <a:pt x="526338" y="13106"/>
                  </a:lnTo>
                  <a:lnTo>
                    <a:pt x="517398" y="7023"/>
                  </a:lnTo>
                  <a:lnTo>
                    <a:pt x="517398" y="44196"/>
                  </a:lnTo>
                  <a:lnTo>
                    <a:pt x="515747" y="53060"/>
                  </a:lnTo>
                  <a:lnTo>
                    <a:pt x="511149" y="60058"/>
                  </a:lnTo>
                  <a:lnTo>
                    <a:pt x="504151" y="64655"/>
                  </a:lnTo>
                  <a:lnTo>
                    <a:pt x="495300" y="66294"/>
                  </a:lnTo>
                  <a:lnTo>
                    <a:pt x="486371" y="64655"/>
                  </a:lnTo>
                  <a:lnTo>
                    <a:pt x="479386" y="60058"/>
                  </a:lnTo>
                  <a:lnTo>
                    <a:pt x="474827" y="53060"/>
                  </a:lnTo>
                  <a:lnTo>
                    <a:pt x="473202" y="44196"/>
                  </a:lnTo>
                  <a:lnTo>
                    <a:pt x="474827" y="36093"/>
                  </a:lnTo>
                  <a:lnTo>
                    <a:pt x="479386" y="29006"/>
                  </a:lnTo>
                  <a:lnTo>
                    <a:pt x="486371" y="24003"/>
                  </a:lnTo>
                  <a:lnTo>
                    <a:pt x="495300" y="22098"/>
                  </a:lnTo>
                  <a:lnTo>
                    <a:pt x="504151" y="24003"/>
                  </a:lnTo>
                  <a:lnTo>
                    <a:pt x="511149" y="29006"/>
                  </a:lnTo>
                  <a:lnTo>
                    <a:pt x="515747" y="36093"/>
                  </a:lnTo>
                  <a:lnTo>
                    <a:pt x="517398" y="44196"/>
                  </a:lnTo>
                  <a:lnTo>
                    <a:pt x="517398" y="7023"/>
                  </a:lnTo>
                  <a:lnTo>
                    <a:pt x="512267" y="3530"/>
                  </a:lnTo>
                  <a:lnTo>
                    <a:pt x="495300" y="0"/>
                  </a:lnTo>
                  <a:lnTo>
                    <a:pt x="478256" y="3530"/>
                  </a:lnTo>
                  <a:lnTo>
                    <a:pt x="464197" y="13106"/>
                  </a:lnTo>
                  <a:lnTo>
                    <a:pt x="454621" y="27165"/>
                  </a:lnTo>
                  <a:lnTo>
                    <a:pt x="451104" y="44196"/>
                  </a:lnTo>
                  <a:lnTo>
                    <a:pt x="454621" y="61239"/>
                  </a:lnTo>
                  <a:lnTo>
                    <a:pt x="457200" y="65049"/>
                  </a:lnTo>
                  <a:lnTo>
                    <a:pt x="382905" y="138074"/>
                  </a:lnTo>
                  <a:lnTo>
                    <a:pt x="382905" y="230124"/>
                  </a:lnTo>
                  <a:lnTo>
                    <a:pt x="376643" y="259969"/>
                  </a:lnTo>
                  <a:lnTo>
                    <a:pt x="359664" y="284480"/>
                  </a:lnTo>
                  <a:lnTo>
                    <a:pt x="334568" y="301104"/>
                  </a:lnTo>
                  <a:lnTo>
                    <a:pt x="304038" y="307213"/>
                  </a:lnTo>
                  <a:lnTo>
                    <a:pt x="273494" y="301104"/>
                  </a:lnTo>
                  <a:lnTo>
                    <a:pt x="248412" y="284480"/>
                  </a:lnTo>
                  <a:lnTo>
                    <a:pt x="231419" y="259969"/>
                  </a:lnTo>
                  <a:lnTo>
                    <a:pt x="225171" y="230124"/>
                  </a:lnTo>
                  <a:lnTo>
                    <a:pt x="231419" y="200291"/>
                  </a:lnTo>
                  <a:lnTo>
                    <a:pt x="273494" y="159156"/>
                  </a:lnTo>
                  <a:lnTo>
                    <a:pt x="334568" y="159156"/>
                  </a:lnTo>
                  <a:lnTo>
                    <a:pt x="376643" y="200291"/>
                  </a:lnTo>
                  <a:lnTo>
                    <a:pt x="382905" y="230124"/>
                  </a:lnTo>
                  <a:lnTo>
                    <a:pt x="382905" y="138074"/>
                  </a:lnTo>
                  <a:lnTo>
                    <a:pt x="366699" y="154000"/>
                  </a:lnTo>
                  <a:lnTo>
                    <a:pt x="365252" y="153035"/>
                  </a:lnTo>
                  <a:lnTo>
                    <a:pt x="343598" y="138811"/>
                  </a:lnTo>
                  <a:lnTo>
                    <a:pt x="304038" y="131064"/>
                  </a:lnTo>
                  <a:lnTo>
                    <a:pt x="264464" y="138811"/>
                  </a:lnTo>
                  <a:lnTo>
                    <a:pt x="232257" y="159981"/>
                  </a:lnTo>
                  <a:lnTo>
                    <a:pt x="216585" y="182753"/>
                  </a:lnTo>
                  <a:lnTo>
                    <a:pt x="88061" y="129717"/>
                  </a:lnTo>
                  <a:lnTo>
                    <a:pt x="76581" y="90639"/>
                  </a:lnTo>
                  <a:lnTo>
                    <a:pt x="67437" y="84620"/>
                  </a:lnTo>
                  <a:lnTo>
                    <a:pt x="67437" y="121158"/>
                  </a:lnTo>
                  <a:lnTo>
                    <a:pt x="65760" y="129921"/>
                  </a:lnTo>
                  <a:lnTo>
                    <a:pt x="61099" y="136779"/>
                  </a:lnTo>
                  <a:lnTo>
                    <a:pt x="53987" y="141274"/>
                  </a:lnTo>
                  <a:lnTo>
                    <a:pt x="44958" y="142875"/>
                  </a:lnTo>
                  <a:lnTo>
                    <a:pt x="35915" y="141274"/>
                  </a:lnTo>
                  <a:lnTo>
                    <a:pt x="28803" y="136779"/>
                  </a:lnTo>
                  <a:lnTo>
                    <a:pt x="24142" y="129921"/>
                  </a:lnTo>
                  <a:lnTo>
                    <a:pt x="22479" y="121158"/>
                  </a:lnTo>
                  <a:lnTo>
                    <a:pt x="24142" y="113169"/>
                  </a:lnTo>
                  <a:lnTo>
                    <a:pt x="28803" y="106210"/>
                  </a:lnTo>
                  <a:lnTo>
                    <a:pt x="35915" y="101307"/>
                  </a:lnTo>
                  <a:lnTo>
                    <a:pt x="44958" y="99441"/>
                  </a:lnTo>
                  <a:lnTo>
                    <a:pt x="53987" y="101307"/>
                  </a:lnTo>
                  <a:lnTo>
                    <a:pt x="61099" y="106210"/>
                  </a:lnTo>
                  <a:lnTo>
                    <a:pt x="65760" y="113169"/>
                  </a:lnTo>
                  <a:lnTo>
                    <a:pt x="67437" y="121158"/>
                  </a:lnTo>
                  <a:lnTo>
                    <a:pt x="67437" y="84620"/>
                  </a:lnTo>
                  <a:lnTo>
                    <a:pt x="62268" y="81216"/>
                  </a:lnTo>
                  <a:lnTo>
                    <a:pt x="44958" y="77724"/>
                  </a:lnTo>
                  <a:lnTo>
                    <a:pt x="27635" y="81216"/>
                  </a:lnTo>
                  <a:lnTo>
                    <a:pt x="13335" y="90639"/>
                  </a:lnTo>
                  <a:lnTo>
                    <a:pt x="3594" y="104470"/>
                  </a:lnTo>
                  <a:lnTo>
                    <a:pt x="0" y="121158"/>
                  </a:lnTo>
                  <a:lnTo>
                    <a:pt x="3594" y="137858"/>
                  </a:lnTo>
                  <a:lnTo>
                    <a:pt x="13322" y="151688"/>
                  </a:lnTo>
                  <a:lnTo>
                    <a:pt x="27635" y="161112"/>
                  </a:lnTo>
                  <a:lnTo>
                    <a:pt x="44958" y="164592"/>
                  </a:lnTo>
                  <a:lnTo>
                    <a:pt x="62268" y="161112"/>
                  </a:lnTo>
                  <a:lnTo>
                    <a:pt x="76581" y="151688"/>
                  </a:lnTo>
                  <a:lnTo>
                    <a:pt x="78511" y="148932"/>
                  </a:lnTo>
                  <a:lnTo>
                    <a:pt x="208216" y="203111"/>
                  </a:lnTo>
                  <a:lnTo>
                    <a:pt x="202692" y="230124"/>
                  </a:lnTo>
                  <a:lnTo>
                    <a:pt x="210604" y="268808"/>
                  </a:lnTo>
                  <a:lnTo>
                    <a:pt x="226085" y="291325"/>
                  </a:lnTo>
                  <a:lnTo>
                    <a:pt x="68097" y="446354"/>
                  </a:lnTo>
                  <a:lnTo>
                    <a:pt x="67437" y="445922"/>
                  </a:lnTo>
                  <a:lnTo>
                    <a:pt x="67437" y="483108"/>
                  </a:lnTo>
                  <a:lnTo>
                    <a:pt x="65760" y="491972"/>
                  </a:lnTo>
                  <a:lnTo>
                    <a:pt x="61099" y="498970"/>
                  </a:lnTo>
                  <a:lnTo>
                    <a:pt x="53987" y="503567"/>
                  </a:lnTo>
                  <a:lnTo>
                    <a:pt x="44958" y="505206"/>
                  </a:lnTo>
                  <a:lnTo>
                    <a:pt x="35915" y="503567"/>
                  </a:lnTo>
                  <a:lnTo>
                    <a:pt x="28803" y="498970"/>
                  </a:lnTo>
                  <a:lnTo>
                    <a:pt x="24142" y="491972"/>
                  </a:lnTo>
                  <a:lnTo>
                    <a:pt x="22479" y="483108"/>
                  </a:lnTo>
                  <a:lnTo>
                    <a:pt x="24142" y="475005"/>
                  </a:lnTo>
                  <a:lnTo>
                    <a:pt x="28803" y="467918"/>
                  </a:lnTo>
                  <a:lnTo>
                    <a:pt x="35915" y="462915"/>
                  </a:lnTo>
                  <a:lnTo>
                    <a:pt x="44958" y="461010"/>
                  </a:lnTo>
                  <a:lnTo>
                    <a:pt x="53987" y="462915"/>
                  </a:lnTo>
                  <a:lnTo>
                    <a:pt x="61099" y="467918"/>
                  </a:lnTo>
                  <a:lnTo>
                    <a:pt x="65760" y="475005"/>
                  </a:lnTo>
                  <a:lnTo>
                    <a:pt x="67437" y="483108"/>
                  </a:lnTo>
                  <a:lnTo>
                    <a:pt x="67437" y="445922"/>
                  </a:lnTo>
                  <a:lnTo>
                    <a:pt x="62268" y="442442"/>
                  </a:lnTo>
                  <a:lnTo>
                    <a:pt x="44958" y="438912"/>
                  </a:lnTo>
                  <a:lnTo>
                    <a:pt x="27635" y="442442"/>
                  </a:lnTo>
                  <a:lnTo>
                    <a:pt x="13335" y="452018"/>
                  </a:lnTo>
                  <a:lnTo>
                    <a:pt x="3594" y="466077"/>
                  </a:lnTo>
                  <a:lnTo>
                    <a:pt x="0" y="483108"/>
                  </a:lnTo>
                  <a:lnTo>
                    <a:pt x="3594" y="500151"/>
                  </a:lnTo>
                  <a:lnTo>
                    <a:pt x="13322" y="514210"/>
                  </a:lnTo>
                  <a:lnTo>
                    <a:pt x="27635" y="523786"/>
                  </a:lnTo>
                  <a:lnTo>
                    <a:pt x="44958" y="527304"/>
                  </a:lnTo>
                  <a:lnTo>
                    <a:pt x="62268" y="523786"/>
                  </a:lnTo>
                  <a:lnTo>
                    <a:pt x="76568" y="514210"/>
                  </a:lnTo>
                  <a:lnTo>
                    <a:pt x="82804" y="505206"/>
                  </a:lnTo>
                  <a:lnTo>
                    <a:pt x="86309" y="500151"/>
                  </a:lnTo>
                  <a:lnTo>
                    <a:pt x="89916" y="483108"/>
                  </a:lnTo>
                  <a:lnTo>
                    <a:pt x="86309" y="466077"/>
                  </a:lnTo>
                  <a:lnTo>
                    <a:pt x="83375" y="461860"/>
                  </a:lnTo>
                  <a:lnTo>
                    <a:pt x="242341" y="306908"/>
                  </a:lnTo>
                  <a:lnTo>
                    <a:pt x="264464" y="321449"/>
                  </a:lnTo>
                  <a:lnTo>
                    <a:pt x="292608" y="326961"/>
                  </a:lnTo>
                  <a:lnTo>
                    <a:pt x="292608" y="441248"/>
                  </a:lnTo>
                  <a:lnTo>
                    <a:pt x="286715" y="442442"/>
                  </a:lnTo>
                  <a:lnTo>
                    <a:pt x="272415" y="452018"/>
                  </a:lnTo>
                  <a:lnTo>
                    <a:pt x="262674" y="466077"/>
                  </a:lnTo>
                  <a:lnTo>
                    <a:pt x="259080" y="483108"/>
                  </a:lnTo>
                  <a:lnTo>
                    <a:pt x="262674" y="500151"/>
                  </a:lnTo>
                  <a:lnTo>
                    <a:pt x="272402" y="514210"/>
                  </a:lnTo>
                  <a:lnTo>
                    <a:pt x="286715" y="523786"/>
                  </a:lnTo>
                  <a:lnTo>
                    <a:pt x="304038" y="527304"/>
                  </a:lnTo>
                  <a:lnTo>
                    <a:pt x="321348" y="523786"/>
                  </a:lnTo>
                  <a:lnTo>
                    <a:pt x="335648" y="514210"/>
                  </a:lnTo>
                  <a:lnTo>
                    <a:pt x="341884" y="505206"/>
                  </a:lnTo>
                  <a:lnTo>
                    <a:pt x="345389" y="500151"/>
                  </a:lnTo>
                  <a:lnTo>
                    <a:pt x="348996" y="483108"/>
                  </a:lnTo>
                  <a:lnTo>
                    <a:pt x="345389" y="466077"/>
                  </a:lnTo>
                  <a:lnTo>
                    <a:pt x="341884" y="461010"/>
                  </a:lnTo>
                  <a:lnTo>
                    <a:pt x="335661" y="452018"/>
                  </a:lnTo>
                  <a:lnTo>
                    <a:pt x="326517" y="445909"/>
                  </a:lnTo>
                  <a:lnTo>
                    <a:pt x="326517" y="483108"/>
                  </a:lnTo>
                  <a:lnTo>
                    <a:pt x="324840" y="491972"/>
                  </a:lnTo>
                  <a:lnTo>
                    <a:pt x="320179" y="498970"/>
                  </a:lnTo>
                  <a:lnTo>
                    <a:pt x="313067" y="503567"/>
                  </a:lnTo>
                  <a:lnTo>
                    <a:pt x="304038" y="505206"/>
                  </a:lnTo>
                  <a:lnTo>
                    <a:pt x="294995" y="503567"/>
                  </a:lnTo>
                  <a:lnTo>
                    <a:pt x="287883" y="498970"/>
                  </a:lnTo>
                  <a:lnTo>
                    <a:pt x="283222" y="491972"/>
                  </a:lnTo>
                  <a:lnTo>
                    <a:pt x="281559" y="483108"/>
                  </a:lnTo>
                  <a:lnTo>
                    <a:pt x="283222" y="475005"/>
                  </a:lnTo>
                  <a:lnTo>
                    <a:pt x="287883" y="467918"/>
                  </a:lnTo>
                  <a:lnTo>
                    <a:pt x="294995" y="462915"/>
                  </a:lnTo>
                  <a:lnTo>
                    <a:pt x="304038" y="461010"/>
                  </a:lnTo>
                  <a:lnTo>
                    <a:pt x="313067" y="462915"/>
                  </a:lnTo>
                  <a:lnTo>
                    <a:pt x="320179" y="467918"/>
                  </a:lnTo>
                  <a:lnTo>
                    <a:pt x="324840" y="475005"/>
                  </a:lnTo>
                  <a:lnTo>
                    <a:pt x="326517" y="483108"/>
                  </a:lnTo>
                  <a:lnTo>
                    <a:pt x="326517" y="445909"/>
                  </a:lnTo>
                  <a:lnTo>
                    <a:pt x="321348" y="442442"/>
                  </a:lnTo>
                  <a:lnTo>
                    <a:pt x="315468" y="441248"/>
                  </a:lnTo>
                  <a:lnTo>
                    <a:pt x="315468" y="326961"/>
                  </a:lnTo>
                  <a:lnTo>
                    <a:pt x="343598" y="321449"/>
                  </a:lnTo>
                  <a:lnTo>
                    <a:pt x="365252" y="307213"/>
                  </a:lnTo>
                  <a:lnTo>
                    <a:pt x="375805" y="300278"/>
                  </a:lnTo>
                  <a:lnTo>
                    <a:pt x="383768" y="288709"/>
                  </a:lnTo>
                  <a:lnTo>
                    <a:pt x="451624" y="315976"/>
                  </a:lnTo>
                  <a:lnTo>
                    <a:pt x="451104" y="318516"/>
                  </a:lnTo>
                  <a:lnTo>
                    <a:pt x="454621" y="335495"/>
                  </a:lnTo>
                  <a:lnTo>
                    <a:pt x="464197" y="349567"/>
                  </a:lnTo>
                  <a:lnTo>
                    <a:pt x="478256" y="359168"/>
                  </a:lnTo>
                  <a:lnTo>
                    <a:pt x="495300" y="362712"/>
                  </a:lnTo>
                  <a:lnTo>
                    <a:pt x="512267" y="359168"/>
                  </a:lnTo>
                  <a:lnTo>
                    <a:pt x="526351" y="349567"/>
                  </a:lnTo>
                  <a:lnTo>
                    <a:pt x="532447" y="340614"/>
                  </a:lnTo>
                  <a:lnTo>
                    <a:pt x="535940" y="335495"/>
                  </a:lnTo>
                  <a:lnTo>
                    <a:pt x="539496" y="318516"/>
                  </a:lnTo>
                  <a:lnTo>
                    <a:pt x="535940" y="301485"/>
                  </a:lnTo>
                  <a:lnTo>
                    <a:pt x="532485" y="296418"/>
                  </a:lnTo>
                  <a:lnTo>
                    <a:pt x="526338" y="287426"/>
                  </a:lnTo>
                  <a:lnTo>
                    <a:pt x="517398" y="281343"/>
                  </a:lnTo>
                  <a:lnTo>
                    <a:pt x="517398" y="318516"/>
                  </a:lnTo>
                  <a:lnTo>
                    <a:pt x="515747" y="327380"/>
                  </a:lnTo>
                  <a:lnTo>
                    <a:pt x="511149" y="334378"/>
                  </a:lnTo>
                  <a:lnTo>
                    <a:pt x="504151" y="338975"/>
                  </a:lnTo>
                  <a:lnTo>
                    <a:pt x="495300" y="340614"/>
                  </a:lnTo>
                  <a:lnTo>
                    <a:pt x="486371" y="338975"/>
                  </a:lnTo>
                  <a:lnTo>
                    <a:pt x="479386" y="334378"/>
                  </a:lnTo>
                  <a:lnTo>
                    <a:pt x="474827" y="327380"/>
                  </a:lnTo>
                  <a:lnTo>
                    <a:pt x="473202" y="318516"/>
                  </a:lnTo>
                  <a:lnTo>
                    <a:pt x="474827" y="310413"/>
                  </a:lnTo>
                  <a:lnTo>
                    <a:pt x="479386" y="303326"/>
                  </a:lnTo>
                  <a:lnTo>
                    <a:pt x="486371" y="298323"/>
                  </a:lnTo>
                  <a:lnTo>
                    <a:pt x="495300" y="296418"/>
                  </a:lnTo>
                  <a:lnTo>
                    <a:pt x="504151" y="298323"/>
                  </a:lnTo>
                  <a:lnTo>
                    <a:pt x="511149" y="303326"/>
                  </a:lnTo>
                  <a:lnTo>
                    <a:pt x="515747" y="310413"/>
                  </a:lnTo>
                  <a:lnTo>
                    <a:pt x="517398" y="318516"/>
                  </a:lnTo>
                  <a:lnTo>
                    <a:pt x="517398" y="281343"/>
                  </a:lnTo>
                  <a:lnTo>
                    <a:pt x="512267" y="277850"/>
                  </a:lnTo>
                  <a:lnTo>
                    <a:pt x="495300" y="274320"/>
                  </a:lnTo>
                  <a:lnTo>
                    <a:pt x="478256" y="277850"/>
                  </a:lnTo>
                  <a:lnTo>
                    <a:pt x="464197" y="287426"/>
                  </a:lnTo>
                  <a:lnTo>
                    <a:pt x="459359" y="294525"/>
                  </a:lnTo>
                  <a:lnTo>
                    <a:pt x="397002" y="269468"/>
                  </a:lnTo>
                  <a:lnTo>
                    <a:pt x="397459" y="268808"/>
                  </a:lnTo>
                  <a:lnTo>
                    <a:pt x="405384" y="230124"/>
                  </a:lnTo>
                  <a:lnTo>
                    <a:pt x="397459" y="191452"/>
                  </a:lnTo>
                  <a:lnTo>
                    <a:pt x="383222" y="170776"/>
                  </a:lnTo>
                  <a:lnTo>
                    <a:pt x="473011" y="81318"/>
                  </a:lnTo>
                  <a:lnTo>
                    <a:pt x="478256" y="84874"/>
                  </a:lnTo>
                  <a:lnTo>
                    <a:pt x="495300" y="88392"/>
                  </a:lnTo>
                  <a:lnTo>
                    <a:pt x="512267" y="84874"/>
                  </a:lnTo>
                  <a:lnTo>
                    <a:pt x="526338" y="75298"/>
                  </a:lnTo>
                  <a:lnTo>
                    <a:pt x="532485" y="66294"/>
                  </a:lnTo>
                  <a:lnTo>
                    <a:pt x="535940" y="61239"/>
                  </a:lnTo>
                  <a:lnTo>
                    <a:pt x="539496" y="44196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9592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21295" y="2511552"/>
              <a:ext cx="274320" cy="273050"/>
            </a:xfrm>
            <a:custGeom>
              <a:avLst/>
              <a:gdLst/>
              <a:ahLst/>
              <a:cxnLst/>
              <a:rect l="l" t="t" r="r" b="b"/>
              <a:pathLst>
                <a:path w="274320" h="273050">
                  <a:moveTo>
                    <a:pt x="176402" y="0"/>
                  </a:moveTo>
                  <a:lnTo>
                    <a:pt x="169163" y="0"/>
                  </a:lnTo>
                  <a:lnTo>
                    <a:pt x="163829" y="3556"/>
                  </a:lnTo>
                  <a:lnTo>
                    <a:pt x="5333" y="164084"/>
                  </a:lnTo>
                  <a:lnTo>
                    <a:pt x="0" y="167639"/>
                  </a:lnTo>
                  <a:lnTo>
                    <a:pt x="0" y="174751"/>
                  </a:lnTo>
                  <a:lnTo>
                    <a:pt x="5333" y="178308"/>
                  </a:lnTo>
                  <a:lnTo>
                    <a:pt x="99695" y="272796"/>
                  </a:lnTo>
                  <a:lnTo>
                    <a:pt x="105155" y="272796"/>
                  </a:lnTo>
                  <a:lnTo>
                    <a:pt x="108711" y="271018"/>
                  </a:lnTo>
                  <a:lnTo>
                    <a:pt x="131917" y="247776"/>
                  </a:lnTo>
                  <a:lnTo>
                    <a:pt x="103377" y="247776"/>
                  </a:lnTo>
                  <a:lnTo>
                    <a:pt x="26670" y="171196"/>
                  </a:lnTo>
                  <a:lnTo>
                    <a:pt x="172847" y="26797"/>
                  </a:lnTo>
                  <a:lnTo>
                    <a:pt x="203165" y="26797"/>
                  </a:lnTo>
                  <a:lnTo>
                    <a:pt x="176402" y="0"/>
                  </a:lnTo>
                  <a:close/>
                </a:path>
                <a:path w="274320" h="273050">
                  <a:moveTo>
                    <a:pt x="203165" y="26797"/>
                  </a:moveTo>
                  <a:lnTo>
                    <a:pt x="172847" y="26797"/>
                  </a:lnTo>
                  <a:lnTo>
                    <a:pt x="247650" y="101600"/>
                  </a:lnTo>
                  <a:lnTo>
                    <a:pt x="103377" y="247776"/>
                  </a:lnTo>
                  <a:lnTo>
                    <a:pt x="131917" y="247776"/>
                  </a:lnTo>
                  <a:lnTo>
                    <a:pt x="274320" y="105156"/>
                  </a:lnTo>
                  <a:lnTo>
                    <a:pt x="274320" y="98044"/>
                  </a:lnTo>
                  <a:lnTo>
                    <a:pt x="203165" y="2679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119" y="2462784"/>
              <a:ext cx="202691" cy="2072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87184" y="2715767"/>
              <a:ext cx="356870" cy="256540"/>
            </a:xfrm>
            <a:custGeom>
              <a:avLst/>
              <a:gdLst/>
              <a:ahLst/>
              <a:cxnLst/>
              <a:rect l="l" t="t" r="r" b="b"/>
              <a:pathLst>
                <a:path w="356870" h="256539">
                  <a:moveTo>
                    <a:pt x="204216" y="9017"/>
                  </a:moveTo>
                  <a:lnTo>
                    <a:pt x="200660" y="3556"/>
                  </a:lnTo>
                  <a:lnTo>
                    <a:pt x="195199" y="0"/>
                  </a:lnTo>
                  <a:lnTo>
                    <a:pt x="188087" y="0"/>
                  </a:lnTo>
                  <a:lnTo>
                    <a:pt x="3556" y="184531"/>
                  </a:lnTo>
                  <a:lnTo>
                    <a:pt x="0" y="189865"/>
                  </a:lnTo>
                  <a:lnTo>
                    <a:pt x="0" y="197104"/>
                  </a:lnTo>
                  <a:lnTo>
                    <a:pt x="5334" y="202438"/>
                  </a:lnTo>
                  <a:lnTo>
                    <a:pt x="9017" y="204216"/>
                  </a:lnTo>
                  <a:lnTo>
                    <a:pt x="10795" y="204216"/>
                  </a:lnTo>
                  <a:lnTo>
                    <a:pt x="14351" y="204216"/>
                  </a:lnTo>
                  <a:lnTo>
                    <a:pt x="204216" y="16129"/>
                  </a:lnTo>
                  <a:lnTo>
                    <a:pt x="204216" y="9017"/>
                  </a:lnTo>
                  <a:close/>
                </a:path>
                <a:path w="356870" h="256539">
                  <a:moveTo>
                    <a:pt x="230124" y="36068"/>
                  </a:moveTo>
                  <a:lnTo>
                    <a:pt x="223012" y="28956"/>
                  </a:lnTo>
                  <a:lnTo>
                    <a:pt x="215900" y="28956"/>
                  </a:lnTo>
                  <a:lnTo>
                    <a:pt x="212471" y="32512"/>
                  </a:lnTo>
                  <a:lnTo>
                    <a:pt x="207137" y="36068"/>
                  </a:lnTo>
                  <a:lnTo>
                    <a:pt x="199821" y="45123"/>
                  </a:lnTo>
                  <a:lnTo>
                    <a:pt x="185864" y="66903"/>
                  </a:lnTo>
                  <a:lnTo>
                    <a:pt x="173228" y="97409"/>
                  </a:lnTo>
                  <a:lnTo>
                    <a:pt x="169926" y="132588"/>
                  </a:lnTo>
                  <a:lnTo>
                    <a:pt x="174256" y="149618"/>
                  </a:lnTo>
                  <a:lnTo>
                    <a:pt x="182079" y="165608"/>
                  </a:lnTo>
                  <a:lnTo>
                    <a:pt x="193560" y="180276"/>
                  </a:lnTo>
                  <a:lnTo>
                    <a:pt x="208915" y="193294"/>
                  </a:lnTo>
                  <a:lnTo>
                    <a:pt x="212471" y="195072"/>
                  </a:lnTo>
                  <a:lnTo>
                    <a:pt x="219456" y="195072"/>
                  </a:lnTo>
                  <a:lnTo>
                    <a:pt x="223012" y="193294"/>
                  </a:lnTo>
                  <a:lnTo>
                    <a:pt x="224790" y="191516"/>
                  </a:lnTo>
                  <a:lnTo>
                    <a:pt x="228346" y="186182"/>
                  </a:lnTo>
                  <a:lnTo>
                    <a:pt x="226568" y="178943"/>
                  </a:lnTo>
                  <a:lnTo>
                    <a:pt x="221234" y="175387"/>
                  </a:lnTo>
                  <a:lnTo>
                    <a:pt x="209321" y="165671"/>
                  </a:lnTo>
                  <a:lnTo>
                    <a:pt x="200228" y="155105"/>
                  </a:lnTo>
                  <a:lnTo>
                    <a:pt x="194094" y="143535"/>
                  </a:lnTo>
                  <a:lnTo>
                    <a:pt x="191135" y="130810"/>
                  </a:lnTo>
                  <a:lnTo>
                    <a:pt x="194614" y="101892"/>
                  </a:lnTo>
                  <a:lnTo>
                    <a:pt x="205740" y="76517"/>
                  </a:lnTo>
                  <a:lnTo>
                    <a:pt x="217525" y="58204"/>
                  </a:lnTo>
                  <a:lnTo>
                    <a:pt x="223012" y="50419"/>
                  </a:lnTo>
                  <a:lnTo>
                    <a:pt x="230124" y="43307"/>
                  </a:lnTo>
                  <a:lnTo>
                    <a:pt x="230124" y="36068"/>
                  </a:lnTo>
                  <a:close/>
                </a:path>
                <a:path w="356870" h="256539">
                  <a:moveTo>
                    <a:pt x="280416" y="211328"/>
                  </a:moveTo>
                  <a:lnTo>
                    <a:pt x="273304" y="204216"/>
                  </a:lnTo>
                  <a:lnTo>
                    <a:pt x="266192" y="204216"/>
                  </a:lnTo>
                  <a:lnTo>
                    <a:pt x="260858" y="207772"/>
                  </a:lnTo>
                  <a:lnTo>
                    <a:pt x="227076" y="241681"/>
                  </a:lnTo>
                  <a:lnTo>
                    <a:pt x="227076" y="248920"/>
                  </a:lnTo>
                  <a:lnTo>
                    <a:pt x="234188" y="256032"/>
                  </a:lnTo>
                  <a:lnTo>
                    <a:pt x="239522" y="256032"/>
                  </a:lnTo>
                  <a:lnTo>
                    <a:pt x="244856" y="256032"/>
                  </a:lnTo>
                  <a:lnTo>
                    <a:pt x="246634" y="252476"/>
                  </a:lnTo>
                  <a:lnTo>
                    <a:pt x="280416" y="218567"/>
                  </a:lnTo>
                  <a:lnTo>
                    <a:pt x="280416" y="211328"/>
                  </a:lnTo>
                  <a:close/>
                </a:path>
                <a:path w="356870" h="256539">
                  <a:moveTo>
                    <a:pt x="280416" y="163957"/>
                  </a:moveTo>
                  <a:lnTo>
                    <a:pt x="243078" y="126492"/>
                  </a:lnTo>
                  <a:lnTo>
                    <a:pt x="235966" y="126492"/>
                  </a:lnTo>
                  <a:lnTo>
                    <a:pt x="230632" y="130048"/>
                  </a:lnTo>
                  <a:lnTo>
                    <a:pt x="227076" y="133604"/>
                  </a:lnTo>
                  <a:lnTo>
                    <a:pt x="227076" y="140843"/>
                  </a:lnTo>
                  <a:lnTo>
                    <a:pt x="230632" y="146177"/>
                  </a:lnTo>
                  <a:lnTo>
                    <a:pt x="260858" y="174752"/>
                  </a:lnTo>
                  <a:lnTo>
                    <a:pt x="264414" y="178308"/>
                  </a:lnTo>
                  <a:lnTo>
                    <a:pt x="269748" y="178308"/>
                  </a:lnTo>
                  <a:lnTo>
                    <a:pt x="275082" y="178308"/>
                  </a:lnTo>
                  <a:lnTo>
                    <a:pt x="276860" y="174752"/>
                  </a:lnTo>
                  <a:lnTo>
                    <a:pt x="280416" y="171196"/>
                  </a:lnTo>
                  <a:lnTo>
                    <a:pt x="280416" y="163957"/>
                  </a:lnTo>
                  <a:close/>
                </a:path>
                <a:path w="356870" h="256539">
                  <a:moveTo>
                    <a:pt x="356616" y="241681"/>
                  </a:moveTo>
                  <a:lnTo>
                    <a:pt x="318262" y="204216"/>
                  </a:lnTo>
                  <a:lnTo>
                    <a:pt x="310896" y="204216"/>
                  </a:lnTo>
                  <a:lnTo>
                    <a:pt x="307213" y="207772"/>
                  </a:lnTo>
                  <a:lnTo>
                    <a:pt x="301752" y="211328"/>
                  </a:lnTo>
                  <a:lnTo>
                    <a:pt x="301752" y="218567"/>
                  </a:lnTo>
                  <a:lnTo>
                    <a:pt x="307213" y="222123"/>
                  </a:lnTo>
                  <a:lnTo>
                    <a:pt x="338328" y="252476"/>
                  </a:lnTo>
                  <a:lnTo>
                    <a:pt x="340106" y="256032"/>
                  </a:lnTo>
                  <a:lnTo>
                    <a:pt x="345694" y="256032"/>
                  </a:lnTo>
                  <a:lnTo>
                    <a:pt x="351155" y="256032"/>
                  </a:lnTo>
                  <a:lnTo>
                    <a:pt x="352933" y="252476"/>
                  </a:lnTo>
                  <a:lnTo>
                    <a:pt x="356616" y="248920"/>
                  </a:lnTo>
                  <a:lnTo>
                    <a:pt x="356616" y="241681"/>
                  </a:lnTo>
                  <a:close/>
                </a:path>
                <a:path w="356870" h="256539">
                  <a:moveTo>
                    <a:pt x="356616" y="133604"/>
                  </a:moveTo>
                  <a:lnTo>
                    <a:pt x="349250" y="126492"/>
                  </a:lnTo>
                  <a:lnTo>
                    <a:pt x="342011" y="126492"/>
                  </a:lnTo>
                  <a:lnTo>
                    <a:pt x="307213" y="160401"/>
                  </a:lnTo>
                  <a:lnTo>
                    <a:pt x="301752" y="163957"/>
                  </a:lnTo>
                  <a:lnTo>
                    <a:pt x="301752" y="171196"/>
                  </a:lnTo>
                  <a:lnTo>
                    <a:pt x="307213" y="174752"/>
                  </a:lnTo>
                  <a:lnTo>
                    <a:pt x="309118" y="178308"/>
                  </a:lnTo>
                  <a:lnTo>
                    <a:pt x="314579" y="178308"/>
                  </a:lnTo>
                  <a:lnTo>
                    <a:pt x="320040" y="178308"/>
                  </a:lnTo>
                  <a:lnTo>
                    <a:pt x="321818" y="174752"/>
                  </a:lnTo>
                  <a:lnTo>
                    <a:pt x="352933" y="146177"/>
                  </a:lnTo>
                  <a:lnTo>
                    <a:pt x="356616" y="140843"/>
                  </a:lnTo>
                  <a:lnTo>
                    <a:pt x="356616" y="133604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5685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5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8096" y="2410968"/>
              <a:ext cx="378460" cy="489584"/>
            </a:xfrm>
            <a:custGeom>
              <a:avLst/>
              <a:gdLst/>
              <a:ahLst/>
              <a:cxnLst/>
              <a:rect l="l" t="t" r="r" b="b"/>
              <a:pathLst>
                <a:path w="378460" h="489585">
                  <a:moveTo>
                    <a:pt x="259333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485521"/>
                  </a:lnTo>
                  <a:lnTo>
                    <a:pt x="5587" y="489204"/>
                  </a:lnTo>
                  <a:lnTo>
                    <a:pt x="200151" y="489204"/>
                  </a:lnTo>
                  <a:lnTo>
                    <a:pt x="200151" y="466979"/>
                  </a:lnTo>
                  <a:lnTo>
                    <a:pt x="22225" y="466979"/>
                  </a:lnTo>
                  <a:lnTo>
                    <a:pt x="22225" y="22225"/>
                  </a:lnTo>
                  <a:lnTo>
                    <a:pt x="281665" y="22225"/>
                  </a:lnTo>
                  <a:lnTo>
                    <a:pt x="263143" y="3683"/>
                  </a:lnTo>
                  <a:lnTo>
                    <a:pt x="261238" y="1905"/>
                  </a:lnTo>
                  <a:lnTo>
                    <a:pt x="259333" y="0"/>
                  </a:lnTo>
                  <a:close/>
                </a:path>
                <a:path w="378460" h="489585">
                  <a:moveTo>
                    <a:pt x="281665" y="22225"/>
                  </a:moveTo>
                  <a:lnTo>
                    <a:pt x="251967" y="22225"/>
                  </a:lnTo>
                  <a:lnTo>
                    <a:pt x="355726" y="127889"/>
                  </a:lnTo>
                  <a:lnTo>
                    <a:pt x="355726" y="289052"/>
                  </a:lnTo>
                  <a:lnTo>
                    <a:pt x="377951" y="289052"/>
                  </a:lnTo>
                  <a:lnTo>
                    <a:pt x="377951" y="120396"/>
                  </a:lnTo>
                  <a:lnTo>
                    <a:pt x="376046" y="116712"/>
                  </a:lnTo>
                  <a:lnTo>
                    <a:pt x="281665" y="22225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1935" y="2410968"/>
              <a:ext cx="134112" cy="1325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4796" y="2677667"/>
              <a:ext cx="265430" cy="266700"/>
            </a:xfrm>
            <a:custGeom>
              <a:avLst/>
              <a:gdLst/>
              <a:ahLst/>
              <a:cxnLst/>
              <a:rect l="l" t="t" r="r" b="b"/>
              <a:pathLst>
                <a:path w="265429" h="266700">
                  <a:moveTo>
                    <a:pt x="265176" y="64770"/>
                  </a:moveTo>
                  <a:lnTo>
                    <a:pt x="263271" y="61087"/>
                  </a:lnTo>
                  <a:lnTo>
                    <a:pt x="239395" y="37058"/>
                  </a:lnTo>
                  <a:lnTo>
                    <a:pt x="239395" y="66675"/>
                  </a:lnTo>
                  <a:lnTo>
                    <a:pt x="209524" y="96710"/>
                  </a:lnTo>
                  <a:lnTo>
                    <a:pt x="194513" y="81330"/>
                  </a:lnTo>
                  <a:lnTo>
                    <a:pt x="194513" y="111810"/>
                  </a:lnTo>
                  <a:lnTo>
                    <a:pt x="82804" y="224155"/>
                  </a:lnTo>
                  <a:lnTo>
                    <a:pt x="27559" y="240792"/>
                  </a:lnTo>
                  <a:lnTo>
                    <a:pt x="42291" y="183388"/>
                  </a:lnTo>
                  <a:lnTo>
                    <a:pt x="155067" y="71348"/>
                  </a:lnTo>
                  <a:lnTo>
                    <a:pt x="194513" y="111810"/>
                  </a:lnTo>
                  <a:lnTo>
                    <a:pt x="194513" y="81330"/>
                  </a:lnTo>
                  <a:lnTo>
                    <a:pt x="170154" y="56349"/>
                  </a:lnTo>
                  <a:lnTo>
                    <a:pt x="198882" y="27813"/>
                  </a:lnTo>
                  <a:lnTo>
                    <a:pt x="239395" y="66675"/>
                  </a:lnTo>
                  <a:lnTo>
                    <a:pt x="239395" y="37058"/>
                  </a:lnTo>
                  <a:lnTo>
                    <a:pt x="230212" y="27813"/>
                  </a:lnTo>
                  <a:lnTo>
                    <a:pt x="202565" y="0"/>
                  </a:lnTo>
                  <a:lnTo>
                    <a:pt x="195199" y="0"/>
                  </a:lnTo>
                  <a:lnTo>
                    <a:pt x="25781" y="170434"/>
                  </a:lnTo>
                  <a:lnTo>
                    <a:pt x="23876" y="172212"/>
                  </a:lnTo>
                  <a:lnTo>
                    <a:pt x="23876" y="174117"/>
                  </a:lnTo>
                  <a:lnTo>
                    <a:pt x="22098" y="175895"/>
                  </a:lnTo>
                  <a:lnTo>
                    <a:pt x="0" y="253746"/>
                  </a:lnTo>
                  <a:lnTo>
                    <a:pt x="0" y="261112"/>
                  </a:lnTo>
                  <a:lnTo>
                    <a:pt x="3683" y="263017"/>
                  </a:lnTo>
                  <a:lnTo>
                    <a:pt x="5461" y="266700"/>
                  </a:lnTo>
                  <a:lnTo>
                    <a:pt x="14732" y="266700"/>
                  </a:lnTo>
                  <a:lnTo>
                    <a:pt x="92075" y="244475"/>
                  </a:lnTo>
                  <a:lnTo>
                    <a:pt x="93853" y="244475"/>
                  </a:lnTo>
                  <a:lnTo>
                    <a:pt x="95758" y="242570"/>
                  </a:lnTo>
                  <a:lnTo>
                    <a:pt x="95758" y="240792"/>
                  </a:lnTo>
                  <a:lnTo>
                    <a:pt x="265176" y="70358"/>
                  </a:lnTo>
                  <a:lnTo>
                    <a:pt x="265176" y="6477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2208" y="2566416"/>
              <a:ext cx="88391" cy="883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4608" y="2843784"/>
              <a:ext cx="80771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152" y="2677668"/>
              <a:ext cx="86868" cy="883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7740" y="2677668"/>
              <a:ext cx="88392" cy="8839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2782" y="2091689"/>
            <a:ext cx="2395855" cy="3965575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687070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业务驱动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376555" marR="233045" indent="-287020">
              <a:lnSpc>
                <a:spcPct val="100000"/>
              </a:lnSpc>
              <a:buFont typeface="Arial"/>
              <a:buChar char="•"/>
              <a:tabLst>
                <a:tab pos="375920" algn="l"/>
                <a:tab pos="376555" algn="l"/>
              </a:tabLst>
            </a:pPr>
            <a:r>
              <a:rPr sz="1400" dirty="0">
                <a:latin typeface="微软雅黑"/>
                <a:cs typeface="微软雅黑"/>
              </a:rPr>
              <a:t>基于PS</a:t>
            </a:r>
            <a:r>
              <a:rPr sz="1400" spc="5" dirty="0">
                <a:latin typeface="微软雅黑"/>
                <a:cs typeface="微软雅黑"/>
              </a:rPr>
              <a:t>D</a:t>
            </a:r>
            <a:r>
              <a:rPr sz="1400" spc="-15" dirty="0">
                <a:latin typeface="微软雅黑"/>
                <a:cs typeface="微软雅黑"/>
              </a:rPr>
              <a:t>未来业务方案</a:t>
            </a:r>
            <a:r>
              <a:rPr sz="1400" dirty="0">
                <a:latin typeface="微软雅黑"/>
                <a:cs typeface="微软雅黑"/>
              </a:rPr>
              <a:t>进行设计，对各个业务</a:t>
            </a:r>
            <a:r>
              <a:rPr sz="1400" spc="-15" dirty="0">
                <a:latin typeface="微软雅黑"/>
                <a:cs typeface="微软雅黑"/>
              </a:rPr>
              <a:t>场景进行全面覆盖，</a:t>
            </a:r>
            <a:endParaRPr sz="1400">
              <a:latin typeface="微软雅黑"/>
              <a:cs typeface="微软雅黑"/>
            </a:endParaRPr>
          </a:p>
          <a:p>
            <a:pPr marL="376555" marR="240029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76555" algn="l"/>
              </a:tabLst>
            </a:pPr>
            <a:r>
              <a:rPr sz="1400" dirty="0">
                <a:latin typeface="微软雅黑"/>
                <a:cs typeface="微软雅黑"/>
              </a:rPr>
              <a:t>支持PSD</a:t>
            </a:r>
            <a:r>
              <a:rPr sz="1400" spc="-25" dirty="0">
                <a:latin typeface="微软雅黑"/>
                <a:cs typeface="微软雅黑"/>
              </a:rPr>
              <a:t>全球业务，统</a:t>
            </a:r>
            <a:r>
              <a:rPr sz="1400" dirty="0">
                <a:latin typeface="微软雅黑"/>
                <a:cs typeface="微软雅黑"/>
              </a:rPr>
              <a:t>一业务流程，统一</a:t>
            </a:r>
            <a:r>
              <a:rPr sz="1400" spc="-10" dirty="0">
                <a:latin typeface="微软雅黑"/>
                <a:cs typeface="微软雅黑"/>
              </a:rPr>
              <a:t>IT</a:t>
            </a:r>
            <a:r>
              <a:rPr sz="1400" spc="-60" dirty="0">
                <a:latin typeface="微软雅黑"/>
                <a:cs typeface="微软雅黑"/>
              </a:rPr>
              <a:t>平</a:t>
            </a:r>
            <a:r>
              <a:rPr sz="1400" spc="-50" dirty="0">
                <a:latin typeface="微软雅黑"/>
                <a:cs typeface="微软雅黑"/>
              </a:rPr>
              <a:t>台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4876" y="2244851"/>
            <a:ext cx="890269" cy="866140"/>
            <a:chOff x="1674876" y="2244851"/>
            <a:chExt cx="890269" cy="866140"/>
          </a:xfrm>
        </p:grpSpPr>
        <p:sp>
          <p:nvSpPr>
            <p:cNvPr id="29" name="object 29"/>
            <p:cNvSpPr/>
            <p:nvPr/>
          </p:nvSpPr>
          <p:spPr>
            <a:xfrm>
              <a:off x="1693926" y="2263901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69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7880" y="2453639"/>
              <a:ext cx="277368" cy="2164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3664" y="2494787"/>
              <a:ext cx="184404" cy="2362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4144" y="2750819"/>
              <a:ext cx="195072" cy="17525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45792" y="285597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241" y="0"/>
                  </a:moveTo>
                  <a:lnTo>
                    <a:pt x="19020" y="2434"/>
                  </a:lnTo>
                  <a:lnTo>
                    <a:pt x="9096" y="9096"/>
                  </a:lnTo>
                  <a:lnTo>
                    <a:pt x="2434" y="19020"/>
                  </a:lnTo>
                  <a:lnTo>
                    <a:pt x="0" y="31241"/>
                  </a:lnTo>
                  <a:lnTo>
                    <a:pt x="2434" y="43463"/>
                  </a:lnTo>
                  <a:lnTo>
                    <a:pt x="9096" y="53387"/>
                  </a:lnTo>
                  <a:lnTo>
                    <a:pt x="19020" y="60049"/>
                  </a:lnTo>
                  <a:lnTo>
                    <a:pt x="31241" y="62484"/>
                  </a:lnTo>
                  <a:lnTo>
                    <a:pt x="43463" y="60049"/>
                  </a:lnTo>
                  <a:lnTo>
                    <a:pt x="53387" y="53387"/>
                  </a:lnTo>
                  <a:lnTo>
                    <a:pt x="60049" y="43463"/>
                  </a:lnTo>
                  <a:lnTo>
                    <a:pt x="60409" y="41656"/>
                  </a:lnTo>
                  <a:lnTo>
                    <a:pt x="26034" y="41656"/>
                  </a:lnTo>
                  <a:lnTo>
                    <a:pt x="20827" y="36449"/>
                  </a:lnTo>
                  <a:lnTo>
                    <a:pt x="20827" y="24257"/>
                  </a:lnTo>
                  <a:lnTo>
                    <a:pt x="26034" y="20827"/>
                  </a:lnTo>
                  <a:lnTo>
                    <a:pt x="60409" y="20827"/>
                  </a:lnTo>
                  <a:lnTo>
                    <a:pt x="60049" y="19020"/>
                  </a:lnTo>
                  <a:lnTo>
                    <a:pt x="53387" y="9096"/>
                  </a:lnTo>
                  <a:lnTo>
                    <a:pt x="43463" y="2434"/>
                  </a:lnTo>
                  <a:lnTo>
                    <a:pt x="31241" y="0"/>
                  </a:lnTo>
                  <a:close/>
                </a:path>
                <a:path w="62864" h="62864">
                  <a:moveTo>
                    <a:pt x="60409" y="20827"/>
                  </a:moveTo>
                  <a:lnTo>
                    <a:pt x="36449" y="20827"/>
                  </a:lnTo>
                  <a:lnTo>
                    <a:pt x="41656" y="24257"/>
                  </a:lnTo>
                  <a:lnTo>
                    <a:pt x="41656" y="36449"/>
                  </a:lnTo>
                  <a:lnTo>
                    <a:pt x="36449" y="41656"/>
                  </a:lnTo>
                  <a:lnTo>
                    <a:pt x="60409" y="41656"/>
                  </a:lnTo>
                  <a:lnTo>
                    <a:pt x="62483" y="31241"/>
                  </a:lnTo>
                  <a:lnTo>
                    <a:pt x="60409" y="2082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31136" y="2781299"/>
              <a:ext cx="88391" cy="883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13432" y="2741675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19">
                  <a:moveTo>
                    <a:pt x="16510" y="0"/>
                  </a:moveTo>
                  <a:lnTo>
                    <a:pt x="4825" y="0"/>
                  </a:lnTo>
                  <a:lnTo>
                    <a:pt x="0" y="4445"/>
                  </a:lnTo>
                  <a:lnTo>
                    <a:pt x="0" y="9906"/>
                  </a:lnTo>
                  <a:lnTo>
                    <a:pt x="0" y="15366"/>
                  </a:lnTo>
                  <a:lnTo>
                    <a:pt x="4825" y="19812"/>
                  </a:lnTo>
                  <a:lnTo>
                    <a:pt x="16510" y="19812"/>
                  </a:lnTo>
                  <a:lnTo>
                    <a:pt x="21336" y="15366"/>
                  </a:lnTo>
                  <a:lnTo>
                    <a:pt x="21336" y="4445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 dirty="0">
              <a:latin typeface="黑体"/>
              <a:cs typeface="黑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 dirty="0">
              <a:latin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5627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</TotalTime>
  <Words>493</Words>
  <Application>Microsoft Office PowerPoint</Application>
  <PresentationFormat>宽屏</PresentationFormat>
  <Paragraphs>185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黑体</vt:lpstr>
      <vt:lpstr>宋体</vt:lpstr>
      <vt:lpstr>微软雅黑</vt:lpstr>
      <vt:lpstr>Arial</vt:lpstr>
      <vt:lpstr>Calibri</vt:lpstr>
      <vt:lpstr>Calibri Light</vt:lpstr>
      <vt:lpstr>Times New Roman</vt:lpstr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11</cp:revision>
  <dcterms:created xsi:type="dcterms:W3CDTF">2025-04-15T02:30:01Z</dcterms:created>
  <dcterms:modified xsi:type="dcterms:W3CDTF">2025-04-16T05:48:37Z</dcterms:modified>
</cp:coreProperties>
</file>