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5" r:id="rId2"/>
  </p:sldMasterIdLst>
  <p:notesMasterIdLst>
    <p:notesMasterId r:id="rId20"/>
  </p:notesMasterIdLst>
  <p:sldIdLst>
    <p:sldId id="270" r:id="rId3"/>
    <p:sldId id="274" r:id="rId4"/>
    <p:sldId id="287" r:id="rId5"/>
    <p:sldId id="288" r:id="rId6"/>
    <p:sldId id="280" r:id="rId7"/>
    <p:sldId id="276" r:id="rId8"/>
    <p:sldId id="283" r:id="rId9"/>
    <p:sldId id="277" r:id="rId10"/>
    <p:sldId id="278" r:id="rId11"/>
    <p:sldId id="279" r:id="rId12"/>
    <p:sldId id="281" r:id="rId13"/>
    <p:sldId id="282" r:id="rId14"/>
    <p:sldId id="273" r:id="rId15"/>
    <p:sldId id="259" r:id="rId16"/>
    <p:sldId id="285" r:id="rId17"/>
    <p:sldId id="286" r:id="rId18"/>
    <p:sldId id="266" r:id="rId19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0036"/>
    <a:srgbClr val="3979C1"/>
    <a:srgbClr val="4F98EB"/>
    <a:srgbClr val="D0E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74079" autoAdjust="0"/>
  </p:normalViewPr>
  <p:slideViewPr>
    <p:cSldViewPr snapToGrid="0">
      <p:cViewPr varScale="1">
        <p:scale>
          <a:sx n="65" d="100"/>
          <a:sy n="65" d="100"/>
        </p:scale>
        <p:origin x="133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58A31-3087-41CF-ACA7-E181E5F76B2D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B7DEA7-9E98-4868-9329-FDB16586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2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918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CM</a:t>
            </a:r>
            <a:r>
              <a:rPr lang="zh-CN" altLang="en-US" dirty="0" smtClean="0"/>
              <a:t>客户管理流程：如何定义重客，客户的组织保障（负责人，虚拟组织的设计与组成，常态化客户运营）</a:t>
            </a:r>
            <a:endParaRPr lang="en-US" altLang="zh-CN" dirty="0" smtClean="0"/>
          </a:p>
          <a:p>
            <a:r>
              <a:rPr lang="zh-CN" altLang="en-US" dirty="0" smtClean="0"/>
              <a:t>客户计划流程：对等沟通机制，领导池建立</a:t>
            </a:r>
            <a:endParaRPr lang="en-US" altLang="zh-CN" dirty="0" smtClean="0"/>
          </a:p>
          <a:p>
            <a:r>
              <a:rPr lang="en-US" altLang="zh-CN" dirty="0" smtClean="0"/>
              <a:t>MM</a:t>
            </a:r>
            <a:r>
              <a:rPr lang="zh-CN" altLang="en-US" dirty="0" smtClean="0"/>
              <a:t>流程：重客战略洞察</a:t>
            </a:r>
            <a:endParaRPr lang="en-US" altLang="zh-CN" dirty="0" smtClean="0"/>
          </a:p>
          <a:p>
            <a:r>
              <a:rPr lang="en-US" altLang="zh-CN" dirty="0" smtClean="0"/>
              <a:t>DG</a:t>
            </a:r>
            <a:r>
              <a:rPr lang="zh-CN" altLang="en-US" dirty="0" smtClean="0"/>
              <a:t>流程：重客的营销策略与计划</a:t>
            </a:r>
            <a:endParaRPr lang="en-US" altLang="zh-CN" dirty="0" smtClean="0"/>
          </a:p>
          <a:p>
            <a:r>
              <a:rPr lang="en-US" altLang="zh-CN" dirty="0" smtClean="0"/>
              <a:t>MO</a:t>
            </a:r>
            <a:r>
              <a:rPr lang="zh-CN" altLang="en-US" dirty="0" smtClean="0"/>
              <a:t>流程：重客的销售流程与机制；需求的响应（</a:t>
            </a:r>
            <a:r>
              <a:rPr lang="en-US" altLang="zh-CN" dirty="0" smtClean="0"/>
              <a:t>EC,DC</a:t>
            </a:r>
            <a:r>
              <a:rPr lang="zh-CN" altLang="en-US" dirty="0" smtClean="0"/>
              <a:t>），非标诉求的应对（标前，合同评审）</a:t>
            </a:r>
            <a:endParaRPr lang="en-US" altLang="zh-CN" dirty="0" smtClean="0"/>
          </a:p>
          <a:p>
            <a:r>
              <a:rPr lang="en-US" altLang="zh-CN" dirty="0" smtClean="0"/>
              <a:t>SD</a:t>
            </a:r>
            <a:r>
              <a:rPr lang="zh-CN" altLang="en-US" dirty="0" smtClean="0"/>
              <a:t>流程：重客项目如何高质量交付，成立专项交付项目组，订单、开票、回款。</a:t>
            </a:r>
            <a:endParaRPr lang="en-US" altLang="zh-CN" dirty="0" smtClean="0"/>
          </a:p>
          <a:p>
            <a:r>
              <a:rPr lang="en-US" altLang="zh-CN" dirty="0" smtClean="0"/>
              <a:t>ITR</a:t>
            </a:r>
            <a:r>
              <a:rPr lang="zh-CN" altLang="en-US" dirty="0" smtClean="0"/>
              <a:t>流程：重客服务流程如何设计与重点关注</a:t>
            </a:r>
            <a:endParaRPr lang="en-US" altLang="zh-CN" dirty="0" smtClean="0"/>
          </a:p>
          <a:p>
            <a:r>
              <a:rPr lang="en-US" altLang="zh-CN" dirty="0" smtClean="0"/>
              <a:t>IPD</a:t>
            </a:r>
            <a:r>
              <a:rPr lang="zh-CN" altLang="en-US" dirty="0" smtClean="0"/>
              <a:t>流程：产品退市流程对重客的影响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6020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470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案例，问题，提案，引导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444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3195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0570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568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23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uijie.com.cn/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2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2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9.xml"/><Relationship Id="rId4" Type="http://schemas.openxmlformats.org/officeDocument/2006/relationships/tags" Target="../tags/tag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4" name="灯片编号占位符 1"/>
          <p:cNvSpPr txBox="1"/>
          <p:nvPr userDrawn="1">
            <p:custDataLst>
              <p:tags r:id="rId5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/>
              <a:t>｜ </a:t>
            </a:r>
            <a:r>
              <a:rPr kumimoji="1" lang="en-US" altLang="zh-CN" dirty="0"/>
              <a:t>www.ruijie.com.cn</a:t>
            </a:r>
            <a:endParaRPr kumimoji="1" lang="zh-CN" altLang="en-US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游戏机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9" y="0"/>
            <a:ext cx="12191124" cy="6858000"/>
          </a:xfrm>
          <a:prstGeom prst="rect">
            <a:avLst/>
          </a:prstGeom>
        </p:spPr>
      </p:pic>
      <p:pic>
        <p:nvPicPr>
          <p:cNvPr id="10" name="图片 9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篇章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246"/>
          </a:xfrm>
          <a:prstGeom prst="rect">
            <a:avLst/>
          </a:prstGeom>
        </p:spPr>
      </p:pic>
      <p:pic>
        <p:nvPicPr>
          <p:cNvPr id="8" name="图片 7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000"/>
          </a:xfrm>
          <a:prstGeom prst="rect">
            <a:avLst/>
          </a:prstGeom>
        </p:spPr>
      </p:pic>
      <p:sp>
        <p:nvSpPr>
          <p:cNvPr id="11" name="TextBox 6"/>
          <p:cNvSpPr>
            <a:spLocks noChangeArrowheads="1"/>
          </p:cNvSpPr>
          <p:nvPr userDrawn="1"/>
        </p:nvSpPr>
        <p:spPr bwMode="auto">
          <a:xfrm>
            <a:off x="573759" y="1771142"/>
            <a:ext cx="404812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微软雅黑" panose="020B0503020204020204" pitchFamily="34" charset="-122"/>
              </a:rPr>
              <a:t>THANKS.</a:t>
            </a:r>
          </a:p>
        </p:txBody>
      </p:sp>
      <p:sp>
        <p:nvSpPr>
          <p:cNvPr id="12" name="TextBox 7"/>
          <p:cNvSpPr>
            <a:spLocks noChangeArrowheads="1"/>
          </p:cNvSpPr>
          <p:nvPr userDrawn="1"/>
        </p:nvSpPr>
        <p:spPr bwMode="auto">
          <a:xfrm>
            <a:off x="573758" y="2502536"/>
            <a:ext cx="5323894" cy="84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锐捷网络股份有限公司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05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欲了解更多信息，欢迎登</a:t>
            </a:r>
            <a:r>
              <a:rPr lang="zh-CN" altLang="en-US" sz="105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录</a:t>
            </a:r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  <a:hlinkClick r:id="rId3"/>
              </a:rPr>
              <a:t>www.ruijie.com.cn</a:t>
            </a:r>
            <a:r>
              <a:rPr lang="en-US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，咨询电话：400-620-8818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*本资料产品图片及技术数据仅供参考，如有更新恕不另行通知，具体内容解释权归锐捷网络所有。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3" name="图片 12" descr="徽标&#10;&#10;描述已自动生成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蓝色的天空&#10;&#10;描述已自动生成"/>
          <p:cNvPicPr>
            <a:picLocks noChangeAspect="1"/>
          </p:cNvPicPr>
          <p:nvPr userDrawn="1"/>
        </p:nvPicPr>
        <p:blipFill>
          <a:blip r:embed="rId2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灯片编号占位符 1"/>
          <p:cNvSpPr txBox="1"/>
          <p:nvPr userDrawn="1">
            <p:custDataLst>
              <p:tags r:id="rId3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4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  <a:endParaRPr kumimoji="1" lang="en-US" altLang="zh-CN" dirty="0"/>
          </a:p>
          <a:p>
            <a:pPr lvl="0"/>
            <a:endParaRPr kumimoji="1" lang="en-US" altLang="zh-CN" dirty="0"/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000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灯片编号占位符 1"/>
          <p:cNvSpPr txBox="1"/>
          <p:nvPr userDrawn="1">
            <p:custDataLst>
              <p:tags r:id="rId3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4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  <a:endParaRPr kumimoji="1" lang="en-US" altLang="zh-CN" dirty="0"/>
          </a:p>
          <a:p>
            <a:pPr lvl="0"/>
            <a:endParaRPr kumimoji="1" lang="en-US" altLang="zh-CN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.jpeg"/><Relationship Id="rId4" Type="http://schemas.openxmlformats.org/officeDocument/2006/relationships/tags" Target="../tags/tag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79380-D657-8D4E-9A0F-A362142B5069}" type="datetimeFigureOut">
              <a:rPr kumimoji="1" lang="zh-CN" altLang="en-US" smtClean="0"/>
              <a:t>2025/5/21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A8893-B06F-FA45-8416-383DCFC04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6.xml"/><Relationship Id="rId4" Type="http://schemas.openxmlformats.org/officeDocument/2006/relationships/slide" Target="slide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图片包含 游戏机, 桌子, 水, 船&#10;&#10;描述已自动生成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000"/>
          </a:xfrm>
          <a:prstGeom prst="rect">
            <a:avLst/>
          </a:prstGeom>
        </p:spPr>
      </p:pic>
      <p:pic>
        <p:nvPicPr>
          <p:cNvPr id="11" name="图片 10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92015" y="5468044"/>
            <a:ext cx="530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2015" y="5806598"/>
            <a:ext cx="1117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2025.05.25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2015" y="2301330"/>
            <a:ext cx="55130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XXX-</a:t>
            </a:r>
            <a:r>
              <a:rPr kumimoji="1" lang="zh-CN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如何服务好重客提案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9915" y="153663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6" name="文本占位符 2"/>
          <p:cNvSpPr txBox="1"/>
          <p:nvPr/>
        </p:nvSpPr>
        <p:spPr>
          <a:xfrm>
            <a:off x="1219915" y="2469930"/>
            <a:ext cx="4634230" cy="2406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当前存在的问题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看到的差距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改进策略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重客试点计划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重客的定义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655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案例分享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847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" y="1840865"/>
            <a:ext cx="11744325" cy="468376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当前看到的问题</a:t>
            </a:r>
          </a:p>
        </p:txBody>
      </p:sp>
      <p:cxnSp>
        <p:nvCxnSpPr>
          <p:cNvPr id="3" name="直接箭头连接符 2"/>
          <p:cNvCxnSpPr/>
          <p:nvPr/>
        </p:nvCxnSpPr>
        <p:spPr>
          <a:xfrm flipH="1" flipV="1">
            <a:off x="1310644" y="1613538"/>
            <a:ext cx="1244596" cy="4414517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6" name="Rectangle 135"/>
          <p:cNvSpPr/>
          <p:nvPr/>
        </p:nvSpPr>
        <p:spPr>
          <a:xfrm>
            <a:off x="213360" y="97345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重客的责任人及组织保障不清晰</a:t>
            </a:r>
            <a:endParaRPr lang="zh-CN" altLang="en-US" sz="1300" b="1" dirty="0">
              <a:solidFill>
                <a:prstClr val="black"/>
              </a:solidFill>
              <a:latin typeface="Verdana" panose="020B0804030504040204"/>
              <a:ea typeface="微软雅黑" panose="020B0503020204020204" pitchFamily="34" charset="-122"/>
            </a:endParaRPr>
          </a:p>
        </p:txBody>
      </p:sp>
      <p:cxnSp>
        <p:nvCxnSpPr>
          <p:cNvPr id="5" name="直接箭头连接符 4"/>
          <p:cNvCxnSpPr>
            <a:endCxn id="6" idx="2"/>
          </p:cNvCxnSpPr>
          <p:nvPr/>
        </p:nvCxnSpPr>
        <p:spPr>
          <a:xfrm flipH="1" flipV="1">
            <a:off x="3916045" y="1637665"/>
            <a:ext cx="16510" cy="237553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Rectangle 135"/>
          <p:cNvSpPr/>
          <p:nvPr/>
        </p:nvSpPr>
        <p:spPr>
          <a:xfrm>
            <a:off x="2745105" y="97345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</a:t>
            </a:r>
            <a:r>
              <a:rPr lang="en-US" altLang="zh-CN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  <a:sym typeface="+mn-ea"/>
              </a:rPr>
              <a:t>DC,EC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  <a:sym typeface="+mn-ea"/>
              </a:rPr>
              <a:t>类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  <a:sym typeface="+mn-ea"/>
              </a:rPr>
              <a:t>需求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  <a:sym typeface="+mn-ea"/>
              </a:rPr>
              <a:t>或项目无法有效的支撑和闭环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  <a:sym typeface="+mn-ea"/>
              </a:rPr>
              <a:t>；</a:t>
            </a:r>
            <a:endParaRPr lang="zh-CN" altLang="en-US" sz="1300" b="1" dirty="0">
              <a:solidFill>
                <a:prstClr val="black"/>
              </a:solidFill>
              <a:latin typeface="Verdana" panose="020B0804030504040204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7" name="直接箭头连接符 6"/>
          <p:cNvCxnSpPr>
            <a:endCxn id="8" idx="2"/>
          </p:cNvCxnSpPr>
          <p:nvPr/>
        </p:nvCxnSpPr>
        <p:spPr>
          <a:xfrm flipH="1" flipV="1">
            <a:off x="10723245" y="1637665"/>
            <a:ext cx="55245" cy="237553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Rectangle 135"/>
          <p:cNvSpPr/>
          <p:nvPr/>
        </p:nvSpPr>
        <p:spPr>
          <a:xfrm>
            <a:off x="9552305" y="973455"/>
            <a:ext cx="2341880" cy="664210"/>
          </a:xfrm>
          <a:prstGeom prst="rect">
            <a:avLst/>
          </a:prstGeom>
          <a:solidFill>
            <a:schemeClr val="bg2">
              <a:lumMod val="75000"/>
              <a:alpha val="70000"/>
            </a:scheme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产品退市</a:t>
            </a:r>
            <a:r>
              <a:rPr lang="en-US" altLang="zh-CN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/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停产对重客生命周期内产生的影响没有做好管理</a:t>
            </a:r>
          </a:p>
        </p:txBody>
      </p:sp>
      <p:cxnSp>
        <p:nvCxnSpPr>
          <p:cNvPr id="9" name="直接箭头连接符 8"/>
          <p:cNvCxnSpPr>
            <a:endCxn id="11" idx="2"/>
          </p:cNvCxnSpPr>
          <p:nvPr/>
        </p:nvCxnSpPr>
        <p:spPr>
          <a:xfrm flipH="1" flipV="1">
            <a:off x="8542655" y="1627505"/>
            <a:ext cx="86995" cy="440055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Rectangle 135"/>
          <p:cNvSpPr/>
          <p:nvPr/>
        </p:nvSpPr>
        <p:spPr>
          <a:xfrm>
            <a:off x="7605395" y="963295"/>
            <a:ext cx="1874520" cy="664210"/>
          </a:xfrm>
          <a:prstGeom prst="rect">
            <a:avLst/>
          </a:prstGeom>
          <a:solidFill>
            <a:schemeClr val="bg2">
              <a:lumMod val="75000"/>
              <a:alpha val="70000"/>
            </a:scheme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缺乏持续的客户运营计划与对等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沟通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机制</a:t>
            </a:r>
            <a:endParaRPr lang="zh-CN" altLang="en-US" sz="1300" b="1" dirty="0">
              <a:solidFill>
                <a:prstClr val="black"/>
              </a:solidFill>
              <a:latin typeface="Verdana" panose="020B0804030504040204"/>
              <a:ea typeface="微软雅黑" panose="020B0503020204020204" pitchFamily="34" charset="-122"/>
            </a:endParaRPr>
          </a:p>
        </p:txBody>
      </p:sp>
      <p:sp>
        <p:nvSpPr>
          <p:cNvPr id="12" name="Rectangle 135"/>
          <p:cNvSpPr/>
          <p:nvPr/>
        </p:nvSpPr>
        <p:spPr>
          <a:xfrm>
            <a:off x="5175250" y="94932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缺乏重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客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非标准项目的投标及合同标准、规范及组织保障；</a:t>
            </a:r>
            <a:r>
              <a:rPr lang="en-US" altLang="zh-CN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(OC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、特殊服务）</a:t>
            </a:r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5806440" y="1568768"/>
            <a:ext cx="57150" cy="2444432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占位符 9"/>
          <p:cNvSpPr txBox="1">
            <a:spLocks/>
          </p:cNvSpPr>
          <p:nvPr/>
        </p:nvSpPr>
        <p:spPr>
          <a:xfrm>
            <a:off x="11456145" y="1591847"/>
            <a:ext cx="583280" cy="247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4" action="ppaction://hlinksldjump"/>
              </a:rPr>
              <a:t>案例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文本占位符 9"/>
          <p:cNvSpPr txBox="1">
            <a:spLocks/>
          </p:cNvSpPr>
          <p:nvPr/>
        </p:nvSpPr>
        <p:spPr>
          <a:xfrm>
            <a:off x="4594492" y="1568767"/>
            <a:ext cx="583280" cy="247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5" action="ppaction://hlinksldjump"/>
              </a:rPr>
              <a:t>案例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flipH="1" flipV="1">
            <a:off x="2023110" y="1637665"/>
            <a:ext cx="1325881" cy="2042796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Rectangle 135"/>
          <p:cNvSpPr/>
          <p:nvPr/>
        </p:nvSpPr>
        <p:spPr>
          <a:xfrm>
            <a:off x="7827327" y="258285"/>
            <a:ext cx="1101725" cy="43200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营销销售领域主责</a:t>
            </a:r>
            <a:endParaRPr lang="zh-CN" altLang="en-US" sz="1300" b="1" dirty="0">
              <a:solidFill>
                <a:prstClr val="black"/>
              </a:solidFill>
              <a:latin typeface="Verdana" panose="020B0804030504040204"/>
              <a:ea typeface="微软雅黑" panose="020B0503020204020204" pitchFamily="34" charset="-122"/>
            </a:endParaRPr>
          </a:p>
        </p:txBody>
      </p:sp>
      <p:sp>
        <p:nvSpPr>
          <p:cNvPr id="32" name="Rectangle 135"/>
          <p:cNvSpPr/>
          <p:nvPr/>
        </p:nvSpPr>
        <p:spPr>
          <a:xfrm>
            <a:off x="8929052" y="258285"/>
            <a:ext cx="1101725" cy="432000"/>
          </a:xfrm>
          <a:prstGeom prst="rect">
            <a:avLst/>
          </a:prstGeom>
          <a:solidFill>
            <a:schemeClr val="bg2">
              <a:lumMod val="75000"/>
              <a:alpha val="70000"/>
            </a:scheme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其他业务领域主责</a:t>
            </a:r>
            <a:endParaRPr lang="zh-CN" altLang="en-US" sz="1300" b="1" dirty="0">
              <a:solidFill>
                <a:prstClr val="black"/>
              </a:solidFill>
              <a:latin typeface="Verdana" panose="020B0804030504040204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209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看到的差距</a:t>
            </a: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911439"/>
              </p:ext>
            </p:extLst>
          </p:nvPr>
        </p:nvGraphicFramePr>
        <p:xfrm>
          <a:off x="575119" y="1202123"/>
          <a:ext cx="10669119" cy="5171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8919"/>
                <a:gridCol w="3444875"/>
                <a:gridCol w="4465325"/>
              </a:tblGrid>
              <a:tr h="3427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</a:p>
                  </a:txBody>
                  <a:tcPr anchor="ctr">
                    <a:solidFill>
                      <a:srgbClr val="F200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5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问题分析</a:t>
                      </a:r>
                    </a:p>
                  </a:txBody>
                  <a:tcPr anchor="ctr">
                    <a:solidFill>
                      <a:srgbClr val="F20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看到的差距</a:t>
                      </a:r>
                    </a:p>
                  </a:txBody>
                  <a:tcPr anchor="ctr">
                    <a:solidFill>
                      <a:srgbClr val="F200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defTabSz="1219200">
                        <a:spcBef>
                          <a:spcPts val="300"/>
                        </a:spcBef>
                      </a:pP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重客前期沟通交流，资源流程保障，区域能力不足问题。</a:t>
                      </a:r>
                      <a:endParaRPr lang="zh-CN" altLang="en-US" sz="1600" b="1" dirty="0">
                        <a:solidFill>
                          <a:prstClr val="black"/>
                        </a:solidFill>
                        <a:latin typeface="Verdana" panose="020B0804030504040204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部分重客项目前期沟通不及时，不充分，不质量，直接导致错失项目介入最佳时机。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沟通响应时效滞后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沟通深度与广度不足，质量不佳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资源短缺且配置不合理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缺乏流程支撑</a:t>
                      </a:r>
                    </a:p>
                  </a:txBody>
                  <a:tcPr anchor="ctr"/>
                </a:tc>
              </a:tr>
              <a:tr h="977265">
                <a:tc>
                  <a:txBody>
                    <a:bodyPr/>
                    <a:lstStyle/>
                    <a:p>
                      <a:pPr algn="l" defTabSz="1219200">
                        <a:spcBef>
                          <a:spcPts val="300"/>
                        </a:spcBef>
                      </a:pP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重客</a:t>
                      </a:r>
                      <a:r>
                        <a:rPr lang="en-US" altLang="zh-CN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  <a:sym typeface="+mn-ea"/>
                        </a:rPr>
                        <a:t>DC,EC</a:t>
                      </a: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  <a:sym typeface="+mn-ea"/>
                        </a:rPr>
                        <a:t>类需求，资源匹配及专业支撑问题；</a:t>
                      </a:r>
                      <a:endParaRPr lang="zh-CN" altLang="en-US" sz="1600" b="1" dirty="0">
                        <a:solidFill>
                          <a:prstClr val="black"/>
                        </a:solidFill>
                        <a:latin typeface="Verdana" panose="020B0804030504040204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对于重客的一些特殊类需求，一线人员跟进之后回到公司找不到具体的负责人和接口人，最后不了了之，错失介入布局机会。如：</a:t>
                      </a:r>
                      <a:r>
                        <a:rPr lang="en-US" altLang="zh-CN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DC,EC</a:t>
                      </a:r>
                      <a:r>
                        <a:rPr lang="zh-CN" altLang="en-US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类需求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缺乏专职重客需求对接体系</a:t>
                      </a: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职责边界模糊与授权缺失</a:t>
                      </a: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需求流转流程断层</a:t>
                      </a:r>
                    </a:p>
                  </a:txBody>
                  <a:tcPr marL="9525" marR="9525" marT="9525" marB="0" anchor="ctr"/>
                </a:tc>
              </a:tr>
              <a:tr h="1197719">
                <a:tc>
                  <a:txBody>
                    <a:bodyPr/>
                    <a:lstStyle/>
                    <a:p>
                      <a:pPr algn="l" defTabSz="1219200">
                        <a:spcBef>
                          <a:spcPts val="300"/>
                        </a:spcBef>
                      </a:pP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重客非标类需求专业响应及闭环问题；</a:t>
                      </a:r>
                      <a:r>
                        <a:rPr lang="en-US" altLang="zh-CN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(OC</a:t>
                      </a: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、特殊服务）</a:t>
                      </a:r>
                      <a:endParaRPr lang="zh-CN" altLang="en-US" sz="1600" b="1" dirty="0">
                        <a:solidFill>
                          <a:prstClr val="black"/>
                        </a:solidFill>
                        <a:latin typeface="Verdana" panose="020B0804030504040204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对于客户的非标类特殊诉求没有分析清楚，导致后续流程失控，影响流程推进质量及后期客户体验和满意度。如：</a:t>
                      </a:r>
                      <a:r>
                        <a:rPr lang="zh-CN" altLang="en-US" sz="1400" b="0" dirty="0">
                          <a:sym typeface="+mn-ea"/>
                        </a:rPr>
                        <a:t>直签类，非标准化特殊产品服务项目，</a:t>
                      </a:r>
                      <a:r>
                        <a:rPr lang="en-US" altLang="zh-CN" sz="1400" b="0" dirty="0">
                          <a:sym typeface="+mn-ea"/>
                        </a:rPr>
                        <a:t>OC</a:t>
                      </a:r>
                      <a:r>
                        <a:rPr lang="zh-CN" altLang="en-US" sz="1400" b="0" dirty="0">
                          <a:sym typeface="+mn-ea"/>
                        </a:rPr>
                        <a:t>类项目</a:t>
                      </a:r>
                      <a:endParaRPr lang="zh-CN" altLang="en-US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对特殊项目类型定义不清晰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跨领域专业能力缺失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缺乏流程关键控制点支撑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标前评审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合同评审</a:t>
                      </a:r>
                    </a:p>
                    <a:p>
                      <a:pPr marL="0" marR="0" lvl="0" indent="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l" defTabSz="1219200">
                        <a:spcBef>
                          <a:spcPts val="300"/>
                        </a:spcBef>
                      </a:pP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缺乏持续的客户运营计划与对等沟通机制。</a:t>
                      </a:r>
                      <a:endParaRPr lang="zh-CN" altLang="en-US" sz="1600" b="1" dirty="0">
                        <a:solidFill>
                          <a:prstClr val="black"/>
                        </a:solidFill>
                        <a:latin typeface="Verdana" panose="020B0804030504040204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缺乏高质量客户运营计划，无法实现有效的客户拜访及互动沟通。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目标模糊：缺乏分层运营策略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内容单薄：缺乏价值型互动设计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执行断层：缺乏闭环管理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缺乏沟通层级对等机制</a:t>
                      </a: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l" defTabSz="1219200">
                        <a:spcBef>
                          <a:spcPts val="300"/>
                        </a:spcBef>
                      </a:pP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产品退市</a:t>
                      </a:r>
                      <a:r>
                        <a:rPr lang="en-US" altLang="zh-CN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停产对重客生命周期内产生的影响没有做好管理</a:t>
                      </a:r>
                      <a:endParaRPr lang="zh-CN" altLang="en-US" sz="1600" b="1" dirty="0">
                        <a:solidFill>
                          <a:prstClr val="black"/>
                        </a:solidFill>
                        <a:latin typeface="Verdana" panose="020B0804030504040204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产品退市流程缺乏对重客产品及服务的处理及预警机制，影响客户增补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扩容需求。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预警机制缺失：信息传递滞后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重客需求响应断层：处理方案缺乏针对性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跨部门协作不够：责任链条不清晰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48962" y="1812753"/>
            <a:ext cx="4220849" cy="4010860"/>
            <a:chOff x="471907" y="1325581"/>
            <a:chExt cx="4744150" cy="4508126"/>
          </a:xfrm>
        </p:grpSpPr>
        <p:sp>
          <p:nvSpPr>
            <p:cNvPr id="6" name="弧形 5"/>
            <p:cNvSpPr/>
            <p:nvPr/>
          </p:nvSpPr>
          <p:spPr>
            <a:xfrm>
              <a:off x="546100" y="1325581"/>
              <a:ext cx="4508126" cy="4508126"/>
            </a:xfrm>
            <a:prstGeom prst="arc">
              <a:avLst>
                <a:gd name="adj1" fmla="val 16200000"/>
                <a:gd name="adj2" fmla="val 2541715"/>
              </a:avLst>
            </a:prstGeom>
            <a:noFill/>
            <a:ln w="38100"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head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latin typeface="+mj-ea"/>
                <a:ea typeface="+mj-ea"/>
              </a:endParaRPr>
            </a:p>
          </p:txBody>
        </p:sp>
        <p:sp>
          <p:nvSpPr>
            <p:cNvPr id="7" name="弧形 6"/>
            <p:cNvSpPr/>
            <p:nvPr/>
          </p:nvSpPr>
          <p:spPr>
            <a:xfrm flipH="1">
              <a:off x="546100" y="1325581"/>
              <a:ext cx="4508126" cy="4508126"/>
            </a:xfrm>
            <a:prstGeom prst="arc">
              <a:avLst>
                <a:gd name="adj1" fmla="val 16200000"/>
                <a:gd name="adj2" fmla="val 7087541"/>
              </a:avLst>
            </a:prstGeom>
            <a:noFill/>
            <a:ln w="38100">
              <a:gradFill flip="none" rotWithShape="1">
                <a:gsLst>
                  <a:gs pos="0">
                    <a:schemeClr val="accent2"/>
                  </a:gs>
                  <a:gs pos="100000">
                    <a:schemeClr val="accent2">
                      <a:alpha val="0"/>
                    </a:schemeClr>
                  </a:gs>
                </a:gsLst>
                <a:lin ang="16200000" scaled="1"/>
                <a:tileRect/>
              </a:gra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latin typeface="+mj-ea"/>
                <a:ea typeface="+mj-ea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1375569" y="2155050"/>
              <a:ext cx="2849188" cy="28491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latin typeface="+mj-ea"/>
                <a:ea typeface="+mj-ea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471907" y="2339572"/>
              <a:ext cx="4744150" cy="2835784"/>
              <a:chOff x="158218" y="2170310"/>
              <a:chExt cx="5380271" cy="3216022"/>
            </a:xfrm>
          </p:grpSpPr>
          <p:sp>
            <p:nvSpPr>
              <p:cNvPr id="11" name="任意多边形: 形状 43"/>
              <p:cNvSpPr/>
              <p:nvPr/>
            </p:nvSpPr>
            <p:spPr bwMode="auto">
              <a:xfrm rot="2889919">
                <a:off x="1180764" y="1147764"/>
                <a:ext cx="2045090" cy="4090181"/>
              </a:xfrm>
              <a:custGeom>
                <a:avLst/>
                <a:gdLst>
                  <a:gd name="connsiteX0" fmla="*/ 1254992 w 4831054"/>
                  <a:gd name="connsiteY0" fmla="*/ 1582730 h 9662107"/>
                  <a:gd name="connsiteX1" fmla="*/ 4831053 w 4831054"/>
                  <a:gd name="connsiteY1" fmla="*/ 0 h 9662107"/>
                  <a:gd name="connsiteX2" fmla="*/ 4831054 w 4831054"/>
                  <a:gd name="connsiteY2" fmla="*/ 1468765 h 9662107"/>
                  <a:gd name="connsiteX3" fmla="*/ 4645907 w 4831054"/>
                  <a:gd name="connsiteY3" fmla="*/ 1470160 h 9662107"/>
                  <a:gd name="connsiteX4" fmla="*/ 2324355 w 4831054"/>
                  <a:gd name="connsiteY4" fmla="*/ 2585718 h 9662107"/>
                  <a:gd name="connsiteX5" fmla="*/ 2587145 w 4831054"/>
                  <a:gd name="connsiteY5" fmla="*/ 7337673 h 9662107"/>
                  <a:gd name="connsiteX6" fmla="*/ 4694620 w 4831054"/>
                  <a:gd name="connsiteY6" fmla="*/ 8192874 h 9662107"/>
                  <a:gd name="connsiteX7" fmla="*/ 4831054 w 4831054"/>
                  <a:gd name="connsiteY7" fmla="*/ 8191846 h 9662107"/>
                  <a:gd name="connsiteX8" fmla="*/ 4831054 w 4831054"/>
                  <a:gd name="connsiteY8" fmla="*/ 9662107 h 9662107"/>
                  <a:gd name="connsiteX9" fmla="*/ 0 w 4831054"/>
                  <a:gd name="connsiteY9" fmla="*/ 4831053 h 9662107"/>
                  <a:gd name="connsiteX10" fmla="*/ 1254992 w 4831054"/>
                  <a:gd name="connsiteY10" fmla="*/ 1582730 h 9662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831054" h="9662107">
                    <a:moveTo>
                      <a:pt x="1254992" y="1582730"/>
                    </a:moveTo>
                    <a:cubicBezTo>
                      <a:pt x="2138715" y="610415"/>
                      <a:pt x="3413573" y="0"/>
                      <a:pt x="4831053" y="0"/>
                    </a:cubicBezTo>
                    <a:lnTo>
                      <a:pt x="4831054" y="1468765"/>
                    </a:lnTo>
                    <a:lnTo>
                      <a:pt x="4645907" y="1470160"/>
                    </a:lnTo>
                    <a:cubicBezTo>
                      <a:pt x="3785972" y="1517715"/>
                      <a:pt x="2944179" y="1893325"/>
                      <a:pt x="2324355" y="2585718"/>
                    </a:cubicBezTo>
                    <a:cubicBezTo>
                      <a:pt x="1084706" y="3970502"/>
                      <a:pt x="1202361" y="6098024"/>
                      <a:pt x="2587145" y="7337673"/>
                    </a:cubicBezTo>
                    <a:cubicBezTo>
                      <a:pt x="3192988" y="7880019"/>
                      <a:pt x="3940996" y="8162569"/>
                      <a:pt x="4694620" y="8192874"/>
                    </a:cubicBezTo>
                    <a:lnTo>
                      <a:pt x="4831054" y="8191846"/>
                    </a:lnTo>
                    <a:lnTo>
                      <a:pt x="4831054" y="9662107"/>
                    </a:lnTo>
                    <a:cubicBezTo>
                      <a:pt x="2162856" y="9662107"/>
                      <a:pt x="0" y="7499250"/>
                      <a:pt x="0" y="4831053"/>
                    </a:cubicBezTo>
                    <a:cubicBezTo>
                      <a:pt x="0" y="3580336"/>
                      <a:pt x="475237" y="2440655"/>
                      <a:pt x="1254992" y="158273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73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  <a:ln w="9525">
                <a:noFill/>
                <a:prstDash val="solid"/>
                <a:round/>
              </a:ln>
            </p:spPr>
            <p:txBody>
              <a:bodyPr vert="horz" wrap="square" lIns="38709" tIns="19354" rIns="38709" bIns="19354" numCol="1" anchor="t" anchorCtr="0" compatLnSpc="1">
                <a:noAutofit/>
              </a:bodyPr>
              <a:lstStyle/>
              <a:p>
                <a:endParaRPr lang="zh-CN" altLang="en-US" sz="900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0" name="任意多边形: 形状 42"/>
              <p:cNvSpPr/>
              <p:nvPr/>
            </p:nvSpPr>
            <p:spPr bwMode="auto">
              <a:xfrm rot="2889919">
                <a:off x="2470852" y="2318696"/>
                <a:ext cx="2045091" cy="4090182"/>
              </a:xfrm>
              <a:custGeom>
                <a:avLst/>
                <a:gdLst>
                  <a:gd name="connsiteX0" fmla="*/ 1 w 4831054"/>
                  <a:gd name="connsiteY0" fmla="*/ 0 h 9662109"/>
                  <a:gd name="connsiteX1" fmla="*/ 4831054 w 4831054"/>
                  <a:gd name="connsiteY1" fmla="*/ 4831423 h 9662109"/>
                  <a:gd name="connsiteX2" fmla="*/ 0 w 4831054"/>
                  <a:gd name="connsiteY2" fmla="*/ 9662109 h 9662109"/>
                  <a:gd name="connsiteX3" fmla="*/ 0 w 4831054"/>
                  <a:gd name="connsiteY3" fmla="*/ 8191848 h 9662109"/>
                  <a:gd name="connsiteX4" fmla="*/ 186495 w 4831054"/>
                  <a:gd name="connsiteY4" fmla="*/ 8190443 h 9662109"/>
                  <a:gd name="connsiteX5" fmla="*/ 2508047 w 4831054"/>
                  <a:gd name="connsiteY5" fmla="*/ 7074885 h 9662109"/>
                  <a:gd name="connsiteX6" fmla="*/ 2245257 w 4831054"/>
                  <a:gd name="connsiteY6" fmla="*/ 2322930 h 9662109"/>
                  <a:gd name="connsiteX7" fmla="*/ 137782 w 4831054"/>
                  <a:gd name="connsiteY7" fmla="*/ 1467728 h 9662109"/>
                  <a:gd name="connsiteX8" fmla="*/ 0 w 4831054"/>
                  <a:gd name="connsiteY8" fmla="*/ 1468767 h 9662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31054" h="9662109">
                    <a:moveTo>
                      <a:pt x="1" y="0"/>
                    </a:moveTo>
                    <a:cubicBezTo>
                      <a:pt x="2668400" y="1"/>
                      <a:pt x="4831054" y="2163226"/>
                      <a:pt x="4831054" y="4831423"/>
                    </a:cubicBezTo>
                    <a:cubicBezTo>
                      <a:pt x="4831054" y="7499619"/>
                      <a:pt x="2668400" y="9662109"/>
                      <a:pt x="0" y="9662109"/>
                    </a:cubicBezTo>
                    <a:lnTo>
                      <a:pt x="0" y="8191848"/>
                    </a:lnTo>
                    <a:lnTo>
                      <a:pt x="186495" y="8190443"/>
                    </a:lnTo>
                    <a:cubicBezTo>
                      <a:pt x="1046430" y="8142887"/>
                      <a:pt x="1888222" y="7767277"/>
                      <a:pt x="2508047" y="7074885"/>
                    </a:cubicBezTo>
                    <a:cubicBezTo>
                      <a:pt x="3747696" y="5690101"/>
                      <a:pt x="3630041" y="3562579"/>
                      <a:pt x="2245257" y="2322930"/>
                    </a:cubicBezTo>
                    <a:cubicBezTo>
                      <a:pt x="1639414" y="1780584"/>
                      <a:pt x="891406" y="1498033"/>
                      <a:pt x="137782" y="1467728"/>
                    </a:cubicBezTo>
                    <a:lnTo>
                      <a:pt x="0" y="1468767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83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  <a:ln w="9525">
                <a:noFill/>
                <a:prstDash val="solid"/>
                <a:round/>
              </a:ln>
            </p:spPr>
            <p:txBody>
              <a:bodyPr vert="horz" wrap="square" lIns="38709" tIns="19354" rIns="38709" bIns="19354" numCol="1" anchor="t" anchorCtr="0" compatLnSpc="1">
                <a:noAutofit/>
              </a:bodyPr>
              <a:lstStyle/>
              <a:p>
                <a:endParaRPr lang="zh-CN" altLang="en-US" sz="900">
                  <a:latin typeface="+mj-ea"/>
                  <a:ea typeface="+mj-ea"/>
                </a:endParaRPr>
              </a:p>
            </p:txBody>
          </p:sp>
        </p:grpSp>
      </p:grpSp>
      <p:sp>
        <p:nvSpPr>
          <p:cNvPr id="51" name="文本框 50"/>
          <p:cNvSpPr txBox="1"/>
          <p:nvPr/>
        </p:nvSpPr>
        <p:spPr>
          <a:xfrm rot="20516712">
            <a:off x="1373764" y="2826885"/>
            <a:ext cx="2160000" cy="1358042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prstTxWarp prst="textArchUp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战略布局的核心要素</a:t>
            </a:r>
          </a:p>
        </p:txBody>
      </p:sp>
      <p:sp>
        <p:nvSpPr>
          <p:cNvPr id="52" name="文本框 51"/>
          <p:cNvSpPr txBox="1"/>
          <p:nvPr/>
        </p:nvSpPr>
        <p:spPr>
          <a:xfrm rot="20921467">
            <a:off x="1665324" y="3812970"/>
            <a:ext cx="2160000" cy="1370859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prstTxWarp prst="textArchDown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用户需求驱动的优化方案</a:t>
            </a:r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策略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总体思路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等腰三角形 3"/>
          <p:cNvSpPr/>
          <p:nvPr/>
        </p:nvSpPr>
        <p:spPr>
          <a:xfrm rot="16200000" flipH="1">
            <a:off x="1904622" y="2629732"/>
            <a:ext cx="4638217" cy="2446255"/>
          </a:xfrm>
          <a:prstGeom prst="triangle">
            <a:avLst/>
          </a:prstGeom>
          <a:gradFill flip="none" rotWithShape="1">
            <a:gsLst>
              <a:gs pos="50000">
                <a:schemeClr val="accent1">
                  <a:alpha val="0"/>
                </a:schemeClr>
              </a:gs>
              <a:gs pos="100000">
                <a:schemeClr val="accent1">
                  <a:alpha val="11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dirty="0">
              <a:solidFill>
                <a:schemeClr val="lt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784559" y="1577107"/>
            <a:ext cx="6632842" cy="4488613"/>
            <a:chOff x="856180" y="1767682"/>
            <a:chExt cx="4782619" cy="3984541"/>
          </a:xfrm>
        </p:grpSpPr>
        <p:sp>
          <p:nvSpPr>
            <p:cNvPr id="13" name="矩形: 圆角 49"/>
            <p:cNvSpPr/>
            <p:nvPr/>
          </p:nvSpPr>
          <p:spPr>
            <a:xfrm>
              <a:off x="856180" y="3892615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000" dirty="0">
                <a:latin typeface="微软雅黑" panose="020B0503020204020204" pitchFamily="34" charset="-122"/>
              </a:endParaRPr>
            </a:p>
          </p:txBody>
        </p:sp>
        <p:sp>
          <p:nvSpPr>
            <p:cNvPr id="14" name="矩形: 圆角 50"/>
            <p:cNvSpPr/>
            <p:nvPr/>
          </p:nvSpPr>
          <p:spPr>
            <a:xfrm>
              <a:off x="856180" y="1767683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000" dirty="0">
                <a:latin typeface="微软雅黑" panose="020B0503020204020204" pitchFamily="34" charset="-122"/>
              </a:endParaRPr>
            </a:p>
          </p:txBody>
        </p:sp>
        <p:sp>
          <p:nvSpPr>
            <p:cNvPr id="15" name="矩形: 圆角 51"/>
            <p:cNvSpPr/>
            <p:nvPr/>
          </p:nvSpPr>
          <p:spPr>
            <a:xfrm>
              <a:off x="882462" y="3892615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15900" dist="190500" dir="2700000" algn="tl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000" dirty="0">
                <a:latin typeface="微软雅黑" panose="020B0503020204020204" pitchFamily="34" charset="-122"/>
              </a:endParaRPr>
            </a:p>
          </p:txBody>
        </p:sp>
        <p:sp>
          <p:nvSpPr>
            <p:cNvPr id="16" name="矩形: 圆角 52"/>
            <p:cNvSpPr/>
            <p:nvPr/>
          </p:nvSpPr>
          <p:spPr>
            <a:xfrm>
              <a:off x="882462" y="1767682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15900" dist="190500" dir="2700000" algn="tl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000" dirty="0">
                <a:latin typeface="微软雅黑" panose="020B0503020204020204" pitchFamily="34" charset="-122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4897964" y="2071191"/>
            <a:ext cx="42204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设计有区别于普通客户的重客流程与相关保障机制，具体包括：</a:t>
            </a:r>
            <a:endParaRPr kumimoji="0" lang="en-US" altLang="zh-CN" sz="1400" i="0" u="none" strike="noStrike" kern="1200" cap="none" spc="0" normalizeH="0" baseline="0" noProof="0" dirty="0" smtClean="0">
              <a:ln>
                <a:noFill/>
              </a:ln>
              <a:solidFill>
                <a:srgbClr val="313131">
                  <a:alpha val="65000"/>
                </a:srgbClr>
              </a:solidFill>
              <a:effectLst/>
              <a:uLnTx/>
              <a:uFillTx/>
              <a:latin typeface="+mn-ea"/>
              <a:cs typeface="OPPOSans R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1</a:t>
            </a:r>
            <a:r>
              <a:rPr lang="zh-CN" altLang="en-US" sz="1400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）落实客户计划，推进重客全生命周期价值运营。</a:t>
            </a:r>
            <a:endParaRPr lang="en-US" altLang="zh-CN" sz="1400" dirty="0" smtClean="0">
              <a:solidFill>
                <a:srgbClr val="313131">
                  <a:alpha val="65000"/>
                </a:srgbClr>
              </a:solidFill>
              <a:latin typeface="+mn-ea"/>
              <a:cs typeface="OPPOSans R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2</a:t>
            </a:r>
            <a:r>
              <a:rPr kumimoji="0" lang="zh-CN" altLang="en-US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）梳理优化</a:t>
            </a:r>
            <a:r>
              <a:rPr kumimoji="0" lang="en-US" altLang="zh-CN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ML</a:t>
            </a:r>
            <a:r>
              <a:rPr kumimoji="0" lang="zh-CN" altLang="en-US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、</a:t>
            </a:r>
            <a:r>
              <a:rPr kumimoji="0" lang="en-US" altLang="zh-CN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MO</a:t>
            </a:r>
            <a:r>
              <a:rPr kumimoji="0" lang="zh-CN" altLang="en-US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、产品退市流程，设计运营保障机制，确保重客业务高质量开展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313131">
                  <a:alpha val="65000"/>
                </a:srgbClr>
              </a:solidFill>
              <a:effectLst/>
              <a:uLnTx/>
              <a:uFillTx/>
              <a:latin typeface="+mn-ea"/>
              <a:cs typeface="OPPOSans R" panose="00020600040101010101" pitchFamily="18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892340" y="1642032"/>
            <a:ext cx="2834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OPPOSans M" panose="00020600040101010101" pitchFamily="18" charset="-122"/>
              </a:rPr>
              <a:t>流程建设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OPPOSans M" panose="00020600040101010101" pitchFamily="18" charset="-122"/>
            </a:endParaRPr>
          </a:p>
        </p:txBody>
      </p:sp>
      <p:sp>
        <p:nvSpPr>
          <p:cNvPr id="19" name="矩形: 圆角 79"/>
          <p:cNvSpPr/>
          <p:nvPr/>
        </p:nvSpPr>
        <p:spPr>
          <a:xfrm>
            <a:off x="9229336" y="1656297"/>
            <a:ext cx="2064003" cy="1952740"/>
          </a:xfrm>
          <a:prstGeom prst="roundRect">
            <a:avLst>
              <a:gd name="adj" fmla="val 5158"/>
            </a:avLst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317180" y="2017353"/>
            <a:ext cx="188831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rPr>
              <a:t>有效的客户计划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ea"/>
              <a:cs typeface="OPPOSans M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317180" y="2602823"/>
            <a:ext cx="188831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rPr>
              <a:t>高质量的业务活动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ea"/>
              <a:cs typeface="OPPOSans M" panose="00020600040101010101" pitchFamily="18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317180" y="3234593"/>
            <a:ext cx="188831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rPr>
              <a:t>完善的保障机制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ea"/>
              <a:cs typeface="OPPOSans M" panose="00020600040101010101" pitchFamily="18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0175847" y="1694767"/>
            <a:ext cx="251383" cy="251382"/>
            <a:chOff x="7986757" y="4416196"/>
            <a:chExt cx="251383" cy="251382"/>
          </a:xfrm>
        </p:grpSpPr>
        <p:sp>
          <p:nvSpPr>
            <p:cNvPr id="24" name="椭圆 23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0175847" y="2303842"/>
            <a:ext cx="251383" cy="251382"/>
            <a:chOff x="7986757" y="4416196"/>
            <a:chExt cx="251383" cy="251382"/>
          </a:xfrm>
        </p:grpSpPr>
        <p:sp>
          <p:nvSpPr>
            <p:cNvPr id="27" name="椭圆 26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8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0175847" y="2959217"/>
            <a:ext cx="251383" cy="251382"/>
            <a:chOff x="7986757" y="4416196"/>
            <a:chExt cx="251383" cy="251382"/>
          </a:xfrm>
        </p:grpSpPr>
        <p:sp>
          <p:nvSpPr>
            <p:cNvPr id="30" name="椭圆 29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1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6389542" y="1895619"/>
            <a:ext cx="2569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4972293" y="4430517"/>
            <a:ext cx="41461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50" b="0" i="0" u="none" strike="noStrike" cap="none" spc="0" normalizeH="0" baseline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defRPr>
            </a:lvl1pPr>
          </a:lstStyle>
          <a:p>
            <a:r>
              <a:rPr lang="zh-CN" altLang="en-US" sz="1400" dirty="0" smtClean="0"/>
              <a:t>人员能力提升：加强重客辅导与培训，提升业务人员重客服务意识与关键领域业务能力。</a:t>
            </a:r>
            <a:endParaRPr lang="en-US" altLang="zh-CN" sz="1400" dirty="0" smtClean="0"/>
          </a:p>
          <a:p>
            <a:r>
              <a:rPr lang="zh-CN" altLang="en-US" sz="1400" dirty="0"/>
              <a:t>数字化</a:t>
            </a:r>
            <a:r>
              <a:rPr lang="zh-CN" altLang="en-US" sz="1400" dirty="0" smtClean="0"/>
              <a:t>能力提升：加强</a:t>
            </a:r>
            <a:r>
              <a:rPr lang="zh-CN" altLang="en-US" sz="1400" dirty="0"/>
              <a:t>数字化</a:t>
            </a:r>
            <a:r>
              <a:rPr lang="zh-CN" altLang="en-US" sz="1400" dirty="0" smtClean="0"/>
              <a:t>建设，实现业务在线，数据在线，决策在线的数字化运营能力，高效赋能重客业务开展。</a:t>
            </a:r>
            <a:endParaRPr lang="zh-CN" altLang="en-US" sz="1400" dirty="0"/>
          </a:p>
        </p:txBody>
      </p:sp>
      <p:sp>
        <p:nvSpPr>
          <p:cNvPr id="34" name="文本框 33"/>
          <p:cNvSpPr txBox="1"/>
          <p:nvPr/>
        </p:nvSpPr>
        <p:spPr>
          <a:xfrm>
            <a:off x="4892340" y="4023592"/>
            <a:ext cx="2834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1" i="0" u="none" strike="noStrike" kern="0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sz="2000" dirty="0" smtClean="0">
                <a:solidFill>
                  <a:schemeClr val="accent2"/>
                </a:solidFill>
              </a:rPr>
              <a:t>能力提升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sp>
        <p:nvSpPr>
          <p:cNvPr id="35" name="矩形: 圆角 92"/>
          <p:cNvSpPr/>
          <p:nvPr/>
        </p:nvSpPr>
        <p:spPr>
          <a:xfrm>
            <a:off x="9229336" y="4053065"/>
            <a:ext cx="2064003" cy="1952740"/>
          </a:xfrm>
          <a:prstGeom prst="roundRect">
            <a:avLst>
              <a:gd name="adj" fmla="val 5158"/>
            </a:avLst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6389542" y="4288961"/>
            <a:ext cx="256945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9317180" y="4454418"/>
            <a:ext cx="188831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sz="1600" dirty="0" smtClean="0"/>
              <a:t>会沟通</a:t>
            </a:r>
            <a:endParaRPr lang="zh-CN" altLang="en-US" sz="1600" dirty="0"/>
          </a:p>
        </p:txBody>
      </p:sp>
      <p:sp>
        <p:nvSpPr>
          <p:cNvPr id="38" name="文本框 37"/>
          <p:cNvSpPr txBox="1"/>
          <p:nvPr/>
        </p:nvSpPr>
        <p:spPr>
          <a:xfrm>
            <a:off x="9317180" y="5049414"/>
            <a:ext cx="188831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sz="1600" dirty="0" smtClean="0"/>
              <a:t>会经营</a:t>
            </a:r>
            <a:endParaRPr lang="zh-CN" altLang="en-US" sz="1600" dirty="0"/>
          </a:p>
        </p:txBody>
      </p:sp>
      <p:sp>
        <p:nvSpPr>
          <p:cNvPr id="39" name="文本框 38"/>
          <p:cNvSpPr txBox="1"/>
          <p:nvPr/>
        </p:nvSpPr>
        <p:spPr>
          <a:xfrm>
            <a:off x="9350589" y="5632831"/>
            <a:ext cx="182149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sz="1600" dirty="0" smtClean="0"/>
              <a:t>会服务</a:t>
            </a:r>
            <a:endParaRPr lang="zh-CN" altLang="en-US" sz="1600" dirty="0"/>
          </a:p>
        </p:txBody>
      </p:sp>
      <p:grpSp>
        <p:nvGrpSpPr>
          <p:cNvPr id="40" name="组合 39"/>
          <p:cNvGrpSpPr/>
          <p:nvPr/>
        </p:nvGrpSpPr>
        <p:grpSpPr>
          <a:xfrm>
            <a:off x="10175847" y="4141542"/>
            <a:ext cx="251383" cy="251382"/>
            <a:chOff x="7986757" y="4416196"/>
            <a:chExt cx="251383" cy="251382"/>
          </a:xfrm>
        </p:grpSpPr>
        <p:sp>
          <p:nvSpPr>
            <p:cNvPr id="41" name="椭圆 40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2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0175847" y="4776531"/>
            <a:ext cx="251383" cy="251382"/>
            <a:chOff x="7986757" y="4416196"/>
            <a:chExt cx="251383" cy="251382"/>
          </a:xfrm>
        </p:grpSpPr>
        <p:sp>
          <p:nvSpPr>
            <p:cNvPr id="44" name="椭圆 43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5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10175847" y="5360186"/>
            <a:ext cx="251383" cy="251382"/>
            <a:chOff x="7986757" y="4416196"/>
            <a:chExt cx="251383" cy="251382"/>
          </a:xfrm>
        </p:grpSpPr>
        <p:sp>
          <p:nvSpPr>
            <p:cNvPr id="47" name="椭圆 46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8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1932763" y="3565933"/>
            <a:ext cx="12105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latin typeface="+mj-ea"/>
                <a:ea typeface="+mj-ea"/>
                <a:cs typeface="OPPOSans B" panose="00020600040101010101" pitchFamily="18" charset="-122"/>
              </a:rPr>
              <a:t>重客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101010"/>
              </a:solidFill>
              <a:effectLst/>
              <a:uLnTx/>
              <a:uFillTx/>
              <a:latin typeface="+mj-ea"/>
              <a:ea typeface="+mj-ea"/>
              <a:cs typeface="OPPOSans B" panose="00020600040101010101" pitchFamily="18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 flipH="1">
            <a:off x="1590334" y="1750340"/>
            <a:ext cx="925882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技术引领</a:t>
            </a:r>
          </a:p>
        </p:txBody>
      </p:sp>
      <p:sp>
        <p:nvSpPr>
          <p:cNvPr id="54" name="文本框 53"/>
          <p:cNvSpPr txBox="1"/>
          <p:nvPr/>
        </p:nvSpPr>
        <p:spPr>
          <a:xfrm flipH="1">
            <a:off x="3282664" y="5284114"/>
            <a:ext cx="925882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客户至上</a:t>
            </a:r>
          </a:p>
        </p:txBody>
      </p:sp>
    </p:spTree>
    <p:extLst>
      <p:ext uri="{BB962C8B-B14F-4D97-AF65-F5344CB8AC3E}">
        <p14:creationId xmlns:p14="http://schemas.microsoft.com/office/powerpoint/2010/main" val="1791564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978054" y="2367527"/>
            <a:ext cx="6341000" cy="20887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3911" y="3172828"/>
            <a:ext cx="2699564" cy="32974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400" dirty="0" smtClean="0"/>
              <a:t>提前</a:t>
            </a:r>
            <a:r>
              <a:rPr lang="zh-CN" altLang="en-US" sz="1400" dirty="0"/>
              <a:t>介入了解和收集重客业务和相关信息，”看全，看清</a:t>
            </a:r>
            <a:r>
              <a:rPr lang="en-US" altLang="zh-CN" sz="1400" dirty="0"/>
              <a:t>FOP”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1</a:t>
            </a:r>
            <a:r>
              <a:rPr lang="zh-CN" altLang="en-US" sz="1400" dirty="0" smtClean="0"/>
              <a:t>、通过</a:t>
            </a:r>
            <a:r>
              <a:rPr lang="zh-CN" altLang="en-US" sz="1400" dirty="0"/>
              <a:t>客户计划运转落地，在运转过程中，基于重客高质量交流、需求洞察关键节点，客户责任人上报系统部，协调解决方案、产品研发专家给予汇报资料和专家到场支持，解决方案、产品部基于每个重客，明确接口责任人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en-US" altLang="zh-CN" sz="1400" dirty="0" smtClean="0"/>
              <a:t>2</a:t>
            </a:r>
            <a:r>
              <a:rPr lang="zh-CN" altLang="en-US" sz="1400" dirty="0" smtClean="0"/>
              <a:t>、非</a:t>
            </a:r>
            <a:r>
              <a:rPr lang="zh-CN" altLang="en-US" sz="1400" dirty="0"/>
              <a:t>优势重客首单、各系统部解决方案前三单，按级别触发</a:t>
            </a:r>
            <a:r>
              <a:rPr lang="en-US" altLang="zh-CN" sz="1400" dirty="0"/>
              <a:t>BG</a:t>
            </a:r>
            <a:r>
              <a:rPr lang="zh-CN" altLang="en-US" sz="1400" dirty="0"/>
              <a:t>、</a:t>
            </a:r>
            <a:r>
              <a:rPr lang="en-US" altLang="zh-CN" sz="1400" dirty="0"/>
              <a:t>BU</a:t>
            </a:r>
            <a:r>
              <a:rPr lang="zh-CN" altLang="en-US" sz="1400" dirty="0"/>
              <a:t>级项目立项，成立专属重客项目铁三角团队，整合资源按标准流程执行； </a:t>
            </a:r>
          </a:p>
        </p:txBody>
      </p:sp>
      <p:sp>
        <p:nvSpPr>
          <p:cNvPr id="23" name="Rectangle 135"/>
          <p:cNvSpPr/>
          <p:nvPr/>
        </p:nvSpPr>
        <p:spPr>
          <a:xfrm>
            <a:off x="1224254" y="2313864"/>
            <a:ext cx="2699564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重客前期沟通交流，资源流程保障，区域能力不足问题。</a:t>
            </a:r>
          </a:p>
        </p:txBody>
      </p:sp>
      <p:sp>
        <p:nvSpPr>
          <p:cNvPr id="24" name="文本占位符 9"/>
          <p:cNvSpPr txBox="1">
            <a:spLocks/>
          </p:cNvSpPr>
          <p:nvPr/>
        </p:nvSpPr>
        <p:spPr>
          <a:xfrm>
            <a:off x="573405" y="244156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占位符 9"/>
          <p:cNvSpPr txBox="1">
            <a:spLocks/>
          </p:cNvSpPr>
          <p:nvPr/>
        </p:nvSpPr>
        <p:spPr>
          <a:xfrm>
            <a:off x="595910" y="415892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3324703" y="4131489"/>
            <a:ext cx="2263829" cy="34650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5293591" y="2532112"/>
            <a:ext cx="5412993" cy="1693789"/>
            <a:chOff x="4876901" y="2359982"/>
            <a:chExt cx="6476721" cy="2271306"/>
          </a:xfrm>
        </p:grpSpPr>
        <p:sp>
          <p:nvSpPr>
            <p:cNvPr id="8" name="矩形 7"/>
            <p:cNvSpPr/>
            <p:nvPr/>
          </p:nvSpPr>
          <p:spPr>
            <a:xfrm>
              <a:off x="4876901" y="2621713"/>
              <a:ext cx="1905864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高质量技术交流</a:t>
              </a:r>
              <a:endParaRPr lang="zh-CN" altLang="en-US" sz="1400" dirty="0"/>
            </a:p>
          </p:txBody>
        </p:sp>
        <p:sp>
          <p:nvSpPr>
            <p:cNvPr id="33" name="矩形 32"/>
            <p:cNvSpPr/>
            <p:nvPr/>
          </p:nvSpPr>
          <p:spPr>
            <a:xfrm>
              <a:off x="4876901" y="3519787"/>
              <a:ext cx="1905864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需求洞察</a:t>
              </a:r>
              <a:endParaRPr lang="zh-CN" altLang="en-US" sz="1400" dirty="0"/>
            </a:p>
          </p:txBody>
        </p:sp>
        <p:sp>
          <p:nvSpPr>
            <p:cNvPr id="34" name="矩形 33"/>
            <p:cNvSpPr/>
            <p:nvPr/>
          </p:nvSpPr>
          <p:spPr>
            <a:xfrm>
              <a:off x="7546015" y="2978074"/>
              <a:ext cx="1431668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上报系统部</a:t>
              </a:r>
              <a:endParaRPr lang="zh-CN" altLang="en-US" sz="1400" dirty="0"/>
            </a:p>
          </p:txBody>
        </p:sp>
        <p:cxnSp>
          <p:nvCxnSpPr>
            <p:cNvPr id="11" name="肘形连接符 10"/>
            <p:cNvCxnSpPr>
              <a:stCxn id="8" idx="3"/>
              <a:endCxn id="34" idx="1"/>
            </p:cNvCxnSpPr>
            <p:nvPr/>
          </p:nvCxnSpPr>
          <p:spPr>
            <a:xfrm>
              <a:off x="6782765" y="2930759"/>
              <a:ext cx="763250" cy="35636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肘形连接符 37"/>
            <p:cNvCxnSpPr>
              <a:stCxn id="33" idx="3"/>
              <a:endCxn id="34" idx="1"/>
            </p:cNvCxnSpPr>
            <p:nvPr/>
          </p:nvCxnSpPr>
          <p:spPr>
            <a:xfrm flipV="1">
              <a:off x="6782765" y="3287120"/>
              <a:ext cx="763250" cy="541713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矩形 42"/>
            <p:cNvSpPr/>
            <p:nvPr/>
          </p:nvSpPr>
          <p:spPr>
            <a:xfrm>
              <a:off x="9447758" y="2359982"/>
              <a:ext cx="1905864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行业营销拓展</a:t>
              </a:r>
              <a:endParaRPr lang="zh-CN" altLang="en-US" sz="1400" dirty="0"/>
            </a:p>
          </p:txBody>
        </p:sp>
        <p:sp>
          <p:nvSpPr>
            <p:cNvPr id="46" name="矩形 45"/>
            <p:cNvSpPr/>
            <p:nvPr/>
          </p:nvSpPr>
          <p:spPr>
            <a:xfrm>
              <a:off x="9447758" y="3172700"/>
              <a:ext cx="1905864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解决方案</a:t>
              </a:r>
              <a:endParaRPr lang="zh-CN" altLang="en-US" sz="1400" dirty="0"/>
            </a:p>
          </p:txBody>
        </p:sp>
        <p:sp>
          <p:nvSpPr>
            <p:cNvPr id="47" name="矩形 46"/>
            <p:cNvSpPr/>
            <p:nvPr/>
          </p:nvSpPr>
          <p:spPr>
            <a:xfrm>
              <a:off x="9447758" y="4013196"/>
              <a:ext cx="1905864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产品研发</a:t>
              </a:r>
              <a:endParaRPr lang="zh-CN" altLang="en-US" sz="1400" dirty="0"/>
            </a:p>
          </p:txBody>
        </p:sp>
        <p:cxnSp>
          <p:nvCxnSpPr>
            <p:cNvPr id="48" name="肘形连接符 47"/>
            <p:cNvCxnSpPr>
              <a:stCxn id="34" idx="3"/>
              <a:endCxn id="43" idx="1"/>
            </p:cNvCxnSpPr>
            <p:nvPr/>
          </p:nvCxnSpPr>
          <p:spPr>
            <a:xfrm flipV="1">
              <a:off x="8977683" y="2669028"/>
              <a:ext cx="470075" cy="61809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肘形连接符 51"/>
            <p:cNvCxnSpPr>
              <a:stCxn id="34" idx="3"/>
              <a:endCxn id="46" idx="1"/>
            </p:cNvCxnSpPr>
            <p:nvPr/>
          </p:nvCxnSpPr>
          <p:spPr>
            <a:xfrm>
              <a:off x="8977683" y="3287120"/>
              <a:ext cx="470075" cy="19462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肘形连接符 54"/>
            <p:cNvCxnSpPr>
              <a:stCxn id="34" idx="3"/>
              <a:endCxn id="47" idx="1"/>
            </p:cNvCxnSpPr>
            <p:nvPr/>
          </p:nvCxnSpPr>
          <p:spPr>
            <a:xfrm>
              <a:off x="8977683" y="3287120"/>
              <a:ext cx="470075" cy="103512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Oval 140"/>
          <p:cNvSpPr>
            <a:spLocks noChangeAspect="1"/>
          </p:cNvSpPr>
          <p:nvPr/>
        </p:nvSpPr>
        <p:spPr>
          <a:xfrm>
            <a:off x="4771537" y="2321969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65" name="矩形 64"/>
          <p:cNvSpPr/>
          <p:nvPr/>
        </p:nvSpPr>
        <p:spPr>
          <a:xfrm>
            <a:off x="5236821" y="4665356"/>
            <a:ext cx="1927908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立项项目池</a:t>
            </a:r>
            <a:endParaRPr lang="zh-CN" altLang="en-US" sz="1400" dirty="0"/>
          </a:p>
        </p:txBody>
      </p:sp>
      <p:sp>
        <p:nvSpPr>
          <p:cNvPr id="66" name="矩形 65"/>
          <p:cNvSpPr/>
          <p:nvPr/>
        </p:nvSpPr>
        <p:spPr>
          <a:xfrm>
            <a:off x="5236820" y="5416416"/>
            <a:ext cx="1927909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系统</a:t>
            </a:r>
            <a:r>
              <a:rPr lang="zh-CN" altLang="en-US" sz="1400" dirty="0" smtClean="0"/>
              <a:t>部重客首单</a:t>
            </a:r>
            <a:endParaRPr lang="zh-CN" altLang="en-US" sz="1400" dirty="0"/>
          </a:p>
        </p:txBody>
      </p:sp>
      <p:sp>
        <p:nvSpPr>
          <p:cNvPr id="68" name="矩形 67"/>
          <p:cNvSpPr/>
          <p:nvPr/>
        </p:nvSpPr>
        <p:spPr>
          <a:xfrm>
            <a:off x="5236819" y="6090061"/>
            <a:ext cx="1927910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系统部解决方案前三单</a:t>
            </a:r>
            <a:endParaRPr lang="zh-CN" altLang="en-US" sz="1400" dirty="0"/>
          </a:p>
        </p:txBody>
      </p:sp>
      <p:sp>
        <p:nvSpPr>
          <p:cNvPr id="69" name="矩形 68"/>
          <p:cNvSpPr/>
          <p:nvPr/>
        </p:nvSpPr>
        <p:spPr>
          <a:xfrm>
            <a:off x="7704005" y="5408703"/>
            <a:ext cx="1456536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立项评审</a:t>
            </a:r>
            <a:endParaRPr lang="zh-CN" altLang="en-US" sz="1400" dirty="0"/>
          </a:p>
        </p:txBody>
      </p:sp>
      <p:sp>
        <p:nvSpPr>
          <p:cNvPr id="70" name="矩形 69"/>
          <p:cNvSpPr/>
          <p:nvPr/>
        </p:nvSpPr>
        <p:spPr>
          <a:xfrm>
            <a:off x="9699818" y="5408704"/>
            <a:ext cx="1456536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成立专属项目组</a:t>
            </a:r>
            <a:endParaRPr lang="zh-CN" altLang="en-US" sz="1400" dirty="0"/>
          </a:p>
        </p:txBody>
      </p:sp>
      <p:cxnSp>
        <p:nvCxnSpPr>
          <p:cNvPr id="44" name="肘形连接符 43"/>
          <p:cNvCxnSpPr>
            <a:stCxn id="65" idx="3"/>
            <a:endCxn id="69" idx="1"/>
          </p:cNvCxnSpPr>
          <p:nvPr/>
        </p:nvCxnSpPr>
        <p:spPr>
          <a:xfrm>
            <a:off x="7164729" y="4895822"/>
            <a:ext cx="539276" cy="74334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肘形连接符 72"/>
          <p:cNvCxnSpPr>
            <a:stCxn id="66" idx="3"/>
            <a:endCxn id="69" idx="1"/>
          </p:cNvCxnSpPr>
          <p:nvPr/>
        </p:nvCxnSpPr>
        <p:spPr>
          <a:xfrm flipV="1">
            <a:off x="7164729" y="5639169"/>
            <a:ext cx="539276" cy="77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肘形连接符 75"/>
          <p:cNvCxnSpPr>
            <a:stCxn id="68" idx="3"/>
            <a:endCxn id="69" idx="1"/>
          </p:cNvCxnSpPr>
          <p:nvPr/>
        </p:nvCxnSpPr>
        <p:spPr>
          <a:xfrm flipV="1">
            <a:off x="7164729" y="5639169"/>
            <a:ext cx="539276" cy="6813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肘形连接符 78"/>
          <p:cNvCxnSpPr>
            <a:stCxn id="69" idx="3"/>
            <a:endCxn id="70" idx="1"/>
          </p:cNvCxnSpPr>
          <p:nvPr/>
        </p:nvCxnSpPr>
        <p:spPr>
          <a:xfrm>
            <a:off x="9160541" y="5639169"/>
            <a:ext cx="539277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/>
          <p:cNvSpPr/>
          <p:nvPr/>
        </p:nvSpPr>
        <p:spPr>
          <a:xfrm>
            <a:off x="4933846" y="4527262"/>
            <a:ext cx="6385208" cy="20887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Oval 140"/>
          <p:cNvSpPr>
            <a:spLocks noChangeAspect="1"/>
          </p:cNvSpPr>
          <p:nvPr/>
        </p:nvSpPr>
        <p:spPr>
          <a:xfrm>
            <a:off x="4760217" y="4503356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83" name="文本占位符 9"/>
          <p:cNvSpPr txBox="1">
            <a:spLocks/>
          </p:cNvSpPr>
          <p:nvPr/>
        </p:nvSpPr>
        <p:spPr>
          <a:xfrm>
            <a:off x="7812034" y="4527262"/>
            <a:ext cx="1348507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MO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立项流程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6" name="等腰三角形 55"/>
          <p:cNvSpPr/>
          <p:nvPr/>
        </p:nvSpPr>
        <p:spPr>
          <a:xfrm>
            <a:off x="10301471" y="6082966"/>
            <a:ext cx="428264" cy="34696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占位符 9"/>
          <p:cNvSpPr txBox="1">
            <a:spLocks/>
          </p:cNvSpPr>
          <p:nvPr/>
        </p:nvSpPr>
        <p:spPr>
          <a:xfrm>
            <a:off x="10287919" y="5808649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6" name="文本占位符 9"/>
          <p:cNvSpPr txBox="1">
            <a:spLocks/>
          </p:cNvSpPr>
          <p:nvPr/>
        </p:nvSpPr>
        <p:spPr>
          <a:xfrm>
            <a:off x="9875173" y="6213479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0" name="文本占位符 9"/>
          <p:cNvSpPr txBox="1">
            <a:spLocks/>
          </p:cNvSpPr>
          <p:nvPr/>
        </p:nvSpPr>
        <p:spPr>
          <a:xfrm>
            <a:off x="10737355" y="6236270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</a:t>
            </a: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74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3911" y="3172828"/>
            <a:ext cx="2699564" cy="32974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t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400" dirty="0"/>
              <a:t>针对客户端</a:t>
            </a:r>
            <a:r>
              <a:rPr lang="en-US" altLang="zh-CN" sz="1400" dirty="0"/>
              <a:t>EC</a:t>
            </a:r>
            <a:r>
              <a:rPr lang="zh-CN" altLang="en-US" sz="1400" dirty="0"/>
              <a:t>类、</a:t>
            </a:r>
            <a:r>
              <a:rPr lang="en-US" altLang="zh-CN" sz="1400" dirty="0"/>
              <a:t>DC</a:t>
            </a:r>
            <a:r>
              <a:rPr lang="zh-CN" altLang="en-US" sz="1400" dirty="0"/>
              <a:t>类项目</a:t>
            </a:r>
            <a:r>
              <a:rPr lang="zh-CN" altLang="en-US" sz="1400" dirty="0" smtClean="0"/>
              <a:t>信息反馈：</a:t>
            </a:r>
            <a:endParaRPr lang="en-US" altLang="zh-CN" sz="1400" dirty="0" smtClean="0"/>
          </a:p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en-US" altLang="zh-CN" sz="1400" dirty="0" smtClean="0"/>
              <a:t>1</a:t>
            </a:r>
            <a:r>
              <a:rPr lang="zh-CN" altLang="en-US" sz="1400" dirty="0" smtClean="0"/>
              <a:t>、建议在</a:t>
            </a:r>
            <a:r>
              <a:rPr lang="en-US" altLang="zh-CN" sz="1400" dirty="0"/>
              <a:t>ML</a:t>
            </a:r>
            <a:r>
              <a:rPr lang="zh-CN" altLang="en-US" sz="1400" dirty="0"/>
              <a:t>流程中，建立需求反馈跟进机制，一线发现相关线索、机会后，直接同步系统部拓展，由系统部牵头组织解决方案、产品、研发、服务进行客户需求分析，决策是否参与，参与支持团队及负责人，全周期运转</a:t>
            </a:r>
            <a:r>
              <a:rPr lang="zh-CN" altLang="en-US" sz="1400" dirty="0" smtClean="0"/>
              <a:t>；</a:t>
            </a:r>
            <a:endParaRPr lang="en-US" altLang="zh-CN" sz="1400" dirty="0" smtClean="0"/>
          </a:p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en-US" altLang="zh-CN" sz="1400" dirty="0" smtClean="0"/>
              <a:t>2</a:t>
            </a:r>
            <a:r>
              <a:rPr lang="zh-CN" altLang="en-US" sz="1400" dirty="0" smtClean="0"/>
              <a:t>、项目</a:t>
            </a:r>
            <a:r>
              <a:rPr lang="en-US" altLang="zh-CN" sz="1400" dirty="0"/>
              <a:t>MANT</a:t>
            </a:r>
            <a:r>
              <a:rPr lang="zh-CN" altLang="en-US" sz="1400" dirty="0"/>
              <a:t>明确后，进入漏斗内，第一时间触发</a:t>
            </a:r>
            <a:r>
              <a:rPr lang="en-US" altLang="zh-CN" sz="1400" dirty="0"/>
              <a:t>BU</a:t>
            </a:r>
            <a:r>
              <a:rPr lang="zh-CN" altLang="en-US" sz="1400" dirty="0"/>
              <a:t>级立项，按照流程执行；</a:t>
            </a:r>
          </a:p>
        </p:txBody>
      </p:sp>
      <p:sp>
        <p:nvSpPr>
          <p:cNvPr id="23" name="Rectangle 135"/>
          <p:cNvSpPr/>
          <p:nvPr/>
        </p:nvSpPr>
        <p:spPr>
          <a:xfrm>
            <a:off x="1224254" y="2313864"/>
            <a:ext cx="2699564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</a:t>
            </a:r>
            <a:r>
              <a:rPr lang="en-US" altLang="zh-CN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  <a:sym typeface="+mn-ea"/>
              </a:rPr>
              <a:t>DC,EC</a:t>
            </a: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  <a:sym typeface="+mn-ea"/>
              </a:rPr>
              <a:t>类需求，资源匹配及专业支撑问题；</a:t>
            </a:r>
          </a:p>
        </p:txBody>
      </p:sp>
      <p:sp>
        <p:nvSpPr>
          <p:cNvPr id="24" name="文本占位符 9"/>
          <p:cNvSpPr txBox="1">
            <a:spLocks/>
          </p:cNvSpPr>
          <p:nvPr/>
        </p:nvSpPr>
        <p:spPr>
          <a:xfrm>
            <a:off x="573405" y="244156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占位符 9"/>
          <p:cNvSpPr txBox="1">
            <a:spLocks/>
          </p:cNvSpPr>
          <p:nvPr/>
        </p:nvSpPr>
        <p:spPr>
          <a:xfrm>
            <a:off x="595910" y="415892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3324703" y="4131489"/>
            <a:ext cx="2263829" cy="34650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4978054" y="2367527"/>
            <a:ext cx="6341000" cy="20887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Oval 140"/>
          <p:cNvSpPr>
            <a:spLocks noChangeAspect="1"/>
          </p:cNvSpPr>
          <p:nvPr/>
        </p:nvSpPr>
        <p:spPr>
          <a:xfrm>
            <a:off x="4771537" y="2321969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91" name="矩形 90"/>
          <p:cNvSpPr/>
          <p:nvPr/>
        </p:nvSpPr>
        <p:spPr>
          <a:xfrm>
            <a:off x="4933846" y="4527262"/>
            <a:ext cx="6385208" cy="20887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Oval 140"/>
          <p:cNvSpPr>
            <a:spLocks noChangeAspect="1"/>
          </p:cNvSpPr>
          <p:nvPr/>
        </p:nvSpPr>
        <p:spPr>
          <a:xfrm>
            <a:off x="4760217" y="4503356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93" name="文本占位符 9"/>
          <p:cNvSpPr txBox="1">
            <a:spLocks/>
          </p:cNvSpPr>
          <p:nvPr/>
        </p:nvSpPr>
        <p:spPr>
          <a:xfrm>
            <a:off x="7812034" y="4527262"/>
            <a:ext cx="1348507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MO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立项流程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5236819" y="2638885"/>
            <a:ext cx="1927908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EC</a:t>
            </a:r>
            <a:r>
              <a:rPr lang="zh-CN" altLang="en-US" sz="1400" dirty="0" smtClean="0"/>
              <a:t>线索机会</a:t>
            </a:r>
            <a:endParaRPr lang="zh-CN" altLang="en-US" sz="1400" dirty="0"/>
          </a:p>
        </p:txBody>
      </p:sp>
      <p:sp>
        <p:nvSpPr>
          <p:cNvPr id="99" name="矩形 98"/>
          <p:cNvSpPr/>
          <p:nvPr/>
        </p:nvSpPr>
        <p:spPr>
          <a:xfrm>
            <a:off x="5236819" y="3353978"/>
            <a:ext cx="1927908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D</a:t>
            </a:r>
            <a:r>
              <a:rPr lang="en-US" altLang="zh-CN" sz="1400" dirty="0" smtClean="0"/>
              <a:t>C</a:t>
            </a:r>
            <a:r>
              <a:rPr lang="zh-CN" altLang="en-US" sz="1400" dirty="0" smtClean="0"/>
              <a:t>线索机会</a:t>
            </a:r>
            <a:endParaRPr lang="zh-CN" altLang="en-US" sz="1400" dirty="0"/>
          </a:p>
        </p:txBody>
      </p:sp>
      <p:sp>
        <p:nvSpPr>
          <p:cNvPr id="100" name="矩形 99"/>
          <p:cNvSpPr/>
          <p:nvPr/>
        </p:nvSpPr>
        <p:spPr>
          <a:xfrm>
            <a:off x="7573785" y="2953937"/>
            <a:ext cx="1456536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上报系统部</a:t>
            </a:r>
            <a:endParaRPr lang="zh-CN" altLang="en-US" sz="1400" dirty="0"/>
          </a:p>
        </p:txBody>
      </p:sp>
      <p:sp>
        <p:nvSpPr>
          <p:cNvPr id="101" name="矩形 100"/>
          <p:cNvSpPr/>
          <p:nvPr/>
        </p:nvSpPr>
        <p:spPr>
          <a:xfrm>
            <a:off x="9501693" y="2483969"/>
            <a:ext cx="1456536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系统部拓展</a:t>
            </a:r>
            <a:endParaRPr lang="zh-CN" altLang="en-US" sz="1400" dirty="0"/>
          </a:p>
        </p:txBody>
      </p:sp>
      <p:cxnSp>
        <p:nvCxnSpPr>
          <p:cNvPr id="14" name="肘形连接符 13"/>
          <p:cNvCxnSpPr>
            <a:stCxn id="98" idx="3"/>
            <a:endCxn id="100" idx="1"/>
          </p:cNvCxnSpPr>
          <p:nvPr/>
        </p:nvCxnSpPr>
        <p:spPr>
          <a:xfrm>
            <a:off x="7164727" y="2869351"/>
            <a:ext cx="409058" cy="31505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肘形连接符 101"/>
          <p:cNvCxnSpPr>
            <a:stCxn id="99" idx="3"/>
            <a:endCxn id="100" idx="1"/>
          </p:cNvCxnSpPr>
          <p:nvPr/>
        </p:nvCxnSpPr>
        <p:spPr>
          <a:xfrm flipV="1">
            <a:off x="7164727" y="3184403"/>
            <a:ext cx="409058" cy="40004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9501693" y="2979789"/>
            <a:ext cx="1456536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解决方案</a:t>
            </a:r>
            <a:endParaRPr lang="zh-CN" altLang="en-US" sz="1400" dirty="0"/>
          </a:p>
        </p:txBody>
      </p:sp>
      <p:sp>
        <p:nvSpPr>
          <p:cNvPr id="104" name="矩形 103"/>
          <p:cNvSpPr/>
          <p:nvPr/>
        </p:nvSpPr>
        <p:spPr>
          <a:xfrm>
            <a:off x="9501693" y="3475609"/>
            <a:ext cx="1456536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产品研发</a:t>
            </a:r>
            <a:endParaRPr lang="zh-CN" altLang="en-US" sz="1400" dirty="0"/>
          </a:p>
        </p:txBody>
      </p:sp>
      <p:cxnSp>
        <p:nvCxnSpPr>
          <p:cNvPr id="105" name="肘形连接符 104"/>
          <p:cNvCxnSpPr>
            <a:stCxn id="100" idx="3"/>
            <a:endCxn id="101" idx="1"/>
          </p:cNvCxnSpPr>
          <p:nvPr/>
        </p:nvCxnSpPr>
        <p:spPr>
          <a:xfrm flipV="1">
            <a:off x="9030321" y="2681969"/>
            <a:ext cx="471372" cy="5024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肘形连接符 105"/>
          <p:cNvCxnSpPr>
            <a:stCxn id="100" idx="3"/>
            <a:endCxn id="103" idx="1"/>
          </p:cNvCxnSpPr>
          <p:nvPr/>
        </p:nvCxnSpPr>
        <p:spPr>
          <a:xfrm flipV="1">
            <a:off x="9030321" y="3177789"/>
            <a:ext cx="471372" cy="66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肘形连接符 106"/>
          <p:cNvCxnSpPr>
            <a:stCxn id="100" idx="3"/>
            <a:endCxn id="104" idx="1"/>
          </p:cNvCxnSpPr>
          <p:nvPr/>
        </p:nvCxnSpPr>
        <p:spPr>
          <a:xfrm>
            <a:off x="9030321" y="3184403"/>
            <a:ext cx="471372" cy="4892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/>
          <p:cNvSpPr/>
          <p:nvPr/>
        </p:nvSpPr>
        <p:spPr>
          <a:xfrm>
            <a:off x="9501693" y="3971430"/>
            <a:ext cx="1456536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客户体验部</a:t>
            </a:r>
            <a:endParaRPr lang="zh-CN" altLang="en-US" sz="1400" dirty="0"/>
          </a:p>
        </p:txBody>
      </p:sp>
      <p:cxnSp>
        <p:nvCxnSpPr>
          <p:cNvPr id="109" name="肘形连接符 108"/>
          <p:cNvCxnSpPr>
            <a:stCxn id="100" idx="3"/>
            <a:endCxn id="108" idx="1"/>
          </p:cNvCxnSpPr>
          <p:nvPr/>
        </p:nvCxnSpPr>
        <p:spPr>
          <a:xfrm>
            <a:off x="9030321" y="3184403"/>
            <a:ext cx="471372" cy="9850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矩形 122"/>
          <p:cNvSpPr/>
          <p:nvPr/>
        </p:nvSpPr>
        <p:spPr>
          <a:xfrm>
            <a:off x="5117672" y="5345404"/>
            <a:ext cx="1927909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商机填报（</a:t>
            </a:r>
            <a:r>
              <a:rPr lang="en-US" altLang="zh-CN" sz="1400" dirty="0" smtClean="0"/>
              <a:t>MANT</a:t>
            </a:r>
            <a:r>
              <a:rPr lang="zh-CN" altLang="en-US" sz="1400" dirty="0" smtClean="0"/>
              <a:t>）</a:t>
            </a:r>
            <a:endParaRPr lang="zh-CN" altLang="en-US" sz="1400" dirty="0"/>
          </a:p>
        </p:txBody>
      </p:sp>
      <p:sp>
        <p:nvSpPr>
          <p:cNvPr id="125" name="矩形 124"/>
          <p:cNvSpPr/>
          <p:nvPr/>
        </p:nvSpPr>
        <p:spPr>
          <a:xfrm>
            <a:off x="7584857" y="5337691"/>
            <a:ext cx="1456536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立项评审</a:t>
            </a:r>
            <a:endParaRPr lang="zh-CN" altLang="en-US" sz="1400" dirty="0"/>
          </a:p>
        </p:txBody>
      </p:sp>
      <p:sp>
        <p:nvSpPr>
          <p:cNvPr id="126" name="矩形 125"/>
          <p:cNvSpPr/>
          <p:nvPr/>
        </p:nvSpPr>
        <p:spPr>
          <a:xfrm>
            <a:off x="9580670" y="5337692"/>
            <a:ext cx="1456536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成立专属项目组</a:t>
            </a:r>
            <a:endParaRPr lang="zh-CN" altLang="en-US" sz="1400" dirty="0"/>
          </a:p>
        </p:txBody>
      </p:sp>
      <p:cxnSp>
        <p:nvCxnSpPr>
          <p:cNvPr id="128" name="肘形连接符 127"/>
          <p:cNvCxnSpPr>
            <a:stCxn id="123" idx="3"/>
            <a:endCxn id="125" idx="1"/>
          </p:cNvCxnSpPr>
          <p:nvPr/>
        </p:nvCxnSpPr>
        <p:spPr>
          <a:xfrm flipV="1">
            <a:off x="7045581" y="5568157"/>
            <a:ext cx="539276" cy="77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肘形连接符 129"/>
          <p:cNvCxnSpPr>
            <a:stCxn id="125" idx="3"/>
            <a:endCxn id="126" idx="1"/>
          </p:cNvCxnSpPr>
          <p:nvPr/>
        </p:nvCxnSpPr>
        <p:spPr>
          <a:xfrm>
            <a:off x="9041393" y="5568157"/>
            <a:ext cx="539277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等腰三角形 135"/>
          <p:cNvSpPr/>
          <p:nvPr/>
        </p:nvSpPr>
        <p:spPr>
          <a:xfrm>
            <a:off x="10301471" y="6082966"/>
            <a:ext cx="428264" cy="34696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文本占位符 9"/>
          <p:cNvSpPr txBox="1">
            <a:spLocks/>
          </p:cNvSpPr>
          <p:nvPr/>
        </p:nvSpPr>
        <p:spPr>
          <a:xfrm>
            <a:off x="10287919" y="5808649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8" name="文本占位符 9"/>
          <p:cNvSpPr txBox="1">
            <a:spLocks/>
          </p:cNvSpPr>
          <p:nvPr/>
        </p:nvSpPr>
        <p:spPr>
          <a:xfrm>
            <a:off x="9875173" y="6213479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9" name="文本占位符 9"/>
          <p:cNvSpPr txBox="1">
            <a:spLocks/>
          </p:cNvSpPr>
          <p:nvPr/>
        </p:nvSpPr>
        <p:spPr>
          <a:xfrm>
            <a:off x="10737355" y="6236270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</a:t>
            </a: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54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3911" y="3172828"/>
            <a:ext cx="1773932" cy="32974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t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en-US" altLang="zh-CN" sz="1400" dirty="0"/>
              <a:t>OC</a:t>
            </a:r>
            <a:r>
              <a:rPr lang="zh-CN" altLang="en-US" sz="1400" dirty="0"/>
              <a:t>类项目，进漏斗触发</a:t>
            </a:r>
            <a:r>
              <a:rPr lang="en-US" altLang="zh-CN" sz="1400" dirty="0"/>
              <a:t>BU</a:t>
            </a:r>
            <a:r>
              <a:rPr lang="zh-CN" altLang="en-US" sz="1400" dirty="0"/>
              <a:t>级立项，在</a:t>
            </a:r>
            <a:r>
              <a:rPr lang="en-US" altLang="zh-CN" sz="1400" dirty="0"/>
              <a:t>MO</a:t>
            </a:r>
            <a:r>
              <a:rPr lang="zh-CN" altLang="en-US" sz="1400" dirty="0"/>
              <a:t>流程</a:t>
            </a:r>
            <a:r>
              <a:rPr lang="en-US" altLang="zh-CN" sz="1400" dirty="0"/>
              <a:t>L3”</a:t>
            </a:r>
            <a:r>
              <a:rPr lang="zh-CN" altLang="en-US" sz="1400" dirty="0"/>
              <a:t>制定与执行投标策略“”谈判并签订合同“流程中，加入基于销管、信控、法务、财务、交付等参与决策的评审流程，标准化执行； </a:t>
            </a:r>
          </a:p>
        </p:txBody>
      </p:sp>
      <p:sp>
        <p:nvSpPr>
          <p:cNvPr id="23" name="Rectangle 135"/>
          <p:cNvSpPr/>
          <p:nvPr/>
        </p:nvSpPr>
        <p:spPr>
          <a:xfrm>
            <a:off x="1224254" y="2313864"/>
            <a:ext cx="1773589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重客非标类需求专业响应及闭环问题；</a:t>
            </a:r>
            <a:r>
              <a:rPr lang="en-US" altLang="zh-CN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(OC</a:t>
            </a: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、特殊服务）</a:t>
            </a:r>
          </a:p>
        </p:txBody>
      </p:sp>
      <p:sp>
        <p:nvSpPr>
          <p:cNvPr id="24" name="文本占位符 9"/>
          <p:cNvSpPr txBox="1">
            <a:spLocks/>
          </p:cNvSpPr>
          <p:nvPr/>
        </p:nvSpPr>
        <p:spPr>
          <a:xfrm>
            <a:off x="573405" y="244156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占位符 9"/>
          <p:cNvSpPr txBox="1">
            <a:spLocks/>
          </p:cNvSpPr>
          <p:nvPr/>
        </p:nvSpPr>
        <p:spPr>
          <a:xfrm>
            <a:off x="595910" y="415892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2133592" y="4187549"/>
            <a:ext cx="2263829" cy="23438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701" y="2206625"/>
            <a:ext cx="8076236" cy="426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691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3911" y="3172828"/>
            <a:ext cx="2699907" cy="32974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t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400" dirty="0"/>
              <a:t>通过客户计划覆盖和信息收集，持续运转，提升对客户业务、需求、愿景的理解专业性，基于客户端</a:t>
            </a:r>
            <a:r>
              <a:rPr lang="en-US" altLang="zh-CN" sz="1400" dirty="0"/>
              <a:t>FOP</a:t>
            </a:r>
            <a:r>
              <a:rPr lang="zh-CN" altLang="en-US" sz="1400" dirty="0"/>
              <a:t>进行分析与制定策略；</a:t>
            </a:r>
            <a:r>
              <a:rPr lang="en-US" altLang="zh-CN" sz="1400" dirty="0"/>
              <a:t>EBG</a:t>
            </a:r>
            <a:r>
              <a:rPr lang="zh-CN" altLang="en-US" sz="1400" dirty="0"/>
              <a:t>市场、解决方案、客户体验、产品研发部门建立客户端中高层拜访资源池，供重客负责团队按需调用；</a:t>
            </a:r>
            <a:endParaRPr lang="zh-CN" altLang="en-US" sz="1400" b="1" dirty="0"/>
          </a:p>
        </p:txBody>
      </p:sp>
      <p:sp>
        <p:nvSpPr>
          <p:cNvPr id="23" name="Rectangle 135"/>
          <p:cNvSpPr/>
          <p:nvPr/>
        </p:nvSpPr>
        <p:spPr>
          <a:xfrm>
            <a:off x="1224254" y="2313864"/>
            <a:ext cx="2699564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4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缺乏持续</a:t>
            </a: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的客户运营</a:t>
            </a:r>
            <a:r>
              <a:rPr lang="zh-CN" altLang="en-US" sz="14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计划及对等</a:t>
            </a: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沟通</a:t>
            </a:r>
            <a:r>
              <a:rPr lang="zh-CN" altLang="en-US" sz="14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机制</a:t>
            </a:r>
            <a:endParaRPr lang="zh-CN" altLang="en-US" sz="1400" b="1" dirty="0">
              <a:solidFill>
                <a:prstClr val="black"/>
              </a:solidFill>
              <a:latin typeface="Verdana" panose="020B0804030504040204"/>
              <a:ea typeface="微软雅黑" panose="020B0503020204020204" pitchFamily="34" charset="-122"/>
            </a:endParaRPr>
          </a:p>
        </p:txBody>
      </p:sp>
      <p:sp>
        <p:nvSpPr>
          <p:cNvPr id="24" name="文本占位符 9"/>
          <p:cNvSpPr txBox="1">
            <a:spLocks/>
          </p:cNvSpPr>
          <p:nvPr/>
        </p:nvSpPr>
        <p:spPr>
          <a:xfrm>
            <a:off x="573405" y="244156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占位符 9"/>
          <p:cNvSpPr txBox="1">
            <a:spLocks/>
          </p:cNvSpPr>
          <p:nvPr/>
        </p:nvSpPr>
        <p:spPr>
          <a:xfrm>
            <a:off x="595910" y="415892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3192676" y="4131490"/>
            <a:ext cx="2263829" cy="34650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985" y="2254168"/>
            <a:ext cx="5129575" cy="222107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985" y="4475242"/>
            <a:ext cx="5129575" cy="204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86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3911" y="3172828"/>
            <a:ext cx="2297607" cy="32974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t">
            <a:noAutofit/>
          </a:bodyPr>
          <a:lstStyle/>
          <a:p>
            <a:r>
              <a:rPr lang="zh-CN" altLang="en-US" sz="1400" dirty="0"/>
              <a:t>建议在</a:t>
            </a:r>
            <a:r>
              <a:rPr lang="en-US" altLang="zh-CN" sz="1400" dirty="0"/>
              <a:t>IPD</a:t>
            </a:r>
            <a:r>
              <a:rPr lang="zh-CN" altLang="en-US" sz="1400" dirty="0"/>
              <a:t>流程退市子流程，基于重客使用产品进行生命周期分析评估，输出预警预案及专属方案，保障与客户端共识与我司退市产品方案相关的替代方案；</a:t>
            </a:r>
          </a:p>
        </p:txBody>
      </p:sp>
      <p:sp>
        <p:nvSpPr>
          <p:cNvPr id="23" name="Rectangle 135"/>
          <p:cNvSpPr/>
          <p:nvPr/>
        </p:nvSpPr>
        <p:spPr>
          <a:xfrm>
            <a:off x="1224254" y="2313864"/>
            <a:ext cx="2297264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产品退市</a:t>
            </a:r>
            <a:r>
              <a:rPr lang="en-US" altLang="zh-CN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/</a:t>
            </a: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停产对重客生命周期内产生的影响没有做好管理</a:t>
            </a:r>
          </a:p>
        </p:txBody>
      </p:sp>
      <p:sp>
        <p:nvSpPr>
          <p:cNvPr id="24" name="文本占位符 9"/>
          <p:cNvSpPr txBox="1">
            <a:spLocks/>
          </p:cNvSpPr>
          <p:nvPr/>
        </p:nvSpPr>
        <p:spPr>
          <a:xfrm>
            <a:off x="573405" y="244156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占位符 9"/>
          <p:cNvSpPr txBox="1">
            <a:spLocks/>
          </p:cNvSpPr>
          <p:nvPr/>
        </p:nvSpPr>
        <p:spPr>
          <a:xfrm>
            <a:off x="595910" y="415892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2687721" y="4131489"/>
            <a:ext cx="2263829" cy="34650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4191073" y="2356178"/>
            <a:ext cx="7209989" cy="41140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6497487" y="3215291"/>
            <a:ext cx="792000" cy="194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重</a:t>
            </a:r>
            <a:r>
              <a:rPr lang="zh-CN" altLang="en-US" sz="1400" dirty="0" smtClean="0"/>
              <a:t>客影响分析评审</a:t>
            </a:r>
            <a:endParaRPr lang="zh-CN" altLang="en-US" sz="1400" dirty="0"/>
          </a:p>
        </p:txBody>
      </p:sp>
      <p:sp>
        <p:nvSpPr>
          <p:cNvPr id="44" name="矩形 43"/>
          <p:cNvSpPr/>
          <p:nvPr/>
        </p:nvSpPr>
        <p:spPr>
          <a:xfrm>
            <a:off x="4817120" y="3215291"/>
            <a:ext cx="792000" cy="1944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产品研发</a:t>
            </a:r>
            <a:r>
              <a:rPr lang="en-US" altLang="zh-CN" sz="1400" dirty="0" smtClean="0"/>
              <a:t>IPD</a:t>
            </a:r>
            <a:r>
              <a:rPr lang="zh-CN" altLang="en-US" sz="1400" dirty="0" smtClean="0"/>
              <a:t>退市子流程</a:t>
            </a:r>
            <a:r>
              <a:rPr lang="en-US" altLang="zh-CN" sz="1400" dirty="0" smtClean="0"/>
              <a:t>-</a:t>
            </a:r>
            <a:r>
              <a:rPr lang="zh-CN" altLang="en-US" sz="1400" dirty="0" smtClean="0"/>
              <a:t>产品停产，退市预警</a:t>
            </a:r>
            <a:endParaRPr lang="zh-CN" altLang="en-US" sz="1400" dirty="0"/>
          </a:p>
        </p:txBody>
      </p:sp>
      <p:sp>
        <p:nvSpPr>
          <p:cNvPr id="45" name="矩形 44"/>
          <p:cNvSpPr/>
          <p:nvPr/>
        </p:nvSpPr>
        <p:spPr>
          <a:xfrm>
            <a:off x="9858222" y="3215291"/>
            <a:ext cx="792000" cy="194400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重客认可</a:t>
            </a:r>
            <a:endParaRPr lang="zh-CN" altLang="en-US" sz="1400" dirty="0"/>
          </a:p>
        </p:txBody>
      </p:sp>
      <p:sp>
        <p:nvSpPr>
          <p:cNvPr id="2" name="右箭头 1"/>
          <p:cNvSpPr/>
          <p:nvPr/>
        </p:nvSpPr>
        <p:spPr>
          <a:xfrm>
            <a:off x="5805587" y="4052828"/>
            <a:ext cx="504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右箭头 47"/>
          <p:cNvSpPr/>
          <p:nvPr/>
        </p:nvSpPr>
        <p:spPr>
          <a:xfrm>
            <a:off x="9142369" y="4052828"/>
            <a:ext cx="504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8177854" y="3239709"/>
            <a:ext cx="792000" cy="194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输出预案并进行客户沟通</a:t>
            </a:r>
            <a:endParaRPr lang="zh-CN" altLang="en-US" sz="1400" dirty="0"/>
          </a:p>
        </p:txBody>
      </p:sp>
      <p:sp>
        <p:nvSpPr>
          <p:cNvPr id="51" name="右箭头 50"/>
          <p:cNvSpPr/>
          <p:nvPr/>
        </p:nvSpPr>
        <p:spPr>
          <a:xfrm>
            <a:off x="7485551" y="4052828"/>
            <a:ext cx="504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692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重客试点计划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73405" y="11208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里程碑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责任人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立项计划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/>
          <p:cNvSpPr/>
          <p:nvPr/>
        </p:nvSpPr>
        <p:spPr>
          <a:xfrm>
            <a:off x="926465" y="1675130"/>
            <a:ext cx="10481945" cy="2885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ctr"/>
          <a:lstStyle/>
          <a:p>
            <a:pPr indent="0" algn="ctr">
              <a:lnSpc>
                <a:spcPct val="200000"/>
              </a:lnSpc>
              <a:defRPr/>
            </a:pPr>
            <a:r>
              <a:rPr lang="en-US" sz="4000" b="1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讨论</a:t>
            </a:r>
            <a:r>
              <a:rPr lang="en-US" sz="4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zh-CN" altLang="en-US" sz="4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针对本提案</a:t>
            </a:r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</a:t>
            </a:r>
            <a:r>
              <a:rPr lang="zh-CN" altLang="en-US" sz="4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建议</a:t>
            </a:r>
            <a:endParaRPr lang="en-US" altLang="zh-CN" sz="4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0" algn="ctr">
              <a:lnSpc>
                <a:spcPct val="200000"/>
              </a:lnSpc>
              <a:defRPr/>
            </a:pPr>
            <a:r>
              <a:rPr lang="zh-CN" altLang="en-US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小组讨论</a:t>
            </a:r>
            <a:r>
              <a:rPr lang="en-US" altLang="zh-CN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20</a:t>
            </a:r>
            <a:r>
              <a:rPr lang="zh-CN" altLang="en-US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分钟，分享</a:t>
            </a:r>
            <a:r>
              <a:rPr lang="en-US" altLang="zh-CN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20</a:t>
            </a:r>
            <a:r>
              <a:rPr lang="zh-CN" altLang="en-US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分钟</a:t>
            </a:r>
            <a:endParaRPr lang="en-US" sz="2400" b="1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产品退市、停产对重客影响案例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903" y="1228511"/>
            <a:ext cx="6744284" cy="188230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19748" y="1327729"/>
            <a:ext cx="2102503" cy="841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南方电网</a:t>
            </a:r>
            <a:r>
              <a:rPr lang="zh-CN" altLang="en-US" sz="1400" dirty="0" smtClean="0"/>
              <a:t>案例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197069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6718646" cy="495935"/>
          </a:xfrm>
        </p:spPr>
        <p:txBody>
          <a:bodyPr/>
          <a:lstStyle/>
          <a:p>
            <a:r>
              <a:rPr lang="en-US" altLang="zh-CN" dirty="0" smtClean="0"/>
              <a:t>EC</a:t>
            </a:r>
            <a:r>
              <a:rPr lang="zh-CN" altLang="en-US" dirty="0" smtClean="0"/>
              <a:t>、</a:t>
            </a:r>
            <a:r>
              <a:rPr lang="en-US" altLang="zh-CN" dirty="0" smtClean="0"/>
              <a:t>DC</a:t>
            </a:r>
            <a:r>
              <a:rPr lang="zh-CN" altLang="en-US" dirty="0" smtClean="0"/>
              <a:t>类需求跟进问题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894" y="1250656"/>
            <a:ext cx="8230313" cy="86113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074391" y="1269857"/>
            <a:ext cx="2102503" cy="841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顺丰案例</a:t>
            </a:r>
            <a:endParaRPr lang="en-US" altLang="zh-CN" sz="1400" dirty="0" smtClean="0"/>
          </a:p>
          <a:p>
            <a:pPr algn="ctr"/>
            <a:r>
              <a:rPr lang="zh-CN" altLang="en-US" sz="1400" dirty="0" smtClean="0"/>
              <a:t>（</a:t>
            </a:r>
            <a:r>
              <a:rPr lang="en-US" altLang="zh-CN" sz="1400" dirty="0" smtClean="0"/>
              <a:t>DC</a:t>
            </a:r>
            <a:r>
              <a:rPr lang="zh-CN" altLang="en-US" sz="1400" dirty="0" smtClean="0"/>
              <a:t>开发类需求）</a:t>
            </a:r>
            <a:endParaRPr lang="zh-CN" altLang="en-US" sz="1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6350" y="2747905"/>
            <a:ext cx="6478017" cy="97544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074391" y="2748826"/>
            <a:ext cx="2102503" cy="841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南网</a:t>
            </a:r>
            <a:r>
              <a:rPr lang="zh-CN" altLang="en-US" sz="1400" dirty="0" smtClean="0"/>
              <a:t>案例</a:t>
            </a:r>
            <a:endParaRPr lang="en-US" altLang="zh-CN" sz="1400" dirty="0" smtClean="0"/>
          </a:p>
          <a:p>
            <a:pPr algn="ctr"/>
            <a:r>
              <a:rPr lang="zh-CN" altLang="en-US" sz="1400" dirty="0" smtClean="0"/>
              <a:t>（</a:t>
            </a:r>
            <a:r>
              <a:rPr lang="en-US" altLang="zh-CN" sz="1400" dirty="0" smtClean="0"/>
              <a:t>DC</a:t>
            </a:r>
            <a:r>
              <a:rPr lang="zh-CN" altLang="en-US" sz="1400" dirty="0" smtClean="0"/>
              <a:t>开发类需求）</a:t>
            </a:r>
            <a:endParaRPr lang="zh-CN" altLang="en-US" sz="1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350" y="3839100"/>
            <a:ext cx="6126384" cy="135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255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2012293" y="5947150"/>
            <a:ext cx="1223412" cy="2755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9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扫一扫了解更多资讯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764301" y="5154553"/>
            <a:ext cx="1082787" cy="10827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a5b54e7-09c9-4e3b-8074-73364de01119"/>
  <p:tag name="COMMONDATA" val="eyJoZGlkIjoiYTg1ODA4OWVjMjRhODZlMDEyMmFhZDlhODFjYTBiYz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1559</Words>
  <Application>Microsoft Office PowerPoint</Application>
  <PresentationFormat>宽屏</PresentationFormat>
  <Paragraphs>189</Paragraphs>
  <Slides>17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OPPOSans B</vt:lpstr>
      <vt:lpstr>OPPOSans M</vt:lpstr>
      <vt:lpstr>OPPOSans R</vt:lpstr>
      <vt:lpstr>等线</vt:lpstr>
      <vt:lpstr>等线 Light</vt:lpstr>
      <vt:lpstr>宋体</vt:lpstr>
      <vt:lpstr>微软雅黑</vt:lpstr>
      <vt:lpstr>Arial</vt:lpstr>
      <vt:lpstr>Calibri</vt:lpstr>
      <vt:lpstr>Verdana</vt:lpstr>
      <vt:lpstr>Wingdings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1405</dc:creator>
  <cp:lastModifiedBy>Lenovo</cp:lastModifiedBy>
  <cp:revision>39</cp:revision>
  <dcterms:created xsi:type="dcterms:W3CDTF">2025-05-17T07:29:00Z</dcterms:created>
  <dcterms:modified xsi:type="dcterms:W3CDTF">2025-05-21T08:09:15Z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CC50D88284534345BA152804333C22B7_13</vt:lpwstr>
  </property>
  <property fmtid="{D5CDD505-2E9C-101B-9397-08002B2CF9AE}" pid="3" name="KSOProductBuildVer">
    <vt:lpwstr>2052-12.1.0.21171</vt:lpwstr>
  </property>
</Properties>
</file>