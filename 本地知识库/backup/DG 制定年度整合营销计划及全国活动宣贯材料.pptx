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14"/>
  </p:notesMasterIdLst>
  <p:sldIdLst>
    <p:sldId id="256" r:id="rId3"/>
    <p:sldId id="259" r:id="rId4"/>
    <p:sldId id="267" r:id="rId5"/>
    <p:sldId id="282" r:id="rId6"/>
    <p:sldId id="271" r:id="rId7"/>
    <p:sldId id="279" r:id="rId8"/>
    <p:sldId id="285" r:id="rId9"/>
    <p:sldId id="286" r:id="rId10"/>
    <p:sldId id="287" r:id="rId11"/>
    <p:sldId id="288" r:id="rId12"/>
    <p:sldId id="266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0196" autoAdjust="0"/>
  </p:normalViewPr>
  <p:slideViewPr>
    <p:cSldViewPr snapToGrid="0">
      <p:cViewPr varScale="1">
        <p:scale>
          <a:sx n="116" d="100"/>
          <a:sy n="116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50FCB-07F6-4B22-B162-6C5FE8368D04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951AD-B4A1-46FE-A52F-08C91A0806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78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51AD-B4A1-46FE-A52F-08C91A0806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8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、市场活动申请完活动后，回自动生成签到二维码，大家可以使用相关签到物料进行签到，参会用户数据会自动记录到该场市场活动的参会用户名单中；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、在活动结束后，大家及时完成客户回访动作，可以在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的客户页面下填写拜访记录，需要创建线索的时候，需要关联营销活动；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51AD-B4A1-46FE-A52F-08C91A0806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55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51AD-B4A1-46FE-A52F-08C91A0806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071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、市场活动申请完活动后，回自动生成签到二维码，大家可以使用相关签到物料进行签到，参会用户数据会自动记录到该场市场活动的参会用户名单中；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、在活动结束后，大家及时完成客户回访动作，可以在</a:t>
            </a:r>
            <a:r>
              <a:rPr lang="en-US" altLang="zh-CN" dirty="0" smtClean="0"/>
              <a:t>CRM</a:t>
            </a:r>
            <a:r>
              <a:rPr lang="zh-CN" altLang="en-US" dirty="0" smtClean="0"/>
              <a:t>的客户页面下填写拜访记录，需要创建线索的时候，需要关联营销活动；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E951AD-B4A1-46FE-A52F-08C91A0806C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35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 err="1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2025/4/24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0" y="864"/>
            <a:ext cx="12193538" cy="6857136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92015" y="3047979"/>
            <a:ext cx="888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M8.2.1 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策划及执行高质量营销活动组合</a:t>
            </a:r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全国营销活动</a:t>
            </a:r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kumimoji="1" lang="zh-CN" altLang="en-US" sz="28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015" y="1784225"/>
            <a:ext cx="345318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 </a:t>
            </a:r>
            <a:r>
              <a:rPr kumimoji="1" lang="zh-CN" altLang="en-US" sz="2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需求线索</a:t>
            </a:r>
            <a:r>
              <a:rPr kumimoji="1" lang="zh-CN" altLang="en-US" sz="26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生成流程</a:t>
            </a:r>
            <a:endParaRPr kumimoji="1" lang="zh-CN" altLang="en-US" sz="2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015" y="5468044"/>
            <a:ext cx="1688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 &amp; </a:t>
            </a:r>
            <a:r>
              <a:rPr kumimoji="1" lang="zh-CN" altLang="en-US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品牌营销部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2025.04.27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2015" y="2440260"/>
            <a:ext cx="4738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M8.1 </a:t>
            </a:r>
            <a:r>
              <a:rPr kumimoji="1" lang="zh-CN" altLang="en-US" sz="2800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制定年度整合营销计划</a:t>
            </a:r>
            <a:endParaRPr kumimoji="1" lang="zh-CN" altLang="en-US" sz="2800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747651"/>
            <a:ext cx="5073794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这个流程是什么？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客户代表要做什么？怎么</a:t>
            </a:r>
            <a:r>
              <a:rPr lang="zh-CN" altLang="en-US" dirty="0"/>
              <a:t>做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系统操作指导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试点业务说明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DG</a:t>
            </a:r>
            <a:r>
              <a:rPr lang="zh-CN" altLang="en-US" dirty="0" smtClean="0"/>
              <a:t>这个业务是在干什么？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76983" y="1981936"/>
            <a:ext cx="9724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Demand Generation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是要基于行业的重大机会、战略意图、细分市场、客户、主打方案和增长目标，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从客户需求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（而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不是从产品的功能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出发），</a:t>
            </a:r>
            <a:r>
              <a:rPr lang="zh-CN" altLang="en-US" sz="1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规划并执行系列营销活动组合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，从品牌发声、价值主张、内容和体验设计等实现统一规划、协同一致、区域适配、闭环管理，高效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，从而为公司的产品、服务或解决方案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生成销售线索或激发销售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市场营销举措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03830" y="148322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流程定义：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3830" y="4323208"/>
            <a:ext cx="9797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从客户的场景和业务需求出发，而不是产品方案价值的角度，策划统一主题和发声、价值主张明确、客户收益量化、体验感强的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营销活动组合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激发客户购买意愿，达成获客和线索构建目标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，支撑部门重大机会达成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3830" y="3703003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1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7606768" cy="495935"/>
          </a:xfrm>
        </p:spPr>
        <p:txBody>
          <a:bodyPr/>
          <a:lstStyle/>
          <a:p>
            <a:r>
              <a:rPr lang="en-US" altLang="zh-CN" dirty="0" smtClean="0"/>
              <a:t>DG</a:t>
            </a:r>
            <a:r>
              <a:rPr lang="zh-CN" altLang="en-US" dirty="0" smtClean="0"/>
              <a:t>这个业务是在干什么？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18" y="1212001"/>
            <a:ext cx="10356468" cy="461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89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651062" cy="495935"/>
          </a:xfrm>
        </p:spPr>
        <p:txBody>
          <a:bodyPr/>
          <a:lstStyle/>
          <a:p>
            <a:r>
              <a:rPr lang="en-US" altLang="zh-CN" dirty="0" smtClean="0"/>
              <a:t>M8</a:t>
            </a:r>
            <a:r>
              <a:rPr lang="en-US" altLang="zh-CN" dirty="0" smtClean="0"/>
              <a:t>.1</a:t>
            </a:r>
            <a:r>
              <a:rPr lang="zh-CN" altLang="en-US" dirty="0"/>
              <a:t>制定年度整合营销计划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0719" y="1146130"/>
            <a:ext cx="5861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制定年度整合营销计划的目的</a:t>
            </a:r>
            <a:r>
              <a:rPr lang="zh-CN" altLang="en-US" sz="1200" dirty="0"/>
              <a:t>：</a:t>
            </a:r>
            <a:r>
              <a:rPr lang="zh-CN" altLang="en-US" sz="1200" b="1" dirty="0"/>
              <a:t>通过解码</a:t>
            </a:r>
            <a:r>
              <a:rPr lang="zh-CN" altLang="en-US" sz="1200" dirty="0"/>
              <a:t>行业年度</a:t>
            </a:r>
            <a:r>
              <a:rPr lang="en-US" altLang="zh-CN" sz="1200" dirty="0"/>
              <a:t>BP</a:t>
            </a:r>
            <a:r>
              <a:rPr lang="zh-CN" altLang="en-US" sz="1200" dirty="0"/>
              <a:t>、重大解决方案年度营销计划（</a:t>
            </a:r>
            <a:r>
              <a:rPr lang="en-US" altLang="zh-CN" sz="1200" dirty="0"/>
              <a:t>SMD</a:t>
            </a:r>
            <a:r>
              <a:rPr lang="zh-CN" altLang="en-US" sz="1200" dirty="0"/>
              <a:t>）、行业细分市场关键任务（</a:t>
            </a:r>
            <a:r>
              <a:rPr lang="en-US" altLang="zh-CN" sz="1200" dirty="0"/>
              <a:t>MM</a:t>
            </a:r>
            <a:r>
              <a:rPr lang="zh-CN" altLang="en-US" sz="1200" dirty="0"/>
              <a:t>），由各行业系统部主导策划全年的市场活动组合，</a:t>
            </a:r>
            <a:r>
              <a:rPr lang="zh-CN" altLang="en-US" sz="1200" b="1" dirty="0"/>
              <a:t>统一品牌和价值发声</a:t>
            </a:r>
            <a:r>
              <a:rPr lang="zh-CN" altLang="en-US" sz="1200" dirty="0"/>
              <a:t>（</a:t>
            </a:r>
            <a:r>
              <a:rPr lang="en-US" altLang="zh-CN" sz="1200" dirty="0"/>
              <a:t>Speak With One Voice</a:t>
            </a:r>
            <a:r>
              <a:rPr lang="zh-CN" altLang="en-US" sz="1200" dirty="0"/>
              <a:t>），确保营销活动的连贯性、一致性以及传播质量；同时，</a:t>
            </a:r>
            <a:r>
              <a:rPr lang="zh-CN" altLang="en-US" sz="1200" b="1" dirty="0"/>
              <a:t>各系统</a:t>
            </a:r>
            <a:r>
              <a:rPr lang="en-US" altLang="zh-CN" sz="1200" b="1" dirty="0"/>
              <a:t>BU</a:t>
            </a:r>
            <a:r>
              <a:rPr lang="zh-CN" altLang="en-US" sz="1200" b="1" dirty="0"/>
              <a:t>与区域</a:t>
            </a:r>
            <a:r>
              <a:rPr lang="zh-CN" altLang="en-US" sz="1200" dirty="0"/>
              <a:t>的年度整合营销计划做好目标、活动场次和时间规划、资源配给、运转和管理机制等</a:t>
            </a:r>
            <a:r>
              <a:rPr lang="zh-CN" altLang="en-US" sz="1200" b="1" dirty="0"/>
              <a:t>互锁</a:t>
            </a:r>
            <a:r>
              <a:rPr lang="zh-CN" altLang="en-US" sz="1200" dirty="0"/>
              <a:t>，</a:t>
            </a:r>
            <a:r>
              <a:rPr lang="zh-CN" altLang="en-US" sz="1200" b="1" dirty="0"/>
              <a:t>从而提升品牌影响力，增强市场竞争力，投入产出率</a:t>
            </a:r>
            <a:r>
              <a:rPr lang="zh-CN" altLang="en-US" sz="1200" dirty="0"/>
              <a:t>，并最终实现业务增长目标。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0719" y="7998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9745" y="1195145"/>
            <a:ext cx="44718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本流程适用于</a:t>
            </a:r>
            <a:r>
              <a:rPr lang="en-US" altLang="zh-CN" sz="1200" dirty="0"/>
              <a:t>EBG </a:t>
            </a:r>
            <a:r>
              <a:rPr lang="zh-CN" altLang="en-US" sz="1200" dirty="0"/>
              <a:t>各系统部的 </a:t>
            </a:r>
            <a:r>
              <a:rPr lang="zh-CN" altLang="en-US" sz="1200" b="1" dirty="0"/>
              <a:t>年度整合营销计划制定工作</a:t>
            </a:r>
            <a:r>
              <a:rPr lang="zh-CN" altLang="en-US" sz="1200" dirty="0"/>
              <a:t>，即年度规划做哪些全国性市场活动、区域模版活动、线上数字营销活动、解决方案营销规划等，以及相关的资源匹配、运转和管理机制。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319745" y="8258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47" y="2451032"/>
            <a:ext cx="9312021" cy="382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97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04" y="856182"/>
            <a:ext cx="5374315" cy="5303347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8858920" cy="495935"/>
          </a:xfrm>
        </p:spPr>
        <p:txBody>
          <a:bodyPr/>
          <a:lstStyle/>
          <a:p>
            <a:r>
              <a:rPr lang="en-US" altLang="zh-CN" dirty="0"/>
              <a:t>M8.1</a:t>
            </a:r>
            <a:r>
              <a:rPr lang="zh-CN" altLang="en-US" dirty="0"/>
              <a:t>制定年度整合营销</a:t>
            </a:r>
            <a:r>
              <a:rPr lang="zh-CN" altLang="en-US" dirty="0" smtClean="0"/>
              <a:t>计划</a:t>
            </a:r>
            <a:r>
              <a:rPr lang="en-US" altLang="zh-CN" dirty="0" smtClean="0"/>
              <a:t>_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WHAT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关键角色要</a:t>
            </a:r>
            <a:r>
              <a:rPr lang="zh-CN" altLang="en-US" sz="2400" dirty="0"/>
              <a:t>做什么？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19135" y="1707770"/>
            <a:ext cx="74964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执行动作：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，如有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活动，通过活动系统获取会腾的报名及签到二维码，给客户完成报名及现场签到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，如区域销售仅邀请客户线上参与，则销售需销售需使用邀请函进行点对点邀约、朋友圈转发、微信群邀约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执行目标：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邀约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根据活动互锁目标，达到客户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，点对点邀约客户参会率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64747" y="2911473"/>
            <a:ext cx="854388" cy="32127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23076" y="13384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076" y="3801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区域经理？？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19135" y="4234065"/>
            <a:ext cx="72781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执行动作：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，如有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活动，通过活动系统获取会腾的报名及签到二维码，给客户完成报名及现场签到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，如区域销售仅邀请客户线上参与，则销售需销售需使用邀请函进行点对点邀约、朋友圈转发、微信群邀约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执行目标：</a:t>
            </a:r>
            <a:endParaRPr lang="en-US" altLang="zh-CN" sz="1200" b="1" i="1" u="sng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邀约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根据活动互锁目标，达到客户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，点对点邀约客户参会率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837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 smtClean="0"/>
              <a:t>：怎么做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149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8651062" cy="495935"/>
          </a:xfrm>
        </p:spPr>
        <p:txBody>
          <a:bodyPr/>
          <a:lstStyle/>
          <a:p>
            <a:r>
              <a:rPr lang="en-US" altLang="zh-CN" dirty="0"/>
              <a:t>M8.2.1 </a:t>
            </a:r>
            <a:r>
              <a:rPr lang="zh-CN" altLang="en-US" dirty="0"/>
              <a:t>策划及执行高质量营销活动组合</a:t>
            </a:r>
            <a:r>
              <a:rPr lang="en-US" altLang="zh-CN" dirty="0"/>
              <a:t>-</a:t>
            </a:r>
            <a:r>
              <a:rPr lang="zh-CN" altLang="en-US" dirty="0"/>
              <a:t>全国营销活动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40719" y="1146130"/>
            <a:ext cx="5861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策划出价值主张明确、产品方案差异化功能体验性强、互动性强、对客户有吸引力且获得新知的活动内容，</a:t>
            </a:r>
            <a:r>
              <a:rPr lang="zh-CN" altLang="en-US" sz="1200" b="1" dirty="0"/>
              <a:t>降低一线客户邀请难度、并在短时间内提升价值认可效率、最大化激发客户需求，构建更多漏斗</a:t>
            </a:r>
            <a:r>
              <a:rPr lang="en-US" altLang="zh-CN" sz="1200" b="1" dirty="0"/>
              <a:t>/</a:t>
            </a:r>
            <a:r>
              <a:rPr lang="zh-CN" altLang="en-US" sz="1200" b="1" dirty="0"/>
              <a:t>推进项目进阶</a:t>
            </a:r>
            <a:endParaRPr lang="zh-CN" altLang="en-US" sz="1200" dirty="0">
              <a:effectLst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0719" y="79985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流程目的：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19745" y="1195145"/>
            <a:ext cx="4471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/>
              <a:t>Xxxx</a:t>
            </a:r>
            <a:endParaRPr lang="en-US" altLang="zh-CN" sz="1200" dirty="0" smtClean="0"/>
          </a:p>
          <a:p>
            <a:endParaRPr lang="zh-CN" altLang="en-US" sz="1200" dirty="0"/>
          </a:p>
        </p:txBody>
      </p:sp>
      <p:sp>
        <p:nvSpPr>
          <p:cNvPr id="6" name="文本框 5"/>
          <p:cNvSpPr txBox="1"/>
          <p:nvPr/>
        </p:nvSpPr>
        <p:spPr>
          <a:xfrm>
            <a:off x="6319745" y="82581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适用范围</a:t>
            </a:r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84" y="2217351"/>
            <a:ext cx="9312021" cy="382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20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4" y="274320"/>
            <a:ext cx="8858920" cy="495935"/>
          </a:xfrm>
        </p:spPr>
        <p:txBody>
          <a:bodyPr/>
          <a:lstStyle/>
          <a:p>
            <a:r>
              <a:rPr lang="en-US" altLang="zh-CN" dirty="0"/>
              <a:t>M8.1</a:t>
            </a:r>
            <a:r>
              <a:rPr lang="zh-CN" altLang="en-US" dirty="0"/>
              <a:t>制定年度整合营销</a:t>
            </a:r>
            <a:r>
              <a:rPr lang="zh-CN" altLang="en-US" dirty="0" smtClean="0"/>
              <a:t>计划</a:t>
            </a:r>
            <a:r>
              <a:rPr lang="en-US" altLang="zh-CN" dirty="0" smtClean="0"/>
              <a:t>_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WHAT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关键角色要</a:t>
            </a:r>
            <a:r>
              <a:rPr lang="zh-CN" altLang="en-US" sz="2400" dirty="0"/>
              <a:t>做什么？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19135" y="1707770"/>
            <a:ext cx="74964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执行动作：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，如有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活动，通过活动系统获取会腾的报名及签到二维码，给客户完成报名及现场签到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，如区域销售仅邀请客户线上参与，则销售需销售需使用邀请函进行点对点邀约、朋友圈转发、微信群邀约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执行目标：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邀约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根据活动互锁目标，达到客户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，点对点邀约客户参会率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64747" y="2911473"/>
            <a:ext cx="854388" cy="32127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23076" y="133843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销售代表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23076" y="380191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 smtClean="0">
                <a:solidFill>
                  <a:srgbClr val="3979C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区域经理？？</a:t>
            </a:r>
            <a:endParaRPr kumimoji="1" lang="zh-CN" altLang="en-US" b="1" dirty="0">
              <a:solidFill>
                <a:srgbClr val="3979C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19135" y="4234065"/>
            <a:ext cx="72781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执行动作：</a:t>
            </a:r>
            <a:endParaRPr lang="en-US" altLang="zh-CN" sz="1200" b="1" i="1" u="sng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，如有</a:t>
            </a:r>
            <a:r>
              <a:rPr lang="en-US" altLang="zh-CN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活动，通过活动系统获取会腾的报名及签到二维码，给客户完成报名及现场签到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1+N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，如区域销售仅邀请客户线上参与，则销售需销售需使用邀请函进行点对点邀约、朋友圈转发、微信群邀约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动作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i="1" u="sng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执行目标：</a:t>
            </a:r>
            <a:endParaRPr lang="en-US" altLang="zh-CN" sz="1200" b="1" i="1" u="sng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邀约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根据活动互锁目标，达到客户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，点对点邀约客户参会率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签到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率 </a:t>
            </a: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12" y="770255"/>
            <a:ext cx="3052121" cy="552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10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73405" y="274320"/>
            <a:ext cx="5456692" cy="495935"/>
          </a:xfrm>
        </p:spPr>
        <p:txBody>
          <a:bodyPr/>
          <a:lstStyle/>
          <a:p>
            <a:r>
              <a:rPr lang="en-US" altLang="zh-CN" dirty="0" smtClean="0"/>
              <a:t>HOW</a:t>
            </a:r>
            <a:r>
              <a:rPr lang="zh-CN" altLang="en-US" dirty="0" smtClean="0"/>
              <a:t>：怎么做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6402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6397</TotalTime>
  <Words>1169</Words>
  <Application>Microsoft Office PowerPoint</Application>
  <PresentationFormat>宽屏</PresentationFormat>
  <Paragraphs>67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185</cp:revision>
  <dcterms:created xsi:type="dcterms:W3CDTF">2023-01-31T08:37:00Z</dcterms:created>
  <dcterms:modified xsi:type="dcterms:W3CDTF">2025-04-27T10:21:07Z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FC3DAD5E4268449992511FCE7F88E9A6</vt:lpwstr>
  </property>
  <property fmtid="{D5CDD505-2E9C-101B-9397-08002B2CF9AE}" pid="3" name="KSOProductBuildVer">
    <vt:lpwstr>2052-11.1.0.14309</vt:lpwstr>
  </property>
</Properties>
</file>