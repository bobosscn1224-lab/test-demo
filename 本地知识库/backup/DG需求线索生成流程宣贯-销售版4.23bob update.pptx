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16"/>
  </p:notesMasterIdLst>
  <p:sldIdLst>
    <p:sldId id="256" r:id="rId3"/>
    <p:sldId id="259" r:id="rId4"/>
    <p:sldId id="267" r:id="rId5"/>
    <p:sldId id="282" r:id="rId6"/>
    <p:sldId id="271" r:id="rId7"/>
    <p:sldId id="279" r:id="rId8"/>
    <p:sldId id="281" r:id="rId9"/>
    <p:sldId id="276" r:id="rId10"/>
    <p:sldId id="278" r:id="rId11"/>
    <p:sldId id="270" r:id="rId12"/>
    <p:sldId id="283" r:id="rId13"/>
    <p:sldId id="280" r:id="rId14"/>
    <p:sldId id="266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196" autoAdjust="0"/>
  </p:normalViewPr>
  <p:slideViewPr>
    <p:cSldViewPr snapToGrid="0">
      <p:cViewPr varScale="1">
        <p:scale>
          <a:sx n="105" d="100"/>
          <a:sy n="105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50FCB-07F6-4B22-B162-6C5FE8368D0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951AD-B4A1-46FE-A52F-08C91A080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78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、市场活动申请完活动后，回自动生成签到二维码，大家可以使用相关签到物料进行签到，参会用户数据会自动记录到该场市场活动的参会用户名单中；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、在活动结束后，大家及时完成客户回访动作，可以在</a:t>
            </a:r>
            <a:r>
              <a:rPr lang="en-US" altLang="zh-CN" dirty="0" smtClean="0"/>
              <a:t>CRM</a:t>
            </a:r>
            <a:r>
              <a:rPr lang="zh-CN" altLang="en-US" dirty="0" smtClean="0"/>
              <a:t>的客户页面下填写拜访记录，需要创建线索的时候，需要关联营销活动；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E951AD-B4A1-46FE-A52F-08C91A0806C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72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864"/>
            <a:ext cx="12193538" cy="6857136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92015" y="3047979"/>
            <a:ext cx="65341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M8.3 </a:t>
            </a:r>
            <a:r>
              <a:rPr kumimoji="1" lang="zh-CN" altLang="en-US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推进</a:t>
            </a:r>
            <a:r>
              <a:rPr kumimoji="1" lang="zh-CN" altLang="en-US" sz="2800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客户回应与</a:t>
            </a:r>
            <a:r>
              <a:rPr kumimoji="1" lang="zh-CN" altLang="en-US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线索生成流程发布</a:t>
            </a:r>
            <a:endParaRPr kumimoji="1" lang="zh-CN" altLang="en-US" sz="2800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2015" y="1784225"/>
            <a:ext cx="34531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 </a:t>
            </a:r>
            <a:r>
              <a:rPr kumimoji="1" lang="zh-CN" altLang="en-US" sz="2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需求线索</a:t>
            </a:r>
            <a:r>
              <a:rPr kumimoji="1" lang="zh-CN" altLang="en-US" sz="2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生成流程</a:t>
            </a:r>
            <a:endParaRPr kumimoji="1" lang="zh-CN" altLang="en-US" sz="2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2015" y="5468044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 &amp; </a:t>
            </a:r>
            <a:r>
              <a:rPr kumimoji="1"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品牌营销部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2025.04.23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2015" y="2440260"/>
            <a:ext cx="6175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M8.2 </a:t>
            </a:r>
            <a:r>
              <a:rPr kumimoji="1" lang="zh-CN" altLang="en-US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策划及执行高质量营销活动组合</a:t>
            </a:r>
            <a:endParaRPr kumimoji="1" lang="zh-CN" altLang="en-US" sz="2800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747651"/>
            <a:ext cx="5073794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这个</a:t>
            </a:r>
            <a:r>
              <a:rPr lang="zh-CN" altLang="en-US" dirty="0" smtClean="0"/>
              <a:t>流程</a:t>
            </a:r>
            <a:r>
              <a:rPr lang="zh-CN" altLang="en-US" dirty="0" smtClean="0"/>
              <a:t>是</a:t>
            </a:r>
            <a:r>
              <a:rPr lang="zh-CN" altLang="en-US" dirty="0" smtClean="0"/>
              <a:t>什么？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客户代表要做什么？怎么</a:t>
            </a:r>
            <a:r>
              <a:rPr lang="zh-CN" altLang="en-US" dirty="0"/>
              <a:t>做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系统</a:t>
            </a:r>
            <a:r>
              <a:rPr lang="zh-CN" altLang="en-US" dirty="0" smtClean="0"/>
              <a:t>操作</a:t>
            </a:r>
            <a:r>
              <a:rPr lang="zh-CN" altLang="en-US" dirty="0" smtClean="0"/>
              <a:t>指导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试点业务说明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en-US" altLang="zh-CN" dirty="0" smtClean="0"/>
              <a:t>DG</a:t>
            </a:r>
            <a:r>
              <a:rPr lang="zh-CN" altLang="en-US" dirty="0" smtClean="0"/>
              <a:t>这个业务是在干什么？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76983" y="1981936"/>
            <a:ext cx="9724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Demand Generation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是要基于行业的重大机会、战略意图、细分市场、客户、主打方案和增长目标，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从客户需求</a:t>
            </a:r>
            <a:r>
              <a:rPr lang="zh-CN" altLang="en-US" sz="1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出发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（而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不是从产品的功能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出发），</a:t>
            </a:r>
            <a:r>
              <a:rPr lang="zh-CN" altLang="en-US" sz="1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规划并执行系列营销活动组合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，从品牌发声、价值主张、内容和体验设计等实现统一规划、协同一致、区域适配、闭环管理，高效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激发客户购买意愿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，从而为公司的产品、服务或解决方案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生成销售线索或激发销售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市场营销举措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3830" y="148322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流程定义：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3830" y="4323208"/>
            <a:ext cx="9797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从客户的场景和业务需求出发，而不是产品方案价值的角度，策划统一主题和发声、价值主张明确、客户收益量化、体验感强的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营销活动组合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激发客户购买意愿，达成获客和线索构建目标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，支撑部门重大机会达成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03830" y="3703003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138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en-US" altLang="zh-CN" dirty="0" smtClean="0"/>
              <a:t>DG</a:t>
            </a:r>
            <a:r>
              <a:rPr lang="zh-CN" altLang="en-US" dirty="0" smtClean="0"/>
              <a:t>这个业务是在干什么？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18" y="1212001"/>
            <a:ext cx="10356468" cy="461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89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28" y="2404815"/>
            <a:ext cx="10979631" cy="4002212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8651062" cy="495935"/>
          </a:xfrm>
        </p:spPr>
        <p:txBody>
          <a:bodyPr/>
          <a:lstStyle/>
          <a:p>
            <a:r>
              <a:rPr lang="zh-CN" altLang="en-US" dirty="0" smtClean="0"/>
              <a:t>关键</a:t>
            </a:r>
            <a:r>
              <a:rPr lang="zh-CN" altLang="en-US" dirty="0" smtClean="0"/>
              <a:t>活动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97863" y="1532471"/>
            <a:ext cx="5482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满足外部客户的需求与问题反馈，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及时响应并跟进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解决，从营销活动中获取到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足够多的营销线索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，为一线销售扩大漏斗提供输入。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0328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19745" y="1446774"/>
            <a:ext cx="4471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本流程适用于通过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营销活动收集到客户信息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后，根据不同类型通过不同方式推进客户回应，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生成线索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19744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适用范围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形标注 6"/>
          <p:cNvSpPr/>
          <p:nvPr/>
        </p:nvSpPr>
        <p:spPr>
          <a:xfrm>
            <a:off x="6072609" y="3229769"/>
            <a:ext cx="740083" cy="444843"/>
          </a:xfrm>
          <a:prstGeom prst="wedgeEllipseCallout">
            <a:avLst>
              <a:gd name="adj1" fmla="val -40161"/>
              <a:gd name="adj2" fmla="val 643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/>
              <a:t>回访</a:t>
            </a:r>
            <a:endParaRPr lang="zh-CN" altLang="en-US" sz="1200" b="1" dirty="0"/>
          </a:p>
        </p:txBody>
      </p:sp>
      <p:sp>
        <p:nvSpPr>
          <p:cNvPr id="14" name="椭圆形标注 13"/>
          <p:cNvSpPr/>
          <p:nvPr/>
        </p:nvSpPr>
        <p:spPr>
          <a:xfrm>
            <a:off x="8119033" y="3467340"/>
            <a:ext cx="740083" cy="444843"/>
          </a:xfrm>
          <a:prstGeom prst="wedgeEllipseCallout">
            <a:avLst>
              <a:gd name="adj1" fmla="val -40161"/>
              <a:gd name="adj2" fmla="val 643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/>
              <a:t>关联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4997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74320"/>
            <a:ext cx="8858920" cy="495935"/>
          </a:xfrm>
        </p:spPr>
        <p:txBody>
          <a:bodyPr/>
          <a:lstStyle/>
          <a:p>
            <a:r>
              <a:rPr lang="en-US" altLang="zh-CN" dirty="0" smtClean="0"/>
              <a:t>M8.2 </a:t>
            </a:r>
            <a:r>
              <a:rPr lang="zh-CN" altLang="en-US" dirty="0" smtClean="0"/>
              <a:t>直播与线上活动客户</a:t>
            </a:r>
            <a:r>
              <a:rPr lang="zh-CN" altLang="en-US" dirty="0" smtClean="0"/>
              <a:t>邀请</a:t>
            </a:r>
            <a:r>
              <a:rPr lang="en-US" altLang="zh-CN" dirty="0" smtClean="0"/>
              <a:t>_</a:t>
            </a:r>
            <a:r>
              <a:rPr lang="en-US" altLang="zh-CN" sz="2400" dirty="0"/>
              <a:t> WHAT:</a:t>
            </a:r>
            <a:r>
              <a:rPr lang="zh-CN" altLang="en-US" sz="2400" dirty="0"/>
              <a:t>客户代表要做什么？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915194" y="2450154"/>
            <a:ext cx="64447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i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执行动作：</a:t>
            </a:r>
            <a:endParaRPr lang="en-US" altLang="zh-CN" sz="1200" b="1" i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线上直播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：销售需使用邀请函进行点对点邀约、朋友圈转发、微信群邀约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，如有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活动，通过活动系统获取会腾的报名及签到二维码，给客户完成报名及现场签到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，如区域销售仅邀请客户线上参与，则销售需销售需使用邀请函进行点对点邀约、朋友圈转发、微信群邀约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动作；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i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执行目标：</a:t>
            </a:r>
            <a:endParaRPr lang="en-US" altLang="zh-CN" sz="1200" b="1" i="1" u="sng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邀约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根据活动互锁目标，达到客户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覆盖率 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，点对点邀约客户参会率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签到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率 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64069"/>
          <a:stretch/>
        </p:blipFill>
        <p:spPr>
          <a:xfrm>
            <a:off x="672259" y="1641983"/>
            <a:ext cx="3866342" cy="3943273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3964747" y="2911473"/>
            <a:ext cx="854388" cy="32127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915194" y="17845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参会人员邀请：</a:t>
            </a:r>
          </a:p>
        </p:txBody>
      </p:sp>
    </p:spTree>
    <p:extLst>
      <p:ext uri="{BB962C8B-B14F-4D97-AF65-F5344CB8AC3E}">
        <p14:creationId xmlns:p14="http://schemas.microsoft.com/office/powerpoint/2010/main" val="300837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试点</a:t>
            </a:r>
            <a:r>
              <a:rPr lang="zh-CN" altLang="en-US" dirty="0" smtClean="0"/>
              <a:t>活动</a:t>
            </a:r>
            <a:r>
              <a:rPr lang="en-US" altLang="zh-CN" dirty="0" smtClean="0"/>
              <a:t>-</a:t>
            </a:r>
            <a:r>
              <a:rPr lang="zh-CN" altLang="en-US" dirty="0" smtClean="0"/>
              <a:t>线上直播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579522" y="714560"/>
            <a:ext cx="5127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总部发起 </a:t>
            </a: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4.28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日，高教</a:t>
            </a: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校园百事通发布会线上直播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32" y="1126797"/>
            <a:ext cx="4970660" cy="28571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756" y="159608"/>
            <a:ext cx="1905514" cy="64554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31" y="4510362"/>
            <a:ext cx="6679913" cy="2137573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1441622" y="3566984"/>
            <a:ext cx="807308" cy="2883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22832" y="4108670"/>
            <a:ext cx="3734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参考：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媒体发布会报名参会数据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101220" y="6056768"/>
            <a:ext cx="896293" cy="4255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5145345" y="5430571"/>
            <a:ext cx="896293" cy="4255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413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74320"/>
            <a:ext cx="5300174" cy="495935"/>
          </a:xfrm>
        </p:spPr>
        <p:txBody>
          <a:bodyPr/>
          <a:lstStyle/>
          <a:p>
            <a:r>
              <a:rPr lang="en-US" altLang="zh-CN" dirty="0" smtClean="0"/>
              <a:t>WHY</a:t>
            </a:r>
            <a:r>
              <a:rPr lang="zh-CN" altLang="en-US" dirty="0" smtClean="0"/>
              <a:t>：为什么要推进客户回应？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77" y="1769548"/>
            <a:ext cx="4344583" cy="365747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03629" y="1400216"/>
            <a:ext cx="2171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AIDA</a:t>
            </a:r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转化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漏斗模型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72386" y="1934167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这是什么？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吸引客户的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注意力，使他们对产品或服务产生兴趣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。可以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通过广告、宣传活动、独特的产品包装等方式实现。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72386" y="2786768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我喜欢这个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吸引客户注意力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的基础上，进一步激发他们对产品或服务的兴趣，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让客户了解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产品或服务的特点、优势和价值。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72386" y="3676581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我想要这个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激发客户的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购买欲望，使他们产生对产品或服务的渴望和需求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。可以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通过强调产品的独特卖点、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满足客户的特定需求等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方式实现。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525039" y="2322619"/>
            <a:ext cx="906162" cy="2636457"/>
            <a:chOff x="3912973" y="2339545"/>
            <a:chExt cx="1515762" cy="2636457"/>
          </a:xfrm>
        </p:grpSpPr>
        <p:cxnSp>
          <p:nvCxnSpPr>
            <p:cNvPr id="10" name="直接箭头连接符 9"/>
            <p:cNvCxnSpPr/>
            <p:nvPr/>
          </p:nvCxnSpPr>
          <p:spPr>
            <a:xfrm flipV="1">
              <a:off x="3912973" y="2339545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V="1">
              <a:off x="3912973" y="3192146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V="1">
              <a:off x="3912973" y="4081959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V="1">
              <a:off x="3912973" y="4976001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4472386" y="4570623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我要得到这个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促使客户采取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购买行动，将购买欲望转化为实际的购买行为。企业可以通过提供便捷的购买渠道、促销活动等方式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鼓励客户购买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燕尾形 23"/>
          <p:cNvSpPr/>
          <p:nvPr/>
        </p:nvSpPr>
        <p:spPr>
          <a:xfrm flipH="1">
            <a:off x="9052627" y="2143636"/>
            <a:ext cx="2397212" cy="435142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DG </a:t>
            </a:r>
            <a:r>
              <a:rPr lang="zh-CN" altLang="en-US" sz="1400" dirty="0" smtClean="0">
                <a:solidFill>
                  <a:schemeClr val="bg1"/>
                </a:solidFill>
              </a:rPr>
              <a:t>数字营销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5" name="燕尾形 24"/>
          <p:cNvSpPr/>
          <p:nvPr/>
        </p:nvSpPr>
        <p:spPr>
          <a:xfrm flipH="1">
            <a:off x="9052627" y="2996237"/>
            <a:ext cx="2397212" cy="435142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DG </a:t>
            </a:r>
            <a:r>
              <a:rPr lang="zh-CN" altLang="en-US" sz="1400" dirty="0" smtClean="0">
                <a:solidFill>
                  <a:schemeClr val="bg1"/>
                </a:solidFill>
              </a:rPr>
              <a:t>市场活动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6" name="燕尾形 25"/>
          <p:cNvSpPr/>
          <p:nvPr/>
        </p:nvSpPr>
        <p:spPr>
          <a:xfrm flipH="1">
            <a:off x="9052627" y="3781920"/>
            <a:ext cx="2397212" cy="647631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rgbClr val="FFC000"/>
                </a:solidFill>
              </a:rPr>
              <a:t>通过回访推进客户回应</a:t>
            </a:r>
            <a:endParaRPr lang="en-US" altLang="zh-CN" sz="1400" b="1" dirty="0" smtClean="0">
              <a:solidFill>
                <a:srgbClr val="FFC000"/>
              </a:solidFill>
            </a:endParaRPr>
          </a:p>
          <a:p>
            <a:pPr algn="ctr"/>
            <a:r>
              <a:rPr lang="zh-CN" altLang="en-US" sz="1400" b="1" dirty="0" smtClean="0">
                <a:solidFill>
                  <a:srgbClr val="FFC000"/>
                </a:solidFill>
              </a:rPr>
              <a:t>激发客户的需求和欲望</a:t>
            </a:r>
            <a:endParaRPr lang="zh-CN" altLang="en-US" sz="1400" b="1" dirty="0">
              <a:solidFill>
                <a:srgbClr val="FFC000"/>
              </a:solidFill>
            </a:endParaRPr>
          </a:p>
        </p:txBody>
      </p:sp>
      <p:sp>
        <p:nvSpPr>
          <p:cNvPr id="27" name="燕尾形 26"/>
          <p:cNvSpPr/>
          <p:nvPr/>
        </p:nvSpPr>
        <p:spPr>
          <a:xfrm flipH="1">
            <a:off x="9110292" y="4780092"/>
            <a:ext cx="2397212" cy="435142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</a:rPr>
              <a:t>生成线索并持续跟进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76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7142205" y="4359393"/>
            <a:ext cx="4794421" cy="17366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现在，有关联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47784" y="4359393"/>
            <a:ext cx="4794421" cy="1736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原来，没关联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68174"/>
            <a:ext cx="9729946" cy="495935"/>
          </a:xfrm>
        </p:spPr>
        <p:txBody>
          <a:bodyPr/>
          <a:lstStyle/>
          <a:p>
            <a:r>
              <a:rPr lang="en-US" altLang="zh-CN" sz="2000" dirty="0" smtClean="0"/>
              <a:t>M8.3 </a:t>
            </a:r>
            <a:r>
              <a:rPr lang="zh-CN" altLang="en-US" sz="2000" dirty="0" smtClean="0"/>
              <a:t>推进客户回应与线索生成</a:t>
            </a:r>
            <a:r>
              <a:rPr lang="en-US" altLang="zh-CN" sz="2000" dirty="0" smtClean="0"/>
              <a:t>_ </a:t>
            </a:r>
            <a:r>
              <a:rPr lang="en-US" altLang="zh-CN" sz="2000" dirty="0"/>
              <a:t>WHAT</a:t>
            </a:r>
            <a:r>
              <a:rPr lang="en-US" altLang="zh-CN" sz="2000" dirty="0" smtClean="0"/>
              <a:t>:</a:t>
            </a:r>
            <a:r>
              <a:rPr lang="zh-CN" altLang="en-US" sz="2000" dirty="0" smtClean="0"/>
              <a:t>客户代表要做</a:t>
            </a:r>
            <a:r>
              <a:rPr lang="zh-CN" altLang="en-US" sz="2000" dirty="0" smtClean="0"/>
              <a:t>什么</a:t>
            </a:r>
            <a:r>
              <a:rPr lang="zh-CN" altLang="en-US" sz="2000" dirty="0"/>
              <a:t>？</a:t>
            </a:r>
            <a:endParaRPr lang="zh-CN" altLang="en-US" sz="2000" dirty="0"/>
          </a:p>
        </p:txBody>
      </p:sp>
      <p:sp>
        <p:nvSpPr>
          <p:cNvPr id="28" name="文本框 27"/>
          <p:cNvSpPr txBox="1"/>
          <p:nvPr/>
        </p:nvSpPr>
        <p:spPr>
          <a:xfrm>
            <a:off x="573403" y="1496627"/>
            <a:ext cx="65688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结束后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一周内对客户进行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回访</a:t>
            </a:r>
            <a:r>
              <a:rPr lang="en-US" altLang="zh-CN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下填写拜访留痕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？营销活动结束后快速进行回访，可以有效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促进下一步沟通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和购买意向从而生成线索，及时提供相关资料和解答，推动购买决策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。在系统中填写可才能确保动作是否做到，可看可查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111269"/>
              </p:ext>
            </p:extLst>
          </p:nvPr>
        </p:nvGraphicFramePr>
        <p:xfrm>
          <a:off x="7375272" y="1391806"/>
          <a:ext cx="4087379" cy="12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852"/>
                <a:gridCol w="2455527"/>
              </a:tblGrid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n-ea"/>
                          <a:ea typeface="+mn-ea"/>
                        </a:rPr>
                        <a:t>回访天数</a:t>
                      </a:r>
                      <a:endParaRPr lang="zh-CN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n-ea"/>
                          <a:ea typeface="+mn-ea"/>
                        </a:rPr>
                        <a:t>购买意向成功率</a:t>
                      </a:r>
                      <a:endParaRPr lang="zh-CN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1 - 3 </a:t>
                      </a:r>
                      <a:r>
                        <a:rPr lang="zh-CN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天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60% - 80%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3 - 7 </a:t>
                      </a:r>
                      <a:r>
                        <a:rPr lang="zh-CN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天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40% - 60%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latin typeface="+mn-ea"/>
                          <a:ea typeface="+mn-ea"/>
                        </a:rPr>
                        <a:t>7 </a:t>
                      </a:r>
                      <a:r>
                        <a:rPr lang="zh-CN" altLang="en-US" sz="1200" b="0" dirty="0" smtClean="0">
                          <a:latin typeface="+mn-ea"/>
                          <a:ea typeface="+mn-ea"/>
                        </a:rPr>
                        <a:t>天以上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latin typeface="+mn-ea"/>
                          <a:ea typeface="+mn-ea"/>
                        </a:rPr>
                        <a:t>30% </a:t>
                      </a:r>
                      <a:r>
                        <a:rPr lang="zh-CN" altLang="en-US" sz="1200" b="0" dirty="0" smtClean="0">
                          <a:latin typeface="+mn-ea"/>
                          <a:ea typeface="+mn-ea"/>
                        </a:rPr>
                        <a:t>以下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573404" y="3721891"/>
            <a:ext cx="515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回访后生成的线索，在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创建线索时，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要注意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“营销活动”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3404" y="4359393"/>
            <a:ext cx="2301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为什么要关联活动？</a:t>
            </a:r>
            <a:endParaRPr lang="en-US" altLang="zh-CN" sz="14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73404" y="1127295"/>
            <a:ext cx="2993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、回访</a:t>
            </a:r>
            <a:r>
              <a:rPr kumimoji="1" lang="en-US" altLang="zh-CN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kumimoji="1" lang="en-US" altLang="zh-CN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73404" y="3309942"/>
            <a:ext cx="315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、创建线索关联活动：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燕尾形 31"/>
          <p:cNvSpPr/>
          <p:nvPr/>
        </p:nvSpPr>
        <p:spPr>
          <a:xfrm>
            <a:off x="2463806" y="4778682"/>
            <a:ext cx="2578443" cy="1202724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原来市场活动质量</a:t>
            </a:r>
            <a:endParaRPr lang="en-US" altLang="zh-CN" sz="1200" dirty="0" smtClean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评估不准确</a:t>
            </a:r>
            <a:endParaRPr lang="en-US" altLang="zh-CN" sz="1200" dirty="0" smtClean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不知道哪场好，哪场不好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3" name="燕尾形 32"/>
          <p:cNvSpPr/>
          <p:nvPr/>
        </p:nvSpPr>
        <p:spPr>
          <a:xfrm>
            <a:off x="5233058" y="4778682"/>
            <a:ext cx="1826132" cy="1202724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营销费用的预算、计划、审批全凭经验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4" name="燕尾形 33"/>
          <p:cNvSpPr/>
          <p:nvPr/>
        </p:nvSpPr>
        <p:spPr>
          <a:xfrm>
            <a:off x="7249999" y="4778682"/>
            <a:ext cx="2270281" cy="1202724"/>
          </a:xfrm>
          <a:prstGeom prst="chevron">
            <a:avLst>
              <a:gd name="adj" fmla="val 29167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关联后，活动质量评估变得准确，可见，效果好，费用支持高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5" name="燕尾形 34"/>
          <p:cNvSpPr/>
          <p:nvPr/>
        </p:nvSpPr>
        <p:spPr>
          <a:xfrm>
            <a:off x="9711088" y="4778682"/>
            <a:ext cx="1886465" cy="1202724"/>
          </a:xfrm>
          <a:prstGeom prst="chevron">
            <a:avLst>
              <a:gd name="adj" fmla="val 29167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rgbClr val="FFC000"/>
                </a:solidFill>
              </a:rPr>
              <a:t>越关联越</a:t>
            </a:r>
            <a:r>
              <a:rPr lang="zh-CN" altLang="en-US" sz="1200" b="1" dirty="0" smtClean="0">
                <a:solidFill>
                  <a:srgbClr val="FFC000"/>
                </a:solidFill>
              </a:rPr>
              <a:t>有钱</a:t>
            </a:r>
            <a:endParaRPr lang="en-US" altLang="zh-CN" sz="1200" b="1" dirty="0" smtClean="0">
              <a:solidFill>
                <a:srgbClr val="FFC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 smtClean="0">
                <a:solidFill>
                  <a:srgbClr val="FFC000"/>
                </a:solidFill>
              </a:rPr>
              <a:t>不</a:t>
            </a:r>
            <a:r>
              <a:rPr lang="zh-CN" altLang="en-US" sz="1200" b="1" dirty="0">
                <a:solidFill>
                  <a:srgbClr val="FFC000"/>
                </a:solidFill>
              </a:rPr>
              <a:t>关联没有钱</a:t>
            </a:r>
          </a:p>
        </p:txBody>
      </p:sp>
    </p:spTree>
    <p:extLst>
      <p:ext uri="{BB962C8B-B14F-4D97-AF65-F5344CB8AC3E}">
        <p14:creationId xmlns:p14="http://schemas.microsoft.com/office/powerpoint/2010/main" val="2635420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26818" y="3330246"/>
            <a:ext cx="10750782" cy="3433019"/>
          </a:xfrm>
          <a:prstGeom prst="roundRect">
            <a:avLst>
              <a:gd name="adj" fmla="val 5792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C</a:t>
            </a:r>
          </a:p>
          <a:p>
            <a:r>
              <a:rPr lang="en-US" altLang="zh-CN" dirty="0" smtClean="0">
                <a:solidFill>
                  <a:schemeClr val="tx1"/>
                </a:solidFill>
              </a:rPr>
              <a:t>R</a:t>
            </a:r>
          </a:p>
          <a:p>
            <a:r>
              <a:rPr lang="en-US" altLang="zh-CN" dirty="0" smtClean="0">
                <a:solidFill>
                  <a:schemeClr val="tx1"/>
                </a:solidFill>
              </a:rPr>
              <a:t>M</a:t>
            </a:r>
          </a:p>
          <a:p>
            <a:r>
              <a:rPr lang="zh-CN" altLang="en-US" dirty="0" smtClean="0">
                <a:solidFill>
                  <a:schemeClr val="tx1"/>
                </a:solidFill>
              </a:rPr>
              <a:t>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26818" y="897652"/>
            <a:ext cx="10750782" cy="2415357"/>
          </a:xfrm>
          <a:prstGeom prst="roundRect">
            <a:avLst>
              <a:gd name="adj" fmla="val 579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动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5456692" cy="495935"/>
          </a:xfrm>
        </p:spPr>
        <p:txBody>
          <a:bodyPr/>
          <a:lstStyle/>
          <a:p>
            <a:r>
              <a:rPr lang="en-US" altLang="zh-CN" dirty="0" smtClean="0"/>
              <a:t>HOW</a:t>
            </a:r>
            <a:r>
              <a:rPr lang="zh-CN" altLang="en-US" dirty="0"/>
              <a:t>：</a:t>
            </a:r>
            <a:r>
              <a:rPr lang="zh-CN" altLang="en-US" dirty="0" smtClean="0"/>
              <a:t>活动系统与</a:t>
            </a:r>
            <a:r>
              <a:rPr lang="en-US" altLang="zh-CN" dirty="0" smtClean="0"/>
              <a:t>CRM</a:t>
            </a:r>
            <a:r>
              <a:rPr lang="zh-CN" altLang="en-US" dirty="0" smtClean="0"/>
              <a:t>系统操作指导</a:t>
            </a:r>
            <a:endParaRPr lang="zh-CN" altLang="en-US" dirty="0"/>
          </a:p>
        </p:txBody>
      </p:sp>
      <p:sp>
        <p:nvSpPr>
          <p:cNvPr id="5" name="燕尾形 4"/>
          <p:cNvSpPr/>
          <p:nvPr/>
        </p:nvSpPr>
        <p:spPr>
          <a:xfrm>
            <a:off x="1364237" y="1012126"/>
            <a:ext cx="3697180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1</a:t>
            </a:r>
            <a:r>
              <a:rPr lang="zh-CN" altLang="en-US" sz="1400" dirty="0" smtClean="0">
                <a:solidFill>
                  <a:schemeClr val="bg1"/>
                </a:solidFill>
              </a:rPr>
              <a:t>、使用活动系统的二维码签到和问卷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b="21447"/>
          <a:stretch/>
        </p:blipFill>
        <p:spPr>
          <a:xfrm>
            <a:off x="5842104" y="1599988"/>
            <a:ext cx="5097744" cy="1621007"/>
          </a:xfrm>
          <a:prstGeom prst="rect">
            <a:avLst/>
          </a:prstGeom>
        </p:spPr>
      </p:pic>
      <p:sp>
        <p:nvSpPr>
          <p:cNvPr id="7" name="燕尾形 6"/>
          <p:cNvSpPr/>
          <p:nvPr/>
        </p:nvSpPr>
        <p:spPr>
          <a:xfrm>
            <a:off x="5842104" y="1012126"/>
            <a:ext cx="5097744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2</a:t>
            </a:r>
            <a:r>
              <a:rPr lang="zh-CN" altLang="en-US" sz="1400" dirty="0" smtClean="0">
                <a:solidFill>
                  <a:schemeClr val="bg1"/>
                </a:solidFill>
              </a:rPr>
              <a:t>、活动系统参会客户页面，点击“创建</a:t>
            </a:r>
            <a:r>
              <a:rPr lang="en-US" altLang="zh-CN" sz="1400" dirty="0" err="1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客户”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t="15165" b="20727"/>
          <a:stretch/>
        </p:blipFill>
        <p:spPr>
          <a:xfrm>
            <a:off x="989617" y="3949804"/>
            <a:ext cx="5040480" cy="2742072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364236" y="1599988"/>
            <a:ext cx="3697181" cy="1658869"/>
            <a:chOff x="458074" y="1591750"/>
            <a:chExt cx="3697182" cy="1658077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5"/>
            <a:srcRect b="72512"/>
            <a:stretch/>
          </p:blipFill>
          <p:spPr>
            <a:xfrm>
              <a:off x="458075" y="1591750"/>
              <a:ext cx="3697181" cy="69013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5"/>
            <a:srcRect t="61447"/>
            <a:stretch/>
          </p:blipFill>
          <p:spPr>
            <a:xfrm>
              <a:off x="458074" y="2281881"/>
              <a:ext cx="3697181" cy="967946"/>
            </a:xfrm>
            <a:prstGeom prst="rect">
              <a:avLst/>
            </a:prstGeom>
          </p:spPr>
        </p:pic>
      </p:grpSp>
      <p:sp>
        <p:nvSpPr>
          <p:cNvPr id="11" name="燕尾形 10"/>
          <p:cNvSpPr/>
          <p:nvPr/>
        </p:nvSpPr>
        <p:spPr>
          <a:xfrm>
            <a:off x="1364236" y="3373106"/>
            <a:ext cx="4015072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3</a:t>
            </a:r>
            <a:r>
              <a:rPr lang="zh-CN" altLang="en-US" sz="1400" dirty="0" smtClean="0">
                <a:solidFill>
                  <a:schemeClr val="bg1"/>
                </a:solidFill>
              </a:rPr>
              <a:t>、</a:t>
            </a:r>
            <a:r>
              <a:rPr lang="en-US" altLang="zh-CN" sz="1400" dirty="0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客户页面添加</a:t>
            </a:r>
            <a:r>
              <a:rPr lang="zh-CN" altLang="en-US" sz="1400" b="1" dirty="0" smtClean="0">
                <a:solidFill>
                  <a:srgbClr val="FFC000"/>
                </a:solidFill>
              </a:rPr>
              <a:t>回访</a:t>
            </a:r>
            <a:r>
              <a:rPr lang="zh-CN" altLang="en-US" sz="1400" dirty="0" smtClean="0">
                <a:solidFill>
                  <a:schemeClr val="bg1"/>
                </a:solidFill>
              </a:rPr>
              <a:t>的沟通记录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5842104" y="3373106"/>
            <a:ext cx="5097744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</a:rPr>
              <a:t>4</a:t>
            </a:r>
            <a:r>
              <a:rPr lang="zh-CN" altLang="en-US" sz="1400" dirty="0" smtClean="0">
                <a:solidFill>
                  <a:schemeClr val="bg1"/>
                </a:solidFill>
              </a:rPr>
              <a:t>、发现新线索，在</a:t>
            </a:r>
            <a:r>
              <a:rPr lang="en-US" altLang="zh-CN" sz="1400" dirty="0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上创建线索并</a:t>
            </a:r>
            <a:r>
              <a:rPr lang="zh-CN" altLang="en-US" sz="1400" b="1" dirty="0" smtClean="0">
                <a:solidFill>
                  <a:srgbClr val="FFC000"/>
                </a:solidFill>
              </a:rPr>
              <a:t>关联</a:t>
            </a:r>
            <a:r>
              <a:rPr lang="zh-CN" altLang="en-US" sz="1400" dirty="0" smtClean="0">
                <a:solidFill>
                  <a:schemeClr val="bg1"/>
                </a:solidFill>
              </a:rPr>
              <a:t>“营销活动”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爆炸形 1 12"/>
          <p:cNvSpPr/>
          <p:nvPr/>
        </p:nvSpPr>
        <p:spPr>
          <a:xfrm>
            <a:off x="4655260" y="3570653"/>
            <a:ext cx="1864787" cy="864973"/>
          </a:xfrm>
          <a:prstGeom prst="irregularSeal1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</a:t>
            </a:r>
            <a:r>
              <a:rPr lang="zh-CN" altLang="en-US" sz="1400" dirty="0" smtClean="0"/>
              <a:t>周内回访</a:t>
            </a:r>
            <a:endParaRPr lang="zh-CN" altLang="en-US" sz="14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625" y="3889337"/>
            <a:ext cx="4577481" cy="2802539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95632" y="3949804"/>
            <a:ext cx="1243914" cy="30915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310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试点</a:t>
            </a:r>
            <a:r>
              <a:rPr lang="zh-CN" altLang="en-US" dirty="0" smtClean="0"/>
              <a:t>活动</a:t>
            </a:r>
            <a:r>
              <a:rPr lang="en-US" altLang="zh-CN" dirty="0" smtClean="0"/>
              <a:t>-</a:t>
            </a:r>
            <a:r>
              <a:rPr lang="zh-CN" altLang="en-US" dirty="0" smtClean="0"/>
              <a:t>模版活动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13" y="2101278"/>
            <a:ext cx="5436914" cy="270138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1513" y="1381297"/>
            <a:ext cx="5399028" cy="40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安徽区域，易俊峰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行业，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日企业园区网技术交流模板活动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91" y="2063551"/>
            <a:ext cx="5978423" cy="264849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35092" y="1381297"/>
            <a:ext cx="5399028" cy="40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总部发起 </a:t>
            </a: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4.8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日，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高教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云桌面远程实训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线上直播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3187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试点活动</a:t>
            </a:r>
            <a:r>
              <a:rPr lang="en-US" altLang="zh-CN" dirty="0" smtClean="0"/>
              <a:t>-</a:t>
            </a:r>
            <a:r>
              <a:rPr lang="zh-CN" altLang="en-US" dirty="0" smtClean="0"/>
              <a:t>区域圈子与协会活动</a:t>
            </a:r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2352" r="3115"/>
          <a:stretch/>
        </p:blipFill>
        <p:spPr>
          <a:xfrm>
            <a:off x="161513" y="2009550"/>
            <a:ext cx="5739430" cy="329562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2252" r="7039"/>
          <a:stretch/>
        </p:blipFill>
        <p:spPr>
          <a:xfrm>
            <a:off x="5988907" y="2009550"/>
            <a:ext cx="5972434" cy="346303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1513" y="1381297"/>
            <a:ext cx="5316649" cy="40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江西区域，周祥，教育行业，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日参与第三方机构的活动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00943" y="1381297"/>
            <a:ext cx="5014192" cy="40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河南区域，徐启翔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，医疗行业，</a:t>
            </a: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日主办样板圈子活动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105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</TotalTime>
  <Words>1088</Words>
  <Application>Microsoft Office PowerPoint</Application>
  <PresentationFormat>宽屏</PresentationFormat>
  <Paragraphs>100</Paragraphs>
  <Slides>13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等线 Light</vt:lpstr>
      <vt:lpstr>宋体</vt:lpstr>
      <vt:lpstr>微软雅黑</vt:lpstr>
      <vt:lpstr>Arial</vt:lpstr>
      <vt:lpstr>Calibri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ACER</cp:lastModifiedBy>
  <cp:revision>176</cp:revision>
  <dcterms:created xsi:type="dcterms:W3CDTF">2023-01-31T08:37:00Z</dcterms:created>
  <dcterms:modified xsi:type="dcterms:W3CDTF">2025-04-23T02:18:35Z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FC3DAD5E4268449992511FCE7F88E9A6</vt:lpwstr>
  </property>
  <property fmtid="{D5CDD505-2E9C-101B-9397-08002B2CF9AE}" pid="3" name="KSOProductBuildVer">
    <vt:lpwstr>2052-11.1.0.14309</vt:lpwstr>
  </property>
</Properties>
</file>