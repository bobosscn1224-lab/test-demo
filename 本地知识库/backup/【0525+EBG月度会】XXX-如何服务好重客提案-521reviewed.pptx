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7"/>
  </p:notesMasterIdLst>
  <p:sldIdLst>
    <p:sldId id="270" r:id="rId3"/>
    <p:sldId id="274" r:id="rId4"/>
    <p:sldId id="280" r:id="rId5"/>
    <p:sldId id="276" r:id="rId6"/>
    <p:sldId id="283" r:id="rId7"/>
    <p:sldId id="277" r:id="rId8"/>
    <p:sldId id="278" r:id="rId9"/>
    <p:sldId id="279" r:id="rId10"/>
    <p:sldId id="281" r:id="rId11"/>
    <p:sldId id="282" r:id="rId12"/>
    <p:sldId id="273" r:id="rId13"/>
    <p:sldId id="259" r:id="rId14"/>
    <p:sldId id="285" r:id="rId15"/>
    <p:sldId id="266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36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75676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0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70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4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1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8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保障，区域能力不足问题。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缺乏持续的客户运营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计划与对等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占位符 9"/>
          <p:cNvSpPr txBox="1">
            <a:spLocks/>
          </p:cNvSpPr>
          <p:nvPr/>
        </p:nvSpPr>
        <p:spPr>
          <a:xfrm>
            <a:off x="11456145" y="1591847"/>
            <a:ext cx="583280" cy="247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 action="ppaction://hlinksldjump"/>
              </a:rPr>
              <a:t>案例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11439"/>
              </p:ext>
            </p:extLst>
          </p:nvPr>
        </p:nvGraphicFramePr>
        <p:xfrm>
          <a:off x="575119" y="1202123"/>
          <a:ext cx="10669119" cy="5171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919"/>
                <a:gridCol w="3444875"/>
                <a:gridCol w="4465325"/>
              </a:tblGrid>
              <a:tr h="34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看到的差距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重客前期沟通交流，资源流程保障，区域能力不足问题。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部分重客项目前期沟通不及时，不充分，不质量，直接导致错失项目介入最佳时机。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沟通响应时效滞后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沟通深度与广度不足，质量不佳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资源短缺且配置不合理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缺乏流程支撑</a:t>
                      </a:r>
                    </a:p>
                  </a:txBody>
                  <a:tcPr anchor="ctr"/>
                </a:tc>
              </a:tr>
              <a:tr h="977265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DC,EC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类需求，资源匹配及专业支撑问题；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对于重客的一些特殊类需求，一线人员跟进之后回到公司找不到具体的负责人和接口人，最后不了了之，错失介入布局机会。如：</a:t>
                      </a:r>
                      <a:r>
                        <a:rPr lang="en-US" altLang="zh-CN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DC,EC</a:t>
                      </a: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缺乏专职重客需求对接体系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职责边界模糊与授权缺失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需求流转流程断层</a:t>
                      </a:r>
                    </a:p>
                  </a:txBody>
                  <a:tcPr marL="9525" marR="9525" marT="9525" marB="0" anchor="ctr"/>
                </a:tc>
              </a:tr>
              <a:tr h="1197719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重客非标类需求专业响应及闭环问题；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(OC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、特殊服务）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对于客户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的非标类特殊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诉求没有分析清楚，导致后续流程失控，影响流程推进质量及后期客户体验和满意度。如：</a:t>
                      </a:r>
                      <a:r>
                        <a:rPr lang="zh-CN" altLang="en-US" sz="1400" b="0" dirty="0">
                          <a:sym typeface="+mn-ea"/>
                        </a:rPr>
                        <a:t>直签类，非标准化特殊产品服务项目，</a:t>
                      </a:r>
                      <a:r>
                        <a:rPr lang="en-US" altLang="zh-CN" sz="1400" b="0" dirty="0">
                          <a:sym typeface="+mn-ea"/>
                        </a:rPr>
                        <a:t>OC</a:t>
                      </a:r>
                      <a:r>
                        <a:rPr lang="zh-CN" altLang="en-US" sz="1400" b="0" dirty="0">
                          <a:sym typeface="+mn-ea"/>
                        </a:rPr>
                        <a:t>类项目</a:t>
                      </a: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对特殊项目类型定义不清晰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跨领域专业能力缺失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缺乏流程关键控制点支撑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合同评审</a:t>
                      </a:r>
                    </a:p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缺乏持续的客户运营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计划与对等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沟通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机制。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缺乏高质量客户运营计划，无法实现有效的客户拜访及互动沟通。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目标模糊：缺乏分层运营策略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内容单薄：缺乏价值型互动设计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执行断层：缺乏闭环管理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缺乏沟通层级对等机制</a:t>
                      </a: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产品退市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停产对重客生命周期内产生的影响没有做好管理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产品退市流程缺乏对重客产品及服务的处理及预警机制，影响客户增补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扩容需求。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预警机制缺失：信息传递滞后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重客需求响应断层：处理方案缺乏针对性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跨部门协作不够：责任链条不清晰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8962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373764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665324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84559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897964" y="2071191"/>
            <a:ext cx="4220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设计有区别于普通客户的重客流程与相关保障机制，具体包括：</a:t>
            </a:r>
            <a:endParaRPr kumimoji="0" lang="en-US" altLang="zh-CN" sz="1400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）落实客户计划，推进重客全生命周期价值运营。</a:t>
            </a:r>
            <a:endParaRPr lang="en-US" altLang="zh-CN" sz="1400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）梳理优化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ML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MO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、产品退市流程，设计运营保障机制，确保重客业务高质量开展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92340" y="164203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流程建设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229336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17180" y="201735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17180" y="260282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17180" y="323459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75847" y="16947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75847" y="230384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175847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389542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72293" y="4430517"/>
            <a:ext cx="41461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人员能力提升：加强重客辅导与培训，提升业务人员重客服务意识与关键领域业务能力。</a:t>
            </a:r>
            <a:endParaRPr lang="en-US" altLang="zh-CN" sz="1400" dirty="0" smtClean="0"/>
          </a:p>
          <a:p>
            <a:r>
              <a:rPr lang="zh-CN" altLang="en-US" sz="1400" dirty="0"/>
              <a:t>数字化</a:t>
            </a:r>
            <a:r>
              <a:rPr lang="zh-CN" altLang="en-US" sz="1400" dirty="0" smtClean="0"/>
              <a:t>能力提升：加强</a:t>
            </a:r>
            <a:r>
              <a:rPr lang="zh-CN" altLang="en-US" sz="1400" dirty="0"/>
              <a:t>数字化</a:t>
            </a:r>
            <a:r>
              <a:rPr lang="zh-CN" altLang="en-US" sz="1400" dirty="0" smtClean="0"/>
              <a:t>建设，实现业务在线，数据在线，决策在线的数字化运营能力，高效赋能重客业务开展。</a:t>
            </a:r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4892340" y="402359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能力提升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229336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389542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317180" y="4454418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会沟通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317180" y="5049414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会经营</a:t>
            </a:r>
            <a:endParaRPr lang="zh-CN" altLang="en-US" sz="16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50589" y="5632831"/>
            <a:ext cx="18214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会服务</a:t>
            </a:r>
            <a:endParaRPr lang="zh-CN" altLang="en-US" sz="16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175847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5847" y="4776531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175847" y="5360186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932763" y="3565933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590334" y="1750340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282664" y="5284114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17915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 smtClean="0"/>
              <a:t>提前</a:t>
            </a:r>
            <a:r>
              <a:rPr lang="zh-CN" altLang="en-US" sz="1400" dirty="0"/>
              <a:t>介入了解和收集重客业务和相关信息，”看全，看清</a:t>
            </a:r>
            <a:r>
              <a:rPr lang="en-US" altLang="zh-CN" sz="1400" dirty="0"/>
              <a:t>FOP”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、通过</a:t>
            </a:r>
            <a:r>
              <a:rPr lang="zh-CN" altLang="en-US" sz="1400" dirty="0"/>
              <a:t>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、非</a:t>
            </a:r>
            <a:r>
              <a:rPr lang="zh-CN" altLang="en-US" sz="1400" dirty="0"/>
              <a:t>优势重客首单、各系统部解决方案前三单，按级别触发</a:t>
            </a:r>
            <a:r>
              <a:rPr lang="en-US" altLang="zh-CN" sz="1400" dirty="0"/>
              <a:t>BG</a:t>
            </a:r>
            <a:r>
              <a:rPr lang="zh-CN" altLang="en-US" sz="1400" dirty="0"/>
              <a:t>、</a:t>
            </a:r>
            <a:r>
              <a:rPr lang="en-US" altLang="zh-CN" sz="1400" dirty="0"/>
              <a:t>BU</a:t>
            </a:r>
            <a:r>
              <a:rPr lang="zh-CN" altLang="en-US" sz="1400" dirty="0"/>
              <a:t>级项目立项，成立专属重客项目铁三角团队，整合资源按标准流程执行；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重客前期沟通交流，资源流程保障，区域能力不足问题。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293591" y="2532112"/>
            <a:ext cx="5412993" cy="1693789"/>
            <a:chOff x="4876901" y="2359982"/>
            <a:chExt cx="6476721" cy="2271306"/>
          </a:xfrm>
        </p:grpSpPr>
        <p:sp>
          <p:nvSpPr>
            <p:cNvPr id="8" name="矩形 7"/>
            <p:cNvSpPr/>
            <p:nvPr/>
          </p:nvSpPr>
          <p:spPr>
            <a:xfrm>
              <a:off x="4876901" y="2621713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高质量技术交流</a:t>
              </a:r>
              <a:endParaRPr lang="zh-CN" altLang="en-US" sz="14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876901" y="3519787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需求洞察</a:t>
              </a:r>
              <a:endParaRPr lang="zh-CN" altLang="en-US" sz="14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546015" y="2978074"/>
              <a:ext cx="1431668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上报系统部</a:t>
              </a:r>
              <a:endParaRPr lang="zh-CN" altLang="en-US" sz="1400" dirty="0"/>
            </a:p>
          </p:txBody>
        </p:sp>
        <p:cxnSp>
          <p:nvCxnSpPr>
            <p:cNvPr id="11" name="肘形连接符 10"/>
            <p:cNvCxnSpPr>
              <a:stCxn id="8" idx="3"/>
              <a:endCxn id="34" idx="1"/>
            </p:cNvCxnSpPr>
            <p:nvPr/>
          </p:nvCxnSpPr>
          <p:spPr>
            <a:xfrm>
              <a:off x="6782765" y="2930759"/>
              <a:ext cx="763250" cy="3563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3" idx="3"/>
              <a:endCxn id="34" idx="1"/>
            </p:cNvCxnSpPr>
            <p:nvPr/>
          </p:nvCxnSpPr>
          <p:spPr>
            <a:xfrm flipV="1">
              <a:off x="6782765" y="3287120"/>
              <a:ext cx="763250" cy="5417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447758" y="2359982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行业营销拓展</a:t>
              </a:r>
              <a:endParaRPr lang="zh-CN" altLang="en-US" sz="14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9447758" y="3172700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解决方案</a:t>
              </a:r>
              <a:endParaRPr lang="zh-CN" altLang="en-US" sz="14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9447758" y="4013196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产品研发</a:t>
              </a:r>
              <a:endParaRPr lang="zh-CN" altLang="en-US" sz="1400" dirty="0"/>
            </a:p>
          </p:txBody>
        </p:sp>
        <p:cxnSp>
          <p:nvCxnSpPr>
            <p:cNvPr id="48" name="肘形连接符 47"/>
            <p:cNvCxnSpPr>
              <a:stCxn id="34" idx="3"/>
              <a:endCxn id="43" idx="1"/>
            </p:cNvCxnSpPr>
            <p:nvPr/>
          </p:nvCxnSpPr>
          <p:spPr>
            <a:xfrm flipV="1">
              <a:off x="8977683" y="2669028"/>
              <a:ext cx="470075" cy="6180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34" idx="3"/>
              <a:endCxn id="46" idx="1"/>
            </p:cNvCxnSpPr>
            <p:nvPr/>
          </p:nvCxnSpPr>
          <p:spPr>
            <a:xfrm>
              <a:off x="8977683" y="3287120"/>
              <a:ext cx="470075" cy="1946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34" idx="3"/>
              <a:endCxn id="47" idx="1"/>
            </p:cNvCxnSpPr>
            <p:nvPr/>
          </p:nvCxnSpPr>
          <p:spPr>
            <a:xfrm>
              <a:off x="8977683" y="3287120"/>
              <a:ext cx="470075" cy="1035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5236821" y="4665356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立项项目池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5236820" y="5416416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系统</a:t>
            </a:r>
            <a:r>
              <a:rPr lang="zh-CN" altLang="en-US" sz="1400" dirty="0" smtClean="0"/>
              <a:t>部重客首单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36819" y="6090061"/>
            <a:ext cx="1927910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系统部解决方案前三单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7704005" y="5408703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9699818" y="5408704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44" name="肘形连接符 43"/>
          <p:cNvCxnSpPr>
            <a:stCxn id="65" idx="3"/>
            <a:endCxn id="69" idx="1"/>
          </p:cNvCxnSpPr>
          <p:nvPr/>
        </p:nvCxnSpPr>
        <p:spPr>
          <a:xfrm>
            <a:off x="7164729" y="4895822"/>
            <a:ext cx="539276" cy="743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6" idx="3"/>
            <a:endCxn id="69" idx="1"/>
          </p:cNvCxnSpPr>
          <p:nvPr/>
        </p:nvCxnSpPr>
        <p:spPr>
          <a:xfrm flipV="1">
            <a:off x="7164729" y="5639169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stCxn id="68" idx="3"/>
            <a:endCxn id="69" idx="1"/>
          </p:cNvCxnSpPr>
          <p:nvPr/>
        </p:nvCxnSpPr>
        <p:spPr>
          <a:xfrm flipV="1">
            <a:off x="7164729" y="5639169"/>
            <a:ext cx="539276" cy="681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69" idx="3"/>
            <a:endCxn id="70" idx="1"/>
          </p:cNvCxnSpPr>
          <p:nvPr/>
        </p:nvCxnSpPr>
        <p:spPr>
          <a:xfrm>
            <a:off x="9160541" y="5639169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8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针对客户端</a:t>
            </a:r>
            <a:r>
              <a:rPr lang="en-US" altLang="zh-CN" sz="1400" dirty="0"/>
              <a:t>EC</a:t>
            </a:r>
            <a:r>
              <a:rPr lang="zh-CN" altLang="en-US" sz="1400" dirty="0"/>
              <a:t>类、</a:t>
            </a:r>
            <a:r>
              <a:rPr lang="en-US" altLang="zh-CN" sz="1400" dirty="0"/>
              <a:t>DC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信息反馈：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1</a:t>
            </a:r>
            <a:r>
              <a:rPr lang="zh-CN" altLang="en-US" sz="1400" dirty="0" smtClean="0"/>
              <a:t>、建议在</a:t>
            </a:r>
            <a:r>
              <a:rPr lang="en-US" altLang="zh-CN" sz="1400" dirty="0"/>
              <a:t>ML</a:t>
            </a:r>
            <a:r>
              <a:rPr lang="zh-CN" altLang="en-US" sz="14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、项目</a:t>
            </a:r>
            <a:r>
              <a:rPr lang="en-US" altLang="zh-CN" sz="1400" dirty="0"/>
              <a:t>MANT</a:t>
            </a:r>
            <a:r>
              <a:rPr lang="zh-CN" altLang="en-US" sz="1400" dirty="0"/>
              <a:t>明确后，进入漏斗内，第一时间触发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级立项，按照流程执行；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1" name="矩形 90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236819" y="2638885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EC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99" name="矩形 98"/>
          <p:cNvSpPr/>
          <p:nvPr/>
        </p:nvSpPr>
        <p:spPr>
          <a:xfrm>
            <a:off x="5236819" y="3353978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100" name="矩形 99"/>
          <p:cNvSpPr/>
          <p:nvPr/>
        </p:nvSpPr>
        <p:spPr>
          <a:xfrm>
            <a:off x="7573785" y="2953937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上报系统部</a:t>
            </a:r>
            <a:endParaRPr lang="zh-CN" altLang="en-US" sz="1400" dirty="0"/>
          </a:p>
        </p:txBody>
      </p:sp>
      <p:sp>
        <p:nvSpPr>
          <p:cNvPr id="101" name="矩形 100"/>
          <p:cNvSpPr/>
          <p:nvPr/>
        </p:nvSpPr>
        <p:spPr>
          <a:xfrm>
            <a:off x="9501693" y="248396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系统部拓展</a:t>
            </a:r>
            <a:endParaRPr lang="zh-CN" altLang="en-US" sz="1400" dirty="0"/>
          </a:p>
        </p:txBody>
      </p:sp>
      <p:cxnSp>
        <p:nvCxnSpPr>
          <p:cNvPr id="14" name="肘形连接符 13"/>
          <p:cNvCxnSpPr>
            <a:stCxn id="98" idx="3"/>
            <a:endCxn id="100" idx="1"/>
          </p:cNvCxnSpPr>
          <p:nvPr/>
        </p:nvCxnSpPr>
        <p:spPr>
          <a:xfrm>
            <a:off x="7164727" y="2869351"/>
            <a:ext cx="409058" cy="315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99" idx="3"/>
            <a:endCxn id="100" idx="1"/>
          </p:cNvCxnSpPr>
          <p:nvPr/>
        </p:nvCxnSpPr>
        <p:spPr>
          <a:xfrm flipV="1">
            <a:off x="7164727" y="3184403"/>
            <a:ext cx="409058" cy="400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9501693" y="297978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解决方案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9501693" y="347560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endParaRPr lang="zh-CN" altLang="en-US" sz="1400" dirty="0"/>
          </a:p>
        </p:txBody>
      </p:sp>
      <p:cxnSp>
        <p:nvCxnSpPr>
          <p:cNvPr id="105" name="肘形连接符 104"/>
          <p:cNvCxnSpPr>
            <a:stCxn id="100" idx="3"/>
            <a:endCxn id="101" idx="1"/>
          </p:cNvCxnSpPr>
          <p:nvPr/>
        </p:nvCxnSpPr>
        <p:spPr>
          <a:xfrm flipV="1">
            <a:off x="9030321" y="2681969"/>
            <a:ext cx="471372" cy="5024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0" idx="3"/>
            <a:endCxn id="103" idx="1"/>
          </p:cNvCxnSpPr>
          <p:nvPr/>
        </p:nvCxnSpPr>
        <p:spPr>
          <a:xfrm flipV="1">
            <a:off x="9030321" y="3177789"/>
            <a:ext cx="471372" cy="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100" idx="3"/>
            <a:endCxn id="104" idx="1"/>
          </p:cNvCxnSpPr>
          <p:nvPr/>
        </p:nvCxnSpPr>
        <p:spPr>
          <a:xfrm>
            <a:off x="9030321" y="3184403"/>
            <a:ext cx="471372" cy="489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9501693" y="3971430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客户体验部</a:t>
            </a:r>
            <a:endParaRPr lang="zh-CN" altLang="en-US" sz="1400" dirty="0"/>
          </a:p>
        </p:txBody>
      </p:sp>
      <p:cxnSp>
        <p:nvCxnSpPr>
          <p:cNvPr id="109" name="肘形连接符 108"/>
          <p:cNvCxnSpPr>
            <a:stCxn id="100" idx="3"/>
            <a:endCxn id="108" idx="1"/>
          </p:cNvCxnSpPr>
          <p:nvPr/>
        </p:nvCxnSpPr>
        <p:spPr>
          <a:xfrm>
            <a:off x="9030321" y="3184403"/>
            <a:ext cx="471372" cy="98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117672" y="5345404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商机填报（</a:t>
            </a:r>
            <a:r>
              <a:rPr lang="en-US" altLang="zh-CN" sz="1400" dirty="0" smtClean="0"/>
              <a:t>MANT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25" name="矩形 124"/>
          <p:cNvSpPr/>
          <p:nvPr/>
        </p:nvSpPr>
        <p:spPr>
          <a:xfrm>
            <a:off x="7584857" y="5337691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126" name="矩形 125"/>
          <p:cNvSpPr/>
          <p:nvPr/>
        </p:nvSpPr>
        <p:spPr>
          <a:xfrm>
            <a:off x="9580670" y="5337692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128" name="肘形连接符 127"/>
          <p:cNvCxnSpPr>
            <a:stCxn id="123" idx="3"/>
            <a:endCxn id="125" idx="1"/>
          </p:cNvCxnSpPr>
          <p:nvPr/>
        </p:nvCxnSpPr>
        <p:spPr>
          <a:xfrm flipV="1">
            <a:off x="7045581" y="5568157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25" idx="3"/>
            <a:endCxn id="126" idx="1"/>
          </p:cNvCxnSpPr>
          <p:nvPr/>
        </p:nvCxnSpPr>
        <p:spPr>
          <a:xfrm>
            <a:off x="9041393" y="5568157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等腰三角形 13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8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1773932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/>
              <a:t>OC</a:t>
            </a:r>
            <a:r>
              <a:rPr lang="zh-CN" altLang="en-US" sz="1400" dirty="0"/>
              <a:t>类项目，进漏斗触发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级立项，在</a:t>
            </a:r>
            <a:r>
              <a:rPr lang="en-US" altLang="zh-CN" sz="1400" dirty="0"/>
              <a:t>MO</a:t>
            </a:r>
            <a:r>
              <a:rPr lang="zh-CN" altLang="en-US" sz="1400" dirty="0"/>
              <a:t>流程</a:t>
            </a:r>
            <a:r>
              <a:rPr lang="en-US" altLang="zh-CN" sz="1400" dirty="0"/>
              <a:t>L3”</a:t>
            </a:r>
            <a:r>
              <a:rPr lang="zh-CN" altLang="en-US" sz="1400" dirty="0"/>
              <a:t>制定与执行投标策略“”谈判并签订合同“流程中，加入基于销管、信控、法务、财务、交付等参与决策的评审流程，标准化执行；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1773589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133592" y="4187549"/>
            <a:ext cx="2263829" cy="23438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1" y="2206625"/>
            <a:ext cx="8076236" cy="4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9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通过客户计划覆盖和信息收集，持续运转，提升对客户业务、需求、愿景的理解专业性，基于客户端</a:t>
            </a:r>
            <a:r>
              <a:rPr lang="en-US" altLang="zh-CN" sz="1400" dirty="0"/>
              <a:t>FOP</a:t>
            </a:r>
            <a:r>
              <a:rPr lang="zh-CN" altLang="en-US" sz="1400" dirty="0"/>
              <a:t>进行分析与制定策略；</a:t>
            </a:r>
            <a:r>
              <a:rPr lang="en-US" altLang="zh-CN" sz="1400" dirty="0"/>
              <a:t>EBG</a:t>
            </a:r>
            <a:r>
              <a:rPr lang="zh-CN" altLang="en-US" sz="1400" dirty="0"/>
              <a:t>市场、解决方案、客户体验、产品研发部门建立客户端中高层拜访资源池，供重客负责团队按需调用；</a:t>
            </a:r>
            <a:endParaRPr lang="zh-CN" altLang="en-US" sz="1400" b="1" dirty="0"/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的客户运营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计划及对等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沟通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</a:t>
            </a:r>
            <a:endParaRPr lang="zh-CN" altLang="en-US" sz="14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192676" y="4131490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85" y="2254168"/>
            <a:ext cx="5129575" cy="2221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985" y="4475242"/>
            <a:ext cx="5129575" cy="204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2976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r>
              <a:rPr lang="zh-CN" altLang="en-US" sz="1400" dirty="0"/>
              <a:t>建议在</a:t>
            </a:r>
            <a:r>
              <a:rPr lang="en-US" altLang="zh-CN" sz="1400" dirty="0"/>
              <a:t>IPD</a:t>
            </a:r>
            <a:r>
              <a:rPr lang="zh-CN" altLang="en-US" sz="14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2972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687721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4191073" y="2356178"/>
            <a:ext cx="7209989" cy="4114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497487" y="3215291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重</a:t>
            </a:r>
            <a:r>
              <a:rPr lang="zh-CN" altLang="en-US" sz="1400" dirty="0" smtClean="0"/>
              <a:t>客影响分析评审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4817120" y="3215291"/>
            <a:ext cx="792000" cy="194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r>
              <a:rPr lang="en-US" altLang="zh-CN" sz="1400" dirty="0" smtClean="0"/>
              <a:t>IPD</a:t>
            </a:r>
            <a:r>
              <a:rPr lang="zh-CN" altLang="en-US" sz="1400" dirty="0" smtClean="0"/>
              <a:t>退市子流程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产品停产，退市预警</a:t>
            </a:r>
            <a:endParaRPr lang="zh-CN" altLang="en-US" sz="1400" dirty="0"/>
          </a:p>
        </p:txBody>
      </p:sp>
      <p:sp>
        <p:nvSpPr>
          <p:cNvPr id="45" name="矩形 44"/>
          <p:cNvSpPr/>
          <p:nvPr/>
        </p:nvSpPr>
        <p:spPr>
          <a:xfrm>
            <a:off x="9858222" y="3215291"/>
            <a:ext cx="792000" cy="1944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重客认可</a:t>
            </a:r>
            <a:endParaRPr lang="zh-CN" altLang="en-US" sz="1400" dirty="0"/>
          </a:p>
        </p:txBody>
      </p:sp>
      <p:sp>
        <p:nvSpPr>
          <p:cNvPr id="2" name="右箭头 1"/>
          <p:cNvSpPr/>
          <p:nvPr/>
        </p:nvSpPr>
        <p:spPr>
          <a:xfrm>
            <a:off x="5805587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9142369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7854" y="3239709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输出预案并进行客户沟通</a:t>
            </a:r>
            <a:endParaRPr lang="zh-CN" altLang="en-US" sz="1400" dirty="0"/>
          </a:p>
        </p:txBody>
      </p:sp>
      <p:sp>
        <p:nvSpPr>
          <p:cNvPr id="51" name="右箭头 50"/>
          <p:cNvSpPr/>
          <p:nvPr/>
        </p:nvSpPr>
        <p:spPr>
          <a:xfrm>
            <a:off x="7485551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产品退市、停产对重客影响案例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" y="1168333"/>
            <a:ext cx="6744284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69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1469</Words>
  <Application>Microsoft Office PowerPoint</Application>
  <PresentationFormat>宽屏</PresentationFormat>
  <Paragraphs>173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OPPOSans B</vt:lpstr>
      <vt:lpstr>OPPOSans M</vt:lpstr>
      <vt:lpstr>OPPOSans R</vt:lpstr>
      <vt:lpstr>等线</vt:lpstr>
      <vt:lpstr>等线 Light</vt:lpstr>
      <vt:lpstr>宋体</vt:lpstr>
      <vt:lpstr>微软雅黑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30</cp:revision>
  <dcterms:created xsi:type="dcterms:W3CDTF">2025-05-17T07:29:00Z</dcterms:created>
  <dcterms:modified xsi:type="dcterms:W3CDTF">2025-05-21T06:24:04Z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CC50D88284534345BA152804333C22B7_13</vt:lpwstr>
  </property>
  <property fmtid="{D5CDD505-2E9C-101B-9397-08002B2CF9AE}" pid="3" name="KSOProductBuildVer">
    <vt:lpwstr>2052-12.1.0.21171</vt:lpwstr>
  </property>
</Properties>
</file>