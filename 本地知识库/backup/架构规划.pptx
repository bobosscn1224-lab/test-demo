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56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0" d="100"/>
          <a:sy n="110" d="100"/>
        </p:scale>
        <p:origin x="55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305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676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644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0574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805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20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12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02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011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3230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24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3476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think-cell Slide" r:id="rId5" imgW="347" imgH="346" progId="TCLayout.ActiveDocument.1">
                  <p:embed/>
                </p:oleObj>
              </mc:Choice>
              <mc:Fallback>
                <p:oleObj name="think-cell Slide" r:id="rId5" imgW="347" imgH="34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="" xmlns:a16="http://schemas.microsoft.com/office/drawing/2014/main" id="{F2A09FAF-36FC-448E-890E-061F32680BAE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b="0" i="0" baseline="0">
              <a:solidFill>
                <a:schemeClr val="tx1"/>
              </a:solidFill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5" name="doc id" hidden="1"/>
          <p:cNvSpPr>
            <a:spLocks noChangeArrowheads="1"/>
          </p:cNvSpPr>
          <p:nvPr userDrawn="1"/>
        </p:nvSpPr>
        <p:spPr bwMode="gray">
          <a:xfrm flipH="1">
            <a:off x="10658003" y="51835"/>
            <a:ext cx="1231563" cy="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r" defTabSz="1218026"/>
            <a:endParaRPr lang="x-none" sz="612" baseline="0" noProof="0">
              <a:solidFill>
                <a:schemeClr val="accent6"/>
              </a:solidFill>
              <a:latin typeface="+mn-lt"/>
              <a:ea typeface="+mn-ea"/>
            </a:endParaRPr>
          </a:p>
        </p:txBody>
      </p:sp>
      <p:sp>
        <p:nvSpPr>
          <p:cNvPr id="8" name="Title">
            <a:extLst>
              <a:ext uri="{FF2B5EF4-FFF2-40B4-BE49-F238E27FC236}">
                <a16:creationId xmlns="" xmlns:a16="http://schemas.microsoft.com/office/drawing/2014/main" id="{EB316068-E143-4E28-B21E-06E4422B5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gray">
          <a:xfrm>
            <a:off x="233258" y="234866"/>
            <a:ext cx="1172548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/>
              <a:t>Click to edit Master title style</a:t>
            </a:r>
            <a:endParaRPr lang="x-none" noProof="0"/>
          </a:p>
        </p:txBody>
      </p:sp>
    </p:spTree>
    <p:extLst>
      <p:ext uri="{BB962C8B-B14F-4D97-AF65-F5344CB8AC3E}">
        <p14:creationId xmlns:p14="http://schemas.microsoft.com/office/powerpoint/2010/main" val="34413880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489">
          <p15:clr>
            <a:srgbClr val="F26B43"/>
          </p15:clr>
        </p15:guide>
        <p15:guide id="2" pos="101">
          <p15:clr>
            <a:srgbClr val="F26B43"/>
          </p15:clr>
        </p15:guide>
        <p15:guide id="3" orient="horz" pos="701">
          <p15:clr>
            <a:srgbClr val="F26B43"/>
          </p15:clr>
        </p15:guide>
        <p15:guide id="4" orient="horz" pos="3991">
          <p15:clr>
            <a:srgbClr val="F26B43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98E00-EE51-4045-B933-7319A988C347}" type="datetimeFigureOut">
              <a:rPr lang="zh-CN" altLang="en-US" smtClean="0"/>
              <a:t>2025/4/17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BCD594-3223-4227-839A-5E9779FD5A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6547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ectangle 234"/>
          <p:cNvSpPr/>
          <p:nvPr/>
        </p:nvSpPr>
        <p:spPr>
          <a:xfrm>
            <a:off x="1239081" y="1904251"/>
            <a:ext cx="10743010" cy="2314065"/>
          </a:xfrm>
          <a:prstGeom prst="rect">
            <a:avLst/>
          </a:prstGeom>
          <a:solidFill>
            <a:srgbClr val="FF6A00">
              <a:lumMod val="20000"/>
              <a:lumOff val="80000"/>
            </a:srgbClr>
          </a:solidFill>
          <a:ln w="9525" algn="ctr">
            <a:solidFill>
              <a:srgbClr val="808080"/>
            </a:solidFill>
            <a:round/>
          </a:ln>
          <a:effectLst/>
        </p:spPr>
        <p:txBody>
          <a:bodyPr wrap="square" lIns="73095" tIns="73095" rIns="73095" bIns="73095" anchor="ctr">
            <a:noAutofit/>
          </a:bodyPr>
          <a:lstStyle/>
          <a:p>
            <a:pPr marL="0" marR="0" lvl="0" indent="0" algn="l" defTabSz="121819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3857" y="220217"/>
            <a:ext cx="46589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 err="1" smtClean="0">
                <a:latin typeface="微软雅黑"/>
                <a:cs typeface="微软雅黑"/>
              </a:rPr>
              <a:t>端到端整体业务方案架</a:t>
            </a:r>
            <a:r>
              <a:rPr sz="2800" b="1" spc="-50" dirty="0" err="1" smtClean="0">
                <a:latin typeface="微软雅黑"/>
                <a:cs typeface="微软雅黑"/>
              </a:rPr>
              <a:t>构</a:t>
            </a:r>
            <a:endParaRPr sz="2800" dirty="0">
              <a:latin typeface="微软雅黑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  <p:grpSp>
        <p:nvGrpSpPr>
          <p:cNvPr id="98" name="Group 220"/>
          <p:cNvGrpSpPr/>
          <p:nvPr/>
        </p:nvGrpSpPr>
        <p:grpSpPr>
          <a:xfrm>
            <a:off x="1349649" y="1192003"/>
            <a:ext cx="10523175" cy="550923"/>
            <a:chOff x="1764637" y="866353"/>
            <a:chExt cx="11157859" cy="551067"/>
          </a:xfrm>
          <a:solidFill>
            <a:schemeClr val="accent4">
              <a:lumMod val="60000"/>
              <a:lumOff val="40000"/>
            </a:schemeClr>
          </a:solidFill>
        </p:grpSpPr>
        <p:sp>
          <p:nvSpPr>
            <p:cNvPr id="99" name="Chevron 221"/>
            <p:cNvSpPr/>
            <p:nvPr/>
          </p:nvSpPr>
          <p:spPr>
            <a:xfrm>
              <a:off x="3153830" y="872629"/>
              <a:ext cx="1463803" cy="54198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100" b="1" kern="0" dirty="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线索管理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0" name="Chevron 222"/>
            <p:cNvSpPr/>
            <p:nvPr/>
          </p:nvSpPr>
          <p:spPr>
            <a:xfrm>
              <a:off x="4380045" y="871347"/>
              <a:ext cx="1626782" cy="53891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商机到合同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1" name="Chevron 223"/>
            <p:cNvSpPr/>
            <p:nvPr/>
          </p:nvSpPr>
          <p:spPr>
            <a:xfrm>
              <a:off x="5748223" y="871347"/>
              <a:ext cx="1772260" cy="54431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订单管理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2" name="Chevron 224"/>
            <p:cNvSpPr/>
            <p:nvPr/>
          </p:nvSpPr>
          <p:spPr>
            <a:xfrm>
              <a:off x="7285106" y="869931"/>
              <a:ext cx="1457906" cy="54658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生产计划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3" name="Chevron 225"/>
            <p:cNvSpPr/>
            <p:nvPr/>
          </p:nvSpPr>
          <p:spPr>
            <a:xfrm>
              <a:off x="8524434" y="870381"/>
              <a:ext cx="1284162" cy="539883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4" name="Chevron 226"/>
            <p:cNvSpPr/>
            <p:nvPr/>
          </p:nvSpPr>
          <p:spPr>
            <a:xfrm>
              <a:off x="9575045" y="870380"/>
              <a:ext cx="1368179" cy="54703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物资发货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5" name="Chevron 227"/>
            <p:cNvSpPr/>
            <p:nvPr/>
          </p:nvSpPr>
          <p:spPr>
            <a:xfrm>
              <a:off x="10691936" y="866353"/>
              <a:ext cx="1195455" cy="551067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财务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6" name="Chevron 228"/>
            <p:cNvSpPr/>
            <p:nvPr/>
          </p:nvSpPr>
          <p:spPr>
            <a:xfrm>
              <a:off x="11648055" y="870380"/>
              <a:ext cx="1274441" cy="54703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服务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08" name="Chevron 230"/>
            <p:cNvSpPr/>
            <p:nvPr/>
          </p:nvSpPr>
          <p:spPr>
            <a:xfrm>
              <a:off x="1764637" y="873856"/>
              <a:ext cx="1613666" cy="541989"/>
            </a:xfrm>
            <a:prstGeom prst="chevron">
              <a:avLst/>
            </a:prstGeom>
            <a:solidFill>
              <a:schemeClr val="accent6">
                <a:lumMod val="60000"/>
                <a:lumOff val="4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126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客户管理</a:t>
              </a:r>
              <a:endParaRPr kumimoji="0" 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09" name="矩形 108"/>
          <p:cNvSpPr/>
          <p:nvPr/>
        </p:nvSpPr>
        <p:spPr>
          <a:xfrm>
            <a:off x="220427" y="1904251"/>
            <a:ext cx="901007" cy="2314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P1</a:t>
            </a:r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>
            <a:off x="220426" y="4399471"/>
            <a:ext cx="901007" cy="18972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P2</a:t>
            </a:r>
            <a:endParaRPr lang="zh-CN" altLang="en-US" dirty="0"/>
          </a:p>
        </p:txBody>
      </p:sp>
      <p:grpSp>
        <p:nvGrpSpPr>
          <p:cNvPr id="111" name="Group 217"/>
          <p:cNvGrpSpPr/>
          <p:nvPr/>
        </p:nvGrpSpPr>
        <p:grpSpPr>
          <a:xfrm>
            <a:off x="1545195" y="1987048"/>
            <a:ext cx="821253" cy="562939"/>
            <a:chOff x="1045221" y="1797823"/>
            <a:chExt cx="909599" cy="793856"/>
          </a:xfrm>
        </p:grpSpPr>
        <p:sp>
          <p:nvSpPr>
            <p:cNvPr id="112" name="Rectangle 91"/>
            <p:cNvSpPr>
              <a:spLocks noChangeArrowheads="1"/>
            </p:cNvSpPr>
            <p:nvPr/>
          </p:nvSpPr>
          <p:spPr bwMode="auto">
            <a:xfrm>
              <a:off x="1045221" y="2105679"/>
              <a:ext cx="882731" cy="48600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客户信息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销售锁定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4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客户管理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4" name="Group 247"/>
          <p:cNvGrpSpPr/>
          <p:nvPr/>
        </p:nvGrpSpPr>
        <p:grpSpPr>
          <a:xfrm>
            <a:off x="4040361" y="2017165"/>
            <a:ext cx="820640" cy="581408"/>
            <a:chOff x="1045898" y="1797823"/>
            <a:chExt cx="908920" cy="819899"/>
          </a:xfrm>
        </p:grpSpPr>
        <p:sp>
          <p:nvSpPr>
            <p:cNvPr id="115" name="Rectangle 91"/>
            <p:cNvSpPr>
              <a:spLocks noChangeArrowheads="1"/>
            </p:cNvSpPr>
            <p:nvPr/>
          </p:nvSpPr>
          <p:spPr bwMode="auto">
            <a:xfrm>
              <a:off x="1045898" y="2131721"/>
              <a:ext cx="901545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销售商机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商机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立项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6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48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商机管理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17" name="Group 247"/>
          <p:cNvGrpSpPr/>
          <p:nvPr/>
        </p:nvGrpSpPr>
        <p:grpSpPr>
          <a:xfrm>
            <a:off x="2794137" y="2001293"/>
            <a:ext cx="821254" cy="581409"/>
            <a:chOff x="1045220" y="1797823"/>
            <a:chExt cx="909600" cy="819901"/>
          </a:xfrm>
        </p:grpSpPr>
        <p:sp>
          <p:nvSpPr>
            <p:cNvPr id="118" name="Rectangle 91"/>
            <p:cNvSpPr>
              <a:spLocks noChangeArrowheads="1"/>
            </p:cNvSpPr>
            <p:nvPr/>
          </p:nvSpPr>
          <p:spPr bwMode="auto">
            <a:xfrm>
              <a:off x="1045220" y="2131722"/>
              <a:ext cx="882731" cy="486002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noProof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营销线索</a:t>
              </a:r>
              <a:endParaRPr lang="en-US" altLang="zh-CN" sz="1000" kern="0" noProof="0" dirty="0" smtClean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销售线索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9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线索管理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20" name="Elbow Connector 250"/>
          <p:cNvCxnSpPr>
            <a:stCxn id="112" idx="3"/>
            <a:endCxn id="118" idx="1"/>
          </p:cNvCxnSpPr>
          <p:nvPr/>
        </p:nvCxnSpPr>
        <p:spPr>
          <a:xfrm>
            <a:off x="2342190" y="2377671"/>
            <a:ext cx="451947" cy="3271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30" name="Elbow Connector 250"/>
          <p:cNvCxnSpPr>
            <a:stCxn id="118" idx="3"/>
            <a:endCxn id="115" idx="1"/>
          </p:cNvCxnSpPr>
          <p:nvPr/>
        </p:nvCxnSpPr>
        <p:spPr>
          <a:xfrm>
            <a:off x="3591132" y="2410385"/>
            <a:ext cx="449229" cy="158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33" name="Group 251"/>
          <p:cNvGrpSpPr/>
          <p:nvPr/>
        </p:nvGrpSpPr>
        <p:grpSpPr>
          <a:xfrm>
            <a:off x="4028231" y="2795997"/>
            <a:ext cx="821253" cy="572175"/>
            <a:chOff x="1045221" y="1797822"/>
            <a:chExt cx="909599" cy="806879"/>
          </a:xfrm>
        </p:grpSpPr>
        <p:sp>
          <p:nvSpPr>
            <p:cNvPr id="134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立项管理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特价审批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5" name="Text Box 9"/>
            <p:cNvSpPr txBox="1">
              <a:spLocks noChangeArrowheads="1"/>
            </p:cNvSpPr>
            <p:nvPr/>
          </p:nvSpPr>
          <p:spPr bwMode="auto">
            <a:xfrm>
              <a:off x="1049570" y="1797822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CPQ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36" name="Elbow Connector 250"/>
          <p:cNvCxnSpPr>
            <a:stCxn id="115" idx="2"/>
            <a:endCxn id="135" idx="0"/>
          </p:cNvCxnSpPr>
          <p:nvPr/>
        </p:nvCxnSpPr>
        <p:spPr>
          <a:xfrm rot="5400000">
            <a:off x="4345375" y="2694020"/>
            <a:ext cx="197424" cy="653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40" name="Group 251"/>
          <p:cNvGrpSpPr/>
          <p:nvPr/>
        </p:nvGrpSpPr>
        <p:grpSpPr>
          <a:xfrm>
            <a:off x="4016103" y="3552699"/>
            <a:ext cx="821253" cy="572174"/>
            <a:chOff x="1045221" y="1797823"/>
            <a:chExt cx="909599" cy="806878"/>
          </a:xfrm>
        </p:grpSpPr>
        <p:sp>
          <p:nvSpPr>
            <p:cNvPr id="141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合同签署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订单申请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2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合同管理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44" name="Elbow Connector 250"/>
          <p:cNvCxnSpPr>
            <a:stCxn id="134" idx="2"/>
            <a:endCxn id="142" idx="0"/>
          </p:cNvCxnSpPr>
          <p:nvPr/>
        </p:nvCxnSpPr>
        <p:spPr>
          <a:xfrm rot="16200000" flipH="1">
            <a:off x="4335448" y="3459453"/>
            <a:ext cx="184527" cy="1964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47" name="Group 251"/>
          <p:cNvGrpSpPr/>
          <p:nvPr/>
        </p:nvGrpSpPr>
        <p:grpSpPr>
          <a:xfrm>
            <a:off x="5430836" y="2010528"/>
            <a:ext cx="821253" cy="572174"/>
            <a:chOff x="1045221" y="1797823"/>
            <a:chExt cx="909599" cy="806878"/>
          </a:xfrm>
        </p:grpSpPr>
        <p:sp>
          <p:nvSpPr>
            <p:cNvPr id="148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订单下单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订单交付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9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订单管理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52" name="Elbow Connector 250"/>
          <p:cNvCxnSpPr>
            <a:stCxn id="141" idx="3"/>
            <a:endCxn id="148" idx="1"/>
          </p:cNvCxnSpPr>
          <p:nvPr/>
        </p:nvCxnSpPr>
        <p:spPr>
          <a:xfrm flipV="1">
            <a:off x="4813098" y="2410386"/>
            <a:ext cx="617738" cy="154217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55" name="Group 251"/>
          <p:cNvGrpSpPr/>
          <p:nvPr/>
        </p:nvGrpSpPr>
        <p:grpSpPr>
          <a:xfrm>
            <a:off x="6778090" y="1987048"/>
            <a:ext cx="821253" cy="572174"/>
            <a:chOff x="1045221" y="1797823"/>
            <a:chExt cx="909599" cy="806878"/>
          </a:xfrm>
        </p:grpSpPr>
        <p:sp>
          <p:nvSpPr>
            <p:cNvPr id="156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需求预测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产能与排产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7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生产计划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58" name="Group 251"/>
          <p:cNvGrpSpPr/>
          <p:nvPr/>
        </p:nvGrpSpPr>
        <p:grpSpPr>
          <a:xfrm>
            <a:off x="6778090" y="2909768"/>
            <a:ext cx="821253" cy="572174"/>
            <a:chOff x="1045221" y="1797823"/>
            <a:chExt cx="909599" cy="806878"/>
          </a:xfrm>
        </p:grpSpPr>
        <p:sp>
          <p:nvSpPr>
            <p:cNvPr id="159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供应商管理</a:t>
              </a:r>
              <a:endParaRPr lang="en-US" altLang="zh-CN" sz="1000" kern="0" noProof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采购合同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60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采购管理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61" name="Elbow Connector 250"/>
          <p:cNvCxnSpPr>
            <a:stCxn id="148" idx="3"/>
            <a:endCxn id="156" idx="1"/>
          </p:cNvCxnSpPr>
          <p:nvPr/>
        </p:nvCxnSpPr>
        <p:spPr>
          <a:xfrm flipV="1">
            <a:off x="6227831" y="2386906"/>
            <a:ext cx="550259" cy="23480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65" name="Elbow Connector 250"/>
          <p:cNvCxnSpPr>
            <a:stCxn id="156" idx="2"/>
            <a:endCxn id="160" idx="0"/>
          </p:cNvCxnSpPr>
          <p:nvPr/>
        </p:nvCxnSpPr>
        <p:spPr>
          <a:xfrm rot="16200000" flipH="1">
            <a:off x="7008361" y="2727449"/>
            <a:ext cx="350546" cy="14092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68" name="Group 251"/>
          <p:cNvGrpSpPr/>
          <p:nvPr/>
        </p:nvGrpSpPr>
        <p:grpSpPr>
          <a:xfrm>
            <a:off x="7931078" y="2001293"/>
            <a:ext cx="821253" cy="572174"/>
            <a:chOff x="1045221" y="1797823"/>
            <a:chExt cx="909599" cy="806878"/>
          </a:xfrm>
        </p:grpSpPr>
        <p:sp>
          <p:nvSpPr>
            <p:cNvPr id="169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计划调度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生产管理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0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2" name="Elbow Connector 250"/>
          <p:cNvCxnSpPr>
            <a:stCxn id="159" idx="3"/>
            <a:endCxn id="169" idx="1"/>
          </p:cNvCxnSpPr>
          <p:nvPr/>
        </p:nvCxnSpPr>
        <p:spPr>
          <a:xfrm flipV="1">
            <a:off x="7575085" y="2401151"/>
            <a:ext cx="355993" cy="908475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75" name="Group 251"/>
          <p:cNvGrpSpPr/>
          <p:nvPr/>
        </p:nvGrpSpPr>
        <p:grpSpPr>
          <a:xfrm>
            <a:off x="8822437" y="2795996"/>
            <a:ext cx="1077047" cy="575466"/>
            <a:chOff x="1045221" y="1793180"/>
            <a:chExt cx="882731" cy="811521"/>
          </a:xfrm>
        </p:grpSpPr>
        <p:sp>
          <p:nvSpPr>
            <p:cNvPr id="176" name="Rectangle 91"/>
            <p:cNvSpPr>
              <a:spLocks noChangeArrowheads="1"/>
            </p:cNvSpPr>
            <p:nvPr/>
          </p:nvSpPr>
          <p:spPr bwMode="auto">
            <a:xfrm>
              <a:off x="1045221" y="2118700"/>
              <a:ext cx="882731" cy="486001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WMS</a:t>
              </a: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noProof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物流管理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77" name="Text Box 9"/>
            <p:cNvSpPr txBox="1">
              <a:spLocks noChangeArrowheads="1"/>
            </p:cNvSpPr>
            <p:nvPr/>
          </p:nvSpPr>
          <p:spPr bwMode="auto">
            <a:xfrm>
              <a:off x="1045221" y="1793180"/>
              <a:ext cx="882731" cy="32551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仓储物流管理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78" name="Elbow Connector 250"/>
          <p:cNvCxnSpPr>
            <a:stCxn id="169" idx="3"/>
            <a:endCxn id="177" idx="0"/>
          </p:cNvCxnSpPr>
          <p:nvPr/>
        </p:nvCxnSpPr>
        <p:spPr>
          <a:xfrm>
            <a:off x="8728073" y="2401151"/>
            <a:ext cx="632888" cy="394845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grpSp>
        <p:nvGrpSpPr>
          <p:cNvPr id="181" name="Group 251"/>
          <p:cNvGrpSpPr/>
          <p:nvPr/>
        </p:nvGrpSpPr>
        <p:grpSpPr>
          <a:xfrm>
            <a:off x="9944716" y="2011542"/>
            <a:ext cx="1884208" cy="656231"/>
            <a:chOff x="1045221" y="1797823"/>
            <a:chExt cx="2086901" cy="925416"/>
          </a:xfrm>
        </p:grpSpPr>
        <p:sp>
          <p:nvSpPr>
            <p:cNvPr id="182" name="Rectangle 91"/>
            <p:cNvSpPr>
              <a:spLocks noChangeArrowheads="1"/>
            </p:cNvSpPr>
            <p:nvPr/>
          </p:nvSpPr>
          <p:spPr bwMode="auto">
            <a:xfrm>
              <a:off x="1045221" y="2118701"/>
              <a:ext cx="882731" cy="59592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收入</a:t>
              </a:r>
              <a:r>
                <a:rPr lang="en-US" altLang="zh-CN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000" b="0" i="0" u="none" strike="noStrike" kern="0" cap="none" spc="0" normalizeH="0" baseline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成本</a:t>
              </a:r>
              <a:endParaRPr kumimoji="0" lang="en-US" altLang="zh-CN" sz="1000" b="0" i="0" u="none" strike="noStrike" kern="0" cap="none" spc="0" normalizeH="0" baseline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开票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3" name="Text Box 9"/>
            <p:cNvSpPr txBox="1">
              <a:spLocks noChangeArrowheads="1"/>
            </p:cNvSpPr>
            <p:nvPr/>
          </p:nvSpPr>
          <p:spPr bwMode="auto">
            <a:xfrm>
              <a:off x="1049570" y="179782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财务管理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88" name="Rectangle 91"/>
            <p:cNvSpPr>
              <a:spLocks noChangeArrowheads="1"/>
            </p:cNvSpPr>
            <p:nvPr/>
          </p:nvSpPr>
          <p:spPr bwMode="auto">
            <a:xfrm>
              <a:off x="2238131" y="2127319"/>
              <a:ext cx="882731" cy="595920"/>
            </a:xfrm>
            <a:prstGeom prst="rect">
              <a:avLst/>
            </a:prstGeom>
            <a:solidFill>
              <a:sysClr val="window" lastClr="FFFFFF"/>
            </a:solidFill>
            <a:ln w="9525" algn="ctr">
              <a:solidFill>
                <a:srgbClr val="000000"/>
              </a:solidFill>
              <a:round/>
            </a:ln>
            <a:effectLst/>
          </p:spPr>
          <p:txBody>
            <a:bodyPr wrap="square" lIns="73095" tIns="73095" rIns="73095" bIns="73095" anchor="ctr">
              <a:noAutofit/>
            </a:bodyPr>
            <a:lstStyle/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维保</a:t>
              </a:r>
              <a:endParaRPr kumimoji="0" lang="en-US" altLang="zh-CN" sz="10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121819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000" kern="0" dirty="0" smtClean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增值服务</a:t>
              </a:r>
              <a:endParaRPr kumimoji="0" lang="en-US" altLang="zh-TW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89" name="Text Box 9"/>
            <p:cNvSpPr txBox="1">
              <a:spLocks noChangeArrowheads="1"/>
            </p:cNvSpPr>
            <p:nvPr/>
          </p:nvSpPr>
          <p:spPr bwMode="auto">
            <a:xfrm>
              <a:off x="2226872" y="1816933"/>
              <a:ext cx="905250" cy="325435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defTabSz="1219200">
                <a:defRPr sz="11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09600" defTabSz="1219200">
                <a:defRPr sz="2400"/>
              </a:lvl2pPr>
              <a:lvl3pPr marL="1219200" defTabSz="1219200">
                <a:defRPr sz="2400"/>
              </a:lvl3pPr>
              <a:lvl4pPr marL="1828165" defTabSz="1219200">
                <a:defRPr sz="2400"/>
              </a:lvl4pPr>
              <a:lvl5pPr marL="2437765" defTabSz="1219200">
                <a:defRPr sz="2400"/>
              </a:lvl5pPr>
              <a:lvl6pPr marL="3047365" defTabSz="1219200">
                <a:defRPr sz="2400"/>
              </a:lvl6pPr>
              <a:lvl7pPr marL="3656965" defTabSz="1219200">
                <a:defRPr sz="2400"/>
              </a:lvl7pPr>
              <a:lvl8pPr marL="4266565" defTabSz="1219200">
                <a:defRPr sz="2400"/>
              </a:lvl8pPr>
              <a:lvl9pPr marL="4876165" defTabSz="1219200">
                <a:defRPr sz="2400"/>
              </a:lvl9pPr>
            </a:lstStyle>
            <a:p>
              <a:pPr marL="0" marR="0" lvl="0" indent="0" algn="l" defTabSz="1218834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9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服务管理</a:t>
              </a:r>
              <a:endPara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cxnSp>
        <p:nvCxnSpPr>
          <p:cNvPr id="184" name="Elbow Connector 250"/>
          <p:cNvCxnSpPr>
            <a:stCxn id="176" idx="3"/>
            <a:endCxn id="182" idx="2"/>
          </p:cNvCxnSpPr>
          <p:nvPr/>
        </p:nvCxnSpPr>
        <p:spPr>
          <a:xfrm flipV="1">
            <a:off x="9899484" y="2661663"/>
            <a:ext cx="443730" cy="537483"/>
          </a:xfrm>
          <a:prstGeom prst="bentConnector2">
            <a:avLst/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  <p:cxnSp>
        <p:nvCxnSpPr>
          <p:cNvPr id="190" name="Elbow Connector 250"/>
          <p:cNvCxnSpPr>
            <a:stCxn id="182" idx="3"/>
            <a:endCxn id="188" idx="1"/>
          </p:cNvCxnSpPr>
          <p:nvPr/>
        </p:nvCxnSpPr>
        <p:spPr>
          <a:xfrm>
            <a:off x="10741711" y="2450373"/>
            <a:ext cx="280052" cy="6111"/>
          </a:xfrm>
          <a:prstGeom prst="bentConnector3">
            <a:avLst>
              <a:gd name="adj1" fmla="val 50000"/>
            </a:avLst>
          </a:prstGeom>
          <a:noFill/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64002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274280" y="4471782"/>
            <a:ext cx="2793391" cy="22856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矩形 96"/>
          <p:cNvSpPr/>
          <p:nvPr/>
        </p:nvSpPr>
        <p:spPr>
          <a:xfrm>
            <a:off x="339483" y="4737088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6348" y="17583"/>
            <a:ext cx="465899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zh-CN" altLang="en-US" sz="2400" b="1" spc="-3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国内营销流程框架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9113139" y="0"/>
            <a:ext cx="1003300" cy="189154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需求</a:t>
            </a:r>
            <a:endParaRPr sz="9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89" name="object 89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0134981" y="0"/>
            <a:ext cx="1014730" cy="189154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架构业界趋势</a:t>
            </a:r>
            <a:endParaRPr sz="9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1168253" y="0"/>
            <a:ext cx="1001394" cy="189154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/>
              </a:rPr>
              <a:t>应用架构设计</a:t>
            </a:r>
            <a:endParaRPr sz="900">
              <a:latin typeface="微软雅黑" panose="020B0503020204020204" pitchFamily="34" charset="-122"/>
              <a:ea typeface="微软雅黑" panose="020B0503020204020204" pitchFamily="34" charset="-122"/>
              <a:cs typeface="黑体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78993" y="530525"/>
            <a:ext cx="2793391" cy="3904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8993" y="530525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市场规划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9483" y="807524"/>
            <a:ext cx="2620518" cy="104817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265423" y="784464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市场分析与调研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02920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市场宏观消费分析研究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矩形 72"/>
          <p:cNvSpPr/>
          <p:nvPr/>
        </p:nvSpPr>
        <p:spPr>
          <a:xfrm>
            <a:off x="1683092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渠道终端需求分析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402920" y="139514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市场竞争分析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316661" y="1919652"/>
            <a:ext cx="2620518" cy="13137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74819" y="1912776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市场策略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矩形 78"/>
          <p:cNvSpPr/>
          <p:nvPr/>
        </p:nvSpPr>
        <p:spPr>
          <a:xfrm>
            <a:off x="402920" y="49698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市场活动准备与宣贯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矩形 79"/>
          <p:cNvSpPr/>
          <p:nvPr/>
        </p:nvSpPr>
        <p:spPr>
          <a:xfrm>
            <a:off x="1683092" y="49698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市场活动供应商选择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矩形 80"/>
          <p:cNvSpPr/>
          <p:nvPr/>
        </p:nvSpPr>
        <p:spPr>
          <a:xfrm>
            <a:off x="402920" y="5315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广告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宣传物料制作与投放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1683092" y="531593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终端活动现场管理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402920" y="287181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市场资源配置规划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326376" y="3299953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252315" y="3279896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市场活动规划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矩形 85"/>
          <p:cNvSpPr/>
          <p:nvPr/>
        </p:nvSpPr>
        <p:spPr>
          <a:xfrm>
            <a:off x="402920" y="353420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市场推广活动规划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矩形 92"/>
          <p:cNvSpPr/>
          <p:nvPr/>
        </p:nvSpPr>
        <p:spPr>
          <a:xfrm>
            <a:off x="1683092" y="353420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详细市场活动计划制定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矩形 93"/>
          <p:cNvSpPr/>
          <p:nvPr/>
        </p:nvSpPr>
        <p:spPr>
          <a:xfrm>
            <a:off x="402920" y="387380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产品推广策略制定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252315" y="4477144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市场推广执行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306150" y="473354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市场活动执行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矩形 120"/>
          <p:cNvSpPr/>
          <p:nvPr/>
        </p:nvSpPr>
        <p:spPr>
          <a:xfrm>
            <a:off x="402920" y="217437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市场进入与退出策略制定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2" name="矩形 121"/>
          <p:cNvSpPr/>
          <p:nvPr/>
        </p:nvSpPr>
        <p:spPr>
          <a:xfrm>
            <a:off x="1683092" y="217437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品牌策略制定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矩形 122"/>
          <p:cNvSpPr/>
          <p:nvPr/>
        </p:nvSpPr>
        <p:spPr>
          <a:xfrm>
            <a:off x="402920" y="252048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产品推广策略制定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矩形 123"/>
          <p:cNvSpPr/>
          <p:nvPr/>
        </p:nvSpPr>
        <p:spPr>
          <a:xfrm>
            <a:off x="1683092" y="2520488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产品销售通路选择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矩形 124"/>
          <p:cNvSpPr/>
          <p:nvPr/>
        </p:nvSpPr>
        <p:spPr>
          <a:xfrm>
            <a:off x="339483" y="5711665"/>
            <a:ext cx="2620518" cy="9327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350754" y="5727935"/>
            <a:ext cx="13131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市场活动绩效监控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矩形 126"/>
          <p:cNvSpPr/>
          <p:nvPr/>
        </p:nvSpPr>
        <p:spPr>
          <a:xfrm>
            <a:off x="402920" y="596598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市场活动过程监督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1683092" y="596598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市场活动结果统计与评价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矩形 128"/>
          <p:cNvSpPr/>
          <p:nvPr/>
        </p:nvSpPr>
        <p:spPr>
          <a:xfrm>
            <a:off x="402920" y="631209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市场活动案例总结与推广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矩形 130"/>
          <p:cNvSpPr/>
          <p:nvPr/>
        </p:nvSpPr>
        <p:spPr>
          <a:xfrm>
            <a:off x="3168358" y="530525"/>
            <a:ext cx="2793391" cy="121625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文本框 131"/>
          <p:cNvSpPr txBox="1"/>
          <p:nvPr/>
        </p:nvSpPr>
        <p:spPr>
          <a:xfrm>
            <a:off x="3112224" y="5305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客户规划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3205790" y="789038"/>
            <a:ext cx="2620518" cy="80447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3166234" y="7844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客户细分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矩形 138"/>
          <p:cNvSpPr/>
          <p:nvPr/>
        </p:nvSpPr>
        <p:spPr>
          <a:xfrm>
            <a:off x="3276416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客户分级标准制定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4538300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客户评级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矩形 144"/>
          <p:cNvSpPr/>
          <p:nvPr/>
        </p:nvSpPr>
        <p:spPr>
          <a:xfrm>
            <a:off x="3168358" y="1809327"/>
            <a:ext cx="2793391" cy="4948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矩形 145"/>
          <p:cNvSpPr/>
          <p:nvPr/>
        </p:nvSpPr>
        <p:spPr>
          <a:xfrm>
            <a:off x="3205790" y="2035880"/>
            <a:ext cx="2620518" cy="76872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矩形 149"/>
          <p:cNvSpPr/>
          <p:nvPr/>
        </p:nvSpPr>
        <p:spPr>
          <a:xfrm>
            <a:off x="3276416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客户信息建档与变更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矩形 150"/>
          <p:cNvSpPr/>
          <p:nvPr/>
        </p:nvSpPr>
        <p:spPr>
          <a:xfrm>
            <a:off x="4538300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客户分配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3166234" y="180069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客户维护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3166234" y="202192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客户引入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矩形 162"/>
          <p:cNvSpPr/>
          <p:nvPr/>
        </p:nvSpPr>
        <p:spPr>
          <a:xfrm>
            <a:off x="3197592" y="2864214"/>
            <a:ext cx="2620518" cy="76448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矩形 163"/>
          <p:cNvSpPr/>
          <p:nvPr/>
        </p:nvSpPr>
        <p:spPr>
          <a:xfrm>
            <a:off x="3268218" y="314121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客户信息建档与变更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4538300" y="314121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客户分配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3166234" y="285181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客户引入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3" name="矩形 172"/>
          <p:cNvSpPr/>
          <p:nvPr/>
        </p:nvSpPr>
        <p:spPr>
          <a:xfrm>
            <a:off x="3197592" y="3668396"/>
            <a:ext cx="2620518" cy="1065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4" name="矩形 173"/>
          <p:cNvSpPr/>
          <p:nvPr/>
        </p:nvSpPr>
        <p:spPr>
          <a:xfrm>
            <a:off x="3268218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客户拜访与关系维护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9" name="矩形 178"/>
          <p:cNvSpPr/>
          <p:nvPr/>
        </p:nvSpPr>
        <p:spPr>
          <a:xfrm>
            <a:off x="4538300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客户培训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0" name="文本框 179"/>
          <p:cNvSpPr txBox="1"/>
          <p:nvPr/>
        </p:nvSpPr>
        <p:spPr>
          <a:xfrm>
            <a:off x="3166234" y="365599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客户培养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5" name="矩形 184"/>
          <p:cNvSpPr/>
          <p:nvPr/>
        </p:nvSpPr>
        <p:spPr>
          <a:xfrm>
            <a:off x="3268218" y="42463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客户信用额度设置与调度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6" name="矩形 185"/>
          <p:cNvSpPr/>
          <p:nvPr/>
        </p:nvSpPr>
        <p:spPr>
          <a:xfrm>
            <a:off x="4538300" y="42463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客户满意度调查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7" name="矩形 186"/>
          <p:cNvSpPr/>
          <p:nvPr/>
        </p:nvSpPr>
        <p:spPr>
          <a:xfrm>
            <a:off x="3197592" y="4783358"/>
            <a:ext cx="2620518" cy="8205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矩形 190"/>
          <p:cNvSpPr/>
          <p:nvPr/>
        </p:nvSpPr>
        <p:spPr>
          <a:xfrm>
            <a:off x="3268218" y="506035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客户交易分析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矩形 191"/>
          <p:cNvSpPr/>
          <p:nvPr/>
        </p:nvSpPr>
        <p:spPr>
          <a:xfrm>
            <a:off x="4538300" y="506035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客户绩效跟踪与考核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3166234" y="4770960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客户评价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矩形 196"/>
          <p:cNvSpPr/>
          <p:nvPr/>
        </p:nvSpPr>
        <p:spPr>
          <a:xfrm>
            <a:off x="3197592" y="5631721"/>
            <a:ext cx="2620518" cy="10651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矩形 197"/>
          <p:cNvSpPr/>
          <p:nvPr/>
        </p:nvSpPr>
        <p:spPr>
          <a:xfrm>
            <a:off x="3268218" y="590872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客户拜访与关系维护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矩形 198"/>
          <p:cNvSpPr/>
          <p:nvPr/>
        </p:nvSpPr>
        <p:spPr>
          <a:xfrm>
            <a:off x="4538300" y="590872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客户培训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3166234" y="561932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客户退出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矩形 200"/>
          <p:cNvSpPr/>
          <p:nvPr/>
        </p:nvSpPr>
        <p:spPr>
          <a:xfrm>
            <a:off x="3268218" y="625779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客户信用额度设置与调度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4538300" y="6257791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客户满意度调查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3" name="矩形 202"/>
          <p:cNvSpPr/>
          <p:nvPr/>
        </p:nvSpPr>
        <p:spPr>
          <a:xfrm>
            <a:off x="6032375" y="530525"/>
            <a:ext cx="5973697" cy="27694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6062318" y="530524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销售规划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5" name="矩形 204"/>
          <p:cNvSpPr/>
          <p:nvPr/>
        </p:nvSpPr>
        <p:spPr>
          <a:xfrm>
            <a:off x="6117066" y="783339"/>
            <a:ext cx="2644466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6" name="文本框 205"/>
          <p:cNvSpPr txBox="1"/>
          <p:nvPr/>
        </p:nvSpPr>
        <p:spPr>
          <a:xfrm>
            <a:off x="6098748" y="784464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销售目标管理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7" name="矩形 206"/>
          <p:cNvSpPr/>
          <p:nvPr/>
        </p:nvSpPr>
        <p:spPr>
          <a:xfrm>
            <a:off x="6205636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销售目标设定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8" name="矩形 207"/>
          <p:cNvSpPr/>
          <p:nvPr/>
        </p:nvSpPr>
        <p:spPr>
          <a:xfrm>
            <a:off x="7467520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大客户销售计划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矩形 208"/>
          <p:cNvSpPr/>
          <p:nvPr/>
        </p:nvSpPr>
        <p:spPr>
          <a:xfrm>
            <a:off x="6205636" y="139514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销售计划制定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0" name="矩形 209"/>
          <p:cNvSpPr/>
          <p:nvPr/>
        </p:nvSpPr>
        <p:spPr>
          <a:xfrm>
            <a:off x="7467520" y="139514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销售进度管理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1" name="矩形 210"/>
          <p:cNvSpPr/>
          <p:nvPr/>
        </p:nvSpPr>
        <p:spPr>
          <a:xfrm>
            <a:off x="9063093" y="783339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2" name="矩形 211"/>
          <p:cNvSpPr/>
          <p:nvPr/>
        </p:nvSpPr>
        <p:spPr>
          <a:xfrm>
            <a:off x="9127715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渠道规划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3" name="矩形 212"/>
          <p:cNvSpPr/>
          <p:nvPr/>
        </p:nvSpPr>
        <p:spPr>
          <a:xfrm>
            <a:off x="10389599" y="10460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渠道招募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9026933" y="7844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渠道开发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7" name="矩形 216"/>
          <p:cNvSpPr/>
          <p:nvPr/>
        </p:nvSpPr>
        <p:spPr>
          <a:xfrm>
            <a:off x="6124401" y="2021842"/>
            <a:ext cx="2634820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8" name="文本框 217"/>
          <p:cNvSpPr txBox="1"/>
          <p:nvPr/>
        </p:nvSpPr>
        <p:spPr>
          <a:xfrm>
            <a:off x="6098748" y="2021927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销售策略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9" name="矩形 218"/>
          <p:cNvSpPr/>
          <p:nvPr/>
        </p:nvSpPr>
        <p:spPr>
          <a:xfrm>
            <a:off x="6203325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销售政策制定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0" name="矩形 219"/>
          <p:cNvSpPr/>
          <p:nvPr/>
        </p:nvSpPr>
        <p:spPr>
          <a:xfrm>
            <a:off x="7467520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销售费用政策制定与发布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1" name="矩形 220"/>
          <p:cNvSpPr/>
          <p:nvPr/>
        </p:nvSpPr>
        <p:spPr>
          <a:xfrm>
            <a:off x="6203325" y="263364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产品价格政策制定与发布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3" name="矩形 222"/>
          <p:cNvSpPr/>
          <p:nvPr/>
        </p:nvSpPr>
        <p:spPr>
          <a:xfrm>
            <a:off x="9057415" y="2020802"/>
            <a:ext cx="2620518" cy="105460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4" name="文本框 223"/>
          <p:cNvSpPr txBox="1"/>
          <p:nvPr/>
        </p:nvSpPr>
        <p:spPr>
          <a:xfrm>
            <a:off x="9026933" y="2021927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渠道资源调配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5" name="矩形 224"/>
          <p:cNvSpPr/>
          <p:nvPr/>
        </p:nvSpPr>
        <p:spPr>
          <a:xfrm>
            <a:off x="9122037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销售组织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人员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6" name="矩形 225"/>
          <p:cNvSpPr/>
          <p:nvPr/>
        </p:nvSpPr>
        <p:spPr>
          <a:xfrm>
            <a:off x="10389599" y="22835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销售费用调配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9" name="矩形 228"/>
          <p:cNvSpPr/>
          <p:nvPr/>
        </p:nvSpPr>
        <p:spPr>
          <a:xfrm>
            <a:off x="6023678" y="3361023"/>
            <a:ext cx="5973697" cy="33963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0" name="文本框 229"/>
          <p:cNvSpPr txBox="1"/>
          <p:nvPr/>
        </p:nvSpPr>
        <p:spPr>
          <a:xfrm>
            <a:off x="6057723" y="338645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2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销售执行</a:t>
            </a:r>
            <a:endParaRPr lang="zh-CN" altLang="en-US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1" name="矩形 230"/>
          <p:cNvSpPr/>
          <p:nvPr/>
        </p:nvSpPr>
        <p:spPr>
          <a:xfrm>
            <a:off x="6117066" y="3634500"/>
            <a:ext cx="2620518" cy="101209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2" name="文本框 231"/>
          <p:cNvSpPr txBox="1"/>
          <p:nvPr/>
        </p:nvSpPr>
        <p:spPr>
          <a:xfrm>
            <a:off x="6098748" y="3635625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商机管理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3" name="矩形 232"/>
          <p:cNvSpPr/>
          <p:nvPr/>
        </p:nvSpPr>
        <p:spPr>
          <a:xfrm>
            <a:off x="6181688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销售线索管理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4" name="矩形 233"/>
          <p:cNvSpPr/>
          <p:nvPr/>
        </p:nvSpPr>
        <p:spPr>
          <a:xfrm>
            <a:off x="7467520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商机确认与分配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5" name="矩形 234"/>
          <p:cNvSpPr/>
          <p:nvPr/>
        </p:nvSpPr>
        <p:spPr>
          <a:xfrm>
            <a:off x="6181688" y="42463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商机推进管理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6" name="矩形 235"/>
          <p:cNvSpPr/>
          <p:nvPr/>
        </p:nvSpPr>
        <p:spPr>
          <a:xfrm>
            <a:off x="7467520" y="424630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投标管理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8" name="矩形 237"/>
          <p:cNvSpPr/>
          <p:nvPr/>
        </p:nvSpPr>
        <p:spPr>
          <a:xfrm>
            <a:off x="9051309" y="3634501"/>
            <a:ext cx="2620518" cy="7271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9" name="文本框 238"/>
          <p:cNvSpPr txBox="1"/>
          <p:nvPr/>
        </p:nvSpPr>
        <p:spPr>
          <a:xfrm>
            <a:off x="9026933" y="3635625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立项报价管理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0" name="矩形 239"/>
          <p:cNvSpPr/>
          <p:nvPr/>
        </p:nvSpPr>
        <p:spPr>
          <a:xfrm>
            <a:off x="9115931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方案配置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1" name="矩形 240"/>
          <p:cNvSpPr/>
          <p:nvPr/>
        </p:nvSpPr>
        <p:spPr>
          <a:xfrm>
            <a:off x="10389599" y="389723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价格审批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5" name="矩形 244"/>
          <p:cNvSpPr/>
          <p:nvPr/>
        </p:nvSpPr>
        <p:spPr>
          <a:xfrm>
            <a:off x="6110960" y="4664338"/>
            <a:ext cx="2620518" cy="72718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6" name="文本框 245"/>
          <p:cNvSpPr txBox="1"/>
          <p:nvPr/>
        </p:nvSpPr>
        <p:spPr>
          <a:xfrm>
            <a:off x="6098748" y="4665462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协议合同管理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7" name="矩形 246"/>
          <p:cNvSpPr/>
          <p:nvPr/>
        </p:nvSpPr>
        <p:spPr>
          <a:xfrm>
            <a:off x="6175582" y="492707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8" name="矩形 247"/>
          <p:cNvSpPr/>
          <p:nvPr/>
        </p:nvSpPr>
        <p:spPr>
          <a:xfrm>
            <a:off x="7467520" y="492707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合同管理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矩形 248"/>
          <p:cNvSpPr/>
          <p:nvPr/>
        </p:nvSpPr>
        <p:spPr>
          <a:xfrm>
            <a:off x="9051309" y="4434840"/>
            <a:ext cx="2620518" cy="10058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文本框 249"/>
          <p:cNvSpPr txBox="1"/>
          <p:nvPr/>
        </p:nvSpPr>
        <p:spPr>
          <a:xfrm>
            <a:off x="9026933" y="443596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订单管理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1" name="矩形 250"/>
          <p:cNvSpPr/>
          <p:nvPr/>
        </p:nvSpPr>
        <p:spPr>
          <a:xfrm>
            <a:off x="9104240" y="46975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订单计划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10389599" y="469757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订单下达与变更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矩形 252"/>
          <p:cNvSpPr/>
          <p:nvPr/>
        </p:nvSpPr>
        <p:spPr>
          <a:xfrm>
            <a:off x="9104240" y="502793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订单交付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4" name="矩形 253"/>
          <p:cNvSpPr/>
          <p:nvPr/>
        </p:nvSpPr>
        <p:spPr>
          <a:xfrm>
            <a:off x="10389599" y="502793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销售开单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5" name="矩形 254"/>
          <p:cNvSpPr/>
          <p:nvPr/>
        </p:nvSpPr>
        <p:spPr>
          <a:xfrm>
            <a:off x="6110960" y="5409013"/>
            <a:ext cx="2620518" cy="67549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6" name="文本框 255"/>
          <p:cNvSpPr txBox="1"/>
          <p:nvPr/>
        </p:nvSpPr>
        <p:spPr>
          <a:xfrm>
            <a:off x="6098748" y="5385813"/>
            <a:ext cx="103105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销售终端支持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7" name="矩形 256"/>
          <p:cNvSpPr/>
          <p:nvPr/>
        </p:nvSpPr>
        <p:spPr>
          <a:xfrm>
            <a:off x="6175582" y="5699180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产品目录发布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矩形 257"/>
          <p:cNvSpPr/>
          <p:nvPr/>
        </p:nvSpPr>
        <p:spPr>
          <a:xfrm>
            <a:off x="7467520" y="5699179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促销信息发布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矩形 258"/>
          <p:cNvSpPr/>
          <p:nvPr/>
        </p:nvSpPr>
        <p:spPr>
          <a:xfrm>
            <a:off x="9033039" y="5501750"/>
            <a:ext cx="2620518" cy="11951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文本框 259"/>
          <p:cNvSpPr txBox="1"/>
          <p:nvPr/>
        </p:nvSpPr>
        <p:spPr>
          <a:xfrm>
            <a:off x="9026933" y="5502874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渠道管理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矩形 260"/>
          <p:cNvSpPr/>
          <p:nvPr/>
        </p:nvSpPr>
        <p:spPr>
          <a:xfrm>
            <a:off x="9097661" y="5764485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</a:t>
            </a:r>
            <a:r>
              <a:rPr lang="en-US" altLang="zh-CN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3S</a:t>
            </a:r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2" name="矩形 261"/>
          <p:cNvSpPr/>
          <p:nvPr/>
        </p:nvSpPr>
        <p:spPr>
          <a:xfrm>
            <a:off x="10389599" y="5764484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渠道往来账务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3" name="矩形 262"/>
          <p:cNvSpPr/>
          <p:nvPr/>
        </p:nvSpPr>
        <p:spPr>
          <a:xfrm>
            <a:off x="9097661" y="6111937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营销费用管理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4" name="矩形 263"/>
          <p:cNvSpPr/>
          <p:nvPr/>
        </p:nvSpPr>
        <p:spPr>
          <a:xfrm>
            <a:off x="10389599" y="6111936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渠道激励奖励政策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5" name="矩形 264"/>
          <p:cNvSpPr/>
          <p:nvPr/>
        </p:nvSpPr>
        <p:spPr>
          <a:xfrm>
            <a:off x="6104854" y="6099695"/>
            <a:ext cx="2620518" cy="59717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6" name="文本框 265"/>
          <p:cNvSpPr txBox="1"/>
          <p:nvPr/>
        </p:nvSpPr>
        <p:spPr>
          <a:xfrm>
            <a:off x="6098748" y="6073388"/>
            <a:ext cx="145424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1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销售业绩考核与激励</a:t>
            </a:r>
            <a:endParaRPr lang="zh-CN" altLang="en-US" sz="11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7" name="矩形 266"/>
          <p:cNvSpPr/>
          <p:nvPr/>
        </p:nvSpPr>
        <p:spPr>
          <a:xfrm>
            <a:off x="6169476" y="6344143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销售人员业绩考核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矩形 267"/>
          <p:cNvSpPr/>
          <p:nvPr/>
        </p:nvSpPr>
        <p:spPr>
          <a:xfrm>
            <a:off x="7467520" y="6344142"/>
            <a:ext cx="1224000" cy="288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销售政策兑现</a:t>
            </a:r>
            <a:endParaRPr lang="zh-CN" altLang="en-US" sz="9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8330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81" y="6600152"/>
            <a:ext cx="96647" cy="733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3857" y="220217"/>
            <a:ext cx="64185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>
                <a:latin typeface="微软雅黑"/>
                <a:cs typeface="微软雅黑"/>
              </a:rPr>
              <a:t>集团型公司数字化目标、挑战和战</a:t>
            </a:r>
            <a:r>
              <a:rPr sz="2800" b="1" spc="-30" dirty="0">
                <a:latin typeface="微软雅黑"/>
                <a:cs typeface="微软雅黑"/>
              </a:rPr>
              <a:t>略</a:t>
            </a:r>
            <a:r>
              <a:rPr sz="2800" b="1" spc="-35" dirty="0">
                <a:latin typeface="微软雅黑"/>
                <a:cs typeface="微软雅黑"/>
              </a:rPr>
              <a:t>方</a:t>
            </a:r>
            <a:r>
              <a:rPr sz="2800" b="1" spc="-50" dirty="0">
                <a:latin typeface="微软雅黑"/>
                <a:cs typeface="微软雅黑"/>
              </a:rPr>
              <a:t>向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0163" y="2218944"/>
            <a:ext cx="1344295" cy="1894839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100" dirty="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  <a:spcBef>
                <a:spcPts val="1620"/>
              </a:spcBef>
            </a:pPr>
            <a:r>
              <a:rPr sz="1600" b="1" spc="-25" dirty="0">
                <a:solidFill>
                  <a:srgbClr val="FFFFFF"/>
                </a:solidFill>
                <a:latin typeface="微软雅黑"/>
                <a:cs typeface="微软雅黑"/>
              </a:rPr>
              <a:t>业务复</a:t>
            </a:r>
            <a:r>
              <a:rPr sz="1600" b="1" spc="-50" dirty="0">
                <a:solidFill>
                  <a:srgbClr val="FFFFFF"/>
                </a:solidFill>
                <a:latin typeface="微软雅黑"/>
                <a:cs typeface="微软雅黑"/>
              </a:rPr>
              <a:t>杂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0163" y="4739640"/>
            <a:ext cx="1344295" cy="1706880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850">
              <a:latin typeface="Times New Roman"/>
              <a:cs typeface="Times New Roman"/>
            </a:endParaRPr>
          </a:p>
          <a:p>
            <a:pPr marL="266065">
              <a:lnSpc>
                <a:spcPct val="100000"/>
              </a:lnSpc>
            </a:pPr>
            <a:r>
              <a:rPr sz="1600" b="1" spc="-25" dirty="0">
                <a:solidFill>
                  <a:srgbClr val="FFFFFF"/>
                </a:solidFill>
                <a:latin typeface="微软雅黑"/>
                <a:cs typeface="微软雅黑"/>
              </a:rPr>
              <a:t>传统架</a:t>
            </a:r>
            <a:r>
              <a:rPr sz="1600" b="1" spc="-50" dirty="0">
                <a:solidFill>
                  <a:srgbClr val="FFFFFF"/>
                </a:solidFill>
                <a:latin typeface="微软雅黑"/>
                <a:cs typeface="微软雅黑"/>
              </a:rPr>
              <a:t>构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90114" y="4647210"/>
            <a:ext cx="2628900" cy="182372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69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历史包袱、架构老化</a:t>
            </a:r>
            <a:endParaRPr sz="1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烟囱式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20" dirty="0">
                <a:latin typeface="微软雅黑"/>
                <a:cs typeface="微软雅黑"/>
              </a:rPr>
              <a:t>应用，重复建设，集</a:t>
            </a:r>
            <a:endParaRPr sz="1400">
              <a:latin typeface="微软雅黑"/>
              <a:cs typeface="微软雅黑"/>
            </a:endParaRPr>
          </a:p>
          <a:p>
            <a:pPr marL="299085">
              <a:lnSpc>
                <a:spcPct val="100000"/>
              </a:lnSpc>
            </a:pPr>
            <a:r>
              <a:rPr sz="1400" spc="-5" dirty="0">
                <a:latin typeface="微软雅黑"/>
                <a:cs typeface="微软雅黑"/>
              </a:rPr>
              <a:t>成复杂，大量数据搬家</a:t>
            </a:r>
            <a:endParaRPr sz="1400">
              <a:latin typeface="微软雅黑"/>
              <a:cs typeface="微软雅黑"/>
            </a:endParaRPr>
          </a:p>
          <a:p>
            <a:pPr marL="299085" marR="5080" indent="-287020" algn="just">
              <a:lnSpc>
                <a:spcPct val="100400"/>
              </a:lnSpc>
              <a:spcBef>
                <a:spcPts val="585"/>
              </a:spcBef>
              <a:buFont typeface="Arial"/>
              <a:buChar char="•"/>
              <a:tabLst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系统紧耦合，小的改动影响全局，开发运维效率低，难以快速响应业务</a:t>
            </a:r>
            <a:endParaRPr sz="1400">
              <a:latin typeface="微软雅黑"/>
              <a:cs typeface="微软雅黑"/>
            </a:endParaRPr>
          </a:p>
          <a:p>
            <a:pPr marL="299085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功能驱动构建，用户体验差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70492" y="2209800"/>
            <a:ext cx="1967864" cy="512445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111760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880"/>
              </a:spcBef>
            </a:pP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更好的体验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270492" y="4355591"/>
            <a:ext cx="1967864" cy="512445"/>
          </a:xfrm>
          <a:prstGeom prst="rect">
            <a:avLst/>
          </a:prstGeom>
          <a:solidFill>
            <a:srgbClr val="A000FF"/>
          </a:solidFill>
        </p:spPr>
        <p:txBody>
          <a:bodyPr vert="horz" wrap="square" lIns="0" tIns="111760" rIns="0" bIns="0" rtlCol="0">
            <a:spAutoFit/>
          </a:bodyPr>
          <a:lstStyle/>
          <a:p>
            <a:pPr marL="413384">
              <a:lnSpc>
                <a:spcPct val="100000"/>
              </a:lnSpc>
              <a:spcBef>
                <a:spcPts val="880"/>
              </a:spcBef>
            </a:pP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更高的效率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64934" y="2167889"/>
            <a:ext cx="2320925" cy="881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00200"/>
              </a:lnSpc>
              <a:spcBef>
                <a:spcPts val="1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spc="-5" dirty="0">
                <a:latin typeface="微软雅黑"/>
                <a:cs typeface="微软雅黑"/>
              </a:rPr>
              <a:t>对传统架构进行数字化解耦，业务领域抽象构建应</a:t>
            </a:r>
            <a:r>
              <a:rPr sz="1400" dirty="0">
                <a:latin typeface="微软雅黑"/>
                <a:cs typeface="微软雅黑"/>
              </a:rPr>
              <a:t>用，沉淀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5" dirty="0">
                <a:latin typeface="微软雅黑"/>
                <a:cs typeface="微软雅黑"/>
              </a:rPr>
              <a:t>资产，快速响应业务变化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4427" y="2225801"/>
            <a:ext cx="2632710" cy="19621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9085" marR="5080" indent="-287020">
              <a:lnSpc>
                <a:spcPct val="100699"/>
              </a:lnSpc>
              <a:spcBef>
                <a:spcPts val="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规模大：多产品线，全品类融</a:t>
            </a:r>
            <a:r>
              <a:rPr sz="1400" spc="-50" dirty="0">
                <a:latin typeface="微软雅黑"/>
                <a:cs typeface="微软雅黑"/>
              </a:rPr>
              <a:t>合</a:t>
            </a:r>
            <a:endParaRPr sz="1400">
              <a:latin typeface="微软雅黑"/>
              <a:cs typeface="微软雅黑"/>
            </a:endParaRPr>
          </a:p>
          <a:p>
            <a:pPr marL="299085" marR="5080" indent="-287020">
              <a:lnSpc>
                <a:spcPct val="100699"/>
              </a:lnSpc>
              <a:spcBef>
                <a:spcPts val="575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业态广：面向全球业务，多产品线、多种营销模式</a:t>
            </a:r>
            <a:endParaRPr sz="1400">
              <a:latin typeface="微软雅黑"/>
              <a:cs typeface="微软雅黑"/>
            </a:endParaRPr>
          </a:p>
          <a:p>
            <a:pPr marL="299085" indent="-28702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变化快：全球业务需要适应快</a:t>
            </a:r>
            <a:endParaRPr sz="1400">
              <a:latin typeface="微软雅黑"/>
              <a:cs typeface="微软雅黑"/>
            </a:endParaRPr>
          </a:p>
          <a:p>
            <a:pPr marL="299085">
              <a:lnSpc>
                <a:spcPct val="100000"/>
              </a:lnSpc>
              <a:spcBef>
                <a:spcPts val="10"/>
              </a:spcBef>
            </a:pPr>
            <a:r>
              <a:rPr sz="1400" spc="-10" dirty="0">
                <a:latin typeface="微软雅黑"/>
                <a:cs typeface="微软雅黑"/>
              </a:rPr>
              <a:t>速变化的市场环境</a:t>
            </a:r>
            <a:endParaRPr sz="1400">
              <a:latin typeface="微软雅黑"/>
              <a:cs typeface="微软雅黑"/>
            </a:endParaRPr>
          </a:p>
          <a:p>
            <a:pPr marL="299085" marR="5080" indent="-287020">
              <a:lnSpc>
                <a:spcPct val="100000"/>
              </a:lnSpc>
              <a:spcBef>
                <a:spcPts val="590"/>
              </a:spcBef>
              <a:buFont typeface="Arial"/>
              <a:buChar char="•"/>
              <a:tabLst>
                <a:tab pos="299085" algn="l"/>
                <a:tab pos="299720" algn="l"/>
              </a:tabLst>
            </a:pPr>
            <a:r>
              <a:rPr sz="1400" spc="-10" dirty="0">
                <a:latin typeface="微软雅黑"/>
                <a:cs typeface="微软雅黑"/>
              </a:rPr>
              <a:t>组织繁：内部组织结构复杂，沟通协作困难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97829" y="2185542"/>
            <a:ext cx="63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微软雅黑"/>
                <a:cs typeface="微软雅黑"/>
              </a:rPr>
              <a:t>服务</a:t>
            </a:r>
            <a:r>
              <a:rPr sz="1600" b="1" spc="-50" dirty="0">
                <a:latin typeface="微软雅黑"/>
                <a:cs typeface="微软雅黑"/>
              </a:rPr>
              <a:t>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77380" y="5029327"/>
            <a:ext cx="2320925" cy="95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865" marR="26034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spc="-5" dirty="0">
                <a:latin typeface="微软雅黑"/>
                <a:cs typeface="微软雅黑"/>
              </a:rPr>
              <a:t>从“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0" dirty="0">
                <a:latin typeface="微软雅黑"/>
                <a:cs typeface="微软雅黑"/>
              </a:rPr>
              <a:t>支持业务”向“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50" dirty="0">
                <a:latin typeface="微软雅黑"/>
                <a:cs typeface="微软雅黑"/>
              </a:rPr>
              <a:t>即</a:t>
            </a:r>
            <a:r>
              <a:rPr sz="1400" spc="-10" dirty="0">
                <a:latin typeface="微软雅黑"/>
                <a:cs typeface="微软雅黑"/>
              </a:rPr>
              <a:t>业务转变”</a:t>
            </a:r>
            <a:endParaRPr sz="1400">
              <a:latin typeface="微软雅黑"/>
              <a:cs typeface="微软雅黑"/>
            </a:endParaRPr>
          </a:p>
          <a:p>
            <a:pPr marL="189865" marR="5080" indent="-1771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latin typeface="微软雅黑"/>
                <a:cs typeface="微软雅黑"/>
              </a:rPr>
              <a:t>业务和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5" dirty="0">
                <a:latin typeface="微软雅黑"/>
                <a:cs typeface="微软雅黑"/>
              </a:rPr>
              <a:t>结为一体化产品团</a:t>
            </a:r>
            <a:r>
              <a:rPr sz="1400" dirty="0">
                <a:latin typeface="微软雅黑"/>
                <a:cs typeface="微软雅黑"/>
              </a:rPr>
              <a:t>队，敏捷交付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25" dirty="0">
                <a:latin typeface="微软雅黑"/>
                <a:cs typeface="微软雅黑"/>
              </a:rPr>
              <a:t>产品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64934" y="3720846"/>
            <a:ext cx="2142490" cy="452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9230" marR="5080" indent="-1771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9865" algn="l"/>
              </a:tabLst>
            </a:pPr>
            <a:r>
              <a:rPr sz="1400" dirty="0">
                <a:latin typeface="微软雅黑"/>
                <a:cs typeface="微软雅黑"/>
              </a:rPr>
              <a:t>加速上云，提升</a:t>
            </a: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25" dirty="0">
                <a:latin typeface="微软雅黑"/>
                <a:cs typeface="微软雅黑"/>
              </a:rPr>
              <a:t>资源效</a:t>
            </a:r>
            <a:r>
              <a:rPr sz="1400" spc="-5" dirty="0">
                <a:latin typeface="微软雅黑"/>
                <a:cs typeface="微软雅黑"/>
              </a:rPr>
              <a:t>率，支撑业务快速发展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00718" y="2858770"/>
            <a:ext cx="1810385" cy="6680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 algn="just">
              <a:lnSpc>
                <a:spcPct val="100400"/>
              </a:lnSpc>
              <a:spcBef>
                <a:spcPts val="95"/>
              </a:spcBef>
              <a:buFont typeface="Arial"/>
              <a:buChar char="•"/>
              <a:tabLst>
                <a:tab pos="193040" algn="l"/>
              </a:tabLst>
            </a:pPr>
            <a:r>
              <a:rPr sz="1400" spc="-10" dirty="0">
                <a:latin typeface="微软雅黑"/>
                <a:cs typeface="微软雅黑"/>
              </a:rPr>
              <a:t>实现与客户做生意更简单、更高效、更安全、提升客户满意度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05035" y="5002529"/>
            <a:ext cx="1988820" cy="957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2405" marR="5080" indent="-180340" algn="just">
              <a:lnSpc>
                <a:spcPct val="100299"/>
              </a:lnSpc>
              <a:spcBef>
                <a:spcPts val="95"/>
              </a:spcBef>
              <a:buFont typeface="Arial"/>
              <a:buChar char="•"/>
              <a:tabLst>
                <a:tab pos="193040" algn="l"/>
              </a:tabLst>
            </a:pPr>
            <a:r>
              <a:rPr sz="1400" dirty="0">
                <a:latin typeface="微软雅黑"/>
                <a:cs typeface="微软雅黑"/>
              </a:rPr>
              <a:t>利用数字技术（</a:t>
            </a:r>
            <a:r>
              <a:rPr sz="1400" spc="-20" dirty="0">
                <a:latin typeface="微软雅黑"/>
                <a:cs typeface="微软雅黑"/>
              </a:rPr>
              <a:t>如云、</a:t>
            </a:r>
            <a:r>
              <a:rPr sz="1400" spc="-50" dirty="0">
                <a:latin typeface="微软雅黑"/>
                <a:cs typeface="微软雅黑"/>
              </a:rPr>
              <a:t> </a:t>
            </a:r>
            <a:r>
              <a:rPr sz="1400" dirty="0">
                <a:latin typeface="Arial"/>
                <a:cs typeface="Arial"/>
              </a:rPr>
              <a:t>AI</a:t>
            </a:r>
            <a:r>
              <a:rPr sz="1400" dirty="0">
                <a:latin typeface="微软雅黑"/>
                <a:cs typeface="微软雅黑"/>
              </a:rPr>
              <a:t>、大数据）</a:t>
            </a:r>
            <a:r>
              <a:rPr sz="1400" spc="-15" dirty="0">
                <a:latin typeface="微软雅黑"/>
                <a:cs typeface="微软雅黑"/>
              </a:rPr>
              <a:t>赋能业务智能运营</a:t>
            </a:r>
            <a:endParaRPr sz="1400">
              <a:latin typeface="微软雅黑"/>
              <a:cs typeface="微软雅黑"/>
            </a:endParaRPr>
          </a:p>
          <a:p>
            <a:pPr marL="192405" indent="-180340" algn="just">
              <a:lnSpc>
                <a:spcPct val="100000"/>
              </a:lnSpc>
              <a:spcBef>
                <a:spcPts val="600"/>
              </a:spcBef>
              <a:buChar char="•"/>
              <a:tabLst>
                <a:tab pos="193040" algn="l"/>
              </a:tabLst>
            </a:pPr>
            <a:r>
              <a:rPr sz="1400" spc="-10" dirty="0">
                <a:latin typeface="Arial"/>
                <a:cs typeface="Arial"/>
              </a:rPr>
              <a:t>IT</a:t>
            </a:r>
            <a:r>
              <a:rPr sz="1400" spc="-10" dirty="0">
                <a:latin typeface="微软雅黑"/>
                <a:cs typeface="微软雅黑"/>
              </a:rPr>
              <a:t>快速响应业务变化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99938" y="3732657"/>
            <a:ext cx="43116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微软雅黑"/>
                <a:cs typeface="微软雅黑"/>
              </a:rPr>
              <a:t>云</a:t>
            </a:r>
            <a:r>
              <a:rPr sz="1600" b="1" spc="-50" dirty="0">
                <a:latin typeface="微软雅黑"/>
                <a:cs typeface="微软雅黑"/>
              </a:rPr>
              <a:t>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98084" y="5033517"/>
            <a:ext cx="6337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25" dirty="0">
                <a:latin typeface="微软雅黑"/>
                <a:cs typeface="微软雅黑"/>
              </a:rPr>
              <a:t>产品</a:t>
            </a:r>
            <a:r>
              <a:rPr sz="1600" b="1" spc="-50" dirty="0">
                <a:latin typeface="微软雅黑"/>
                <a:cs typeface="微软雅黑"/>
              </a:rPr>
              <a:t>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547360" y="4075175"/>
            <a:ext cx="535305" cy="500380"/>
          </a:xfrm>
          <a:custGeom>
            <a:avLst/>
            <a:gdLst/>
            <a:ahLst/>
            <a:cxnLst/>
            <a:rect l="l" t="t" r="r" b="b"/>
            <a:pathLst>
              <a:path w="535304" h="500379">
                <a:moveTo>
                  <a:pt x="534924" y="41910"/>
                </a:moveTo>
                <a:lnTo>
                  <a:pt x="531368" y="25781"/>
                </a:lnTo>
                <a:lnTo>
                  <a:pt x="527900" y="20955"/>
                </a:lnTo>
                <a:lnTo>
                  <a:pt x="521779" y="12433"/>
                </a:lnTo>
                <a:lnTo>
                  <a:pt x="512826" y="6667"/>
                </a:lnTo>
                <a:lnTo>
                  <a:pt x="512826" y="41910"/>
                </a:lnTo>
                <a:lnTo>
                  <a:pt x="511175" y="50330"/>
                </a:lnTo>
                <a:lnTo>
                  <a:pt x="506577" y="56959"/>
                </a:lnTo>
                <a:lnTo>
                  <a:pt x="499579" y="61315"/>
                </a:lnTo>
                <a:lnTo>
                  <a:pt x="490728" y="62865"/>
                </a:lnTo>
                <a:lnTo>
                  <a:pt x="481799" y="61315"/>
                </a:lnTo>
                <a:lnTo>
                  <a:pt x="474814" y="56959"/>
                </a:lnTo>
                <a:lnTo>
                  <a:pt x="470255" y="50330"/>
                </a:lnTo>
                <a:lnTo>
                  <a:pt x="468630" y="41910"/>
                </a:lnTo>
                <a:lnTo>
                  <a:pt x="470255" y="34201"/>
                </a:lnTo>
                <a:lnTo>
                  <a:pt x="474814" y="27482"/>
                </a:lnTo>
                <a:lnTo>
                  <a:pt x="481799" y="22758"/>
                </a:lnTo>
                <a:lnTo>
                  <a:pt x="490728" y="20955"/>
                </a:lnTo>
                <a:lnTo>
                  <a:pt x="499579" y="22758"/>
                </a:lnTo>
                <a:lnTo>
                  <a:pt x="506577" y="27482"/>
                </a:lnTo>
                <a:lnTo>
                  <a:pt x="511175" y="34201"/>
                </a:lnTo>
                <a:lnTo>
                  <a:pt x="512826" y="41910"/>
                </a:lnTo>
                <a:lnTo>
                  <a:pt x="512826" y="6667"/>
                </a:lnTo>
                <a:lnTo>
                  <a:pt x="507695" y="3352"/>
                </a:lnTo>
                <a:lnTo>
                  <a:pt x="490728" y="0"/>
                </a:lnTo>
                <a:lnTo>
                  <a:pt x="473684" y="3352"/>
                </a:lnTo>
                <a:lnTo>
                  <a:pt x="459625" y="12433"/>
                </a:lnTo>
                <a:lnTo>
                  <a:pt x="450049" y="25781"/>
                </a:lnTo>
                <a:lnTo>
                  <a:pt x="446532" y="41910"/>
                </a:lnTo>
                <a:lnTo>
                  <a:pt x="450049" y="58051"/>
                </a:lnTo>
                <a:lnTo>
                  <a:pt x="453364" y="62674"/>
                </a:lnTo>
                <a:lnTo>
                  <a:pt x="378587" y="132422"/>
                </a:lnTo>
                <a:lnTo>
                  <a:pt x="378587" y="219456"/>
                </a:lnTo>
                <a:lnTo>
                  <a:pt x="372440" y="247942"/>
                </a:lnTo>
                <a:lnTo>
                  <a:pt x="355739" y="271322"/>
                </a:lnTo>
                <a:lnTo>
                  <a:pt x="331050" y="287172"/>
                </a:lnTo>
                <a:lnTo>
                  <a:pt x="300990" y="292989"/>
                </a:lnTo>
                <a:lnTo>
                  <a:pt x="270916" y="287172"/>
                </a:lnTo>
                <a:lnTo>
                  <a:pt x="246227" y="271322"/>
                </a:lnTo>
                <a:lnTo>
                  <a:pt x="229527" y="247942"/>
                </a:lnTo>
                <a:lnTo>
                  <a:pt x="223393" y="219456"/>
                </a:lnTo>
                <a:lnTo>
                  <a:pt x="229527" y="190982"/>
                </a:lnTo>
                <a:lnTo>
                  <a:pt x="270916" y="151752"/>
                </a:lnTo>
                <a:lnTo>
                  <a:pt x="331050" y="151752"/>
                </a:lnTo>
                <a:lnTo>
                  <a:pt x="372440" y="190982"/>
                </a:lnTo>
                <a:lnTo>
                  <a:pt x="378587" y="219456"/>
                </a:lnTo>
                <a:lnTo>
                  <a:pt x="378587" y="132422"/>
                </a:lnTo>
                <a:lnTo>
                  <a:pt x="362966" y="146989"/>
                </a:lnTo>
                <a:lnTo>
                  <a:pt x="361302" y="145923"/>
                </a:lnTo>
                <a:lnTo>
                  <a:pt x="339991" y="132359"/>
                </a:lnTo>
                <a:lnTo>
                  <a:pt x="300990" y="124968"/>
                </a:lnTo>
                <a:lnTo>
                  <a:pt x="261975" y="132359"/>
                </a:lnTo>
                <a:lnTo>
                  <a:pt x="230263" y="152552"/>
                </a:lnTo>
                <a:lnTo>
                  <a:pt x="215049" y="173990"/>
                </a:lnTo>
                <a:lnTo>
                  <a:pt x="86334" y="123431"/>
                </a:lnTo>
                <a:lnTo>
                  <a:pt x="75247" y="85344"/>
                </a:lnTo>
                <a:lnTo>
                  <a:pt x="66294" y="79692"/>
                </a:lnTo>
                <a:lnTo>
                  <a:pt x="66294" y="114300"/>
                </a:lnTo>
                <a:lnTo>
                  <a:pt x="64643" y="122555"/>
                </a:lnTo>
                <a:lnTo>
                  <a:pt x="60045" y="129070"/>
                </a:lnTo>
                <a:lnTo>
                  <a:pt x="53047" y="133350"/>
                </a:lnTo>
                <a:lnTo>
                  <a:pt x="44196" y="134874"/>
                </a:lnTo>
                <a:lnTo>
                  <a:pt x="35267" y="133350"/>
                </a:lnTo>
                <a:lnTo>
                  <a:pt x="28282" y="129070"/>
                </a:lnTo>
                <a:lnTo>
                  <a:pt x="23723" y="122555"/>
                </a:lnTo>
                <a:lnTo>
                  <a:pt x="22098" y="114300"/>
                </a:lnTo>
                <a:lnTo>
                  <a:pt x="23723" y="106756"/>
                </a:lnTo>
                <a:lnTo>
                  <a:pt x="28282" y="100164"/>
                </a:lnTo>
                <a:lnTo>
                  <a:pt x="35267" y="95504"/>
                </a:lnTo>
                <a:lnTo>
                  <a:pt x="44196" y="93726"/>
                </a:lnTo>
                <a:lnTo>
                  <a:pt x="53047" y="95504"/>
                </a:lnTo>
                <a:lnTo>
                  <a:pt x="60045" y="100164"/>
                </a:lnTo>
                <a:lnTo>
                  <a:pt x="64643" y="106756"/>
                </a:lnTo>
                <a:lnTo>
                  <a:pt x="66294" y="114300"/>
                </a:lnTo>
                <a:lnTo>
                  <a:pt x="66294" y="79692"/>
                </a:lnTo>
                <a:lnTo>
                  <a:pt x="61163" y="76441"/>
                </a:lnTo>
                <a:lnTo>
                  <a:pt x="44196" y="73152"/>
                </a:lnTo>
                <a:lnTo>
                  <a:pt x="27152" y="76441"/>
                </a:lnTo>
                <a:lnTo>
                  <a:pt x="13093" y="85344"/>
                </a:lnTo>
                <a:lnTo>
                  <a:pt x="3517" y="98450"/>
                </a:lnTo>
                <a:lnTo>
                  <a:pt x="0" y="114300"/>
                </a:lnTo>
                <a:lnTo>
                  <a:pt x="3517" y="130111"/>
                </a:lnTo>
                <a:lnTo>
                  <a:pt x="13093" y="143217"/>
                </a:lnTo>
                <a:lnTo>
                  <a:pt x="27152" y="152146"/>
                </a:lnTo>
                <a:lnTo>
                  <a:pt x="44196" y="155448"/>
                </a:lnTo>
                <a:lnTo>
                  <a:pt x="61163" y="152146"/>
                </a:lnTo>
                <a:lnTo>
                  <a:pt x="75234" y="143217"/>
                </a:lnTo>
                <a:lnTo>
                  <a:pt x="76568" y="141389"/>
                </a:lnTo>
                <a:lnTo>
                  <a:pt x="206692" y="193243"/>
                </a:lnTo>
                <a:lnTo>
                  <a:pt x="201168" y="219456"/>
                </a:lnTo>
                <a:lnTo>
                  <a:pt x="208953" y="256349"/>
                </a:lnTo>
                <a:lnTo>
                  <a:pt x="223570" y="276961"/>
                </a:lnTo>
                <a:lnTo>
                  <a:pt x="67652" y="423595"/>
                </a:lnTo>
                <a:lnTo>
                  <a:pt x="66294" y="422719"/>
                </a:lnTo>
                <a:lnTo>
                  <a:pt x="66294" y="457962"/>
                </a:lnTo>
                <a:lnTo>
                  <a:pt x="64643" y="466382"/>
                </a:lnTo>
                <a:lnTo>
                  <a:pt x="60045" y="473011"/>
                </a:lnTo>
                <a:lnTo>
                  <a:pt x="53047" y="477367"/>
                </a:lnTo>
                <a:lnTo>
                  <a:pt x="44196" y="478917"/>
                </a:lnTo>
                <a:lnTo>
                  <a:pt x="35267" y="477367"/>
                </a:lnTo>
                <a:lnTo>
                  <a:pt x="28282" y="473011"/>
                </a:lnTo>
                <a:lnTo>
                  <a:pt x="23723" y="466382"/>
                </a:lnTo>
                <a:lnTo>
                  <a:pt x="22098" y="457962"/>
                </a:lnTo>
                <a:lnTo>
                  <a:pt x="23723" y="450253"/>
                </a:lnTo>
                <a:lnTo>
                  <a:pt x="28282" y="443534"/>
                </a:lnTo>
                <a:lnTo>
                  <a:pt x="35267" y="438810"/>
                </a:lnTo>
                <a:lnTo>
                  <a:pt x="44196" y="437007"/>
                </a:lnTo>
                <a:lnTo>
                  <a:pt x="53047" y="438810"/>
                </a:lnTo>
                <a:lnTo>
                  <a:pt x="60045" y="443534"/>
                </a:lnTo>
                <a:lnTo>
                  <a:pt x="64643" y="450253"/>
                </a:lnTo>
                <a:lnTo>
                  <a:pt x="66294" y="457962"/>
                </a:lnTo>
                <a:lnTo>
                  <a:pt x="66294" y="422719"/>
                </a:lnTo>
                <a:lnTo>
                  <a:pt x="61163" y="419404"/>
                </a:lnTo>
                <a:lnTo>
                  <a:pt x="44196" y="416052"/>
                </a:lnTo>
                <a:lnTo>
                  <a:pt x="27152" y="419404"/>
                </a:lnTo>
                <a:lnTo>
                  <a:pt x="13093" y="428485"/>
                </a:lnTo>
                <a:lnTo>
                  <a:pt x="3517" y="441833"/>
                </a:lnTo>
                <a:lnTo>
                  <a:pt x="0" y="457962"/>
                </a:lnTo>
                <a:lnTo>
                  <a:pt x="3517" y="474103"/>
                </a:lnTo>
                <a:lnTo>
                  <a:pt x="13093" y="487451"/>
                </a:lnTo>
                <a:lnTo>
                  <a:pt x="27152" y="496531"/>
                </a:lnTo>
                <a:lnTo>
                  <a:pt x="44196" y="499872"/>
                </a:lnTo>
                <a:lnTo>
                  <a:pt x="61163" y="496531"/>
                </a:lnTo>
                <a:lnTo>
                  <a:pt x="75234" y="487451"/>
                </a:lnTo>
                <a:lnTo>
                  <a:pt x="81368" y="478917"/>
                </a:lnTo>
                <a:lnTo>
                  <a:pt x="84836" y="474103"/>
                </a:lnTo>
                <a:lnTo>
                  <a:pt x="88392" y="457962"/>
                </a:lnTo>
                <a:lnTo>
                  <a:pt x="84836" y="441833"/>
                </a:lnTo>
                <a:lnTo>
                  <a:pt x="82473" y="438556"/>
                </a:lnTo>
                <a:lnTo>
                  <a:pt x="239242" y="292100"/>
                </a:lnTo>
                <a:lnTo>
                  <a:pt x="261975" y="306565"/>
                </a:lnTo>
                <a:lnTo>
                  <a:pt x="289560" y="311785"/>
                </a:lnTo>
                <a:lnTo>
                  <a:pt x="289560" y="418274"/>
                </a:lnTo>
                <a:lnTo>
                  <a:pt x="283667" y="419404"/>
                </a:lnTo>
                <a:lnTo>
                  <a:pt x="269367" y="428485"/>
                </a:lnTo>
                <a:lnTo>
                  <a:pt x="259626" y="441833"/>
                </a:lnTo>
                <a:lnTo>
                  <a:pt x="256032" y="457962"/>
                </a:lnTo>
                <a:lnTo>
                  <a:pt x="259626" y="474103"/>
                </a:lnTo>
                <a:lnTo>
                  <a:pt x="269367" y="487451"/>
                </a:lnTo>
                <a:lnTo>
                  <a:pt x="283667" y="496531"/>
                </a:lnTo>
                <a:lnTo>
                  <a:pt x="300990" y="499872"/>
                </a:lnTo>
                <a:lnTo>
                  <a:pt x="318300" y="496531"/>
                </a:lnTo>
                <a:lnTo>
                  <a:pt x="332600" y="487451"/>
                </a:lnTo>
                <a:lnTo>
                  <a:pt x="338836" y="478917"/>
                </a:lnTo>
                <a:lnTo>
                  <a:pt x="342341" y="474103"/>
                </a:lnTo>
                <a:lnTo>
                  <a:pt x="345948" y="457962"/>
                </a:lnTo>
                <a:lnTo>
                  <a:pt x="342341" y="441833"/>
                </a:lnTo>
                <a:lnTo>
                  <a:pt x="338836" y="437007"/>
                </a:lnTo>
                <a:lnTo>
                  <a:pt x="332613" y="428485"/>
                </a:lnTo>
                <a:lnTo>
                  <a:pt x="323469" y="422694"/>
                </a:lnTo>
                <a:lnTo>
                  <a:pt x="323469" y="457962"/>
                </a:lnTo>
                <a:lnTo>
                  <a:pt x="321792" y="466382"/>
                </a:lnTo>
                <a:lnTo>
                  <a:pt x="317131" y="473011"/>
                </a:lnTo>
                <a:lnTo>
                  <a:pt x="310019" y="477367"/>
                </a:lnTo>
                <a:lnTo>
                  <a:pt x="300990" y="478917"/>
                </a:lnTo>
                <a:lnTo>
                  <a:pt x="291947" y="477367"/>
                </a:lnTo>
                <a:lnTo>
                  <a:pt x="284835" y="473011"/>
                </a:lnTo>
                <a:lnTo>
                  <a:pt x="280174" y="466382"/>
                </a:lnTo>
                <a:lnTo>
                  <a:pt x="278511" y="457962"/>
                </a:lnTo>
                <a:lnTo>
                  <a:pt x="280174" y="450253"/>
                </a:lnTo>
                <a:lnTo>
                  <a:pt x="284835" y="443534"/>
                </a:lnTo>
                <a:lnTo>
                  <a:pt x="291947" y="438810"/>
                </a:lnTo>
                <a:lnTo>
                  <a:pt x="300990" y="437007"/>
                </a:lnTo>
                <a:lnTo>
                  <a:pt x="310019" y="438810"/>
                </a:lnTo>
                <a:lnTo>
                  <a:pt x="317131" y="443534"/>
                </a:lnTo>
                <a:lnTo>
                  <a:pt x="321792" y="450253"/>
                </a:lnTo>
                <a:lnTo>
                  <a:pt x="323469" y="457962"/>
                </a:lnTo>
                <a:lnTo>
                  <a:pt x="323469" y="422694"/>
                </a:lnTo>
                <a:lnTo>
                  <a:pt x="318300" y="419404"/>
                </a:lnTo>
                <a:lnTo>
                  <a:pt x="312420" y="418274"/>
                </a:lnTo>
                <a:lnTo>
                  <a:pt x="312420" y="311785"/>
                </a:lnTo>
                <a:lnTo>
                  <a:pt x="339991" y="306565"/>
                </a:lnTo>
                <a:lnTo>
                  <a:pt x="361302" y="292989"/>
                </a:lnTo>
                <a:lnTo>
                  <a:pt x="371703" y="286372"/>
                </a:lnTo>
                <a:lnTo>
                  <a:pt x="380288" y="274269"/>
                </a:lnTo>
                <a:lnTo>
                  <a:pt x="446925" y="300672"/>
                </a:lnTo>
                <a:lnTo>
                  <a:pt x="446532" y="302514"/>
                </a:lnTo>
                <a:lnTo>
                  <a:pt x="450049" y="318655"/>
                </a:lnTo>
                <a:lnTo>
                  <a:pt x="459625" y="332003"/>
                </a:lnTo>
                <a:lnTo>
                  <a:pt x="473684" y="341083"/>
                </a:lnTo>
                <a:lnTo>
                  <a:pt x="490728" y="344424"/>
                </a:lnTo>
                <a:lnTo>
                  <a:pt x="507695" y="341083"/>
                </a:lnTo>
                <a:lnTo>
                  <a:pt x="521766" y="332003"/>
                </a:lnTo>
                <a:lnTo>
                  <a:pt x="527900" y="323469"/>
                </a:lnTo>
                <a:lnTo>
                  <a:pt x="531368" y="318655"/>
                </a:lnTo>
                <a:lnTo>
                  <a:pt x="534924" y="302514"/>
                </a:lnTo>
                <a:lnTo>
                  <a:pt x="531368" y="286385"/>
                </a:lnTo>
                <a:lnTo>
                  <a:pt x="527900" y="281559"/>
                </a:lnTo>
                <a:lnTo>
                  <a:pt x="521779" y="273037"/>
                </a:lnTo>
                <a:lnTo>
                  <a:pt x="512826" y="267271"/>
                </a:lnTo>
                <a:lnTo>
                  <a:pt x="512826" y="302514"/>
                </a:lnTo>
                <a:lnTo>
                  <a:pt x="511175" y="310934"/>
                </a:lnTo>
                <a:lnTo>
                  <a:pt x="506577" y="317563"/>
                </a:lnTo>
                <a:lnTo>
                  <a:pt x="499579" y="321919"/>
                </a:lnTo>
                <a:lnTo>
                  <a:pt x="490728" y="323469"/>
                </a:lnTo>
                <a:lnTo>
                  <a:pt x="481799" y="321919"/>
                </a:lnTo>
                <a:lnTo>
                  <a:pt x="474814" y="317563"/>
                </a:lnTo>
                <a:lnTo>
                  <a:pt x="470255" y="310934"/>
                </a:lnTo>
                <a:lnTo>
                  <a:pt x="468630" y="302514"/>
                </a:lnTo>
                <a:lnTo>
                  <a:pt x="470255" y="294805"/>
                </a:lnTo>
                <a:lnTo>
                  <a:pt x="474814" y="288086"/>
                </a:lnTo>
                <a:lnTo>
                  <a:pt x="481799" y="283362"/>
                </a:lnTo>
                <a:lnTo>
                  <a:pt x="490728" y="281559"/>
                </a:lnTo>
                <a:lnTo>
                  <a:pt x="499579" y="283362"/>
                </a:lnTo>
                <a:lnTo>
                  <a:pt x="506577" y="288086"/>
                </a:lnTo>
                <a:lnTo>
                  <a:pt x="511175" y="294805"/>
                </a:lnTo>
                <a:lnTo>
                  <a:pt x="512826" y="302514"/>
                </a:lnTo>
                <a:lnTo>
                  <a:pt x="512826" y="267271"/>
                </a:lnTo>
                <a:lnTo>
                  <a:pt x="507695" y="263956"/>
                </a:lnTo>
                <a:lnTo>
                  <a:pt x="490728" y="260604"/>
                </a:lnTo>
                <a:lnTo>
                  <a:pt x="473684" y="263956"/>
                </a:lnTo>
                <a:lnTo>
                  <a:pt x="459625" y="273037"/>
                </a:lnTo>
                <a:lnTo>
                  <a:pt x="454748" y="279831"/>
                </a:lnTo>
                <a:lnTo>
                  <a:pt x="393204" y="255447"/>
                </a:lnTo>
                <a:lnTo>
                  <a:pt x="400812" y="219456"/>
                </a:lnTo>
                <a:lnTo>
                  <a:pt x="393014" y="182575"/>
                </a:lnTo>
                <a:lnTo>
                  <a:pt x="379018" y="162877"/>
                </a:lnTo>
                <a:lnTo>
                  <a:pt x="469265" y="77635"/>
                </a:lnTo>
                <a:lnTo>
                  <a:pt x="473684" y="80479"/>
                </a:lnTo>
                <a:lnTo>
                  <a:pt x="490728" y="83820"/>
                </a:lnTo>
                <a:lnTo>
                  <a:pt x="507695" y="80479"/>
                </a:lnTo>
                <a:lnTo>
                  <a:pt x="521779" y="71399"/>
                </a:lnTo>
                <a:lnTo>
                  <a:pt x="527900" y="62865"/>
                </a:lnTo>
                <a:lnTo>
                  <a:pt x="531368" y="58051"/>
                </a:lnTo>
                <a:lnTo>
                  <a:pt x="534924" y="41910"/>
                </a:lnTo>
                <a:close/>
              </a:path>
            </a:pathLst>
          </a:custGeom>
          <a:solidFill>
            <a:srgbClr val="A000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9" name="object 19"/>
          <p:cNvGrpSpPr/>
          <p:nvPr/>
        </p:nvGrpSpPr>
        <p:grpSpPr>
          <a:xfrm>
            <a:off x="5574791" y="5495544"/>
            <a:ext cx="480059" cy="448309"/>
            <a:chOff x="5574791" y="5495544"/>
            <a:chExt cx="480059" cy="448309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79007" y="5495544"/>
              <a:ext cx="275843" cy="20421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74791" y="5535168"/>
              <a:ext cx="184404" cy="222503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06795" y="5777484"/>
              <a:ext cx="193548" cy="16611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5836919" y="5878068"/>
              <a:ext cx="60960" cy="58419"/>
            </a:xfrm>
            <a:custGeom>
              <a:avLst/>
              <a:gdLst/>
              <a:ahLst/>
              <a:cxnLst/>
              <a:rect l="l" t="t" r="r" b="b"/>
              <a:pathLst>
                <a:path w="60960" h="58420">
                  <a:moveTo>
                    <a:pt x="30479" y="0"/>
                  </a:moveTo>
                  <a:lnTo>
                    <a:pt x="18591" y="2261"/>
                  </a:lnTo>
                  <a:lnTo>
                    <a:pt x="8905" y="8443"/>
                  </a:lnTo>
                  <a:lnTo>
                    <a:pt x="2387" y="17643"/>
                  </a:lnTo>
                  <a:lnTo>
                    <a:pt x="0" y="28955"/>
                  </a:lnTo>
                  <a:lnTo>
                    <a:pt x="2387" y="40268"/>
                  </a:lnTo>
                  <a:lnTo>
                    <a:pt x="8905" y="49468"/>
                  </a:lnTo>
                  <a:lnTo>
                    <a:pt x="18591" y="55650"/>
                  </a:lnTo>
                  <a:lnTo>
                    <a:pt x="30479" y="57911"/>
                  </a:lnTo>
                  <a:lnTo>
                    <a:pt x="42368" y="55650"/>
                  </a:lnTo>
                  <a:lnTo>
                    <a:pt x="52054" y="49468"/>
                  </a:lnTo>
                  <a:lnTo>
                    <a:pt x="58572" y="40268"/>
                  </a:lnTo>
                  <a:lnTo>
                    <a:pt x="58923" y="38607"/>
                  </a:lnTo>
                  <a:lnTo>
                    <a:pt x="25400" y="38607"/>
                  </a:lnTo>
                  <a:lnTo>
                    <a:pt x="20319" y="33781"/>
                  </a:lnTo>
                  <a:lnTo>
                    <a:pt x="20319" y="22517"/>
                  </a:lnTo>
                  <a:lnTo>
                    <a:pt x="25400" y="19303"/>
                  </a:lnTo>
                  <a:lnTo>
                    <a:pt x="58923" y="19303"/>
                  </a:lnTo>
                  <a:lnTo>
                    <a:pt x="58572" y="17643"/>
                  </a:lnTo>
                  <a:lnTo>
                    <a:pt x="52054" y="8443"/>
                  </a:lnTo>
                  <a:lnTo>
                    <a:pt x="42368" y="2261"/>
                  </a:lnTo>
                  <a:lnTo>
                    <a:pt x="30479" y="0"/>
                  </a:lnTo>
                  <a:close/>
                </a:path>
                <a:path w="60960" h="58420">
                  <a:moveTo>
                    <a:pt x="58923" y="19303"/>
                  </a:moveTo>
                  <a:lnTo>
                    <a:pt x="35559" y="19303"/>
                  </a:lnTo>
                  <a:lnTo>
                    <a:pt x="40639" y="22517"/>
                  </a:lnTo>
                  <a:lnTo>
                    <a:pt x="40639" y="33781"/>
                  </a:lnTo>
                  <a:lnTo>
                    <a:pt x="35559" y="38607"/>
                  </a:lnTo>
                  <a:lnTo>
                    <a:pt x="58923" y="38607"/>
                  </a:lnTo>
                  <a:lnTo>
                    <a:pt x="60959" y="28955"/>
                  </a:lnTo>
                  <a:lnTo>
                    <a:pt x="58923" y="19303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20739" y="5768340"/>
              <a:ext cx="102108" cy="121919"/>
            </a:xfrm>
            <a:prstGeom prst="rect">
              <a:avLst/>
            </a:prstGeom>
          </p:spPr>
        </p:pic>
      </p:grpSp>
      <p:grpSp>
        <p:nvGrpSpPr>
          <p:cNvPr id="25" name="object 25"/>
          <p:cNvGrpSpPr/>
          <p:nvPr/>
        </p:nvGrpSpPr>
        <p:grpSpPr>
          <a:xfrm>
            <a:off x="5550408" y="2592323"/>
            <a:ext cx="528955" cy="506095"/>
            <a:chOff x="5550408" y="2592323"/>
            <a:chExt cx="528955" cy="506095"/>
          </a:xfrm>
        </p:grpSpPr>
        <p:sp>
          <p:nvSpPr>
            <p:cNvPr id="26" name="object 26"/>
            <p:cNvSpPr/>
            <p:nvPr/>
          </p:nvSpPr>
          <p:spPr>
            <a:xfrm>
              <a:off x="5550408" y="2592323"/>
              <a:ext cx="375285" cy="464820"/>
            </a:xfrm>
            <a:custGeom>
              <a:avLst/>
              <a:gdLst/>
              <a:ahLst/>
              <a:cxnLst/>
              <a:rect l="l" t="t" r="r" b="b"/>
              <a:pathLst>
                <a:path w="375285" h="464819">
                  <a:moveTo>
                    <a:pt x="257301" y="0"/>
                  </a:moveTo>
                  <a:lnTo>
                    <a:pt x="5461" y="0"/>
                  </a:lnTo>
                  <a:lnTo>
                    <a:pt x="0" y="5334"/>
                  </a:lnTo>
                  <a:lnTo>
                    <a:pt x="0" y="461263"/>
                  </a:lnTo>
                  <a:lnTo>
                    <a:pt x="5461" y="464820"/>
                  </a:lnTo>
                  <a:lnTo>
                    <a:pt x="198500" y="464820"/>
                  </a:lnTo>
                  <a:lnTo>
                    <a:pt x="198500" y="443738"/>
                  </a:lnTo>
                  <a:lnTo>
                    <a:pt x="22097" y="443738"/>
                  </a:lnTo>
                  <a:lnTo>
                    <a:pt x="22097" y="21081"/>
                  </a:lnTo>
                  <a:lnTo>
                    <a:pt x="279269" y="21081"/>
                  </a:lnTo>
                  <a:lnTo>
                    <a:pt x="260984" y="3555"/>
                  </a:lnTo>
                  <a:lnTo>
                    <a:pt x="259079" y="1777"/>
                  </a:lnTo>
                  <a:lnTo>
                    <a:pt x="257301" y="0"/>
                  </a:lnTo>
                  <a:close/>
                </a:path>
                <a:path w="375285" h="464819">
                  <a:moveTo>
                    <a:pt x="279269" y="21081"/>
                  </a:moveTo>
                  <a:lnTo>
                    <a:pt x="249936" y="21081"/>
                  </a:lnTo>
                  <a:lnTo>
                    <a:pt x="352805" y="121538"/>
                  </a:lnTo>
                  <a:lnTo>
                    <a:pt x="352805" y="274700"/>
                  </a:lnTo>
                  <a:lnTo>
                    <a:pt x="374903" y="274700"/>
                  </a:lnTo>
                  <a:lnTo>
                    <a:pt x="374903" y="114426"/>
                  </a:lnTo>
                  <a:lnTo>
                    <a:pt x="373125" y="110871"/>
                  </a:lnTo>
                  <a:lnTo>
                    <a:pt x="371220" y="109220"/>
                  </a:lnTo>
                  <a:lnTo>
                    <a:pt x="279269" y="21081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92724" y="2592323"/>
              <a:ext cx="132587" cy="126491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814060" y="2845307"/>
              <a:ext cx="265430" cy="253365"/>
            </a:xfrm>
            <a:custGeom>
              <a:avLst/>
              <a:gdLst/>
              <a:ahLst/>
              <a:cxnLst/>
              <a:rect l="l" t="t" r="r" b="b"/>
              <a:pathLst>
                <a:path w="265429" h="253364">
                  <a:moveTo>
                    <a:pt x="265176" y="61468"/>
                  </a:moveTo>
                  <a:lnTo>
                    <a:pt x="263271" y="57912"/>
                  </a:lnTo>
                  <a:lnTo>
                    <a:pt x="261493" y="56261"/>
                  </a:lnTo>
                  <a:lnTo>
                    <a:pt x="239395" y="35191"/>
                  </a:lnTo>
                  <a:lnTo>
                    <a:pt x="239395" y="63246"/>
                  </a:lnTo>
                  <a:lnTo>
                    <a:pt x="209423" y="91833"/>
                  </a:lnTo>
                  <a:lnTo>
                    <a:pt x="194678" y="77330"/>
                  </a:lnTo>
                  <a:lnTo>
                    <a:pt x="194678" y="105905"/>
                  </a:lnTo>
                  <a:lnTo>
                    <a:pt x="82804" y="212598"/>
                  </a:lnTo>
                  <a:lnTo>
                    <a:pt x="27559" y="228346"/>
                  </a:lnTo>
                  <a:lnTo>
                    <a:pt x="42291" y="173863"/>
                  </a:lnTo>
                  <a:lnTo>
                    <a:pt x="155397" y="67271"/>
                  </a:lnTo>
                  <a:lnTo>
                    <a:pt x="194678" y="105905"/>
                  </a:lnTo>
                  <a:lnTo>
                    <a:pt x="194678" y="77330"/>
                  </a:lnTo>
                  <a:lnTo>
                    <a:pt x="170243" y="53289"/>
                  </a:lnTo>
                  <a:lnTo>
                    <a:pt x="198882" y="26289"/>
                  </a:lnTo>
                  <a:lnTo>
                    <a:pt x="239395" y="63246"/>
                  </a:lnTo>
                  <a:lnTo>
                    <a:pt x="239395" y="35191"/>
                  </a:lnTo>
                  <a:lnTo>
                    <a:pt x="230073" y="26289"/>
                  </a:lnTo>
                  <a:lnTo>
                    <a:pt x="206248" y="3556"/>
                  </a:lnTo>
                  <a:lnTo>
                    <a:pt x="202565" y="0"/>
                  </a:lnTo>
                  <a:lnTo>
                    <a:pt x="195199" y="0"/>
                  </a:lnTo>
                  <a:lnTo>
                    <a:pt x="191516" y="3556"/>
                  </a:lnTo>
                  <a:lnTo>
                    <a:pt x="25781" y="161671"/>
                  </a:lnTo>
                  <a:lnTo>
                    <a:pt x="24003" y="163322"/>
                  </a:lnTo>
                  <a:lnTo>
                    <a:pt x="24003" y="165100"/>
                  </a:lnTo>
                  <a:lnTo>
                    <a:pt x="22098" y="166878"/>
                  </a:lnTo>
                  <a:lnTo>
                    <a:pt x="0" y="240665"/>
                  </a:lnTo>
                  <a:lnTo>
                    <a:pt x="0" y="247650"/>
                  </a:lnTo>
                  <a:lnTo>
                    <a:pt x="3683" y="249428"/>
                  </a:lnTo>
                  <a:lnTo>
                    <a:pt x="5461" y="252984"/>
                  </a:lnTo>
                  <a:lnTo>
                    <a:pt x="14732" y="252984"/>
                  </a:lnTo>
                  <a:lnTo>
                    <a:pt x="92075" y="231902"/>
                  </a:lnTo>
                  <a:lnTo>
                    <a:pt x="93853" y="231902"/>
                  </a:lnTo>
                  <a:lnTo>
                    <a:pt x="95758" y="230124"/>
                  </a:lnTo>
                  <a:lnTo>
                    <a:pt x="95758" y="228346"/>
                  </a:lnTo>
                  <a:lnTo>
                    <a:pt x="261493" y="70231"/>
                  </a:lnTo>
                  <a:lnTo>
                    <a:pt x="263271" y="68453"/>
                  </a:lnTo>
                  <a:lnTo>
                    <a:pt x="265176" y="66802"/>
                  </a:lnTo>
                  <a:lnTo>
                    <a:pt x="265176" y="61468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5396" y="3003803"/>
              <a:ext cx="80771" cy="73151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617464" y="2845307"/>
              <a:ext cx="86868" cy="8534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82996" y="2740151"/>
              <a:ext cx="88391" cy="838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748528" y="2845307"/>
              <a:ext cx="88392" cy="85343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4940680" y="1527047"/>
            <a:ext cx="295910" cy="4989830"/>
            <a:chOff x="4940680" y="1527047"/>
            <a:chExt cx="295910" cy="4989830"/>
          </a:xfrm>
        </p:grpSpPr>
        <p:sp>
          <p:nvSpPr>
            <p:cNvPr id="34" name="object 34"/>
            <p:cNvSpPr/>
            <p:nvPr/>
          </p:nvSpPr>
          <p:spPr>
            <a:xfrm>
              <a:off x="4943855" y="1527047"/>
              <a:ext cx="0" cy="4989830"/>
            </a:xfrm>
            <a:custGeom>
              <a:avLst/>
              <a:gdLst/>
              <a:ahLst/>
              <a:cxnLst/>
              <a:rect l="l" t="t" r="r" b="b"/>
              <a:pathLst>
                <a:path h="4989830">
                  <a:moveTo>
                    <a:pt x="0" y="0"/>
                  </a:moveTo>
                  <a:lnTo>
                    <a:pt x="0" y="4989258"/>
                  </a:lnTo>
                </a:path>
              </a:pathLst>
            </a:custGeom>
            <a:ln w="6350">
              <a:solidFill>
                <a:srgbClr val="46007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959095" y="2999231"/>
              <a:ext cx="277495" cy="1906905"/>
            </a:xfrm>
            <a:custGeom>
              <a:avLst/>
              <a:gdLst/>
              <a:ahLst/>
              <a:cxnLst/>
              <a:rect l="l" t="t" r="r" b="b"/>
              <a:pathLst>
                <a:path w="277495" h="1906904">
                  <a:moveTo>
                    <a:pt x="22225" y="0"/>
                  </a:moveTo>
                  <a:lnTo>
                    <a:pt x="0" y="0"/>
                  </a:lnTo>
                  <a:lnTo>
                    <a:pt x="255142" y="953261"/>
                  </a:lnTo>
                  <a:lnTo>
                    <a:pt x="0" y="1906523"/>
                  </a:lnTo>
                  <a:lnTo>
                    <a:pt x="22225" y="1906523"/>
                  </a:lnTo>
                  <a:lnTo>
                    <a:pt x="277367" y="953261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600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8868156" y="1527047"/>
            <a:ext cx="277495" cy="4989830"/>
            <a:chOff x="8868156" y="1527047"/>
            <a:chExt cx="277495" cy="4989830"/>
          </a:xfrm>
        </p:grpSpPr>
        <p:sp>
          <p:nvSpPr>
            <p:cNvPr id="37" name="object 37"/>
            <p:cNvSpPr/>
            <p:nvPr/>
          </p:nvSpPr>
          <p:spPr>
            <a:xfrm>
              <a:off x="8875776" y="1527047"/>
              <a:ext cx="0" cy="4989830"/>
            </a:xfrm>
            <a:custGeom>
              <a:avLst/>
              <a:gdLst/>
              <a:ahLst/>
              <a:cxnLst/>
              <a:rect l="l" t="t" r="r" b="b"/>
              <a:pathLst>
                <a:path h="4989830">
                  <a:moveTo>
                    <a:pt x="0" y="0"/>
                  </a:moveTo>
                  <a:lnTo>
                    <a:pt x="0" y="4989258"/>
                  </a:lnTo>
                </a:path>
              </a:pathLst>
            </a:custGeom>
            <a:ln w="6350">
              <a:solidFill>
                <a:srgbClr val="460073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68156" y="2898647"/>
              <a:ext cx="277495" cy="1905000"/>
            </a:xfrm>
            <a:custGeom>
              <a:avLst/>
              <a:gdLst/>
              <a:ahLst/>
              <a:cxnLst/>
              <a:rect l="l" t="t" r="r" b="b"/>
              <a:pathLst>
                <a:path w="277495" h="1905000">
                  <a:moveTo>
                    <a:pt x="22225" y="0"/>
                  </a:moveTo>
                  <a:lnTo>
                    <a:pt x="0" y="0"/>
                  </a:lnTo>
                  <a:lnTo>
                    <a:pt x="255143" y="952500"/>
                  </a:lnTo>
                  <a:lnTo>
                    <a:pt x="0" y="1905000"/>
                  </a:lnTo>
                  <a:lnTo>
                    <a:pt x="22225" y="1905000"/>
                  </a:lnTo>
                  <a:lnTo>
                    <a:pt x="277368" y="952500"/>
                  </a:lnTo>
                  <a:lnTo>
                    <a:pt x="22225" y="0"/>
                  </a:lnTo>
                  <a:close/>
                </a:path>
              </a:pathLst>
            </a:custGeom>
            <a:solidFill>
              <a:srgbClr val="46007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33857" y="901446"/>
            <a:ext cx="1119251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600" spc="-25" dirty="0" smtClean="0">
                <a:latin typeface="微软雅黑"/>
                <a:cs typeface="微软雅黑"/>
              </a:rPr>
              <a:t>基于行业洞察和经验</a:t>
            </a:r>
            <a:r>
              <a:rPr sz="1600" spc="-25" dirty="0">
                <a:latin typeface="微软雅黑"/>
                <a:cs typeface="微软雅黑"/>
              </a:rPr>
              <a:t>，传统</a:t>
            </a:r>
            <a:r>
              <a:rPr sz="1600" spc="-10" dirty="0">
                <a:latin typeface="微软雅黑"/>
                <a:cs typeface="微软雅黑"/>
              </a:rPr>
              <a:t>行</a:t>
            </a:r>
            <a:r>
              <a:rPr sz="1600" spc="-25" dirty="0">
                <a:latin typeface="微软雅黑"/>
                <a:cs typeface="微软雅黑"/>
              </a:rPr>
              <a:t>业的</a:t>
            </a:r>
            <a:r>
              <a:rPr sz="1600" spc="-10" dirty="0">
                <a:latin typeface="微软雅黑"/>
                <a:cs typeface="微软雅黑"/>
              </a:rPr>
              <a:t>集</a:t>
            </a:r>
            <a:r>
              <a:rPr sz="1600" spc="-25" dirty="0">
                <a:latin typeface="微软雅黑"/>
                <a:cs typeface="微软雅黑"/>
              </a:rPr>
              <a:t>团公</a:t>
            </a:r>
            <a:r>
              <a:rPr sz="1600" spc="-10" dirty="0">
                <a:latin typeface="微软雅黑"/>
                <a:cs typeface="微软雅黑"/>
              </a:rPr>
              <a:t>司</a:t>
            </a:r>
            <a:r>
              <a:rPr sz="1600" spc="-25" dirty="0">
                <a:latin typeface="微软雅黑"/>
                <a:cs typeface="微软雅黑"/>
              </a:rPr>
              <a:t>在数</a:t>
            </a:r>
            <a:r>
              <a:rPr sz="1600" spc="-10" dirty="0">
                <a:latin typeface="微软雅黑"/>
                <a:cs typeface="微软雅黑"/>
              </a:rPr>
              <a:t>字</a:t>
            </a:r>
            <a:r>
              <a:rPr sz="1600" spc="-25" dirty="0">
                <a:latin typeface="微软雅黑"/>
                <a:cs typeface="微软雅黑"/>
              </a:rPr>
              <a:t>化过</a:t>
            </a:r>
            <a:r>
              <a:rPr sz="1600" spc="-10" dirty="0">
                <a:latin typeface="微软雅黑"/>
                <a:cs typeface="微软雅黑"/>
              </a:rPr>
              <a:t>程</a:t>
            </a:r>
            <a:r>
              <a:rPr sz="1600" spc="-25" dirty="0">
                <a:latin typeface="微软雅黑"/>
                <a:cs typeface="微软雅黑"/>
              </a:rPr>
              <a:t>中</a:t>
            </a:r>
            <a:r>
              <a:rPr sz="1600" spc="-20" dirty="0">
                <a:latin typeface="微软雅黑"/>
                <a:cs typeface="微软雅黑"/>
              </a:rPr>
              <a:t>，面</a:t>
            </a:r>
            <a:r>
              <a:rPr sz="1600" spc="-25" dirty="0">
                <a:latin typeface="微软雅黑"/>
                <a:cs typeface="微软雅黑"/>
              </a:rPr>
              <a:t>临传</a:t>
            </a:r>
            <a:r>
              <a:rPr sz="1600" spc="-10" dirty="0">
                <a:latin typeface="微软雅黑"/>
                <a:cs typeface="微软雅黑"/>
              </a:rPr>
              <a:t>统</a:t>
            </a:r>
            <a:r>
              <a:rPr sz="1600" spc="-25" dirty="0">
                <a:latin typeface="微软雅黑"/>
                <a:cs typeface="微软雅黑"/>
              </a:rPr>
              <a:t>架构</a:t>
            </a:r>
            <a:r>
              <a:rPr sz="1600" spc="-10" dirty="0">
                <a:latin typeface="微软雅黑"/>
                <a:cs typeface="微软雅黑"/>
              </a:rPr>
              <a:t>难</a:t>
            </a:r>
            <a:r>
              <a:rPr sz="1600" spc="-25" dirty="0">
                <a:latin typeface="微软雅黑"/>
                <a:cs typeface="微软雅黑"/>
              </a:rPr>
              <a:t>以支</a:t>
            </a:r>
            <a:r>
              <a:rPr sz="1600" spc="-10" dirty="0">
                <a:latin typeface="微软雅黑"/>
                <a:cs typeface="微软雅黑"/>
              </a:rPr>
              <a:t>撑</a:t>
            </a:r>
            <a:r>
              <a:rPr sz="1600" spc="-25" dirty="0">
                <a:latin typeface="微软雅黑"/>
                <a:cs typeface="微软雅黑"/>
              </a:rPr>
              <a:t>复杂</a:t>
            </a:r>
            <a:r>
              <a:rPr sz="1600" spc="-10" dirty="0">
                <a:latin typeface="微软雅黑"/>
                <a:cs typeface="微软雅黑"/>
              </a:rPr>
              <a:t>业</a:t>
            </a:r>
            <a:r>
              <a:rPr sz="1600" spc="-25" dirty="0">
                <a:latin typeface="微软雅黑"/>
                <a:cs typeface="微软雅黑"/>
              </a:rPr>
              <a:t>务的</a:t>
            </a:r>
            <a:r>
              <a:rPr sz="1600" spc="-10" dirty="0">
                <a:latin typeface="微软雅黑"/>
                <a:cs typeface="微软雅黑"/>
              </a:rPr>
              <a:t>挑</a:t>
            </a:r>
            <a:r>
              <a:rPr sz="1600" spc="-25" dirty="0">
                <a:latin typeface="微软雅黑"/>
                <a:cs typeface="微软雅黑"/>
              </a:rPr>
              <a:t>战</a:t>
            </a:r>
            <a:r>
              <a:rPr sz="1600" spc="-20" dirty="0">
                <a:latin typeface="微软雅黑"/>
                <a:cs typeface="微软雅黑"/>
              </a:rPr>
              <a:t>，实</a:t>
            </a:r>
            <a:r>
              <a:rPr sz="1600" spc="-25" dirty="0">
                <a:latin typeface="微软雅黑"/>
                <a:cs typeface="微软雅黑"/>
              </a:rPr>
              <a:t>现更</a:t>
            </a:r>
            <a:r>
              <a:rPr sz="1600" spc="-10" dirty="0">
                <a:latin typeface="微软雅黑"/>
                <a:cs typeface="微软雅黑"/>
              </a:rPr>
              <a:t>好</a:t>
            </a:r>
            <a:r>
              <a:rPr sz="1600" spc="-25" dirty="0">
                <a:latin typeface="微软雅黑"/>
                <a:cs typeface="微软雅黑"/>
              </a:rPr>
              <a:t>体验</a:t>
            </a:r>
            <a:r>
              <a:rPr sz="1600" spc="-50" dirty="0">
                <a:latin typeface="微软雅黑"/>
                <a:cs typeface="微软雅黑"/>
              </a:rPr>
              <a:t>，</a:t>
            </a:r>
            <a:r>
              <a:rPr sz="1600" spc="-25" dirty="0">
                <a:latin typeface="微软雅黑"/>
                <a:cs typeface="微软雅黑"/>
              </a:rPr>
              <a:t>更高效率的数字化目标，普遍向服</a:t>
            </a:r>
            <a:r>
              <a:rPr sz="1600" spc="-10" dirty="0">
                <a:latin typeface="微软雅黑"/>
                <a:cs typeface="微软雅黑"/>
              </a:rPr>
              <a:t>务</a:t>
            </a:r>
            <a:r>
              <a:rPr sz="1600" spc="-25" dirty="0">
                <a:latin typeface="微软雅黑"/>
                <a:cs typeface="微软雅黑"/>
              </a:rPr>
              <a:t>化、</a:t>
            </a:r>
            <a:r>
              <a:rPr sz="1600" spc="-10" dirty="0">
                <a:latin typeface="微软雅黑"/>
                <a:cs typeface="微软雅黑"/>
              </a:rPr>
              <a:t>云</a:t>
            </a:r>
            <a:r>
              <a:rPr sz="1600" spc="-25" dirty="0">
                <a:latin typeface="微软雅黑"/>
                <a:cs typeface="微软雅黑"/>
              </a:rPr>
              <a:t>化、</a:t>
            </a:r>
            <a:r>
              <a:rPr sz="1600" spc="-10" dirty="0">
                <a:latin typeface="微软雅黑"/>
                <a:cs typeface="微软雅黑"/>
              </a:rPr>
              <a:t>产</a:t>
            </a:r>
            <a:r>
              <a:rPr sz="1600" spc="-25" dirty="0">
                <a:latin typeface="微软雅黑"/>
                <a:cs typeface="微软雅黑"/>
              </a:rPr>
              <a:t>品化</a:t>
            </a:r>
            <a:r>
              <a:rPr sz="1600" spc="-10" dirty="0">
                <a:latin typeface="微软雅黑"/>
                <a:cs typeface="微软雅黑"/>
              </a:rPr>
              <a:t>的</a:t>
            </a:r>
            <a:r>
              <a:rPr sz="1600" spc="-25" dirty="0">
                <a:latin typeface="微软雅黑"/>
                <a:cs typeface="微软雅黑"/>
              </a:rPr>
              <a:t>方向</a:t>
            </a:r>
            <a:r>
              <a:rPr sz="1600" spc="-10" dirty="0">
                <a:latin typeface="微软雅黑"/>
                <a:cs typeface="微软雅黑"/>
              </a:rPr>
              <a:t>进</a:t>
            </a:r>
            <a:r>
              <a:rPr sz="1600" spc="-25" dirty="0">
                <a:latin typeface="微软雅黑"/>
                <a:cs typeface="微软雅黑"/>
              </a:rPr>
              <a:t>行转</a:t>
            </a:r>
            <a:r>
              <a:rPr sz="1600" spc="-30" dirty="0">
                <a:latin typeface="微软雅黑"/>
                <a:cs typeface="微软雅黑"/>
              </a:rPr>
              <a:t>型。</a:t>
            </a:r>
            <a:endParaRPr sz="1600" dirty="0">
              <a:latin typeface="微软雅黑"/>
              <a:cs typeface="微软雅黑"/>
            </a:endParaRPr>
          </a:p>
          <a:p>
            <a:pPr marL="2586355">
              <a:lnSpc>
                <a:spcPct val="100000"/>
              </a:lnSpc>
              <a:spcBef>
                <a:spcPts val="1350"/>
              </a:spcBef>
              <a:tabLst>
                <a:tab pos="5788025" algn="l"/>
                <a:tab pos="9671685" algn="l"/>
              </a:tabLst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挑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战</a:t>
            </a:r>
            <a:r>
              <a:rPr sz="1800" b="1" dirty="0">
                <a:latin typeface="微软雅黑"/>
                <a:cs typeface="微软雅黑"/>
              </a:rPr>
              <a:t>	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数字化战略方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向</a:t>
            </a:r>
            <a:r>
              <a:rPr sz="1800" b="1" dirty="0">
                <a:latin typeface="微软雅黑"/>
                <a:cs typeface="微软雅黑"/>
              </a:rPr>
              <a:t>	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目</a:t>
            </a:r>
            <a:r>
              <a:rPr sz="1800" b="1" u="sng" spc="-50" dirty="0">
                <a:uFill>
                  <a:solidFill>
                    <a:srgbClr val="000000"/>
                  </a:solidFill>
                </a:uFill>
                <a:latin typeface="微软雅黑"/>
                <a:cs typeface="微软雅黑"/>
              </a:rPr>
              <a:t>标</a:t>
            </a:r>
            <a:endParaRPr sz="1800" dirty="0">
              <a:latin typeface="微软雅黑"/>
              <a:cs typeface="微软雅黑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>
              <a:latin typeface="黑体"/>
              <a:cs typeface="黑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>
              <a:latin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1534346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58981" y="6600152"/>
            <a:ext cx="97027" cy="7339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33857" y="220217"/>
            <a:ext cx="10608310" cy="94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35" dirty="0" err="1">
                <a:latin typeface="微软雅黑"/>
                <a:cs typeface="微软雅黑"/>
              </a:rPr>
              <a:t>基于业界实践</a:t>
            </a:r>
            <a:r>
              <a:rPr sz="2800" b="1" spc="-35" dirty="0" err="1" smtClean="0">
                <a:latin typeface="微软雅黑"/>
                <a:cs typeface="微软雅黑"/>
              </a:rPr>
              <a:t>，建议应用架构设计</a:t>
            </a:r>
            <a:r>
              <a:rPr sz="2800" b="1" spc="-40" dirty="0" err="1" smtClean="0">
                <a:latin typeface="微软雅黑"/>
                <a:cs typeface="微软雅黑"/>
              </a:rPr>
              <a:t>原则</a:t>
            </a:r>
            <a:endParaRPr sz="280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05"/>
              </a:spcBef>
            </a:pPr>
            <a:r>
              <a:rPr sz="1600" spc="-25" dirty="0">
                <a:latin typeface="微软雅黑"/>
                <a:cs typeface="微软雅黑"/>
              </a:rPr>
              <a:t>业务驱动的服务化分层分级架构</a:t>
            </a:r>
            <a:r>
              <a:rPr sz="1600" spc="-20" dirty="0">
                <a:latin typeface="微软雅黑"/>
                <a:cs typeface="微软雅黑"/>
              </a:rPr>
              <a:t>，快</a:t>
            </a:r>
            <a:r>
              <a:rPr sz="1600" spc="-25" dirty="0">
                <a:latin typeface="微软雅黑"/>
                <a:cs typeface="微软雅黑"/>
              </a:rPr>
              <a:t>速响</a:t>
            </a:r>
            <a:r>
              <a:rPr sz="1600" spc="-10" dirty="0">
                <a:latin typeface="微软雅黑"/>
                <a:cs typeface="微软雅黑"/>
              </a:rPr>
              <a:t>应</a:t>
            </a:r>
            <a:r>
              <a:rPr sz="1600" spc="-25" dirty="0">
                <a:latin typeface="微软雅黑"/>
                <a:cs typeface="微软雅黑"/>
              </a:rPr>
              <a:t>业务</a:t>
            </a:r>
            <a:r>
              <a:rPr sz="1600" spc="-20" dirty="0">
                <a:latin typeface="微软雅黑"/>
                <a:cs typeface="微软雅黑"/>
              </a:rPr>
              <a:t>，实现IT资产</a:t>
            </a:r>
            <a:r>
              <a:rPr sz="1600" spc="-25" dirty="0">
                <a:latin typeface="微软雅黑"/>
                <a:cs typeface="微软雅黑"/>
              </a:rPr>
              <a:t>复用</a:t>
            </a:r>
            <a:r>
              <a:rPr sz="1600" spc="-10" dirty="0">
                <a:latin typeface="微软雅黑"/>
                <a:cs typeface="微软雅黑"/>
              </a:rPr>
              <a:t>，</a:t>
            </a:r>
            <a:r>
              <a:rPr sz="1600" spc="-25" dirty="0">
                <a:latin typeface="微软雅黑"/>
                <a:cs typeface="微软雅黑"/>
              </a:rPr>
              <a:t>提升</a:t>
            </a:r>
            <a:r>
              <a:rPr sz="1600" spc="-10" dirty="0">
                <a:latin typeface="微软雅黑"/>
                <a:cs typeface="微软雅黑"/>
              </a:rPr>
              <a:t>用</a:t>
            </a:r>
            <a:r>
              <a:rPr sz="1600" spc="-25" dirty="0">
                <a:latin typeface="微软雅黑"/>
                <a:cs typeface="微软雅黑"/>
              </a:rPr>
              <a:t>户体</a:t>
            </a:r>
            <a:r>
              <a:rPr sz="1600" spc="-20" dirty="0">
                <a:latin typeface="微软雅黑"/>
                <a:cs typeface="微软雅黑"/>
              </a:rPr>
              <a:t>验，</a:t>
            </a:r>
            <a:r>
              <a:rPr sz="1600" spc="-25" dirty="0">
                <a:latin typeface="微软雅黑"/>
                <a:cs typeface="微软雅黑"/>
              </a:rPr>
              <a:t>保</a:t>
            </a:r>
            <a:r>
              <a:rPr sz="1600" spc="-10" dirty="0">
                <a:latin typeface="微软雅黑"/>
                <a:cs typeface="微软雅黑"/>
              </a:rPr>
              <a:t>证</a:t>
            </a:r>
            <a:r>
              <a:rPr sz="1600" spc="-25" dirty="0">
                <a:latin typeface="微软雅黑"/>
                <a:cs typeface="微软雅黑"/>
              </a:rPr>
              <a:t>架构</a:t>
            </a:r>
            <a:r>
              <a:rPr sz="1600" spc="-10" dirty="0">
                <a:latin typeface="微软雅黑"/>
                <a:cs typeface="微软雅黑"/>
              </a:rPr>
              <a:t>设</a:t>
            </a:r>
            <a:r>
              <a:rPr sz="1600" spc="-25" dirty="0">
                <a:latin typeface="微软雅黑"/>
                <a:cs typeface="微软雅黑"/>
              </a:rPr>
              <a:t>计的</a:t>
            </a:r>
            <a:r>
              <a:rPr sz="1600" spc="-10" dirty="0">
                <a:latin typeface="微软雅黑"/>
                <a:cs typeface="微软雅黑"/>
              </a:rPr>
              <a:t>前</a:t>
            </a:r>
            <a:r>
              <a:rPr sz="1600" spc="-25" dirty="0">
                <a:latin typeface="微软雅黑"/>
                <a:cs typeface="微软雅黑"/>
              </a:rPr>
              <a:t>瞻性</a:t>
            </a:r>
            <a:r>
              <a:rPr sz="1600" spc="-10" dirty="0">
                <a:latin typeface="微软雅黑"/>
                <a:cs typeface="微软雅黑"/>
              </a:rPr>
              <a:t>和</a:t>
            </a:r>
            <a:r>
              <a:rPr sz="1600" spc="-25" dirty="0">
                <a:latin typeface="微软雅黑"/>
                <a:cs typeface="微软雅黑"/>
              </a:rPr>
              <a:t>可扩</a:t>
            </a:r>
            <a:r>
              <a:rPr sz="1600" spc="-40" dirty="0">
                <a:latin typeface="微软雅黑"/>
                <a:cs typeface="微软雅黑"/>
              </a:rPr>
              <a:t>展性.</a:t>
            </a:r>
            <a:endParaRPr sz="1600" dirty="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73017" y="2091689"/>
            <a:ext cx="2395855" cy="3765133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000" b="1" spc="-20" dirty="0">
                <a:solidFill>
                  <a:srgbClr val="5F0094"/>
                </a:solidFill>
                <a:latin typeface="微软雅黑"/>
                <a:cs typeface="微软雅黑"/>
              </a:rPr>
              <a:t>服务化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微软雅黑"/>
              <a:cs typeface="微软雅黑"/>
            </a:endParaRPr>
          </a:p>
          <a:p>
            <a:pPr marL="421005" marR="32384" indent="-287020">
              <a:lnSpc>
                <a:spcPct val="100000"/>
              </a:lnSpc>
              <a:buFont typeface="Arial"/>
              <a:buChar char="•"/>
              <a:tabLst>
                <a:tab pos="421005" algn="l"/>
                <a:tab pos="421640" algn="l"/>
              </a:tabLst>
            </a:pPr>
            <a:r>
              <a:rPr sz="1400" dirty="0" err="1" smtClean="0">
                <a:latin typeface="微软雅黑"/>
                <a:cs typeface="微软雅黑"/>
              </a:rPr>
              <a:t>基于</a:t>
            </a:r>
            <a:r>
              <a:rPr sz="1400" spc="-10" dirty="0" err="1" smtClean="0">
                <a:latin typeface="微软雅黑"/>
                <a:cs typeface="微软雅黑"/>
              </a:rPr>
              <a:t>端到端业务进</a:t>
            </a:r>
            <a:r>
              <a:rPr sz="1400" spc="-5" dirty="0" err="1" smtClean="0">
                <a:latin typeface="微软雅黑"/>
                <a:cs typeface="微软雅黑"/>
              </a:rPr>
              <a:t>行数字化解耦</a:t>
            </a:r>
            <a:r>
              <a:rPr sz="1400" spc="-5" dirty="0" err="1">
                <a:latin typeface="微软雅黑"/>
                <a:cs typeface="微软雅黑"/>
              </a:rPr>
              <a:t>，模块化</a:t>
            </a:r>
            <a:r>
              <a:rPr sz="1400" dirty="0" err="1">
                <a:latin typeface="微软雅黑"/>
                <a:cs typeface="微软雅黑"/>
              </a:rPr>
              <a:t>构建</a:t>
            </a:r>
            <a:r>
              <a:rPr sz="1400" spc="-10" dirty="0" err="1">
                <a:latin typeface="微软雅黑"/>
                <a:cs typeface="微软雅黑"/>
              </a:rPr>
              <a:t>IT</a:t>
            </a:r>
            <a:r>
              <a:rPr sz="1400" spc="-20" dirty="0" err="1">
                <a:latin typeface="微软雅黑"/>
                <a:cs typeface="微软雅黑"/>
              </a:rPr>
              <a:t>资产，构建弹性、</a:t>
            </a:r>
            <a:r>
              <a:rPr sz="1400" dirty="0" err="1">
                <a:latin typeface="微软雅黑"/>
                <a:cs typeface="微软雅黑"/>
              </a:rPr>
              <a:t>敏捷的轻量级</a:t>
            </a:r>
            <a:r>
              <a:rPr sz="1400" spc="-10" dirty="0" err="1">
                <a:latin typeface="微软雅黑"/>
                <a:cs typeface="微软雅黑"/>
              </a:rPr>
              <a:t>IT</a:t>
            </a:r>
            <a:r>
              <a:rPr sz="1400" spc="-15" dirty="0" err="1">
                <a:latin typeface="微软雅黑"/>
                <a:cs typeface="微软雅黑"/>
              </a:rPr>
              <a:t>架构，快</a:t>
            </a:r>
            <a:r>
              <a:rPr sz="1400" spc="-20" dirty="0" err="1">
                <a:latin typeface="微软雅黑"/>
                <a:cs typeface="微软雅黑"/>
              </a:rPr>
              <a:t>速响应变化</a:t>
            </a:r>
            <a:endParaRPr sz="1400" dirty="0">
              <a:latin typeface="微软雅黑"/>
              <a:cs typeface="微软雅黑"/>
            </a:endParaRPr>
          </a:p>
          <a:p>
            <a:pPr marL="421005" marR="183515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421640" algn="l"/>
              </a:tabLst>
            </a:pPr>
            <a:r>
              <a:rPr sz="1400" spc="-5" dirty="0">
                <a:latin typeface="微软雅黑"/>
                <a:cs typeface="微软雅黑"/>
              </a:rPr>
              <a:t>根据业务和服务需求的增长，实现动态和灵活的伸缩，构建可扩展的</a:t>
            </a:r>
            <a:r>
              <a:rPr sz="1400" spc="-25" dirty="0">
                <a:latin typeface="微软雅黑"/>
                <a:cs typeface="微软雅黑"/>
              </a:rPr>
              <a:t>架构</a:t>
            </a:r>
            <a:endParaRPr sz="1400" dirty="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01917" y="2091688"/>
            <a:ext cx="2395855" cy="3765133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688975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用户体验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微软雅黑"/>
              <a:cs typeface="微软雅黑"/>
            </a:endParaRPr>
          </a:p>
          <a:p>
            <a:pPr marL="422909" marR="181610" indent="-28702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1400" spc="-5" dirty="0">
                <a:latin typeface="微软雅黑"/>
                <a:cs typeface="微软雅黑"/>
              </a:rPr>
              <a:t>从后端应用系统的整合到前端客户体验驱动的</a:t>
            </a:r>
            <a:r>
              <a:rPr sz="1400" spc="-25" dirty="0">
                <a:latin typeface="微软雅黑"/>
                <a:cs typeface="微软雅黑"/>
              </a:rPr>
              <a:t>转变</a:t>
            </a:r>
            <a:endParaRPr sz="14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900" dirty="0">
              <a:latin typeface="微软雅黑"/>
              <a:cs typeface="微软雅黑"/>
            </a:endParaRPr>
          </a:p>
          <a:p>
            <a:pPr marL="422909" marR="181610" indent="-287020" algn="just">
              <a:lnSpc>
                <a:spcPct val="100000"/>
              </a:lnSpc>
              <a:buFont typeface="Arial"/>
              <a:buChar char="•"/>
              <a:tabLst>
                <a:tab pos="423545" algn="l"/>
              </a:tabLst>
            </a:pPr>
            <a:r>
              <a:rPr sz="1400" spc="-1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采用</a:t>
            </a:r>
            <a:r>
              <a:rPr sz="14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Design</a:t>
            </a:r>
            <a:r>
              <a:rPr sz="1400" spc="-25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 </a:t>
            </a:r>
            <a:r>
              <a:rPr sz="1400" spc="-10" dirty="0" err="1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Thinking</a:t>
            </a:r>
            <a:r>
              <a:rPr sz="1400" spc="-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思维驱动用户画像及</a:t>
            </a:r>
            <a:r>
              <a:rPr lang="zh-CN" altLang="en-US" sz="1400" spc="-5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旅程</a:t>
            </a:r>
            <a:r>
              <a:rPr sz="1400" spc="-5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前</a:t>
            </a:r>
            <a:r>
              <a:rPr sz="1400" spc="-10" dirty="0" err="1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/>
              </a:rPr>
              <a:t>台交互体验设计</a:t>
            </a:r>
            <a:endParaRPr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875014" y="2091690"/>
            <a:ext cx="2395855" cy="3765132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>
              <a:latin typeface="Times New Roman"/>
              <a:cs typeface="Times New Roman"/>
            </a:endParaRPr>
          </a:p>
          <a:p>
            <a:pPr marL="690245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共享复用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微软雅黑"/>
              <a:cs typeface="微软雅黑"/>
            </a:endParaRPr>
          </a:p>
          <a:p>
            <a:pPr marL="378460" marR="179070" indent="-287020">
              <a:lnSpc>
                <a:spcPct val="100000"/>
              </a:lnSpc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sz="1400" dirty="0">
                <a:latin typeface="微软雅黑"/>
                <a:cs typeface="微软雅黑"/>
              </a:rPr>
              <a:t>整合业界成熟的SaaS</a:t>
            </a:r>
            <a:r>
              <a:rPr sz="1400" spc="-50" dirty="0">
                <a:latin typeface="微软雅黑"/>
                <a:cs typeface="微软雅黑"/>
              </a:rPr>
              <a:t>服</a:t>
            </a:r>
            <a:r>
              <a:rPr sz="1400" spc="-10" dirty="0">
                <a:latin typeface="微软雅黑"/>
                <a:cs typeface="微软雅黑"/>
              </a:rPr>
              <a:t>务及软件包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Font typeface="Arial"/>
              <a:buChar char="•"/>
            </a:pPr>
            <a:endParaRPr sz="900">
              <a:latin typeface="微软雅黑"/>
              <a:cs typeface="微软雅黑"/>
            </a:endParaRPr>
          </a:p>
          <a:p>
            <a:pPr marL="378460" indent="-287020">
              <a:lnSpc>
                <a:spcPct val="100000"/>
              </a:lnSpc>
              <a:buFont typeface="Arial"/>
              <a:buChar char="•"/>
              <a:tabLst>
                <a:tab pos="378460" algn="l"/>
                <a:tab pos="379095" algn="l"/>
              </a:tabLst>
            </a:pPr>
            <a:r>
              <a:rPr sz="1400" spc="-20" dirty="0">
                <a:latin typeface="微软雅黑"/>
                <a:cs typeface="微软雅黑"/>
              </a:rPr>
              <a:t>共享集团公用服务能力，</a:t>
            </a:r>
            <a:endParaRPr sz="1400">
              <a:latin typeface="微软雅黑"/>
              <a:cs typeface="微软雅黑"/>
            </a:endParaRPr>
          </a:p>
          <a:p>
            <a:pPr marL="378460">
              <a:lnSpc>
                <a:spcPct val="100000"/>
              </a:lnSpc>
            </a:pPr>
            <a:r>
              <a:rPr sz="1400" spc="-10" dirty="0">
                <a:latin typeface="微软雅黑"/>
                <a:cs typeface="微软雅黑"/>
              </a:rPr>
              <a:t>实现IT</a:t>
            </a:r>
            <a:r>
              <a:rPr sz="1400" spc="-20" dirty="0">
                <a:latin typeface="微软雅黑"/>
                <a:cs typeface="微软雅黑"/>
              </a:rPr>
              <a:t>资产的复用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5820" y="1467548"/>
            <a:ext cx="10989945" cy="475615"/>
            <a:chOff x="595820" y="1467548"/>
            <a:chExt cx="10989945" cy="475615"/>
          </a:xfrm>
        </p:grpSpPr>
        <p:sp>
          <p:nvSpPr>
            <p:cNvPr id="8" name="object 8"/>
            <p:cNvSpPr/>
            <p:nvPr/>
          </p:nvSpPr>
          <p:spPr>
            <a:xfrm>
              <a:off x="597408" y="1469136"/>
              <a:ext cx="10986770" cy="472440"/>
            </a:xfrm>
            <a:custGeom>
              <a:avLst/>
              <a:gdLst/>
              <a:ahLst/>
              <a:cxnLst/>
              <a:rect l="l" t="t" r="r" b="b"/>
              <a:pathLst>
                <a:path w="10986770" h="472439">
                  <a:moveTo>
                    <a:pt x="10986516" y="0"/>
                  </a:moveTo>
                  <a:lnTo>
                    <a:pt x="0" y="0"/>
                  </a:lnTo>
                  <a:lnTo>
                    <a:pt x="0" y="472439"/>
                  </a:lnTo>
                  <a:lnTo>
                    <a:pt x="10986516" y="472439"/>
                  </a:lnTo>
                  <a:lnTo>
                    <a:pt x="10986516" y="0"/>
                  </a:lnTo>
                  <a:close/>
                </a:path>
              </a:pathLst>
            </a:custGeom>
            <a:solidFill>
              <a:srgbClr val="7500C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97408" y="1469136"/>
              <a:ext cx="10986770" cy="472440"/>
            </a:xfrm>
            <a:custGeom>
              <a:avLst/>
              <a:gdLst/>
              <a:ahLst/>
              <a:cxnLst/>
              <a:rect l="l" t="t" r="r" b="b"/>
              <a:pathLst>
                <a:path w="10986770" h="472439">
                  <a:moveTo>
                    <a:pt x="0" y="472439"/>
                  </a:moveTo>
                  <a:lnTo>
                    <a:pt x="10986516" y="472439"/>
                  </a:lnTo>
                  <a:lnTo>
                    <a:pt x="10986516" y="0"/>
                  </a:lnTo>
                  <a:lnTo>
                    <a:pt x="0" y="0"/>
                  </a:lnTo>
                  <a:lnTo>
                    <a:pt x="0" y="472439"/>
                  </a:lnTo>
                  <a:close/>
                </a:path>
              </a:pathLst>
            </a:custGeom>
            <a:ln w="317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4929378" y="1547240"/>
            <a:ext cx="232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 err="1" smtClean="0">
                <a:solidFill>
                  <a:srgbClr val="FFFFFF"/>
                </a:solidFill>
                <a:latin typeface="微软雅黑"/>
                <a:cs typeface="微软雅黑"/>
              </a:rPr>
              <a:t>应用架构设计原则</a:t>
            </a:r>
            <a:endParaRPr sz="1800" dirty="0">
              <a:latin typeface="微软雅黑"/>
              <a:cs typeface="微软雅黑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603313" y="1936813"/>
            <a:ext cx="10996295" cy="4333240"/>
            <a:chOff x="603313" y="1936813"/>
            <a:chExt cx="10996295" cy="4333240"/>
          </a:xfrm>
        </p:grpSpPr>
        <p:sp>
          <p:nvSpPr>
            <p:cNvPr id="12" name="object 12"/>
            <p:cNvSpPr/>
            <p:nvPr/>
          </p:nvSpPr>
          <p:spPr>
            <a:xfrm>
              <a:off x="608076" y="1941576"/>
              <a:ext cx="10986770" cy="4323715"/>
            </a:xfrm>
            <a:custGeom>
              <a:avLst/>
              <a:gdLst/>
              <a:ahLst/>
              <a:cxnLst/>
              <a:rect l="l" t="t" r="r" b="b"/>
              <a:pathLst>
                <a:path w="10986770" h="4323715">
                  <a:moveTo>
                    <a:pt x="0" y="4323588"/>
                  </a:moveTo>
                  <a:lnTo>
                    <a:pt x="10986516" y="4323588"/>
                  </a:lnTo>
                  <a:lnTo>
                    <a:pt x="10986516" y="0"/>
                  </a:lnTo>
                  <a:lnTo>
                    <a:pt x="0" y="0"/>
                  </a:lnTo>
                  <a:lnTo>
                    <a:pt x="0" y="4323588"/>
                  </a:lnTo>
                  <a:close/>
                </a:path>
              </a:pathLst>
            </a:custGeom>
            <a:ln w="9525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647682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8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8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820656" y="2430779"/>
              <a:ext cx="539750" cy="527685"/>
            </a:xfrm>
            <a:custGeom>
              <a:avLst/>
              <a:gdLst/>
              <a:ahLst/>
              <a:cxnLst/>
              <a:rect l="l" t="t" r="r" b="b"/>
              <a:pathLst>
                <a:path w="539750" h="527685">
                  <a:moveTo>
                    <a:pt x="539496" y="44196"/>
                  </a:moveTo>
                  <a:lnTo>
                    <a:pt x="535940" y="27165"/>
                  </a:lnTo>
                  <a:lnTo>
                    <a:pt x="532485" y="22098"/>
                  </a:lnTo>
                  <a:lnTo>
                    <a:pt x="526338" y="13106"/>
                  </a:lnTo>
                  <a:lnTo>
                    <a:pt x="517398" y="7023"/>
                  </a:lnTo>
                  <a:lnTo>
                    <a:pt x="517398" y="44196"/>
                  </a:lnTo>
                  <a:lnTo>
                    <a:pt x="515747" y="53060"/>
                  </a:lnTo>
                  <a:lnTo>
                    <a:pt x="511149" y="60058"/>
                  </a:lnTo>
                  <a:lnTo>
                    <a:pt x="504151" y="64655"/>
                  </a:lnTo>
                  <a:lnTo>
                    <a:pt x="495300" y="66294"/>
                  </a:lnTo>
                  <a:lnTo>
                    <a:pt x="486371" y="64655"/>
                  </a:lnTo>
                  <a:lnTo>
                    <a:pt x="479386" y="60058"/>
                  </a:lnTo>
                  <a:lnTo>
                    <a:pt x="474827" y="53060"/>
                  </a:lnTo>
                  <a:lnTo>
                    <a:pt x="473202" y="44196"/>
                  </a:lnTo>
                  <a:lnTo>
                    <a:pt x="474827" y="36093"/>
                  </a:lnTo>
                  <a:lnTo>
                    <a:pt x="479386" y="29006"/>
                  </a:lnTo>
                  <a:lnTo>
                    <a:pt x="486371" y="24003"/>
                  </a:lnTo>
                  <a:lnTo>
                    <a:pt x="495300" y="22098"/>
                  </a:lnTo>
                  <a:lnTo>
                    <a:pt x="504151" y="24003"/>
                  </a:lnTo>
                  <a:lnTo>
                    <a:pt x="511149" y="29006"/>
                  </a:lnTo>
                  <a:lnTo>
                    <a:pt x="515747" y="36093"/>
                  </a:lnTo>
                  <a:lnTo>
                    <a:pt x="517398" y="44196"/>
                  </a:lnTo>
                  <a:lnTo>
                    <a:pt x="517398" y="7023"/>
                  </a:lnTo>
                  <a:lnTo>
                    <a:pt x="512267" y="3530"/>
                  </a:lnTo>
                  <a:lnTo>
                    <a:pt x="495300" y="0"/>
                  </a:lnTo>
                  <a:lnTo>
                    <a:pt x="478256" y="3530"/>
                  </a:lnTo>
                  <a:lnTo>
                    <a:pt x="464197" y="13106"/>
                  </a:lnTo>
                  <a:lnTo>
                    <a:pt x="454621" y="27165"/>
                  </a:lnTo>
                  <a:lnTo>
                    <a:pt x="451104" y="44196"/>
                  </a:lnTo>
                  <a:lnTo>
                    <a:pt x="454621" y="61239"/>
                  </a:lnTo>
                  <a:lnTo>
                    <a:pt x="457200" y="65049"/>
                  </a:lnTo>
                  <a:lnTo>
                    <a:pt x="382905" y="138074"/>
                  </a:lnTo>
                  <a:lnTo>
                    <a:pt x="382905" y="230124"/>
                  </a:lnTo>
                  <a:lnTo>
                    <a:pt x="376643" y="259969"/>
                  </a:lnTo>
                  <a:lnTo>
                    <a:pt x="359664" y="284480"/>
                  </a:lnTo>
                  <a:lnTo>
                    <a:pt x="334568" y="301104"/>
                  </a:lnTo>
                  <a:lnTo>
                    <a:pt x="304038" y="307213"/>
                  </a:lnTo>
                  <a:lnTo>
                    <a:pt x="273494" y="301104"/>
                  </a:lnTo>
                  <a:lnTo>
                    <a:pt x="248412" y="284480"/>
                  </a:lnTo>
                  <a:lnTo>
                    <a:pt x="231419" y="259969"/>
                  </a:lnTo>
                  <a:lnTo>
                    <a:pt x="225171" y="230124"/>
                  </a:lnTo>
                  <a:lnTo>
                    <a:pt x="231419" y="200291"/>
                  </a:lnTo>
                  <a:lnTo>
                    <a:pt x="273494" y="159156"/>
                  </a:lnTo>
                  <a:lnTo>
                    <a:pt x="334568" y="159156"/>
                  </a:lnTo>
                  <a:lnTo>
                    <a:pt x="376643" y="200291"/>
                  </a:lnTo>
                  <a:lnTo>
                    <a:pt x="382905" y="230124"/>
                  </a:lnTo>
                  <a:lnTo>
                    <a:pt x="382905" y="138074"/>
                  </a:lnTo>
                  <a:lnTo>
                    <a:pt x="366699" y="154000"/>
                  </a:lnTo>
                  <a:lnTo>
                    <a:pt x="365252" y="153035"/>
                  </a:lnTo>
                  <a:lnTo>
                    <a:pt x="343598" y="138811"/>
                  </a:lnTo>
                  <a:lnTo>
                    <a:pt x="304038" y="131064"/>
                  </a:lnTo>
                  <a:lnTo>
                    <a:pt x="264464" y="138811"/>
                  </a:lnTo>
                  <a:lnTo>
                    <a:pt x="232257" y="159981"/>
                  </a:lnTo>
                  <a:lnTo>
                    <a:pt x="216585" y="182753"/>
                  </a:lnTo>
                  <a:lnTo>
                    <a:pt x="88061" y="129717"/>
                  </a:lnTo>
                  <a:lnTo>
                    <a:pt x="76581" y="90639"/>
                  </a:lnTo>
                  <a:lnTo>
                    <a:pt x="67437" y="84620"/>
                  </a:lnTo>
                  <a:lnTo>
                    <a:pt x="67437" y="121158"/>
                  </a:lnTo>
                  <a:lnTo>
                    <a:pt x="65760" y="129921"/>
                  </a:lnTo>
                  <a:lnTo>
                    <a:pt x="61099" y="136779"/>
                  </a:lnTo>
                  <a:lnTo>
                    <a:pt x="53987" y="141274"/>
                  </a:lnTo>
                  <a:lnTo>
                    <a:pt x="44958" y="142875"/>
                  </a:lnTo>
                  <a:lnTo>
                    <a:pt x="35915" y="141274"/>
                  </a:lnTo>
                  <a:lnTo>
                    <a:pt x="28803" y="136779"/>
                  </a:lnTo>
                  <a:lnTo>
                    <a:pt x="24142" y="129921"/>
                  </a:lnTo>
                  <a:lnTo>
                    <a:pt x="22479" y="121158"/>
                  </a:lnTo>
                  <a:lnTo>
                    <a:pt x="24142" y="113169"/>
                  </a:lnTo>
                  <a:lnTo>
                    <a:pt x="28803" y="106210"/>
                  </a:lnTo>
                  <a:lnTo>
                    <a:pt x="35915" y="101307"/>
                  </a:lnTo>
                  <a:lnTo>
                    <a:pt x="44958" y="99441"/>
                  </a:lnTo>
                  <a:lnTo>
                    <a:pt x="53987" y="101307"/>
                  </a:lnTo>
                  <a:lnTo>
                    <a:pt x="61099" y="106210"/>
                  </a:lnTo>
                  <a:lnTo>
                    <a:pt x="65760" y="113169"/>
                  </a:lnTo>
                  <a:lnTo>
                    <a:pt x="67437" y="121158"/>
                  </a:lnTo>
                  <a:lnTo>
                    <a:pt x="67437" y="84620"/>
                  </a:lnTo>
                  <a:lnTo>
                    <a:pt x="62268" y="81216"/>
                  </a:lnTo>
                  <a:lnTo>
                    <a:pt x="44958" y="77724"/>
                  </a:lnTo>
                  <a:lnTo>
                    <a:pt x="27635" y="81216"/>
                  </a:lnTo>
                  <a:lnTo>
                    <a:pt x="13335" y="90639"/>
                  </a:lnTo>
                  <a:lnTo>
                    <a:pt x="3594" y="104470"/>
                  </a:lnTo>
                  <a:lnTo>
                    <a:pt x="0" y="121158"/>
                  </a:lnTo>
                  <a:lnTo>
                    <a:pt x="3594" y="137858"/>
                  </a:lnTo>
                  <a:lnTo>
                    <a:pt x="13322" y="151688"/>
                  </a:lnTo>
                  <a:lnTo>
                    <a:pt x="27635" y="161112"/>
                  </a:lnTo>
                  <a:lnTo>
                    <a:pt x="44958" y="164592"/>
                  </a:lnTo>
                  <a:lnTo>
                    <a:pt x="62268" y="161112"/>
                  </a:lnTo>
                  <a:lnTo>
                    <a:pt x="76581" y="151688"/>
                  </a:lnTo>
                  <a:lnTo>
                    <a:pt x="78511" y="148932"/>
                  </a:lnTo>
                  <a:lnTo>
                    <a:pt x="208216" y="203111"/>
                  </a:lnTo>
                  <a:lnTo>
                    <a:pt x="202692" y="230124"/>
                  </a:lnTo>
                  <a:lnTo>
                    <a:pt x="210604" y="268808"/>
                  </a:lnTo>
                  <a:lnTo>
                    <a:pt x="226085" y="291325"/>
                  </a:lnTo>
                  <a:lnTo>
                    <a:pt x="68097" y="446354"/>
                  </a:lnTo>
                  <a:lnTo>
                    <a:pt x="67437" y="445922"/>
                  </a:lnTo>
                  <a:lnTo>
                    <a:pt x="67437" y="483108"/>
                  </a:lnTo>
                  <a:lnTo>
                    <a:pt x="65760" y="491972"/>
                  </a:lnTo>
                  <a:lnTo>
                    <a:pt x="61099" y="498970"/>
                  </a:lnTo>
                  <a:lnTo>
                    <a:pt x="53987" y="503567"/>
                  </a:lnTo>
                  <a:lnTo>
                    <a:pt x="44958" y="505206"/>
                  </a:lnTo>
                  <a:lnTo>
                    <a:pt x="35915" y="503567"/>
                  </a:lnTo>
                  <a:lnTo>
                    <a:pt x="28803" y="498970"/>
                  </a:lnTo>
                  <a:lnTo>
                    <a:pt x="24142" y="491972"/>
                  </a:lnTo>
                  <a:lnTo>
                    <a:pt x="22479" y="483108"/>
                  </a:lnTo>
                  <a:lnTo>
                    <a:pt x="24142" y="475005"/>
                  </a:lnTo>
                  <a:lnTo>
                    <a:pt x="28803" y="467918"/>
                  </a:lnTo>
                  <a:lnTo>
                    <a:pt x="35915" y="462915"/>
                  </a:lnTo>
                  <a:lnTo>
                    <a:pt x="44958" y="461010"/>
                  </a:lnTo>
                  <a:lnTo>
                    <a:pt x="53987" y="462915"/>
                  </a:lnTo>
                  <a:lnTo>
                    <a:pt x="61099" y="467918"/>
                  </a:lnTo>
                  <a:lnTo>
                    <a:pt x="65760" y="475005"/>
                  </a:lnTo>
                  <a:lnTo>
                    <a:pt x="67437" y="483108"/>
                  </a:lnTo>
                  <a:lnTo>
                    <a:pt x="67437" y="445922"/>
                  </a:lnTo>
                  <a:lnTo>
                    <a:pt x="62268" y="442442"/>
                  </a:lnTo>
                  <a:lnTo>
                    <a:pt x="44958" y="438912"/>
                  </a:lnTo>
                  <a:lnTo>
                    <a:pt x="27635" y="442442"/>
                  </a:lnTo>
                  <a:lnTo>
                    <a:pt x="13335" y="452018"/>
                  </a:lnTo>
                  <a:lnTo>
                    <a:pt x="3594" y="466077"/>
                  </a:lnTo>
                  <a:lnTo>
                    <a:pt x="0" y="483108"/>
                  </a:lnTo>
                  <a:lnTo>
                    <a:pt x="3594" y="500151"/>
                  </a:lnTo>
                  <a:lnTo>
                    <a:pt x="13322" y="514210"/>
                  </a:lnTo>
                  <a:lnTo>
                    <a:pt x="27635" y="523786"/>
                  </a:lnTo>
                  <a:lnTo>
                    <a:pt x="44958" y="527304"/>
                  </a:lnTo>
                  <a:lnTo>
                    <a:pt x="62268" y="523786"/>
                  </a:lnTo>
                  <a:lnTo>
                    <a:pt x="76568" y="514210"/>
                  </a:lnTo>
                  <a:lnTo>
                    <a:pt x="82804" y="505206"/>
                  </a:lnTo>
                  <a:lnTo>
                    <a:pt x="86309" y="500151"/>
                  </a:lnTo>
                  <a:lnTo>
                    <a:pt x="89916" y="483108"/>
                  </a:lnTo>
                  <a:lnTo>
                    <a:pt x="86309" y="466077"/>
                  </a:lnTo>
                  <a:lnTo>
                    <a:pt x="83375" y="461860"/>
                  </a:lnTo>
                  <a:lnTo>
                    <a:pt x="242341" y="306908"/>
                  </a:lnTo>
                  <a:lnTo>
                    <a:pt x="264464" y="321449"/>
                  </a:lnTo>
                  <a:lnTo>
                    <a:pt x="292608" y="326961"/>
                  </a:lnTo>
                  <a:lnTo>
                    <a:pt x="292608" y="441248"/>
                  </a:lnTo>
                  <a:lnTo>
                    <a:pt x="286715" y="442442"/>
                  </a:lnTo>
                  <a:lnTo>
                    <a:pt x="272415" y="452018"/>
                  </a:lnTo>
                  <a:lnTo>
                    <a:pt x="262674" y="466077"/>
                  </a:lnTo>
                  <a:lnTo>
                    <a:pt x="259080" y="483108"/>
                  </a:lnTo>
                  <a:lnTo>
                    <a:pt x="262674" y="500151"/>
                  </a:lnTo>
                  <a:lnTo>
                    <a:pt x="272402" y="514210"/>
                  </a:lnTo>
                  <a:lnTo>
                    <a:pt x="286715" y="523786"/>
                  </a:lnTo>
                  <a:lnTo>
                    <a:pt x="304038" y="527304"/>
                  </a:lnTo>
                  <a:lnTo>
                    <a:pt x="321348" y="523786"/>
                  </a:lnTo>
                  <a:lnTo>
                    <a:pt x="335648" y="514210"/>
                  </a:lnTo>
                  <a:lnTo>
                    <a:pt x="341884" y="505206"/>
                  </a:lnTo>
                  <a:lnTo>
                    <a:pt x="345389" y="500151"/>
                  </a:lnTo>
                  <a:lnTo>
                    <a:pt x="348996" y="483108"/>
                  </a:lnTo>
                  <a:lnTo>
                    <a:pt x="345389" y="466077"/>
                  </a:lnTo>
                  <a:lnTo>
                    <a:pt x="341884" y="461010"/>
                  </a:lnTo>
                  <a:lnTo>
                    <a:pt x="335661" y="452018"/>
                  </a:lnTo>
                  <a:lnTo>
                    <a:pt x="326517" y="445909"/>
                  </a:lnTo>
                  <a:lnTo>
                    <a:pt x="326517" y="483108"/>
                  </a:lnTo>
                  <a:lnTo>
                    <a:pt x="324840" y="491972"/>
                  </a:lnTo>
                  <a:lnTo>
                    <a:pt x="320179" y="498970"/>
                  </a:lnTo>
                  <a:lnTo>
                    <a:pt x="313067" y="503567"/>
                  </a:lnTo>
                  <a:lnTo>
                    <a:pt x="304038" y="505206"/>
                  </a:lnTo>
                  <a:lnTo>
                    <a:pt x="294995" y="503567"/>
                  </a:lnTo>
                  <a:lnTo>
                    <a:pt x="287883" y="498970"/>
                  </a:lnTo>
                  <a:lnTo>
                    <a:pt x="283222" y="491972"/>
                  </a:lnTo>
                  <a:lnTo>
                    <a:pt x="281559" y="483108"/>
                  </a:lnTo>
                  <a:lnTo>
                    <a:pt x="283222" y="475005"/>
                  </a:lnTo>
                  <a:lnTo>
                    <a:pt x="287883" y="467918"/>
                  </a:lnTo>
                  <a:lnTo>
                    <a:pt x="294995" y="462915"/>
                  </a:lnTo>
                  <a:lnTo>
                    <a:pt x="304038" y="461010"/>
                  </a:lnTo>
                  <a:lnTo>
                    <a:pt x="313067" y="462915"/>
                  </a:lnTo>
                  <a:lnTo>
                    <a:pt x="320179" y="467918"/>
                  </a:lnTo>
                  <a:lnTo>
                    <a:pt x="324840" y="475005"/>
                  </a:lnTo>
                  <a:lnTo>
                    <a:pt x="326517" y="483108"/>
                  </a:lnTo>
                  <a:lnTo>
                    <a:pt x="326517" y="445909"/>
                  </a:lnTo>
                  <a:lnTo>
                    <a:pt x="321348" y="442442"/>
                  </a:lnTo>
                  <a:lnTo>
                    <a:pt x="315468" y="441248"/>
                  </a:lnTo>
                  <a:lnTo>
                    <a:pt x="315468" y="326961"/>
                  </a:lnTo>
                  <a:lnTo>
                    <a:pt x="343598" y="321449"/>
                  </a:lnTo>
                  <a:lnTo>
                    <a:pt x="365252" y="307213"/>
                  </a:lnTo>
                  <a:lnTo>
                    <a:pt x="375805" y="300278"/>
                  </a:lnTo>
                  <a:lnTo>
                    <a:pt x="383768" y="288709"/>
                  </a:lnTo>
                  <a:lnTo>
                    <a:pt x="451624" y="315976"/>
                  </a:lnTo>
                  <a:lnTo>
                    <a:pt x="451104" y="318516"/>
                  </a:lnTo>
                  <a:lnTo>
                    <a:pt x="454621" y="335495"/>
                  </a:lnTo>
                  <a:lnTo>
                    <a:pt x="464197" y="349567"/>
                  </a:lnTo>
                  <a:lnTo>
                    <a:pt x="478256" y="359168"/>
                  </a:lnTo>
                  <a:lnTo>
                    <a:pt x="495300" y="362712"/>
                  </a:lnTo>
                  <a:lnTo>
                    <a:pt x="512267" y="359168"/>
                  </a:lnTo>
                  <a:lnTo>
                    <a:pt x="526351" y="349567"/>
                  </a:lnTo>
                  <a:lnTo>
                    <a:pt x="532447" y="340614"/>
                  </a:lnTo>
                  <a:lnTo>
                    <a:pt x="535940" y="335495"/>
                  </a:lnTo>
                  <a:lnTo>
                    <a:pt x="539496" y="318516"/>
                  </a:lnTo>
                  <a:lnTo>
                    <a:pt x="535940" y="301485"/>
                  </a:lnTo>
                  <a:lnTo>
                    <a:pt x="532485" y="296418"/>
                  </a:lnTo>
                  <a:lnTo>
                    <a:pt x="526338" y="287426"/>
                  </a:lnTo>
                  <a:lnTo>
                    <a:pt x="517398" y="281343"/>
                  </a:lnTo>
                  <a:lnTo>
                    <a:pt x="517398" y="318516"/>
                  </a:lnTo>
                  <a:lnTo>
                    <a:pt x="515747" y="327380"/>
                  </a:lnTo>
                  <a:lnTo>
                    <a:pt x="511149" y="334378"/>
                  </a:lnTo>
                  <a:lnTo>
                    <a:pt x="504151" y="338975"/>
                  </a:lnTo>
                  <a:lnTo>
                    <a:pt x="495300" y="340614"/>
                  </a:lnTo>
                  <a:lnTo>
                    <a:pt x="486371" y="338975"/>
                  </a:lnTo>
                  <a:lnTo>
                    <a:pt x="479386" y="334378"/>
                  </a:lnTo>
                  <a:lnTo>
                    <a:pt x="474827" y="327380"/>
                  </a:lnTo>
                  <a:lnTo>
                    <a:pt x="473202" y="318516"/>
                  </a:lnTo>
                  <a:lnTo>
                    <a:pt x="474827" y="310413"/>
                  </a:lnTo>
                  <a:lnTo>
                    <a:pt x="479386" y="303326"/>
                  </a:lnTo>
                  <a:lnTo>
                    <a:pt x="486371" y="298323"/>
                  </a:lnTo>
                  <a:lnTo>
                    <a:pt x="495300" y="296418"/>
                  </a:lnTo>
                  <a:lnTo>
                    <a:pt x="504151" y="298323"/>
                  </a:lnTo>
                  <a:lnTo>
                    <a:pt x="511149" y="303326"/>
                  </a:lnTo>
                  <a:lnTo>
                    <a:pt x="515747" y="310413"/>
                  </a:lnTo>
                  <a:lnTo>
                    <a:pt x="517398" y="318516"/>
                  </a:lnTo>
                  <a:lnTo>
                    <a:pt x="517398" y="281343"/>
                  </a:lnTo>
                  <a:lnTo>
                    <a:pt x="512267" y="277850"/>
                  </a:lnTo>
                  <a:lnTo>
                    <a:pt x="495300" y="274320"/>
                  </a:lnTo>
                  <a:lnTo>
                    <a:pt x="478256" y="277850"/>
                  </a:lnTo>
                  <a:lnTo>
                    <a:pt x="464197" y="287426"/>
                  </a:lnTo>
                  <a:lnTo>
                    <a:pt x="459359" y="294525"/>
                  </a:lnTo>
                  <a:lnTo>
                    <a:pt x="397002" y="269468"/>
                  </a:lnTo>
                  <a:lnTo>
                    <a:pt x="397459" y="268808"/>
                  </a:lnTo>
                  <a:lnTo>
                    <a:pt x="405384" y="230124"/>
                  </a:lnTo>
                  <a:lnTo>
                    <a:pt x="397459" y="191452"/>
                  </a:lnTo>
                  <a:lnTo>
                    <a:pt x="383222" y="170776"/>
                  </a:lnTo>
                  <a:lnTo>
                    <a:pt x="473011" y="81318"/>
                  </a:lnTo>
                  <a:lnTo>
                    <a:pt x="478256" y="84874"/>
                  </a:lnTo>
                  <a:lnTo>
                    <a:pt x="495300" y="88392"/>
                  </a:lnTo>
                  <a:lnTo>
                    <a:pt x="512267" y="84874"/>
                  </a:lnTo>
                  <a:lnTo>
                    <a:pt x="526338" y="75298"/>
                  </a:lnTo>
                  <a:lnTo>
                    <a:pt x="532485" y="66294"/>
                  </a:lnTo>
                  <a:lnTo>
                    <a:pt x="535940" y="61239"/>
                  </a:lnTo>
                  <a:lnTo>
                    <a:pt x="539496" y="44196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95922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7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7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321295" y="2511552"/>
              <a:ext cx="274320" cy="273050"/>
            </a:xfrm>
            <a:custGeom>
              <a:avLst/>
              <a:gdLst/>
              <a:ahLst/>
              <a:cxnLst/>
              <a:rect l="l" t="t" r="r" b="b"/>
              <a:pathLst>
                <a:path w="274320" h="273050">
                  <a:moveTo>
                    <a:pt x="176402" y="0"/>
                  </a:moveTo>
                  <a:lnTo>
                    <a:pt x="169163" y="0"/>
                  </a:lnTo>
                  <a:lnTo>
                    <a:pt x="163829" y="3556"/>
                  </a:lnTo>
                  <a:lnTo>
                    <a:pt x="5333" y="164084"/>
                  </a:lnTo>
                  <a:lnTo>
                    <a:pt x="0" y="167639"/>
                  </a:lnTo>
                  <a:lnTo>
                    <a:pt x="0" y="174751"/>
                  </a:lnTo>
                  <a:lnTo>
                    <a:pt x="5333" y="178308"/>
                  </a:lnTo>
                  <a:lnTo>
                    <a:pt x="99695" y="272796"/>
                  </a:lnTo>
                  <a:lnTo>
                    <a:pt x="105155" y="272796"/>
                  </a:lnTo>
                  <a:lnTo>
                    <a:pt x="108711" y="271018"/>
                  </a:lnTo>
                  <a:lnTo>
                    <a:pt x="131917" y="247776"/>
                  </a:lnTo>
                  <a:lnTo>
                    <a:pt x="103377" y="247776"/>
                  </a:lnTo>
                  <a:lnTo>
                    <a:pt x="26670" y="171196"/>
                  </a:lnTo>
                  <a:lnTo>
                    <a:pt x="172847" y="26797"/>
                  </a:lnTo>
                  <a:lnTo>
                    <a:pt x="203165" y="26797"/>
                  </a:lnTo>
                  <a:lnTo>
                    <a:pt x="176402" y="0"/>
                  </a:lnTo>
                  <a:close/>
                </a:path>
                <a:path w="274320" h="273050">
                  <a:moveTo>
                    <a:pt x="203165" y="26797"/>
                  </a:moveTo>
                  <a:lnTo>
                    <a:pt x="172847" y="26797"/>
                  </a:lnTo>
                  <a:lnTo>
                    <a:pt x="247650" y="101600"/>
                  </a:lnTo>
                  <a:lnTo>
                    <a:pt x="103377" y="247776"/>
                  </a:lnTo>
                  <a:lnTo>
                    <a:pt x="131917" y="247776"/>
                  </a:lnTo>
                  <a:lnTo>
                    <a:pt x="274320" y="105156"/>
                  </a:lnTo>
                  <a:lnTo>
                    <a:pt x="274320" y="98044"/>
                  </a:lnTo>
                  <a:lnTo>
                    <a:pt x="203165" y="26797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37119" y="2462784"/>
              <a:ext cx="202691" cy="20726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187184" y="2715767"/>
              <a:ext cx="356870" cy="256540"/>
            </a:xfrm>
            <a:custGeom>
              <a:avLst/>
              <a:gdLst/>
              <a:ahLst/>
              <a:cxnLst/>
              <a:rect l="l" t="t" r="r" b="b"/>
              <a:pathLst>
                <a:path w="356870" h="256539">
                  <a:moveTo>
                    <a:pt x="204216" y="9017"/>
                  </a:moveTo>
                  <a:lnTo>
                    <a:pt x="200660" y="3556"/>
                  </a:lnTo>
                  <a:lnTo>
                    <a:pt x="195199" y="0"/>
                  </a:lnTo>
                  <a:lnTo>
                    <a:pt x="188087" y="0"/>
                  </a:lnTo>
                  <a:lnTo>
                    <a:pt x="3556" y="184531"/>
                  </a:lnTo>
                  <a:lnTo>
                    <a:pt x="0" y="189865"/>
                  </a:lnTo>
                  <a:lnTo>
                    <a:pt x="0" y="197104"/>
                  </a:lnTo>
                  <a:lnTo>
                    <a:pt x="5334" y="202438"/>
                  </a:lnTo>
                  <a:lnTo>
                    <a:pt x="9017" y="204216"/>
                  </a:lnTo>
                  <a:lnTo>
                    <a:pt x="10795" y="204216"/>
                  </a:lnTo>
                  <a:lnTo>
                    <a:pt x="14351" y="204216"/>
                  </a:lnTo>
                  <a:lnTo>
                    <a:pt x="204216" y="16129"/>
                  </a:lnTo>
                  <a:lnTo>
                    <a:pt x="204216" y="9017"/>
                  </a:lnTo>
                  <a:close/>
                </a:path>
                <a:path w="356870" h="256539">
                  <a:moveTo>
                    <a:pt x="230124" y="36068"/>
                  </a:moveTo>
                  <a:lnTo>
                    <a:pt x="223012" y="28956"/>
                  </a:lnTo>
                  <a:lnTo>
                    <a:pt x="215900" y="28956"/>
                  </a:lnTo>
                  <a:lnTo>
                    <a:pt x="212471" y="32512"/>
                  </a:lnTo>
                  <a:lnTo>
                    <a:pt x="207137" y="36068"/>
                  </a:lnTo>
                  <a:lnTo>
                    <a:pt x="199821" y="45123"/>
                  </a:lnTo>
                  <a:lnTo>
                    <a:pt x="185864" y="66903"/>
                  </a:lnTo>
                  <a:lnTo>
                    <a:pt x="173228" y="97409"/>
                  </a:lnTo>
                  <a:lnTo>
                    <a:pt x="169926" y="132588"/>
                  </a:lnTo>
                  <a:lnTo>
                    <a:pt x="174256" y="149618"/>
                  </a:lnTo>
                  <a:lnTo>
                    <a:pt x="182079" y="165608"/>
                  </a:lnTo>
                  <a:lnTo>
                    <a:pt x="193560" y="180276"/>
                  </a:lnTo>
                  <a:lnTo>
                    <a:pt x="208915" y="193294"/>
                  </a:lnTo>
                  <a:lnTo>
                    <a:pt x="212471" y="195072"/>
                  </a:lnTo>
                  <a:lnTo>
                    <a:pt x="219456" y="195072"/>
                  </a:lnTo>
                  <a:lnTo>
                    <a:pt x="223012" y="193294"/>
                  </a:lnTo>
                  <a:lnTo>
                    <a:pt x="224790" y="191516"/>
                  </a:lnTo>
                  <a:lnTo>
                    <a:pt x="228346" y="186182"/>
                  </a:lnTo>
                  <a:lnTo>
                    <a:pt x="226568" y="178943"/>
                  </a:lnTo>
                  <a:lnTo>
                    <a:pt x="221234" y="175387"/>
                  </a:lnTo>
                  <a:lnTo>
                    <a:pt x="209321" y="165671"/>
                  </a:lnTo>
                  <a:lnTo>
                    <a:pt x="200228" y="155105"/>
                  </a:lnTo>
                  <a:lnTo>
                    <a:pt x="194094" y="143535"/>
                  </a:lnTo>
                  <a:lnTo>
                    <a:pt x="191135" y="130810"/>
                  </a:lnTo>
                  <a:lnTo>
                    <a:pt x="194614" y="101892"/>
                  </a:lnTo>
                  <a:lnTo>
                    <a:pt x="205740" y="76517"/>
                  </a:lnTo>
                  <a:lnTo>
                    <a:pt x="217525" y="58204"/>
                  </a:lnTo>
                  <a:lnTo>
                    <a:pt x="223012" y="50419"/>
                  </a:lnTo>
                  <a:lnTo>
                    <a:pt x="230124" y="43307"/>
                  </a:lnTo>
                  <a:lnTo>
                    <a:pt x="230124" y="36068"/>
                  </a:lnTo>
                  <a:close/>
                </a:path>
                <a:path w="356870" h="256539">
                  <a:moveTo>
                    <a:pt x="280416" y="211328"/>
                  </a:moveTo>
                  <a:lnTo>
                    <a:pt x="273304" y="204216"/>
                  </a:lnTo>
                  <a:lnTo>
                    <a:pt x="266192" y="204216"/>
                  </a:lnTo>
                  <a:lnTo>
                    <a:pt x="260858" y="207772"/>
                  </a:lnTo>
                  <a:lnTo>
                    <a:pt x="227076" y="241681"/>
                  </a:lnTo>
                  <a:lnTo>
                    <a:pt x="227076" y="248920"/>
                  </a:lnTo>
                  <a:lnTo>
                    <a:pt x="234188" y="256032"/>
                  </a:lnTo>
                  <a:lnTo>
                    <a:pt x="239522" y="256032"/>
                  </a:lnTo>
                  <a:lnTo>
                    <a:pt x="244856" y="256032"/>
                  </a:lnTo>
                  <a:lnTo>
                    <a:pt x="246634" y="252476"/>
                  </a:lnTo>
                  <a:lnTo>
                    <a:pt x="280416" y="218567"/>
                  </a:lnTo>
                  <a:lnTo>
                    <a:pt x="280416" y="211328"/>
                  </a:lnTo>
                  <a:close/>
                </a:path>
                <a:path w="356870" h="256539">
                  <a:moveTo>
                    <a:pt x="280416" y="163957"/>
                  </a:moveTo>
                  <a:lnTo>
                    <a:pt x="243078" y="126492"/>
                  </a:lnTo>
                  <a:lnTo>
                    <a:pt x="235966" y="126492"/>
                  </a:lnTo>
                  <a:lnTo>
                    <a:pt x="230632" y="130048"/>
                  </a:lnTo>
                  <a:lnTo>
                    <a:pt x="227076" y="133604"/>
                  </a:lnTo>
                  <a:lnTo>
                    <a:pt x="227076" y="140843"/>
                  </a:lnTo>
                  <a:lnTo>
                    <a:pt x="230632" y="146177"/>
                  </a:lnTo>
                  <a:lnTo>
                    <a:pt x="260858" y="174752"/>
                  </a:lnTo>
                  <a:lnTo>
                    <a:pt x="264414" y="178308"/>
                  </a:lnTo>
                  <a:lnTo>
                    <a:pt x="269748" y="178308"/>
                  </a:lnTo>
                  <a:lnTo>
                    <a:pt x="275082" y="178308"/>
                  </a:lnTo>
                  <a:lnTo>
                    <a:pt x="276860" y="174752"/>
                  </a:lnTo>
                  <a:lnTo>
                    <a:pt x="280416" y="171196"/>
                  </a:lnTo>
                  <a:lnTo>
                    <a:pt x="280416" y="163957"/>
                  </a:lnTo>
                  <a:close/>
                </a:path>
                <a:path w="356870" h="256539">
                  <a:moveTo>
                    <a:pt x="356616" y="241681"/>
                  </a:moveTo>
                  <a:lnTo>
                    <a:pt x="318262" y="204216"/>
                  </a:lnTo>
                  <a:lnTo>
                    <a:pt x="310896" y="204216"/>
                  </a:lnTo>
                  <a:lnTo>
                    <a:pt x="307213" y="207772"/>
                  </a:lnTo>
                  <a:lnTo>
                    <a:pt x="301752" y="211328"/>
                  </a:lnTo>
                  <a:lnTo>
                    <a:pt x="301752" y="218567"/>
                  </a:lnTo>
                  <a:lnTo>
                    <a:pt x="307213" y="222123"/>
                  </a:lnTo>
                  <a:lnTo>
                    <a:pt x="338328" y="252476"/>
                  </a:lnTo>
                  <a:lnTo>
                    <a:pt x="340106" y="256032"/>
                  </a:lnTo>
                  <a:lnTo>
                    <a:pt x="345694" y="256032"/>
                  </a:lnTo>
                  <a:lnTo>
                    <a:pt x="351155" y="256032"/>
                  </a:lnTo>
                  <a:lnTo>
                    <a:pt x="352933" y="252476"/>
                  </a:lnTo>
                  <a:lnTo>
                    <a:pt x="356616" y="248920"/>
                  </a:lnTo>
                  <a:lnTo>
                    <a:pt x="356616" y="241681"/>
                  </a:lnTo>
                  <a:close/>
                </a:path>
                <a:path w="356870" h="256539">
                  <a:moveTo>
                    <a:pt x="356616" y="133604"/>
                  </a:moveTo>
                  <a:lnTo>
                    <a:pt x="349250" y="126492"/>
                  </a:lnTo>
                  <a:lnTo>
                    <a:pt x="342011" y="126492"/>
                  </a:lnTo>
                  <a:lnTo>
                    <a:pt x="307213" y="160401"/>
                  </a:lnTo>
                  <a:lnTo>
                    <a:pt x="301752" y="163957"/>
                  </a:lnTo>
                  <a:lnTo>
                    <a:pt x="301752" y="171196"/>
                  </a:lnTo>
                  <a:lnTo>
                    <a:pt x="307213" y="174752"/>
                  </a:lnTo>
                  <a:lnTo>
                    <a:pt x="309118" y="178308"/>
                  </a:lnTo>
                  <a:lnTo>
                    <a:pt x="314579" y="178308"/>
                  </a:lnTo>
                  <a:lnTo>
                    <a:pt x="320040" y="178308"/>
                  </a:lnTo>
                  <a:lnTo>
                    <a:pt x="321818" y="174752"/>
                  </a:lnTo>
                  <a:lnTo>
                    <a:pt x="352933" y="146177"/>
                  </a:lnTo>
                  <a:lnTo>
                    <a:pt x="356616" y="140843"/>
                  </a:lnTo>
                  <a:lnTo>
                    <a:pt x="356616" y="133604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45685" y="2263902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70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8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5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8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78096" y="2410968"/>
              <a:ext cx="378460" cy="489584"/>
            </a:xfrm>
            <a:custGeom>
              <a:avLst/>
              <a:gdLst/>
              <a:ahLst/>
              <a:cxnLst/>
              <a:rect l="l" t="t" r="r" b="b"/>
              <a:pathLst>
                <a:path w="378460" h="489585">
                  <a:moveTo>
                    <a:pt x="259333" y="0"/>
                  </a:moveTo>
                  <a:lnTo>
                    <a:pt x="5587" y="0"/>
                  </a:lnTo>
                  <a:lnTo>
                    <a:pt x="0" y="5587"/>
                  </a:lnTo>
                  <a:lnTo>
                    <a:pt x="0" y="485521"/>
                  </a:lnTo>
                  <a:lnTo>
                    <a:pt x="5587" y="489204"/>
                  </a:lnTo>
                  <a:lnTo>
                    <a:pt x="200151" y="489204"/>
                  </a:lnTo>
                  <a:lnTo>
                    <a:pt x="200151" y="466979"/>
                  </a:lnTo>
                  <a:lnTo>
                    <a:pt x="22225" y="466979"/>
                  </a:lnTo>
                  <a:lnTo>
                    <a:pt x="22225" y="22225"/>
                  </a:lnTo>
                  <a:lnTo>
                    <a:pt x="281665" y="22225"/>
                  </a:lnTo>
                  <a:lnTo>
                    <a:pt x="263143" y="3683"/>
                  </a:lnTo>
                  <a:lnTo>
                    <a:pt x="261238" y="1905"/>
                  </a:lnTo>
                  <a:lnTo>
                    <a:pt x="259333" y="0"/>
                  </a:lnTo>
                  <a:close/>
                </a:path>
                <a:path w="378460" h="489585">
                  <a:moveTo>
                    <a:pt x="281665" y="22225"/>
                  </a:moveTo>
                  <a:lnTo>
                    <a:pt x="251967" y="22225"/>
                  </a:lnTo>
                  <a:lnTo>
                    <a:pt x="355726" y="127889"/>
                  </a:lnTo>
                  <a:lnTo>
                    <a:pt x="355726" y="289052"/>
                  </a:lnTo>
                  <a:lnTo>
                    <a:pt x="377951" y="289052"/>
                  </a:lnTo>
                  <a:lnTo>
                    <a:pt x="377951" y="120396"/>
                  </a:lnTo>
                  <a:lnTo>
                    <a:pt x="376046" y="116712"/>
                  </a:lnTo>
                  <a:lnTo>
                    <a:pt x="281665" y="22225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21935" y="2410968"/>
              <a:ext cx="134112" cy="132587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844796" y="2677667"/>
              <a:ext cx="265430" cy="266700"/>
            </a:xfrm>
            <a:custGeom>
              <a:avLst/>
              <a:gdLst/>
              <a:ahLst/>
              <a:cxnLst/>
              <a:rect l="l" t="t" r="r" b="b"/>
              <a:pathLst>
                <a:path w="265429" h="266700">
                  <a:moveTo>
                    <a:pt x="265176" y="64770"/>
                  </a:moveTo>
                  <a:lnTo>
                    <a:pt x="263271" y="61087"/>
                  </a:lnTo>
                  <a:lnTo>
                    <a:pt x="239395" y="37058"/>
                  </a:lnTo>
                  <a:lnTo>
                    <a:pt x="239395" y="66675"/>
                  </a:lnTo>
                  <a:lnTo>
                    <a:pt x="209524" y="96710"/>
                  </a:lnTo>
                  <a:lnTo>
                    <a:pt x="194513" y="81330"/>
                  </a:lnTo>
                  <a:lnTo>
                    <a:pt x="194513" y="111810"/>
                  </a:lnTo>
                  <a:lnTo>
                    <a:pt x="82804" y="224155"/>
                  </a:lnTo>
                  <a:lnTo>
                    <a:pt x="27559" y="240792"/>
                  </a:lnTo>
                  <a:lnTo>
                    <a:pt x="42291" y="183388"/>
                  </a:lnTo>
                  <a:lnTo>
                    <a:pt x="155067" y="71348"/>
                  </a:lnTo>
                  <a:lnTo>
                    <a:pt x="194513" y="111810"/>
                  </a:lnTo>
                  <a:lnTo>
                    <a:pt x="194513" y="81330"/>
                  </a:lnTo>
                  <a:lnTo>
                    <a:pt x="170154" y="56349"/>
                  </a:lnTo>
                  <a:lnTo>
                    <a:pt x="198882" y="27813"/>
                  </a:lnTo>
                  <a:lnTo>
                    <a:pt x="239395" y="66675"/>
                  </a:lnTo>
                  <a:lnTo>
                    <a:pt x="239395" y="37058"/>
                  </a:lnTo>
                  <a:lnTo>
                    <a:pt x="230212" y="27813"/>
                  </a:lnTo>
                  <a:lnTo>
                    <a:pt x="202565" y="0"/>
                  </a:lnTo>
                  <a:lnTo>
                    <a:pt x="195199" y="0"/>
                  </a:lnTo>
                  <a:lnTo>
                    <a:pt x="25781" y="170434"/>
                  </a:lnTo>
                  <a:lnTo>
                    <a:pt x="23876" y="172212"/>
                  </a:lnTo>
                  <a:lnTo>
                    <a:pt x="23876" y="174117"/>
                  </a:lnTo>
                  <a:lnTo>
                    <a:pt x="22098" y="175895"/>
                  </a:lnTo>
                  <a:lnTo>
                    <a:pt x="0" y="253746"/>
                  </a:lnTo>
                  <a:lnTo>
                    <a:pt x="0" y="261112"/>
                  </a:lnTo>
                  <a:lnTo>
                    <a:pt x="3683" y="263017"/>
                  </a:lnTo>
                  <a:lnTo>
                    <a:pt x="5461" y="266700"/>
                  </a:lnTo>
                  <a:lnTo>
                    <a:pt x="14732" y="266700"/>
                  </a:lnTo>
                  <a:lnTo>
                    <a:pt x="92075" y="244475"/>
                  </a:lnTo>
                  <a:lnTo>
                    <a:pt x="93853" y="244475"/>
                  </a:lnTo>
                  <a:lnTo>
                    <a:pt x="95758" y="242570"/>
                  </a:lnTo>
                  <a:lnTo>
                    <a:pt x="95758" y="240792"/>
                  </a:lnTo>
                  <a:lnTo>
                    <a:pt x="265176" y="70358"/>
                  </a:lnTo>
                  <a:lnTo>
                    <a:pt x="265176" y="64770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12208" y="2566416"/>
              <a:ext cx="88391" cy="883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64608" y="2843784"/>
              <a:ext cx="80771" cy="7772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45152" y="2677668"/>
              <a:ext cx="86868" cy="88392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777740" y="2677668"/>
              <a:ext cx="88392" cy="8839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22782" y="2091689"/>
            <a:ext cx="2395855" cy="3765133"/>
          </a:xfrm>
          <a:prstGeom prst="rect">
            <a:avLst/>
          </a:prstGeom>
          <a:ln w="19050">
            <a:solidFill>
              <a:srgbClr val="7D00FF"/>
            </a:solidFill>
          </a:ln>
        </p:spPr>
        <p:txBody>
          <a:bodyPr vert="horz" wrap="square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650" dirty="0">
              <a:latin typeface="Times New Roman"/>
              <a:cs typeface="Times New Roman"/>
            </a:endParaRPr>
          </a:p>
          <a:p>
            <a:pPr marL="687070">
              <a:lnSpc>
                <a:spcPct val="100000"/>
              </a:lnSpc>
            </a:pPr>
            <a:r>
              <a:rPr sz="2000" b="1" spc="-15" dirty="0">
                <a:solidFill>
                  <a:srgbClr val="5F0094"/>
                </a:solidFill>
                <a:latin typeface="微软雅黑"/>
                <a:cs typeface="微软雅黑"/>
              </a:rPr>
              <a:t>业务驱动</a:t>
            </a:r>
            <a:endParaRPr sz="200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 dirty="0">
              <a:latin typeface="微软雅黑"/>
              <a:cs typeface="微软雅黑"/>
            </a:endParaRPr>
          </a:p>
          <a:p>
            <a:pPr marL="376555" marR="233045" indent="-287020">
              <a:lnSpc>
                <a:spcPct val="100000"/>
              </a:lnSpc>
              <a:buFont typeface="Arial"/>
              <a:buChar char="•"/>
              <a:tabLst>
                <a:tab pos="375920" algn="l"/>
                <a:tab pos="376555" algn="l"/>
              </a:tabLst>
            </a:pPr>
            <a:r>
              <a:rPr sz="1400" dirty="0" err="1" smtClean="0">
                <a:latin typeface="微软雅黑"/>
                <a:cs typeface="微软雅黑"/>
              </a:rPr>
              <a:t>基于</a:t>
            </a:r>
            <a:r>
              <a:rPr sz="1400" spc="-15" dirty="0" err="1" smtClean="0">
                <a:latin typeface="微软雅黑"/>
                <a:cs typeface="微软雅黑"/>
              </a:rPr>
              <a:t>未来业务方案</a:t>
            </a:r>
            <a:r>
              <a:rPr sz="1400" dirty="0" err="1" smtClean="0">
                <a:latin typeface="微软雅黑"/>
                <a:cs typeface="微软雅黑"/>
              </a:rPr>
              <a:t>进行设计</a:t>
            </a:r>
            <a:r>
              <a:rPr sz="1400" dirty="0" err="1">
                <a:latin typeface="微软雅黑"/>
                <a:cs typeface="微软雅黑"/>
              </a:rPr>
              <a:t>，对各个业务</a:t>
            </a:r>
            <a:r>
              <a:rPr sz="1400" spc="-15" dirty="0" err="1">
                <a:latin typeface="微软雅黑"/>
                <a:cs typeface="微软雅黑"/>
              </a:rPr>
              <a:t>场景进行全面覆盖</a:t>
            </a:r>
            <a:r>
              <a:rPr sz="1400" spc="-15" dirty="0">
                <a:latin typeface="微软雅黑"/>
                <a:cs typeface="微软雅黑"/>
              </a:rPr>
              <a:t>，</a:t>
            </a:r>
            <a:endParaRPr sz="1400" dirty="0">
              <a:latin typeface="微软雅黑"/>
              <a:cs typeface="微软雅黑"/>
            </a:endParaRPr>
          </a:p>
          <a:p>
            <a:pPr marL="376555" marR="240029" indent="-287020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76555" algn="l"/>
              </a:tabLst>
            </a:pPr>
            <a:r>
              <a:rPr sz="1400" dirty="0" err="1" smtClean="0">
                <a:latin typeface="微软雅黑"/>
                <a:cs typeface="微软雅黑"/>
              </a:rPr>
              <a:t>支持</a:t>
            </a:r>
            <a:r>
              <a:rPr sz="1400" spc="-25" dirty="0" err="1" smtClean="0">
                <a:latin typeface="微软雅黑"/>
                <a:cs typeface="微软雅黑"/>
              </a:rPr>
              <a:t>全球业务</a:t>
            </a:r>
            <a:r>
              <a:rPr sz="1400" spc="-25" dirty="0" err="1">
                <a:latin typeface="微软雅黑"/>
                <a:cs typeface="微软雅黑"/>
              </a:rPr>
              <a:t>，统</a:t>
            </a:r>
            <a:r>
              <a:rPr sz="1400" dirty="0" err="1">
                <a:latin typeface="微软雅黑"/>
                <a:cs typeface="微软雅黑"/>
              </a:rPr>
              <a:t>一业务流程，统一</a:t>
            </a:r>
            <a:r>
              <a:rPr sz="1400" spc="-10" dirty="0" err="1">
                <a:latin typeface="微软雅黑"/>
                <a:cs typeface="微软雅黑"/>
              </a:rPr>
              <a:t>IT</a:t>
            </a:r>
            <a:r>
              <a:rPr sz="1400" spc="-60" dirty="0" err="1">
                <a:latin typeface="微软雅黑"/>
                <a:cs typeface="微软雅黑"/>
              </a:rPr>
              <a:t>平</a:t>
            </a:r>
            <a:r>
              <a:rPr sz="1400" spc="-50" dirty="0" err="1">
                <a:latin typeface="微软雅黑"/>
                <a:cs typeface="微软雅黑"/>
              </a:rPr>
              <a:t>台</a:t>
            </a:r>
            <a:endParaRPr sz="1400" dirty="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74876" y="2244851"/>
            <a:ext cx="890269" cy="866140"/>
            <a:chOff x="1674876" y="2244851"/>
            <a:chExt cx="890269" cy="866140"/>
          </a:xfrm>
        </p:grpSpPr>
        <p:sp>
          <p:nvSpPr>
            <p:cNvPr id="29" name="object 29"/>
            <p:cNvSpPr/>
            <p:nvPr/>
          </p:nvSpPr>
          <p:spPr>
            <a:xfrm>
              <a:off x="1693926" y="2263901"/>
              <a:ext cx="852169" cy="828040"/>
            </a:xfrm>
            <a:custGeom>
              <a:avLst/>
              <a:gdLst/>
              <a:ahLst/>
              <a:cxnLst/>
              <a:rect l="l" t="t" r="r" b="b"/>
              <a:pathLst>
                <a:path w="852169" h="828039">
                  <a:moveTo>
                    <a:pt x="0" y="413765"/>
                  </a:moveTo>
                  <a:lnTo>
                    <a:pt x="2866" y="365520"/>
                  </a:lnTo>
                  <a:lnTo>
                    <a:pt x="11252" y="318906"/>
                  </a:lnTo>
                  <a:lnTo>
                    <a:pt x="24837" y="274237"/>
                  </a:lnTo>
                  <a:lnTo>
                    <a:pt x="43302" y="231821"/>
                  </a:lnTo>
                  <a:lnTo>
                    <a:pt x="66327" y="191970"/>
                  </a:lnTo>
                  <a:lnTo>
                    <a:pt x="93592" y="154994"/>
                  </a:lnTo>
                  <a:lnTo>
                    <a:pt x="124777" y="121205"/>
                  </a:lnTo>
                  <a:lnTo>
                    <a:pt x="159562" y="90913"/>
                  </a:lnTo>
                  <a:lnTo>
                    <a:pt x="197627" y="64429"/>
                  </a:lnTo>
                  <a:lnTo>
                    <a:pt x="238652" y="42063"/>
                  </a:lnTo>
                  <a:lnTo>
                    <a:pt x="282318" y="24126"/>
                  </a:lnTo>
                  <a:lnTo>
                    <a:pt x="328304" y="10930"/>
                  </a:lnTo>
                  <a:lnTo>
                    <a:pt x="376290" y="2784"/>
                  </a:lnTo>
                  <a:lnTo>
                    <a:pt x="425957" y="0"/>
                  </a:lnTo>
                  <a:lnTo>
                    <a:pt x="475625" y="2784"/>
                  </a:lnTo>
                  <a:lnTo>
                    <a:pt x="523611" y="10930"/>
                  </a:lnTo>
                  <a:lnTo>
                    <a:pt x="569597" y="24126"/>
                  </a:lnTo>
                  <a:lnTo>
                    <a:pt x="613263" y="42063"/>
                  </a:lnTo>
                  <a:lnTo>
                    <a:pt x="654288" y="64429"/>
                  </a:lnTo>
                  <a:lnTo>
                    <a:pt x="692353" y="90913"/>
                  </a:lnTo>
                  <a:lnTo>
                    <a:pt x="727138" y="121205"/>
                  </a:lnTo>
                  <a:lnTo>
                    <a:pt x="758323" y="154994"/>
                  </a:lnTo>
                  <a:lnTo>
                    <a:pt x="785588" y="191970"/>
                  </a:lnTo>
                  <a:lnTo>
                    <a:pt x="808613" y="231821"/>
                  </a:lnTo>
                  <a:lnTo>
                    <a:pt x="827078" y="274237"/>
                  </a:lnTo>
                  <a:lnTo>
                    <a:pt x="840663" y="318906"/>
                  </a:lnTo>
                  <a:lnTo>
                    <a:pt x="849049" y="365520"/>
                  </a:lnTo>
                  <a:lnTo>
                    <a:pt x="851916" y="413765"/>
                  </a:lnTo>
                  <a:lnTo>
                    <a:pt x="849049" y="462011"/>
                  </a:lnTo>
                  <a:lnTo>
                    <a:pt x="840663" y="508625"/>
                  </a:lnTo>
                  <a:lnTo>
                    <a:pt x="827078" y="553294"/>
                  </a:lnTo>
                  <a:lnTo>
                    <a:pt x="808613" y="595710"/>
                  </a:lnTo>
                  <a:lnTo>
                    <a:pt x="785588" y="635561"/>
                  </a:lnTo>
                  <a:lnTo>
                    <a:pt x="758323" y="672537"/>
                  </a:lnTo>
                  <a:lnTo>
                    <a:pt x="727138" y="706326"/>
                  </a:lnTo>
                  <a:lnTo>
                    <a:pt x="692353" y="736618"/>
                  </a:lnTo>
                  <a:lnTo>
                    <a:pt x="654288" y="763102"/>
                  </a:lnTo>
                  <a:lnTo>
                    <a:pt x="613263" y="785468"/>
                  </a:lnTo>
                  <a:lnTo>
                    <a:pt x="569597" y="803405"/>
                  </a:lnTo>
                  <a:lnTo>
                    <a:pt x="523611" y="816601"/>
                  </a:lnTo>
                  <a:lnTo>
                    <a:pt x="475625" y="824747"/>
                  </a:lnTo>
                  <a:lnTo>
                    <a:pt x="425957" y="827532"/>
                  </a:lnTo>
                  <a:lnTo>
                    <a:pt x="376290" y="824747"/>
                  </a:lnTo>
                  <a:lnTo>
                    <a:pt x="328304" y="816601"/>
                  </a:lnTo>
                  <a:lnTo>
                    <a:pt x="282318" y="803405"/>
                  </a:lnTo>
                  <a:lnTo>
                    <a:pt x="238652" y="785468"/>
                  </a:lnTo>
                  <a:lnTo>
                    <a:pt x="197627" y="763102"/>
                  </a:lnTo>
                  <a:lnTo>
                    <a:pt x="159562" y="736618"/>
                  </a:lnTo>
                  <a:lnTo>
                    <a:pt x="124777" y="706326"/>
                  </a:lnTo>
                  <a:lnTo>
                    <a:pt x="93592" y="672537"/>
                  </a:lnTo>
                  <a:lnTo>
                    <a:pt x="66327" y="635561"/>
                  </a:lnTo>
                  <a:lnTo>
                    <a:pt x="43302" y="595710"/>
                  </a:lnTo>
                  <a:lnTo>
                    <a:pt x="24837" y="553294"/>
                  </a:lnTo>
                  <a:lnTo>
                    <a:pt x="11252" y="508625"/>
                  </a:lnTo>
                  <a:lnTo>
                    <a:pt x="2866" y="462011"/>
                  </a:lnTo>
                  <a:lnTo>
                    <a:pt x="0" y="413765"/>
                  </a:lnTo>
                  <a:close/>
                </a:path>
              </a:pathLst>
            </a:custGeom>
            <a:ln w="38100">
              <a:solidFill>
                <a:srgbClr val="A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87880" y="2453639"/>
              <a:ext cx="277368" cy="216408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883664" y="2494787"/>
              <a:ext cx="184404" cy="23622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14144" y="2750819"/>
              <a:ext cx="195072" cy="17525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145792" y="2855975"/>
              <a:ext cx="62865" cy="62865"/>
            </a:xfrm>
            <a:custGeom>
              <a:avLst/>
              <a:gdLst/>
              <a:ahLst/>
              <a:cxnLst/>
              <a:rect l="l" t="t" r="r" b="b"/>
              <a:pathLst>
                <a:path w="62864" h="62864">
                  <a:moveTo>
                    <a:pt x="31241" y="0"/>
                  </a:moveTo>
                  <a:lnTo>
                    <a:pt x="19020" y="2434"/>
                  </a:lnTo>
                  <a:lnTo>
                    <a:pt x="9096" y="9096"/>
                  </a:lnTo>
                  <a:lnTo>
                    <a:pt x="2434" y="19020"/>
                  </a:lnTo>
                  <a:lnTo>
                    <a:pt x="0" y="31241"/>
                  </a:lnTo>
                  <a:lnTo>
                    <a:pt x="2434" y="43463"/>
                  </a:lnTo>
                  <a:lnTo>
                    <a:pt x="9096" y="53387"/>
                  </a:lnTo>
                  <a:lnTo>
                    <a:pt x="19020" y="60049"/>
                  </a:lnTo>
                  <a:lnTo>
                    <a:pt x="31241" y="62484"/>
                  </a:lnTo>
                  <a:lnTo>
                    <a:pt x="43463" y="60049"/>
                  </a:lnTo>
                  <a:lnTo>
                    <a:pt x="53387" y="53387"/>
                  </a:lnTo>
                  <a:lnTo>
                    <a:pt x="60049" y="43463"/>
                  </a:lnTo>
                  <a:lnTo>
                    <a:pt x="60409" y="41656"/>
                  </a:lnTo>
                  <a:lnTo>
                    <a:pt x="26034" y="41656"/>
                  </a:lnTo>
                  <a:lnTo>
                    <a:pt x="20827" y="36449"/>
                  </a:lnTo>
                  <a:lnTo>
                    <a:pt x="20827" y="24257"/>
                  </a:lnTo>
                  <a:lnTo>
                    <a:pt x="26034" y="20827"/>
                  </a:lnTo>
                  <a:lnTo>
                    <a:pt x="60409" y="20827"/>
                  </a:lnTo>
                  <a:lnTo>
                    <a:pt x="60049" y="19020"/>
                  </a:lnTo>
                  <a:lnTo>
                    <a:pt x="53387" y="9096"/>
                  </a:lnTo>
                  <a:lnTo>
                    <a:pt x="43463" y="2434"/>
                  </a:lnTo>
                  <a:lnTo>
                    <a:pt x="31241" y="0"/>
                  </a:lnTo>
                  <a:close/>
                </a:path>
                <a:path w="62864" h="62864">
                  <a:moveTo>
                    <a:pt x="60409" y="20827"/>
                  </a:moveTo>
                  <a:lnTo>
                    <a:pt x="36449" y="20827"/>
                  </a:lnTo>
                  <a:lnTo>
                    <a:pt x="41656" y="24257"/>
                  </a:lnTo>
                  <a:lnTo>
                    <a:pt x="41656" y="36449"/>
                  </a:lnTo>
                  <a:lnTo>
                    <a:pt x="36449" y="41656"/>
                  </a:lnTo>
                  <a:lnTo>
                    <a:pt x="60409" y="41656"/>
                  </a:lnTo>
                  <a:lnTo>
                    <a:pt x="62483" y="31241"/>
                  </a:lnTo>
                  <a:lnTo>
                    <a:pt x="60409" y="20827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231136" y="2781299"/>
              <a:ext cx="88391" cy="88391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13432" y="2741675"/>
              <a:ext cx="21590" cy="20320"/>
            </a:xfrm>
            <a:custGeom>
              <a:avLst/>
              <a:gdLst/>
              <a:ahLst/>
              <a:cxnLst/>
              <a:rect l="l" t="t" r="r" b="b"/>
              <a:pathLst>
                <a:path w="21589" h="20319">
                  <a:moveTo>
                    <a:pt x="16510" y="0"/>
                  </a:moveTo>
                  <a:lnTo>
                    <a:pt x="4825" y="0"/>
                  </a:lnTo>
                  <a:lnTo>
                    <a:pt x="0" y="4445"/>
                  </a:lnTo>
                  <a:lnTo>
                    <a:pt x="0" y="9906"/>
                  </a:lnTo>
                  <a:lnTo>
                    <a:pt x="0" y="15366"/>
                  </a:lnTo>
                  <a:lnTo>
                    <a:pt x="4825" y="19812"/>
                  </a:lnTo>
                  <a:lnTo>
                    <a:pt x="16510" y="19812"/>
                  </a:lnTo>
                  <a:lnTo>
                    <a:pt x="21336" y="15366"/>
                  </a:lnTo>
                  <a:lnTo>
                    <a:pt x="21336" y="4445"/>
                  </a:lnTo>
                  <a:lnTo>
                    <a:pt x="16510" y="0"/>
                  </a:lnTo>
                  <a:close/>
                </a:path>
              </a:pathLst>
            </a:custGeom>
            <a:solidFill>
              <a:srgbClr val="A00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/>
          <p:nvPr/>
        </p:nvSpPr>
        <p:spPr>
          <a:xfrm>
            <a:off x="9103614" y="0"/>
            <a:ext cx="1009015" cy="269240"/>
          </a:xfrm>
          <a:custGeom>
            <a:avLst/>
            <a:gdLst/>
            <a:ahLst/>
            <a:cxnLst/>
            <a:rect l="l" t="t" r="r" b="b"/>
            <a:pathLst>
              <a:path w="1009015" h="269240">
                <a:moveTo>
                  <a:pt x="0" y="268985"/>
                </a:moveTo>
                <a:lnTo>
                  <a:pt x="1008887" y="268985"/>
                </a:lnTo>
                <a:lnTo>
                  <a:pt x="1008887" y="0"/>
                </a:lnTo>
              </a:path>
              <a:path w="100901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9113139" y="0"/>
            <a:ext cx="100330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395"/>
              </a:spcBef>
            </a:pPr>
            <a:r>
              <a:rPr sz="900" dirty="0">
                <a:solidFill>
                  <a:srgbClr val="FFFFFF"/>
                </a:solidFill>
                <a:latin typeface="黑体"/>
                <a:cs typeface="黑体"/>
              </a:rPr>
              <a:t>业务架构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900" spc="-25" dirty="0">
                <a:solidFill>
                  <a:srgbClr val="FFFFFF"/>
                </a:solidFill>
                <a:latin typeface="黑体"/>
                <a:cs typeface="黑体"/>
              </a:rPr>
              <a:t>需求</a:t>
            </a:r>
            <a:endParaRPr sz="900">
              <a:latin typeface="黑体"/>
              <a:cs typeface="黑体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10138409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3" y="268985"/>
                </a:lnTo>
                <a:lnTo>
                  <a:pt x="1007363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10134981" y="0"/>
            <a:ext cx="1014730" cy="259715"/>
          </a:xfrm>
          <a:prstGeom prst="rect">
            <a:avLst/>
          </a:prstGeom>
          <a:solidFill>
            <a:srgbClr val="7E7E7E"/>
          </a:solidFill>
        </p:spPr>
        <p:txBody>
          <a:bodyPr vert="horz" wrap="square" lIns="0" tIns="50165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架构业界趋势</a:t>
            </a:r>
            <a:endParaRPr sz="900" dirty="0">
              <a:latin typeface="黑体"/>
              <a:cs typeface="黑体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1171681" y="0"/>
            <a:ext cx="1007744" cy="269240"/>
          </a:xfrm>
          <a:custGeom>
            <a:avLst/>
            <a:gdLst/>
            <a:ahLst/>
            <a:cxnLst/>
            <a:rect l="l" t="t" r="r" b="b"/>
            <a:pathLst>
              <a:path w="1007745" h="269240">
                <a:moveTo>
                  <a:pt x="0" y="268985"/>
                </a:moveTo>
                <a:lnTo>
                  <a:pt x="1007364" y="268985"/>
                </a:lnTo>
                <a:lnTo>
                  <a:pt x="1007364" y="0"/>
                </a:lnTo>
              </a:path>
              <a:path w="1007745" h="269240">
                <a:moveTo>
                  <a:pt x="0" y="0"/>
                </a:moveTo>
                <a:lnTo>
                  <a:pt x="0" y="268985"/>
                </a:lnTo>
              </a:path>
            </a:pathLst>
          </a:custGeom>
          <a:ln w="19050">
            <a:solidFill>
              <a:srgbClr val="B166FF"/>
            </a:solidFill>
            <a:prstDash val="sysDot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1168253" y="0"/>
            <a:ext cx="1001394" cy="259715"/>
          </a:xfrm>
          <a:prstGeom prst="rect">
            <a:avLst/>
          </a:prstGeom>
          <a:solidFill>
            <a:srgbClr val="7D00FF"/>
          </a:solidFill>
        </p:spPr>
        <p:txBody>
          <a:bodyPr vert="horz" wrap="square" lIns="0" tIns="50165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395"/>
              </a:spcBef>
            </a:pPr>
            <a:r>
              <a:rPr sz="900" spc="-10" dirty="0">
                <a:solidFill>
                  <a:srgbClr val="FFFFFF"/>
                </a:solidFill>
                <a:latin typeface="黑体"/>
                <a:cs typeface="黑体"/>
              </a:rPr>
              <a:t>应用架构设计</a:t>
            </a:r>
            <a:endParaRPr sz="900" dirty="0">
              <a:latin typeface="黑体"/>
              <a:cs typeface="黑体"/>
            </a:endParaRPr>
          </a:p>
        </p:txBody>
      </p:sp>
    </p:spTree>
    <p:extLst>
      <p:ext uri="{BB962C8B-B14F-4D97-AF65-F5344CB8AC3E}">
        <p14:creationId xmlns:p14="http://schemas.microsoft.com/office/powerpoint/2010/main" val="56272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矩形 411">
            <a:extLst>
              <a:ext uri="{FF2B5EF4-FFF2-40B4-BE49-F238E27FC236}">
                <a16:creationId xmlns="" xmlns:a16="http://schemas.microsoft.com/office/drawing/2014/main" id="{62C3D4C7-E76E-4F68-89FE-11430F33BDEE}"/>
              </a:ext>
            </a:extLst>
          </p:cNvPr>
          <p:cNvSpPr/>
          <p:nvPr/>
        </p:nvSpPr>
        <p:spPr>
          <a:xfrm>
            <a:off x="91735" y="610840"/>
            <a:ext cx="11412205" cy="61635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bIns="182880" rtlCol="0" anchor="t"/>
          <a:lstStyle/>
          <a:p>
            <a:pPr algn="l"/>
            <a:endParaRPr lang="zh-CN" altLang="en-US" sz="1600" dirty="0" err="1">
              <a:solidFill>
                <a:prstClr val="white"/>
              </a:solidFill>
            </a:endParaRPr>
          </a:p>
        </p:txBody>
      </p:sp>
      <p:sp>
        <p:nvSpPr>
          <p:cNvPr id="431" name="矩形 430">
            <a:extLst>
              <a:ext uri="{FF2B5EF4-FFF2-40B4-BE49-F238E27FC236}">
                <a16:creationId xmlns="" xmlns:a16="http://schemas.microsoft.com/office/drawing/2014/main" id="{7346DA7E-7B52-4D1E-AA59-869BC706314E}"/>
              </a:ext>
            </a:extLst>
          </p:cNvPr>
          <p:cNvSpPr/>
          <p:nvPr/>
        </p:nvSpPr>
        <p:spPr>
          <a:xfrm>
            <a:off x="2214709" y="1604084"/>
            <a:ext cx="4436734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="" xmlns:a16="http://schemas.microsoft.com/office/drawing/2014/main" id="{3069D6DE-39E0-41D0-B4D9-4E096026C52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539909" y="6473952"/>
            <a:ext cx="439026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76" name="TextBox 7">
            <a:extLst>
              <a:ext uri="{FF2B5EF4-FFF2-40B4-BE49-F238E27FC236}">
                <a16:creationId xmlns="" xmlns:a16="http://schemas.microsoft.com/office/drawing/2014/main" id="{EC6F8A60-6315-44E0-940B-95C1C3A0A1AB}"/>
              </a:ext>
            </a:extLst>
          </p:cNvPr>
          <p:cNvSpPr txBox="1"/>
          <p:nvPr/>
        </p:nvSpPr>
        <p:spPr>
          <a:xfrm>
            <a:off x="1333485" y="766744"/>
            <a:ext cx="772179" cy="57912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营销推广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7" name="矩形 276">
            <a:extLst>
              <a:ext uri="{FF2B5EF4-FFF2-40B4-BE49-F238E27FC236}">
                <a16:creationId xmlns="" xmlns:a16="http://schemas.microsoft.com/office/drawing/2014/main" id="{90531FA0-59BF-45EF-AFDE-F5103AC2DB4B}"/>
              </a:ext>
            </a:extLst>
          </p:cNvPr>
          <p:cNvSpPr/>
          <p:nvPr/>
        </p:nvSpPr>
        <p:spPr>
          <a:xfrm>
            <a:off x="2230959" y="677345"/>
            <a:ext cx="3168352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8" name="Rectangle 19">
            <a:extLst>
              <a:ext uri="{FF2B5EF4-FFF2-40B4-BE49-F238E27FC236}">
                <a16:creationId xmlns="" xmlns:a16="http://schemas.microsoft.com/office/drawing/2014/main" id="{EF4321F2-2B85-4DCE-B095-F8719376C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0277" y="657683"/>
            <a:ext cx="2396883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第三方互联网（移动）社交平台</a:t>
            </a:r>
          </a:p>
        </p:txBody>
      </p:sp>
      <p:sp>
        <p:nvSpPr>
          <p:cNvPr id="279" name="Rectangle 19">
            <a:extLst>
              <a:ext uri="{FF2B5EF4-FFF2-40B4-BE49-F238E27FC236}">
                <a16:creationId xmlns="" xmlns:a16="http://schemas.microsoft.com/office/drawing/2014/main" id="{4BBD701F-D247-40A6-9561-A3285DAC6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2489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微信</a:t>
            </a:r>
          </a:p>
        </p:txBody>
      </p:sp>
      <p:sp>
        <p:nvSpPr>
          <p:cNvPr id="280" name="Rectangle 19">
            <a:extLst>
              <a:ext uri="{FF2B5EF4-FFF2-40B4-BE49-F238E27FC236}">
                <a16:creationId xmlns="" xmlns:a16="http://schemas.microsoft.com/office/drawing/2014/main" id="{C07B285A-4D4B-4FA5-B295-3C451F9CA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121" y="1085803"/>
            <a:ext cx="62435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微博</a:t>
            </a:r>
          </a:p>
        </p:txBody>
      </p:sp>
      <p:sp>
        <p:nvSpPr>
          <p:cNvPr id="281" name="Rectangle 19">
            <a:extLst>
              <a:ext uri="{FF2B5EF4-FFF2-40B4-BE49-F238E27FC236}">
                <a16:creationId xmlns="" xmlns:a16="http://schemas.microsoft.com/office/drawing/2014/main" id="{EB6AA375-9557-4987-AC6E-91F2A247A3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5753" y="1085803"/>
            <a:ext cx="709893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领英</a:t>
            </a:r>
          </a:p>
        </p:txBody>
      </p:sp>
      <p:sp>
        <p:nvSpPr>
          <p:cNvPr id="282" name="Rectangle 19">
            <a:extLst>
              <a:ext uri="{FF2B5EF4-FFF2-40B4-BE49-F238E27FC236}">
                <a16:creationId xmlns="" xmlns:a16="http://schemas.microsoft.com/office/drawing/2014/main" id="{4DA611E4-6282-4991-B2D4-F1A4ED9CE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7927" y="1085803"/>
            <a:ext cx="53536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粉丝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="" xmlns:a16="http://schemas.microsoft.com/office/drawing/2014/main" id="{926C9A40-2CF3-49C5-9629-00AC7D3D66B9}"/>
              </a:ext>
            </a:extLst>
          </p:cNvPr>
          <p:cNvSpPr/>
          <p:nvPr/>
        </p:nvSpPr>
        <p:spPr>
          <a:xfrm>
            <a:off x="5599237" y="677345"/>
            <a:ext cx="2516469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4" name="Rectangle 19">
            <a:extLst>
              <a:ext uri="{FF2B5EF4-FFF2-40B4-BE49-F238E27FC236}">
                <a16:creationId xmlns="" xmlns:a16="http://schemas.microsoft.com/office/drawing/2014/main" id="{98C93EA7-AED7-4BFA-908E-312D78FA0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7932" y="657683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体验式营销通道</a:t>
            </a:r>
          </a:p>
        </p:txBody>
      </p:sp>
      <p:sp>
        <p:nvSpPr>
          <p:cNvPr id="285" name="Rectangle 19">
            <a:extLst>
              <a:ext uri="{FF2B5EF4-FFF2-40B4-BE49-F238E27FC236}">
                <a16:creationId xmlns="" xmlns:a16="http://schemas.microsoft.com/office/drawing/2014/main" id="{7DB0426F-93C0-4000-AD62-7B28F519C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756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短视频</a:t>
            </a:r>
          </a:p>
        </p:txBody>
      </p:sp>
      <p:sp>
        <p:nvSpPr>
          <p:cNvPr id="286" name="Rectangle 19">
            <a:extLst>
              <a:ext uri="{FF2B5EF4-FFF2-40B4-BE49-F238E27FC236}">
                <a16:creationId xmlns="" xmlns:a16="http://schemas.microsoft.com/office/drawing/2014/main" id="{2E9DC57E-7350-4D79-B460-0DB832FCE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130" y="1085803"/>
            <a:ext cx="83979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直播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="" xmlns:a16="http://schemas.microsoft.com/office/drawing/2014/main" id="{A587DE4C-6C5F-4C8F-9935-7CD124C89986}"/>
              </a:ext>
            </a:extLst>
          </p:cNvPr>
          <p:cNvSpPr/>
          <p:nvPr/>
        </p:nvSpPr>
        <p:spPr>
          <a:xfrm>
            <a:off x="8331730" y="677345"/>
            <a:ext cx="3059166" cy="828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8" name="Rectangle 19">
            <a:extLst>
              <a:ext uri="{FF2B5EF4-FFF2-40B4-BE49-F238E27FC236}">
                <a16:creationId xmlns="" xmlns:a16="http://schemas.microsoft.com/office/drawing/2014/main" id="{10BFD602-1922-4979-BF31-6231BBA71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03911" y="636504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传统营销通道</a:t>
            </a:r>
          </a:p>
        </p:txBody>
      </p:sp>
      <p:sp>
        <p:nvSpPr>
          <p:cNvPr id="289" name="Rectangle 19">
            <a:extLst>
              <a:ext uri="{FF2B5EF4-FFF2-40B4-BE49-F238E27FC236}">
                <a16:creationId xmlns="" xmlns:a16="http://schemas.microsoft.com/office/drawing/2014/main" id="{91C2E4EC-CD41-4CCB-B46E-902556200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00750" y="1081934"/>
            <a:ext cx="939091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广告与媒体</a:t>
            </a:r>
          </a:p>
        </p:txBody>
      </p:sp>
      <p:sp>
        <p:nvSpPr>
          <p:cNvPr id="290" name="Rectangle 19">
            <a:extLst>
              <a:ext uri="{FF2B5EF4-FFF2-40B4-BE49-F238E27FC236}">
                <a16:creationId xmlns="" xmlns:a16="http://schemas.microsoft.com/office/drawing/2014/main" id="{8A047BEE-CBA8-4377-8344-914379CDA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38680" y="1085661"/>
            <a:ext cx="1673370" cy="324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ts val="1733"/>
              </a:lnSpc>
              <a:spcBef>
                <a:spcPct val="2000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电话，短信，邮件</a:t>
            </a:r>
          </a:p>
        </p:txBody>
      </p:sp>
      <p:cxnSp>
        <p:nvCxnSpPr>
          <p:cNvPr id="291" name="直接连接符 290">
            <a:extLst>
              <a:ext uri="{FF2B5EF4-FFF2-40B4-BE49-F238E27FC236}">
                <a16:creationId xmlns="" xmlns:a16="http://schemas.microsoft.com/office/drawing/2014/main" id="{FC1F112C-A945-4944-AD7C-0340D91C9715}"/>
              </a:ext>
            </a:extLst>
          </p:cNvPr>
          <p:cNvCxnSpPr>
            <a:cxnSpLocks/>
          </p:cNvCxnSpPr>
          <p:nvPr/>
        </p:nvCxnSpPr>
        <p:spPr>
          <a:xfrm>
            <a:off x="1438626" y="1569142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292" name="TextBox 7">
            <a:extLst>
              <a:ext uri="{FF2B5EF4-FFF2-40B4-BE49-F238E27FC236}">
                <a16:creationId xmlns="" xmlns:a16="http://schemas.microsoft.com/office/drawing/2014/main" id="{AF98F502-779D-4307-AD4A-734E4868CC03}"/>
              </a:ext>
            </a:extLst>
          </p:cNvPr>
          <p:cNvSpPr txBox="1"/>
          <p:nvPr/>
        </p:nvSpPr>
        <p:spPr>
          <a:xfrm>
            <a:off x="1333485" y="1816846"/>
            <a:ext cx="772179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销服一体触点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93" name="组合 292">
            <a:extLst>
              <a:ext uri="{FF2B5EF4-FFF2-40B4-BE49-F238E27FC236}">
                <a16:creationId xmlns="" xmlns:a16="http://schemas.microsoft.com/office/drawing/2014/main" id="{20A461AE-2C15-4286-8BE6-37E3CFC7976F}"/>
              </a:ext>
            </a:extLst>
          </p:cNvPr>
          <p:cNvGrpSpPr/>
          <p:nvPr/>
        </p:nvGrpSpPr>
        <p:grpSpPr>
          <a:xfrm>
            <a:off x="2205361" y="1978997"/>
            <a:ext cx="1140614" cy="900000"/>
            <a:chOff x="6028072" y="2051523"/>
            <a:chExt cx="2680007" cy="1079946"/>
          </a:xfrm>
        </p:grpSpPr>
        <p:sp>
          <p:nvSpPr>
            <p:cNvPr id="294" name="矩形 293">
              <a:extLst>
                <a:ext uri="{FF2B5EF4-FFF2-40B4-BE49-F238E27FC236}">
                  <a16:creationId xmlns="" xmlns:a16="http://schemas.microsoft.com/office/drawing/2014/main" id="{EEA3E5A1-043A-4792-B418-9109B91F636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5" name="TextBox 74">
              <a:extLst>
                <a:ext uri="{FF2B5EF4-FFF2-40B4-BE49-F238E27FC236}">
                  <a16:creationId xmlns="" xmlns:a16="http://schemas.microsoft.com/office/drawing/2014/main" id="{1FBA0D63-2BEE-444F-ADA3-F93F5E2A04B5}"/>
                </a:ext>
              </a:extLst>
            </p:cNvPr>
            <p:cNvSpPr txBox="1"/>
            <p:nvPr/>
          </p:nvSpPr>
          <p:spPr>
            <a:xfrm>
              <a:off x="6028072" y="2399375"/>
              <a:ext cx="2680007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官网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6" name="组合 295">
            <a:extLst>
              <a:ext uri="{FF2B5EF4-FFF2-40B4-BE49-F238E27FC236}">
                <a16:creationId xmlns="" xmlns:a16="http://schemas.microsoft.com/office/drawing/2014/main" id="{3D33476B-3CF8-46FE-B757-6E2B05E0ED39}"/>
              </a:ext>
            </a:extLst>
          </p:cNvPr>
          <p:cNvGrpSpPr/>
          <p:nvPr/>
        </p:nvGrpSpPr>
        <p:grpSpPr>
          <a:xfrm>
            <a:off x="3381928" y="1978997"/>
            <a:ext cx="1044000" cy="900000"/>
            <a:chOff x="6137721" y="2051523"/>
            <a:chExt cx="2435756" cy="1079946"/>
          </a:xfrm>
        </p:grpSpPr>
        <p:sp>
          <p:nvSpPr>
            <p:cNvPr id="297" name="矩形 296">
              <a:extLst>
                <a:ext uri="{FF2B5EF4-FFF2-40B4-BE49-F238E27FC236}">
                  <a16:creationId xmlns="" xmlns:a16="http://schemas.microsoft.com/office/drawing/2014/main" id="{4CFDD932-7669-4B9E-9CBE-9F1B185EB57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8" name="TextBox 74">
              <a:extLst>
                <a:ext uri="{FF2B5EF4-FFF2-40B4-BE49-F238E27FC236}">
                  <a16:creationId xmlns="" xmlns:a16="http://schemas.microsoft.com/office/drawing/2014/main" id="{A9EDC52F-EC0C-4737-93F9-14BB407E8CB7}"/>
                </a:ext>
              </a:extLst>
            </p:cNvPr>
            <p:cNvSpPr txBox="1"/>
            <p:nvPr/>
          </p:nvSpPr>
          <p:spPr>
            <a:xfrm>
              <a:off x="6229671" y="2422966"/>
              <a:ext cx="2315520" cy="33238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大客户平台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99" name="组合 298">
            <a:extLst>
              <a:ext uri="{FF2B5EF4-FFF2-40B4-BE49-F238E27FC236}">
                <a16:creationId xmlns="" xmlns:a16="http://schemas.microsoft.com/office/drawing/2014/main" id="{004856D2-04CB-499B-928B-0F95E2273668}"/>
              </a:ext>
            </a:extLst>
          </p:cNvPr>
          <p:cNvGrpSpPr/>
          <p:nvPr/>
        </p:nvGrpSpPr>
        <p:grpSpPr>
          <a:xfrm>
            <a:off x="4461881" y="1978997"/>
            <a:ext cx="1063196" cy="900000"/>
            <a:chOff x="6137721" y="2051523"/>
            <a:chExt cx="2480542" cy="1079946"/>
          </a:xfrm>
        </p:grpSpPr>
        <p:sp>
          <p:nvSpPr>
            <p:cNvPr id="300" name="矩形 299">
              <a:extLst>
                <a:ext uri="{FF2B5EF4-FFF2-40B4-BE49-F238E27FC236}">
                  <a16:creationId xmlns="" xmlns:a16="http://schemas.microsoft.com/office/drawing/2014/main" id="{0104C934-6C2E-49B3-AE5A-5DD440A8D8B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1" name="TextBox 74">
              <a:extLst>
                <a:ext uri="{FF2B5EF4-FFF2-40B4-BE49-F238E27FC236}">
                  <a16:creationId xmlns="" xmlns:a16="http://schemas.microsoft.com/office/drawing/2014/main" id="{AF4719BB-A4D3-4ED8-979A-ED9365A4D600}"/>
                </a:ext>
              </a:extLst>
            </p:cNvPr>
            <p:cNvSpPr txBox="1"/>
            <p:nvPr/>
          </p:nvSpPr>
          <p:spPr>
            <a:xfrm>
              <a:off x="6275549" y="2195953"/>
              <a:ext cx="2342714" cy="77555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渠道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1200" kern="0" dirty="0">
                  <a:solidFill>
                    <a:prstClr val="white"/>
                  </a:solidFill>
                </a:rPr>
                <a:t>平台</a:t>
              </a:r>
              <a:endParaRPr lang="en-US" altLang="zh-CN" sz="1200" kern="0" dirty="0">
                <a:solidFill>
                  <a:prstClr val="white"/>
                </a:solidFill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BP Portal</a:t>
              </a:r>
              <a:r>
                <a:rPr kumimoji="0" lang="zh-CN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</a:p>
          </p:txBody>
        </p:sp>
      </p:grpSp>
      <p:grpSp>
        <p:nvGrpSpPr>
          <p:cNvPr id="302" name="组合 301">
            <a:extLst>
              <a:ext uri="{FF2B5EF4-FFF2-40B4-BE49-F238E27FC236}">
                <a16:creationId xmlns="" xmlns:a16="http://schemas.microsoft.com/office/drawing/2014/main" id="{71AC2777-74CC-46D5-BFAA-2FAE0607F896}"/>
              </a:ext>
            </a:extLst>
          </p:cNvPr>
          <p:cNvGrpSpPr/>
          <p:nvPr/>
        </p:nvGrpSpPr>
        <p:grpSpPr>
          <a:xfrm>
            <a:off x="5561030" y="1978997"/>
            <a:ext cx="1044000" cy="900000"/>
            <a:chOff x="6137721" y="2051523"/>
            <a:chExt cx="2435756" cy="1079946"/>
          </a:xfrm>
        </p:grpSpPr>
        <p:sp>
          <p:nvSpPr>
            <p:cNvPr id="303" name="矩形 302">
              <a:extLst>
                <a:ext uri="{FF2B5EF4-FFF2-40B4-BE49-F238E27FC236}">
                  <a16:creationId xmlns="" xmlns:a16="http://schemas.microsoft.com/office/drawing/2014/main" id="{9CAAD6EC-1BB0-4373-B7AE-5A4401C6B827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04" name="TextBox 74">
              <a:extLst>
                <a:ext uri="{FF2B5EF4-FFF2-40B4-BE49-F238E27FC236}">
                  <a16:creationId xmlns="" xmlns:a16="http://schemas.microsoft.com/office/drawing/2014/main" id="{25F21374-0A3E-4E35-B65D-336F90CADDF1}"/>
                </a:ext>
              </a:extLst>
            </p:cNvPr>
            <p:cNvSpPr txBox="1"/>
            <p:nvPr/>
          </p:nvSpPr>
          <p:spPr>
            <a:xfrm>
              <a:off x="6182507" y="2305851"/>
              <a:ext cx="2328037" cy="55397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服务支持平台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1" name="矩形 310">
            <a:extLst>
              <a:ext uri="{FF2B5EF4-FFF2-40B4-BE49-F238E27FC236}">
                <a16:creationId xmlns="" xmlns:a16="http://schemas.microsoft.com/office/drawing/2014/main" id="{6D2B3178-5BEF-4FC2-A7F2-AF82FDCF7030}"/>
              </a:ext>
            </a:extLst>
          </p:cNvPr>
          <p:cNvSpPr/>
          <p:nvPr/>
        </p:nvSpPr>
        <p:spPr>
          <a:xfrm>
            <a:off x="6720229" y="1617297"/>
            <a:ext cx="4642269" cy="133257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2" name="Rectangle 19">
            <a:extLst>
              <a:ext uri="{FF2B5EF4-FFF2-40B4-BE49-F238E27FC236}">
                <a16:creationId xmlns="" xmlns:a16="http://schemas.microsoft.com/office/drawing/2014/main" id="{F44A92A6-0051-45E5-861A-D54764CB0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58095" y="1605645"/>
            <a:ext cx="1307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对内部用户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3" name="组合 312">
            <a:extLst>
              <a:ext uri="{FF2B5EF4-FFF2-40B4-BE49-F238E27FC236}">
                <a16:creationId xmlns="" xmlns:a16="http://schemas.microsoft.com/office/drawing/2014/main" id="{7C8AFDD1-EB95-462D-BCBB-1EC67CF15279}"/>
              </a:ext>
            </a:extLst>
          </p:cNvPr>
          <p:cNvGrpSpPr/>
          <p:nvPr/>
        </p:nvGrpSpPr>
        <p:grpSpPr>
          <a:xfrm>
            <a:off x="6851130" y="1991179"/>
            <a:ext cx="957887" cy="1075078"/>
            <a:chOff x="6137721" y="2051523"/>
            <a:chExt cx="2435756" cy="1271522"/>
          </a:xfrm>
        </p:grpSpPr>
        <p:sp>
          <p:nvSpPr>
            <p:cNvPr id="314" name="矩形 313">
              <a:extLst>
                <a:ext uri="{FF2B5EF4-FFF2-40B4-BE49-F238E27FC236}">
                  <a16:creationId xmlns="" xmlns:a16="http://schemas.microsoft.com/office/drawing/2014/main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15" name="TextBox 74">
              <a:extLst>
                <a:ext uri="{FF2B5EF4-FFF2-40B4-BE49-F238E27FC236}">
                  <a16:creationId xmlns="" xmlns:a16="http://schemas.microsoft.com/office/drawing/2014/main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1"/>
              <a:ext cx="2034332" cy="11999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在线营销</a:t>
              </a:r>
              <a:r>
                <a:rPr kumimoji="0" lang="en-US" altLang="zh-CN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客户运营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cxnSp>
        <p:nvCxnSpPr>
          <p:cNvPr id="325" name="直接连接符 324">
            <a:extLst>
              <a:ext uri="{FF2B5EF4-FFF2-40B4-BE49-F238E27FC236}">
                <a16:creationId xmlns="" xmlns:a16="http://schemas.microsoft.com/office/drawing/2014/main" id="{064A4156-310E-4BA3-A867-6E5F21CD5EAD}"/>
              </a:ext>
            </a:extLst>
          </p:cNvPr>
          <p:cNvCxnSpPr>
            <a:cxnSpLocks/>
          </p:cNvCxnSpPr>
          <p:nvPr/>
        </p:nvCxnSpPr>
        <p:spPr>
          <a:xfrm>
            <a:off x="1438626" y="2980329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26" name="TextBox 7">
            <a:extLst>
              <a:ext uri="{FF2B5EF4-FFF2-40B4-BE49-F238E27FC236}">
                <a16:creationId xmlns="" xmlns:a16="http://schemas.microsoft.com/office/drawing/2014/main" id="{BE9E0246-7B16-4610-B605-E02215F34FC6}"/>
              </a:ext>
            </a:extLst>
          </p:cNvPr>
          <p:cNvSpPr txBox="1"/>
          <p:nvPr/>
        </p:nvSpPr>
        <p:spPr>
          <a:xfrm>
            <a:off x="1315306" y="3774440"/>
            <a:ext cx="772179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运营支撑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27" name="矩形 326">
            <a:extLst>
              <a:ext uri="{FF2B5EF4-FFF2-40B4-BE49-F238E27FC236}">
                <a16:creationId xmlns="" xmlns:a16="http://schemas.microsoft.com/office/drawing/2014/main" id="{1BC963D3-4FD6-4E12-A065-81ABB08B10B5}"/>
              </a:ext>
            </a:extLst>
          </p:cNvPr>
          <p:cNvSpPr/>
          <p:nvPr/>
        </p:nvSpPr>
        <p:spPr>
          <a:xfrm>
            <a:off x="2204006" y="3038280"/>
            <a:ext cx="4355021" cy="1777422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9" name="矩形 328">
            <a:extLst>
              <a:ext uri="{FF2B5EF4-FFF2-40B4-BE49-F238E27FC236}">
                <a16:creationId xmlns="" xmlns:a16="http://schemas.microsoft.com/office/drawing/2014/main" id="{F07AAA2E-08B0-4D46-A9CB-36A6071A9E2C}"/>
              </a:ext>
            </a:extLst>
          </p:cNvPr>
          <p:cNvSpPr/>
          <p:nvPr/>
        </p:nvSpPr>
        <p:spPr>
          <a:xfrm>
            <a:off x="6720231" y="3038281"/>
            <a:ext cx="4670666" cy="180019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0" name="TextBox 74">
            <a:extLst>
              <a:ext uri="{FF2B5EF4-FFF2-40B4-BE49-F238E27FC236}">
                <a16:creationId xmlns="" xmlns:a16="http://schemas.microsoft.com/office/drawing/2014/main" id="{098F19CB-4CC7-424B-BEE6-D7C90E4F75F7}"/>
              </a:ext>
            </a:extLst>
          </p:cNvPr>
          <p:cNvSpPr txBox="1"/>
          <p:nvPr/>
        </p:nvSpPr>
        <p:spPr>
          <a:xfrm>
            <a:off x="7183412" y="3051760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数据中台</a:t>
            </a:r>
          </a:p>
        </p:txBody>
      </p:sp>
      <p:sp>
        <p:nvSpPr>
          <p:cNvPr id="332" name="Rectangle 19">
            <a:extLst>
              <a:ext uri="{FF2B5EF4-FFF2-40B4-BE49-F238E27FC236}">
                <a16:creationId xmlns="" xmlns:a16="http://schemas.microsoft.com/office/drawing/2014/main" id="{3A4B33CB-342A-4F15-9CC1-4057B2966B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47301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方案管理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="" xmlns:a16="http://schemas.microsoft.com/office/drawing/2014/main" id="{8501B49C-4354-4E83-949D-007185687EC5}"/>
              </a:ext>
            </a:extLst>
          </p:cNvPr>
          <p:cNvSpPr/>
          <p:nvPr/>
        </p:nvSpPr>
        <p:spPr>
          <a:xfrm>
            <a:off x="6756672" y="3373017"/>
            <a:ext cx="2041186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0" name="Rectangle 19">
            <a:extLst>
              <a:ext uri="{FF2B5EF4-FFF2-40B4-BE49-F238E27FC236}">
                <a16:creationId xmlns="" xmlns:a16="http://schemas.microsoft.com/office/drawing/2014/main" id="{2DEEC018-946F-48E4-AD16-79E7E0EA4A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8883" y="3301009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主数据（</a:t>
            </a:r>
            <a:r>
              <a:rPr lang="en-US" altLang="zh-CN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MDM</a:t>
            </a: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）</a:t>
            </a:r>
          </a:p>
        </p:txBody>
      </p:sp>
      <p:sp>
        <p:nvSpPr>
          <p:cNvPr id="341" name="矩形 340">
            <a:extLst>
              <a:ext uri="{FF2B5EF4-FFF2-40B4-BE49-F238E27FC236}">
                <a16:creationId xmlns="" xmlns:a16="http://schemas.microsoft.com/office/drawing/2014/main" id="{07EC4EDB-2E1F-4998-95F7-D4593DD119B8}"/>
              </a:ext>
            </a:extLst>
          </p:cNvPr>
          <p:cNvSpPr/>
          <p:nvPr/>
        </p:nvSpPr>
        <p:spPr>
          <a:xfrm>
            <a:off x="8918471" y="3375613"/>
            <a:ext cx="2352168" cy="756000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42" name="Rectangle 19">
            <a:extLst>
              <a:ext uri="{FF2B5EF4-FFF2-40B4-BE49-F238E27FC236}">
                <a16:creationId xmlns="" xmlns:a16="http://schemas.microsoft.com/office/drawing/2014/main" id="{D01D54B8-346A-493C-B2EF-3655CC6AAC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12923" y="3292856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业务过程与分析数据</a:t>
            </a:r>
          </a:p>
        </p:txBody>
      </p:sp>
      <p:sp>
        <p:nvSpPr>
          <p:cNvPr id="343" name="Rectangle 19">
            <a:extLst>
              <a:ext uri="{FF2B5EF4-FFF2-40B4-BE49-F238E27FC236}">
                <a16:creationId xmlns="" xmlns:a16="http://schemas.microsoft.com/office/drawing/2014/main" id="{F520E278-CED4-4A45-A3FF-CA1054AB8C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9547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4" name="Rectangle 19">
            <a:extLst>
              <a:ext uri="{FF2B5EF4-FFF2-40B4-BE49-F238E27FC236}">
                <a16:creationId xmlns="" xmlns:a16="http://schemas.microsoft.com/office/drawing/2014/main" id="{4E32B523-6F3B-46D1-8579-CC1372EBA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6612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产品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5" name="Rectangle 19">
            <a:extLst>
              <a:ext uri="{FF2B5EF4-FFF2-40B4-BE49-F238E27FC236}">
                <a16:creationId xmlns="" xmlns:a16="http://schemas.microsoft.com/office/drawing/2014/main" id="{1A0C0FE2-5B93-40EB-8083-16E296E10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8754" y="3637087"/>
            <a:ext cx="528901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成本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6" name="Rectangle 19">
            <a:extLst>
              <a:ext uri="{FF2B5EF4-FFF2-40B4-BE49-F238E27FC236}">
                <a16:creationId xmlns="" xmlns:a16="http://schemas.microsoft.com/office/drawing/2014/main" id="{376DB444-939B-49E0-BEC6-C589ACC06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632229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订单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7" name="Rectangle 19">
            <a:extLst>
              <a:ext uri="{FF2B5EF4-FFF2-40B4-BE49-F238E27FC236}">
                <a16:creationId xmlns="" xmlns:a16="http://schemas.microsoft.com/office/drawing/2014/main" id="{50A40EBF-A16C-4972-B2E4-734B1F76D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舆情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8" name="Rectangle 19">
            <a:extLst>
              <a:ext uri="{FF2B5EF4-FFF2-40B4-BE49-F238E27FC236}">
                <a16:creationId xmlns="" xmlns:a16="http://schemas.microsoft.com/office/drawing/2014/main" id="{F37061FA-BFC5-44AC-939A-DCD583232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行为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49" name="Rectangle 19">
            <a:extLst>
              <a:ext uri="{FF2B5EF4-FFF2-40B4-BE49-F238E27FC236}">
                <a16:creationId xmlns="" xmlns:a16="http://schemas.microsoft.com/office/drawing/2014/main" id="{7EBC4C62-26FE-4F5E-8805-FF6B907D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632229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支付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="" xmlns:a16="http://schemas.microsoft.com/office/drawing/2014/main" id="{9DDE1531-476E-435B-9595-75873B1C6401}"/>
              </a:ext>
            </a:extLst>
          </p:cNvPr>
          <p:cNvSpPr/>
          <p:nvPr/>
        </p:nvSpPr>
        <p:spPr>
          <a:xfrm>
            <a:off x="6756672" y="4248003"/>
            <a:ext cx="4527212" cy="496954"/>
          </a:xfrm>
          <a:prstGeom prst="rect">
            <a:avLst/>
          </a:prstGeom>
          <a:solidFill>
            <a:srgbClr val="C0504D">
              <a:lumMod val="40000"/>
              <a:lumOff val="6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1" name="Rectangle 19">
            <a:extLst>
              <a:ext uri="{FF2B5EF4-FFF2-40B4-BE49-F238E27FC236}">
                <a16:creationId xmlns="" xmlns:a16="http://schemas.microsoft.com/office/drawing/2014/main" id="{DE1F1300-23BE-48D4-BA2C-C860AAB4A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49492" y="4161430"/>
            <a:ext cx="2070961" cy="3937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algn="just">
              <a:lnSpc>
                <a:spcPts val="1733"/>
              </a:lnSpc>
              <a:spcBef>
                <a:spcPct val="20000"/>
              </a:spcBef>
              <a:buClr>
                <a:srgbClr val="000000"/>
              </a:buClr>
              <a:buSzPct val="70000"/>
            </a:pPr>
            <a:r>
              <a:rPr lang="zh-CN" altLang="en-US" sz="1200" dirty="0">
                <a:solidFill>
                  <a:prstClr val="black"/>
                </a:solidFill>
                <a:latin typeface="Calibri"/>
                <a:ea typeface="方正兰亭纤黑简体" pitchFamily="65" charset="-122"/>
              </a:rPr>
              <a:t>数据资产管理及标准规范</a:t>
            </a:r>
          </a:p>
        </p:txBody>
      </p:sp>
      <p:cxnSp>
        <p:nvCxnSpPr>
          <p:cNvPr id="356" name="直接连接符 355">
            <a:extLst>
              <a:ext uri="{FF2B5EF4-FFF2-40B4-BE49-F238E27FC236}">
                <a16:creationId xmlns="" xmlns:a16="http://schemas.microsoft.com/office/drawing/2014/main" id="{A31E3378-CB07-41A9-AABA-476EBA6A9D31}"/>
              </a:ext>
            </a:extLst>
          </p:cNvPr>
          <p:cNvCxnSpPr>
            <a:cxnSpLocks/>
          </p:cNvCxnSpPr>
          <p:nvPr/>
        </p:nvCxnSpPr>
        <p:spPr>
          <a:xfrm>
            <a:off x="1438626" y="5785340"/>
            <a:ext cx="9904914" cy="0"/>
          </a:xfrm>
          <a:prstGeom prst="line">
            <a:avLst/>
          </a:prstGeom>
          <a:noFill/>
          <a:ln w="25400" cap="flat" cmpd="sng" algn="ctr">
            <a:solidFill>
              <a:srgbClr val="4F81BD">
                <a:shade val="95000"/>
                <a:satMod val="105000"/>
              </a:srgbClr>
            </a:solidFill>
            <a:prstDash val="solid"/>
          </a:ln>
          <a:effectLst/>
        </p:spPr>
      </p:cxnSp>
      <p:sp>
        <p:nvSpPr>
          <p:cNvPr id="357" name="TextBox 7">
            <a:extLst>
              <a:ext uri="{FF2B5EF4-FFF2-40B4-BE49-F238E27FC236}">
                <a16:creationId xmlns="" xmlns:a16="http://schemas.microsoft.com/office/drawing/2014/main" id="{B2A461E7-AE6B-44E7-BF05-7A768994D463}"/>
              </a:ext>
            </a:extLst>
          </p:cNvPr>
          <p:cNvSpPr txBox="1"/>
          <p:nvPr/>
        </p:nvSpPr>
        <p:spPr>
          <a:xfrm>
            <a:off x="1333485" y="5780782"/>
            <a:ext cx="772179" cy="107721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</a:rPr>
              <a:t>内部管理后勤支持</a:t>
            </a:r>
            <a:endParaRPr lang="zh-CN" altLang="en-US" sz="1400" b="1" dirty="0">
              <a:solidFill>
                <a:srgbClr val="0070C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58" name="组合 357">
            <a:extLst>
              <a:ext uri="{FF2B5EF4-FFF2-40B4-BE49-F238E27FC236}">
                <a16:creationId xmlns="" xmlns:a16="http://schemas.microsoft.com/office/drawing/2014/main" id="{379C733B-F096-443C-AEF2-9BABBDF207DE}"/>
              </a:ext>
            </a:extLst>
          </p:cNvPr>
          <p:cNvGrpSpPr/>
          <p:nvPr/>
        </p:nvGrpSpPr>
        <p:grpSpPr>
          <a:xfrm>
            <a:off x="2204005" y="5842904"/>
            <a:ext cx="2160000" cy="396000"/>
            <a:chOff x="6137721" y="2051523"/>
            <a:chExt cx="2435756" cy="1079946"/>
          </a:xfrm>
        </p:grpSpPr>
        <p:sp>
          <p:nvSpPr>
            <p:cNvPr id="359" name="矩形 358">
              <a:extLst>
                <a:ext uri="{FF2B5EF4-FFF2-40B4-BE49-F238E27FC236}">
                  <a16:creationId xmlns="" xmlns:a16="http://schemas.microsoft.com/office/drawing/2014/main" id="{E9FF42BB-6FAE-4EF7-9D71-530E7CABC020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0" name="TextBox 74">
              <a:extLst>
                <a:ext uri="{FF2B5EF4-FFF2-40B4-BE49-F238E27FC236}">
                  <a16:creationId xmlns="" xmlns:a16="http://schemas.microsoft.com/office/drawing/2014/main" id="{B7B02FAE-306D-481E-9E3D-731EC9F2668B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采购管理</a:t>
              </a:r>
            </a:p>
          </p:txBody>
        </p:sp>
      </p:grpSp>
      <p:grpSp>
        <p:nvGrpSpPr>
          <p:cNvPr id="361" name="组合 360">
            <a:extLst>
              <a:ext uri="{FF2B5EF4-FFF2-40B4-BE49-F238E27FC236}">
                <a16:creationId xmlns="" xmlns:a16="http://schemas.microsoft.com/office/drawing/2014/main" id="{EB49469D-7FFC-42FA-B3A7-C97075A40322}"/>
              </a:ext>
            </a:extLst>
          </p:cNvPr>
          <p:cNvGrpSpPr/>
          <p:nvPr/>
        </p:nvGrpSpPr>
        <p:grpSpPr>
          <a:xfrm>
            <a:off x="4546302" y="5842904"/>
            <a:ext cx="2160000" cy="396000"/>
            <a:chOff x="6137721" y="2051523"/>
            <a:chExt cx="2435756" cy="1079946"/>
          </a:xfrm>
        </p:grpSpPr>
        <p:sp>
          <p:nvSpPr>
            <p:cNvPr id="362" name="矩形 361">
              <a:extLst>
                <a:ext uri="{FF2B5EF4-FFF2-40B4-BE49-F238E27FC236}">
                  <a16:creationId xmlns="" xmlns:a16="http://schemas.microsoft.com/office/drawing/2014/main" id="{7D65108D-6163-4F61-951F-1F8F5B42281E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3" name="TextBox 74">
              <a:extLst>
                <a:ext uri="{FF2B5EF4-FFF2-40B4-BE49-F238E27FC236}">
                  <a16:creationId xmlns="" xmlns:a16="http://schemas.microsoft.com/office/drawing/2014/main" id="{E8615432-9A7A-4D1C-A392-58BCABBD532A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生产管理</a:t>
              </a:r>
            </a:p>
          </p:txBody>
        </p:sp>
      </p:grpSp>
      <p:grpSp>
        <p:nvGrpSpPr>
          <p:cNvPr id="364" name="组合 363">
            <a:extLst>
              <a:ext uri="{FF2B5EF4-FFF2-40B4-BE49-F238E27FC236}">
                <a16:creationId xmlns="" xmlns:a16="http://schemas.microsoft.com/office/drawing/2014/main" id="{3A3A451F-5ADD-435C-BEC3-293D7315B5C4}"/>
              </a:ext>
            </a:extLst>
          </p:cNvPr>
          <p:cNvGrpSpPr/>
          <p:nvPr/>
        </p:nvGrpSpPr>
        <p:grpSpPr>
          <a:xfrm>
            <a:off x="6888599" y="5842904"/>
            <a:ext cx="2160000" cy="396000"/>
            <a:chOff x="6137721" y="2051523"/>
            <a:chExt cx="2435756" cy="1079946"/>
          </a:xfrm>
        </p:grpSpPr>
        <p:sp>
          <p:nvSpPr>
            <p:cNvPr id="365" name="矩形 364">
              <a:extLst>
                <a:ext uri="{FF2B5EF4-FFF2-40B4-BE49-F238E27FC236}">
                  <a16:creationId xmlns="" xmlns:a16="http://schemas.microsoft.com/office/drawing/2014/main" id="{3C63AD30-CF3C-4EBE-A028-BCD0C62010C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6" name="TextBox 74">
              <a:extLst>
                <a:ext uri="{FF2B5EF4-FFF2-40B4-BE49-F238E27FC236}">
                  <a16:creationId xmlns="" xmlns:a16="http://schemas.microsoft.com/office/drawing/2014/main" id="{007FBFD0-C8BC-4426-A063-9227E5C4F901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库存管理</a:t>
              </a:r>
            </a:p>
          </p:txBody>
        </p:sp>
      </p:grpSp>
      <p:grpSp>
        <p:nvGrpSpPr>
          <p:cNvPr id="367" name="组合 366">
            <a:extLst>
              <a:ext uri="{FF2B5EF4-FFF2-40B4-BE49-F238E27FC236}">
                <a16:creationId xmlns="" xmlns:a16="http://schemas.microsoft.com/office/drawing/2014/main" id="{8069C7E9-76B3-46B4-B702-0D9C8E31F6F3}"/>
              </a:ext>
            </a:extLst>
          </p:cNvPr>
          <p:cNvGrpSpPr/>
          <p:nvPr/>
        </p:nvGrpSpPr>
        <p:grpSpPr>
          <a:xfrm>
            <a:off x="9230896" y="5842904"/>
            <a:ext cx="2160000" cy="396000"/>
            <a:chOff x="6137721" y="2051523"/>
            <a:chExt cx="2435756" cy="1079946"/>
          </a:xfrm>
        </p:grpSpPr>
        <p:sp>
          <p:nvSpPr>
            <p:cNvPr id="368" name="矩形 367">
              <a:extLst>
                <a:ext uri="{FF2B5EF4-FFF2-40B4-BE49-F238E27FC236}">
                  <a16:creationId xmlns="" xmlns:a16="http://schemas.microsoft.com/office/drawing/2014/main" id="{62A1907E-ABFA-4EAF-89B7-64A28A306A5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69" name="TextBox 74">
              <a:extLst>
                <a:ext uri="{FF2B5EF4-FFF2-40B4-BE49-F238E27FC236}">
                  <a16:creationId xmlns="" xmlns:a16="http://schemas.microsoft.com/office/drawing/2014/main" id="{43A06111-2EE2-4B78-A34A-57137C467714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仓储物流管理</a:t>
              </a:r>
            </a:p>
          </p:txBody>
        </p:sp>
      </p:grpSp>
      <p:grpSp>
        <p:nvGrpSpPr>
          <p:cNvPr id="370" name="组合 369">
            <a:extLst>
              <a:ext uri="{FF2B5EF4-FFF2-40B4-BE49-F238E27FC236}">
                <a16:creationId xmlns="" xmlns:a16="http://schemas.microsoft.com/office/drawing/2014/main" id="{3A434EFB-FBFB-4206-B3C4-BA579204838C}"/>
              </a:ext>
            </a:extLst>
          </p:cNvPr>
          <p:cNvGrpSpPr/>
          <p:nvPr/>
        </p:nvGrpSpPr>
        <p:grpSpPr>
          <a:xfrm>
            <a:off x="4546302" y="6285710"/>
            <a:ext cx="2160000" cy="396000"/>
            <a:chOff x="6137721" y="2051523"/>
            <a:chExt cx="2435756" cy="1079946"/>
          </a:xfrm>
        </p:grpSpPr>
        <p:sp>
          <p:nvSpPr>
            <p:cNvPr id="371" name="矩形 370">
              <a:extLst>
                <a:ext uri="{FF2B5EF4-FFF2-40B4-BE49-F238E27FC236}">
                  <a16:creationId xmlns="" xmlns:a16="http://schemas.microsoft.com/office/drawing/2014/main" id="{8B4AE6B4-2D57-44A9-92B5-A8AD1DF4795B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2" name="TextBox 74">
              <a:extLst>
                <a:ext uri="{FF2B5EF4-FFF2-40B4-BE49-F238E27FC236}">
                  <a16:creationId xmlns="" xmlns:a16="http://schemas.microsoft.com/office/drawing/2014/main" id="{A394792C-0255-459C-B754-61907D1ED877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产品研发管理</a:t>
              </a:r>
            </a:p>
          </p:txBody>
        </p:sp>
      </p:grpSp>
      <p:grpSp>
        <p:nvGrpSpPr>
          <p:cNvPr id="373" name="组合 372">
            <a:extLst>
              <a:ext uri="{FF2B5EF4-FFF2-40B4-BE49-F238E27FC236}">
                <a16:creationId xmlns="" xmlns:a16="http://schemas.microsoft.com/office/drawing/2014/main" id="{6DE4005B-F2EA-4023-8896-52C58530D34F}"/>
              </a:ext>
            </a:extLst>
          </p:cNvPr>
          <p:cNvGrpSpPr/>
          <p:nvPr/>
        </p:nvGrpSpPr>
        <p:grpSpPr>
          <a:xfrm>
            <a:off x="2204005" y="6285710"/>
            <a:ext cx="2160000" cy="390552"/>
            <a:chOff x="6137721" y="2051523"/>
            <a:chExt cx="2435756" cy="1079946"/>
          </a:xfrm>
        </p:grpSpPr>
        <p:sp>
          <p:nvSpPr>
            <p:cNvPr id="374" name="矩形 373">
              <a:extLst>
                <a:ext uri="{FF2B5EF4-FFF2-40B4-BE49-F238E27FC236}">
                  <a16:creationId xmlns="" xmlns:a16="http://schemas.microsoft.com/office/drawing/2014/main" id="{4B4F3289-ED9B-415A-9CE3-E9BC06E96DC2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5" name="TextBox 74">
              <a:extLst>
                <a:ext uri="{FF2B5EF4-FFF2-40B4-BE49-F238E27FC236}">
                  <a16:creationId xmlns="" xmlns:a16="http://schemas.microsoft.com/office/drawing/2014/main" id="{A7DC1538-4E97-41F9-AA5A-3DB071AC5835}"/>
                </a:ext>
              </a:extLst>
            </p:cNvPr>
            <p:cNvSpPr txBox="1"/>
            <p:nvPr/>
          </p:nvSpPr>
          <p:spPr>
            <a:xfrm>
              <a:off x="6275549" y="2230763"/>
              <a:ext cx="2034331" cy="6851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财务管理</a:t>
              </a:r>
            </a:p>
          </p:txBody>
        </p:sp>
      </p:grpSp>
      <p:grpSp>
        <p:nvGrpSpPr>
          <p:cNvPr id="376" name="组合 375">
            <a:extLst>
              <a:ext uri="{FF2B5EF4-FFF2-40B4-BE49-F238E27FC236}">
                <a16:creationId xmlns="" xmlns:a16="http://schemas.microsoft.com/office/drawing/2014/main" id="{4FECCAB3-3266-48B6-8E80-CD0643F87D32}"/>
              </a:ext>
            </a:extLst>
          </p:cNvPr>
          <p:cNvGrpSpPr/>
          <p:nvPr/>
        </p:nvGrpSpPr>
        <p:grpSpPr>
          <a:xfrm>
            <a:off x="6888599" y="6285710"/>
            <a:ext cx="2160000" cy="390552"/>
            <a:chOff x="6137721" y="2051523"/>
            <a:chExt cx="2435756" cy="1079946"/>
          </a:xfrm>
        </p:grpSpPr>
        <p:sp>
          <p:nvSpPr>
            <p:cNvPr id="377" name="矩形 376">
              <a:extLst>
                <a:ext uri="{FF2B5EF4-FFF2-40B4-BE49-F238E27FC236}">
                  <a16:creationId xmlns="" xmlns:a16="http://schemas.microsoft.com/office/drawing/2014/main" id="{E17C43AA-865F-46F7-86E7-7426117D3F46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78" name="TextBox 74">
              <a:extLst>
                <a:ext uri="{FF2B5EF4-FFF2-40B4-BE49-F238E27FC236}">
                  <a16:creationId xmlns="" xmlns:a16="http://schemas.microsoft.com/office/drawing/2014/main" id="{B0562CA4-A62D-4070-AD3A-85B8FAF67F1A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人力资源管理</a:t>
              </a:r>
            </a:p>
          </p:txBody>
        </p:sp>
      </p:grpSp>
      <p:grpSp>
        <p:nvGrpSpPr>
          <p:cNvPr id="379" name="组合 378">
            <a:extLst>
              <a:ext uri="{FF2B5EF4-FFF2-40B4-BE49-F238E27FC236}">
                <a16:creationId xmlns="" xmlns:a16="http://schemas.microsoft.com/office/drawing/2014/main" id="{E36C8715-5CD5-48C3-BA6D-FBD3EFB8B125}"/>
              </a:ext>
            </a:extLst>
          </p:cNvPr>
          <p:cNvGrpSpPr/>
          <p:nvPr/>
        </p:nvGrpSpPr>
        <p:grpSpPr>
          <a:xfrm>
            <a:off x="9230896" y="6285710"/>
            <a:ext cx="2160000" cy="390552"/>
            <a:chOff x="6137721" y="2051523"/>
            <a:chExt cx="2435756" cy="1079946"/>
          </a:xfrm>
        </p:grpSpPr>
        <p:sp>
          <p:nvSpPr>
            <p:cNvPr id="380" name="矩形 379">
              <a:extLst>
                <a:ext uri="{FF2B5EF4-FFF2-40B4-BE49-F238E27FC236}">
                  <a16:creationId xmlns="" xmlns:a16="http://schemas.microsoft.com/office/drawing/2014/main" id="{E48451D2-82B4-49FD-B899-B21188E3D1D4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92D050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381" name="TextBox 74">
              <a:extLst>
                <a:ext uri="{FF2B5EF4-FFF2-40B4-BE49-F238E27FC236}">
                  <a16:creationId xmlns="" xmlns:a16="http://schemas.microsoft.com/office/drawing/2014/main" id="{A38E2D5D-080A-4C3B-AFAA-D34FE9A0FAF1}"/>
                </a:ext>
              </a:extLst>
            </p:cNvPr>
            <p:cNvSpPr txBox="1"/>
            <p:nvPr/>
          </p:nvSpPr>
          <p:spPr>
            <a:xfrm>
              <a:off x="6275549" y="2230762"/>
              <a:ext cx="2034331" cy="8510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内部办公管理</a:t>
              </a:r>
            </a:p>
          </p:txBody>
        </p:sp>
      </p:grpSp>
      <p:sp>
        <p:nvSpPr>
          <p:cNvPr id="382" name="箭头: 上 381">
            <a:extLst>
              <a:ext uri="{FF2B5EF4-FFF2-40B4-BE49-F238E27FC236}">
                <a16:creationId xmlns="" xmlns:a16="http://schemas.microsoft.com/office/drawing/2014/main" id="{418EEDD8-F353-4B46-90BA-13B8FA53E9B2}"/>
              </a:ext>
            </a:extLst>
          </p:cNvPr>
          <p:cNvSpPr/>
          <p:nvPr/>
        </p:nvSpPr>
        <p:spPr>
          <a:xfrm>
            <a:off x="11463771" y="677345"/>
            <a:ext cx="568493" cy="5980955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3" name="箭头: 上 382">
            <a:extLst>
              <a:ext uri="{FF2B5EF4-FFF2-40B4-BE49-F238E27FC236}">
                <a16:creationId xmlns="" xmlns:a16="http://schemas.microsoft.com/office/drawing/2014/main" id="{030A1BD5-7A77-4B31-8821-11D1C4241AAD}"/>
              </a:ext>
            </a:extLst>
          </p:cNvPr>
          <p:cNvSpPr/>
          <p:nvPr/>
        </p:nvSpPr>
        <p:spPr>
          <a:xfrm rot="10800000">
            <a:off x="75617" y="677345"/>
            <a:ext cx="665673" cy="5980956"/>
          </a:xfrm>
          <a:prstGeom prst="upArrow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vert="wordArtVertRtl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6" name="矩形 385">
            <a:extLst>
              <a:ext uri="{FF2B5EF4-FFF2-40B4-BE49-F238E27FC236}">
                <a16:creationId xmlns="" xmlns:a16="http://schemas.microsoft.com/office/drawing/2014/main" id="{79E832C7-F131-4AE8-8FA6-74C2FAB62910}"/>
              </a:ext>
            </a:extLst>
          </p:cNvPr>
          <p:cNvSpPr/>
          <p:nvPr/>
        </p:nvSpPr>
        <p:spPr>
          <a:xfrm>
            <a:off x="2184071" y="4873419"/>
            <a:ext cx="9206825" cy="866237"/>
          </a:xfrm>
          <a:prstGeom prst="rect">
            <a:avLst/>
          </a:prstGeom>
          <a:solidFill>
            <a:srgbClr val="4F81BD"/>
          </a:solidFill>
          <a:ln w="25400" cap="flat" cmpd="sng" algn="ctr">
            <a:noFill/>
            <a:prstDash val="solid"/>
          </a:ln>
          <a:effectLst/>
        </p:spPr>
        <p:txBody>
          <a:bodyPr wrap="squar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87" name="TextBox 74">
            <a:extLst>
              <a:ext uri="{FF2B5EF4-FFF2-40B4-BE49-F238E27FC236}">
                <a16:creationId xmlns="" xmlns:a16="http://schemas.microsoft.com/office/drawing/2014/main" id="{EF222B35-9518-479E-8B15-DFF45AF68484}"/>
              </a:ext>
            </a:extLst>
          </p:cNvPr>
          <p:cNvSpPr txBox="1"/>
          <p:nvPr/>
        </p:nvSpPr>
        <p:spPr>
          <a:xfrm>
            <a:off x="4775913" y="4873265"/>
            <a:ext cx="36372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技术中台</a:t>
            </a:r>
          </a:p>
        </p:txBody>
      </p:sp>
      <p:sp>
        <p:nvSpPr>
          <p:cNvPr id="388" name="Rectangle 19">
            <a:extLst>
              <a:ext uri="{FF2B5EF4-FFF2-40B4-BE49-F238E27FC236}">
                <a16:creationId xmlns="" xmlns:a16="http://schemas.microsoft.com/office/drawing/2014/main" id="{76FF6EDF-3CFE-4123-AEF1-1732F3BE18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8993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云原生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89" name="Rectangle 19">
            <a:extLst>
              <a:ext uri="{FF2B5EF4-FFF2-40B4-BE49-F238E27FC236}">
                <a16:creationId xmlns="" xmlns:a16="http://schemas.microsoft.com/office/drawing/2014/main" id="{436BFA62-6B55-4C7A-9AF3-E8FA48EA6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8754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AIOps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0" name="Rectangle 19">
            <a:extLst>
              <a:ext uri="{FF2B5EF4-FFF2-40B4-BE49-F238E27FC236}">
                <a16:creationId xmlns="" xmlns:a16="http://schemas.microsoft.com/office/drawing/2014/main" id="{C0142B9F-4132-45F5-9D77-912BE654A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8515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技术开发平台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1" name="Rectangle 19">
            <a:extLst>
              <a:ext uri="{FF2B5EF4-FFF2-40B4-BE49-F238E27FC236}">
                <a16:creationId xmlns="" xmlns:a16="http://schemas.microsoft.com/office/drawing/2014/main" id="{3E2453D2-4AB2-488C-BCB9-FE03386FA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8276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大数据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2" name="Rectangle 19">
            <a:extLst>
              <a:ext uri="{FF2B5EF4-FFF2-40B4-BE49-F238E27FC236}">
                <a16:creationId xmlns="" xmlns:a16="http://schemas.microsoft.com/office/drawing/2014/main" id="{430D55FC-317C-4B90-B3A6-8BF20682A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8037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AI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3" name="Rectangle 19">
            <a:extLst>
              <a:ext uri="{FF2B5EF4-FFF2-40B4-BE49-F238E27FC236}">
                <a16:creationId xmlns="" xmlns:a16="http://schemas.microsoft.com/office/drawing/2014/main" id="{BF0688CC-B768-41AD-A6E3-27B59031C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17798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IoT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394" name="Rectangle 19">
            <a:extLst>
              <a:ext uri="{FF2B5EF4-FFF2-40B4-BE49-F238E27FC236}">
                <a16:creationId xmlns="" xmlns:a16="http://schemas.microsoft.com/office/drawing/2014/main" id="{5E9FEAD5-082C-4DF5-875E-1C09946897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7560" y="5177706"/>
            <a:ext cx="1116000" cy="3937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区块链</a:t>
            </a:r>
            <a:endParaRPr kumimoji="0" lang="en-US" altLang="zh-CN" sz="7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1" name="TextBox 7">
            <a:extLst>
              <a:ext uri="{FF2B5EF4-FFF2-40B4-BE49-F238E27FC236}">
                <a16:creationId xmlns="" xmlns:a16="http://schemas.microsoft.com/office/drawing/2014/main" id="{CBB9458B-50BC-47F4-95A8-03094D71139C}"/>
              </a:ext>
            </a:extLst>
          </p:cNvPr>
          <p:cNvSpPr txBox="1"/>
          <p:nvPr/>
        </p:nvSpPr>
        <p:spPr>
          <a:xfrm>
            <a:off x="737916" y="1250141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前台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2" name="TextBox 7">
            <a:extLst>
              <a:ext uri="{FF2B5EF4-FFF2-40B4-BE49-F238E27FC236}">
                <a16:creationId xmlns="" xmlns:a16="http://schemas.microsoft.com/office/drawing/2014/main" id="{CCBA401E-99A6-472D-B346-7D008C85CAE2}"/>
              </a:ext>
            </a:extLst>
          </p:cNvPr>
          <p:cNvSpPr txBox="1"/>
          <p:nvPr/>
        </p:nvSpPr>
        <p:spPr>
          <a:xfrm>
            <a:off x="744825" y="3711949"/>
            <a:ext cx="56190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中台</a:t>
            </a:r>
          </a:p>
        </p:txBody>
      </p:sp>
      <p:sp>
        <p:nvSpPr>
          <p:cNvPr id="403" name="TextBox 7">
            <a:extLst>
              <a:ext uri="{FF2B5EF4-FFF2-40B4-BE49-F238E27FC236}">
                <a16:creationId xmlns="" xmlns:a16="http://schemas.microsoft.com/office/drawing/2014/main" id="{9FFDE553-5975-4E7F-9F3E-C840333E2B52}"/>
              </a:ext>
            </a:extLst>
          </p:cNvPr>
          <p:cNvSpPr txBox="1"/>
          <p:nvPr/>
        </p:nvSpPr>
        <p:spPr>
          <a:xfrm>
            <a:off x="754537" y="5901816"/>
            <a:ext cx="460743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rPr>
              <a:t>后台</a:t>
            </a:r>
            <a:endParaRPr lang="zh-CN" altLang="en-US" b="1" dirty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04" name="Rectangle 19">
            <a:extLst>
              <a:ext uri="{FF2B5EF4-FFF2-40B4-BE49-F238E27FC236}">
                <a16:creationId xmlns="" xmlns:a16="http://schemas.microsoft.com/office/drawing/2014/main" id="{2F884A99-6D12-4C08-8B7A-0E0F12E2D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6248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数据采集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5" name="Rectangle 19">
            <a:extLst>
              <a:ext uri="{FF2B5EF4-FFF2-40B4-BE49-F238E27FC236}">
                <a16:creationId xmlns="" xmlns:a16="http://schemas.microsoft.com/office/drawing/2014/main" id="{3263DC31-9178-40EC-9748-E7CF49D13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99789" y="4461186"/>
            <a:ext cx="934248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数据存储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6" name="Rectangle 19">
            <a:extLst>
              <a:ext uri="{FF2B5EF4-FFF2-40B4-BE49-F238E27FC236}">
                <a16:creationId xmlns="" xmlns:a16="http://schemas.microsoft.com/office/drawing/2014/main" id="{01A8AB91-59BD-4A06-B8A0-BF6E437E9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43330" y="4461186"/>
            <a:ext cx="1188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数据建模</a:t>
            </a:r>
            <a:r>
              <a: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/</a:t>
            </a: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标签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7" name="Rectangle 19">
            <a:extLst>
              <a:ext uri="{FF2B5EF4-FFF2-40B4-BE49-F238E27FC236}">
                <a16:creationId xmlns="" xmlns:a16="http://schemas.microsoft.com/office/drawing/2014/main" id="{DA67C339-558A-474F-84CD-C37878ABA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40624" y="4461186"/>
            <a:ext cx="972000" cy="244034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数据服务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8" name="Rectangle 19">
            <a:extLst>
              <a:ext uri="{FF2B5EF4-FFF2-40B4-BE49-F238E27FC236}">
                <a16:creationId xmlns="" xmlns:a16="http://schemas.microsoft.com/office/drawing/2014/main" id="{A8CB91A9-FDCC-43D0-8833-A2398EFAF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858" y="3873398"/>
            <a:ext cx="478882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物流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09" name="Rectangle 19">
            <a:extLst>
              <a:ext uri="{FF2B5EF4-FFF2-40B4-BE49-F238E27FC236}">
                <a16:creationId xmlns="" xmlns:a16="http://schemas.microsoft.com/office/drawing/2014/main" id="{052DF9E8-3A46-43EE-B573-CEADFD51D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9224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服务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0" name="Rectangle 19">
            <a:extLst>
              <a:ext uri="{FF2B5EF4-FFF2-40B4-BE49-F238E27FC236}">
                <a16:creationId xmlns="" xmlns:a16="http://schemas.microsoft.com/office/drawing/2014/main" id="{AA2EBABD-C0C1-4555-86FF-09C3C4895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2508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1" name="Rectangle 19">
            <a:extLst>
              <a:ext uri="{FF2B5EF4-FFF2-40B4-BE49-F238E27FC236}">
                <a16:creationId xmlns="" xmlns:a16="http://schemas.microsoft.com/office/drawing/2014/main" id="{F4AF3ED2-799F-4275-A74B-3258F622E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45792" y="3873398"/>
            <a:ext cx="478800" cy="2088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结算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3" name="TextBox 74">
            <a:extLst>
              <a:ext uri="{FF2B5EF4-FFF2-40B4-BE49-F238E27FC236}">
                <a16:creationId xmlns="" xmlns:a16="http://schemas.microsoft.com/office/drawing/2014/main" id="{1AFA98C1-8AEB-4B40-81D3-FF3E25448326}"/>
              </a:ext>
            </a:extLst>
          </p:cNvPr>
          <p:cNvSpPr txBox="1"/>
          <p:nvPr/>
        </p:nvSpPr>
        <p:spPr>
          <a:xfrm>
            <a:off x="3312394" y="3051760"/>
            <a:ext cx="18516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29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通用</a:t>
            </a:r>
            <a:r>
              <a: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业务中台</a:t>
            </a:r>
          </a:p>
        </p:txBody>
      </p:sp>
      <p:sp>
        <p:nvSpPr>
          <p:cNvPr id="416" name="Rectangle 19">
            <a:extLst>
              <a:ext uri="{FF2B5EF4-FFF2-40B4-BE49-F238E27FC236}">
                <a16:creationId xmlns="" xmlns:a16="http://schemas.microsoft.com/office/drawing/2014/main" id="{8F7DAC47-C5FD-424B-B325-C20D5FCBA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3766268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客户管理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7" name="Rectangle 19">
            <a:extLst>
              <a:ext uri="{FF2B5EF4-FFF2-40B4-BE49-F238E27FC236}">
                <a16:creationId xmlns="" xmlns:a16="http://schemas.microsoft.com/office/drawing/2014/main" id="{FAB4F779-63B6-40B5-820A-60D037DB8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361" y="3470944"/>
            <a:ext cx="1230621" cy="494029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营销管理</a:t>
            </a:r>
            <a:endParaRPr kumimoji="0" lang="en-US" altLang="zh-CN" sz="12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（</a:t>
            </a: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Mar tech</a:t>
            </a: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）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8" name="Rectangle 19">
            <a:extLst>
              <a:ext uri="{FF2B5EF4-FFF2-40B4-BE49-F238E27FC236}">
                <a16:creationId xmlns="" xmlns:a16="http://schemas.microsoft.com/office/drawing/2014/main" id="{52764B26-6491-47E0-93F7-30FCA050C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949" y="3463971"/>
            <a:ext cx="1238807" cy="501002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销售管理</a:t>
            </a:r>
            <a:endParaRPr lang="en-US" altLang="zh-CN" sz="1200" kern="0" dirty="0">
              <a:solidFill>
                <a:prstClr val="black">
                  <a:lumMod val="95000"/>
                  <a:lumOff val="5000"/>
                </a:prstClr>
              </a:solidFill>
              <a:latin typeface="Calibri"/>
              <a:ea typeface="方正兰亭纤黑简体" pitchFamily="65" charset="-122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en-US" altLang="zh-CN" sz="1200" kern="0" dirty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(Sales tech)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19" name="Rectangle 19">
            <a:extLst>
              <a:ext uri="{FF2B5EF4-FFF2-40B4-BE49-F238E27FC236}">
                <a16:creationId xmlns="" xmlns:a16="http://schemas.microsoft.com/office/drawing/2014/main" id="{607DB60D-0C76-451B-88AE-62B931F525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4840" y="4059523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订单管理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0" name="Rectangle 19">
            <a:extLst>
              <a:ext uri="{FF2B5EF4-FFF2-40B4-BE49-F238E27FC236}">
                <a16:creationId xmlns="" xmlns:a16="http://schemas.microsoft.com/office/drawing/2014/main" id="{C416D94A-0288-4020-AA00-D24E1668A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982" y="4042932"/>
            <a:ext cx="1224000" cy="252000"/>
          </a:xfrm>
          <a:prstGeom prst="rect">
            <a:avLst/>
          </a:prstGeom>
          <a:solidFill>
            <a:sysClr val="window" lastClr="FFFFFF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Calibri"/>
                <a:ea typeface="方正兰亭纤黑简体" pitchFamily="65" charset="-122"/>
              </a:rPr>
              <a:t>客服管理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421" name="等腰三角形 285">
            <a:extLst>
              <a:ext uri="{FF2B5EF4-FFF2-40B4-BE49-F238E27FC236}">
                <a16:creationId xmlns="" xmlns:a16="http://schemas.microsoft.com/office/drawing/2014/main" id="{72A7F93E-0A3F-41AA-9EB9-E465E0E60AE3}"/>
              </a:ext>
            </a:extLst>
          </p:cNvPr>
          <p:cNvSpPr/>
          <p:nvPr/>
        </p:nvSpPr>
        <p:spPr>
          <a:xfrm>
            <a:off x="2388930" y="187946"/>
            <a:ext cx="9264192" cy="458593"/>
          </a:xfrm>
          <a:prstGeom prst="triangle">
            <a:avLst>
              <a:gd name="adj" fmla="val 49989"/>
            </a:avLst>
          </a:prstGeom>
          <a:solidFill>
            <a:srgbClr val="86BC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6" tIns="45708" rIns="91416" bIns="179953" rtlCol="0" anchor="ctr"/>
          <a:lstStyle/>
          <a:p>
            <a:pPr algn="ctr" defTabSz="1218834">
              <a:defRPr/>
            </a:pPr>
            <a:r>
              <a:rPr lang="zh-CN" altLang="en-US" sz="1600" b="1" dirty="0">
                <a:solidFill>
                  <a:prstClr val="white"/>
                </a:solidFill>
                <a:latin typeface="Verdana" panose="020B0604020202020204"/>
                <a:ea typeface="微软雅黑"/>
              </a:rPr>
              <a:t>模式创新、促进转化、提升效率、数据保障</a:t>
            </a:r>
          </a:p>
        </p:txBody>
      </p:sp>
      <p:sp>
        <p:nvSpPr>
          <p:cNvPr id="422" name="标题 2">
            <a:extLst>
              <a:ext uri="{FF2B5EF4-FFF2-40B4-BE49-F238E27FC236}">
                <a16:creationId xmlns="" xmlns:a16="http://schemas.microsoft.com/office/drawing/2014/main" id="{62B8240C-14BC-4669-B327-4ECC23B0B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" y="28524"/>
            <a:ext cx="11073384" cy="387798"/>
          </a:xfr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defTabSz="1218026" fontAlgn="base">
              <a:spcAft>
                <a:spcPct val="0"/>
              </a:spcAft>
              <a:tabLst>
                <a:tab pos="367135" algn="l"/>
              </a:tabLst>
            </a:pPr>
            <a:r>
              <a:rPr lang="zh-CN" altLang="en-US" sz="2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数字化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平台屋顶图</a:t>
            </a:r>
          </a:p>
        </p:txBody>
      </p:sp>
      <p:sp>
        <p:nvSpPr>
          <p:cNvPr id="432" name="Rectangle 19">
            <a:extLst>
              <a:ext uri="{FF2B5EF4-FFF2-40B4-BE49-F238E27FC236}">
                <a16:creationId xmlns="" xmlns:a16="http://schemas.microsoft.com/office/drawing/2014/main" id="{A8A3C187-5F4A-4C81-8C23-609093AC41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085" y="1595595"/>
            <a:ext cx="13071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对外部用户</a:t>
            </a:r>
            <a:endParaRPr lang="zh-CN" altLang="en-US" sz="14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4" name="Rectangle 19">
            <a:extLst>
              <a:ext uri="{FF2B5EF4-FFF2-40B4-BE49-F238E27FC236}">
                <a16:creationId xmlns="" xmlns:a16="http://schemas.microsoft.com/office/drawing/2014/main" id="{C9636D26-4C84-41E8-BA16-2D785F1042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3756" y="4029471"/>
            <a:ext cx="1224000" cy="252000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lIns="85847" tIns="42924" rIns="85847" bIns="42924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70000"/>
              <a:buFontTx/>
              <a:buNone/>
              <a:tabLst/>
              <a:defRPr/>
            </a:pPr>
            <a:r>
              <a:rPr lang="zh-CN" altLang="en-US" sz="1200" kern="0" dirty="0" smtClean="0">
                <a:solidFill>
                  <a:prstClr val="black">
                    <a:lumMod val="95000"/>
                    <a:lumOff val="5000"/>
                  </a:prstClr>
                </a:solidFill>
                <a:latin typeface="Calibri"/>
                <a:ea typeface="方正兰亭纤黑简体" pitchFamily="65" charset="-122"/>
              </a:rPr>
              <a:t>项目管理</a:t>
            </a:r>
            <a:endParaRPr kumimoji="0" lang="zh-CN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Calibri"/>
              <a:ea typeface="方正兰亭纤黑简体" pitchFamily="65" charset="-122"/>
            </a:endParaRPr>
          </a:p>
        </p:txBody>
      </p:sp>
      <p:sp>
        <p:nvSpPr>
          <p:cNvPr id="135" name="TextBox 7">
            <a:extLst>
              <a:ext uri="{FF2B5EF4-FFF2-40B4-BE49-F238E27FC236}">
                <a16:creationId xmlns="" xmlns:a16="http://schemas.microsoft.com/office/drawing/2014/main" id="{FC5A6048-D070-459D-8D5D-E526B917E41F}"/>
              </a:ext>
            </a:extLst>
          </p:cNvPr>
          <p:cNvSpPr txBox="1"/>
          <p:nvPr/>
        </p:nvSpPr>
        <p:spPr>
          <a:xfrm>
            <a:off x="226219" y="1480191"/>
            <a:ext cx="505628" cy="378565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根据战略及业务重点从上到下驱动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6" name="TextBox 7">
            <a:extLst>
              <a:ext uri="{FF2B5EF4-FFF2-40B4-BE49-F238E27FC236}">
                <a16:creationId xmlns="" xmlns:a16="http://schemas.microsoft.com/office/drawing/2014/main" id="{B7D4EBE1-4D48-4854-8048-43A7FA917E50}"/>
              </a:ext>
            </a:extLst>
          </p:cNvPr>
          <p:cNvSpPr txBox="1"/>
          <p:nvPr/>
        </p:nvSpPr>
        <p:spPr>
          <a:xfrm>
            <a:off x="11547762" y="1413063"/>
            <a:ext cx="505628" cy="403187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rPr>
              <a:t>根据业务痛点，业务问题从下而上驱动</a:t>
            </a:r>
            <a:endParaRPr lang="zh-CN" altLang="en-US" sz="1400" b="1" dirty="0">
              <a:solidFill>
                <a:schemeClr val="bg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32" name="组合 131">
            <a:extLst>
              <a:ext uri="{FF2B5EF4-FFF2-40B4-BE49-F238E27FC236}">
                <a16:creationId xmlns="" xmlns:a16="http://schemas.microsoft.com/office/drawing/2014/main" id="{7C8AFDD1-EB95-462D-BCBB-1EC67CF15279}"/>
              </a:ext>
            </a:extLst>
          </p:cNvPr>
          <p:cNvGrpSpPr/>
          <p:nvPr/>
        </p:nvGrpSpPr>
        <p:grpSpPr>
          <a:xfrm>
            <a:off x="8000749" y="1991179"/>
            <a:ext cx="957887" cy="913100"/>
            <a:chOff x="6137721" y="2051523"/>
            <a:chExt cx="2435756" cy="1079946"/>
          </a:xfrm>
        </p:grpSpPr>
        <p:sp>
          <p:nvSpPr>
            <p:cNvPr id="137" name="矩形 136">
              <a:extLst>
                <a:ext uri="{FF2B5EF4-FFF2-40B4-BE49-F238E27FC236}">
                  <a16:creationId xmlns="" xmlns:a16="http://schemas.microsoft.com/office/drawing/2014/main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38" name="TextBox 74">
              <a:extLst>
                <a:ext uri="{FF2B5EF4-FFF2-40B4-BE49-F238E27FC236}">
                  <a16:creationId xmlns="" xmlns:a16="http://schemas.microsoft.com/office/drawing/2014/main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经营管理平台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9" name="组合 138">
            <a:extLst>
              <a:ext uri="{FF2B5EF4-FFF2-40B4-BE49-F238E27FC236}">
                <a16:creationId xmlns="" xmlns:a16="http://schemas.microsoft.com/office/drawing/2014/main" id="{7C8AFDD1-EB95-462D-BCBB-1EC67CF15279}"/>
              </a:ext>
            </a:extLst>
          </p:cNvPr>
          <p:cNvGrpSpPr/>
          <p:nvPr/>
        </p:nvGrpSpPr>
        <p:grpSpPr>
          <a:xfrm>
            <a:off x="9140835" y="1983655"/>
            <a:ext cx="2064377" cy="913100"/>
            <a:chOff x="6137721" y="2051523"/>
            <a:chExt cx="5249386" cy="1079946"/>
          </a:xfrm>
        </p:grpSpPr>
        <p:sp>
          <p:nvSpPr>
            <p:cNvPr id="140" name="矩形 139">
              <a:extLst>
                <a:ext uri="{FF2B5EF4-FFF2-40B4-BE49-F238E27FC236}">
                  <a16:creationId xmlns="" xmlns:a16="http://schemas.microsoft.com/office/drawing/2014/main" id="{51BB8C9A-F603-4B9D-9001-816563204883}"/>
                </a:ext>
              </a:extLst>
            </p:cNvPr>
            <p:cNvSpPr/>
            <p:nvPr/>
          </p:nvSpPr>
          <p:spPr>
            <a:xfrm>
              <a:off x="613772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1" name="TextBox 74">
              <a:extLst>
                <a:ext uri="{FF2B5EF4-FFF2-40B4-BE49-F238E27FC236}">
                  <a16:creationId xmlns="" xmlns:a16="http://schemas.microsoft.com/office/drawing/2014/main" id="{C0CB38A3-8C03-4B6C-AD3A-756027C2CAF8}"/>
                </a:ext>
              </a:extLst>
            </p:cNvPr>
            <p:cNvSpPr txBox="1"/>
            <p:nvPr/>
          </p:nvSpPr>
          <p:spPr>
            <a:xfrm>
              <a:off x="6275548" y="2123102"/>
              <a:ext cx="2034333" cy="5460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分析决策平台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矩形 141">
              <a:extLst>
                <a:ext uri="{FF2B5EF4-FFF2-40B4-BE49-F238E27FC236}">
                  <a16:creationId xmlns="" xmlns:a16="http://schemas.microsoft.com/office/drawing/2014/main" id="{51BB8C9A-F603-4B9D-9001-816563204883}"/>
                </a:ext>
              </a:extLst>
            </p:cNvPr>
            <p:cNvSpPr/>
            <p:nvPr/>
          </p:nvSpPr>
          <p:spPr>
            <a:xfrm>
              <a:off x="8951351" y="2051523"/>
              <a:ext cx="2435756" cy="1079946"/>
            </a:xfrm>
            <a:prstGeom prst="rect">
              <a:avLst/>
            </a:prstGeom>
            <a:solidFill>
              <a:srgbClr val="4F81BD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43" name="TextBox 74">
              <a:extLst>
                <a:ext uri="{FF2B5EF4-FFF2-40B4-BE49-F238E27FC236}">
                  <a16:creationId xmlns="" xmlns:a16="http://schemas.microsoft.com/office/drawing/2014/main" id="{C0CB38A3-8C03-4B6C-AD3A-756027C2CAF8}"/>
                </a:ext>
              </a:extLst>
            </p:cNvPr>
            <p:cNvSpPr txBox="1"/>
            <p:nvPr/>
          </p:nvSpPr>
          <p:spPr>
            <a:xfrm>
              <a:off x="9113002" y="2142653"/>
              <a:ext cx="2034333" cy="7644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29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200" b="0" i="0" u="none" strike="noStrike" kern="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数字资产及知识管理</a:t>
              </a:r>
              <a:endParaRPr kumimoji="0" lang="zh-CN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69581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W8_1HuTZa4QjqyCV2Guw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834</Words>
  <Application>Microsoft Office PowerPoint</Application>
  <PresentationFormat>宽屏</PresentationFormat>
  <Paragraphs>299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方正兰亭纤黑简体</vt:lpstr>
      <vt:lpstr>黑体</vt:lpstr>
      <vt:lpstr>宋体</vt:lpstr>
      <vt:lpstr>微软雅黑</vt:lpstr>
      <vt:lpstr>Arial</vt:lpstr>
      <vt:lpstr>Calibri</vt:lpstr>
      <vt:lpstr>Calibri Light</vt:lpstr>
      <vt:lpstr>Times New Roman</vt:lpstr>
      <vt:lpstr>Verdana</vt:lpstr>
      <vt:lpstr>Office 主题</vt:lpstr>
      <vt:lpstr>think-cell Slide</vt:lpstr>
      <vt:lpstr>PowerPoint 演示文稿</vt:lpstr>
      <vt:lpstr>PowerPoint 演示文稿</vt:lpstr>
      <vt:lpstr>PowerPoint 演示文稿</vt:lpstr>
      <vt:lpstr>PowerPoint 演示文稿</vt:lpstr>
      <vt:lpstr>数字化平台屋顶图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Lenovo</cp:lastModifiedBy>
  <cp:revision>19</cp:revision>
  <dcterms:created xsi:type="dcterms:W3CDTF">2025-04-15T02:30:01Z</dcterms:created>
  <dcterms:modified xsi:type="dcterms:W3CDTF">2025-04-17T08:16:28Z</dcterms:modified>
</cp:coreProperties>
</file>