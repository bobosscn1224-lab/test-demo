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007578697" r:id="rId2"/>
    <p:sldId id="2007578713" r:id="rId3"/>
    <p:sldId id="2007578701" r:id="rId4"/>
    <p:sldId id="2007578698" r:id="rId5"/>
    <p:sldId id="2007578699" r:id="rId6"/>
    <p:sldId id="2007578700" r:id="rId7"/>
    <p:sldId id="2007578702" r:id="rId8"/>
    <p:sldId id="2007578703" r:id="rId9"/>
    <p:sldId id="2007578705" r:id="rId10"/>
    <p:sldId id="2007578704" r:id="rId11"/>
    <p:sldId id="2007578706" r:id="rId12"/>
    <p:sldId id="2007578707" r:id="rId13"/>
    <p:sldId id="2007578708" r:id="rId14"/>
    <p:sldId id="2007578709" r:id="rId15"/>
    <p:sldId id="2007578710" r:id="rId16"/>
    <p:sldId id="2007578711" r:id="rId17"/>
    <p:sldId id="2007578712" r:id="rId18"/>
    <p:sldId id="2007578714" r:id="rId19"/>
    <p:sldId id="2007578715" r:id="rId20"/>
    <p:sldId id="2007578696" r:id="rId21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CF5"/>
    <a:srgbClr val="859CC2"/>
    <a:srgbClr val="4472C4"/>
    <a:srgbClr val="4F81BC"/>
    <a:srgbClr val="00FF00"/>
    <a:srgbClr val="375F92"/>
    <a:srgbClr val="9DB2CA"/>
    <a:srgbClr val="EBF0DE"/>
    <a:srgbClr val="94B3D6"/>
    <a:srgbClr val="4453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03447BB-5D67-496B-8E87-E561075AD55C}" styleName="深色样式 1 - 强调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52" autoAdjust="0"/>
    <p:restoredTop sz="93318" autoAdjust="0"/>
  </p:normalViewPr>
  <p:slideViewPr>
    <p:cSldViewPr snapToGrid="0" snapToObjects="1" showGuides="1">
      <p:cViewPr varScale="1">
        <p:scale>
          <a:sx n="102" d="100"/>
          <a:sy n="102" d="100"/>
        </p:scale>
        <p:origin x="984" y="176"/>
      </p:cViewPr>
      <p:guideLst>
        <p:guide orient="horz" pos="61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3" d="100"/>
          <a:sy n="53" d="100"/>
        </p:scale>
        <p:origin x="2648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952C77-7FED-BD46-9044-C8969F277611}" type="datetimeFigureOut">
              <a:rPr kumimoji="1" lang="zh-CN" altLang="en-US" smtClean="0"/>
              <a:t>2025/3/10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D077CC-FB9E-B64F-8E5D-9AAAFFC6134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0334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2</a:t>
            </a:r>
            <a:r>
              <a:rPr lang="zh-CN" altLang="en-US" dirty="0"/>
              <a:t>月</a:t>
            </a:r>
            <a:r>
              <a:rPr lang="en-US" altLang="zh-CN" dirty="0"/>
              <a:t>5</a:t>
            </a:r>
            <a:r>
              <a:rPr lang="zh-CN" altLang="en-US" dirty="0"/>
              <a:t>日取值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D077CC-FB9E-B64F-8E5D-9AAAFFC6134C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6300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2</a:t>
            </a:r>
            <a:r>
              <a:rPr lang="zh-CN" altLang="en-US" dirty="0"/>
              <a:t>月</a:t>
            </a:r>
            <a:r>
              <a:rPr lang="en-US" altLang="zh-CN" dirty="0"/>
              <a:t>5</a:t>
            </a:r>
            <a:r>
              <a:rPr lang="zh-CN" altLang="en-US" dirty="0"/>
              <a:t>日取值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D077CC-FB9E-B64F-8E5D-9AAAFFC6134C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760784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2</a:t>
            </a:r>
            <a:r>
              <a:rPr lang="zh-CN" altLang="en-US" dirty="0"/>
              <a:t>月</a:t>
            </a:r>
            <a:r>
              <a:rPr lang="en-US" altLang="zh-CN" dirty="0"/>
              <a:t>5</a:t>
            </a:r>
            <a:r>
              <a:rPr lang="zh-CN" altLang="en-US" dirty="0"/>
              <a:t>日取值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D077CC-FB9E-B64F-8E5D-9AAAFFC6134C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217000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2</a:t>
            </a:r>
            <a:r>
              <a:rPr lang="zh-CN" altLang="en-US" dirty="0"/>
              <a:t>月</a:t>
            </a:r>
            <a:r>
              <a:rPr lang="en-US" altLang="zh-CN" dirty="0"/>
              <a:t>5</a:t>
            </a:r>
            <a:r>
              <a:rPr lang="zh-CN" altLang="en-US" dirty="0"/>
              <a:t>日取值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D077CC-FB9E-B64F-8E5D-9AAAFFC6134C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68728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2</a:t>
            </a:r>
            <a:r>
              <a:rPr lang="zh-CN" altLang="en-US" dirty="0"/>
              <a:t>月</a:t>
            </a:r>
            <a:r>
              <a:rPr lang="en-US" altLang="zh-CN" dirty="0"/>
              <a:t>5</a:t>
            </a:r>
            <a:r>
              <a:rPr lang="zh-CN" altLang="en-US" dirty="0"/>
              <a:t>日取值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D077CC-FB9E-B64F-8E5D-9AAAFFC6134C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99265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D077CC-FB9E-B64F-8E5D-9AAAFFC6134C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13437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jpeg"/><Relationship Id="rId4" Type="http://schemas.openxmlformats.org/officeDocument/2006/relationships/hyperlink" Target="http://www.ruijie.com.cn/" TargetMode="Externa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A7ADF802-51BB-E341-A756-845DF250FC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5882B41-1A49-684B-B205-464D3D0BDB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5455" y="320163"/>
            <a:ext cx="1357173" cy="23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82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篇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2A2A919-4665-7E47-8429-91B9BA3D76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DE493D0-844A-D444-AA7B-49F2FD45CA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5454" y="320163"/>
            <a:ext cx="1357173" cy="230719"/>
          </a:xfrm>
          <a:prstGeom prst="rect">
            <a:avLst/>
          </a:prstGeom>
        </p:spPr>
      </p:pic>
      <p:sp>
        <p:nvSpPr>
          <p:cNvPr id="9" name="文本占位符 17">
            <a:extLst>
              <a:ext uri="{FF2B5EF4-FFF2-40B4-BE49-F238E27FC236}">
                <a16:creationId xmlns:a16="http://schemas.microsoft.com/office/drawing/2014/main" id="{B26E9522-7A48-CB4A-B0DF-2A979AB0EE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5802" y="2482765"/>
            <a:ext cx="5220198" cy="58477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buNone/>
              <a:defRPr kumimoji="1" lang="zh-CN" altLang="en-US" sz="3200" kern="120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单击此处编辑章节标题</a:t>
            </a:r>
          </a:p>
        </p:txBody>
      </p:sp>
    </p:spTree>
    <p:extLst>
      <p:ext uri="{BB962C8B-B14F-4D97-AF65-F5344CB8AC3E}">
        <p14:creationId xmlns:p14="http://schemas.microsoft.com/office/powerpoint/2010/main" val="2791593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02853453-A954-0142-B0C2-FCB80B60730E}"/>
              </a:ext>
            </a:extLst>
          </p:cNvPr>
          <p:cNvSpPr/>
          <p:nvPr userDrawn="1"/>
        </p:nvSpPr>
        <p:spPr>
          <a:xfrm>
            <a:off x="0" y="755167"/>
            <a:ext cx="12191999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17">
            <a:extLst>
              <a:ext uri="{FF2B5EF4-FFF2-40B4-BE49-F238E27FC236}">
                <a16:creationId xmlns:a16="http://schemas.microsoft.com/office/drawing/2014/main" id="{30ABD73E-8DFF-B24B-8922-54A2891620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5538" y="274444"/>
            <a:ext cx="4513632" cy="3032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400" b="1" kern="1200" dirty="0" smtClean="0">
                <a:solidFill>
                  <a:srgbClr val="4E586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</a:p>
        </p:txBody>
      </p:sp>
      <p:sp>
        <p:nvSpPr>
          <p:cNvPr id="6" name="文本占位符 17">
            <a:extLst>
              <a:ext uri="{FF2B5EF4-FFF2-40B4-BE49-F238E27FC236}">
                <a16:creationId xmlns:a16="http://schemas.microsoft.com/office/drawing/2014/main" id="{0589C2B7-82E4-5F43-B9F6-2EE8762E39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6167" y="1112124"/>
            <a:ext cx="4513632" cy="42296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400" b="0" kern="1200" dirty="0" smtClean="0">
                <a:solidFill>
                  <a:srgbClr val="4E586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</a:p>
        </p:txBody>
      </p:sp>
      <p:sp>
        <p:nvSpPr>
          <p:cNvPr id="12" name="文本占位符 17">
            <a:extLst>
              <a:ext uri="{FF2B5EF4-FFF2-40B4-BE49-F238E27FC236}">
                <a16:creationId xmlns:a16="http://schemas.microsoft.com/office/drawing/2014/main" id="{F42F9344-5ABF-5844-8117-CF42998CD2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6167" y="1594920"/>
            <a:ext cx="9579288" cy="239638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buNone/>
              <a:defRPr kumimoji="1" lang="zh-CN" altLang="en-US" sz="1200" b="0" kern="1200" dirty="0" smtClean="0">
                <a:solidFill>
                  <a:srgbClr val="4E586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单击此处编辑页眉章节标题，此处为一段描述文字，自</a:t>
            </a:r>
            <a:r>
              <a:rPr kumimoji="1" lang="en-US" altLang="zh-CN" dirty="0"/>
              <a:t>2000</a:t>
            </a:r>
            <a:r>
              <a:rPr kumimoji="1" lang="zh-CN" altLang="en-US" dirty="0"/>
              <a:t>年成立以来，一直扎根行业、深入场景进行解决方案设计和创新，助力全行业数字化转型升级。</a:t>
            </a:r>
          </a:p>
        </p:txBody>
      </p:sp>
    </p:spTree>
    <p:extLst>
      <p:ext uri="{BB962C8B-B14F-4D97-AF65-F5344CB8AC3E}">
        <p14:creationId xmlns:p14="http://schemas.microsoft.com/office/powerpoint/2010/main" val="295582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BB575012-FEE1-2F42-8484-06A87433A1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2D1DAA49-35CC-F14C-87B0-E069FFE8E33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5455" y="320163"/>
            <a:ext cx="1357173" cy="23063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B792D84-33F8-2640-A804-8C02796504B2}"/>
              </a:ext>
            </a:extLst>
          </p:cNvPr>
          <p:cNvSpPr txBox="1"/>
          <p:nvPr userDrawn="1"/>
        </p:nvSpPr>
        <p:spPr>
          <a:xfrm>
            <a:off x="2122021" y="5898177"/>
            <a:ext cx="1454244" cy="316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100" dirty="0">
                <a:solidFill>
                  <a:srgbClr val="4E5865"/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扫一扫了解更多资讯</a:t>
            </a:r>
          </a:p>
        </p:txBody>
      </p:sp>
      <p:sp>
        <p:nvSpPr>
          <p:cNvPr id="17" name="TextBox 6"/>
          <p:cNvSpPr>
            <a:spLocks noChangeArrowheads="1"/>
          </p:cNvSpPr>
          <p:nvPr userDrawn="1"/>
        </p:nvSpPr>
        <p:spPr bwMode="auto">
          <a:xfrm>
            <a:off x="772107" y="1771142"/>
            <a:ext cx="404812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4400" b="1" dirty="0">
                <a:solidFill>
                  <a:srgbClr val="D91E4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微软雅黑" panose="020B0503020204020204" charset="-122"/>
              </a:rPr>
              <a:t>THANKS.</a:t>
            </a:r>
          </a:p>
        </p:txBody>
      </p:sp>
      <p:sp>
        <p:nvSpPr>
          <p:cNvPr id="18" name="TextBox 7"/>
          <p:cNvSpPr>
            <a:spLocks noChangeArrowheads="1"/>
          </p:cNvSpPr>
          <p:nvPr userDrawn="1"/>
        </p:nvSpPr>
        <p:spPr bwMode="auto">
          <a:xfrm>
            <a:off x="772106" y="2502536"/>
            <a:ext cx="4827897" cy="783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锐捷网络股份有限公司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欲了解更多信息，欢迎登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录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  <a:hlinkClick r:id="rId4"/>
              </a:rPr>
              <a:t>www.ruijie.com.cn</a:t>
            </a:r>
            <a:r>
              <a:rPr lang="en-US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，咨询电话：400-620-8818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*本资料产品图片及技术数据仅供参考，如有更新恕不另行通知，具体内容解释权归锐捷网络所有。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6E11563-30AA-E94D-98BD-8A78E820D08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301" y="4978531"/>
            <a:ext cx="1258810" cy="125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108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-114257" y="6653134"/>
            <a:ext cx="289004" cy="179059"/>
          </a:xfrm>
          <a:prstGeom prst="rect">
            <a:avLst/>
          </a:prstGeom>
        </p:spPr>
        <p:txBody>
          <a:bodyPr/>
          <a:lstStyle>
            <a:lvl1pPr>
              <a:defRPr sz="1164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C6D40106-F6D2-4DE4-B72E-18FC2EDB7E8C}" type="slidenum">
              <a:rPr lang="zh-CN" altLang="en-US" smtClean="0">
                <a:solidFill>
                  <a:prstClr val="black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822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609658" y="274630"/>
            <a:ext cx="10973848" cy="634065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-10754" y="364237"/>
            <a:ext cx="621026" cy="504018"/>
          </a:xfrm>
          <a:prstGeom prst="rect">
            <a:avLst/>
          </a:prstGeom>
          <a:solidFill>
            <a:srgbClr val="E60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343311" y="6237910"/>
            <a:ext cx="636615" cy="240995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8380924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0627CB1-7191-5943-8C93-442726B5D68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20628407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9" imgW="7772400" imgH="10058400" progId="TCLayout.ActiveDocument.1">
                  <p:embed/>
                </p:oleObj>
              </mc:Choice>
              <mc:Fallback>
                <p:oleObj name="think-cell 幻灯片" r:id="rId9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3278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8" r:id="rId5"/>
    <p:sldLayoutId id="2147483659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712860" y="280531"/>
            <a:ext cx="7109236" cy="426596"/>
          </a:xfrm>
        </p:spPr>
        <p:txBody>
          <a:bodyPr/>
          <a:lstStyle/>
          <a:p>
            <a:r>
              <a:rPr lang="zh-CN" altLang="en-US" dirty="0"/>
              <a:t>验证商机</a:t>
            </a:r>
            <a:r>
              <a:rPr lang="en-US" altLang="zh-CN" dirty="0"/>
              <a:t>_</a:t>
            </a:r>
            <a:r>
              <a:rPr lang="zh-CN" altLang="en-US" dirty="0"/>
              <a:t>流程文件</a:t>
            </a:r>
            <a:r>
              <a:rPr lang="en-US" altLang="zh-CN" dirty="0"/>
              <a:t>_</a:t>
            </a:r>
            <a:r>
              <a:rPr lang="zh-CN" altLang="en-US" dirty="0"/>
              <a:t>销售解读发布版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r>
              <a:rPr kumimoji="1" lang="en-US" altLang="zh-CN" dirty="0"/>
              <a:t>  </a:t>
            </a:r>
            <a:endParaRPr kumimoji="1" lang="zh-CN" alt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277711"/>
              </p:ext>
            </p:extLst>
          </p:nvPr>
        </p:nvGraphicFramePr>
        <p:xfrm>
          <a:off x="8249479" y="158633"/>
          <a:ext cx="3260036" cy="548494"/>
        </p:xfrm>
        <a:graphic>
          <a:graphicData uri="http://schemas.openxmlformats.org/drawingml/2006/table">
            <a:tbl>
              <a:tblPr/>
              <a:tblGrid>
                <a:gridCol w="2405270">
                  <a:extLst>
                    <a:ext uri="{9D8B030D-6E8A-4147-A177-3AD203B41FA5}">
                      <a16:colId xmlns:a16="http://schemas.microsoft.com/office/drawing/2014/main" val="65095146"/>
                    </a:ext>
                  </a:extLst>
                </a:gridCol>
                <a:gridCol w="854766">
                  <a:extLst>
                    <a:ext uri="{9D8B030D-6E8A-4147-A177-3AD203B41FA5}">
                      <a16:colId xmlns:a16="http://schemas.microsoft.com/office/drawing/2014/main" val="2406790390"/>
                    </a:ext>
                  </a:extLst>
                </a:gridCol>
              </a:tblGrid>
              <a:tr h="270853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文件编号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更新日期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2984496"/>
                  </a:ext>
                </a:extLst>
              </a:tr>
              <a:tr h="27764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MTCV-MO-M11.1-P-</a:t>
                      </a:r>
                      <a:r>
                        <a:rPr lang="zh-CN" altLang="en-US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验证商机</a:t>
                      </a:r>
                      <a:r>
                        <a:rPr lang="en-US" altLang="zh-CN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-V0.9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2025.3.5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95975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712860" y="914305"/>
            <a:ext cx="10774017" cy="502939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定义：验证商机流程，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是包括商机提报、商机审批、商机评估分类、商机立项申请、商机立项评审决策、组建项目团队、商机检查、商机改善等核心步骤的系统性验证过程。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目的：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优化验证商机环节，确保进入销售漏斗的商机具备真实性和健康性；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即，深入掌握商机的基本概况，涵盖客户预算区间、基础需求、购买意向、决策链条关键人及采购时间节点等关键信息。与此同时，必须对客户的信誉状况及支付能力进行科学评估，以降低潜在风险，提升漏斗质量；对商机进行科学评估，分层分级管理，重点商机单独立项，提升赢单率及客户体验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过程：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设置自动评估体系，分级分层精准识别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重点商机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评审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立项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投入相应资源全力推进。</a:t>
            </a:r>
          </a:p>
          <a:p>
            <a:pPr>
              <a:lnSpc>
                <a:spcPct val="150000"/>
              </a:lnSpc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范围：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适用于 </a:t>
            </a:r>
            <a:r>
              <a:rPr lang="e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EBG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所有销售填报且进入销售漏斗的商机业务场景。</a:t>
            </a:r>
          </a:p>
          <a:p>
            <a:pPr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0314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712860" y="280531"/>
            <a:ext cx="7109236" cy="426596"/>
          </a:xfrm>
        </p:spPr>
        <p:txBody>
          <a:bodyPr/>
          <a:lstStyle/>
          <a:p>
            <a:r>
              <a:rPr lang="zh-CN" altLang="en-US" dirty="0"/>
              <a:t>验证商机</a:t>
            </a:r>
            <a:r>
              <a:rPr lang="en-US" altLang="zh-CN" dirty="0"/>
              <a:t>_</a:t>
            </a:r>
            <a:r>
              <a:rPr lang="zh-CN" altLang="en-US" dirty="0"/>
              <a:t>与之前对比的主要变化点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r>
              <a:rPr kumimoji="1" lang="en-US" altLang="zh-CN" dirty="0"/>
              <a:t>  </a:t>
            </a:r>
            <a:endParaRPr kumimoji="1" lang="zh-CN" alt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8249479" y="158633"/>
          <a:ext cx="3260036" cy="548494"/>
        </p:xfrm>
        <a:graphic>
          <a:graphicData uri="http://schemas.openxmlformats.org/drawingml/2006/table">
            <a:tbl>
              <a:tblPr/>
              <a:tblGrid>
                <a:gridCol w="2405270">
                  <a:extLst>
                    <a:ext uri="{9D8B030D-6E8A-4147-A177-3AD203B41FA5}">
                      <a16:colId xmlns:a16="http://schemas.microsoft.com/office/drawing/2014/main" val="65095146"/>
                    </a:ext>
                  </a:extLst>
                </a:gridCol>
                <a:gridCol w="854766">
                  <a:extLst>
                    <a:ext uri="{9D8B030D-6E8A-4147-A177-3AD203B41FA5}">
                      <a16:colId xmlns:a16="http://schemas.microsoft.com/office/drawing/2014/main" val="2406790390"/>
                    </a:ext>
                  </a:extLst>
                </a:gridCol>
              </a:tblGrid>
              <a:tr h="270853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文件编号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更新日期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2984496"/>
                  </a:ext>
                </a:extLst>
              </a:tr>
              <a:tr h="27764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MTCV-MO-M11.1-P-</a:t>
                      </a:r>
                      <a:r>
                        <a:rPr lang="zh-CN" altLang="en-US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验证商机</a:t>
                      </a:r>
                      <a:r>
                        <a:rPr lang="en-US" altLang="zh-CN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-V0.9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2025.3.5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959751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693D062-04B6-F642-90E0-526F39F9A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146129"/>
              </p:ext>
            </p:extLst>
          </p:nvPr>
        </p:nvGraphicFramePr>
        <p:xfrm>
          <a:off x="387386" y="830992"/>
          <a:ext cx="11417228" cy="49040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4653">
                  <a:extLst>
                    <a:ext uri="{9D8B030D-6E8A-4147-A177-3AD203B41FA5}">
                      <a16:colId xmlns:a16="http://schemas.microsoft.com/office/drawing/2014/main" val="2483906319"/>
                    </a:ext>
                  </a:extLst>
                </a:gridCol>
                <a:gridCol w="3756454">
                  <a:extLst>
                    <a:ext uri="{9D8B030D-6E8A-4147-A177-3AD203B41FA5}">
                      <a16:colId xmlns:a16="http://schemas.microsoft.com/office/drawing/2014/main" val="467970371"/>
                    </a:ext>
                  </a:extLst>
                </a:gridCol>
                <a:gridCol w="5416121">
                  <a:extLst>
                    <a:ext uri="{9D8B030D-6E8A-4147-A177-3AD203B41FA5}">
                      <a16:colId xmlns:a16="http://schemas.microsoft.com/office/drawing/2014/main" val="369302851"/>
                    </a:ext>
                  </a:extLst>
                </a:gridCol>
              </a:tblGrid>
              <a:tr h="45554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验证商机</a:t>
                      </a:r>
                      <a:r>
                        <a:rPr lang="en-US" altLang="zh-CN" sz="18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_</a:t>
                      </a:r>
                      <a:r>
                        <a:rPr lang="zh-CN" altLang="en-US" sz="18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变化点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对比之前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对比变化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2129987"/>
                  </a:ext>
                </a:extLst>
              </a:tr>
              <a:tr h="69136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销售代表商机提报</a:t>
                      </a:r>
                      <a:endParaRPr lang="zh-CN" altLang="en-US" sz="1400" dirty="0"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销售仅需要提交“漏斗审批”，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不需要对</a:t>
                      </a:r>
                      <a:r>
                        <a:rPr lang="en-US" altLang="zh-CN" sz="1400" dirty="0">
                          <a:solidFill>
                            <a:srgbClr val="FF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MANT+P+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漏斗目标进行完善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完善了商机填报的内容及具体要求，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加入</a:t>
                      </a:r>
                      <a:r>
                        <a:rPr lang="en-US" altLang="zh-CN" sz="1400" dirty="0">
                          <a:solidFill>
                            <a:srgbClr val="FF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P-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渠道及</a:t>
                      </a:r>
                      <a:r>
                        <a:rPr lang="en-US" altLang="zh-CN" sz="1400" dirty="0">
                          <a:solidFill>
                            <a:srgbClr val="FF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30W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以上商机下单折扣目标值。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8098692"/>
                  </a:ext>
                </a:extLst>
              </a:tr>
              <a:tr h="69136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销售经理商机审批</a:t>
                      </a:r>
                      <a:endParaRPr lang="zh-CN" altLang="en-US" sz="1400" dirty="0"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审批时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无法一个页面的看到</a:t>
                      </a:r>
                      <a:r>
                        <a:rPr lang="en-US" altLang="zh-CN" sz="1400" dirty="0">
                          <a:solidFill>
                            <a:srgbClr val="FF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MANT+P+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漏斗目标</a:t>
                      </a:r>
                      <a:r>
                        <a:rPr lang="zh-CN" altLang="en-US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，且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无沟通页面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增加了商机审核</a:t>
                      </a:r>
                      <a:r>
                        <a:rPr lang="en-US" altLang="zh-CN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KCP</a:t>
                      </a:r>
                      <a:r>
                        <a:rPr lang="zh-CN" altLang="en-US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加强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商机数据验证</a:t>
                      </a:r>
                      <a:r>
                        <a:rPr lang="zh-CN" altLang="en-US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；建立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商机数据沟通机制</a:t>
                      </a:r>
                      <a:r>
                        <a:rPr lang="zh-CN" altLang="en-US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，确保流程落实。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528078"/>
                  </a:ext>
                </a:extLst>
              </a:tr>
              <a:tr h="6237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商机评估分类</a:t>
                      </a:r>
                      <a:endParaRPr lang="zh-CN" altLang="en-US" sz="1400" dirty="0"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商机评估需要靠人工去评定，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系统无自动评定机制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系统依据</a:t>
                      </a:r>
                      <a:r>
                        <a:rPr lang="en-US" altLang="zh-CN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《</a:t>
                      </a:r>
                      <a:r>
                        <a:rPr lang="zh-CN" altLang="en-US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商机分级表</a:t>
                      </a:r>
                      <a:r>
                        <a:rPr lang="en-US" altLang="zh-CN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》</a:t>
                      </a:r>
                      <a:r>
                        <a:rPr lang="zh-CN" altLang="en-US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标准进入漏斗商机进行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自动分级。</a:t>
                      </a:r>
                      <a:endParaRPr lang="zh-CN" altLang="en-US" sz="1400" dirty="0"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8728527"/>
                  </a:ext>
                </a:extLst>
              </a:tr>
              <a:tr h="69136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商机立项申请</a:t>
                      </a:r>
                      <a:endParaRPr lang="zh-CN" altLang="en-US" sz="1400" dirty="0"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立项表需要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人工线下操作</a:t>
                      </a:r>
                      <a:r>
                        <a:rPr lang="zh-CN" altLang="en-US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，未立项商机也无法通过有效手段监控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系统提供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自动生成</a:t>
                      </a:r>
                      <a:r>
                        <a:rPr lang="en-US" altLang="zh-CN" sz="1400" dirty="0">
                          <a:solidFill>
                            <a:srgbClr val="FF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《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商机立项评审表</a:t>
                      </a:r>
                      <a:r>
                        <a:rPr lang="en-US" altLang="zh-CN" sz="1400" dirty="0">
                          <a:solidFill>
                            <a:srgbClr val="FF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》</a:t>
                      </a:r>
                      <a:r>
                        <a:rPr lang="zh-CN" altLang="en-US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的功能。</a:t>
                      </a:r>
                      <a:endParaRPr lang="en-US" altLang="zh-CN" sz="1400" dirty="0"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2094217"/>
                  </a:ext>
                </a:extLst>
              </a:tr>
              <a:tr h="64940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商机立项评审决策</a:t>
                      </a:r>
                      <a:endParaRPr lang="zh-CN" altLang="en-US" sz="1400" dirty="0"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立项评审决策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依靠人工组织</a:t>
                      </a:r>
                      <a:r>
                        <a:rPr lang="zh-CN" altLang="en-US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，立项完成后，组织资源方面依靠人工，效率较低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提高立项流程决策效率应立必立：未完成立项项目节点的建议立项项目，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无法进入后续流程。</a:t>
                      </a:r>
                      <a:r>
                        <a:rPr lang="zh-CN" altLang="en-US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增加了项目经理角色对重点立项项目进行管理。销管</a:t>
                      </a:r>
                      <a:r>
                        <a:rPr lang="en-US" altLang="zh-CN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BP</a:t>
                      </a:r>
                      <a:r>
                        <a:rPr lang="zh-CN" altLang="en-US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在该流程环节的职责明确定义。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3227138"/>
                  </a:ext>
                </a:extLst>
              </a:tr>
              <a:tr h="69136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销售</a:t>
                      </a:r>
                      <a:r>
                        <a:rPr lang="en-US" altLang="zh-CN" sz="1400" b="1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BP</a:t>
                      </a:r>
                      <a:r>
                        <a:rPr lang="zh-CN" altLang="en-US" sz="1400" b="1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商机检查</a:t>
                      </a:r>
                      <a:endParaRPr lang="zh-CN" altLang="en-US" sz="1400" dirty="0"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销售</a:t>
                      </a:r>
                      <a:r>
                        <a:rPr lang="en-US" altLang="zh-CN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BP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检查机制缺失</a:t>
                      </a:r>
                      <a:r>
                        <a:rPr lang="zh-CN" altLang="en-US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，缺少标准和周期检查建制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CRM</a:t>
                      </a:r>
                      <a:r>
                        <a:rPr lang="zh-CN" altLang="en-US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系统</a:t>
                      </a:r>
                      <a:r>
                        <a:rPr lang="en-US" altLang="zh-CN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-</a:t>
                      </a:r>
                      <a:r>
                        <a:rPr lang="zh-CN" altLang="en-US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可视化报表</a:t>
                      </a:r>
                      <a:r>
                        <a:rPr lang="en-US" altLang="zh-CN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-</a:t>
                      </a:r>
                      <a:r>
                        <a:rPr lang="zh-CN" altLang="en-US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漏斗实时看板，定义</a:t>
                      </a:r>
                      <a:r>
                        <a:rPr lang="en-US" altLang="zh-CN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《</a:t>
                      </a:r>
                      <a:r>
                        <a:rPr lang="zh-CN" altLang="en-US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商机异常标准说明书</a:t>
                      </a:r>
                      <a:r>
                        <a:rPr lang="en-US" altLang="zh-CN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》</a:t>
                      </a:r>
                      <a:r>
                        <a:rPr lang="zh-CN" altLang="en-US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，明确销售代表</a:t>
                      </a:r>
                      <a:r>
                        <a:rPr lang="en-US" altLang="zh-CN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-</a:t>
                      </a:r>
                      <a:r>
                        <a:rPr lang="zh-CN" altLang="en-US" sz="1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商机改善。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2456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0246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63028"/>
            <a:ext cx="12138213" cy="5260369"/>
          </a:xfrm>
          <a:prstGeom prst="rect">
            <a:avLst/>
          </a:prstGeom>
        </p:spPr>
      </p:pic>
      <p:sp>
        <p:nvSpPr>
          <p:cNvPr id="7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712860" y="280531"/>
            <a:ext cx="7109236" cy="426596"/>
          </a:xfrm>
        </p:spPr>
        <p:txBody>
          <a:bodyPr/>
          <a:lstStyle/>
          <a:p>
            <a:r>
              <a:rPr lang="zh-CN" altLang="en-US" dirty="0"/>
              <a:t>验证商机</a:t>
            </a:r>
            <a:r>
              <a:rPr lang="en-US" altLang="zh-CN" dirty="0"/>
              <a:t>_</a:t>
            </a:r>
            <a:r>
              <a:rPr lang="zh-CN" altLang="en-US" dirty="0"/>
              <a:t>流程位置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856213"/>
              </p:ext>
            </p:extLst>
          </p:nvPr>
        </p:nvGraphicFramePr>
        <p:xfrm>
          <a:off x="8249479" y="158633"/>
          <a:ext cx="3260036" cy="548494"/>
        </p:xfrm>
        <a:graphic>
          <a:graphicData uri="http://schemas.openxmlformats.org/drawingml/2006/table">
            <a:tbl>
              <a:tblPr/>
              <a:tblGrid>
                <a:gridCol w="2405270">
                  <a:extLst>
                    <a:ext uri="{9D8B030D-6E8A-4147-A177-3AD203B41FA5}">
                      <a16:colId xmlns:a16="http://schemas.microsoft.com/office/drawing/2014/main" val="65095146"/>
                    </a:ext>
                  </a:extLst>
                </a:gridCol>
                <a:gridCol w="854766">
                  <a:extLst>
                    <a:ext uri="{9D8B030D-6E8A-4147-A177-3AD203B41FA5}">
                      <a16:colId xmlns:a16="http://schemas.microsoft.com/office/drawing/2014/main" val="2406790390"/>
                    </a:ext>
                  </a:extLst>
                </a:gridCol>
              </a:tblGrid>
              <a:tr h="270853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文件编号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更新日期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2984496"/>
                  </a:ext>
                </a:extLst>
              </a:tr>
              <a:tr h="27764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MTCV-MO-M11.1-P-</a:t>
                      </a:r>
                      <a:r>
                        <a:rPr lang="zh-CN" altLang="en-US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验证商机</a:t>
                      </a:r>
                      <a:r>
                        <a:rPr lang="en-US" altLang="zh-CN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-V0.9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2025.3.5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959751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1674688" y="1078787"/>
            <a:ext cx="1787703" cy="5044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1571946" y="1429897"/>
            <a:ext cx="1993186" cy="484940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5048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712860" y="280531"/>
            <a:ext cx="7109236" cy="426596"/>
          </a:xfrm>
        </p:spPr>
        <p:txBody>
          <a:bodyPr/>
          <a:lstStyle/>
          <a:p>
            <a:r>
              <a:rPr lang="zh-CN" altLang="en-US" dirty="0"/>
              <a:t>验证商机</a:t>
            </a:r>
            <a:r>
              <a:rPr lang="en-US" altLang="zh-CN" dirty="0"/>
              <a:t>_</a:t>
            </a:r>
            <a:r>
              <a:rPr lang="zh-CN" altLang="en-US" dirty="0"/>
              <a:t>职责分工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r>
              <a:rPr kumimoji="1" lang="en-US" altLang="zh-CN" dirty="0"/>
              <a:t>  </a:t>
            </a:r>
            <a:endParaRPr kumimoji="1" lang="zh-CN" alt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6254520"/>
              </p:ext>
            </p:extLst>
          </p:nvPr>
        </p:nvGraphicFramePr>
        <p:xfrm>
          <a:off x="8328992" y="158633"/>
          <a:ext cx="3180523" cy="548494"/>
        </p:xfrm>
        <a:graphic>
          <a:graphicData uri="http://schemas.openxmlformats.org/drawingml/2006/table">
            <a:tbl>
              <a:tblPr/>
              <a:tblGrid>
                <a:gridCol w="2325757">
                  <a:extLst>
                    <a:ext uri="{9D8B030D-6E8A-4147-A177-3AD203B41FA5}">
                      <a16:colId xmlns:a16="http://schemas.microsoft.com/office/drawing/2014/main" val="65095146"/>
                    </a:ext>
                  </a:extLst>
                </a:gridCol>
                <a:gridCol w="854766">
                  <a:extLst>
                    <a:ext uri="{9D8B030D-6E8A-4147-A177-3AD203B41FA5}">
                      <a16:colId xmlns:a16="http://schemas.microsoft.com/office/drawing/2014/main" val="2406790390"/>
                    </a:ext>
                  </a:extLst>
                </a:gridCol>
              </a:tblGrid>
              <a:tr h="270853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文件编号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更新日期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2984496"/>
                  </a:ext>
                </a:extLst>
              </a:tr>
              <a:tr h="27764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MTCV-MO-M11.1-P-</a:t>
                      </a:r>
                      <a:r>
                        <a:rPr lang="zh-CN" altLang="en-US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验证商机</a:t>
                      </a:r>
                      <a:r>
                        <a:rPr lang="en-US" altLang="zh-CN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-V0.9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2025.3.5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959751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047201"/>
              </p:ext>
            </p:extLst>
          </p:nvPr>
        </p:nvGraphicFramePr>
        <p:xfrm>
          <a:off x="799548" y="924342"/>
          <a:ext cx="10709967" cy="5267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2138">
                  <a:extLst>
                    <a:ext uri="{9D8B030D-6E8A-4147-A177-3AD203B41FA5}">
                      <a16:colId xmlns:a16="http://schemas.microsoft.com/office/drawing/2014/main" val="2992250279"/>
                    </a:ext>
                  </a:extLst>
                </a:gridCol>
                <a:gridCol w="3679844">
                  <a:extLst>
                    <a:ext uri="{9D8B030D-6E8A-4147-A177-3AD203B41FA5}">
                      <a16:colId xmlns:a16="http://schemas.microsoft.com/office/drawing/2014/main" val="1423610401"/>
                    </a:ext>
                  </a:extLst>
                </a:gridCol>
                <a:gridCol w="5227985">
                  <a:extLst>
                    <a:ext uri="{9D8B030D-6E8A-4147-A177-3AD203B41FA5}">
                      <a16:colId xmlns:a16="http://schemas.microsoft.com/office/drawing/2014/main" val="3831077946"/>
                    </a:ext>
                  </a:extLst>
                </a:gridCol>
              </a:tblGrid>
              <a:tr h="523458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角色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描述（涉及岗位）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职责（要求）</a:t>
                      </a:r>
                      <a:r>
                        <a:rPr lang="en-US" altLang="zh-CN" sz="1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</a:t>
                      </a:r>
                      <a:r>
                        <a:rPr lang="zh-CN" altLang="en-US" sz="1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分解动作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85661773"/>
                  </a:ext>
                </a:extLst>
              </a:tr>
              <a:tr h="1011152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zh-CN" alt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销售代表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行业客户代表、行业经理、城市客户代表、城市经理、固折销售、固折经理、渠道销售、渠道经理、服务产品销售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200" b="1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商机提报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——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要求所提报商机信息的准确无误；</a:t>
                      </a:r>
                      <a:endParaRPr lang="en-US" altLang="zh-CN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200" b="1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商机改善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507959711"/>
                  </a:ext>
                </a:extLst>
              </a:tr>
              <a:tr h="1011152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zh-CN" alt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销售经理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区域经理、系统部本部行业经理（主管）、服务产品销售经理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200" b="1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商机评审</a:t>
                      </a:r>
                      <a:r>
                        <a:rPr lang="en-US" altLang="zh-CN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——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严格</a:t>
                      </a:r>
                      <a:r>
                        <a:rPr lang="zh-CN" altLang="en-US" sz="1200" b="1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把关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商机</a:t>
                      </a:r>
                      <a:r>
                        <a:rPr lang="zh-CN" altLang="en-US" sz="1200" b="1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审核</a:t>
                      </a:r>
                      <a:r>
                        <a:rPr lang="zh-CN" alt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zh-CN" altLang="en-US" sz="1200" b="1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审批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流程，保障商机质量</a:t>
                      </a:r>
                      <a:endParaRPr lang="en-US" altLang="zh-CN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200" b="1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评估分类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——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明确</a:t>
                      </a:r>
                      <a:r>
                        <a:rPr lang="zh-CN" altLang="en-US" sz="1200" b="1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逐级立项</a:t>
                      </a:r>
                      <a:r>
                        <a:rPr lang="zh-CN" alt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商机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</a:t>
                      </a:r>
                      <a:endParaRPr lang="en-US" altLang="zh-CN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200" b="1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立项申请</a:t>
                      </a:r>
                      <a:r>
                        <a:rPr lang="en-US" altLang="zh-CN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——</a:t>
                      </a:r>
                      <a:r>
                        <a:rPr lang="zh-CN" alt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立项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评审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决策</a:t>
                      </a:r>
                      <a:r>
                        <a:rPr lang="zh-CN" altLang="en-US" sz="1200" b="1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组织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与协调；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2668580046"/>
                  </a:ext>
                </a:extLst>
              </a:tr>
              <a:tr h="974693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zh-CN" alt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销售运营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BP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各区域、系统部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BP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运营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200" b="1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商机检查复查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——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确保每一项商机都符合</a:t>
                      </a:r>
                      <a:r>
                        <a:rPr lang="zh-CN" altLang="en-US" sz="1200" b="1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标准</a:t>
                      </a:r>
                      <a:endParaRPr lang="en-US" altLang="zh-CN" sz="1200" b="1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zh-CN" altLang="en-US" sz="1200" b="1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协助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zh-CN" alt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闭环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——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协助区域经理完成商机立项评审决策流程各阶段活动的</a:t>
                      </a:r>
                      <a:r>
                        <a:rPr lang="zh-CN" altLang="en-US" sz="1200" b="1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组织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zh-CN" altLang="en-US" sz="1200" b="1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闭环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活动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2138194366"/>
                  </a:ext>
                </a:extLst>
              </a:tr>
              <a:tr h="1455072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zh-CN" alt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立项评审决策委员会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根据商机分类情况，平台管理部、系统部、产品部、客户体验部、解决方案、销售管理部价格组和供应链部门相关人员、区域经理、销管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BP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、商机立项评审决策</a:t>
                      </a:r>
                      <a:endParaRPr lang="en-US" alt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严格把关</a:t>
                      </a:r>
                      <a:r>
                        <a:rPr lang="zh-CN" altLang="en-US" sz="1200" b="1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立项项目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评审</a:t>
                      </a:r>
                      <a:r>
                        <a:rPr lang="zh-CN" altLang="en-US" sz="1200" b="1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流程合规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——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结合评审要求对申请立项项目</a:t>
                      </a:r>
                      <a:r>
                        <a:rPr lang="zh-CN" altLang="en-US" sz="1200" b="1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评审</a:t>
                      </a:r>
                      <a:r>
                        <a:rPr lang="zh-CN" alt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明确</a:t>
                      </a:r>
                      <a:r>
                        <a:rPr lang="zh-CN" altLang="en-US" sz="1200" b="1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决策</a:t>
                      </a:r>
                      <a:r>
                        <a:rPr lang="zh-CN" alt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意见与分工项目经理负责人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——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结合立项项目实际情况</a:t>
                      </a:r>
                      <a:endParaRPr lang="en-US" altLang="zh-CN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200" b="1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项目组成立</a:t>
                      </a:r>
                      <a:r>
                        <a:rPr lang="en-US" altLang="zh-CN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——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项目经理</a:t>
                      </a: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负责人</a:t>
                      </a:r>
                      <a:b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endParaRPr lang="zh-CN" altLang="en-US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3060379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2623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700459" y="300749"/>
            <a:ext cx="7109236" cy="426596"/>
          </a:xfrm>
        </p:spPr>
        <p:txBody>
          <a:bodyPr/>
          <a:lstStyle/>
          <a:p>
            <a:r>
              <a:rPr lang="zh-CN" altLang="en-US" dirty="0"/>
              <a:t>验证商机流程</a:t>
            </a:r>
            <a:r>
              <a:rPr lang="en-US" altLang="zh-CN" dirty="0"/>
              <a:t>_</a:t>
            </a:r>
            <a:r>
              <a:rPr lang="zh-CN" altLang="en-US" dirty="0"/>
              <a:t>输入输出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r>
              <a:rPr kumimoji="1" lang="en-US" altLang="zh-CN" dirty="0"/>
              <a:t>  </a:t>
            </a:r>
            <a:endParaRPr kumimoji="1" lang="zh-CN" alt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478514"/>
              </p:ext>
            </p:extLst>
          </p:nvPr>
        </p:nvGraphicFramePr>
        <p:xfrm>
          <a:off x="8289234" y="158633"/>
          <a:ext cx="3220280" cy="548494"/>
        </p:xfrm>
        <a:graphic>
          <a:graphicData uri="http://schemas.openxmlformats.org/drawingml/2006/table">
            <a:tbl>
              <a:tblPr/>
              <a:tblGrid>
                <a:gridCol w="2365514">
                  <a:extLst>
                    <a:ext uri="{9D8B030D-6E8A-4147-A177-3AD203B41FA5}">
                      <a16:colId xmlns:a16="http://schemas.microsoft.com/office/drawing/2014/main" val="65095146"/>
                    </a:ext>
                  </a:extLst>
                </a:gridCol>
                <a:gridCol w="854766">
                  <a:extLst>
                    <a:ext uri="{9D8B030D-6E8A-4147-A177-3AD203B41FA5}">
                      <a16:colId xmlns:a16="http://schemas.microsoft.com/office/drawing/2014/main" val="2406790390"/>
                    </a:ext>
                  </a:extLst>
                </a:gridCol>
              </a:tblGrid>
              <a:tr h="270853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文件编号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更新日期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2984496"/>
                  </a:ext>
                </a:extLst>
              </a:tr>
              <a:tr h="27764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MTCV-MO-M11.1-P-</a:t>
                      </a:r>
                      <a:r>
                        <a:rPr lang="zh-CN" altLang="en-US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验证商机</a:t>
                      </a:r>
                      <a:r>
                        <a:rPr lang="en-US" altLang="zh-CN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-V0.9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2025.3.5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959751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0" y="1792702"/>
            <a:ext cx="12192000" cy="369332"/>
          </a:xfrm>
          <a:prstGeom prst="rect">
            <a:avLst/>
          </a:prstGeom>
          <a:solidFill>
            <a:srgbClr val="FF0000"/>
          </a:solidFill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标准：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MANT+P+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折扣信息清楚、完整、符合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SMART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原则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审核输出</a:t>
            </a:r>
          </a:p>
        </p:txBody>
      </p:sp>
      <p:sp>
        <p:nvSpPr>
          <p:cNvPr id="9" name="矩形 8"/>
          <p:cNvSpPr/>
          <p:nvPr/>
        </p:nvSpPr>
        <p:spPr>
          <a:xfrm>
            <a:off x="2534478" y="2439108"/>
            <a:ext cx="2350605" cy="36143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一般商机</a:t>
            </a:r>
            <a:endParaRPr lang="zh-CN" altLang="en-US" b="1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271591" y="2404757"/>
            <a:ext cx="3538331" cy="35845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立项评审商机</a:t>
            </a:r>
            <a:endParaRPr lang="zh-CN" altLang="en-US" b="1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047461" y="922867"/>
            <a:ext cx="8249478" cy="6371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潜在客户信息，商机来源与初步评估；市场竞争与友商情况，内部资源与能力评估，其他相关信息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政策法规，行业趋势，客户反馈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17" name="下箭头 16"/>
          <p:cNvSpPr/>
          <p:nvPr/>
        </p:nvSpPr>
        <p:spPr>
          <a:xfrm>
            <a:off x="5755484" y="1514835"/>
            <a:ext cx="486289" cy="277867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梯形 19"/>
          <p:cNvSpPr/>
          <p:nvPr/>
        </p:nvSpPr>
        <p:spPr>
          <a:xfrm>
            <a:off x="1967947" y="3117749"/>
            <a:ext cx="3546017" cy="1988209"/>
          </a:xfrm>
          <a:prstGeom prst="trapezoid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符合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MANT+P+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折扣信息清楚、完整、符合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SMART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原则</a:t>
            </a:r>
          </a:p>
          <a:p>
            <a:pPr algn="ctr"/>
            <a:endParaRPr lang="zh-CN" altLang="en-US" b="1" dirty="0">
              <a:ln>
                <a:solidFill>
                  <a:schemeClr val="accent6"/>
                </a:solidFill>
              </a:ln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梯形 21"/>
          <p:cNvSpPr/>
          <p:nvPr/>
        </p:nvSpPr>
        <p:spPr>
          <a:xfrm>
            <a:off x="5785302" y="3117749"/>
            <a:ext cx="4511637" cy="1988209"/>
          </a:xfrm>
          <a:prstGeom prst="trapezoid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符合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MANT+P+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折扣信息清楚、完整、符合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SMART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原则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同时有明确的商机等级、项目经理和项目组成员名单，可执行的项目跟进计划</a:t>
            </a:r>
            <a:endParaRPr lang="zh-CN" altLang="en-US" sz="1600" b="1" dirty="0">
              <a:ln>
                <a:solidFill>
                  <a:schemeClr val="accent6"/>
                </a:solidFill>
              </a:ln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55982" y="1070627"/>
            <a:ext cx="1023731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输入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30276" y="2520635"/>
            <a:ext cx="972526" cy="25853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输出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26" name="下箭头 25"/>
          <p:cNvSpPr/>
          <p:nvPr/>
        </p:nvSpPr>
        <p:spPr>
          <a:xfrm>
            <a:off x="3449754" y="2800543"/>
            <a:ext cx="486289" cy="344268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下箭头 26"/>
          <p:cNvSpPr/>
          <p:nvPr/>
        </p:nvSpPr>
        <p:spPr>
          <a:xfrm>
            <a:off x="7809695" y="2778085"/>
            <a:ext cx="513835" cy="381596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700459" y="5484682"/>
            <a:ext cx="11191460" cy="890693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MANT: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资金、决策、需求、时间；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：渠道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SMART: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具体、可衡量、可实现、相关和有时限</a:t>
            </a:r>
          </a:p>
        </p:txBody>
      </p:sp>
    </p:spTree>
    <p:extLst>
      <p:ext uri="{BB962C8B-B14F-4D97-AF65-F5344CB8AC3E}">
        <p14:creationId xmlns:p14="http://schemas.microsoft.com/office/powerpoint/2010/main" val="3838225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712860" y="280531"/>
            <a:ext cx="7109236" cy="426596"/>
          </a:xfrm>
        </p:spPr>
        <p:txBody>
          <a:bodyPr/>
          <a:lstStyle/>
          <a:p>
            <a:r>
              <a:rPr lang="zh-CN" altLang="en-US" dirty="0"/>
              <a:t>验证商机</a:t>
            </a:r>
            <a:r>
              <a:rPr lang="en-US" altLang="zh-CN" dirty="0"/>
              <a:t>_</a:t>
            </a:r>
            <a:r>
              <a:rPr lang="zh-CN" altLang="en-US" dirty="0"/>
              <a:t>全流程示意图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r>
              <a:rPr kumimoji="1" lang="en-US" altLang="zh-CN" dirty="0"/>
              <a:t>  </a:t>
            </a:r>
            <a:endParaRPr kumimoji="1" lang="zh-CN" alt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8289234" y="158633"/>
          <a:ext cx="3220280" cy="548494"/>
        </p:xfrm>
        <a:graphic>
          <a:graphicData uri="http://schemas.openxmlformats.org/drawingml/2006/table">
            <a:tbl>
              <a:tblPr/>
              <a:tblGrid>
                <a:gridCol w="2365514">
                  <a:extLst>
                    <a:ext uri="{9D8B030D-6E8A-4147-A177-3AD203B41FA5}">
                      <a16:colId xmlns:a16="http://schemas.microsoft.com/office/drawing/2014/main" val="65095146"/>
                    </a:ext>
                  </a:extLst>
                </a:gridCol>
                <a:gridCol w="854766">
                  <a:extLst>
                    <a:ext uri="{9D8B030D-6E8A-4147-A177-3AD203B41FA5}">
                      <a16:colId xmlns:a16="http://schemas.microsoft.com/office/drawing/2014/main" val="2406790390"/>
                    </a:ext>
                  </a:extLst>
                </a:gridCol>
              </a:tblGrid>
              <a:tr h="270853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文件编号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更新日期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2984496"/>
                  </a:ext>
                </a:extLst>
              </a:tr>
              <a:tr h="27764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MTCV-MO-M11.1-P-</a:t>
                      </a:r>
                      <a:r>
                        <a:rPr lang="zh-CN" altLang="en-US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验证商机</a:t>
                      </a:r>
                      <a:r>
                        <a:rPr lang="en-US" altLang="zh-CN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-V0.9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2025.3.5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959751"/>
                  </a:ext>
                </a:extLst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705" y="1103242"/>
            <a:ext cx="10780948" cy="4979505"/>
          </a:xfrm>
          <a:prstGeom prst="rect">
            <a:avLst/>
          </a:prstGeom>
          <a:ln w="762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330286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712860" y="280531"/>
            <a:ext cx="7109236" cy="426596"/>
          </a:xfrm>
        </p:spPr>
        <p:txBody>
          <a:bodyPr/>
          <a:lstStyle/>
          <a:p>
            <a:r>
              <a:rPr lang="zh-CN" altLang="en-US" dirty="0"/>
              <a:t>验证商机</a:t>
            </a:r>
            <a:r>
              <a:rPr lang="en-US" altLang="zh-CN" dirty="0"/>
              <a:t>_</a:t>
            </a:r>
            <a:r>
              <a:rPr lang="zh-CN" altLang="en-US" dirty="0"/>
              <a:t>职责分工流程图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443588"/>
              </p:ext>
            </p:extLst>
          </p:nvPr>
        </p:nvGraphicFramePr>
        <p:xfrm>
          <a:off x="8328992" y="158633"/>
          <a:ext cx="3180523" cy="548494"/>
        </p:xfrm>
        <a:graphic>
          <a:graphicData uri="http://schemas.openxmlformats.org/drawingml/2006/table">
            <a:tbl>
              <a:tblPr/>
              <a:tblGrid>
                <a:gridCol w="2325757">
                  <a:extLst>
                    <a:ext uri="{9D8B030D-6E8A-4147-A177-3AD203B41FA5}">
                      <a16:colId xmlns:a16="http://schemas.microsoft.com/office/drawing/2014/main" val="65095146"/>
                    </a:ext>
                  </a:extLst>
                </a:gridCol>
                <a:gridCol w="854766">
                  <a:extLst>
                    <a:ext uri="{9D8B030D-6E8A-4147-A177-3AD203B41FA5}">
                      <a16:colId xmlns:a16="http://schemas.microsoft.com/office/drawing/2014/main" val="2406790390"/>
                    </a:ext>
                  </a:extLst>
                </a:gridCol>
              </a:tblGrid>
              <a:tr h="270853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文件编号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更新日期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2984496"/>
                  </a:ext>
                </a:extLst>
              </a:tr>
              <a:tr h="27764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MTCV-MO-M11.1-P-</a:t>
                      </a:r>
                      <a:r>
                        <a:rPr lang="zh-CN" altLang="en-US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验证商机</a:t>
                      </a:r>
                      <a:r>
                        <a:rPr lang="en-US" altLang="zh-CN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-V0.9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2025.3.5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959751"/>
                  </a:ext>
                </a:extLst>
              </a:tr>
            </a:tbl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229" y="899624"/>
            <a:ext cx="7765971" cy="5722154"/>
          </a:xfrm>
          <a:prstGeom prst="rect">
            <a:avLst/>
          </a:prstGeom>
          <a:ln w="762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20134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712860" y="280531"/>
            <a:ext cx="7109236" cy="426596"/>
          </a:xfrm>
        </p:spPr>
        <p:txBody>
          <a:bodyPr/>
          <a:lstStyle/>
          <a:p>
            <a:r>
              <a:rPr lang="en-US" altLang="zh-CN" dirty="0"/>
              <a:t>001</a:t>
            </a:r>
            <a:r>
              <a:rPr lang="zh-CN" altLang="en-US" dirty="0">
                <a:solidFill>
                  <a:srgbClr val="FF0000"/>
                </a:solidFill>
              </a:rPr>
              <a:t>销售代表</a:t>
            </a:r>
            <a:r>
              <a:rPr lang="zh-CN" altLang="en-US" dirty="0"/>
              <a:t>商机提报</a:t>
            </a:r>
            <a:r>
              <a:rPr lang="en-US" altLang="zh-CN" dirty="0"/>
              <a:t>-</a:t>
            </a:r>
            <a:r>
              <a:rPr lang="zh-CN" altLang="en-US" dirty="0"/>
              <a:t>操作及主要变化点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377483"/>
              </p:ext>
            </p:extLst>
          </p:nvPr>
        </p:nvGraphicFramePr>
        <p:xfrm>
          <a:off x="8637105" y="159026"/>
          <a:ext cx="3180523" cy="548101"/>
        </p:xfrm>
        <a:graphic>
          <a:graphicData uri="http://schemas.openxmlformats.org/drawingml/2006/table">
            <a:tbl>
              <a:tblPr/>
              <a:tblGrid>
                <a:gridCol w="2325757">
                  <a:extLst>
                    <a:ext uri="{9D8B030D-6E8A-4147-A177-3AD203B41FA5}">
                      <a16:colId xmlns:a16="http://schemas.microsoft.com/office/drawing/2014/main" val="65095146"/>
                    </a:ext>
                  </a:extLst>
                </a:gridCol>
                <a:gridCol w="854766">
                  <a:extLst>
                    <a:ext uri="{9D8B030D-6E8A-4147-A177-3AD203B41FA5}">
                      <a16:colId xmlns:a16="http://schemas.microsoft.com/office/drawing/2014/main" val="2406790390"/>
                    </a:ext>
                  </a:extLst>
                </a:gridCol>
              </a:tblGrid>
              <a:tr h="27046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文件编号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更新日期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2984496"/>
                  </a:ext>
                </a:extLst>
              </a:tr>
              <a:tr h="27764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MTCV-MO-M11.1-P-</a:t>
                      </a:r>
                      <a:r>
                        <a:rPr lang="zh-CN" altLang="en-US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验证商机</a:t>
                      </a:r>
                      <a:r>
                        <a:rPr lang="en-US" altLang="zh-CN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-V0.9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2025.3.5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959751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831574" y="937992"/>
            <a:ext cx="10916478" cy="4181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主要变化点：完善了商机填报的内容及具体要求，加入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P-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渠道及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30W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以上商机下单折扣目标值。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31574" y="1421295"/>
            <a:ext cx="10916478" cy="134690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活动流操作要求：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销售代表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登录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CRM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，确认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报价清单已上传，校准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MANT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准确，同时选择项目预测类别（可能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及以上） </a:t>
            </a:r>
            <a:endParaRPr lang="en-US" altLang="zh-CN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选择目标折扣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设计中）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销售代表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CRM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右上角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进漏斗审批，呈现项目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MANT+P+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折扣信息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设计中） 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，点击确认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即完成提交申请（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设计中）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31574" y="3093180"/>
            <a:ext cx="10916478" cy="199323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关键点及标准：</a:t>
            </a:r>
            <a:endParaRPr lang="en-US" altLang="zh-CN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MANT+P+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折扣目标（预估下单金额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万以上项目）；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输出：待审批商机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证明支持材料等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标准：信息清楚、完整、符合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SMART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原则，符合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企业网事业部销售漏斗质量管理标准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V9.0》</a:t>
            </a:r>
          </a:p>
          <a:p>
            <a:pPr>
              <a:lnSpc>
                <a:spcPct val="150000"/>
              </a:lnSpc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设计开发完成前：销售代表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在本项目的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销售人员工作计划总结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中填写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MANT+P+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折扣目标（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万以上）后，提交进漏斗审批。</a:t>
            </a:r>
          </a:p>
        </p:txBody>
      </p:sp>
    </p:spTree>
    <p:extLst>
      <p:ext uri="{BB962C8B-B14F-4D97-AF65-F5344CB8AC3E}">
        <p14:creationId xmlns:p14="http://schemas.microsoft.com/office/powerpoint/2010/main" val="3657511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712860" y="280531"/>
            <a:ext cx="7109236" cy="426596"/>
          </a:xfrm>
        </p:spPr>
        <p:txBody>
          <a:bodyPr/>
          <a:lstStyle/>
          <a:p>
            <a:r>
              <a:rPr lang="en-US" altLang="zh-CN" dirty="0"/>
              <a:t>002</a:t>
            </a:r>
            <a:r>
              <a:rPr lang="zh-CN" altLang="en-US" dirty="0">
                <a:solidFill>
                  <a:srgbClr val="FF0000"/>
                </a:solidFill>
              </a:rPr>
              <a:t>销售经理</a:t>
            </a:r>
            <a:r>
              <a:rPr lang="zh-CN" altLang="en-US" dirty="0"/>
              <a:t>商机审批</a:t>
            </a:r>
            <a:r>
              <a:rPr lang="en-US" altLang="zh-CN" dirty="0"/>
              <a:t>-</a:t>
            </a:r>
            <a:r>
              <a:rPr lang="zh-CN" altLang="en-US" dirty="0"/>
              <a:t>操作及主要变化点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8746435" y="169628"/>
          <a:ext cx="3180523" cy="537106"/>
        </p:xfrm>
        <a:graphic>
          <a:graphicData uri="http://schemas.openxmlformats.org/drawingml/2006/table">
            <a:tbl>
              <a:tblPr/>
              <a:tblGrid>
                <a:gridCol w="2325757">
                  <a:extLst>
                    <a:ext uri="{9D8B030D-6E8A-4147-A177-3AD203B41FA5}">
                      <a16:colId xmlns:a16="http://schemas.microsoft.com/office/drawing/2014/main" val="65095146"/>
                    </a:ext>
                  </a:extLst>
                </a:gridCol>
                <a:gridCol w="854766">
                  <a:extLst>
                    <a:ext uri="{9D8B030D-6E8A-4147-A177-3AD203B41FA5}">
                      <a16:colId xmlns:a16="http://schemas.microsoft.com/office/drawing/2014/main" val="2406790390"/>
                    </a:ext>
                  </a:extLst>
                </a:gridCol>
              </a:tblGrid>
              <a:tr h="270853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文件编号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更新日期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2984496"/>
                  </a:ext>
                </a:extLst>
              </a:tr>
              <a:tr h="26625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MTCV-MO-M11.1-P-</a:t>
                      </a:r>
                      <a:r>
                        <a:rPr lang="zh-CN" altLang="en-US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验证商机</a:t>
                      </a:r>
                      <a:r>
                        <a:rPr lang="en-US" altLang="zh-CN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-V0.9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2025.3.5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959751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831574" y="962445"/>
            <a:ext cx="10916478" cy="4181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主要变化点：增加了商机审核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KCP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加强商机数据验证；建立商机数据沟通机制，确保流程落实。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31574" y="1478714"/>
            <a:ext cx="10916478" cy="231640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活动流操作要求：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销售经理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登录进入销售易的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待办事项页面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，点击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“漏斗审批”待处理的商机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点击商机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呈现</a:t>
            </a:r>
            <a:r>
              <a:rPr lang="en-US" altLang="zh-CN" sz="14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MANT+P+</a:t>
            </a:r>
            <a:r>
              <a:rPr lang="zh-CN" altLang="en-US" sz="14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目标折扣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信息和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相关附件材料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开发中）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、对于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有疑问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的商机不做审批，销售经理通过</a:t>
            </a:r>
            <a:r>
              <a:rPr lang="zh-CN" altLang="en-US" sz="14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“邮件沟通”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板块进行二次确认或通过共建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优势渠道、销售代表、售前售后等路径进行验证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开发中）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销售经理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核实</a:t>
            </a:r>
            <a:r>
              <a:rPr lang="en-US" altLang="zh-CN" sz="14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MANT+P+</a:t>
            </a:r>
            <a:r>
              <a:rPr lang="zh-CN" altLang="en-US" sz="14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目标折扣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无误， 确认完成商机审批。（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开发中）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销售经理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核实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MANT+P+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目标折扣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不通过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的，驳回申请。（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开发中）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31574" y="3893258"/>
            <a:ext cx="10916478" cy="263956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关键点及标准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待审批商机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证明支持材料等；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符合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企业网事业部销售漏斗质量管理标准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V9.0》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的商机记录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商机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MANT+P+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折扣信息完整且准确；提供可核查的相关附件信息（包括但不限于预算审批文件、关键人物拜访记录留痕、渠道拜访信息等），以上信息均在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CRM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上同步可见；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设计开发完成前：销售经理参照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企业网事业部销售漏斗质量管理标准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V9.0》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标准，对待审批项目的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MANT+P+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折扣目标，进行线下沟通，并验证无误后完成审批。</a:t>
            </a:r>
          </a:p>
        </p:txBody>
      </p:sp>
    </p:spTree>
    <p:extLst>
      <p:ext uri="{BB962C8B-B14F-4D97-AF65-F5344CB8AC3E}">
        <p14:creationId xmlns:p14="http://schemas.microsoft.com/office/powerpoint/2010/main" val="2171792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712860" y="280531"/>
            <a:ext cx="10100914" cy="426596"/>
          </a:xfrm>
        </p:spPr>
        <p:txBody>
          <a:bodyPr/>
          <a:lstStyle/>
          <a:p>
            <a:r>
              <a:rPr lang="en-US" altLang="zh-CN" dirty="0"/>
              <a:t>003</a:t>
            </a:r>
            <a:r>
              <a:rPr lang="zh-CN" altLang="en-US" dirty="0">
                <a:solidFill>
                  <a:srgbClr val="FF0000"/>
                </a:solidFill>
              </a:rPr>
              <a:t>系统</a:t>
            </a:r>
            <a:r>
              <a:rPr lang="zh-CN" altLang="en-US" dirty="0"/>
              <a:t>商机自动评估分类</a:t>
            </a:r>
            <a:r>
              <a:rPr lang="en-US" altLang="zh-CN" dirty="0"/>
              <a:t>-</a:t>
            </a:r>
            <a:r>
              <a:rPr lang="zh-CN" altLang="en-US" dirty="0"/>
              <a:t>操作及主要变化点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451338"/>
              </p:ext>
            </p:extLst>
          </p:nvPr>
        </p:nvGraphicFramePr>
        <p:xfrm>
          <a:off x="9650896" y="169628"/>
          <a:ext cx="2276062" cy="575653"/>
        </p:xfrm>
        <a:graphic>
          <a:graphicData uri="http://schemas.openxmlformats.org/drawingml/2006/table">
            <a:tbl>
              <a:tblPr/>
              <a:tblGrid>
                <a:gridCol w="1664370">
                  <a:extLst>
                    <a:ext uri="{9D8B030D-6E8A-4147-A177-3AD203B41FA5}">
                      <a16:colId xmlns:a16="http://schemas.microsoft.com/office/drawing/2014/main" val="65095146"/>
                    </a:ext>
                  </a:extLst>
                </a:gridCol>
                <a:gridCol w="611692">
                  <a:extLst>
                    <a:ext uri="{9D8B030D-6E8A-4147-A177-3AD203B41FA5}">
                      <a16:colId xmlns:a16="http://schemas.microsoft.com/office/drawing/2014/main" val="2406790390"/>
                    </a:ext>
                  </a:extLst>
                </a:gridCol>
              </a:tblGrid>
              <a:tr h="270853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文件编号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更新日期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2984496"/>
                  </a:ext>
                </a:extLst>
              </a:tr>
              <a:tr h="26625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MTCV-MO-M11.1-P-</a:t>
                      </a:r>
                      <a:r>
                        <a:rPr lang="zh-CN" altLang="en-US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验证商机</a:t>
                      </a:r>
                      <a:r>
                        <a:rPr lang="en-US" altLang="zh-CN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-V0.9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2025.3.5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959751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831574" y="964698"/>
            <a:ext cx="10916478" cy="4181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主要变化点：明确了商机分类标准和规则，系统可以自动对商机进行分类判断和标注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31574" y="1519266"/>
            <a:ext cx="10916478" cy="102374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活动流：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、对销售经理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完成审批的商机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，系统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建议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商机分类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开发中）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、对产品部、系统部、区域指定立项项目（不在建议立项商机内），手动调整商机分类。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31574" y="2679448"/>
            <a:ext cx="10916478" cy="231640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关键点及标准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通过审批后的商机记录；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输出：有明确分级分类的商机记录；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标准：符合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商机分级表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定义的商机记录；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商机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MANT+P+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折扣的信息完整且准确，提供可核查的相关附件信息（包括但不限于预算审批文件、关键人物拜访记录留痕、渠道拜访信息等），以上信息均在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CRM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上同步可见；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设计开发完成前：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各级销售经理手动勾选项目分类和认领人。</a:t>
            </a:r>
          </a:p>
        </p:txBody>
      </p:sp>
    </p:spTree>
    <p:extLst>
      <p:ext uri="{BB962C8B-B14F-4D97-AF65-F5344CB8AC3E}">
        <p14:creationId xmlns:p14="http://schemas.microsoft.com/office/powerpoint/2010/main" val="2437917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商机分级表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192734"/>
              </p:ext>
            </p:extLst>
          </p:nvPr>
        </p:nvGraphicFramePr>
        <p:xfrm>
          <a:off x="427382" y="944219"/>
          <a:ext cx="11509513" cy="54272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4123">
                  <a:extLst>
                    <a:ext uri="{9D8B030D-6E8A-4147-A177-3AD203B41FA5}">
                      <a16:colId xmlns:a16="http://schemas.microsoft.com/office/drawing/2014/main" val="1944977864"/>
                    </a:ext>
                  </a:extLst>
                </a:gridCol>
                <a:gridCol w="4038695">
                  <a:extLst>
                    <a:ext uri="{9D8B030D-6E8A-4147-A177-3AD203B41FA5}">
                      <a16:colId xmlns:a16="http://schemas.microsoft.com/office/drawing/2014/main" val="314779897"/>
                    </a:ext>
                  </a:extLst>
                </a:gridCol>
                <a:gridCol w="3233057">
                  <a:extLst>
                    <a:ext uri="{9D8B030D-6E8A-4147-A177-3AD203B41FA5}">
                      <a16:colId xmlns:a16="http://schemas.microsoft.com/office/drawing/2014/main" val="2994286859"/>
                    </a:ext>
                  </a:extLst>
                </a:gridCol>
                <a:gridCol w="3293638">
                  <a:extLst>
                    <a:ext uri="{9D8B030D-6E8A-4147-A177-3AD203B41FA5}">
                      <a16:colId xmlns:a16="http://schemas.microsoft.com/office/drawing/2014/main" val="3719861414"/>
                    </a:ext>
                  </a:extLst>
                </a:gridCol>
              </a:tblGrid>
              <a:tr h="425213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级别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定义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介入的层级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必须的</a:t>
                      </a:r>
                      <a:r>
                        <a:rPr lang="en-US" sz="1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KCP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3275999140"/>
                  </a:ext>
                </a:extLst>
              </a:tr>
              <a:tr h="996297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BG</a:t>
                      </a:r>
                      <a:r>
                        <a:rPr lang="zh-CN" alt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级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满足下列条件之一：非优势重客首单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200w</a:t>
                      </a:r>
                    </a:p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en-US" altLang="zh-CN" sz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BG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必赢之战、非优势预估下单金额</a:t>
                      </a:r>
                      <a:r>
                        <a:rPr lang="en-US" altLang="zh-CN" sz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800w+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、部门级解决方案</a:t>
                      </a:r>
                      <a:r>
                        <a:rPr lang="zh-CN" altLang="en-US" sz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前三单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平台管理部总经理、系统总、产品部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BU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总、客户体验部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BU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总、解决方案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BU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总、销售管理部价格组经理、供应链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BP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zh-CN" altLang="en-US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立项、解决方案评审、标前评审、复盘总结</a:t>
                      </a:r>
                    </a:p>
                    <a:p>
                      <a:pPr fontAlgn="t">
                        <a:lnSpc>
                          <a:spcPct val="150000"/>
                        </a:lnSpc>
                      </a:pPr>
                      <a:br>
                        <a:rPr lang="zh-CN" altLang="en-US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endParaRPr lang="zh-CN" altLang="en-US" sz="12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3738191427"/>
                  </a:ext>
                </a:extLst>
              </a:tr>
              <a:tr h="1017551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BU</a:t>
                      </a:r>
                      <a:r>
                        <a:rPr lang="zh-CN" alt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级</a:t>
                      </a:r>
                    </a:p>
                    <a:p>
                      <a:pPr algn="ctr" fontAlgn="t">
                        <a:lnSpc>
                          <a:spcPct val="150000"/>
                        </a:lnSpc>
                      </a:pPr>
                      <a:br>
                        <a:rPr lang="zh-CN" alt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endParaRPr lang="zh-CN" altLang="en-US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满足下列条件之一：非优势重客首单、非优势预估下单金额</a:t>
                      </a:r>
                      <a:r>
                        <a:rPr lang="en-US" altLang="zh-CN" sz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500w+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商机、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BU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必赢之战（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BG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未认领）、系统部解决方案前三单，行业类大金额的框采，行业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EC&amp;DC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类项目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系统总、行业总监、产品部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BU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指定人、解决方案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BU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行业负责人、客户体验部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BU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行业负责人、销售管理部价格组经理、供应链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BP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立项、解决方案评审、标前评审、复盘总结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4087547207"/>
                  </a:ext>
                </a:extLst>
              </a:tr>
              <a:tr h="815477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zh-CN" alt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区域级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满足下列条件之一：非优势预估下单金额</a:t>
                      </a:r>
                      <a:r>
                        <a:rPr lang="en-US" altLang="zh-CN" sz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200w+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商机、区域必赢之战（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BG\BU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未认领），直签类项目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zh-CN" altLang="en-US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区域铁三角、行业经理、对应销管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立项、解决方案评审、标前评审、复盘总结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3576453291"/>
                  </a:ext>
                </a:extLst>
              </a:tr>
              <a:tr h="425213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zh-CN" alt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管制级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一般项目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标前评审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3992640290"/>
                  </a:ext>
                </a:extLst>
              </a:tr>
              <a:tr h="1441451">
                <a:tc gridSpan="4"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zh-CN" alt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关键点：</a:t>
                      </a:r>
                    </a:p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客户维度：</a:t>
                      </a:r>
                      <a:r>
                        <a:rPr lang="zh-CN" altLang="en-US" sz="1200" b="1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重客首单必须立项；</a:t>
                      </a:r>
                    </a:p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竞争程度：预测类别优势确保项目</a:t>
                      </a:r>
                      <a:r>
                        <a:rPr lang="zh-CN" alt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不立项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</a:t>
                      </a:r>
                    </a:p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金额维度：</a:t>
                      </a:r>
                      <a:r>
                        <a:rPr lang="zh-CN" altLang="en-US" sz="1200" b="1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触发标准是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200w+</a:t>
                      </a:r>
                      <a:r>
                        <a:rPr lang="zh-CN" altLang="en-US" sz="1200" b="1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以上项目进入区域级</a:t>
                      </a:r>
                      <a:r>
                        <a:rPr lang="zh-CN" altLang="en-US" sz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500w+</a:t>
                      </a:r>
                      <a:r>
                        <a:rPr lang="zh-CN" altLang="en-US" sz="1200" b="1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以上进入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BU</a:t>
                      </a:r>
                      <a:r>
                        <a:rPr lang="zh-CN" altLang="en-US" sz="1200" b="1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级，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800w+</a:t>
                      </a:r>
                      <a:r>
                        <a:rPr lang="zh-CN" altLang="en-US" sz="1200" b="1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以上进入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BG</a:t>
                      </a:r>
                      <a:r>
                        <a:rPr lang="zh-CN" altLang="en-US" sz="1200" b="1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级；</a:t>
                      </a:r>
                    </a:p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区域维度：区域级金额立项标准可根据区域情况自定义降低，但不允许提高立项起始金额，如非优势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80w+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</a:t>
                      </a:r>
                      <a:endParaRPr lang="en-US" altLang="zh-CN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产品维度：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EDN-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全部</a:t>
                      </a:r>
                    </a:p>
                  </a:txBody>
                  <a:tcPr marL="50800" marR="50800" marT="50800" marB="5080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546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28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712860" y="280531"/>
            <a:ext cx="10100914" cy="426596"/>
          </a:xfrm>
        </p:spPr>
        <p:txBody>
          <a:bodyPr/>
          <a:lstStyle/>
          <a:p>
            <a:r>
              <a:rPr lang="en-US" altLang="zh-CN" dirty="0"/>
              <a:t>004</a:t>
            </a:r>
            <a:r>
              <a:rPr lang="zh-CN" altLang="en-US" dirty="0">
                <a:solidFill>
                  <a:srgbClr val="FF0000"/>
                </a:solidFill>
              </a:rPr>
              <a:t>销售代表</a:t>
            </a:r>
            <a:r>
              <a:rPr lang="en-US" altLang="zh-CN" dirty="0">
                <a:solidFill>
                  <a:srgbClr val="FF0000"/>
                </a:solidFill>
              </a:rPr>
              <a:t>/</a:t>
            </a:r>
            <a:r>
              <a:rPr lang="zh-CN" altLang="en-US" dirty="0">
                <a:solidFill>
                  <a:srgbClr val="FF0000"/>
                </a:solidFill>
              </a:rPr>
              <a:t>经理</a:t>
            </a:r>
            <a:r>
              <a:rPr lang="zh-CN" altLang="en-US" dirty="0"/>
              <a:t>商机立项申请</a:t>
            </a:r>
            <a:r>
              <a:rPr lang="en-US" altLang="zh-CN" dirty="0"/>
              <a:t>-</a:t>
            </a:r>
            <a:r>
              <a:rPr lang="zh-CN" altLang="en-US" dirty="0"/>
              <a:t>操作及主要变化点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9650896" y="169628"/>
          <a:ext cx="2276062" cy="575653"/>
        </p:xfrm>
        <a:graphic>
          <a:graphicData uri="http://schemas.openxmlformats.org/drawingml/2006/table">
            <a:tbl>
              <a:tblPr/>
              <a:tblGrid>
                <a:gridCol w="1664370">
                  <a:extLst>
                    <a:ext uri="{9D8B030D-6E8A-4147-A177-3AD203B41FA5}">
                      <a16:colId xmlns:a16="http://schemas.microsoft.com/office/drawing/2014/main" val="65095146"/>
                    </a:ext>
                  </a:extLst>
                </a:gridCol>
                <a:gridCol w="611692">
                  <a:extLst>
                    <a:ext uri="{9D8B030D-6E8A-4147-A177-3AD203B41FA5}">
                      <a16:colId xmlns:a16="http://schemas.microsoft.com/office/drawing/2014/main" val="2406790390"/>
                    </a:ext>
                  </a:extLst>
                </a:gridCol>
              </a:tblGrid>
              <a:tr h="270853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文件编号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更新日期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2984496"/>
                  </a:ext>
                </a:extLst>
              </a:tr>
              <a:tr h="26625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MTCV-MO-M11.1-P-</a:t>
                      </a:r>
                      <a:r>
                        <a:rPr lang="zh-CN" altLang="en-US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验证商机</a:t>
                      </a:r>
                      <a:r>
                        <a:rPr lang="en-US" altLang="zh-CN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-V0.9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2025.3.5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959751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831574" y="946242"/>
            <a:ext cx="10916478" cy="102374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活动流操作要求：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、待立项项目，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销售经理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天内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确定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参与立项评审会议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人员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、会议前，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销售代表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准备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商机立项评审表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开发中）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31574" y="2219682"/>
            <a:ext cx="10916478" cy="199323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关键点及标准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有明确分级分类的商机记录；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输出：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商机立项评审表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标准：包含商机立项资料、商机立项评审决策会时间、参与人员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设计开发完成前：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销售代表线下填写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商机立项评审表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 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7611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782434" y="274443"/>
            <a:ext cx="4513632" cy="303299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商机立项评审表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970515"/>
              </p:ext>
            </p:extLst>
          </p:nvPr>
        </p:nvGraphicFramePr>
        <p:xfrm>
          <a:off x="782434" y="886520"/>
          <a:ext cx="6626100" cy="5294280"/>
        </p:xfrm>
        <a:graphic>
          <a:graphicData uri="http://schemas.openxmlformats.org/drawingml/2006/table">
            <a:tbl>
              <a:tblPr/>
              <a:tblGrid>
                <a:gridCol w="602605">
                  <a:extLst>
                    <a:ext uri="{9D8B030D-6E8A-4147-A177-3AD203B41FA5}">
                      <a16:colId xmlns:a16="http://schemas.microsoft.com/office/drawing/2014/main" val="2073964566"/>
                    </a:ext>
                  </a:extLst>
                </a:gridCol>
                <a:gridCol w="730492">
                  <a:extLst>
                    <a:ext uri="{9D8B030D-6E8A-4147-A177-3AD203B41FA5}">
                      <a16:colId xmlns:a16="http://schemas.microsoft.com/office/drawing/2014/main" val="15812614"/>
                    </a:ext>
                  </a:extLst>
                </a:gridCol>
                <a:gridCol w="981510">
                  <a:extLst>
                    <a:ext uri="{9D8B030D-6E8A-4147-A177-3AD203B41FA5}">
                      <a16:colId xmlns:a16="http://schemas.microsoft.com/office/drawing/2014/main" val="2458031061"/>
                    </a:ext>
                  </a:extLst>
                </a:gridCol>
                <a:gridCol w="981510">
                  <a:extLst>
                    <a:ext uri="{9D8B030D-6E8A-4147-A177-3AD203B41FA5}">
                      <a16:colId xmlns:a16="http://schemas.microsoft.com/office/drawing/2014/main" val="1196969592"/>
                    </a:ext>
                  </a:extLst>
                </a:gridCol>
                <a:gridCol w="981510">
                  <a:extLst>
                    <a:ext uri="{9D8B030D-6E8A-4147-A177-3AD203B41FA5}">
                      <a16:colId xmlns:a16="http://schemas.microsoft.com/office/drawing/2014/main" val="795105510"/>
                    </a:ext>
                  </a:extLst>
                </a:gridCol>
                <a:gridCol w="981510">
                  <a:extLst>
                    <a:ext uri="{9D8B030D-6E8A-4147-A177-3AD203B41FA5}">
                      <a16:colId xmlns:a16="http://schemas.microsoft.com/office/drawing/2014/main" val="2904455448"/>
                    </a:ext>
                  </a:extLst>
                </a:gridCol>
                <a:gridCol w="1366963">
                  <a:extLst>
                    <a:ext uri="{9D8B030D-6E8A-4147-A177-3AD203B41FA5}">
                      <a16:colId xmlns:a16="http://schemas.microsoft.com/office/drawing/2014/main" val="4214097092"/>
                    </a:ext>
                  </a:extLst>
                </a:gridCol>
              </a:tblGrid>
              <a:tr h="252489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zh-CN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隶书" panose="02010509060101010101" pitchFamily="49" charset="-122"/>
                          <a:ea typeface="隶书" panose="02010509060101010101" pitchFamily="49" charset="-122"/>
                        </a:rPr>
                        <a:t>商机立项评审表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备注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396259"/>
                  </a:ext>
                </a:extLst>
              </a:tr>
              <a:tr h="222784">
                <a:tc rowSpan="10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信息输入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项目名称：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endParaRPr lang="zh-CN" altLang="en-US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046737"/>
                  </a:ext>
                </a:extLst>
              </a:tr>
              <a:tr h="14753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项目概况：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MANT211+P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141785"/>
                  </a:ext>
                </a:extLst>
              </a:tr>
              <a:tr h="14852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客户概况：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7006961"/>
                  </a:ext>
                </a:extLst>
              </a:tr>
              <a:tr h="14852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商务评估：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盈利能力、客户地位、份额目标、标杆意义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IT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加模块填写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334387"/>
                  </a:ext>
                </a:extLst>
              </a:tr>
              <a:tr h="2302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项目目标设定：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销售额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endParaRPr lang="zh-CN" altLang="en-US" sz="1000"/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313789"/>
                  </a:ext>
                </a:extLst>
              </a:tr>
              <a:tr h="2302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项目折扣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021849"/>
                  </a:ext>
                </a:extLst>
              </a:tr>
              <a:tr h="29011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客户关系：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客户是否符合战略目标，客户端关键人关系现状，竞争对手在关键人现状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588713"/>
                  </a:ext>
                </a:extLst>
              </a:tr>
              <a:tr h="28029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解决方案匹配度：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客户需求是否有已发布解决方案匹配，是否有开发成本；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IT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加模块填写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276546"/>
                  </a:ext>
                </a:extLst>
              </a:tr>
              <a:tr h="14753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服务交付：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交付风险、交付成本、可持续性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IT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加模块填写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420446"/>
                  </a:ext>
                </a:extLst>
              </a:tr>
              <a:tr h="14753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竞争态势：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竞争对手参与情况，方案匹配情况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IT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加模块填写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544261"/>
                  </a:ext>
                </a:extLst>
              </a:tr>
              <a:tr h="280293"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评审决策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是否立项管理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IT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加模块填写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101421"/>
                  </a:ext>
                </a:extLst>
              </a:tr>
              <a:tr h="14753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商机级别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IT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加模块填写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5299602"/>
                  </a:ext>
                </a:extLst>
              </a:tr>
              <a:tr h="14753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项目经理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IT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加模块填写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728780"/>
                  </a:ext>
                </a:extLst>
              </a:tr>
              <a:tr h="2302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项目组成员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项目组成员姓名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所在部门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项目组角色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任务分工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IT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加模块填写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946263"/>
                  </a:ext>
                </a:extLst>
              </a:tr>
              <a:tr h="2302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IT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加模块填写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181757"/>
                  </a:ext>
                </a:extLst>
              </a:tr>
              <a:tr h="2302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IT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加模块填写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9649142"/>
                  </a:ext>
                </a:extLst>
              </a:tr>
              <a:tr h="2302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IT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加模块填写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088560"/>
                  </a:ext>
                </a:extLst>
              </a:tr>
              <a:tr h="2302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IT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加模块填写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253764"/>
                  </a:ext>
                </a:extLst>
              </a:tr>
              <a:tr h="2302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IT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加模块填写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875989"/>
                  </a:ext>
                </a:extLst>
              </a:tr>
              <a:tr h="28029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项目奖励方案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IT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加模块填写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94337"/>
                  </a:ext>
                </a:extLst>
              </a:tr>
              <a:tr h="28029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项目处罚方案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IT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加模块填写</a:t>
                      </a:r>
                    </a:p>
                  </a:txBody>
                  <a:tcPr marL="6028" marR="6028" marT="60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0742213"/>
                  </a:ext>
                </a:extLst>
              </a:tr>
            </a:tbl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771" y="1080999"/>
            <a:ext cx="4356485" cy="3617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231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712860" y="280531"/>
            <a:ext cx="10100914" cy="426596"/>
          </a:xfrm>
        </p:spPr>
        <p:txBody>
          <a:bodyPr/>
          <a:lstStyle/>
          <a:p>
            <a:r>
              <a:rPr lang="en-US" altLang="zh-CN" dirty="0"/>
              <a:t>005</a:t>
            </a:r>
            <a:r>
              <a:rPr lang="zh-CN" altLang="en-US" dirty="0">
                <a:solidFill>
                  <a:srgbClr val="FF0000"/>
                </a:solidFill>
              </a:rPr>
              <a:t>评委</a:t>
            </a:r>
            <a:r>
              <a:rPr lang="en-US" altLang="zh-CN" dirty="0"/>
              <a:t>-</a:t>
            </a:r>
            <a:r>
              <a:rPr lang="zh-CN" altLang="en-US" dirty="0"/>
              <a:t>商机立项评审决策（</a:t>
            </a:r>
            <a:r>
              <a:rPr lang="en-US" altLang="zh-CN" dirty="0"/>
              <a:t>KCP/KDP</a:t>
            </a:r>
            <a:r>
              <a:rPr lang="zh-CN" altLang="en-US" dirty="0"/>
              <a:t>）</a:t>
            </a:r>
            <a:r>
              <a:rPr lang="en-US" altLang="zh-CN" dirty="0"/>
              <a:t>-</a:t>
            </a:r>
            <a:r>
              <a:rPr lang="zh-CN" altLang="en-US" dirty="0"/>
              <a:t>操作及主要变化点</a:t>
            </a:r>
          </a:p>
        </p:txBody>
      </p:sp>
      <p:sp>
        <p:nvSpPr>
          <p:cNvPr id="2" name="矩形 1"/>
          <p:cNvSpPr/>
          <p:nvPr/>
        </p:nvSpPr>
        <p:spPr>
          <a:xfrm>
            <a:off x="831574" y="852415"/>
            <a:ext cx="10916478" cy="102374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主要变化点：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增加立项评审决策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KCP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KDP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，确保重点项目通过匹配优势资源进行统筹管理；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明确决策机制：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提高立项流程决策效率应立必立：未完成立项项目节点的建议立项项目，无法进入后续流程增加了项目经理角色对重点立项项目进行管理。销管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BP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在该流程环节的职责明确定义。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31574" y="1890278"/>
            <a:ext cx="10916478" cy="296273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活动流操作要求：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销售代表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说明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商机立项内容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销售经理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对商机立项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给出意见和反馈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立项评审决策委员会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商机立项评审表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内容进行评审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立项评审决策委员会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依据决策标准明确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决策意见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，包含</a:t>
            </a:r>
            <a:r>
              <a:rPr lang="zh-CN" altLang="en-US" sz="140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是否立项、立项等级；项目经理，项目组成员和项目计划。</a:t>
            </a:r>
            <a:endParaRPr lang="en-US" altLang="zh-CN" sz="1400" u="sng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、评审通过项目，由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项目经理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按对应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级别认领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，进行项目监控管理；未评审通过项目进入一般项目管理，由区域项目铁三角自行负责，后续正常进入标前评审；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销管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BP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协助销售经理完成立项评审决策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相关闭环活动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，并根据立项评审决策委员会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决策意见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商机立项评审表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的输出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开发中）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31574" y="4853012"/>
            <a:ext cx="10916478" cy="199323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关键点及标准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商机立项评审表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输出：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商机立项评审表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增加完整评审决策意见，立项通过商机明确是否立项、立项等级、项目经理、项目组成员及分工，和可执行的项目跟进计划；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CRM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系统已经完成商机级别勾选；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设计开发完成前：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商机立项评审表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线下录入；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6763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712860" y="280531"/>
            <a:ext cx="10100914" cy="426596"/>
          </a:xfrm>
        </p:spPr>
        <p:txBody>
          <a:bodyPr/>
          <a:lstStyle/>
          <a:p>
            <a:r>
              <a:rPr lang="en-US" altLang="zh-CN" dirty="0"/>
              <a:t>006</a:t>
            </a:r>
            <a:r>
              <a:rPr lang="zh-CN" altLang="en-US" dirty="0">
                <a:solidFill>
                  <a:srgbClr val="FF0000"/>
                </a:solidFill>
              </a:rPr>
              <a:t>项目经理</a:t>
            </a:r>
            <a:r>
              <a:rPr lang="en-US" altLang="zh-CN" dirty="0"/>
              <a:t>-</a:t>
            </a:r>
            <a:r>
              <a:rPr lang="zh-CN" altLang="en-US" dirty="0"/>
              <a:t>组建项目团队</a:t>
            </a:r>
            <a:r>
              <a:rPr lang="en-US" altLang="zh-CN" dirty="0"/>
              <a:t>-</a:t>
            </a:r>
            <a:r>
              <a:rPr lang="zh-CN" altLang="en-US" dirty="0"/>
              <a:t>操作及主要变化点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12860" y="993452"/>
            <a:ext cx="10916478" cy="70057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活动流操作要求：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评审通过项目，项目组成员自动进入系统项目组。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项目经理可通过系统一键建立飞书项目群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开发中）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2860" y="1826963"/>
            <a:ext cx="10916478" cy="199323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关键点及标准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商机立项评审表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输出：项目运转群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增加完整评审决策意见，立项通过商机明确是否立项，立项等级，项目经理，项目组成员及分工，和可执行的项目跟进计划；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设计开发完成前：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项目经理手动进入项目组，手动建群。</a:t>
            </a:r>
          </a:p>
        </p:txBody>
      </p:sp>
    </p:spTree>
    <p:extLst>
      <p:ext uri="{BB962C8B-B14F-4D97-AF65-F5344CB8AC3E}">
        <p14:creationId xmlns:p14="http://schemas.microsoft.com/office/powerpoint/2010/main" val="669602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712860" y="280531"/>
            <a:ext cx="10100914" cy="426596"/>
          </a:xfrm>
        </p:spPr>
        <p:txBody>
          <a:bodyPr/>
          <a:lstStyle/>
          <a:p>
            <a:r>
              <a:rPr lang="en-US" altLang="zh-CN" dirty="0"/>
              <a:t>007</a:t>
            </a:r>
            <a:r>
              <a:rPr lang="zh-CN" altLang="en-US" dirty="0">
                <a:solidFill>
                  <a:srgbClr val="FF0000"/>
                </a:solidFill>
              </a:rPr>
              <a:t>销管</a:t>
            </a:r>
            <a:r>
              <a:rPr lang="en-US" altLang="zh-CN" dirty="0">
                <a:solidFill>
                  <a:srgbClr val="FF0000"/>
                </a:solidFill>
              </a:rPr>
              <a:t>BP</a:t>
            </a:r>
            <a:r>
              <a:rPr lang="en-US" altLang="zh-CN" dirty="0"/>
              <a:t>-</a:t>
            </a:r>
            <a:r>
              <a:rPr lang="zh-CN" altLang="en-US" dirty="0"/>
              <a:t>商机检查</a:t>
            </a:r>
            <a:r>
              <a:rPr lang="en-US" altLang="zh-CN" dirty="0"/>
              <a:t>-</a:t>
            </a:r>
            <a:r>
              <a:rPr lang="zh-CN" altLang="en-US" dirty="0"/>
              <a:t>操作及主要变化点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12860" y="959952"/>
            <a:ext cx="10916478" cy="167007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活动流操作要求：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销管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BP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登录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CRM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可视化报表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漏斗实时看板（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开发），通过设定筛选条件可选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）预计下单时间（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）是否进入漏斗（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）业务机会未跟进天数（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）客户未跟进天数，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输出筛选结果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销管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BP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结合需求筛选报表并导出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异常项目清单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发起商机改善流程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开发）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相关异常标准见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商机异常标准说明书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12860" y="2882850"/>
            <a:ext cx="11015314" cy="263956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关键点及标准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通过审批后的商机记录；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输出：异常商机记录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商机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MANT+P+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折扣的信息完整且准确，提供可核查的相关附件信息（包括但不限于预算审批文件、关键人物拜访记录留痕、渠道拜访信息等），以上信息均在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CRM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上同步可见；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输出异常项目清单，异常标准需符合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商机异常标准说明书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设计开发完成前：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销管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BP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线下手动输出异常项目清单。</a:t>
            </a:r>
          </a:p>
        </p:txBody>
      </p:sp>
    </p:spTree>
    <p:extLst>
      <p:ext uri="{BB962C8B-B14F-4D97-AF65-F5344CB8AC3E}">
        <p14:creationId xmlns:p14="http://schemas.microsoft.com/office/powerpoint/2010/main" val="37037454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712860" y="280531"/>
            <a:ext cx="10100914" cy="426596"/>
          </a:xfrm>
        </p:spPr>
        <p:txBody>
          <a:bodyPr/>
          <a:lstStyle/>
          <a:p>
            <a:r>
              <a:rPr lang="en-US" altLang="zh-CN" dirty="0"/>
              <a:t>008</a:t>
            </a:r>
            <a:r>
              <a:rPr lang="zh-CN" altLang="en-US" dirty="0">
                <a:solidFill>
                  <a:srgbClr val="FF0000"/>
                </a:solidFill>
              </a:rPr>
              <a:t>销售代表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/>
              <a:t>商机改善</a:t>
            </a:r>
            <a:r>
              <a:rPr lang="en-US" altLang="zh-CN" dirty="0"/>
              <a:t>-</a:t>
            </a:r>
            <a:r>
              <a:rPr lang="zh-CN" altLang="en-US" dirty="0"/>
              <a:t>操作及主要变化点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12860" y="924991"/>
            <a:ext cx="10916478" cy="102374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活动流操作要求：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销售代表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根据异常商机记录，登录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CRM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系统，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点击进入异常项目，调整异常信息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销售代表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确认异常信息改善无误后，保存信息，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完成商机改善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2860" y="2166597"/>
            <a:ext cx="11015314" cy="263956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关键点及标准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异常商机记录；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输出：改善完毕的商机；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异常项目清单，异常标准需符合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商机异常标准说明书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商机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MANT+P+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折扣目标的信息完整且准确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改善完毕的商机符合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企业网事业部销售漏斗质量管理标准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V9.0》</a:t>
            </a:r>
          </a:p>
          <a:p>
            <a:pPr>
              <a:lnSpc>
                <a:spcPct val="150000"/>
              </a:lnSpc>
            </a:pP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无变化</a:t>
            </a:r>
          </a:p>
        </p:txBody>
      </p:sp>
    </p:spTree>
    <p:extLst>
      <p:ext uri="{BB962C8B-B14F-4D97-AF65-F5344CB8AC3E}">
        <p14:creationId xmlns:p14="http://schemas.microsoft.com/office/powerpoint/2010/main" val="2754267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673103" y="274443"/>
            <a:ext cx="4513632" cy="303299"/>
          </a:xfrm>
        </p:spPr>
        <p:txBody>
          <a:bodyPr/>
          <a:lstStyle/>
          <a:p>
            <a:r>
              <a:rPr lang="zh-CN" altLang="en-US" dirty="0"/>
              <a:t>关键节点</a:t>
            </a:r>
            <a:r>
              <a:rPr lang="en-US" altLang="zh-CN" dirty="0"/>
              <a:t>KCP</a:t>
            </a:r>
            <a:r>
              <a:rPr lang="zh-CN" altLang="en-US" dirty="0"/>
              <a:t>、</a:t>
            </a:r>
            <a:r>
              <a:rPr lang="en-US" altLang="zh-CN" dirty="0"/>
              <a:t>KDP</a:t>
            </a:r>
            <a:endParaRPr lang="zh-CN" alt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972782"/>
              </p:ext>
            </p:extLst>
          </p:nvPr>
        </p:nvGraphicFramePr>
        <p:xfrm>
          <a:off x="673105" y="974035"/>
          <a:ext cx="11015310" cy="3935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2124">
                  <a:extLst>
                    <a:ext uri="{9D8B030D-6E8A-4147-A177-3AD203B41FA5}">
                      <a16:colId xmlns:a16="http://schemas.microsoft.com/office/drawing/2014/main" val="883537005"/>
                    </a:ext>
                  </a:extLst>
                </a:gridCol>
                <a:gridCol w="1393371">
                  <a:extLst>
                    <a:ext uri="{9D8B030D-6E8A-4147-A177-3AD203B41FA5}">
                      <a16:colId xmlns:a16="http://schemas.microsoft.com/office/drawing/2014/main" val="166615886"/>
                    </a:ext>
                  </a:extLst>
                </a:gridCol>
                <a:gridCol w="3942522">
                  <a:extLst>
                    <a:ext uri="{9D8B030D-6E8A-4147-A177-3AD203B41FA5}">
                      <a16:colId xmlns:a16="http://schemas.microsoft.com/office/drawing/2014/main" val="3411840121"/>
                    </a:ext>
                  </a:extLst>
                </a:gridCol>
                <a:gridCol w="1043135">
                  <a:extLst>
                    <a:ext uri="{9D8B030D-6E8A-4147-A177-3AD203B41FA5}">
                      <a16:colId xmlns:a16="http://schemas.microsoft.com/office/drawing/2014/main" val="3525672304"/>
                    </a:ext>
                  </a:extLst>
                </a:gridCol>
                <a:gridCol w="2664158">
                  <a:extLst>
                    <a:ext uri="{9D8B030D-6E8A-4147-A177-3AD203B41FA5}">
                      <a16:colId xmlns:a16="http://schemas.microsoft.com/office/drawing/2014/main" val="1112721146"/>
                    </a:ext>
                  </a:extLst>
                </a:gridCol>
              </a:tblGrid>
              <a:tr h="511464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关键节点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控制点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KCP/KDP</a:t>
                      </a:r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KCP/KDP</a:t>
                      </a:r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负责人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指导书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3784669315"/>
                  </a:ext>
                </a:extLst>
              </a:tr>
              <a:tr h="2688645"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M1.1.1 </a:t>
                      </a:r>
                      <a:r>
                        <a:rPr lang="zh-CN" alt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分析并验证商机</a:t>
                      </a:r>
                      <a:endParaRPr lang="zh-CN" altLang="en-US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fontAlgn="t">
                        <a:lnSpc>
                          <a:spcPct val="150000"/>
                        </a:lnSpc>
                      </a:pPr>
                      <a:b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endParaRPr lang="zh-CN" altLang="en-US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商机审批</a:t>
                      </a:r>
                    </a:p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KCP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  <a:p>
                      <a:pPr algn="ctr" fontAlgn="t">
                        <a:lnSpc>
                          <a:spcPct val="150000"/>
                        </a:lnSpc>
                      </a:pPr>
                      <a:b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endParaRPr lang="zh-CN" altLang="en-US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为了保证商机记录的真实性和准确性，通过商机审批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KCP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进行质量控制，关键控制要素：</a:t>
                      </a:r>
                    </a:p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）真实性：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MANT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清晰可验证</a:t>
                      </a:r>
                    </a:p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）合作伙伴：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真实，与我司联合共建</a:t>
                      </a:r>
                    </a:p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）目标性：有明确的折扣目标</a:t>
                      </a:r>
                    </a:p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）及时性：审批及时，过程变化更新及时</a:t>
                      </a:r>
                    </a:p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）主动性：对于存疑商机或者重点商机进行主动验证（包括：邮件，通话记录，微信聊天记录等）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销售经理</a:t>
                      </a:r>
                    </a:p>
                    <a:p>
                      <a:pPr fontAlgn="t">
                        <a:lnSpc>
                          <a:spcPct val="150000"/>
                        </a:lnSpc>
                      </a:pPr>
                      <a:b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endParaRPr lang="zh-CN" altLang="en-US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参见活动说明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《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企业网事业部销售漏斗质量管理标准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V9.0》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指导书</a:t>
                      </a:r>
                    </a:p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（第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001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号）企业网事业部销售漏斗质量管理标准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V9.0.pdf</a:t>
                      </a:r>
                    </a:p>
                    <a:p>
                      <a:pPr fontAlgn="t">
                        <a:lnSpc>
                          <a:spcPct val="150000"/>
                        </a:lnSpc>
                      </a:pPr>
                      <a:b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endParaRPr lang="en-US" altLang="zh-CN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4115435319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M11.1.2 </a:t>
                      </a:r>
                      <a:r>
                        <a:rPr lang="zh-CN" alt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商机分类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</a:t>
                      </a:r>
                      <a:r>
                        <a:rPr lang="zh-CN" alt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立项</a:t>
                      </a:r>
                      <a:endParaRPr lang="zh-CN" altLang="en-US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商机立项评审决策</a:t>
                      </a:r>
                    </a:p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KCP/KDP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明确立项标准和流程实现重点商机能够通过项目组管理，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销售经理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</a:pPr>
                      <a:b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endParaRPr lang="zh-CN" altLang="en-US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651538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50024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673102" y="274443"/>
            <a:ext cx="7198151" cy="303299"/>
          </a:xfrm>
        </p:spPr>
        <p:txBody>
          <a:bodyPr/>
          <a:lstStyle/>
          <a:p>
            <a:r>
              <a:rPr lang="zh-CN" altLang="en-US" dirty="0"/>
              <a:t>验证商机</a:t>
            </a:r>
            <a:r>
              <a:rPr lang="en-US" altLang="zh-CN" dirty="0"/>
              <a:t>_</a:t>
            </a:r>
            <a:r>
              <a:rPr lang="zh-CN" altLang="en-US" dirty="0"/>
              <a:t>流程文件</a:t>
            </a:r>
            <a:r>
              <a:rPr lang="en-US" altLang="zh-CN" dirty="0"/>
              <a:t>_</a:t>
            </a:r>
            <a:r>
              <a:rPr lang="zh-CN" altLang="en-US" dirty="0"/>
              <a:t>发布运转及重点反馈部门</a:t>
            </a:r>
            <a:r>
              <a:rPr lang="en-US" altLang="zh-CN" dirty="0"/>
              <a:t>/</a:t>
            </a:r>
            <a:r>
              <a:rPr lang="zh-CN" altLang="en-US" dirty="0"/>
              <a:t>区域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7107411"/>
              </p:ext>
            </p:extLst>
          </p:nvPr>
        </p:nvGraphicFramePr>
        <p:xfrm>
          <a:off x="673102" y="1006794"/>
          <a:ext cx="9976141" cy="5230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1301">
                  <a:extLst>
                    <a:ext uri="{9D8B030D-6E8A-4147-A177-3AD203B41FA5}">
                      <a16:colId xmlns:a16="http://schemas.microsoft.com/office/drawing/2014/main" val="883537005"/>
                    </a:ext>
                  </a:extLst>
                </a:gridCol>
                <a:gridCol w="7214840">
                  <a:extLst>
                    <a:ext uri="{9D8B030D-6E8A-4147-A177-3AD203B41FA5}">
                      <a16:colId xmlns:a16="http://schemas.microsoft.com/office/drawing/2014/main" val="3411840121"/>
                    </a:ext>
                  </a:extLst>
                </a:gridCol>
              </a:tblGrid>
              <a:tr h="624303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0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文件名称</a:t>
                      </a:r>
                    </a:p>
                  </a:txBody>
                  <a:tcPr marL="50800" marR="50800" marT="50800" marB="508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验证商机流程说明文件</a:t>
                      </a:r>
                    </a:p>
                  </a:txBody>
                  <a:tcPr marL="50800" marR="50800" marT="50800" marB="50800" anchor="ctr">
                    <a:solidFill>
                      <a:srgbClr val="E9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669315"/>
                  </a:ext>
                </a:extLst>
              </a:tr>
              <a:tr h="624303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50000"/>
                        </a:lnSpc>
                      </a:pPr>
                      <a:r>
                        <a:rPr lang="zh-CN" altLang="en-US" sz="2000" b="1" kern="1200" dirty="0">
                          <a:solidFill>
                            <a:schemeClr val="lt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文件编号</a:t>
                      </a:r>
                    </a:p>
                  </a:txBody>
                  <a:tcPr marL="50800" marR="50800" marT="50800" marB="508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8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MTCV-MO-M11.1-P-</a:t>
                      </a:r>
                      <a:r>
                        <a:rPr lang="zh-CN" altLang="en-US" sz="18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验证商机</a:t>
                      </a:r>
                      <a:r>
                        <a:rPr lang="en-US" altLang="zh-CN" sz="18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</a:t>
                      </a:r>
                      <a:r>
                        <a:rPr lang="en" altLang="zh-CN" sz="18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V0.9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4115435319"/>
                  </a:ext>
                </a:extLst>
              </a:tr>
              <a:tr h="624303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版本</a:t>
                      </a:r>
                    </a:p>
                  </a:txBody>
                  <a:tcPr marL="50800" marR="50800" marT="50800" marB="508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en" altLang="zh-CN" sz="18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V0.9</a:t>
                      </a:r>
                      <a:endParaRPr lang="zh-CN" altLang="en-US" sz="1800" b="1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2368395632"/>
                  </a:ext>
                </a:extLst>
              </a:tr>
              <a:tr h="624303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50000"/>
                        </a:lnSpc>
                      </a:pPr>
                      <a:r>
                        <a:rPr lang="zh-CN" altLang="en-US" sz="2000" b="1" kern="12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生效日期</a:t>
                      </a:r>
                    </a:p>
                  </a:txBody>
                  <a:tcPr marL="50800" marR="50800" marT="50800" marB="508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2025/2/28</a:t>
                      </a:r>
                      <a:endParaRPr lang="zh-CN" altLang="en-US" sz="1800" b="1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114695405"/>
                  </a:ext>
                </a:extLst>
              </a:tr>
              <a:tr h="624303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50000"/>
                        </a:lnSpc>
                      </a:pPr>
                      <a:r>
                        <a:rPr lang="zh-CN" altLang="en-US" sz="2000" b="1" kern="12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适用范围</a:t>
                      </a:r>
                    </a:p>
                  </a:txBody>
                  <a:tcPr marL="50800" marR="50800" marT="50800" marB="508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EBG</a:t>
                      </a:r>
                      <a:endParaRPr lang="zh-CN" altLang="en-US" sz="1800" b="1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2995353675"/>
                  </a:ext>
                </a:extLst>
              </a:tr>
              <a:tr h="624303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重点反馈部门</a:t>
                      </a: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区域</a:t>
                      </a:r>
                    </a:p>
                  </a:txBody>
                  <a:tcPr marL="50800" marR="50800" marT="50800" marB="508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教育系统部、政府交通系统部、北京区域、福建区域、江西区域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651538319"/>
                  </a:ext>
                </a:extLst>
              </a:tr>
              <a:tr h="971838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重点反馈部门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区域</a:t>
                      </a:r>
                      <a:endParaRPr lang="en-US" altLang="zh-CN" sz="1600" b="1" dirty="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试点拉通时间</a:t>
                      </a:r>
                    </a:p>
                  </a:txBody>
                  <a:tcPr marL="50800" marR="50800" marT="50800" marB="508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r>
                        <a:rPr lang="zh-CN" altLang="en-US" sz="18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月</a:t>
                      </a:r>
                      <a:r>
                        <a:rPr lang="en-US" altLang="zh-CN" sz="18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</a:t>
                      </a:r>
                      <a:r>
                        <a:rPr lang="zh-CN" altLang="en-US" sz="18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日</a:t>
                      </a:r>
                      <a:r>
                        <a:rPr lang="en-US" altLang="zh-CN" sz="18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17:00-18:00</a:t>
                      </a:r>
                      <a:r>
                        <a:rPr lang="zh-CN" altLang="en-US" sz="18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（会议号：</a:t>
                      </a:r>
                      <a:r>
                        <a:rPr lang="en-US" altLang="zh-CN" sz="18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385 951 498</a:t>
                      </a:r>
                      <a:r>
                        <a:rPr lang="zh-CN" altLang="en-US" sz="18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440568522"/>
                  </a:ext>
                </a:extLst>
              </a:tr>
              <a:tr h="463408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试点区域拉通机制</a:t>
                      </a:r>
                    </a:p>
                  </a:txBody>
                  <a:tcPr marL="50800" marR="50800" marT="50800" marB="508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每周一下午</a:t>
                      </a:r>
                      <a:r>
                        <a:rPr lang="en-US" altLang="zh-CN" sz="18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17</a:t>
                      </a:r>
                      <a:r>
                        <a:rPr lang="zh-CN" altLang="en-US" sz="18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</a:t>
                      </a:r>
                      <a:r>
                        <a:rPr lang="en-US" altLang="zh-CN" sz="18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-18</a:t>
                      </a:r>
                      <a:r>
                        <a:rPr lang="zh-CN" altLang="en-US" sz="18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点，拉通运转中发现的问题和建议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3566781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69875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396650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245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5&quot;&gt;&lt;elem m_fUsage=&quot;3.21346595926615030692E+00&quot;&gt;&lt;m_msothmcolidx val=&quot;0&quot;/&gt;&lt;m_rgb r=&quot;70&quot; g=&quot;D7&quot; b=&quot;FC&quot;/&gt;&lt;/elem&gt;&lt;elem m_fUsage=&quot;2.38804921707588224677E+00&quot;&gt;&lt;m_msothmcolidx val=&quot;0&quot;/&gt;&lt;m_rgb r=&quot;F9&quot; g=&quot;E3&quot; b=&quot;4B&quot;/&gt;&lt;/elem&gt;&lt;elem m_fUsage=&quot;1.52506687874713819930E+00&quot;&gt;&lt;m_msothmcolidx val=&quot;0&quot;/&gt;&lt;m_rgb r=&quot;28&quot; g=&quot;7D&quot; b=&quot;FF&quot;/&gt;&lt;/elem&gt;&lt;elem m_fUsage=&quot;1.43144100000000018547E+00&quot;&gt;&lt;m_msothmcolidx val=&quot;0&quot;/&gt;&lt;m_rgb r=&quot;FF&quot; g=&quot;CD&quot; b=&quot;1F&quot;/&gt;&lt;/elem&gt;&lt;elem m_fUsage=&quot;1.25949690859682461586E+00&quot;&gt;&lt;m_msothmcolidx val=&quot;0&quot;/&gt;&lt;m_rgb r=&quot;B9&quot; g=&quot;E3&quot; b=&quot;FF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260264</TotalTime>
  <Words>3485</Words>
  <Application>Microsoft Macintosh PowerPoint</Application>
  <PresentationFormat>宽屏</PresentationFormat>
  <Paragraphs>361</Paragraphs>
  <Slides>20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等线</vt:lpstr>
      <vt:lpstr>黑体</vt:lpstr>
      <vt:lpstr>隶书</vt:lpstr>
      <vt:lpstr>SimSun</vt:lpstr>
      <vt:lpstr>SimSun</vt:lpstr>
      <vt:lpstr>Microsoft YaHei</vt:lpstr>
      <vt:lpstr>Microsoft YaHei</vt:lpstr>
      <vt:lpstr>Arial</vt:lpstr>
      <vt:lpstr>Office 主题​​</vt:lpstr>
      <vt:lpstr>think-cell 幻灯片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1405</dc:creator>
  <cp:lastModifiedBy>Microsoft Office 用户</cp:lastModifiedBy>
  <cp:revision>3458</cp:revision>
  <cp:lastPrinted>2020-10-26T06:35:22Z</cp:lastPrinted>
  <dcterms:created xsi:type="dcterms:W3CDTF">2020-09-11T04:11:16Z</dcterms:created>
  <dcterms:modified xsi:type="dcterms:W3CDTF">2025-03-10T09:59:13Z</dcterms:modified>
</cp:coreProperties>
</file>