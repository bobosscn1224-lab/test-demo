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0"/>
  </p:notesMasterIdLst>
  <p:sldIdLst>
    <p:sldId id="256" r:id="rId3"/>
    <p:sldId id="259" r:id="rId4"/>
    <p:sldId id="267" r:id="rId5"/>
    <p:sldId id="276" r:id="rId6"/>
    <p:sldId id="278" r:id="rId7"/>
    <p:sldId id="270" r:id="rId8"/>
    <p:sldId id="266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24" autoAdjust="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7291" y="2459591"/>
            <a:ext cx="3504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M11.x </a:t>
            </a:r>
            <a:r>
              <a:rPr kumimoji="1" lang="zh-CN" altLang="en-US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流程名称</a:t>
            </a:r>
            <a:endParaRPr kumimoji="1" lang="zh-CN" altLang="en-US" sz="36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3405" y="1865546"/>
            <a:ext cx="28825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 </a:t>
            </a:r>
            <a:r>
              <a:rPr kumimoji="1" lang="zh-CN" altLang="en-US" sz="2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管理商机流程</a:t>
            </a:r>
            <a:endParaRPr kumimoji="1" lang="zh-CN" altLang="en-US" sz="2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4" y="2469930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M11.x </a:t>
            </a:r>
            <a:r>
              <a:rPr lang="zh-CN" altLang="en-US" dirty="0" smtClean="0"/>
              <a:t>这个流程主要是做什么的？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Why</a:t>
            </a:r>
            <a:r>
              <a:rPr lang="zh-CN" altLang="en-US" dirty="0"/>
              <a:t>：为什么要设计这个</a:t>
            </a:r>
            <a:r>
              <a:rPr lang="zh-CN" altLang="en-US" dirty="0" smtClean="0"/>
              <a:t>流程</a:t>
            </a:r>
            <a:r>
              <a:rPr lang="en-US" altLang="zh-CN" dirty="0" smtClean="0"/>
              <a:t>-</a:t>
            </a:r>
            <a:r>
              <a:rPr lang="zh-CN" altLang="en-US" dirty="0" smtClean="0"/>
              <a:t>业务价值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What</a:t>
            </a:r>
            <a:r>
              <a:rPr lang="zh-CN" altLang="en-US" dirty="0" smtClean="0"/>
              <a:t>：需要各位做什么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How</a:t>
            </a:r>
            <a:r>
              <a:rPr lang="zh-CN" altLang="en-US" dirty="0" smtClean="0"/>
              <a:t>：具体怎么做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M11.x </a:t>
            </a:r>
            <a:r>
              <a:rPr lang="zh-CN" altLang="en-US" dirty="0" smtClean="0"/>
              <a:t>这个流程主要是做什么的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0327" y="1380870"/>
            <a:ext cx="59291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zh-CN" altLang="en-US" dirty="0"/>
              <a:t>谈判并签订合同流程是一个复杂而细致的过程，其中包括：</a:t>
            </a:r>
            <a:r>
              <a:rPr lang="zh-CN" altLang="en-US" b="1" dirty="0"/>
              <a:t>非直签项目中标后与下级渠道确认合同条款及二次谈判，</a:t>
            </a:r>
            <a:r>
              <a:rPr lang="zh-CN" altLang="en-US" dirty="0"/>
              <a:t>促成一级渠道与下级渠道签订合同；</a:t>
            </a:r>
            <a:r>
              <a:rPr lang="zh-CN" altLang="en-US" b="1" dirty="0"/>
              <a:t>直签项目中标后与最终用户确认合同条款及二次谈判；赢单</a:t>
            </a:r>
            <a:r>
              <a:rPr lang="en-US" altLang="zh-CN" b="1" dirty="0"/>
              <a:t>/</a:t>
            </a:r>
            <a:r>
              <a:rPr lang="zh-CN" altLang="en-US" b="1" dirty="0"/>
              <a:t>丢单总结复盘分析</a:t>
            </a:r>
            <a:r>
              <a:rPr lang="zh-CN" altLang="en-US" dirty="0"/>
              <a:t>等关键过程，特别是在</a:t>
            </a:r>
            <a:r>
              <a:rPr lang="zh-CN" altLang="en-US" b="1" dirty="0"/>
              <a:t>立项的大项目</a:t>
            </a:r>
            <a:r>
              <a:rPr lang="zh-CN" altLang="en-US" dirty="0"/>
              <a:t>中，它要求我司业务人员具备高度的专业素养、良好的沟通谈判能力以及持续学习的态度。通过不断优化与合作，我司将与各级渠道合作伙伴建立稳定而长久的合作关系，共同实现商业目标。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17677" y="1384501"/>
            <a:ext cx="532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dxxx</a:t>
            </a:r>
            <a:endParaRPr lang="zh-CN" altLang="en-US" sz="1100" dirty="0"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7677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81" y="2370280"/>
            <a:ext cx="8781073" cy="39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3" y="274320"/>
            <a:ext cx="6548365" cy="495935"/>
          </a:xfrm>
        </p:spPr>
        <p:txBody>
          <a:bodyPr/>
          <a:lstStyle/>
          <a:p>
            <a:r>
              <a:rPr lang="en-US" altLang="zh-CN" dirty="0" smtClean="0"/>
              <a:t>WHY</a:t>
            </a:r>
            <a:r>
              <a:rPr lang="zh-CN" altLang="en-US" dirty="0" smtClean="0"/>
              <a:t>：为什么要设计这个流程？</a:t>
            </a:r>
            <a:r>
              <a:rPr lang="en-US" altLang="zh-CN" dirty="0" smtClean="0"/>
              <a:t>-</a:t>
            </a:r>
            <a:r>
              <a:rPr lang="zh-CN" altLang="en-US" dirty="0" smtClean="0"/>
              <a:t>业务价值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983711" y="1473181"/>
            <a:ext cx="111262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风险防控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过滤主体资质缺陷、信用风险，避免无效合同或履约纠纷。</a:t>
            </a:r>
          </a:p>
          <a:p>
            <a:pPr lvl="1"/>
            <a:r>
              <a:rPr lang="zh-CN" altLang="en-US" dirty="0"/>
              <a:t>通过法律审查和条款预设（如违约责任），降低争议损失。</a:t>
            </a:r>
          </a:p>
          <a:p>
            <a:r>
              <a:rPr lang="zh-CN" altLang="en-US" b="1" dirty="0"/>
              <a:t>效率提升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标准化流程减少沟通成本，避免重复协商，加速合作落地。</a:t>
            </a:r>
          </a:p>
          <a:p>
            <a:pPr lvl="1"/>
            <a:r>
              <a:rPr lang="zh-CN" altLang="en-US" dirty="0"/>
              <a:t>明确履约责任与流程，减少执行中的推诿与无序。</a:t>
            </a:r>
          </a:p>
          <a:p>
            <a:r>
              <a:rPr lang="zh-CN" altLang="en-US" b="1" dirty="0"/>
              <a:t>权益保障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条款细节量化（如交付时间、质量标准），避免模糊约定导致的权益争议。</a:t>
            </a:r>
          </a:p>
          <a:p>
            <a:pPr lvl="1"/>
            <a:r>
              <a:rPr lang="zh-CN" altLang="en-US" dirty="0"/>
              <a:t>法律文件固化合作共识，为争议解决提供明确依据。</a:t>
            </a:r>
          </a:p>
          <a:p>
            <a:r>
              <a:rPr lang="zh-CN" altLang="en-US" b="1" dirty="0"/>
              <a:t>合规管理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确保合同符合法律法规及行业规范，避免行政处罚或合规风险。</a:t>
            </a:r>
          </a:p>
          <a:p>
            <a:pPr lvl="1"/>
            <a:r>
              <a:rPr lang="zh-CN" altLang="en-US" dirty="0"/>
              <a:t>留痕管理（如谈判记录、签约文件）满足监管要求。</a:t>
            </a:r>
          </a:p>
          <a:p>
            <a:r>
              <a:rPr lang="zh-CN" altLang="en-US" b="1" dirty="0"/>
              <a:t>商业关系维护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公平协商机制增强双方信任，降低合作对抗性。</a:t>
            </a:r>
          </a:p>
          <a:p>
            <a:pPr lvl="1"/>
            <a:r>
              <a:rPr lang="zh-CN" altLang="en-US" dirty="0"/>
              <a:t>规范流程为长期合作奠定基础，提升商业关系稳定性。</a:t>
            </a:r>
          </a:p>
        </p:txBody>
      </p:sp>
    </p:spTree>
    <p:extLst>
      <p:ext uri="{BB962C8B-B14F-4D97-AF65-F5344CB8AC3E}">
        <p14:creationId xmlns:p14="http://schemas.microsoft.com/office/powerpoint/2010/main" val="134376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68174"/>
            <a:ext cx="9729946" cy="495935"/>
          </a:xfrm>
        </p:spPr>
        <p:txBody>
          <a:bodyPr/>
          <a:lstStyle/>
          <a:p>
            <a:r>
              <a:rPr lang="en-US" altLang="zh-CN" sz="2000" dirty="0" smtClean="0"/>
              <a:t>WHAT:</a:t>
            </a:r>
            <a:r>
              <a:rPr lang="zh-CN" altLang="en-US" sz="2000" dirty="0"/>
              <a:t>需要各位做什么</a:t>
            </a:r>
          </a:p>
        </p:txBody>
      </p:sp>
    </p:spTree>
    <p:extLst>
      <p:ext uri="{BB962C8B-B14F-4D97-AF65-F5344CB8AC3E}">
        <p14:creationId xmlns:p14="http://schemas.microsoft.com/office/powerpoint/2010/main" val="263542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26818" y="3330246"/>
            <a:ext cx="10750782" cy="3433019"/>
          </a:xfrm>
          <a:prstGeom prst="roundRect">
            <a:avLst>
              <a:gd name="adj" fmla="val 5792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R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26818" y="897652"/>
            <a:ext cx="10750782" cy="2415357"/>
          </a:xfrm>
          <a:prstGeom prst="roundRect">
            <a:avLst>
              <a:gd name="adj" fmla="val 57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动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 smtClean="0"/>
              <a:t>：怎么做</a:t>
            </a:r>
            <a:endParaRPr lang="zh-CN" altLang="en-US" dirty="0"/>
          </a:p>
        </p:txBody>
      </p:sp>
      <p:sp>
        <p:nvSpPr>
          <p:cNvPr id="5" name="燕尾形 4"/>
          <p:cNvSpPr/>
          <p:nvPr/>
        </p:nvSpPr>
        <p:spPr>
          <a:xfrm>
            <a:off x="1364237" y="1012126"/>
            <a:ext cx="3697180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</a:rPr>
              <a:t>、使用活动系统的二维码签到和问卷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21447"/>
          <a:stretch/>
        </p:blipFill>
        <p:spPr>
          <a:xfrm>
            <a:off x="5842104" y="1599988"/>
            <a:ext cx="5097744" cy="1621007"/>
          </a:xfrm>
          <a:prstGeom prst="rect">
            <a:avLst/>
          </a:prstGeom>
        </p:spPr>
      </p:pic>
      <p:sp>
        <p:nvSpPr>
          <p:cNvPr id="7" name="燕尾形 6"/>
          <p:cNvSpPr/>
          <p:nvPr/>
        </p:nvSpPr>
        <p:spPr>
          <a:xfrm>
            <a:off x="5842104" y="101212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2</a:t>
            </a:r>
            <a:r>
              <a:rPr lang="zh-CN" altLang="en-US" sz="1400" dirty="0" smtClean="0">
                <a:solidFill>
                  <a:schemeClr val="bg1"/>
                </a:solidFill>
              </a:rPr>
              <a:t>、活动系统参会客户页面，点击“创建</a:t>
            </a:r>
            <a:r>
              <a:rPr lang="en-US" altLang="zh-CN" sz="1400" dirty="0" err="1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67" y="3853332"/>
            <a:ext cx="3341793" cy="283579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364236" y="1599988"/>
            <a:ext cx="3697182" cy="1658077"/>
            <a:chOff x="458074" y="1591750"/>
            <a:chExt cx="3697182" cy="165807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/>
            <a:srcRect b="72512"/>
            <a:stretch/>
          </p:blipFill>
          <p:spPr>
            <a:xfrm>
              <a:off x="458075" y="1591750"/>
              <a:ext cx="3697181" cy="69013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t="61447"/>
            <a:stretch/>
          </p:blipFill>
          <p:spPr>
            <a:xfrm>
              <a:off x="458074" y="2281881"/>
              <a:ext cx="3697181" cy="967946"/>
            </a:xfrm>
            <a:prstGeom prst="rect">
              <a:avLst/>
            </a:prstGeom>
          </p:spPr>
        </p:pic>
      </p:grpSp>
      <p:sp>
        <p:nvSpPr>
          <p:cNvPr id="11" name="燕尾形 10"/>
          <p:cNvSpPr/>
          <p:nvPr/>
        </p:nvSpPr>
        <p:spPr>
          <a:xfrm>
            <a:off x="1364236" y="3373106"/>
            <a:ext cx="4015072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</a:rPr>
              <a:t>、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客户页面添加</a:t>
            </a:r>
            <a:r>
              <a:rPr lang="zh-CN" altLang="en-US" sz="1400" b="1" dirty="0" smtClean="0">
                <a:solidFill>
                  <a:srgbClr val="FFC000"/>
                </a:solidFill>
              </a:rPr>
              <a:t>回访</a:t>
            </a:r>
            <a:r>
              <a:rPr lang="zh-CN" altLang="en-US" sz="1400" dirty="0" smtClean="0">
                <a:solidFill>
                  <a:schemeClr val="bg1"/>
                </a:solidFill>
              </a:rPr>
              <a:t>的沟通记录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5842104" y="337310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</a:rPr>
              <a:t>、发现新线索，在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上创建线索并</a:t>
            </a:r>
            <a:r>
              <a:rPr lang="zh-CN" altLang="en-US" sz="1400" b="1" dirty="0" smtClean="0">
                <a:solidFill>
                  <a:srgbClr val="FFC000"/>
                </a:solidFill>
              </a:rPr>
              <a:t>关联</a:t>
            </a:r>
            <a:r>
              <a:rPr lang="zh-CN" altLang="en-US" sz="1400" dirty="0" smtClean="0">
                <a:solidFill>
                  <a:schemeClr val="bg1"/>
                </a:solidFill>
              </a:rPr>
              <a:t>“营销活动”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3745919" y="3801184"/>
            <a:ext cx="1864787" cy="8649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r>
              <a:rPr lang="zh-CN" altLang="en-US" sz="1400" dirty="0" smtClean="0"/>
              <a:t>周内回访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2231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432</Words>
  <Application>Microsoft Office PowerPoint</Application>
  <PresentationFormat>宽屏</PresentationFormat>
  <Paragraphs>46</Paragraphs>
  <Slides>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170</cp:revision>
  <dcterms:created xsi:type="dcterms:W3CDTF">2023-01-31T08:37:00Z</dcterms:created>
  <dcterms:modified xsi:type="dcterms:W3CDTF">2025-04-23T02:33:32Z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