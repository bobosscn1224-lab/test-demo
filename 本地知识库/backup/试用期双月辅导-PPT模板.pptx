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9" r:id="rId2"/>
    <p:sldId id="257" r:id="rId3"/>
    <p:sldId id="288" r:id="rId4"/>
    <p:sldId id="294" r:id="rId5"/>
    <p:sldId id="289" r:id="rId6"/>
    <p:sldId id="307" r:id="rId7"/>
    <p:sldId id="292" r:id="rId8"/>
    <p:sldId id="311" r:id="rId9"/>
    <p:sldId id="264" r:id="rId10"/>
  </p:sldIdLst>
  <p:sldSz cx="9144000" cy="6858000" type="screen4x3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33"/>
    <a:srgbClr val="910015"/>
    <a:srgbClr val="27C39E"/>
    <a:srgbClr val="2CD4AC"/>
    <a:srgbClr val="2CDCAC"/>
    <a:srgbClr val="27BF9B"/>
    <a:srgbClr val="00FFCC"/>
    <a:srgbClr val="996600"/>
    <a:srgbClr val="D09C0A"/>
    <a:srgbClr val="A07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1" autoAdjust="0"/>
    <p:restoredTop sz="83356" autoAdjust="0"/>
  </p:normalViewPr>
  <p:slideViewPr>
    <p:cSldViewPr showGuides="1">
      <p:cViewPr varScale="1">
        <p:scale>
          <a:sx n="97" d="100"/>
          <a:sy n="97" d="100"/>
        </p:scale>
        <p:origin x="181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BC01C-0604-4629-ACC8-3F5670522AC3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842B2D-961B-4F11-9D4F-F4B940EBF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8774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05765E-E08B-4CCB-AE85-B4DEE85320BC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44498C-04FC-4C57-9267-2C30343E44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983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1—3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页为封面页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请根据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内容风格自行选择一个使用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766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页为目录页，请根据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内容填写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8537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描述所在岗位的职责要求，个人对于该岗位的认知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9761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、对试用期的目标达成情况进行量化描述，如无法量化，需写明工作结果及里程碑的差距。</a:t>
            </a:r>
            <a:endParaRPr lang="en-US" altLang="zh-CN" sz="12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1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、说明工作中遇到的具体问题，解决方案、实施步骤及结果。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595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工作亮点为工作中表现的闪光点，可给别人提供正向参考价值，可沉淀经验</a:t>
            </a:r>
            <a:endParaRPr lang="en-US" altLang="zh-CN" dirty="0"/>
          </a:p>
          <a:p>
            <a:r>
              <a:rPr lang="zh-CN" altLang="en-US" dirty="0"/>
              <a:t>工作机会点为工作中可改善的，或可大力发展的方面。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5374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</a:t>
            </a:r>
            <a:r>
              <a:rPr lang="zh-CN" altLang="en-US" dirty="0"/>
              <a:t>、针对自己下一步工作目标，结合当前市场情况，描述具体的行动计划。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</a:t>
            </a:r>
            <a:r>
              <a:rPr lang="zh-CN" altLang="en-US" dirty="0"/>
              <a:t>、量化说明具体的目标，具体说明业务、动作。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8246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</a:t>
            </a:r>
            <a:r>
              <a:rPr lang="zh-CN" altLang="en-US" dirty="0"/>
              <a:t>、针对自己下一步工作目标，结合当前市场情况，描述具体的行动计划。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</a:t>
            </a:r>
            <a:r>
              <a:rPr lang="zh-CN" altLang="en-US" dirty="0"/>
              <a:t>、量化说明具体的目标，具体说明业务、动作。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3169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24—26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页为封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底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页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请根据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内容风格自行选择一个使用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147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916832"/>
            <a:ext cx="7772400" cy="1010543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3568" y="2924944"/>
            <a:ext cx="6400800" cy="55091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2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683569" y="4077072"/>
            <a:ext cx="3312368" cy="28803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作者：代用名  </a:t>
            </a:r>
            <a:endParaRPr lang="en-US" altLang="zh-CN" dirty="0"/>
          </a:p>
        </p:txBody>
      </p:sp>
      <p:sp>
        <p:nvSpPr>
          <p:cNvPr id="13" name="文本占位符 2"/>
          <p:cNvSpPr>
            <a:spLocks noGrp="1"/>
          </p:cNvSpPr>
          <p:nvPr>
            <p:ph type="body" idx="14" hasCustomPrompt="1"/>
          </p:nvPr>
        </p:nvSpPr>
        <p:spPr>
          <a:xfrm>
            <a:off x="683568" y="4365104"/>
            <a:ext cx="3312368" cy="288031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日期：</a:t>
            </a:r>
            <a:r>
              <a:rPr lang="en-US" altLang="zh-CN" dirty="0"/>
              <a:t>xx/xx/xx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页脚占位符 3"/>
          <p:cNvSpPr>
            <a:spLocks noChangeArrowheads="1"/>
          </p:cNvSpPr>
          <p:nvPr userDrawn="1"/>
        </p:nvSpPr>
        <p:spPr bwMode="auto">
          <a:xfrm>
            <a:off x="731357" y="6309321"/>
            <a:ext cx="1656184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i="1" dirty="0">
                <a:solidFill>
                  <a:srgbClr val="000000"/>
                </a:solidFill>
                <a:ea typeface="微软雅黑" panose="020B0503020204020204" pitchFamily="34" charset="-122"/>
                <a:sym typeface="宋体" panose="02010600030101010101" pitchFamily="2" charset="-122"/>
              </a:rPr>
              <a:t>|  </a:t>
            </a:r>
            <a:r>
              <a:rPr lang="en-US" altLang="zh-CN" sz="1200" b="0" i="1" dirty="0" err="1">
                <a:solidFill>
                  <a:srgbClr val="000000"/>
                </a:solidFill>
                <a:ea typeface="微软雅黑" panose="020B0503020204020204" pitchFamily="34" charset="-122"/>
                <a:sym typeface="宋体" panose="02010600030101010101" pitchFamily="2" charset="-122"/>
              </a:rPr>
              <a:t>www.ruijie.com.cn</a:t>
            </a:r>
            <a:endParaRPr lang="en-US" altLang="zh-CN" sz="1200" b="0" i="1" dirty="0">
              <a:solidFill>
                <a:srgbClr val="000000"/>
              </a:solidFill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238760" y="6356350"/>
            <a:ext cx="537845" cy="241300"/>
          </a:xfrm>
        </p:spPr>
        <p:txBody>
          <a:bodyPr/>
          <a:lstStyle>
            <a:lvl1pPr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C1B161-4EA0-4354-A154-2430C001F00B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5" name="图片 4" descr="场景无限 智享物联 锐捷网络移动医疗解决方案2018-0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8638" y="6289462"/>
            <a:ext cx="1798320" cy="3079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页脚占位符 3"/>
          <p:cNvSpPr>
            <a:spLocks noChangeArrowheads="1"/>
          </p:cNvSpPr>
          <p:nvPr userDrawn="1"/>
        </p:nvSpPr>
        <p:spPr bwMode="auto">
          <a:xfrm>
            <a:off x="731357" y="6309321"/>
            <a:ext cx="1656184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i="1" dirty="0">
                <a:solidFill>
                  <a:srgbClr val="000000"/>
                </a:solidFill>
                <a:ea typeface="微软雅黑" panose="020B0503020204020204" pitchFamily="34" charset="-122"/>
                <a:sym typeface="宋体" panose="02010600030101010101" pitchFamily="2" charset="-122"/>
              </a:rPr>
              <a:t>|  </a:t>
            </a:r>
            <a:r>
              <a:rPr lang="en-US" altLang="zh-CN" sz="1200" b="0" i="1" dirty="0" err="1">
                <a:solidFill>
                  <a:srgbClr val="000000"/>
                </a:solidFill>
                <a:ea typeface="微软雅黑" panose="020B0503020204020204" pitchFamily="34" charset="-122"/>
                <a:sym typeface="宋体" panose="02010600030101010101" pitchFamily="2" charset="-122"/>
              </a:rPr>
              <a:t>www.ruijie.com.cn</a:t>
            </a:r>
            <a:endParaRPr lang="en-US" altLang="zh-CN" sz="1200" b="0" i="1" dirty="0">
              <a:solidFill>
                <a:srgbClr val="000000"/>
              </a:solidFill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238760" y="6356350"/>
            <a:ext cx="537845" cy="241300"/>
          </a:xfrm>
        </p:spPr>
        <p:txBody>
          <a:bodyPr/>
          <a:lstStyle>
            <a:lvl1pPr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C1B161-4EA0-4354-A154-2430C001F00B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5" name="图片 4" descr="场景无限 智享物联 锐捷网络移动医疗解决方案2018-0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888638" y="6289462"/>
            <a:ext cx="1798320" cy="3079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Troub\Desktop\2a.jpg2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7" y="0"/>
            <a:ext cx="9144635" cy="6858000"/>
          </a:xfrm>
          <a:prstGeom prst="rect">
            <a:avLst/>
          </a:prstGeom>
          <a:noFill/>
        </p:spPr>
      </p:pic>
      <p:pic>
        <p:nvPicPr>
          <p:cNvPr id="2" name="图片 1" descr="场景无限 智享物联 锐捷网络移动医疗解决方案2018-0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698" y="476672"/>
            <a:ext cx="1798320" cy="307975"/>
          </a:xfrm>
          <a:prstGeom prst="rect">
            <a:avLst/>
          </a:prstGeom>
        </p:spPr>
      </p:pic>
      <p:sp>
        <p:nvSpPr>
          <p:cNvPr id="8" name="任意多边形 7"/>
          <p:cNvSpPr/>
          <p:nvPr/>
        </p:nvSpPr>
        <p:spPr>
          <a:xfrm>
            <a:off x="687070" y="-39370"/>
            <a:ext cx="1511935" cy="1340485"/>
          </a:xfrm>
          <a:custGeom>
            <a:avLst/>
            <a:gdLst>
              <a:gd name="connsiteX0" fmla="*/ 0 w 2381"/>
              <a:gd name="connsiteY0" fmla="*/ 0 h 2111"/>
              <a:gd name="connsiteX1" fmla="*/ 2381 w 2381"/>
              <a:gd name="connsiteY1" fmla="*/ 0 h 2111"/>
              <a:gd name="connsiteX2" fmla="*/ 2378 w 2381"/>
              <a:gd name="connsiteY2" fmla="*/ 1687 h 2111"/>
              <a:gd name="connsiteX3" fmla="*/ 0 w 2381"/>
              <a:gd name="connsiteY3" fmla="*/ 2111 h 2111"/>
              <a:gd name="connsiteX4" fmla="*/ 0 w 2381"/>
              <a:gd name="connsiteY4" fmla="*/ 0 h 2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1" h="2111">
                <a:moveTo>
                  <a:pt x="0" y="0"/>
                </a:moveTo>
                <a:lnTo>
                  <a:pt x="2381" y="0"/>
                </a:lnTo>
                <a:lnTo>
                  <a:pt x="2378" y="1687"/>
                </a:lnTo>
                <a:lnTo>
                  <a:pt x="0" y="211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5004F"/>
              </a:gs>
              <a:gs pos="100000">
                <a:srgbClr val="E6001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85318" y="302352"/>
            <a:ext cx="1515437" cy="6754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>
              <a:lnSpc>
                <a:spcPts val="2000"/>
              </a:lnSpc>
            </a:pPr>
            <a:r>
              <a:rPr lang="zh-CN" altLang="en-US" sz="1400" dirty="0">
                <a:solidFill>
                  <a:schemeClr val="bg1"/>
                </a:solidFill>
              </a:rPr>
              <a:t>与场景亲密接触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>
              <a:lnSpc>
                <a:spcPts val="2000"/>
              </a:lnSpc>
            </a:pPr>
            <a:r>
              <a:rPr lang="zh-CN" altLang="en-US" sz="1400" dirty="0">
                <a:solidFill>
                  <a:schemeClr val="bg1"/>
                </a:solidFill>
              </a:rPr>
              <a:t>做方案创新专家</a:t>
            </a:r>
          </a:p>
        </p:txBody>
      </p:sp>
      <p:sp>
        <p:nvSpPr>
          <p:cNvPr id="11" name="标题 19"/>
          <p:cNvSpPr>
            <a:spLocks noGrp="1"/>
          </p:cNvSpPr>
          <p:nvPr>
            <p:ph type="ctrTitle"/>
          </p:nvPr>
        </p:nvSpPr>
        <p:spPr>
          <a:xfrm>
            <a:off x="685800" y="1916832"/>
            <a:ext cx="7772400" cy="1010543"/>
          </a:xfrm>
        </p:spPr>
        <p:txBody>
          <a:bodyPr/>
          <a:lstStyle/>
          <a:p>
            <a:r>
              <a:rPr lang="zh-CN" altLang="en-US" dirty="0">
                <a:cs typeface="+mn-ea"/>
              </a:rPr>
              <a:t>试用期中期答辩</a:t>
            </a:r>
          </a:p>
        </p:txBody>
      </p:sp>
      <p:sp>
        <p:nvSpPr>
          <p:cNvPr id="12" name="副标题 20"/>
          <p:cNvSpPr>
            <a:spLocks noGrp="1"/>
          </p:cNvSpPr>
          <p:nvPr>
            <p:ph type="subTitle" idx="1"/>
          </p:nvPr>
        </p:nvSpPr>
        <p:spPr>
          <a:xfrm>
            <a:off x="683568" y="2924944"/>
            <a:ext cx="6400800" cy="550912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cs typeface="+mn-ea"/>
              </a:rPr>
              <a:t>流程管理</a:t>
            </a:r>
            <a:endParaRPr lang="en-US" altLang="zh-CN" dirty="0">
              <a:cs typeface="+mn-ea"/>
            </a:endParaRPr>
          </a:p>
        </p:txBody>
      </p:sp>
      <p:sp>
        <p:nvSpPr>
          <p:cNvPr id="13" name="文本占位符 21"/>
          <p:cNvSpPr>
            <a:spLocks noGrp="1"/>
          </p:cNvSpPr>
          <p:nvPr>
            <p:ph type="body" idx="13"/>
          </p:nvPr>
        </p:nvSpPr>
        <p:spPr>
          <a:xfrm>
            <a:off x="683569" y="4077072"/>
            <a:ext cx="3312368" cy="288032"/>
          </a:xfrm>
        </p:spPr>
        <p:txBody>
          <a:bodyPr/>
          <a:lstStyle/>
          <a:p>
            <a:r>
              <a:rPr lang="zh-CN" altLang="en-US" dirty="0">
                <a:cs typeface="+mn-ea"/>
              </a:rPr>
              <a:t>姓名</a:t>
            </a:r>
            <a:r>
              <a:rPr lang="zh-CN" altLang="en-US" dirty="0" smtClean="0">
                <a:cs typeface="+mn-ea"/>
              </a:rPr>
              <a:t>：</a:t>
            </a:r>
            <a:r>
              <a:rPr lang="zh-CN" altLang="en-US" dirty="0">
                <a:cs typeface="+mn-ea"/>
              </a:rPr>
              <a:t>赵波</a:t>
            </a:r>
          </a:p>
        </p:txBody>
      </p:sp>
      <p:sp>
        <p:nvSpPr>
          <p:cNvPr id="14" name="文本占位符 22"/>
          <p:cNvSpPr>
            <a:spLocks noGrp="1"/>
          </p:cNvSpPr>
          <p:nvPr>
            <p:ph type="body" idx="14"/>
          </p:nvPr>
        </p:nvSpPr>
        <p:spPr>
          <a:xfrm>
            <a:off x="683568" y="4365104"/>
            <a:ext cx="3312368" cy="288031"/>
          </a:xfrm>
        </p:spPr>
        <p:txBody>
          <a:bodyPr/>
          <a:lstStyle/>
          <a:p>
            <a:r>
              <a:rPr lang="zh-CN" altLang="en-US" dirty="0">
                <a:cs typeface="+mn-ea"/>
              </a:rPr>
              <a:t>日期</a:t>
            </a:r>
            <a:r>
              <a:rPr lang="zh-CN" altLang="en-US" dirty="0" smtClean="0">
                <a:cs typeface="+mn-ea"/>
              </a:rPr>
              <a:t>：</a:t>
            </a:r>
            <a:r>
              <a:rPr lang="en-US" altLang="zh-CN" dirty="0" smtClean="0">
                <a:cs typeface="+mn-ea"/>
              </a:rPr>
              <a:t>2005-4-7</a:t>
            </a:r>
            <a:endParaRPr lang="zh-CN" altLang="en-US" dirty="0">
              <a:cs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67544" y="404664"/>
            <a:ext cx="3312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E60039"/>
                </a:solidFill>
                <a:ea typeface="微软雅黑" panose="020B0503020204020204" pitchFamily="34" charset="-122"/>
                <a:cs typeface="+mn-ea"/>
              </a:rPr>
              <a:t>Contents</a:t>
            </a:r>
            <a:r>
              <a:rPr lang="en-US" altLang="zh-CN" sz="28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</a:rPr>
              <a:t> </a:t>
            </a:r>
            <a:r>
              <a:rPr lang="zh-CN" altLang="en-US" sz="3200" b="1" dirty="0">
                <a:solidFill>
                  <a:srgbClr val="E60039"/>
                </a:solidFill>
                <a:ea typeface="微软雅黑" panose="020B0503020204020204" pitchFamily="34" charset="-122"/>
                <a:cs typeface="+mn-ea"/>
              </a:rPr>
              <a:t>目录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404664"/>
            <a:ext cx="467544" cy="504056"/>
          </a:xfrm>
          <a:prstGeom prst="rect">
            <a:avLst/>
          </a:prstGeom>
          <a:solidFill>
            <a:srgbClr val="E60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2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文本占位符 43"/>
          <p:cNvSpPr txBox="1"/>
          <p:nvPr/>
        </p:nvSpPr>
        <p:spPr>
          <a:xfrm>
            <a:off x="611561" y="1268760"/>
            <a:ext cx="7860356" cy="4248472"/>
          </a:xfrm>
          <a:prstGeom prst="rect">
            <a:avLst/>
          </a:prstGeom>
        </p:spPr>
        <p:txBody>
          <a:bodyPr>
            <a:normAutofit fontScale="80000" lnSpcReduction="20000"/>
          </a:bodyPr>
          <a:lstStyle>
            <a:lvl1pPr marL="457200" indent="-4572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300"/>
              </a:spcAft>
              <a:buFont typeface="+mj-lt"/>
              <a:buAutoNum type="arabicPeriod"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自我介绍</a:t>
            </a:r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  <a:p>
            <a:r>
              <a:rPr lang="zh-CN" altLang="zh-CN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岗位职责及</a:t>
            </a:r>
            <a:r>
              <a:rPr lang="zh-CN" altLang="en-US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岗位认知</a:t>
            </a:r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  <a:p>
            <a:r>
              <a:rPr lang="zh-CN" altLang="en-US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双月目标及关键达成</a:t>
            </a:r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  <a:p>
            <a:r>
              <a:rPr lang="zh-CN" altLang="en-US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工作中的亮点和机会点</a:t>
            </a:r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  <a:p>
            <a:r>
              <a:rPr lang="zh-CN" altLang="zh-CN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下一阶段工作规划</a:t>
            </a:r>
          </a:p>
          <a:p>
            <a:r>
              <a:rPr lang="zh-CN" altLang="zh-CN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当前的困惑</a:t>
            </a:r>
            <a:r>
              <a:rPr lang="en-US" altLang="zh-CN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&amp;</a:t>
            </a:r>
            <a:r>
              <a:rPr lang="zh-CN" altLang="zh-CN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建议</a:t>
            </a:r>
          </a:p>
          <a:p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  <a:p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  <a:cs typeface="+mn-ea"/>
              </a:rPr>
              <a:t>1</a:t>
            </a:r>
            <a:r>
              <a:rPr lang="zh-CN" altLang="en-US" dirty="0">
                <a:solidFill>
                  <a:srgbClr val="FF0000"/>
                </a:solidFill>
                <a:cs typeface="+mn-ea"/>
              </a:rPr>
              <a:t>、自我介绍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3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ext Box 49"/>
          <p:cNvSpPr txBox="1">
            <a:spLocks noChangeArrowheads="1"/>
          </p:cNvSpPr>
          <p:nvPr/>
        </p:nvSpPr>
        <p:spPr bwMode="auto">
          <a:xfrm>
            <a:off x="238760" y="3482979"/>
            <a:ext cx="8124156" cy="214737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78355" tIns="39177" rIns="78355" bIns="39177">
            <a:spAutoFit/>
          </a:bodyPr>
          <a:lstStyle/>
          <a:p>
            <a:pPr eaLnBrk="1" hangingPunct="1">
              <a:lnSpc>
                <a:spcPct val="140000"/>
              </a:lnSpc>
            </a:pPr>
            <a:r>
              <a:rPr lang="zh-CN" altLang="en-US" sz="1600" b="1" dirty="0">
                <a:ea typeface="微软雅黑" panose="020B0503020204020204" pitchFamily="34" charset="-122"/>
                <a:cs typeface="+mn-ea"/>
              </a:rPr>
              <a:t>进锐捷前工作经历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：</a:t>
            </a:r>
            <a:endParaRPr lang="en-US" altLang="zh-CN" sz="1600" b="1" dirty="0" smtClean="0"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40000"/>
              </a:lnSpc>
            </a:pPr>
            <a:endParaRPr lang="en-US" altLang="zh-CN" sz="1600" b="1" dirty="0" smtClean="0">
              <a:ea typeface="微软雅黑" panose="020B0503020204020204" pitchFamily="34" charset="-122"/>
              <a:cs typeface="+mn-ea"/>
            </a:endParaRPr>
          </a:p>
          <a:p>
            <a:pPr marL="285750" indent="-28575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ea typeface="微软雅黑" panose="020B0503020204020204" pitchFamily="34" charset="-122"/>
                <a:cs typeface="+mn-ea"/>
              </a:rPr>
              <a:t>浪潮软件，软件开发工程师</a:t>
            </a:r>
            <a:r>
              <a:rPr lang="en-US" altLang="zh-CN" sz="1600" dirty="0" smtClean="0">
                <a:ea typeface="微软雅黑" panose="020B0503020204020204" pitchFamily="34" charset="-122"/>
                <a:cs typeface="+mn-ea"/>
              </a:rPr>
              <a:t>/</a:t>
            </a:r>
            <a:r>
              <a:rPr lang="zh-CN" altLang="en-US" sz="1600" dirty="0" smtClean="0">
                <a:ea typeface="微软雅黑" panose="020B0503020204020204" pitchFamily="34" charset="-122"/>
                <a:cs typeface="+mn-ea"/>
              </a:rPr>
              <a:t>售前工程师，主要方向：电子政务，网上审批系统</a:t>
            </a:r>
            <a:endParaRPr lang="en-US" altLang="zh-CN" sz="1600" dirty="0" smtClean="0">
              <a:ea typeface="微软雅黑" panose="020B0503020204020204" pitchFamily="34" charset="-122"/>
              <a:cs typeface="+mn-ea"/>
            </a:endParaRPr>
          </a:p>
          <a:p>
            <a:pPr marL="285750" indent="-28575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ea typeface="微软雅黑" panose="020B0503020204020204" pitchFamily="34" charset="-122"/>
                <a:cs typeface="+mn-ea"/>
              </a:rPr>
              <a:t>中国惠普有限公司，</a:t>
            </a:r>
            <a:r>
              <a:rPr lang="en-US" altLang="zh-CN" sz="1600" dirty="0" smtClean="0">
                <a:ea typeface="微软雅黑" panose="020B0503020204020204" pitchFamily="34" charset="-122"/>
                <a:cs typeface="+mn-ea"/>
              </a:rPr>
              <a:t>IT operation manager</a:t>
            </a:r>
            <a:r>
              <a:rPr lang="zh-CN" altLang="en-US" sz="1600" dirty="0" smtClean="0">
                <a:ea typeface="微软雅黑" panose="020B0503020204020204" pitchFamily="34" charset="-122"/>
                <a:cs typeface="+mn-ea"/>
              </a:rPr>
              <a:t>，主要方向：渠道</a:t>
            </a:r>
            <a:r>
              <a:rPr lang="en-US" altLang="zh-CN" sz="1600" dirty="0" smtClean="0">
                <a:ea typeface="微软雅黑" panose="020B0503020204020204" pitchFamily="34" charset="-122"/>
                <a:cs typeface="+mn-ea"/>
              </a:rPr>
              <a:t>IT</a:t>
            </a:r>
            <a:r>
              <a:rPr lang="zh-CN" altLang="en-US" sz="1600" dirty="0" smtClean="0">
                <a:ea typeface="微软雅黑" panose="020B0503020204020204" pitchFamily="34" charset="-122"/>
                <a:cs typeface="+mn-ea"/>
              </a:rPr>
              <a:t>系统运维与建设</a:t>
            </a:r>
            <a:endParaRPr lang="en-US" altLang="zh-CN" sz="1600" dirty="0" smtClean="0">
              <a:ea typeface="微软雅黑" panose="020B0503020204020204" pitchFamily="34" charset="-122"/>
              <a:cs typeface="+mn-ea"/>
            </a:endParaRPr>
          </a:p>
          <a:p>
            <a:pPr marL="285750" indent="-28575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ea typeface="微软雅黑" panose="020B0503020204020204" pitchFamily="34" charset="-122"/>
                <a:cs typeface="+mn-ea"/>
              </a:rPr>
              <a:t>思</a:t>
            </a:r>
            <a:r>
              <a:rPr lang="zh-CN" altLang="en-US" sz="1600" dirty="0" smtClean="0">
                <a:ea typeface="微软雅黑" panose="020B0503020204020204" pitchFamily="34" charset="-122"/>
                <a:cs typeface="+mn-ea"/>
              </a:rPr>
              <a:t>科中国有限公司，</a:t>
            </a:r>
            <a:r>
              <a:rPr lang="en-US" altLang="zh-CN" sz="1600" dirty="0" smtClean="0">
                <a:ea typeface="微软雅黑" panose="020B0503020204020204" pitchFamily="34" charset="-122"/>
                <a:cs typeface="+mn-ea"/>
              </a:rPr>
              <a:t>APAC Channel operation</a:t>
            </a:r>
            <a:r>
              <a:rPr lang="zh-CN" altLang="en-US" sz="1600" dirty="0" smtClean="0">
                <a:ea typeface="微软雅黑" panose="020B0503020204020204" pitchFamily="34" charset="-122"/>
                <a:cs typeface="+mn-ea"/>
              </a:rPr>
              <a:t>，主要方向：渠道运营管理及数字化</a:t>
            </a:r>
            <a:endParaRPr lang="en-US" altLang="zh-CN" sz="1600" dirty="0" smtClean="0">
              <a:ea typeface="微软雅黑" panose="020B0503020204020204" pitchFamily="34" charset="-122"/>
              <a:cs typeface="+mn-ea"/>
            </a:endParaRPr>
          </a:p>
          <a:p>
            <a:pPr marL="285750" indent="-28575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ea typeface="微软雅黑" panose="020B0503020204020204" pitchFamily="34" charset="-122"/>
                <a:cs typeface="+mn-ea"/>
              </a:rPr>
              <a:t>联想（北京）有限公司，</a:t>
            </a:r>
            <a:r>
              <a:rPr lang="en-US" altLang="zh-CN" sz="1600" dirty="0" smtClean="0">
                <a:ea typeface="微软雅黑" panose="020B0503020204020204" pitchFamily="34" charset="-122"/>
                <a:cs typeface="+mn-ea"/>
              </a:rPr>
              <a:t>DT/IT</a:t>
            </a:r>
            <a:r>
              <a:rPr lang="zh-CN" altLang="en-US" sz="1600" dirty="0" smtClean="0">
                <a:ea typeface="微软雅黑" panose="020B0503020204020204" pitchFamily="34" charset="-122"/>
                <a:cs typeface="+mn-ea"/>
              </a:rPr>
              <a:t>，主要方向：业务流程管理，企业架构，数字化转型</a:t>
            </a:r>
            <a:endParaRPr lang="zh-CN" altLang="en-US" sz="1600" dirty="0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Text Box 49"/>
          <p:cNvSpPr txBox="1">
            <a:spLocks noChangeArrowheads="1"/>
          </p:cNvSpPr>
          <p:nvPr/>
        </p:nvSpPr>
        <p:spPr bwMode="auto">
          <a:xfrm>
            <a:off x="238760" y="1162320"/>
            <a:ext cx="8124156" cy="214737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78355" tIns="39177" rIns="78355" bIns="39177">
            <a:spAutoFit/>
          </a:bodyPr>
          <a:lstStyle/>
          <a:p>
            <a:pPr eaLnBrk="1" hangingPunct="1">
              <a:lnSpc>
                <a:spcPct val="140000"/>
              </a:lnSpc>
            </a:pPr>
            <a:r>
              <a:rPr lang="zh-CN" altLang="en-US" sz="1600" b="1" dirty="0">
                <a:ea typeface="微软雅黑" panose="020B0503020204020204" pitchFamily="34" charset="-122"/>
                <a:cs typeface="+mn-ea"/>
              </a:rPr>
              <a:t>个人基本信息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：</a:t>
            </a:r>
            <a:endParaRPr lang="en-US" altLang="zh-CN" sz="1600" b="1" dirty="0" smtClean="0"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40000"/>
              </a:lnSpc>
            </a:pPr>
            <a:endParaRPr lang="en-US" altLang="zh-CN" sz="1600" b="1" dirty="0" smtClean="0"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1600" dirty="0" smtClean="0">
                <a:ea typeface="微软雅黑" panose="020B0503020204020204" pitchFamily="34" charset="-122"/>
                <a:cs typeface="+mn-ea"/>
              </a:rPr>
              <a:t>本人赵波，祖籍湖北潜江人，今年</a:t>
            </a:r>
            <a:r>
              <a:rPr lang="en-US" altLang="zh-CN" sz="1600" dirty="0" smtClean="0">
                <a:ea typeface="微软雅黑" panose="020B0503020204020204" pitchFamily="34" charset="-122"/>
                <a:cs typeface="+mn-ea"/>
              </a:rPr>
              <a:t>46</a:t>
            </a:r>
            <a:r>
              <a:rPr lang="zh-CN" altLang="en-US" sz="1600" dirty="0" smtClean="0">
                <a:ea typeface="微软雅黑" panose="020B0503020204020204" pitchFamily="34" charset="-122"/>
                <a:cs typeface="+mn-ea"/>
              </a:rPr>
              <a:t>岁。</a:t>
            </a:r>
            <a:r>
              <a:rPr lang="en-US" altLang="zh-CN" sz="1600" dirty="0" smtClean="0">
                <a:ea typeface="微软雅黑" panose="020B0503020204020204" pitchFamily="34" charset="-122"/>
                <a:cs typeface="+mn-ea"/>
              </a:rPr>
              <a:t>2001</a:t>
            </a:r>
            <a:r>
              <a:rPr lang="zh-CN" altLang="en-US" sz="1600" dirty="0" smtClean="0">
                <a:ea typeface="微软雅黑" panose="020B0503020204020204" pitchFamily="34" charset="-122"/>
                <a:cs typeface="+mn-ea"/>
              </a:rPr>
              <a:t>年本科计算机科学与技术专业毕业后参加工作，后因个人发展规划攻读了北京理工大学工商管理硕士（</a:t>
            </a:r>
            <a:r>
              <a:rPr lang="en-US" altLang="zh-CN" sz="1600" dirty="0" smtClean="0">
                <a:ea typeface="微软雅黑" panose="020B0503020204020204" pitchFamily="34" charset="-122"/>
                <a:cs typeface="+mn-ea"/>
              </a:rPr>
              <a:t>MBA</a:t>
            </a:r>
            <a:r>
              <a:rPr lang="zh-CN" altLang="en-US" sz="1600" dirty="0" smtClean="0">
                <a:ea typeface="微软雅黑" panose="020B0503020204020204" pitchFamily="34" charset="-122"/>
                <a:cs typeface="+mn-ea"/>
              </a:rPr>
              <a:t>）；从业</a:t>
            </a:r>
            <a:r>
              <a:rPr lang="en-US" altLang="zh-CN" sz="1600" dirty="0" smtClean="0">
                <a:ea typeface="微软雅黑" panose="020B0503020204020204" pitchFamily="34" charset="-122"/>
                <a:cs typeface="+mn-ea"/>
              </a:rPr>
              <a:t>20</a:t>
            </a:r>
            <a:r>
              <a:rPr lang="zh-CN" altLang="en-US" sz="1600" dirty="0" smtClean="0">
                <a:ea typeface="微软雅黑" panose="020B0503020204020204" pitchFamily="34" charset="-122"/>
                <a:cs typeface="+mn-ea"/>
              </a:rPr>
              <a:t>多年，一直从事流程管理及</a:t>
            </a:r>
            <a:r>
              <a:rPr lang="en-US" altLang="zh-CN" sz="1600" dirty="0" smtClean="0">
                <a:ea typeface="微软雅黑" panose="020B0503020204020204" pitchFamily="34" charset="-122"/>
                <a:cs typeface="+mn-ea"/>
              </a:rPr>
              <a:t>IT</a:t>
            </a:r>
            <a:r>
              <a:rPr lang="zh-CN" altLang="en-US" sz="1600" dirty="0" smtClean="0">
                <a:ea typeface="微软雅黑" panose="020B0503020204020204" pitchFamily="34" charset="-122"/>
                <a:cs typeface="+mn-ea"/>
              </a:rPr>
              <a:t>数字化相关工作，具备丰富的工作经验与良好的绩效表现。</a:t>
            </a:r>
            <a:endParaRPr lang="en-US" altLang="zh-CN" sz="1600" dirty="0" smtClean="0"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40000"/>
              </a:lnSpc>
            </a:pPr>
            <a:endParaRPr lang="zh-CN" altLang="en-US" sz="1600" b="1" dirty="0">
              <a:solidFill>
                <a:srgbClr val="0000CC"/>
              </a:solidFill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FF0000"/>
                </a:solidFill>
                <a:cs typeface="+mn-ea"/>
              </a:rPr>
              <a:t>2</a:t>
            </a:r>
            <a:r>
              <a:rPr lang="zh-TW" altLang="en-US" dirty="0">
                <a:solidFill>
                  <a:srgbClr val="FF0000"/>
                </a:solidFill>
                <a:cs typeface="+mn-ea"/>
              </a:rPr>
              <a:t>、岗位职责及岗位认知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4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ext Box 49"/>
          <p:cNvSpPr txBox="1">
            <a:spLocks noChangeArrowheads="1"/>
          </p:cNvSpPr>
          <p:nvPr/>
        </p:nvSpPr>
        <p:spPr bwMode="auto">
          <a:xfrm>
            <a:off x="238760" y="1162320"/>
            <a:ext cx="8124156" cy="447416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78355" tIns="39177" rIns="78355" bIns="39177">
            <a:spAutoFit/>
          </a:bodyPr>
          <a:lstStyle/>
          <a:p>
            <a:pPr eaLnBrk="1" hangingPunct="1">
              <a:lnSpc>
                <a:spcPct val="140000"/>
              </a:lnSpc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流程管理专家：</a:t>
            </a:r>
            <a:endParaRPr lang="en-US" altLang="zh-CN" sz="1600" b="1" dirty="0" smtClean="0">
              <a:solidFill>
                <a:srgbClr val="0000CC"/>
              </a:solidFill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1600" b="1" dirty="0" smtClean="0">
                <a:solidFill>
                  <a:srgbClr val="0000CC"/>
                </a:solidFill>
                <a:ea typeface="微软雅黑" panose="020B0503020204020204" pitchFamily="34" charset="-122"/>
                <a:cs typeface="+mn-ea"/>
              </a:rPr>
              <a:t>岗位职责：</a:t>
            </a:r>
            <a:endParaRPr lang="en-US" altLang="zh-CN" sz="1600" b="1" dirty="0" smtClean="0">
              <a:solidFill>
                <a:srgbClr val="0000CC"/>
              </a:solidFill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40000"/>
              </a:lnSpc>
            </a:pPr>
            <a:r>
              <a:rPr lang="en-US" altLang="zh-CN" sz="1200" dirty="0" smtClean="0"/>
              <a:t>1</a:t>
            </a:r>
            <a:r>
              <a:rPr lang="zh-CN" altLang="en-US" sz="1200" dirty="0" smtClean="0"/>
              <a:t>）流程</a:t>
            </a:r>
            <a:r>
              <a:rPr lang="zh-CN" altLang="en-US" sz="1200" dirty="0"/>
              <a:t>体系规划与</a:t>
            </a:r>
            <a:r>
              <a:rPr lang="zh-CN" altLang="en-US" sz="1200" dirty="0" smtClean="0"/>
              <a:t>设计</a:t>
            </a:r>
            <a:endParaRPr lang="en-US" altLang="zh-CN" sz="1200" dirty="0" smtClean="0"/>
          </a:p>
          <a:p>
            <a:pPr>
              <a:lnSpc>
                <a:spcPct val="140000"/>
              </a:lnSpc>
            </a:pPr>
            <a:r>
              <a:rPr lang="en-US" altLang="zh-CN" sz="1200" dirty="0" smtClean="0">
                <a:solidFill>
                  <a:srgbClr val="0000CC"/>
                </a:solidFill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en-US" sz="1200" dirty="0" smtClean="0">
                <a:solidFill>
                  <a:srgbClr val="0000CC"/>
                </a:solidFill>
                <a:ea typeface="微软雅黑" panose="020B0503020204020204" pitchFamily="34" charset="-122"/>
                <a:cs typeface="+mn-ea"/>
              </a:rPr>
              <a:t>）</a:t>
            </a:r>
            <a:r>
              <a:rPr lang="zh-CN" altLang="en-US" sz="1200" dirty="0"/>
              <a:t>流程优化与持续</a:t>
            </a:r>
            <a:r>
              <a:rPr lang="zh-CN" altLang="en-US" sz="1200" dirty="0" smtClean="0"/>
              <a:t>改进</a:t>
            </a:r>
            <a:endParaRPr lang="en-US" altLang="zh-CN" sz="1200" dirty="0" smtClean="0"/>
          </a:p>
          <a:p>
            <a:pPr>
              <a:lnSpc>
                <a:spcPct val="140000"/>
              </a:lnSpc>
            </a:pPr>
            <a:r>
              <a:rPr lang="en-US" altLang="zh-CN" sz="1200" dirty="0" smtClean="0">
                <a:solidFill>
                  <a:srgbClr val="0000CC"/>
                </a:solidFill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en-US" sz="1200" dirty="0" smtClean="0">
                <a:solidFill>
                  <a:srgbClr val="0000CC"/>
                </a:solidFill>
                <a:ea typeface="微软雅黑" panose="020B0503020204020204" pitchFamily="34" charset="-122"/>
                <a:cs typeface="+mn-ea"/>
              </a:rPr>
              <a:t>）</a:t>
            </a:r>
            <a:r>
              <a:rPr lang="zh-CN" altLang="en-US" sz="1200" dirty="0"/>
              <a:t>流程执行监督与</a:t>
            </a:r>
            <a:r>
              <a:rPr lang="zh-CN" altLang="en-US" sz="1200" dirty="0" smtClean="0"/>
              <a:t>控制</a:t>
            </a:r>
            <a:endParaRPr lang="en-US" altLang="zh-CN" sz="1200" dirty="0" smtClean="0"/>
          </a:p>
          <a:p>
            <a:pPr>
              <a:lnSpc>
                <a:spcPct val="140000"/>
              </a:lnSpc>
            </a:pPr>
            <a:r>
              <a:rPr lang="en-US" altLang="zh-CN" sz="1200" dirty="0" smtClean="0">
                <a:solidFill>
                  <a:srgbClr val="0000CC"/>
                </a:solidFill>
                <a:ea typeface="微软雅黑" panose="020B0503020204020204" pitchFamily="34" charset="-122"/>
                <a:cs typeface="+mn-ea"/>
              </a:rPr>
              <a:t>4</a:t>
            </a:r>
            <a:r>
              <a:rPr lang="zh-CN" altLang="en-US" sz="1200" dirty="0" smtClean="0">
                <a:solidFill>
                  <a:srgbClr val="0000CC"/>
                </a:solidFill>
                <a:ea typeface="微软雅黑" panose="020B0503020204020204" pitchFamily="34" charset="-122"/>
                <a:cs typeface="+mn-ea"/>
              </a:rPr>
              <a:t>）</a:t>
            </a:r>
            <a:r>
              <a:rPr lang="zh-CN" altLang="en-US" sz="1200" dirty="0"/>
              <a:t>流程培训与</a:t>
            </a:r>
            <a:r>
              <a:rPr lang="zh-CN" altLang="en-US" sz="1200" dirty="0" smtClean="0"/>
              <a:t>宣贯</a:t>
            </a:r>
            <a:endParaRPr lang="en-US" altLang="zh-CN" sz="1200" dirty="0" smtClean="0"/>
          </a:p>
          <a:p>
            <a:pPr>
              <a:lnSpc>
                <a:spcPct val="140000"/>
              </a:lnSpc>
            </a:pPr>
            <a:r>
              <a:rPr lang="en-US" altLang="zh-CN" sz="1200" dirty="0" smtClean="0">
                <a:solidFill>
                  <a:srgbClr val="0000CC"/>
                </a:solidFill>
                <a:ea typeface="微软雅黑" panose="020B0503020204020204" pitchFamily="34" charset="-122"/>
                <a:cs typeface="+mn-ea"/>
              </a:rPr>
              <a:t>5</a:t>
            </a:r>
            <a:r>
              <a:rPr lang="zh-CN" altLang="en-US" sz="1200" dirty="0" smtClean="0">
                <a:solidFill>
                  <a:srgbClr val="0000CC"/>
                </a:solidFill>
                <a:ea typeface="微软雅黑" panose="020B0503020204020204" pitchFamily="34" charset="-122"/>
                <a:cs typeface="+mn-ea"/>
              </a:rPr>
              <a:t>）</a:t>
            </a:r>
            <a:r>
              <a:rPr lang="zh-CN" altLang="en-US" sz="1200" dirty="0"/>
              <a:t>跨部门沟通与</a:t>
            </a:r>
            <a:r>
              <a:rPr lang="zh-CN" altLang="en-US" sz="1200" dirty="0" smtClean="0"/>
              <a:t>协调</a:t>
            </a:r>
            <a:endParaRPr lang="en-US" altLang="zh-CN" sz="1200" dirty="0" smtClean="0">
              <a:solidFill>
                <a:srgbClr val="0000CC"/>
              </a:solidFill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1600" b="1" dirty="0" smtClean="0">
                <a:solidFill>
                  <a:srgbClr val="0000CC"/>
                </a:solidFill>
                <a:ea typeface="微软雅黑" panose="020B0503020204020204" pitchFamily="34" charset="-122"/>
                <a:cs typeface="+mn-ea"/>
              </a:rPr>
              <a:t>岗位认知：</a:t>
            </a:r>
            <a:endParaRPr lang="en-US" altLang="zh-CN" sz="1600" b="1" dirty="0" smtClean="0">
              <a:solidFill>
                <a:srgbClr val="0000CC"/>
              </a:solidFill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40000"/>
              </a:lnSpc>
            </a:pPr>
            <a:r>
              <a:rPr lang="zh-CN" altLang="en-US" sz="1200" dirty="0" smtClean="0"/>
              <a:t>岗位价值：流程</a:t>
            </a:r>
            <a:r>
              <a:rPr lang="zh-CN" altLang="en-US" sz="1200" dirty="0"/>
              <a:t>管理专家是企业运营的重要推动者，通过对业务流程的优化和管理，能够提高企业的运营效率，降低成本，提升产品和服务质量，增强企业的竞争力。在企业战略实施过程中，流程管理专家能够将战略目标分解为具体的业务流程，确保战略的落地执行。同时，通过建立科学的流程管理体系，能够规范企业的管理行为，提高企业的管理水平，为企业的可持续发展奠定基础</a:t>
            </a:r>
            <a:r>
              <a:rPr lang="zh-CN" altLang="en-US" sz="1200" dirty="0" smtClean="0"/>
              <a:t>。</a:t>
            </a:r>
            <a:endParaRPr lang="en-US" altLang="zh-CN" sz="1200" dirty="0" smtClean="0"/>
          </a:p>
          <a:p>
            <a:pPr>
              <a:lnSpc>
                <a:spcPct val="140000"/>
              </a:lnSpc>
            </a:pPr>
            <a:r>
              <a:rPr lang="zh-CN" altLang="en-US" sz="1200" b="1" dirty="0" smtClean="0"/>
              <a:t>必备</a:t>
            </a:r>
            <a:r>
              <a:rPr lang="zh-CN" altLang="en-US" sz="1200" b="1" dirty="0"/>
              <a:t>素质</a:t>
            </a:r>
            <a:r>
              <a:rPr lang="zh-CN" altLang="en-US" sz="1200" dirty="0"/>
              <a:t>：作为流程管理专家，需要具备扎实的流程管理知识和丰富</a:t>
            </a:r>
            <a:r>
              <a:rPr lang="zh-CN" altLang="en-US" sz="1200" dirty="0" smtClean="0"/>
              <a:t>的行业实践</a:t>
            </a:r>
            <a:r>
              <a:rPr lang="zh-CN" altLang="en-US" sz="1200" dirty="0"/>
              <a:t>经验，熟悉各种流程优化工具和方法。具备较强的逻辑思维能力和问题解决能力，能够深入分析问题，提出有效的解决方案。良好的沟通协调能力和团队合作精神也是必备素质，能够与不同部门的人员进行有效的沟通和协作。此外，还需要具备较强的学习能力和创新意识，不断学习新知识、新技能，推动流程管理工作的创新和发展。</a:t>
            </a:r>
            <a:endParaRPr lang="en-US" altLang="zh-CN" sz="1200" b="1" dirty="0" smtClean="0">
              <a:solidFill>
                <a:srgbClr val="0000CC"/>
              </a:solidFill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  <a:cs typeface="+mn-ea"/>
              </a:rPr>
              <a:t>3</a:t>
            </a:r>
            <a:r>
              <a:rPr lang="zh-CN" altLang="en-US" dirty="0">
                <a:solidFill>
                  <a:srgbClr val="FF0000"/>
                </a:solidFill>
                <a:cs typeface="+mn-ea"/>
              </a:rPr>
              <a:t>、双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ea"/>
              </a:rPr>
              <a:t>月目标及关键达成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5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2771959"/>
              </p:ext>
            </p:extLst>
          </p:nvPr>
        </p:nvGraphicFramePr>
        <p:xfrm>
          <a:off x="339450" y="908720"/>
          <a:ext cx="8465101" cy="3384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1909"/>
                <a:gridCol w="994877"/>
                <a:gridCol w="2199740"/>
                <a:gridCol w="2088232"/>
                <a:gridCol w="720080"/>
                <a:gridCol w="693815"/>
                <a:gridCol w="946448"/>
              </a:tblGrid>
              <a:tr h="62277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主要工作职责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本周期内的关键目标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目标的考核标准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关键举措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权重（</a:t>
                      </a:r>
                      <a:r>
                        <a:rPr lang="en-US" altLang="zh-CN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100%</a:t>
                      </a:r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）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目标完成情况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自评分值</a:t>
                      </a:r>
                      <a:b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</a:br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（每项满分</a:t>
                      </a:r>
                      <a:r>
                        <a:rPr lang="en-US" altLang="zh-CN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</a:t>
                      </a:r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分）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72807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流程梳理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协助完成流程</a:t>
                      </a:r>
                      <a:r>
                        <a:rPr lang="en-US" altLang="zh-C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V0.9</a:t>
                      </a:r>
                      <a:r>
                        <a:rPr lang="zh-CN" alt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版本七件套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Q1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之前完成所有的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DG/MO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的流程梳理及相关文档输出</a:t>
                      </a:r>
                      <a:endParaRPr lang="en-US" altLang="zh-CN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zh-CN" altLang="en-US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完成</a:t>
                      </a:r>
                      <a:r>
                        <a:rPr lang="en-US" altLang="zh-CN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MVP</a:t>
                      </a:r>
                      <a:r>
                        <a:rPr lang="zh-CN" altLang="en-US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，确定交付格式和要求，宣贯，并大批量复制执行</a:t>
                      </a:r>
                      <a:endParaRPr lang="zh-CN" altLang="en-US" sz="140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30%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720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流程评审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组织流程评审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成功组织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DG/MO L3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流程的评审并通过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zh-CN" altLang="en-US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周周约，每周都提前约好评审会议，按照时间计划跟进。</a:t>
                      </a:r>
                      <a:endParaRPr lang="zh-CN" altLang="en-US" sz="140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30%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4807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流程发布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发布评审通过的流程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修订评审完成的流程材料并发布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撰写发布邮件，明确发布流程的关键点和注意事项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30%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4807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跨部门协同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解决流程组间的问题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解决流程建设中跨部门协调的问题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定期跟其他相关流程的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PC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沟通是否存在跨部门问题需要讨论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  <a:sym typeface="+mn-ea"/>
              </a:rPr>
              <a:t>4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、</a:t>
            </a:r>
            <a:r>
              <a:rPr lang="zh-CN" altLang="zh-CN" dirty="0">
                <a:solidFill>
                  <a:srgbClr val="FF0000"/>
                </a:solidFill>
                <a:sym typeface="+mn-ea"/>
              </a:rPr>
              <a:t>工作中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的亮点、机会点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6" name="Oval 4"/>
          <p:cNvSpPr/>
          <p:nvPr/>
        </p:nvSpPr>
        <p:spPr>
          <a:xfrm>
            <a:off x="5042136" y="1196752"/>
            <a:ext cx="903035" cy="90821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0">
              <a:solidFill>
                <a:schemeClr val="bg1"/>
              </a:solidFill>
            </a:endParaRPr>
          </a:p>
        </p:txBody>
      </p:sp>
      <p:sp>
        <p:nvSpPr>
          <p:cNvPr id="7" name="Oval 5"/>
          <p:cNvSpPr/>
          <p:nvPr/>
        </p:nvSpPr>
        <p:spPr>
          <a:xfrm>
            <a:off x="3209521" y="1196752"/>
            <a:ext cx="903035" cy="908217"/>
          </a:xfrm>
          <a:prstGeom prst="ellipse">
            <a:avLst/>
          </a:prstGeom>
          <a:solidFill>
            <a:srgbClr val="E60033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0">
              <a:solidFill>
                <a:schemeClr val="bg1"/>
              </a:solidFill>
            </a:endParaRPr>
          </a:p>
        </p:txBody>
      </p:sp>
      <p:sp>
        <p:nvSpPr>
          <p:cNvPr id="10" name="Freeform 45"/>
          <p:cNvSpPr>
            <a:spLocks noEditPoints="1"/>
          </p:cNvSpPr>
          <p:nvPr/>
        </p:nvSpPr>
        <p:spPr bwMode="auto">
          <a:xfrm>
            <a:off x="3457715" y="1388642"/>
            <a:ext cx="406647" cy="524434"/>
          </a:xfrm>
          <a:custGeom>
            <a:avLst/>
            <a:gdLst>
              <a:gd name="T0" fmla="*/ 104 w 109"/>
              <a:gd name="T1" fmla="*/ 67 h 141"/>
              <a:gd name="T2" fmla="*/ 96 w 109"/>
              <a:gd name="T3" fmla="*/ 67 h 141"/>
              <a:gd name="T4" fmla="*/ 96 w 109"/>
              <a:gd name="T5" fmla="*/ 44 h 141"/>
              <a:gd name="T6" fmla="*/ 84 w 109"/>
              <a:gd name="T7" fmla="*/ 13 h 141"/>
              <a:gd name="T8" fmla="*/ 55 w 109"/>
              <a:gd name="T9" fmla="*/ 0 h 141"/>
              <a:gd name="T10" fmla="*/ 25 w 109"/>
              <a:gd name="T11" fmla="*/ 13 h 141"/>
              <a:gd name="T12" fmla="*/ 13 w 109"/>
              <a:gd name="T13" fmla="*/ 44 h 141"/>
              <a:gd name="T14" fmla="*/ 13 w 109"/>
              <a:gd name="T15" fmla="*/ 67 h 141"/>
              <a:gd name="T16" fmla="*/ 6 w 109"/>
              <a:gd name="T17" fmla="*/ 67 h 141"/>
              <a:gd name="T18" fmla="*/ 0 w 109"/>
              <a:gd name="T19" fmla="*/ 73 h 141"/>
              <a:gd name="T20" fmla="*/ 0 w 109"/>
              <a:gd name="T21" fmla="*/ 136 h 141"/>
              <a:gd name="T22" fmla="*/ 6 w 109"/>
              <a:gd name="T23" fmla="*/ 141 h 141"/>
              <a:gd name="T24" fmla="*/ 104 w 109"/>
              <a:gd name="T25" fmla="*/ 141 h 141"/>
              <a:gd name="T26" fmla="*/ 109 w 109"/>
              <a:gd name="T27" fmla="*/ 136 h 141"/>
              <a:gd name="T28" fmla="*/ 109 w 109"/>
              <a:gd name="T29" fmla="*/ 73 h 141"/>
              <a:gd name="T30" fmla="*/ 104 w 109"/>
              <a:gd name="T31" fmla="*/ 67 h 141"/>
              <a:gd name="T32" fmla="*/ 67 w 109"/>
              <a:gd name="T33" fmla="*/ 124 h 141"/>
              <a:gd name="T34" fmla="*/ 55 w 109"/>
              <a:gd name="T35" fmla="*/ 136 h 141"/>
              <a:gd name="T36" fmla="*/ 43 w 109"/>
              <a:gd name="T37" fmla="*/ 124 h 141"/>
              <a:gd name="T38" fmla="*/ 43 w 109"/>
              <a:gd name="T39" fmla="*/ 102 h 141"/>
              <a:gd name="T40" fmla="*/ 55 w 109"/>
              <a:gd name="T41" fmla="*/ 90 h 141"/>
              <a:gd name="T42" fmla="*/ 67 w 109"/>
              <a:gd name="T43" fmla="*/ 102 h 141"/>
              <a:gd name="T44" fmla="*/ 67 w 109"/>
              <a:gd name="T45" fmla="*/ 124 h 141"/>
              <a:gd name="T46" fmla="*/ 77 w 109"/>
              <a:gd name="T47" fmla="*/ 67 h 141"/>
              <a:gd name="T48" fmla="*/ 33 w 109"/>
              <a:gd name="T49" fmla="*/ 67 h 141"/>
              <a:gd name="T50" fmla="*/ 33 w 109"/>
              <a:gd name="T51" fmla="*/ 44 h 141"/>
              <a:gd name="T52" fmla="*/ 39 w 109"/>
              <a:gd name="T53" fmla="*/ 26 h 141"/>
              <a:gd name="T54" fmla="*/ 55 w 109"/>
              <a:gd name="T55" fmla="*/ 19 h 141"/>
              <a:gd name="T56" fmla="*/ 70 w 109"/>
              <a:gd name="T57" fmla="*/ 26 h 141"/>
              <a:gd name="T58" fmla="*/ 77 w 109"/>
              <a:gd name="T59" fmla="*/ 44 h 141"/>
              <a:gd name="T60" fmla="*/ 77 w 109"/>
              <a:gd name="T61" fmla="*/ 67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09" h="141">
                <a:moveTo>
                  <a:pt x="104" y="67"/>
                </a:moveTo>
                <a:cubicBezTo>
                  <a:pt x="96" y="67"/>
                  <a:pt x="96" y="67"/>
                  <a:pt x="96" y="67"/>
                </a:cubicBezTo>
                <a:cubicBezTo>
                  <a:pt x="96" y="44"/>
                  <a:pt x="96" y="44"/>
                  <a:pt x="96" y="44"/>
                </a:cubicBezTo>
                <a:cubicBezTo>
                  <a:pt x="96" y="32"/>
                  <a:pt x="92" y="21"/>
                  <a:pt x="84" y="13"/>
                </a:cubicBezTo>
                <a:cubicBezTo>
                  <a:pt x="77" y="5"/>
                  <a:pt x="66" y="0"/>
                  <a:pt x="55" y="0"/>
                </a:cubicBezTo>
                <a:cubicBezTo>
                  <a:pt x="43" y="0"/>
                  <a:pt x="32" y="5"/>
                  <a:pt x="25" y="13"/>
                </a:cubicBezTo>
                <a:cubicBezTo>
                  <a:pt x="18" y="21"/>
                  <a:pt x="13" y="32"/>
                  <a:pt x="13" y="44"/>
                </a:cubicBezTo>
                <a:cubicBezTo>
                  <a:pt x="13" y="67"/>
                  <a:pt x="13" y="67"/>
                  <a:pt x="13" y="67"/>
                </a:cubicBezTo>
                <a:cubicBezTo>
                  <a:pt x="6" y="67"/>
                  <a:pt x="6" y="67"/>
                  <a:pt x="6" y="67"/>
                </a:cubicBezTo>
                <a:cubicBezTo>
                  <a:pt x="3" y="67"/>
                  <a:pt x="0" y="70"/>
                  <a:pt x="0" y="73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39"/>
                  <a:pt x="3" y="141"/>
                  <a:pt x="6" y="141"/>
                </a:cubicBezTo>
                <a:cubicBezTo>
                  <a:pt x="104" y="141"/>
                  <a:pt x="104" y="141"/>
                  <a:pt x="104" y="141"/>
                </a:cubicBezTo>
                <a:cubicBezTo>
                  <a:pt x="107" y="141"/>
                  <a:pt x="109" y="139"/>
                  <a:pt x="109" y="136"/>
                </a:cubicBezTo>
                <a:cubicBezTo>
                  <a:pt x="109" y="73"/>
                  <a:pt x="109" y="73"/>
                  <a:pt x="109" y="73"/>
                </a:cubicBezTo>
                <a:cubicBezTo>
                  <a:pt x="109" y="70"/>
                  <a:pt x="107" y="67"/>
                  <a:pt x="104" y="67"/>
                </a:cubicBezTo>
                <a:close/>
                <a:moveTo>
                  <a:pt x="67" y="124"/>
                </a:moveTo>
                <a:cubicBezTo>
                  <a:pt x="67" y="130"/>
                  <a:pt x="61" y="136"/>
                  <a:pt x="55" y="136"/>
                </a:cubicBezTo>
                <a:cubicBezTo>
                  <a:pt x="48" y="136"/>
                  <a:pt x="43" y="130"/>
                  <a:pt x="43" y="124"/>
                </a:cubicBezTo>
                <a:cubicBezTo>
                  <a:pt x="43" y="102"/>
                  <a:pt x="43" y="102"/>
                  <a:pt x="43" y="102"/>
                </a:cubicBezTo>
                <a:cubicBezTo>
                  <a:pt x="43" y="95"/>
                  <a:pt x="48" y="90"/>
                  <a:pt x="55" y="90"/>
                </a:cubicBezTo>
                <a:cubicBezTo>
                  <a:pt x="61" y="90"/>
                  <a:pt x="67" y="95"/>
                  <a:pt x="67" y="102"/>
                </a:cubicBezTo>
                <a:lnTo>
                  <a:pt x="67" y="124"/>
                </a:lnTo>
                <a:close/>
                <a:moveTo>
                  <a:pt x="77" y="67"/>
                </a:moveTo>
                <a:cubicBezTo>
                  <a:pt x="33" y="67"/>
                  <a:pt x="33" y="67"/>
                  <a:pt x="33" y="67"/>
                </a:cubicBezTo>
                <a:cubicBezTo>
                  <a:pt x="33" y="44"/>
                  <a:pt x="33" y="44"/>
                  <a:pt x="33" y="44"/>
                </a:cubicBezTo>
                <a:cubicBezTo>
                  <a:pt x="33" y="37"/>
                  <a:pt x="35" y="31"/>
                  <a:pt x="39" y="26"/>
                </a:cubicBezTo>
                <a:cubicBezTo>
                  <a:pt x="44" y="22"/>
                  <a:pt x="49" y="19"/>
                  <a:pt x="55" y="19"/>
                </a:cubicBezTo>
                <a:cubicBezTo>
                  <a:pt x="61" y="19"/>
                  <a:pt x="66" y="22"/>
                  <a:pt x="70" y="26"/>
                </a:cubicBezTo>
                <a:cubicBezTo>
                  <a:pt x="74" y="31"/>
                  <a:pt x="77" y="37"/>
                  <a:pt x="77" y="44"/>
                </a:cubicBezTo>
                <a:lnTo>
                  <a:pt x="77" y="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/>
          </a:p>
        </p:txBody>
      </p:sp>
      <p:grpSp>
        <p:nvGrpSpPr>
          <p:cNvPr id="11" name="Group 32"/>
          <p:cNvGrpSpPr/>
          <p:nvPr/>
        </p:nvGrpSpPr>
        <p:grpSpPr>
          <a:xfrm>
            <a:off x="5227209" y="1388642"/>
            <a:ext cx="532893" cy="524434"/>
            <a:chOff x="1587575" y="2265358"/>
            <a:chExt cx="314468" cy="309477"/>
          </a:xfrm>
          <a:solidFill>
            <a:schemeClr val="bg1"/>
          </a:solidFill>
        </p:grpSpPr>
        <p:sp>
          <p:nvSpPr>
            <p:cNvPr id="12" name="Freeform 59"/>
            <p:cNvSpPr>
              <a:spLocks noEditPoints="1"/>
            </p:cNvSpPr>
            <p:nvPr/>
          </p:nvSpPr>
          <p:spPr bwMode="auto">
            <a:xfrm>
              <a:off x="1587575" y="2265358"/>
              <a:ext cx="314468" cy="309477"/>
            </a:xfrm>
            <a:custGeom>
              <a:avLst/>
              <a:gdLst>
                <a:gd name="T0" fmla="*/ 82 w 95"/>
                <a:gd name="T1" fmla="*/ 57 h 93"/>
                <a:gd name="T2" fmla="*/ 95 w 95"/>
                <a:gd name="T3" fmla="*/ 51 h 93"/>
                <a:gd name="T4" fmla="*/ 95 w 95"/>
                <a:gd name="T5" fmla="*/ 41 h 93"/>
                <a:gd name="T6" fmla="*/ 82 w 95"/>
                <a:gd name="T7" fmla="*/ 36 h 93"/>
                <a:gd name="T8" fmla="*/ 80 w 95"/>
                <a:gd name="T9" fmla="*/ 30 h 93"/>
                <a:gd name="T10" fmla="*/ 85 w 95"/>
                <a:gd name="T11" fmla="*/ 17 h 93"/>
                <a:gd name="T12" fmla="*/ 77 w 95"/>
                <a:gd name="T13" fmla="*/ 10 h 93"/>
                <a:gd name="T14" fmla="*/ 64 w 95"/>
                <a:gd name="T15" fmla="*/ 15 h 93"/>
                <a:gd name="T16" fmla="*/ 59 w 95"/>
                <a:gd name="T17" fmla="*/ 13 h 93"/>
                <a:gd name="T18" fmla="*/ 53 w 95"/>
                <a:gd name="T19" fmla="*/ 0 h 93"/>
                <a:gd name="T20" fmla="*/ 42 w 95"/>
                <a:gd name="T21" fmla="*/ 0 h 93"/>
                <a:gd name="T22" fmla="*/ 37 w 95"/>
                <a:gd name="T23" fmla="*/ 13 h 93"/>
                <a:gd name="T24" fmla="*/ 31 w 95"/>
                <a:gd name="T25" fmla="*/ 15 h 93"/>
                <a:gd name="T26" fmla="*/ 18 w 95"/>
                <a:gd name="T27" fmla="*/ 10 h 93"/>
                <a:gd name="T28" fmla="*/ 10 w 95"/>
                <a:gd name="T29" fmla="*/ 17 h 93"/>
                <a:gd name="T30" fmla="*/ 16 w 95"/>
                <a:gd name="T31" fmla="*/ 30 h 93"/>
                <a:gd name="T32" fmla="*/ 13 w 95"/>
                <a:gd name="T33" fmla="*/ 36 h 93"/>
                <a:gd name="T34" fmla="*/ 0 w 95"/>
                <a:gd name="T35" fmla="*/ 41 h 93"/>
                <a:gd name="T36" fmla="*/ 0 w 95"/>
                <a:gd name="T37" fmla="*/ 52 h 93"/>
                <a:gd name="T38" fmla="*/ 13 w 95"/>
                <a:gd name="T39" fmla="*/ 57 h 93"/>
                <a:gd name="T40" fmla="*/ 16 w 95"/>
                <a:gd name="T41" fmla="*/ 63 h 93"/>
                <a:gd name="T42" fmla="*/ 11 w 95"/>
                <a:gd name="T43" fmla="*/ 76 h 93"/>
                <a:gd name="T44" fmla="*/ 18 w 95"/>
                <a:gd name="T45" fmla="*/ 83 h 93"/>
                <a:gd name="T46" fmla="*/ 31 w 95"/>
                <a:gd name="T47" fmla="*/ 78 h 93"/>
                <a:gd name="T48" fmla="*/ 37 w 95"/>
                <a:gd name="T49" fmla="*/ 80 h 93"/>
                <a:gd name="T50" fmla="*/ 43 w 95"/>
                <a:gd name="T51" fmla="*/ 93 h 93"/>
                <a:gd name="T52" fmla="*/ 53 w 95"/>
                <a:gd name="T53" fmla="*/ 93 h 93"/>
                <a:gd name="T54" fmla="*/ 59 w 95"/>
                <a:gd name="T55" fmla="*/ 80 h 93"/>
                <a:gd name="T56" fmla="*/ 64 w 95"/>
                <a:gd name="T57" fmla="*/ 78 h 93"/>
                <a:gd name="T58" fmla="*/ 78 w 95"/>
                <a:gd name="T59" fmla="*/ 83 h 93"/>
                <a:gd name="T60" fmla="*/ 85 w 95"/>
                <a:gd name="T61" fmla="*/ 75 h 93"/>
                <a:gd name="T62" fmla="*/ 80 w 95"/>
                <a:gd name="T63" fmla="*/ 63 h 93"/>
                <a:gd name="T64" fmla="*/ 82 w 95"/>
                <a:gd name="T65" fmla="*/ 57 h 93"/>
                <a:gd name="T66" fmla="*/ 48 w 95"/>
                <a:gd name="T67" fmla="*/ 61 h 93"/>
                <a:gd name="T68" fmla="*/ 33 w 95"/>
                <a:gd name="T69" fmla="*/ 46 h 93"/>
                <a:gd name="T70" fmla="*/ 48 w 95"/>
                <a:gd name="T71" fmla="*/ 32 h 93"/>
                <a:gd name="T72" fmla="*/ 63 w 95"/>
                <a:gd name="T73" fmla="*/ 46 h 93"/>
                <a:gd name="T74" fmla="*/ 48 w 95"/>
                <a:gd name="T75" fmla="*/ 6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5" h="93">
                  <a:moveTo>
                    <a:pt x="82" y="57"/>
                  </a:moveTo>
                  <a:cubicBezTo>
                    <a:pt x="82" y="57"/>
                    <a:pt x="95" y="52"/>
                    <a:pt x="95" y="5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0"/>
                    <a:pt x="82" y="36"/>
                    <a:pt x="82" y="36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5" y="17"/>
                    <a:pt x="85" y="17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9"/>
                    <a:pt x="64" y="15"/>
                    <a:pt x="64" y="15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9" y="13"/>
                    <a:pt x="53" y="0"/>
                    <a:pt x="53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0"/>
                    <a:pt x="37" y="13"/>
                    <a:pt x="37" y="13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31" y="15"/>
                    <a:pt x="18" y="10"/>
                    <a:pt x="18" y="10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6" y="30"/>
                    <a:pt x="16" y="30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3" y="36"/>
                    <a:pt x="0" y="41"/>
                    <a:pt x="0" y="41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2"/>
                    <a:pt x="13" y="57"/>
                    <a:pt x="13" y="57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0" y="75"/>
                    <a:pt x="11" y="76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9" y="84"/>
                    <a:pt x="31" y="78"/>
                    <a:pt x="31" y="78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80"/>
                    <a:pt x="42" y="93"/>
                    <a:pt x="43" y="93"/>
                  </a:cubicBezTo>
                  <a:cubicBezTo>
                    <a:pt x="53" y="93"/>
                    <a:pt x="53" y="93"/>
                    <a:pt x="53" y="93"/>
                  </a:cubicBezTo>
                  <a:cubicBezTo>
                    <a:pt x="54" y="93"/>
                    <a:pt x="59" y="80"/>
                    <a:pt x="59" y="80"/>
                  </a:cubicBezTo>
                  <a:cubicBezTo>
                    <a:pt x="64" y="78"/>
                    <a:pt x="64" y="78"/>
                    <a:pt x="64" y="78"/>
                  </a:cubicBezTo>
                  <a:cubicBezTo>
                    <a:pt x="64" y="78"/>
                    <a:pt x="77" y="83"/>
                    <a:pt x="78" y="83"/>
                  </a:cubicBezTo>
                  <a:cubicBezTo>
                    <a:pt x="85" y="75"/>
                    <a:pt x="85" y="75"/>
                    <a:pt x="85" y="75"/>
                  </a:cubicBezTo>
                  <a:cubicBezTo>
                    <a:pt x="86" y="75"/>
                    <a:pt x="80" y="63"/>
                    <a:pt x="80" y="63"/>
                  </a:cubicBezTo>
                  <a:lnTo>
                    <a:pt x="82" y="57"/>
                  </a:lnTo>
                  <a:close/>
                  <a:moveTo>
                    <a:pt x="48" y="61"/>
                  </a:moveTo>
                  <a:cubicBezTo>
                    <a:pt x="39" y="61"/>
                    <a:pt x="33" y="55"/>
                    <a:pt x="33" y="46"/>
                  </a:cubicBezTo>
                  <a:cubicBezTo>
                    <a:pt x="33" y="38"/>
                    <a:pt x="39" y="32"/>
                    <a:pt x="48" y="32"/>
                  </a:cubicBezTo>
                  <a:cubicBezTo>
                    <a:pt x="56" y="32"/>
                    <a:pt x="63" y="38"/>
                    <a:pt x="63" y="46"/>
                  </a:cubicBezTo>
                  <a:cubicBezTo>
                    <a:pt x="63" y="55"/>
                    <a:pt x="56" y="61"/>
                    <a:pt x="48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400"/>
            </a:p>
          </p:txBody>
        </p:sp>
        <p:sp>
          <p:nvSpPr>
            <p:cNvPr id="13" name="Oval 60"/>
            <p:cNvSpPr>
              <a:spLocks noChangeArrowheads="1"/>
            </p:cNvSpPr>
            <p:nvPr/>
          </p:nvSpPr>
          <p:spPr bwMode="auto">
            <a:xfrm>
              <a:off x="1712364" y="2387652"/>
              <a:ext cx="64890" cy="6239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400"/>
            </a:p>
          </p:txBody>
        </p:sp>
      </p:grpSp>
      <p:sp>
        <p:nvSpPr>
          <p:cNvPr id="14" name="Rectangle 21"/>
          <p:cNvSpPr/>
          <p:nvPr/>
        </p:nvSpPr>
        <p:spPr>
          <a:xfrm flipH="1" flipV="1">
            <a:off x="4545754" y="1196752"/>
            <a:ext cx="52493" cy="4133795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9" name="文本框 18"/>
          <p:cNvSpPr txBox="1"/>
          <p:nvPr/>
        </p:nvSpPr>
        <p:spPr>
          <a:xfrm>
            <a:off x="2005304" y="1388642"/>
            <a:ext cx="1080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E60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亮点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373132" y="1320138"/>
            <a:ext cx="1583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机会点</a:t>
            </a:r>
          </a:p>
        </p:txBody>
      </p:sp>
      <p:sp>
        <p:nvSpPr>
          <p:cNvPr id="15" name="Text Box 49"/>
          <p:cNvSpPr txBox="1">
            <a:spLocks noChangeArrowheads="1"/>
          </p:cNvSpPr>
          <p:nvPr/>
        </p:nvSpPr>
        <p:spPr bwMode="auto">
          <a:xfrm>
            <a:off x="289920" y="2120313"/>
            <a:ext cx="3841824" cy="352621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78355" tIns="39177" rIns="78355" bIns="39177">
            <a:spAutoFit/>
          </a:bodyPr>
          <a:lstStyle/>
          <a:p>
            <a:pPr marL="285750" indent="-28575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按照季度目标要求成功完成所有</a:t>
            </a: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L3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的</a:t>
            </a: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V0.9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版本的评审和发布</a:t>
            </a:r>
            <a:endParaRPr lang="en-US" altLang="zh-CN" sz="1600" b="1" dirty="0" smtClean="0">
              <a:ea typeface="微软雅黑" panose="020B0503020204020204" pitchFamily="34" charset="-122"/>
              <a:cs typeface="+mn-ea"/>
            </a:endParaRPr>
          </a:p>
          <a:p>
            <a:pPr marL="285750" indent="-28575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提前布局流程的推广和执行，对进度比较好的流程，提前安排关键人员培训，宣贯，为下个季度的推进工作打下好的基础</a:t>
            </a:r>
            <a:endParaRPr lang="en-US" altLang="zh-CN" sz="1600" b="1" dirty="0" smtClean="0">
              <a:ea typeface="微软雅黑" panose="020B0503020204020204" pitchFamily="34" charset="-122"/>
              <a:cs typeface="+mn-ea"/>
            </a:endParaRPr>
          </a:p>
          <a:p>
            <a:pPr marL="285750" indent="-28575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对于业务比较关注的问题，能结合业界标杆和前期工作经验给出专业性的指导和建议</a:t>
            </a:r>
            <a:endParaRPr lang="en-US" altLang="zh-CN" sz="1600" b="1" dirty="0" smtClean="0"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40000"/>
              </a:lnSpc>
            </a:pPr>
            <a:endParaRPr lang="zh-CN" altLang="en-US" sz="1600" b="1" dirty="0">
              <a:solidFill>
                <a:srgbClr val="0000CC"/>
              </a:solidFill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6" name="Text Box 49"/>
          <p:cNvSpPr txBox="1">
            <a:spLocks noChangeArrowheads="1"/>
          </p:cNvSpPr>
          <p:nvPr/>
        </p:nvSpPr>
        <p:spPr bwMode="auto">
          <a:xfrm>
            <a:off x="4716016" y="2120313"/>
            <a:ext cx="3841824" cy="180266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78355" tIns="39177" rIns="78355" bIns="39177">
            <a:spAutoFit/>
          </a:bodyPr>
          <a:lstStyle/>
          <a:p>
            <a:pPr marL="285750" indent="-28575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深入到业务中去，在一线了解业务并协助推进流程的执行与落地。</a:t>
            </a:r>
            <a:endParaRPr lang="en-US" altLang="zh-CN" sz="1600" b="1" dirty="0" smtClean="0">
              <a:ea typeface="微软雅黑" panose="020B0503020204020204" pitchFamily="34" charset="-122"/>
              <a:cs typeface="+mn-ea"/>
            </a:endParaRPr>
          </a:p>
          <a:p>
            <a:pPr marL="285750" indent="-28575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把流程管理与数字化做有机结合，通过数字化</a:t>
            </a: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IT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手段赋能业务，提效，留痕，为持续的流程迭代优化提供支持。</a:t>
            </a:r>
            <a:endParaRPr lang="zh-CN" altLang="en-US" sz="1600" b="1" dirty="0"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cs typeface="+mn-ea"/>
              </a:rPr>
              <a:t>5</a:t>
            </a:r>
            <a:r>
              <a:rPr lang="zh-CN" altLang="en-US" dirty="0">
                <a:solidFill>
                  <a:srgbClr val="FF0000"/>
                </a:solidFill>
                <a:cs typeface="+mn-ea"/>
              </a:rPr>
              <a:t>、下一阶段工作规划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7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ext Box 49"/>
          <p:cNvSpPr txBox="1">
            <a:spLocks noChangeArrowheads="1"/>
          </p:cNvSpPr>
          <p:nvPr/>
        </p:nvSpPr>
        <p:spPr bwMode="auto">
          <a:xfrm>
            <a:off x="249734" y="1196752"/>
            <a:ext cx="7994673" cy="490505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78355" tIns="39177" rIns="78355" bIns="39177">
            <a:spAutoFit/>
          </a:bodyPr>
          <a:lstStyle/>
          <a:p>
            <a:pPr eaLnBrk="1" hangingPunct="1">
              <a:lnSpc>
                <a:spcPct val="140000"/>
              </a:lnSpc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按照</a:t>
            </a: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Q2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的目标规划各项工作：</a:t>
            </a:r>
            <a:endParaRPr lang="en-US" altLang="zh-CN" sz="1600" b="1" dirty="0" smtClean="0"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流程建设：</a:t>
            </a:r>
            <a:endParaRPr lang="en-US" altLang="zh-CN" sz="1600" b="1" dirty="0" smtClean="0"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40000"/>
              </a:lnSpc>
            </a:pP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）充分参与到实际业务之中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，做好流程宣贯，跟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业务一起推进流程</a:t>
            </a:r>
            <a:r>
              <a:rPr lang="zh-CN" altLang="en-US" sz="1600" b="1" dirty="0">
                <a:ea typeface="微软雅黑" panose="020B0503020204020204" pitchFamily="34" charset="-122"/>
                <a:cs typeface="+mn-ea"/>
              </a:rPr>
              <a:t>推广与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执行</a:t>
            </a:r>
            <a:r>
              <a:rPr lang="zh-CN" altLang="en-US" sz="1600" b="1" dirty="0"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1600" b="1" dirty="0"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）总结评估试运行情况，做出流程改善案例</a:t>
            </a:r>
            <a:endParaRPr lang="en-US" altLang="zh-CN" sz="1600" b="1" dirty="0" smtClean="0"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）通过改善案例识别优化改进点，制定新的流程和规则</a:t>
            </a:r>
            <a:endParaRPr lang="en-US" altLang="zh-CN" sz="1600" b="1" dirty="0" smtClean="0"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4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）发布</a:t>
            </a: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V1.0 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版本流程</a:t>
            </a:r>
            <a:endParaRPr lang="en-US" altLang="zh-CN" sz="1600" b="1" dirty="0" smtClean="0"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40000"/>
              </a:lnSpc>
            </a:pPr>
            <a:endParaRPr lang="en-US" altLang="zh-CN" sz="1600" b="1" dirty="0"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数字化：</a:t>
            </a:r>
            <a:endParaRPr lang="en-US" altLang="zh-CN" sz="1600" b="1" dirty="0" smtClean="0"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在流程推行过程中，识别业务需求，对于业务优先级高，规则明确且固化，需求清晰的功能重点跟进，与</a:t>
            </a: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IT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团队申请立项并开发实施，更好的支持业务开展。</a:t>
            </a:r>
            <a:endParaRPr lang="en-US" altLang="zh-CN" sz="1600" b="1" dirty="0" smtClean="0"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40000"/>
              </a:lnSpc>
            </a:pPr>
            <a:endParaRPr lang="en-US" altLang="zh-CN" sz="1600" b="1" dirty="0"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个人提升：</a:t>
            </a:r>
            <a:endParaRPr lang="en-US" altLang="zh-CN" sz="1600" b="1" dirty="0" smtClean="0"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通过部门提供的培训，认真学习流程管理相关的方法及标杆企业的好的做法，结合我司具体情况运用到实际工作之中。</a:t>
            </a:r>
            <a:endParaRPr lang="zh-CN" altLang="en-US" sz="1600" b="1" dirty="0"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cs typeface="+mn-ea"/>
              </a:rPr>
              <a:t>6</a:t>
            </a:r>
            <a:r>
              <a:rPr lang="zh-CN" altLang="en-US" dirty="0">
                <a:solidFill>
                  <a:srgbClr val="FF0000"/>
                </a:solidFill>
                <a:cs typeface="+mn-ea"/>
              </a:rPr>
              <a:t>、</a:t>
            </a:r>
            <a:r>
              <a:rPr lang="zh-CN" altLang="zh-CN" dirty="0">
                <a:solidFill>
                  <a:srgbClr val="FF0000"/>
                </a:solidFill>
                <a:cs typeface="+mn-ea"/>
                <a:sym typeface="+mn-ea"/>
              </a:rPr>
              <a:t>当前的困惑</a:t>
            </a:r>
            <a:r>
              <a:rPr lang="en-US" altLang="zh-CN" dirty="0">
                <a:solidFill>
                  <a:srgbClr val="FF0000"/>
                </a:solidFill>
                <a:cs typeface="+mn-ea"/>
                <a:sym typeface="+mn-ea"/>
              </a:rPr>
              <a:t>&amp;</a:t>
            </a:r>
            <a:r>
              <a:rPr lang="zh-CN" altLang="zh-CN" dirty="0">
                <a:solidFill>
                  <a:srgbClr val="FF0000"/>
                </a:solidFill>
                <a:cs typeface="+mn-ea"/>
                <a:sym typeface="+mn-ea"/>
              </a:rPr>
              <a:t>建议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8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ext Box 49"/>
          <p:cNvSpPr txBox="1">
            <a:spLocks noChangeArrowheads="1"/>
          </p:cNvSpPr>
          <p:nvPr/>
        </p:nvSpPr>
        <p:spPr bwMode="auto">
          <a:xfrm>
            <a:off x="249734" y="1196752"/>
            <a:ext cx="7994673" cy="24920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78355" tIns="39177" rIns="78355" bIns="39177">
            <a:spAutoFit/>
          </a:bodyPr>
          <a:lstStyle/>
          <a:p>
            <a:pPr eaLnBrk="1" hangingPunct="1">
              <a:lnSpc>
                <a:spcPct val="140000"/>
              </a:lnSpc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如何解决</a:t>
            </a: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IT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资源有限无法完全满足业务数字化需求的问题？</a:t>
            </a:r>
            <a:endParaRPr lang="en-US" altLang="zh-CN" sz="1600" b="1" dirty="0" smtClean="0"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40000"/>
              </a:lnSpc>
            </a:pPr>
            <a:endParaRPr lang="en-US" altLang="zh-CN" sz="1600" b="1" dirty="0"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我司</a:t>
            </a: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IT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是否可以考虑开放一些不需要太高技术门槛的产品或者</a:t>
            </a: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IT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能力，让业务可以自己按要求灵活定制自己需要的基础</a:t>
            </a: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IT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功能。比如：业务看板，信息收集整理等</a:t>
            </a:r>
            <a:endParaRPr lang="en-US" altLang="zh-CN" sz="1600" b="1" dirty="0" smtClean="0"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40000"/>
              </a:lnSpc>
            </a:pPr>
            <a:endParaRPr lang="en-US" altLang="zh-CN" sz="1600" b="1" dirty="0"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是否可以为流程</a:t>
            </a: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PC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提供一些人工智能相关的培训，尤其是如何结合人工智能更好的赋能业务流程管理方面的课程。</a:t>
            </a:r>
            <a:endParaRPr lang="zh-CN" altLang="en-US" sz="1600" b="1" dirty="0"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C:\Users\Troub\Desktop\2a.jpg2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5" y="0"/>
            <a:ext cx="9142730" cy="6856644"/>
          </a:xfrm>
          <a:prstGeom prst="rect">
            <a:avLst/>
          </a:prstGeom>
          <a:noFill/>
        </p:spPr>
      </p:pic>
      <p:sp>
        <p:nvSpPr>
          <p:cNvPr id="7" name="TextBox 6"/>
          <p:cNvSpPr>
            <a:spLocks noChangeArrowheads="1"/>
          </p:cNvSpPr>
          <p:nvPr/>
        </p:nvSpPr>
        <p:spPr bwMode="auto">
          <a:xfrm>
            <a:off x="3635896" y="1935694"/>
            <a:ext cx="5098799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dirty="0">
                <a:solidFill>
                  <a:srgbClr val="E60033"/>
                </a:solidFill>
                <a:ea typeface="微软雅黑" panose="020B0503020204020204" pitchFamily="34" charset="-122"/>
                <a:cs typeface="+mn-ea"/>
              </a:rPr>
              <a:t>THANKS</a:t>
            </a:r>
          </a:p>
        </p:txBody>
      </p:sp>
      <p:sp>
        <p:nvSpPr>
          <p:cNvPr id="8" name="TextBox 7"/>
          <p:cNvSpPr>
            <a:spLocks noChangeArrowheads="1"/>
          </p:cNvSpPr>
          <p:nvPr/>
        </p:nvSpPr>
        <p:spPr bwMode="auto">
          <a:xfrm>
            <a:off x="3635896" y="2610381"/>
            <a:ext cx="5259943" cy="146669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锐捷网络股份有限公司</a:t>
            </a:r>
            <a:endParaRPr lang="en-US" altLang="zh-CN" sz="1200" dirty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地址：北京海淀区复兴路</a:t>
            </a: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29</a:t>
            </a: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号中意鹏奥大厦东塔</a:t>
            </a: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A</a:t>
            </a: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座</a:t>
            </a: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11</a:t>
            </a: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层   邮编：</a:t>
            </a: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100036</a:t>
            </a:r>
            <a:endParaRPr lang="zh-CN" altLang="en-US" sz="1200" dirty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Office Tel: 010-5171 5999     Fax: 010-5171 5872</a:t>
            </a:r>
          </a:p>
          <a:p>
            <a:pPr eaLnBrk="1" hangingPunct="1">
              <a:lnSpc>
                <a:spcPct val="150000"/>
              </a:lnSpc>
            </a:pPr>
            <a:endParaRPr lang="zh-CN" altLang="en-US" sz="1200" dirty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www.ruijie.com.cn </a:t>
            </a:r>
            <a:endParaRPr lang="zh-CN" altLang="en-US" sz="1200" dirty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9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 descr="场景无限 智享物联 锐捷网络移动医疗解决方案2018-0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860698" y="476672"/>
            <a:ext cx="1798320" cy="307975"/>
          </a:xfrm>
          <a:prstGeom prst="rect">
            <a:avLst/>
          </a:prstGeom>
        </p:spPr>
      </p:pic>
      <p:pic>
        <p:nvPicPr>
          <p:cNvPr id="4" name="图片 3" descr="组 13 拷贝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2215" y="1545590"/>
            <a:ext cx="5596890" cy="3184525"/>
          </a:xfrm>
          <a:prstGeom prst="rect">
            <a:avLst/>
          </a:prstGeom>
        </p:spPr>
      </p:pic>
      <p:sp>
        <p:nvSpPr>
          <p:cNvPr id="6" name="任意多边形 5"/>
          <p:cNvSpPr/>
          <p:nvPr/>
        </p:nvSpPr>
        <p:spPr>
          <a:xfrm>
            <a:off x="687070" y="-39370"/>
            <a:ext cx="1511935" cy="1340485"/>
          </a:xfrm>
          <a:custGeom>
            <a:avLst/>
            <a:gdLst>
              <a:gd name="connsiteX0" fmla="*/ 0 w 2381"/>
              <a:gd name="connsiteY0" fmla="*/ 0 h 2111"/>
              <a:gd name="connsiteX1" fmla="*/ 2381 w 2381"/>
              <a:gd name="connsiteY1" fmla="*/ 0 h 2111"/>
              <a:gd name="connsiteX2" fmla="*/ 2378 w 2381"/>
              <a:gd name="connsiteY2" fmla="*/ 1687 h 2111"/>
              <a:gd name="connsiteX3" fmla="*/ 0 w 2381"/>
              <a:gd name="connsiteY3" fmla="*/ 2111 h 2111"/>
              <a:gd name="connsiteX4" fmla="*/ 0 w 2381"/>
              <a:gd name="connsiteY4" fmla="*/ 0 h 2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1" h="2111">
                <a:moveTo>
                  <a:pt x="0" y="0"/>
                </a:moveTo>
                <a:lnTo>
                  <a:pt x="2381" y="0"/>
                </a:lnTo>
                <a:lnTo>
                  <a:pt x="2378" y="1687"/>
                </a:lnTo>
                <a:lnTo>
                  <a:pt x="0" y="211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5004F"/>
              </a:gs>
              <a:gs pos="100000">
                <a:srgbClr val="E6001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685318" y="302352"/>
            <a:ext cx="1515437" cy="6754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>
              <a:lnSpc>
                <a:spcPts val="2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</a:rPr>
              <a:t>与场景亲密接触</a:t>
            </a:r>
            <a:endParaRPr lang="en-US" altLang="zh-CN" sz="1400" dirty="0">
              <a:solidFill>
                <a:schemeClr val="bg1"/>
              </a:solidFill>
              <a:cs typeface="+mn-ea"/>
            </a:endParaRPr>
          </a:p>
          <a:p>
            <a:pPr algn="ctr">
              <a:lnSpc>
                <a:spcPts val="2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</a:rPr>
              <a:t>做方案创新专家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dfcbcfca-3f5f-4a13-977e-1b65abdf6400"/>
  <p:tag name="COMMONDATA" val="eyJoZGlkIjoiZmUwNDA3MDQzYTc3NDEzNzFkMDFmZDJkM2M2YzQzN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62a4c95-bee9-4e91-b5f8-84fa3adf36db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jqomxa5u">
      <a:majorFont>
        <a:latin typeface=""/>
        <a:ea typeface="微软雅黑 Light"/>
        <a:cs typeface=""/>
      </a:majorFont>
      <a:minorFont>
        <a:latin typeface="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2992</TotalTime>
  <Words>1287</Words>
  <Application>Microsoft Office PowerPoint</Application>
  <PresentationFormat>全屏显示(4:3)</PresentationFormat>
  <Paragraphs>133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仿宋</vt:lpstr>
      <vt:lpstr>宋体</vt:lpstr>
      <vt:lpstr>微软雅黑</vt:lpstr>
      <vt:lpstr>微软雅黑 Light</vt:lpstr>
      <vt:lpstr>Arial</vt:lpstr>
      <vt:lpstr>Calibri</vt:lpstr>
      <vt:lpstr>Office 主题</vt:lpstr>
      <vt:lpstr>试用期中期答辩</vt:lpstr>
      <vt:lpstr>PowerPoint 演示文稿</vt:lpstr>
      <vt:lpstr>1、自我介绍</vt:lpstr>
      <vt:lpstr>2、岗位职责及岗位认知</vt:lpstr>
      <vt:lpstr>3、双月目标及关键达成</vt:lpstr>
      <vt:lpstr>4、工作中的亮点、机会点</vt:lpstr>
      <vt:lpstr>5、下一阶段工作规划</vt:lpstr>
      <vt:lpstr>6、当前的困惑&amp;建议</vt:lpstr>
      <vt:lpstr>PowerPoint 演示文稿</vt:lpstr>
    </vt:vector>
  </TitlesOfParts>
  <Company>锐捷网络股份有限公司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2018公司PPT模版</dc:title>
  <dc:creator>林士扬(HR 北京)</dc:creator>
  <cp:lastModifiedBy>Lenovo</cp:lastModifiedBy>
  <cp:revision>416</cp:revision>
  <dcterms:created xsi:type="dcterms:W3CDTF">2018-01-30T14:18:00Z</dcterms:created>
  <dcterms:modified xsi:type="dcterms:W3CDTF">2025-04-24T00:43:17Z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17FB8E1E7FF740798C0C44F52BA8AF65</vt:lpwstr>
  </property>
</Properties>
</file>