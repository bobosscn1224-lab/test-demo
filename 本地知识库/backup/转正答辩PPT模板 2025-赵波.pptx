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9" r:id="rId2"/>
    <p:sldId id="257" r:id="rId3"/>
    <p:sldId id="289" r:id="rId4"/>
    <p:sldId id="307" r:id="rId5"/>
    <p:sldId id="293" r:id="rId6"/>
    <p:sldId id="292" r:id="rId7"/>
    <p:sldId id="311" r:id="rId8"/>
    <p:sldId id="264" r:id="rId9"/>
  </p:sldIdLst>
  <p:sldSz cx="9144000" cy="6858000" type="screen4x3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0033"/>
    <a:srgbClr val="910015"/>
    <a:srgbClr val="27C39E"/>
    <a:srgbClr val="2CD4AC"/>
    <a:srgbClr val="2CDCAC"/>
    <a:srgbClr val="27BF9B"/>
    <a:srgbClr val="00FFCC"/>
    <a:srgbClr val="996600"/>
    <a:srgbClr val="D09C0A"/>
    <a:srgbClr val="A078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01" autoAdjust="0"/>
    <p:restoredTop sz="83356" autoAdjust="0"/>
  </p:normalViewPr>
  <p:slideViewPr>
    <p:cSldViewPr showGuides="1">
      <p:cViewPr varScale="1">
        <p:scale>
          <a:sx n="73" d="100"/>
          <a:sy n="73" d="100"/>
        </p:scale>
        <p:origin x="1560" y="48"/>
      </p:cViewPr>
      <p:guideLst>
        <p:guide orient="horz" pos="2137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FBC01C-0604-4629-ACC8-3F5670522AC3}" type="datetimeFigureOut">
              <a:rPr lang="zh-CN" altLang="en-US" smtClean="0"/>
              <a:t>2025/7/2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842B2D-961B-4F11-9D4F-F4B940EBF9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186651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05765E-E08B-4CCB-AE85-B4DEE85320BC}" type="datetimeFigureOut">
              <a:rPr lang="zh-CN" altLang="en-US" smtClean="0"/>
              <a:t>2025/7/2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44498C-04FC-4C57-9267-2C30343E44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757525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1—3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页为封面页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请根据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PPT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内容风格自行选择一个使用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44498C-04FC-4C57-9267-2C30343E44FC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79914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44498C-04FC-4C57-9267-2C30343E44FC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66627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sz="1200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、对试用期的目标达成情况进行量化描述，如无法量化，需写明工作结果及里程碑的差距。</a:t>
            </a:r>
            <a:endParaRPr lang="en-US" altLang="zh-CN" sz="1200" dirty="0">
              <a:solidFill>
                <a:schemeClr val="tx1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en-US" altLang="zh-CN" sz="1200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2</a:t>
            </a:r>
            <a:r>
              <a:rPr lang="zh-CN" altLang="en-US" sz="1200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、说明工作中遇到的具体问题，解决方案、实施步骤及结果。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44498C-04FC-4C57-9267-2C30343E44F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80726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工作亮点为工作中表现的闪光点，可给别人提供正向参考价值，可沉淀经验</a:t>
            </a:r>
            <a:endParaRPr lang="en-US" altLang="zh-CN" dirty="0"/>
          </a:p>
          <a:p>
            <a:r>
              <a:rPr lang="zh-CN" altLang="en-US" dirty="0"/>
              <a:t>工作机会点为工作中可改善的，或可大力发展的方面。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44498C-04FC-4C57-9267-2C30343E44F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56063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chemeClr val="tx1"/>
                </a:solidFill>
                <a:cs typeface="+mn-ea"/>
                <a:sym typeface="+mn-lt"/>
              </a:rPr>
              <a:t>框内填写规则：</a:t>
            </a:r>
            <a:endParaRPr lang="en-US" altLang="zh-CN" sz="1200" dirty="0">
              <a:solidFill>
                <a:schemeClr val="tx1"/>
              </a:solidFill>
              <a:cs typeface="+mn-ea"/>
              <a:sym typeface="+mn-lt"/>
            </a:endParaRPr>
          </a:p>
          <a:p>
            <a:r>
              <a:rPr lang="en-US" altLang="zh-CN" sz="1200" dirty="0">
                <a:solidFill>
                  <a:schemeClr val="tx1"/>
                </a:solidFill>
                <a:cs typeface="+mn-ea"/>
                <a:sym typeface="+mn-lt"/>
              </a:rPr>
              <a:t>1</a:t>
            </a:r>
            <a:r>
              <a:rPr lang="zh-CN" altLang="en-US" sz="1200" dirty="0">
                <a:solidFill>
                  <a:schemeClr val="tx1"/>
                </a:solidFill>
                <a:cs typeface="+mn-ea"/>
                <a:sym typeface="+mn-lt"/>
              </a:rPr>
              <a:t>、额外的学习情况</a:t>
            </a:r>
            <a:endParaRPr lang="en-US" altLang="zh-CN" sz="1200" dirty="0">
              <a:solidFill>
                <a:schemeClr val="tx1"/>
              </a:solidFill>
              <a:cs typeface="+mn-ea"/>
              <a:sym typeface="+mn-lt"/>
            </a:endParaRPr>
          </a:p>
          <a:p>
            <a:r>
              <a:rPr lang="en-US" altLang="zh-CN" sz="1200" dirty="0">
                <a:solidFill>
                  <a:schemeClr val="tx1"/>
                </a:solidFill>
                <a:cs typeface="+mn-ea"/>
                <a:sym typeface="+mn-lt"/>
              </a:rPr>
              <a:t>2</a:t>
            </a:r>
            <a:r>
              <a:rPr lang="zh-CN" altLang="en-US" sz="1200" dirty="0">
                <a:solidFill>
                  <a:schemeClr val="tx1"/>
                </a:solidFill>
                <a:cs typeface="+mn-ea"/>
                <a:sym typeface="+mn-lt"/>
              </a:rPr>
              <a:t>、总体的成长记进步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44498C-04FC-4C57-9267-2C30343E44FC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26058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1</a:t>
            </a:r>
            <a:r>
              <a:rPr lang="zh-CN" altLang="en-US" dirty="0"/>
              <a:t>、针对自己下一步工作目标，结合当前市场情况，描述具体的行动计划。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2</a:t>
            </a:r>
            <a:r>
              <a:rPr lang="zh-CN" altLang="en-US" dirty="0"/>
              <a:t>、量化说明具体的目标，具体说明业务、动作。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44498C-04FC-4C57-9267-2C30343E44F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65442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1</a:t>
            </a:r>
            <a:r>
              <a:rPr lang="zh-CN" altLang="en-US" dirty="0"/>
              <a:t>、针对自己下一步工作目标，结合当前市场情况，描述具体的行动计划。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2</a:t>
            </a:r>
            <a:r>
              <a:rPr lang="zh-CN" altLang="en-US" dirty="0"/>
              <a:t>、量化说明具体的目标，具体说明业务、动作。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44498C-04FC-4C57-9267-2C30343E44F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48759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24—26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页为封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底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页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请根据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PPT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内容风格自行选择一个使用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44498C-04FC-4C57-9267-2C30343E44F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55151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916832"/>
            <a:ext cx="7772400" cy="1010543"/>
          </a:xfrm>
        </p:spPr>
        <p:txBody>
          <a:bodyPr>
            <a:normAutofit/>
          </a:bodyPr>
          <a:lstStyle>
            <a:lvl1pPr algn="l">
              <a:defRPr sz="3600" b="1">
                <a:solidFill>
                  <a:srgbClr val="E6003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683568" y="2924944"/>
            <a:ext cx="6400800" cy="550912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2" name="文本占位符 2"/>
          <p:cNvSpPr>
            <a:spLocks noGrp="1"/>
          </p:cNvSpPr>
          <p:nvPr>
            <p:ph type="body" idx="13" hasCustomPrompt="1"/>
          </p:nvPr>
        </p:nvSpPr>
        <p:spPr>
          <a:xfrm>
            <a:off x="683569" y="4077072"/>
            <a:ext cx="3312368" cy="288032"/>
          </a:xfrm>
        </p:spPr>
        <p:txBody>
          <a:bodyPr anchor="t" anchorCtr="0">
            <a:normAutofit/>
          </a:bodyPr>
          <a:lstStyle>
            <a:lvl1pPr marL="0" indent="0">
              <a:buNone/>
              <a:defRPr sz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作者：代用名  </a:t>
            </a:r>
            <a:endParaRPr lang="en-US" altLang="zh-CN" dirty="0"/>
          </a:p>
        </p:txBody>
      </p:sp>
      <p:sp>
        <p:nvSpPr>
          <p:cNvPr id="13" name="文本占位符 2"/>
          <p:cNvSpPr>
            <a:spLocks noGrp="1"/>
          </p:cNvSpPr>
          <p:nvPr>
            <p:ph type="body" idx="14" hasCustomPrompt="1"/>
          </p:nvPr>
        </p:nvSpPr>
        <p:spPr>
          <a:xfrm>
            <a:off x="683568" y="4365104"/>
            <a:ext cx="3312368" cy="288031"/>
          </a:xfrm>
        </p:spPr>
        <p:txBody>
          <a:bodyPr anchor="t" anchorCtr="0">
            <a:normAutofit/>
          </a:bodyPr>
          <a:lstStyle>
            <a:lvl1pPr marL="0" indent="0">
              <a:buNone/>
              <a:defRPr sz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日期：</a:t>
            </a:r>
            <a:r>
              <a:rPr lang="en-US" altLang="zh-CN" dirty="0"/>
              <a:t>xx/xx/xx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/>
          </a:bodyPr>
          <a:lstStyle>
            <a:lvl1pPr algn="l">
              <a:defRPr sz="3200" b="1">
                <a:solidFill>
                  <a:srgbClr val="E6003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857403"/>
          </a:xfrm>
        </p:spPr>
        <p:txBody>
          <a:bodyPr/>
          <a:lstStyle>
            <a:lvl1pPr>
              <a:defRPr sz="2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0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页脚占位符 3"/>
          <p:cNvSpPr>
            <a:spLocks noChangeArrowheads="1"/>
          </p:cNvSpPr>
          <p:nvPr userDrawn="1"/>
        </p:nvSpPr>
        <p:spPr bwMode="auto">
          <a:xfrm>
            <a:off x="731357" y="6309321"/>
            <a:ext cx="1656184" cy="2880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 b="1" i="1" dirty="0">
                <a:solidFill>
                  <a:srgbClr val="000000"/>
                </a:solidFill>
                <a:ea typeface="微软雅黑" panose="020B0503020204020204" pitchFamily="34" charset="-122"/>
                <a:sym typeface="宋体" panose="02010600030101010101" pitchFamily="2" charset="-122"/>
              </a:rPr>
              <a:t>|  </a:t>
            </a:r>
            <a:r>
              <a:rPr lang="en-US" altLang="zh-CN" sz="1200" b="0" i="1" dirty="0" err="1">
                <a:solidFill>
                  <a:srgbClr val="000000"/>
                </a:solidFill>
                <a:ea typeface="微软雅黑" panose="020B0503020204020204" pitchFamily="34" charset="-122"/>
                <a:sym typeface="宋体" panose="02010600030101010101" pitchFamily="2" charset="-122"/>
              </a:rPr>
              <a:t>www.ruijie.com.cn</a:t>
            </a:r>
            <a:endParaRPr lang="en-US" altLang="zh-CN" sz="1200" b="0" i="1" dirty="0">
              <a:solidFill>
                <a:srgbClr val="000000"/>
              </a:solidFill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1"/>
          </p:nvPr>
        </p:nvSpPr>
        <p:spPr>
          <a:xfrm>
            <a:off x="238760" y="6356350"/>
            <a:ext cx="537845" cy="241300"/>
          </a:xfrm>
        </p:spPr>
        <p:txBody>
          <a:bodyPr/>
          <a:lstStyle>
            <a:lvl1pPr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1C1B161-4EA0-4354-A154-2430C001F00B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5" name="图片 4" descr="场景无限 智享物联 锐捷网络移动医疗解决方案2018-0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88638" y="6289462"/>
            <a:ext cx="1798320" cy="3079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857403"/>
          </a:xfrm>
        </p:spPr>
        <p:txBody>
          <a:bodyPr/>
          <a:lstStyle>
            <a:lvl1pPr>
              <a:defRPr sz="2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0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" name="页脚占位符 3"/>
          <p:cNvSpPr>
            <a:spLocks noChangeArrowheads="1"/>
          </p:cNvSpPr>
          <p:nvPr userDrawn="1"/>
        </p:nvSpPr>
        <p:spPr bwMode="auto">
          <a:xfrm>
            <a:off x="731357" y="6309321"/>
            <a:ext cx="1656184" cy="2880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 b="1" i="1" dirty="0">
                <a:solidFill>
                  <a:srgbClr val="000000"/>
                </a:solidFill>
                <a:ea typeface="微软雅黑" panose="020B0503020204020204" pitchFamily="34" charset="-122"/>
                <a:sym typeface="宋体" panose="02010600030101010101" pitchFamily="2" charset="-122"/>
              </a:rPr>
              <a:t>|  </a:t>
            </a:r>
            <a:r>
              <a:rPr lang="en-US" altLang="zh-CN" sz="1200" b="0" i="1" dirty="0" err="1">
                <a:solidFill>
                  <a:srgbClr val="000000"/>
                </a:solidFill>
                <a:ea typeface="微软雅黑" panose="020B0503020204020204" pitchFamily="34" charset="-122"/>
                <a:sym typeface="宋体" panose="02010600030101010101" pitchFamily="2" charset="-122"/>
              </a:rPr>
              <a:t>www.ruijie.com.cn</a:t>
            </a:r>
            <a:endParaRPr lang="en-US" altLang="zh-CN" sz="1200" b="0" i="1" dirty="0">
              <a:solidFill>
                <a:srgbClr val="000000"/>
              </a:solidFill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1"/>
          </p:nvPr>
        </p:nvSpPr>
        <p:spPr>
          <a:xfrm>
            <a:off x="238760" y="6356350"/>
            <a:ext cx="537845" cy="241300"/>
          </a:xfrm>
        </p:spPr>
        <p:txBody>
          <a:bodyPr/>
          <a:lstStyle>
            <a:lvl1pPr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1C1B161-4EA0-4354-A154-2430C001F00B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5" name="图片 4" descr="场景无限 智享物联 锐捷网络移动医疗解决方案2018-0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888638" y="6289462"/>
            <a:ext cx="1798320" cy="3079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/>
              <a:t>01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1B161-4EA0-4354-A154-2430C001F00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1B161-4EA0-4354-A154-2430C001F00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1B161-4EA0-4354-A154-2430C001F00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1B161-4EA0-4354-A154-2430C001F00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1B161-4EA0-4354-A154-2430C001F00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1B161-4EA0-4354-A154-2430C001F00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1B161-4EA0-4354-A154-2430C001F00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1B161-4EA0-4354-A154-2430C001F00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C1B161-4EA0-4354-A154-2430C001F00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Troub\Desktop\2a.jpg2a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87" y="0"/>
            <a:ext cx="9144635" cy="6858000"/>
          </a:xfrm>
          <a:prstGeom prst="rect">
            <a:avLst/>
          </a:prstGeom>
          <a:noFill/>
        </p:spPr>
      </p:pic>
      <p:pic>
        <p:nvPicPr>
          <p:cNvPr id="2" name="图片 1" descr="场景无限 智享物联 锐捷网络移动医疗解决方案2018-0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0698" y="476672"/>
            <a:ext cx="1798320" cy="307975"/>
          </a:xfrm>
          <a:prstGeom prst="rect">
            <a:avLst/>
          </a:prstGeom>
        </p:spPr>
      </p:pic>
      <p:sp>
        <p:nvSpPr>
          <p:cNvPr id="8" name="任意多边形 7"/>
          <p:cNvSpPr/>
          <p:nvPr/>
        </p:nvSpPr>
        <p:spPr>
          <a:xfrm>
            <a:off x="687070" y="-39370"/>
            <a:ext cx="1511935" cy="1340485"/>
          </a:xfrm>
          <a:custGeom>
            <a:avLst/>
            <a:gdLst>
              <a:gd name="connsiteX0" fmla="*/ 0 w 2381"/>
              <a:gd name="connsiteY0" fmla="*/ 0 h 2111"/>
              <a:gd name="connsiteX1" fmla="*/ 2381 w 2381"/>
              <a:gd name="connsiteY1" fmla="*/ 0 h 2111"/>
              <a:gd name="connsiteX2" fmla="*/ 2378 w 2381"/>
              <a:gd name="connsiteY2" fmla="*/ 1687 h 2111"/>
              <a:gd name="connsiteX3" fmla="*/ 0 w 2381"/>
              <a:gd name="connsiteY3" fmla="*/ 2111 h 2111"/>
              <a:gd name="connsiteX4" fmla="*/ 0 w 2381"/>
              <a:gd name="connsiteY4" fmla="*/ 0 h 21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81" h="2111">
                <a:moveTo>
                  <a:pt x="0" y="0"/>
                </a:moveTo>
                <a:lnTo>
                  <a:pt x="2381" y="0"/>
                </a:lnTo>
                <a:lnTo>
                  <a:pt x="2378" y="1687"/>
                </a:lnTo>
                <a:lnTo>
                  <a:pt x="0" y="2111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E5004F"/>
              </a:gs>
              <a:gs pos="100000">
                <a:srgbClr val="E60012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685318" y="302352"/>
            <a:ext cx="1515437" cy="6754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1" kern="1200">
                <a:solidFill>
                  <a:srgbClr val="E600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algn="ctr">
              <a:lnSpc>
                <a:spcPts val="2000"/>
              </a:lnSpc>
            </a:pPr>
            <a:r>
              <a:rPr lang="zh-CN" altLang="en-US" sz="1400" dirty="0">
                <a:solidFill>
                  <a:schemeClr val="bg1"/>
                </a:solidFill>
              </a:rPr>
              <a:t>与场景亲密接触</a:t>
            </a:r>
            <a:endParaRPr lang="en-US" altLang="zh-CN" sz="1400" dirty="0">
              <a:solidFill>
                <a:schemeClr val="bg1"/>
              </a:solidFill>
            </a:endParaRPr>
          </a:p>
          <a:p>
            <a:pPr algn="ctr">
              <a:lnSpc>
                <a:spcPts val="2000"/>
              </a:lnSpc>
            </a:pPr>
            <a:r>
              <a:rPr lang="zh-CN" altLang="en-US" sz="1400" dirty="0">
                <a:solidFill>
                  <a:schemeClr val="bg1"/>
                </a:solidFill>
              </a:rPr>
              <a:t>做方案创新专家</a:t>
            </a:r>
          </a:p>
        </p:txBody>
      </p:sp>
      <p:sp>
        <p:nvSpPr>
          <p:cNvPr id="11" name="标题 19"/>
          <p:cNvSpPr>
            <a:spLocks noGrp="1"/>
          </p:cNvSpPr>
          <p:nvPr>
            <p:ph type="ctrTitle"/>
          </p:nvPr>
        </p:nvSpPr>
        <p:spPr>
          <a:xfrm>
            <a:off x="685800" y="1916832"/>
            <a:ext cx="7772400" cy="1010543"/>
          </a:xfrm>
        </p:spPr>
        <p:txBody>
          <a:bodyPr/>
          <a:lstStyle/>
          <a:p>
            <a:r>
              <a:rPr lang="zh-CN" altLang="en-US" dirty="0">
                <a:cs typeface="+mn-ea"/>
              </a:rPr>
              <a:t>试用期员工转正答辩</a:t>
            </a:r>
          </a:p>
        </p:txBody>
      </p:sp>
      <p:sp>
        <p:nvSpPr>
          <p:cNvPr id="12" name="副标题 20"/>
          <p:cNvSpPr>
            <a:spLocks noGrp="1"/>
          </p:cNvSpPr>
          <p:nvPr>
            <p:ph type="subTitle" idx="1"/>
          </p:nvPr>
        </p:nvSpPr>
        <p:spPr>
          <a:xfrm>
            <a:off x="683568" y="2924944"/>
            <a:ext cx="6400800" cy="550912"/>
          </a:xfrm>
        </p:spPr>
        <p:txBody>
          <a:bodyPr>
            <a:normAutofit/>
          </a:bodyPr>
          <a:lstStyle/>
          <a:p>
            <a:endParaRPr lang="en-US" altLang="zh-CN" dirty="0">
              <a:cs typeface="+mn-ea"/>
            </a:endParaRPr>
          </a:p>
        </p:txBody>
      </p:sp>
      <p:sp>
        <p:nvSpPr>
          <p:cNvPr id="13" name="文本占位符 21"/>
          <p:cNvSpPr>
            <a:spLocks noGrp="1"/>
          </p:cNvSpPr>
          <p:nvPr>
            <p:ph type="body" idx="13"/>
          </p:nvPr>
        </p:nvSpPr>
        <p:spPr>
          <a:xfrm>
            <a:off x="683569" y="4077072"/>
            <a:ext cx="3312368" cy="288032"/>
          </a:xfrm>
        </p:spPr>
        <p:txBody>
          <a:bodyPr/>
          <a:lstStyle/>
          <a:p>
            <a:r>
              <a:rPr lang="zh-CN" altLang="en-US" dirty="0">
                <a:cs typeface="+mn-ea"/>
              </a:rPr>
              <a:t>姓名</a:t>
            </a:r>
            <a:r>
              <a:rPr lang="zh-CN" altLang="en-US" dirty="0" smtClean="0">
                <a:cs typeface="+mn-ea"/>
              </a:rPr>
              <a:t>：赵波</a:t>
            </a:r>
            <a:endParaRPr lang="zh-CN" altLang="en-US" dirty="0">
              <a:cs typeface="+mn-ea"/>
            </a:endParaRPr>
          </a:p>
        </p:txBody>
      </p:sp>
      <p:sp>
        <p:nvSpPr>
          <p:cNvPr id="14" name="文本占位符 22"/>
          <p:cNvSpPr>
            <a:spLocks noGrp="1"/>
          </p:cNvSpPr>
          <p:nvPr>
            <p:ph type="body" idx="14"/>
          </p:nvPr>
        </p:nvSpPr>
        <p:spPr>
          <a:xfrm>
            <a:off x="683568" y="4365104"/>
            <a:ext cx="3312368" cy="288031"/>
          </a:xfrm>
        </p:spPr>
        <p:txBody>
          <a:bodyPr/>
          <a:lstStyle/>
          <a:p>
            <a:r>
              <a:rPr lang="zh-CN" altLang="en-US" dirty="0">
                <a:cs typeface="+mn-ea"/>
              </a:rPr>
              <a:t>日期：***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67544" y="404664"/>
            <a:ext cx="33123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E60039"/>
                </a:solidFill>
                <a:ea typeface="微软雅黑" panose="020B0503020204020204" pitchFamily="34" charset="-122"/>
                <a:cs typeface="+mn-ea"/>
              </a:rPr>
              <a:t>Contents</a:t>
            </a:r>
            <a:r>
              <a:rPr lang="en-US" altLang="zh-CN" sz="2800" dirty="0">
                <a:solidFill>
                  <a:srgbClr val="FF0000"/>
                </a:solidFill>
                <a:ea typeface="微软雅黑" panose="020B0503020204020204" pitchFamily="34" charset="-122"/>
                <a:cs typeface="+mn-ea"/>
              </a:rPr>
              <a:t> </a:t>
            </a:r>
            <a:r>
              <a:rPr lang="zh-CN" altLang="en-US" sz="3200" b="1" dirty="0">
                <a:solidFill>
                  <a:srgbClr val="E60039"/>
                </a:solidFill>
                <a:ea typeface="微软雅黑" panose="020B0503020204020204" pitchFamily="34" charset="-122"/>
                <a:cs typeface="+mn-ea"/>
              </a:rPr>
              <a:t>目录</a:t>
            </a:r>
          </a:p>
        </p:txBody>
      </p:sp>
      <p:sp>
        <p:nvSpPr>
          <p:cNvPr id="8" name="矩形 7"/>
          <p:cNvSpPr/>
          <p:nvPr/>
        </p:nvSpPr>
        <p:spPr>
          <a:xfrm>
            <a:off x="0" y="404664"/>
            <a:ext cx="467544" cy="504056"/>
          </a:xfrm>
          <a:prstGeom prst="rect">
            <a:avLst/>
          </a:prstGeom>
          <a:solidFill>
            <a:srgbClr val="E600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1C1B161-4EA0-4354-A154-2430C001F00B}" type="slidenum">
              <a:rPr lang="zh-CN" altLang="en-US" smtClean="0">
                <a:ea typeface="微软雅黑" panose="020B0503020204020204" pitchFamily="34" charset="-122"/>
                <a:cs typeface="+mn-ea"/>
              </a:rPr>
              <a:t>2</a:t>
            </a:fld>
            <a:endParaRPr lang="zh-CN" altLang="en-US" dirty="0"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7" name="文本占位符 43"/>
          <p:cNvSpPr txBox="1"/>
          <p:nvPr/>
        </p:nvSpPr>
        <p:spPr>
          <a:xfrm>
            <a:off x="611561" y="1268760"/>
            <a:ext cx="7860356" cy="4248472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7200" indent="-4572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300"/>
              </a:spcAft>
              <a:buFont typeface="+mj-lt"/>
              <a:buAutoNum type="arabicPeriod"/>
              <a:defRPr sz="3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chemeClr val="tx1"/>
                </a:solidFill>
                <a:ea typeface="微软雅黑" panose="020B0503020204020204" pitchFamily="34" charset="-122"/>
                <a:cs typeface="+mn-ea"/>
              </a:rPr>
              <a:t>试用期目标及达成情况</a:t>
            </a:r>
            <a:endParaRPr lang="en-US" altLang="zh-CN" dirty="0">
              <a:solidFill>
                <a:schemeClr val="tx1"/>
              </a:solidFill>
              <a:ea typeface="微软雅黑" panose="020B0503020204020204" pitchFamily="34" charset="-122"/>
              <a:cs typeface="+mn-ea"/>
            </a:endParaRPr>
          </a:p>
          <a:p>
            <a:r>
              <a:rPr lang="zh-CN" altLang="en-US" dirty="0">
                <a:solidFill>
                  <a:schemeClr val="tx1"/>
                </a:solidFill>
                <a:ea typeface="微软雅黑" panose="020B0503020204020204" pitchFamily="34" charset="-122"/>
                <a:cs typeface="+mn-ea"/>
              </a:rPr>
              <a:t>工作中的亮点和机会点</a:t>
            </a:r>
            <a:endParaRPr lang="en-US" altLang="zh-CN" dirty="0">
              <a:solidFill>
                <a:schemeClr val="tx1"/>
              </a:solidFill>
              <a:ea typeface="微软雅黑" panose="020B0503020204020204" pitchFamily="34" charset="-122"/>
              <a:cs typeface="+mn-ea"/>
            </a:endParaRPr>
          </a:p>
          <a:p>
            <a:r>
              <a:rPr lang="zh-CN" altLang="en-US" dirty="0">
                <a:solidFill>
                  <a:schemeClr val="tx1"/>
                </a:solidFill>
                <a:ea typeface="微软雅黑" panose="020B0503020204020204" pitchFamily="34" charset="-122"/>
                <a:cs typeface="+mn-ea"/>
              </a:rPr>
              <a:t>试用期期间的经验与能力提升</a:t>
            </a:r>
            <a:endParaRPr lang="en-US" altLang="zh-CN" dirty="0">
              <a:solidFill>
                <a:schemeClr val="tx1"/>
              </a:solidFill>
              <a:ea typeface="微软雅黑" panose="020B0503020204020204" pitchFamily="34" charset="-122"/>
              <a:cs typeface="+mn-ea"/>
            </a:endParaRPr>
          </a:p>
          <a:p>
            <a:r>
              <a:rPr lang="en-US" altLang="zh-CN" dirty="0">
                <a:solidFill>
                  <a:schemeClr val="tx1"/>
                </a:solidFill>
                <a:ea typeface="微软雅黑" panose="020B0503020204020204" pitchFamily="34" charset="-122"/>
                <a:cs typeface="+mn-ea"/>
              </a:rPr>
              <a:t>25</a:t>
            </a:r>
            <a:r>
              <a:rPr lang="zh-CN" altLang="en-US" dirty="0">
                <a:solidFill>
                  <a:schemeClr val="tx1"/>
                </a:solidFill>
                <a:ea typeface="微软雅黑" panose="020B0503020204020204" pitchFamily="34" charset="-122"/>
                <a:cs typeface="+mn-ea"/>
              </a:rPr>
              <a:t>年下半年的绩效承诺</a:t>
            </a:r>
          </a:p>
          <a:p>
            <a:r>
              <a:rPr lang="zh-CN" altLang="en-US" dirty="0">
                <a:solidFill>
                  <a:schemeClr val="tx1"/>
                </a:solidFill>
                <a:ea typeface="微软雅黑" panose="020B0503020204020204" pitchFamily="34" charset="-122"/>
                <a:cs typeface="+mn-ea"/>
              </a:rPr>
              <a:t>对部门或业务的建议</a:t>
            </a:r>
            <a:endParaRPr lang="en-US" altLang="zh-CN" dirty="0">
              <a:solidFill>
                <a:schemeClr val="tx1"/>
              </a:solidFill>
              <a:ea typeface="微软雅黑" panose="020B0503020204020204" pitchFamily="34" charset="-122"/>
              <a:cs typeface="+mn-ea"/>
            </a:endParaRPr>
          </a:p>
          <a:p>
            <a:endParaRPr lang="en-US" altLang="zh-CN" dirty="0">
              <a:solidFill>
                <a:schemeClr val="tx1"/>
              </a:solidFill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olidFill>
                  <a:srgbClr val="E60033"/>
                </a:solidFill>
                <a:cs typeface="+mn-ea"/>
              </a:rPr>
              <a:t>1</a:t>
            </a:r>
            <a:r>
              <a:rPr lang="zh-CN" altLang="en-US" dirty="0">
                <a:solidFill>
                  <a:srgbClr val="E60033"/>
                </a:solidFill>
                <a:cs typeface="+mn-ea"/>
              </a:rPr>
              <a:t>、试用期目标及达成情况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1C1B161-4EA0-4354-A154-2430C001F00B}" type="slidenum">
              <a:rPr lang="zh-CN" altLang="en-US" smtClean="0">
                <a:ea typeface="微软雅黑" panose="020B0503020204020204" pitchFamily="34" charset="-122"/>
                <a:cs typeface="+mn-ea"/>
              </a:rPr>
              <a:t>3</a:t>
            </a:fld>
            <a:endParaRPr lang="zh-CN" altLang="en-US" dirty="0">
              <a:ea typeface="微软雅黑" panose="020B0503020204020204" pitchFamily="34" charset="-122"/>
              <a:cs typeface="+mn-ea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2912353"/>
              </p:ext>
            </p:extLst>
          </p:nvPr>
        </p:nvGraphicFramePr>
        <p:xfrm>
          <a:off x="339450" y="908720"/>
          <a:ext cx="8465101" cy="37231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21909"/>
                <a:gridCol w="1682449"/>
                <a:gridCol w="1728192"/>
                <a:gridCol w="2160240"/>
                <a:gridCol w="576064"/>
                <a:gridCol w="549799"/>
                <a:gridCol w="946448"/>
              </a:tblGrid>
              <a:tr h="622778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u="none" strike="noStrike" dirty="0">
                          <a:effectLst/>
                          <a:ea typeface="微软雅黑" panose="020B0503020204020204" pitchFamily="34" charset="-122"/>
                          <a:cs typeface="+mn-ea"/>
                        </a:rPr>
                        <a:t>主要工作职责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u="none" strike="noStrike" dirty="0">
                          <a:effectLst/>
                          <a:ea typeface="微软雅黑" panose="020B0503020204020204" pitchFamily="34" charset="-122"/>
                          <a:cs typeface="+mn-ea"/>
                        </a:rPr>
                        <a:t>本周期内的关键目标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u="none" strike="noStrike" dirty="0">
                          <a:effectLst/>
                          <a:ea typeface="微软雅黑" panose="020B0503020204020204" pitchFamily="34" charset="-122"/>
                          <a:cs typeface="+mn-ea"/>
                        </a:rPr>
                        <a:t>目标的考核标准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u="none" strike="noStrike" dirty="0">
                          <a:effectLst/>
                          <a:ea typeface="微软雅黑" panose="020B0503020204020204" pitchFamily="34" charset="-122"/>
                          <a:cs typeface="+mn-ea"/>
                        </a:rPr>
                        <a:t>关键举措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u="none" strike="noStrike" dirty="0">
                          <a:effectLst/>
                          <a:ea typeface="微软雅黑" panose="020B0503020204020204" pitchFamily="34" charset="-122"/>
                          <a:cs typeface="+mn-ea"/>
                        </a:rPr>
                        <a:t>权重（</a:t>
                      </a:r>
                      <a:r>
                        <a:rPr lang="en-US" altLang="zh-CN" sz="1400" b="1" u="none" strike="noStrike" dirty="0">
                          <a:effectLst/>
                          <a:ea typeface="微软雅黑" panose="020B0503020204020204" pitchFamily="34" charset="-122"/>
                          <a:cs typeface="+mn-ea"/>
                        </a:rPr>
                        <a:t>100%</a:t>
                      </a:r>
                      <a:r>
                        <a:rPr lang="zh-CN" altLang="en-US" sz="1400" b="1" u="none" strike="noStrike" dirty="0">
                          <a:effectLst/>
                          <a:ea typeface="微软雅黑" panose="020B0503020204020204" pitchFamily="34" charset="-122"/>
                          <a:cs typeface="+mn-ea"/>
                        </a:rPr>
                        <a:t>）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u="none" strike="noStrike" dirty="0">
                          <a:effectLst/>
                          <a:ea typeface="微软雅黑" panose="020B0503020204020204" pitchFamily="34" charset="-122"/>
                          <a:cs typeface="+mn-ea"/>
                        </a:rPr>
                        <a:t>目标完成情况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u="none" strike="noStrike" dirty="0">
                          <a:effectLst/>
                          <a:ea typeface="微软雅黑" panose="020B0503020204020204" pitchFamily="34" charset="-122"/>
                          <a:cs typeface="+mn-ea"/>
                        </a:rPr>
                        <a:t>自评分值</a:t>
                      </a:r>
                      <a:br>
                        <a:rPr lang="zh-CN" altLang="en-US" sz="1400" b="1" u="none" strike="noStrike" dirty="0">
                          <a:effectLst/>
                          <a:ea typeface="微软雅黑" panose="020B0503020204020204" pitchFamily="34" charset="-122"/>
                          <a:cs typeface="+mn-ea"/>
                        </a:rPr>
                      </a:br>
                      <a:r>
                        <a:rPr lang="zh-CN" altLang="en-US" sz="1400" b="1" u="none" strike="noStrike" dirty="0">
                          <a:effectLst/>
                          <a:ea typeface="微软雅黑" panose="020B0503020204020204" pitchFamily="34" charset="-122"/>
                          <a:cs typeface="+mn-ea"/>
                        </a:rPr>
                        <a:t>（每项满分</a:t>
                      </a:r>
                      <a:r>
                        <a:rPr lang="en-US" altLang="zh-CN" sz="1400" b="1" u="none" strike="noStrike" dirty="0">
                          <a:effectLst/>
                          <a:ea typeface="微软雅黑" panose="020B0503020204020204" pitchFamily="34" charset="-122"/>
                          <a:cs typeface="+mn-ea"/>
                        </a:rPr>
                        <a:t>100</a:t>
                      </a:r>
                      <a:r>
                        <a:rPr lang="zh-CN" altLang="en-US" sz="1400" b="1" u="none" strike="noStrike" dirty="0">
                          <a:effectLst/>
                          <a:ea typeface="微软雅黑" panose="020B0503020204020204" pitchFamily="34" charset="-122"/>
                          <a:cs typeface="+mn-ea"/>
                        </a:rPr>
                        <a:t>分）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  <a:tr h="72807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流程梳理与发布</a:t>
                      </a:r>
                      <a:endParaRPr lang="zh-CN" altLang="en-US" sz="1400" b="0" i="0" u="none" strike="noStrike" dirty="0">
                        <a:solidFill>
                          <a:schemeClr val="tx1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一季度：发布</a:t>
                      </a:r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V0.9</a:t>
                      </a: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版本流程</a:t>
                      </a:r>
                      <a:endParaRPr lang="en-US" altLang="zh-CN" sz="1400" b="0" i="0" u="none" strike="noStrike" dirty="0" smtClean="0">
                        <a:solidFill>
                          <a:schemeClr val="tx1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MO/DG </a:t>
                      </a: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所有</a:t>
                      </a:r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L3</a:t>
                      </a: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流程</a:t>
                      </a:r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V0.9100%</a:t>
                      </a: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发布：</a:t>
                      </a:r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9</a:t>
                      </a: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条</a:t>
                      </a:r>
                      <a:endParaRPr lang="en-US" altLang="zh-CN" sz="1400" b="0" i="0" u="none" strike="noStrike" dirty="0">
                        <a:solidFill>
                          <a:schemeClr val="tx1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42950" lvl="1" indent="-2857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流程梳理</a:t>
                      </a:r>
                      <a:endParaRPr lang="en-US" altLang="zh-CN" sz="1400" u="none" strike="noStrike" dirty="0" smtClean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  <a:p>
                      <a:pPr marL="742950" lvl="1" indent="-2857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业务评审</a:t>
                      </a:r>
                      <a:endParaRPr lang="en-US" altLang="zh-CN" sz="1400" u="none" strike="noStrike" dirty="0" smtClean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  <a:p>
                      <a:pPr marL="742950" lvl="1" indent="-2857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流程发布</a:t>
                      </a:r>
                      <a:endParaRPr lang="zh-CN" altLang="en-US" sz="140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40%</a:t>
                      </a:r>
                      <a:endParaRPr lang="zh-CN" altLang="en-US" sz="1400" b="0" i="0" u="none" strike="noStrike" dirty="0">
                        <a:solidFill>
                          <a:schemeClr val="tx1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100%</a:t>
                      </a:r>
                      <a:endParaRPr lang="zh-CN" altLang="en-US" sz="1400" b="0" i="0" u="none" strike="noStrike" dirty="0">
                        <a:solidFill>
                          <a:schemeClr val="tx1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100</a:t>
                      </a:r>
                      <a:endParaRPr lang="zh-CN" altLang="en-US" sz="1400" b="0" i="0" u="none" strike="noStrike" dirty="0">
                        <a:solidFill>
                          <a:schemeClr val="tx1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720080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流程梳理与发布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二季度：发布</a:t>
                      </a:r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V1.0</a:t>
                      </a: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版本流程</a:t>
                      </a:r>
                    </a:p>
                    <a:p>
                      <a:pPr algn="ctr" fontAlgn="ctr"/>
                      <a:endParaRPr lang="zh-CN" altLang="en-US" sz="1400" b="0" i="0" u="none" strike="noStrike" dirty="0">
                        <a:solidFill>
                          <a:schemeClr val="tx1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MO/DG</a:t>
                      </a: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所有</a:t>
                      </a:r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L3</a:t>
                      </a: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流程</a:t>
                      </a:r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V1.0 100%</a:t>
                      </a: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发布：</a:t>
                      </a:r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7</a:t>
                      </a: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个</a:t>
                      </a:r>
                      <a:endParaRPr lang="zh-CN" altLang="en-US" sz="1400" b="0" i="0" u="none" strike="noStrike" dirty="0">
                        <a:solidFill>
                          <a:schemeClr val="tx1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42950" lvl="1" indent="-2857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跑通跑顺案例评审</a:t>
                      </a:r>
                      <a:endParaRPr lang="en-US" altLang="zh-CN" sz="1400" u="none" strike="noStrike" dirty="0" smtClean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  <a:p>
                      <a:pPr marL="742950" lvl="1" indent="-2857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发布总结</a:t>
                      </a:r>
                      <a:endParaRPr lang="en-US" altLang="zh-CN" sz="1400" u="none" strike="noStrike" dirty="0" smtClean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  <a:p>
                      <a:pPr marL="742950" lvl="1" indent="-2857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流程发布</a:t>
                      </a:r>
                      <a:endParaRPr lang="zh-CN" altLang="en-US" sz="140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40%</a:t>
                      </a:r>
                      <a:endParaRPr lang="zh-CN" altLang="en-US" sz="1400" b="0" i="0" u="none" strike="noStrike" dirty="0">
                        <a:solidFill>
                          <a:schemeClr val="tx1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90%</a:t>
                      </a:r>
                      <a:endParaRPr lang="zh-CN" altLang="en-US" sz="1400" b="0" i="0" u="none" strike="noStrike" dirty="0">
                        <a:solidFill>
                          <a:schemeClr val="tx1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90</a:t>
                      </a:r>
                      <a:endParaRPr lang="zh-CN" altLang="en-US" sz="1400" b="0" i="0" u="none" strike="noStrike" dirty="0">
                        <a:solidFill>
                          <a:schemeClr val="tx1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4807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流程宣贯</a:t>
                      </a:r>
                      <a:endParaRPr lang="zh-CN" altLang="en-US" sz="1400" b="0" i="0" u="none" strike="noStrike" dirty="0">
                        <a:solidFill>
                          <a:schemeClr val="tx1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覆盖率</a:t>
                      </a:r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100%</a:t>
                      </a:r>
                      <a:endParaRPr lang="zh-CN" altLang="en-US" sz="1400" b="0" i="0" u="none" strike="noStrike" dirty="0">
                        <a:solidFill>
                          <a:schemeClr val="tx1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组织所有区域，系统部进行了</a:t>
                      </a:r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MO/DG</a:t>
                      </a: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流程的培训与宣贯</a:t>
                      </a:r>
                      <a:endParaRPr lang="zh-CN" altLang="en-US" sz="1400" b="0" i="0" u="none" strike="noStrike" dirty="0">
                        <a:solidFill>
                          <a:schemeClr val="tx1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42950" lvl="1" indent="-2857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线上培训</a:t>
                      </a:r>
                      <a:endParaRPr lang="en-US" altLang="zh-CN" sz="1400" b="0" i="0" u="none" strike="noStrike" dirty="0" smtClean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  <a:p>
                      <a:pPr marL="742950" lvl="1" indent="-2857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一页纸制作</a:t>
                      </a:r>
                      <a:endParaRPr lang="en-US" altLang="zh-CN" sz="1400" b="0" i="0" u="none" strike="noStrike" dirty="0" smtClean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  <a:p>
                      <a:pPr marL="742950" lvl="1" indent="-2857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小视频</a:t>
                      </a:r>
                      <a:endParaRPr lang="en-US" altLang="zh-CN" sz="1400" b="0" i="0" u="none" strike="noStrike" dirty="0" smtClean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  <a:p>
                      <a:pPr marL="742950" lvl="1" indent="-2857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L2</a:t>
                      </a: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整合流程</a:t>
                      </a:r>
                      <a:endParaRPr lang="zh-CN" alt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10%</a:t>
                      </a:r>
                      <a:endParaRPr lang="zh-CN" altLang="en-US" sz="1400" b="0" i="0" u="none" strike="noStrike" dirty="0">
                        <a:solidFill>
                          <a:schemeClr val="tx1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100%</a:t>
                      </a:r>
                      <a:endParaRPr lang="zh-CN" altLang="en-US" sz="1400" b="0" i="0" u="none" strike="noStrike" dirty="0">
                        <a:solidFill>
                          <a:schemeClr val="tx1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100</a:t>
                      </a:r>
                      <a:endParaRPr lang="zh-CN" altLang="en-US" sz="1400" b="0" i="0" u="none" strike="noStrike" dirty="0">
                        <a:solidFill>
                          <a:schemeClr val="tx1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4807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参与业务课题</a:t>
                      </a:r>
                      <a:endParaRPr lang="zh-CN" altLang="en-US" sz="1400" b="0" i="0" u="none" strike="noStrike" dirty="0">
                        <a:solidFill>
                          <a:schemeClr val="tx1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参与业务课题</a:t>
                      </a:r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1-2</a:t>
                      </a: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个</a:t>
                      </a:r>
                      <a:endParaRPr lang="zh-CN" altLang="en-US" sz="1400" b="0" i="0" u="none" strike="noStrike" dirty="0">
                        <a:solidFill>
                          <a:schemeClr val="tx1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参与并贡献专业知识与经验</a:t>
                      </a:r>
                      <a:endParaRPr lang="zh-CN" altLang="en-US" sz="1400" b="0" i="0" u="none" strike="noStrike" dirty="0">
                        <a:solidFill>
                          <a:schemeClr val="tx1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42950" lvl="1" indent="-2857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MO</a:t>
                      </a: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重客适配</a:t>
                      </a:r>
                      <a:endParaRPr lang="en-US" altLang="zh-CN" sz="1400" b="0" i="0" u="none" strike="noStrike" dirty="0" smtClean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  <a:p>
                      <a:pPr marL="742950" lvl="1" indent="-2857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漏斗质量自工序</a:t>
                      </a:r>
                      <a:endParaRPr lang="zh-CN" alt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10%</a:t>
                      </a:r>
                      <a:endParaRPr lang="zh-CN" altLang="en-US" sz="1400" b="0" i="0" u="none" strike="noStrike" dirty="0">
                        <a:solidFill>
                          <a:schemeClr val="tx1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100%</a:t>
                      </a:r>
                      <a:endParaRPr lang="zh-CN" altLang="en-US" sz="1400" b="0" i="0" u="none" strike="noStrike" dirty="0">
                        <a:solidFill>
                          <a:schemeClr val="tx1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100</a:t>
                      </a:r>
                      <a:endParaRPr lang="zh-CN" altLang="en-US" sz="1400" b="0" i="0" u="none" strike="noStrike" dirty="0">
                        <a:solidFill>
                          <a:schemeClr val="tx1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olidFill>
                  <a:srgbClr val="E60033"/>
                </a:solidFill>
                <a:sym typeface="+mn-ea"/>
              </a:rPr>
              <a:t>2</a:t>
            </a:r>
            <a:r>
              <a:rPr lang="zh-CN" altLang="en-US" dirty="0">
                <a:solidFill>
                  <a:srgbClr val="E60033"/>
                </a:solidFill>
                <a:sym typeface="+mn-ea"/>
              </a:rPr>
              <a:t>、</a:t>
            </a:r>
            <a:r>
              <a:rPr lang="zh-CN" altLang="zh-CN" dirty="0">
                <a:solidFill>
                  <a:srgbClr val="E60033"/>
                </a:solidFill>
                <a:sym typeface="+mn-ea"/>
              </a:rPr>
              <a:t>工作中</a:t>
            </a:r>
            <a:r>
              <a:rPr lang="zh-CN" altLang="en-US" dirty="0">
                <a:solidFill>
                  <a:srgbClr val="E60033"/>
                </a:solidFill>
                <a:sym typeface="+mn-ea"/>
              </a:rPr>
              <a:t>的亮点、机会点</a:t>
            </a:r>
            <a:endParaRPr lang="zh-CN" altLang="en-US" dirty="0">
              <a:solidFill>
                <a:srgbClr val="E60033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1C1B161-4EA0-4354-A154-2430C001F00B}" type="slidenum">
              <a:rPr lang="zh-CN" altLang="en-US" smtClean="0"/>
              <a:t>4</a:t>
            </a:fld>
            <a:endParaRPr lang="zh-CN" altLang="en-US" dirty="0"/>
          </a:p>
        </p:txBody>
      </p:sp>
      <p:sp>
        <p:nvSpPr>
          <p:cNvPr id="6" name="Oval 4"/>
          <p:cNvSpPr/>
          <p:nvPr/>
        </p:nvSpPr>
        <p:spPr>
          <a:xfrm>
            <a:off x="5042136" y="1196752"/>
            <a:ext cx="903035" cy="908217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500">
              <a:solidFill>
                <a:schemeClr val="bg1"/>
              </a:solidFill>
            </a:endParaRPr>
          </a:p>
        </p:txBody>
      </p:sp>
      <p:sp>
        <p:nvSpPr>
          <p:cNvPr id="7" name="Oval 5"/>
          <p:cNvSpPr/>
          <p:nvPr/>
        </p:nvSpPr>
        <p:spPr>
          <a:xfrm>
            <a:off x="3209521" y="1196752"/>
            <a:ext cx="903035" cy="908217"/>
          </a:xfrm>
          <a:prstGeom prst="ellipse">
            <a:avLst/>
          </a:prstGeom>
          <a:solidFill>
            <a:srgbClr val="E60033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500">
              <a:solidFill>
                <a:schemeClr val="bg1"/>
              </a:solidFill>
            </a:endParaRPr>
          </a:p>
        </p:txBody>
      </p:sp>
      <p:sp>
        <p:nvSpPr>
          <p:cNvPr id="10" name="Freeform 45"/>
          <p:cNvSpPr>
            <a:spLocks noEditPoints="1"/>
          </p:cNvSpPr>
          <p:nvPr/>
        </p:nvSpPr>
        <p:spPr bwMode="auto">
          <a:xfrm>
            <a:off x="3457715" y="1388642"/>
            <a:ext cx="406647" cy="524434"/>
          </a:xfrm>
          <a:custGeom>
            <a:avLst/>
            <a:gdLst>
              <a:gd name="T0" fmla="*/ 104 w 109"/>
              <a:gd name="T1" fmla="*/ 67 h 141"/>
              <a:gd name="T2" fmla="*/ 96 w 109"/>
              <a:gd name="T3" fmla="*/ 67 h 141"/>
              <a:gd name="T4" fmla="*/ 96 w 109"/>
              <a:gd name="T5" fmla="*/ 44 h 141"/>
              <a:gd name="T6" fmla="*/ 84 w 109"/>
              <a:gd name="T7" fmla="*/ 13 h 141"/>
              <a:gd name="T8" fmla="*/ 55 w 109"/>
              <a:gd name="T9" fmla="*/ 0 h 141"/>
              <a:gd name="T10" fmla="*/ 25 w 109"/>
              <a:gd name="T11" fmla="*/ 13 h 141"/>
              <a:gd name="T12" fmla="*/ 13 w 109"/>
              <a:gd name="T13" fmla="*/ 44 h 141"/>
              <a:gd name="T14" fmla="*/ 13 w 109"/>
              <a:gd name="T15" fmla="*/ 67 h 141"/>
              <a:gd name="T16" fmla="*/ 6 w 109"/>
              <a:gd name="T17" fmla="*/ 67 h 141"/>
              <a:gd name="T18" fmla="*/ 0 w 109"/>
              <a:gd name="T19" fmla="*/ 73 h 141"/>
              <a:gd name="T20" fmla="*/ 0 w 109"/>
              <a:gd name="T21" fmla="*/ 136 h 141"/>
              <a:gd name="T22" fmla="*/ 6 w 109"/>
              <a:gd name="T23" fmla="*/ 141 h 141"/>
              <a:gd name="T24" fmla="*/ 104 w 109"/>
              <a:gd name="T25" fmla="*/ 141 h 141"/>
              <a:gd name="T26" fmla="*/ 109 w 109"/>
              <a:gd name="T27" fmla="*/ 136 h 141"/>
              <a:gd name="T28" fmla="*/ 109 w 109"/>
              <a:gd name="T29" fmla="*/ 73 h 141"/>
              <a:gd name="T30" fmla="*/ 104 w 109"/>
              <a:gd name="T31" fmla="*/ 67 h 141"/>
              <a:gd name="T32" fmla="*/ 67 w 109"/>
              <a:gd name="T33" fmla="*/ 124 h 141"/>
              <a:gd name="T34" fmla="*/ 55 w 109"/>
              <a:gd name="T35" fmla="*/ 136 h 141"/>
              <a:gd name="T36" fmla="*/ 43 w 109"/>
              <a:gd name="T37" fmla="*/ 124 h 141"/>
              <a:gd name="T38" fmla="*/ 43 w 109"/>
              <a:gd name="T39" fmla="*/ 102 h 141"/>
              <a:gd name="T40" fmla="*/ 55 w 109"/>
              <a:gd name="T41" fmla="*/ 90 h 141"/>
              <a:gd name="T42" fmla="*/ 67 w 109"/>
              <a:gd name="T43" fmla="*/ 102 h 141"/>
              <a:gd name="T44" fmla="*/ 67 w 109"/>
              <a:gd name="T45" fmla="*/ 124 h 141"/>
              <a:gd name="T46" fmla="*/ 77 w 109"/>
              <a:gd name="T47" fmla="*/ 67 h 141"/>
              <a:gd name="T48" fmla="*/ 33 w 109"/>
              <a:gd name="T49" fmla="*/ 67 h 141"/>
              <a:gd name="T50" fmla="*/ 33 w 109"/>
              <a:gd name="T51" fmla="*/ 44 h 141"/>
              <a:gd name="T52" fmla="*/ 39 w 109"/>
              <a:gd name="T53" fmla="*/ 26 h 141"/>
              <a:gd name="T54" fmla="*/ 55 w 109"/>
              <a:gd name="T55" fmla="*/ 19 h 141"/>
              <a:gd name="T56" fmla="*/ 70 w 109"/>
              <a:gd name="T57" fmla="*/ 26 h 141"/>
              <a:gd name="T58" fmla="*/ 77 w 109"/>
              <a:gd name="T59" fmla="*/ 44 h 141"/>
              <a:gd name="T60" fmla="*/ 77 w 109"/>
              <a:gd name="T61" fmla="*/ 67 h 1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109" h="141">
                <a:moveTo>
                  <a:pt x="104" y="67"/>
                </a:moveTo>
                <a:cubicBezTo>
                  <a:pt x="96" y="67"/>
                  <a:pt x="96" y="67"/>
                  <a:pt x="96" y="67"/>
                </a:cubicBezTo>
                <a:cubicBezTo>
                  <a:pt x="96" y="44"/>
                  <a:pt x="96" y="44"/>
                  <a:pt x="96" y="44"/>
                </a:cubicBezTo>
                <a:cubicBezTo>
                  <a:pt x="96" y="32"/>
                  <a:pt x="92" y="21"/>
                  <a:pt x="84" y="13"/>
                </a:cubicBezTo>
                <a:cubicBezTo>
                  <a:pt x="77" y="5"/>
                  <a:pt x="66" y="0"/>
                  <a:pt x="55" y="0"/>
                </a:cubicBezTo>
                <a:cubicBezTo>
                  <a:pt x="43" y="0"/>
                  <a:pt x="32" y="5"/>
                  <a:pt x="25" y="13"/>
                </a:cubicBezTo>
                <a:cubicBezTo>
                  <a:pt x="18" y="21"/>
                  <a:pt x="13" y="32"/>
                  <a:pt x="13" y="44"/>
                </a:cubicBezTo>
                <a:cubicBezTo>
                  <a:pt x="13" y="67"/>
                  <a:pt x="13" y="67"/>
                  <a:pt x="13" y="67"/>
                </a:cubicBezTo>
                <a:cubicBezTo>
                  <a:pt x="6" y="67"/>
                  <a:pt x="6" y="67"/>
                  <a:pt x="6" y="67"/>
                </a:cubicBezTo>
                <a:cubicBezTo>
                  <a:pt x="3" y="67"/>
                  <a:pt x="0" y="70"/>
                  <a:pt x="0" y="73"/>
                </a:cubicBezTo>
                <a:cubicBezTo>
                  <a:pt x="0" y="136"/>
                  <a:pt x="0" y="136"/>
                  <a:pt x="0" y="136"/>
                </a:cubicBezTo>
                <a:cubicBezTo>
                  <a:pt x="0" y="139"/>
                  <a:pt x="3" y="141"/>
                  <a:pt x="6" y="141"/>
                </a:cubicBezTo>
                <a:cubicBezTo>
                  <a:pt x="104" y="141"/>
                  <a:pt x="104" y="141"/>
                  <a:pt x="104" y="141"/>
                </a:cubicBezTo>
                <a:cubicBezTo>
                  <a:pt x="107" y="141"/>
                  <a:pt x="109" y="139"/>
                  <a:pt x="109" y="136"/>
                </a:cubicBezTo>
                <a:cubicBezTo>
                  <a:pt x="109" y="73"/>
                  <a:pt x="109" y="73"/>
                  <a:pt x="109" y="73"/>
                </a:cubicBezTo>
                <a:cubicBezTo>
                  <a:pt x="109" y="70"/>
                  <a:pt x="107" y="67"/>
                  <a:pt x="104" y="67"/>
                </a:cubicBezTo>
                <a:close/>
                <a:moveTo>
                  <a:pt x="67" y="124"/>
                </a:moveTo>
                <a:cubicBezTo>
                  <a:pt x="67" y="130"/>
                  <a:pt x="61" y="136"/>
                  <a:pt x="55" y="136"/>
                </a:cubicBezTo>
                <a:cubicBezTo>
                  <a:pt x="48" y="136"/>
                  <a:pt x="43" y="130"/>
                  <a:pt x="43" y="124"/>
                </a:cubicBezTo>
                <a:cubicBezTo>
                  <a:pt x="43" y="102"/>
                  <a:pt x="43" y="102"/>
                  <a:pt x="43" y="102"/>
                </a:cubicBezTo>
                <a:cubicBezTo>
                  <a:pt x="43" y="95"/>
                  <a:pt x="48" y="90"/>
                  <a:pt x="55" y="90"/>
                </a:cubicBezTo>
                <a:cubicBezTo>
                  <a:pt x="61" y="90"/>
                  <a:pt x="67" y="95"/>
                  <a:pt x="67" y="102"/>
                </a:cubicBezTo>
                <a:lnTo>
                  <a:pt x="67" y="124"/>
                </a:lnTo>
                <a:close/>
                <a:moveTo>
                  <a:pt x="77" y="67"/>
                </a:moveTo>
                <a:cubicBezTo>
                  <a:pt x="33" y="67"/>
                  <a:pt x="33" y="67"/>
                  <a:pt x="33" y="67"/>
                </a:cubicBezTo>
                <a:cubicBezTo>
                  <a:pt x="33" y="44"/>
                  <a:pt x="33" y="44"/>
                  <a:pt x="33" y="44"/>
                </a:cubicBezTo>
                <a:cubicBezTo>
                  <a:pt x="33" y="37"/>
                  <a:pt x="35" y="31"/>
                  <a:pt x="39" y="26"/>
                </a:cubicBezTo>
                <a:cubicBezTo>
                  <a:pt x="44" y="22"/>
                  <a:pt x="49" y="19"/>
                  <a:pt x="55" y="19"/>
                </a:cubicBezTo>
                <a:cubicBezTo>
                  <a:pt x="61" y="19"/>
                  <a:pt x="66" y="22"/>
                  <a:pt x="70" y="26"/>
                </a:cubicBezTo>
                <a:cubicBezTo>
                  <a:pt x="74" y="31"/>
                  <a:pt x="77" y="37"/>
                  <a:pt x="77" y="44"/>
                </a:cubicBezTo>
                <a:lnTo>
                  <a:pt x="77" y="6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2400"/>
          </a:p>
        </p:txBody>
      </p:sp>
      <p:grpSp>
        <p:nvGrpSpPr>
          <p:cNvPr id="11" name="Group 32"/>
          <p:cNvGrpSpPr/>
          <p:nvPr/>
        </p:nvGrpSpPr>
        <p:grpSpPr>
          <a:xfrm>
            <a:off x="5227209" y="1388642"/>
            <a:ext cx="532893" cy="524434"/>
            <a:chOff x="1587575" y="2265358"/>
            <a:chExt cx="314468" cy="309477"/>
          </a:xfrm>
          <a:solidFill>
            <a:schemeClr val="bg1"/>
          </a:solidFill>
        </p:grpSpPr>
        <p:sp>
          <p:nvSpPr>
            <p:cNvPr id="12" name="Freeform 59"/>
            <p:cNvSpPr>
              <a:spLocks noEditPoints="1"/>
            </p:cNvSpPr>
            <p:nvPr/>
          </p:nvSpPr>
          <p:spPr bwMode="auto">
            <a:xfrm>
              <a:off x="1587575" y="2265358"/>
              <a:ext cx="314468" cy="309477"/>
            </a:xfrm>
            <a:custGeom>
              <a:avLst/>
              <a:gdLst>
                <a:gd name="T0" fmla="*/ 82 w 95"/>
                <a:gd name="T1" fmla="*/ 57 h 93"/>
                <a:gd name="T2" fmla="*/ 95 w 95"/>
                <a:gd name="T3" fmla="*/ 51 h 93"/>
                <a:gd name="T4" fmla="*/ 95 w 95"/>
                <a:gd name="T5" fmla="*/ 41 h 93"/>
                <a:gd name="T6" fmla="*/ 82 w 95"/>
                <a:gd name="T7" fmla="*/ 36 h 93"/>
                <a:gd name="T8" fmla="*/ 80 w 95"/>
                <a:gd name="T9" fmla="*/ 30 h 93"/>
                <a:gd name="T10" fmla="*/ 85 w 95"/>
                <a:gd name="T11" fmla="*/ 17 h 93"/>
                <a:gd name="T12" fmla="*/ 77 w 95"/>
                <a:gd name="T13" fmla="*/ 10 h 93"/>
                <a:gd name="T14" fmla="*/ 64 w 95"/>
                <a:gd name="T15" fmla="*/ 15 h 93"/>
                <a:gd name="T16" fmla="*/ 59 w 95"/>
                <a:gd name="T17" fmla="*/ 13 h 93"/>
                <a:gd name="T18" fmla="*/ 53 w 95"/>
                <a:gd name="T19" fmla="*/ 0 h 93"/>
                <a:gd name="T20" fmla="*/ 42 w 95"/>
                <a:gd name="T21" fmla="*/ 0 h 93"/>
                <a:gd name="T22" fmla="*/ 37 w 95"/>
                <a:gd name="T23" fmla="*/ 13 h 93"/>
                <a:gd name="T24" fmla="*/ 31 w 95"/>
                <a:gd name="T25" fmla="*/ 15 h 93"/>
                <a:gd name="T26" fmla="*/ 18 w 95"/>
                <a:gd name="T27" fmla="*/ 10 h 93"/>
                <a:gd name="T28" fmla="*/ 10 w 95"/>
                <a:gd name="T29" fmla="*/ 17 h 93"/>
                <a:gd name="T30" fmla="*/ 16 w 95"/>
                <a:gd name="T31" fmla="*/ 30 h 93"/>
                <a:gd name="T32" fmla="*/ 13 w 95"/>
                <a:gd name="T33" fmla="*/ 36 h 93"/>
                <a:gd name="T34" fmla="*/ 0 w 95"/>
                <a:gd name="T35" fmla="*/ 41 h 93"/>
                <a:gd name="T36" fmla="*/ 0 w 95"/>
                <a:gd name="T37" fmla="*/ 52 h 93"/>
                <a:gd name="T38" fmla="*/ 13 w 95"/>
                <a:gd name="T39" fmla="*/ 57 h 93"/>
                <a:gd name="T40" fmla="*/ 16 w 95"/>
                <a:gd name="T41" fmla="*/ 63 h 93"/>
                <a:gd name="T42" fmla="*/ 11 w 95"/>
                <a:gd name="T43" fmla="*/ 76 h 93"/>
                <a:gd name="T44" fmla="*/ 18 w 95"/>
                <a:gd name="T45" fmla="*/ 83 h 93"/>
                <a:gd name="T46" fmla="*/ 31 w 95"/>
                <a:gd name="T47" fmla="*/ 78 h 93"/>
                <a:gd name="T48" fmla="*/ 37 w 95"/>
                <a:gd name="T49" fmla="*/ 80 h 93"/>
                <a:gd name="T50" fmla="*/ 43 w 95"/>
                <a:gd name="T51" fmla="*/ 93 h 93"/>
                <a:gd name="T52" fmla="*/ 53 w 95"/>
                <a:gd name="T53" fmla="*/ 93 h 93"/>
                <a:gd name="T54" fmla="*/ 59 w 95"/>
                <a:gd name="T55" fmla="*/ 80 h 93"/>
                <a:gd name="T56" fmla="*/ 64 w 95"/>
                <a:gd name="T57" fmla="*/ 78 h 93"/>
                <a:gd name="T58" fmla="*/ 78 w 95"/>
                <a:gd name="T59" fmla="*/ 83 h 93"/>
                <a:gd name="T60" fmla="*/ 85 w 95"/>
                <a:gd name="T61" fmla="*/ 75 h 93"/>
                <a:gd name="T62" fmla="*/ 80 w 95"/>
                <a:gd name="T63" fmla="*/ 63 h 93"/>
                <a:gd name="T64" fmla="*/ 82 w 95"/>
                <a:gd name="T65" fmla="*/ 57 h 93"/>
                <a:gd name="T66" fmla="*/ 48 w 95"/>
                <a:gd name="T67" fmla="*/ 61 h 93"/>
                <a:gd name="T68" fmla="*/ 33 w 95"/>
                <a:gd name="T69" fmla="*/ 46 h 93"/>
                <a:gd name="T70" fmla="*/ 48 w 95"/>
                <a:gd name="T71" fmla="*/ 32 h 93"/>
                <a:gd name="T72" fmla="*/ 63 w 95"/>
                <a:gd name="T73" fmla="*/ 46 h 93"/>
                <a:gd name="T74" fmla="*/ 48 w 95"/>
                <a:gd name="T75" fmla="*/ 61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95" h="93">
                  <a:moveTo>
                    <a:pt x="82" y="57"/>
                  </a:moveTo>
                  <a:cubicBezTo>
                    <a:pt x="82" y="57"/>
                    <a:pt x="95" y="52"/>
                    <a:pt x="95" y="5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0"/>
                    <a:pt x="82" y="36"/>
                    <a:pt x="82" y="36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0" y="30"/>
                    <a:pt x="85" y="17"/>
                    <a:pt x="85" y="17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9"/>
                    <a:pt x="64" y="15"/>
                    <a:pt x="64" y="15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9" y="13"/>
                    <a:pt x="53" y="0"/>
                    <a:pt x="53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2" y="0"/>
                    <a:pt x="37" y="13"/>
                    <a:pt x="37" y="13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31" y="15"/>
                    <a:pt x="18" y="10"/>
                    <a:pt x="18" y="10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8"/>
                    <a:pt x="16" y="30"/>
                    <a:pt x="16" y="30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3" y="36"/>
                    <a:pt x="0" y="41"/>
                    <a:pt x="0" y="41"/>
                  </a:cubicBezTo>
                  <a:cubicBezTo>
                    <a:pt x="0" y="52"/>
                    <a:pt x="0" y="52"/>
                    <a:pt x="0" y="52"/>
                  </a:cubicBezTo>
                  <a:cubicBezTo>
                    <a:pt x="0" y="52"/>
                    <a:pt x="13" y="57"/>
                    <a:pt x="13" y="57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6" y="63"/>
                    <a:pt x="10" y="75"/>
                    <a:pt x="11" y="76"/>
                  </a:cubicBezTo>
                  <a:cubicBezTo>
                    <a:pt x="18" y="83"/>
                    <a:pt x="18" y="83"/>
                    <a:pt x="18" y="83"/>
                  </a:cubicBezTo>
                  <a:cubicBezTo>
                    <a:pt x="19" y="84"/>
                    <a:pt x="31" y="78"/>
                    <a:pt x="31" y="78"/>
                  </a:cubicBezTo>
                  <a:cubicBezTo>
                    <a:pt x="37" y="80"/>
                    <a:pt x="37" y="80"/>
                    <a:pt x="37" y="80"/>
                  </a:cubicBezTo>
                  <a:cubicBezTo>
                    <a:pt x="37" y="80"/>
                    <a:pt x="42" y="93"/>
                    <a:pt x="43" y="93"/>
                  </a:cubicBezTo>
                  <a:cubicBezTo>
                    <a:pt x="53" y="93"/>
                    <a:pt x="53" y="93"/>
                    <a:pt x="53" y="93"/>
                  </a:cubicBezTo>
                  <a:cubicBezTo>
                    <a:pt x="54" y="93"/>
                    <a:pt x="59" y="80"/>
                    <a:pt x="59" y="80"/>
                  </a:cubicBezTo>
                  <a:cubicBezTo>
                    <a:pt x="64" y="78"/>
                    <a:pt x="64" y="78"/>
                    <a:pt x="64" y="78"/>
                  </a:cubicBezTo>
                  <a:cubicBezTo>
                    <a:pt x="64" y="78"/>
                    <a:pt x="77" y="83"/>
                    <a:pt x="78" y="83"/>
                  </a:cubicBezTo>
                  <a:cubicBezTo>
                    <a:pt x="85" y="75"/>
                    <a:pt x="85" y="75"/>
                    <a:pt x="85" y="75"/>
                  </a:cubicBezTo>
                  <a:cubicBezTo>
                    <a:pt x="86" y="75"/>
                    <a:pt x="80" y="63"/>
                    <a:pt x="80" y="63"/>
                  </a:cubicBezTo>
                  <a:lnTo>
                    <a:pt x="82" y="57"/>
                  </a:lnTo>
                  <a:close/>
                  <a:moveTo>
                    <a:pt x="48" y="61"/>
                  </a:moveTo>
                  <a:cubicBezTo>
                    <a:pt x="39" y="61"/>
                    <a:pt x="33" y="55"/>
                    <a:pt x="33" y="46"/>
                  </a:cubicBezTo>
                  <a:cubicBezTo>
                    <a:pt x="33" y="38"/>
                    <a:pt x="39" y="32"/>
                    <a:pt x="48" y="32"/>
                  </a:cubicBezTo>
                  <a:cubicBezTo>
                    <a:pt x="56" y="32"/>
                    <a:pt x="63" y="38"/>
                    <a:pt x="63" y="46"/>
                  </a:cubicBezTo>
                  <a:cubicBezTo>
                    <a:pt x="63" y="55"/>
                    <a:pt x="56" y="61"/>
                    <a:pt x="48" y="6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2400"/>
            </a:p>
          </p:txBody>
        </p:sp>
        <p:sp>
          <p:nvSpPr>
            <p:cNvPr id="13" name="Oval 60"/>
            <p:cNvSpPr>
              <a:spLocks noChangeArrowheads="1"/>
            </p:cNvSpPr>
            <p:nvPr/>
          </p:nvSpPr>
          <p:spPr bwMode="auto">
            <a:xfrm>
              <a:off x="1712364" y="2387652"/>
              <a:ext cx="64890" cy="6239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2400"/>
            </a:p>
          </p:txBody>
        </p:sp>
      </p:grpSp>
      <p:sp>
        <p:nvSpPr>
          <p:cNvPr id="14" name="Rectangle 21"/>
          <p:cNvSpPr/>
          <p:nvPr/>
        </p:nvSpPr>
        <p:spPr>
          <a:xfrm flipH="1" flipV="1">
            <a:off x="4606234" y="1320138"/>
            <a:ext cx="52493" cy="4133795"/>
          </a:xfrm>
          <a:prstGeom prst="rect">
            <a:avLst/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9" name="文本框 18"/>
          <p:cNvSpPr txBox="1"/>
          <p:nvPr/>
        </p:nvSpPr>
        <p:spPr>
          <a:xfrm>
            <a:off x="2005304" y="1388642"/>
            <a:ext cx="10801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E600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亮点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6373132" y="1320138"/>
            <a:ext cx="15832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机会点</a:t>
            </a:r>
          </a:p>
        </p:txBody>
      </p:sp>
      <p:sp>
        <p:nvSpPr>
          <p:cNvPr id="3" name="矩形 2"/>
          <p:cNvSpPr/>
          <p:nvPr/>
        </p:nvSpPr>
        <p:spPr>
          <a:xfrm>
            <a:off x="107504" y="2192389"/>
            <a:ext cx="4438250" cy="28500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 smtClean="0">
                <a:ea typeface="微软雅黑" panose="020B0503020204020204" pitchFamily="34" charset="-122"/>
                <a:cs typeface="+mn-ea"/>
              </a:rPr>
              <a:t>流程梳理与设计：按照</a:t>
            </a:r>
            <a:r>
              <a:rPr lang="zh-CN" altLang="en-US" sz="1600" b="1" dirty="0">
                <a:ea typeface="微软雅黑" panose="020B0503020204020204" pitchFamily="34" charset="-122"/>
                <a:cs typeface="+mn-ea"/>
              </a:rPr>
              <a:t>季度目标</a:t>
            </a:r>
            <a:r>
              <a:rPr lang="zh-CN" altLang="en-US" sz="1600" b="1" dirty="0" smtClean="0">
                <a:ea typeface="微软雅黑" panose="020B0503020204020204" pitchFamily="34" charset="-122"/>
                <a:cs typeface="+mn-ea"/>
              </a:rPr>
              <a:t>要求顺利推进了</a:t>
            </a:r>
            <a:r>
              <a:rPr lang="en-US" altLang="zh-CN" sz="1600" b="1" dirty="0" smtClean="0">
                <a:ea typeface="微软雅黑" panose="020B0503020204020204" pitchFamily="34" charset="-122"/>
                <a:cs typeface="+mn-ea"/>
              </a:rPr>
              <a:t>MO/DG </a:t>
            </a:r>
            <a:r>
              <a:rPr lang="zh-CN" altLang="en-US" sz="1600" b="1" dirty="0" smtClean="0">
                <a:ea typeface="微软雅黑" panose="020B0503020204020204" pitchFamily="34" charset="-122"/>
                <a:cs typeface="+mn-ea"/>
              </a:rPr>
              <a:t>各</a:t>
            </a:r>
            <a:r>
              <a:rPr lang="en-US" altLang="zh-CN" sz="1600" b="1" dirty="0" smtClean="0">
                <a:ea typeface="微软雅黑" panose="020B0503020204020204" pitchFamily="34" charset="-122"/>
                <a:cs typeface="+mn-ea"/>
              </a:rPr>
              <a:t>L3</a:t>
            </a:r>
            <a:r>
              <a:rPr lang="zh-CN" altLang="en-US" sz="1600" b="1" dirty="0" smtClean="0">
                <a:ea typeface="微软雅黑" panose="020B0503020204020204" pitchFamily="34" charset="-122"/>
                <a:cs typeface="+mn-ea"/>
              </a:rPr>
              <a:t>流程的</a:t>
            </a:r>
            <a:r>
              <a:rPr lang="en-US" altLang="zh-CN" sz="1600" b="1" dirty="0" smtClean="0">
                <a:ea typeface="微软雅黑" panose="020B0503020204020204" pitchFamily="34" charset="-122"/>
                <a:cs typeface="+mn-ea"/>
              </a:rPr>
              <a:t>V0.9/1.0</a:t>
            </a:r>
            <a:r>
              <a:rPr lang="zh-CN" altLang="en-US" sz="1600" b="1" dirty="0" smtClean="0">
                <a:ea typeface="微软雅黑" panose="020B0503020204020204" pitchFamily="34" charset="-122"/>
                <a:cs typeface="+mn-ea"/>
              </a:rPr>
              <a:t>版本</a:t>
            </a:r>
            <a:r>
              <a:rPr lang="zh-CN" altLang="en-US" sz="1600" b="1" dirty="0">
                <a:ea typeface="微软雅黑" panose="020B0503020204020204" pitchFamily="34" charset="-122"/>
                <a:cs typeface="+mn-ea"/>
              </a:rPr>
              <a:t>的评审和发布</a:t>
            </a:r>
            <a:endParaRPr lang="en-US" altLang="zh-CN" sz="1600" b="1" dirty="0">
              <a:ea typeface="微软雅黑" panose="020B0503020204020204" pitchFamily="34" charset="-122"/>
              <a:cs typeface="+mn-ea"/>
            </a:endParaRP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 smtClean="0">
                <a:ea typeface="微软雅黑" panose="020B0503020204020204" pitchFamily="34" charset="-122"/>
                <a:cs typeface="+mn-ea"/>
              </a:rPr>
              <a:t>流程落地与执行：布局</a:t>
            </a:r>
            <a:r>
              <a:rPr lang="zh-CN" altLang="en-US" sz="1600" b="1" dirty="0">
                <a:ea typeface="微软雅黑" panose="020B0503020204020204" pitchFamily="34" charset="-122"/>
                <a:cs typeface="+mn-ea"/>
              </a:rPr>
              <a:t>流程的推广和执行</a:t>
            </a:r>
            <a:r>
              <a:rPr lang="zh-CN" altLang="en-US" sz="1600" b="1" dirty="0" smtClean="0">
                <a:ea typeface="微软雅黑" panose="020B0503020204020204" pitchFamily="34" charset="-122"/>
                <a:cs typeface="+mn-ea"/>
              </a:rPr>
              <a:t>，加强流程宣贯，设计流程运转方法和机制</a:t>
            </a:r>
            <a:endParaRPr lang="en-US" altLang="zh-CN" sz="1600" b="1" dirty="0" smtClean="0">
              <a:ea typeface="微软雅黑" panose="020B0503020204020204" pitchFamily="34" charset="-122"/>
              <a:cs typeface="+mn-ea"/>
            </a:endParaRP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 smtClean="0">
                <a:ea typeface="微软雅黑" panose="020B0503020204020204" pitchFamily="34" charset="-122"/>
                <a:cs typeface="+mn-ea"/>
              </a:rPr>
              <a:t>业务流程咨询：对于</a:t>
            </a:r>
            <a:r>
              <a:rPr lang="zh-CN" altLang="en-US" sz="1600" b="1" dirty="0">
                <a:ea typeface="微软雅黑" panose="020B0503020204020204" pitchFamily="34" charset="-122"/>
                <a:cs typeface="+mn-ea"/>
              </a:rPr>
              <a:t>业务比较关注的问题</a:t>
            </a:r>
            <a:r>
              <a:rPr lang="zh-CN" altLang="en-US" sz="1600" b="1" dirty="0" smtClean="0">
                <a:ea typeface="微软雅黑" panose="020B0503020204020204" pitchFamily="34" charset="-122"/>
                <a:cs typeface="+mn-ea"/>
              </a:rPr>
              <a:t>，在积极参与探讨的同时能结合</a:t>
            </a:r>
            <a:r>
              <a:rPr lang="zh-CN" altLang="en-US" sz="1600" b="1" dirty="0">
                <a:ea typeface="微软雅黑" panose="020B0503020204020204" pitchFamily="34" charset="-122"/>
                <a:cs typeface="+mn-ea"/>
              </a:rPr>
              <a:t>业界标杆和前期工作经验给出专业性的指导和建议</a:t>
            </a:r>
            <a:endParaRPr lang="en-US" altLang="zh-CN" sz="1600" b="1" dirty="0"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5" name="Text Box 49"/>
          <p:cNvSpPr txBox="1">
            <a:spLocks noChangeArrowheads="1"/>
          </p:cNvSpPr>
          <p:nvPr/>
        </p:nvSpPr>
        <p:spPr bwMode="auto">
          <a:xfrm>
            <a:off x="4788048" y="2254776"/>
            <a:ext cx="3841824" cy="283679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78355" tIns="39177" rIns="78355" bIns="39177">
            <a:spAutoFit/>
          </a:bodyPr>
          <a:lstStyle/>
          <a:p>
            <a:pPr marL="285750" indent="-285750" eaLnBrk="1" hangingPunct="1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 smtClean="0">
                <a:ea typeface="微软雅黑" panose="020B0503020204020204" pitchFamily="34" charset="-122"/>
                <a:cs typeface="+mn-ea"/>
              </a:rPr>
              <a:t>深入业务，了解业务，通过设计有效的机制推进流程的执行与落地。</a:t>
            </a:r>
            <a:endParaRPr lang="en-US" altLang="zh-CN" sz="1600" b="1" dirty="0" smtClean="0">
              <a:ea typeface="微软雅黑" panose="020B0503020204020204" pitchFamily="34" charset="-122"/>
              <a:cs typeface="+mn-ea"/>
            </a:endParaRPr>
          </a:p>
          <a:p>
            <a:pPr marL="285750" indent="-285750" eaLnBrk="1" hangingPunct="1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 smtClean="0">
                <a:ea typeface="微软雅黑" panose="020B0503020204020204" pitchFamily="34" charset="-122"/>
                <a:cs typeface="+mn-ea"/>
              </a:rPr>
              <a:t>把流程管理与数字化做有机结合，通过数字化</a:t>
            </a:r>
            <a:r>
              <a:rPr lang="en-US" altLang="zh-CN" sz="1600" b="1" dirty="0" smtClean="0">
                <a:ea typeface="微软雅黑" panose="020B0503020204020204" pitchFamily="34" charset="-122"/>
                <a:cs typeface="+mn-ea"/>
              </a:rPr>
              <a:t>IT</a:t>
            </a:r>
            <a:r>
              <a:rPr lang="zh-CN" altLang="en-US" sz="1600" b="1" dirty="0" smtClean="0">
                <a:ea typeface="微软雅黑" panose="020B0503020204020204" pitchFamily="34" charset="-122"/>
                <a:cs typeface="+mn-ea"/>
              </a:rPr>
              <a:t>手段赋能业务，提效，留痕，为持续的流程迭代优化提供支持。</a:t>
            </a:r>
            <a:endParaRPr lang="en-US" altLang="zh-CN" sz="1600" b="1" dirty="0" smtClean="0">
              <a:ea typeface="微软雅黑" panose="020B0503020204020204" pitchFamily="34" charset="-122"/>
              <a:cs typeface="+mn-ea"/>
            </a:endParaRPr>
          </a:p>
          <a:p>
            <a:pPr marL="285750" indent="-285750" eaLnBrk="1" hangingPunct="1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 smtClean="0">
                <a:ea typeface="微软雅黑" panose="020B0503020204020204" pitchFamily="34" charset="-122"/>
                <a:cs typeface="+mn-ea"/>
              </a:rPr>
              <a:t>加强与</a:t>
            </a:r>
            <a:r>
              <a:rPr lang="en-US" altLang="zh-CN" sz="1600" b="1" dirty="0" smtClean="0">
                <a:ea typeface="微软雅黑" panose="020B0503020204020204" pitchFamily="34" charset="-122"/>
                <a:cs typeface="+mn-ea"/>
              </a:rPr>
              <a:t>PO</a:t>
            </a:r>
            <a:r>
              <a:rPr lang="zh-CN" altLang="en-US" sz="1600" b="1" dirty="0" smtClean="0">
                <a:ea typeface="微软雅黑" panose="020B0503020204020204" pitchFamily="34" charset="-122"/>
                <a:cs typeface="+mn-ea"/>
              </a:rPr>
              <a:t>沟通，调动流程项目组成员积极性，投入更多时间参与到流程设计，执行与迭代优化的工作之中来。</a:t>
            </a:r>
            <a:endParaRPr lang="zh-CN" altLang="en-US" sz="1600" b="1" dirty="0"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olidFill>
                  <a:srgbClr val="E60033"/>
                </a:solidFill>
                <a:cs typeface="+mn-ea"/>
              </a:rPr>
              <a:t>3</a:t>
            </a:r>
            <a:r>
              <a:rPr lang="zh-CN" altLang="en-US" dirty="0">
                <a:solidFill>
                  <a:srgbClr val="E60033"/>
                </a:solidFill>
                <a:cs typeface="+mn-ea"/>
              </a:rPr>
              <a:t>、试用期期间的经验与能力提升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1C1B161-4EA0-4354-A154-2430C001F00B}" type="slidenum">
              <a:rPr lang="zh-CN" altLang="en-US" smtClean="0">
                <a:ea typeface="微软雅黑" panose="020B0503020204020204" pitchFamily="34" charset="-122"/>
                <a:cs typeface="+mn-ea"/>
              </a:rPr>
              <a:t>5</a:t>
            </a:fld>
            <a:endParaRPr lang="zh-CN" altLang="en-US" dirty="0"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95536" y="1093378"/>
            <a:ext cx="8064896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1</a:t>
            </a:r>
            <a:r>
              <a:rPr lang="zh-CN" altLang="en-US" dirty="0"/>
              <a:t>）额外的学习情况​</a:t>
            </a:r>
          </a:p>
          <a:p>
            <a:r>
              <a:rPr lang="zh-CN" altLang="en-US" dirty="0"/>
              <a:t>在试用期内，我围绕流程管理工作展开了多维度的学习与实践。在标准化建设上，我深入钻研流程管理规范，设计并推行流程文档 “七件套” 模板，将流程文件编制标准系统化，显著提升文档的规范性与可读性；在项目推进方面，创新性地采用树立标杆案例、激励优秀 </a:t>
            </a:r>
            <a:r>
              <a:rPr lang="en-US" altLang="zh-CN" dirty="0"/>
              <a:t>PO</a:t>
            </a:r>
            <a:r>
              <a:rPr lang="zh-CN" altLang="en-US" dirty="0"/>
              <a:t>、及时通报阶段性成果等手段，打破传统推进模式，有效激发团队积极性，提升流程认可度与执行力；同时，我积极学习并构建 “立项 </a:t>
            </a:r>
            <a:r>
              <a:rPr lang="en-US" altLang="zh-CN" dirty="0"/>
              <a:t>- </a:t>
            </a:r>
            <a:r>
              <a:rPr lang="zh-CN" altLang="en-US" dirty="0"/>
              <a:t>评审发布 </a:t>
            </a:r>
            <a:r>
              <a:rPr lang="en-US" altLang="zh-CN" dirty="0"/>
              <a:t>- </a:t>
            </a:r>
            <a:r>
              <a:rPr lang="zh-CN" altLang="en-US" dirty="0"/>
              <a:t>案例优化” 的标准化流程推进体系，将前沿方法论深度融入工作，确保流程建设各环节科学有序、环环相扣。</a:t>
            </a:r>
            <a:r>
              <a:rPr lang="zh-CN" altLang="en-US" dirty="0" smtClean="0"/>
              <a:t>​</a:t>
            </a:r>
            <a:endParaRPr lang="en-US" altLang="zh-CN" dirty="0" smtClean="0"/>
          </a:p>
          <a:p>
            <a:endParaRPr lang="zh-CN" altLang="en-US" dirty="0"/>
          </a:p>
          <a:p>
            <a:r>
              <a:rPr lang="en-US" altLang="zh-CN" dirty="0"/>
              <a:t>2</a:t>
            </a:r>
            <a:r>
              <a:rPr lang="zh-CN" altLang="en-US" dirty="0"/>
              <a:t>）总体成长与进步​</a:t>
            </a:r>
          </a:p>
          <a:p>
            <a:r>
              <a:rPr lang="zh-CN" altLang="en-US" dirty="0"/>
              <a:t>通过深度参与公司流程建设与管理工作，我实现了从经验应用到能力突破的全面成长。不仅将过往经验与行业前沿方法论有机结合，主导完成 </a:t>
            </a:r>
            <a:r>
              <a:rPr lang="en-US" altLang="zh-CN" dirty="0"/>
              <a:t>MO </a:t>
            </a:r>
            <a:r>
              <a:rPr lang="zh-CN" altLang="en-US" dirty="0"/>
              <a:t>和 </a:t>
            </a:r>
            <a:r>
              <a:rPr lang="en-US" altLang="zh-CN" dirty="0"/>
              <a:t>DG </a:t>
            </a:r>
            <a:r>
              <a:rPr lang="zh-CN" altLang="en-US" dirty="0"/>
              <a:t>领域的全流程梳理与搭建，还通过 “流程 </a:t>
            </a:r>
            <a:r>
              <a:rPr lang="en-US" altLang="zh-CN" dirty="0"/>
              <a:t>+ IT” </a:t>
            </a:r>
            <a:r>
              <a:rPr lang="zh-CN" altLang="en-US" dirty="0"/>
              <a:t>双轮驱动模式，推动流程数字化转型。在这一过程中，我不仅强化了流程落地效果，更在流程数字化管理、跨领域协作等方面获得新突破，形成了对流程全生命周期管理的系统性认知，为未来持续优化企业流程运营体系、推动业务高效运转奠定了坚实基础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E60033"/>
                </a:solidFill>
                <a:cs typeface="+mn-ea"/>
              </a:rPr>
              <a:t>4</a:t>
            </a:r>
            <a:r>
              <a:rPr lang="zh-CN" altLang="en-US" dirty="0">
                <a:solidFill>
                  <a:srgbClr val="E60033"/>
                </a:solidFill>
                <a:cs typeface="+mn-ea"/>
              </a:rPr>
              <a:t>、</a:t>
            </a:r>
            <a:r>
              <a:rPr lang="en-US" altLang="zh-CN" dirty="0">
                <a:solidFill>
                  <a:srgbClr val="E60033"/>
                </a:solidFill>
                <a:cs typeface="+mn-ea"/>
              </a:rPr>
              <a:t>25</a:t>
            </a:r>
            <a:r>
              <a:rPr lang="zh-CN" altLang="en-US" dirty="0">
                <a:solidFill>
                  <a:srgbClr val="E60033"/>
                </a:solidFill>
                <a:cs typeface="+mn-ea"/>
              </a:rPr>
              <a:t>年下半年的绩效承诺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1C1B161-4EA0-4354-A154-2430C001F00B}" type="slidenum">
              <a:rPr lang="zh-CN" altLang="en-US" smtClean="0">
                <a:ea typeface="微软雅黑" panose="020B0503020204020204" pitchFamily="34" charset="-122"/>
                <a:cs typeface="+mn-ea"/>
              </a:rPr>
              <a:t>6</a:t>
            </a:fld>
            <a:endParaRPr lang="zh-CN" altLang="en-US" dirty="0"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200" y="948690"/>
            <a:ext cx="8229600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1F2329"/>
                </a:solidFill>
                <a:latin typeface="Inter"/>
              </a:rPr>
              <a:t>一、核心目标​</a:t>
            </a:r>
          </a:p>
          <a:p>
            <a:r>
              <a:rPr lang="zh-CN" altLang="en-US" dirty="0">
                <a:solidFill>
                  <a:srgbClr val="1F2329"/>
                </a:solidFill>
                <a:latin typeface="Inter"/>
              </a:rPr>
              <a:t>在市场竞争加剧、技术快速迭代背景下，聚焦 </a:t>
            </a:r>
            <a:r>
              <a:rPr lang="en-US" altLang="zh-CN" dirty="0">
                <a:solidFill>
                  <a:srgbClr val="1F2329"/>
                </a:solidFill>
                <a:latin typeface="Inter"/>
              </a:rPr>
              <a:t>V1.0 </a:t>
            </a:r>
            <a:r>
              <a:rPr lang="zh-CN" altLang="en-US" dirty="0">
                <a:solidFill>
                  <a:srgbClr val="1F2329"/>
                </a:solidFill>
                <a:latin typeface="Inter"/>
              </a:rPr>
              <a:t>流程落地，实现 “流程被执行” 与 “业务有改善”，发挥流程专家价值，助力公司发展</a:t>
            </a:r>
            <a:r>
              <a:rPr lang="zh-CN" altLang="en-US" dirty="0" smtClean="0">
                <a:solidFill>
                  <a:srgbClr val="1F2329"/>
                </a:solidFill>
                <a:latin typeface="Inter"/>
              </a:rPr>
              <a:t>。</a:t>
            </a:r>
            <a:endParaRPr lang="en-US" altLang="zh-CN" dirty="0" smtClean="0">
              <a:solidFill>
                <a:srgbClr val="1F2329"/>
              </a:solidFill>
              <a:latin typeface="Inter"/>
            </a:endParaRPr>
          </a:p>
          <a:p>
            <a:r>
              <a:rPr lang="zh-CN" altLang="en-US" dirty="0" smtClean="0">
                <a:solidFill>
                  <a:srgbClr val="1F2329"/>
                </a:solidFill>
                <a:latin typeface="Inter"/>
              </a:rPr>
              <a:t>二</a:t>
            </a:r>
            <a:r>
              <a:rPr lang="zh-CN" altLang="en-US" dirty="0">
                <a:solidFill>
                  <a:srgbClr val="1F2329"/>
                </a:solidFill>
                <a:latin typeface="Inter"/>
              </a:rPr>
              <a:t>、关键行动​</a:t>
            </a:r>
          </a:p>
          <a:p>
            <a:r>
              <a:rPr lang="zh-CN" altLang="en-US" dirty="0">
                <a:solidFill>
                  <a:srgbClr val="1F2329"/>
                </a:solidFill>
                <a:latin typeface="Inter"/>
              </a:rPr>
              <a:t>（一）流程执行推动​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1F2329"/>
                </a:solidFill>
                <a:latin typeface="Inter"/>
              </a:rPr>
              <a:t>深度协同</a:t>
            </a:r>
            <a:r>
              <a:rPr lang="zh-CN" altLang="en-US" dirty="0" smtClean="0">
                <a:solidFill>
                  <a:srgbClr val="1F2329"/>
                </a:solidFill>
                <a:latin typeface="Inter"/>
              </a:rPr>
              <a:t>：通过每周例会加强进度跟踪与计划拉齐​</a:t>
            </a:r>
            <a:endParaRPr lang="zh-CN" altLang="en-US" dirty="0">
              <a:solidFill>
                <a:srgbClr val="1F2329"/>
              </a:solidFill>
              <a:latin typeface="Inter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1F2329"/>
                </a:solidFill>
                <a:latin typeface="Inter"/>
              </a:rPr>
              <a:t>精准赋能</a:t>
            </a:r>
            <a:r>
              <a:rPr lang="zh-CN" altLang="en-US" dirty="0" smtClean="0">
                <a:solidFill>
                  <a:srgbClr val="1F2329"/>
                </a:solidFill>
                <a:latin typeface="Inter"/>
              </a:rPr>
              <a:t>：继续推动流程宣贯，培训</a:t>
            </a:r>
            <a:r>
              <a:rPr lang="zh-CN" altLang="en-US" dirty="0">
                <a:solidFill>
                  <a:srgbClr val="1F2329"/>
                </a:solidFill>
                <a:latin typeface="Inter"/>
              </a:rPr>
              <a:t>覆盖率 </a:t>
            </a:r>
            <a:r>
              <a:rPr lang="en-US" altLang="zh-CN" dirty="0">
                <a:solidFill>
                  <a:srgbClr val="1F2329"/>
                </a:solidFill>
                <a:latin typeface="Inter"/>
              </a:rPr>
              <a:t>100%</a:t>
            </a:r>
            <a:r>
              <a:rPr lang="zh-CN" altLang="en-US" dirty="0">
                <a:solidFill>
                  <a:srgbClr val="1F2329"/>
                </a:solidFill>
                <a:latin typeface="Inter"/>
              </a:rPr>
              <a:t>，掌握率</a:t>
            </a:r>
            <a:r>
              <a:rPr lang="zh-CN" altLang="en-US" dirty="0" smtClean="0">
                <a:solidFill>
                  <a:srgbClr val="1F2329"/>
                </a:solidFill>
                <a:latin typeface="Inter"/>
              </a:rPr>
              <a:t>≥</a:t>
            </a:r>
            <a:r>
              <a:rPr lang="en-US" altLang="zh-CN" dirty="0" smtClean="0">
                <a:solidFill>
                  <a:srgbClr val="1F2329"/>
                </a:solidFill>
                <a:latin typeface="Inter"/>
              </a:rPr>
              <a:t>80</a:t>
            </a:r>
            <a:r>
              <a:rPr lang="en-US" altLang="zh-CN" dirty="0">
                <a:solidFill>
                  <a:srgbClr val="1F2329"/>
                </a:solidFill>
                <a:latin typeface="Inter"/>
              </a:rPr>
              <a:t>%​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1F2329"/>
                </a:solidFill>
                <a:latin typeface="Inter"/>
              </a:rPr>
              <a:t>智能监控</a:t>
            </a:r>
            <a:r>
              <a:rPr lang="zh-CN" altLang="en-US" dirty="0">
                <a:solidFill>
                  <a:srgbClr val="1F2329"/>
                </a:solidFill>
                <a:latin typeface="Inter"/>
              </a:rPr>
              <a:t>：</a:t>
            </a:r>
            <a:r>
              <a:rPr lang="zh-CN" altLang="en-US" dirty="0" smtClean="0">
                <a:solidFill>
                  <a:srgbClr val="1F2329"/>
                </a:solidFill>
                <a:latin typeface="Inter"/>
              </a:rPr>
              <a:t>搭建</a:t>
            </a:r>
            <a:r>
              <a:rPr lang="en-US" altLang="zh-CN" dirty="0" smtClean="0">
                <a:solidFill>
                  <a:srgbClr val="1F2329"/>
                </a:solidFill>
                <a:latin typeface="Inter"/>
              </a:rPr>
              <a:t>IT</a:t>
            </a:r>
            <a:r>
              <a:rPr lang="zh-CN" altLang="en-US" dirty="0" smtClean="0">
                <a:solidFill>
                  <a:srgbClr val="1F2329"/>
                </a:solidFill>
                <a:latin typeface="Inter"/>
              </a:rPr>
              <a:t>平台做到流程执行情况能够实时追踪，月度</a:t>
            </a:r>
            <a:r>
              <a:rPr lang="en-US" altLang="zh-CN" dirty="0" smtClean="0">
                <a:solidFill>
                  <a:srgbClr val="1F2329"/>
                </a:solidFill>
                <a:latin typeface="Inter"/>
              </a:rPr>
              <a:t>/</a:t>
            </a:r>
            <a:r>
              <a:rPr lang="zh-CN" altLang="en-US" dirty="0" smtClean="0">
                <a:solidFill>
                  <a:srgbClr val="1F2329"/>
                </a:solidFill>
                <a:latin typeface="Inter"/>
              </a:rPr>
              <a:t>季度看板数据自动生成</a:t>
            </a:r>
            <a:endParaRPr lang="en-US" altLang="zh-CN" dirty="0" smtClean="0">
              <a:solidFill>
                <a:srgbClr val="1F2329"/>
              </a:solidFill>
              <a:latin typeface="Inter"/>
            </a:endParaRPr>
          </a:p>
          <a:p>
            <a:r>
              <a:rPr lang="zh-CN" altLang="en-US" dirty="0"/>
              <a:t>（二）业务改善促进​</a:t>
            </a:r>
          </a:p>
          <a:p>
            <a:r>
              <a:rPr lang="zh-CN" altLang="en-US" b="1" dirty="0"/>
              <a:t>指标牵引</a:t>
            </a:r>
            <a:r>
              <a:rPr lang="zh-CN" altLang="en-US" dirty="0"/>
              <a:t>：协同</a:t>
            </a:r>
            <a:r>
              <a:rPr lang="zh-CN" altLang="en-US" dirty="0" smtClean="0"/>
              <a:t>制定流程</a:t>
            </a:r>
            <a:r>
              <a:rPr lang="zh-CN" altLang="en-US" dirty="0"/>
              <a:t>关键指标（如 </a:t>
            </a:r>
            <a:r>
              <a:rPr lang="en-US" altLang="zh-CN" dirty="0"/>
              <a:t>MO </a:t>
            </a:r>
            <a:r>
              <a:rPr lang="zh-CN" altLang="en-US" dirty="0" smtClean="0"/>
              <a:t>效率</a:t>
            </a:r>
            <a:r>
              <a:rPr lang="zh-CN" altLang="en-US" dirty="0"/>
              <a:t>提升</a:t>
            </a:r>
            <a:r>
              <a:rPr lang="en-US" altLang="zh-CN" dirty="0" smtClean="0"/>
              <a:t>20</a:t>
            </a:r>
            <a:r>
              <a:rPr lang="en-US" altLang="zh-CN" dirty="0"/>
              <a:t>%</a:t>
            </a:r>
            <a:r>
              <a:rPr lang="zh-CN" altLang="en-US" dirty="0"/>
              <a:t>、</a:t>
            </a:r>
            <a:r>
              <a:rPr lang="en-US" altLang="zh-CN" dirty="0" smtClean="0"/>
              <a:t>DG</a:t>
            </a:r>
            <a:r>
              <a:rPr lang="zh-CN" altLang="en-US" dirty="0" smtClean="0"/>
              <a:t>活动开展质量</a:t>
            </a:r>
            <a:r>
              <a:rPr lang="zh-CN" altLang="en-US" dirty="0"/>
              <a:t>合格率≥</a:t>
            </a:r>
            <a:r>
              <a:rPr lang="en-US" altLang="zh-CN" dirty="0" smtClean="0"/>
              <a:t>95%</a:t>
            </a:r>
            <a:r>
              <a:rPr lang="zh-CN" altLang="en-US" dirty="0" smtClean="0"/>
              <a:t>等），进行月度季度跟踪与分析</a:t>
            </a:r>
            <a:r>
              <a:rPr lang="zh-CN" altLang="en-US" dirty="0"/>
              <a:t>​</a:t>
            </a:r>
          </a:p>
          <a:p>
            <a:r>
              <a:rPr lang="zh-CN" altLang="en-US" b="1" dirty="0"/>
              <a:t>闭环优化</a:t>
            </a:r>
            <a:r>
              <a:rPr lang="zh-CN" altLang="en-US" dirty="0"/>
              <a:t>：季度研讨流程，</a:t>
            </a:r>
            <a:r>
              <a:rPr lang="en-US" altLang="zh-CN" dirty="0"/>
              <a:t>1 </a:t>
            </a:r>
            <a:r>
              <a:rPr lang="zh-CN" altLang="en-US" dirty="0"/>
              <a:t>个月内完成调整，</a:t>
            </a:r>
            <a:r>
              <a:rPr lang="en-US" altLang="zh-CN" dirty="0"/>
              <a:t>2 </a:t>
            </a:r>
            <a:r>
              <a:rPr lang="zh-CN" altLang="en-US" dirty="0"/>
              <a:t>个月跟踪效果​</a:t>
            </a:r>
          </a:p>
          <a:p>
            <a:r>
              <a:rPr lang="zh-CN" altLang="en-US" b="1" dirty="0"/>
              <a:t>标杆复制</a:t>
            </a:r>
            <a:r>
              <a:rPr lang="zh-CN" altLang="en-US" dirty="0"/>
              <a:t>：</a:t>
            </a:r>
            <a:r>
              <a:rPr lang="zh-CN" altLang="en-US" dirty="0" smtClean="0"/>
              <a:t>每季度至少输出 </a:t>
            </a:r>
            <a:r>
              <a:rPr lang="en-US" altLang="zh-CN" dirty="0" smtClean="0"/>
              <a:t>1-2 </a:t>
            </a:r>
            <a:r>
              <a:rPr lang="zh-CN" altLang="en-US" dirty="0"/>
              <a:t>个</a:t>
            </a:r>
            <a:r>
              <a:rPr lang="zh-CN" altLang="en-US" dirty="0" smtClean="0"/>
              <a:t>标杆优秀案例</a:t>
            </a:r>
            <a:endParaRPr lang="en-US" altLang="zh-CN" dirty="0" smtClean="0"/>
          </a:p>
          <a:p>
            <a:r>
              <a:rPr lang="zh-CN" altLang="en-US" dirty="0"/>
              <a:t>（三）深化专家角色​</a:t>
            </a:r>
          </a:p>
          <a:p>
            <a:r>
              <a:rPr lang="zh-CN" altLang="en-US" b="1" dirty="0"/>
              <a:t>跨域协同</a:t>
            </a:r>
            <a:r>
              <a:rPr lang="zh-CN" altLang="en-US" dirty="0"/>
              <a:t>：每月参与≥</a:t>
            </a:r>
            <a:r>
              <a:rPr lang="en-US" altLang="zh-CN" dirty="0"/>
              <a:t>2 </a:t>
            </a:r>
            <a:r>
              <a:rPr lang="zh-CN" altLang="en-US" dirty="0"/>
              <a:t>个</a:t>
            </a:r>
            <a:r>
              <a:rPr lang="zh-CN" altLang="en-US" dirty="0" smtClean="0"/>
              <a:t>流程内部探讨，</a:t>
            </a:r>
            <a:r>
              <a:rPr lang="zh-CN" altLang="en-US" dirty="0"/>
              <a:t>输出专业建议​</a:t>
            </a:r>
          </a:p>
          <a:p>
            <a:r>
              <a:rPr lang="zh-CN" altLang="en-US" b="1" dirty="0"/>
              <a:t>问题攻坚</a:t>
            </a:r>
            <a:r>
              <a:rPr lang="zh-CN" altLang="en-US" dirty="0"/>
              <a:t>：每</a:t>
            </a:r>
            <a:r>
              <a:rPr lang="zh-CN" altLang="en-US" dirty="0" smtClean="0"/>
              <a:t>周至少</a:t>
            </a:r>
            <a:r>
              <a:rPr lang="en-US" altLang="zh-CN" dirty="0" smtClean="0"/>
              <a:t>2 </a:t>
            </a:r>
            <a:r>
              <a:rPr lang="zh-CN" altLang="en-US" dirty="0"/>
              <a:t>次</a:t>
            </a:r>
            <a:r>
              <a:rPr lang="zh-CN" altLang="en-US" dirty="0" smtClean="0"/>
              <a:t>深入一线业务对话，了解流程痛点与执行效果，同时答疑解惑。​</a:t>
            </a:r>
            <a:endParaRPr lang="zh-CN" altLang="en-US" dirty="0"/>
          </a:p>
          <a:p>
            <a:r>
              <a:rPr lang="zh-CN" altLang="en-US" b="1" dirty="0"/>
              <a:t>知识共享</a:t>
            </a:r>
            <a:r>
              <a:rPr lang="zh-CN" altLang="en-US" dirty="0"/>
              <a:t>：每季度 </a:t>
            </a:r>
            <a:r>
              <a:rPr lang="zh-CN" altLang="en-US" dirty="0" smtClean="0"/>
              <a:t>至少</a:t>
            </a:r>
            <a:r>
              <a:rPr lang="en-US" altLang="zh-CN" dirty="0" smtClean="0"/>
              <a:t>1 </a:t>
            </a:r>
            <a:r>
              <a:rPr lang="zh-CN" altLang="en-US" dirty="0" smtClean="0"/>
              <a:t>次流程知识分享（内部</a:t>
            </a:r>
            <a:r>
              <a:rPr lang="zh-CN" altLang="en-US" dirty="0"/>
              <a:t>或</a:t>
            </a:r>
            <a:r>
              <a:rPr lang="zh-CN" altLang="en-US" dirty="0" smtClean="0"/>
              <a:t>外部）</a:t>
            </a:r>
            <a:endParaRPr lang="en-US" altLang="zh-CN" dirty="0" smtClean="0"/>
          </a:p>
          <a:p>
            <a:endParaRPr lang="zh-CN" altLang="en-US" dirty="0"/>
          </a:p>
          <a:p>
            <a:endParaRPr lang="zh-CN" altLang="en-US" b="0" i="0" dirty="0">
              <a:solidFill>
                <a:srgbClr val="1F2329"/>
              </a:solidFill>
              <a:effectLst/>
              <a:latin typeface="Inte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E60033"/>
                </a:solidFill>
                <a:cs typeface="+mn-ea"/>
              </a:rPr>
              <a:t>5</a:t>
            </a:r>
            <a:r>
              <a:rPr lang="zh-CN" altLang="en-US" dirty="0">
                <a:solidFill>
                  <a:srgbClr val="E60033"/>
                </a:solidFill>
                <a:cs typeface="+mn-ea"/>
              </a:rPr>
              <a:t>、</a:t>
            </a:r>
            <a:r>
              <a:rPr lang="zh-CN" dirty="0">
                <a:solidFill>
                  <a:srgbClr val="E60033"/>
                </a:solidFill>
                <a:cs typeface="+mn-ea"/>
              </a:rPr>
              <a:t>对部门或业务的建议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1C1B161-4EA0-4354-A154-2430C001F00B}" type="slidenum">
              <a:rPr lang="zh-CN" altLang="en-US" smtClean="0">
                <a:ea typeface="微软雅黑" panose="020B0503020204020204" pitchFamily="34" charset="-122"/>
                <a:cs typeface="+mn-ea"/>
              </a:rPr>
              <a:t>7</a:t>
            </a:fld>
            <a:endParaRPr lang="zh-CN" altLang="en-US" dirty="0"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38760" y="980728"/>
            <a:ext cx="86868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1F2329"/>
                </a:solidFill>
                <a:latin typeface="Inter"/>
              </a:rPr>
              <a:t>对部门及业务</a:t>
            </a:r>
            <a:r>
              <a:rPr lang="zh-CN" altLang="en-US" dirty="0" smtClean="0">
                <a:solidFill>
                  <a:srgbClr val="1F2329"/>
                </a:solidFill>
                <a:latin typeface="Inter"/>
              </a:rPr>
              <a:t>，个人建议如下：</a:t>
            </a:r>
            <a:endParaRPr lang="en-US" altLang="zh-CN" dirty="0" smtClean="0">
              <a:solidFill>
                <a:srgbClr val="1F2329"/>
              </a:solidFill>
              <a:latin typeface="Inter"/>
            </a:endParaRPr>
          </a:p>
          <a:p>
            <a:endParaRPr lang="en-US" altLang="zh-CN" dirty="0" smtClean="0">
              <a:solidFill>
                <a:srgbClr val="1F2329"/>
              </a:solidFill>
              <a:latin typeface="Inter"/>
            </a:endParaRPr>
          </a:p>
          <a:p>
            <a:r>
              <a:rPr lang="en-US" altLang="zh-CN" dirty="0" smtClean="0">
                <a:solidFill>
                  <a:srgbClr val="1F2329"/>
                </a:solidFill>
                <a:latin typeface="Inter"/>
              </a:rPr>
              <a:t>1</a:t>
            </a:r>
            <a:r>
              <a:rPr lang="zh-CN" altLang="en-US" dirty="0">
                <a:solidFill>
                  <a:srgbClr val="1F2329"/>
                </a:solidFill>
                <a:latin typeface="Inter"/>
              </a:rPr>
              <a:t>、</a:t>
            </a:r>
            <a:r>
              <a:rPr lang="zh-CN" altLang="en-US" dirty="0" smtClean="0">
                <a:solidFill>
                  <a:srgbClr val="1F2329"/>
                </a:solidFill>
                <a:latin typeface="Inter"/>
              </a:rPr>
              <a:t>面对</a:t>
            </a:r>
            <a:r>
              <a:rPr lang="zh-CN" altLang="en-US" dirty="0">
                <a:solidFill>
                  <a:srgbClr val="1F2329"/>
                </a:solidFill>
                <a:latin typeface="Inter"/>
              </a:rPr>
              <a:t>工作量大难以聚焦的困境，建议引入科学的任务优先级排序工具</a:t>
            </a:r>
            <a:r>
              <a:rPr lang="zh-CN" altLang="en-US" dirty="0" smtClean="0">
                <a:solidFill>
                  <a:srgbClr val="1F2329"/>
                </a:solidFill>
                <a:latin typeface="Inter"/>
              </a:rPr>
              <a:t>，将</a:t>
            </a:r>
            <a:r>
              <a:rPr lang="zh-CN" altLang="en-US" dirty="0">
                <a:solidFill>
                  <a:srgbClr val="1F2329"/>
                </a:solidFill>
                <a:latin typeface="Inter"/>
              </a:rPr>
              <a:t>任务按紧急重要程度划分为四类，每日工作前花 </a:t>
            </a:r>
            <a:r>
              <a:rPr lang="en-US" altLang="zh-CN" dirty="0">
                <a:solidFill>
                  <a:srgbClr val="1F2329"/>
                </a:solidFill>
                <a:latin typeface="Inter"/>
              </a:rPr>
              <a:t>10-15 </a:t>
            </a:r>
            <a:r>
              <a:rPr lang="zh-CN" altLang="en-US" dirty="0">
                <a:solidFill>
                  <a:srgbClr val="1F2329"/>
                </a:solidFill>
                <a:latin typeface="Inter"/>
              </a:rPr>
              <a:t>分钟梳理，集中精力先攻克紧急重要任务，预计可节省 </a:t>
            </a:r>
            <a:r>
              <a:rPr lang="en-US" altLang="zh-CN" dirty="0">
                <a:solidFill>
                  <a:srgbClr val="1F2329"/>
                </a:solidFill>
                <a:latin typeface="Inter"/>
              </a:rPr>
              <a:t>25%-35% </a:t>
            </a:r>
            <a:r>
              <a:rPr lang="zh-CN" altLang="en-US" dirty="0">
                <a:solidFill>
                  <a:srgbClr val="1F2329"/>
                </a:solidFill>
                <a:latin typeface="Inter"/>
              </a:rPr>
              <a:t>的无效精力损耗，避免因任务无序而分散精力</a:t>
            </a:r>
            <a:r>
              <a:rPr lang="zh-CN" altLang="en-US" dirty="0" smtClean="0">
                <a:solidFill>
                  <a:srgbClr val="1F2329"/>
                </a:solidFill>
                <a:latin typeface="Inter"/>
              </a:rPr>
              <a:t>。</a:t>
            </a:r>
            <a:endParaRPr lang="en-US" altLang="zh-CN" dirty="0" smtClean="0">
              <a:solidFill>
                <a:srgbClr val="1F2329"/>
              </a:solidFill>
              <a:latin typeface="Inter"/>
            </a:endParaRPr>
          </a:p>
          <a:p>
            <a:r>
              <a:rPr lang="zh-CN" altLang="en-US" dirty="0" smtClean="0">
                <a:solidFill>
                  <a:srgbClr val="1F2329"/>
                </a:solidFill>
                <a:latin typeface="Inter"/>
              </a:rPr>
              <a:t>​</a:t>
            </a:r>
            <a:endParaRPr lang="zh-CN" altLang="en-US" dirty="0">
              <a:solidFill>
                <a:srgbClr val="1F2329"/>
              </a:solidFill>
              <a:latin typeface="Inter"/>
            </a:endParaRPr>
          </a:p>
          <a:p>
            <a:r>
              <a:rPr lang="en-US" altLang="zh-CN" dirty="0" smtClean="0">
                <a:solidFill>
                  <a:srgbClr val="1F2329"/>
                </a:solidFill>
                <a:latin typeface="Inter"/>
              </a:rPr>
              <a:t>2</a:t>
            </a:r>
            <a:r>
              <a:rPr lang="zh-CN" altLang="en-US" dirty="0" smtClean="0">
                <a:solidFill>
                  <a:srgbClr val="1F2329"/>
                </a:solidFill>
                <a:latin typeface="Inter"/>
              </a:rPr>
              <a:t>、针对</a:t>
            </a:r>
            <a:r>
              <a:rPr lang="zh-CN" altLang="en-US" dirty="0">
                <a:solidFill>
                  <a:srgbClr val="1F2329"/>
                </a:solidFill>
                <a:latin typeface="Inter"/>
              </a:rPr>
              <a:t>数字化底子薄，尤其是销售领域 </a:t>
            </a:r>
            <a:r>
              <a:rPr lang="en-US" altLang="zh-CN" dirty="0">
                <a:solidFill>
                  <a:srgbClr val="1F2329"/>
                </a:solidFill>
                <a:latin typeface="Inter"/>
              </a:rPr>
              <a:t>CRM </a:t>
            </a:r>
            <a:r>
              <a:rPr lang="zh-CN" altLang="en-US" dirty="0">
                <a:solidFill>
                  <a:srgbClr val="1F2329"/>
                </a:solidFill>
                <a:latin typeface="Inter"/>
              </a:rPr>
              <a:t>系统问题，应明确其从单纯管理工具向赋能型、连接型平台转型的定位。在设计方向上，以销售关键用户需求为核心，融入 </a:t>
            </a:r>
            <a:r>
              <a:rPr lang="en-US" altLang="zh-CN" dirty="0">
                <a:solidFill>
                  <a:srgbClr val="1F2329"/>
                </a:solidFill>
                <a:latin typeface="Inter"/>
              </a:rPr>
              <a:t>AI </a:t>
            </a:r>
            <a:r>
              <a:rPr lang="zh-CN" altLang="en-US" dirty="0">
                <a:solidFill>
                  <a:srgbClr val="1F2329"/>
                </a:solidFill>
                <a:latin typeface="Inter"/>
              </a:rPr>
              <a:t>技术实现智能推荐、自动线索分配，提升销售效率；优化功能设计，如简化操作流程</a:t>
            </a:r>
            <a:r>
              <a:rPr lang="zh-CN" altLang="en-US" dirty="0" smtClean="0">
                <a:solidFill>
                  <a:srgbClr val="1F2329"/>
                </a:solidFill>
                <a:latin typeface="Inter"/>
              </a:rPr>
              <a:t>，同时</a:t>
            </a:r>
            <a:r>
              <a:rPr lang="zh-CN" altLang="en-US" dirty="0">
                <a:solidFill>
                  <a:srgbClr val="1F2329"/>
                </a:solidFill>
                <a:latin typeface="Inter"/>
              </a:rPr>
              <a:t>，建立用户反馈机制</a:t>
            </a:r>
            <a:r>
              <a:rPr lang="zh-CN" altLang="en-US" dirty="0" smtClean="0">
                <a:solidFill>
                  <a:srgbClr val="1F2329"/>
                </a:solidFill>
                <a:latin typeface="Inter"/>
              </a:rPr>
              <a:t>，收集用户</a:t>
            </a:r>
            <a:r>
              <a:rPr lang="zh-CN" altLang="en-US" dirty="0">
                <a:solidFill>
                  <a:srgbClr val="1F2329"/>
                </a:solidFill>
                <a:latin typeface="Inter"/>
              </a:rPr>
              <a:t>意见</a:t>
            </a:r>
            <a:r>
              <a:rPr lang="zh-CN" altLang="en-US" dirty="0" smtClean="0">
                <a:solidFill>
                  <a:srgbClr val="1F2329"/>
                </a:solidFill>
                <a:latin typeface="Inter"/>
              </a:rPr>
              <a:t>，针对性</a:t>
            </a:r>
            <a:r>
              <a:rPr lang="zh-CN" altLang="en-US" dirty="0">
                <a:solidFill>
                  <a:srgbClr val="1F2329"/>
                </a:solidFill>
                <a:latin typeface="Inter"/>
              </a:rPr>
              <a:t>优化，逐步提升用户体验，从根本上改善数据与内容质量问题。</a:t>
            </a:r>
            <a:r>
              <a:rPr lang="zh-CN" altLang="en-US" dirty="0" smtClean="0">
                <a:solidFill>
                  <a:srgbClr val="1F2329"/>
                </a:solidFill>
                <a:latin typeface="Inter"/>
              </a:rPr>
              <a:t>​</a:t>
            </a:r>
            <a:endParaRPr lang="en-US" altLang="zh-CN" dirty="0" smtClean="0">
              <a:solidFill>
                <a:srgbClr val="1F2329"/>
              </a:solidFill>
              <a:latin typeface="Inter"/>
            </a:endParaRPr>
          </a:p>
          <a:p>
            <a:endParaRPr lang="zh-CN" altLang="en-US" dirty="0">
              <a:solidFill>
                <a:srgbClr val="1F2329"/>
              </a:solidFill>
              <a:latin typeface="Inter"/>
            </a:endParaRPr>
          </a:p>
          <a:p>
            <a:r>
              <a:rPr lang="en-US" altLang="zh-CN" dirty="0" smtClean="0">
                <a:solidFill>
                  <a:srgbClr val="1F2329"/>
                </a:solidFill>
                <a:latin typeface="Inter"/>
              </a:rPr>
              <a:t>3</a:t>
            </a:r>
            <a:r>
              <a:rPr lang="zh-CN" altLang="en-US" dirty="0" smtClean="0">
                <a:solidFill>
                  <a:srgbClr val="1F2329"/>
                </a:solidFill>
                <a:latin typeface="Inter"/>
              </a:rPr>
              <a:t>、为</a:t>
            </a:r>
            <a:r>
              <a:rPr lang="zh-CN" altLang="en-US" dirty="0">
                <a:solidFill>
                  <a:srgbClr val="1F2329"/>
                </a:solidFill>
                <a:latin typeface="Inter"/>
              </a:rPr>
              <a:t>提升流程 </a:t>
            </a:r>
            <a:r>
              <a:rPr lang="en-US" altLang="zh-CN" dirty="0">
                <a:solidFill>
                  <a:srgbClr val="1F2329"/>
                </a:solidFill>
                <a:latin typeface="Inter"/>
              </a:rPr>
              <a:t>PO </a:t>
            </a:r>
            <a:r>
              <a:rPr lang="zh-CN" altLang="en-US" dirty="0">
                <a:solidFill>
                  <a:srgbClr val="1F2329"/>
                </a:solidFill>
                <a:latin typeface="Inter"/>
              </a:rPr>
              <a:t>参与度</a:t>
            </a:r>
            <a:r>
              <a:rPr lang="zh-CN" altLang="en-US" dirty="0" smtClean="0">
                <a:solidFill>
                  <a:srgbClr val="1F2329"/>
                </a:solidFill>
                <a:latin typeface="Inter"/>
              </a:rPr>
              <a:t>，</a:t>
            </a:r>
            <a:r>
              <a:rPr lang="zh-CN" altLang="en-US" dirty="0">
                <a:solidFill>
                  <a:srgbClr val="1F2329"/>
                </a:solidFill>
                <a:latin typeface="Inter"/>
              </a:rPr>
              <a:t>通过建立激励机制、简化流程、强化价值</a:t>
            </a:r>
            <a:r>
              <a:rPr lang="zh-CN" altLang="en-US" dirty="0" smtClean="0">
                <a:solidFill>
                  <a:srgbClr val="1F2329"/>
                </a:solidFill>
                <a:latin typeface="Inter"/>
              </a:rPr>
              <a:t>共识的同时，建议从</a:t>
            </a:r>
            <a:r>
              <a:rPr lang="en-US" altLang="zh-CN" dirty="0" smtClean="0">
                <a:solidFill>
                  <a:srgbClr val="1F2329"/>
                </a:solidFill>
                <a:latin typeface="Inter"/>
              </a:rPr>
              <a:t>MTCV</a:t>
            </a:r>
            <a:r>
              <a:rPr lang="zh-CN" altLang="en-US" dirty="0" smtClean="0">
                <a:solidFill>
                  <a:srgbClr val="1F2329"/>
                </a:solidFill>
                <a:latin typeface="Inter"/>
              </a:rPr>
              <a:t>整个流程建设层面，针对一些重要的话题和业务问题，组织对应</a:t>
            </a:r>
            <a:r>
              <a:rPr lang="en-US" altLang="zh-CN" dirty="0" smtClean="0">
                <a:solidFill>
                  <a:srgbClr val="1F2329"/>
                </a:solidFill>
                <a:latin typeface="Inter"/>
              </a:rPr>
              <a:t>PO</a:t>
            </a:r>
            <a:r>
              <a:rPr lang="zh-CN" altLang="en-US" dirty="0" smtClean="0">
                <a:solidFill>
                  <a:srgbClr val="1F2329"/>
                </a:solidFill>
                <a:latin typeface="Inter"/>
              </a:rPr>
              <a:t>通过线下沟通会的形式面对面沟通，加强互动，</a:t>
            </a:r>
            <a:r>
              <a:rPr lang="zh-CN" altLang="en-US" dirty="0">
                <a:solidFill>
                  <a:srgbClr val="1F2329"/>
                </a:solidFill>
                <a:latin typeface="Inter"/>
              </a:rPr>
              <a:t>增进</a:t>
            </a:r>
            <a:r>
              <a:rPr lang="zh-CN" altLang="en-US" dirty="0" smtClean="0">
                <a:solidFill>
                  <a:srgbClr val="1F2329"/>
                </a:solidFill>
                <a:latin typeface="Inter"/>
              </a:rPr>
              <a:t>了解</a:t>
            </a:r>
            <a:r>
              <a:rPr lang="zh-CN" altLang="en-US" dirty="0" smtClean="0">
                <a:solidFill>
                  <a:srgbClr val="1F2329"/>
                </a:solidFill>
                <a:latin typeface="Inter"/>
              </a:rPr>
              <a:t>，充分调动 </a:t>
            </a:r>
            <a:r>
              <a:rPr lang="en-US" altLang="zh-CN" dirty="0">
                <a:solidFill>
                  <a:srgbClr val="1F2329"/>
                </a:solidFill>
                <a:latin typeface="Inter"/>
              </a:rPr>
              <a:t>PO </a:t>
            </a:r>
            <a:r>
              <a:rPr lang="zh-CN" altLang="en-US" dirty="0">
                <a:solidFill>
                  <a:srgbClr val="1F2329"/>
                </a:solidFill>
                <a:latin typeface="Inter"/>
              </a:rPr>
              <a:t>参与流程建设的积极性，形成 “减负提效 </a:t>
            </a:r>
            <a:r>
              <a:rPr lang="en-US" altLang="zh-CN" dirty="0">
                <a:solidFill>
                  <a:srgbClr val="1F2329"/>
                </a:solidFill>
                <a:latin typeface="Inter"/>
              </a:rPr>
              <a:t>+ </a:t>
            </a:r>
            <a:r>
              <a:rPr lang="zh-CN" altLang="en-US" dirty="0">
                <a:solidFill>
                  <a:srgbClr val="1F2329"/>
                </a:solidFill>
                <a:latin typeface="Inter"/>
              </a:rPr>
              <a:t>系统赋能 </a:t>
            </a:r>
            <a:r>
              <a:rPr lang="en-US" altLang="zh-CN" dirty="0">
                <a:solidFill>
                  <a:srgbClr val="1F2329"/>
                </a:solidFill>
                <a:latin typeface="Inter"/>
              </a:rPr>
              <a:t>+ </a:t>
            </a:r>
            <a:r>
              <a:rPr lang="zh-CN" altLang="en-US" dirty="0">
                <a:solidFill>
                  <a:srgbClr val="1F2329"/>
                </a:solidFill>
                <a:latin typeface="Inter"/>
              </a:rPr>
              <a:t>全员协同” 的良性循环。</a:t>
            </a:r>
            <a:endParaRPr lang="zh-CN" altLang="en-US" b="0" i="0" dirty="0">
              <a:solidFill>
                <a:srgbClr val="1F2329"/>
              </a:solidFill>
              <a:effectLst/>
              <a:latin typeface="Inte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2" name="Picture 4" descr="C:\Users\Troub\Desktop\2a.jpg2a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35" y="0"/>
            <a:ext cx="9142730" cy="6856644"/>
          </a:xfrm>
          <a:prstGeom prst="rect">
            <a:avLst/>
          </a:prstGeom>
          <a:noFill/>
        </p:spPr>
      </p:pic>
      <p:sp>
        <p:nvSpPr>
          <p:cNvPr id="7" name="TextBox 6"/>
          <p:cNvSpPr>
            <a:spLocks noChangeArrowheads="1"/>
          </p:cNvSpPr>
          <p:nvPr/>
        </p:nvSpPr>
        <p:spPr bwMode="auto">
          <a:xfrm>
            <a:off x="3635896" y="1935694"/>
            <a:ext cx="5098799" cy="70788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4000" dirty="0">
                <a:solidFill>
                  <a:srgbClr val="E60033"/>
                </a:solidFill>
                <a:ea typeface="微软雅黑" panose="020B0503020204020204" pitchFamily="34" charset="-122"/>
                <a:cs typeface="+mn-ea"/>
              </a:rPr>
              <a:t>THANKS</a:t>
            </a:r>
          </a:p>
        </p:txBody>
      </p:sp>
      <p:sp>
        <p:nvSpPr>
          <p:cNvPr id="8" name="TextBox 7"/>
          <p:cNvSpPr>
            <a:spLocks noChangeArrowheads="1"/>
          </p:cNvSpPr>
          <p:nvPr/>
        </p:nvSpPr>
        <p:spPr bwMode="auto">
          <a:xfrm>
            <a:off x="3635896" y="2610381"/>
            <a:ext cx="5259943" cy="146669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1200" dirty="0">
                <a:solidFill>
                  <a:sysClr val="windowText" lastClr="000000"/>
                </a:solidFill>
                <a:ea typeface="微软雅黑" panose="020B0503020204020204" pitchFamily="34" charset="-122"/>
                <a:cs typeface="+mn-ea"/>
              </a:rPr>
              <a:t>锐捷网络股份有限公司</a:t>
            </a:r>
            <a:endParaRPr lang="en-US" altLang="zh-CN" sz="1200" dirty="0">
              <a:solidFill>
                <a:sysClr val="windowText" lastClr="000000"/>
              </a:solidFill>
              <a:ea typeface="微软雅黑" panose="020B0503020204020204" pitchFamily="34" charset="-122"/>
              <a:cs typeface="+mn-ea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1200" dirty="0">
                <a:solidFill>
                  <a:sysClr val="windowText" lastClr="000000"/>
                </a:solidFill>
                <a:ea typeface="微软雅黑" panose="020B0503020204020204" pitchFamily="34" charset="-122"/>
                <a:cs typeface="+mn-ea"/>
              </a:rPr>
              <a:t>地址：北京海淀区复兴路</a:t>
            </a:r>
            <a:r>
              <a:rPr lang="en-US" altLang="zh-CN" sz="1200" dirty="0">
                <a:solidFill>
                  <a:sysClr val="windowText" lastClr="000000"/>
                </a:solidFill>
                <a:ea typeface="微软雅黑" panose="020B0503020204020204" pitchFamily="34" charset="-122"/>
                <a:cs typeface="+mn-ea"/>
              </a:rPr>
              <a:t>29</a:t>
            </a:r>
            <a:r>
              <a:rPr lang="zh-CN" altLang="en-US" sz="1200" dirty="0">
                <a:solidFill>
                  <a:sysClr val="windowText" lastClr="000000"/>
                </a:solidFill>
                <a:ea typeface="微软雅黑" panose="020B0503020204020204" pitchFamily="34" charset="-122"/>
                <a:cs typeface="+mn-ea"/>
              </a:rPr>
              <a:t>号中意鹏奥大厦东塔</a:t>
            </a:r>
            <a:r>
              <a:rPr lang="en-US" altLang="zh-CN" sz="1200" dirty="0">
                <a:solidFill>
                  <a:sysClr val="windowText" lastClr="000000"/>
                </a:solidFill>
                <a:ea typeface="微软雅黑" panose="020B0503020204020204" pitchFamily="34" charset="-122"/>
                <a:cs typeface="+mn-ea"/>
              </a:rPr>
              <a:t>A</a:t>
            </a:r>
            <a:r>
              <a:rPr lang="zh-CN" altLang="en-US" sz="1200" dirty="0">
                <a:solidFill>
                  <a:sysClr val="windowText" lastClr="000000"/>
                </a:solidFill>
                <a:ea typeface="微软雅黑" panose="020B0503020204020204" pitchFamily="34" charset="-122"/>
                <a:cs typeface="+mn-ea"/>
              </a:rPr>
              <a:t>座</a:t>
            </a:r>
            <a:r>
              <a:rPr lang="en-US" altLang="zh-CN" sz="1200" dirty="0">
                <a:solidFill>
                  <a:sysClr val="windowText" lastClr="000000"/>
                </a:solidFill>
                <a:ea typeface="微软雅黑" panose="020B0503020204020204" pitchFamily="34" charset="-122"/>
                <a:cs typeface="+mn-ea"/>
              </a:rPr>
              <a:t>11</a:t>
            </a:r>
            <a:r>
              <a:rPr lang="zh-CN" altLang="en-US" sz="1200" dirty="0">
                <a:solidFill>
                  <a:sysClr val="windowText" lastClr="000000"/>
                </a:solidFill>
                <a:ea typeface="微软雅黑" panose="020B0503020204020204" pitchFamily="34" charset="-122"/>
                <a:cs typeface="+mn-ea"/>
              </a:rPr>
              <a:t>层   邮编：</a:t>
            </a:r>
            <a:r>
              <a:rPr lang="en-US" altLang="zh-CN" sz="1200" dirty="0">
                <a:solidFill>
                  <a:sysClr val="windowText" lastClr="000000"/>
                </a:solidFill>
                <a:ea typeface="微软雅黑" panose="020B0503020204020204" pitchFamily="34" charset="-122"/>
                <a:cs typeface="+mn-ea"/>
              </a:rPr>
              <a:t>100036</a:t>
            </a:r>
            <a:endParaRPr lang="zh-CN" altLang="en-US" sz="1200" dirty="0">
              <a:solidFill>
                <a:sysClr val="windowText" lastClr="000000"/>
              </a:solidFill>
              <a:ea typeface="微软雅黑" panose="020B0503020204020204" pitchFamily="34" charset="-122"/>
              <a:cs typeface="+mn-ea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sz="1200" dirty="0">
                <a:solidFill>
                  <a:sysClr val="windowText" lastClr="000000"/>
                </a:solidFill>
                <a:ea typeface="微软雅黑" panose="020B0503020204020204" pitchFamily="34" charset="-122"/>
                <a:cs typeface="+mn-ea"/>
              </a:rPr>
              <a:t>Office Tel: 010-5171 5999     Fax: 010-5171 5872</a:t>
            </a:r>
          </a:p>
          <a:p>
            <a:pPr eaLnBrk="1" hangingPunct="1">
              <a:lnSpc>
                <a:spcPct val="150000"/>
              </a:lnSpc>
            </a:pPr>
            <a:endParaRPr lang="zh-CN" altLang="en-US" sz="1200" dirty="0">
              <a:solidFill>
                <a:sysClr val="windowText" lastClr="000000"/>
              </a:solidFill>
              <a:ea typeface="微软雅黑" panose="020B0503020204020204" pitchFamily="34" charset="-122"/>
              <a:cs typeface="+mn-ea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sz="1200" dirty="0">
                <a:solidFill>
                  <a:sysClr val="windowText" lastClr="000000"/>
                </a:solidFill>
                <a:ea typeface="微软雅黑" panose="020B0503020204020204" pitchFamily="34" charset="-122"/>
                <a:cs typeface="+mn-ea"/>
              </a:rPr>
              <a:t>www.ruijie.com.cn </a:t>
            </a:r>
            <a:endParaRPr lang="zh-CN" altLang="en-US" sz="1200" dirty="0">
              <a:solidFill>
                <a:sysClr val="windowText" lastClr="000000"/>
              </a:solidFill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1C1B161-4EA0-4354-A154-2430C001F00B}" type="slidenum">
              <a:rPr lang="zh-CN" altLang="en-US" smtClean="0">
                <a:ea typeface="微软雅黑" panose="020B0503020204020204" pitchFamily="34" charset="-122"/>
                <a:cs typeface="+mn-ea"/>
              </a:rPr>
              <a:t>8</a:t>
            </a:fld>
            <a:endParaRPr lang="zh-CN" altLang="en-US" dirty="0"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2" name="图片 1" descr="场景无限 智享物联 锐捷网络移动医疗解决方案2018-03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860698" y="476672"/>
            <a:ext cx="1798320" cy="307975"/>
          </a:xfrm>
          <a:prstGeom prst="rect">
            <a:avLst/>
          </a:prstGeom>
        </p:spPr>
      </p:pic>
      <p:pic>
        <p:nvPicPr>
          <p:cNvPr id="4" name="图片 3" descr="组 13 拷贝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212215" y="1545590"/>
            <a:ext cx="5596890" cy="3184525"/>
          </a:xfrm>
          <a:prstGeom prst="rect">
            <a:avLst/>
          </a:prstGeom>
        </p:spPr>
      </p:pic>
      <p:sp>
        <p:nvSpPr>
          <p:cNvPr id="6" name="任意多边形 5"/>
          <p:cNvSpPr/>
          <p:nvPr/>
        </p:nvSpPr>
        <p:spPr>
          <a:xfrm>
            <a:off x="687070" y="-39370"/>
            <a:ext cx="1511935" cy="1340485"/>
          </a:xfrm>
          <a:custGeom>
            <a:avLst/>
            <a:gdLst>
              <a:gd name="connsiteX0" fmla="*/ 0 w 2381"/>
              <a:gd name="connsiteY0" fmla="*/ 0 h 2111"/>
              <a:gd name="connsiteX1" fmla="*/ 2381 w 2381"/>
              <a:gd name="connsiteY1" fmla="*/ 0 h 2111"/>
              <a:gd name="connsiteX2" fmla="*/ 2378 w 2381"/>
              <a:gd name="connsiteY2" fmla="*/ 1687 h 2111"/>
              <a:gd name="connsiteX3" fmla="*/ 0 w 2381"/>
              <a:gd name="connsiteY3" fmla="*/ 2111 h 2111"/>
              <a:gd name="connsiteX4" fmla="*/ 0 w 2381"/>
              <a:gd name="connsiteY4" fmla="*/ 0 h 21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81" h="2111">
                <a:moveTo>
                  <a:pt x="0" y="0"/>
                </a:moveTo>
                <a:lnTo>
                  <a:pt x="2381" y="0"/>
                </a:lnTo>
                <a:lnTo>
                  <a:pt x="2378" y="1687"/>
                </a:lnTo>
                <a:lnTo>
                  <a:pt x="0" y="2111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E5004F"/>
              </a:gs>
              <a:gs pos="100000">
                <a:srgbClr val="E60012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1" name="标题 1"/>
          <p:cNvSpPr txBox="1"/>
          <p:nvPr/>
        </p:nvSpPr>
        <p:spPr>
          <a:xfrm>
            <a:off x="685318" y="302352"/>
            <a:ext cx="1515437" cy="6754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1" kern="1200">
                <a:solidFill>
                  <a:srgbClr val="E600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algn="ctr">
              <a:lnSpc>
                <a:spcPts val="2000"/>
              </a:lnSpc>
            </a:pPr>
            <a:r>
              <a:rPr lang="zh-CN" altLang="en-US" sz="1400" dirty="0">
                <a:solidFill>
                  <a:schemeClr val="bg1"/>
                </a:solidFill>
                <a:cs typeface="+mn-ea"/>
              </a:rPr>
              <a:t>与场景亲密接触</a:t>
            </a:r>
            <a:endParaRPr lang="en-US" altLang="zh-CN" sz="1400" dirty="0">
              <a:solidFill>
                <a:schemeClr val="bg1"/>
              </a:solidFill>
              <a:cs typeface="+mn-ea"/>
            </a:endParaRPr>
          </a:p>
          <a:p>
            <a:pPr algn="ctr">
              <a:lnSpc>
                <a:spcPts val="2000"/>
              </a:lnSpc>
            </a:pPr>
            <a:r>
              <a:rPr lang="zh-CN" altLang="en-US" sz="1400" dirty="0">
                <a:solidFill>
                  <a:schemeClr val="bg1"/>
                </a:solidFill>
                <a:cs typeface="+mn-ea"/>
              </a:rPr>
              <a:t>做方案创新专家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mUwNDA3MDQzYTc3NDEzNzFkMDFmZDJkM2M2YzQzNGY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jqomxa5u">
      <a:majorFont>
        <a:latin typeface=""/>
        <a:ea typeface="微软雅黑 Light"/>
        <a:cs typeface=""/>
      </a:majorFont>
      <a:minorFont>
        <a:latin typeface=""/>
        <a:ea typeface="微软雅黑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</TotalTime>
  <Words>1437</Words>
  <Application>Microsoft Office PowerPoint</Application>
  <PresentationFormat>全屏显示(4:3)</PresentationFormat>
  <Paragraphs>130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Inter</vt:lpstr>
      <vt:lpstr>仿宋</vt:lpstr>
      <vt:lpstr>宋体</vt:lpstr>
      <vt:lpstr>微软雅黑</vt:lpstr>
      <vt:lpstr>微软雅黑 Light</vt:lpstr>
      <vt:lpstr>Arial</vt:lpstr>
      <vt:lpstr>Calibri</vt:lpstr>
      <vt:lpstr>Office 主题</vt:lpstr>
      <vt:lpstr>试用期员工转正答辩</vt:lpstr>
      <vt:lpstr>PowerPoint 演示文稿</vt:lpstr>
      <vt:lpstr>1、试用期目标及达成情况</vt:lpstr>
      <vt:lpstr>2、工作中的亮点、机会点</vt:lpstr>
      <vt:lpstr>3、试用期期间的经验与能力提升</vt:lpstr>
      <vt:lpstr>4、25年下半年的绩效承诺</vt:lpstr>
      <vt:lpstr>5、对部门或业务的建议</vt:lpstr>
      <vt:lpstr>PowerPoint 演示文稿</vt:lpstr>
    </vt:vector>
  </TitlesOfParts>
  <Company>锐捷网络股份有限公司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2018公司PPT模版</dc:title>
  <dc:creator>林士扬(HR 北京)</dc:creator>
  <cp:lastModifiedBy>Lenovo</cp:lastModifiedBy>
  <cp:revision>413</cp:revision>
  <dcterms:created xsi:type="dcterms:W3CDTF">2018-01-30T14:18:00Z</dcterms:created>
  <dcterms:modified xsi:type="dcterms:W3CDTF">2025-07-02T05:21:44Z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2052-11.1.0.13703</vt:lpwstr>
  </property>
  <property fmtid="{D5CDD505-2E9C-101B-9397-08002B2CF9AE}" pid="3" name="ICV">
    <vt:lpwstr>7FC3DE202B1E413C95DB8359213743D9</vt:lpwstr>
  </property>
</Properties>
</file>