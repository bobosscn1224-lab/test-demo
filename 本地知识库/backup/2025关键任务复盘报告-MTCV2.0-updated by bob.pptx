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63" r:id="rId3"/>
    <p:sldMasterId id="2147483676" r:id="rId4"/>
  </p:sldMasterIdLst>
  <p:notesMasterIdLst>
    <p:notesMasterId r:id="rId27"/>
  </p:notesMasterIdLst>
  <p:handoutMasterIdLst>
    <p:handoutMasterId r:id="rId28"/>
  </p:handoutMasterIdLst>
  <p:sldIdLst>
    <p:sldId id="2147310525" r:id="rId5"/>
    <p:sldId id="2147310540" r:id="rId6"/>
    <p:sldId id="889" r:id="rId7"/>
    <p:sldId id="2147310533" r:id="rId8"/>
    <p:sldId id="893" r:id="rId9"/>
    <p:sldId id="2147310541" r:id="rId10"/>
    <p:sldId id="2147310542" r:id="rId11"/>
    <p:sldId id="2147310543" r:id="rId12"/>
    <p:sldId id="2147310544" r:id="rId13"/>
    <p:sldId id="2147310536" r:id="rId14"/>
    <p:sldId id="2147310526" r:id="rId15"/>
    <p:sldId id="2147310534" r:id="rId16"/>
    <p:sldId id="2147310537" r:id="rId17"/>
    <p:sldId id="2147310535" r:id="rId18"/>
    <p:sldId id="2147310528" r:id="rId19"/>
    <p:sldId id="2147310538" r:id="rId20"/>
    <p:sldId id="2147310539" r:id="rId21"/>
    <p:sldId id="2147310531" r:id="rId22"/>
    <p:sldId id="2147310529" r:id="rId23"/>
    <p:sldId id="886" r:id="rId24"/>
    <p:sldId id="897" r:id="rId25"/>
    <p:sldId id="891"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0F1"/>
    <a:srgbClr val="FF0000"/>
    <a:srgbClr val="FFFFFF"/>
    <a:srgbClr val="E6003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61" autoAdjust="0"/>
    <p:restoredTop sz="94660"/>
  </p:normalViewPr>
  <p:slideViewPr>
    <p:cSldViewPr snapToGrid="0" showGuides="1">
      <p:cViewPr varScale="1">
        <p:scale>
          <a:sx n="114" d="100"/>
          <a:sy n="114" d="100"/>
        </p:scale>
        <p:origin x="174" y="96"/>
      </p:cViewPr>
      <p:guideLst>
        <p:guide orient="horz" pos="225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commentAuthors" Target="commen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2025/3/21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2025/3/21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94635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ED57EB-B5EA-A77C-D173-11A56B9CDEC0}"/>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9C5B7805-A70F-76F0-64DE-7F3EA499B34F}"/>
              </a:ext>
            </a:extLst>
          </p:cNvPr>
          <p:cNvSpPr>
            <a:spLocks noGrp="1" noRot="1" noChangeAspect="1"/>
          </p:cNvSpPr>
          <p:nvPr>
            <p:ph type="sldImg" idx="2"/>
          </p:nvPr>
        </p:nvSpPr>
        <p:spPr/>
      </p:sp>
      <p:sp>
        <p:nvSpPr>
          <p:cNvPr id="3" name="文本占位符 2">
            <a:extLst>
              <a:ext uri="{FF2B5EF4-FFF2-40B4-BE49-F238E27FC236}">
                <a16:creationId xmlns="" xmlns:a16="http://schemas.microsoft.com/office/drawing/2014/main" id="{12A94BFE-47DE-A1F6-69F7-1FCD43F743AA}"/>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684825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2.png"/><Relationship Id="rId5" Type="http://schemas.openxmlformats.org/officeDocument/2006/relationships/slideMaster" Target="../slideMasters/slideMaster2.xml"/><Relationship Id="rId4" Type="http://schemas.openxmlformats.org/officeDocument/2006/relationships/tags" Target="../tags/tag69.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slideMaster" Target="../slideMasters/slideMaster3.xml"/><Relationship Id="rId5" Type="http://schemas.openxmlformats.org/officeDocument/2006/relationships/tags" Target="../tags/tag80.xml"/><Relationship Id="rId4" Type="http://schemas.openxmlformats.org/officeDocument/2006/relationships/tags" Target="../tags/tag79.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slideMaster" Target="../slideMasters/slideMaster3.xml"/><Relationship Id="rId5" Type="http://schemas.openxmlformats.org/officeDocument/2006/relationships/tags" Target="../tags/tag85.xml"/><Relationship Id="rId4" Type="http://schemas.openxmlformats.org/officeDocument/2006/relationships/tags" Target="../tags/tag84.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slideMaster" Target="../slideMasters/slideMaster3.xml"/><Relationship Id="rId5" Type="http://schemas.openxmlformats.org/officeDocument/2006/relationships/tags" Target="../tags/tag90.xml"/><Relationship Id="rId4" Type="http://schemas.openxmlformats.org/officeDocument/2006/relationships/tags" Target="../tags/tag89.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slideMaster" Target="../slideMasters/slideMaster3.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slideMaster" Target="../slideMasters/slideMaster3.xml"/><Relationship Id="rId4" Type="http://schemas.openxmlformats.org/officeDocument/2006/relationships/tags" Target="../tags/tag108.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14.xml"/><Relationship Id="rId7" Type="http://schemas.openxmlformats.org/officeDocument/2006/relationships/slideMaster" Target="../slideMasters/slideMaster3.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slideMaster" Target="../slideMasters/slideMaster3.xml"/><Relationship Id="rId5" Type="http://schemas.openxmlformats.org/officeDocument/2006/relationships/tags" Target="../tags/tag122.xml"/><Relationship Id="rId4" Type="http://schemas.openxmlformats.org/officeDocument/2006/relationships/tags" Target="../tags/tag12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slideMaster" Target="../slideMasters/slideMaster3.xml"/><Relationship Id="rId4" Type="http://schemas.openxmlformats.org/officeDocument/2006/relationships/tags" Target="../tags/tag126.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Master" Target="../slideMasters/slideMaster3.xml"/><Relationship Id="rId5" Type="http://schemas.openxmlformats.org/officeDocument/2006/relationships/tags" Target="../tags/tag131.xml"/><Relationship Id="rId4" Type="http://schemas.openxmlformats.org/officeDocument/2006/relationships/tags" Target="../tags/tag130.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2025/3/21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2025/3/21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2025/3/21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2025/3/21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2025/3/21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buFont typeface="Arial" panose="020B0604020202020204" pitchFamily="34" charset="0"/>
              <a:buNone/>
            </a:pPr>
            <a:endParaRPr lang="zh-CN" altLang="en-US">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6"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charset="-122"/>
                <a:ea typeface="微软雅黑" panose="020B050302020402020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5" name="文本占位符 17"/>
          <p:cNvSpPr>
            <a:spLocks noGrp="1"/>
          </p:cNvSpPr>
          <p:nvPr>
            <p:ph type="body" sz="quarter" idx="13" hasCustomPrompt="1"/>
            <p:custDataLst>
              <p:tags r:id="rId4"/>
            </p:custDataLst>
          </p:nvPr>
        </p:nvSpPr>
        <p:spPr>
          <a:xfrm>
            <a:off x="573404" y="274320"/>
            <a:ext cx="9419681" cy="495935"/>
          </a:xfrm>
          <a:prstGeom prst="rect">
            <a:avLst/>
          </a:prstGeom>
        </p:spPr>
        <p:txBody>
          <a:bodyPr>
            <a:noAutofit/>
          </a:bodyPr>
          <a:lstStyle>
            <a:lvl1pPr marL="0" indent="0" algn="l" defTabSz="914400" rtl="0" eaLnBrk="1" latinLnBrk="0" hangingPunct="1">
              <a:buNone/>
              <a:defRPr kumimoji="1" lang="zh-CN" altLang="en-US" sz="2400" b="1" kern="1200" dirty="0" smtClean="0">
                <a:solidFill>
                  <a:schemeClr val="tx1">
                    <a:lumMod val="50000"/>
                    <a:lumOff val="50000"/>
                  </a:schemeClr>
                </a:solidFill>
                <a:latin typeface="微软雅黑" panose="020B0503020204020204" charset="-122"/>
                <a:ea typeface="微软雅黑" panose="020B050302020402020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17" name="页脚占位符 16"/>
          <p:cNvSpPr>
            <a:spLocks noGrp="1"/>
          </p:cNvSpPr>
          <p:nvPr>
            <p:ph type="ftr" sz="quarter" idx="11"/>
            <p:custDataLst>
              <p:tags r:id="rId4"/>
            </p:custDataLst>
          </p:nvPr>
        </p:nvSpPr>
        <p:spPr/>
        <p:txBody>
          <a:bodyPr/>
          <a:lstStyle/>
          <a:p>
            <a:endParaRPr lang="zh-CN" altLang="en-US" dirty="0">
              <a:solidFill>
                <a:prstClr val="black">
                  <a:tint val="75000"/>
                </a:prstClr>
              </a:solidFill>
            </a:endParaRPr>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solidFill>
                  <a:prstClr val="black">
                    <a:tint val="75000"/>
                  </a:prstClr>
                </a:solidFill>
              </a:rPr>
              <a:t>‹#›</a:t>
            </a:fld>
            <a:endParaRPr lang="zh-CN" altLang="en-US" dirty="0">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5" name="页脚占位符 4"/>
          <p:cNvSpPr>
            <a:spLocks noGrp="1"/>
          </p:cNvSpPr>
          <p:nvPr>
            <p:ph type="ftr" sz="quarter" idx="11"/>
            <p:custDataLst>
              <p:tags r:id="rId4"/>
            </p:custDataLst>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5" name="页脚占位符 4"/>
          <p:cNvSpPr>
            <a:spLocks noGrp="1"/>
          </p:cNvSpPr>
          <p:nvPr>
            <p:ph type="ftr" sz="quarter" idx="11"/>
            <p:custDataLst>
              <p:tags r:id="rId4"/>
            </p:custDataLst>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6" name="页脚占位符 5"/>
          <p:cNvSpPr>
            <a:spLocks noGrp="1"/>
          </p:cNvSpPr>
          <p:nvPr>
            <p:ph type="ftr" sz="quarter" idx="11"/>
            <p:custDataLst>
              <p:tags r:id="rId5"/>
            </p:custDataLst>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8" name="页脚占位符 7"/>
          <p:cNvSpPr>
            <a:spLocks noGrp="1"/>
          </p:cNvSpPr>
          <p:nvPr>
            <p:ph type="ftr" sz="quarter" idx="11"/>
            <p:custDataLst>
              <p:tags r:id="rId7"/>
            </p:custDataLst>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4" name="页脚占位符 3"/>
          <p:cNvSpPr>
            <a:spLocks noGrp="1"/>
          </p:cNvSpPr>
          <p:nvPr>
            <p:ph type="ftr" sz="quarter" idx="11"/>
            <p:custDataLst>
              <p:tags r:id="rId3"/>
            </p:custDataLst>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3" name="页脚占位符 2"/>
          <p:cNvSpPr>
            <a:spLocks noGrp="1"/>
          </p:cNvSpPr>
          <p:nvPr>
            <p:ph type="ftr" sz="quarter" idx="11"/>
            <p:custDataLst>
              <p:tags r:id="rId2"/>
            </p:custDataLst>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solidFill>
                  <a:prstClr val="black">
                    <a:tint val="75000"/>
                  </a:prstClr>
                </a:solidFill>
              </a:rPr>
              <a:t>2025/3/21</a:t>
            </a:fld>
            <a:endParaRPr lang="zh-CN" altLang="en-US" dirty="0">
              <a:solidFill>
                <a:prstClr val="black">
                  <a:tint val="75000"/>
                </a:prstClr>
              </a:solidFill>
            </a:endParaRPr>
          </a:p>
        </p:txBody>
      </p:sp>
      <p:sp>
        <p:nvSpPr>
          <p:cNvPr id="6" name="页脚占位符 5"/>
          <p:cNvSpPr>
            <a:spLocks noGrp="1"/>
          </p:cNvSpPr>
          <p:nvPr>
            <p:ph type="ftr" sz="quarter" idx="11"/>
            <p:custDataLst>
              <p:tags r:id="rId4"/>
            </p:custDataLst>
          </p:nvPr>
        </p:nvSpPr>
        <p:spPr/>
        <p:txBody>
          <a:bodyPr/>
          <a:lstStyle/>
          <a:p>
            <a:endParaRPr lang="zh-CN" altLang="en-US" dirty="0">
              <a:solidFill>
                <a:prstClr val="black">
                  <a:tint val="75000"/>
                </a:prstClr>
              </a:solidFill>
            </a:endParaRPr>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solidFill>
                  <a:prstClr val="black">
                    <a:tint val="75000"/>
                  </a:prstClr>
                </a:solidFill>
              </a:rPr>
              <a:t>‹#›</a:t>
            </a:fld>
            <a:endParaRPr lang="zh-CN" altLang="en-US">
              <a:solidFill>
                <a:prstClr val="black">
                  <a:tint val="75000"/>
                </a:prstClr>
              </a:solidFill>
            </a:endParaRPr>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5" name="页脚占位符 4"/>
          <p:cNvSpPr>
            <a:spLocks noGrp="1"/>
          </p:cNvSpPr>
          <p:nvPr>
            <p:ph type="ftr" sz="quarter" idx="11"/>
            <p:custDataLst>
              <p:tags r:id="rId4"/>
            </p:custDataLst>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4" name="页脚占位符 3"/>
          <p:cNvSpPr>
            <a:spLocks noGrp="1"/>
          </p:cNvSpPr>
          <p:nvPr>
            <p:ph type="ftr" sz="quarter" idx="11"/>
            <p:custDataLst>
              <p:tags r:id="rId2"/>
            </p:custDataLst>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4" name="页脚占位符 3"/>
          <p:cNvSpPr>
            <a:spLocks noGrp="1"/>
          </p:cNvSpPr>
          <p:nvPr>
            <p:ph type="ftr" sz="quarter" idx="11"/>
            <p:custDataLst>
              <p:tags r:id="rId2"/>
            </p:custDataLst>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solidFill>
                  <a:prstClr val="black">
                    <a:tint val="75000"/>
                  </a:prstClr>
                </a:solidFill>
              </a:rPr>
              <a:t>‹#›</a:t>
            </a:fld>
            <a:endParaRPr lang="zh-CN" altLang="en-US">
              <a:solidFill>
                <a:prstClr val="black">
                  <a:tint val="75000"/>
                </a:prstClr>
              </a:solidFill>
            </a:endParaRPr>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页脚占位符 3"/>
          <p:cNvSpPr>
            <a:spLocks noChangeArrowheads="1"/>
          </p:cNvSpPr>
          <p:nvPr/>
        </p:nvSpPr>
        <p:spPr bwMode="auto">
          <a:xfrm>
            <a:off x="964370" y="6214395"/>
            <a:ext cx="2208456" cy="28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lvl1pPr eaLnBrk="0" hangingPunct="0">
              <a:defRPr>
                <a:solidFill>
                  <a:srgbClr val="000000"/>
                </a:solidFill>
                <a:latin typeface="Arial" panose="020B0604020202020204" pitchFamily="34" charset="0"/>
                <a:ea typeface="宋体" panose="02010600030101010101" pitchFamily="2" charset="-122"/>
              </a:defRPr>
            </a:lvl1pPr>
            <a:lvl2pPr marL="742950" indent="-285750" eaLnBrk="0" hangingPunct="0">
              <a:defRPr>
                <a:solidFill>
                  <a:srgbClr val="000000"/>
                </a:solidFill>
                <a:latin typeface="Arial" panose="020B0604020202020204" pitchFamily="34" charset="0"/>
                <a:ea typeface="宋体" panose="02010600030101010101" pitchFamily="2" charset="-122"/>
              </a:defRPr>
            </a:lvl2pPr>
            <a:lvl3pPr marL="1143000" indent="-228600" eaLnBrk="0" hangingPunct="0">
              <a:defRPr>
                <a:solidFill>
                  <a:srgbClr val="000000"/>
                </a:solidFill>
                <a:latin typeface="Arial" panose="020B0604020202020204" pitchFamily="34" charset="0"/>
                <a:ea typeface="宋体" panose="02010600030101010101" pitchFamily="2" charset="-122"/>
              </a:defRPr>
            </a:lvl3pPr>
            <a:lvl4pPr marL="1600200" indent="-228600" eaLnBrk="0" hangingPunct="0">
              <a:defRPr>
                <a:solidFill>
                  <a:srgbClr val="000000"/>
                </a:solidFill>
                <a:latin typeface="Arial" panose="020B0604020202020204" pitchFamily="34" charset="0"/>
                <a:ea typeface="宋体" panose="02010600030101010101" pitchFamily="2" charset="-122"/>
              </a:defRPr>
            </a:lvl4pPr>
            <a:lvl5pPr marL="2057400" indent="-228600" eaLnBrk="0" hangingPunct="0">
              <a:defRPr>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en-US" altLang="zh-CN" sz="1200" b="1" i="1" dirty="0">
                <a:ea typeface="微软雅黑" panose="020B0503020204020204" charset="-122"/>
                <a:sym typeface="宋体" panose="02010600030101010101" pitchFamily="2" charset="-122"/>
              </a:rPr>
              <a:t>|  </a:t>
            </a:r>
            <a:r>
              <a:rPr lang="en-US" altLang="zh-CN" sz="1200" i="1" dirty="0" err="1">
                <a:ea typeface="微软雅黑" panose="020B0503020204020204" charset="-122"/>
                <a:sym typeface="宋体" panose="02010600030101010101" pitchFamily="2" charset="-122"/>
              </a:rPr>
              <a:t>www.ruijie.com.cn</a:t>
            </a:r>
            <a:endParaRPr lang="en-US" altLang="zh-CN" sz="1200" i="1" dirty="0">
              <a:ea typeface="微软雅黑" panose="020B0503020204020204" charset="-122"/>
              <a:sym typeface="宋体" panose="02010600030101010101" pitchFamily="2" charset="-122"/>
            </a:endParaRPr>
          </a:p>
        </p:txBody>
      </p:sp>
      <p:pic>
        <p:nvPicPr>
          <p:cNvPr id="5" name="图片 4" descr="场景无限 智享物联 锐捷网络移动医疗解决方案2018-03"/>
          <p:cNvPicPr>
            <a:picLocks noChangeAspect="1"/>
          </p:cNvPicPr>
          <p:nvPr/>
        </p:nvPicPr>
        <p:blipFill>
          <a:blip r:embed="rId2" cstate="email"/>
          <a:stretch>
            <a:fillRect/>
          </a:stretch>
        </p:blipFill>
        <p:spPr>
          <a:xfrm>
            <a:off x="9680584" y="6195585"/>
            <a:ext cx="1903404" cy="325931"/>
          </a:xfrm>
          <a:prstGeom prst="rect">
            <a:avLst/>
          </a:prstGeom>
        </p:spPr>
      </p:pic>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buFont typeface="Arial" panose="020B0604020202020204" pitchFamily="34" charset="0"/>
              <a:buNone/>
            </a:pPr>
            <a:endParaRPr lang="zh-CN" altLang="en-US">
              <a:solidFill>
                <a:prstClr val="white"/>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2025/3/21</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buFont typeface="Arial" panose="020B0604020202020204" pitchFamily="34" charset="0"/>
              <a:buNone/>
            </a:pPr>
            <a:endParaRPr lang="zh-CN" altLang="en-US">
              <a:solidFill>
                <a:prstClr val="white"/>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heme" Target="../theme/theme2.xml"/><Relationship Id="rId1" Type="http://schemas.openxmlformats.org/officeDocument/2006/relationships/slideLayout" Target="../slideLayouts/slideLayout13.xml"/><Relationship Id="rId5" Type="http://schemas.openxmlformats.org/officeDocument/2006/relationships/image" Target="../media/image1.jpeg"/><Relationship Id="rId4" Type="http://schemas.openxmlformats.org/officeDocument/2006/relationships/tags" Target="../tags/tag6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3.xml"/><Relationship Id="rId18" Type="http://schemas.openxmlformats.org/officeDocument/2006/relationships/tags" Target="../tags/tag7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ags" Target="../tags/tag73.xml"/><Relationship Id="rId2" Type="http://schemas.openxmlformats.org/officeDocument/2006/relationships/slideLayout" Target="../slideLayouts/slideLayout15.xml"/><Relationship Id="rId16" Type="http://schemas.openxmlformats.org/officeDocument/2006/relationships/tags" Target="../tags/tag7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ags" Target="../tags/tag71.xml"/><Relationship Id="rId10" Type="http://schemas.openxmlformats.org/officeDocument/2006/relationships/slideLayout" Target="../slideLayouts/slideLayout23.xml"/><Relationship Id="rId19" Type="http://schemas.openxmlformats.org/officeDocument/2006/relationships/tags" Target="../tags/tag75.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ags" Target="../tags/tag7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solidFill>
                  <a:prstClr val="black">
                    <a:tint val="75000"/>
                  </a:prstClr>
                </a:solidFill>
              </a:rPr>
              <a:t>2025/3/21</a:t>
            </a:fld>
            <a:endParaRPr lang="zh-CN" altLang="en-US">
              <a:solidFill>
                <a:prstClr val="black">
                  <a:tint val="75000"/>
                </a:prstClr>
              </a:solidFill>
            </a:endParaRPr>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solidFill>
                <a:prstClr val="black">
                  <a:tint val="75000"/>
                </a:prstClr>
              </a:solidFill>
            </a:endParaRPr>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solidFill>
                  <a:prstClr val="black">
                    <a:tint val="75000"/>
                  </a:prstClr>
                </a:solidFill>
              </a:rPr>
              <a:t>‹#›</a:t>
            </a:fld>
            <a:endParaRPr lang="zh-CN" altLang="en-US" dirty="0">
              <a:solidFill>
                <a:prstClr val="black">
                  <a:tint val="75000"/>
                </a:prstClr>
              </a:solidFill>
            </a:endParaRPr>
          </a:p>
        </p:txBody>
      </p:sp>
    </p:spTree>
    <p:custDataLst>
      <p:tags r:id="rId14"/>
    </p:custData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2025/3/21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3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3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6.xml"/><Relationship Id="rId1" Type="http://schemas.openxmlformats.org/officeDocument/2006/relationships/tags" Target="../tags/tag135.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6.xml"/><Relationship Id="rId1" Type="http://schemas.openxmlformats.org/officeDocument/2006/relationships/tags" Target="../tags/tag13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36.xml"/><Relationship Id="rId1" Type="http://schemas.openxmlformats.org/officeDocument/2006/relationships/tags" Target="../tags/tag13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6.xml"/><Relationship Id="rId1" Type="http://schemas.openxmlformats.org/officeDocument/2006/relationships/tags" Target="../tags/tag13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Layout" Target="../slideLayouts/slideLayout36.xml"/><Relationship Id="rId1" Type="http://schemas.openxmlformats.org/officeDocument/2006/relationships/tags" Target="../tags/tag13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4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5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5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1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D87679-A7EC-D5C7-E6B5-D6F13413C95B}"/>
            </a:ext>
          </a:extLst>
        </p:cNvPr>
        <p:cNvGrpSpPr/>
        <p:nvPr/>
      </p:nvGrpSpPr>
      <p:grpSpPr>
        <a:xfrm>
          <a:off x="0" y="0"/>
          <a:ext cx="0" cy="0"/>
          <a:chOff x="0" y="0"/>
          <a:chExt cx="0" cy="0"/>
        </a:xfrm>
      </p:grpSpPr>
      <p:pic>
        <p:nvPicPr>
          <p:cNvPr id="8" name="图片 7">
            <a:extLst>
              <a:ext uri="{FF2B5EF4-FFF2-40B4-BE49-F238E27FC236}">
                <a16:creationId xmlns="" xmlns:a16="http://schemas.microsoft.com/office/drawing/2014/main" id="{FAA8B506-62CD-E461-B478-E2D7EF457F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a:extLst>
              <a:ext uri="{FF2B5EF4-FFF2-40B4-BE49-F238E27FC236}">
                <a16:creationId xmlns="" xmlns:a16="http://schemas.microsoft.com/office/drawing/2014/main" id="{A4F2953A-B4F5-BEBF-760D-7CDC569A669A}"/>
              </a:ext>
            </a:extLst>
          </p:cNvPr>
          <p:cNvSpPr/>
          <p:nvPr/>
        </p:nvSpPr>
        <p:spPr>
          <a:xfrm>
            <a:off x="326885" y="590078"/>
            <a:ext cx="11395355" cy="22288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5400" b="1" dirty="0">
                <a:latin typeface="微软雅黑" panose="020B0503020204020204" charset="-122"/>
                <a:ea typeface="微软雅黑" panose="020B0503020204020204" charset="-122"/>
              </a:rPr>
              <a:t>EBG</a:t>
            </a:r>
            <a:r>
              <a:rPr kumimoji="1" lang="zh-CN" altLang="en-US" sz="5400" b="1" dirty="0">
                <a:latin typeface="微软雅黑" panose="020B0503020204020204" charset="-122"/>
                <a:ea typeface="微软雅黑" panose="020B0503020204020204" charset="-122"/>
              </a:rPr>
              <a:t>战略主题和关键任务</a:t>
            </a:r>
          </a:p>
          <a:p>
            <a:pPr algn="ctr"/>
            <a:r>
              <a:rPr kumimoji="1" lang="zh-CN" altLang="en-US" sz="5400" b="1" dirty="0">
                <a:latin typeface="微软雅黑" panose="020B0503020204020204" charset="-122"/>
                <a:ea typeface="微软雅黑" panose="020B0503020204020204" charset="-122"/>
              </a:rPr>
              <a:t>季度复盘报告</a:t>
            </a:r>
          </a:p>
        </p:txBody>
      </p:sp>
      <p:sp>
        <p:nvSpPr>
          <p:cNvPr id="6" name="文本框 5">
            <a:extLst>
              <a:ext uri="{FF2B5EF4-FFF2-40B4-BE49-F238E27FC236}">
                <a16:creationId xmlns="" xmlns:a16="http://schemas.microsoft.com/office/drawing/2014/main" id="{96969DE4-04CD-F8B0-3179-92D5F9956D55}"/>
              </a:ext>
            </a:extLst>
          </p:cNvPr>
          <p:cNvSpPr txBox="1"/>
          <p:nvPr/>
        </p:nvSpPr>
        <p:spPr>
          <a:xfrm>
            <a:off x="5012054" y="5899622"/>
            <a:ext cx="2025015" cy="368300"/>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25</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年</a:t>
            </a:r>
            <a:r>
              <a:rPr lang="en-US" altLang="zh-CN" b="1" dirty="0">
                <a:solidFill>
                  <a:prstClr val="black"/>
                </a:solidFill>
                <a:latin typeface="微软雅黑" panose="020B0503020204020204" charset="-122"/>
                <a:ea typeface="微软雅黑" panose="020B0503020204020204" charset="-122"/>
                <a:cs typeface="微软雅黑" panose="020B0503020204020204" charset="-122"/>
              </a:rPr>
              <a:t>3</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月</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·XX</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1326633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955528630"/>
              </p:ext>
            </p:extLst>
          </p:nvPr>
        </p:nvGraphicFramePr>
        <p:xfrm>
          <a:off x="0" y="845915"/>
          <a:ext cx="12191997" cy="5867546"/>
        </p:xfrm>
        <a:graphic>
          <a:graphicData uri="http://schemas.openxmlformats.org/drawingml/2006/table">
            <a:tbl>
              <a:tblPr/>
              <a:tblGrid>
                <a:gridCol w="524783"/>
                <a:gridCol w="270344"/>
                <a:gridCol w="151075"/>
                <a:gridCol w="2725095"/>
                <a:gridCol w="2427350"/>
                <a:gridCol w="771277"/>
                <a:gridCol w="985962"/>
                <a:gridCol w="691763"/>
                <a:gridCol w="540689"/>
                <a:gridCol w="874643"/>
                <a:gridCol w="349858"/>
                <a:gridCol w="922351"/>
                <a:gridCol w="956807"/>
              </a:tblGrid>
              <a:tr h="112075">
                <a:tc gridSpan="13">
                  <a:txBody>
                    <a:bodyPr/>
                    <a:lstStyle/>
                    <a:p>
                      <a:pPr fontAlgn="ctr" latinLnBrk="0"/>
                      <a:r>
                        <a:rPr lang="zh-CN" altLang="en-US" sz="700" b="1" i="0" dirty="0">
                          <a:solidFill>
                            <a:srgbClr val="FFFFFF"/>
                          </a:solidFill>
                          <a:effectLst/>
                        </a:rPr>
                        <a:t>关键任务规划</a:t>
                      </a:r>
                      <a:r>
                        <a:rPr lang="en-US" altLang="zh-CN" sz="700" b="1" i="0" dirty="0">
                          <a:solidFill>
                            <a:srgbClr val="FFFFFF"/>
                          </a:solidFill>
                          <a:effectLst/>
                        </a:rPr>
                        <a:t>-BSC</a:t>
                      </a:r>
                      <a:r>
                        <a:rPr lang="zh-CN" altLang="en-US" sz="700" b="1" i="0" dirty="0">
                          <a:solidFill>
                            <a:srgbClr val="FFFFFF"/>
                          </a:solidFill>
                          <a:effectLst/>
                        </a:rPr>
                        <a:t>图卡</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00206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12075">
                <a:tc gridSpan="2">
                  <a:txBody>
                    <a:bodyPr/>
                    <a:lstStyle/>
                    <a:p>
                      <a:pPr fontAlgn="ctr" latinLnBrk="0"/>
                      <a:r>
                        <a:rPr lang="zh-CN" altLang="en-US" sz="700" b="1" i="0">
                          <a:solidFill>
                            <a:srgbClr val="333333"/>
                          </a:solidFill>
                          <a:effectLst/>
                        </a:rPr>
                        <a:t>一、关键任务名称：</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gridSpan="2">
                  <a:txBody>
                    <a:bodyPr/>
                    <a:lstStyle/>
                    <a:p>
                      <a:pPr fontAlgn="ctr" latinLnBrk="0"/>
                      <a:r>
                        <a:rPr lang="en-US" sz="700" b="1" i="0">
                          <a:solidFill>
                            <a:srgbClr val="000000"/>
                          </a:solidFill>
                          <a:effectLst/>
                        </a:rPr>
                        <a:t>MTCV</a:t>
                      </a:r>
                      <a:r>
                        <a:rPr lang="zh-CN" altLang="en-US" sz="700" b="1" i="0">
                          <a:solidFill>
                            <a:srgbClr val="000000"/>
                          </a:solidFill>
                          <a:effectLst/>
                        </a:rPr>
                        <a:t>流程打造</a:t>
                      </a:r>
                      <a:r>
                        <a:rPr lang="en-US" altLang="zh-CN" sz="700" b="1" i="0">
                          <a:solidFill>
                            <a:srgbClr val="000000"/>
                          </a:solidFill>
                          <a:effectLst/>
                        </a:rPr>
                        <a:t>2.0</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fontAlgn="ctr" latinLnBrk="0"/>
                      <a:endParaRPr lang="en-US" altLang="zh-CN" sz="700" b="1"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fontAlgn="ctr" latinLnBrk="0"/>
                      <a:r>
                        <a:rPr lang="zh-CN" altLang="en-US" sz="700" b="1" i="0">
                          <a:solidFill>
                            <a:srgbClr val="333333"/>
                          </a:solidFill>
                          <a:effectLst/>
                        </a:rPr>
                        <a:t>二、支撑的战略主题：</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gridSpan="4">
                  <a:txBody>
                    <a:bodyPr/>
                    <a:lstStyle/>
                    <a:p>
                      <a:pPr fontAlgn="ctr" latinLnBrk="0"/>
                      <a:r>
                        <a:rPr lang="zh-CN" altLang="en-US" sz="700" b="1" i="0" dirty="0">
                          <a:solidFill>
                            <a:srgbClr val="333333"/>
                          </a:solidFill>
                          <a:effectLst/>
                        </a:rPr>
                        <a:t>打造端到端业务流程</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fontAlgn="ctr" latinLnBrk="0"/>
                      <a:r>
                        <a:rPr lang="zh-CN" altLang="en-US" sz="700" b="1" i="0" dirty="0">
                          <a:solidFill>
                            <a:srgbClr val="333333"/>
                          </a:solidFill>
                          <a:effectLst/>
                        </a:rPr>
                        <a:t>项目经理</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a:txBody>
                    <a:bodyPr/>
                    <a:lstStyle/>
                    <a:p>
                      <a:pPr fontAlgn="ctr" latinLnBrk="0"/>
                      <a:r>
                        <a:rPr lang="zh-CN" altLang="en-US" sz="700" b="1" i="0" dirty="0">
                          <a:solidFill>
                            <a:srgbClr val="333333"/>
                          </a:solidFill>
                          <a:effectLst/>
                        </a:rPr>
                        <a:t>黄海滨</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579208">
                <a:tc gridSpan="2">
                  <a:txBody>
                    <a:bodyPr/>
                    <a:lstStyle/>
                    <a:p>
                      <a:pPr fontAlgn="ctr" latinLnBrk="0"/>
                      <a:r>
                        <a:rPr lang="zh-CN" altLang="en-US" sz="700" b="1" i="0">
                          <a:solidFill>
                            <a:srgbClr val="333333"/>
                          </a:solidFill>
                          <a:effectLst/>
                        </a:rPr>
                        <a:t>三、关键任务期望达成的目标？</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gridSpan="11">
                  <a:txBody>
                    <a:bodyPr/>
                    <a:lstStyle/>
                    <a:p>
                      <a:pPr fontAlgn="ctr" latinLnBrk="0"/>
                      <a:r>
                        <a:rPr lang="en-US" altLang="zh-CN" sz="700" b="0" i="0">
                          <a:solidFill>
                            <a:srgbClr val="000000"/>
                          </a:solidFill>
                          <a:effectLst/>
                        </a:rPr>
                        <a:t>1</a:t>
                      </a:r>
                      <a:r>
                        <a:rPr lang="zh-CN" altLang="en-US" sz="700" b="0" i="0">
                          <a:solidFill>
                            <a:srgbClr val="000000"/>
                          </a:solidFill>
                          <a:effectLst/>
                        </a:rPr>
                        <a:t>、团队流程意识和文化提升：全员具备流程意识，管理者通过流程的优化来改善自己的业务，全员遵循流程做事，对流程有敬畏之心。</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a:t>
                      </a:r>
                      <a:r>
                        <a:rPr lang="en-US" altLang="zh-CN" sz="700" b="0" i="0">
                          <a:solidFill>
                            <a:srgbClr val="000000"/>
                          </a:solidFill>
                          <a:effectLst/>
                        </a:rPr>
                        <a:t>MTCV</a:t>
                      </a:r>
                      <a:r>
                        <a:rPr lang="zh-CN" altLang="en-US" sz="700" b="0" i="0">
                          <a:solidFill>
                            <a:srgbClr val="000000"/>
                          </a:solidFill>
                          <a:effectLst/>
                        </a:rPr>
                        <a:t>，主要业务梳理和调优完成，流程建成</a:t>
                      </a:r>
                      <a:r>
                        <a:rPr lang="en-US" altLang="zh-CN" sz="700" b="0" i="0">
                          <a:solidFill>
                            <a:srgbClr val="000000"/>
                          </a:solidFill>
                          <a:effectLst/>
                        </a:rPr>
                        <a:t>L5</a:t>
                      </a:r>
                      <a:br>
                        <a:rPr lang="en-US" altLang="zh-CN" sz="700" b="0" i="0">
                          <a:solidFill>
                            <a:srgbClr val="000000"/>
                          </a:solidFill>
                          <a:effectLst/>
                        </a:rPr>
                      </a:br>
                      <a:r>
                        <a:rPr lang="en-US" altLang="zh-CN" sz="700" b="0" i="0">
                          <a:solidFill>
                            <a:srgbClr val="000000"/>
                          </a:solidFill>
                          <a:effectLst/>
                        </a:rPr>
                        <a:t>3</a:t>
                      </a:r>
                      <a:r>
                        <a:rPr lang="zh-CN" altLang="en-US" sz="700" b="0" i="0">
                          <a:solidFill>
                            <a:srgbClr val="000000"/>
                          </a:solidFill>
                          <a:effectLst/>
                        </a:rPr>
                        <a:t>、主干稳定，末端灵活创新</a:t>
                      </a:r>
                      <a:r>
                        <a:rPr lang="en-US" altLang="zh-CN" sz="700" b="0" i="0">
                          <a:solidFill>
                            <a:srgbClr val="000000"/>
                          </a:solidFill>
                          <a:effectLst/>
                        </a:rPr>
                        <a:t>L6</a:t>
                      </a:r>
                      <a:r>
                        <a:rPr lang="zh-CN" altLang="en-US" sz="700" b="0" i="0">
                          <a:solidFill>
                            <a:srgbClr val="000000"/>
                          </a:solidFill>
                          <a:effectLst/>
                        </a:rPr>
                        <a:t>：一线作业人员，可以通过创新，百花齐放，形成最佳实践，然后固化</a:t>
                      </a:r>
                      <a:r>
                        <a:rPr lang="en-US" altLang="zh-CN" sz="700" b="0" i="0">
                          <a:solidFill>
                            <a:srgbClr val="000000"/>
                          </a:solidFill>
                          <a:effectLst/>
                        </a:rPr>
                        <a:t>L5</a:t>
                      </a:r>
                      <a:r>
                        <a:rPr lang="zh-CN" altLang="en-US" sz="700" b="0" i="0">
                          <a:solidFill>
                            <a:srgbClr val="000000"/>
                          </a:solidFill>
                          <a:effectLst/>
                        </a:rPr>
                        <a:t>、</a:t>
                      </a:r>
                      <a:r>
                        <a:rPr lang="en-US" altLang="zh-CN" sz="700" b="0" i="0">
                          <a:solidFill>
                            <a:srgbClr val="000000"/>
                          </a:solidFill>
                          <a:effectLst/>
                        </a:rPr>
                        <a:t>L6</a:t>
                      </a:r>
                      <a:r>
                        <a:rPr lang="zh-CN" altLang="en-US" sz="700" b="0" i="0">
                          <a:solidFill>
                            <a:srgbClr val="000000"/>
                          </a:solidFill>
                          <a:effectLst/>
                        </a:rPr>
                        <a:t>。</a:t>
                      </a:r>
                      <a:br>
                        <a:rPr lang="zh-CN" altLang="en-US" sz="700" b="0" i="0">
                          <a:solidFill>
                            <a:srgbClr val="000000"/>
                          </a:solidFill>
                          <a:effectLst/>
                        </a:rPr>
                      </a:br>
                      <a:r>
                        <a:rPr lang="en-US" altLang="zh-CN" sz="700" b="0" i="0">
                          <a:solidFill>
                            <a:srgbClr val="000000"/>
                          </a:solidFill>
                          <a:effectLst/>
                        </a:rPr>
                        <a:t>4</a:t>
                      </a:r>
                      <a:r>
                        <a:rPr lang="zh-CN" altLang="en-US" sz="700" b="0" i="0">
                          <a:solidFill>
                            <a:srgbClr val="000000"/>
                          </a:solidFill>
                          <a:effectLst/>
                        </a:rPr>
                        <a:t>、流程可以被稽查，被持续优化：有流程“稽查”来抓流程是否被严格执行。有流程绩效评估来看流程的好坏，对各段流程，持续优化迭代。</a:t>
                      </a:r>
                      <a:br>
                        <a:rPr lang="zh-CN" altLang="en-US" sz="700" b="0" i="0">
                          <a:solidFill>
                            <a:srgbClr val="000000"/>
                          </a:solidFill>
                          <a:effectLst/>
                        </a:rPr>
                      </a:br>
                      <a:r>
                        <a:rPr lang="en-US" altLang="zh-CN" sz="700" b="0" i="0">
                          <a:solidFill>
                            <a:srgbClr val="000000"/>
                          </a:solidFill>
                          <a:effectLst/>
                        </a:rPr>
                        <a:t>5</a:t>
                      </a:r>
                      <a:r>
                        <a:rPr lang="zh-CN" altLang="en-US" sz="700" b="0" i="0">
                          <a:solidFill>
                            <a:srgbClr val="000000"/>
                          </a:solidFill>
                          <a:effectLst/>
                        </a:rPr>
                        <a:t>、培养一批合格的流程</a:t>
                      </a:r>
                      <a:r>
                        <a:rPr lang="en-US" altLang="zh-CN" sz="700" b="0" i="0">
                          <a:solidFill>
                            <a:srgbClr val="000000"/>
                          </a:solidFill>
                          <a:effectLst/>
                        </a:rPr>
                        <a:t>PO</a:t>
                      </a:r>
                      <a:r>
                        <a:rPr lang="zh-CN" altLang="en-US" sz="700" b="0" i="0">
                          <a:solidFill>
                            <a:srgbClr val="000000"/>
                          </a:solidFill>
                          <a:effectLst/>
                        </a:rPr>
                        <a:t>，</a:t>
                      </a:r>
                      <a:r>
                        <a:rPr lang="en-US" altLang="zh-CN" sz="700" b="0" i="0">
                          <a:solidFill>
                            <a:srgbClr val="000000"/>
                          </a:solidFill>
                          <a:effectLst/>
                        </a:rPr>
                        <a:t>PC</a:t>
                      </a:r>
                      <a:r>
                        <a:rPr lang="zh-CN" altLang="en-US" sz="700" b="0" i="0">
                          <a:solidFill>
                            <a:srgbClr val="000000"/>
                          </a:solidFill>
                          <a:effectLst/>
                        </a:rPr>
                        <a:t>：流程</a:t>
                      </a:r>
                      <a:r>
                        <a:rPr lang="en-US" altLang="zh-CN" sz="700" b="0" i="0">
                          <a:solidFill>
                            <a:srgbClr val="000000"/>
                          </a:solidFill>
                          <a:effectLst/>
                        </a:rPr>
                        <a:t>PO</a:t>
                      </a:r>
                      <a:r>
                        <a:rPr lang="zh-CN" altLang="en-US" sz="700" b="0" i="0">
                          <a:solidFill>
                            <a:srgbClr val="000000"/>
                          </a:solidFill>
                          <a:effectLst/>
                        </a:rPr>
                        <a:t>为业务审视，梳理，调优，跑起来，达成业务目标付全责。流程</a:t>
                      </a:r>
                      <a:r>
                        <a:rPr lang="en-US" altLang="zh-CN" sz="700" b="0" i="0">
                          <a:solidFill>
                            <a:srgbClr val="000000"/>
                          </a:solidFill>
                          <a:effectLst/>
                        </a:rPr>
                        <a:t>PC</a:t>
                      </a:r>
                      <a:r>
                        <a:rPr lang="zh-CN" altLang="en-US" sz="700" b="0" i="0">
                          <a:solidFill>
                            <a:srgbClr val="000000"/>
                          </a:solidFill>
                          <a:effectLst/>
                        </a:rPr>
                        <a:t>，具备专业性，为流程固化，</a:t>
                      </a:r>
                      <a:r>
                        <a:rPr lang="en-US" altLang="zh-CN" sz="700" b="0" i="0">
                          <a:solidFill>
                            <a:srgbClr val="000000"/>
                          </a:solidFill>
                          <a:effectLst/>
                        </a:rPr>
                        <a:t>L5</a:t>
                      </a:r>
                      <a:r>
                        <a:rPr lang="zh-CN" altLang="en-US" sz="700" b="0" i="0">
                          <a:solidFill>
                            <a:srgbClr val="000000"/>
                          </a:solidFill>
                          <a:effectLst/>
                        </a:rPr>
                        <a:t>流程文件，流程试点，流程推行负全责。</a:t>
                      </a:r>
                      <a:r>
                        <a:rPr lang="en-US" altLang="zh-CN" sz="700" b="0" i="0">
                          <a:solidFill>
                            <a:srgbClr val="000000"/>
                          </a:solidFill>
                          <a:effectLst/>
                        </a:rPr>
                        <a:t>PO</a:t>
                      </a:r>
                      <a:r>
                        <a:rPr lang="zh-CN" altLang="en-US" sz="700" b="0" i="0">
                          <a:solidFill>
                            <a:srgbClr val="000000"/>
                          </a:solidFill>
                          <a:effectLst/>
                        </a:rPr>
                        <a:t>，</a:t>
                      </a:r>
                      <a:r>
                        <a:rPr lang="en-US" altLang="zh-CN" sz="700" b="0" i="0">
                          <a:solidFill>
                            <a:srgbClr val="000000"/>
                          </a:solidFill>
                          <a:effectLst/>
                        </a:rPr>
                        <a:t>PC</a:t>
                      </a:r>
                      <a:r>
                        <a:rPr lang="zh-CN" altLang="en-US" sz="700" b="0" i="0">
                          <a:solidFill>
                            <a:srgbClr val="000000"/>
                          </a:solidFill>
                          <a:effectLst/>
                        </a:rPr>
                        <a:t>角色到位、责权利明确，能切实担当起流程建设和持续优化的责任。</a:t>
                      </a:r>
                      <a:br>
                        <a:rPr lang="zh-CN" altLang="en-US" sz="700" b="0" i="0">
                          <a:solidFill>
                            <a:srgbClr val="000000"/>
                          </a:solidFill>
                          <a:effectLst/>
                        </a:rPr>
                      </a:br>
                      <a:r>
                        <a:rPr lang="en-US" altLang="zh-CN" sz="700" b="0" i="0">
                          <a:solidFill>
                            <a:srgbClr val="000000"/>
                          </a:solidFill>
                          <a:effectLst/>
                        </a:rPr>
                        <a:t>6</a:t>
                      </a:r>
                      <a:r>
                        <a:rPr lang="zh-CN" altLang="en-US" sz="700" b="0" i="0">
                          <a:solidFill>
                            <a:srgbClr val="000000"/>
                          </a:solidFill>
                          <a:effectLst/>
                        </a:rPr>
                        <a:t>、有流程建设和管理的流程，流程建设，推行，可视，可衡量，可管理。</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05502">
                <a:tc gridSpan="2">
                  <a:txBody>
                    <a:bodyPr/>
                    <a:lstStyle/>
                    <a:p>
                      <a:pPr fontAlgn="ctr" latinLnBrk="0"/>
                      <a:r>
                        <a:rPr lang="zh-CN" altLang="en-US" sz="700" b="1" i="0" dirty="0">
                          <a:solidFill>
                            <a:srgbClr val="333333"/>
                          </a:solidFill>
                          <a:effectLst/>
                        </a:rPr>
                        <a:t>关键任务三层面划分</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gridSpan="2">
                  <a:txBody>
                    <a:bodyPr/>
                    <a:lstStyle/>
                    <a:p>
                      <a:pPr algn="ctr" fontAlgn="ctr" latinLnBrk="0"/>
                      <a:r>
                        <a:rPr lang="en-US" altLang="zh-CN" sz="700" b="1" i="0">
                          <a:solidFill>
                            <a:srgbClr val="000000"/>
                          </a:solidFill>
                          <a:effectLst/>
                        </a:rPr>
                        <a:t>24</a:t>
                      </a:r>
                      <a:r>
                        <a:rPr lang="zh-CN" altLang="en-US" sz="700" b="1" i="0">
                          <a:solidFill>
                            <a:srgbClr val="000000"/>
                          </a:solidFill>
                          <a:effectLst/>
                        </a:rPr>
                        <a:t>年当前三层面</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pPr algn="ctr" fontAlgn="ctr" latinLnBrk="0"/>
                      <a:endParaRPr lang="zh-CN" altLang="en-US" sz="700" b="1"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gridSpan="2">
                  <a:txBody>
                    <a:bodyPr/>
                    <a:lstStyle/>
                    <a:p>
                      <a:pPr fontAlgn="ctr" latinLnBrk="0"/>
                      <a:r>
                        <a:rPr lang="en-US" sz="700" b="1" i="0">
                          <a:solidFill>
                            <a:srgbClr val="000000"/>
                          </a:solidFill>
                          <a:effectLst/>
                        </a:rPr>
                        <a:t>H3-2 </a:t>
                      </a:r>
                      <a:r>
                        <a:rPr lang="zh-CN" altLang="en-US" sz="700" b="1" i="0">
                          <a:solidFill>
                            <a:srgbClr val="000000"/>
                          </a:solidFill>
                          <a:effectLst/>
                        </a:rPr>
                        <a:t>探索试点</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gridSpan="2">
                  <a:txBody>
                    <a:bodyPr/>
                    <a:lstStyle/>
                    <a:p>
                      <a:pPr algn="ctr" fontAlgn="ctr" latinLnBrk="0"/>
                      <a:r>
                        <a:rPr lang="en-US" altLang="zh-CN" sz="700" b="1" i="0" dirty="0">
                          <a:solidFill>
                            <a:srgbClr val="000000"/>
                          </a:solidFill>
                          <a:effectLst/>
                        </a:rPr>
                        <a:t>25</a:t>
                      </a:r>
                      <a:r>
                        <a:rPr lang="zh-CN" altLang="en-US" sz="700" b="1" i="0" dirty="0">
                          <a:solidFill>
                            <a:srgbClr val="000000"/>
                          </a:solidFill>
                          <a:effectLst/>
                        </a:rPr>
                        <a:t>年三层面目标</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gridSpan="2">
                  <a:txBody>
                    <a:bodyPr/>
                    <a:lstStyle/>
                    <a:p>
                      <a:pPr algn="l" fontAlgn="ctr" latinLnBrk="0"/>
                      <a:r>
                        <a:rPr lang="en-US" sz="700" b="1" i="0" dirty="0">
                          <a:solidFill>
                            <a:srgbClr val="000000"/>
                          </a:solidFill>
                          <a:effectLst/>
                        </a:rPr>
                        <a:t>H2</a:t>
                      </a:r>
                      <a:r>
                        <a:rPr lang="zh-CN" altLang="en-US" sz="700" b="1" i="0" dirty="0">
                          <a:solidFill>
                            <a:srgbClr val="000000"/>
                          </a:solidFill>
                          <a:effectLst/>
                        </a:rPr>
                        <a:t>推行</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fontAlgn="ctr" latinLnBrk="0"/>
                      <a:r>
                        <a:rPr lang="zh-CN" altLang="en-US" sz="700" b="1" i="0" dirty="0">
                          <a:solidFill>
                            <a:srgbClr val="333333"/>
                          </a:solidFill>
                          <a:effectLst/>
                        </a:rPr>
                        <a:t>关键任务类型</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a:txBody>
                    <a:bodyPr/>
                    <a:lstStyle/>
                    <a:p>
                      <a:pPr fontAlgn="ctr" latinLnBrk="0"/>
                      <a:r>
                        <a:rPr lang="zh-CN" altLang="en-US" sz="700" b="1" i="0" dirty="0">
                          <a:solidFill>
                            <a:srgbClr val="333333"/>
                          </a:solidFill>
                          <a:effectLst/>
                        </a:rPr>
                        <a:t>主建</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258888">
                <a:tc gridSpan="8">
                  <a:txBody>
                    <a:bodyPr/>
                    <a:lstStyle/>
                    <a:p>
                      <a:pPr fontAlgn="ctr" latinLnBrk="0"/>
                      <a:r>
                        <a:rPr lang="zh-CN" altLang="en-US" sz="700" b="1" i="0" dirty="0" smtClean="0">
                          <a:solidFill>
                            <a:srgbClr val="333333"/>
                          </a:solidFill>
                          <a:effectLst/>
                        </a:rPr>
                        <a:t>四、</a:t>
                      </a:r>
                      <a:r>
                        <a:rPr lang="zh-CN" altLang="en-US" sz="700" b="1" i="0" dirty="0">
                          <a:solidFill>
                            <a:srgbClr val="333333"/>
                          </a:solidFill>
                          <a:effectLst/>
                        </a:rPr>
                        <a:t>关键任务实施如何来衡量？</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endParaRPr lang="zh-CN" altLang="en-US"/>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12075">
                <a:tc gridSpan="3">
                  <a:txBody>
                    <a:bodyPr/>
                    <a:lstStyle/>
                    <a:p>
                      <a:pPr algn="ctr" fontAlgn="ctr" latinLnBrk="0"/>
                      <a:r>
                        <a:rPr lang="en-US" sz="700" b="0" i="0">
                          <a:solidFill>
                            <a:srgbClr val="333333"/>
                          </a:solidFill>
                          <a:effectLst/>
                        </a:rPr>
                        <a:t>NO.</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zh-CN" altLang="en-US" sz="700" b="1" i="0">
                          <a:solidFill>
                            <a:srgbClr val="333333"/>
                          </a:solidFill>
                          <a:effectLst/>
                        </a:rPr>
                        <a:t>关键任务实施的衡量指标</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a:txBody>
                    <a:bodyPr/>
                    <a:lstStyle/>
                    <a:p>
                      <a:pPr algn="ctr" fontAlgn="ctr" latinLnBrk="0"/>
                      <a:r>
                        <a:rPr lang="zh-CN" altLang="en-US" sz="700" b="1" i="0">
                          <a:solidFill>
                            <a:srgbClr val="FF0000"/>
                          </a:solidFill>
                          <a:effectLst/>
                        </a:rPr>
                        <a:t>指标类型</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gridSpan="3">
                  <a:txBody>
                    <a:bodyPr/>
                    <a:lstStyle/>
                    <a:p>
                      <a:pPr algn="ctr" fontAlgn="ctr" latinLnBrk="0"/>
                      <a:r>
                        <a:rPr lang="zh-CN" altLang="en-US" sz="700" b="1" i="0" dirty="0">
                          <a:solidFill>
                            <a:srgbClr val="333333"/>
                          </a:solidFill>
                          <a:effectLst/>
                        </a:rPr>
                        <a:t>指标计算公式</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pPr algn="ctr" fontAlgn="ctr" latinLnBrk="0"/>
                      <a:endParaRPr lang="zh-CN" altLang="en-US" sz="700" b="1" i="0" dirty="0">
                        <a:solidFill>
                          <a:srgbClr val="333333"/>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gridSpan="2">
                  <a:txBody>
                    <a:bodyPr/>
                    <a:lstStyle/>
                    <a:p>
                      <a:pPr algn="ctr" fontAlgn="ctr" latinLnBrk="0"/>
                      <a:r>
                        <a:rPr lang="en-US" altLang="zh-CN" sz="700" b="1" i="0">
                          <a:solidFill>
                            <a:srgbClr val="333333"/>
                          </a:solidFill>
                          <a:effectLst/>
                        </a:rPr>
                        <a:t>2025</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gridSpan="2">
                  <a:txBody>
                    <a:bodyPr/>
                    <a:lstStyle/>
                    <a:p>
                      <a:pPr algn="ctr" fontAlgn="ctr" latinLnBrk="0"/>
                      <a:r>
                        <a:rPr lang="en-US" altLang="zh-CN" sz="700" b="1" i="0" dirty="0">
                          <a:solidFill>
                            <a:srgbClr val="333333"/>
                          </a:solidFill>
                          <a:effectLst/>
                        </a:rPr>
                        <a:t>2026</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a:txBody>
                    <a:bodyPr/>
                    <a:lstStyle/>
                    <a:p>
                      <a:pPr algn="ctr" fontAlgn="ctr" latinLnBrk="0"/>
                      <a:r>
                        <a:rPr lang="en-US" altLang="zh-CN" sz="700" b="1" i="0" dirty="0">
                          <a:solidFill>
                            <a:srgbClr val="333333"/>
                          </a:solidFill>
                          <a:effectLst/>
                        </a:rPr>
                        <a:t>2027</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r>
              <a:tr h="409124">
                <a:tc gridSpan="3">
                  <a:txBody>
                    <a:bodyPr/>
                    <a:lstStyle/>
                    <a:p>
                      <a:pPr algn="ctr" fontAlgn="ctr" latinLnBrk="0"/>
                      <a:r>
                        <a:rPr lang="en-US" altLang="zh-CN" sz="700" b="0" i="0">
                          <a:solidFill>
                            <a:srgbClr val="000000"/>
                          </a:solidFill>
                          <a:effectLst/>
                        </a:rPr>
                        <a:t>1</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700" b="1" i="0">
                          <a:solidFill>
                            <a:srgbClr val="000000"/>
                          </a:solidFill>
                          <a:effectLst/>
                        </a:rPr>
                        <a:t>60</a:t>
                      </a:r>
                      <a:r>
                        <a:rPr lang="zh-CN" altLang="en-US" sz="700" b="1" i="0">
                          <a:solidFill>
                            <a:srgbClr val="000000"/>
                          </a:solidFill>
                          <a:effectLst/>
                        </a:rPr>
                        <a:t>个</a:t>
                      </a:r>
                      <a:r>
                        <a:rPr lang="en-US" altLang="zh-CN" sz="700" b="1" i="0">
                          <a:solidFill>
                            <a:srgbClr val="000000"/>
                          </a:solidFill>
                          <a:effectLst/>
                        </a:rPr>
                        <a:t>MTCV</a:t>
                      </a:r>
                      <a:r>
                        <a:rPr lang="zh-CN" altLang="en-US" sz="700" b="1" i="0">
                          <a:solidFill>
                            <a:srgbClr val="000000"/>
                          </a:solidFill>
                          <a:effectLst/>
                        </a:rPr>
                        <a:t>子流程（业务）中建设到</a:t>
                      </a:r>
                      <a:r>
                        <a:rPr lang="en-US" altLang="zh-CN" sz="700" b="1" i="0">
                          <a:solidFill>
                            <a:srgbClr val="000000"/>
                          </a:solidFill>
                          <a:effectLst/>
                        </a:rPr>
                        <a:t>L5</a:t>
                      </a:r>
                      <a:r>
                        <a:rPr lang="zh-CN" altLang="en-US" sz="700" b="1" i="0">
                          <a:solidFill>
                            <a:srgbClr val="000000"/>
                          </a:solidFill>
                          <a:effectLst/>
                        </a:rPr>
                        <a:t>，进入到推行的个数</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700" b="1" i="0" dirty="0">
                          <a:solidFill>
                            <a:srgbClr val="000000"/>
                          </a:solidFill>
                          <a:effectLst/>
                        </a:rPr>
                        <a:t>销售结果指标</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3">
                  <a:txBody>
                    <a:bodyPr/>
                    <a:lstStyle/>
                    <a:p>
                      <a:pPr fontAlgn="ctr" latinLnBrk="0"/>
                      <a:r>
                        <a:rPr lang="zh-CN" altLang="en-US" sz="700" b="0" i="0" dirty="0">
                          <a:solidFill>
                            <a:srgbClr val="000000"/>
                          </a:solidFill>
                          <a:effectLst/>
                        </a:rPr>
                        <a:t>通过推行评审的子流程的数量</a:t>
                      </a:r>
                      <a:br>
                        <a:rPr lang="zh-CN" altLang="en-US" sz="700" b="0" i="0" dirty="0">
                          <a:solidFill>
                            <a:srgbClr val="000000"/>
                          </a:solidFill>
                          <a:effectLst/>
                        </a:rPr>
                      </a:br>
                      <a:r>
                        <a:rPr lang="zh-CN" altLang="en-US" sz="700" b="0" i="0" dirty="0">
                          <a:solidFill>
                            <a:srgbClr val="000000"/>
                          </a:solidFill>
                          <a:effectLst/>
                        </a:rPr>
                        <a:t>建设到</a:t>
                      </a:r>
                      <a:r>
                        <a:rPr lang="en-US" altLang="zh-CN" sz="700" b="0" i="0" dirty="0">
                          <a:solidFill>
                            <a:srgbClr val="000000"/>
                          </a:solidFill>
                          <a:effectLst/>
                        </a:rPr>
                        <a:t>L5</a:t>
                      </a:r>
                      <a:r>
                        <a:rPr lang="zh-CN" altLang="en-US" sz="700" b="0" i="0" dirty="0">
                          <a:solidFill>
                            <a:srgbClr val="000000"/>
                          </a:solidFill>
                          <a:effectLst/>
                        </a:rPr>
                        <a:t>的标志：子流程都完成相关的流程说明文件</a:t>
                      </a:r>
                      <a:r>
                        <a:rPr lang="en-US" altLang="zh-CN" sz="700" b="0" i="0" dirty="0">
                          <a:solidFill>
                            <a:srgbClr val="000000"/>
                          </a:solidFill>
                          <a:effectLst/>
                        </a:rPr>
                        <a:t>1.0</a:t>
                      </a:r>
                      <a:r>
                        <a:rPr lang="zh-CN" altLang="en-US" sz="700" b="0" i="0" dirty="0">
                          <a:solidFill>
                            <a:srgbClr val="000000"/>
                          </a:solidFill>
                          <a:effectLst/>
                        </a:rPr>
                        <a:t>，并通过“推行批准”的评审发布。</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hMerge="1">
                  <a:txBody>
                    <a:bodyPr/>
                    <a:lstStyle/>
                    <a:p>
                      <a:pPr fontAlgn="ctr" latinLnBrk="0"/>
                      <a:endParaRPr lang="zh-CN" altLang="en-US" sz="700" b="0" i="0" dirty="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latinLnBrk="0"/>
                      <a:r>
                        <a:rPr lang="en-US" altLang="zh-CN" sz="700" b="0" i="0">
                          <a:solidFill>
                            <a:srgbClr val="000000"/>
                          </a:solidFill>
                          <a:effectLst/>
                        </a:rPr>
                        <a:t>60</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gridSpan="2">
                  <a:txBody>
                    <a:bodyPr/>
                    <a:lstStyle/>
                    <a:p>
                      <a:endParaRPr lang="zh-CN" altLang="en-US"/>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a:txBody>
                    <a:bodyPr/>
                    <a:lstStyle/>
                    <a:p>
                      <a:endParaRPr lang="zh-CN" altLang="en-US"/>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112075">
                <a:tc gridSpan="13">
                  <a:txBody>
                    <a:bodyPr/>
                    <a:lstStyle/>
                    <a:p>
                      <a:pPr fontAlgn="ctr" latinLnBrk="0"/>
                      <a:r>
                        <a:rPr lang="zh-CN" altLang="en-US" sz="700" b="1" i="0">
                          <a:solidFill>
                            <a:srgbClr val="333333"/>
                          </a:solidFill>
                          <a:effectLst/>
                        </a:rPr>
                        <a:t>六、子项目规划（为达成本战略目标需要设置的子项）</a:t>
                      </a:r>
                      <a:r>
                        <a:rPr lang="en-US" altLang="zh-CN" sz="700" b="1" i="0">
                          <a:solidFill>
                            <a:srgbClr val="333333"/>
                          </a:solidFill>
                          <a:effectLst/>
                        </a:rPr>
                        <a:t>: </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12075">
                <a:tc>
                  <a:txBody>
                    <a:bodyPr/>
                    <a:lstStyle/>
                    <a:p>
                      <a:pPr algn="ctr" fontAlgn="ctr" latinLnBrk="0"/>
                      <a:r>
                        <a:rPr lang="en-US" sz="700" b="0" i="0">
                          <a:solidFill>
                            <a:srgbClr val="333333"/>
                          </a:solidFill>
                          <a:effectLst/>
                        </a:rPr>
                        <a:t>NO.</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gridSpan="6">
                  <a:txBody>
                    <a:bodyPr/>
                    <a:lstStyle/>
                    <a:p>
                      <a:pPr algn="ctr" fontAlgn="ctr" latinLnBrk="0"/>
                      <a:r>
                        <a:rPr lang="zh-CN" altLang="en-US" sz="700" b="1" i="0">
                          <a:solidFill>
                            <a:srgbClr val="333333"/>
                          </a:solidFill>
                          <a:effectLst/>
                        </a:rPr>
                        <a:t>专项的描述：子项打算如何做？</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hMerge="1">
                  <a:txBody>
                    <a:bodyPr/>
                    <a:lstStyle/>
                    <a:p>
                      <a:pPr algn="ctr" fontAlgn="ctr" latinLnBrk="0"/>
                      <a:endParaRPr lang="zh-CN" altLang="en-US" sz="700" b="1" i="0">
                        <a:solidFill>
                          <a:srgbClr val="333333"/>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endParaRPr lang="zh-CN" altLang="en-US"/>
                    </a:p>
                  </a:txBody>
                  <a:tcPr/>
                </a:tc>
                <a:tc hMerge="1">
                  <a:txBody>
                    <a:bodyPr/>
                    <a:lstStyle/>
                    <a:p>
                      <a:endParaRPr lang="zh-CN" altLang="en-US"/>
                    </a:p>
                  </a:txBody>
                  <a:tcPr/>
                </a:tc>
                <a:tc hMerge="1">
                  <a:txBody>
                    <a:bodyPr/>
                    <a:lstStyle/>
                    <a:p>
                      <a:pPr algn="ctr" fontAlgn="ctr" latinLnBrk="0"/>
                      <a:endParaRPr lang="zh-CN" altLang="en-US" sz="700" b="1" i="0" dirty="0">
                        <a:solidFill>
                          <a:srgbClr val="FF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gridSpan="2">
                  <a:txBody>
                    <a:bodyPr/>
                    <a:lstStyle/>
                    <a:p>
                      <a:pPr algn="ctr" fontAlgn="ctr" latinLnBrk="0"/>
                      <a:r>
                        <a:rPr lang="zh-CN" altLang="en-US" sz="700" b="1" i="0" dirty="0">
                          <a:solidFill>
                            <a:srgbClr val="FF0000"/>
                          </a:solidFill>
                          <a:effectLst/>
                        </a:rPr>
                        <a:t>支撑关键任务的子项目</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pPr algn="ctr" fontAlgn="ctr" latinLnBrk="0"/>
                      <a:endParaRPr lang="zh-CN" altLang="en-US" sz="700" b="1" i="0" dirty="0">
                        <a:solidFill>
                          <a:srgbClr val="FF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gridSpan="2">
                  <a:txBody>
                    <a:bodyPr/>
                    <a:lstStyle/>
                    <a:p>
                      <a:pPr algn="ctr" fontAlgn="ctr" latinLnBrk="0"/>
                      <a:r>
                        <a:rPr lang="zh-CN" altLang="en-US" sz="700" b="1" i="0" dirty="0">
                          <a:solidFill>
                            <a:srgbClr val="FF0000"/>
                          </a:solidFill>
                          <a:effectLst/>
                        </a:rPr>
                        <a:t>子项衡量指标</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hMerge="1">
                  <a:txBody>
                    <a:bodyPr/>
                    <a:lstStyle/>
                    <a:p>
                      <a:pPr algn="ctr" fontAlgn="ctr" latinLnBrk="0"/>
                      <a:endParaRPr lang="zh-CN" altLang="en-US" sz="700" b="1" i="0" dirty="0">
                        <a:solidFill>
                          <a:srgbClr val="333333"/>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a:txBody>
                    <a:bodyPr/>
                    <a:lstStyle/>
                    <a:p>
                      <a:pPr algn="ctr" fontAlgn="ctr" latinLnBrk="0"/>
                      <a:r>
                        <a:rPr lang="zh-CN" altLang="en-US" sz="700" b="1" i="0" dirty="0">
                          <a:solidFill>
                            <a:srgbClr val="333333"/>
                          </a:solidFill>
                          <a:effectLst/>
                        </a:rPr>
                        <a:t>子项项目经理</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c>
                  <a:txBody>
                    <a:bodyPr/>
                    <a:lstStyle/>
                    <a:p>
                      <a:pPr algn="ctr" fontAlgn="ctr" latinLnBrk="0"/>
                      <a:r>
                        <a:rPr lang="zh-CN" altLang="en-US" sz="700" b="1" i="0" dirty="0">
                          <a:solidFill>
                            <a:srgbClr val="333333"/>
                          </a:solidFill>
                          <a:effectLst/>
                        </a:rPr>
                        <a:t>项目核心成员</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FF2F8"/>
                    </a:solidFill>
                  </a:tcPr>
                </a:tc>
              </a:tr>
              <a:tr h="859488">
                <a:tc>
                  <a:txBody>
                    <a:bodyPr/>
                    <a:lstStyle/>
                    <a:p>
                      <a:pPr algn="ctr" fontAlgn="ctr" latinLnBrk="0"/>
                      <a:r>
                        <a:rPr lang="en-US" altLang="zh-CN" sz="700" b="0" i="0">
                          <a:solidFill>
                            <a:srgbClr val="000000"/>
                          </a:solidFill>
                          <a:effectLst/>
                        </a:rPr>
                        <a:t>1</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6">
                  <a:txBody>
                    <a:bodyPr/>
                    <a:lstStyle/>
                    <a:p>
                      <a:pPr algn="l" fontAlgn="ctr" latinLnBrk="0"/>
                      <a:r>
                        <a:rPr lang="zh-CN" altLang="en-US" sz="700" b="0" i="0">
                          <a:solidFill>
                            <a:srgbClr val="000000"/>
                          </a:solidFill>
                          <a:effectLst/>
                        </a:rPr>
                        <a:t>建成</a:t>
                      </a:r>
                      <a:r>
                        <a:rPr lang="en-US" altLang="zh-CN" sz="700" b="0" i="0">
                          <a:solidFill>
                            <a:srgbClr val="000000"/>
                          </a:solidFill>
                          <a:effectLst/>
                        </a:rPr>
                        <a:t>L5</a:t>
                      </a:r>
                      <a:r>
                        <a:rPr lang="zh-CN" altLang="en-US" sz="700" b="0" i="0">
                          <a:solidFill>
                            <a:srgbClr val="000000"/>
                          </a:solidFill>
                          <a:effectLst/>
                        </a:rPr>
                        <a:t>：</a:t>
                      </a:r>
                      <a:r>
                        <a:rPr lang="en-US" altLang="zh-CN" sz="700" b="0" i="0">
                          <a:solidFill>
                            <a:srgbClr val="000000"/>
                          </a:solidFill>
                          <a:effectLst/>
                        </a:rPr>
                        <a:t>L2-L3</a:t>
                      </a:r>
                      <a:r>
                        <a:rPr lang="zh-CN" altLang="en-US" sz="700" b="0" i="0">
                          <a:solidFill>
                            <a:srgbClr val="000000"/>
                          </a:solidFill>
                          <a:effectLst/>
                        </a:rPr>
                        <a:t>流程完成</a:t>
                      </a:r>
                      <a:r>
                        <a:rPr lang="en-US" altLang="zh-CN" sz="700" b="0" i="0">
                          <a:solidFill>
                            <a:srgbClr val="000000"/>
                          </a:solidFill>
                          <a:effectLst/>
                        </a:rPr>
                        <a:t>L5</a:t>
                      </a:r>
                      <a:r>
                        <a:rPr lang="zh-CN" altLang="en-US" sz="700" b="0" i="0">
                          <a:solidFill>
                            <a:srgbClr val="000000"/>
                          </a:solidFill>
                          <a:effectLst/>
                        </a:rPr>
                        <a:t>流程设计、试点、推广到一线，跑起来</a:t>
                      </a:r>
                      <a:br>
                        <a:rPr lang="zh-CN" altLang="en-US" sz="700" b="0" i="0">
                          <a:solidFill>
                            <a:srgbClr val="000000"/>
                          </a:solidFill>
                          <a:effectLst/>
                        </a:rPr>
                      </a:br>
                      <a:r>
                        <a:rPr lang="en-US" altLang="zh-CN" sz="700" b="0" i="0">
                          <a:solidFill>
                            <a:srgbClr val="000000"/>
                          </a:solidFill>
                          <a:effectLst/>
                        </a:rPr>
                        <a:t>1</a:t>
                      </a:r>
                      <a:r>
                        <a:rPr lang="zh-CN" altLang="en-US" sz="700" b="0" i="0">
                          <a:solidFill>
                            <a:srgbClr val="000000"/>
                          </a:solidFill>
                          <a:effectLst/>
                        </a:rPr>
                        <a:t>、结果导向：明确每个业务流程的，业务流程绩效指标，基线和目标，</a:t>
                      </a:r>
                      <a:r>
                        <a:rPr lang="en-US" altLang="zh-CN" sz="700" b="0" i="0">
                          <a:solidFill>
                            <a:srgbClr val="000000"/>
                          </a:solidFill>
                          <a:effectLst/>
                        </a:rPr>
                        <a:t>25</a:t>
                      </a:r>
                      <a:r>
                        <a:rPr lang="zh-CN" altLang="en-US" sz="700" b="0" i="0">
                          <a:solidFill>
                            <a:srgbClr val="000000"/>
                          </a:solidFill>
                          <a:effectLst/>
                        </a:rPr>
                        <a:t>年以每个</a:t>
                      </a:r>
                      <a:r>
                        <a:rPr lang="en-US" altLang="zh-CN" sz="700" b="0" i="0">
                          <a:solidFill>
                            <a:srgbClr val="000000"/>
                          </a:solidFill>
                          <a:effectLst/>
                        </a:rPr>
                        <a:t>L3</a:t>
                      </a:r>
                      <a:r>
                        <a:rPr lang="zh-CN" altLang="en-US" sz="700" b="0" i="0">
                          <a:solidFill>
                            <a:srgbClr val="000000"/>
                          </a:solidFill>
                          <a:effectLst/>
                        </a:rPr>
                        <a:t>为管理对象，全力推进。</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理清楚业务，业务跑得通，跑得顺：从业务流程绩效结果看，每个业务现状怎么跑的，有什么问题，如何调优，确保业务最合理的运转，并获得推行批准。这个要有业务梳理和优化的方法。对标杆学习的方法和资源的支撑。还需要抓好，业务梳理的</a:t>
                      </a:r>
                      <a:r>
                        <a:rPr lang="en-US" altLang="zh-CN" sz="700" b="0" i="0">
                          <a:solidFill>
                            <a:srgbClr val="000000"/>
                          </a:solidFill>
                          <a:effectLst/>
                        </a:rPr>
                        <a:t>KDP</a:t>
                      </a:r>
                      <a:r>
                        <a:rPr lang="zh-CN" altLang="en-US" sz="700" b="0" i="0">
                          <a:solidFill>
                            <a:srgbClr val="000000"/>
                          </a:solidFill>
                          <a:effectLst/>
                        </a:rPr>
                        <a:t>。</a:t>
                      </a:r>
                      <a:br>
                        <a:rPr lang="zh-CN" altLang="en-US" sz="700" b="0" i="0">
                          <a:solidFill>
                            <a:srgbClr val="000000"/>
                          </a:solidFill>
                          <a:effectLst/>
                        </a:rPr>
                      </a:br>
                      <a:r>
                        <a:rPr lang="en-US" altLang="zh-CN" sz="700" b="0" i="0">
                          <a:solidFill>
                            <a:srgbClr val="000000"/>
                          </a:solidFill>
                          <a:effectLst/>
                        </a:rPr>
                        <a:t>3</a:t>
                      </a:r>
                      <a:r>
                        <a:rPr lang="zh-CN" altLang="en-US" sz="700" b="0" i="0">
                          <a:solidFill>
                            <a:srgbClr val="000000"/>
                          </a:solidFill>
                          <a:effectLst/>
                        </a:rPr>
                        <a:t>、固化</a:t>
                      </a:r>
                      <a:r>
                        <a:rPr lang="en-US" altLang="zh-CN" sz="700" b="0" i="0">
                          <a:solidFill>
                            <a:srgbClr val="000000"/>
                          </a:solidFill>
                          <a:effectLst/>
                        </a:rPr>
                        <a:t>L5</a:t>
                      </a:r>
                      <a:r>
                        <a:rPr lang="zh-CN" altLang="en-US" sz="700" b="0" i="0">
                          <a:solidFill>
                            <a:srgbClr val="000000"/>
                          </a:solidFill>
                          <a:effectLst/>
                        </a:rPr>
                        <a:t>，</a:t>
                      </a:r>
                      <a:r>
                        <a:rPr lang="en-US" altLang="zh-CN" sz="700" b="0" i="0">
                          <a:solidFill>
                            <a:srgbClr val="000000"/>
                          </a:solidFill>
                          <a:effectLst/>
                        </a:rPr>
                        <a:t>L5</a:t>
                      </a:r>
                      <a:r>
                        <a:rPr lang="zh-CN" altLang="en-US" sz="700" b="0" i="0">
                          <a:solidFill>
                            <a:srgbClr val="000000"/>
                          </a:solidFill>
                          <a:effectLst/>
                        </a:rPr>
                        <a:t>的标志，业务应该怎么跑，关键活动怎么做，有明确的工作指导书。</a:t>
                      </a:r>
                      <a:r>
                        <a:rPr lang="en-US" altLang="zh-CN" sz="700" b="0" i="0">
                          <a:solidFill>
                            <a:srgbClr val="000000"/>
                          </a:solidFill>
                          <a:effectLst/>
                        </a:rPr>
                        <a:t>KCP</a:t>
                      </a:r>
                      <a:r>
                        <a:rPr lang="zh-CN" altLang="en-US" sz="700" b="0" i="0">
                          <a:solidFill>
                            <a:srgbClr val="000000"/>
                          </a:solidFill>
                          <a:effectLst/>
                        </a:rPr>
                        <a:t>（关键控制点）和</a:t>
                      </a:r>
                      <a:r>
                        <a:rPr lang="en-US" altLang="zh-CN" sz="700" b="0" i="0">
                          <a:solidFill>
                            <a:srgbClr val="000000"/>
                          </a:solidFill>
                          <a:effectLst/>
                        </a:rPr>
                        <a:t>KDP</a:t>
                      </a:r>
                      <a:r>
                        <a:rPr lang="zh-CN" altLang="en-US" sz="700" b="0" i="0">
                          <a:solidFill>
                            <a:srgbClr val="000000"/>
                          </a:solidFill>
                          <a:effectLst/>
                        </a:rPr>
                        <a:t>（关键评审点）如何操作，如何评审有清晰的规范要求，可以通过</a:t>
                      </a:r>
                      <a:r>
                        <a:rPr lang="en-US" altLang="zh-CN" sz="700" b="0" i="0">
                          <a:solidFill>
                            <a:srgbClr val="000000"/>
                          </a:solidFill>
                          <a:effectLst/>
                        </a:rPr>
                        <a:t>IT</a:t>
                      </a:r>
                      <a:r>
                        <a:rPr lang="zh-CN" altLang="en-US" sz="700" b="0" i="0">
                          <a:solidFill>
                            <a:srgbClr val="000000"/>
                          </a:solidFill>
                          <a:effectLst/>
                        </a:rPr>
                        <a:t>来承载。</a:t>
                      </a:r>
                      <a:br>
                        <a:rPr lang="zh-CN" altLang="en-US" sz="700" b="0" i="0">
                          <a:solidFill>
                            <a:srgbClr val="000000"/>
                          </a:solidFill>
                          <a:effectLst/>
                        </a:rPr>
                      </a:br>
                      <a:r>
                        <a:rPr lang="en-US" altLang="zh-CN" sz="700" b="0" i="0">
                          <a:solidFill>
                            <a:srgbClr val="000000"/>
                          </a:solidFill>
                          <a:effectLst/>
                        </a:rPr>
                        <a:t>4</a:t>
                      </a:r>
                      <a:r>
                        <a:rPr lang="zh-CN" altLang="en-US" sz="700" b="0" i="0">
                          <a:solidFill>
                            <a:srgbClr val="000000"/>
                          </a:solidFill>
                          <a:effectLst/>
                        </a:rPr>
                        <a:t>、先出</a:t>
                      </a:r>
                      <a:r>
                        <a:rPr lang="en-US" altLang="zh-CN" sz="700" b="0" i="0">
                          <a:solidFill>
                            <a:srgbClr val="000000"/>
                          </a:solidFill>
                          <a:effectLst/>
                        </a:rPr>
                        <a:t>V0.9</a:t>
                      </a:r>
                      <a:r>
                        <a:rPr lang="zh-CN" altLang="en-US" sz="700" b="0" i="0">
                          <a:solidFill>
                            <a:srgbClr val="000000"/>
                          </a:solidFill>
                          <a:effectLst/>
                        </a:rPr>
                        <a:t>版本，试推行，有“试推行策划”和验收，赋能作业人员，让大家遵从流程要求先跑起来，先基于流程开展业务，再做进一步的调优。</a:t>
                      </a:r>
                      <a:br>
                        <a:rPr lang="zh-CN" altLang="en-US" sz="700" b="0" i="0">
                          <a:solidFill>
                            <a:srgbClr val="000000"/>
                          </a:solidFill>
                          <a:effectLst/>
                        </a:rPr>
                      </a:br>
                      <a:r>
                        <a:rPr lang="en-US" altLang="zh-CN" sz="700" b="0" i="0">
                          <a:solidFill>
                            <a:srgbClr val="000000"/>
                          </a:solidFill>
                          <a:effectLst/>
                        </a:rPr>
                        <a:t>5</a:t>
                      </a:r>
                      <a:r>
                        <a:rPr lang="zh-CN" altLang="en-US" sz="700" b="0" i="0">
                          <a:solidFill>
                            <a:srgbClr val="000000"/>
                          </a:solidFill>
                          <a:effectLst/>
                        </a:rPr>
                        <a:t>、</a:t>
                      </a:r>
                      <a:r>
                        <a:rPr lang="en-US" altLang="zh-CN" sz="700" b="0" i="0">
                          <a:solidFill>
                            <a:srgbClr val="000000"/>
                          </a:solidFill>
                          <a:effectLst/>
                        </a:rPr>
                        <a:t>1.0</a:t>
                      </a:r>
                      <a:r>
                        <a:rPr lang="zh-CN" altLang="en-US" sz="700" b="0" i="0">
                          <a:solidFill>
                            <a:srgbClr val="000000"/>
                          </a:solidFill>
                          <a:effectLst/>
                        </a:rPr>
                        <a:t>版本，全面推行，有“流程推行实施规划”，赋能各角色，让大家开始遵从流程开展业务，抓住</a:t>
                      </a:r>
                      <a:r>
                        <a:rPr lang="en-US" altLang="zh-CN" sz="700" b="0" i="0">
                          <a:solidFill>
                            <a:srgbClr val="000000"/>
                          </a:solidFill>
                          <a:effectLst/>
                        </a:rPr>
                        <a:t>KCP</a:t>
                      </a:r>
                      <a:r>
                        <a:rPr lang="zh-CN" altLang="en-US" sz="700" b="0" i="0">
                          <a:solidFill>
                            <a:srgbClr val="000000"/>
                          </a:solidFill>
                          <a:effectLst/>
                        </a:rPr>
                        <a:t>，</a:t>
                      </a:r>
                      <a:r>
                        <a:rPr lang="en-US" altLang="zh-CN" sz="700" b="0" i="0">
                          <a:solidFill>
                            <a:srgbClr val="000000"/>
                          </a:solidFill>
                          <a:effectLst/>
                        </a:rPr>
                        <a:t>KDP</a:t>
                      </a:r>
                      <a:r>
                        <a:rPr lang="zh-CN" altLang="en-US" sz="700" b="0" i="0">
                          <a:solidFill>
                            <a:srgbClr val="000000"/>
                          </a:solidFill>
                          <a:effectLst/>
                        </a:rPr>
                        <a:t>，有被执行，开展流程审计。</a:t>
                      </a:r>
                      <a:br>
                        <a:rPr lang="zh-CN" altLang="en-US" sz="700" b="0" i="0">
                          <a:solidFill>
                            <a:srgbClr val="000000"/>
                          </a:solidFill>
                          <a:effectLst/>
                        </a:rPr>
                      </a:br>
                      <a:r>
                        <a:rPr lang="en-US" altLang="zh-CN" sz="700" b="0" i="0">
                          <a:solidFill>
                            <a:srgbClr val="000000"/>
                          </a:solidFill>
                          <a:effectLst/>
                        </a:rPr>
                        <a:t>6</a:t>
                      </a:r>
                      <a:r>
                        <a:rPr lang="zh-CN" altLang="en-US" sz="700" b="0" i="0">
                          <a:solidFill>
                            <a:srgbClr val="000000"/>
                          </a:solidFill>
                          <a:effectLst/>
                        </a:rPr>
                        <a:t>、建立流程建设和管理的流程，流程建设的评审点，控制点要执行起来。流程建设进展，要可视，可衡量，可管理。</a:t>
                      </a:r>
                      <a:br>
                        <a:rPr lang="zh-CN" altLang="en-US" sz="700" b="0" i="0">
                          <a:solidFill>
                            <a:srgbClr val="000000"/>
                          </a:solidFill>
                          <a:effectLst/>
                        </a:rPr>
                      </a:br>
                      <a:r>
                        <a:rPr lang="en-US" altLang="zh-CN" sz="700" b="0" i="0">
                          <a:solidFill>
                            <a:srgbClr val="000000"/>
                          </a:solidFill>
                          <a:effectLst/>
                        </a:rPr>
                        <a:t>7</a:t>
                      </a:r>
                      <a:r>
                        <a:rPr lang="zh-CN" altLang="en-US" sz="700" b="0" i="0">
                          <a:solidFill>
                            <a:srgbClr val="000000"/>
                          </a:solidFill>
                          <a:effectLst/>
                        </a:rPr>
                        <a:t>、</a:t>
                      </a:r>
                      <a:r>
                        <a:rPr lang="en-US" altLang="zh-CN" sz="700" b="0" i="0">
                          <a:solidFill>
                            <a:srgbClr val="000000"/>
                          </a:solidFill>
                          <a:effectLst/>
                        </a:rPr>
                        <a:t>L2</a:t>
                      </a:r>
                      <a:r>
                        <a:rPr lang="zh-CN" altLang="en-US" sz="700" b="0" i="0">
                          <a:solidFill>
                            <a:srgbClr val="000000"/>
                          </a:solidFill>
                          <a:effectLst/>
                        </a:rPr>
                        <a:t>业务流程，</a:t>
                      </a:r>
                      <a:r>
                        <a:rPr lang="en-US" altLang="zh-CN" sz="700" b="0" i="0">
                          <a:solidFill>
                            <a:srgbClr val="000000"/>
                          </a:solidFill>
                          <a:effectLst/>
                        </a:rPr>
                        <a:t>25</a:t>
                      </a:r>
                      <a:r>
                        <a:rPr lang="zh-CN" altLang="en-US" sz="700" b="0" i="0">
                          <a:solidFill>
                            <a:srgbClr val="000000"/>
                          </a:solidFill>
                          <a:effectLst/>
                        </a:rPr>
                        <a:t>年做流程建设立项，明确每条</a:t>
                      </a:r>
                      <a:r>
                        <a:rPr lang="en-US" altLang="zh-CN" sz="700" b="0" i="0">
                          <a:solidFill>
                            <a:srgbClr val="000000"/>
                          </a:solidFill>
                          <a:effectLst/>
                        </a:rPr>
                        <a:t>L3</a:t>
                      </a:r>
                      <a:r>
                        <a:rPr lang="zh-CN" altLang="en-US" sz="700" b="0" i="0">
                          <a:solidFill>
                            <a:srgbClr val="000000"/>
                          </a:solidFill>
                          <a:effectLst/>
                        </a:rPr>
                        <a:t>流程的建设规划，以变革项目管理方式，有效管理起来。</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pPr algn="l"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pPr algn="ctr" fontAlgn="ctr" latinLnBrk="0"/>
                      <a:endParaRPr lang="zh-CN" altLang="en-US" sz="700" b="1"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algn="ctr" fontAlgn="ctr" latinLnBrk="0"/>
                      <a:r>
                        <a:rPr lang="zh-CN" altLang="en-US" sz="700" b="1" i="0" dirty="0">
                          <a:solidFill>
                            <a:srgbClr val="000000"/>
                          </a:solidFill>
                          <a:effectLst/>
                        </a:rPr>
                        <a:t>流程建成</a:t>
                      </a:r>
                      <a:r>
                        <a:rPr lang="en-US" altLang="zh-CN" sz="700" b="1" i="0" dirty="0">
                          <a:solidFill>
                            <a:srgbClr val="000000"/>
                          </a:solidFill>
                          <a:effectLst/>
                        </a:rPr>
                        <a:t>L5</a:t>
                      </a:r>
                      <a:r>
                        <a:rPr lang="zh-CN" altLang="en-US" sz="700" b="1" i="0" dirty="0">
                          <a:solidFill>
                            <a:srgbClr val="000000"/>
                          </a:solidFill>
                          <a:effectLst/>
                        </a:rPr>
                        <a:t>，跑起来</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algn="l"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algn="l" fontAlgn="ctr" latinLnBrk="0"/>
                      <a:r>
                        <a:rPr lang="en-US" altLang="zh-CN" sz="700" b="0" i="0">
                          <a:solidFill>
                            <a:srgbClr val="000000"/>
                          </a:solidFill>
                          <a:effectLst/>
                        </a:rPr>
                        <a:t>1</a:t>
                      </a:r>
                      <a:r>
                        <a:rPr lang="zh-CN" altLang="en-US" sz="700" b="0" i="0">
                          <a:solidFill>
                            <a:srgbClr val="000000"/>
                          </a:solidFill>
                          <a:effectLst/>
                        </a:rPr>
                        <a:t>、</a:t>
                      </a:r>
                      <a:r>
                        <a:rPr lang="en-US" altLang="zh-CN" sz="700" b="0" i="0">
                          <a:solidFill>
                            <a:srgbClr val="000000"/>
                          </a:solidFill>
                          <a:effectLst/>
                        </a:rPr>
                        <a:t>Q1</a:t>
                      </a:r>
                      <a:r>
                        <a:rPr lang="zh-CN" altLang="en-US" sz="700" b="0" i="0">
                          <a:solidFill>
                            <a:srgbClr val="000000"/>
                          </a:solidFill>
                          <a:effectLst/>
                        </a:rPr>
                        <a:t>发布</a:t>
                      </a:r>
                      <a:r>
                        <a:rPr lang="en-US" altLang="zh-CN" sz="700" b="0" i="0">
                          <a:solidFill>
                            <a:srgbClr val="000000"/>
                          </a:solidFill>
                          <a:effectLst/>
                        </a:rPr>
                        <a:t>V0.9</a:t>
                      </a:r>
                      <a:r>
                        <a:rPr lang="zh-CN" altLang="en-US" sz="700" b="0" i="0">
                          <a:solidFill>
                            <a:srgbClr val="000000"/>
                          </a:solidFill>
                          <a:effectLst/>
                        </a:rPr>
                        <a:t>版本的子流程，</a:t>
                      </a:r>
                      <a:r>
                        <a:rPr lang="en-US" altLang="zh-CN" sz="700" b="0" i="0">
                          <a:solidFill>
                            <a:srgbClr val="000000"/>
                          </a:solidFill>
                          <a:effectLst/>
                        </a:rPr>
                        <a:t>40</a:t>
                      </a:r>
                      <a:r>
                        <a:rPr lang="zh-CN" altLang="en-US" sz="700" b="0" i="0">
                          <a:solidFill>
                            <a:srgbClr val="000000"/>
                          </a:solidFill>
                          <a:effectLst/>
                        </a:rPr>
                        <a:t>个</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a:t>
                      </a:r>
                      <a:r>
                        <a:rPr lang="en-US" altLang="zh-CN" sz="700" b="0" i="0">
                          <a:solidFill>
                            <a:srgbClr val="000000"/>
                          </a:solidFill>
                          <a:effectLst/>
                        </a:rPr>
                        <a:t>Q2</a:t>
                      </a:r>
                      <a:r>
                        <a:rPr lang="zh-CN" altLang="en-US" sz="700" b="0" i="0">
                          <a:solidFill>
                            <a:srgbClr val="000000"/>
                          </a:solidFill>
                          <a:effectLst/>
                        </a:rPr>
                        <a:t>发布</a:t>
                      </a:r>
                      <a:r>
                        <a:rPr lang="en-US" altLang="zh-CN" sz="700" b="0" i="0">
                          <a:solidFill>
                            <a:srgbClr val="000000"/>
                          </a:solidFill>
                          <a:effectLst/>
                        </a:rPr>
                        <a:t>V1.0</a:t>
                      </a:r>
                      <a:r>
                        <a:rPr lang="zh-CN" altLang="en-US" sz="700" b="0" i="0">
                          <a:solidFill>
                            <a:srgbClr val="000000"/>
                          </a:solidFill>
                          <a:effectLst/>
                        </a:rPr>
                        <a:t>版本的子流程，</a:t>
                      </a:r>
                      <a:r>
                        <a:rPr lang="en-US" altLang="zh-CN" sz="700" b="0" i="0">
                          <a:solidFill>
                            <a:srgbClr val="000000"/>
                          </a:solidFill>
                          <a:effectLst/>
                        </a:rPr>
                        <a:t>50</a:t>
                      </a:r>
                      <a:r>
                        <a:rPr lang="zh-CN" altLang="en-US" sz="700" b="0" i="0">
                          <a:solidFill>
                            <a:srgbClr val="000000"/>
                          </a:solidFill>
                          <a:effectLst/>
                        </a:rPr>
                        <a:t>个</a:t>
                      </a:r>
                      <a:br>
                        <a:rPr lang="zh-CN" altLang="en-US" sz="700" b="0" i="0">
                          <a:solidFill>
                            <a:srgbClr val="000000"/>
                          </a:solidFill>
                          <a:effectLst/>
                        </a:rPr>
                      </a:br>
                      <a:r>
                        <a:rPr lang="en-US" altLang="zh-CN" sz="700" b="0" i="0">
                          <a:solidFill>
                            <a:srgbClr val="000000"/>
                          </a:solidFill>
                          <a:effectLst/>
                        </a:rPr>
                        <a:t>3</a:t>
                      </a:r>
                      <a:r>
                        <a:rPr lang="zh-CN" altLang="en-US" sz="700" b="0" i="0">
                          <a:solidFill>
                            <a:srgbClr val="000000"/>
                          </a:solidFill>
                          <a:effectLst/>
                        </a:rPr>
                        <a:t>、</a:t>
                      </a:r>
                      <a:r>
                        <a:rPr lang="en-US" altLang="zh-CN" sz="700" b="0" i="0">
                          <a:solidFill>
                            <a:srgbClr val="000000"/>
                          </a:solidFill>
                          <a:effectLst/>
                        </a:rPr>
                        <a:t>Q3</a:t>
                      </a:r>
                      <a:r>
                        <a:rPr lang="zh-CN" altLang="en-US" sz="700" b="0" i="0">
                          <a:solidFill>
                            <a:srgbClr val="000000"/>
                          </a:solidFill>
                          <a:effectLst/>
                        </a:rPr>
                        <a:t>发布</a:t>
                      </a:r>
                      <a:r>
                        <a:rPr lang="en-US" altLang="zh-CN" sz="700" b="0" i="0">
                          <a:solidFill>
                            <a:srgbClr val="000000"/>
                          </a:solidFill>
                          <a:effectLst/>
                        </a:rPr>
                        <a:t>1.N</a:t>
                      </a:r>
                      <a:r>
                        <a:rPr lang="zh-CN" altLang="en-US" sz="700" b="0" i="0">
                          <a:solidFill>
                            <a:srgbClr val="000000"/>
                          </a:solidFill>
                          <a:effectLst/>
                        </a:rPr>
                        <a:t>版本迭代，</a:t>
                      </a:r>
                      <a:r>
                        <a:rPr lang="en-US" altLang="zh-CN" sz="700" b="0" i="0">
                          <a:solidFill>
                            <a:srgbClr val="000000"/>
                          </a:solidFill>
                          <a:effectLst/>
                        </a:rPr>
                        <a:t>20</a:t>
                      </a:r>
                      <a:r>
                        <a:rPr lang="zh-CN" altLang="en-US" sz="700" b="0" i="0">
                          <a:solidFill>
                            <a:srgbClr val="000000"/>
                          </a:solidFill>
                          <a:effectLst/>
                        </a:rPr>
                        <a:t>个</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algn="ctr" fontAlgn="ctr" latinLnBrk="0"/>
                      <a:endParaRPr lang="zh-CN" altLang="en-US" sz="700" b="0" i="0" dirty="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700" b="0" i="0" dirty="0">
                          <a:solidFill>
                            <a:srgbClr val="000000"/>
                          </a:solidFill>
                          <a:effectLst/>
                        </a:rPr>
                        <a:t>书立</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sz="700" b="0" i="0" dirty="0">
                          <a:solidFill>
                            <a:srgbClr val="000000"/>
                          </a:solidFill>
                          <a:effectLst/>
                        </a:rPr>
                        <a:t>PC，PO</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672635">
                <a:tc>
                  <a:txBody>
                    <a:bodyPr/>
                    <a:lstStyle/>
                    <a:p>
                      <a:pPr algn="ctr" fontAlgn="ctr" latinLnBrk="0"/>
                      <a:r>
                        <a:rPr lang="en-US" altLang="zh-CN" sz="700" b="0" i="0">
                          <a:solidFill>
                            <a:srgbClr val="000000"/>
                          </a:solidFill>
                          <a:effectLst/>
                        </a:rPr>
                        <a:t>2</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6">
                  <a:txBody>
                    <a:bodyPr/>
                    <a:lstStyle/>
                    <a:p>
                      <a:pPr algn="l" fontAlgn="ctr" latinLnBrk="0"/>
                      <a:r>
                        <a:rPr lang="en-US" altLang="zh-CN" sz="700" b="0" i="0">
                          <a:solidFill>
                            <a:srgbClr val="000000"/>
                          </a:solidFill>
                          <a:effectLst/>
                        </a:rPr>
                        <a:t>PO/PC</a:t>
                      </a:r>
                      <a:r>
                        <a:rPr lang="zh-CN" altLang="en-US" sz="700" b="0" i="0">
                          <a:solidFill>
                            <a:srgbClr val="000000"/>
                          </a:solidFill>
                          <a:effectLst/>
                        </a:rPr>
                        <a:t>选育留：</a:t>
                      </a:r>
                      <a:br>
                        <a:rPr lang="zh-CN" altLang="en-US" sz="700" b="0" i="0">
                          <a:solidFill>
                            <a:srgbClr val="000000"/>
                          </a:solidFill>
                          <a:effectLst/>
                        </a:rPr>
                      </a:br>
                      <a:r>
                        <a:rPr lang="en-US" altLang="zh-CN" sz="700" b="0" i="0">
                          <a:solidFill>
                            <a:srgbClr val="000000"/>
                          </a:solidFill>
                          <a:effectLst/>
                        </a:rPr>
                        <a:t>1</a:t>
                      </a:r>
                      <a:r>
                        <a:rPr lang="zh-CN" altLang="en-US" sz="700" b="0" i="0">
                          <a:solidFill>
                            <a:srgbClr val="000000"/>
                          </a:solidFill>
                          <a:effectLst/>
                        </a:rPr>
                        <a:t>、各级</a:t>
                      </a:r>
                      <a:r>
                        <a:rPr lang="en-US" altLang="zh-CN" sz="700" b="0" i="0">
                          <a:solidFill>
                            <a:srgbClr val="000000"/>
                          </a:solidFill>
                          <a:effectLst/>
                        </a:rPr>
                        <a:t>PO/PC</a:t>
                      </a:r>
                      <a:r>
                        <a:rPr lang="zh-CN" altLang="en-US" sz="700" b="0" i="0">
                          <a:solidFill>
                            <a:srgbClr val="000000"/>
                          </a:solidFill>
                          <a:effectLst/>
                        </a:rPr>
                        <a:t>的选育留，</a:t>
                      </a:r>
                      <a:r>
                        <a:rPr lang="en-US" altLang="zh-CN" sz="700" b="0" i="0">
                          <a:solidFill>
                            <a:srgbClr val="000000"/>
                          </a:solidFill>
                          <a:effectLst/>
                        </a:rPr>
                        <a:t>L2PO</a:t>
                      </a:r>
                      <a:r>
                        <a:rPr lang="zh-CN" altLang="en-US" sz="700" b="0" i="0">
                          <a:solidFill>
                            <a:srgbClr val="000000"/>
                          </a:solidFill>
                          <a:effectLst/>
                        </a:rPr>
                        <a:t>为业务主官，</a:t>
                      </a:r>
                      <a:r>
                        <a:rPr lang="en-US" altLang="zh-CN" sz="700" b="0" i="0">
                          <a:solidFill>
                            <a:srgbClr val="000000"/>
                          </a:solidFill>
                          <a:effectLst/>
                        </a:rPr>
                        <a:t>L3PO</a:t>
                      </a:r>
                      <a:r>
                        <a:rPr lang="zh-CN" altLang="en-US" sz="700" b="0" i="0">
                          <a:solidFill>
                            <a:srgbClr val="000000"/>
                          </a:solidFill>
                          <a:effectLst/>
                        </a:rPr>
                        <a:t>，由</a:t>
                      </a:r>
                      <a:r>
                        <a:rPr lang="en-US" altLang="zh-CN" sz="700" b="0" i="0">
                          <a:solidFill>
                            <a:srgbClr val="000000"/>
                          </a:solidFill>
                          <a:effectLst/>
                        </a:rPr>
                        <a:t>L2PO</a:t>
                      </a:r>
                      <a:r>
                        <a:rPr lang="zh-CN" altLang="en-US" sz="700" b="0" i="0">
                          <a:solidFill>
                            <a:srgbClr val="000000"/>
                          </a:solidFill>
                          <a:effectLst/>
                        </a:rPr>
                        <a:t>挑选“优秀的业务专家”。建立各级</a:t>
                      </a:r>
                      <a:r>
                        <a:rPr lang="en-US" altLang="zh-CN" sz="700" b="0" i="0">
                          <a:solidFill>
                            <a:srgbClr val="000000"/>
                          </a:solidFill>
                          <a:effectLst/>
                        </a:rPr>
                        <a:t>PO</a:t>
                      </a:r>
                      <a:r>
                        <a:rPr lang="zh-CN" altLang="en-US" sz="700" b="0" i="0">
                          <a:solidFill>
                            <a:srgbClr val="000000"/>
                          </a:solidFill>
                          <a:effectLst/>
                        </a:rPr>
                        <a:t>，</a:t>
                      </a:r>
                      <a:r>
                        <a:rPr lang="en-US" altLang="zh-CN" sz="700" b="0" i="0">
                          <a:solidFill>
                            <a:srgbClr val="000000"/>
                          </a:solidFill>
                          <a:effectLst/>
                        </a:rPr>
                        <a:t>PC</a:t>
                      </a:r>
                      <a:r>
                        <a:rPr lang="zh-CN" altLang="en-US" sz="700" b="0" i="0">
                          <a:solidFill>
                            <a:srgbClr val="000000"/>
                          </a:solidFill>
                          <a:effectLst/>
                        </a:rPr>
                        <a:t>，项目组成员的角色澄清，责权利，评价，激励机制。确保流程参与人的意愿、动力和荣誉感。季度，年度对做出突出贡献的</a:t>
                      </a:r>
                      <a:r>
                        <a:rPr lang="en-US" altLang="zh-CN" sz="700" b="0" i="0">
                          <a:solidFill>
                            <a:srgbClr val="000000"/>
                          </a:solidFill>
                          <a:effectLst/>
                        </a:rPr>
                        <a:t>PO</a:t>
                      </a:r>
                      <a:r>
                        <a:rPr lang="zh-CN" altLang="en-US" sz="700" b="0" i="0">
                          <a:solidFill>
                            <a:srgbClr val="000000"/>
                          </a:solidFill>
                          <a:effectLst/>
                        </a:rPr>
                        <a:t>，设置大奖励。</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、导入流程建设的方法论，锁定业务流程绩效指标，以结果为导向，促进</a:t>
                      </a:r>
                      <a:r>
                        <a:rPr lang="en-US" altLang="zh-CN" sz="700" b="0" i="0">
                          <a:solidFill>
                            <a:srgbClr val="000000"/>
                          </a:solidFill>
                          <a:effectLst/>
                        </a:rPr>
                        <a:t>PO</a:t>
                      </a:r>
                      <a:r>
                        <a:rPr lang="zh-CN" altLang="en-US" sz="700" b="0" i="0">
                          <a:solidFill>
                            <a:srgbClr val="000000"/>
                          </a:solidFill>
                          <a:effectLst/>
                        </a:rPr>
                        <a:t>，对业务改善担责的角色转变，培养</a:t>
                      </a:r>
                      <a:r>
                        <a:rPr lang="en-US" altLang="zh-CN" sz="700" b="0" i="0">
                          <a:solidFill>
                            <a:srgbClr val="000000"/>
                          </a:solidFill>
                          <a:effectLst/>
                        </a:rPr>
                        <a:t>PO</a:t>
                      </a:r>
                      <a:r>
                        <a:rPr lang="zh-CN" altLang="en-US" sz="700" b="0" i="0">
                          <a:solidFill>
                            <a:srgbClr val="000000"/>
                          </a:solidFill>
                          <a:effectLst/>
                        </a:rPr>
                        <a:t>业务梳理，定位问题，改善业务，并通过固化业务流程，推行业务流程来达成业务绩效指标的能力。</a:t>
                      </a:r>
                      <a:br>
                        <a:rPr lang="zh-CN" altLang="en-US" sz="700" b="0" i="0">
                          <a:solidFill>
                            <a:srgbClr val="000000"/>
                          </a:solidFill>
                          <a:effectLst/>
                        </a:rPr>
                      </a:br>
                      <a:r>
                        <a:rPr lang="en-US" altLang="zh-CN" sz="700" b="0" i="0">
                          <a:solidFill>
                            <a:srgbClr val="000000"/>
                          </a:solidFill>
                          <a:effectLst/>
                        </a:rPr>
                        <a:t>3</a:t>
                      </a:r>
                      <a:r>
                        <a:rPr lang="zh-CN" altLang="en-US" sz="700" b="0" i="0">
                          <a:solidFill>
                            <a:srgbClr val="000000"/>
                          </a:solidFill>
                          <a:effectLst/>
                        </a:rPr>
                        <a:t>、建立流程建设的专业支撑团队，辅助流程</a:t>
                      </a:r>
                      <a:r>
                        <a:rPr lang="en-US" altLang="zh-CN" sz="700" b="0" i="0">
                          <a:solidFill>
                            <a:srgbClr val="000000"/>
                          </a:solidFill>
                          <a:effectLst/>
                        </a:rPr>
                        <a:t>PO</a:t>
                      </a:r>
                      <a:r>
                        <a:rPr lang="zh-CN" altLang="en-US" sz="700" b="0" i="0">
                          <a:solidFill>
                            <a:srgbClr val="000000"/>
                          </a:solidFill>
                          <a:effectLst/>
                        </a:rPr>
                        <a:t>开展流程建设和管理。</a:t>
                      </a:r>
                      <a:br>
                        <a:rPr lang="zh-CN" altLang="en-US" sz="700" b="0" i="0">
                          <a:solidFill>
                            <a:srgbClr val="000000"/>
                          </a:solidFill>
                          <a:effectLst/>
                        </a:rPr>
                      </a:br>
                      <a:r>
                        <a:rPr lang="en-US" altLang="zh-CN" sz="700" b="0" i="0">
                          <a:solidFill>
                            <a:srgbClr val="000000"/>
                          </a:solidFill>
                          <a:effectLst/>
                        </a:rPr>
                        <a:t>4</a:t>
                      </a:r>
                      <a:r>
                        <a:rPr lang="zh-CN" altLang="en-US" sz="700" b="0" i="0">
                          <a:solidFill>
                            <a:srgbClr val="000000"/>
                          </a:solidFill>
                          <a:effectLst/>
                        </a:rPr>
                        <a:t>、打造部门的流程文化，提升全员的流程遵从和敬畏的意识。包含：全流程意识、以客户为中心的意识、团队协同意识、效率意识、创新意识等。</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pPr algn="l"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pPr algn="ctr" fontAlgn="ctr" latinLnBrk="0"/>
                      <a:endParaRPr lang="zh-CN" altLang="en-US" sz="700" b="1"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algn="ctr" fontAlgn="ctr" latinLnBrk="0"/>
                      <a:r>
                        <a:rPr lang="en-US" sz="700" b="1" i="0" dirty="0">
                          <a:solidFill>
                            <a:srgbClr val="000000"/>
                          </a:solidFill>
                          <a:effectLst/>
                        </a:rPr>
                        <a:t>PO/PC</a:t>
                      </a:r>
                      <a:r>
                        <a:rPr lang="zh-CN" altLang="en-US" sz="700" b="1" i="0" dirty="0">
                          <a:solidFill>
                            <a:srgbClr val="000000"/>
                          </a:solidFill>
                          <a:effectLst/>
                        </a:rPr>
                        <a:t>选育留</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algn="l"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algn="l" fontAlgn="ctr" latinLnBrk="0"/>
                      <a:r>
                        <a:rPr lang="en-US" altLang="zh-CN" sz="700" b="0" i="0">
                          <a:solidFill>
                            <a:srgbClr val="000000"/>
                          </a:solidFill>
                          <a:effectLst/>
                        </a:rPr>
                        <a:t>1</a:t>
                      </a:r>
                      <a:r>
                        <a:rPr lang="zh-CN" altLang="en-US" sz="700" b="0" i="0">
                          <a:solidFill>
                            <a:srgbClr val="000000"/>
                          </a:solidFill>
                          <a:effectLst/>
                        </a:rPr>
                        <a:t>、合格</a:t>
                      </a:r>
                      <a:r>
                        <a:rPr lang="en-US" altLang="zh-CN" sz="700" b="0" i="0">
                          <a:solidFill>
                            <a:srgbClr val="000000"/>
                          </a:solidFill>
                          <a:effectLst/>
                        </a:rPr>
                        <a:t>L2-PO</a:t>
                      </a:r>
                      <a:r>
                        <a:rPr lang="zh-CN" altLang="en-US" sz="700" b="0" i="0">
                          <a:solidFill>
                            <a:srgbClr val="000000"/>
                          </a:solidFill>
                          <a:effectLst/>
                        </a:rPr>
                        <a:t>的占比</a:t>
                      </a:r>
                      <a:r>
                        <a:rPr lang="en-US" altLang="zh-CN" sz="700" b="0" i="0">
                          <a:solidFill>
                            <a:srgbClr val="000000"/>
                          </a:solidFill>
                          <a:effectLst/>
                        </a:rPr>
                        <a:t>:70%</a:t>
                      </a:r>
                      <a:r>
                        <a:rPr lang="zh-CN" altLang="en-US" sz="700" b="0" i="0">
                          <a:solidFill>
                            <a:srgbClr val="000000"/>
                          </a:solidFill>
                          <a:effectLst/>
                        </a:rPr>
                        <a:t>（对</a:t>
                      </a:r>
                      <a:r>
                        <a:rPr lang="en-US" altLang="zh-CN" sz="700" b="0" i="0">
                          <a:solidFill>
                            <a:srgbClr val="000000"/>
                          </a:solidFill>
                          <a:effectLst/>
                        </a:rPr>
                        <a:t>PO</a:t>
                      </a:r>
                      <a:r>
                        <a:rPr lang="zh-CN" altLang="en-US" sz="700" b="0" i="0">
                          <a:solidFill>
                            <a:srgbClr val="000000"/>
                          </a:solidFill>
                          <a:effectLst/>
                        </a:rPr>
                        <a:t>的流程工作的评价</a:t>
                      </a:r>
                      <a:r>
                        <a:rPr lang="en-US" altLang="zh-CN" sz="700" b="0" i="0">
                          <a:solidFill>
                            <a:srgbClr val="000000"/>
                          </a:solidFill>
                          <a:effectLst/>
                        </a:rPr>
                        <a:t>7</a:t>
                      </a:r>
                      <a:r>
                        <a:rPr lang="zh-CN" altLang="en-US" sz="700" b="0" i="0">
                          <a:solidFill>
                            <a:srgbClr val="000000"/>
                          </a:solidFill>
                          <a:effectLst/>
                        </a:rPr>
                        <a:t>分以上）</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、合格</a:t>
                      </a:r>
                      <a:r>
                        <a:rPr lang="en-US" altLang="zh-CN" sz="700" b="0" i="0">
                          <a:solidFill>
                            <a:srgbClr val="000000"/>
                          </a:solidFill>
                          <a:effectLst/>
                        </a:rPr>
                        <a:t>PC</a:t>
                      </a:r>
                      <a:r>
                        <a:rPr lang="zh-CN" altLang="en-US" sz="700" b="0" i="0">
                          <a:solidFill>
                            <a:srgbClr val="000000"/>
                          </a:solidFill>
                          <a:effectLst/>
                        </a:rPr>
                        <a:t>的占比：</a:t>
                      </a:r>
                      <a:r>
                        <a:rPr lang="en-US" altLang="zh-CN" sz="700" b="0" i="0">
                          <a:solidFill>
                            <a:srgbClr val="000000"/>
                          </a:solidFill>
                          <a:effectLst/>
                        </a:rPr>
                        <a:t>70%</a:t>
                      </a:r>
                      <a:r>
                        <a:rPr lang="zh-CN" altLang="en-US" sz="700" b="0" i="0">
                          <a:solidFill>
                            <a:srgbClr val="000000"/>
                          </a:solidFill>
                          <a:effectLst/>
                        </a:rPr>
                        <a:t>（</a:t>
                      </a:r>
                      <a:r>
                        <a:rPr lang="en-US" altLang="zh-CN" sz="700" b="0" i="0">
                          <a:solidFill>
                            <a:srgbClr val="000000"/>
                          </a:solidFill>
                          <a:effectLst/>
                        </a:rPr>
                        <a:t>L2</a:t>
                      </a:r>
                      <a:r>
                        <a:rPr lang="zh-CN" altLang="en-US" sz="700" b="0" i="0">
                          <a:solidFill>
                            <a:srgbClr val="000000"/>
                          </a:solidFill>
                          <a:effectLst/>
                        </a:rPr>
                        <a:t>的</a:t>
                      </a:r>
                      <a:r>
                        <a:rPr lang="en-US" altLang="zh-CN" sz="700" b="0" i="0">
                          <a:solidFill>
                            <a:srgbClr val="000000"/>
                          </a:solidFill>
                          <a:effectLst/>
                        </a:rPr>
                        <a:t>PO</a:t>
                      </a:r>
                      <a:r>
                        <a:rPr lang="zh-CN" altLang="en-US" sz="700" b="0" i="0">
                          <a:solidFill>
                            <a:srgbClr val="000000"/>
                          </a:solidFill>
                          <a:effectLst/>
                        </a:rPr>
                        <a:t>对</a:t>
                      </a:r>
                      <a:r>
                        <a:rPr lang="en-US" altLang="zh-CN" sz="700" b="0" i="0">
                          <a:solidFill>
                            <a:srgbClr val="000000"/>
                          </a:solidFill>
                          <a:effectLst/>
                        </a:rPr>
                        <a:t>PC</a:t>
                      </a:r>
                      <a:r>
                        <a:rPr lang="zh-CN" altLang="en-US" sz="700" b="0" i="0">
                          <a:solidFill>
                            <a:srgbClr val="000000"/>
                          </a:solidFill>
                          <a:effectLst/>
                        </a:rPr>
                        <a:t>的满意度评价</a:t>
                      </a:r>
                      <a:r>
                        <a:rPr lang="en-US" altLang="zh-CN" sz="700" b="0" i="0">
                          <a:solidFill>
                            <a:srgbClr val="000000"/>
                          </a:solidFill>
                          <a:effectLst/>
                        </a:rPr>
                        <a:t>7</a:t>
                      </a:r>
                      <a:r>
                        <a:rPr lang="zh-CN" altLang="en-US" sz="700" b="0" i="0">
                          <a:solidFill>
                            <a:srgbClr val="000000"/>
                          </a:solidFill>
                          <a:effectLst/>
                        </a:rPr>
                        <a:t>分以上）</a:t>
                      </a:r>
                      <a:br>
                        <a:rPr lang="zh-CN" altLang="en-US" sz="700" b="0" i="0">
                          <a:solidFill>
                            <a:srgbClr val="000000"/>
                          </a:solidFill>
                          <a:effectLst/>
                        </a:rPr>
                      </a:br>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algn="ctr"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700" b="0" i="0">
                          <a:solidFill>
                            <a:srgbClr val="000000"/>
                          </a:solidFill>
                          <a:effectLst/>
                        </a:rPr>
                        <a:t>海滨</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700" b="0" i="0">
                          <a:solidFill>
                            <a:srgbClr val="000000"/>
                          </a:solidFill>
                          <a:effectLst/>
                        </a:rPr>
                        <a:t>韩闯，于梦</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1046341">
                <a:tc>
                  <a:txBody>
                    <a:bodyPr/>
                    <a:lstStyle/>
                    <a:p>
                      <a:pPr algn="ctr" fontAlgn="ctr" latinLnBrk="0"/>
                      <a:r>
                        <a:rPr lang="en-US" altLang="zh-CN" sz="700" b="0" i="0">
                          <a:solidFill>
                            <a:srgbClr val="000000"/>
                          </a:solidFill>
                          <a:effectLst/>
                        </a:rPr>
                        <a:t>3</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6">
                  <a:txBody>
                    <a:bodyPr/>
                    <a:lstStyle/>
                    <a:p>
                      <a:pPr algn="l" fontAlgn="ctr" latinLnBrk="0"/>
                      <a:r>
                        <a:rPr lang="zh-CN" altLang="en-US" sz="700" b="0" i="0">
                          <a:solidFill>
                            <a:srgbClr val="000000"/>
                          </a:solidFill>
                          <a:effectLst/>
                        </a:rPr>
                        <a:t>推进岗位标准化持续改善：</a:t>
                      </a:r>
                      <a:br>
                        <a:rPr lang="zh-CN" altLang="en-US" sz="700" b="0" i="0">
                          <a:solidFill>
                            <a:srgbClr val="000000"/>
                          </a:solidFill>
                          <a:effectLst/>
                        </a:rPr>
                      </a:br>
                      <a:r>
                        <a:rPr lang="en-US" altLang="zh-CN" sz="700" b="0" i="0">
                          <a:solidFill>
                            <a:srgbClr val="000000"/>
                          </a:solidFill>
                          <a:effectLst/>
                        </a:rPr>
                        <a:t>1</a:t>
                      </a:r>
                      <a:r>
                        <a:rPr lang="zh-CN" altLang="en-US" sz="700" b="0" i="0">
                          <a:solidFill>
                            <a:srgbClr val="000000"/>
                          </a:solidFill>
                          <a:effectLst/>
                        </a:rPr>
                        <a:t>、确保优秀实践认证的目标责任到人，责任到部门，切实落地。</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、联合各岗位教练，成立专项组，管理和指导一线管理者把工时分析和人效分析持续开展起来。</a:t>
                      </a:r>
                      <a:br>
                        <a:rPr lang="zh-CN" altLang="en-US" sz="700" b="0" i="0">
                          <a:solidFill>
                            <a:srgbClr val="000000"/>
                          </a:solidFill>
                          <a:effectLst/>
                        </a:rPr>
                      </a:br>
                      <a:r>
                        <a:rPr lang="en-US" altLang="zh-CN" sz="700" b="0" i="0">
                          <a:solidFill>
                            <a:srgbClr val="000000"/>
                          </a:solidFill>
                          <a:effectLst/>
                        </a:rPr>
                        <a:t>3</a:t>
                      </a:r>
                      <a:r>
                        <a:rPr lang="zh-CN" altLang="en-US" sz="700" b="0" i="0">
                          <a:solidFill>
                            <a:srgbClr val="000000"/>
                          </a:solidFill>
                          <a:effectLst/>
                        </a:rPr>
                        <a:t>、联合公司岗标教练，给一线管理者持续赋能，培训方法、分享公司认可的优秀实践。</a:t>
                      </a:r>
                      <a:br>
                        <a:rPr lang="zh-CN" altLang="en-US" sz="700" b="0" i="0">
                          <a:solidFill>
                            <a:srgbClr val="000000"/>
                          </a:solidFill>
                          <a:effectLst/>
                        </a:rPr>
                      </a:br>
                      <a:r>
                        <a:rPr lang="zh-CN" altLang="en-US" sz="700" b="0" i="0">
                          <a:solidFill>
                            <a:srgbClr val="000000"/>
                          </a:solidFill>
                          <a:effectLst/>
                        </a:rPr>
                        <a:t>流程落岗标：</a:t>
                      </a:r>
                      <a:br>
                        <a:rPr lang="zh-CN" altLang="en-US" sz="700" b="0" i="0">
                          <a:solidFill>
                            <a:srgbClr val="000000"/>
                          </a:solidFill>
                          <a:effectLst/>
                        </a:rPr>
                      </a:br>
                      <a:r>
                        <a:rPr lang="en-US" altLang="zh-CN" sz="700" b="0" i="0">
                          <a:solidFill>
                            <a:srgbClr val="000000"/>
                          </a:solidFill>
                          <a:effectLst/>
                        </a:rPr>
                        <a:t>1</a:t>
                      </a:r>
                      <a:r>
                        <a:rPr lang="zh-CN" altLang="en-US" sz="700" b="0" i="0">
                          <a:solidFill>
                            <a:srgbClr val="000000"/>
                          </a:solidFill>
                          <a:effectLst/>
                        </a:rPr>
                        <a:t>、确保流程工作在岗位任务中有承接设计：流程推行批准后，从流程组搜集对各岗位要执行任务的需求，组织岗位的标准化教练对齐需求，审视在目前的职责任务中是否已经要求到位，如果有缺失，需要重构职责任务，跟业务主管一起在部门内发布推行，进行必要的培训赋能</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确保各岗位人员投入足够的时间在执行核心任务：开展关键岗位的工时分析，组织教练审视一线执行者是否投入了足够的时间执行关键任务和更新后的任务，识别出问题，跟业务主管一起制定改善计划推进改善，确保各岗位员工投入足够的时间做正确的事情</a:t>
                      </a:r>
                      <a:br>
                        <a:rPr lang="zh-CN" altLang="en-US" sz="700" b="0" i="0">
                          <a:solidFill>
                            <a:srgbClr val="000000"/>
                          </a:solidFill>
                          <a:effectLst/>
                        </a:rPr>
                      </a:br>
                      <a:r>
                        <a:rPr lang="en-US" altLang="zh-CN" sz="700" b="0" i="0">
                          <a:solidFill>
                            <a:srgbClr val="000000"/>
                          </a:solidFill>
                          <a:effectLst/>
                        </a:rPr>
                        <a:t>3</a:t>
                      </a:r>
                      <a:r>
                        <a:rPr lang="zh-CN" altLang="en-US" sz="700" b="0" i="0">
                          <a:solidFill>
                            <a:srgbClr val="000000"/>
                          </a:solidFill>
                          <a:effectLst/>
                        </a:rPr>
                        <a:t>、确保各岗位人员在关键任务上能做到预期的业务结果：开展关键岗位的人效分析，组织教练审视一线执行者在关键任务上的执行结果是否达到预期，有差距原因是什么，从流程设计、赋能、执行的角度来看要如何改善，推进流程优化，推进业务主管做业务改善</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pPr algn="l"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pPr algn="ctr" fontAlgn="ctr" latinLnBrk="0"/>
                      <a:endParaRPr lang="zh-CN" altLang="en-US" sz="700" b="1"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algn="ctr" fontAlgn="ctr" latinLnBrk="0"/>
                      <a:r>
                        <a:rPr lang="zh-CN" altLang="en-US" sz="700" b="1" i="0" dirty="0">
                          <a:solidFill>
                            <a:srgbClr val="000000"/>
                          </a:solidFill>
                          <a:effectLst/>
                        </a:rPr>
                        <a:t>落实岗位工作标准化</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algn="l"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2">
                  <a:txBody>
                    <a:bodyPr/>
                    <a:lstStyle/>
                    <a:p>
                      <a:pPr algn="l" fontAlgn="ctr" latinLnBrk="0"/>
                      <a:r>
                        <a:rPr lang="en-US" altLang="zh-CN" sz="700" b="0" i="0">
                          <a:solidFill>
                            <a:srgbClr val="000000"/>
                          </a:solidFill>
                          <a:effectLst/>
                        </a:rPr>
                        <a:t>1</a:t>
                      </a:r>
                      <a:r>
                        <a:rPr lang="zh-CN" altLang="en-US" sz="700" b="0" i="0">
                          <a:solidFill>
                            <a:srgbClr val="000000"/>
                          </a:solidFill>
                          <a:effectLst/>
                        </a:rPr>
                        <a:t>、通过公司评审的岗位标准化优秀实践案例，</a:t>
                      </a:r>
                      <a:r>
                        <a:rPr lang="en-US" altLang="zh-CN" sz="700" b="0" i="0">
                          <a:solidFill>
                            <a:srgbClr val="000000"/>
                          </a:solidFill>
                          <a:effectLst/>
                        </a:rPr>
                        <a:t>30</a:t>
                      </a:r>
                      <a:r>
                        <a:rPr lang="zh-CN" altLang="en-US" sz="700" b="0" i="0">
                          <a:solidFill>
                            <a:srgbClr val="000000"/>
                          </a:solidFill>
                          <a:effectLst/>
                        </a:rPr>
                        <a:t>个。</a:t>
                      </a:r>
                      <a:br>
                        <a:rPr lang="zh-CN" altLang="en-US" sz="700" b="0" i="0">
                          <a:solidFill>
                            <a:srgbClr val="000000"/>
                          </a:solidFill>
                          <a:effectLst/>
                        </a:rPr>
                      </a:br>
                      <a:r>
                        <a:rPr lang="en-US" altLang="zh-CN" sz="700" b="0" i="0">
                          <a:solidFill>
                            <a:srgbClr val="000000"/>
                          </a:solidFill>
                          <a:effectLst/>
                        </a:rPr>
                        <a:t>2</a:t>
                      </a:r>
                      <a:r>
                        <a:rPr lang="zh-CN" altLang="en-US" sz="700" b="0" i="0">
                          <a:solidFill>
                            <a:srgbClr val="000000"/>
                          </a:solidFill>
                          <a:effectLst/>
                        </a:rPr>
                        <a:t>、通过部门评审的流程落岗标职责任务卡的岗位：</a:t>
                      </a:r>
                      <a:r>
                        <a:rPr lang="en-US" altLang="zh-CN" sz="700" b="0" i="0">
                          <a:solidFill>
                            <a:srgbClr val="000000"/>
                          </a:solidFill>
                          <a:effectLst/>
                        </a:rPr>
                        <a:t>20</a:t>
                      </a:r>
                      <a:r>
                        <a:rPr lang="zh-CN" altLang="en-US" sz="700" b="0" i="0">
                          <a:solidFill>
                            <a:srgbClr val="000000"/>
                          </a:solidFill>
                          <a:effectLst/>
                        </a:rPr>
                        <a:t>个岗位</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pPr algn="ctr" fontAlgn="ctr" latinLnBrk="0"/>
                      <a:endParaRPr lang="zh-CN" altLang="en-US" sz="700" b="0"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700" b="0" i="0">
                          <a:solidFill>
                            <a:srgbClr val="000000"/>
                          </a:solidFill>
                          <a:effectLst/>
                        </a:rPr>
                        <a:t>隋媛</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700" b="0" i="0">
                          <a:solidFill>
                            <a:srgbClr val="000000"/>
                          </a:solidFill>
                          <a:effectLst/>
                        </a:rPr>
                        <a:t>张起强、余育淦、刘海波、马勇、叶永军、李炳泉、林东</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112075">
                <a:tc gridSpan="7">
                  <a:txBody>
                    <a:bodyPr/>
                    <a:lstStyle/>
                    <a:p>
                      <a:pPr algn="ctr" fontAlgn="ctr" latinLnBrk="0"/>
                      <a:r>
                        <a:rPr lang="zh-CN" altLang="en-US" sz="700" b="1" i="0">
                          <a:solidFill>
                            <a:srgbClr val="000000"/>
                          </a:solidFill>
                          <a:effectLst/>
                        </a:rPr>
                        <a:t>项目的关键成功要素</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9F3F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fontAlgn="ctr" latinLnBrk="0"/>
                      <a:endParaRPr lang="zh-CN" altLang="en-US" sz="700" b="1" i="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9F3FD"/>
                    </a:solidFill>
                  </a:tcPr>
                </a:tc>
                <a:tc gridSpan="6">
                  <a:txBody>
                    <a:bodyPr/>
                    <a:lstStyle/>
                    <a:p>
                      <a:pPr algn="ctr" fontAlgn="ctr" latinLnBrk="0"/>
                      <a:r>
                        <a:rPr lang="zh-CN" altLang="en-US" sz="700" b="1" i="0">
                          <a:solidFill>
                            <a:srgbClr val="000000"/>
                          </a:solidFill>
                          <a:effectLst/>
                        </a:rPr>
                        <a:t>项目所需的资源</a:t>
                      </a:r>
                      <a:r>
                        <a:rPr lang="en-US" altLang="zh-CN" sz="700" b="1" i="0">
                          <a:solidFill>
                            <a:srgbClr val="000000"/>
                          </a:solidFill>
                          <a:effectLst/>
                        </a:rPr>
                        <a:t>/</a:t>
                      </a:r>
                      <a:r>
                        <a:rPr lang="zh-CN" altLang="en-US" sz="700" b="1" i="0">
                          <a:solidFill>
                            <a:srgbClr val="000000"/>
                          </a:solidFill>
                          <a:effectLst/>
                        </a:rPr>
                        <a:t>可能的风险</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9F3F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85782">
                <a:tc gridSpan="7">
                  <a:txBody>
                    <a:bodyPr/>
                    <a:lstStyle/>
                    <a:p>
                      <a:pPr algn="l" fontAlgn="ctr" latinLnBrk="0"/>
                      <a:r>
                        <a:rPr lang="en-US" altLang="zh-CN" sz="700" b="0" i="0" dirty="0">
                          <a:solidFill>
                            <a:srgbClr val="000000"/>
                          </a:solidFill>
                          <a:effectLst/>
                        </a:rPr>
                        <a:t>1</a:t>
                      </a:r>
                      <a:r>
                        <a:rPr lang="zh-CN" altLang="en-US" sz="700" b="0" i="0" dirty="0">
                          <a:solidFill>
                            <a:srgbClr val="000000"/>
                          </a:solidFill>
                          <a:effectLst/>
                        </a:rPr>
                        <a:t>、</a:t>
                      </a:r>
                      <a:r>
                        <a:rPr lang="en-US" altLang="zh-CN" sz="700" b="0" i="0" dirty="0">
                          <a:solidFill>
                            <a:srgbClr val="000000"/>
                          </a:solidFill>
                          <a:effectLst/>
                        </a:rPr>
                        <a:t>PO</a:t>
                      </a:r>
                      <a:r>
                        <a:rPr lang="zh-CN" altLang="en-US" sz="700" b="0" i="0" dirty="0">
                          <a:solidFill>
                            <a:srgbClr val="000000"/>
                          </a:solidFill>
                          <a:effectLst/>
                        </a:rPr>
                        <a:t>：选择最合适的流程</a:t>
                      </a:r>
                      <a:r>
                        <a:rPr lang="en-US" altLang="zh-CN" sz="700" b="0" i="0" dirty="0">
                          <a:solidFill>
                            <a:srgbClr val="000000"/>
                          </a:solidFill>
                          <a:effectLst/>
                        </a:rPr>
                        <a:t>PO</a:t>
                      </a:r>
                      <a:r>
                        <a:rPr lang="zh-CN" altLang="en-US" sz="700" b="0" i="0" dirty="0">
                          <a:solidFill>
                            <a:srgbClr val="000000"/>
                          </a:solidFill>
                          <a:effectLst/>
                        </a:rPr>
                        <a:t>和团队成员，能够有投入，有价值贡献。</a:t>
                      </a:r>
                      <a:br>
                        <a:rPr lang="zh-CN" altLang="en-US" sz="700" b="0" i="0" dirty="0">
                          <a:solidFill>
                            <a:srgbClr val="000000"/>
                          </a:solidFill>
                          <a:effectLst/>
                        </a:rPr>
                      </a:br>
                      <a:r>
                        <a:rPr lang="en-US" altLang="zh-CN" sz="700" b="0" i="0" dirty="0">
                          <a:solidFill>
                            <a:srgbClr val="000000"/>
                          </a:solidFill>
                          <a:effectLst/>
                        </a:rPr>
                        <a:t>2</a:t>
                      </a:r>
                      <a:r>
                        <a:rPr lang="zh-CN" altLang="en-US" sz="700" b="0" i="0" dirty="0">
                          <a:solidFill>
                            <a:srgbClr val="000000"/>
                          </a:solidFill>
                          <a:effectLst/>
                        </a:rPr>
                        <a:t>、</a:t>
                      </a:r>
                      <a:r>
                        <a:rPr lang="en-US" altLang="zh-CN" sz="700" b="0" i="0" dirty="0">
                          <a:solidFill>
                            <a:srgbClr val="000000"/>
                          </a:solidFill>
                          <a:effectLst/>
                        </a:rPr>
                        <a:t>PC</a:t>
                      </a:r>
                      <a:r>
                        <a:rPr lang="zh-CN" altLang="en-US" sz="700" b="0" i="0" dirty="0">
                          <a:solidFill>
                            <a:srgbClr val="000000"/>
                          </a:solidFill>
                          <a:effectLst/>
                        </a:rPr>
                        <a:t>：有专业，强有力的流程专家支撑。</a:t>
                      </a:r>
                      <a:br>
                        <a:rPr lang="zh-CN" altLang="en-US" sz="700" b="0" i="0" dirty="0">
                          <a:solidFill>
                            <a:srgbClr val="000000"/>
                          </a:solidFill>
                          <a:effectLst/>
                        </a:rPr>
                      </a:br>
                      <a:r>
                        <a:rPr lang="en-US" altLang="zh-CN" sz="700" b="0" i="0" dirty="0">
                          <a:solidFill>
                            <a:srgbClr val="000000"/>
                          </a:solidFill>
                          <a:effectLst/>
                        </a:rPr>
                        <a:t>3</a:t>
                      </a:r>
                      <a:r>
                        <a:rPr lang="zh-CN" altLang="en-US" sz="700" b="0" i="0" dirty="0">
                          <a:solidFill>
                            <a:srgbClr val="000000"/>
                          </a:solidFill>
                          <a:effectLst/>
                        </a:rPr>
                        <a:t>、全员流程意识和文化的形成</a:t>
                      </a:r>
                      <a:br>
                        <a:rPr lang="zh-CN" altLang="en-US" sz="700" b="0" i="0" dirty="0">
                          <a:solidFill>
                            <a:srgbClr val="000000"/>
                          </a:solidFill>
                          <a:effectLst/>
                        </a:rPr>
                      </a:br>
                      <a:r>
                        <a:rPr lang="en-US" altLang="zh-CN" sz="700" b="0" i="0" dirty="0">
                          <a:solidFill>
                            <a:srgbClr val="000000"/>
                          </a:solidFill>
                          <a:effectLst/>
                        </a:rPr>
                        <a:t>4</a:t>
                      </a:r>
                      <a:r>
                        <a:rPr lang="zh-CN" altLang="en-US" sz="700" b="0" i="0" dirty="0">
                          <a:solidFill>
                            <a:srgbClr val="000000"/>
                          </a:solidFill>
                          <a:effectLst/>
                        </a:rPr>
                        <a:t>、流程建设可以被管理，可视化，可管理、可评价</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l" fontAlgn="ctr" latinLnBrk="0"/>
                      <a:endParaRPr lang="zh-CN" altLang="en-US" sz="700" b="0" i="0" dirty="0">
                        <a:solidFill>
                          <a:srgbClr val="000000"/>
                        </a:solidFill>
                        <a:effectLst/>
                      </a:endParaRP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gridSpan="6">
                  <a:txBody>
                    <a:bodyPr/>
                    <a:lstStyle/>
                    <a:p>
                      <a:pPr algn="l" fontAlgn="ctr" latinLnBrk="0"/>
                      <a:r>
                        <a:rPr lang="zh-CN" altLang="en-US" sz="700" b="0" i="0" dirty="0">
                          <a:solidFill>
                            <a:srgbClr val="000000"/>
                          </a:solidFill>
                          <a:effectLst/>
                        </a:rPr>
                        <a:t>资源：</a:t>
                      </a:r>
                      <a:br>
                        <a:rPr lang="zh-CN" altLang="en-US" sz="700" b="0" i="0" dirty="0">
                          <a:solidFill>
                            <a:srgbClr val="000000"/>
                          </a:solidFill>
                          <a:effectLst/>
                        </a:rPr>
                      </a:br>
                      <a:r>
                        <a:rPr lang="en-US" altLang="zh-CN" sz="700" b="0" i="0" dirty="0">
                          <a:solidFill>
                            <a:srgbClr val="000000"/>
                          </a:solidFill>
                          <a:effectLst/>
                        </a:rPr>
                        <a:t>1</a:t>
                      </a:r>
                      <a:r>
                        <a:rPr lang="zh-CN" altLang="en-US" sz="700" b="0" i="0" dirty="0">
                          <a:solidFill>
                            <a:srgbClr val="000000"/>
                          </a:solidFill>
                          <a:effectLst/>
                        </a:rPr>
                        <a:t>、计划引进标杆经验所需的专家费、咨询费</a:t>
                      </a:r>
                      <a:br>
                        <a:rPr lang="zh-CN" altLang="en-US" sz="700" b="0" i="0" dirty="0">
                          <a:solidFill>
                            <a:srgbClr val="000000"/>
                          </a:solidFill>
                          <a:effectLst/>
                        </a:rPr>
                      </a:br>
                      <a:r>
                        <a:rPr lang="en-US" altLang="zh-CN" sz="700" b="0" i="0" dirty="0">
                          <a:solidFill>
                            <a:srgbClr val="000000"/>
                          </a:solidFill>
                          <a:effectLst/>
                        </a:rPr>
                        <a:t>2</a:t>
                      </a:r>
                      <a:r>
                        <a:rPr lang="zh-CN" altLang="en-US" sz="700" b="0" i="0" dirty="0">
                          <a:solidFill>
                            <a:srgbClr val="000000"/>
                          </a:solidFill>
                          <a:effectLst/>
                        </a:rPr>
                        <a:t>、流程优化改善的优秀创新实践的奖励</a:t>
                      </a:r>
                      <a:br>
                        <a:rPr lang="zh-CN" altLang="en-US" sz="700" b="0" i="0" dirty="0">
                          <a:solidFill>
                            <a:srgbClr val="000000"/>
                          </a:solidFill>
                          <a:effectLst/>
                        </a:rPr>
                      </a:br>
                      <a:r>
                        <a:rPr lang="en-US" altLang="zh-CN" sz="700" b="0" i="0" dirty="0">
                          <a:solidFill>
                            <a:srgbClr val="000000"/>
                          </a:solidFill>
                          <a:effectLst/>
                        </a:rPr>
                        <a:t>3</a:t>
                      </a:r>
                      <a:r>
                        <a:rPr lang="zh-CN" altLang="en-US" sz="700" b="0" i="0" dirty="0">
                          <a:solidFill>
                            <a:srgbClr val="000000"/>
                          </a:solidFill>
                          <a:effectLst/>
                        </a:rPr>
                        <a:t>、优秀流程建设者，项目组成员，评选优秀，流程能力培训费用</a:t>
                      </a:r>
                      <a:br>
                        <a:rPr lang="zh-CN" altLang="en-US" sz="700" b="0" i="0" dirty="0">
                          <a:solidFill>
                            <a:srgbClr val="000000"/>
                          </a:solidFill>
                          <a:effectLst/>
                        </a:rPr>
                      </a:br>
                      <a:r>
                        <a:rPr lang="zh-CN" altLang="en-US" sz="700" b="0" i="0" dirty="0">
                          <a:solidFill>
                            <a:srgbClr val="000000"/>
                          </a:solidFill>
                          <a:effectLst/>
                        </a:rPr>
                        <a:t>风险：暂无。</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5" name="Title 1"/>
          <p:cNvSpPr txBox="1">
            <a:spLocks/>
          </p:cNvSpPr>
          <p:nvPr>
            <p:custDataLst>
              <p:tags r:id="rId1"/>
            </p:custDataLst>
          </p:nvPr>
        </p:nvSpPr>
        <p:spPr>
          <a:xfrm>
            <a:off x="0" y="115192"/>
            <a:ext cx="10974070" cy="634365"/>
          </a:xfrm>
          <a:prstGeom prst="rect">
            <a:avLst/>
          </a:prstGeom>
        </p:spPr>
        <p:txBody>
          <a:bodyPr vert="horz" lIns="90170" tIns="46990" rIns="90170" bIns="46990" rtlCol="0" anchor="ctr" anchorCtr="0">
            <a:normAutofit fontScale="92500"/>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sz="2965" dirty="0" smtClean="0">
                <a:solidFill>
                  <a:srgbClr val="FF0000"/>
                </a:solidFill>
                <a:latin typeface="微软雅黑" panose="020B0503020204020204" charset="-122"/>
                <a:ea typeface="微软雅黑" panose="020B0503020204020204" charset="-122"/>
              </a:rPr>
              <a:t>“</a:t>
            </a:r>
            <a:r>
              <a:rPr lang="en-US" altLang="zh-CN" sz="2965" dirty="0" smtClean="0">
                <a:solidFill>
                  <a:srgbClr val="FF0000"/>
                </a:solidFill>
                <a:latin typeface="微软雅黑" panose="020B0503020204020204" charset="-122"/>
                <a:ea typeface="微软雅黑" panose="020B0503020204020204" charset="-122"/>
              </a:rPr>
              <a:t>MTCV</a:t>
            </a:r>
            <a:r>
              <a:rPr lang="zh-CN" altLang="en-US" sz="2965" dirty="0" smtClean="0">
                <a:solidFill>
                  <a:srgbClr val="FF0000"/>
                </a:solidFill>
                <a:latin typeface="微软雅黑" panose="020B0503020204020204" charset="-122"/>
                <a:ea typeface="微软雅黑" panose="020B0503020204020204" charset="-122"/>
              </a:rPr>
              <a:t>流程打造</a:t>
            </a:r>
            <a:r>
              <a:rPr lang="en-US" altLang="zh-CN" sz="2965" dirty="0" smtClean="0">
                <a:solidFill>
                  <a:srgbClr val="FF0000"/>
                </a:solidFill>
                <a:latin typeface="微软雅黑" panose="020B0503020204020204" charset="-122"/>
                <a:ea typeface="微软雅黑" panose="020B0503020204020204" charset="-122"/>
              </a:rPr>
              <a:t>2.0</a:t>
            </a:r>
            <a:r>
              <a:rPr lang="zh-CN" altLang="en-US" sz="2965" dirty="0" smtClean="0">
                <a:solidFill>
                  <a:srgbClr val="FF0000"/>
                </a:solidFill>
                <a:latin typeface="微软雅黑" panose="020B0503020204020204" charset="-122"/>
                <a:ea typeface="微软雅黑" panose="020B0503020204020204" charset="-122"/>
              </a:rPr>
              <a:t>”</a:t>
            </a:r>
            <a:r>
              <a:rPr lang="zh-CN" altLang="en-US" sz="2965" dirty="0" smtClean="0">
                <a:solidFill>
                  <a:schemeClr val="tx1"/>
                </a:solidFill>
                <a:latin typeface="微软雅黑" panose="020B0503020204020204" charset="-122"/>
                <a:ea typeface="微软雅黑" panose="020B0503020204020204" charset="-122"/>
              </a:rPr>
              <a:t>关键任务设计</a:t>
            </a:r>
            <a:r>
              <a:rPr lang="en-US" altLang="zh-CN" sz="2965" dirty="0" smtClean="0">
                <a:solidFill>
                  <a:schemeClr val="tx1"/>
                </a:solidFill>
                <a:latin typeface="微软雅黑" panose="020B0503020204020204" charset="-122"/>
                <a:ea typeface="微软雅黑" panose="020B0503020204020204" charset="-122"/>
              </a:rPr>
              <a:t>BSC</a:t>
            </a:r>
            <a:r>
              <a:rPr lang="zh-CN" altLang="en-US" sz="2965" dirty="0" smtClean="0">
                <a:solidFill>
                  <a:schemeClr val="tx1"/>
                </a:solidFill>
                <a:latin typeface="微软雅黑" panose="020B0503020204020204" charset="-122"/>
                <a:ea typeface="微软雅黑" panose="020B0503020204020204" charset="-122"/>
              </a:rPr>
              <a:t>图</a:t>
            </a:r>
            <a:r>
              <a:rPr lang="zh-CN" altLang="en-US" sz="2965" dirty="0" smtClean="0">
                <a:solidFill>
                  <a:srgbClr val="FF0000"/>
                </a:solidFill>
                <a:latin typeface="微软雅黑" panose="020B0503020204020204" charset="-122"/>
                <a:ea typeface="微软雅黑" panose="020B0503020204020204" charset="-122"/>
              </a:rPr>
              <a:t>（年初是怎么想的）</a:t>
            </a:r>
            <a:endParaRPr kumimoji="1" lang="zh-CN" altLang="en-US" sz="2965" dirty="0">
              <a:solidFill>
                <a:srgbClr val="FF00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4230334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638175" y="323850"/>
            <a:ext cx="9279255" cy="547370"/>
          </a:xfrm>
          <a:prstGeom prst="rect">
            <a:avLst/>
          </a:prstGeom>
          <a:noFill/>
        </p:spPr>
        <p:txBody>
          <a:bodyPr wrap="square" rtlCol="0">
            <a:spAutoFit/>
          </a:bodyPr>
          <a:lstStyle/>
          <a:p>
            <a:r>
              <a:rPr kumimoji="1" lang="zh-CN" altLang="en-US" sz="2965" b="1" dirty="0">
                <a:solidFill>
                  <a:srgbClr val="E60039"/>
                </a:solidFill>
                <a:latin typeface="微软雅黑" panose="020B0503020204020204" charset="-122"/>
                <a:ea typeface="微软雅黑" panose="020B0503020204020204" charset="-122"/>
              </a:rPr>
              <a:t>“</a:t>
            </a:r>
            <a:r>
              <a:rPr kumimoji="1" lang="en-US" altLang="zh-CN" sz="2965" b="1" dirty="0">
                <a:solidFill>
                  <a:srgbClr val="E60039"/>
                </a:solidFill>
                <a:latin typeface="微软雅黑" panose="020B0503020204020204" charset="-122"/>
                <a:ea typeface="微软雅黑" panose="020B0503020204020204" charset="-122"/>
              </a:rPr>
              <a:t>MTCV</a:t>
            </a:r>
            <a:r>
              <a:rPr kumimoji="1" lang="zh-CN" altLang="en-US" sz="2965" b="1" dirty="0">
                <a:solidFill>
                  <a:srgbClr val="E60039"/>
                </a:solidFill>
                <a:latin typeface="微软雅黑" panose="020B0503020204020204" charset="-122"/>
                <a:ea typeface="微软雅黑" panose="020B0503020204020204" charset="-122"/>
              </a:rPr>
              <a:t>流程打造</a:t>
            </a:r>
            <a:r>
              <a:rPr kumimoji="1" lang="en-US" altLang="zh-CN" sz="2965" b="1" dirty="0">
                <a:solidFill>
                  <a:srgbClr val="E60039"/>
                </a:solidFill>
                <a:latin typeface="微软雅黑" panose="020B0503020204020204" charset="-122"/>
                <a:ea typeface="微软雅黑" panose="020B0503020204020204" charset="-122"/>
              </a:rPr>
              <a:t>2.0</a:t>
            </a:r>
            <a:r>
              <a:rPr kumimoji="1" lang="zh-CN" altLang="en-US" sz="2965" b="1" dirty="0">
                <a:solidFill>
                  <a:srgbClr val="E60039"/>
                </a:solidFill>
                <a:latin typeface="微软雅黑" panose="020B0503020204020204" charset="-122"/>
                <a:ea typeface="微软雅黑" panose="020B0503020204020204" charset="-122"/>
              </a:rPr>
              <a:t>”</a:t>
            </a:r>
            <a:r>
              <a:rPr kumimoji="1" lang="zh-CN" altLang="en-US" sz="2965" b="1" dirty="0" smtClean="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sym typeface="+mn-ea"/>
              </a:rPr>
              <a:t>任务</a:t>
            </a:r>
            <a:r>
              <a:rPr kumimoji="1" lang="en-US" altLang="zh-CN" sz="2965" b="1" dirty="0">
                <a:solidFill>
                  <a:srgbClr val="E60039"/>
                </a:solidFill>
                <a:latin typeface="微软雅黑" panose="020B0503020204020204" charset="-122"/>
                <a:ea typeface="微软雅黑" panose="020B0503020204020204" charset="-122"/>
                <a:sym typeface="+mn-ea"/>
              </a:rPr>
              <a:t>Q1</a:t>
            </a:r>
            <a:r>
              <a:rPr kumimoji="1" lang="zh-CN" altLang="en-US" sz="2965" b="1" dirty="0">
                <a:solidFill>
                  <a:srgbClr val="E60039"/>
                </a:solidFill>
                <a:latin typeface="微软雅黑" panose="020B0503020204020204" charset="-122"/>
                <a:ea typeface="微软雅黑" panose="020B0503020204020204" charset="-122"/>
                <a:sym typeface="+mn-ea"/>
              </a:rPr>
              <a:t>目标达成情况</a:t>
            </a:r>
          </a:p>
        </p:txBody>
      </p:sp>
      <p:graphicFrame>
        <p:nvGraphicFramePr>
          <p:cNvPr id="4" name="表格 3">
            <a:extLst>
              <a:ext uri="{FF2B5EF4-FFF2-40B4-BE49-F238E27FC236}">
                <a16:creationId xmlns="" xmlns:a16="http://schemas.microsoft.com/office/drawing/2014/main" id="{9548CE84-793D-06CB-0AEA-EE252675F7DF}"/>
              </a:ext>
            </a:extLst>
          </p:cNvPr>
          <p:cNvGraphicFramePr>
            <a:graphicFrameLocks noGrp="1"/>
          </p:cNvGraphicFramePr>
          <p:nvPr>
            <p:extLst>
              <p:ext uri="{D42A27DB-BD31-4B8C-83A1-F6EECF244321}">
                <p14:modId xmlns:p14="http://schemas.microsoft.com/office/powerpoint/2010/main" val="130935119"/>
              </p:ext>
            </p:extLst>
          </p:nvPr>
        </p:nvGraphicFramePr>
        <p:xfrm>
          <a:off x="768656" y="1312093"/>
          <a:ext cx="10193512" cy="4603969"/>
        </p:xfrm>
        <a:graphic>
          <a:graphicData uri="http://schemas.openxmlformats.org/drawingml/2006/table">
            <a:tbl>
              <a:tblPr/>
              <a:tblGrid>
                <a:gridCol w="1274189">
                  <a:extLst>
                    <a:ext uri="{9D8B030D-6E8A-4147-A177-3AD203B41FA5}">
                      <a16:colId xmlns="" xmlns:a16="http://schemas.microsoft.com/office/drawing/2014/main" val="4018977210"/>
                    </a:ext>
                  </a:extLst>
                </a:gridCol>
                <a:gridCol w="1274189">
                  <a:extLst>
                    <a:ext uri="{9D8B030D-6E8A-4147-A177-3AD203B41FA5}">
                      <a16:colId xmlns="" xmlns:a16="http://schemas.microsoft.com/office/drawing/2014/main" val="93809653"/>
                    </a:ext>
                  </a:extLst>
                </a:gridCol>
                <a:gridCol w="1274189">
                  <a:extLst>
                    <a:ext uri="{9D8B030D-6E8A-4147-A177-3AD203B41FA5}">
                      <a16:colId xmlns="" xmlns:a16="http://schemas.microsoft.com/office/drawing/2014/main" val="3545012091"/>
                    </a:ext>
                  </a:extLst>
                </a:gridCol>
                <a:gridCol w="1274189">
                  <a:extLst>
                    <a:ext uri="{9D8B030D-6E8A-4147-A177-3AD203B41FA5}">
                      <a16:colId xmlns="" xmlns:a16="http://schemas.microsoft.com/office/drawing/2014/main" val="3440531707"/>
                    </a:ext>
                  </a:extLst>
                </a:gridCol>
                <a:gridCol w="1573356">
                  <a:extLst>
                    <a:ext uri="{9D8B030D-6E8A-4147-A177-3AD203B41FA5}">
                      <a16:colId xmlns="" xmlns:a16="http://schemas.microsoft.com/office/drawing/2014/main" val="2623662511"/>
                    </a:ext>
                  </a:extLst>
                </a:gridCol>
                <a:gridCol w="1021491">
                  <a:extLst>
                    <a:ext uri="{9D8B030D-6E8A-4147-A177-3AD203B41FA5}">
                      <a16:colId xmlns="" xmlns:a16="http://schemas.microsoft.com/office/drawing/2014/main" val="2164870907"/>
                    </a:ext>
                  </a:extLst>
                </a:gridCol>
                <a:gridCol w="1309817">
                  <a:extLst>
                    <a:ext uri="{9D8B030D-6E8A-4147-A177-3AD203B41FA5}">
                      <a16:colId xmlns="" xmlns:a16="http://schemas.microsoft.com/office/drawing/2014/main" val="2711521660"/>
                    </a:ext>
                  </a:extLst>
                </a:gridCol>
                <a:gridCol w="1192092">
                  <a:extLst>
                    <a:ext uri="{9D8B030D-6E8A-4147-A177-3AD203B41FA5}">
                      <a16:colId xmlns="" xmlns:a16="http://schemas.microsoft.com/office/drawing/2014/main" val="1277764360"/>
                    </a:ext>
                  </a:extLst>
                </a:gridCol>
              </a:tblGrid>
              <a:tr h="477034">
                <a:tc>
                  <a:txBody>
                    <a:bodyPr/>
                    <a:lstStyle/>
                    <a:p>
                      <a:pPr algn="ctr" fontAlgn="ctr" latinLnBrk="0"/>
                      <a:r>
                        <a:rPr lang="zh-CN" altLang="en-US" sz="1200" b="1" i="0" dirty="0">
                          <a:solidFill>
                            <a:srgbClr val="000000"/>
                          </a:solidFill>
                          <a:effectLst/>
                          <a:latin typeface="微软雅黑" panose="020B0503020204020204" pitchFamily="34" charset="-122"/>
                          <a:ea typeface="微软雅黑" panose="020B0503020204020204" pitchFamily="34" charset="-122"/>
                        </a:rPr>
                        <a:t>序号</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zh-CN" altLang="en-US" sz="1200" b="1" i="0" dirty="0">
                          <a:solidFill>
                            <a:srgbClr val="000000"/>
                          </a:solidFill>
                          <a:effectLst/>
                          <a:latin typeface="微软雅黑" panose="020B0503020204020204" pitchFamily="34" charset="-122"/>
                          <a:ea typeface="微软雅黑" panose="020B0503020204020204" pitchFamily="34" charset="-122"/>
                        </a:rPr>
                        <a:t>关键任务</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zh-CN" altLang="en-US" sz="1200" b="1" i="0" dirty="0">
                          <a:solidFill>
                            <a:srgbClr val="000000"/>
                          </a:solidFill>
                          <a:effectLst/>
                          <a:latin typeface="微软雅黑" panose="020B0503020204020204" pitchFamily="34" charset="-122"/>
                          <a:ea typeface="微软雅黑" panose="020B0503020204020204" pitchFamily="34" charset="-122"/>
                        </a:rPr>
                        <a:t>年度目标</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CE2FE"/>
                    </a:solidFill>
                  </a:tcPr>
                </a:tc>
                <a:tc>
                  <a:txBody>
                    <a:bodyPr/>
                    <a:lstStyle/>
                    <a:p>
                      <a:pPr algn="ctr" fontAlgn="ctr" latinLnBrk="0"/>
                      <a:r>
                        <a:rPr lang="en-US" altLang="zh-CN" sz="1200" b="1" i="0" dirty="0">
                          <a:solidFill>
                            <a:srgbClr val="000000"/>
                          </a:solidFill>
                          <a:effectLst/>
                          <a:latin typeface="微软雅黑" panose="020B0503020204020204" pitchFamily="34" charset="-122"/>
                          <a:ea typeface="微软雅黑" panose="020B0503020204020204" pitchFamily="34" charset="-122"/>
                        </a:rPr>
                        <a:t>Q1</a:t>
                      </a:r>
                      <a:r>
                        <a:rPr lang="zh-CN" altLang="en-US" sz="1200" b="1" i="0" dirty="0">
                          <a:solidFill>
                            <a:srgbClr val="000000"/>
                          </a:solidFill>
                          <a:effectLst/>
                          <a:latin typeface="微软雅黑" panose="020B0503020204020204" pitchFamily="34" charset="-122"/>
                          <a:ea typeface="微软雅黑" panose="020B0503020204020204" pitchFamily="34" charset="-122"/>
                        </a:rPr>
                        <a:t>目标（累计）</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CE2FE"/>
                    </a:solidFill>
                  </a:tcPr>
                </a:tc>
                <a:tc>
                  <a:txBody>
                    <a:bodyPr/>
                    <a:lstStyle/>
                    <a:p>
                      <a:pPr algn="ctr" fontAlgn="ctr" latinLnBrk="0"/>
                      <a:r>
                        <a:rPr lang="en-US" altLang="zh-CN" sz="1200" b="1" i="0" dirty="0">
                          <a:solidFill>
                            <a:srgbClr val="000000"/>
                          </a:solidFill>
                          <a:effectLst/>
                          <a:latin typeface="微软雅黑" panose="020B0503020204020204" pitchFamily="34" charset="-122"/>
                          <a:ea typeface="微软雅黑" panose="020B0503020204020204" pitchFamily="34" charset="-122"/>
                        </a:rPr>
                        <a:t>Q1</a:t>
                      </a:r>
                      <a:r>
                        <a:rPr lang="zh-CN" altLang="en-US" sz="1200" b="1" i="0" dirty="0">
                          <a:solidFill>
                            <a:srgbClr val="000000"/>
                          </a:solidFill>
                          <a:effectLst/>
                          <a:latin typeface="微软雅黑" panose="020B0503020204020204" pitchFamily="34" charset="-122"/>
                          <a:ea typeface="微软雅黑" panose="020B0503020204020204" pitchFamily="34" charset="-122"/>
                        </a:rPr>
                        <a:t>目标达成结果</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CE2FE"/>
                    </a:solidFill>
                  </a:tcPr>
                </a:tc>
                <a:tc>
                  <a:txBody>
                    <a:bodyPr/>
                    <a:lstStyle/>
                    <a:p>
                      <a:pPr algn="ctr" fontAlgn="ctr" latinLnBrk="0"/>
                      <a:r>
                        <a:rPr lang="en-US" sz="1200" b="1" i="0" dirty="0">
                          <a:solidFill>
                            <a:srgbClr val="000000"/>
                          </a:solidFill>
                          <a:effectLst/>
                          <a:latin typeface="微软雅黑" panose="020B0503020204020204" pitchFamily="34" charset="-122"/>
                          <a:ea typeface="微软雅黑" panose="020B0503020204020204" pitchFamily="34" charset="-122"/>
                        </a:rPr>
                        <a:t>M3</a:t>
                      </a:r>
                      <a:r>
                        <a:rPr lang="zh-CN" altLang="en-US" sz="1200" b="1" i="0" dirty="0">
                          <a:solidFill>
                            <a:srgbClr val="000000"/>
                          </a:solidFill>
                          <a:effectLst/>
                          <a:latin typeface="微软雅黑" panose="020B0503020204020204" pitchFamily="34" charset="-122"/>
                          <a:ea typeface="微软雅黑" panose="020B0503020204020204" pitchFamily="34" charset="-122"/>
                        </a:rPr>
                        <a:t>里程碑</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CE2FE"/>
                    </a:solidFill>
                  </a:tcPr>
                </a:tc>
                <a:tc>
                  <a:txBody>
                    <a:bodyPr/>
                    <a:lstStyle/>
                    <a:p>
                      <a:pPr algn="ctr" fontAlgn="ctr" latinLnBrk="0"/>
                      <a:r>
                        <a:rPr lang="en-US" altLang="zh-CN" sz="1200" b="1" i="0" dirty="0">
                          <a:solidFill>
                            <a:srgbClr val="000000"/>
                          </a:solidFill>
                          <a:effectLst/>
                          <a:latin typeface="微软雅黑" panose="020B0503020204020204" pitchFamily="34" charset="-122"/>
                          <a:ea typeface="微软雅黑" panose="020B0503020204020204" pitchFamily="34" charset="-122"/>
                        </a:rPr>
                        <a:t>M3</a:t>
                      </a:r>
                      <a:r>
                        <a:rPr lang="zh-CN" altLang="en-US" sz="1200" b="1" i="0" dirty="0">
                          <a:solidFill>
                            <a:srgbClr val="000000"/>
                          </a:solidFill>
                          <a:effectLst/>
                          <a:latin typeface="微软雅黑" panose="020B0503020204020204" pitchFamily="34" charset="-122"/>
                          <a:ea typeface="微软雅黑" panose="020B0503020204020204" pitchFamily="34" charset="-122"/>
                        </a:rPr>
                        <a:t>里程碑达成情况</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CE2FE"/>
                    </a:solidFill>
                  </a:tcPr>
                </a:tc>
                <a:tc>
                  <a:txBody>
                    <a:bodyPr/>
                    <a:lstStyle/>
                    <a:p>
                      <a:pPr algn="ctr" fontAlgn="ctr" latinLnBrk="0"/>
                      <a:r>
                        <a:rPr lang="en-US" sz="1200" b="1" i="0" dirty="0">
                          <a:solidFill>
                            <a:srgbClr val="000000"/>
                          </a:solidFill>
                          <a:effectLst/>
                          <a:latin typeface="微软雅黑" panose="020B0503020204020204" pitchFamily="34" charset="-122"/>
                          <a:ea typeface="微软雅黑" panose="020B0503020204020204" pitchFamily="34" charset="-122"/>
                        </a:rPr>
                        <a:t>Q1</a:t>
                      </a:r>
                      <a:r>
                        <a:rPr lang="zh-CN" altLang="en-US" sz="1200" b="1" i="0" dirty="0">
                          <a:solidFill>
                            <a:srgbClr val="000000"/>
                          </a:solidFill>
                          <a:effectLst/>
                          <a:latin typeface="微软雅黑" panose="020B0503020204020204" pitchFamily="34" charset="-122"/>
                          <a:ea typeface="微软雅黑" panose="020B0503020204020204" pitchFamily="34" charset="-122"/>
                        </a:rPr>
                        <a:t>整体评价</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CE2FE"/>
                    </a:solidFill>
                  </a:tcPr>
                </a:tc>
                <a:extLst>
                  <a:ext uri="{0D108BD9-81ED-4DB2-BD59-A6C34878D82A}">
                    <a16:rowId xmlns="" xmlns:a16="http://schemas.microsoft.com/office/drawing/2014/main" val="1917673744"/>
                  </a:ext>
                </a:extLst>
              </a:tr>
              <a:tr h="733603">
                <a:tc>
                  <a:txBody>
                    <a:bodyPr/>
                    <a:lstStyle/>
                    <a:p>
                      <a:pPr algn="ctr" fontAlgn="ctr" latinLnBrk="0"/>
                      <a:r>
                        <a:rPr lang="en-US" altLang="zh-CN" sz="1000" b="0" i="0" dirty="0">
                          <a:solidFill>
                            <a:srgbClr val="1F2329"/>
                          </a:solidFill>
                          <a:effectLst/>
                          <a:latin typeface="微软雅黑" panose="020B0503020204020204" pitchFamily="34" charset="-122"/>
                          <a:ea typeface="微软雅黑" panose="020B0503020204020204" pitchFamily="34" charset="-122"/>
                        </a:rPr>
                        <a:t>1</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000" b="1" i="0" dirty="0" smtClean="0">
                          <a:solidFill>
                            <a:srgbClr val="000000"/>
                          </a:solidFill>
                          <a:effectLst/>
                          <a:latin typeface="微软雅黑" panose="020B0503020204020204" pitchFamily="34" charset="-122"/>
                          <a:ea typeface="微软雅黑" panose="020B0503020204020204" pitchFamily="34" charset="-122"/>
                        </a:rPr>
                        <a:t>MTCV</a:t>
                      </a:r>
                      <a:r>
                        <a:rPr lang="zh-CN" altLang="en-US" sz="1000" b="1" i="0" dirty="0" smtClean="0">
                          <a:solidFill>
                            <a:srgbClr val="000000"/>
                          </a:solidFill>
                          <a:effectLst/>
                          <a:latin typeface="微软雅黑" panose="020B0503020204020204" pitchFamily="34" charset="-122"/>
                          <a:ea typeface="微软雅黑" panose="020B0503020204020204" pitchFamily="34" charset="-122"/>
                        </a:rPr>
                        <a:t>流程打造</a:t>
                      </a:r>
                      <a:r>
                        <a:rPr lang="en-US" altLang="zh-CN" sz="1000" b="1" i="0" dirty="0" smtClean="0">
                          <a:solidFill>
                            <a:srgbClr val="000000"/>
                          </a:solidFill>
                          <a:effectLst/>
                          <a:latin typeface="微软雅黑" panose="020B0503020204020204" pitchFamily="34" charset="-122"/>
                          <a:ea typeface="微软雅黑" panose="020B0503020204020204" pitchFamily="34" charset="-122"/>
                        </a:rPr>
                        <a:t>2.0</a:t>
                      </a:r>
                      <a:endParaRPr lang="zh-CN" altLang="en-US" sz="1000" b="1" i="0" dirty="0">
                        <a:solidFill>
                          <a:srgbClr val="000000"/>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EF6C6"/>
                    </a:solidFill>
                  </a:tcPr>
                </a:tc>
                <a:tc>
                  <a:txBody>
                    <a:bodyPr/>
                    <a:lstStyle/>
                    <a:p>
                      <a:pPr fontAlgn="ctr" latinLnBrk="0"/>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endParaRPr lang="zh-CN" altLang="en-US"/>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endParaRPr lang="zh-CN" altLang="en-US"/>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endParaRPr lang="zh-CN" altLang="en-US" dirty="0"/>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1000" b="0" i="1"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extLst>
                  <a:ext uri="{0D108BD9-81ED-4DB2-BD59-A6C34878D82A}">
                    <a16:rowId xmlns="" xmlns:a16="http://schemas.microsoft.com/office/drawing/2014/main" val="3120340145"/>
                  </a:ext>
                </a:extLst>
              </a:tr>
              <a:tr h="564769">
                <a:tc>
                  <a:txBody>
                    <a:bodyPr/>
                    <a:lstStyle/>
                    <a:p>
                      <a:pPr algn="ctr" fontAlgn="ctr" latinLnBrk="0"/>
                      <a:r>
                        <a:rPr lang="zh-CN" altLang="en-US" sz="1200" b="1" i="0" dirty="0">
                          <a:solidFill>
                            <a:srgbClr val="1F2329"/>
                          </a:solidFill>
                          <a:effectLst/>
                          <a:latin typeface="微软雅黑" panose="020B0503020204020204" pitchFamily="34" charset="-122"/>
                          <a:ea typeface="微软雅黑" panose="020B0503020204020204" pitchFamily="34" charset="-122"/>
                        </a:rPr>
                        <a:t>序号</a:t>
                      </a:r>
                      <a:endParaRPr lang="en-US" altLang="zh-CN" sz="1200" b="1"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zh-CN" altLang="en-US" sz="1200" b="1" i="0" dirty="0">
                          <a:solidFill>
                            <a:srgbClr val="000000"/>
                          </a:solidFill>
                          <a:effectLst/>
                          <a:latin typeface="微软雅黑" panose="020B0503020204020204" pitchFamily="34" charset="-122"/>
                          <a:ea typeface="微软雅黑" panose="020B0503020204020204" pitchFamily="34" charset="-122"/>
                        </a:rPr>
                        <a:t>子项</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zh-CN" altLang="en-US" sz="1200" b="1" i="0" dirty="0">
                          <a:solidFill>
                            <a:srgbClr val="1F2329"/>
                          </a:solidFill>
                          <a:effectLst/>
                          <a:latin typeface="微软雅黑" panose="020B0503020204020204" pitchFamily="34" charset="-122"/>
                          <a:ea typeface="微软雅黑" panose="020B0503020204020204" pitchFamily="34" charset="-122"/>
                        </a:rPr>
                        <a:t>子项年度目标</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en-US" altLang="zh-CN" sz="1200" b="1" i="0" dirty="0">
                          <a:solidFill>
                            <a:srgbClr val="000000"/>
                          </a:solidFill>
                          <a:effectLst/>
                          <a:latin typeface="微软雅黑" panose="020B0503020204020204" pitchFamily="34" charset="-122"/>
                          <a:ea typeface="微软雅黑" panose="020B0503020204020204" pitchFamily="34" charset="-122"/>
                        </a:rPr>
                        <a:t>Q1</a:t>
                      </a:r>
                      <a:r>
                        <a:rPr lang="zh-CN" altLang="en-US" sz="1200" b="1" i="0" dirty="0">
                          <a:solidFill>
                            <a:srgbClr val="000000"/>
                          </a:solidFill>
                          <a:effectLst/>
                          <a:latin typeface="微软雅黑" panose="020B0503020204020204" pitchFamily="34" charset="-122"/>
                          <a:ea typeface="微软雅黑" panose="020B0503020204020204" pitchFamily="34" charset="-122"/>
                        </a:rPr>
                        <a:t>目标（累计）</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en-US" altLang="zh-CN" sz="1200" b="1" i="0" dirty="0">
                          <a:solidFill>
                            <a:srgbClr val="000000"/>
                          </a:solidFill>
                          <a:effectLst/>
                          <a:latin typeface="微软雅黑" panose="020B0503020204020204" pitchFamily="34" charset="-122"/>
                          <a:ea typeface="微软雅黑" panose="020B0503020204020204" pitchFamily="34" charset="-122"/>
                        </a:rPr>
                        <a:t>Q1</a:t>
                      </a:r>
                      <a:r>
                        <a:rPr lang="zh-CN" altLang="en-US" sz="1200" b="1" i="0" dirty="0">
                          <a:solidFill>
                            <a:srgbClr val="000000"/>
                          </a:solidFill>
                          <a:effectLst/>
                          <a:latin typeface="微软雅黑" panose="020B0503020204020204" pitchFamily="34" charset="-122"/>
                          <a:ea typeface="微软雅黑" panose="020B0503020204020204" pitchFamily="34" charset="-122"/>
                        </a:rPr>
                        <a:t>目标达成结果</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algn="ctr" fontAlgn="ctr" latinLnBrk="0"/>
                      <a:r>
                        <a:rPr lang="en-US" sz="1200" b="1" i="0" dirty="0">
                          <a:solidFill>
                            <a:srgbClr val="000000"/>
                          </a:solidFill>
                          <a:effectLst/>
                          <a:latin typeface="微软雅黑" panose="020B0503020204020204" pitchFamily="34" charset="-122"/>
                          <a:ea typeface="微软雅黑" panose="020B0503020204020204" pitchFamily="34" charset="-122"/>
                        </a:rPr>
                        <a:t>M3</a:t>
                      </a:r>
                      <a:r>
                        <a:rPr lang="zh-CN" altLang="en-US" sz="1200" b="1" i="0" dirty="0">
                          <a:solidFill>
                            <a:srgbClr val="000000"/>
                          </a:solidFill>
                          <a:effectLst/>
                          <a:latin typeface="微软雅黑" panose="020B0503020204020204" pitchFamily="34" charset="-122"/>
                          <a:ea typeface="微软雅黑" panose="020B0503020204020204" pitchFamily="34" charset="-122"/>
                        </a:rPr>
                        <a:t>里程碑</a:t>
                      </a:r>
                      <a:r>
                        <a:rPr lang="en-US" altLang="zh-CN" sz="1200" b="1" i="0" dirty="0">
                          <a:solidFill>
                            <a:srgbClr val="000000"/>
                          </a:solidFill>
                          <a:effectLst/>
                          <a:latin typeface="微软雅黑" panose="020B0503020204020204" pitchFamily="34" charset="-122"/>
                          <a:ea typeface="微软雅黑" panose="020B0503020204020204" pitchFamily="34" charset="-122"/>
                        </a:rPr>
                        <a:t>/</a:t>
                      </a:r>
                      <a:r>
                        <a:rPr lang="zh-CN" altLang="en-US" sz="1200" b="1" i="0" dirty="0">
                          <a:solidFill>
                            <a:srgbClr val="000000"/>
                          </a:solidFill>
                          <a:effectLst/>
                          <a:latin typeface="微软雅黑" panose="020B0503020204020204" pitchFamily="34" charset="-122"/>
                          <a:ea typeface="微软雅黑" panose="020B0503020204020204" pitchFamily="34" charset="-122"/>
                        </a:rPr>
                        <a:t>行动计划</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1" i="0" dirty="0">
                          <a:solidFill>
                            <a:srgbClr val="000000"/>
                          </a:solidFill>
                          <a:effectLst/>
                          <a:latin typeface="微软雅黑" panose="020B0503020204020204" pitchFamily="34" charset="-122"/>
                          <a:ea typeface="微软雅黑" panose="020B0503020204020204" pitchFamily="34" charset="-122"/>
                        </a:rPr>
                        <a:t>M3</a:t>
                      </a:r>
                      <a:r>
                        <a:rPr lang="zh-CN" altLang="en-US" sz="1200" b="1" i="0" dirty="0">
                          <a:solidFill>
                            <a:srgbClr val="000000"/>
                          </a:solidFill>
                          <a:effectLst/>
                          <a:latin typeface="微软雅黑" panose="020B0503020204020204" pitchFamily="34" charset="-122"/>
                          <a:ea typeface="微软雅黑" panose="020B0503020204020204" pitchFamily="34" charset="-122"/>
                        </a:rPr>
                        <a:t>里程碑</a:t>
                      </a:r>
                      <a:r>
                        <a:rPr lang="en-US" altLang="zh-CN" sz="1200" b="1" i="0" dirty="0">
                          <a:solidFill>
                            <a:srgbClr val="000000"/>
                          </a:solidFill>
                          <a:effectLst/>
                          <a:latin typeface="微软雅黑" panose="020B0503020204020204" pitchFamily="34" charset="-122"/>
                          <a:ea typeface="微软雅黑" panose="020B0503020204020204" pitchFamily="34" charset="-122"/>
                        </a:rPr>
                        <a:t>/</a:t>
                      </a:r>
                      <a:r>
                        <a:rPr lang="zh-CN" altLang="en-US" sz="1200" b="1" i="0" dirty="0">
                          <a:solidFill>
                            <a:srgbClr val="000000"/>
                          </a:solidFill>
                          <a:effectLst/>
                          <a:latin typeface="微软雅黑" panose="020B0503020204020204" pitchFamily="34" charset="-122"/>
                          <a:ea typeface="微软雅黑" panose="020B0503020204020204" pitchFamily="34" charset="-122"/>
                        </a:rPr>
                        <a:t>行动计划达成情况</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1" i="0" dirty="0">
                          <a:solidFill>
                            <a:srgbClr val="000000"/>
                          </a:solidFill>
                          <a:effectLst/>
                          <a:latin typeface="微软雅黑" panose="020B0503020204020204" pitchFamily="34" charset="-122"/>
                          <a:ea typeface="微软雅黑" panose="020B0503020204020204" pitchFamily="34" charset="-122"/>
                        </a:rPr>
                        <a:t>Q1</a:t>
                      </a:r>
                      <a:r>
                        <a:rPr lang="zh-CN" altLang="en-US" sz="1200" b="1" i="0" dirty="0">
                          <a:solidFill>
                            <a:srgbClr val="000000"/>
                          </a:solidFill>
                          <a:effectLst/>
                          <a:latin typeface="微软雅黑" panose="020B0503020204020204" pitchFamily="34" charset="-122"/>
                          <a:ea typeface="微软雅黑" panose="020B0503020204020204" pitchFamily="34" charset="-122"/>
                        </a:rPr>
                        <a:t>整体评价</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EFF0F1"/>
                    </a:solidFill>
                  </a:tcPr>
                </a:tc>
                <a:extLst>
                  <a:ext uri="{0D108BD9-81ED-4DB2-BD59-A6C34878D82A}">
                    <a16:rowId xmlns="" xmlns:a16="http://schemas.microsoft.com/office/drawing/2014/main" val="3217417090"/>
                  </a:ext>
                </a:extLst>
              </a:tr>
              <a:tr h="419281">
                <a:tc>
                  <a:txBody>
                    <a:bodyPr/>
                    <a:lstStyle/>
                    <a:p>
                      <a:pPr algn="ctr" fontAlgn="ctr" latinLnBrk="0"/>
                      <a:r>
                        <a:rPr lang="en-US" altLang="zh-CN" sz="1000" b="0" i="0" dirty="0">
                          <a:solidFill>
                            <a:srgbClr val="1F2329"/>
                          </a:solidFill>
                          <a:effectLst/>
                          <a:latin typeface="微软雅黑" panose="020B0503020204020204" pitchFamily="34" charset="-122"/>
                          <a:ea typeface="微软雅黑" panose="020B0503020204020204" pitchFamily="34" charset="-122"/>
                        </a:rPr>
                        <a:t>1</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zh-CN" altLang="en-US" sz="1000" b="1" i="0" dirty="0">
                          <a:solidFill>
                            <a:srgbClr val="000000"/>
                          </a:solidFill>
                          <a:effectLst/>
                          <a:latin typeface="微软雅黑" panose="020B0503020204020204" pitchFamily="34" charset="-122"/>
                          <a:ea typeface="微软雅黑" panose="020B0503020204020204" pitchFamily="34" charset="-122"/>
                        </a:rPr>
                        <a:t>流程建成</a:t>
                      </a:r>
                      <a:r>
                        <a:rPr lang="en-US" altLang="zh-CN" sz="1000" b="1" i="0" dirty="0">
                          <a:solidFill>
                            <a:srgbClr val="000000"/>
                          </a:solidFill>
                          <a:effectLst/>
                          <a:latin typeface="微软雅黑" panose="020B0503020204020204" pitchFamily="34" charset="-122"/>
                          <a:ea typeface="微软雅黑" panose="020B0503020204020204" pitchFamily="34" charset="-122"/>
                        </a:rPr>
                        <a:t>L5</a:t>
                      </a:r>
                      <a:r>
                        <a:rPr lang="zh-CN" altLang="en-US" sz="1000" b="1" i="0" dirty="0">
                          <a:solidFill>
                            <a:srgbClr val="000000"/>
                          </a:solidFill>
                          <a:effectLst/>
                          <a:latin typeface="微软雅黑" panose="020B0503020204020204" pitchFamily="34" charset="-122"/>
                          <a:ea typeface="微软雅黑" panose="020B0503020204020204" pitchFamily="34" charset="-122"/>
                        </a:rPr>
                        <a:t>，跑起来</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000" b="0" i="0" dirty="0" smtClean="0">
                          <a:solidFill>
                            <a:srgbClr val="1F2329"/>
                          </a:solidFill>
                          <a:effectLst/>
                          <a:latin typeface="微软雅黑" panose="020B0503020204020204" pitchFamily="34" charset="-122"/>
                          <a:ea typeface="微软雅黑" panose="020B0503020204020204" pitchFamily="34" charset="-122"/>
                        </a:rPr>
                        <a:t>通过推行评审的</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L3</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子流程的总数量（累计）：</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60</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个</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r>
                        <a:rPr lang="zh-CN" altLang="en-US" sz="1000" dirty="0" smtClean="0">
                          <a:solidFill>
                            <a:srgbClr val="1F2329"/>
                          </a:solidFill>
                          <a:effectLst/>
                          <a:latin typeface="微软雅黑" panose="020B0503020204020204" pitchFamily="34" charset="-122"/>
                          <a:ea typeface="微软雅黑" panose="020B0503020204020204" pitchFamily="34" charset="-122"/>
                        </a:rPr>
                        <a:t>通过推行评审的子流程的数量：</a:t>
                      </a:r>
                      <a:r>
                        <a:rPr lang="en-US" altLang="zh-CN" sz="1000" dirty="0" smtClean="0">
                          <a:solidFill>
                            <a:srgbClr val="1F2329"/>
                          </a:solidFill>
                          <a:effectLst/>
                          <a:latin typeface="微软雅黑" panose="020B0503020204020204" pitchFamily="34" charset="-122"/>
                          <a:ea typeface="微软雅黑" panose="020B0503020204020204" pitchFamily="34" charset="-122"/>
                        </a:rPr>
                        <a:t>V0.9</a:t>
                      </a:r>
                      <a:r>
                        <a:rPr lang="zh-CN" altLang="en-US" sz="1000" dirty="0" smtClean="0">
                          <a:solidFill>
                            <a:srgbClr val="1F2329"/>
                          </a:solidFill>
                          <a:effectLst/>
                          <a:latin typeface="微软雅黑" panose="020B0503020204020204" pitchFamily="34" charset="-122"/>
                          <a:ea typeface="微软雅黑" panose="020B0503020204020204" pitchFamily="34" charset="-122"/>
                        </a:rPr>
                        <a:t>版本发布，累计</a:t>
                      </a:r>
                      <a:r>
                        <a:rPr lang="en-US" altLang="zh-CN" sz="1000" dirty="0" smtClean="0">
                          <a:solidFill>
                            <a:srgbClr val="1F2329"/>
                          </a:solidFill>
                          <a:effectLst/>
                          <a:latin typeface="微软雅黑" panose="020B0503020204020204" pitchFamily="34" charset="-122"/>
                          <a:ea typeface="微软雅黑" panose="020B0503020204020204" pitchFamily="34" charset="-122"/>
                        </a:rPr>
                        <a:t>40</a:t>
                      </a:r>
                      <a:r>
                        <a:rPr lang="zh-CN" altLang="en-US" sz="1000" dirty="0" smtClean="0">
                          <a:solidFill>
                            <a:srgbClr val="1F2329"/>
                          </a:solidFill>
                          <a:effectLst/>
                          <a:latin typeface="微软雅黑" panose="020B0503020204020204" pitchFamily="34" charset="-122"/>
                          <a:ea typeface="微软雅黑" panose="020B0503020204020204" pitchFamily="34" charset="-122"/>
                        </a:rPr>
                        <a:t>个</a:t>
                      </a:r>
                      <a:endParaRPr lang="zh-CN" altLang="en-US" sz="1000" dirty="0" smtClean="0">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indent="0" fontAlgn="ctr" latinLnBrk="0">
                        <a:buFont typeface="Arial" panose="020B0604020202020204" pitchFamily="34" charset="0"/>
                        <a:buNone/>
                      </a:pPr>
                      <a:r>
                        <a:rPr lang="zh-CN" altLang="en-US" sz="1000" b="0" i="0" dirty="0" smtClean="0">
                          <a:solidFill>
                            <a:srgbClr val="1F2329"/>
                          </a:solidFill>
                          <a:effectLst/>
                          <a:latin typeface="微软雅黑" panose="020B0503020204020204" pitchFamily="34" charset="-122"/>
                          <a:ea typeface="微软雅黑" panose="020B0503020204020204" pitchFamily="34" charset="-122"/>
                        </a:rPr>
                        <a:t>完成</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40</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条</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L3</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子流程</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V0.9</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版本评审与发布；其中</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ML,MO,OR,SEC,SD,ITR</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均已完成完整</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L2</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评审与发布，进入推行阶段</a:t>
                      </a:r>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zh-CN" altLang="en-US" sz="1000" b="0" i="0" dirty="0" smtClean="0">
                          <a:solidFill>
                            <a:srgbClr val="1F2329"/>
                          </a:solidFill>
                          <a:effectLst/>
                          <a:latin typeface="微软雅黑" panose="020B0503020204020204" pitchFamily="34" charset="-122"/>
                          <a:ea typeface="微软雅黑" panose="020B0503020204020204" pitchFamily="34" charset="-122"/>
                        </a:rPr>
                        <a:t>完成</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40</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条</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L3</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流程</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V0.9</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版本评审</a:t>
                      </a:r>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zh-CN" altLang="en-US" sz="1000" b="0" i="0" dirty="0" smtClean="0">
                          <a:solidFill>
                            <a:srgbClr val="1F2329"/>
                          </a:solidFill>
                          <a:effectLst/>
                          <a:latin typeface="微软雅黑" panose="020B0503020204020204" pitchFamily="34" charset="-122"/>
                          <a:ea typeface="微软雅黑" panose="020B0503020204020204" pitchFamily="34" charset="-122"/>
                        </a:rPr>
                        <a:t>按计划完成</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40</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条</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L3 </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流程</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V0.9</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版本的评审</a:t>
                      </a:r>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800" b="0" i="1"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extLst>
                  <a:ext uri="{0D108BD9-81ED-4DB2-BD59-A6C34878D82A}">
                    <a16:rowId xmlns="" xmlns:a16="http://schemas.microsoft.com/office/drawing/2014/main" val="1865483984"/>
                  </a:ext>
                </a:extLst>
              </a:tr>
              <a:tr h="733603">
                <a:tc>
                  <a:txBody>
                    <a:bodyPr/>
                    <a:lstStyle/>
                    <a:p>
                      <a:pPr algn="ctr" fontAlgn="ctr" latinLnBrk="0"/>
                      <a:r>
                        <a:rPr lang="en-US" altLang="zh-CN" sz="1000" b="0" i="0" dirty="0">
                          <a:solidFill>
                            <a:srgbClr val="1F2329"/>
                          </a:solidFill>
                          <a:effectLst/>
                          <a:latin typeface="微软雅黑" panose="020B0503020204020204" pitchFamily="34" charset="-122"/>
                          <a:ea typeface="微软雅黑" panose="020B0503020204020204" pitchFamily="34" charset="-122"/>
                        </a:rPr>
                        <a:t>2</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sz="1000" b="1" i="0" dirty="0">
                          <a:solidFill>
                            <a:srgbClr val="000000"/>
                          </a:solidFill>
                          <a:effectLst/>
                          <a:latin typeface="微软雅黑" panose="020B0503020204020204" pitchFamily="34" charset="-122"/>
                          <a:ea typeface="微软雅黑" panose="020B0503020204020204" pitchFamily="34" charset="-122"/>
                        </a:rPr>
                        <a:t>PO/PC</a:t>
                      </a:r>
                      <a:r>
                        <a:rPr lang="zh-CN" altLang="en-US" sz="1000" b="1" i="0" dirty="0">
                          <a:solidFill>
                            <a:srgbClr val="000000"/>
                          </a:solidFill>
                          <a:effectLst/>
                          <a:latin typeface="微软雅黑" panose="020B0503020204020204" pitchFamily="34" charset="-122"/>
                          <a:ea typeface="微软雅黑" panose="020B0503020204020204" pitchFamily="34" charset="-122"/>
                        </a:rPr>
                        <a:t>选育留</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000" b="1" dirty="0" smtClean="0">
                          <a:latin typeface="微软雅黑" panose="020B0503020204020204" pitchFamily="34" charset="-122"/>
                          <a:ea typeface="微软雅黑" panose="020B0503020204020204" pitchFamily="34" charset="-122"/>
                        </a:rPr>
                        <a:t>合格</a:t>
                      </a:r>
                      <a:r>
                        <a:rPr lang="en-US" altLang="zh-CN" sz="1000" b="1" dirty="0" smtClean="0">
                          <a:latin typeface="微软雅黑" panose="020B0503020204020204" pitchFamily="34" charset="-122"/>
                          <a:ea typeface="微软雅黑" panose="020B0503020204020204" pitchFamily="34" charset="-122"/>
                        </a:rPr>
                        <a:t>L2-PO</a:t>
                      </a:r>
                      <a:r>
                        <a:rPr lang="zh-CN" altLang="en-US" sz="1000" b="1" dirty="0" smtClean="0">
                          <a:latin typeface="微软雅黑" panose="020B0503020204020204" pitchFamily="34" charset="-122"/>
                          <a:ea typeface="微软雅黑" panose="020B0503020204020204" pitchFamily="34" charset="-122"/>
                        </a:rPr>
                        <a:t>的占比（对</a:t>
                      </a:r>
                      <a:r>
                        <a:rPr lang="en-US" altLang="zh-CN" sz="1000" b="1" dirty="0" smtClean="0">
                          <a:latin typeface="微软雅黑" panose="020B0503020204020204" pitchFamily="34" charset="-122"/>
                          <a:ea typeface="微软雅黑" panose="020B0503020204020204" pitchFamily="34" charset="-122"/>
                        </a:rPr>
                        <a:t>PO</a:t>
                      </a:r>
                      <a:r>
                        <a:rPr lang="zh-CN" altLang="en-US" sz="1000" b="1" dirty="0" smtClean="0">
                          <a:latin typeface="微软雅黑" panose="020B0503020204020204" pitchFamily="34" charset="-122"/>
                          <a:ea typeface="微软雅黑" panose="020B0503020204020204" pitchFamily="34" charset="-122"/>
                        </a:rPr>
                        <a:t>的流程工作的评价</a:t>
                      </a:r>
                      <a:r>
                        <a:rPr lang="en-US" altLang="zh-CN" sz="1000" b="1" dirty="0" smtClean="0">
                          <a:latin typeface="微软雅黑" panose="020B0503020204020204" pitchFamily="34" charset="-122"/>
                          <a:ea typeface="微软雅黑" panose="020B0503020204020204" pitchFamily="34" charset="-122"/>
                        </a:rPr>
                        <a:t>7</a:t>
                      </a:r>
                      <a:r>
                        <a:rPr lang="zh-CN" altLang="en-US" sz="1000" b="1" dirty="0" smtClean="0">
                          <a:latin typeface="微软雅黑" panose="020B0503020204020204" pitchFamily="34" charset="-122"/>
                          <a:ea typeface="微软雅黑" panose="020B0503020204020204" pitchFamily="34" charset="-122"/>
                        </a:rPr>
                        <a:t>分以上）</a:t>
                      </a:r>
                      <a:r>
                        <a:rPr lang="en-US" altLang="zh-CN" sz="1000" b="1" dirty="0" smtClean="0">
                          <a:latin typeface="微软雅黑" panose="020B0503020204020204" pitchFamily="34" charset="-122"/>
                          <a:ea typeface="微软雅黑" panose="020B0503020204020204" pitchFamily="34" charset="-122"/>
                        </a:rPr>
                        <a:t>50%</a:t>
                      </a:r>
                    </a:p>
                    <a:p>
                      <a:pPr marL="0" marR="0" lvl="0" indent="0" algn="l" defTabSz="914400" rtl="0" eaLnBrk="1" fontAlgn="ctr" latinLnBrk="0" hangingPunct="1">
                        <a:lnSpc>
                          <a:spcPct val="100000"/>
                        </a:lnSpc>
                        <a:spcBef>
                          <a:spcPts val="0"/>
                        </a:spcBef>
                        <a:spcAft>
                          <a:spcPts val="0"/>
                        </a:spcAft>
                        <a:buClrTx/>
                        <a:buSzTx/>
                        <a:buFontTx/>
                        <a:buNone/>
                        <a:tabLst/>
                        <a:defRPr/>
                      </a:pPr>
                      <a:endParaRPr lang="zh-CN" altLang="en-US" sz="1000" dirty="0" smtClean="0">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000" b="1" dirty="0" smtClean="0">
                          <a:latin typeface="微软雅黑" panose="020B0503020204020204" pitchFamily="34" charset="-122"/>
                          <a:ea typeface="微软雅黑" panose="020B0503020204020204" pitchFamily="34" charset="-122"/>
                        </a:rPr>
                        <a:t>合格</a:t>
                      </a:r>
                      <a:r>
                        <a:rPr lang="en-US" altLang="zh-CN" sz="1000" b="1" dirty="0" smtClean="0">
                          <a:latin typeface="微软雅黑" panose="020B0503020204020204" pitchFamily="34" charset="-122"/>
                          <a:ea typeface="微软雅黑" panose="020B0503020204020204" pitchFamily="34" charset="-122"/>
                        </a:rPr>
                        <a:t>PC</a:t>
                      </a:r>
                      <a:r>
                        <a:rPr lang="zh-CN" altLang="en-US" sz="1000" b="1" dirty="0" smtClean="0">
                          <a:latin typeface="微软雅黑" panose="020B0503020204020204" pitchFamily="34" charset="-122"/>
                          <a:ea typeface="微软雅黑" panose="020B0503020204020204" pitchFamily="34" charset="-122"/>
                        </a:rPr>
                        <a:t>的占比（</a:t>
                      </a:r>
                      <a:r>
                        <a:rPr lang="en-US" altLang="zh-CN" sz="1000" b="1" dirty="0" smtClean="0">
                          <a:latin typeface="微软雅黑" panose="020B0503020204020204" pitchFamily="34" charset="-122"/>
                          <a:ea typeface="微软雅黑" panose="020B0503020204020204" pitchFamily="34" charset="-122"/>
                        </a:rPr>
                        <a:t>L2</a:t>
                      </a:r>
                      <a:r>
                        <a:rPr lang="zh-CN" altLang="en-US" sz="1000" b="1" dirty="0" smtClean="0">
                          <a:latin typeface="微软雅黑" panose="020B0503020204020204" pitchFamily="34" charset="-122"/>
                          <a:ea typeface="微软雅黑" panose="020B0503020204020204" pitchFamily="34" charset="-122"/>
                        </a:rPr>
                        <a:t>的</a:t>
                      </a:r>
                      <a:r>
                        <a:rPr lang="en-US" altLang="zh-CN" sz="1000" b="1" dirty="0" smtClean="0">
                          <a:latin typeface="微软雅黑" panose="020B0503020204020204" pitchFamily="34" charset="-122"/>
                          <a:ea typeface="微软雅黑" panose="020B0503020204020204" pitchFamily="34" charset="-122"/>
                        </a:rPr>
                        <a:t>PO</a:t>
                      </a:r>
                      <a:r>
                        <a:rPr lang="zh-CN" altLang="en-US" sz="1000" b="1" dirty="0" smtClean="0">
                          <a:latin typeface="微软雅黑" panose="020B0503020204020204" pitchFamily="34" charset="-122"/>
                          <a:ea typeface="微软雅黑" panose="020B0503020204020204" pitchFamily="34" charset="-122"/>
                        </a:rPr>
                        <a:t>对</a:t>
                      </a:r>
                      <a:r>
                        <a:rPr lang="en-US" altLang="zh-CN" sz="1000" b="1" dirty="0" smtClean="0">
                          <a:latin typeface="微软雅黑" panose="020B0503020204020204" pitchFamily="34" charset="-122"/>
                          <a:ea typeface="微软雅黑" panose="020B0503020204020204" pitchFamily="34" charset="-122"/>
                        </a:rPr>
                        <a:t>PC</a:t>
                      </a:r>
                      <a:r>
                        <a:rPr lang="zh-CN" altLang="en-US" sz="1000" b="1" dirty="0" smtClean="0">
                          <a:latin typeface="微软雅黑" panose="020B0503020204020204" pitchFamily="34" charset="-122"/>
                          <a:ea typeface="微软雅黑" panose="020B0503020204020204" pitchFamily="34" charset="-122"/>
                        </a:rPr>
                        <a:t>的满意度评价</a:t>
                      </a:r>
                      <a:r>
                        <a:rPr lang="en-US" altLang="zh-CN" sz="1000" b="1" dirty="0" smtClean="0">
                          <a:latin typeface="微软雅黑" panose="020B0503020204020204" pitchFamily="34" charset="-122"/>
                          <a:ea typeface="微软雅黑" panose="020B0503020204020204" pitchFamily="34" charset="-122"/>
                        </a:rPr>
                        <a:t>7</a:t>
                      </a:r>
                      <a:r>
                        <a:rPr lang="zh-CN" altLang="en-US" sz="1000" b="1" dirty="0" smtClean="0">
                          <a:latin typeface="微软雅黑" panose="020B0503020204020204" pitchFamily="34" charset="-122"/>
                          <a:ea typeface="微软雅黑" panose="020B0503020204020204" pitchFamily="34" charset="-122"/>
                        </a:rPr>
                        <a:t>分以上）</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60%</a:t>
                      </a:r>
                      <a:endParaRPr lang="zh-CN" altLang="en-US" sz="1000" dirty="0" smtClean="0">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8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8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8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800" b="0" i="1"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extLst>
                  <a:ext uri="{0D108BD9-81ED-4DB2-BD59-A6C34878D82A}">
                    <a16:rowId xmlns="" xmlns:a16="http://schemas.microsoft.com/office/drawing/2014/main" val="1111882879"/>
                  </a:ext>
                </a:extLst>
              </a:tr>
              <a:tr h="733603">
                <a:tc>
                  <a:txBody>
                    <a:bodyPr/>
                    <a:lstStyle/>
                    <a:p>
                      <a:pPr algn="ctr" fontAlgn="ctr" latinLnBrk="0"/>
                      <a:r>
                        <a:rPr lang="en-US" altLang="zh-CN" sz="1000" b="0" i="0" dirty="0">
                          <a:solidFill>
                            <a:srgbClr val="1F2329"/>
                          </a:solidFill>
                          <a:effectLst/>
                          <a:latin typeface="微软雅黑" panose="020B0503020204020204" pitchFamily="34" charset="-122"/>
                          <a:ea typeface="微软雅黑" panose="020B0503020204020204" pitchFamily="34" charset="-122"/>
                        </a:rPr>
                        <a:t>3</a:t>
                      </a: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zh-CN" altLang="en-US" sz="1000" b="1" i="0" dirty="0">
                          <a:solidFill>
                            <a:srgbClr val="000000"/>
                          </a:solidFill>
                          <a:effectLst/>
                          <a:latin typeface="微软雅黑" panose="020B0503020204020204" pitchFamily="34" charset="-122"/>
                          <a:ea typeface="微软雅黑" panose="020B0503020204020204" pitchFamily="34" charset="-122"/>
                        </a:rPr>
                        <a:t>落实岗位工作标准化</a:t>
                      </a:r>
                    </a:p>
                  </a:txBody>
                  <a:tcPr marL="21295" marR="21295" marT="10647" marB="1064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l" fontAlgn="t" latinLnBrk="0"/>
                      <a:r>
                        <a:rPr lang="zh-CN" altLang="en-US" sz="1000" b="0" i="0" dirty="0" smtClean="0">
                          <a:solidFill>
                            <a:srgbClr val="1F2329"/>
                          </a:solidFill>
                          <a:effectLst/>
                          <a:latin typeface="微软雅黑" panose="020B0503020204020204" pitchFamily="34" charset="-122"/>
                          <a:ea typeface="微软雅黑" panose="020B0503020204020204" pitchFamily="34" charset="-122"/>
                        </a:rPr>
                        <a:t>优秀实践案例个数</a:t>
                      </a:r>
                      <a:r>
                        <a:rPr lang="en-US" altLang="zh-CN" sz="1000" b="0" i="0" dirty="0" smtClean="0">
                          <a:solidFill>
                            <a:srgbClr val="1F2329"/>
                          </a:solidFill>
                          <a:effectLst/>
                          <a:latin typeface="微软雅黑" panose="020B0503020204020204" pitchFamily="34" charset="-122"/>
                          <a:ea typeface="微软雅黑" panose="020B0503020204020204" pitchFamily="34" charset="-122"/>
                        </a:rPr>
                        <a:t>2</a:t>
                      </a:r>
                      <a:r>
                        <a:rPr lang="zh-CN" altLang="en-US" sz="1000" b="0" i="0" dirty="0" smtClean="0">
                          <a:solidFill>
                            <a:srgbClr val="1F2329"/>
                          </a:solidFill>
                          <a:effectLst/>
                          <a:latin typeface="微软雅黑" panose="020B0503020204020204" pitchFamily="34" charset="-122"/>
                          <a:ea typeface="微软雅黑" panose="020B0503020204020204" pitchFamily="34" charset="-122"/>
                        </a:rPr>
                        <a:t>个</a:t>
                      </a:r>
                      <a:endParaRPr lang="zh-CN" altLang="en-US" sz="10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l" fontAlgn="ctr" latinLnBrk="0"/>
                      <a:endParaRPr lang="zh-CN" altLang="en-US" sz="9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l" fontAlgn="ctr" latinLnBrk="0"/>
                      <a:endParaRPr lang="zh-CN" altLang="en-US" sz="9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l" fontAlgn="ctr" latinLnBrk="0"/>
                      <a:endParaRPr lang="zh-CN" altLang="en-US" sz="900" b="0" i="0"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fontAlgn="ctr" latinLnBrk="0"/>
                      <a:endParaRPr lang="zh-CN" altLang="en-US" sz="800" b="0" i="1" dirty="0">
                        <a:solidFill>
                          <a:srgbClr val="1F2329"/>
                        </a:solidFill>
                        <a:effectLst/>
                        <a:latin typeface="微软雅黑" panose="020B0503020204020204" pitchFamily="34" charset="-122"/>
                        <a:ea typeface="微软雅黑" panose="020B0503020204020204" pitchFamily="34" charset="-122"/>
                      </a:endParaRPr>
                    </a:p>
                  </a:txBody>
                  <a:tcPr marL="56880" marR="56880" marT="28440" marB="28440"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extLst>
                  <a:ext uri="{0D108BD9-81ED-4DB2-BD59-A6C34878D82A}">
                    <a16:rowId xmlns="" xmlns:a16="http://schemas.microsoft.com/office/drawing/2014/main" val="1545320210"/>
                  </a:ext>
                </a:extLst>
              </a:tr>
            </a:tbl>
          </a:graphicData>
        </a:graphic>
      </p:graphicFrame>
    </p:spTree>
    <p:extLst>
      <p:ext uri="{BB962C8B-B14F-4D97-AF65-F5344CB8AC3E}">
        <p14:creationId xmlns:p14="http://schemas.microsoft.com/office/powerpoint/2010/main" val="161454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10E4DE0-A2C2-D8B8-6A33-8522869F9301}"/>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2EB0C980-F523-A532-C22A-0622A953A31A}"/>
              </a:ext>
            </a:extLst>
          </p:cNvPr>
          <p:cNvSpPr txBox="1"/>
          <p:nvPr>
            <p:custDataLst>
              <p:tags r:id="rId1"/>
            </p:custDataLst>
          </p:nvPr>
        </p:nvSpPr>
        <p:spPr>
          <a:xfrm>
            <a:off x="3190875" y="2881630"/>
            <a:ext cx="9279255" cy="548612"/>
          </a:xfrm>
          <a:prstGeom prst="rect">
            <a:avLst/>
          </a:prstGeom>
          <a:noFill/>
        </p:spPr>
        <p:txBody>
          <a:bodyPr wrap="square" rtlCol="0">
            <a:spAutoFit/>
          </a:bodyPr>
          <a:lstStyle/>
          <a:p>
            <a:r>
              <a:rPr kumimoji="1" lang="zh-CN" altLang="en-US" sz="2965" b="1" dirty="0">
                <a:solidFill>
                  <a:srgbClr val="E60039"/>
                </a:solidFill>
                <a:latin typeface="微软雅黑" panose="020B0503020204020204" charset="-122"/>
                <a:ea typeface="微软雅黑" panose="020B0503020204020204" charset="-122"/>
                <a:sym typeface="+mn-ea"/>
              </a:rPr>
              <a:t>子项一：</a:t>
            </a:r>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a:t>
            </a:r>
            <a:r>
              <a:rPr kumimoji="1" lang="zh-CN" altLang="en-US" sz="2965" b="1" dirty="0" smtClean="0">
                <a:solidFill>
                  <a:srgbClr val="E60039"/>
                </a:solidFill>
                <a:latin typeface="微软雅黑" panose="020B0503020204020204" charset="-122"/>
                <a:ea typeface="微软雅黑" panose="020B0503020204020204" charset="-122"/>
              </a:rPr>
              <a:t>起来</a:t>
            </a:r>
            <a:endParaRPr kumimoji="1" lang="zh-CN" altLang="en-US" sz="2965" b="1" dirty="0">
              <a:solidFill>
                <a:srgbClr val="E60039"/>
              </a:solidFill>
              <a:latin typeface="微软雅黑" panose="020B0503020204020204" charset="-122"/>
              <a:ea typeface="微软雅黑" panose="020B0503020204020204" charset="-122"/>
            </a:endParaRPr>
          </a:p>
        </p:txBody>
      </p:sp>
      <p:sp>
        <p:nvSpPr>
          <p:cNvPr id="3" name="矩形 2">
            <a:extLst>
              <a:ext uri="{FF2B5EF4-FFF2-40B4-BE49-F238E27FC236}">
                <a16:creationId xmlns="" xmlns:a16="http://schemas.microsoft.com/office/drawing/2014/main" id="{38BFBC83-1621-B3F4-99DD-59360ABEBEAE}"/>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沙书</a:t>
            </a:r>
            <a:r>
              <a:rPr lang="zh-CN" altLang="en-US" dirty="0" smtClean="0"/>
              <a:t>立</a:t>
            </a:r>
            <a:endParaRPr lang="en-US" altLang="zh-CN" dirty="0" smtClean="0"/>
          </a:p>
          <a:p>
            <a:pPr algn="ctr"/>
            <a:r>
              <a:rPr lang="zh-CN" altLang="en-US" dirty="0"/>
              <a:t>赵波</a:t>
            </a:r>
            <a:endParaRPr lang="en-US" altLang="zh-CN" dirty="0"/>
          </a:p>
        </p:txBody>
      </p:sp>
    </p:spTree>
    <p:extLst>
      <p:ext uri="{BB962C8B-B14F-4D97-AF65-F5344CB8AC3E}">
        <p14:creationId xmlns:p14="http://schemas.microsoft.com/office/powerpoint/2010/main" val="13991112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8598D8D-0D26-37A4-2BB1-64349D1098D0}"/>
            </a:ext>
          </a:extLst>
        </p:cNvPr>
        <p:cNvGrpSpPr/>
        <p:nvPr/>
      </p:nvGrpSpPr>
      <p:grpSpPr>
        <a:xfrm>
          <a:off x="0" y="0"/>
          <a:ext cx="0" cy="0"/>
          <a:chOff x="0" y="0"/>
          <a:chExt cx="0" cy="0"/>
        </a:xfrm>
      </p:grpSpPr>
      <p:sp>
        <p:nvSpPr>
          <p:cNvPr id="33" name="矩形 32"/>
          <p:cNvSpPr/>
          <p:nvPr/>
        </p:nvSpPr>
        <p:spPr>
          <a:xfrm>
            <a:off x="9185808" y="4686806"/>
            <a:ext cx="2958691" cy="2138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652392" y="4686806"/>
            <a:ext cx="2474899" cy="2138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9208593" y="2641103"/>
            <a:ext cx="2958691" cy="19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644154" y="2641103"/>
            <a:ext cx="2493740" cy="19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14604" y="1156832"/>
            <a:ext cx="11480225" cy="93998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 xmlns:a16="http://schemas.microsoft.com/office/drawing/2014/main" id="{996120BE-350E-C0B6-2922-D8065918A8E6}"/>
              </a:ext>
            </a:extLst>
          </p:cNvPr>
          <p:cNvSpPr txBox="1"/>
          <p:nvPr>
            <p:custDataLst>
              <p:tags r:id="rId1"/>
            </p:custDataLst>
          </p:nvPr>
        </p:nvSpPr>
        <p:spPr>
          <a:xfrm>
            <a:off x="638176" y="323850"/>
            <a:ext cx="8537630" cy="752475"/>
          </a:xfrm>
          <a:prstGeom prst="rect">
            <a:avLst/>
          </a:prstGeom>
          <a:noFill/>
        </p:spPr>
        <p:txBody>
          <a:bodyPr wrap="square" rtlCol="0">
            <a:noAutofit/>
          </a:bodyPr>
          <a:lstStyle/>
          <a:p>
            <a:r>
              <a:rPr kumimoji="1" lang="zh-CN" altLang="en-US" sz="2965" b="1" dirty="0" smtClean="0">
                <a:solidFill>
                  <a:srgbClr val="E60039"/>
                </a:solidFill>
                <a:latin typeface="微软雅黑" panose="020B0503020204020204" charset="-122"/>
                <a:ea typeface="微软雅黑" panose="020B0503020204020204" charset="-122"/>
              </a:rPr>
              <a:t>“流程</a:t>
            </a:r>
            <a:r>
              <a:rPr kumimoji="1" lang="zh-CN" altLang="en-US" sz="2965" b="1" dirty="0">
                <a:solidFill>
                  <a:srgbClr val="E60039"/>
                </a:solidFill>
                <a:latin typeface="微软雅黑" panose="020B0503020204020204" charset="-122"/>
                <a:ea typeface="微软雅黑" panose="020B0503020204020204" charset="-122"/>
              </a:rPr>
              <a:t>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a:t>
            </a:r>
            <a:r>
              <a:rPr kumimoji="1" lang="zh-CN" altLang="en-US" sz="2965" b="1" dirty="0" smtClean="0">
                <a:solidFill>
                  <a:srgbClr val="E60039"/>
                </a:solidFill>
                <a:latin typeface="微软雅黑" panose="020B0503020204020204" charset="-122"/>
                <a:ea typeface="微软雅黑" panose="020B0503020204020204" charset="-122"/>
              </a:rPr>
              <a:t>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项目目标分析</a:t>
            </a:r>
          </a:p>
        </p:txBody>
      </p:sp>
      <p:sp>
        <p:nvSpPr>
          <p:cNvPr id="12" name="文本框 11">
            <a:extLst>
              <a:ext uri="{FF2B5EF4-FFF2-40B4-BE49-F238E27FC236}">
                <a16:creationId xmlns="" xmlns:a16="http://schemas.microsoft.com/office/drawing/2014/main" id="{750A1539-2E41-FF61-F97E-D034AC956F6F}"/>
              </a:ext>
            </a:extLst>
          </p:cNvPr>
          <p:cNvSpPr txBox="1"/>
          <p:nvPr/>
        </p:nvSpPr>
        <p:spPr>
          <a:xfrm>
            <a:off x="514605" y="1147259"/>
            <a:ext cx="8972552" cy="338554"/>
          </a:xfrm>
          <a:prstGeom prst="rect">
            <a:avLst/>
          </a:prstGeom>
          <a:noFill/>
        </p:spPr>
        <p:txBody>
          <a:bodyPr wrap="square">
            <a:spAutoFit/>
          </a:bodyPr>
          <a:lstStyle/>
          <a:p>
            <a:r>
              <a:rPr lang="en-US" altLang="zh-CN" sz="1600" b="1" dirty="0">
                <a:solidFill>
                  <a:srgbClr val="000000"/>
                </a:solidFill>
                <a:latin typeface="微软雅黑" panose="020B0503020204020204" pitchFamily="34" charset="-122"/>
                <a:ea typeface="微软雅黑" panose="020B0503020204020204" pitchFamily="34" charset="-122"/>
              </a:rPr>
              <a:t>Q1</a:t>
            </a:r>
            <a:r>
              <a:rPr lang="zh-CN" altLang="en-US" sz="1600" b="1" dirty="0">
                <a:solidFill>
                  <a:srgbClr val="000000"/>
                </a:solidFill>
                <a:latin typeface="微软雅黑" panose="020B0503020204020204" pitchFamily="34" charset="-122"/>
                <a:ea typeface="微软雅黑" panose="020B0503020204020204" pitchFamily="34" charset="-122"/>
              </a:rPr>
              <a:t>的目标回顾</a:t>
            </a:r>
            <a:r>
              <a:rPr lang="zh-CN" altLang="en-US" sz="1600" dirty="0">
                <a:solidFill>
                  <a:srgbClr val="000000"/>
                </a:solidFill>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 xmlns:a16="http://schemas.microsoft.com/office/drawing/2014/main" id="{7299A0BF-8A61-CA0A-62FA-46988CEE5882}"/>
              </a:ext>
            </a:extLst>
          </p:cNvPr>
          <p:cNvSpPr/>
          <p:nvPr/>
        </p:nvSpPr>
        <p:spPr>
          <a:xfrm>
            <a:off x="11121080" y="0"/>
            <a:ext cx="1070919" cy="675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沙书</a:t>
            </a:r>
            <a:r>
              <a:rPr lang="zh-CN" altLang="en-US" dirty="0" smtClean="0"/>
              <a:t>立</a:t>
            </a:r>
            <a:endParaRPr lang="en-US" altLang="zh-CN" dirty="0" smtClean="0"/>
          </a:p>
          <a:p>
            <a:pPr algn="ctr"/>
            <a:r>
              <a:rPr lang="zh-CN" altLang="en-US" dirty="0"/>
              <a:t>赵波</a:t>
            </a:r>
            <a:endParaRPr lang="en-US" altLang="zh-CN" dirty="0"/>
          </a:p>
        </p:txBody>
      </p:sp>
      <p:sp>
        <p:nvSpPr>
          <p:cNvPr id="14" name="文本框 13">
            <a:extLst>
              <a:ext uri="{FF2B5EF4-FFF2-40B4-BE49-F238E27FC236}">
                <a16:creationId xmlns="" xmlns:a16="http://schemas.microsoft.com/office/drawing/2014/main" id="{9723432A-84AC-6185-79F0-321C44BC822B}"/>
              </a:ext>
            </a:extLst>
          </p:cNvPr>
          <p:cNvSpPr txBox="1"/>
          <p:nvPr/>
        </p:nvSpPr>
        <p:spPr>
          <a:xfrm>
            <a:off x="2326928" y="2149289"/>
            <a:ext cx="2986476" cy="338554"/>
          </a:xfrm>
          <a:prstGeom prst="rect">
            <a:avLst/>
          </a:prstGeom>
          <a:noFill/>
        </p:spPr>
        <p:txBody>
          <a:bodyPr wrap="square">
            <a:spAutoFit/>
          </a:bodyPr>
          <a:lstStyle/>
          <a:p>
            <a:r>
              <a:rPr lang="en-US" altLang="zh-CN" sz="1600" b="1" dirty="0">
                <a:solidFill>
                  <a:srgbClr val="000000"/>
                </a:solidFill>
                <a:latin typeface="微软雅黑" panose="020B0503020204020204" pitchFamily="34" charset="-122"/>
                <a:ea typeface="微软雅黑" panose="020B0503020204020204" pitchFamily="34" charset="-122"/>
              </a:rPr>
              <a:t>Q1</a:t>
            </a:r>
            <a:r>
              <a:rPr lang="zh-CN" altLang="en-US" sz="1600" b="1" dirty="0">
                <a:solidFill>
                  <a:srgbClr val="000000"/>
                </a:solidFill>
                <a:latin typeface="微软雅黑" panose="020B0503020204020204" pitchFamily="34" charset="-122"/>
                <a:ea typeface="微软雅黑" panose="020B0503020204020204" pitchFamily="34" charset="-122"/>
              </a:rPr>
              <a:t>的目标达成情况</a:t>
            </a:r>
            <a:r>
              <a:rPr lang="zh-CN" altLang="en-US" sz="1600" b="1" dirty="0" smtClean="0">
                <a:solidFill>
                  <a:srgbClr val="000000"/>
                </a:solidFill>
                <a:latin typeface="微软雅黑" panose="020B0503020204020204" pitchFamily="34" charset="-122"/>
                <a:ea typeface="微软雅黑" panose="020B0503020204020204" pitchFamily="34" charset="-122"/>
              </a:rPr>
              <a:t>分析</a:t>
            </a:r>
            <a:endParaRPr lang="zh-CN" altLang="en-US" sz="1600" b="1"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 xmlns:a16="http://schemas.microsoft.com/office/drawing/2014/main" id="{750A1539-2E41-FF61-F97E-D034AC956F6F}"/>
              </a:ext>
            </a:extLst>
          </p:cNvPr>
          <p:cNvSpPr txBox="1"/>
          <p:nvPr/>
        </p:nvSpPr>
        <p:spPr>
          <a:xfrm>
            <a:off x="1020586" y="1556747"/>
            <a:ext cx="5656283" cy="338554"/>
          </a:xfrm>
          <a:prstGeom prst="rect">
            <a:avLst/>
          </a:prstGeom>
          <a:noFill/>
        </p:spPr>
        <p:txBody>
          <a:bodyPr wrap="square">
            <a:spAutoFit/>
          </a:bodyPr>
          <a:lstStyle/>
          <a:p>
            <a:r>
              <a:rPr lang="zh-CN" altLang="en-US" sz="1600" dirty="0" smtClean="0">
                <a:solidFill>
                  <a:srgbClr val="FF0000"/>
                </a:solidFill>
                <a:latin typeface="微软雅黑" panose="020B0503020204020204" pitchFamily="34" charset="-122"/>
                <a:ea typeface="微软雅黑" panose="020B0503020204020204" pitchFamily="34" charset="-122"/>
              </a:rPr>
              <a:t>完成累计</a:t>
            </a:r>
            <a:r>
              <a:rPr lang="en-US" altLang="zh-CN" sz="1600" dirty="0" smtClean="0">
                <a:solidFill>
                  <a:srgbClr val="FF0000"/>
                </a:solidFill>
                <a:latin typeface="微软雅黑" panose="020B0503020204020204" pitchFamily="34" charset="-122"/>
                <a:ea typeface="微软雅黑" panose="020B0503020204020204" pitchFamily="34" charset="-122"/>
              </a:rPr>
              <a:t>40</a:t>
            </a:r>
            <a:r>
              <a:rPr lang="zh-CN" altLang="en-US" sz="1600" dirty="0" smtClean="0">
                <a:solidFill>
                  <a:srgbClr val="FF0000"/>
                </a:solidFill>
                <a:latin typeface="微软雅黑" panose="020B0503020204020204" pitchFamily="34" charset="-122"/>
                <a:ea typeface="微软雅黑" panose="020B0503020204020204" pitchFamily="34" charset="-122"/>
              </a:rPr>
              <a:t>条</a:t>
            </a:r>
            <a:r>
              <a:rPr lang="en-US" altLang="zh-CN" sz="1600" dirty="0" smtClean="0">
                <a:solidFill>
                  <a:srgbClr val="FF0000"/>
                </a:solidFill>
                <a:latin typeface="微软雅黑" panose="020B0503020204020204" pitchFamily="34" charset="-122"/>
                <a:ea typeface="微软雅黑" panose="020B0503020204020204" pitchFamily="34" charset="-122"/>
              </a:rPr>
              <a:t>L3</a:t>
            </a:r>
            <a:r>
              <a:rPr lang="zh-CN" altLang="en-US" sz="1600" dirty="0" smtClean="0">
                <a:solidFill>
                  <a:srgbClr val="FF0000"/>
                </a:solidFill>
                <a:latin typeface="微软雅黑" panose="020B0503020204020204" pitchFamily="34" charset="-122"/>
                <a:ea typeface="微软雅黑" panose="020B0503020204020204" pitchFamily="34" charset="-122"/>
              </a:rPr>
              <a:t>子流程</a:t>
            </a:r>
            <a:r>
              <a:rPr lang="en-US" altLang="zh-CN" sz="1600" dirty="0">
                <a:solidFill>
                  <a:srgbClr val="FF0000"/>
                </a:solidFill>
                <a:latin typeface="微软雅黑" panose="020B0503020204020204" pitchFamily="34" charset="-122"/>
                <a:ea typeface="微软雅黑" panose="020B0503020204020204" pitchFamily="34" charset="-122"/>
              </a:rPr>
              <a:t>V0.9</a:t>
            </a:r>
            <a:r>
              <a:rPr lang="zh-CN" altLang="en-US" sz="1600" dirty="0" smtClean="0">
                <a:solidFill>
                  <a:srgbClr val="FF0000"/>
                </a:solidFill>
                <a:latin typeface="微软雅黑" panose="020B0503020204020204" pitchFamily="34" charset="-122"/>
                <a:ea typeface="微软雅黑" panose="020B0503020204020204" pitchFamily="34" charset="-122"/>
              </a:rPr>
              <a:t>版本的推行、评审及发布工作。</a:t>
            </a: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131138633"/>
              </p:ext>
            </p:extLst>
          </p:nvPr>
        </p:nvGraphicFramePr>
        <p:xfrm>
          <a:off x="497463" y="2613667"/>
          <a:ext cx="5960335" cy="4084320"/>
        </p:xfrm>
        <a:graphic>
          <a:graphicData uri="http://schemas.openxmlformats.org/drawingml/2006/table">
            <a:tbl>
              <a:tblPr firstRow="1" bandRow="1">
                <a:tableStyleId>{5C22544A-7EE6-4342-B048-85BDC9FD1C3A}</a:tableStyleId>
              </a:tblPr>
              <a:tblGrid>
                <a:gridCol w="762259"/>
                <a:gridCol w="1054444"/>
                <a:gridCol w="881448"/>
                <a:gridCol w="1425146"/>
                <a:gridCol w="1021492"/>
                <a:gridCol w="815546"/>
              </a:tblGrid>
              <a:tr h="370840">
                <a:tc>
                  <a:txBody>
                    <a:bodyPr/>
                    <a:lstStyle/>
                    <a:p>
                      <a:pPr algn="ctr"/>
                      <a:r>
                        <a:rPr lang="en-US" altLang="zh-CN" sz="1100" b="1" dirty="0" smtClean="0">
                          <a:latin typeface="微软雅黑" panose="020B0503020204020204" pitchFamily="34" charset="-122"/>
                          <a:ea typeface="微软雅黑" panose="020B0503020204020204" pitchFamily="34" charset="-122"/>
                        </a:rPr>
                        <a:t>L2</a:t>
                      </a:r>
                      <a:r>
                        <a:rPr lang="zh-CN" altLang="en-US" sz="1100" b="1" dirty="0" smtClean="0">
                          <a:latin typeface="微软雅黑" panose="020B0503020204020204" pitchFamily="34" charset="-122"/>
                          <a:ea typeface="微软雅黑" panose="020B0503020204020204" pitchFamily="34" charset="-122"/>
                        </a:rPr>
                        <a:t>流程</a:t>
                      </a:r>
                      <a:endParaRPr lang="zh-CN" altLang="en-US" sz="1100" b="1"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b="1" dirty="0" smtClean="0">
                          <a:latin typeface="微软雅黑" panose="020B0503020204020204" pitchFamily="34" charset="-122"/>
                          <a:ea typeface="微软雅黑" panose="020B0503020204020204" pitchFamily="34" charset="-122"/>
                        </a:rPr>
                        <a:t>L2 PO</a:t>
                      </a:r>
                      <a:endParaRPr lang="zh-CN" altLang="en-US" sz="1100" b="1"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b="1" dirty="0" smtClean="0">
                          <a:latin typeface="微软雅黑" panose="020B0503020204020204" pitchFamily="34" charset="-122"/>
                          <a:ea typeface="微软雅黑" panose="020B0503020204020204" pitchFamily="34" charset="-122"/>
                        </a:rPr>
                        <a:t>L3</a:t>
                      </a:r>
                      <a:r>
                        <a:rPr lang="zh-CN" altLang="en-US" sz="1100" b="1" dirty="0" smtClean="0">
                          <a:latin typeface="微软雅黑" panose="020B0503020204020204" pitchFamily="34" charset="-122"/>
                          <a:ea typeface="微软雅黑" panose="020B0503020204020204" pitchFamily="34" charset="-122"/>
                        </a:rPr>
                        <a:t>条数</a:t>
                      </a:r>
                      <a:endParaRPr lang="zh-CN" altLang="en-US" sz="1100" b="1"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b="1" dirty="0" smtClean="0">
                          <a:latin typeface="微软雅黑" panose="020B0503020204020204" pitchFamily="34" charset="-122"/>
                          <a:ea typeface="微软雅黑" panose="020B0503020204020204" pitchFamily="34" charset="-122"/>
                        </a:rPr>
                        <a:t>L3</a:t>
                      </a:r>
                      <a:r>
                        <a:rPr lang="zh-CN" altLang="en-US" sz="1100" b="1" dirty="0" smtClean="0">
                          <a:latin typeface="微软雅黑" panose="020B0503020204020204" pitchFamily="34" charset="-122"/>
                          <a:ea typeface="微软雅黑" panose="020B0503020204020204" pitchFamily="34" charset="-122"/>
                        </a:rPr>
                        <a:t>流程</a:t>
                      </a:r>
                      <a:r>
                        <a:rPr lang="en-US" altLang="zh-CN" sz="1100" b="1" dirty="0" smtClean="0">
                          <a:latin typeface="微软雅黑" panose="020B0503020204020204" pitchFamily="34" charset="-122"/>
                          <a:ea typeface="微软雅黑" panose="020B0503020204020204" pitchFamily="34" charset="-122"/>
                        </a:rPr>
                        <a:t>V0.9</a:t>
                      </a:r>
                      <a:r>
                        <a:rPr lang="zh-CN" altLang="en-US" sz="1100" b="1" dirty="0" smtClean="0">
                          <a:latin typeface="微软雅黑" panose="020B0503020204020204" pitchFamily="34" charset="-122"/>
                          <a:ea typeface="微软雅黑" panose="020B0503020204020204" pitchFamily="34" charset="-122"/>
                        </a:rPr>
                        <a:t>版本评审</a:t>
                      </a:r>
                      <a:r>
                        <a:rPr lang="zh-CN" altLang="en-US" sz="1100" b="1" dirty="0" smtClean="0">
                          <a:latin typeface="微软雅黑" panose="020B0503020204020204" pitchFamily="34" charset="-122"/>
                          <a:ea typeface="微软雅黑" panose="020B0503020204020204" pitchFamily="34" charset="-122"/>
                        </a:rPr>
                        <a:t>通过数及进展</a:t>
                      </a:r>
                      <a:r>
                        <a:rPr lang="zh-CN" altLang="en-US" sz="1100" b="1" dirty="0" smtClean="0">
                          <a:latin typeface="微软雅黑" panose="020B0503020204020204" pitchFamily="34" charset="-122"/>
                          <a:ea typeface="微软雅黑" panose="020B0503020204020204" pitchFamily="34" charset="-122"/>
                        </a:rPr>
                        <a:t>率</a:t>
                      </a:r>
                      <a:endParaRPr lang="zh-CN" altLang="en-US" sz="1100" b="1"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b="1" dirty="0" smtClean="0">
                          <a:latin typeface="微软雅黑" panose="020B0503020204020204" pitchFamily="34" charset="-122"/>
                          <a:ea typeface="微软雅黑" panose="020B0503020204020204" pitchFamily="34" charset="-122"/>
                        </a:rPr>
                        <a:t>L3</a:t>
                      </a:r>
                      <a:r>
                        <a:rPr lang="zh-CN" altLang="en-US" sz="1100" b="1" dirty="0" smtClean="0">
                          <a:latin typeface="微软雅黑" panose="020B0503020204020204" pitchFamily="34" charset="-122"/>
                          <a:ea typeface="微软雅黑" panose="020B0503020204020204" pitchFamily="34" charset="-122"/>
                        </a:rPr>
                        <a:t>流程</a:t>
                      </a:r>
                      <a:r>
                        <a:rPr lang="en-US" altLang="zh-CN" sz="1100" b="1" dirty="0" smtClean="0">
                          <a:latin typeface="微软雅黑" panose="020B0503020204020204" pitchFamily="34" charset="-122"/>
                          <a:ea typeface="微软雅黑" panose="020B0503020204020204" pitchFamily="34" charset="-122"/>
                        </a:rPr>
                        <a:t>V0.9</a:t>
                      </a:r>
                      <a:r>
                        <a:rPr lang="zh-CN" altLang="en-US" sz="1100" b="1" dirty="0" smtClean="0">
                          <a:latin typeface="微软雅黑" panose="020B0503020204020204" pitchFamily="34" charset="-122"/>
                          <a:ea typeface="微软雅黑" panose="020B0503020204020204" pitchFamily="34" charset="-122"/>
                        </a:rPr>
                        <a:t>版本发布数</a:t>
                      </a:r>
                      <a:endParaRPr lang="zh-CN" altLang="en-US" sz="1100" b="1" dirty="0">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smtClean="0">
                          <a:latin typeface="微软雅黑" panose="020B0503020204020204" pitchFamily="34" charset="-122"/>
                          <a:ea typeface="微软雅黑" panose="020B0503020204020204" pitchFamily="34" charset="-122"/>
                        </a:rPr>
                        <a:t>推行培训</a:t>
                      </a:r>
                      <a:endParaRPr lang="zh-CN" altLang="en-US" sz="1100" b="1" dirty="0">
                        <a:latin typeface="微软雅黑" panose="020B0503020204020204" pitchFamily="34" charset="-122"/>
                        <a:ea typeface="微软雅黑" panose="020B0503020204020204" pitchFamily="34" charset="-122"/>
                      </a:endParaRPr>
                    </a:p>
                  </a:txBody>
                  <a:tcPr/>
                </a:tc>
              </a:tr>
              <a:tr h="186359">
                <a:tc>
                  <a:txBody>
                    <a:bodyPr/>
                    <a:lstStyle/>
                    <a:p>
                      <a:pPr algn="ctr"/>
                      <a:r>
                        <a:rPr lang="en-US" altLang="zh-CN" sz="1000" dirty="0" smtClean="0">
                          <a:latin typeface="微软雅黑" panose="020B0503020204020204" pitchFamily="34" charset="-122"/>
                          <a:ea typeface="微软雅黑" panose="020B0503020204020204" pitchFamily="34" charset="-122"/>
                        </a:rPr>
                        <a:t>SD</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吴可恺</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6</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6</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100%</a:t>
                      </a:r>
                      <a:r>
                        <a:rPr lang="zh-CN" altLang="en-US" sz="1000" dirty="0" smtClean="0">
                          <a:latin typeface="微软雅黑" panose="020B0503020204020204" pitchFamily="34" charset="-122"/>
                          <a:ea typeface="微软雅黑" panose="020B0503020204020204" pitchFamily="34" charset="-122"/>
                        </a:rPr>
                        <a:t>）</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0</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230844">
                <a:tc>
                  <a:txBody>
                    <a:bodyPr/>
                    <a:lstStyle/>
                    <a:p>
                      <a:pPr algn="ctr"/>
                      <a:r>
                        <a:rPr lang="en-US" altLang="zh-CN" sz="1000" dirty="0" smtClean="0">
                          <a:latin typeface="微软雅黑" panose="020B0503020204020204" pitchFamily="34" charset="-122"/>
                          <a:ea typeface="微软雅黑" panose="020B0503020204020204" pitchFamily="34" charset="-122"/>
                        </a:rPr>
                        <a:t>MO</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曹曦</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5</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5</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100%</a:t>
                      </a:r>
                      <a:r>
                        <a:rPr lang="zh-CN" altLang="en-US" sz="1000" dirty="0" smtClean="0">
                          <a:latin typeface="微软雅黑" panose="020B0503020204020204" pitchFamily="34" charset="-122"/>
                          <a:ea typeface="微软雅黑" panose="020B0503020204020204" pitchFamily="34" charset="-122"/>
                        </a:rPr>
                        <a:t>）</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2</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1</a:t>
                      </a:r>
                      <a:endParaRPr lang="zh-CN" altLang="en-US" sz="1000" dirty="0">
                        <a:latin typeface="微软雅黑" panose="020B0503020204020204" pitchFamily="34" charset="-122"/>
                        <a:ea typeface="微软雅黑" panose="020B0503020204020204" pitchFamily="34" charset="-122"/>
                      </a:endParaRPr>
                    </a:p>
                  </a:txBody>
                  <a:tcPr/>
                </a:tc>
              </a:tr>
              <a:tr h="201187">
                <a:tc>
                  <a:txBody>
                    <a:bodyPr/>
                    <a:lstStyle/>
                    <a:p>
                      <a:pPr algn="ctr"/>
                      <a:r>
                        <a:rPr lang="en-US" altLang="zh-CN" sz="1000" dirty="0" smtClean="0">
                          <a:latin typeface="微软雅黑" panose="020B0503020204020204" pitchFamily="34" charset="-122"/>
                          <a:ea typeface="微软雅黑" panose="020B0503020204020204" pitchFamily="34" charset="-122"/>
                        </a:rPr>
                        <a:t>MI</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项小升</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4</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0">
                <a:tc>
                  <a:txBody>
                    <a:bodyPr/>
                    <a:lstStyle/>
                    <a:p>
                      <a:pPr algn="ctr"/>
                      <a:r>
                        <a:rPr lang="en-US" altLang="zh-CN" sz="1000" dirty="0" smtClean="0">
                          <a:latin typeface="微软雅黑" panose="020B0503020204020204" pitchFamily="34" charset="-122"/>
                          <a:ea typeface="微软雅黑" panose="020B0503020204020204" pitchFamily="34" charset="-122"/>
                        </a:rPr>
                        <a:t>DSTE</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黄镇</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5</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51130">
                <a:tc>
                  <a:txBody>
                    <a:bodyPr/>
                    <a:lstStyle/>
                    <a:p>
                      <a:pPr algn="ctr"/>
                      <a:r>
                        <a:rPr lang="en-US" altLang="zh-CN" sz="1000" dirty="0" smtClean="0">
                          <a:latin typeface="微软雅黑" panose="020B0503020204020204" pitchFamily="34" charset="-122"/>
                          <a:ea typeface="微软雅黑" panose="020B0503020204020204" pitchFamily="34" charset="-122"/>
                        </a:rPr>
                        <a:t>SCE</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岳雯</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3</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0">
                <a:tc>
                  <a:txBody>
                    <a:bodyPr/>
                    <a:lstStyle/>
                    <a:p>
                      <a:pPr algn="ctr"/>
                      <a:r>
                        <a:rPr lang="en-US" altLang="zh-CN" sz="1000" dirty="0" smtClean="0">
                          <a:latin typeface="微软雅黑" panose="020B0503020204020204" pitchFamily="34" charset="-122"/>
                          <a:ea typeface="微软雅黑" panose="020B0503020204020204" pitchFamily="34" charset="-122"/>
                        </a:rPr>
                        <a:t>ML</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任礼抗</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3</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828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微软雅黑" panose="020B0503020204020204" pitchFamily="34" charset="-122"/>
                          <a:ea typeface="微软雅黑" panose="020B0503020204020204" pitchFamily="34" charset="-122"/>
                        </a:rPr>
                        <a:t>SMD</a:t>
                      </a:r>
                      <a:endParaRPr lang="zh-CN" altLang="en-US" sz="1000" dirty="0" smtClean="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邵德强</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3</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21920">
                <a:tc>
                  <a:txBody>
                    <a:bodyPr/>
                    <a:lstStyle/>
                    <a:p>
                      <a:pPr algn="ctr"/>
                      <a:r>
                        <a:rPr lang="en-US" altLang="zh-CN" sz="1000" dirty="0" smtClean="0">
                          <a:latin typeface="微软雅黑" panose="020B0503020204020204" pitchFamily="34" charset="-122"/>
                          <a:ea typeface="微软雅黑" panose="020B0503020204020204" pitchFamily="34" charset="-122"/>
                        </a:rPr>
                        <a:t>OR</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刘福能</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4</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0">
                <a:tc>
                  <a:txBody>
                    <a:bodyPr/>
                    <a:lstStyle/>
                    <a:p>
                      <a:pPr algn="ctr"/>
                      <a:r>
                        <a:rPr lang="en-US" altLang="zh-CN" sz="1000" dirty="0" smtClean="0">
                          <a:latin typeface="微软雅黑" panose="020B0503020204020204" pitchFamily="34" charset="-122"/>
                          <a:ea typeface="微软雅黑" panose="020B0503020204020204" pitchFamily="34" charset="-122"/>
                        </a:rPr>
                        <a:t>DG</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夏国卿</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4</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0">
                <a:tc>
                  <a:txBody>
                    <a:bodyPr/>
                    <a:lstStyle/>
                    <a:p>
                      <a:pPr algn="ctr"/>
                      <a:r>
                        <a:rPr lang="en-US" altLang="zh-CN" sz="1000" dirty="0" smtClean="0">
                          <a:latin typeface="微软雅黑" panose="020B0503020204020204" pitchFamily="34" charset="-122"/>
                          <a:ea typeface="微软雅黑" panose="020B0503020204020204" pitchFamily="34" charset="-122"/>
                        </a:rPr>
                        <a:t>MM</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马雪峰</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6</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82880">
                <a:tc>
                  <a:txBody>
                    <a:bodyPr/>
                    <a:lstStyle/>
                    <a:p>
                      <a:pPr algn="ctr"/>
                      <a:r>
                        <a:rPr lang="en-US" altLang="zh-CN" sz="1000" dirty="0" smtClean="0">
                          <a:latin typeface="微软雅黑" panose="020B0503020204020204" pitchFamily="34" charset="-122"/>
                          <a:ea typeface="微软雅黑" panose="020B0503020204020204" pitchFamily="34" charset="-122"/>
                        </a:rPr>
                        <a:t>ITR</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余育淦</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3</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21920">
                <a:tc>
                  <a:txBody>
                    <a:bodyPr/>
                    <a:lstStyle/>
                    <a:p>
                      <a:pPr algn="ctr"/>
                      <a:r>
                        <a:rPr lang="en-US" altLang="zh-CN" sz="1000" dirty="0" smtClean="0">
                          <a:latin typeface="微软雅黑" panose="020B0503020204020204" pitchFamily="34" charset="-122"/>
                          <a:ea typeface="微软雅黑" panose="020B0503020204020204" pitchFamily="34" charset="-122"/>
                        </a:rPr>
                        <a:t>MDG</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刘福能</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4</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21920">
                <a:tc>
                  <a:txBody>
                    <a:bodyPr/>
                    <a:lstStyle/>
                    <a:p>
                      <a:pPr algn="ctr"/>
                      <a:r>
                        <a:rPr lang="en-US" altLang="zh-CN" sz="1000" dirty="0" smtClean="0">
                          <a:latin typeface="微软雅黑" panose="020B0503020204020204" pitchFamily="34" charset="-122"/>
                          <a:ea typeface="微软雅黑" panose="020B0503020204020204" pitchFamily="34" charset="-122"/>
                        </a:rPr>
                        <a:t>DCV</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卓德震</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4</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21920">
                <a:tc>
                  <a:txBody>
                    <a:bodyPr/>
                    <a:lstStyle/>
                    <a:p>
                      <a:pPr algn="ctr"/>
                      <a:r>
                        <a:rPr lang="en-US" altLang="zh-CN" sz="1000" dirty="0" smtClean="0">
                          <a:latin typeface="微软雅黑" panose="020B0503020204020204" pitchFamily="34" charset="-122"/>
                          <a:ea typeface="微软雅黑" panose="020B0503020204020204" pitchFamily="34" charset="-122"/>
                        </a:rPr>
                        <a:t>CM</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zh-CN" altLang="en-US" sz="1000" dirty="0" smtClean="0">
                          <a:latin typeface="微软雅黑" panose="020B0503020204020204" pitchFamily="34" charset="-122"/>
                          <a:ea typeface="微软雅黑" panose="020B0503020204020204" pitchFamily="34" charset="-122"/>
                        </a:rPr>
                        <a:t>陈涌晖</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3</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r h="121920">
                <a:tc>
                  <a:txBody>
                    <a:bodyPr/>
                    <a:lstStyle/>
                    <a:p>
                      <a:pPr algn="ctr"/>
                      <a:r>
                        <a:rPr lang="zh-CN" altLang="en-US" sz="1000" dirty="0" smtClean="0">
                          <a:latin typeface="微软雅黑" panose="020B0503020204020204" pitchFamily="34" charset="-122"/>
                          <a:ea typeface="微软雅黑" panose="020B0503020204020204" pitchFamily="34" charset="-122"/>
                        </a:rPr>
                        <a:t>小计</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r>
                        <a:rPr lang="en-US" altLang="zh-CN" sz="1000" dirty="0" smtClean="0">
                          <a:latin typeface="微软雅黑" panose="020B0503020204020204" pitchFamily="34" charset="-122"/>
                          <a:ea typeface="微软雅黑" panose="020B0503020204020204" pitchFamily="34" charset="-122"/>
                        </a:rPr>
                        <a:t>14</a:t>
                      </a: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c>
                  <a:txBody>
                    <a:bodyPr/>
                    <a:lstStyle/>
                    <a:p>
                      <a:pPr algn="ctr"/>
                      <a:endParaRPr lang="zh-CN" altLang="en-US" sz="1000" dirty="0">
                        <a:latin typeface="微软雅黑" panose="020B0503020204020204" pitchFamily="34" charset="-122"/>
                        <a:ea typeface="微软雅黑" panose="020B0503020204020204" pitchFamily="34" charset="-122"/>
                      </a:endParaRPr>
                    </a:p>
                  </a:txBody>
                  <a:tcPr/>
                </a:tc>
              </a:tr>
            </a:tbl>
          </a:graphicData>
        </a:graphic>
      </p:graphicFrame>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6739568" y="2926945"/>
            <a:ext cx="2302912" cy="1624589"/>
          </a:xfrm>
          <a:prstGeom prst="rect">
            <a:avLst/>
          </a:prstGeom>
        </p:spPr>
      </p:pic>
      <p:sp>
        <p:nvSpPr>
          <p:cNvPr id="16" name="文本框 15">
            <a:extLst>
              <a:ext uri="{FF2B5EF4-FFF2-40B4-BE49-F238E27FC236}">
                <a16:creationId xmlns="" xmlns:a16="http://schemas.microsoft.com/office/drawing/2014/main" id="{9723432A-84AC-6185-79F0-321C44BC822B}"/>
              </a:ext>
            </a:extLst>
          </p:cNvPr>
          <p:cNvSpPr txBox="1"/>
          <p:nvPr/>
        </p:nvSpPr>
        <p:spPr>
          <a:xfrm>
            <a:off x="7039572" y="2641102"/>
            <a:ext cx="1667823" cy="276999"/>
          </a:xfrm>
          <a:prstGeom prst="rect">
            <a:avLst/>
          </a:prstGeom>
          <a:noFill/>
        </p:spPr>
        <p:txBody>
          <a:bodyPr wrap="square">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rPr>
              <a:t>流程建设周进度看板</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 xmlns:a16="http://schemas.microsoft.com/office/drawing/2014/main" id="{9723432A-84AC-6185-79F0-321C44BC822B}"/>
              </a:ext>
            </a:extLst>
          </p:cNvPr>
          <p:cNvSpPr txBox="1"/>
          <p:nvPr/>
        </p:nvSpPr>
        <p:spPr>
          <a:xfrm>
            <a:off x="7322305" y="4670330"/>
            <a:ext cx="1249029" cy="276999"/>
          </a:xfrm>
          <a:prstGeom prst="rect">
            <a:avLst/>
          </a:prstGeom>
          <a:noFill/>
        </p:spPr>
        <p:txBody>
          <a:bodyPr wrap="square">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r>
              <a:rPr lang="zh-CN" altLang="en-US" dirty="0">
                <a:solidFill>
                  <a:schemeClr val="bg1"/>
                </a:solidFill>
              </a:rPr>
              <a:t>流程发布</a:t>
            </a:r>
            <a:r>
              <a:rPr lang="zh-CN" altLang="en-US" dirty="0" smtClean="0">
                <a:solidFill>
                  <a:schemeClr val="bg1"/>
                </a:solidFill>
              </a:rPr>
              <a:t>邮件</a:t>
            </a:r>
            <a:endParaRPr lang="zh-CN" altLang="en-US" dirty="0">
              <a:solidFill>
                <a:schemeClr val="bg1"/>
              </a:solidFill>
            </a:endParaRPr>
          </a:p>
        </p:txBody>
      </p:sp>
      <p:pic>
        <p:nvPicPr>
          <p:cNvPr id="18" name="图片 17"/>
          <p:cNvPicPr>
            <a:picLocks noChangeAspect="1"/>
          </p:cNvPicPr>
          <p:nvPr/>
        </p:nvPicPr>
        <p:blipFill>
          <a:blip r:embed="rId4"/>
          <a:stretch>
            <a:fillRect/>
          </a:stretch>
        </p:blipFill>
        <p:spPr>
          <a:xfrm>
            <a:off x="6709378" y="4957444"/>
            <a:ext cx="2379697" cy="1841026"/>
          </a:xfrm>
          <a:prstGeom prst="rect">
            <a:avLst/>
          </a:prstGeom>
        </p:spPr>
      </p:pic>
      <p:sp>
        <p:nvSpPr>
          <p:cNvPr id="19" name="文本框 18">
            <a:extLst>
              <a:ext uri="{FF2B5EF4-FFF2-40B4-BE49-F238E27FC236}">
                <a16:creationId xmlns="" xmlns:a16="http://schemas.microsoft.com/office/drawing/2014/main" id="{9723432A-84AC-6185-79F0-321C44BC822B}"/>
              </a:ext>
            </a:extLst>
          </p:cNvPr>
          <p:cNvSpPr txBox="1"/>
          <p:nvPr/>
        </p:nvSpPr>
        <p:spPr>
          <a:xfrm>
            <a:off x="9792430" y="2641102"/>
            <a:ext cx="1791016" cy="276999"/>
          </a:xfrm>
          <a:prstGeom prst="rect">
            <a:avLst/>
          </a:prstGeom>
          <a:noFill/>
        </p:spPr>
        <p:txBody>
          <a:bodyPr wrap="square">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r>
              <a:rPr lang="zh-CN" altLang="en-US" dirty="0">
                <a:solidFill>
                  <a:schemeClr val="bg1"/>
                </a:solidFill>
              </a:rPr>
              <a:t>区域经理推行培训</a:t>
            </a:r>
            <a:r>
              <a:rPr lang="zh-CN" altLang="en-US" dirty="0" smtClean="0">
                <a:solidFill>
                  <a:schemeClr val="bg1"/>
                </a:solidFill>
              </a:rPr>
              <a:t>会</a:t>
            </a:r>
            <a:endParaRPr lang="zh-CN" altLang="en-US" dirty="0">
              <a:solidFill>
                <a:schemeClr val="bg1"/>
              </a:solidFill>
            </a:endParaRPr>
          </a:p>
        </p:txBody>
      </p:sp>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58021" y="2932380"/>
            <a:ext cx="2870902" cy="1558923"/>
          </a:xfrm>
          <a:prstGeom prst="rect">
            <a:avLst/>
          </a:prstGeom>
        </p:spPr>
      </p:pic>
      <p:sp>
        <p:nvSpPr>
          <p:cNvPr id="21" name="文本框 20">
            <a:extLst>
              <a:ext uri="{FF2B5EF4-FFF2-40B4-BE49-F238E27FC236}">
                <a16:creationId xmlns="" xmlns:a16="http://schemas.microsoft.com/office/drawing/2014/main" id="{9723432A-84AC-6185-79F0-321C44BC822B}"/>
              </a:ext>
            </a:extLst>
          </p:cNvPr>
          <p:cNvSpPr txBox="1"/>
          <p:nvPr/>
        </p:nvSpPr>
        <p:spPr>
          <a:xfrm>
            <a:off x="10044056" y="4670330"/>
            <a:ext cx="1439490" cy="276999"/>
          </a:xfrm>
          <a:prstGeom prst="rect">
            <a:avLst/>
          </a:prstGeom>
          <a:noFill/>
        </p:spPr>
        <p:txBody>
          <a:bodyPr wrap="square">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r>
              <a:rPr lang="zh-CN" altLang="en-US" dirty="0">
                <a:solidFill>
                  <a:schemeClr val="bg1"/>
                </a:solidFill>
              </a:rPr>
              <a:t>推行版培训</a:t>
            </a:r>
            <a:r>
              <a:rPr lang="en-US" altLang="zh-CN" dirty="0" smtClean="0">
                <a:solidFill>
                  <a:schemeClr val="bg1"/>
                </a:solidFill>
              </a:rPr>
              <a:t>PPT</a:t>
            </a:r>
            <a:endParaRPr lang="zh-CN" altLang="en-US" dirty="0">
              <a:solidFill>
                <a:schemeClr val="bg1"/>
              </a:solidFill>
            </a:endParaRPr>
          </a:p>
        </p:txBody>
      </p:sp>
      <p:pic>
        <p:nvPicPr>
          <p:cNvPr id="22" name="图片 21"/>
          <p:cNvPicPr>
            <a:picLocks noChangeAspect="1"/>
          </p:cNvPicPr>
          <p:nvPr/>
        </p:nvPicPr>
        <p:blipFill>
          <a:blip r:embed="rId6"/>
          <a:stretch>
            <a:fillRect/>
          </a:stretch>
        </p:blipFill>
        <p:spPr>
          <a:xfrm>
            <a:off x="9239084" y="5051187"/>
            <a:ext cx="2852138" cy="1666259"/>
          </a:xfrm>
          <a:prstGeom prst="rect">
            <a:avLst/>
          </a:prstGeom>
        </p:spPr>
      </p:pic>
      <p:cxnSp>
        <p:nvCxnSpPr>
          <p:cNvPr id="24" name="直接连接符 23"/>
          <p:cNvCxnSpPr/>
          <p:nvPr/>
        </p:nvCxnSpPr>
        <p:spPr>
          <a:xfrm>
            <a:off x="514604" y="2504304"/>
            <a:ext cx="58861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644154" y="2504304"/>
            <a:ext cx="5474243"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 xmlns:a16="http://schemas.microsoft.com/office/drawing/2014/main" id="{9723432A-84AC-6185-79F0-321C44BC822B}"/>
              </a:ext>
            </a:extLst>
          </p:cNvPr>
          <p:cNvSpPr txBox="1"/>
          <p:nvPr/>
        </p:nvSpPr>
        <p:spPr>
          <a:xfrm>
            <a:off x="8258171" y="2149289"/>
            <a:ext cx="2055602" cy="338554"/>
          </a:xfrm>
          <a:prstGeom prst="rect">
            <a:avLst/>
          </a:prstGeom>
          <a:noFill/>
        </p:spPr>
        <p:txBody>
          <a:bodyPr wrap="square">
            <a:spAutoFit/>
          </a:bodyPr>
          <a:lstStyle/>
          <a:p>
            <a:r>
              <a:rPr lang="zh-CN" altLang="en-US" sz="1600" b="1" dirty="0">
                <a:solidFill>
                  <a:srgbClr val="000000"/>
                </a:solidFill>
                <a:latin typeface="微软雅黑" panose="020B0503020204020204" pitchFamily="34" charset="-122"/>
                <a:ea typeface="微软雅黑" panose="020B0503020204020204" pitchFamily="34" charset="-122"/>
              </a:rPr>
              <a:t>各</a:t>
            </a:r>
            <a:r>
              <a:rPr lang="zh-CN" altLang="en-US" sz="1600" b="1" dirty="0" smtClean="0">
                <a:solidFill>
                  <a:srgbClr val="000000"/>
                </a:solidFill>
                <a:latin typeface="微软雅黑" panose="020B0503020204020204" pitchFamily="34" charset="-122"/>
                <a:ea typeface="微软雅黑" panose="020B0503020204020204" pitchFamily="34" charset="-122"/>
              </a:rPr>
              <a:t>条战线齐头并进</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025866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2E8958-5D48-5B5F-133B-4ED2F8FBDEFD}"/>
            </a:ext>
          </a:extLst>
        </p:cNvPr>
        <p:cNvGrpSpPr/>
        <p:nvPr/>
      </p:nvGrpSpPr>
      <p:grpSpPr>
        <a:xfrm>
          <a:off x="0" y="0"/>
          <a:ext cx="0" cy="0"/>
          <a:chOff x="0" y="0"/>
          <a:chExt cx="0" cy="0"/>
        </a:xfrm>
      </p:grpSpPr>
      <p:sp>
        <p:nvSpPr>
          <p:cNvPr id="19" name="矩形 18"/>
          <p:cNvSpPr/>
          <p:nvPr/>
        </p:nvSpPr>
        <p:spPr>
          <a:xfrm>
            <a:off x="203345" y="4299938"/>
            <a:ext cx="11843245" cy="12036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3346" y="969745"/>
            <a:ext cx="11843245" cy="3333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 xmlns:a16="http://schemas.microsoft.com/office/drawing/2014/main" id="{687AD25C-0248-0D32-F955-DB077AD7DFD4}"/>
              </a:ext>
            </a:extLst>
          </p:cNvPr>
          <p:cNvSpPr txBox="1"/>
          <p:nvPr>
            <p:custDataLst>
              <p:tags r:id="rId1"/>
            </p:custDataLst>
          </p:nvPr>
        </p:nvSpPr>
        <p:spPr>
          <a:xfrm>
            <a:off x="638175" y="323850"/>
            <a:ext cx="12715875" cy="752475"/>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项目</a:t>
            </a:r>
            <a:r>
              <a:rPr kumimoji="1" lang="en-US" altLang="zh-CN" sz="2965" b="1" dirty="0">
                <a:solidFill>
                  <a:srgbClr val="E60039"/>
                </a:solidFill>
                <a:latin typeface="微软雅黑" panose="020B0503020204020204" charset="-122"/>
                <a:ea typeface="微软雅黑" panose="020B0503020204020204" charset="-122"/>
                <a:sym typeface="+mn-ea"/>
              </a:rPr>
              <a:t>-</a:t>
            </a:r>
            <a:r>
              <a:rPr kumimoji="1" lang="zh-CN" altLang="en-US" sz="2965" b="1" dirty="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rPr>
              <a:t>举措成效</a:t>
            </a:r>
            <a:r>
              <a:rPr kumimoji="1" lang="zh-CN" altLang="en-US" sz="2965" b="1" dirty="0">
                <a:solidFill>
                  <a:srgbClr val="E60039"/>
                </a:solidFill>
                <a:latin typeface="微软雅黑" panose="020B0503020204020204" charset="-122"/>
                <a:ea typeface="微软雅黑" panose="020B0503020204020204" charset="-122"/>
                <a:sym typeface="+mn-ea"/>
              </a:rPr>
              <a:t>，沉淀的经验和方法</a:t>
            </a:r>
          </a:p>
        </p:txBody>
      </p:sp>
      <p:sp>
        <p:nvSpPr>
          <p:cNvPr id="4" name="文本框 3">
            <a:extLst>
              <a:ext uri="{FF2B5EF4-FFF2-40B4-BE49-F238E27FC236}">
                <a16:creationId xmlns="" xmlns:a16="http://schemas.microsoft.com/office/drawing/2014/main" id="{199276ED-4A61-1995-5952-574206D3B0BF}"/>
              </a:ext>
            </a:extLst>
          </p:cNvPr>
          <p:cNvSpPr txBox="1"/>
          <p:nvPr/>
        </p:nvSpPr>
        <p:spPr>
          <a:xfrm>
            <a:off x="1803634" y="1092801"/>
            <a:ext cx="3216828" cy="369332"/>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dirty="0"/>
              <a:t>建立流程管理的</a:t>
            </a:r>
            <a:r>
              <a:rPr lang="zh-CN" altLang="en-US" dirty="0" smtClean="0"/>
              <a:t>流程和机制</a:t>
            </a:r>
            <a:endParaRPr lang="zh-CN" altLang="en-US" dirty="0"/>
          </a:p>
        </p:txBody>
      </p:sp>
      <p:pic>
        <p:nvPicPr>
          <p:cNvPr id="9" name="图片 8"/>
          <p:cNvPicPr>
            <a:picLocks noChangeAspect="1"/>
          </p:cNvPicPr>
          <p:nvPr/>
        </p:nvPicPr>
        <p:blipFill>
          <a:blip r:embed="rId3"/>
          <a:stretch>
            <a:fillRect/>
          </a:stretch>
        </p:blipFill>
        <p:spPr>
          <a:xfrm>
            <a:off x="445228" y="1586332"/>
            <a:ext cx="5525194" cy="2577764"/>
          </a:xfrm>
          <a:prstGeom prst="rect">
            <a:avLst/>
          </a:prstGeom>
        </p:spPr>
      </p:pic>
      <p:sp>
        <p:nvSpPr>
          <p:cNvPr id="11" name="文本框 10">
            <a:extLst>
              <a:ext uri="{FF2B5EF4-FFF2-40B4-BE49-F238E27FC236}">
                <a16:creationId xmlns="" xmlns:a16="http://schemas.microsoft.com/office/drawing/2014/main" id="{199276ED-4A61-1995-5952-574206D3B0BF}"/>
              </a:ext>
            </a:extLst>
          </p:cNvPr>
          <p:cNvSpPr txBox="1"/>
          <p:nvPr/>
        </p:nvSpPr>
        <p:spPr>
          <a:xfrm>
            <a:off x="7741477" y="1092801"/>
            <a:ext cx="2934304"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打造流程管理的</a:t>
            </a:r>
            <a:r>
              <a:rPr lang="en-US" altLang="zh-CN" dirty="0" smtClean="0">
                <a:latin typeface="微软雅黑" panose="020B0503020204020204" pitchFamily="34" charset="-122"/>
                <a:ea typeface="微软雅黑" panose="020B0503020204020204" pitchFamily="34" charset="-122"/>
              </a:rPr>
              <a:t>IT</a:t>
            </a:r>
            <a:r>
              <a:rPr lang="zh-CN" altLang="en-US" dirty="0" smtClean="0">
                <a:latin typeface="微软雅黑" panose="020B0503020204020204" pitchFamily="34" charset="-122"/>
                <a:ea typeface="微软雅黑" panose="020B0503020204020204" pitchFamily="34" charset="-122"/>
              </a:rPr>
              <a:t>系统</a:t>
            </a:r>
            <a:endParaRPr lang="zh-CN" altLang="en-US"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4"/>
          <a:stretch>
            <a:fillRect/>
          </a:stretch>
        </p:blipFill>
        <p:spPr>
          <a:xfrm>
            <a:off x="6375633" y="1573619"/>
            <a:ext cx="5533022" cy="2590693"/>
          </a:xfrm>
          <a:prstGeom prst="rect">
            <a:avLst/>
          </a:prstGeom>
        </p:spPr>
      </p:pic>
      <p:sp>
        <p:nvSpPr>
          <p:cNvPr id="14" name="文本框 13">
            <a:extLst>
              <a:ext uri="{FF2B5EF4-FFF2-40B4-BE49-F238E27FC236}">
                <a16:creationId xmlns="" xmlns:a16="http://schemas.microsoft.com/office/drawing/2014/main" id="{169D43E0-DD57-2759-0D29-98420D7BE6AB}"/>
              </a:ext>
            </a:extLst>
          </p:cNvPr>
          <p:cNvSpPr txBox="1"/>
          <p:nvPr/>
        </p:nvSpPr>
        <p:spPr>
          <a:xfrm>
            <a:off x="203346" y="969745"/>
            <a:ext cx="1331840"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关键举措：</a:t>
            </a: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6199766" y="1147273"/>
            <a:ext cx="0" cy="2912999"/>
          </a:xfrm>
          <a:prstGeom prst="line">
            <a:avLst/>
          </a:prstGeom>
          <a:ln>
            <a:solidFill>
              <a:schemeClr val="bg1">
                <a:lumMod val="65000"/>
                <a:alpha val="53000"/>
              </a:schemeClr>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 xmlns:a16="http://schemas.microsoft.com/office/drawing/2014/main" id="{169D43E0-DD57-2759-0D29-98420D7BE6AB}"/>
              </a:ext>
            </a:extLst>
          </p:cNvPr>
          <p:cNvSpPr txBox="1"/>
          <p:nvPr/>
        </p:nvSpPr>
        <p:spPr>
          <a:xfrm>
            <a:off x="203344" y="4304771"/>
            <a:ext cx="1382438"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经验和方法：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203345" y="5503570"/>
            <a:ext cx="11843245" cy="12799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 xmlns:a16="http://schemas.microsoft.com/office/drawing/2014/main" id="{169D43E0-DD57-2759-0D29-98420D7BE6AB}"/>
              </a:ext>
            </a:extLst>
          </p:cNvPr>
          <p:cNvSpPr txBox="1"/>
          <p:nvPr/>
        </p:nvSpPr>
        <p:spPr>
          <a:xfrm>
            <a:off x="203344" y="5503569"/>
            <a:ext cx="1382438" cy="369332"/>
          </a:xfrm>
          <a:prstGeom prst="rect">
            <a:avLst/>
          </a:prstGeom>
          <a:solidFill>
            <a:schemeClr val="accent1"/>
          </a:solid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sym typeface="+mn-ea"/>
              </a:rPr>
              <a:t>成效</a:t>
            </a:r>
            <a:r>
              <a:rPr lang="zh-CN" altLang="en-US" dirty="0" smtClean="0">
                <a:solidFill>
                  <a:schemeClr val="bg1"/>
                </a:solidFill>
                <a:latin typeface="微软雅黑" panose="020B0503020204020204" pitchFamily="34" charset="-122"/>
                <a:ea typeface="微软雅黑" panose="020B0503020204020204" pitchFamily="34" charset="-122"/>
                <a:sym typeface="+mn-ea"/>
              </a:rPr>
              <a:t>：</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 xmlns:a16="http://schemas.microsoft.com/office/drawing/2014/main" id="{199276ED-4A61-1995-5952-574206D3B0BF}"/>
              </a:ext>
            </a:extLst>
          </p:cNvPr>
          <p:cNvSpPr txBox="1"/>
          <p:nvPr/>
        </p:nvSpPr>
        <p:spPr>
          <a:xfrm>
            <a:off x="1665699" y="4347046"/>
            <a:ext cx="10155598" cy="1077218"/>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a:t>流程管理优化</a:t>
            </a:r>
            <a:r>
              <a:rPr lang="zh-CN" altLang="en-US" sz="1600" dirty="0"/>
              <a:t>：</a:t>
            </a:r>
            <a:r>
              <a:rPr lang="zh-CN" altLang="en-US" sz="1600" dirty="0"/>
              <a:t/>
            </a:r>
            <a:br>
              <a:rPr lang="zh-CN" altLang="en-US" sz="1600" dirty="0"/>
            </a:br>
            <a:r>
              <a:rPr lang="zh-CN" altLang="en-US" sz="1600" dirty="0"/>
              <a:t>构建系统化流程管理机制，明确目标→拆解</a:t>
            </a:r>
            <a:r>
              <a:rPr lang="zh-CN" altLang="en-US" sz="1600" dirty="0" smtClean="0"/>
              <a:t>里程碑（倒推）→审批</a:t>
            </a:r>
            <a:r>
              <a:rPr lang="zh-CN" altLang="en-US" sz="1600" dirty="0"/>
              <a:t>→闭环推进，确保流程合规高效落地</a:t>
            </a:r>
            <a:r>
              <a:rPr lang="zh-CN" altLang="en-US" sz="1600" dirty="0" smtClean="0"/>
              <a:t>。</a:t>
            </a:r>
            <a:endParaRPr lang="en-US" altLang="zh-CN" sz="1600" dirty="0" smtClean="0"/>
          </a:p>
          <a:p>
            <a:r>
              <a:rPr lang="en-US" altLang="zh-CN" sz="1600" b="1" dirty="0"/>
              <a:t>IT</a:t>
            </a:r>
            <a:r>
              <a:rPr lang="zh-CN" altLang="en-US" sz="1600" b="1" dirty="0"/>
              <a:t>系统赋能</a:t>
            </a:r>
            <a:r>
              <a:rPr lang="zh-CN" altLang="en-US" sz="1600" dirty="0"/>
              <a:t>：</a:t>
            </a:r>
            <a:r>
              <a:rPr lang="zh-CN" altLang="en-US" sz="1600" dirty="0"/>
              <a:t/>
            </a:r>
            <a:br>
              <a:rPr lang="zh-CN" altLang="en-US" sz="1600" dirty="0"/>
            </a:br>
            <a:r>
              <a:rPr lang="zh-CN" altLang="en-US" sz="1600" dirty="0"/>
              <a:t>开发</a:t>
            </a:r>
            <a:r>
              <a:rPr lang="zh-CN" altLang="en-US" sz="1600" dirty="0" smtClean="0"/>
              <a:t>数字化</a:t>
            </a:r>
            <a:r>
              <a:rPr lang="en-US" altLang="zh-CN" sz="1600" dirty="0" smtClean="0"/>
              <a:t>IT</a:t>
            </a:r>
            <a:r>
              <a:rPr lang="zh-CN" altLang="en-US" sz="1600" dirty="0" smtClean="0"/>
              <a:t>系统，实现</a:t>
            </a:r>
            <a:r>
              <a:rPr lang="zh-CN" altLang="en-US" sz="1600" dirty="0"/>
              <a:t>流程全周期电子留痕与实时监控，提升管理效能。</a:t>
            </a:r>
            <a:endParaRPr lang="en-US" altLang="zh-CN" sz="1600" dirty="0" smtClean="0"/>
          </a:p>
        </p:txBody>
      </p:sp>
      <p:sp>
        <p:nvSpPr>
          <p:cNvPr id="23" name="文本框 22">
            <a:extLst>
              <a:ext uri="{FF2B5EF4-FFF2-40B4-BE49-F238E27FC236}">
                <a16:creationId xmlns="" xmlns:a16="http://schemas.microsoft.com/office/drawing/2014/main" id="{199276ED-4A61-1995-5952-574206D3B0BF}"/>
              </a:ext>
            </a:extLst>
          </p:cNvPr>
          <p:cNvSpPr txBox="1"/>
          <p:nvPr/>
        </p:nvSpPr>
        <p:spPr>
          <a:xfrm>
            <a:off x="1665699" y="5639195"/>
            <a:ext cx="10155598" cy="830997"/>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smtClean="0"/>
              <a:t>流程</a:t>
            </a:r>
            <a:r>
              <a:rPr lang="en-US" altLang="zh-CN" sz="1600" b="1" dirty="0" smtClean="0"/>
              <a:t>+</a:t>
            </a:r>
            <a:r>
              <a:rPr lang="en-US" altLang="zh-CN" sz="1600" b="1" dirty="0"/>
              <a:t>IT</a:t>
            </a:r>
            <a:r>
              <a:rPr lang="zh-CN" altLang="en-US" sz="1600" b="1" dirty="0"/>
              <a:t>系统的</a:t>
            </a:r>
            <a:r>
              <a:rPr lang="zh-CN" altLang="en-US" sz="1600" b="1" dirty="0" smtClean="0"/>
              <a:t>协同效应：</a:t>
            </a:r>
            <a:endParaRPr lang="en-US" altLang="zh-CN" sz="1600" b="1" dirty="0" smtClean="0"/>
          </a:p>
          <a:p>
            <a:r>
              <a:rPr lang="zh-CN" altLang="en-US" sz="1600" b="1" dirty="0" smtClean="0"/>
              <a:t>流程</a:t>
            </a:r>
            <a:r>
              <a:rPr lang="zh-CN" altLang="en-US" sz="1600" dirty="0" smtClean="0"/>
              <a:t>提供</a:t>
            </a:r>
            <a:r>
              <a:rPr lang="zh-CN" altLang="en-US" sz="1600" dirty="0"/>
              <a:t>管理框架，确保流程科学性；</a:t>
            </a:r>
            <a:r>
              <a:rPr lang="en-US" altLang="zh-CN" sz="1600" b="1" dirty="0"/>
              <a:t>IT</a:t>
            </a:r>
            <a:r>
              <a:rPr lang="zh-CN" altLang="en-US" sz="1600" b="1" dirty="0"/>
              <a:t>系统</a:t>
            </a:r>
            <a:r>
              <a:rPr lang="zh-CN" altLang="en-US" sz="1600" dirty="0"/>
              <a:t>作为执行载体，提升效率与可控性。两者结合可形成“设计</a:t>
            </a:r>
            <a:r>
              <a:rPr lang="en-US" altLang="zh-CN" sz="1600" dirty="0"/>
              <a:t>-</a:t>
            </a:r>
            <a:r>
              <a:rPr lang="zh-CN" altLang="en-US" sz="1600" dirty="0"/>
              <a:t>执行</a:t>
            </a:r>
            <a:r>
              <a:rPr lang="en-US" altLang="zh-CN" sz="1600" dirty="0"/>
              <a:t>-</a:t>
            </a:r>
            <a:r>
              <a:rPr lang="zh-CN" altLang="en-US" sz="1600" dirty="0"/>
              <a:t>优化”</a:t>
            </a:r>
            <a:r>
              <a:rPr lang="zh-CN" altLang="en-US" sz="1600" dirty="0" smtClean="0"/>
              <a:t>闭环。</a:t>
            </a:r>
            <a:endParaRPr lang="en-US" altLang="zh-CN" sz="1600" dirty="0" smtClean="0"/>
          </a:p>
        </p:txBody>
      </p:sp>
    </p:spTree>
    <p:extLst>
      <p:ext uri="{BB962C8B-B14F-4D97-AF65-F5344CB8AC3E}">
        <p14:creationId xmlns:p14="http://schemas.microsoft.com/office/powerpoint/2010/main" val="29654791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2E8958-5D48-5B5F-133B-4ED2F8FBDEFD}"/>
            </a:ext>
          </a:extLst>
        </p:cNvPr>
        <p:cNvGrpSpPr/>
        <p:nvPr/>
      </p:nvGrpSpPr>
      <p:grpSpPr>
        <a:xfrm>
          <a:off x="0" y="0"/>
          <a:ext cx="0" cy="0"/>
          <a:chOff x="0" y="0"/>
          <a:chExt cx="0" cy="0"/>
        </a:xfrm>
      </p:grpSpPr>
      <p:sp>
        <p:nvSpPr>
          <p:cNvPr id="15" name="矩形 14"/>
          <p:cNvSpPr/>
          <p:nvPr/>
        </p:nvSpPr>
        <p:spPr>
          <a:xfrm>
            <a:off x="203346" y="969745"/>
            <a:ext cx="11843245" cy="353969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9499560" y="1475964"/>
            <a:ext cx="2478258" cy="186298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38912" y="1505227"/>
            <a:ext cx="2190104" cy="1509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03345" y="4509440"/>
            <a:ext cx="11843245" cy="11520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 xmlns:a16="http://schemas.microsoft.com/office/drawing/2014/main" id="{687AD25C-0248-0D32-F955-DB077AD7DFD4}"/>
              </a:ext>
            </a:extLst>
          </p:cNvPr>
          <p:cNvSpPr txBox="1"/>
          <p:nvPr>
            <p:custDataLst>
              <p:tags r:id="rId1"/>
            </p:custDataLst>
          </p:nvPr>
        </p:nvSpPr>
        <p:spPr>
          <a:xfrm>
            <a:off x="638175" y="323850"/>
            <a:ext cx="12715875" cy="752475"/>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项目</a:t>
            </a:r>
            <a:r>
              <a:rPr kumimoji="1" lang="en-US" altLang="zh-CN" sz="2965" b="1" dirty="0">
                <a:solidFill>
                  <a:srgbClr val="E60039"/>
                </a:solidFill>
                <a:latin typeface="微软雅黑" panose="020B0503020204020204" charset="-122"/>
                <a:ea typeface="微软雅黑" panose="020B0503020204020204" charset="-122"/>
                <a:sym typeface="+mn-ea"/>
              </a:rPr>
              <a:t>-</a:t>
            </a:r>
            <a:r>
              <a:rPr kumimoji="1" lang="zh-CN" altLang="en-US" sz="2965" b="1" dirty="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rPr>
              <a:t>举措成效</a:t>
            </a:r>
            <a:r>
              <a:rPr kumimoji="1" lang="zh-CN" altLang="en-US" sz="2965" b="1" dirty="0">
                <a:solidFill>
                  <a:srgbClr val="E60039"/>
                </a:solidFill>
                <a:latin typeface="微软雅黑" panose="020B0503020204020204" charset="-122"/>
                <a:ea typeface="微软雅黑" panose="020B0503020204020204" charset="-122"/>
                <a:sym typeface="+mn-ea"/>
              </a:rPr>
              <a:t>，沉淀的经验和方法</a:t>
            </a:r>
          </a:p>
        </p:txBody>
      </p:sp>
      <p:sp>
        <p:nvSpPr>
          <p:cNvPr id="4" name="文本框 3">
            <a:extLst>
              <a:ext uri="{FF2B5EF4-FFF2-40B4-BE49-F238E27FC236}">
                <a16:creationId xmlns="" xmlns:a16="http://schemas.microsoft.com/office/drawing/2014/main" id="{199276ED-4A61-1995-5952-574206D3B0BF}"/>
              </a:ext>
            </a:extLst>
          </p:cNvPr>
          <p:cNvSpPr txBox="1"/>
          <p:nvPr/>
        </p:nvSpPr>
        <p:spPr>
          <a:xfrm>
            <a:off x="1803633" y="1092801"/>
            <a:ext cx="3748669" cy="369332"/>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dirty="0" smtClean="0">
                <a:solidFill>
                  <a:srgbClr val="000000"/>
                </a:solidFill>
              </a:rPr>
              <a:t>制定</a:t>
            </a:r>
            <a:r>
              <a:rPr lang="en-US" altLang="zh-CN" dirty="0">
                <a:solidFill>
                  <a:srgbClr val="000000"/>
                </a:solidFill>
              </a:rPr>
              <a:t>V0.9</a:t>
            </a:r>
            <a:r>
              <a:rPr lang="zh-CN" altLang="en-US" dirty="0">
                <a:solidFill>
                  <a:srgbClr val="000000"/>
                </a:solidFill>
              </a:rPr>
              <a:t>版本的标准（七件套）</a:t>
            </a:r>
            <a:endParaRPr lang="zh-CN" altLang="en-US" dirty="0"/>
          </a:p>
        </p:txBody>
      </p:sp>
      <p:sp>
        <p:nvSpPr>
          <p:cNvPr id="11" name="文本框 10">
            <a:extLst>
              <a:ext uri="{FF2B5EF4-FFF2-40B4-BE49-F238E27FC236}">
                <a16:creationId xmlns="" xmlns:a16="http://schemas.microsoft.com/office/drawing/2014/main" id="{199276ED-4A61-1995-5952-574206D3B0BF}"/>
              </a:ext>
            </a:extLst>
          </p:cNvPr>
          <p:cNvSpPr txBox="1"/>
          <p:nvPr/>
        </p:nvSpPr>
        <p:spPr>
          <a:xfrm>
            <a:off x="9784395" y="1136520"/>
            <a:ext cx="1908588"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明确质量规范</a:t>
            </a:r>
            <a:endParaRPr lang="zh-CN" altLang="en-US"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 xmlns:a16="http://schemas.microsoft.com/office/drawing/2014/main" id="{169D43E0-DD57-2759-0D29-98420D7BE6AB}"/>
              </a:ext>
            </a:extLst>
          </p:cNvPr>
          <p:cNvSpPr txBox="1"/>
          <p:nvPr/>
        </p:nvSpPr>
        <p:spPr>
          <a:xfrm>
            <a:off x="203346" y="969745"/>
            <a:ext cx="1331840"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关键举措：</a:t>
            </a: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9438597" y="1357829"/>
            <a:ext cx="0" cy="2912999"/>
          </a:xfrm>
          <a:prstGeom prst="line">
            <a:avLst/>
          </a:prstGeom>
          <a:ln>
            <a:solidFill>
              <a:schemeClr val="bg1">
                <a:lumMod val="65000"/>
                <a:alpha val="53000"/>
              </a:schemeClr>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 xmlns:a16="http://schemas.microsoft.com/office/drawing/2014/main" id="{169D43E0-DD57-2759-0D29-98420D7BE6AB}"/>
              </a:ext>
            </a:extLst>
          </p:cNvPr>
          <p:cNvSpPr txBox="1"/>
          <p:nvPr/>
        </p:nvSpPr>
        <p:spPr>
          <a:xfrm>
            <a:off x="203344" y="4524012"/>
            <a:ext cx="1382438"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经验和方法：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203345" y="5671996"/>
            <a:ext cx="11843245" cy="11114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 xmlns:a16="http://schemas.microsoft.com/office/drawing/2014/main" id="{169D43E0-DD57-2759-0D29-98420D7BE6AB}"/>
              </a:ext>
            </a:extLst>
          </p:cNvPr>
          <p:cNvSpPr txBox="1"/>
          <p:nvPr/>
        </p:nvSpPr>
        <p:spPr>
          <a:xfrm>
            <a:off x="203344" y="5671996"/>
            <a:ext cx="1382438" cy="369332"/>
          </a:xfrm>
          <a:prstGeom prst="rect">
            <a:avLst/>
          </a:prstGeom>
          <a:solidFill>
            <a:schemeClr val="accent1"/>
          </a:solid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sym typeface="+mn-ea"/>
              </a:rPr>
              <a:t>成效</a:t>
            </a:r>
            <a:r>
              <a:rPr lang="zh-CN" altLang="en-US" dirty="0" smtClean="0">
                <a:solidFill>
                  <a:schemeClr val="bg1"/>
                </a:solidFill>
                <a:latin typeface="微软雅黑" panose="020B0503020204020204" pitchFamily="34" charset="-122"/>
                <a:ea typeface="微软雅黑" panose="020B0503020204020204" pitchFamily="34" charset="-122"/>
                <a:sym typeface="+mn-ea"/>
              </a:rPr>
              <a:t>：</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 xmlns:a16="http://schemas.microsoft.com/office/drawing/2014/main" id="{199276ED-4A61-1995-5952-574206D3B0BF}"/>
              </a:ext>
            </a:extLst>
          </p:cNvPr>
          <p:cNvSpPr txBox="1"/>
          <p:nvPr/>
        </p:nvSpPr>
        <p:spPr>
          <a:xfrm>
            <a:off x="1665699" y="4524012"/>
            <a:ext cx="10155598" cy="584775"/>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dirty="0" smtClean="0"/>
              <a:t>通过对流程</a:t>
            </a:r>
            <a:r>
              <a:rPr lang="en-US" altLang="zh-CN" sz="1600" dirty="0" smtClean="0"/>
              <a:t>V0.9</a:t>
            </a:r>
            <a:r>
              <a:rPr lang="zh-CN" altLang="en-US" sz="1600" dirty="0" smtClean="0"/>
              <a:t>版本的标准七件套的制定，明确质量规范，统一流程建设交付内容及交付标准，提高交付物质量，确保流程满足执行推行条件。</a:t>
            </a:r>
            <a:endParaRPr lang="en-US" altLang="zh-CN" sz="1600" dirty="0" smtClean="0"/>
          </a:p>
        </p:txBody>
      </p:sp>
      <p:sp>
        <p:nvSpPr>
          <p:cNvPr id="23" name="文本框 22">
            <a:extLst>
              <a:ext uri="{FF2B5EF4-FFF2-40B4-BE49-F238E27FC236}">
                <a16:creationId xmlns="" xmlns:a16="http://schemas.microsoft.com/office/drawing/2014/main" id="{199276ED-4A61-1995-5952-574206D3B0BF}"/>
              </a:ext>
            </a:extLst>
          </p:cNvPr>
          <p:cNvSpPr txBox="1"/>
          <p:nvPr/>
        </p:nvSpPr>
        <p:spPr>
          <a:xfrm>
            <a:off x="1665699" y="5806975"/>
            <a:ext cx="10155598" cy="338554"/>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smtClean="0"/>
              <a:t>所有流程按照标准进行交付，提升了流程交付物的质量，提高了流程推进的效率。</a:t>
            </a:r>
            <a:endParaRPr lang="en-US" altLang="zh-CN" sz="1600" dirty="0" smtClean="0"/>
          </a:p>
        </p:txBody>
      </p:sp>
      <p:sp>
        <p:nvSpPr>
          <p:cNvPr id="16" name="文本框 15">
            <a:extLst>
              <a:ext uri="{FF2B5EF4-FFF2-40B4-BE49-F238E27FC236}">
                <a16:creationId xmlns="" xmlns:a16="http://schemas.microsoft.com/office/drawing/2014/main" id="{199276ED-4A61-1995-5952-574206D3B0BF}"/>
              </a:ext>
            </a:extLst>
          </p:cNvPr>
          <p:cNvSpPr txBox="1"/>
          <p:nvPr/>
        </p:nvSpPr>
        <p:spPr>
          <a:xfrm>
            <a:off x="352942" y="15537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smtClean="0">
                <a:solidFill>
                  <a:schemeClr val="bg1"/>
                </a:solidFill>
              </a:rPr>
              <a:t>1</a:t>
            </a:r>
            <a:r>
              <a:rPr lang="zh-CN" altLang="en-US" sz="1100" b="1" dirty="0" smtClean="0">
                <a:solidFill>
                  <a:schemeClr val="bg1"/>
                </a:solidFill>
              </a:rPr>
              <a:t>、流程构架卡（</a:t>
            </a:r>
            <a:r>
              <a:rPr lang="en-US" altLang="zh-CN" sz="1100" b="1" dirty="0" smtClean="0">
                <a:solidFill>
                  <a:schemeClr val="bg1"/>
                </a:solidFill>
              </a:rPr>
              <a:t>L2/L3</a:t>
            </a:r>
            <a:r>
              <a:rPr lang="zh-CN" altLang="en-US" sz="1100" b="1" dirty="0" smtClean="0">
                <a:solidFill>
                  <a:schemeClr val="bg1"/>
                </a:solidFill>
              </a:rPr>
              <a:t>）</a:t>
            </a:r>
            <a:endParaRPr lang="zh-CN" altLang="en-US" sz="1100" b="1" dirty="0">
              <a:solidFill>
                <a:schemeClr val="bg1"/>
              </a:solidFill>
            </a:endParaRPr>
          </a:p>
        </p:txBody>
      </p:sp>
      <p:sp>
        <p:nvSpPr>
          <p:cNvPr id="24" name="文本框 23">
            <a:extLst>
              <a:ext uri="{FF2B5EF4-FFF2-40B4-BE49-F238E27FC236}">
                <a16:creationId xmlns="" xmlns:a16="http://schemas.microsoft.com/office/drawing/2014/main" id="{199276ED-4A61-1995-5952-574206D3B0BF}"/>
              </a:ext>
            </a:extLst>
          </p:cNvPr>
          <p:cNvSpPr txBox="1"/>
          <p:nvPr/>
        </p:nvSpPr>
        <p:spPr>
          <a:xfrm>
            <a:off x="9698049" y="3388721"/>
            <a:ext cx="2149746" cy="1107996"/>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t>明确件套交付标准和要求：</a:t>
            </a:r>
            <a:endParaRPr lang="en-US" altLang="zh-CN" sz="1100" dirty="0" smtClean="0"/>
          </a:p>
          <a:p>
            <a:pPr marL="171450" indent="-171450">
              <a:buFont typeface="Arial" panose="020B0604020202020204" pitchFamily="34" charset="0"/>
              <a:buChar char="•"/>
            </a:pPr>
            <a:r>
              <a:rPr lang="zh-CN" altLang="en-US" sz="1100" dirty="0" smtClean="0"/>
              <a:t>文档结构</a:t>
            </a:r>
            <a:endParaRPr lang="en-US" altLang="zh-CN" sz="1100" dirty="0" smtClean="0"/>
          </a:p>
          <a:p>
            <a:pPr marL="171450" indent="-171450">
              <a:buFont typeface="Arial" panose="020B0604020202020204" pitchFamily="34" charset="0"/>
              <a:buChar char="•"/>
            </a:pPr>
            <a:r>
              <a:rPr lang="zh-CN" altLang="en-US" sz="1100" dirty="0" smtClean="0"/>
              <a:t>流程卡填写要求</a:t>
            </a:r>
            <a:endParaRPr lang="en-US" altLang="zh-CN" sz="1100" dirty="0" smtClean="0"/>
          </a:p>
          <a:p>
            <a:pPr marL="171450" indent="-171450">
              <a:buFont typeface="Arial" panose="020B0604020202020204" pitchFamily="34" charset="0"/>
              <a:buChar char="•"/>
            </a:pPr>
            <a:r>
              <a:rPr lang="zh-CN" altLang="en-US" sz="1100" dirty="0" smtClean="0"/>
              <a:t>流程图统一画法</a:t>
            </a:r>
            <a:endParaRPr lang="en-US" altLang="zh-CN" sz="1100" dirty="0" smtClean="0"/>
          </a:p>
          <a:p>
            <a:pPr marL="171450" indent="-171450">
              <a:buFont typeface="Arial" panose="020B0604020202020204" pitchFamily="34" charset="0"/>
              <a:buChar char="•"/>
            </a:pPr>
            <a:r>
              <a:rPr lang="zh-CN" altLang="en-US" sz="1100" dirty="0" smtClean="0"/>
              <a:t>内容填写规范</a:t>
            </a:r>
            <a:endParaRPr lang="en-US" altLang="zh-CN" sz="1100" dirty="0"/>
          </a:p>
          <a:p>
            <a:pPr marL="171450" indent="-171450">
              <a:buFont typeface="Arial" panose="020B0604020202020204" pitchFamily="34" charset="0"/>
              <a:buChar char="•"/>
            </a:pPr>
            <a:r>
              <a:rPr lang="en-US" altLang="zh-CN" sz="1100" dirty="0" smtClean="0"/>
              <a:t>KCP/KDP</a:t>
            </a:r>
            <a:r>
              <a:rPr lang="zh-CN" altLang="en-US" sz="1100" dirty="0" smtClean="0"/>
              <a:t>标识方式</a:t>
            </a:r>
            <a:endParaRPr lang="en-US" altLang="zh-CN" sz="1100" dirty="0" smtClean="0"/>
          </a:p>
        </p:txBody>
      </p:sp>
      <p:sp>
        <p:nvSpPr>
          <p:cNvPr id="26" name="矩形 25"/>
          <p:cNvSpPr/>
          <p:nvPr/>
        </p:nvSpPr>
        <p:spPr>
          <a:xfrm>
            <a:off x="2635627" y="1502986"/>
            <a:ext cx="2158795" cy="1509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 xmlns:a16="http://schemas.microsoft.com/office/drawing/2014/main" id="{199276ED-4A61-1995-5952-574206D3B0BF}"/>
              </a:ext>
            </a:extLst>
          </p:cNvPr>
          <p:cNvSpPr txBox="1"/>
          <p:nvPr/>
        </p:nvSpPr>
        <p:spPr>
          <a:xfrm>
            <a:off x="2649657" y="15537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a:solidFill>
                  <a:schemeClr val="bg1"/>
                </a:solidFill>
              </a:rPr>
              <a:t>2</a:t>
            </a:r>
            <a:r>
              <a:rPr lang="zh-CN" altLang="en-US" sz="1100" b="1" dirty="0" smtClean="0">
                <a:solidFill>
                  <a:schemeClr val="bg1"/>
                </a:solidFill>
              </a:rPr>
              <a:t>、流程图</a:t>
            </a:r>
            <a:endParaRPr lang="zh-CN" altLang="en-US" sz="1100" b="1" dirty="0">
              <a:solidFill>
                <a:schemeClr val="bg1"/>
              </a:solidFill>
            </a:endParaRPr>
          </a:p>
        </p:txBody>
      </p:sp>
      <p:sp>
        <p:nvSpPr>
          <p:cNvPr id="29" name="矩形 28"/>
          <p:cNvSpPr/>
          <p:nvPr/>
        </p:nvSpPr>
        <p:spPr>
          <a:xfrm>
            <a:off x="4912557" y="1497935"/>
            <a:ext cx="2158795" cy="1509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 xmlns:a16="http://schemas.microsoft.com/office/drawing/2014/main" id="{199276ED-4A61-1995-5952-574206D3B0BF}"/>
              </a:ext>
            </a:extLst>
          </p:cNvPr>
          <p:cNvSpPr txBox="1"/>
          <p:nvPr/>
        </p:nvSpPr>
        <p:spPr>
          <a:xfrm>
            <a:off x="4926587" y="15537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smtClean="0">
                <a:solidFill>
                  <a:schemeClr val="bg1"/>
                </a:solidFill>
              </a:rPr>
              <a:t>3</a:t>
            </a:r>
            <a:r>
              <a:rPr lang="zh-CN" altLang="en-US" sz="1100" b="1" dirty="0" smtClean="0">
                <a:solidFill>
                  <a:schemeClr val="bg1"/>
                </a:solidFill>
              </a:rPr>
              <a:t>、流程说明</a:t>
            </a:r>
            <a:r>
              <a:rPr lang="en-US" altLang="zh-CN" sz="1100" b="1" dirty="0" smtClean="0">
                <a:solidFill>
                  <a:schemeClr val="bg1"/>
                </a:solidFill>
              </a:rPr>
              <a:t>-</a:t>
            </a:r>
            <a:r>
              <a:rPr lang="zh-CN" altLang="en-US" sz="1100" b="1" dirty="0" smtClean="0">
                <a:solidFill>
                  <a:schemeClr val="bg1"/>
                </a:solidFill>
              </a:rPr>
              <a:t>表征单书</a:t>
            </a:r>
            <a:endParaRPr lang="zh-CN" altLang="en-US" sz="1100" b="1" dirty="0">
              <a:solidFill>
                <a:schemeClr val="bg1"/>
              </a:solidFill>
            </a:endParaRPr>
          </a:p>
        </p:txBody>
      </p:sp>
      <p:sp>
        <p:nvSpPr>
          <p:cNvPr id="32" name="矩形 31"/>
          <p:cNvSpPr/>
          <p:nvPr/>
        </p:nvSpPr>
        <p:spPr>
          <a:xfrm>
            <a:off x="7154077" y="1497935"/>
            <a:ext cx="2158795" cy="1509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 xmlns:a16="http://schemas.microsoft.com/office/drawing/2014/main" id="{199276ED-4A61-1995-5952-574206D3B0BF}"/>
              </a:ext>
            </a:extLst>
          </p:cNvPr>
          <p:cNvSpPr txBox="1"/>
          <p:nvPr/>
        </p:nvSpPr>
        <p:spPr>
          <a:xfrm>
            <a:off x="7168107" y="15537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smtClean="0">
                <a:solidFill>
                  <a:schemeClr val="bg1"/>
                </a:solidFill>
              </a:rPr>
              <a:t>4</a:t>
            </a:r>
            <a:r>
              <a:rPr lang="zh-CN" altLang="en-US" sz="1100" b="1" dirty="0" smtClean="0">
                <a:solidFill>
                  <a:schemeClr val="bg1"/>
                </a:solidFill>
              </a:rPr>
              <a:t>、</a:t>
            </a:r>
            <a:r>
              <a:rPr lang="en-US" altLang="zh-CN" sz="1100" b="1" dirty="0" smtClean="0">
                <a:solidFill>
                  <a:schemeClr val="bg1"/>
                </a:solidFill>
              </a:rPr>
              <a:t>KCP/KDP</a:t>
            </a:r>
            <a:r>
              <a:rPr lang="zh-CN" altLang="en-US" sz="1100" b="1" dirty="0" smtClean="0">
                <a:solidFill>
                  <a:schemeClr val="bg1"/>
                </a:solidFill>
              </a:rPr>
              <a:t>指导书</a:t>
            </a:r>
            <a:endParaRPr lang="zh-CN" altLang="en-US" sz="1100" b="1" dirty="0">
              <a:solidFill>
                <a:schemeClr val="bg1"/>
              </a:solidFill>
            </a:endParaRPr>
          </a:p>
        </p:txBody>
      </p:sp>
      <p:sp>
        <p:nvSpPr>
          <p:cNvPr id="35" name="矩形 34"/>
          <p:cNvSpPr/>
          <p:nvPr/>
        </p:nvSpPr>
        <p:spPr>
          <a:xfrm>
            <a:off x="324392" y="3107535"/>
            <a:ext cx="2190104" cy="1294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 xmlns:a16="http://schemas.microsoft.com/office/drawing/2014/main" id="{199276ED-4A61-1995-5952-574206D3B0BF}"/>
              </a:ext>
            </a:extLst>
          </p:cNvPr>
          <p:cNvSpPr txBox="1"/>
          <p:nvPr/>
        </p:nvSpPr>
        <p:spPr>
          <a:xfrm>
            <a:off x="338422" y="31633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smtClean="0">
                <a:solidFill>
                  <a:schemeClr val="bg1"/>
                </a:solidFill>
              </a:rPr>
              <a:t>5</a:t>
            </a:r>
            <a:r>
              <a:rPr lang="zh-CN" altLang="en-US" sz="1100" b="1" dirty="0" smtClean="0">
                <a:solidFill>
                  <a:schemeClr val="bg1"/>
                </a:solidFill>
              </a:rPr>
              <a:t>、良品条件</a:t>
            </a:r>
            <a:endParaRPr lang="zh-CN" altLang="en-US" sz="1100" b="1" dirty="0">
              <a:solidFill>
                <a:schemeClr val="bg1"/>
              </a:solidFill>
            </a:endParaRPr>
          </a:p>
        </p:txBody>
      </p:sp>
      <p:sp>
        <p:nvSpPr>
          <p:cNvPr id="38" name="文本框 37">
            <a:extLst>
              <a:ext uri="{FF2B5EF4-FFF2-40B4-BE49-F238E27FC236}">
                <a16:creationId xmlns="" xmlns:a16="http://schemas.microsoft.com/office/drawing/2014/main" id="{199276ED-4A61-1995-5952-574206D3B0BF}"/>
              </a:ext>
            </a:extLst>
          </p:cNvPr>
          <p:cNvSpPr txBox="1"/>
          <p:nvPr/>
        </p:nvSpPr>
        <p:spPr>
          <a:xfrm>
            <a:off x="395445" y="1975485"/>
            <a:ext cx="2050020" cy="769441"/>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solidFill>
                  <a:schemeClr val="bg1"/>
                </a:solidFill>
              </a:rPr>
              <a:t>明确定义流程；阐述流程目的；确定流程责任人；说明流程输入</a:t>
            </a:r>
            <a:r>
              <a:rPr lang="zh-CN" altLang="en-US" sz="1100" dirty="0">
                <a:solidFill>
                  <a:schemeClr val="bg1"/>
                </a:solidFill>
              </a:rPr>
              <a:t>、</a:t>
            </a:r>
            <a:r>
              <a:rPr lang="zh-CN" altLang="en-US" sz="1100" dirty="0" smtClean="0">
                <a:solidFill>
                  <a:schemeClr val="bg1"/>
                </a:solidFill>
              </a:rPr>
              <a:t>输出及标准；明确流程绩效指标；</a:t>
            </a:r>
            <a:endParaRPr lang="zh-CN" altLang="en-US" sz="1100" dirty="0">
              <a:solidFill>
                <a:schemeClr val="bg1"/>
              </a:solidFill>
            </a:endParaRPr>
          </a:p>
        </p:txBody>
      </p:sp>
      <p:sp>
        <p:nvSpPr>
          <p:cNvPr id="39" name="文本框 38">
            <a:extLst>
              <a:ext uri="{FF2B5EF4-FFF2-40B4-BE49-F238E27FC236}">
                <a16:creationId xmlns="" xmlns:a16="http://schemas.microsoft.com/office/drawing/2014/main" id="{199276ED-4A61-1995-5952-574206D3B0BF}"/>
              </a:ext>
            </a:extLst>
          </p:cNvPr>
          <p:cNvSpPr txBox="1"/>
          <p:nvPr/>
        </p:nvSpPr>
        <p:spPr>
          <a:xfrm>
            <a:off x="2687189" y="1968108"/>
            <a:ext cx="2050020" cy="769441"/>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solidFill>
                  <a:schemeClr val="bg1"/>
                </a:solidFill>
              </a:rPr>
              <a:t>包括键盘图、</a:t>
            </a:r>
            <a:r>
              <a:rPr lang="en-US" altLang="zh-CN" sz="1100" dirty="0" smtClean="0">
                <a:solidFill>
                  <a:schemeClr val="bg1"/>
                </a:solidFill>
              </a:rPr>
              <a:t>L2</a:t>
            </a:r>
            <a:r>
              <a:rPr lang="zh-CN" altLang="en-US" sz="1100" dirty="0" smtClean="0">
                <a:solidFill>
                  <a:schemeClr val="bg1"/>
                </a:solidFill>
              </a:rPr>
              <a:t>流程图、</a:t>
            </a:r>
            <a:r>
              <a:rPr lang="en-US" altLang="zh-CN" sz="1100" dirty="0" smtClean="0">
                <a:solidFill>
                  <a:schemeClr val="bg1"/>
                </a:solidFill>
              </a:rPr>
              <a:t>L3</a:t>
            </a:r>
            <a:r>
              <a:rPr lang="zh-CN" altLang="en-US" sz="1100" dirty="0" smtClean="0">
                <a:solidFill>
                  <a:schemeClr val="bg1"/>
                </a:solidFill>
              </a:rPr>
              <a:t>示意图、</a:t>
            </a:r>
            <a:r>
              <a:rPr lang="en-US" altLang="zh-CN" sz="1100" dirty="0" smtClean="0">
                <a:solidFill>
                  <a:schemeClr val="bg1"/>
                </a:solidFill>
              </a:rPr>
              <a:t>L3/L4</a:t>
            </a:r>
            <a:r>
              <a:rPr lang="zh-CN" altLang="en-US" sz="1100" dirty="0" smtClean="0">
                <a:solidFill>
                  <a:schemeClr val="bg1"/>
                </a:solidFill>
              </a:rPr>
              <a:t>流程泳道图等关键内容，结构化逻辑化的说明流程各个关键环节和活动。</a:t>
            </a:r>
            <a:endParaRPr lang="zh-CN" altLang="en-US" sz="1100" dirty="0">
              <a:solidFill>
                <a:schemeClr val="bg1"/>
              </a:solidFill>
            </a:endParaRPr>
          </a:p>
        </p:txBody>
      </p:sp>
      <p:sp>
        <p:nvSpPr>
          <p:cNvPr id="40" name="文本框 39">
            <a:extLst>
              <a:ext uri="{FF2B5EF4-FFF2-40B4-BE49-F238E27FC236}">
                <a16:creationId xmlns="" xmlns:a16="http://schemas.microsoft.com/office/drawing/2014/main" id="{199276ED-4A61-1995-5952-574206D3B0BF}"/>
              </a:ext>
            </a:extLst>
          </p:cNvPr>
          <p:cNvSpPr txBox="1"/>
          <p:nvPr/>
        </p:nvSpPr>
        <p:spPr>
          <a:xfrm>
            <a:off x="5001717" y="1997224"/>
            <a:ext cx="2050020" cy="769441"/>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solidFill>
                  <a:schemeClr val="bg1"/>
                </a:solidFill>
              </a:rPr>
              <a:t>对流程的每一个活动进行详细说明，明确输入、输出及标准，并提供复杂活动的指导书及相关表证单书。</a:t>
            </a:r>
            <a:endParaRPr lang="zh-CN" altLang="en-US" sz="1100" dirty="0">
              <a:solidFill>
                <a:schemeClr val="bg1"/>
              </a:solidFill>
            </a:endParaRPr>
          </a:p>
        </p:txBody>
      </p:sp>
      <p:sp>
        <p:nvSpPr>
          <p:cNvPr id="41" name="文本框 40">
            <a:extLst>
              <a:ext uri="{FF2B5EF4-FFF2-40B4-BE49-F238E27FC236}">
                <a16:creationId xmlns="" xmlns:a16="http://schemas.microsoft.com/office/drawing/2014/main" id="{199276ED-4A61-1995-5952-574206D3B0BF}"/>
              </a:ext>
            </a:extLst>
          </p:cNvPr>
          <p:cNvSpPr txBox="1"/>
          <p:nvPr/>
        </p:nvSpPr>
        <p:spPr>
          <a:xfrm>
            <a:off x="7208464" y="2016943"/>
            <a:ext cx="2050020" cy="769441"/>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solidFill>
                  <a:schemeClr val="bg1"/>
                </a:solidFill>
              </a:rPr>
              <a:t>对流程中涉及的关键控制点与关键决策点做重点阐述，明确关键控制举措，决策依据，决策机制等。</a:t>
            </a:r>
            <a:endParaRPr lang="zh-CN" altLang="en-US" sz="1100" dirty="0">
              <a:solidFill>
                <a:schemeClr val="bg1"/>
              </a:solidFill>
            </a:endParaRPr>
          </a:p>
        </p:txBody>
      </p:sp>
      <p:sp>
        <p:nvSpPr>
          <p:cNvPr id="42" name="文本框 41">
            <a:extLst>
              <a:ext uri="{FF2B5EF4-FFF2-40B4-BE49-F238E27FC236}">
                <a16:creationId xmlns="" xmlns:a16="http://schemas.microsoft.com/office/drawing/2014/main" id="{199276ED-4A61-1995-5952-574206D3B0BF}"/>
              </a:ext>
            </a:extLst>
          </p:cNvPr>
          <p:cNvSpPr txBox="1"/>
          <p:nvPr/>
        </p:nvSpPr>
        <p:spPr>
          <a:xfrm>
            <a:off x="422814" y="3466627"/>
            <a:ext cx="2050020" cy="769441"/>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solidFill>
                  <a:schemeClr val="bg1"/>
                </a:solidFill>
              </a:rPr>
              <a:t>确定流程关键活动的输出标准以达到流程下一步骤的良品条件，对跨组织，跨流程的接口做出清晰定义和说明。</a:t>
            </a:r>
            <a:endParaRPr lang="zh-CN" altLang="en-US" sz="1100" dirty="0">
              <a:solidFill>
                <a:schemeClr val="bg1"/>
              </a:solidFill>
            </a:endParaRPr>
          </a:p>
        </p:txBody>
      </p:sp>
      <p:sp>
        <p:nvSpPr>
          <p:cNvPr id="43" name="矩形 42"/>
          <p:cNvSpPr/>
          <p:nvPr/>
        </p:nvSpPr>
        <p:spPr>
          <a:xfrm>
            <a:off x="2622575" y="3108333"/>
            <a:ext cx="2190104" cy="1294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 xmlns:a16="http://schemas.microsoft.com/office/drawing/2014/main" id="{199276ED-4A61-1995-5952-574206D3B0BF}"/>
              </a:ext>
            </a:extLst>
          </p:cNvPr>
          <p:cNvSpPr txBox="1"/>
          <p:nvPr/>
        </p:nvSpPr>
        <p:spPr>
          <a:xfrm>
            <a:off x="2636605" y="31633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a:solidFill>
                  <a:schemeClr val="bg1"/>
                </a:solidFill>
              </a:rPr>
              <a:t>6</a:t>
            </a:r>
            <a:r>
              <a:rPr lang="zh-CN" altLang="en-US" sz="1100" b="1" dirty="0" smtClean="0">
                <a:solidFill>
                  <a:schemeClr val="bg1"/>
                </a:solidFill>
              </a:rPr>
              <a:t>、流程运转机制文件</a:t>
            </a:r>
            <a:endParaRPr lang="zh-CN" altLang="en-US" sz="1100" b="1" dirty="0">
              <a:solidFill>
                <a:schemeClr val="bg1"/>
              </a:solidFill>
            </a:endParaRPr>
          </a:p>
        </p:txBody>
      </p:sp>
      <p:sp>
        <p:nvSpPr>
          <p:cNvPr id="45" name="文本框 44">
            <a:extLst>
              <a:ext uri="{FF2B5EF4-FFF2-40B4-BE49-F238E27FC236}">
                <a16:creationId xmlns="" xmlns:a16="http://schemas.microsoft.com/office/drawing/2014/main" id="{199276ED-4A61-1995-5952-574206D3B0BF}"/>
              </a:ext>
            </a:extLst>
          </p:cNvPr>
          <p:cNvSpPr txBox="1"/>
          <p:nvPr/>
        </p:nvSpPr>
        <p:spPr>
          <a:xfrm>
            <a:off x="2720997" y="3467425"/>
            <a:ext cx="2050020" cy="430887"/>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smtClean="0">
                <a:solidFill>
                  <a:schemeClr val="bg1"/>
                </a:solidFill>
              </a:rPr>
              <a:t>明确流程运转机制，确保流程能够按照计划推行落地执行。</a:t>
            </a:r>
            <a:endParaRPr lang="zh-CN" altLang="en-US" sz="1100" dirty="0">
              <a:solidFill>
                <a:schemeClr val="bg1"/>
              </a:solidFill>
            </a:endParaRPr>
          </a:p>
        </p:txBody>
      </p:sp>
      <p:sp>
        <p:nvSpPr>
          <p:cNvPr id="46" name="矩形 45"/>
          <p:cNvSpPr/>
          <p:nvPr/>
        </p:nvSpPr>
        <p:spPr>
          <a:xfrm>
            <a:off x="4906874" y="3128204"/>
            <a:ext cx="2190104" cy="1294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 xmlns:a16="http://schemas.microsoft.com/office/drawing/2014/main" id="{199276ED-4A61-1995-5952-574206D3B0BF}"/>
              </a:ext>
            </a:extLst>
          </p:cNvPr>
          <p:cNvSpPr txBox="1"/>
          <p:nvPr/>
        </p:nvSpPr>
        <p:spPr>
          <a:xfrm>
            <a:off x="4945618" y="3163344"/>
            <a:ext cx="2050020" cy="26161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en-US" altLang="zh-CN" sz="1100" b="1" dirty="0">
                <a:solidFill>
                  <a:schemeClr val="bg1"/>
                </a:solidFill>
              </a:rPr>
              <a:t>7</a:t>
            </a:r>
            <a:r>
              <a:rPr lang="zh-CN" altLang="en-US" sz="1100" b="1" dirty="0" smtClean="0">
                <a:solidFill>
                  <a:schemeClr val="bg1"/>
                </a:solidFill>
              </a:rPr>
              <a:t>、</a:t>
            </a:r>
            <a:r>
              <a:rPr lang="en-US" altLang="zh-CN" sz="1100" b="1" dirty="0" smtClean="0">
                <a:solidFill>
                  <a:schemeClr val="bg1"/>
                </a:solidFill>
              </a:rPr>
              <a:t>IT</a:t>
            </a:r>
            <a:r>
              <a:rPr lang="zh-CN" altLang="en-US" sz="1100" b="1" dirty="0" smtClean="0">
                <a:solidFill>
                  <a:schemeClr val="bg1"/>
                </a:solidFill>
              </a:rPr>
              <a:t>系统要求</a:t>
            </a:r>
            <a:endParaRPr lang="zh-CN" altLang="en-US" sz="1100" b="1" dirty="0">
              <a:solidFill>
                <a:schemeClr val="bg1"/>
              </a:solidFill>
            </a:endParaRPr>
          </a:p>
        </p:txBody>
      </p:sp>
      <p:sp>
        <p:nvSpPr>
          <p:cNvPr id="48" name="文本框 47">
            <a:extLst>
              <a:ext uri="{FF2B5EF4-FFF2-40B4-BE49-F238E27FC236}">
                <a16:creationId xmlns="" xmlns:a16="http://schemas.microsoft.com/office/drawing/2014/main" id="{199276ED-4A61-1995-5952-574206D3B0BF}"/>
              </a:ext>
            </a:extLst>
          </p:cNvPr>
          <p:cNvSpPr txBox="1"/>
          <p:nvPr/>
        </p:nvSpPr>
        <p:spPr>
          <a:xfrm>
            <a:off x="5030010" y="3487296"/>
            <a:ext cx="2050020" cy="769441"/>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100" dirty="0">
                <a:solidFill>
                  <a:schemeClr val="bg1"/>
                </a:solidFill>
              </a:rPr>
              <a:t>基于</a:t>
            </a:r>
            <a:r>
              <a:rPr lang="zh-CN" altLang="en-US" sz="1100" dirty="0" smtClean="0">
                <a:solidFill>
                  <a:schemeClr val="bg1"/>
                </a:solidFill>
              </a:rPr>
              <a:t>对流程的梳理，明确改善流程所需的</a:t>
            </a:r>
            <a:r>
              <a:rPr lang="en-US" altLang="zh-CN" sz="1100" dirty="0" smtClean="0">
                <a:solidFill>
                  <a:schemeClr val="bg1"/>
                </a:solidFill>
              </a:rPr>
              <a:t>IT</a:t>
            </a:r>
            <a:r>
              <a:rPr lang="zh-CN" altLang="en-US" sz="1100" dirty="0" smtClean="0">
                <a:solidFill>
                  <a:schemeClr val="bg1"/>
                </a:solidFill>
              </a:rPr>
              <a:t>系统要求，供</a:t>
            </a:r>
            <a:r>
              <a:rPr lang="en-US" altLang="zh-CN" sz="1100" dirty="0" smtClean="0">
                <a:solidFill>
                  <a:schemeClr val="bg1"/>
                </a:solidFill>
              </a:rPr>
              <a:t>IT</a:t>
            </a:r>
            <a:r>
              <a:rPr lang="zh-CN" altLang="en-US" sz="1100" dirty="0" smtClean="0">
                <a:solidFill>
                  <a:schemeClr val="bg1"/>
                </a:solidFill>
              </a:rPr>
              <a:t>部门进行进一步分析并设计</a:t>
            </a:r>
            <a:r>
              <a:rPr lang="en-US" altLang="zh-CN" sz="1100" dirty="0" smtClean="0">
                <a:solidFill>
                  <a:schemeClr val="bg1"/>
                </a:solidFill>
              </a:rPr>
              <a:t>IT</a:t>
            </a:r>
            <a:r>
              <a:rPr lang="zh-CN" altLang="en-US" sz="1100" dirty="0" smtClean="0">
                <a:solidFill>
                  <a:schemeClr val="bg1"/>
                </a:solidFill>
              </a:rPr>
              <a:t>系统功能对流程进行支撑。</a:t>
            </a:r>
            <a:endParaRPr lang="zh-CN" altLang="en-US" sz="1100" dirty="0">
              <a:solidFill>
                <a:schemeClr val="bg1"/>
              </a:solidFill>
            </a:endParaRPr>
          </a:p>
        </p:txBody>
      </p:sp>
      <p:pic>
        <p:nvPicPr>
          <p:cNvPr id="12" name="图片 11"/>
          <p:cNvPicPr>
            <a:picLocks noChangeAspect="1"/>
          </p:cNvPicPr>
          <p:nvPr/>
        </p:nvPicPr>
        <p:blipFill>
          <a:blip r:embed="rId3"/>
          <a:stretch>
            <a:fillRect/>
          </a:stretch>
        </p:blipFill>
        <p:spPr>
          <a:xfrm>
            <a:off x="9656073" y="1564977"/>
            <a:ext cx="2131489" cy="1688765"/>
          </a:xfrm>
          <a:prstGeom prst="rect">
            <a:avLst/>
          </a:prstGeom>
        </p:spPr>
      </p:pic>
    </p:spTree>
    <p:extLst>
      <p:ext uri="{BB962C8B-B14F-4D97-AF65-F5344CB8AC3E}">
        <p14:creationId xmlns:p14="http://schemas.microsoft.com/office/powerpoint/2010/main" val="5769056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2E8958-5D48-5B5F-133B-4ED2F8FBDEFD}"/>
            </a:ext>
          </a:extLst>
        </p:cNvPr>
        <p:cNvGrpSpPr/>
        <p:nvPr/>
      </p:nvGrpSpPr>
      <p:grpSpPr>
        <a:xfrm>
          <a:off x="0" y="0"/>
          <a:ext cx="0" cy="0"/>
          <a:chOff x="0" y="0"/>
          <a:chExt cx="0" cy="0"/>
        </a:xfrm>
      </p:grpSpPr>
      <p:sp>
        <p:nvSpPr>
          <p:cNvPr id="19" name="矩形 18"/>
          <p:cNvSpPr/>
          <p:nvPr/>
        </p:nvSpPr>
        <p:spPr>
          <a:xfrm>
            <a:off x="203345" y="4299938"/>
            <a:ext cx="11843245" cy="12036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3346" y="969745"/>
            <a:ext cx="11843245" cy="3333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 xmlns:a16="http://schemas.microsoft.com/office/drawing/2014/main" id="{687AD25C-0248-0D32-F955-DB077AD7DFD4}"/>
              </a:ext>
            </a:extLst>
          </p:cNvPr>
          <p:cNvSpPr txBox="1"/>
          <p:nvPr>
            <p:custDataLst>
              <p:tags r:id="rId1"/>
            </p:custDataLst>
          </p:nvPr>
        </p:nvSpPr>
        <p:spPr>
          <a:xfrm>
            <a:off x="638175" y="323850"/>
            <a:ext cx="12715875" cy="752475"/>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项目</a:t>
            </a:r>
            <a:r>
              <a:rPr kumimoji="1" lang="en-US" altLang="zh-CN" sz="2965" b="1" dirty="0">
                <a:solidFill>
                  <a:srgbClr val="E60039"/>
                </a:solidFill>
                <a:latin typeface="微软雅黑" panose="020B0503020204020204" charset="-122"/>
                <a:ea typeface="微软雅黑" panose="020B0503020204020204" charset="-122"/>
                <a:sym typeface="+mn-ea"/>
              </a:rPr>
              <a:t>-</a:t>
            </a:r>
            <a:r>
              <a:rPr kumimoji="1" lang="zh-CN" altLang="en-US" sz="2965" b="1" dirty="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rPr>
              <a:t>举措成效</a:t>
            </a:r>
            <a:r>
              <a:rPr kumimoji="1" lang="zh-CN" altLang="en-US" sz="2965" b="1" dirty="0">
                <a:solidFill>
                  <a:srgbClr val="E60039"/>
                </a:solidFill>
                <a:latin typeface="微软雅黑" panose="020B0503020204020204" charset="-122"/>
                <a:ea typeface="微软雅黑" panose="020B0503020204020204" charset="-122"/>
                <a:sym typeface="+mn-ea"/>
              </a:rPr>
              <a:t>，沉淀的经验和方法</a:t>
            </a:r>
          </a:p>
        </p:txBody>
      </p:sp>
      <p:sp>
        <p:nvSpPr>
          <p:cNvPr id="4" name="文本框 3">
            <a:extLst>
              <a:ext uri="{FF2B5EF4-FFF2-40B4-BE49-F238E27FC236}">
                <a16:creationId xmlns="" xmlns:a16="http://schemas.microsoft.com/office/drawing/2014/main" id="{199276ED-4A61-1995-5952-574206D3B0BF}"/>
              </a:ext>
            </a:extLst>
          </p:cNvPr>
          <p:cNvSpPr txBox="1"/>
          <p:nvPr/>
        </p:nvSpPr>
        <p:spPr>
          <a:xfrm>
            <a:off x="3372375" y="1076325"/>
            <a:ext cx="5009058" cy="369332"/>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dirty="0">
                <a:solidFill>
                  <a:srgbClr val="000000"/>
                </a:solidFill>
                <a:latin typeface="MonospacedNumber"/>
              </a:rPr>
              <a:t>周周谈（每周组织和执委的业务评审</a:t>
            </a:r>
            <a:r>
              <a:rPr lang="en-US" altLang="zh-CN" dirty="0">
                <a:solidFill>
                  <a:srgbClr val="000000"/>
                </a:solidFill>
                <a:latin typeface="MonospacedNumber"/>
              </a:rPr>
              <a:t>/</a:t>
            </a:r>
            <a:r>
              <a:rPr lang="zh-CN" altLang="en-US" dirty="0">
                <a:solidFill>
                  <a:srgbClr val="000000"/>
                </a:solidFill>
                <a:latin typeface="MonospacedNumber"/>
              </a:rPr>
              <a:t>质量评审）</a:t>
            </a:r>
            <a:endParaRPr lang="zh-CN" altLang="en-US" dirty="0"/>
          </a:p>
        </p:txBody>
      </p:sp>
      <p:sp>
        <p:nvSpPr>
          <p:cNvPr id="14" name="文本框 13">
            <a:extLst>
              <a:ext uri="{FF2B5EF4-FFF2-40B4-BE49-F238E27FC236}">
                <a16:creationId xmlns="" xmlns:a16="http://schemas.microsoft.com/office/drawing/2014/main" id="{169D43E0-DD57-2759-0D29-98420D7BE6AB}"/>
              </a:ext>
            </a:extLst>
          </p:cNvPr>
          <p:cNvSpPr txBox="1"/>
          <p:nvPr/>
        </p:nvSpPr>
        <p:spPr>
          <a:xfrm>
            <a:off x="203346" y="969745"/>
            <a:ext cx="1331840"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关键举措：</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 xmlns:a16="http://schemas.microsoft.com/office/drawing/2014/main" id="{169D43E0-DD57-2759-0D29-98420D7BE6AB}"/>
              </a:ext>
            </a:extLst>
          </p:cNvPr>
          <p:cNvSpPr txBox="1"/>
          <p:nvPr/>
        </p:nvSpPr>
        <p:spPr>
          <a:xfrm>
            <a:off x="203344" y="4304771"/>
            <a:ext cx="1382438"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经验和方法：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203345" y="5503570"/>
            <a:ext cx="11843245" cy="12799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 xmlns:a16="http://schemas.microsoft.com/office/drawing/2014/main" id="{169D43E0-DD57-2759-0D29-98420D7BE6AB}"/>
              </a:ext>
            </a:extLst>
          </p:cNvPr>
          <p:cNvSpPr txBox="1"/>
          <p:nvPr/>
        </p:nvSpPr>
        <p:spPr>
          <a:xfrm>
            <a:off x="203344" y="5503569"/>
            <a:ext cx="1382438" cy="369332"/>
          </a:xfrm>
          <a:prstGeom prst="rect">
            <a:avLst/>
          </a:prstGeom>
          <a:solidFill>
            <a:schemeClr val="accent1"/>
          </a:solid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sym typeface="+mn-ea"/>
              </a:rPr>
              <a:t>成效</a:t>
            </a:r>
            <a:r>
              <a:rPr lang="zh-CN" altLang="en-US" dirty="0" smtClean="0">
                <a:solidFill>
                  <a:schemeClr val="bg1"/>
                </a:solidFill>
                <a:latin typeface="微软雅黑" panose="020B0503020204020204" pitchFamily="34" charset="-122"/>
                <a:ea typeface="微软雅黑" panose="020B0503020204020204" pitchFamily="34" charset="-122"/>
                <a:sym typeface="+mn-ea"/>
              </a:rPr>
              <a:t>：</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 xmlns:a16="http://schemas.microsoft.com/office/drawing/2014/main" id="{199276ED-4A61-1995-5952-574206D3B0BF}"/>
              </a:ext>
            </a:extLst>
          </p:cNvPr>
          <p:cNvSpPr txBox="1"/>
          <p:nvPr/>
        </p:nvSpPr>
        <p:spPr>
          <a:xfrm>
            <a:off x="1665699" y="4347046"/>
            <a:ext cx="10155598" cy="584775"/>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smtClean="0"/>
              <a:t>每周确定好需要业务评审的流程，提前协调好</a:t>
            </a:r>
            <a:r>
              <a:rPr lang="en-US" altLang="zh-CN" sz="1600" b="1" dirty="0" smtClean="0"/>
              <a:t>PO/</a:t>
            </a:r>
            <a:r>
              <a:rPr lang="zh-CN" altLang="en-US" sz="1600" b="1" dirty="0" smtClean="0"/>
              <a:t>执委时间，确保每一条流程都通过严格的评审后才能进行下一步工作。</a:t>
            </a:r>
            <a:endParaRPr lang="en-US" altLang="zh-CN" sz="1600" dirty="0" smtClean="0"/>
          </a:p>
        </p:txBody>
      </p:sp>
      <p:sp>
        <p:nvSpPr>
          <p:cNvPr id="23" name="文本框 22">
            <a:extLst>
              <a:ext uri="{FF2B5EF4-FFF2-40B4-BE49-F238E27FC236}">
                <a16:creationId xmlns="" xmlns:a16="http://schemas.microsoft.com/office/drawing/2014/main" id="{199276ED-4A61-1995-5952-574206D3B0BF}"/>
              </a:ext>
            </a:extLst>
          </p:cNvPr>
          <p:cNvSpPr txBox="1"/>
          <p:nvPr/>
        </p:nvSpPr>
        <p:spPr>
          <a:xfrm>
            <a:off x="1665699" y="5639195"/>
            <a:ext cx="10155598" cy="338554"/>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smtClean="0"/>
              <a:t>每条发布的流程都是</a:t>
            </a:r>
            <a:r>
              <a:rPr lang="en-US" altLang="zh-CN" sz="1600" b="1" dirty="0" smtClean="0"/>
              <a:t>PO/</a:t>
            </a:r>
            <a:r>
              <a:rPr lang="zh-CN" altLang="en-US" sz="1600" b="1" dirty="0" smtClean="0"/>
              <a:t>执委评审达成共识的，确保业务方向正确，内容规范，可操作。</a:t>
            </a:r>
            <a:endParaRPr lang="en-US" altLang="zh-CN" sz="1600" dirty="0" smtClean="0"/>
          </a:p>
        </p:txBody>
      </p:sp>
      <p:pic>
        <p:nvPicPr>
          <p:cNvPr id="3" name="图片 2"/>
          <p:cNvPicPr>
            <a:picLocks noChangeAspect="1"/>
          </p:cNvPicPr>
          <p:nvPr/>
        </p:nvPicPr>
        <p:blipFill>
          <a:blip r:embed="rId3"/>
          <a:stretch>
            <a:fillRect/>
          </a:stretch>
        </p:blipFill>
        <p:spPr>
          <a:xfrm>
            <a:off x="374737" y="2089762"/>
            <a:ext cx="5863503" cy="1762063"/>
          </a:xfrm>
          <a:prstGeom prst="rect">
            <a:avLst/>
          </a:prstGeom>
        </p:spPr>
      </p:pic>
      <p:sp>
        <p:nvSpPr>
          <p:cNvPr id="24" name="文本框 23">
            <a:extLst>
              <a:ext uri="{FF2B5EF4-FFF2-40B4-BE49-F238E27FC236}">
                <a16:creationId xmlns="" xmlns:a16="http://schemas.microsoft.com/office/drawing/2014/main" id="{199276ED-4A61-1995-5952-574206D3B0BF}"/>
              </a:ext>
            </a:extLst>
          </p:cNvPr>
          <p:cNvSpPr txBox="1"/>
          <p:nvPr/>
        </p:nvSpPr>
        <p:spPr>
          <a:xfrm>
            <a:off x="2751246" y="1600543"/>
            <a:ext cx="1993750" cy="369332"/>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dirty="0" smtClean="0"/>
              <a:t>每周评审日历</a:t>
            </a:r>
            <a:endParaRPr lang="zh-CN" altLang="en-US" dirty="0"/>
          </a:p>
        </p:txBody>
      </p:sp>
      <p:pic>
        <p:nvPicPr>
          <p:cNvPr id="5" name="图片 4"/>
          <p:cNvPicPr>
            <a:picLocks noChangeAspect="1"/>
          </p:cNvPicPr>
          <p:nvPr/>
        </p:nvPicPr>
        <p:blipFill>
          <a:blip r:embed="rId4"/>
          <a:stretch>
            <a:fillRect/>
          </a:stretch>
        </p:blipFill>
        <p:spPr>
          <a:xfrm>
            <a:off x="6543820" y="2038465"/>
            <a:ext cx="5015957" cy="1892141"/>
          </a:xfrm>
          <a:prstGeom prst="rect">
            <a:avLst/>
          </a:prstGeom>
        </p:spPr>
      </p:pic>
      <p:sp>
        <p:nvSpPr>
          <p:cNvPr id="25" name="文本框 24">
            <a:extLst>
              <a:ext uri="{FF2B5EF4-FFF2-40B4-BE49-F238E27FC236}">
                <a16:creationId xmlns="" xmlns:a16="http://schemas.microsoft.com/office/drawing/2014/main" id="{199276ED-4A61-1995-5952-574206D3B0BF}"/>
              </a:ext>
            </a:extLst>
          </p:cNvPr>
          <p:cNvSpPr txBox="1"/>
          <p:nvPr/>
        </p:nvSpPr>
        <p:spPr>
          <a:xfrm>
            <a:off x="8323769" y="1625639"/>
            <a:ext cx="1825248" cy="369332"/>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dirty="0" smtClean="0"/>
              <a:t>评审执委安排</a:t>
            </a:r>
            <a:endParaRPr lang="zh-CN" altLang="en-US" dirty="0"/>
          </a:p>
        </p:txBody>
      </p:sp>
    </p:spTree>
    <p:extLst>
      <p:ext uri="{BB962C8B-B14F-4D97-AF65-F5344CB8AC3E}">
        <p14:creationId xmlns:p14="http://schemas.microsoft.com/office/powerpoint/2010/main" val="33097019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2E8958-5D48-5B5F-133B-4ED2F8FBDEFD}"/>
            </a:ext>
          </a:extLst>
        </p:cNvPr>
        <p:cNvGrpSpPr/>
        <p:nvPr/>
      </p:nvGrpSpPr>
      <p:grpSpPr>
        <a:xfrm>
          <a:off x="0" y="0"/>
          <a:ext cx="0" cy="0"/>
          <a:chOff x="0" y="0"/>
          <a:chExt cx="0" cy="0"/>
        </a:xfrm>
      </p:grpSpPr>
      <p:sp>
        <p:nvSpPr>
          <p:cNvPr id="19" name="矩形 18"/>
          <p:cNvSpPr/>
          <p:nvPr/>
        </p:nvSpPr>
        <p:spPr>
          <a:xfrm>
            <a:off x="203345" y="4299938"/>
            <a:ext cx="11843245" cy="12036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3346" y="969745"/>
            <a:ext cx="11843245" cy="3333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 xmlns:a16="http://schemas.microsoft.com/office/drawing/2014/main" id="{687AD25C-0248-0D32-F955-DB077AD7DFD4}"/>
              </a:ext>
            </a:extLst>
          </p:cNvPr>
          <p:cNvSpPr txBox="1"/>
          <p:nvPr>
            <p:custDataLst>
              <p:tags r:id="rId1"/>
            </p:custDataLst>
          </p:nvPr>
        </p:nvSpPr>
        <p:spPr>
          <a:xfrm>
            <a:off x="638175" y="323850"/>
            <a:ext cx="12715875" cy="752475"/>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项目</a:t>
            </a:r>
            <a:r>
              <a:rPr kumimoji="1" lang="en-US" altLang="zh-CN" sz="2965" b="1" dirty="0">
                <a:solidFill>
                  <a:srgbClr val="E60039"/>
                </a:solidFill>
                <a:latin typeface="微软雅黑" panose="020B0503020204020204" charset="-122"/>
                <a:ea typeface="微软雅黑" panose="020B0503020204020204" charset="-122"/>
                <a:sym typeface="+mn-ea"/>
              </a:rPr>
              <a:t>-</a:t>
            </a:r>
            <a:r>
              <a:rPr kumimoji="1" lang="zh-CN" altLang="en-US" sz="2965" b="1" dirty="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rPr>
              <a:t>举措成效</a:t>
            </a:r>
            <a:r>
              <a:rPr kumimoji="1" lang="zh-CN" altLang="en-US" sz="2965" b="1" dirty="0">
                <a:solidFill>
                  <a:srgbClr val="E60039"/>
                </a:solidFill>
                <a:latin typeface="微软雅黑" panose="020B0503020204020204" charset="-122"/>
                <a:ea typeface="微软雅黑" panose="020B0503020204020204" charset="-122"/>
                <a:sym typeface="+mn-ea"/>
              </a:rPr>
              <a:t>，沉淀的经验和方法</a:t>
            </a:r>
          </a:p>
        </p:txBody>
      </p:sp>
      <p:sp>
        <p:nvSpPr>
          <p:cNvPr id="4" name="文本框 3">
            <a:extLst>
              <a:ext uri="{FF2B5EF4-FFF2-40B4-BE49-F238E27FC236}">
                <a16:creationId xmlns="" xmlns:a16="http://schemas.microsoft.com/office/drawing/2014/main" id="{199276ED-4A61-1995-5952-574206D3B0BF}"/>
              </a:ext>
            </a:extLst>
          </p:cNvPr>
          <p:cNvSpPr txBox="1"/>
          <p:nvPr/>
        </p:nvSpPr>
        <p:spPr>
          <a:xfrm>
            <a:off x="4539244" y="1046545"/>
            <a:ext cx="3171445" cy="369332"/>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dirty="0">
                <a:solidFill>
                  <a:srgbClr val="000000"/>
                </a:solidFill>
                <a:latin typeface="MonospacedNumber"/>
              </a:rPr>
              <a:t>建立流程建设看板稳步压进</a:t>
            </a:r>
            <a:endParaRPr lang="zh-CN" altLang="en-US" dirty="0"/>
          </a:p>
        </p:txBody>
      </p:sp>
      <p:sp>
        <p:nvSpPr>
          <p:cNvPr id="14" name="文本框 13">
            <a:extLst>
              <a:ext uri="{FF2B5EF4-FFF2-40B4-BE49-F238E27FC236}">
                <a16:creationId xmlns="" xmlns:a16="http://schemas.microsoft.com/office/drawing/2014/main" id="{169D43E0-DD57-2759-0D29-98420D7BE6AB}"/>
              </a:ext>
            </a:extLst>
          </p:cNvPr>
          <p:cNvSpPr txBox="1"/>
          <p:nvPr/>
        </p:nvSpPr>
        <p:spPr>
          <a:xfrm>
            <a:off x="203346" y="969745"/>
            <a:ext cx="1331840"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关键举措：</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 xmlns:a16="http://schemas.microsoft.com/office/drawing/2014/main" id="{169D43E0-DD57-2759-0D29-98420D7BE6AB}"/>
              </a:ext>
            </a:extLst>
          </p:cNvPr>
          <p:cNvSpPr txBox="1"/>
          <p:nvPr/>
        </p:nvSpPr>
        <p:spPr>
          <a:xfrm>
            <a:off x="203344" y="4304771"/>
            <a:ext cx="1382438" cy="369332"/>
          </a:xfrm>
          <a:prstGeom prst="rect">
            <a:avLst/>
          </a:prstGeom>
          <a:solidFill>
            <a:schemeClr val="accent1"/>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经验和方法：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203345" y="5503570"/>
            <a:ext cx="11843245" cy="12799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 xmlns:a16="http://schemas.microsoft.com/office/drawing/2014/main" id="{169D43E0-DD57-2759-0D29-98420D7BE6AB}"/>
              </a:ext>
            </a:extLst>
          </p:cNvPr>
          <p:cNvSpPr txBox="1"/>
          <p:nvPr/>
        </p:nvSpPr>
        <p:spPr>
          <a:xfrm>
            <a:off x="203344" y="5503569"/>
            <a:ext cx="1382438" cy="369332"/>
          </a:xfrm>
          <a:prstGeom prst="rect">
            <a:avLst/>
          </a:prstGeom>
          <a:solidFill>
            <a:schemeClr val="accent1"/>
          </a:solid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sym typeface="+mn-ea"/>
              </a:rPr>
              <a:t>成效</a:t>
            </a:r>
            <a:r>
              <a:rPr lang="zh-CN" altLang="en-US" dirty="0" smtClean="0">
                <a:solidFill>
                  <a:schemeClr val="bg1"/>
                </a:solidFill>
                <a:latin typeface="微软雅黑" panose="020B0503020204020204" pitchFamily="34" charset="-122"/>
                <a:ea typeface="微软雅黑" panose="020B0503020204020204" pitchFamily="34" charset="-122"/>
                <a:sym typeface="+mn-ea"/>
              </a:rPr>
              <a:t>：</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 xmlns:a16="http://schemas.microsoft.com/office/drawing/2014/main" id="{199276ED-4A61-1995-5952-574206D3B0BF}"/>
              </a:ext>
            </a:extLst>
          </p:cNvPr>
          <p:cNvSpPr txBox="1"/>
          <p:nvPr/>
        </p:nvSpPr>
        <p:spPr>
          <a:xfrm>
            <a:off x="1665699" y="4347046"/>
            <a:ext cx="10155598" cy="338554"/>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smtClean="0"/>
              <a:t>建设流程进度看板，每周跟踪进度，确保流程推进按计划开展。</a:t>
            </a:r>
            <a:endParaRPr lang="en-US" altLang="zh-CN" sz="1600" dirty="0" smtClean="0"/>
          </a:p>
        </p:txBody>
      </p:sp>
      <p:sp>
        <p:nvSpPr>
          <p:cNvPr id="23" name="文本框 22">
            <a:extLst>
              <a:ext uri="{FF2B5EF4-FFF2-40B4-BE49-F238E27FC236}">
                <a16:creationId xmlns="" xmlns:a16="http://schemas.microsoft.com/office/drawing/2014/main" id="{199276ED-4A61-1995-5952-574206D3B0BF}"/>
              </a:ext>
            </a:extLst>
          </p:cNvPr>
          <p:cNvSpPr txBox="1"/>
          <p:nvPr/>
        </p:nvSpPr>
        <p:spPr>
          <a:xfrm>
            <a:off x="1665699" y="5639195"/>
            <a:ext cx="10155598" cy="584775"/>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r>
              <a:rPr lang="zh-CN" altLang="en-US" sz="1600" b="1" dirty="0" smtClean="0"/>
              <a:t>看板进度的展示有效的为</a:t>
            </a:r>
            <a:r>
              <a:rPr lang="en-US" altLang="zh-CN" sz="1600" b="1" dirty="0" smtClean="0"/>
              <a:t>PC/PO</a:t>
            </a:r>
            <a:r>
              <a:rPr lang="zh-CN" altLang="en-US" sz="1600" b="1" dirty="0" smtClean="0"/>
              <a:t>及执委提供了明确的进度数据，明确问题和卡点，主动协调资源解决，流程工作组利出一孔，齐心协力推动流程建设工作。</a:t>
            </a:r>
            <a:endParaRPr lang="en-US" altLang="zh-CN" sz="1600" dirty="0" smtClean="0"/>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972" y="1438022"/>
            <a:ext cx="5931526" cy="2794103"/>
          </a:xfrm>
          <a:prstGeom prst="rect">
            <a:avLst/>
          </a:prstGeom>
        </p:spPr>
      </p:pic>
      <p:sp>
        <p:nvSpPr>
          <p:cNvPr id="26" name="文本框 25">
            <a:extLst>
              <a:ext uri="{FF2B5EF4-FFF2-40B4-BE49-F238E27FC236}">
                <a16:creationId xmlns="" xmlns:a16="http://schemas.microsoft.com/office/drawing/2014/main" id="{199276ED-4A61-1995-5952-574206D3B0BF}"/>
              </a:ext>
            </a:extLst>
          </p:cNvPr>
          <p:cNvSpPr txBox="1"/>
          <p:nvPr/>
        </p:nvSpPr>
        <p:spPr>
          <a:xfrm>
            <a:off x="6996112" y="1720252"/>
            <a:ext cx="4605862" cy="1569660"/>
          </a:xfrm>
          <a:prstGeom prst="rect">
            <a:avLst/>
          </a:prstGeom>
          <a:noFill/>
        </p:spPr>
        <p:txBody>
          <a:bodyPr wrap="square" rtlCol="0">
            <a:spAutoFit/>
          </a:bodyPr>
          <a:lstStyle>
            <a:defPPr>
              <a:defRPr lang="zh-CN"/>
            </a:defPPr>
            <a:lvl1pPr>
              <a:defRPr>
                <a:latin typeface="微软雅黑" panose="020B0503020204020204" pitchFamily="34" charset="-122"/>
                <a:ea typeface="微软雅黑" panose="020B0503020204020204" pitchFamily="34" charset="-122"/>
              </a:defRPr>
            </a:lvl1pPr>
          </a:lstStyle>
          <a:p>
            <a:pPr marL="285750" indent="-285750">
              <a:lnSpc>
                <a:spcPct val="150000"/>
              </a:lnSpc>
              <a:buFont typeface="Arial" panose="020B0604020202020204" pitchFamily="34" charset="0"/>
              <a:buChar char="•"/>
            </a:pPr>
            <a:r>
              <a:rPr lang="zh-CN" altLang="en-US" sz="1600" b="1" dirty="0" smtClean="0"/>
              <a:t>鼓励进度好的先进流程工作组继续加油</a:t>
            </a:r>
            <a:endParaRPr lang="en-US" altLang="zh-CN" sz="1600" b="1" dirty="0" smtClean="0"/>
          </a:p>
          <a:p>
            <a:pPr marL="285750" indent="-285750">
              <a:lnSpc>
                <a:spcPct val="150000"/>
              </a:lnSpc>
              <a:buFont typeface="Arial" panose="020B0604020202020204" pitchFamily="34" charset="0"/>
              <a:buChar char="•"/>
            </a:pPr>
            <a:r>
              <a:rPr lang="zh-CN" altLang="en-US" sz="1600" b="1" dirty="0" smtClean="0"/>
              <a:t>提醒进度不太好的流程工作组加快进度</a:t>
            </a:r>
            <a:endParaRPr lang="en-US" altLang="zh-CN" sz="1600" b="1" dirty="0" smtClean="0"/>
          </a:p>
          <a:p>
            <a:pPr marL="285750" indent="-285750">
              <a:lnSpc>
                <a:spcPct val="150000"/>
              </a:lnSpc>
              <a:buFont typeface="Arial" panose="020B0604020202020204" pitchFamily="34" charset="0"/>
              <a:buChar char="•"/>
            </a:pPr>
            <a:r>
              <a:rPr lang="zh-CN" altLang="en-US" sz="1600" b="1" dirty="0"/>
              <a:t>提醒</a:t>
            </a:r>
            <a:r>
              <a:rPr lang="zh-CN" altLang="en-US" sz="1600" b="1" dirty="0" smtClean="0"/>
              <a:t>没有进展的流程工作组，是否有难度和挑战，是否需要帮助。</a:t>
            </a:r>
            <a:endParaRPr lang="en-US" altLang="zh-CN" sz="1600" dirty="0" smtClean="0"/>
          </a:p>
        </p:txBody>
      </p:sp>
    </p:spTree>
    <p:extLst>
      <p:ext uri="{BB962C8B-B14F-4D97-AF65-F5344CB8AC3E}">
        <p14:creationId xmlns:p14="http://schemas.microsoft.com/office/powerpoint/2010/main" val="1358375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2E8958-5D48-5B5F-133B-4ED2F8FBDEFD}"/>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687AD25C-0248-0D32-F955-DB077AD7DFD4}"/>
              </a:ext>
            </a:extLst>
          </p:cNvPr>
          <p:cNvSpPr txBox="1"/>
          <p:nvPr>
            <p:custDataLst>
              <p:tags r:id="rId1"/>
            </p:custDataLst>
          </p:nvPr>
        </p:nvSpPr>
        <p:spPr>
          <a:xfrm>
            <a:off x="638175" y="323850"/>
            <a:ext cx="12715875" cy="752475"/>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项目</a:t>
            </a:r>
            <a:r>
              <a:rPr kumimoji="1" lang="en-US" altLang="zh-CN" sz="2965" b="1" dirty="0">
                <a:solidFill>
                  <a:srgbClr val="E60039"/>
                </a:solidFill>
                <a:latin typeface="微软雅黑" panose="020B0503020204020204" charset="-122"/>
                <a:ea typeface="微软雅黑" panose="020B0503020204020204" charset="-122"/>
                <a:sym typeface="+mn-ea"/>
              </a:rPr>
              <a:t>-</a:t>
            </a:r>
            <a:r>
              <a:rPr kumimoji="1" lang="zh-CN" altLang="en-US" sz="2965" b="1" dirty="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rPr>
              <a:t>举措成效</a:t>
            </a:r>
            <a:r>
              <a:rPr kumimoji="1" lang="zh-CN" altLang="en-US" sz="2965" b="1" dirty="0">
                <a:solidFill>
                  <a:srgbClr val="E60039"/>
                </a:solidFill>
                <a:latin typeface="微软雅黑" panose="020B0503020204020204" charset="-122"/>
                <a:ea typeface="微软雅黑" panose="020B0503020204020204" charset="-122"/>
                <a:sym typeface="+mn-ea"/>
              </a:rPr>
              <a:t>，沉淀的经验和方法</a:t>
            </a:r>
          </a:p>
        </p:txBody>
      </p:sp>
      <p:sp>
        <p:nvSpPr>
          <p:cNvPr id="3" name="矩形 2">
            <a:extLst>
              <a:ext uri="{FF2B5EF4-FFF2-40B4-BE49-F238E27FC236}">
                <a16:creationId xmlns="" xmlns:a16="http://schemas.microsoft.com/office/drawing/2014/main" id="{7D5787AE-EBB1-C39D-27E2-6BA40F4FD7BA}"/>
              </a:ext>
            </a:extLst>
          </p:cNvPr>
          <p:cNvSpPr/>
          <p:nvPr/>
        </p:nvSpPr>
        <p:spPr>
          <a:xfrm>
            <a:off x="9368058" y="2874963"/>
            <a:ext cx="2717800" cy="1397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t>说明：请图文结合</a:t>
            </a:r>
            <a:r>
              <a:rPr lang="zh-CN" altLang="en-US" dirty="0" smtClean="0"/>
              <a:t>体现</a:t>
            </a:r>
            <a:endParaRPr lang="en-US" altLang="zh-CN" dirty="0" smtClean="0"/>
          </a:p>
          <a:p>
            <a:pPr algn="ctr"/>
            <a:endParaRPr lang="en-US" altLang="zh-CN" dirty="0"/>
          </a:p>
          <a:p>
            <a:pPr algn="ctr"/>
            <a:r>
              <a:rPr lang="zh-CN" altLang="en-US" dirty="0" smtClean="0"/>
              <a:t>每个关键举措一页，可以分给韩闯写</a:t>
            </a:r>
            <a:r>
              <a:rPr lang="en-US" altLang="zh-CN" dirty="0" smtClean="0"/>
              <a:t>1-2</a:t>
            </a:r>
            <a:r>
              <a:rPr lang="zh-CN" altLang="en-US" dirty="0" smtClean="0"/>
              <a:t>页</a:t>
            </a:r>
            <a:endParaRPr lang="en-US" altLang="zh-CN" dirty="0" smtClean="0"/>
          </a:p>
          <a:p>
            <a:pPr algn="ctr"/>
            <a:endParaRPr lang="en-US" altLang="zh-CN" dirty="0"/>
          </a:p>
        </p:txBody>
      </p:sp>
      <p:sp>
        <p:nvSpPr>
          <p:cNvPr id="4" name="文本框 3">
            <a:extLst>
              <a:ext uri="{FF2B5EF4-FFF2-40B4-BE49-F238E27FC236}">
                <a16:creationId xmlns="" xmlns:a16="http://schemas.microsoft.com/office/drawing/2014/main" id="{199276ED-4A61-1995-5952-574206D3B0BF}"/>
              </a:ext>
            </a:extLst>
          </p:cNvPr>
          <p:cNvSpPr txBox="1"/>
          <p:nvPr/>
        </p:nvSpPr>
        <p:spPr>
          <a:xfrm>
            <a:off x="713509" y="1647999"/>
            <a:ext cx="11069782"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关键举措是什么</a:t>
            </a:r>
            <a:r>
              <a:rPr lang="zh-CN" altLang="en-US" dirty="0" smtClean="0">
                <a:latin typeface="微软雅黑" panose="020B0503020204020204" pitchFamily="34" charset="-122"/>
                <a:ea typeface="微软雅黑" panose="020B0503020204020204" pitchFamily="34" charset="-122"/>
              </a:rPr>
              <a:t>：</a:t>
            </a:r>
            <a:r>
              <a:rPr lang="zh-CN" altLang="en-US" dirty="0" smtClean="0">
                <a:solidFill>
                  <a:srgbClr val="000000"/>
                </a:solidFill>
                <a:latin typeface="MonospacedNumber"/>
              </a:rPr>
              <a:t>建立流程管理的流程并</a:t>
            </a:r>
            <a:r>
              <a:rPr lang="en-US" altLang="zh-CN" dirty="0" smtClean="0">
                <a:solidFill>
                  <a:srgbClr val="000000"/>
                </a:solidFill>
                <a:latin typeface="MonospacedNumber"/>
              </a:rPr>
              <a:t>IT</a:t>
            </a:r>
            <a:r>
              <a:rPr lang="zh-CN" altLang="en-US" dirty="0" smtClean="0">
                <a:solidFill>
                  <a:srgbClr val="000000"/>
                </a:solidFill>
                <a:latin typeface="MonospacedNumber"/>
              </a:rPr>
              <a:t>化（</a:t>
            </a:r>
            <a:r>
              <a:rPr lang="zh-CN" altLang="en-US" dirty="0">
                <a:solidFill>
                  <a:srgbClr val="000000"/>
                </a:solidFill>
                <a:latin typeface="MonospacedNumber"/>
              </a:rPr>
              <a:t>八阶段六评审</a:t>
            </a:r>
            <a:r>
              <a:rPr lang="en-US" altLang="zh-CN" dirty="0">
                <a:solidFill>
                  <a:srgbClr val="000000"/>
                </a:solidFill>
                <a:latin typeface="MonospacedNumber"/>
              </a:rPr>
              <a:t>-IT</a:t>
            </a:r>
            <a:r>
              <a:rPr lang="zh-CN" altLang="en-US" dirty="0">
                <a:solidFill>
                  <a:srgbClr val="000000"/>
                </a:solidFill>
                <a:latin typeface="MonospacedNumber"/>
              </a:rPr>
              <a:t>系统）</a:t>
            </a:r>
            <a:r>
              <a:rPr lang="zh-CN" altLang="en-US" dirty="0" smtClean="0">
                <a:solidFill>
                  <a:srgbClr val="000000"/>
                </a:solidFill>
                <a:latin typeface="MonospacedNumber"/>
              </a:rPr>
              <a:t>、制定</a:t>
            </a:r>
            <a:r>
              <a:rPr lang="en-US" altLang="zh-CN" dirty="0" smtClean="0">
                <a:solidFill>
                  <a:srgbClr val="000000"/>
                </a:solidFill>
                <a:latin typeface="MonospacedNumber"/>
              </a:rPr>
              <a:t>V0.9</a:t>
            </a:r>
            <a:r>
              <a:rPr lang="zh-CN" altLang="en-US" dirty="0" smtClean="0">
                <a:solidFill>
                  <a:srgbClr val="000000"/>
                </a:solidFill>
                <a:latin typeface="MonospacedNumber"/>
              </a:rPr>
              <a:t>版本的标准（七件套）及质量规范、周周谈（每周组织和执委的业务评审</a:t>
            </a:r>
            <a:r>
              <a:rPr lang="en-US" altLang="zh-CN" dirty="0" smtClean="0">
                <a:solidFill>
                  <a:srgbClr val="000000"/>
                </a:solidFill>
                <a:latin typeface="MonospacedNumber"/>
              </a:rPr>
              <a:t>/</a:t>
            </a:r>
            <a:r>
              <a:rPr lang="zh-CN" altLang="en-US" dirty="0" smtClean="0">
                <a:solidFill>
                  <a:srgbClr val="000000"/>
                </a:solidFill>
                <a:latin typeface="MonospacedNumber"/>
              </a:rPr>
              <a:t>质量评审）、建立流程建设看板稳步压进</a:t>
            </a: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 xmlns:a16="http://schemas.microsoft.com/office/drawing/2014/main" id="{A9A3CF0A-548D-F432-21F5-51144236E02A}"/>
              </a:ext>
            </a:extLst>
          </p:cNvPr>
          <p:cNvSpPr txBox="1"/>
          <p:nvPr/>
        </p:nvSpPr>
        <p:spPr>
          <a:xfrm>
            <a:off x="713509" y="2874963"/>
            <a:ext cx="946958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成效是什么：</a:t>
            </a:r>
            <a:r>
              <a:rPr lang="en-US" altLang="zh-CN" dirty="0">
                <a:latin typeface="微软雅黑" panose="020B0503020204020204" pitchFamily="34" charset="-122"/>
                <a:ea typeface="微软雅黑" panose="020B0503020204020204" pitchFamily="34" charset="-122"/>
              </a:rPr>
              <a:t>XXX</a:t>
            </a: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 xmlns:a16="http://schemas.microsoft.com/office/drawing/2014/main" id="{169D43E0-DD57-2759-0D29-98420D7BE6AB}"/>
              </a:ext>
            </a:extLst>
          </p:cNvPr>
          <p:cNvSpPr txBox="1"/>
          <p:nvPr/>
        </p:nvSpPr>
        <p:spPr>
          <a:xfrm>
            <a:off x="638174" y="5610955"/>
            <a:ext cx="946958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sym typeface="+mn-ea"/>
              </a:rPr>
              <a:t>经验和方法</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XXX</a:t>
            </a:r>
            <a:endParaRPr lang="zh-CN" altLang="en-US"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 xmlns:a16="http://schemas.microsoft.com/office/drawing/2014/main" id="{6B94D4BB-48E0-F5DD-A894-8131C2E6AE48}"/>
              </a:ext>
            </a:extLst>
          </p:cNvPr>
          <p:cNvSpPr txBox="1"/>
          <p:nvPr/>
        </p:nvSpPr>
        <p:spPr>
          <a:xfrm>
            <a:off x="713509" y="1177496"/>
            <a:ext cx="11310004" cy="369332"/>
          </a:xfrm>
          <a:prstGeom prst="rect">
            <a:avLst/>
          </a:prstGeom>
          <a:noFill/>
        </p:spPr>
        <p:txBody>
          <a:bodyPr wrap="square">
            <a:spAutoFit/>
          </a:bodyPr>
          <a:lstStyle/>
          <a:p>
            <a:r>
              <a:rPr lang="en-US" altLang="zh-CN" dirty="0">
                <a:solidFill>
                  <a:srgbClr val="000000"/>
                </a:solidFill>
                <a:latin typeface="MonospacedNumber"/>
              </a:rPr>
              <a:t>Q1</a:t>
            </a:r>
            <a:r>
              <a:rPr lang="zh-CN" altLang="en-US" dirty="0">
                <a:solidFill>
                  <a:srgbClr val="000000"/>
                </a:solidFill>
                <a:latin typeface="MonospacedNumber"/>
              </a:rPr>
              <a:t>的关键行动回顾</a:t>
            </a:r>
            <a:r>
              <a:rPr lang="zh-CN" altLang="en-US" dirty="0" smtClean="0">
                <a:solidFill>
                  <a:srgbClr val="000000"/>
                </a:solidFill>
                <a:latin typeface="MonospacedNumber"/>
              </a:rPr>
              <a:t>：</a:t>
            </a:r>
            <a:endParaRPr lang="zh-CN" altLang="en-US" dirty="0"/>
          </a:p>
        </p:txBody>
      </p:sp>
    </p:spTree>
    <p:extLst>
      <p:ext uri="{BB962C8B-B14F-4D97-AF65-F5344CB8AC3E}">
        <p14:creationId xmlns:p14="http://schemas.microsoft.com/office/powerpoint/2010/main" val="452277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14D317B-A6E7-C1AA-D753-0F19600DEEA9}"/>
            </a:ext>
          </a:extLst>
        </p:cNvPr>
        <p:cNvGrpSpPr/>
        <p:nvPr/>
      </p:nvGrpSpPr>
      <p:grpSpPr>
        <a:xfrm>
          <a:off x="0" y="0"/>
          <a:ext cx="0" cy="0"/>
          <a:chOff x="0" y="0"/>
          <a:chExt cx="0" cy="0"/>
        </a:xfrm>
      </p:grpSpPr>
      <p:sp>
        <p:nvSpPr>
          <p:cNvPr id="3" name="文本框 2">
            <a:extLst>
              <a:ext uri="{FF2B5EF4-FFF2-40B4-BE49-F238E27FC236}">
                <a16:creationId xmlns="" xmlns:a16="http://schemas.microsoft.com/office/drawing/2014/main" id="{9DB9AF5A-2407-B640-4AC5-50429D56163F}"/>
              </a:ext>
            </a:extLst>
          </p:cNvPr>
          <p:cNvSpPr txBox="1"/>
          <p:nvPr>
            <p:custDataLst>
              <p:tags r:id="rId1"/>
            </p:custDataLst>
          </p:nvPr>
        </p:nvSpPr>
        <p:spPr>
          <a:xfrm>
            <a:off x="638175" y="323850"/>
            <a:ext cx="9714230" cy="1057910"/>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“流程建成</a:t>
            </a:r>
            <a:r>
              <a:rPr kumimoji="1" lang="en-US" altLang="zh-CN" sz="2965" b="1" dirty="0">
                <a:solidFill>
                  <a:srgbClr val="E60039"/>
                </a:solidFill>
                <a:latin typeface="微软雅黑" panose="020B0503020204020204" charset="-122"/>
                <a:ea typeface="微软雅黑" panose="020B0503020204020204" charset="-122"/>
              </a:rPr>
              <a:t>L5</a:t>
            </a:r>
            <a:r>
              <a:rPr kumimoji="1" lang="zh-CN" altLang="en-US" sz="2965" b="1" dirty="0">
                <a:solidFill>
                  <a:srgbClr val="E60039"/>
                </a:solidFill>
                <a:latin typeface="微软雅黑" panose="020B0503020204020204" charset="-122"/>
                <a:ea typeface="微软雅黑" panose="020B0503020204020204" charset="-122"/>
              </a:rPr>
              <a:t>，跑起来”</a:t>
            </a:r>
            <a:r>
              <a:rPr kumimoji="1" lang="zh-CN" altLang="en-US" sz="2965" b="1" dirty="0" smtClean="0">
                <a:solidFill>
                  <a:srgbClr val="E60039"/>
                </a:solidFill>
                <a:latin typeface="微软雅黑" panose="020B0503020204020204" charset="-122"/>
                <a:ea typeface="微软雅黑" panose="020B0503020204020204" charset="-122"/>
                <a:sym typeface="+mn-ea"/>
              </a:rPr>
              <a:t>子</a:t>
            </a:r>
            <a:r>
              <a:rPr kumimoji="1" lang="zh-CN" altLang="en-US" sz="2965" b="1" dirty="0">
                <a:solidFill>
                  <a:srgbClr val="E60039"/>
                </a:solidFill>
                <a:latin typeface="微软雅黑" panose="020B0503020204020204" charset="-122"/>
                <a:ea typeface="微软雅黑" panose="020B0503020204020204" charset="-122"/>
                <a:sym typeface="+mn-ea"/>
              </a:rPr>
              <a:t>项</a:t>
            </a:r>
            <a:r>
              <a:rPr kumimoji="1" lang="en-US" altLang="zh-CN" sz="2965" b="1" dirty="0">
                <a:solidFill>
                  <a:srgbClr val="E60039"/>
                </a:solidFill>
                <a:latin typeface="微软雅黑" panose="020B0503020204020204" charset="-122"/>
                <a:ea typeface="微软雅黑" panose="020B0503020204020204" charset="-122"/>
                <a:sym typeface="+mn-ea"/>
              </a:rPr>
              <a:t>1—Q2</a:t>
            </a:r>
            <a:r>
              <a:rPr kumimoji="1" lang="zh-CN" altLang="en-US" sz="2965" b="1" dirty="0">
                <a:solidFill>
                  <a:srgbClr val="E60039"/>
                </a:solidFill>
                <a:latin typeface="微软雅黑" panose="020B0503020204020204" charset="-122"/>
                <a:ea typeface="微软雅黑" panose="020B0503020204020204" charset="-122"/>
                <a:sym typeface="+mn-ea"/>
              </a:rPr>
              <a:t>目标和行动计划</a:t>
            </a:r>
          </a:p>
        </p:txBody>
      </p:sp>
      <p:sp>
        <p:nvSpPr>
          <p:cNvPr id="5" name="Rectangle 1">
            <a:extLst>
              <a:ext uri="{FF2B5EF4-FFF2-40B4-BE49-F238E27FC236}">
                <a16:creationId xmlns="" xmlns:a16="http://schemas.microsoft.com/office/drawing/2014/main" id="{4D6408FE-8442-F002-EC6D-D57DBADB111C}"/>
              </a:ext>
            </a:extLst>
          </p:cNvPr>
          <p:cNvSpPr>
            <a:spLocks noChangeArrowheads="1"/>
          </p:cNvSpPr>
          <p:nvPr/>
        </p:nvSpPr>
        <p:spPr bwMode="auto">
          <a:xfrm>
            <a:off x="1387475" y="32400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表格 5">
            <a:extLst>
              <a:ext uri="{FF2B5EF4-FFF2-40B4-BE49-F238E27FC236}">
                <a16:creationId xmlns="" xmlns:a16="http://schemas.microsoft.com/office/drawing/2014/main" id="{AD82DE0C-CBF3-8FE0-5EF2-96EE659BDAB2}"/>
              </a:ext>
            </a:extLst>
          </p:cNvPr>
          <p:cNvGraphicFramePr>
            <a:graphicFrameLocks noGrp="1"/>
          </p:cNvGraphicFramePr>
          <p:nvPr>
            <p:extLst>
              <p:ext uri="{D42A27DB-BD31-4B8C-83A1-F6EECF244321}">
                <p14:modId xmlns:p14="http://schemas.microsoft.com/office/powerpoint/2010/main" val="1322828856"/>
              </p:ext>
            </p:extLst>
          </p:nvPr>
        </p:nvGraphicFramePr>
        <p:xfrm>
          <a:off x="1616075" y="2052156"/>
          <a:ext cx="9385057" cy="3131511"/>
        </p:xfrm>
        <a:graphic>
          <a:graphicData uri="http://schemas.openxmlformats.org/drawingml/2006/table">
            <a:tbl>
              <a:tblPr/>
              <a:tblGrid>
                <a:gridCol w="1033515">
                  <a:extLst>
                    <a:ext uri="{9D8B030D-6E8A-4147-A177-3AD203B41FA5}">
                      <a16:colId xmlns="" xmlns:a16="http://schemas.microsoft.com/office/drawing/2014/main" val="4126097605"/>
                    </a:ext>
                  </a:extLst>
                </a:gridCol>
                <a:gridCol w="3095042">
                  <a:extLst>
                    <a:ext uri="{9D8B030D-6E8A-4147-A177-3AD203B41FA5}">
                      <a16:colId xmlns="" xmlns:a16="http://schemas.microsoft.com/office/drawing/2014/main" val="678362262"/>
                    </a:ext>
                  </a:extLst>
                </a:gridCol>
                <a:gridCol w="2689136">
                  <a:extLst>
                    <a:ext uri="{9D8B030D-6E8A-4147-A177-3AD203B41FA5}">
                      <a16:colId xmlns="" xmlns:a16="http://schemas.microsoft.com/office/drawing/2014/main" val="3104932681"/>
                    </a:ext>
                  </a:extLst>
                </a:gridCol>
                <a:gridCol w="2567364">
                  <a:extLst>
                    <a:ext uri="{9D8B030D-6E8A-4147-A177-3AD203B41FA5}">
                      <a16:colId xmlns="" xmlns:a16="http://schemas.microsoft.com/office/drawing/2014/main" val="2460856437"/>
                    </a:ext>
                  </a:extLst>
                </a:gridCol>
              </a:tblGrid>
              <a:tr h="343591">
                <a:tc>
                  <a:txBody>
                    <a:bodyPr/>
                    <a:lstStyle/>
                    <a:p>
                      <a:pPr algn="ctr" fontAlgn="ctr" latinLnBrk="0"/>
                      <a:r>
                        <a:rPr kumimoji="1" lang="zh-CN" altLang="en-US" sz="800" b="1" dirty="0" smtClean="0">
                          <a:solidFill>
                            <a:schemeClr val="tx1"/>
                          </a:solidFill>
                          <a:latin typeface="微软雅黑" panose="020B0503020204020204" charset="-122"/>
                          <a:ea typeface="微软雅黑" panose="020B0503020204020204" charset="-122"/>
                        </a:rPr>
                        <a:t>流程建成</a:t>
                      </a:r>
                      <a:r>
                        <a:rPr kumimoji="1" lang="en-US" altLang="zh-CN" sz="800" b="1" dirty="0" smtClean="0">
                          <a:solidFill>
                            <a:schemeClr val="tx1"/>
                          </a:solidFill>
                          <a:latin typeface="微软雅黑" panose="020B0503020204020204" charset="-122"/>
                          <a:ea typeface="微软雅黑" panose="020B0503020204020204" charset="-122"/>
                        </a:rPr>
                        <a:t>L5</a:t>
                      </a:r>
                      <a:r>
                        <a:rPr kumimoji="1" lang="zh-CN" altLang="en-US" sz="800" b="1" dirty="0" smtClean="0">
                          <a:solidFill>
                            <a:schemeClr val="tx1"/>
                          </a:solidFill>
                          <a:latin typeface="微软雅黑" panose="020B0503020204020204" charset="-122"/>
                          <a:ea typeface="微软雅黑" panose="020B0503020204020204" charset="-122"/>
                        </a:rPr>
                        <a:t>，跑起来</a:t>
                      </a:r>
                      <a:endParaRPr lang="zh-CN" altLang="en-US" sz="800" b="1" i="0" dirty="0">
                        <a:solidFill>
                          <a:schemeClr val="tx1"/>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0E3"/>
                    </a:solidFill>
                  </a:tcPr>
                </a:tc>
                <a:tc>
                  <a:txBody>
                    <a:bodyPr/>
                    <a:lstStyle/>
                    <a:p>
                      <a:pPr algn="ctr" fontAlgn="ctr" latinLnBrk="0"/>
                      <a:r>
                        <a:rPr lang="en-US" sz="800" b="1" i="0" dirty="0">
                          <a:solidFill>
                            <a:srgbClr val="1F2329"/>
                          </a:solidFill>
                          <a:effectLst/>
                        </a:rPr>
                        <a:t>M4</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049FD7"/>
                    </a:solidFill>
                  </a:tcPr>
                </a:tc>
                <a:tc>
                  <a:txBody>
                    <a:bodyPr/>
                    <a:lstStyle/>
                    <a:p>
                      <a:pPr algn="ctr" fontAlgn="ctr" latinLnBrk="0"/>
                      <a:r>
                        <a:rPr lang="en-US" sz="800" b="1" i="0" dirty="0">
                          <a:solidFill>
                            <a:srgbClr val="1F2329"/>
                          </a:solidFill>
                          <a:effectLst/>
                        </a:rPr>
                        <a:t>M5</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tc>
                  <a:txBody>
                    <a:bodyPr/>
                    <a:lstStyle/>
                    <a:p>
                      <a:pPr algn="ctr" fontAlgn="ctr" latinLnBrk="0"/>
                      <a:r>
                        <a:rPr lang="en-US" sz="800" b="1" i="0" dirty="0">
                          <a:solidFill>
                            <a:srgbClr val="1F2329"/>
                          </a:solidFill>
                          <a:effectLst/>
                        </a:rPr>
                        <a:t>M6</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extLst>
                  <a:ext uri="{0D108BD9-81ED-4DB2-BD59-A6C34878D82A}">
                    <a16:rowId xmlns="" xmlns:a16="http://schemas.microsoft.com/office/drawing/2014/main" val="3767630983"/>
                  </a:ext>
                </a:extLst>
              </a:tr>
              <a:tr h="343591">
                <a:tc>
                  <a:txBody>
                    <a:bodyPr/>
                    <a:lstStyle/>
                    <a:p>
                      <a:pPr algn="ctr" fontAlgn="ctr" latinLnBrk="0"/>
                      <a:r>
                        <a:rPr lang="zh-CN" altLang="en-US" sz="800" b="1" i="0" dirty="0">
                          <a:solidFill>
                            <a:srgbClr val="1F2329"/>
                          </a:solidFill>
                          <a:effectLst/>
                        </a:rPr>
                        <a:t>要解决的关键问题</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0E3"/>
                    </a:solidFill>
                  </a:tcPr>
                </a:tc>
                <a:tc gridSpan="3">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tc hMerge="1">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extLst>
                  <a:ext uri="{0D108BD9-81ED-4DB2-BD59-A6C34878D82A}">
                    <a16:rowId xmlns="" xmlns:a16="http://schemas.microsoft.com/office/drawing/2014/main" val="3447847492"/>
                  </a:ext>
                </a:extLst>
              </a:tr>
              <a:tr h="246489">
                <a:tc>
                  <a:txBody>
                    <a:bodyPr/>
                    <a:lstStyle/>
                    <a:p>
                      <a:pPr algn="ctr" fontAlgn="ctr" latinLnBrk="0"/>
                      <a:r>
                        <a:rPr lang="zh-CN" altLang="en-US" sz="800" b="1" i="0" dirty="0">
                          <a:solidFill>
                            <a:srgbClr val="000000"/>
                          </a:solidFill>
                          <a:effectLst/>
                        </a:rPr>
                        <a:t>子项目标分解</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 xmlns:a16="http://schemas.microsoft.com/office/drawing/2014/main" val="2140247724"/>
                  </a:ext>
                </a:extLst>
              </a:tr>
              <a:tr h="246489">
                <a:tc>
                  <a:txBody>
                    <a:bodyPr/>
                    <a:lstStyle/>
                    <a:p>
                      <a:pPr algn="ctr" fontAlgn="ctr" latinLnBrk="0"/>
                      <a:r>
                        <a:rPr lang="zh-CN" altLang="en-US" sz="800" b="1" i="0" dirty="0">
                          <a:solidFill>
                            <a:srgbClr val="000000"/>
                          </a:solidFill>
                          <a:effectLst/>
                        </a:rPr>
                        <a:t>子项里程碑</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fontAlgn="ctr" latinLnBrk="0"/>
                      <a:r>
                        <a:rPr lang="zh-CN" altLang="en-US" sz="700" b="0" i="0" dirty="0">
                          <a:solidFill>
                            <a:srgbClr val="FFFFFF"/>
                          </a:solidFill>
                          <a:effectLst/>
                        </a:rPr>
                        <a:t>完成</a:t>
                      </a:r>
                      <a:r>
                        <a:rPr lang="en-US" altLang="zh-CN" sz="700" b="0" i="0" dirty="0">
                          <a:solidFill>
                            <a:srgbClr val="FFFFFF"/>
                          </a:solidFill>
                          <a:effectLst/>
                        </a:rPr>
                        <a:t>380</a:t>
                      </a:r>
                      <a:r>
                        <a:rPr lang="zh-CN" altLang="en-US" sz="700" b="0" i="0" dirty="0">
                          <a:solidFill>
                            <a:srgbClr val="FFFFFF"/>
                          </a:solidFill>
                          <a:effectLst/>
                        </a:rPr>
                        <a:t>个客户覆盖（</a:t>
                      </a:r>
                      <a:r>
                        <a:rPr lang="en-US" altLang="zh-CN" sz="700" b="0" i="0" dirty="0">
                          <a:solidFill>
                            <a:srgbClr val="FFFFFF"/>
                          </a:solidFill>
                          <a:effectLst/>
                        </a:rPr>
                        <a:t>4.30</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1</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ctr" latinLnBrk="0"/>
                      <a:r>
                        <a:rPr lang="en-US" altLang="zh-CN" sz="700" b="0" i="0" dirty="0">
                          <a:solidFill>
                            <a:srgbClr val="FFFFFF"/>
                          </a:solidFill>
                          <a:effectLst/>
                        </a:rPr>
                        <a:t>EDN</a:t>
                      </a:r>
                      <a:r>
                        <a:rPr lang="zh-CN" altLang="en-US" sz="700" b="0" i="0" dirty="0">
                          <a:solidFill>
                            <a:srgbClr val="FFFFFF"/>
                          </a:solidFill>
                          <a:effectLst/>
                        </a:rPr>
                        <a:t>漏斗内项目</a:t>
                      </a:r>
                      <a:r>
                        <a:rPr lang="en-US" altLang="zh-CN" sz="700" b="0" i="0" dirty="0">
                          <a:solidFill>
                            <a:srgbClr val="FFFFFF"/>
                          </a:solidFill>
                          <a:effectLst/>
                        </a:rPr>
                        <a:t>100</a:t>
                      </a:r>
                      <a:r>
                        <a:rPr lang="zh-CN" altLang="en-US" sz="700" b="0" i="0" dirty="0">
                          <a:solidFill>
                            <a:srgbClr val="FFFFFF"/>
                          </a:solidFill>
                          <a:effectLst/>
                        </a:rPr>
                        <a:t>个（</a:t>
                      </a:r>
                      <a:r>
                        <a:rPr lang="en-US" altLang="zh-CN" sz="700" b="0" i="0" dirty="0">
                          <a:solidFill>
                            <a:srgbClr val="FFFFFF"/>
                          </a:solidFill>
                          <a:effectLst/>
                        </a:rPr>
                        <a:t>5.29</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2</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ctr" latinLnBrk="0"/>
                      <a:r>
                        <a:rPr lang="en-US" altLang="zh-CN" sz="700" b="0" i="0" dirty="0">
                          <a:solidFill>
                            <a:srgbClr val="FFFFFF"/>
                          </a:solidFill>
                          <a:effectLst/>
                        </a:rPr>
                        <a:t>EDN</a:t>
                      </a:r>
                      <a:r>
                        <a:rPr lang="zh-CN" altLang="en-US" sz="700" b="0" i="0" dirty="0">
                          <a:solidFill>
                            <a:srgbClr val="FFFFFF"/>
                          </a:solidFill>
                          <a:effectLst/>
                        </a:rPr>
                        <a:t>漏斗内项目</a:t>
                      </a:r>
                      <a:r>
                        <a:rPr lang="en-US" altLang="zh-CN" sz="700" b="0" i="0" dirty="0">
                          <a:solidFill>
                            <a:srgbClr val="FFFFFF"/>
                          </a:solidFill>
                          <a:effectLst/>
                        </a:rPr>
                        <a:t>150</a:t>
                      </a:r>
                      <a:r>
                        <a:rPr lang="zh-CN" altLang="en-US" sz="700" b="0" i="0" dirty="0">
                          <a:solidFill>
                            <a:srgbClr val="FFFFFF"/>
                          </a:solidFill>
                          <a:effectLst/>
                        </a:rPr>
                        <a:t>个（</a:t>
                      </a:r>
                      <a:r>
                        <a:rPr lang="en-US" altLang="zh-CN" sz="700" b="0" i="0" dirty="0">
                          <a:solidFill>
                            <a:srgbClr val="FFFFFF"/>
                          </a:solidFill>
                          <a:effectLst/>
                        </a:rPr>
                        <a:t>6.27</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3</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 xmlns:a16="http://schemas.microsoft.com/office/drawing/2014/main" val="1359117702"/>
                  </a:ext>
                </a:extLst>
              </a:tr>
              <a:tr h="1912158">
                <a:tc>
                  <a:txBody>
                    <a:bodyPr/>
                    <a:lstStyle/>
                    <a:p>
                      <a:pPr algn="ctr" fontAlgn="ctr" latinLnBrk="0"/>
                      <a:r>
                        <a:rPr lang="zh-CN" altLang="en-US" sz="800" b="1" i="0" dirty="0">
                          <a:solidFill>
                            <a:srgbClr val="000000"/>
                          </a:solidFill>
                          <a:effectLst/>
                        </a:rPr>
                        <a:t>关键行动计划和交付</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、每个区域每周</a:t>
                      </a:r>
                      <a:r>
                        <a:rPr lang="en-US" altLang="zh-CN" sz="800" b="0" i="0" dirty="0">
                          <a:solidFill>
                            <a:srgbClr val="000000"/>
                          </a:solidFill>
                          <a:effectLst/>
                        </a:rPr>
                        <a:t>25</a:t>
                      </a:r>
                      <a:r>
                        <a:rPr lang="zh-CN" altLang="en-US" sz="800" b="0" i="0" dirty="0">
                          <a:solidFill>
                            <a:srgbClr val="000000"/>
                          </a:solidFill>
                          <a:effectLst/>
                        </a:rPr>
                        <a:t>个客户开展高质量技术交流，完成</a:t>
                      </a:r>
                      <a:r>
                        <a:rPr lang="en-US" altLang="zh-CN" sz="800" b="0" i="0" dirty="0">
                          <a:solidFill>
                            <a:srgbClr val="000000"/>
                          </a:solidFill>
                          <a:effectLst/>
                        </a:rPr>
                        <a:t>380</a:t>
                      </a:r>
                      <a:r>
                        <a:rPr lang="zh-CN" altLang="en-US" sz="800" b="0" i="0" dirty="0">
                          <a:solidFill>
                            <a:srgbClr val="000000"/>
                          </a:solidFill>
                          <a:effectLst/>
                        </a:rPr>
                        <a:t>个客户覆盖。</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、举行</a:t>
                      </a:r>
                      <a:r>
                        <a:rPr lang="en-US" altLang="zh-CN" sz="800" b="0" i="0" dirty="0">
                          <a:solidFill>
                            <a:srgbClr val="000000"/>
                          </a:solidFill>
                          <a:effectLst/>
                        </a:rPr>
                        <a:t>EDN PMF</a:t>
                      </a:r>
                      <a:r>
                        <a:rPr lang="zh-CN" altLang="en-US" sz="800" b="0" i="0" dirty="0">
                          <a:solidFill>
                            <a:srgbClr val="000000"/>
                          </a:solidFill>
                          <a:effectLst/>
                        </a:rPr>
                        <a:t>复盘会，推动</a:t>
                      </a:r>
                      <a:r>
                        <a:rPr lang="en-US" altLang="zh-CN" sz="800" b="0" i="0" dirty="0">
                          <a:solidFill>
                            <a:srgbClr val="000000"/>
                          </a:solidFill>
                          <a:effectLst/>
                        </a:rPr>
                        <a:t>EDN</a:t>
                      </a:r>
                      <a:r>
                        <a:rPr lang="zh-CN" altLang="en-US" sz="800" b="0" i="0" dirty="0">
                          <a:solidFill>
                            <a:srgbClr val="000000"/>
                          </a:solidFill>
                          <a:effectLst/>
                        </a:rPr>
                        <a:t>产品方案精</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、每个区域挖掘老客户项目机会，展开多次技术交流，构建企金漏斗内项目</a:t>
                      </a:r>
                      <a:r>
                        <a:rPr lang="en-US" altLang="zh-CN" sz="800" b="0" i="0" dirty="0">
                          <a:solidFill>
                            <a:srgbClr val="000000"/>
                          </a:solidFill>
                          <a:effectLst/>
                        </a:rPr>
                        <a:t>50</a:t>
                      </a:r>
                      <a:r>
                        <a:rPr lang="zh-CN" altLang="en-US" sz="800" b="0" i="0" dirty="0">
                          <a:solidFill>
                            <a:srgbClr val="000000"/>
                          </a:solidFill>
                          <a:effectLst/>
                        </a:rPr>
                        <a:t>个（企业</a:t>
                      </a:r>
                      <a:r>
                        <a:rPr lang="en-US" altLang="zh-CN" sz="800" b="0" i="0" dirty="0">
                          <a:solidFill>
                            <a:srgbClr val="000000"/>
                          </a:solidFill>
                          <a:effectLst/>
                        </a:rPr>
                        <a:t>30</a:t>
                      </a:r>
                      <a:r>
                        <a:rPr lang="zh-CN" altLang="en-US" sz="800" b="0" i="0" dirty="0">
                          <a:solidFill>
                            <a:srgbClr val="000000"/>
                          </a:solidFill>
                          <a:effectLst/>
                        </a:rPr>
                        <a:t>个，金融</a:t>
                      </a:r>
                      <a:r>
                        <a:rPr lang="en-US" altLang="zh-CN" sz="800" b="0" i="0" dirty="0">
                          <a:solidFill>
                            <a:srgbClr val="000000"/>
                          </a:solidFill>
                          <a:effectLst/>
                        </a:rPr>
                        <a:t>20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4</a:t>
                      </a:r>
                      <a:r>
                        <a:rPr lang="zh-CN" altLang="en-US" sz="800" b="0" i="0" dirty="0">
                          <a:solidFill>
                            <a:srgbClr val="000000"/>
                          </a:solidFill>
                          <a:effectLst/>
                        </a:rPr>
                        <a:t>、启动</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30%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1</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行动验证，识别问题推动修订；</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1</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、每个区域针对有项目机会的老客户展开多次技术交流，构建企金漏斗内项目</a:t>
                      </a:r>
                      <a:r>
                        <a:rPr lang="en-US" altLang="zh-CN" sz="800" b="0" i="0" dirty="0">
                          <a:solidFill>
                            <a:srgbClr val="000000"/>
                          </a:solidFill>
                          <a:effectLst/>
                        </a:rPr>
                        <a:t>100</a:t>
                      </a:r>
                      <a:r>
                        <a:rPr lang="zh-CN" altLang="en-US" sz="800" b="0" i="0" dirty="0">
                          <a:solidFill>
                            <a:srgbClr val="000000"/>
                          </a:solidFill>
                          <a:effectLst/>
                        </a:rPr>
                        <a:t>个（企业</a:t>
                      </a:r>
                      <a:r>
                        <a:rPr lang="en-US" altLang="zh-CN" sz="800" b="0" i="0" dirty="0">
                          <a:solidFill>
                            <a:srgbClr val="000000"/>
                          </a:solidFill>
                          <a:effectLst/>
                        </a:rPr>
                        <a:t>60</a:t>
                      </a:r>
                      <a:r>
                        <a:rPr lang="zh-CN" altLang="en-US" sz="800" b="0" i="0" dirty="0">
                          <a:solidFill>
                            <a:srgbClr val="000000"/>
                          </a:solidFill>
                          <a:effectLst/>
                        </a:rPr>
                        <a:t>个，金融</a:t>
                      </a:r>
                      <a:r>
                        <a:rPr lang="en-US" altLang="zh-CN" sz="800" b="0" i="0" dirty="0">
                          <a:solidFill>
                            <a:srgbClr val="000000"/>
                          </a:solidFill>
                          <a:effectLst/>
                        </a:rPr>
                        <a:t>40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、金融举行一场大行带体系内小行的圈子活动，加速价值认可效率</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、持续</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40%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2</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行动验证，识别问题推动修订；</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2</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、每个区域针对有项目机会的老客户展开推优交流，构建企金漏斗内项目</a:t>
                      </a:r>
                      <a:r>
                        <a:rPr lang="en-US" altLang="zh-CN" sz="800" b="0" i="0" dirty="0">
                          <a:solidFill>
                            <a:srgbClr val="000000"/>
                          </a:solidFill>
                          <a:effectLst/>
                        </a:rPr>
                        <a:t>150</a:t>
                      </a:r>
                      <a:r>
                        <a:rPr lang="zh-CN" altLang="en-US" sz="800" b="0" i="0" dirty="0">
                          <a:solidFill>
                            <a:srgbClr val="000000"/>
                          </a:solidFill>
                          <a:effectLst/>
                        </a:rPr>
                        <a:t>个（企业</a:t>
                      </a:r>
                      <a:r>
                        <a:rPr lang="en-US" altLang="zh-CN" sz="800" b="0" i="0" dirty="0">
                          <a:solidFill>
                            <a:srgbClr val="000000"/>
                          </a:solidFill>
                          <a:effectLst/>
                        </a:rPr>
                        <a:t>90</a:t>
                      </a:r>
                      <a:r>
                        <a:rPr lang="zh-CN" altLang="en-US" sz="800" b="0" i="0" dirty="0">
                          <a:solidFill>
                            <a:srgbClr val="000000"/>
                          </a:solidFill>
                          <a:effectLst/>
                        </a:rPr>
                        <a:t>个，金融</a:t>
                      </a:r>
                      <a:r>
                        <a:rPr lang="en-US" altLang="zh-CN" sz="800" b="0" i="0" dirty="0">
                          <a:solidFill>
                            <a:srgbClr val="000000"/>
                          </a:solidFill>
                          <a:effectLst/>
                        </a:rPr>
                        <a:t>60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、建设</a:t>
                      </a:r>
                      <a:r>
                        <a:rPr lang="en-US" altLang="zh-CN" sz="800" b="0" i="0" dirty="0">
                          <a:solidFill>
                            <a:srgbClr val="000000"/>
                          </a:solidFill>
                          <a:effectLst/>
                        </a:rPr>
                        <a:t>3</a:t>
                      </a:r>
                      <a:r>
                        <a:rPr lang="zh-CN" altLang="en-US" sz="800" b="0" i="0" dirty="0">
                          <a:solidFill>
                            <a:srgbClr val="000000"/>
                          </a:solidFill>
                          <a:effectLst/>
                        </a:rPr>
                        <a:t>个可供全国参观的</a:t>
                      </a:r>
                      <a:r>
                        <a:rPr lang="en-US" altLang="zh-CN" sz="800" b="0" i="0" dirty="0">
                          <a:solidFill>
                            <a:srgbClr val="000000"/>
                          </a:solidFill>
                          <a:effectLst/>
                        </a:rPr>
                        <a:t>EDN</a:t>
                      </a:r>
                      <a:r>
                        <a:rPr lang="zh-CN" altLang="en-US" sz="800" b="0" i="0" dirty="0">
                          <a:solidFill>
                            <a:srgbClr val="000000"/>
                          </a:solidFill>
                          <a:effectLst/>
                        </a:rPr>
                        <a:t>样板，举行</a:t>
                      </a:r>
                      <a:r>
                        <a:rPr lang="en-US" altLang="zh-CN" sz="800" b="0" i="0" dirty="0">
                          <a:solidFill>
                            <a:srgbClr val="000000"/>
                          </a:solidFill>
                          <a:effectLst/>
                        </a:rPr>
                        <a:t>EDN 1.X</a:t>
                      </a:r>
                      <a:r>
                        <a:rPr lang="zh-CN" altLang="en-US" sz="800" b="0" i="0" dirty="0">
                          <a:solidFill>
                            <a:srgbClr val="000000"/>
                          </a:solidFill>
                          <a:effectLst/>
                        </a:rPr>
                        <a:t>版本发布会，邀请样板客户站台，加速价值认可效率</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、持续</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50%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3</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行动验证，输出</a:t>
                      </a:r>
                      <a:r>
                        <a:rPr lang="en-US" altLang="zh-CN" sz="800" b="0" i="0" dirty="0">
                          <a:solidFill>
                            <a:srgbClr val="000000"/>
                          </a:solidFill>
                          <a:effectLst/>
                        </a:rPr>
                        <a:t>《EDN USE CASE</a:t>
                      </a:r>
                      <a:r>
                        <a:rPr lang="zh-CN" altLang="en-US" sz="800" b="0" i="0" dirty="0">
                          <a:solidFill>
                            <a:srgbClr val="000000"/>
                          </a:solidFill>
                          <a:effectLst/>
                        </a:rPr>
                        <a:t>交付指导</a:t>
                      </a:r>
                      <a:r>
                        <a:rPr lang="en-US" altLang="zh-CN" sz="800" b="0" i="0" dirty="0">
                          <a:solidFill>
                            <a:srgbClr val="000000"/>
                          </a:solidFill>
                          <a:effectLst/>
                        </a:rPr>
                        <a:t>》</a:t>
                      </a:r>
                      <a:br>
                        <a:rPr lang="en-US" altLang="zh-CN"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3</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extLst>
                  <a:ext uri="{0D108BD9-81ED-4DB2-BD59-A6C34878D82A}">
                    <a16:rowId xmlns="" xmlns:a16="http://schemas.microsoft.com/office/drawing/2014/main" val="1311275067"/>
                  </a:ext>
                </a:extLst>
              </a:tr>
            </a:tbl>
          </a:graphicData>
        </a:graphic>
      </p:graphicFrame>
      <p:sp>
        <p:nvSpPr>
          <p:cNvPr id="7" name="Rectangle 2">
            <a:extLst>
              <a:ext uri="{FF2B5EF4-FFF2-40B4-BE49-F238E27FC236}">
                <a16:creationId xmlns="" xmlns:a16="http://schemas.microsoft.com/office/drawing/2014/main" id="{BE2D9B6B-0E16-9282-446A-4C48AC2EFE1C}"/>
              </a:ext>
            </a:extLst>
          </p:cNvPr>
          <p:cNvSpPr>
            <a:spLocks noChangeArrowheads="1"/>
          </p:cNvSpPr>
          <p:nvPr/>
        </p:nvSpPr>
        <p:spPr bwMode="auto">
          <a:xfrm>
            <a:off x="1292225" y="3239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a:extLst>
              <a:ext uri="{FF2B5EF4-FFF2-40B4-BE49-F238E27FC236}">
                <a16:creationId xmlns="" xmlns:a16="http://schemas.microsoft.com/office/drawing/2014/main" id="{14748205-E49F-7857-A3A8-199EE248AE26}"/>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smtClean="0"/>
              <a:t>沙书立负责</a:t>
            </a:r>
            <a:endParaRPr lang="zh-CN" altLang="en-US" dirty="0"/>
          </a:p>
        </p:txBody>
      </p:sp>
    </p:spTree>
    <p:extLst>
      <p:ext uri="{BB962C8B-B14F-4D97-AF65-F5344CB8AC3E}">
        <p14:creationId xmlns:p14="http://schemas.microsoft.com/office/powerpoint/2010/main" val="123668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8AC8A2-5E62-58F7-0017-9AEAB5D9B87E}"/>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5B9C6A3A-2899-3D7A-CE19-D8D2A7F5AD9E}"/>
              </a:ext>
            </a:extLst>
          </p:cNvPr>
          <p:cNvSpPr txBox="1"/>
          <p:nvPr>
            <p:custDataLst>
              <p:tags r:id="rId1"/>
            </p:custDataLst>
          </p:nvPr>
        </p:nvSpPr>
        <p:spPr>
          <a:xfrm>
            <a:off x="3645011" y="2818019"/>
            <a:ext cx="4735663" cy="548612"/>
          </a:xfrm>
          <a:prstGeom prst="rect">
            <a:avLst/>
          </a:prstGeom>
          <a:noFill/>
        </p:spPr>
        <p:txBody>
          <a:bodyPr wrap="square" rtlCol="0">
            <a:spAutoFit/>
          </a:bodyPr>
          <a:lstStyle/>
          <a:p>
            <a:pPr algn="ctr" fontAlgn="ct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子项二</a:t>
            </a:r>
            <a:r>
              <a:rPr kumimoji="1" lang="zh-CN" altLang="en-US" sz="2965" b="1" dirty="0">
                <a:solidFill>
                  <a:srgbClr val="E60039"/>
                </a:solidFill>
                <a:latin typeface="微软雅黑" panose="020B0503020204020204" charset="-122"/>
                <a:ea typeface="微软雅黑" panose="020B0503020204020204" charset="-122"/>
                <a:sym typeface="+mn-ea"/>
              </a:rPr>
              <a:t>：</a:t>
            </a:r>
            <a:r>
              <a:rPr kumimoji="1" lang="en-US" altLang="zh-CN" sz="2965" b="1" dirty="0">
                <a:solidFill>
                  <a:srgbClr val="E60039"/>
                </a:solidFill>
                <a:latin typeface="微软雅黑" panose="020B0503020204020204" charset="-122"/>
                <a:ea typeface="微软雅黑" panose="020B0503020204020204" charset="-122"/>
              </a:rPr>
              <a:t> PO/PC</a:t>
            </a:r>
            <a:r>
              <a:rPr kumimoji="1" lang="zh-CN" altLang="en-US" sz="2965" b="1" dirty="0">
                <a:solidFill>
                  <a:srgbClr val="E60039"/>
                </a:solidFill>
                <a:latin typeface="微软雅黑" panose="020B0503020204020204" charset="-122"/>
                <a:ea typeface="微软雅黑" panose="020B0503020204020204" charset="-122"/>
              </a:rPr>
              <a:t>选育留</a:t>
            </a:r>
          </a:p>
        </p:txBody>
      </p:sp>
      <p:sp>
        <p:nvSpPr>
          <p:cNvPr id="3" name="矩形 2">
            <a:extLst>
              <a:ext uri="{FF2B5EF4-FFF2-40B4-BE49-F238E27FC236}">
                <a16:creationId xmlns="" xmlns:a16="http://schemas.microsoft.com/office/drawing/2014/main" id="{40A10E4F-0AB9-02A3-D5F3-536B2B29F71D}"/>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noProof="0" dirty="0" smtClean="0">
                <a:solidFill>
                  <a:prstClr val="white"/>
                </a:solidFill>
                <a:latin typeface="Calibri"/>
                <a:ea typeface="宋体"/>
              </a:rPr>
              <a:t>沙书立</a:t>
            </a:r>
            <a:endParaRPr lang="en-US" altLang="zh-CN" noProof="0" dirty="0" smtClean="0">
              <a:solidFill>
                <a:prstClr val="white"/>
              </a:solidFill>
              <a:latin typeface="Calibri"/>
              <a:ea typeface="宋体"/>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prstClr val="white"/>
                </a:solidFill>
                <a:effectLst/>
                <a:uLnTx/>
                <a:uFillTx/>
                <a:latin typeface="Calibri"/>
                <a:ea typeface="宋体"/>
                <a:cs typeface="+mn-cs"/>
              </a:rPr>
              <a:t>于梦</a:t>
            </a:r>
            <a:endParaRPr kumimoji="0" lang="zh-CN" altLang="en-US" sz="1800" b="0" i="0" u="none" strike="noStrike" kern="1200" cap="none" spc="0" normalizeH="0" baseline="0" noProof="0" dirty="0">
              <a:ln>
                <a:noFill/>
              </a:ln>
              <a:solidFill>
                <a:prstClr val="white"/>
              </a:solidFill>
              <a:effectLst/>
              <a:uLnTx/>
              <a:uFillTx/>
              <a:latin typeface="Calibri"/>
              <a:ea typeface="宋体"/>
              <a:cs typeface="+mn-cs"/>
            </a:endParaRPr>
          </a:p>
        </p:txBody>
      </p:sp>
    </p:spTree>
    <p:extLst>
      <p:ext uri="{BB962C8B-B14F-4D97-AF65-F5344CB8AC3E}">
        <p14:creationId xmlns:p14="http://schemas.microsoft.com/office/powerpoint/2010/main" val="2742510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E71D9D-A267-2AFD-30F9-A96CFFC747F3}"/>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A75B30C8-062D-AD94-4804-8252977B0CAF}"/>
              </a:ext>
            </a:extLst>
          </p:cNvPr>
          <p:cNvSpPr txBox="1"/>
          <p:nvPr>
            <p:custDataLst>
              <p:tags r:id="rId1"/>
            </p:custDataLst>
          </p:nvPr>
        </p:nvSpPr>
        <p:spPr>
          <a:xfrm>
            <a:off x="638175" y="323850"/>
            <a:ext cx="12715875" cy="752475"/>
          </a:xfrm>
          <a:prstGeom prst="rect">
            <a:avLst/>
          </a:prstGeom>
          <a:noFill/>
        </p:spPr>
        <p:txBody>
          <a:bodyPr wrap="square" rtlCol="0">
            <a:noAutofit/>
          </a:bodyPr>
          <a:lstStyle/>
          <a:p>
            <a:pPr>
              <a:defRPr/>
            </a:pPr>
            <a:r>
              <a:rPr kumimoji="1" lang="en-US" altLang="zh-CN" sz="2965" b="1" dirty="0">
                <a:solidFill>
                  <a:srgbClr val="E60039"/>
                </a:solidFill>
                <a:latin typeface="微软雅黑" panose="020B0503020204020204" charset="-122"/>
                <a:ea typeface="微软雅黑" panose="020B0503020204020204" charset="-122"/>
              </a:rPr>
              <a:t>PO/PC</a:t>
            </a:r>
            <a:r>
              <a:rPr kumimoji="1" lang="zh-CN" altLang="en-US" sz="2965" b="1" dirty="0">
                <a:solidFill>
                  <a:srgbClr val="E60039"/>
                </a:solidFill>
                <a:latin typeface="微软雅黑" panose="020B0503020204020204" charset="-122"/>
                <a:ea typeface="微软雅黑" panose="020B0503020204020204" charset="-122"/>
              </a:rPr>
              <a:t>选育</a:t>
            </a:r>
            <a:r>
              <a:rPr kumimoji="1" lang="zh-CN" altLang="en-US" sz="2965" b="1" dirty="0" smtClean="0">
                <a:solidFill>
                  <a:srgbClr val="E60039"/>
                </a:solidFill>
                <a:latin typeface="微软雅黑" panose="020B0503020204020204" charset="-122"/>
                <a:ea typeface="微软雅黑" panose="020B0503020204020204" charset="-122"/>
              </a:rPr>
              <a:t>留</a:t>
            </a:r>
            <a:r>
              <a:rPr kumimoji="1" lang="en-US" altLang="zh-CN" sz="2965" b="1" dirty="0" smtClean="0">
                <a:solidFill>
                  <a:srgbClr val="E60039"/>
                </a:solidFill>
                <a:latin typeface="微软雅黑" panose="020B0503020204020204" charset="-122"/>
                <a:ea typeface="微软雅黑" panose="020B0503020204020204" charset="-122"/>
                <a:sym typeface="+mn-ea"/>
              </a:rPr>
              <a:t> </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子项目目标分析</a:t>
            </a:r>
          </a:p>
        </p:txBody>
      </p:sp>
      <p:sp>
        <p:nvSpPr>
          <p:cNvPr id="3" name="矩形 2">
            <a:extLst>
              <a:ext uri="{FF2B5EF4-FFF2-40B4-BE49-F238E27FC236}">
                <a16:creationId xmlns="" xmlns:a16="http://schemas.microsoft.com/office/drawing/2014/main" id="{3C2EC822-D084-4D15-2D26-149D70AE09A3}"/>
              </a:ext>
            </a:extLst>
          </p:cNvPr>
          <p:cNvSpPr/>
          <p:nvPr/>
        </p:nvSpPr>
        <p:spPr>
          <a:xfrm>
            <a:off x="9474200" y="-3694"/>
            <a:ext cx="2717800" cy="1397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宋体"/>
                <a:cs typeface="+mn-cs"/>
              </a:rPr>
              <a:t>说明：请图文结合体现</a:t>
            </a:r>
          </a:p>
        </p:txBody>
      </p:sp>
      <p:sp>
        <p:nvSpPr>
          <p:cNvPr id="12" name="文本框 11">
            <a:extLst>
              <a:ext uri="{FF2B5EF4-FFF2-40B4-BE49-F238E27FC236}">
                <a16:creationId xmlns="" xmlns:a16="http://schemas.microsoft.com/office/drawing/2014/main" id="{2AFFCD95-79C4-5DC6-D1FB-ED85DD7EEF95}"/>
              </a:ext>
            </a:extLst>
          </p:cNvPr>
          <p:cNvSpPr txBox="1"/>
          <p:nvPr/>
        </p:nvSpPr>
        <p:spPr>
          <a:xfrm>
            <a:off x="638173" y="1071746"/>
            <a:ext cx="89725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onospacedNumber"/>
                <a:ea typeface="宋体"/>
                <a:cs typeface="+mn-cs"/>
              </a:rPr>
              <a:t>Q1</a:t>
            </a:r>
            <a:r>
              <a:rPr kumimoji="0" lang="zh-CN" altLang="en-US" sz="1800" b="0" i="0" u="none" strike="noStrike" kern="1200" cap="none" spc="0" normalizeH="0" baseline="0" noProof="0" dirty="0">
                <a:ln>
                  <a:noFill/>
                </a:ln>
                <a:solidFill>
                  <a:srgbClr val="000000"/>
                </a:solidFill>
                <a:effectLst/>
                <a:uLnTx/>
                <a:uFillTx/>
                <a:latin typeface="MonospacedNumber"/>
                <a:ea typeface="宋体"/>
                <a:cs typeface="+mn-cs"/>
              </a:rPr>
              <a:t>的目标回顾：</a:t>
            </a:r>
            <a:endParaRPr kumimoji="0" lang="zh-CN" altLang="en-US" sz="1800" b="0" i="0" u="none" strike="noStrike" kern="1200" cap="none" spc="0" normalizeH="0" baseline="0" noProof="0" dirty="0">
              <a:ln>
                <a:noFill/>
              </a:ln>
              <a:solidFill>
                <a:prstClr val="black"/>
              </a:solidFill>
              <a:effectLst/>
              <a:uLnTx/>
              <a:uFillTx/>
              <a:latin typeface="Calibri"/>
              <a:ea typeface="宋体"/>
              <a:cs typeface="+mn-cs"/>
            </a:endParaRPr>
          </a:p>
        </p:txBody>
      </p:sp>
      <p:sp>
        <p:nvSpPr>
          <p:cNvPr id="14" name="文本框 13">
            <a:extLst>
              <a:ext uri="{FF2B5EF4-FFF2-40B4-BE49-F238E27FC236}">
                <a16:creationId xmlns="" xmlns:a16="http://schemas.microsoft.com/office/drawing/2014/main" id="{2D36D876-03E5-3196-9F64-4A417E12870F}"/>
              </a:ext>
            </a:extLst>
          </p:cNvPr>
          <p:cNvSpPr txBox="1"/>
          <p:nvPr/>
        </p:nvSpPr>
        <p:spPr>
          <a:xfrm>
            <a:off x="582755" y="2699536"/>
            <a:ext cx="89725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onospacedNumber"/>
                <a:ea typeface="宋体"/>
                <a:cs typeface="+mn-cs"/>
              </a:rPr>
              <a:t>Q1</a:t>
            </a:r>
            <a:r>
              <a:rPr kumimoji="0" lang="zh-CN" altLang="en-US" sz="1800" b="0" i="0" u="none" strike="noStrike" kern="1200" cap="none" spc="0" normalizeH="0" baseline="0" noProof="0" dirty="0">
                <a:ln>
                  <a:noFill/>
                </a:ln>
                <a:solidFill>
                  <a:srgbClr val="000000"/>
                </a:solidFill>
                <a:effectLst/>
                <a:uLnTx/>
                <a:uFillTx/>
                <a:latin typeface="MonospacedNumber"/>
                <a:ea typeface="宋体"/>
                <a:cs typeface="+mn-cs"/>
              </a:rPr>
              <a:t>的目标达成情况分析：</a:t>
            </a:r>
            <a:endParaRPr kumimoji="0" lang="zh-CN" altLang="en-US" sz="1800" b="0" i="0" u="none" strike="noStrike" kern="1200" cap="none" spc="0" normalizeH="0" baseline="0" noProof="0" dirty="0">
              <a:ln>
                <a:noFill/>
              </a:ln>
              <a:solidFill>
                <a:prstClr val="black"/>
              </a:solidFill>
              <a:effectLst/>
              <a:uLnTx/>
              <a:uFillTx/>
              <a:latin typeface="Calibri"/>
              <a:ea typeface="宋体"/>
              <a:cs typeface="+mn-cs"/>
            </a:endParaRPr>
          </a:p>
        </p:txBody>
      </p:sp>
      <p:sp>
        <p:nvSpPr>
          <p:cNvPr id="6" name="矩形 5">
            <a:extLst>
              <a:ext uri="{FF2B5EF4-FFF2-40B4-BE49-F238E27FC236}">
                <a16:creationId xmlns="" xmlns:a16="http://schemas.microsoft.com/office/drawing/2014/main" id="{E67D5C46-27AF-C794-B108-0EAE9857FAF8}"/>
              </a:ext>
            </a:extLst>
          </p:cNvPr>
          <p:cNvSpPr/>
          <p:nvPr/>
        </p:nvSpPr>
        <p:spPr>
          <a:xfrm>
            <a:off x="678582" y="3155603"/>
            <a:ext cx="10154518" cy="328346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t>说明</a:t>
            </a:r>
            <a:r>
              <a:rPr lang="zh-CN" altLang="en-US" dirty="0" smtClean="0"/>
              <a:t>：</a:t>
            </a:r>
            <a:endParaRPr lang="zh-CN" altLang="en-US" dirty="0"/>
          </a:p>
        </p:txBody>
      </p:sp>
      <p:sp>
        <p:nvSpPr>
          <p:cNvPr id="7" name="矩形 6"/>
          <p:cNvSpPr/>
          <p:nvPr/>
        </p:nvSpPr>
        <p:spPr>
          <a:xfrm>
            <a:off x="638173" y="976745"/>
            <a:ext cx="10133736" cy="11984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81319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CE67C5-F318-4F40-D5B9-111FEEFA3975}"/>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40D20213-7D58-A761-64C9-7BB0FD63BBBA}"/>
              </a:ext>
            </a:extLst>
          </p:cNvPr>
          <p:cNvSpPr txBox="1"/>
          <p:nvPr>
            <p:custDataLst>
              <p:tags r:id="rId1"/>
            </p:custDataLst>
          </p:nvPr>
        </p:nvSpPr>
        <p:spPr>
          <a:xfrm>
            <a:off x="638175" y="323851"/>
            <a:ext cx="10734675" cy="514350"/>
          </a:xfrm>
          <a:prstGeom prst="rect">
            <a:avLst/>
          </a:prstGeom>
          <a:noFill/>
        </p:spPr>
        <p:txBody>
          <a:bodyPr wrap="square" rtlCol="0">
            <a:noAutofit/>
          </a:bodyPr>
          <a:lstStyle/>
          <a:p>
            <a:pPr lvl="0">
              <a:defRPr/>
            </a:pPr>
            <a:r>
              <a:rPr kumimoji="1" lang="en-US" altLang="zh-CN" sz="2965" b="1" dirty="0">
                <a:solidFill>
                  <a:srgbClr val="E60039"/>
                </a:solidFill>
                <a:latin typeface="微软雅黑" panose="020B0503020204020204" charset="-122"/>
                <a:ea typeface="微软雅黑" panose="020B0503020204020204" charset="-122"/>
              </a:rPr>
              <a:t>PO/PC</a:t>
            </a:r>
            <a:r>
              <a:rPr kumimoji="1" lang="zh-CN" altLang="en-US" sz="2965" b="1" dirty="0">
                <a:solidFill>
                  <a:srgbClr val="E60039"/>
                </a:solidFill>
                <a:latin typeface="微软雅黑" panose="020B0503020204020204" charset="-122"/>
                <a:ea typeface="微软雅黑" panose="020B0503020204020204" charset="-122"/>
              </a:rPr>
              <a:t>选育</a:t>
            </a:r>
            <a:r>
              <a:rPr kumimoji="1" lang="zh-CN" altLang="en-US" sz="2965" b="1" dirty="0" smtClean="0">
                <a:solidFill>
                  <a:srgbClr val="E60039"/>
                </a:solidFill>
                <a:latin typeface="微软雅黑" panose="020B0503020204020204" charset="-122"/>
                <a:ea typeface="微软雅黑" panose="020B0503020204020204" charset="-122"/>
              </a:rPr>
              <a:t>留 </a:t>
            </a:r>
            <a:r>
              <a:rPr kumimoji="1" lang="zh-CN" altLang="en-US" sz="2965" b="1" i="0" u="none" strike="noStrike" kern="1200" cap="none" spc="0" normalizeH="0" baseline="0" noProof="0" dirty="0" smtClean="0">
                <a:ln>
                  <a:noFill/>
                </a:ln>
                <a:solidFill>
                  <a:srgbClr val="E60039"/>
                </a:solidFill>
                <a:effectLst/>
                <a:uLnTx/>
                <a:uFillTx/>
                <a:latin typeface="微软雅黑" panose="020B0503020204020204" charset="-122"/>
                <a:ea typeface="微软雅黑" panose="020B0503020204020204" charset="-122"/>
                <a:cs typeface="+mn-cs"/>
                <a:sym typeface="+mn-ea"/>
              </a:rPr>
              <a:t>子</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项目</a:t>
            </a:r>
            <a:r>
              <a:rPr kumimoji="1" lang="en-US" altLang="zh-CN"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 </a:t>
            </a:r>
            <a:endPar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endParaRPr>
          </a:p>
        </p:txBody>
      </p:sp>
      <p:sp>
        <p:nvSpPr>
          <p:cNvPr id="3" name="矩形 2">
            <a:extLst>
              <a:ext uri="{FF2B5EF4-FFF2-40B4-BE49-F238E27FC236}">
                <a16:creationId xmlns="" xmlns:a16="http://schemas.microsoft.com/office/drawing/2014/main" id="{6FA8941B-12A3-4CD1-9D54-80CD9251BE48}"/>
              </a:ext>
            </a:extLst>
          </p:cNvPr>
          <p:cNvSpPr/>
          <p:nvPr/>
        </p:nvSpPr>
        <p:spPr>
          <a:xfrm>
            <a:off x="9572460" y="4439548"/>
            <a:ext cx="2717800" cy="1397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宋体"/>
                <a:cs typeface="+mn-cs"/>
              </a:rPr>
              <a:t>说明：请图文结合体现</a:t>
            </a:r>
          </a:p>
        </p:txBody>
      </p:sp>
      <p:sp>
        <p:nvSpPr>
          <p:cNvPr id="4" name="文本框 3">
            <a:extLst>
              <a:ext uri="{FF2B5EF4-FFF2-40B4-BE49-F238E27FC236}">
                <a16:creationId xmlns="" xmlns:a16="http://schemas.microsoft.com/office/drawing/2014/main" id="{0841AF42-3B2B-0E8D-AFBF-04A5D377B531}"/>
              </a:ext>
            </a:extLst>
          </p:cNvPr>
          <p:cNvSpPr txBox="1"/>
          <p:nvPr/>
        </p:nvSpPr>
        <p:spPr>
          <a:xfrm>
            <a:off x="328074" y="2013559"/>
            <a:ext cx="4731232"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人员现状</a:t>
            </a: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凸显变化</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prstClr val="black"/>
                </a:solidFill>
                <a:latin typeface="微软雅黑" panose="020B0503020204020204" pitchFamily="34" charset="-122"/>
                <a:ea typeface="微软雅黑" panose="020B0503020204020204" pitchFamily="34" charset="-122"/>
              </a:rPr>
              <a:t>金</a:t>
            </a:r>
            <a:r>
              <a:rPr lang="zh-CN" altLang="en-US" dirty="0" smtClean="0">
                <a:solidFill>
                  <a:prstClr val="black"/>
                </a:solidFill>
                <a:latin typeface="微软雅黑" panose="020B0503020204020204" pitchFamily="34" charset="-122"/>
                <a:ea typeface="微软雅黑" panose="020B0503020204020204" pitchFamily="34" charset="-122"/>
              </a:rPr>
              <a:t>种子</a:t>
            </a:r>
            <a:r>
              <a:rPr lang="en-US" altLang="zh-CN" dirty="0" smtClean="0">
                <a:solidFill>
                  <a:prstClr val="black"/>
                </a:solidFill>
                <a:latin typeface="微软雅黑" panose="020B0503020204020204" pitchFamily="34" charset="-122"/>
                <a:ea typeface="微软雅黑" panose="020B0503020204020204" pitchFamily="34" charset="-122"/>
              </a:rPr>
              <a:t>PK</a:t>
            </a:r>
            <a:r>
              <a:rPr lang="zh-CN" altLang="en-US" dirty="0" smtClean="0">
                <a:solidFill>
                  <a:prstClr val="black"/>
                </a:solidFill>
                <a:latin typeface="微软雅黑" panose="020B0503020204020204" pitchFamily="34" charset="-122"/>
                <a:ea typeface="微软雅黑" panose="020B0503020204020204" pitchFamily="34" charset="-122"/>
              </a:rPr>
              <a:t>赛的激励</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solidFill>
                  <a:prstClr val="black"/>
                </a:solidFill>
                <a:latin typeface="微软雅黑" panose="020B0503020204020204" pitchFamily="34" charset="-122"/>
                <a:ea typeface="微软雅黑" panose="020B0503020204020204" pitchFamily="34" charset="-122"/>
              </a:rPr>
              <a:t>看到的问题是什么？</a:t>
            </a:r>
            <a:endParaRPr lang="en-US" altLang="zh-CN" dirty="0" smtClean="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solidFill>
                  <a:prstClr val="black"/>
                </a:solidFill>
                <a:latin typeface="微软雅黑" panose="020B0503020204020204" pitchFamily="34" charset="-122"/>
                <a:ea typeface="微软雅黑" panose="020B0503020204020204" pitchFamily="34" charset="-122"/>
              </a:rPr>
              <a:t>对策是什么？</a:t>
            </a:r>
            <a:endParaRPr lang="en-US" altLang="zh-CN" dirty="0" smtClean="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solidFill>
                  <a:prstClr val="black"/>
                </a:solidFill>
                <a:latin typeface="微软雅黑" panose="020B0503020204020204" pitchFamily="34" charset="-122"/>
                <a:ea typeface="微软雅黑" panose="020B0503020204020204" pitchFamily="34" charset="-122"/>
              </a:rPr>
              <a:t>结论</a:t>
            </a:r>
            <a:r>
              <a:rPr lang="en-US" altLang="zh-CN" dirty="0" smtClean="0">
                <a:solidFill>
                  <a:prstClr val="black"/>
                </a:solidFill>
                <a:latin typeface="微软雅黑" panose="020B0503020204020204" pitchFamily="34" charset="-122"/>
                <a:ea typeface="微软雅黑" panose="020B0503020204020204" pitchFamily="34" charset="-122"/>
              </a:rPr>
              <a:t>——</a:t>
            </a:r>
            <a:r>
              <a:rPr lang="zh-CN" altLang="en-US" dirty="0" smtClean="0">
                <a:solidFill>
                  <a:prstClr val="black"/>
                </a:solidFill>
                <a:latin typeface="微软雅黑" panose="020B0503020204020204" pitchFamily="34" charset="-122"/>
                <a:ea typeface="微软雅黑" panose="020B0503020204020204" pitchFamily="34" charset="-122"/>
              </a:rPr>
              <a:t>确保流程建设的人员从投入到能力都是最合理的</a:t>
            </a:r>
            <a:endParaRPr lang="en-US" altLang="zh-CN" dirty="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CM</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的调整、</a:t>
            </a: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MI</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的换人</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solidFill>
                  <a:prstClr val="black"/>
                </a:solidFill>
                <a:latin typeface="微软雅黑" panose="020B0503020204020204" pitchFamily="34" charset="-122"/>
                <a:ea typeface="微软雅黑" panose="020B0503020204020204" pitchFamily="34" charset="-122"/>
              </a:rPr>
              <a:t>PC</a:t>
            </a:r>
            <a:r>
              <a:rPr lang="zh-CN" altLang="en-US" dirty="0" smtClean="0">
                <a:solidFill>
                  <a:prstClr val="black"/>
                </a:solidFill>
                <a:latin typeface="微软雅黑" panose="020B0503020204020204" pitchFamily="34" charset="-122"/>
                <a:ea typeface="微软雅黑" panose="020B0503020204020204" pitchFamily="34" charset="-122"/>
              </a:rPr>
              <a:t>的优化</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 xmlns:a16="http://schemas.microsoft.com/office/drawing/2014/main" id="{0841AF42-3B2B-0E8D-AFBF-04A5D377B531}"/>
              </a:ext>
            </a:extLst>
          </p:cNvPr>
          <p:cNvSpPr txBox="1"/>
          <p:nvPr/>
        </p:nvSpPr>
        <p:spPr>
          <a:xfrm>
            <a:off x="6434884" y="2013559"/>
            <a:ext cx="473123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solidFill>
                  <a:prstClr val="black"/>
                </a:solidFill>
                <a:latin typeface="微软雅黑" panose="020B0503020204020204" pitchFamily="34" charset="-122"/>
                <a:ea typeface="微软雅黑" panose="020B0503020204020204" pitchFamily="34" charset="-122"/>
              </a:rPr>
              <a:t>人的育，看到什么问题（不专业、不统一）</a:t>
            </a:r>
            <a:endParaRPr lang="en-US" altLang="zh-CN" dirty="0" smtClean="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标准统一</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solidFill>
                  <a:prstClr val="black"/>
                </a:solidFill>
                <a:latin typeface="微软雅黑" panose="020B0503020204020204" pitchFamily="34" charset="-122"/>
                <a:ea typeface="微软雅黑" panose="020B0503020204020204" pitchFamily="34" charset="-122"/>
              </a:rPr>
              <a:t>L3 PO</a:t>
            </a:r>
            <a:r>
              <a:rPr lang="zh-CN" altLang="en-US" dirty="0" smtClean="0">
                <a:solidFill>
                  <a:prstClr val="black"/>
                </a:solidFill>
                <a:latin typeface="微软雅黑" panose="020B0503020204020204" pitchFamily="34" charset="-122"/>
                <a:ea typeface="微软雅黑" panose="020B0503020204020204" pitchFamily="34" charset="-122"/>
              </a:rPr>
              <a:t>培训课件的输出、培训</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13531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0AC919-8071-0EBC-A58D-54B5FC2E32DA}"/>
            </a:ext>
          </a:extLst>
        </p:cNvPr>
        <p:cNvGrpSpPr/>
        <p:nvPr/>
      </p:nvGrpSpPr>
      <p:grpSpPr>
        <a:xfrm>
          <a:off x="0" y="0"/>
          <a:ext cx="0" cy="0"/>
          <a:chOff x="0" y="0"/>
          <a:chExt cx="0" cy="0"/>
        </a:xfrm>
      </p:grpSpPr>
      <p:sp>
        <p:nvSpPr>
          <p:cNvPr id="3" name="文本框 2">
            <a:extLst>
              <a:ext uri="{FF2B5EF4-FFF2-40B4-BE49-F238E27FC236}">
                <a16:creationId xmlns="" xmlns:a16="http://schemas.microsoft.com/office/drawing/2014/main" id="{9B81333E-179E-A618-AE45-6CCA2834CD46}"/>
              </a:ext>
            </a:extLst>
          </p:cNvPr>
          <p:cNvSpPr txBox="1"/>
          <p:nvPr>
            <p:custDataLst>
              <p:tags r:id="rId1"/>
            </p:custDataLst>
          </p:nvPr>
        </p:nvSpPr>
        <p:spPr>
          <a:xfrm>
            <a:off x="638175" y="323850"/>
            <a:ext cx="9714230" cy="1057910"/>
          </a:xfrm>
          <a:prstGeom prst="rect">
            <a:avLst/>
          </a:prstGeom>
          <a:noFill/>
        </p:spPr>
        <p:txBody>
          <a:bodyPr wrap="square" rtlCol="0">
            <a:noAutofit/>
          </a:bodyPr>
          <a:lstStyle/>
          <a:p>
            <a:r>
              <a:rPr kumimoji="1" lang="en-US" altLang="zh-CN" sz="2965" b="1" dirty="0">
                <a:solidFill>
                  <a:srgbClr val="E60039"/>
                </a:solidFill>
                <a:latin typeface="微软雅黑" panose="020B0503020204020204" charset="-122"/>
                <a:ea typeface="微软雅黑" panose="020B0503020204020204" charset="-122"/>
              </a:rPr>
              <a:t>PO/PC</a:t>
            </a:r>
            <a:r>
              <a:rPr kumimoji="1" lang="zh-CN" altLang="en-US" sz="2965" b="1" dirty="0">
                <a:solidFill>
                  <a:srgbClr val="E60039"/>
                </a:solidFill>
                <a:latin typeface="微软雅黑" panose="020B0503020204020204" charset="-122"/>
                <a:ea typeface="微软雅黑" panose="020B0503020204020204" charset="-122"/>
              </a:rPr>
              <a:t>选育</a:t>
            </a:r>
            <a:r>
              <a:rPr kumimoji="1" lang="zh-CN" altLang="en-US" sz="2965" b="1" dirty="0" smtClean="0">
                <a:solidFill>
                  <a:srgbClr val="E60039"/>
                </a:solidFill>
                <a:latin typeface="微软雅黑" panose="020B0503020204020204" charset="-122"/>
                <a:ea typeface="微软雅黑" panose="020B0503020204020204" charset="-122"/>
              </a:rPr>
              <a:t>留子项</a:t>
            </a:r>
            <a:r>
              <a:rPr kumimoji="1" lang="en-US" altLang="zh-CN" sz="2965" b="1" dirty="0" smtClean="0">
                <a:solidFill>
                  <a:srgbClr val="E60039"/>
                </a:solidFill>
                <a:latin typeface="微软雅黑" panose="020B0503020204020204" charset="-122"/>
                <a:ea typeface="微软雅黑" panose="020B0503020204020204" charset="-122"/>
              </a:rPr>
              <a:t>2——</a:t>
            </a:r>
            <a:r>
              <a:rPr kumimoji="1" lang="zh-CN" altLang="en-US" sz="2965" b="1" dirty="0" smtClean="0">
                <a:solidFill>
                  <a:srgbClr val="E60039"/>
                </a:solidFill>
                <a:latin typeface="微软雅黑" panose="020B0503020204020204" charset="-122"/>
                <a:ea typeface="微软雅黑" panose="020B0503020204020204" charset="-122"/>
                <a:sym typeface="+mn-ea"/>
              </a:rPr>
              <a:t>目标</a:t>
            </a:r>
            <a:r>
              <a:rPr kumimoji="1" lang="zh-CN" altLang="en-US" sz="2965" b="1" dirty="0">
                <a:solidFill>
                  <a:srgbClr val="E60039"/>
                </a:solidFill>
                <a:latin typeface="微软雅黑" panose="020B0503020204020204" charset="-122"/>
                <a:ea typeface="微软雅黑" panose="020B0503020204020204" charset="-122"/>
                <a:sym typeface="+mn-ea"/>
              </a:rPr>
              <a:t>和行动计划</a:t>
            </a:r>
          </a:p>
        </p:txBody>
      </p:sp>
      <p:sp>
        <p:nvSpPr>
          <p:cNvPr id="5" name="Rectangle 1">
            <a:extLst>
              <a:ext uri="{FF2B5EF4-FFF2-40B4-BE49-F238E27FC236}">
                <a16:creationId xmlns="" xmlns:a16="http://schemas.microsoft.com/office/drawing/2014/main" id="{B009996D-909F-85A9-B6BF-72D6480DCF3B}"/>
              </a:ext>
            </a:extLst>
          </p:cNvPr>
          <p:cNvSpPr>
            <a:spLocks noChangeArrowheads="1"/>
          </p:cNvSpPr>
          <p:nvPr/>
        </p:nvSpPr>
        <p:spPr bwMode="auto">
          <a:xfrm>
            <a:off x="1387475" y="32400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表格 5">
            <a:extLst>
              <a:ext uri="{FF2B5EF4-FFF2-40B4-BE49-F238E27FC236}">
                <a16:creationId xmlns="" xmlns:a16="http://schemas.microsoft.com/office/drawing/2014/main" id="{83F5350C-23BE-7EB7-D4AF-171C8C8562FF}"/>
              </a:ext>
            </a:extLst>
          </p:cNvPr>
          <p:cNvGraphicFramePr>
            <a:graphicFrameLocks noGrp="1"/>
          </p:cNvGraphicFramePr>
          <p:nvPr>
            <p:extLst>
              <p:ext uri="{D42A27DB-BD31-4B8C-83A1-F6EECF244321}">
                <p14:modId xmlns:p14="http://schemas.microsoft.com/office/powerpoint/2010/main" val="2746461547"/>
              </p:ext>
            </p:extLst>
          </p:nvPr>
        </p:nvGraphicFramePr>
        <p:xfrm>
          <a:off x="1387475" y="2031519"/>
          <a:ext cx="9385057" cy="3131511"/>
        </p:xfrm>
        <a:graphic>
          <a:graphicData uri="http://schemas.openxmlformats.org/drawingml/2006/table">
            <a:tbl>
              <a:tblPr/>
              <a:tblGrid>
                <a:gridCol w="1033515">
                  <a:extLst>
                    <a:ext uri="{9D8B030D-6E8A-4147-A177-3AD203B41FA5}">
                      <a16:colId xmlns="" xmlns:a16="http://schemas.microsoft.com/office/drawing/2014/main" val="4126097605"/>
                    </a:ext>
                  </a:extLst>
                </a:gridCol>
                <a:gridCol w="3095042">
                  <a:extLst>
                    <a:ext uri="{9D8B030D-6E8A-4147-A177-3AD203B41FA5}">
                      <a16:colId xmlns="" xmlns:a16="http://schemas.microsoft.com/office/drawing/2014/main" val="678362262"/>
                    </a:ext>
                  </a:extLst>
                </a:gridCol>
                <a:gridCol w="2689136">
                  <a:extLst>
                    <a:ext uri="{9D8B030D-6E8A-4147-A177-3AD203B41FA5}">
                      <a16:colId xmlns="" xmlns:a16="http://schemas.microsoft.com/office/drawing/2014/main" val="3104932681"/>
                    </a:ext>
                  </a:extLst>
                </a:gridCol>
                <a:gridCol w="2567364">
                  <a:extLst>
                    <a:ext uri="{9D8B030D-6E8A-4147-A177-3AD203B41FA5}">
                      <a16:colId xmlns="" xmlns:a16="http://schemas.microsoft.com/office/drawing/2014/main" val="2460856437"/>
                    </a:ext>
                  </a:extLst>
                </a:gridCol>
              </a:tblGrid>
              <a:tr h="343591">
                <a:tc>
                  <a:txBody>
                    <a:bodyPr/>
                    <a:lstStyle/>
                    <a:p>
                      <a:pPr algn="ctr" fontAlgn="ctr" latinLnBrk="0"/>
                      <a:r>
                        <a:rPr lang="en-US" altLang="zh-CN" sz="800" b="1" i="0">
                          <a:solidFill>
                            <a:srgbClr val="1F2329"/>
                          </a:solidFill>
                          <a:effectLst/>
                        </a:rPr>
                        <a:t>EDN</a:t>
                      </a:r>
                      <a:r>
                        <a:rPr lang="zh-CN" altLang="en-US" sz="800" b="1" i="0">
                          <a:solidFill>
                            <a:srgbClr val="1F2329"/>
                          </a:solidFill>
                          <a:effectLst/>
                        </a:rPr>
                        <a:t>上顶大型园区破格局</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0E3"/>
                    </a:solidFill>
                  </a:tcPr>
                </a:tc>
                <a:tc>
                  <a:txBody>
                    <a:bodyPr/>
                    <a:lstStyle/>
                    <a:p>
                      <a:pPr algn="ctr" fontAlgn="ctr" latinLnBrk="0"/>
                      <a:r>
                        <a:rPr lang="en-US" sz="800" b="1" i="0" dirty="0">
                          <a:solidFill>
                            <a:srgbClr val="1F2329"/>
                          </a:solidFill>
                          <a:effectLst/>
                        </a:rPr>
                        <a:t>M4</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049FD7"/>
                    </a:solidFill>
                  </a:tcPr>
                </a:tc>
                <a:tc>
                  <a:txBody>
                    <a:bodyPr/>
                    <a:lstStyle/>
                    <a:p>
                      <a:pPr algn="ctr" fontAlgn="ctr" latinLnBrk="0"/>
                      <a:r>
                        <a:rPr lang="en-US" sz="800" b="1" i="0" dirty="0">
                          <a:solidFill>
                            <a:srgbClr val="1F2329"/>
                          </a:solidFill>
                          <a:effectLst/>
                        </a:rPr>
                        <a:t>M5</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tc>
                  <a:txBody>
                    <a:bodyPr/>
                    <a:lstStyle/>
                    <a:p>
                      <a:pPr algn="ctr" fontAlgn="ctr" latinLnBrk="0"/>
                      <a:r>
                        <a:rPr lang="en-US" sz="800" b="1" i="0" dirty="0">
                          <a:solidFill>
                            <a:srgbClr val="1F2329"/>
                          </a:solidFill>
                          <a:effectLst/>
                        </a:rPr>
                        <a:t>M6</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extLst>
                  <a:ext uri="{0D108BD9-81ED-4DB2-BD59-A6C34878D82A}">
                    <a16:rowId xmlns="" xmlns:a16="http://schemas.microsoft.com/office/drawing/2014/main" val="3767630983"/>
                  </a:ext>
                </a:extLst>
              </a:tr>
              <a:tr h="343591">
                <a:tc>
                  <a:txBody>
                    <a:bodyPr/>
                    <a:lstStyle/>
                    <a:p>
                      <a:pPr algn="ctr" fontAlgn="ctr" latinLnBrk="0"/>
                      <a:r>
                        <a:rPr lang="zh-CN" altLang="en-US" sz="800" b="1" i="0" dirty="0">
                          <a:solidFill>
                            <a:srgbClr val="1F2329"/>
                          </a:solidFill>
                          <a:effectLst/>
                        </a:rPr>
                        <a:t>要解决的关键问题</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0E3"/>
                    </a:solidFill>
                  </a:tcPr>
                </a:tc>
                <a:tc gridSpan="3">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tc hMerge="1">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extLst>
                  <a:ext uri="{0D108BD9-81ED-4DB2-BD59-A6C34878D82A}">
                    <a16:rowId xmlns="" xmlns:a16="http://schemas.microsoft.com/office/drawing/2014/main" val="3447847492"/>
                  </a:ext>
                </a:extLst>
              </a:tr>
              <a:tr h="246489">
                <a:tc>
                  <a:txBody>
                    <a:bodyPr/>
                    <a:lstStyle/>
                    <a:p>
                      <a:pPr algn="ctr" fontAlgn="ctr" latinLnBrk="0"/>
                      <a:r>
                        <a:rPr lang="zh-CN" altLang="en-US" sz="800" b="1" i="0" dirty="0">
                          <a:solidFill>
                            <a:srgbClr val="000000"/>
                          </a:solidFill>
                          <a:effectLst/>
                        </a:rPr>
                        <a:t>子项目标分解</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 xmlns:a16="http://schemas.microsoft.com/office/drawing/2014/main" val="2140247724"/>
                  </a:ext>
                </a:extLst>
              </a:tr>
              <a:tr h="246489">
                <a:tc>
                  <a:txBody>
                    <a:bodyPr/>
                    <a:lstStyle/>
                    <a:p>
                      <a:pPr algn="ctr" fontAlgn="ctr" latinLnBrk="0"/>
                      <a:r>
                        <a:rPr lang="zh-CN" altLang="en-US" sz="800" b="1" i="0" dirty="0">
                          <a:solidFill>
                            <a:srgbClr val="000000"/>
                          </a:solidFill>
                          <a:effectLst/>
                        </a:rPr>
                        <a:t>子项里程碑</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fontAlgn="ctr" latinLnBrk="0"/>
                      <a:r>
                        <a:rPr lang="zh-CN" altLang="en-US" sz="700" b="0" i="0" dirty="0">
                          <a:solidFill>
                            <a:srgbClr val="FFFFFF"/>
                          </a:solidFill>
                          <a:effectLst/>
                        </a:rPr>
                        <a:t>完成</a:t>
                      </a:r>
                      <a:r>
                        <a:rPr lang="en-US" altLang="zh-CN" sz="700" b="0" i="0" dirty="0">
                          <a:solidFill>
                            <a:srgbClr val="FFFFFF"/>
                          </a:solidFill>
                          <a:effectLst/>
                        </a:rPr>
                        <a:t>380</a:t>
                      </a:r>
                      <a:r>
                        <a:rPr lang="zh-CN" altLang="en-US" sz="700" b="0" i="0" dirty="0">
                          <a:solidFill>
                            <a:srgbClr val="FFFFFF"/>
                          </a:solidFill>
                          <a:effectLst/>
                        </a:rPr>
                        <a:t>个客户覆盖（</a:t>
                      </a:r>
                      <a:r>
                        <a:rPr lang="en-US" altLang="zh-CN" sz="700" b="0" i="0" dirty="0">
                          <a:solidFill>
                            <a:srgbClr val="FFFFFF"/>
                          </a:solidFill>
                          <a:effectLst/>
                        </a:rPr>
                        <a:t>4.30</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1</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ctr" latinLnBrk="0"/>
                      <a:r>
                        <a:rPr lang="en-US" altLang="zh-CN" sz="700" b="0" i="0" dirty="0">
                          <a:solidFill>
                            <a:srgbClr val="FFFFFF"/>
                          </a:solidFill>
                          <a:effectLst/>
                        </a:rPr>
                        <a:t>EDN</a:t>
                      </a:r>
                      <a:r>
                        <a:rPr lang="zh-CN" altLang="en-US" sz="700" b="0" i="0" dirty="0">
                          <a:solidFill>
                            <a:srgbClr val="FFFFFF"/>
                          </a:solidFill>
                          <a:effectLst/>
                        </a:rPr>
                        <a:t>漏斗内项目</a:t>
                      </a:r>
                      <a:r>
                        <a:rPr lang="en-US" altLang="zh-CN" sz="700" b="0" i="0" dirty="0">
                          <a:solidFill>
                            <a:srgbClr val="FFFFFF"/>
                          </a:solidFill>
                          <a:effectLst/>
                        </a:rPr>
                        <a:t>100</a:t>
                      </a:r>
                      <a:r>
                        <a:rPr lang="zh-CN" altLang="en-US" sz="700" b="0" i="0" dirty="0">
                          <a:solidFill>
                            <a:srgbClr val="FFFFFF"/>
                          </a:solidFill>
                          <a:effectLst/>
                        </a:rPr>
                        <a:t>个（</a:t>
                      </a:r>
                      <a:r>
                        <a:rPr lang="en-US" altLang="zh-CN" sz="700" b="0" i="0" dirty="0">
                          <a:solidFill>
                            <a:srgbClr val="FFFFFF"/>
                          </a:solidFill>
                          <a:effectLst/>
                        </a:rPr>
                        <a:t>5.29</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2</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ctr" latinLnBrk="0"/>
                      <a:r>
                        <a:rPr lang="en-US" altLang="zh-CN" sz="700" b="0" i="0" dirty="0">
                          <a:solidFill>
                            <a:srgbClr val="FFFFFF"/>
                          </a:solidFill>
                          <a:effectLst/>
                        </a:rPr>
                        <a:t>EDN</a:t>
                      </a:r>
                      <a:r>
                        <a:rPr lang="zh-CN" altLang="en-US" sz="700" b="0" i="0" dirty="0">
                          <a:solidFill>
                            <a:srgbClr val="FFFFFF"/>
                          </a:solidFill>
                          <a:effectLst/>
                        </a:rPr>
                        <a:t>漏斗内项目</a:t>
                      </a:r>
                      <a:r>
                        <a:rPr lang="en-US" altLang="zh-CN" sz="700" b="0" i="0" dirty="0">
                          <a:solidFill>
                            <a:srgbClr val="FFFFFF"/>
                          </a:solidFill>
                          <a:effectLst/>
                        </a:rPr>
                        <a:t>150</a:t>
                      </a:r>
                      <a:r>
                        <a:rPr lang="zh-CN" altLang="en-US" sz="700" b="0" i="0" dirty="0">
                          <a:solidFill>
                            <a:srgbClr val="FFFFFF"/>
                          </a:solidFill>
                          <a:effectLst/>
                        </a:rPr>
                        <a:t>个（</a:t>
                      </a:r>
                      <a:r>
                        <a:rPr lang="en-US" altLang="zh-CN" sz="700" b="0" i="0" dirty="0">
                          <a:solidFill>
                            <a:srgbClr val="FFFFFF"/>
                          </a:solidFill>
                          <a:effectLst/>
                        </a:rPr>
                        <a:t>6.27</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3</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 xmlns:a16="http://schemas.microsoft.com/office/drawing/2014/main" val="1359117702"/>
                  </a:ext>
                </a:extLst>
              </a:tr>
              <a:tr h="1912158">
                <a:tc>
                  <a:txBody>
                    <a:bodyPr/>
                    <a:lstStyle/>
                    <a:p>
                      <a:pPr algn="ctr" fontAlgn="ctr" latinLnBrk="0"/>
                      <a:r>
                        <a:rPr lang="zh-CN" altLang="en-US" sz="800" b="1" i="0" dirty="0">
                          <a:solidFill>
                            <a:srgbClr val="000000"/>
                          </a:solidFill>
                          <a:effectLst/>
                        </a:rPr>
                        <a:t>关键行动计划和交付</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、每个区域每周</a:t>
                      </a:r>
                      <a:r>
                        <a:rPr lang="en-US" altLang="zh-CN" sz="800" b="0" i="0" dirty="0">
                          <a:solidFill>
                            <a:srgbClr val="000000"/>
                          </a:solidFill>
                          <a:effectLst/>
                        </a:rPr>
                        <a:t>25</a:t>
                      </a:r>
                      <a:r>
                        <a:rPr lang="zh-CN" altLang="en-US" sz="800" b="0" i="0" dirty="0">
                          <a:solidFill>
                            <a:srgbClr val="000000"/>
                          </a:solidFill>
                          <a:effectLst/>
                        </a:rPr>
                        <a:t>个客户开展高质量技术交流，完成</a:t>
                      </a:r>
                      <a:r>
                        <a:rPr lang="en-US" altLang="zh-CN" sz="800" b="0" i="0" dirty="0">
                          <a:solidFill>
                            <a:srgbClr val="000000"/>
                          </a:solidFill>
                          <a:effectLst/>
                        </a:rPr>
                        <a:t>380</a:t>
                      </a:r>
                      <a:r>
                        <a:rPr lang="zh-CN" altLang="en-US" sz="800" b="0" i="0" dirty="0">
                          <a:solidFill>
                            <a:srgbClr val="000000"/>
                          </a:solidFill>
                          <a:effectLst/>
                        </a:rPr>
                        <a:t>个客户覆盖。</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、举行</a:t>
                      </a:r>
                      <a:r>
                        <a:rPr lang="en-US" altLang="zh-CN" sz="800" b="0" i="0" dirty="0">
                          <a:solidFill>
                            <a:srgbClr val="000000"/>
                          </a:solidFill>
                          <a:effectLst/>
                        </a:rPr>
                        <a:t>EDN PMF</a:t>
                      </a:r>
                      <a:r>
                        <a:rPr lang="zh-CN" altLang="en-US" sz="800" b="0" i="0" dirty="0">
                          <a:solidFill>
                            <a:srgbClr val="000000"/>
                          </a:solidFill>
                          <a:effectLst/>
                        </a:rPr>
                        <a:t>复盘会，推动</a:t>
                      </a:r>
                      <a:r>
                        <a:rPr lang="en-US" altLang="zh-CN" sz="800" b="0" i="0" dirty="0">
                          <a:solidFill>
                            <a:srgbClr val="000000"/>
                          </a:solidFill>
                          <a:effectLst/>
                        </a:rPr>
                        <a:t>EDN</a:t>
                      </a:r>
                      <a:r>
                        <a:rPr lang="zh-CN" altLang="en-US" sz="800" b="0" i="0" dirty="0">
                          <a:solidFill>
                            <a:srgbClr val="000000"/>
                          </a:solidFill>
                          <a:effectLst/>
                        </a:rPr>
                        <a:t>产品方案精</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、每个区域挖掘老客户项目机会，展开多次技术交流，构建企金漏斗内项目</a:t>
                      </a:r>
                      <a:r>
                        <a:rPr lang="en-US" altLang="zh-CN" sz="800" b="0" i="0" dirty="0">
                          <a:solidFill>
                            <a:srgbClr val="000000"/>
                          </a:solidFill>
                          <a:effectLst/>
                        </a:rPr>
                        <a:t>50</a:t>
                      </a:r>
                      <a:r>
                        <a:rPr lang="zh-CN" altLang="en-US" sz="800" b="0" i="0" dirty="0">
                          <a:solidFill>
                            <a:srgbClr val="000000"/>
                          </a:solidFill>
                          <a:effectLst/>
                        </a:rPr>
                        <a:t>个（企业</a:t>
                      </a:r>
                      <a:r>
                        <a:rPr lang="en-US" altLang="zh-CN" sz="800" b="0" i="0" dirty="0">
                          <a:solidFill>
                            <a:srgbClr val="000000"/>
                          </a:solidFill>
                          <a:effectLst/>
                        </a:rPr>
                        <a:t>30</a:t>
                      </a:r>
                      <a:r>
                        <a:rPr lang="zh-CN" altLang="en-US" sz="800" b="0" i="0" dirty="0">
                          <a:solidFill>
                            <a:srgbClr val="000000"/>
                          </a:solidFill>
                          <a:effectLst/>
                        </a:rPr>
                        <a:t>个，金融</a:t>
                      </a:r>
                      <a:r>
                        <a:rPr lang="en-US" altLang="zh-CN" sz="800" b="0" i="0" dirty="0">
                          <a:solidFill>
                            <a:srgbClr val="000000"/>
                          </a:solidFill>
                          <a:effectLst/>
                        </a:rPr>
                        <a:t>20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4</a:t>
                      </a:r>
                      <a:r>
                        <a:rPr lang="zh-CN" altLang="en-US" sz="800" b="0" i="0" dirty="0">
                          <a:solidFill>
                            <a:srgbClr val="000000"/>
                          </a:solidFill>
                          <a:effectLst/>
                        </a:rPr>
                        <a:t>、启动</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30%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1</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行动验证，识别问题推动修订；</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1</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、每个区域针对有项目机会的老客户展开多次技术交流，构建企金漏斗内项目</a:t>
                      </a:r>
                      <a:r>
                        <a:rPr lang="en-US" altLang="zh-CN" sz="800" b="0" i="0" dirty="0">
                          <a:solidFill>
                            <a:srgbClr val="000000"/>
                          </a:solidFill>
                          <a:effectLst/>
                        </a:rPr>
                        <a:t>100</a:t>
                      </a:r>
                      <a:r>
                        <a:rPr lang="zh-CN" altLang="en-US" sz="800" b="0" i="0" dirty="0">
                          <a:solidFill>
                            <a:srgbClr val="000000"/>
                          </a:solidFill>
                          <a:effectLst/>
                        </a:rPr>
                        <a:t>个（企业</a:t>
                      </a:r>
                      <a:r>
                        <a:rPr lang="en-US" altLang="zh-CN" sz="800" b="0" i="0" dirty="0">
                          <a:solidFill>
                            <a:srgbClr val="000000"/>
                          </a:solidFill>
                          <a:effectLst/>
                        </a:rPr>
                        <a:t>60</a:t>
                      </a:r>
                      <a:r>
                        <a:rPr lang="zh-CN" altLang="en-US" sz="800" b="0" i="0" dirty="0">
                          <a:solidFill>
                            <a:srgbClr val="000000"/>
                          </a:solidFill>
                          <a:effectLst/>
                        </a:rPr>
                        <a:t>个，金融</a:t>
                      </a:r>
                      <a:r>
                        <a:rPr lang="en-US" altLang="zh-CN" sz="800" b="0" i="0" dirty="0">
                          <a:solidFill>
                            <a:srgbClr val="000000"/>
                          </a:solidFill>
                          <a:effectLst/>
                        </a:rPr>
                        <a:t>40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、金融举行一场大行带体系内小行的圈子活动，加速价值认可效率</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、持续</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40%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2</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行动验证，识别问题推动修订；</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2</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、每个区域针对有项目机会的老客户展开推优交流，构建企金漏斗内项目</a:t>
                      </a:r>
                      <a:r>
                        <a:rPr lang="en-US" altLang="zh-CN" sz="800" b="0" i="0" dirty="0">
                          <a:solidFill>
                            <a:srgbClr val="000000"/>
                          </a:solidFill>
                          <a:effectLst/>
                        </a:rPr>
                        <a:t>150</a:t>
                      </a:r>
                      <a:r>
                        <a:rPr lang="zh-CN" altLang="en-US" sz="800" b="0" i="0" dirty="0">
                          <a:solidFill>
                            <a:srgbClr val="000000"/>
                          </a:solidFill>
                          <a:effectLst/>
                        </a:rPr>
                        <a:t>个（企业</a:t>
                      </a:r>
                      <a:r>
                        <a:rPr lang="en-US" altLang="zh-CN" sz="800" b="0" i="0" dirty="0">
                          <a:solidFill>
                            <a:srgbClr val="000000"/>
                          </a:solidFill>
                          <a:effectLst/>
                        </a:rPr>
                        <a:t>90</a:t>
                      </a:r>
                      <a:r>
                        <a:rPr lang="zh-CN" altLang="en-US" sz="800" b="0" i="0" dirty="0">
                          <a:solidFill>
                            <a:srgbClr val="000000"/>
                          </a:solidFill>
                          <a:effectLst/>
                        </a:rPr>
                        <a:t>个，金融</a:t>
                      </a:r>
                      <a:r>
                        <a:rPr lang="en-US" altLang="zh-CN" sz="800" b="0" i="0" dirty="0">
                          <a:solidFill>
                            <a:srgbClr val="000000"/>
                          </a:solidFill>
                          <a:effectLst/>
                        </a:rPr>
                        <a:t>60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、建设</a:t>
                      </a:r>
                      <a:r>
                        <a:rPr lang="en-US" altLang="zh-CN" sz="800" b="0" i="0" dirty="0">
                          <a:solidFill>
                            <a:srgbClr val="000000"/>
                          </a:solidFill>
                          <a:effectLst/>
                        </a:rPr>
                        <a:t>3</a:t>
                      </a:r>
                      <a:r>
                        <a:rPr lang="zh-CN" altLang="en-US" sz="800" b="0" i="0" dirty="0">
                          <a:solidFill>
                            <a:srgbClr val="000000"/>
                          </a:solidFill>
                          <a:effectLst/>
                        </a:rPr>
                        <a:t>个可供全国参观的</a:t>
                      </a:r>
                      <a:r>
                        <a:rPr lang="en-US" altLang="zh-CN" sz="800" b="0" i="0" dirty="0">
                          <a:solidFill>
                            <a:srgbClr val="000000"/>
                          </a:solidFill>
                          <a:effectLst/>
                        </a:rPr>
                        <a:t>EDN</a:t>
                      </a:r>
                      <a:r>
                        <a:rPr lang="zh-CN" altLang="en-US" sz="800" b="0" i="0" dirty="0">
                          <a:solidFill>
                            <a:srgbClr val="000000"/>
                          </a:solidFill>
                          <a:effectLst/>
                        </a:rPr>
                        <a:t>样板，举行</a:t>
                      </a:r>
                      <a:r>
                        <a:rPr lang="en-US" altLang="zh-CN" sz="800" b="0" i="0" dirty="0">
                          <a:solidFill>
                            <a:srgbClr val="000000"/>
                          </a:solidFill>
                          <a:effectLst/>
                        </a:rPr>
                        <a:t>EDN 1.X</a:t>
                      </a:r>
                      <a:r>
                        <a:rPr lang="zh-CN" altLang="en-US" sz="800" b="0" i="0" dirty="0">
                          <a:solidFill>
                            <a:srgbClr val="000000"/>
                          </a:solidFill>
                          <a:effectLst/>
                        </a:rPr>
                        <a:t>版本发布会，邀请样板客户站台，加速价值认可效率</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、持续</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50%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3</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行动验证，输出</a:t>
                      </a:r>
                      <a:r>
                        <a:rPr lang="en-US" altLang="zh-CN" sz="800" b="0" i="0" dirty="0">
                          <a:solidFill>
                            <a:srgbClr val="000000"/>
                          </a:solidFill>
                          <a:effectLst/>
                        </a:rPr>
                        <a:t>《EDN USE CASE</a:t>
                      </a:r>
                      <a:r>
                        <a:rPr lang="zh-CN" altLang="en-US" sz="800" b="0" i="0" dirty="0">
                          <a:solidFill>
                            <a:srgbClr val="000000"/>
                          </a:solidFill>
                          <a:effectLst/>
                        </a:rPr>
                        <a:t>交付指导</a:t>
                      </a:r>
                      <a:r>
                        <a:rPr lang="en-US" altLang="zh-CN" sz="800" b="0" i="0" dirty="0">
                          <a:solidFill>
                            <a:srgbClr val="000000"/>
                          </a:solidFill>
                          <a:effectLst/>
                        </a:rPr>
                        <a:t>》</a:t>
                      </a:r>
                      <a:br>
                        <a:rPr lang="en-US" altLang="zh-CN"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3</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extLst>
                  <a:ext uri="{0D108BD9-81ED-4DB2-BD59-A6C34878D82A}">
                    <a16:rowId xmlns="" xmlns:a16="http://schemas.microsoft.com/office/drawing/2014/main" val="1311275067"/>
                  </a:ext>
                </a:extLst>
              </a:tr>
            </a:tbl>
          </a:graphicData>
        </a:graphic>
      </p:graphicFrame>
      <p:sp>
        <p:nvSpPr>
          <p:cNvPr id="7" name="Rectangle 2">
            <a:extLst>
              <a:ext uri="{FF2B5EF4-FFF2-40B4-BE49-F238E27FC236}">
                <a16:creationId xmlns="" xmlns:a16="http://schemas.microsoft.com/office/drawing/2014/main" id="{CEB04710-6260-D757-DE4E-57011E4DE3F2}"/>
              </a:ext>
            </a:extLst>
          </p:cNvPr>
          <p:cNvSpPr>
            <a:spLocks noChangeArrowheads="1"/>
          </p:cNvSpPr>
          <p:nvPr/>
        </p:nvSpPr>
        <p:spPr bwMode="auto">
          <a:xfrm>
            <a:off x="1292225" y="3239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a:extLst>
              <a:ext uri="{FF2B5EF4-FFF2-40B4-BE49-F238E27FC236}">
                <a16:creationId xmlns="" xmlns:a16="http://schemas.microsoft.com/office/drawing/2014/main" id="{5E759E40-47AD-B489-92A3-4CEE674025CA}"/>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Calibri"/>
                <a:ea typeface="宋体"/>
              </a:rPr>
              <a:t>沙书立</a:t>
            </a:r>
            <a:endParaRPr kumimoji="0" lang="en-US" altLang="zh-CN" sz="1800" b="0" i="0" u="none" strike="noStrike" kern="1200" cap="none" spc="0" normalizeH="0" baseline="0" noProof="0" dirty="0">
              <a:ln>
                <a:noFill/>
              </a:ln>
              <a:solidFill>
                <a:prstClr val="white"/>
              </a:solidFill>
              <a:effectLst/>
              <a:uLnTx/>
              <a:uFillTx/>
              <a:latin typeface="Calibri"/>
              <a:ea typeface="宋体"/>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Calibri"/>
                <a:ea typeface="宋体"/>
              </a:rPr>
              <a:t>于梦</a:t>
            </a:r>
            <a:endParaRPr kumimoji="0" lang="zh-CN" altLang="en-US" sz="1800" b="0" i="0" u="none" strike="noStrike" kern="1200" cap="none" spc="0" normalizeH="0" baseline="0" noProof="0" dirty="0">
              <a:ln>
                <a:noFill/>
              </a:ln>
              <a:solidFill>
                <a:prstClr val="white"/>
              </a:solidFill>
              <a:effectLst/>
              <a:uLnTx/>
              <a:uFillTx/>
              <a:latin typeface="Calibri"/>
              <a:ea typeface="宋体"/>
              <a:cs typeface="+mn-cs"/>
            </a:endParaRPr>
          </a:p>
        </p:txBody>
      </p:sp>
    </p:spTree>
    <p:extLst>
      <p:ext uri="{BB962C8B-B14F-4D97-AF65-F5344CB8AC3E}">
        <p14:creationId xmlns:p14="http://schemas.microsoft.com/office/powerpoint/2010/main" val="2097204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3984032-ACA3-F5EC-FCEC-374AC7D90852}"/>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50E7B20D-4C14-DCE7-E1F6-9F71BC70120C}"/>
              </a:ext>
            </a:extLst>
          </p:cNvPr>
          <p:cNvSpPr txBox="1"/>
          <p:nvPr>
            <p:custDataLst>
              <p:tags r:id="rId1"/>
            </p:custDataLst>
          </p:nvPr>
        </p:nvSpPr>
        <p:spPr>
          <a:xfrm>
            <a:off x="3461799" y="2881630"/>
            <a:ext cx="5268401" cy="548612"/>
          </a:xfrm>
          <a:prstGeom prst="rect">
            <a:avLst/>
          </a:prstGeom>
          <a:noFill/>
        </p:spPr>
        <p:txBody>
          <a:bodyPr wrap="square" rtlCol="0">
            <a:spAutoFit/>
          </a:bodyPr>
          <a:lstStyle/>
          <a:p>
            <a:pPr>
              <a:defRPr/>
            </a:pP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子项</a:t>
            </a:r>
            <a:r>
              <a:rPr kumimoji="1" lang="zh-CN" altLang="en-US" sz="2965" b="1" dirty="0">
                <a:solidFill>
                  <a:srgbClr val="E60039"/>
                </a:solidFill>
                <a:latin typeface="微软雅黑" panose="020B0503020204020204" charset="-122"/>
                <a:ea typeface="微软雅黑" panose="020B0503020204020204" charset="-122"/>
                <a:sym typeface="+mn-ea"/>
              </a:rPr>
              <a:t>三：</a:t>
            </a:r>
            <a:r>
              <a:rPr kumimoji="1" lang="zh-CN" altLang="en-US" sz="2965" b="1" dirty="0">
                <a:solidFill>
                  <a:srgbClr val="E60039"/>
                </a:solidFill>
                <a:latin typeface="微软雅黑" panose="020B0503020204020204" charset="-122"/>
                <a:ea typeface="微软雅黑" panose="020B0503020204020204" charset="-122"/>
              </a:rPr>
              <a:t>落实岗位工作</a:t>
            </a:r>
            <a:r>
              <a:rPr kumimoji="1" lang="zh-CN" altLang="en-US" sz="2965" b="1" dirty="0" smtClean="0">
                <a:solidFill>
                  <a:srgbClr val="E60039"/>
                </a:solidFill>
                <a:latin typeface="微软雅黑" panose="020B0503020204020204" charset="-122"/>
                <a:ea typeface="微软雅黑" panose="020B0503020204020204" charset="-122"/>
              </a:rPr>
              <a:t>标准化</a:t>
            </a:r>
            <a:endParaRPr kumimoji="1" lang="zh-CN" altLang="en-US" sz="2965" b="1" dirty="0">
              <a:solidFill>
                <a:srgbClr val="E60039"/>
              </a:solidFill>
              <a:latin typeface="微软雅黑" panose="020B0503020204020204" charset="-122"/>
              <a:ea typeface="微软雅黑" panose="020B0503020204020204" charset="-122"/>
            </a:endParaRPr>
          </a:p>
        </p:txBody>
      </p:sp>
      <p:sp>
        <p:nvSpPr>
          <p:cNvPr id="3" name="矩形 2">
            <a:extLst>
              <a:ext uri="{FF2B5EF4-FFF2-40B4-BE49-F238E27FC236}">
                <a16:creationId xmlns="" xmlns:a16="http://schemas.microsoft.com/office/drawing/2014/main" id="{43C1EB8A-02C1-3142-6CCE-CCF009B6E703}"/>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white"/>
                </a:solidFill>
                <a:effectLst/>
                <a:uLnTx/>
                <a:uFillTx/>
                <a:latin typeface="Calibri"/>
                <a:ea typeface="宋体"/>
                <a:cs typeface="+mn-cs"/>
              </a:rPr>
              <a:t>隋媛</a:t>
            </a:r>
            <a:endParaRPr kumimoji="0" lang="zh-CN" altLang="en-US" sz="1800" b="0" i="0" u="none" strike="noStrike" kern="1200" cap="none" spc="0" normalizeH="0" baseline="0" noProof="0" dirty="0">
              <a:ln>
                <a:noFill/>
              </a:ln>
              <a:solidFill>
                <a:prstClr val="white"/>
              </a:solidFill>
              <a:effectLst/>
              <a:uLnTx/>
              <a:uFillTx/>
              <a:latin typeface="Calibri"/>
              <a:ea typeface="宋体"/>
              <a:cs typeface="+mn-cs"/>
            </a:endParaRPr>
          </a:p>
        </p:txBody>
      </p:sp>
    </p:spTree>
    <p:extLst>
      <p:ext uri="{BB962C8B-B14F-4D97-AF65-F5344CB8AC3E}">
        <p14:creationId xmlns:p14="http://schemas.microsoft.com/office/powerpoint/2010/main" val="1289459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9E81BD9-A496-AE30-3088-BD22759E87FA}"/>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CDE61DFD-28A9-6E99-F12D-008764BA36EE}"/>
              </a:ext>
            </a:extLst>
          </p:cNvPr>
          <p:cNvSpPr txBox="1"/>
          <p:nvPr>
            <p:custDataLst>
              <p:tags r:id="rId1"/>
            </p:custDataLst>
          </p:nvPr>
        </p:nvSpPr>
        <p:spPr>
          <a:xfrm>
            <a:off x="638175" y="323850"/>
            <a:ext cx="12715875" cy="752475"/>
          </a:xfrm>
          <a:prstGeom prst="rect">
            <a:avLst/>
          </a:prstGeom>
          <a:noFill/>
        </p:spPr>
        <p:txBody>
          <a:bodyPr wrap="square" rtlCol="0">
            <a:noAutofit/>
          </a:bodyPr>
          <a:lstStyle/>
          <a:p>
            <a:pPr lvl="0">
              <a:defRPr/>
            </a:pPr>
            <a:r>
              <a:rPr kumimoji="1" lang="zh-CN" altLang="en-US" sz="2965" b="1" dirty="0">
                <a:solidFill>
                  <a:srgbClr val="E60039"/>
                </a:solidFill>
                <a:latin typeface="微软雅黑" panose="020B0503020204020204" charset="-122"/>
                <a:ea typeface="微软雅黑" panose="020B0503020204020204" charset="-122"/>
              </a:rPr>
              <a:t>落实岗位工作</a:t>
            </a:r>
            <a:r>
              <a:rPr kumimoji="1" lang="zh-CN" altLang="en-US" sz="2965" b="1" dirty="0" smtClean="0">
                <a:solidFill>
                  <a:srgbClr val="E60039"/>
                </a:solidFill>
                <a:latin typeface="微软雅黑" panose="020B0503020204020204" charset="-122"/>
                <a:ea typeface="微软雅黑" panose="020B0503020204020204" charset="-122"/>
              </a:rPr>
              <a:t>标准化</a:t>
            </a:r>
            <a:r>
              <a:rPr kumimoji="1" lang="en-US" altLang="zh-CN" sz="2965" b="1" i="0" u="none" strike="noStrike" kern="1200" cap="none" spc="0" normalizeH="0" baseline="0" noProof="0" dirty="0" smtClean="0">
                <a:ln>
                  <a:noFill/>
                </a:ln>
                <a:solidFill>
                  <a:srgbClr val="E60039"/>
                </a:solidFill>
                <a:effectLst/>
                <a:uLnTx/>
                <a:uFillTx/>
                <a:latin typeface="微软雅黑" panose="020B0503020204020204" charset="-122"/>
                <a:ea typeface="微软雅黑" panose="020B0503020204020204" charset="-122"/>
                <a:cs typeface="+mn-cs"/>
                <a:sym typeface="+mn-ea"/>
              </a:rPr>
              <a:t> </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子项目目标分析</a:t>
            </a:r>
          </a:p>
        </p:txBody>
      </p:sp>
      <p:sp>
        <p:nvSpPr>
          <p:cNvPr id="3" name="矩形 2">
            <a:extLst>
              <a:ext uri="{FF2B5EF4-FFF2-40B4-BE49-F238E27FC236}">
                <a16:creationId xmlns="" xmlns:a16="http://schemas.microsoft.com/office/drawing/2014/main" id="{BC4677DA-3953-0517-0FC8-E74F6D4CDD8B}"/>
              </a:ext>
            </a:extLst>
          </p:cNvPr>
          <p:cNvSpPr/>
          <p:nvPr/>
        </p:nvSpPr>
        <p:spPr>
          <a:xfrm>
            <a:off x="9474200" y="2519449"/>
            <a:ext cx="2717800" cy="1397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宋体"/>
                <a:cs typeface="+mn-cs"/>
              </a:rPr>
              <a:t>说明：请图文结合体现</a:t>
            </a:r>
          </a:p>
        </p:txBody>
      </p:sp>
      <p:sp>
        <p:nvSpPr>
          <p:cNvPr id="12" name="文本框 11">
            <a:extLst>
              <a:ext uri="{FF2B5EF4-FFF2-40B4-BE49-F238E27FC236}">
                <a16:creationId xmlns="" xmlns:a16="http://schemas.microsoft.com/office/drawing/2014/main" id="{CB5606B1-09A1-3019-DCA6-43161795E2C6}"/>
              </a:ext>
            </a:extLst>
          </p:cNvPr>
          <p:cNvSpPr txBox="1"/>
          <p:nvPr/>
        </p:nvSpPr>
        <p:spPr>
          <a:xfrm>
            <a:off x="638173" y="1664923"/>
            <a:ext cx="89725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onospacedNumber"/>
                <a:ea typeface="宋体"/>
                <a:cs typeface="+mn-cs"/>
              </a:rPr>
              <a:t>Q1</a:t>
            </a:r>
            <a:r>
              <a:rPr kumimoji="0" lang="zh-CN" altLang="en-US" sz="1800" b="0" i="0" u="none" strike="noStrike" kern="1200" cap="none" spc="0" normalizeH="0" baseline="0" noProof="0" dirty="0">
                <a:ln>
                  <a:noFill/>
                </a:ln>
                <a:solidFill>
                  <a:srgbClr val="000000"/>
                </a:solidFill>
                <a:effectLst/>
                <a:uLnTx/>
                <a:uFillTx/>
                <a:latin typeface="MonospacedNumber"/>
                <a:ea typeface="宋体"/>
                <a:cs typeface="+mn-cs"/>
              </a:rPr>
              <a:t>的目标回顾：</a:t>
            </a:r>
            <a:endParaRPr kumimoji="0" lang="zh-CN" altLang="en-US" sz="1800" b="0" i="0" u="none" strike="noStrike" kern="1200" cap="none" spc="0" normalizeH="0" baseline="0" noProof="0" dirty="0">
              <a:ln>
                <a:noFill/>
              </a:ln>
              <a:solidFill>
                <a:prstClr val="black"/>
              </a:solidFill>
              <a:effectLst/>
              <a:uLnTx/>
              <a:uFillTx/>
              <a:latin typeface="Calibri"/>
              <a:ea typeface="宋体"/>
              <a:cs typeface="+mn-cs"/>
            </a:endParaRPr>
          </a:p>
        </p:txBody>
      </p:sp>
      <p:sp>
        <p:nvSpPr>
          <p:cNvPr id="13" name="矩形 12">
            <a:extLst>
              <a:ext uri="{FF2B5EF4-FFF2-40B4-BE49-F238E27FC236}">
                <a16:creationId xmlns="" xmlns:a16="http://schemas.microsoft.com/office/drawing/2014/main" id="{8332D3B8-F19B-5D62-B117-C823FD9F8860}"/>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noProof="0" dirty="0">
                <a:solidFill>
                  <a:prstClr val="white"/>
                </a:solidFill>
                <a:latin typeface="Calibri"/>
                <a:ea typeface="宋体"/>
              </a:rPr>
              <a:t>隋媛</a:t>
            </a:r>
            <a:endParaRPr kumimoji="0" lang="en-US" altLang="zh-CN" sz="1800" b="0" i="0" u="none" strike="noStrike" kern="1200" cap="none" spc="0" normalizeH="0" baseline="0" noProof="0" dirty="0">
              <a:ln>
                <a:noFill/>
              </a:ln>
              <a:solidFill>
                <a:prstClr val="white"/>
              </a:solidFill>
              <a:effectLst/>
              <a:uLnTx/>
              <a:uFillTx/>
              <a:latin typeface="Calibri"/>
              <a:ea typeface="宋体"/>
              <a:cs typeface="+mn-cs"/>
            </a:endParaRPr>
          </a:p>
        </p:txBody>
      </p:sp>
      <p:sp>
        <p:nvSpPr>
          <p:cNvPr id="14" name="文本框 13">
            <a:extLst>
              <a:ext uri="{FF2B5EF4-FFF2-40B4-BE49-F238E27FC236}">
                <a16:creationId xmlns="" xmlns:a16="http://schemas.microsoft.com/office/drawing/2014/main" id="{61FBBE98-23C1-81AC-8019-7CAFD11C4153}"/>
              </a:ext>
            </a:extLst>
          </p:cNvPr>
          <p:cNvSpPr txBox="1"/>
          <p:nvPr/>
        </p:nvSpPr>
        <p:spPr>
          <a:xfrm>
            <a:off x="638173" y="3916449"/>
            <a:ext cx="89725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onospacedNumber"/>
                <a:ea typeface="宋体"/>
                <a:cs typeface="+mn-cs"/>
              </a:rPr>
              <a:t>Q1</a:t>
            </a:r>
            <a:r>
              <a:rPr kumimoji="0" lang="zh-CN" altLang="en-US" sz="1800" b="0" i="0" u="none" strike="noStrike" kern="1200" cap="none" spc="0" normalizeH="0" baseline="0" noProof="0" dirty="0">
                <a:ln>
                  <a:noFill/>
                </a:ln>
                <a:solidFill>
                  <a:srgbClr val="000000"/>
                </a:solidFill>
                <a:effectLst/>
                <a:uLnTx/>
                <a:uFillTx/>
                <a:latin typeface="MonospacedNumber"/>
                <a:ea typeface="宋体"/>
                <a:cs typeface="+mn-cs"/>
              </a:rPr>
              <a:t>的目标达成情况分析：</a:t>
            </a:r>
            <a:endParaRPr kumimoji="0" lang="zh-CN" altLang="en-US" sz="1800" b="0" i="0" u="none" strike="noStrike" kern="1200" cap="none" spc="0" normalizeH="0" baseline="0" noProof="0" dirty="0">
              <a:ln>
                <a:noFill/>
              </a:ln>
              <a:solidFill>
                <a:prstClr val="black"/>
              </a:solidFill>
              <a:effectLst/>
              <a:uLnTx/>
              <a:uFillTx/>
              <a:latin typeface="Calibri"/>
              <a:ea typeface="宋体"/>
              <a:cs typeface="+mn-cs"/>
            </a:endParaRPr>
          </a:p>
        </p:txBody>
      </p:sp>
    </p:spTree>
    <p:extLst>
      <p:ext uri="{BB962C8B-B14F-4D97-AF65-F5344CB8AC3E}">
        <p14:creationId xmlns:p14="http://schemas.microsoft.com/office/powerpoint/2010/main" val="2048516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4517AD1-B9B5-3441-8B7B-E17274495312}"/>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E22B537A-F515-11A7-2DD9-CEE42183C693}"/>
              </a:ext>
            </a:extLst>
          </p:cNvPr>
          <p:cNvSpPr txBox="1"/>
          <p:nvPr>
            <p:custDataLst>
              <p:tags r:id="rId1"/>
            </p:custDataLst>
          </p:nvPr>
        </p:nvSpPr>
        <p:spPr>
          <a:xfrm>
            <a:off x="638175" y="323850"/>
            <a:ext cx="11169512" cy="752475"/>
          </a:xfrm>
          <a:prstGeom prst="rect">
            <a:avLst/>
          </a:prstGeom>
          <a:noFill/>
        </p:spPr>
        <p:txBody>
          <a:bodyPr wrap="square" rtlCol="0">
            <a:noAutofit/>
          </a:bodyPr>
          <a:lstStyle/>
          <a:p>
            <a:pPr>
              <a:defRPr/>
            </a:pPr>
            <a:r>
              <a:rPr kumimoji="1" lang="zh-CN" altLang="en-US" sz="2965" b="1" dirty="0">
                <a:solidFill>
                  <a:srgbClr val="E60039"/>
                </a:solidFill>
                <a:latin typeface="微软雅黑" panose="020B0503020204020204" charset="-122"/>
                <a:ea typeface="微软雅黑" panose="020B0503020204020204" charset="-122"/>
              </a:rPr>
              <a:t>落实岗位工作标准化</a:t>
            </a:r>
            <a:r>
              <a:rPr kumimoji="1" lang="zh-CN" altLang="en-US" sz="2965" b="1" i="0" u="none" strike="noStrike" kern="1200" cap="none" spc="0" normalizeH="0" baseline="0" noProof="0" dirty="0" smtClean="0">
                <a:ln>
                  <a:noFill/>
                </a:ln>
                <a:solidFill>
                  <a:srgbClr val="E60039"/>
                </a:solidFill>
                <a:effectLst/>
                <a:uLnTx/>
                <a:uFillTx/>
                <a:latin typeface="微软雅黑" panose="020B0503020204020204" charset="-122"/>
                <a:ea typeface="微软雅黑" panose="020B0503020204020204" charset="-122"/>
                <a:cs typeface="+mn-cs"/>
                <a:sym typeface="+mn-ea"/>
              </a:rPr>
              <a:t>子</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项目</a:t>
            </a:r>
            <a:r>
              <a:rPr kumimoji="1" lang="en-US" altLang="zh-CN"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关键</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rPr>
              <a:t>举措及成效</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，沉淀的经验和方法</a:t>
            </a:r>
          </a:p>
        </p:txBody>
      </p:sp>
      <p:sp>
        <p:nvSpPr>
          <p:cNvPr id="3" name="矩形 2">
            <a:extLst>
              <a:ext uri="{FF2B5EF4-FFF2-40B4-BE49-F238E27FC236}">
                <a16:creationId xmlns="" xmlns:a16="http://schemas.microsoft.com/office/drawing/2014/main" id="{F5D173EA-DDD2-25A7-F37B-F2FBF3D2C92D}"/>
              </a:ext>
            </a:extLst>
          </p:cNvPr>
          <p:cNvSpPr/>
          <p:nvPr/>
        </p:nvSpPr>
        <p:spPr>
          <a:xfrm>
            <a:off x="10391563" y="2369185"/>
            <a:ext cx="2717800" cy="1397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宋体"/>
                <a:cs typeface="+mn-cs"/>
              </a:rPr>
              <a:t>说明：请图文结合体现</a:t>
            </a:r>
          </a:p>
        </p:txBody>
      </p:sp>
      <p:sp>
        <p:nvSpPr>
          <p:cNvPr id="4" name="文本框 3">
            <a:extLst>
              <a:ext uri="{FF2B5EF4-FFF2-40B4-BE49-F238E27FC236}">
                <a16:creationId xmlns="" xmlns:a16="http://schemas.microsoft.com/office/drawing/2014/main" id="{57B838AA-F9A5-6C3A-6339-6FE81ADE7FE4}"/>
              </a:ext>
            </a:extLst>
          </p:cNvPr>
          <p:cNvSpPr txBox="1"/>
          <p:nvPr/>
        </p:nvSpPr>
        <p:spPr>
          <a:xfrm>
            <a:off x="720893" y="1253833"/>
            <a:ext cx="94695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关键举措是什么：</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XXX</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 xmlns:a16="http://schemas.microsoft.com/office/drawing/2014/main" id="{350B176F-CD0A-4FF5-56B1-63E07CE5331D}"/>
              </a:ext>
            </a:extLst>
          </p:cNvPr>
          <p:cNvSpPr txBox="1"/>
          <p:nvPr/>
        </p:nvSpPr>
        <p:spPr>
          <a:xfrm>
            <a:off x="720893" y="2796517"/>
            <a:ext cx="94695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成效是什么：</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XXX</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 xmlns:a16="http://schemas.microsoft.com/office/drawing/2014/main" id="{842B210A-0944-1EDF-ECB8-253B8743AA35}"/>
              </a:ext>
            </a:extLst>
          </p:cNvPr>
          <p:cNvSpPr txBox="1"/>
          <p:nvPr/>
        </p:nvSpPr>
        <p:spPr>
          <a:xfrm>
            <a:off x="720894" y="4424521"/>
            <a:ext cx="94695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经验和方法</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XXX</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矩形 8">
            <a:extLst>
              <a:ext uri="{FF2B5EF4-FFF2-40B4-BE49-F238E27FC236}">
                <a16:creationId xmlns="" xmlns:a16="http://schemas.microsoft.com/office/drawing/2014/main" id="{BABDA839-694E-B9FE-4DC6-137A23EB81F1}"/>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Calibri"/>
                <a:ea typeface="宋体"/>
              </a:rPr>
              <a:t>隋媛</a:t>
            </a:r>
            <a:endParaRPr kumimoji="0" lang="en-US" altLang="zh-CN" sz="1800" b="0" i="0" u="none" strike="noStrike" kern="1200" cap="none" spc="0" normalizeH="0" baseline="0" noProof="0" dirty="0">
              <a:ln>
                <a:noFill/>
              </a:ln>
              <a:solidFill>
                <a:prstClr val="white"/>
              </a:solidFill>
              <a:effectLst/>
              <a:uLnTx/>
              <a:uFillTx/>
              <a:latin typeface="Calibri"/>
              <a:ea typeface="宋体"/>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宋体"/>
                <a:cs typeface="+mn-cs"/>
              </a:rPr>
              <a:t>负责</a:t>
            </a:r>
          </a:p>
        </p:txBody>
      </p:sp>
    </p:spTree>
    <p:extLst>
      <p:ext uri="{BB962C8B-B14F-4D97-AF65-F5344CB8AC3E}">
        <p14:creationId xmlns:p14="http://schemas.microsoft.com/office/powerpoint/2010/main" val="1475265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61D079F-A87A-B305-8A50-9E0FCFFDB2CB}"/>
            </a:ext>
          </a:extLst>
        </p:cNvPr>
        <p:cNvGrpSpPr/>
        <p:nvPr/>
      </p:nvGrpSpPr>
      <p:grpSpPr>
        <a:xfrm>
          <a:off x="0" y="0"/>
          <a:ext cx="0" cy="0"/>
          <a:chOff x="0" y="0"/>
          <a:chExt cx="0" cy="0"/>
        </a:xfrm>
      </p:grpSpPr>
      <p:sp>
        <p:nvSpPr>
          <p:cNvPr id="3" name="文本框 2">
            <a:extLst>
              <a:ext uri="{FF2B5EF4-FFF2-40B4-BE49-F238E27FC236}">
                <a16:creationId xmlns="" xmlns:a16="http://schemas.microsoft.com/office/drawing/2014/main" id="{A8852153-FFFA-C028-406B-482F616A328D}"/>
              </a:ext>
            </a:extLst>
          </p:cNvPr>
          <p:cNvSpPr txBox="1"/>
          <p:nvPr>
            <p:custDataLst>
              <p:tags r:id="rId1"/>
            </p:custDataLst>
          </p:nvPr>
        </p:nvSpPr>
        <p:spPr>
          <a:xfrm>
            <a:off x="638175" y="323850"/>
            <a:ext cx="9714230" cy="1057910"/>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落实岗位工作标准化</a:t>
            </a:r>
            <a:r>
              <a:rPr kumimoji="1" lang="en-US" altLang="zh-CN" sz="2965" b="1" dirty="0" smtClean="0">
                <a:solidFill>
                  <a:srgbClr val="E60039"/>
                </a:solidFill>
                <a:latin typeface="微软雅黑" panose="020B0503020204020204" charset="-122"/>
                <a:ea typeface="微软雅黑" panose="020B0503020204020204" charset="-122"/>
                <a:sym typeface="+mn-ea"/>
              </a:rPr>
              <a:t>—</a:t>
            </a:r>
            <a:r>
              <a:rPr kumimoji="1" lang="en-US" altLang="zh-CN" sz="2965" b="1" dirty="0">
                <a:solidFill>
                  <a:srgbClr val="E60039"/>
                </a:solidFill>
                <a:latin typeface="微软雅黑" panose="020B0503020204020204" charset="-122"/>
                <a:ea typeface="微软雅黑" panose="020B0503020204020204" charset="-122"/>
                <a:sym typeface="+mn-ea"/>
              </a:rPr>
              <a:t>Q2</a:t>
            </a:r>
            <a:r>
              <a:rPr kumimoji="1" lang="zh-CN" altLang="en-US" sz="2965" b="1" dirty="0">
                <a:solidFill>
                  <a:srgbClr val="E60039"/>
                </a:solidFill>
                <a:latin typeface="微软雅黑" panose="020B0503020204020204" charset="-122"/>
                <a:ea typeface="微软雅黑" panose="020B0503020204020204" charset="-122"/>
                <a:sym typeface="+mn-ea"/>
              </a:rPr>
              <a:t>目标和行动计划</a:t>
            </a:r>
          </a:p>
        </p:txBody>
      </p:sp>
      <p:sp>
        <p:nvSpPr>
          <p:cNvPr id="5" name="Rectangle 1">
            <a:extLst>
              <a:ext uri="{FF2B5EF4-FFF2-40B4-BE49-F238E27FC236}">
                <a16:creationId xmlns="" xmlns:a16="http://schemas.microsoft.com/office/drawing/2014/main" id="{975C18C4-5485-E744-78AC-323EB24B5DA2}"/>
              </a:ext>
            </a:extLst>
          </p:cNvPr>
          <p:cNvSpPr>
            <a:spLocks noChangeArrowheads="1"/>
          </p:cNvSpPr>
          <p:nvPr/>
        </p:nvSpPr>
        <p:spPr bwMode="auto">
          <a:xfrm>
            <a:off x="1387475" y="32400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表格 5">
            <a:extLst>
              <a:ext uri="{FF2B5EF4-FFF2-40B4-BE49-F238E27FC236}">
                <a16:creationId xmlns="" xmlns:a16="http://schemas.microsoft.com/office/drawing/2014/main" id="{A24F44E7-ACFC-7105-30E3-3FCACC52B80C}"/>
              </a:ext>
            </a:extLst>
          </p:cNvPr>
          <p:cNvGraphicFramePr>
            <a:graphicFrameLocks noGrp="1"/>
          </p:cNvGraphicFramePr>
          <p:nvPr>
            <p:extLst>
              <p:ext uri="{D42A27DB-BD31-4B8C-83A1-F6EECF244321}">
                <p14:modId xmlns:p14="http://schemas.microsoft.com/office/powerpoint/2010/main" val="2597894443"/>
              </p:ext>
            </p:extLst>
          </p:nvPr>
        </p:nvGraphicFramePr>
        <p:xfrm>
          <a:off x="638174" y="2031519"/>
          <a:ext cx="10801986" cy="3131511"/>
        </p:xfrm>
        <a:graphic>
          <a:graphicData uri="http://schemas.openxmlformats.org/drawingml/2006/table">
            <a:tbl>
              <a:tblPr/>
              <a:tblGrid>
                <a:gridCol w="1189553">
                  <a:extLst>
                    <a:ext uri="{9D8B030D-6E8A-4147-A177-3AD203B41FA5}">
                      <a16:colId xmlns="" xmlns:a16="http://schemas.microsoft.com/office/drawing/2014/main" val="4126097605"/>
                    </a:ext>
                  </a:extLst>
                </a:gridCol>
                <a:gridCol w="3562322">
                  <a:extLst>
                    <a:ext uri="{9D8B030D-6E8A-4147-A177-3AD203B41FA5}">
                      <a16:colId xmlns="" xmlns:a16="http://schemas.microsoft.com/office/drawing/2014/main" val="678362262"/>
                    </a:ext>
                  </a:extLst>
                </a:gridCol>
                <a:gridCol w="3095134">
                  <a:extLst>
                    <a:ext uri="{9D8B030D-6E8A-4147-A177-3AD203B41FA5}">
                      <a16:colId xmlns="" xmlns:a16="http://schemas.microsoft.com/office/drawing/2014/main" val="3104932681"/>
                    </a:ext>
                  </a:extLst>
                </a:gridCol>
                <a:gridCol w="2954977">
                  <a:extLst>
                    <a:ext uri="{9D8B030D-6E8A-4147-A177-3AD203B41FA5}">
                      <a16:colId xmlns="" xmlns:a16="http://schemas.microsoft.com/office/drawing/2014/main" val="2460856437"/>
                    </a:ext>
                  </a:extLst>
                </a:gridCol>
              </a:tblGrid>
              <a:tr h="343591">
                <a:tc>
                  <a:txBody>
                    <a:bodyPr/>
                    <a:lstStyle/>
                    <a:p>
                      <a:pPr algn="ctr" fontAlgn="ctr" latinLnBrk="0"/>
                      <a:r>
                        <a:rPr lang="en-US" altLang="zh-CN" sz="800" b="1" i="0" dirty="0">
                          <a:solidFill>
                            <a:srgbClr val="1F2329"/>
                          </a:solidFill>
                          <a:effectLst/>
                        </a:rPr>
                        <a:t>EDN</a:t>
                      </a:r>
                      <a:r>
                        <a:rPr lang="zh-CN" altLang="en-US" sz="800" b="1" i="0" dirty="0">
                          <a:solidFill>
                            <a:srgbClr val="1F2329"/>
                          </a:solidFill>
                          <a:effectLst/>
                        </a:rPr>
                        <a:t>上顶大型园区破格局</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0E3"/>
                    </a:solidFill>
                  </a:tcPr>
                </a:tc>
                <a:tc>
                  <a:txBody>
                    <a:bodyPr/>
                    <a:lstStyle/>
                    <a:p>
                      <a:pPr algn="ctr" fontAlgn="ctr" latinLnBrk="0"/>
                      <a:r>
                        <a:rPr lang="en-US" sz="800" b="1" i="0" dirty="0">
                          <a:solidFill>
                            <a:srgbClr val="1F2329"/>
                          </a:solidFill>
                          <a:effectLst/>
                        </a:rPr>
                        <a:t>M4</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049FD7"/>
                    </a:solidFill>
                  </a:tcPr>
                </a:tc>
                <a:tc>
                  <a:txBody>
                    <a:bodyPr/>
                    <a:lstStyle/>
                    <a:p>
                      <a:pPr algn="ctr" fontAlgn="ctr" latinLnBrk="0"/>
                      <a:r>
                        <a:rPr lang="en-US" sz="800" b="1" i="0" dirty="0">
                          <a:solidFill>
                            <a:srgbClr val="1F2329"/>
                          </a:solidFill>
                          <a:effectLst/>
                        </a:rPr>
                        <a:t>M5</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tc>
                  <a:txBody>
                    <a:bodyPr/>
                    <a:lstStyle/>
                    <a:p>
                      <a:pPr algn="ctr" fontAlgn="ctr" latinLnBrk="0"/>
                      <a:r>
                        <a:rPr lang="en-US" sz="800" b="1" i="0" dirty="0">
                          <a:solidFill>
                            <a:srgbClr val="1F2329"/>
                          </a:solidFill>
                          <a:effectLst/>
                        </a:rPr>
                        <a:t>M6</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extLst>
                  <a:ext uri="{0D108BD9-81ED-4DB2-BD59-A6C34878D82A}">
                    <a16:rowId xmlns="" xmlns:a16="http://schemas.microsoft.com/office/drawing/2014/main" val="3767630983"/>
                  </a:ext>
                </a:extLst>
              </a:tr>
              <a:tr h="343591">
                <a:tc>
                  <a:txBody>
                    <a:bodyPr/>
                    <a:lstStyle/>
                    <a:p>
                      <a:pPr algn="ctr" fontAlgn="ctr" latinLnBrk="0"/>
                      <a:r>
                        <a:rPr lang="zh-CN" altLang="en-US" sz="800" b="1" i="0" dirty="0">
                          <a:solidFill>
                            <a:srgbClr val="1F2329"/>
                          </a:solidFill>
                          <a:effectLst/>
                        </a:rPr>
                        <a:t>要解决的关键问题</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0E3"/>
                    </a:solidFill>
                  </a:tcPr>
                </a:tc>
                <a:tc gridSpan="3">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tc hMerge="1">
                  <a:txBody>
                    <a:bodyPr/>
                    <a:lstStyle/>
                    <a:p>
                      <a:pPr algn="ctr" fontAlgn="ctr" latinLnBrk="0"/>
                      <a:endParaRPr lang="en-US" sz="800" b="1" i="0" dirty="0">
                        <a:solidFill>
                          <a:srgbClr val="1F2329"/>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49FD7"/>
                    </a:solidFill>
                  </a:tcPr>
                </a:tc>
                <a:extLst>
                  <a:ext uri="{0D108BD9-81ED-4DB2-BD59-A6C34878D82A}">
                    <a16:rowId xmlns="" xmlns:a16="http://schemas.microsoft.com/office/drawing/2014/main" val="3447847492"/>
                  </a:ext>
                </a:extLst>
              </a:tr>
              <a:tr h="246489">
                <a:tc>
                  <a:txBody>
                    <a:bodyPr/>
                    <a:lstStyle/>
                    <a:p>
                      <a:pPr algn="ctr" fontAlgn="ctr" latinLnBrk="0"/>
                      <a:r>
                        <a:rPr lang="zh-CN" altLang="en-US" sz="800" b="1" i="0" dirty="0">
                          <a:solidFill>
                            <a:srgbClr val="000000"/>
                          </a:solidFill>
                          <a:effectLst/>
                        </a:rPr>
                        <a:t>子项目标分解</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fontAlgn="ctr" latinLnBrk="0"/>
                      <a:endParaRPr lang="zh-CN" altLang="en-US" sz="700" b="0" i="0" dirty="0">
                        <a:solidFill>
                          <a:srgbClr val="FFFFFF"/>
                        </a:solidFill>
                        <a:effectLst/>
                      </a:endParaRP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 xmlns:a16="http://schemas.microsoft.com/office/drawing/2014/main" val="2140247724"/>
                  </a:ext>
                </a:extLst>
              </a:tr>
              <a:tr h="246489">
                <a:tc>
                  <a:txBody>
                    <a:bodyPr/>
                    <a:lstStyle/>
                    <a:p>
                      <a:pPr algn="ctr" fontAlgn="ctr" latinLnBrk="0"/>
                      <a:r>
                        <a:rPr lang="zh-CN" altLang="en-US" sz="800" b="1" i="0" dirty="0">
                          <a:solidFill>
                            <a:srgbClr val="000000"/>
                          </a:solidFill>
                          <a:effectLst/>
                        </a:rPr>
                        <a:t>子项里程碑</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fontAlgn="ctr" latinLnBrk="0"/>
                      <a:r>
                        <a:rPr lang="zh-CN" altLang="en-US" sz="700" b="0" i="0" dirty="0">
                          <a:solidFill>
                            <a:srgbClr val="FFFFFF"/>
                          </a:solidFill>
                          <a:effectLst/>
                        </a:rPr>
                        <a:t>完成</a:t>
                      </a:r>
                      <a:r>
                        <a:rPr lang="en-US" altLang="zh-CN" sz="700" b="0" i="0" dirty="0">
                          <a:solidFill>
                            <a:srgbClr val="FFFFFF"/>
                          </a:solidFill>
                          <a:effectLst/>
                        </a:rPr>
                        <a:t>380</a:t>
                      </a:r>
                      <a:r>
                        <a:rPr lang="zh-CN" altLang="en-US" sz="700" b="0" i="0" dirty="0">
                          <a:solidFill>
                            <a:srgbClr val="FFFFFF"/>
                          </a:solidFill>
                          <a:effectLst/>
                        </a:rPr>
                        <a:t>个客户覆盖（</a:t>
                      </a:r>
                      <a:r>
                        <a:rPr lang="en-US" altLang="zh-CN" sz="700" b="0" i="0" dirty="0">
                          <a:solidFill>
                            <a:srgbClr val="FFFFFF"/>
                          </a:solidFill>
                          <a:effectLst/>
                        </a:rPr>
                        <a:t>4.30</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1</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ctr" latinLnBrk="0"/>
                      <a:r>
                        <a:rPr lang="en-US" altLang="zh-CN" sz="700" b="0" i="0" dirty="0">
                          <a:solidFill>
                            <a:srgbClr val="FFFFFF"/>
                          </a:solidFill>
                          <a:effectLst/>
                        </a:rPr>
                        <a:t>EDN</a:t>
                      </a:r>
                      <a:r>
                        <a:rPr lang="zh-CN" altLang="en-US" sz="700" b="0" i="0" dirty="0">
                          <a:solidFill>
                            <a:srgbClr val="FFFFFF"/>
                          </a:solidFill>
                          <a:effectLst/>
                        </a:rPr>
                        <a:t>漏斗内项目</a:t>
                      </a:r>
                      <a:r>
                        <a:rPr lang="en-US" altLang="zh-CN" sz="700" b="0" i="0" dirty="0">
                          <a:solidFill>
                            <a:srgbClr val="FFFFFF"/>
                          </a:solidFill>
                          <a:effectLst/>
                        </a:rPr>
                        <a:t>100</a:t>
                      </a:r>
                      <a:r>
                        <a:rPr lang="zh-CN" altLang="en-US" sz="700" b="0" i="0" dirty="0">
                          <a:solidFill>
                            <a:srgbClr val="FFFFFF"/>
                          </a:solidFill>
                          <a:effectLst/>
                        </a:rPr>
                        <a:t>个（</a:t>
                      </a:r>
                      <a:r>
                        <a:rPr lang="en-US" altLang="zh-CN" sz="700" b="0" i="0" dirty="0">
                          <a:solidFill>
                            <a:srgbClr val="FFFFFF"/>
                          </a:solidFill>
                          <a:effectLst/>
                        </a:rPr>
                        <a:t>5.29</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2</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ctr" latinLnBrk="0"/>
                      <a:r>
                        <a:rPr lang="en-US" altLang="zh-CN" sz="700" b="0" i="0" dirty="0">
                          <a:solidFill>
                            <a:srgbClr val="FFFFFF"/>
                          </a:solidFill>
                          <a:effectLst/>
                        </a:rPr>
                        <a:t>EDN</a:t>
                      </a:r>
                      <a:r>
                        <a:rPr lang="zh-CN" altLang="en-US" sz="700" b="0" i="0" dirty="0">
                          <a:solidFill>
                            <a:srgbClr val="FFFFFF"/>
                          </a:solidFill>
                          <a:effectLst/>
                        </a:rPr>
                        <a:t>漏斗内项目</a:t>
                      </a:r>
                      <a:r>
                        <a:rPr lang="en-US" altLang="zh-CN" sz="700" b="0" i="0" dirty="0">
                          <a:solidFill>
                            <a:srgbClr val="FFFFFF"/>
                          </a:solidFill>
                          <a:effectLst/>
                        </a:rPr>
                        <a:t>150</a:t>
                      </a:r>
                      <a:r>
                        <a:rPr lang="zh-CN" altLang="en-US" sz="700" b="0" i="0" dirty="0">
                          <a:solidFill>
                            <a:srgbClr val="FFFFFF"/>
                          </a:solidFill>
                          <a:effectLst/>
                        </a:rPr>
                        <a:t>个（</a:t>
                      </a:r>
                      <a:r>
                        <a:rPr lang="en-US" altLang="zh-CN" sz="700" b="0" i="0" dirty="0">
                          <a:solidFill>
                            <a:srgbClr val="FFFFFF"/>
                          </a:solidFill>
                          <a:effectLst/>
                        </a:rPr>
                        <a:t>6.27</a:t>
                      </a:r>
                      <a:r>
                        <a:rPr lang="zh-CN" altLang="en-US" sz="700" b="0" i="0" dirty="0">
                          <a:solidFill>
                            <a:srgbClr val="FFFFFF"/>
                          </a:solidFill>
                          <a:effectLst/>
                        </a:rPr>
                        <a:t>）</a:t>
                      </a:r>
                      <a:br>
                        <a:rPr lang="zh-CN" altLang="en-US" sz="700" b="0" i="0" dirty="0">
                          <a:solidFill>
                            <a:srgbClr val="FFFFFF"/>
                          </a:solidFill>
                          <a:effectLst/>
                        </a:rPr>
                      </a:br>
                      <a:r>
                        <a:rPr lang="zh-CN" altLang="en-US" sz="700" b="0" i="0" dirty="0">
                          <a:solidFill>
                            <a:srgbClr val="FFFFFF"/>
                          </a:solidFill>
                          <a:effectLst/>
                        </a:rPr>
                        <a:t>建立</a:t>
                      </a:r>
                      <a:r>
                        <a:rPr lang="en-US" altLang="zh-CN" sz="700" b="0" i="0" dirty="0">
                          <a:solidFill>
                            <a:srgbClr val="FFFFFF"/>
                          </a:solidFill>
                          <a:effectLst/>
                        </a:rPr>
                        <a:t>3</a:t>
                      </a:r>
                      <a:r>
                        <a:rPr lang="zh-CN" altLang="en-US" sz="700" b="0" i="0" dirty="0">
                          <a:solidFill>
                            <a:srgbClr val="FFFFFF"/>
                          </a:solidFill>
                          <a:effectLst/>
                        </a:rPr>
                        <a:t>个样板客户，</a:t>
                      </a:r>
                      <a:r>
                        <a:rPr lang="en-US" altLang="zh-CN" sz="700" b="0" i="0" dirty="0">
                          <a:solidFill>
                            <a:srgbClr val="FFFFFF"/>
                          </a:solidFill>
                          <a:effectLst/>
                        </a:rPr>
                        <a:t>NPS≥70%</a:t>
                      </a:r>
                      <a:r>
                        <a:rPr lang="zh-CN" altLang="en-US" sz="700" b="0" i="0" dirty="0">
                          <a:solidFill>
                            <a:srgbClr val="FFFFFF"/>
                          </a:solidFill>
                          <a:effectLst/>
                        </a:rPr>
                        <a:t>（</a:t>
                      </a:r>
                      <a:r>
                        <a:rPr lang="en-US" altLang="zh-CN" sz="700" b="0" i="0" dirty="0">
                          <a:solidFill>
                            <a:srgbClr val="FFFFFF"/>
                          </a:solidFill>
                          <a:effectLst/>
                        </a:rPr>
                        <a:t>6.27</a:t>
                      </a:r>
                      <a:r>
                        <a:rPr lang="zh-CN" altLang="en-US" sz="700" b="0" i="0" dirty="0">
                          <a:solidFill>
                            <a:srgbClr val="FFFFFF"/>
                          </a:solidFill>
                          <a:effectLst/>
                        </a:rPr>
                        <a:t>）</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 xmlns:a16="http://schemas.microsoft.com/office/drawing/2014/main" val="1359117702"/>
                  </a:ext>
                </a:extLst>
              </a:tr>
              <a:tr h="1912158">
                <a:tc>
                  <a:txBody>
                    <a:bodyPr/>
                    <a:lstStyle/>
                    <a:p>
                      <a:pPr algn="ctr" fontAlgn="ctr" latinLnBrk="0"/>
                      <a:r>
                        <a:rPr lang="zh-CN" altLang="en-US" sz="800" b="1" i="0" dirty="0">
                          <a:solidFill>
                            <a:srgbClr val="000000"/>
                          </a:solidFill>
                          <a:effectLst/>
                        </a:rPr>
                        <a:t>关键行动计划和交付</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、每个区域每周</a:t>
                      </a:r>
                      <a:r>
                        <a:rPr lang="en-US" altLang="zh-CN" sz="800" b="0" i="0" dirty="0">
                          <a:solidFill>
                            <a:srgbClr val="000000"/>
                          </a:solidFill>
                          <a:effectLst/>
                        </a:rPr>
                        <a:t>25</a:t>
                      </a:r>
                      <a:r>
                        <a:rPr lang="zh-CN" altLang="en-US" sz="800" b="0" i="0" dirty="0">
                          <a:solidFill>
                            <a:srgbClr val="000000"/>
                          </a:solidFill>
                          <a:effectLst/>
                        </a:rPr>
                        <a:t>个客户开展高质量技术交流，完成</a:t>
                      </a:r>
                      <a:r>
                        <a:rPr lang="en-US" altLang="zh-CN" sz="800" b="0" i="0" dirty="0">
                          <a:solidFill>
                            <a:srgbClr val="000000"/>
                          </a:solidFill>
                          <a:effectLst/>
                        </a:rPr>
                        <a:t>380</a:t>
                      </a:r>
                      <a:r>
                        <a:rPr lang="zh-CN" altLang="en-US" sz="800" b="0" i="0" dirty="0">
                          <a:solidFill>
                            <a:srgbClr val="000000"/>
                          </a:solidFill>
                          <a:effectLst/>
                        </a:rPr>
                        <a:t>个客户覆盖。</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、举行</a:t>
                      </a:r>
                      <a:r>
                        <a:rPr lang="en-US" altLang="zh-CN" sz="800" b="0" i="0" dirty="0">
                          <a:solidFill>
                            <a:srgbClr val="000000"/>
                          </a:solidFill>
                          <a:effectLst/>
                        </a:rPr>
                        <a:t>EDN PMF</a:t>
                      </a:r>
                      <a:r>
                        <a:rPr lang="zh-CN" altLang="en-US" sz="800" b="0" i="0" dirty="0">
                          <a:solidFill>
                            <a:srgbClr val="000000"/>
                          </a:solidFill>
                          <a:effectLst/>
                        </a:rPr>
                        <a:t>复盘会，推动</a:t>
                      </a:r>
                      <a:r>
                        <a:rPr lang="en-US" altLang="zh-CN" sz="800" b="0" i="0" dirty="0">
                          <a:solidFill>
                            <a:srgbClr val="000000"/>
                          </a:solidFill>
                          <a:effectLst/>
                        </a:rPr>
                        <a:t>EDN</a:t>
                      </a:r>
                      <a:r>
                        <a:rPr lang="zh-CN" altLang="en-US" sz="800" b="0" i="0" dirty="0">
                          <a:solidFill>
                            <a:srgbClr val="000000"/>
                          </a:solidFill>
                          <a:effectLst/>
                        </a:rPr>
                        <a:t>产品方案精</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、每个区域挖掘老客户项目机会，展开多次技术交流，构建企金漏斗内项目</a:t>
                      </a:r>
                      <a:r>
                        <a:rPr lang="en-US" altLang="zh-CN" sz="800" b="0" i="0" dirty="0">
                          <a:solidFill>
                            <a:srgbClr val="000000"/>
                          </a:solidFill>
                          <a:effectLst/>
                        </a:rPr>
                        <a:t>50</a:t>
                      </a:r>
                      <a:r>
                        <a:rPr lang="zh-CN" altLang="en-US" sz="800" b="0" i="0" dirty="0">
                          <a:solidFill>
                            <a:srgbClr val="000000"/>
                          </a:solidFill>
                          <a:effectLst/>
                        </a:rPr>
                        <a:t>个（企业</a:t>
                      </a:r>
                      <a:r>
                        <a:rPr lang="en-US" altLang="zh-CN" sz="800" b="0" i="0" dirty="0">
                          <a:solidFill>
                            <a:srgbClr val="000000"/>
                          </a:solidFill>
                          <a:effectLst/>
                        </a:rPr>
                        <a:t>30</a:t>
                      </a:r>
                      <a:r>
                        <a:rPr lang="zh-CN" altLang="en-US" sz="800" b="0" i="0" dirty="0">
                          <a:solidFill>
                            <a:srgbClr val="000000"/>
                          </a:solidFill>
                          <a:effectLst/>
                        </a:rPr>
                        <a:t>个，金融</a:t>
                      </a:r>
                      <a:r>
                        <a:rPr lang="en-US" altLang="zh-CN" sz="800" b="0" i="0" dirty="0">
                          <a:solidFill>
                            <a:srgbClr val="000000"/>
                          </a:solidFill>
                          <a:effectLst/>
                        </a:rPr>
                        <a:t>20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4</a:t>
                      </a:r>
                      <a:r>
                        <a:rPr lang="zh-CN" altLang="en-US" sz="800" b="0" i="0" dirty="0">
                          <a:solidFill>
                            <a:srgbClr val="000000"/>
                          </a:solidFill>
                          <a:effectLst/>
                        </a:rPr>
                        <a:t>、启动</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30%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1</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行动验证，识别问题推动修订；</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1</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、每个区域针对有项目机会的老客户展开多次技术交流，构建企金漏斗内项目</a:t>
                      </a:r>
                      <a:r>
                        <a:rPr lang="en-US" altLang="zh-CN" sz="800" b="0" i="0" dirty="0">
                          <a:solidFill>
                            <a:srgbClr val="000000"/>
                          </a:solidFill>
                          <a:effectLst/>
                        </a:rPr>
                        <a:t>100</a:t>
                      </a:r>
                      <a:r>
                        <a:rPr lang="zh-CN" altLang="en-US" sz="800" b="0" i="0" dirty="0">
                          <a:solidFill>
                            <a:srgbClr val="000000"/>
                          </a:solidFill>
                          <a:effectLst/>
                        </a:rPr>
                        <a:t>个（企业</a:t>
                      </a:r>
                      <a:r>
                        <a:rPr lang="en-US" altLang="zh-CN" sz="800" b="0" i="0" dirty="0">
                          <a:solidFill>
                            <a:srgbClr val="000000"/>
                          </a:solidFill>
                          <a:effectLst/>
                        </a:rPr>
                        <a:t>60</a:t>
                      </a:r>
                      <a:r>
                        <a:rPr lang="zh-CN" altLang="en-US" sz="800" b="0" i="0" dirty="0">
                          <a:solidFill>
                            <a:srgbClr val="000000"/>
                          </a:solidFill>
                          <a:effectLst/>
                        </a:rPr>
                        <a:t>个，金融</a:t>
                      </a:r>
                      <a:r>
                        <a:rPr lang="en-US" altLang="zh-CN" sz="800" b="0" i="0" dirty="0">
                          <a:solidFill>
                            <a:srgbClr val="000000"/>
                          </a:solidFill>
                          <a:effectLst/>
                        </a:rPr>
                        <a:t>40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、金融举行一场大行带体系内小行的圈子活动，加速价值认可效率</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、持续</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40%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2</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行动验证，识别问题推动修订；</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2</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tc>
                  <a:txBody>
                    <a:bodyPr/>
                    <a:lstStyle/>
                    <a:p>
                      <a:pPr fontAlgn="ctr" latinLnBrk="0"/>
                      <a:r>
                        <a:rPr lang="zh-CN" altLang="en-US" sz="800" b="0" i="0" dirty="0">
                          <a:solidFill>
                            <a:srgbClr val="000000"/>
                          </a:solidFill>
                          <a:effectLst/>
                        </a:rPr>
                        <a:t>一、</a:t>
                      </a:r>
                      <a:r>
                        <a:rPr lang="en-US" altLang="zh-CN" sz="800" b="0" i="0" dirty="0">
                          <a:solidFill>
                            <a:srgbClr val="000000"/>
                          </a:solidFill>
                          <a:effectLst/>
                        </a:rPr>
                        <a:t>EDN</a:t>
                      </a:r>
                      <a:r>
                        <a:rPr lang="zh-CN" altLang="en-US" sz="800" b="0" i="0" dirty="0">
                          <a:solidFill>
                            <a:srgbClr val="000000"/>
                          </a:solidFill>
                          <a:effectLst/>
                        </a:rPr>
                        <a:t>价值直达</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、每个区域针对有项目机会的老客户展开推优交流，构建企金漏斗内项目</a:t>
                      </a:r>
                      <a:r>
                        <a:rPr lang="en-US" altLang="zh-CN" sz="800" b="0" i="0" dirty="0">
                          <a:solidFill>
                            <a:srgbClr val="000000"/>
                          </a:solidFill>
                          <a:effectLst/>
                        </a:rPr>
                        <a:t>150</a:t>
                      </a:r>
                      <a:r>
                        <a:rPr lang="zh-CN" altLang="en-US" sz="800" b="0" i="0" dirty="0">
                          <a:solidFill>
                            <a:srgbClr val="000000"/>
                          </a:solidFill>
                          <a:effectLst/>
                        </a:rPr>
                        <a:t>个（企业</a:t>
                      </a:r>
                      <a:r>
                        <a:rPr lang="en-US" altLang="zh-CN" sz="800" b="0" i="0" dirty="0">
                          <a:solidFill>
                            <a:srgbClr val="000000"/>
                          </a:solidFill>
                          <a:effectLst/>
                        </a:rPr>
                        <a:t>90</a:t>
                      </a:r>
                      <a:r>
                        <a:rPr lang="zh-CN" altLang="en-US" sz="800" b="0" i="0" dirty="0">
                          <a:solidFill>
                            <a:srgbClr val="000000"/>
                          </a:solidFill>
                          <a:effectLst/>
                        </a:rPr>
                        <a:t>个，金融</a:t>
                      </a:r>
                      <a:r>
                        <a:rPr lang="en-US" altLang="zh-CN" sz="800" b="0" i="0" dirty="0">
                          <a:solidFill>
                            <a:srgbClr val="000000"/>
                          </a:solidFill>
                          <a:effectLst/>
                        </a:rPr>
                        <a:t>60</a:t>
                      </a:r>
                      <a:r>
                        <a:rPr lang="zh-CN" altLang="en-US" sz="800" b="0" i="0" dirty="0">
                          <a:solidFill>
                            <a:srgbClr val="000000"/>
                          </a:solidFill>
                          <a:effectLst/>
                        </a:rPr>
                        <a:t>个）</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、建设</a:t>
                      </a:r>
                      <a:r>
                        <a:rPr lang="en-US" altLang="zh-CN" sz="800" b="0" i="0" dirty="0">
                          <a:solidFill>
                            <a:srgbClr val="000000"/>
                          </a:solidFill>
                          <a:effectLst/>
                        </a:rPr>
                        <a:t>3</a:t>
                      </a:r>
                      <a:r>
                        <a:rPr lang="zh-CN" altLang="en-US" sz="800" b="0" i="0" dirty="0">
                          <a:solidFill>
                            <a:srgbClr val="000000"/>
                          </a:solidFill>
                          <a:effectLst/>
                        </a:rPr>
                        <a:t>个可供全国参观的</a:t>
                      </a:r>
                      <a:r>
                        <a:rPr lang="en-US" altLang="zh-CN" sz="800" b="0" i="0" dirty="0">
                          <a:solidFill>
                            <a:srgbClr val="000000"/>
                          </a:solidFill>
                          <a:effectLst/>
                        </a:rPr>
                        <a:t>EDN</a:t>
                      </a:r>
                      <a:r>
                        <a:rPr lang="zh-CN" altLang="en-US" sz="800" b="0" i="0" dirty="0">
                          <a:solidFill>
                            <a:srgbClr val="000000"/>
                          </a:solidFill>
                          <a:effectLst/>
                        </a:rPr>
                        <a:t>样板，举行</a:t>
                      </a:r>
                      <a:r>
                        <a:rPr lang="en-US" altLang="zh-CN" sz="800" b="0" i="0" dirty="0">
                          <a:solidFill>
                            <a:srgbClr val="000000"/>
                          </a:solidFill>
                          <a:effectLst/>
                        </a:rPr>
                        <a:t>EDN 1.X</a:t>
                      </a:r>
                      <a:r>
                        <a:rPr lang="zh-CN" altLang="en-US" sz="800" b="0" i="0" dirty="0">
                          <a:solidFill>
                            <a:srgbClr val="000000"/>
                          </a:solidFill>
                          <a:effectLst/>
                        </a:rPr>
                        <a:t>版本发布会，邀请样板客户站台，加速价值认可效率</a:t>
                      </a:r>
                      <a:br>
                        <a:rPr lang="zh-CN" altLang="en-US"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、持续</a:t>
                      </a:r>
                      <a:r>
                        <a:rPr lang="en-US" altLang="zh-CN" sz="800" b="0" i="0" dirty="0">
                          <a:solidFill>
                            <a:srgbClr val="000000"/>
                          </a:solidFill>
                          <a:effectLst/>
                        </a:rPr>
                        <a:t>EDN</a:t>
                      </a:r>
                      <a:r>
                        <a:rPr lang="zh-CN" altLang="en-US" sz="800" b="0" i="0" dirty="0">
                          <a:solidFill>
                            <a:srgbClr val="000000"/>
                          </a:solidFill>
                          <a:effectLst/>
                        </a:rPr>
                        <a:t>数字营销计划，双周推送价值软文，客户故事小视频等，快速价值营销。</a:t>
                      </a:r>
                      <a:br>
                        <a:rPr lang="zh-CN" altLang="en-US" sz="800" b="0" i="0" dirty="0">
                          <a:solidFill>
                            <a:srgbClr val="000000"/>
                          </a:solidFill>
                          <a:effectLst/>
                        </a:rPr>
                      </a:br>
                      <a:r>
                        <a:rPr lang="zh-CN" altLang="en-US" sz="800" b="0" i="0" dirty="0">
                          <a:solidFill>
                            <a:srgbClr val="000000"/>
                          </a:solidFill>
                          <a:effectLst/>
                        </a:rPr>
                        <a:t>二、</a:t>
                      </a:r>
                      <a:r>
                        <a:rPr lang="en-US" altLang="zh-CN" sz="800" b="0" i="0" dirty="0">
                          <a:solidFill>
                            <a:srgbClr val="000000"/>
                          </a:solidFill>
                          <a:effectLst/>
                        </a:rPr>
                        <a:t>EDN</a:t>
                      </a:r>
                      <a:r>
                        <a:rPr lang="zh-CN" altLang="en-US" sz="800" b="0" i="0" dirty="0">
                          <a:solidFill>
                            <a:srgbClr val="000000"/>
                          </a:solidFill>
                          <a:effectLst/>
                        </a:rPr>
                        <a:t>价值深化</a:t>
                      </a:r>
                      <a:br>
                        <a:rPr lang="zh-CN" altLang="en-US" sz="800" b="0" i="0" dirty="0">
                          <a:solidFill>
                            <a:srgbClr val="000000"/>
                          </a:solidFill>
                          <a:effectLst/>
                        </a:rPr>
                      </a:br>
                      <a:r>
                        <a:rPr lang="en-US" altLang="zh-CN" sz="800" b="0" i="0" dirty="0">
                          <a:solidFill>
                            <a:srgbClr val="000000"/>
                          </a:solidFill>
                          <a:effectLst/>
                        </a:rPr>
                        <a:t>1</a:t>
                      </a:r>
                      <a:r>
                        <a:rPr lang="zh-CN" altLang="en-US" sz="800" b="0" i="0" dirty="0">
                          <a:solidFill>
                            <a:srgbClr val="000000"/>
                          </a:solidFill>
                          <a:effectLst/>
                        </a:rPr>
                        <a:t>、每周开展金种子进展晾晒，推动选定一线及渠道</a:t>
                      </a:r>
                      <a:r>
                        <a:rPr lang="en-US" altLang="zh-CN" sz="800" b="0" i="0" dirty="0">
                          <a:solidFill>
                            <a:srgbClr val="000000"/>
                          </a:solidFill>
                          <a:effectLst/>
                        </a:rPr>
                        <a:t>50%</a:t>
                      </a:r>
                      <a:r>
                        <a:rPr lang="zh-CN" altLang="en-US" sz="800" b="0" i="0" dirty="0">
                          <a:solidFill>
                            <a:srgbClr val="000000"/>
                          </a:solidFill>
                          <a:effectLst/>
                        </a:rPr>
                        <a:t>获得</a:t>
                      </a:r>
                      <a:r>
                        <a:rPr lang="en-US" altLang="zh-CN" sz="800" b="0" i="0" dirty="0">
                          <a:solidFill>
                            <a:srgbClr val="000000"/>
                          </a:solidFill>
                          <a:effectLst/>
                        </a:rPr>
                        <a:t>EDN</a:t>
                      </a:r>
                      <a:r>
                        <a:rPr lang="zh-CN" altLang="en-US" sz="800" b="0" i="0" dirty="0">
                          <a:solidFill>
                            <a:srgbClr val="000000"/>
                          </a:solidFill>
                          <a:effectLst/>
                        </a:rPr>
                        <a:t>上岗证；</a:t>
                      </a:r>
                      <a:br>
                        <a:rPr lang="zh-CN" altLang="en-US" sz="800" b="0" i="0" dirty="0">
                          <a:solidFill>
                            <a:srgbClr val="000000"/>
                          </a:solidFill>
                          <a:effectLst/>
                        </a:rPr>
                      </a:br>
                      <a:r>
                        <a:rPr lang="en-US" altLang="zh-CN" sz="800" b="0" i="0" dirty="0">
                          <a:solidFill>
                            <a:srgbClr val="000000"/>
                          </a:solidFill>
                          <a:effectLst/>
                        </a:rPr>
                        <a:t>2</a:t>
                      </a:r>
                      <a:r>
                        <a:rPr lang="zh-CN" altLang="en-US" sz="800" b="0" i="0" dirty="0">
                          <a:solidFill>
                            <a:srgbClr val="000000"/>
                          </a:solidFill>
                          <a:effectLst/>
                        </a:rPr>
                        <a:t>、持续开展价值共识和价值交付；完成</a:t>
                      </a:r>
                      <a:r>
                        <a:rPr lang="en-US" altLang="zh-CN" sz="800" b="0" i="0" dirty="0">
                          <a:solidFill>
                            <a:srgbClr val="000000"/>
                          </a:solidFill>
                          <a:effectLst/>
                        </a:rPr>
                        <a:t>3</a:t>
                      </a:r>
                      <a:r>
                        <a:rPr lang="zh-CN" altLang="en-US" sz="800" b="0" i="0" dirty="0">
                          <a:solidFill>
                            <a:srgbClr val="000000"/>
                          </a:solidFill>
                          <a:effectLst/>
                        </a:rPr>
                        <a:t>个客户</a:t>
                      </a:r>
                      <a:r>
                        <a:rPr lang="en-US" altLang="zh-CN" sz="800" b="0" i="0" dirty="0">
                          <a:solidFill>
                            <a:srgbClr val="000000"/>
                          </a:solidFill>
                          <a:effectLst/>
                        </a:rPr>
                        <a:t>DCV</a:t>
                      </a:r>
                      <a:r>
                        <a:rPr lang="zh-CN" altLang="en-US" sz="800" b="0" i="0" dirty="0">
                          <a:solidFill>
                            <a:srgbClr val="000000"/>
                          </a:solidFill>
                          <a:effectLst/>
                        </a:rPr>
                        <a:t>行动验证，输出</a:t>
                      </a:r>
                      <a:r>
                        <a:rPr lang="en-US" altLang="zh-CN" sz="800" b="0" i="0" dirty="0">
                          <a:solidFill>
                            <a:srgbClr val="000000"/>
                          </a:solidFill>
                          <a:effectLst/>
                        </a:rPr>
                        <a:t>《EDN USE CASE</a:t>
                      </a:r>
                      <a:r>
                        <a:rPr lang="zh-CN" altLang="en-US" sz="800" b="0" i="0" dirty="0">
                          <a:solidFill>
                            <a:srgbClr val="000000"/>
                          </a:solidFill>
                          <a:effectLst/>
                        </a:rPr>
                        <a:t>交付指导</a:t>
                      </a:r>
                      <a:r>
                        <a:rPr lang="en-US" altLang="zh-CN" sz="800" b="0" i="0" dirty="0">
                          <a:solidFill>
                            <a:srgbClr val="000000"/>
                          </a:solidFill>
                          <a:effectLst/>
                        </a:rPr>
                        <a:t>》</a:t>
                      </a:r>
                      <a:br>
                        <a:rPr lang="en-US" altLang="zh-CN" sz="800" b="0" i="0" dirty="0">
                          <a:solidFill>
                            <a:srgbClr val="000000"/>
                          </a:solidFill>
                          <a:effectLst/>
                        </a:rPr>
                      </a:br>
                      <a:r>
                        <a:rPr lang="en-US" altLang="zh-CN" sz="800" b="0" i="0" dirty="0">
                          <a:solidFill>
                            <a:srgbClr val="000000"/>
                          </a:solidFill>
                          <a:effectLst/>
                        </a:rPr>
                        <a:t>3</a:t>
                      </a:r>
                      <a:r>
                        <a:rPr lang="zh-CN" altLang="en-US" sz="800" b="0" i="0" dirty="0">
                          <a:solidFill>
                            <a:srgbClr val="000000"/>
                          </a:solidFill>
                          <a:effectLst/>
                        </a:rPr>
                        <a:t>、建设</a:t>
                      </a:r>
                      <a:r>
                        <a:rPr lang="en-US" altLang="zh-CN" sz="800" b="0" i="0" dirty="0">
                          <a:solidFill>
                            <a:srgbClr val="000000"/>
                          </a:solidFill>
                          <a:effectLst/>
                        </a:rPr>
                        <a:t>3</a:t>
                      </a:r>
                      <a:r>
                        <a:rPr lang="zh-CN" altLang="en-US" sz="800" b="0" i="0" dirty="0">
                          <a:solidFill>
                            <a:srgbClr val="000000"/>
                          </a:solidFill>
                          <a:effectLst/>
                        </a:rPr>
                        <a:t>个可参观的</a:t>
                      </a:r>
                      <a:r>
                        <a:rPr lang="en-US" altLang="zh-CN" sz="800" b="0" i="0" dirty="0">
                          <a:solidFill>
                            <a:srgbClr val="000000"/>
                          </a:solidFill>
                          <a:effectLst/>
                        </a:rPr>
                        <a:t>EDN</a:t>
                      </a:r>
                      <a:r>
                        <a:rPr lang="zh-CN" altLang="en-US" sz="800" b="0" i="0" dirty="0">
                          <a:solidFill>
                            <a:srgbClr val="000000"/>
                          </a:solidFill>
                          <a:effectLst/>
                        </a:rPr>
                        <a:t>样板</a:t>
                      </a:r>
                    </a:p>
                  </a:txBody>
                  <a:tcPr marL="72321" marR="72321" marT="36161" marB="361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AFF"/>
                    </a:solidFill>
                  </a:tcPr>
                </a:tc>
                <a:extLst>
                  <a:ext uri="{0D108BD9-81ED-4DB2-BD59-A6C34878D82A}">
                    <a16:rowId xmlns="" xmlns:a16="http://schemas.microsoft.com/office/drawing/2014/main" val="1311275067"/>
                  </a:ext>
                </a:extLst>
              </a:tr>
            </a:tbl>
          </a:graphicData>
        </a:graphic>
      </p:graphicFrame>
      <p:sp>
        <p:nvSpPr>
          <p:cNvPr id="7" name="Rectangle 2">
            <a:extLst>
              <a:ext uri="{FF2B5EF4-FFF2-40B4-BE49-F238E27FC236}">
                <a16:creationId xmlns="" xmlns:a16="http://schemas.microsoft.com/office/drawing/2014/main" id="{A84C01B2-95F2-DF92-AEE6-4CA15A477BEC}"/>
              </a:ext>
            </a:extLst>
          </p:cNvPr>
          <p:cNvSpPr>
            <a:spLocks noChangeArrowheads="1"/>
          </p:cNvSpPr>
          <p:nvPr/>
        </p:nvSpPr>
        <p:spPr bwMode="auto">
          <a:xfrm>
            <a:off x="1292225" y="3239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a:extLst>
              <a:ext uri="{FF2B5EF4-FFF2-40B4-BE49-F238E27FC236}">
                <a16:creationId xmlns="" xmlns:a16="http://schemas.microsoft.com/office/drawing/2014/main" id="{76C92F06-9FEC-E882-CBC6-E4419F18C31F}"/>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white"/>
                </a:solidFill>
                <a:effectLst/>
                <a:uLnTx/>
                <a:uFillTx/>
                <a:latin typeface="Calibri"/>
                <a:ea typeface="宋体"/>
                <a:cs typeface="+mn-cs"/>
              </a:rPr>
              <a:t>隋媛</a:t>
            </a:r>
            <a:endParaRPr kumimoji="0" lang="zh-CN" altLang="en-US" sz="1800" b="0" i="0" u="none" strike="noStrike" kern="1200" cap="none" spc="0" normalizeH="0" baseline="0" noProof="0" dirty="0">
              <a:ln>
                <a:noFill/>
              </a:ln>
              <a:solidFill>
                <a:prstClr val="white"/>
              </a:solidFill>
              <a:effectLst/>
              <a:uLnTx/>
              <a:uFillTx/>
              <a:latin typeface="Calibri"/>
              <a:ea typeface="宋体"/>
              <a:cs typeface="+mn-cs"/>
            </a:endParaRPr>
          </a:p>
        </p:txBody>
      </p:sp>
    </p:spTree>
    <p:extLst>
      <p:ext uri="{BB962C8B-B14F-4D97-AF65-F5344CB8AC3E}">
        <p14:creationId xmlns:p14="http://schemas.microsoft.com/office/powerpoint/2010/main" val="3468321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638175" y="323850"/>
            <a:ext cx="10173970" cy="752475"/>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a:t>
            </a:r>
            <a:r>
              <a:rPr kumimoji="1" lang="en-US" altLang="zh-CN" sz="2965" b="1" dirty="0">
                <a:solidFill>
                  <a:srgbClr val="E60039"/>
                </a:solidFill>
                <a:latin typeface="微软雅黑" panose="020B0503020204020204" charset="-122"/>
                <a:ea typeface="微软雅黑" panose="020B0503020204020204" charset="-122"/>
              </a:rPr>
              <a:t>MTCV</a:t>
            </a:r>
            <a:r>
              <a:rPr kumimoji="1" lang="zh-CN" altLang="en-US" sz="2965" b="1" dirty="0">
                <a:solidFill>
                  <a:srgbClr val="E60039"/>
                </a:solidFill>
                <a:latin typeface="微软雅黑" panose="020B0503020204020204" charset="-122"/>
                <a:ea typeface="微软雅黑" panose="020B0503020204020204" charset="-122"/>
              </a:rPr>
              <a:t>流程打造</a:t>
            </a:r>
            <a:r>
              <a:rPr kumimoji="1" lang="en-US" altLang="zh-CN" sz="2965" b="1" dirty="0">
                <a:solidFill>
                  <a:srgbClr val="E60039"/>
                </a:solidFill>
                <a:latin typeface="微软雅黑" panose="020B0503020204020204" charset="-122"/>
                <a:ea typeface="微软雅黑" panose="020B0503020204020204" charset="-122"/>
              </a:rPr>
              <a:t>2.0</a:t>
            </a:r>
            <a:r>
              <a:rPr kumimoji="1" lang="zh-CN" altLang="en-US" sz="2965" b="1" dirty="0">
                <a:solidFill>
                  <a:srgbClr val="E60039"/>
                </a:solidFill>
                <a:latin typeface="微软雅黑" panose="020B0503020204020204" charset="-122"/>
                <a:ea typeface="微软雅黑" panose="020B0503020204020204" charset="-122"/>
              </a:rPr>
              <a:t>”</a:t>
            </a:r>
            <a:r>
              <a:rPr kumimoji="1" lang="zh-CN" altLang="en-US" sz="2965" b="1" dirty="0" smtClean="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sym typeface="+mn-ea"/>
              </a:rPr>
              <a:t>任务</a:t>
            </a:r>
            <a:r>
              <a:rPr kumimoji="1" lang="en-US" altLang="zh-CN" sz="2965" b="1" dirty="0">
                <a:solidFill>
                  <a:srgbClr val="E60039"/>
                </a:solidFill>
                <a:latin typeface="微软雅黑" panose="020B0503020204020204" charset="-122"/>
                <a:ea typeface="微软雅黑" panose="020B0503020204020204" charset="-122"/>
                <a:sym typeface="+mn-ea"/>
              </a:rPr>
              <a:t>-Q1</a:t>
            </a:r>
            <a:r>
              <a:rPr kumimoji="1" lang="zh-CN" altLang="en-US" sz="2965" b="1" dirty="0">
                <a:solidFill>
                  <a:srgbClr val="E60039"/>
                </a:solidFill>
                <a:latin typeface="微软雅黑" panose="020B0503020204020204" charset="-122"/>
                <a:ea typeface="微软雅黑" panose="020B0503020204020204" charset="-122"/>
                <a:sym typeface="+mn-ea"/>
              </a:rPr>
              <a:t>季度执行反思</a:t>
            </a:r>
            <a:endParaRPr kumimoji="1" lang="en-US" altLang="zh-CN" sz="2965" b="1" dirty="0">
              <a:solidFill>
                <a:srgbClr val="E60039"/>
              </a:solidFill>
              <a:latin typeface="微软雅黑" panose="020B0503020204020204" charset="-122"/>
              <a:ea typeface="微软雅黑" panose="020B0503020204020204" charset="-122"/>
              <a:sym typeface="+mn-ea"/>
            </a:endParaRPr>
          </a:p>
        </p:txBody>
      </p:sp>
      <p:sp>
        <p:nvSpPr>
          <p:cNvPr id="6" name="文本框 5"/>
          <p:cNvSpPr txBox="1"/>
          <p:nvPr/>
        </p:nvSpPr>
        <p:spPr>
          <a:xfrm>
            <a:off x="1541701" y="1959080"/>
            <a:ext cx="9469583"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目标是否达成？</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好的地方在哪里？</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哪里需要加强？</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哪里还有不足？追赶策略设计</a:t>
            </a:r>
          </a:p>
        </p:txBody>
      </p:sp>
      <p:sp>
        <p:nvSpPr>
          <p:cNvPr id="4" name="矩形 3">
            <a:extLst>
              <a:ext uri="{FF2B5EF4-FFF2-40B4-BE49-F238E27FC236}">
                <a16:creationId xmlns="" xmlns:a16="http://schemas.microsoft.com/office/drawing/2014/main" id="{38BFBC83-1621-B3F4-99DD-59360ABEBEAE}"/>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沙书</a:t>
            </a:r>
            <a:r>
              <a:rPr lang="zh-CN" altLang="en-US" dirty="0" smtClean="0"/>
              <a:t>立</a:t>
            </a:r>
            <a:endParaRPr lang="en-US" altLang="zh-CN" dirty="0" smtClean="0"/>
          </a:p>
          <a:p>
            <a:pPr algn="ctr"/>
            <a:r>
              <a:rPr lang="zh-CN" altLang="en-US" dirty="0"/>
              <a:t>赵波</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B058B0F-8670-EF1C-BDDD-9C6632792A43}"/>
            </a:ext>
          </a:extLst>
        </p:cNvPr>
        <p:cNvGrpSpPr/>
        <p:nvPr/>
      </p:nvGrpSpPr>
      <p:grpSpPr>
        <a:xfrm>
          <a:off x="0" y="0"/>
          <a:ext cx="0" cy="0"/>
          <a:chOff x="0" y="0"/>
          <a:chExt cx="0" cy="0"/>
        </a:xfrm>
      </p:grpSpPr>
      <p:sp>
        <p:nvSpPr>
          <p:cNvPr id="2" name="文本框 1">
            <a:extLst>
              <a:ext uri="{FF2B5EF4-FFF2-40B4-BE49-F238E27FC236}">
                <a16:creationId xmlns="" xmlns:a16="http://schemas.microsoft.com/office/drawing/2014/main" id="{AA34AEE2-1FDC-9D25-1303-B7CB27F21411}"/>
              </a:ext>
            </a:extLst>
          </p:cNvPr>
          <p:cNvSpPr txBox="1"/>
          <p:nvPr>
            <p:custDataLst>
              <p:tags r:id="rId1"/>
            </p:custDataLst>
          </p:nvPr>
        </p:nvSpPr>
        <p:spPr>
          <a:xfrm>
            <a:off x="638175" y="323850"/>
            <a:ext cx="10657205" cy="752475"/>
          </a:xfrm>
          <a:prstGeom prst="rect">
            <a:avLst/>
          </a:prstGeom>
          <a:noFill/>
        </p:spPr>
        <p:txBody>
          <a:bodyPr wrap="square" rtlCol="0">
            <a:noAutofit/>
          </a:bodyPr>
          <a:lstStyle/>
          <a:p>
            <a:pPr lvl="0">
              <a:defRPr/>
            </a:pPr>
            <a:r>
              <a:rPr kumimoji="1" lang="zh-CN" altLang="en-US" sz="2965" b="1" dirty="0">
                <a:solidFill>
                  <a:srgbClr val="E60039"/>
                </a:solidFill>
                <a:latin typeface="微软雅黑" panose="020B0503020204020204" charset="-122"/>
                <a:ea typeface="微软雅黑" panose="020B0503020204020204" charset="-122"/>
              </a:rPr>
              <a:t>“</a:t>
            </a:r>
            <a:r>
              <a:rPr kumimoji="1" lang="en-US" altLang="zh-CN" sz="2965" b="1" dirty="0">
                <a:solidFill>
                  <a:srgbClr val="E60039"/>
                </a:solidFill>
                <a:latin typeface="微软雅黑" panose="020B0503020204020204" charset="-122"/>
                <a:ea typeface="微软雅黑" panose="020B0503020204020204" charset="-122"/>
              </a:rPr>
              <a:t>MTCV</a:t>
            </a:r>
            <a:r>
              <a:rPr kumimoji="1" lang="zh-CN" altLang="en-US" sz="2965" b="1" dirty="0">
                <a:solidFill>
                  <a:srgbClr val="E60039"/>
                </a:solidFill>
                <a:latin typeface="微软雅黑" panose="020B0503020204020204" charset="-122"/>
                <a:ea typeface="微软雅黑" panose="020B0503020204020204" charset="-122"/>
              </a:rPr>
              <a:t>流程打造</a:t>
            </a:r>
            <a:r>
              <a:rPr kumimoji="1" lang="en-US" altLang="zh-CN" sz="2965" b="1" dirty="0">
                <a:solidFill>
                  <a:srgbClr val="E60039"/>
                </a:solidFill>
                <a:latin typeface="微软雅黑" panose="020B0503020204020204" charset="-122"/>
                <a:ea typeface="微软雅黑" panose="020B0503020204020204" charset="-122"/>
              </a:rPr>
              <a:t>2.0</a:t>
            </a:r>
            <a:r>
              <a:rPr kumimoji="1" lang="zh-CN" altLang="en-US" sz="2965" b="1" dirty="0">
                <a:solidFill>
                  <a:srgbClr val="E60039"/>
                </a:solidFill>
                <a:latin typeface="微软雅黑" panose="020B0503020204020204" charset="-122"/>
                <a:ea typeface="微软雅黑" panose="020B0503020204020204" charset="-122"/>
              </a:rPr>
              <a:t>”</a:t>
            </a:r>
            <a:r>
              <a:rPr kumimoji="1" lang="zh-CN" altLang="en-US" sz="2965" b="1" dirty="0" smtClean="0">
                <a:solidFill>
                  <a:srgbClr val="E60039"/>
                </a:solidFill>
                <a:latin typeface="微软雅黑" panose="020B0503020204020204" charset="-122"/>
                <a:ea typeface="微软雅黑" panose="020B0503020204020204" charset="-122"/>
                <a:sym typeface="+mn-ea"/>
              </a:rPr>
              <a:t>关键</a:t>
            </a:r>
            <a:r>
              <a:rPr kumimoji="1" lang="zh-CN" altLang="en-US" sz="2965" b="1" dirty="0">
                <a:solidFill>
                  <a:srgbClr val="E60039"/>
                </a:solidFill>
                <a:latin typeface="微软雅黑" panose="020B0503020204020204" charset="-122"/>
                <a:ea typeface="微软雅黑" panose="020B0503020204020204" charset="-122"/>
                <a:sym typeface="+mn-ea"/>
              </a:rPr>
              <a:t>任务</a:t>
            </a:r>
            <a:r>
              <a:rPr kumimoji="1" lang="en-US" altLang="zh-CN"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绩效改善课题</a:t>
            </a:r>
            <a:r>
              <a:rPr kumimoji="1" lang="en-US" altLang="zh-CN"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A3</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a:t>
            </a:r>
            <a:r>
              <a:rPr kumimoji="1" lang="en-US" altLang="zh-CN" sz="2965" b="1" dirty="0">
                <a:solidFill>
                  <a:srgbClr val="E60039"/>
                </a:solidFill>
                <a:latin typeface="微软雅黑" panose="020B0503020204020204" charset="-122"/>
                <a:ea typeface="微软雅黑" panose="020B0503020204020204" charset="-122"/>
                <a:sym typeface="+mn-ea"/>
              </a:rPr>
              <a:t>3</a:t>
            </a:r>
            <a:r>
              <a:rPr kumimoji="1" lang="zh-CN" altLang="en-US" sz="2965" b="1" i="0" u="none" strike="noStrike" kern="1200" cap="none" spc="0" normalizeH="0" baseline="0" noProof="0" dirty="0">
                <a:ln>
                  <a:noFill/>
                </a:ln>
                <a:solidFill>
                  <a:srgbClr val="E60039"/>
                </a:solidFill>
                <a:effectLst/>
                <a:uLnTx/>
                <a:uFillTx/>
                <a:latin typeface="微软雅黑" panose="020B0503020204020204" charset="-122"/>
                <a:ea typeface="微软雅黑" panose="020B0503020204020204" charset="-122"/>
                <a:cs typeface="+mn-cs"/>
                <a:sym typeface="+mn-ea"/>
              </a:rPr>
              <a:t>个以内）</a:t>
            </a:r>
          </a:p>
        </p:txBody>
      </p:sp>
      <p:graphicFrame>
        <p:nvGraphicFramePr>
          <p:cNvPr id="3" name="表格 2">
            <a:extLst>
              <a:ext uri="{FF2B5EF4-FFF2-40B4-BE49-F238E27FC236}">
                <a16:creationId xmlns="" xmlns:a16="http://schemas.microsoft.com/office/drawing/2014/main" id="{CA547E8D-05A5-7AD5-D68C-66F0429F9E93}"/>
              </a:ext>
            </a:extLst>
          </p:cNvPr>
          <p:cNvGraphicFramePr>
            <a:graphicFrameLocks noGrp="1"/>
          </p:cNvGraphicFramePr>
          <p:nvPr>
            <p:extLst>
              <p:ext uri="{D42A27DB-BD31-4B8C-83A1-F6EECF244321}">
                <p14:modId xmlns:p14="http://schemas.microsoft.com/office/powerpoint/2010/main" val="1001744331"/>
              </p:ext>
            </p:extLst>
          </p:nvPr>
        </p:nvGraphicFramePr>
        <p:xfrm>
          <a:off x="821267" y="1185332"/>
          <a:ext cx="10270065" cy="4894222"/>
        </p:xfrm>
        <a:graphic>
          <a:graphicData uri="http://schemas.openxmlformats.org/drawingml/2006/table">
            <a:tbl>
              <a:tblPr/>
              <a:tblGrid>
                <a:gridCol w="1141117">
                  <a:extLst>
                    <a:ext uri="{9D8B030D-6E8A-4147-A177-3AD203B41FA5}">
                      <a16:colId xmlns="" xmlns:a16="http://schemas.microsoft.com/office/drawing/2014/main" val="3284245315"/>
                    </a:ext>
                  </a:extLst>
                </a:gridCol>
                <a:gridCol w="4683949">
                  <a:extLst>
                    <a:ext uri="{9D8B030D-6E8A-4147-A177-3AD203B41FA5}">
                      <a16:colId xmlns="" xmlns:a16="http://schemas.microsoft.com/office/drawing/2014/main" val="1077569089"/>
                    </a:ext>
                  </a:extLst>
                </a:gridCol>
                <a:gridCol w="4444999">
                  <a:extLst>
                    <a:ext uri="{9D8B030D-6E8A-4147-A177-3AD203B41FA5}">
                      <a16:colId xmlns="" xmlns:a16="http://schemas.microsoft.com/office/drawing/2014/main" val="2220658268"/>
                    </a:ext>
                  </a:extLst>
                </a:gridCol>
              </a:tblGrid>
              <a:tr h="392334">
                <a:tc>
                  <a:txBody>
                    <a:bodyPr/>
                    <a:lstStyle/>
                    <a:p>
                      <a:pPr algn="ctr" fontAlgn="ctr" latinLnBrk="0"/>
                      <a:r>
                        <a:rPr lang="zh-CN" altLang="en-US" sz="900" b="1" i="0" dirty="0">
                          <a:solidFill>
                            <a:srgbClr val="000000"/>
                          </a:solidFill>
                          <a:effectLst/>
                          <a:latin typeface="微软雅黑" panose="020B0503020204020204" pitchFamily="34" charset="-122"/>
                          <a:ea typeface="微软雅黑" panose="020B0503020204020204" pitchFamily="34" charset="-122"/>
                        </a:rPr>
                        <a:t>项目名称（改善课题）</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r>
                        <a:rPr lang="zh-CN" altLang="en-US" sz="900" b="0" i="1" dirty="0">
                          <a:solidFill>
                            <a:srgbClr val="808080"/>
                          </a:solidFill>
                          <a:effectLst/>
                          <a:latin typeface="微软雅黑" panose="020B0503020204020204" pitchFamily="34" charset="-122"/>
                          <a:ea typeface="微软雅黑" panose="020B0503020204020204" pitchFamily="34" charset="-122"/>
                        </a:rPr>
                        <a:t>项目名称：提升</a:t>
                      </a:r>
                      <a:r>
                        <a:rPr lang="en-US" altLang="zh-CN" sz="900" b="0" i="1" dirty="0">
                          <a:solidFill>
                            <a:srgbClr val="808080"/>
                          </a:solidFill>
                          <a:effectLst/>
                          <a:latin typeface="微软雅黑" panose="020B0503020204020204" pitchFamily="34" charset="-122"/>
                          <a:ea typeface="微软雅黑" panose="020B0503020204020204" pitchFamily="34" charset="-122"/>
                        </a:rPr>
                        <a:t>/</a:t>
                      </a:r>
                      <a:r>
                        <a:rPr lang="zh-CN" altLang="en-US" sz="900" b="0" i="1" dirty="0">
                          <a:solidFill>
                            <a:srgbClr val="808080"/>
                          </a:solidFill>
                          <a:effectLst/>
                          <a:latin typeface="微软雅黑" panose="020B0503020204020204" pitchFamily="34" charset="-122"/>
                          <a:ea typeface="微软雅黑" panose="020B0503020204020204" pitchFamily="34" charset="-122"/>
                        </a:rPr>
                        <a:t>降低</a:t>
                      </a:r>
                      <a:r>
                        <a:rPr lang="en-US" altLang="zh-CN" sz="900" b="0" i="1" dirty="0">
                          <a:solidFill>
                            <a:srgbClr val="808080"/>
                          </a:solidFill>
                          <a:effectLst/>
                          <a:latin typeface="微软雅黑" panose="020B0503020204020204" pitchFamily="34" charset="-122"/>
                          <a:ea typeface="微软雅黑" panose="020B0503020204020204" pitchFamily="34" charset="-122"/>
                        </a:rPr>
                        <a:t>/</a:t>
                      </a:r>
                      <a:r>
                        <a:rPr lang="zh-CN" altLang="en-US" sz="900" b="0" i="1" dirty="0">
                          <a:solidFill>
                            <a:srgbClr val="808080"/>
                          </a:solidFill>
                          <a:effectLst/>
                          <a:latin typeface="微软雅黑" panose="020B0503020204020204" pitchFamily="34" charset="-122"/>
                          <a:ea typeface="微软雅黑" panose="020B0503020204020204" pitchFamily="34" charset="-122"/>
                        </a:rPr>
                        <a:t>改善（解决什么课题）</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1" dirty="0">
                        <a:solidFill>
                          <a:srgbClr val="80808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78856163"/>
                  </a:ext>
                </a:extLst>
              </a:tr>
              <a:tr h="178334">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负责人</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endParaRPr lang="zh-CN" altLang="en-US" sz="900" b="0" i="0">
                        <a:solidFill>
                          <a:srgbClr val="00000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0">
                        <a:solidFill>
                          <a:srgbClr val="00000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615130202"/>
                  </a:ext>
                </a:extLst>
              </a:tr>
              <a:tr h="392334">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预估项目周期（</a:t>
                      </a:r>
                      <a:r>
                        <a:rPr lang="en-US" altLang="zh-CN" sz="900" b="1" i="0">
                          <a:solidFill>
                            <a:srgbClr val="000000"/>
                          </a:solidFill>
                          <a:effectLst/>
                          <a:latin typeface="微软雅黑" panose="020B0503020204020204" pitchFamily="34" charset="-122"/>
                          <a:ea typeface="微软雅黑" panose="020B0503020204020204" pitchFamily="34" charset="-122"/>
                        </a:rPr>
                        <a:t>X</a:t>
                      </a:r>
                      <a:r>
                        <a:rPr lang="zh-CN" altLang="en-US" sz="900" b="1" i="0">
                          <a:solidFill>
                            <a:srgbClr val="000000"/>
                          </a:solidFill>
                          <a:effectLst/>
                          <a:latin typeface="微软雅黑" panose="020B0503020204020204" pitchFamily="34" charset="-122"/>
                          <a:ea typeface="微软雅黑" panose="020B0503020204020204" pitchFamily="34" charset="-122"/>
                        </a:rPr>
                        <a:t>个月）</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endParaRPr lang="zh-CN" altLang="en-US" sz="900" b="0" i="0">
                        <a:solidFill>
                          <a:srgbClr val="00000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0">
                        <a:solidFill>
                          <a:srgbClr val="00000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10932122"/>
                  </a:ext>
                </a:extLst>
              </a:tr>
              <a:tr h="499334">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背景</a:t>
                      </a:r>
                      <a:br>
                        <a:rPr lang="zh-CN" altLang="en-US" sz="900" b="1" i="0">
                          <a:solidFill>
                            <a:srgbClr val="000000"/>
                          </a:solidFill>
                          <a:effectLst/>
                          <a:latin typeface="微软雅黑" panose="020B0503020204020204" pitchFamily="34" charset="-122"/>
                          <a:ea typeface="微软雅黑" panose="020B0503020204020204" pitchFamily="34" charset="-122"/>
                        </a:rPr>
                      </a:br>
                      <a:r>
                        <a:rPr lang="zh-CN" altLang="en-US" sz="900" b="1" i="0">
                          <a:solidFill>
                            <a:srgbClr val="000000"/>
                          </a:solidFill>
                          <a:effectLst/>
                          <a:latin typeface="微软雅黑" panose="020B0503020204020204" pitchFamily="34" charset="-122"/>
                          <a:ea typeface="微软雅黑" panose="020B0503020204020204" pitchFamily="34" charset="-122"/>
                        </a:rPr>
                        <a:t>（体现影响</a:t>
                      </a:r>
                      <a:r>
                        <a:rPr lang="en-US" altLang="zh-CN" sz="900" b="1" i="0">
                          <a:solidFill>
                            <a:srgbClr val="000000"/>
                          </a:solidFill>
                          <a:effectLst/>
                          <a:latin typeface="微软雅黑" panose="020B0503020204020204" pitchFamily="34" charset="-122"/>
                          <a:ea typeface="微软雅黑" panose="020B0503020204020204" pitchFamily="34" charset="-122"/>
                        </a:rPr>
                        <a:t>&amp;</a:t>
                      </a:r>
                      <a:r>
                        <a:rPr lang="zh-CN" altLang="en-US" sz="900" b="1" i="0">
                          <a:solidFill>
                            <a:srgbClr val="000000"/>
                          </a:solidFill>
                          <a:effectLst/>
                          <a:latin typeface="微软雅黑" panose="020B0503020204020204" pitchFamily="34" charset="-122"/>
                          <a:ea typeface="微软雅黑" panose="020B0503020204020204" pitchFamily="34" charset="-122"/>
                        </a:rPr>
                        <a:t>价值）</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r>
                        <a:rPr lang="zh-CN" altLang="en-US" sz="900" b="0" i="1">
                          <a:solidFill>
                            <a:srgbClr val="8F959E"/>
                          </a:solidFill>
                          <a:effectLst/>
                          <a:latin typeface="微软雅黑" panose="020B0503020204020204" pitchFamily="34" charset="-122"/>
                          <a:ea typeface="微软雅黑" panose="020B0503020204020204" pitchFamily="34" charset="-122"/>
                        </a:rPr>
                        <a:t>背景往往是我们用眼睛看到的差距信息，而不是真正的问题</a:t>
                      </a:r>
                      <a:br>
                        <a:rPr lang="zh-CN" altLang="en-US" sz="900" b="0" i="1">
                          <a:solidFill>
                            <a:srgbClr val="8F959E"/>
                          </a:solidFill>
                          <a:effectLst/>
                          <a:latin typeface="微软雅黑" panose="020B0503020204020204" pitchFamily="34" charset="-122"/>
                          <a:ea typeface="微软雅黑" panose="020B0503020204020204" pitchFamily="34" charset="-122"/>
                        </a:rPr>
                      </a:br>
                      <a:r>
                        <a:rPr lang="zh-CN" altLang="en-US" sz="900" b="0" i="1">
                          <a:solidFill>
                            <a:srgbClr val="8F959E"/>
                          </a:solidFill>
                          <a:effectLst/>
                          <a:latin typeface="微软雅黑" panose="020B0503020204020204" pitchFamily="34" charset="-122"/>
                          <a:ea typeface="微软雅黑" panose="020B0503020204020204" pitchFamily="34" charset="-122"/>
                        </a:rPr>
                        <a:t>为什么要做这个课题？有什么差距，这个差距有什么影响（对内外客户、对组织战略、对自身业务），解决后带来什么价值（对公司对客户的帮助或提升）？用事实和数据说话！</a:t>
                      </a:r>
                      <a:br>
                        <a:rPr lang="zh-CN" altLang="en-US" sz="900" b="0" i="1">
                          <a:solidFill>
                            <a:srgbClr val="8F959E"/>
                          </a:solidFill>
                          <a:effectLst/>
                          <a:latin typeface="微软雅黑" panose="020B0503020204020204" pitchFamily="34" charset="-122"/>
                          <a:ea typeface="微软雅黑" panose="020B0503020204020204" pitchFamily="34" charset="-122"/>
                        </a:rPr>
                      </a:br>
                      <a:r>
                        <a:rPr lang="en-US" altLang="zh-CN" sz="900" b="0" i="1">
                          <a:solidFill>
                            <a:srgbClr val="8F959E"/>
                          </a:solidFill>
                          <a:effectLst/>
                          <a:latin typeface="微软雅黑" panose="020B0503020204020204" pitchFamily="34" charset="-122"/>
                          <a:ea typeface="微软雅黑" panose="020B0503020204020204" pitchFamily="34" charset="-122"/>
                        </a:rPr>
                        <a:t>PS</a:t>
                      </a:r>
                      <a:r>
                        <a:rPr lang="zh-CN" altLang="en-US" sz="900" b="0" i="1">
                          <a:solidFill>
                            <a:srgbClr val="8F959E"/>
                          </a:solidFill>
                          <a:effectLst/>
                          <a:latin typeface="微软雅黑" panose="020B0503020204020204" pitchFamily="34" charset="-122"/>
                          <a:ea typeface="微软雅黑" panose="020B0503020204020204" pitchFamily="34" charset="-122"/>
                        </a:rPr>
                        <a:t>：若有相关图表可另外增加</a:t>
                      </a:r>
                      <a:r>
                        <a:rPr lang="en-US" altLang="zh-CN" sz="900" b="0" i="1">
                          <a:solidFill>
                            <a:srgbClr val="8F959E"/>
                          </a:solidFill>
                          <a:effectLst/>
                          <a:latin typeface="微软雅黑" panose="020B0503020204020204" pitchFamily="34" charset="-122"/>
                          <a:ea typeface="微软雅黑" panose="020B0503020204020204" pitchFamily="34" charset="-122"/>
                        </a:rPr>
                        <a:t>sheet</a:t>
                      </a:r>
                      <a:r>
                        <a:rPr lang="zh-CN" altLang="en-US" sz="900" b="0" i="1">
                          <a:solidFill>
                            <a:srgbClr val="8F959E"/>
                          </a:solidFill>
                          <a:effectLst/>
                          <a:latin typeface="微软雅黑" panose="020B0503020204020204" pitchFamily="34" charset="-122"/>
                          <a:ea typeface="微软雅黑" panose="020B0503020204020204" pitchFamily="34" charset="-122"/>
                        </a:rPr>
                        <a:t>补充</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1">
                        <a:solidFill>
                          <a:srgbClr val="8F959E"/>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87941333"/>
                  </a:ext>
                </a:extLst>
              </a:tr>
              <a:tr h="499334">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支援团队（协同解决问题的团队）</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endParaRPr lang="zh-CN" altLang="en-US" sz="900" b="0" i="1" dirty="0">
                        <a:solidFill>
                          <a:srgbClr val="80808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1">
                        <a:solidFill>
                          <a:srgbClr val="80808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52570063"/>
                  </a:ext>
                </a:extLst>
              </a:tr>
              <a:tr h="499334">
                <a:tc>
                  <a:txBody>
                    <a:bodyPr/>
                    <a:lstStyle/>
                    <a:p>
                      <a:pPr algn="ctr" fontAlgn="ctr" latinLnBrk="0"/>
                      <a:r>
                        <a:rPr lang="zh-CN" altLang="en-US" sz="900" b="1" i="0">
                          <a:solidFill>
                            <a:srgbClr val="FF0000"/>
                          </a:solidFill>
                          <a:effectLst/>
                          <a:latin typeface="微软雅黑" panose="020B0503020204020204" pitchFamily="34" charset="-122"/>
                          <a:ea typeface="微软雅黑" panose="020B0503020204020204" pitchFamily="34" charset="-122"/>
                        </a:rPr>
                        <a:t>现状</a:t>
                      </a:r>
                      <a:br>
                        <a:rPr lang="zh-CN" altLang="en-US" sz="900" b="1" i="0">
                          <a:solidFill>
                            <a:srgbClr val="FF0000"/>
                          </a:solidFill>
                          <a:effectLst/>
                          <a:latin typeface="微软雅黑" panose="020B0503020204020204" pitchFamily="34" charset="-122"/>
                          <a:ea typeface="微软雅黑" panose="020B0503020204020204" pitchFamily="34" charset="-122"/>
                        </a:rPr>
                      </a:br>
                      <a:r>
                        <a:rPr lang="zh-CN" altLang="en-US" sz="900" b="1" i="0">
                          <a:solidFill>
                            <a:srgbClr val="FF0000"/>
                          </a:solidFill>
                          <a:effectLst/>
                          <a:latin typeface="微软雅黑" panose="020B0503020204020204" pitchFamily="34" charset="-122"/>
                          <a:ea typeface="微软雅黑" panose="020B0503020204020204" pitchFamily="34" charset="-122"/>
                        </a:rPr>
                        <a:t>（找到问题）</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r>
                        <a:rPr lang="en-US" altLang="zh-CN" sz="900" b="0" i="1">
                          <a:solidFill>
                            <a:srgbClr val="8F959E"/>
                          </a:solidFill>
                          <a:effectLst/>
                          <a:latin typeface="微软雅黑" panose="020B0503020204020204" pitchFamily="34" charset="-122"/>
                          <a:ea typeface="微软雅黑" panose="020B0503020204020204" pitchFamily="34" charset="-122"/>
                        </a:rPr>
                        <a:t>•</a:t>
                      </a:r>
                      <a:r>
                        <a:rPr lang="zh-CN" altLang="en-US" sz="900" b="0" i="1">
                          <a:solidFill>
                            <a:srgbClr val="8F959E"/>
                          </a:solidFill>
                          <a:effectLst/>
                          <a:latin typeface="微软雅黑" panose="020B0503020204020204" pitchFamily="34" charset="-122"/>
                          <a:ea typeface="微软雅黑" panose="020B0503020204020204" pitchFamily="34" charset="-122"/>
                        </a:rPr>
                        <a:t>先定分析逻辑思路，目的是全面分析，不遗漏</a:t>
                      </a:r>
                      <a:br>
                        <a:rPr lang="zh-CN" altLang="en-US" sz="900" b="0" i="1">
                          <a:solidFill>
                            <a:srgbClr val="8F959E"/>
                          </a:solidFill>
                          <a:effectLst/>
                          <a:latin typeface="微软雅黑" panose="020B0503020204020204" pitchFamily="34" charset="-122"/>
                          <a:ea typeface="微软雅黑" panose="020B0503020204020204" pitchFamily="34" charset="-122"/>
                        </a:rPr>
                      </a:br>
                      <a:r>
                        <a:rPr lang="en-US" altLang="zh-CN" sz="900" b="0" i="1">
                          <a:solidFill>
                            <a:srgbClr val="8F959E"/>
                          </a:solidFill>
                          <a:effectLst/>
                          <a:latin typeface="微软雅黑" panose="020B0503020204020204" pitchFamily="34" charset="-122"/>
                          <a:ea typeface="微软雅黑" panose="020B0503020204020204" pitchFamily="34" charset="-122"/>
                        </a:rPr>
                        <a:t>•</a:t>
                      </a:r>
                      <a:r>
                        <a:rPr lang="zh-CN" altLang="en-US" sz="900" b="0" i="1">
                          <a:solidFill>
                            <a:srgbClr val="8F959E"/>
                          </a:solidFill>
                          <a:effectLst/>
                          <a:latin typeface="微软雅黑" panose="020B0503020204020204" pitchFamily="34" charset="-122"/>
                          <a:ea typeface="微软雅黑" panose="020B0503020204020204" pitchFamily="34" charset="-122"/>
                        </a:rPr>
                        <a:t>到现场，指：数据、流程、员工工作现场，杜绝经验主义</a:t>
                      </a:r>
                      <a:br>
                        <a:rPr lang="zh-CN" altLang="en-US" sz="900" b="0" i="1">
                          <a:solidFill>
                            <a:srgbClr val="8F959E"/>
                          </a:solidFill>
                          <a:effectLst/>
                          <a:latin typeface="微软雅黑" panose="020B0503020204020204" pitchFamily="34" charset="-122"/>
                          <a:ea typeface="微软雅黑" panose="020B0503020204020204" pitchFamily="34" charset="-122"/>
                        </a:rPr>
                      </a:br>
                      <a:r>
                        <a:rPr lang="en-US" altLang="zh-CN" sz="900" b="0" i="1">
                          <a:solidFill>
                            <a:srgbClr val="8F959E"/>
                          </a:solidFill>
                          <a:effectLst/>
                          <a:latin typeface="微软雅黑" panose="020B0503020204020204" pitchFamily="34" charset="-122"/>
                          <a:ea typeface="微软雅黑" panose="020B0503020204020204" pitchFamily="34" charset="-122"/>
                        </a:rPr>
                        <a:t>PS</a:t>
                      </a:r>
                      <a:r>
                        <a:rPr lang="zh-CN" altLang="en-US" sz="900" b="0" i="1">
                          <a:solidFill>
                            <a:srgbClr val="8F959E"/>
                          </a:solidFill>
                          <a:effectLst/>
                          <a:latin typeface="微软雅黑" panose="020B0503020204020204" pitchFamily="34" charset="-122"/>
                          <a:ea typeface="微软雅黑" panose="020B0503020204020204" pitchFamily="34" charset="-122"/>
                        </a:rPr>
                        <a:t>：若有相关图表可另外增</a:t>
                      </a:r>
                      <a:r>
                        <a:rPr lang="en-US" altLang="zh-CN" sz="900" b="0" i="1">
                          <a:solidFill>
                            <a:srgbClr val="8F959E"/>
                          </a:solidFill>
                          <a:effectLst/>
                          <a:latin typeface="微软雅黑" panose="020B0503020204020204" pitchFamily="34" charset="-122"/>
                          <a:ea typeface="微软雅黑" panose="020B0503020204020204" pitchFamily="34" charset="-122"/>
                        </a:rPr>
                        <a:t>sheet</a:t>
                      </a:r>
                      <a:r>
                        <a:rPr lang="zh-CN" altLang="en-US" sz="900" b="0" i="1">
                          <a:solidFill>
                            <a:srgbClr val="8F959E"/>
                          </a:solidFill>
                          <a:effectLst/>
                          <a:latin typeface="微软雅黑" panose="020B0503020204020204" pitchFamily="34" charset="-122"/>
                          <a:ea typeface="微软雅黑" panose="020B0503020204020204" pitchFamily="34" charset="-122"/>
                        </a:rPr>
                        <a:t>补充</a:t>
                      </a:r>
                      <a:br>
                        <a:rPr lang="zh-CN" altLang="en-US" sz="900" b="0" i="1">
                          <a:solidFill>
                            <a:srgbClr val="8F959E"/>
                          </a:solidFill>
                          <a:effectLst/>
                          <a:latin typeface="微软雅黑" panose="020B0503020204020204" pitchFamily="34" charset="-122"/>
                          <a:ea typeface="微软雅黑" panose="020B0503020204020204" pitchFamily="34" charset="-122"/>
                        </a:rPr>
                      </a:br>
                      <a:r>
                        <a:rPr lang="zh-CN" altLang="en-US" sz="900" b="0" i="1">
                          <a:solidFill>
                            <a:srgbClr val="8F959E"/>
                          </a:solidFill>
                          <a:effectLst/>
                          <a:latin typeface="微软雅黑" panose="020B0503020204020204" pitchFamily="34" charset="-122"/>
                          <a:ea typeface="微软雅黑" panose="020B0503020204020204" pitchFamily="34" charset="-122"/>
                        </a:rPr>
                        <a:t>最终总结问题是什么：问题是理想与现实的差距</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1">
                        <a:solidFill>
                          <a:srgbClr val="8F959E"/>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28659034"/>
                  </a:ext>
                </a:extLst>
              </a:tr>
              <a:tr h="178334">
                <a:tc rowSpan="2">
                  <a:txBody>
                    <a:bodyPr/>
                    <a:lstStyle/>
                    <a:p>
                      <a:pPr algn="ctr" fontAlgn="ctr" latinLnBrk="0"/>
                      <a:r>
                        <a:rPr lang="zh-CN" altLang="en-US" sz="900" b="1" i="0">
                          <a:solidFill>
                            <a:srgbClr val="FF0000"/>
                          </a:solidFill>
                          <a:effectLst/>
                          <a:latin typeface="微软雅黑" panose="020B0503020204020204" pitchFamily="34" charset="-122"/>
                          <a:ea typeface="微软雅黑" panose="020B0503020204020204" pitchFamily="34" charset="-122"/>
                        </a:rPr>
                        <a:t>课题目标</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目标</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实际达成情况（下一月再写）</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 xmlns:a16="http://schemas.microsoft.com/office/drawing/2014/main" val="1522225151"/>
                  </a:ext>
                </a:extLst>
              </a:tr>
              <a:tr h="178334">
                <a:tc vMerge="1">
                  <a:txBody>
                    <a:bodyPr/>
                    <a:lstStyle/>
                    <a:p>
                      <a:endParaRPr lang="zh-CN" altLang="en-US"/>
                    </a:p>
                  </a:txBody>
                  <a:tcPr/>
                </a:tc>
                <a:tc>
                  <a:txBody>
                    <a:bodyPr/>
                    <a:lstStyle/>
                    <a:p>
                      <a:pPr algn="l" fontAlgn="ctr" latinLnBrk="0"/>
                      <a:r>
                        <a:rPr lang="en-US" altLang="zh-CN" sz="900" b="0" i="1">
                          <a:solidFill>
                            <a:srgbClr val="A6A6A6"/>
                          </a:solidFill>
                          <a:effectLst/>
                          <a:latin typeface="微软雅黑" panose="020B0503020204020204" pitchFamily="34" charset="-122"/>
                          <a:ea typeface="微软雅黑" panose="020B0503020204020204" pitchFamily="34" charset="-122"/>
                        </a:rPr>
                        <a:t>•</a:t>
                      </a:r>
                      <a:r>
                        <a:rPr lang="zh-CN" altLang="en-US" sz="900" b="0" i="1">
                          <a:solidFill>
                            <a:srgbClr val="A6A6A6"/>
                          </a:solidFill>
                          <a:effectLst/>
                          <a:latin typeface="微软雅黑" panose="020B0503020204020204" pitchFamily="34" charset="-122"/>
                          <a:ea typeface="微软雅黑" panose="020B0503020204020204" pitchFamily="34" charset="-122"/>
                        </a:rPr>
                        <a:t>符合</a:t>
                      </a:r>
                      <a:r>
                        <a:rPr lang="en-US" sz="900" b="0" i="1">
                          <a:solidFill>
                            <a:srgbClr val="A6A6A6"/>
                          </a:solidFill>
                          <a:effectLst/>
                          <a:latin typeface="微软雅黑" panose="020B0503020204020204" pitchFamily="34" charset="-122"/>
                          <a:ea typeface="微软雅黑" panose="020B0503020204020204" pitchFamily="34" charset="-122"/>
                        </a:rPr>
                        <a:t>SMART</a:t>
                      </a:r>
                      <a:r>
                        <a:rPr lang="zh-CN" altLang="en-US" sz="900" b="0" i="1">
                          <a:solidFill>
                            <a:srgbClr val="A6A6A6"/>
                          </a:solidFill>
                          <a:effectLst/>
                          <a:latin typeface="微软雅黑" panose="020B0503020204020204" pitchFamily="34" charset="-122"/>
                          <a:ea typeface="微软雅黑" panose="020B0503020204020204" pitchFamily="34" charset="-122"/>
                        </a:rPr>
                        <a:t>原则</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latinLnBrk="0"/>
                      <a:endParaRPr lang="zh-CN" altLang="en-US" sz="900" b="1" i="0" dirty="0">
                        <a:solidFill>
                          <a:srgbClr val="FF0000"/>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861677115"/>
                  </a:ext>
                </a:extLst>
              </a:tr>
              <a:tr h="499334">
                <a:tc>
                  <a:txBody>
                    <a:bodyPr/>
                    <a:lstStyle/>
                    <a:p>
                      <a:pPr algn="ctr" fontAlgn="ctr" latinLnBrk="0"/>
                      <a:r>
                        <a:rPr lang="zh-CN" altLang="en-US" sz="900" b="1" i="0">
                          <a:solidFill>
                            <a:srgbClr val="FF0000"/>
                          </a:solidFill>
                          <a:effectLst/>
                          <a:latin typeface="微软雅黑" panose="020B0503020204020204" pitchFamily="34" charset="-122"/>
                          <a:ea typeface="微软雅黑" panose="020B0503020204020204" pitchFamily="34" charset="-122"/>
                        </a:rPr>
                        <a:t>原因分析</a:t>
                      </a:r>
                      <a:br>
                        <a:rPr lang="zh-CN" altLang="en-US" sz="900" b="1" i="0">
                          <a:solidFill>
                            <a:srgbClr val="FF0000"/>
                          </a:solidFill>
                          <a:effectLst/>
                          <a:latin typeface="微软雅黑" panose="020B0503020204020204" pitchFamily="34" charset="-122"/>
                          <a:ea typeface="微软雅黑" panose="020B0503020204020204" pitchFamily="34" charset="-122"/>
                        </a:rPr>
                      </a:br>
                      <a:r>
                        <a:rPr lang="zh-CN" altLang="en-US" sz="900" b="1" i="0">
                          <a:solidFill>
                            <a:srgbClr val="FF0000"/>
                          </a:solidFill>
                          <a:effectLst/>
                          <a:latin typeface="微软雅黑" panose="020B0503020204020204" pitchFamily="34" charset="-122"/>
                          <a:ea typeface="微软雅黑" panose="020B0503020204020204" pitchFamily="34" charset="-122"/>
                        </a:rPr>
                        <a:t>（找到根因）</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gridSpan="2">
                  <a:txBody>
                    <a:bodyPr/>
                    <a:lstStyle/>
                    <a:p>
                      <a:pPr algn="l" fontAlgn="ctr" latinLnBrk="0"/>
                      <a:r>
                        <a:rPr lang="en-US" altLang="zh-CN" sz="900" b="0" i="1" dirty="0">
                          <a:solidFill>
                            <a:srgbClr val="8F959E"/>
                          </a:solidFill>
                          <a:effectLst/>
                          <a:latin typeface="微软雅黑" panose="020B0503020204020204" pitchFamily="34" charset="-122"/>
                          <a:ea typeface="微软雅黑" panose="020B0503020204020204" pitchFamily="34" charset="-122"/>
                        </a:rPr>
                        <a:t>•</a:t>
                      </a:r>
                      <a:r>
                        <a:rPr lang="zh-CN" altLang="en-US" sz="900" b="0" i="1" dirty="0">
                          <a:solidFill>
                            <a:srgbClr val="8F959E"/>
                          </a:solidFill>
                          <a:effectLst/>
                          <a:latin typeface="微软雅黑" panose="020B0503020204020204" pitchFamily="34" charset="-122"/>
                          <a:ea typeface="微软雅黑" panose="020B0503020204020204" pitchFamily="34" charset="-122"/>
                        </a:rPr>
                        <a:t>对每一个问题进行分析</a:t>
                      </a:r>
                      <a:br>
                        <a:rPr lang="zh-CN" altLang="en-US" sz="900" b="0" i="1" dirty="0">
                          <a:solidFill>
                            <a:srgbClr val="8F959E"/>
                          </a:solidFill>
                          <a:effectLst/>
                          <a:latin typeface="微软雅黑" panose="020B0503020204020204" pitchFamily="34" charset="-122"/>
                          <a:ea typeface="微软雅黑" panose="020B0503020204020204" pitchFamily="34" charset="-122"/>
                        </a:rPr>
                      </a:br>
                      <a:r>
                        <a:rPr lang="en-US" altLang="zh-CN" sz="900" b="0" i="1" dirty="0">
                          <a:solidFill>
                            <a:srgbClr val="8F959E"/>
                          </a:solidFill>
                          <a:effectLst/>
                          <a:latin typeface="微软雅黑" panose="020B0503020204020204" pitchFamily="34" charset="-122"/>
                          <a:ea typeface="微软雅黑" panose="020B0503020204020204" pitchFamily="34" charset="-122"/>
                        </a:rPr>
                        <a:t>•</a:t>
                      </a:r>
                      <a:r>
                        <a:rPr lang="zh-CN" altLang="en-US" sz="900" b="0" i="1" dirty="0">
                          <a:solidFill>
                            <a:srgbClr val="8F959E"/>
                          </a:solidFill>
                          <a:effectLst/>
                          <a:latin typeface="微软雅黑" panose="020B0503020204020204" pitchFamily="34" charset="-122"/>
                          <a:ea typeface="微软雅黑" panose="020B0503020204020204" pitchFamily="34" charset="-122"/>
                        </a:rPr>
                        <a:t>到现场，指：员工工作现场，杜绝经验主义</a:t>
                      </a:r>
                      <a:br>
                        <a:rPr lang="zh-CN" altLang="en-US" sz="900" b="0" i="1" dirty="0">
                          <a:solidFill>
                            <a:srgbClr val="8F959E"/>
                          </a:solidFill>
                          <a:effectLst/>
                          <a:latin typeface="微软雅黑" panose="020B0503020204020204" pitchFamily="34" charset="-122"/>
                          <a:ea typeface="微软雅黑" panose="020B0503020204020204" pitchFamily="34" charset="-122"/>
                        </a:rPr>
                      </a:br>
                      <a:r>
                        <a:rPr lang="en-US" altLang="zh-CN" sz="900" b="0" i="1" dirty="0">
                          <a:solidFill>
                            <a:srgbClr val="8F959E"/>
                          </a:solidFill>
                          <a:effectLst/>
                          <a:latin typeface="微软雅黑" panose="020B0503020204020204" pitchFamily="34" charset="-122"/>
                          <a:ea typeface="微软雅黑" panose="020B0503020204020204" pitchFamily="34" charset="-122"/>
                        </a:rPr>
                        <a:t>•</a:t>
                      </a:r>
                      <a:r>
                        <a:rPr lang="zh-CN" altLang="en-US" sz="900" b="0" i="1" dirty="0">
                          <a:solidFill>
                            <a:srgbClr val="8F959E"/>
                          </a:solidFill>
                          <a:effectLst/>
                          <a:latin typeface="微软雅黑" panose="020B0503020204020204" pitchFamily="34" charset="-122"/>
                          <a:ea typeface="微软雅黑" panose="020B0503020204020204" pitchFamily="34" charset="-122"/>
                        </a:rPr>
                        <a:t>刨根问到底，到可以制定对策为止</a:t>
                      </a:r>
                      <a:br>
                        <a:rPr lang="zh-CN" altLang="en-US" sz="900" b="0" i="1" dirty="0">
                          <a:solidFill>
                            <a:srgbClr val="8F959E"/>
                          </a:solidFill>
                          <a:effectLst/>
                          <a:latin typeface="微软雅黑" panose="020B0503020204020204" pitchFamily="34" charset="-122"/>
                          <a:ea typeface="微软雅黑" panose="020B0503020204020204" pitchFamily="34" charset="-122"/>
                        </a:rPr>
                      </a:br>
                      <a:r>
                        <a:rPr lang="en-US" altLang="zh-CN" sz="900" b="0" i="1" dirty="0">
                          <a:solidFill>
                            <a:srgbClr val="8F959E"/>
                          </a:solidFill>
                          <a:effectLst/>
                          <a:latin typeface="微软雅黑" panose="020B0503020204020204" pitchFamily="34" charset="-122"/>
                          <a:ea typeface="微软雅黑" panose="020B0503020204020204" pitchFamily="34" charset="-122"/>
                        </a:rPr>
                        <a:t>PS</a:t>
                      </a:r>
                      <a:r>
                        <a:rPr lang="zh-CN" altLang="en-US" sz="900" b="0" i="1" dirty="0">
                          <a:solidFill>
                            <a:srgbClr val="8F959E"/>
                          </a:solidFill>
                          <a:effectLst/>
                          <a:latin typeface="微软雅黑" panose="020B0503020204020204" pitchFamily="34" charset="-122"/>
                          <a:ea typeface="微软雅黑" panose="020B0503020204020204" pitchFamily="34" charset="-122"/>
                        </a:rPr>
                        <a:t>：若有相关图表可另外增</a:t>
                      </a:r>
                      <a:r>
                        <a:rPr lang="en-US" altLang="zh-CN" sz="900" b="0" i="1" dirty="0">
                          <a:solidFill>
                            <a:srgbClr val="8F959E"/>
                          </a:solidFill>
                          <a:effectLst/>
                          <a:latin typeface="微软雅黑" panose="020B0503020204020204" pitchFamily="34" charset="-122"/>
                          <a:ea typeface="微软雅黑" panose="020B0503020204020204" pitchFamily="34" charset="-122"/>
                        </a:rPr>
                        <a:t>sheet</a:t>
                      </a:r>
                      <a:r>
                        <a:rPr lang="zh-CN" altLang="en-US" sz="900" b="0" i="1" dirty="0">
                          <a:solidFill>
                            <a:srgbClr val="8F959E"/>
                          </a:solidFill>
                          <a:effectLst/>
                          <a:latin typeface="微软雅黑" panose="020B0503020204020204" pitchFamily="34" charset="-122"/>
                          <a:ea typeface="微软雅黑" panose="020B0503020204020204" pitchFamily="34" charset="-122"/>
                        </a:rPr>
                        <a:t>补充</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ctr" latinLnBrk="0"/>
                      <a:endParaRPr lang="zh-CN" altLang="en-US" sz="900" b="0" i="1">
                        <a:solidFill>
                          <a:srgbClr val="8F959E"/>
                        </a:solidFill>
                        <a:effectLst/>
                        <a:latin typeface="微软雅黑" panose="020B0503020204020204" pitchFamily="34" charset="-122"/>
                        <a:ea typeface="微软雅黑" panose="020B0503020204020204" pitchFamily="34" charset="-122"/>
                      </a:endParaRP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377654996"/>
                  </a:ext>
                </a:extLst>
              </a:tr>
              <a:tr h="178334">
                <a:tc rowSpan="2">
                  <a:txBody>
                    <a:bodyPr/>
                    <a:lstStyle/>
                    <a:p>
                      <a:pPr algn="ctr" fontAlgn="ctr" latinLnBrk="0"/>
                      <a:r>
                        <a:rPr lang="zh-CN" altLang="en-US" sz="900" b="1" i="0">
                          <a:solidFill>
                            <a:srgbClr val="FF0000"/>
                          </a:solidFill>
                          <a:effectLst/>
                          <a:latin typeface="微软雅黑" panose="020B0503020204020204" pitchFamily="34" charset="-122"/>
                          <a:ea typeface="微软雅黑" panose="020B0503020204020204" pitchFamily="34" charset="-122"/>
                        </a:rPr>
                        <a:t>制定对策</a:t>
                      </a:r>
                      <a:br>
                        <a:rPr lang="zh-CN" altLang="en-US" sz="900" b="1" i="0">
                          <a:solidFill>
                            <a:srgbClr val="FF0000"/>
                          </a:solidFill>
                          <a:effectLst/>
                          <a:latin typeface="微软雅黑" panose="020B0503020204020204" pitchFamily="34" charset="-122"/>
                          <a:ea typeface="微软雅黑" panose="020B0503020204020204" pitchFamily="34" charset="-122"/>
                        </a:rPr>
                      </a:br>
                      <a:r>
                        <a:rPr lang="zh-CN" altLang="en-US" sz="900" b="1" i="0">
                          <a:solidFill>
                            <a:srgbClr val="FF0000"/>
                          </a:solidFill>
                          <a:effectLst/>
                          <a:latin typeface="微软雅黑" panose="020B0503020204020204" pitchFamily="34" charset="-122"/>
                          <a:ea typeface="微软雅黑" panose="020B0503020204020204" pitchFamily="34" charset="-122"/>
                        </a:rPr>
                        <a:t>（找到对策）</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对策列表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对策有效性评估（下一月再写）</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 xmlns:a16="http://schemas.microsoft.com/office/drawing/2014/main" val="648312597"/>
                  </a:ext>
                </a:extLst>
              </a:tr>
              <a:tr h="285334">
                <a:tc vMerge="1">
                  <a:txBody>
                    <a:bodyPr/>
                    <a:lstStyle/>
                    <a:p>
                      <a:endParaRPr lang="zh-CN" altLang="en-US"/>
                    </a:p>
                  </a:txBody>
                  <a:tcPr/>
                </a:tc>
                <a:tc>
                  <a:txBody>
                    <a:bodyPr/>
                    <a:lstStyle/>
                    <a:p>
                      <a:pPr algn="l" fontAlgn="ctr" latinLnBrk="0"/>
                      <a:r>
                        <a:rPr lang="en-US" altLang="zh-CN" sz="900" b="1" i="0">
                          <a:solidFill>
                            <a:srgbClr val="000000"/>
                          </a:solidFill>
                          <a:effectLst/>
                          <a:latin typeface="微软雅黑" panose="020B0503020204020204" pitchFamily="34" charset="-122"/>
                          <a:ea typeface="微软雅黑" panose="020B0503020204020204" pitchFamily="34" charset="-122"/>
                        </a:rPr>
                        <a:t>1</a:t>
                      </a:r>
                      <a:r>
                        <a:rPr lang="zh-CN" altLang="en-US" sz="900" b="1" i="0">
                          <a:solidFill>
                            <a:srgbClr val="000000"/>
                          </a:solidFill>
                          <a:effectLst/>
                          <a:latin typeface="微软雅黑" panose="020B0503020204020204" pitchFamily="34" charset="-122"/>
                          <a:ea typeface="微软雅黑" panose="020B0503020204020204" pitchFamily="34" charset="-122"/>
                        </a:rPr>
                        <a:t>、</a:t>
                      </a:r>
                      <a:br>
                        <a:rPr lang="zh-CN" altLang="en-US" sz="900" b="1" i="0">
                          <a:solidFill>
                            <a:srgbClr val="000000"/>
                          </a:solidFill>
                          <a:effectLst/>
                          <a:latin typeface="微软雅黑" panose="020B0503020204020204" pitchFamily="34" charset="-122"/>
                          <a:ea typeface="微软雅黑" panose="020B0503020204020204" pitchFamily="34" charset="-122"/>
                        </a:rPr>
                      </a:br>
                      <a:r>
                        <a:rPr lang="en-US" altLang="zh-CN" sz="900" b="1" i="0">
                          <a:solidFill>
                            <a:srgbClr val="000000"/>
                          </a:solidFill>
                          <a:effectLst/>
                          <a:latin typeface="微软雅黑" panose="020B0503020204020204" pitchFamily="34" charset="-122"/>
                          <a:ea typeface="微软雅黑" panose="020B0503020204020204" pitchFamily="34" charset="-122"/>
                        </a:rPr>
                        <a:t>2</a:t>
                      </a:r>
                      <a:r>
                        <a:rPr lang="zh-CN" altLang="en-US" sz="900" b="1" i="0">
                          <a:solidFill>
                            <a:srgbClr val="000000"/>
                          </a:solidFill>
                          <a:effectLst/>
                          <a:latin typeface="微软雅黑" panose="020B0503020204020204" pitchFamily="34" charset="-122"/>
                          <a:ea typeface="微软雅黑" panose="020B0503020204020204" pitchFamily="34" charset="-122"/>
                        </a:rPr>
                        <a:t>、</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latinLnBrk="0"/>
                      <a:endParaRPr lang="zh-CN" altLang="en-US" sz="900" b="0" i="1">
                        <a:solidFill>
                          <a:srgbClr val="8F959E"/>
                        </a:solidFill>
                        <a:effectLst/>
                        <a:latin typeface="微软雅黑" panose="020B0503020204020204" pitchFamily="34" charset="-122"/>
                        <a:ea typeface="微软雅黑" panose="020B0503020204020204" pitchFamily="34" charset="-122"/>
                      </a:endParaRPr>
                    </a:p>
                  </a:txBody>
                  <a:tcPr marL="71333" marR="71333" marT="35667" marB="356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417238592"/>
                  </a:ext>
                </a:extLst>
              </a:tr>
              <a:tr h="178334">
                <a:tc rowSpan="2">
                  <a:txBody>
                    <a:bodyPr/>
                    <a:lstStyle/>
                    <a:p>
                      <a:pPr algn="ctr" fontAlgn="ctr" latinLnBrk="0"/>
                      <a:r>
                        <a:rPr lang="zh-CN" altLang="en-US" sz="900" b="1" i="0">
                          <a:solidFill>
                            <a:srgbClr val="FF0000"/>
                          </a:solidFill>
                          <a:effectLst/>
                          <a:latin typeface="微软雅黑" panose="020B0503020204020204" pitchFamily="34" charset="-122"/>
                          <a:ea typeface="微软雅黑" panose="020B0503020204020204" pitchFamily="34" charset="-122"/>
                        </a:rPr>
                        <a:t>行动计划</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行动计划</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fontAlgn="ctr" latinLnBrk="0"/>
                      <a:r>
                        <a:rPr lang="zh-CN" altLang="en-US" sz="900" b="1" i="0">
                          <a:solidFill>
                            <a:srgbClr val="000000"/>
                          </a:solidFill>
                          <a:effectLst/>
                          <a:latin typeface="微软雅黑" panose="020B0503020204020204" pitchFamily="34" charset="-122"/>
                          <a:ea typeface="微软雅黑" panose="020B0503020204020204" pitchFamily="34" charset="-122"/>
                        </a:rPr>
                        <a:t>计划进展总结（下一月再写）</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 xmlns:a16="http://schemas.microsoft.com/office/drawing/2014/main" val="1056266800"/>
                  </a:ext>
                </a:extLst>
              </a:tr>
              <a:tr h="392334">
                <a:tc vMerge="1">
                  <a:txBody>
                    <a:bodyPr/>
                    <a:lstStyle/>
                    <a:p>
                      <a:endParaRPr lang="zh-CN" altLang="en-US"/>
                    </a:p>
                  </a:txBody>
                  <a:tcPr/>
                </a:tc>
                <a:tc>
                  <a:txBody>
                    <a:bodyPr/>
                    <a:lstStyle/>
                    <a:p>
                      <a:pPr algn="l" fontAlgn="ctr" latinLnBrk="0"/>
                      <a:r>
                        <a:rPr lang="en-US" altLang="zh-CN" sz="900" b="1" i="0">
                          <a:solidFill>
                            <a:srgbClr val="000000"/>
                          </a:solidFill>
                          <a:effectLst/>
                          <a:latin typeface="微软雅黑" panose="020B0503020204020204" pitchFamily="34" charset="-122"/>
                          <a:ea typeface="微软雅黑" panose="020B0503020204020204" pitchFamily="34" charset="-122"/>
                        </a:rPr>
                        <a:t>1</a:t>
                      </a:r>
                      <a:r>
                        <a:rPr lang="zh-CN" altLang="en-US" sz="900" b="1" i="0">
                          <a:solidFill>
                            <a:srgbClr val="000000"/>
                          </a:solidFill>
                          <a:effectLst/>
                          <a:latin typeface="微软雅黑" panose="020B0503020204020204" pitchFamily="34" charset="-122"/>
                          <a:ea typeface="微软雅黑" panose="020B0503020204020204" pitchFamily="34" charset="-122"/>
                        </a:rPr>
                        <a:t>、</a:t>
                      </a:r>
                      <a:br>
                        <a:rPr lang="zh-CN" altLang="en-US" sz="900" b="1" i="0">
                          <a:solidFill>
                            <a:srgbClr val="000000"/>
                          </a:solidFill>
                          <a:effectLst/>
                          <a:latin typeface="微软雅黑" panose="020B0503020204020204" pitchFamily="34" charset="-122"/>
                          <a:ea typeface="微软雅黑" panose="020B0503020204020204" pitchFamily="34" charset="-122"/>
                        </a:rPr>
                      </a:br>
                      <a:r>
                        <a:rPr lang="en-US" altLang="zh-CN" sz="900" b="1" i="0">
                          <a:solidFill>
                            <a:srgbClr val="000000"/>
                          </a:solidFill>
                          <a:effectLst/>
                          <a:latin typeface="微软雅黑" panose="020B0503020204020204" pitchFamily="34" charset="-122"/>
                          <a:ea typeface="微软雅黑" panose="020B0503020204020204" pitchFamily="34" charset="-122"/>
                        </a:rPr>
                        <a:t>2</a:t>
                      </a:r>
                      <a:r>
                        <a:rPr lang="zh-CN" altLang="en-US" sz="900" b="1" i="0">
                          <a:solidFill>
                            <a:srgbClr val="000000"/>
                          </a:solidFill>
                          <a:effectLst/>
                          <a:latin typeface="微软雅黑" panose="020B0503020204020204" pitchFamily="34" charset="-122"/>
                          <a:ea typeface="微软雅黑" panose="020B0503020204020204" pitchFamily="34" charset="-122"/>
                        </a:rPr>
                        <a:t>、</a:t>
                      </a:r>
                      <a:br>
                        <a:rPr lang="zh-CN" altLang="en-US" sz="900" b="1" i="0">
                          <a:solidFill>
                            <a:srgbClr val="000000"/>
                          </a:solidFill>
                          <a:effectLst/>
                          <a:latin typeface="微软雅黑" panose="020B0503020204020204" pitchFamily="34" charset="-122"/>
                          <a:ea typeface="微软雅黑" panose="020B0503020204020204" pitchFamily="34" charset="-122"/>
                        </a:rPr>
                      </a:br>
                      <a:r>
                        <a:rPr lang="en-US" altLang="zh-CN" sz="900" b="1" i="0">
                          <a:solidFill>
                            <a:srgbClr val="000000"/>
                          </a:solidFill>
                          <a:effectLst/>
                          <a:latin typeface="微软雅黑" panose="020B0503020204020204" pitchFamily="34" charset="-122"/>
                          <a:ea typeface="微软雅黑" panose="020B0503020204020204" pitchFamily="34" charset="-122"/>
                        </a:rPr>
                        <a:t>3</a:t>
                      </a:r>
                      <a:r>
                        <a:rPr lang="zh-CN" altLang="en-US" sz="900" b="1" i="0">
                          <a:solidFill>
                            <a:srgbClr val="000000"/>
                          </a:solidFill>
                          <a:effectLst/>
                          <a:latin typeface="微软雅黑" panose="020B0503020204020204" pitchFamily="34" charset="-122"/>
                          <a:ea typeface="微软雅黑" panose="020B0503020204020204" pitchFamily="34" charset="-122"/>
                        </a:rPr>
                        <a:t>、</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latinLnBrk="0"/>
                      <a:endParaRPr lang="zh-CN" altLang="en-US" sz="900" b="0" i="1" dirty="0">
                        <a:solidFill>
                          <a:srgbClr val="8F959E"/>
                        </a:solidFill>
                        <a:effectLst/>
                        <a:latin typeface="微软雅黑" panose="020B0503020204020204" pitchFamily="34" charset="-122"/>
                        <a:ea typeface="微软雅黑" panose="020B0503020204020204" pitchFamily="34" charset="-122"/>
                      </a:endParaRPr>
                    </a:p>
                  </a:txBody>
                  <a:tcPr marL="71333" marR="71333" marT="35667" marB="356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349777845"/>
                  </a:ext>
                </a:extLst>
              </a:tr>
            </a:tbl>
          </a:graphicData>
        </a:graphic>
      </p:graphicFrame>
      <p:sp>
        <p:nvSpPr>
          <p:cNvPr id="4" name="矩形 3">
            <a:extLst>
              <a:ext uri="{FF2B5EF4-FFF2-40B4-BE49-F238E27FC236}">
                <a16:creationId xmlns="" xmlns:a16="http://schemas.microsoft.com/office/drawing/2014/main" id="{38BFBC83-1621-B3F4-99DD-59360ABEBEAE}"/>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沙书</a:t>
            </a:r>
            <a:r>
              <a:rPr lang="zh-CN" altLang="en-US" dirty="0" smtClean="0"/>
              <a:t>立</a:t>
            </a:r>
            <a:endParaRPr lang="en-US" altLang="zh-CN" dirty="0" smtClean="0"/>
          </a:p>
          <a:p>
            <a:pPr algn="ctr"/>
            <a:r>
              <a:rPr lang="zh-CN" altLang="en-US" dirty="0"/>
              <a:t>赵波</a:t>
            </a:r>
            <a:endParaRPr lang="en-US" altLang="zh-CN" dirty="0"/>
          </a:p>
        </p:txBody>
      </p:sp>
    </p:spTree>
    <p:extLst>
      <p:ext uri="{BB962C8B-B14F-4D97-AF65-F5344CB8AC3E}">
        <p14:creationId xmlns:p14="http://schemas.microsoft.com/office/powerpoint/2010/main" val="406323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E000A0-FC39-1B19-97F5-7B7A7984B6B1}"/>
            </a:ext>
          </a:extLst>
        </p:cNvPr>
        <p:cNvGrpSpPr/>
        <p:nvPr/>
      </p:nvGrpSpPr>
      <p:grpSpPr>
        <a:xfrm>
          <a:off x="0" y="0"/>
          <a:ext cx="0" cy="0"/>
          <a:chOff x="0" y="0"/>
          <a:chExt cx="0" cy="0"/>
        </a:xfrm>
      </p:grpSpPr>
      <p:sp>
        <p:nvSpPr>
          <p:cNvPr id="3" name="文本框 2">
            <a:extLst>
              <a:ext uri="{FF2B5EF4-FFF2-40B4-BE49-F238E27FC236}">
                <a16:creationId xmlns="" xmlns:a16="http://schemas.microsoft.com/office/drawing/2014/main" id="{ABA3CBBD-8773-D79A-32D1-6BB1402E4945}"/>
              </a:ext>
            </a:extLst>
          </p:cNvPr>
          <p:cNvSpPr txBox="1"/>
          <p:nvPr>
            <p:custDataLst>
              <p:tags r:id="rId1"/>
            </p:custDataLst>
          </p:nvPr>
        </p:nvSpPr>
        <p:spPr>
          <a:xfrm>
            <a:off x="638175" y="323850"/>
            <a:ext cx="9714230" cy="1057910"/>
          </a:xfrm>
          <a:prstGeom prst="rect">
            <a:avLst/>
          </a:prstGeom>
          <a:noFill/>
        </p:spPr>
        <p:txBody>
          <a:bodyPr wrap="square" rtlCol="0">
            <a:noAutofit/>
          </a:bodyPr>
          <a:lstStyle/>
          <a:p>
            <a:r>
              <a:rPr kumimoji="1" lang="zh-CN" altLang="en-US" sz="2965" b="1" dirty="0">
                <a:solidFill>
                  <a:srgbClr val="E60039"/>
                </a:solidFill>
                <a:latin typeface="微软雅黑" panose="020B0503020204020204" charset="-122"/>
                <a:ea typeface="微软雅黑" panose="020B0503020204020204" charset="-122"/>
              </a:rPr>
              <a:t>“</a:t>
            </a:r>
            <a:r>
              <a:rPr kumimoji="1" lang="en-US" altLang="zh-CN" sz="2965" b="1" dirty="0">
                <a:solidFill>
                  <a:srgbClr val="E60039"/>
                </a:solidFill>
                <a:latin typeface="微软雅黑" panose="020B0503020204020204" charset="-122"/>
                <a:ea typeface="微软雅黑" panose="020B0503020204020204" charset="-122"/>
              </a:rPr>
              <a:t>MTCV</a:t>
            </a:r>
            <a:r>
              <a:rPr kumimoji="1" lang="zh-CN" altLang="en-US" sz="2965" b="1" dirty="0">
                <a:solidFill>
                  <a:srgbClr val="E60039"/>
                </a:solidFill>
                <a:latin typeface="微软雅黑" panose="020B0503020204020204" charset="-122"/>
                <a:ea typeface="微软雅黑" panose="020B0503020204020204" charset="-122"/>
              </a:rPr>
              <a:t>流程打造</a:t>
            </a:r>
            <a:r>
              <a:rPr kumimoji="1" lang="en-US" altLang="zh-CN" sz="2965" b="1" dirty="0">
                <a:solidFill>
                  <a:srgbClr val="E60039"/>
                </a:solidFill>
                <a:latin typeface="微软雅黑" panose="020B0503020204020204" charset="-122"/>
                <a:ea typeface="微软雅黑" panose="020B0503020204020204" charset="-122"/>
              </a:rPr>
              <a:t>2.0</a:t>
            </a:r>
            <a:r>
              <a:rPr kumimoji="1" lang="zh-CN" altLang="en-US" sz="2965" b="1" dirty="0">
                <a:solidFill>
                  <a:srgbClr val="E60039"/>
                </a:solidFill>
                <a:latin typeface="微软雅黑" panose="020B0503020204020204" charset="-122"/>
                <a:ea typeface="微软雅黑" panose="020B0503020204020204" charset="-122"/>
              </a:rPr>
              <a:t>”</a:t>
            </a:r>
            <a:r>
              <a:rPr kumimoji="1" lang="en-US" altLang="zh-CN" sz="2965" b="1" dirty="0" smtClean="0">
                <a:solidFill>
                  <a:srgbClr val="E60039"/>
                </a:solidFill>
                <a:latin typeface="微软雅黑" panose="020B0503020204020204" charset="-122"/>
                <a:ea typeface="微软雅黑" panose="020B0503020204020204" charset="-122"/>
                <a:sym typeface="+mn-ea"/>
              </a:rPr>
              <a:t>—</a:t>
            </a:r>
            <a:r>
              <a:rPr kumimoji="1" lang="en-US" altLang="zh-CN" sz="2965" b="1" dirty="0">
                <a:solidFill>
                  <a:srgbClr val="E60039"/>
                </a:solidFill>
                <a:latin typeface="微软雅黑" panose="020B0503020204020204" charset="-122"/>
                <a:ea typeface="微软雅黑" panose="020B0503020204020204" charset="-122"/>
                <a:sym typeface="+mn-ea"/>
              </a:rPr>
              <a:t>Q2</a:t>
            </a:r>
            <a:r>
              <a:rPr kumimoji="1" lang="zh-CN" altLang="en-US" sz="2965" b="1" dirty="0">
                <a:solidFill>
                  <a:srgbClr val="E60039"/>
                </a:solidFill>
                <a:latin typeface="微软雅黑" panose="020B0503020204020204" charset="-122"/>
                <a:ea typeface="微软雅黑" panose="020B0503020204020204" charset="-122"/>
                <a:sym typeface="+mn-ea"/>
              </a:rPr>
              <a:t>目标分解</a:t>
            </a:r>
          </a:p>
        </p:txBody>
      </p:sp>
      <p:graphicFrame>
        <p:nvGraphicFramePr>
          <p:cNvPr id="2" name="表格 1">
            <a:extLst>
              <a:ext uri="{FF2B5EF4-FFF2-40B4-BE49-F238E27FC236}">
                <a16:creationId xmlns="" xmlns:a16="http://schemas.microsoft.com/office/drawing/2014/main" id="{67AE1A31-2D6A-CAA4-3DB4-6D15D384E0F0}"/>
              </a:ext>
            </a:extLst>
          </p:cNvPr>
          <p:cNvGraphicFramePr>
            <a:graphicFrameLocks noGrp="1"/>
          </p:cNvGraphicFramePr>
          <p:nvPr>
            <p:extLst>
              <p:ext uri="{D42A27DB-BD31-4B8C-83A1-F6EECF244321}">
                <p14:modId xmlns:p14="http://schemas.microsoft.com/office/powerpoint/2010/main" val="1076536226"/>
              </p:ext>
            </p:extLst>
          </p:nvPr>
        </p:nvGraphicFramePr>
        <p:xfrm>
          <a:off x="1609726" y="2139887"/>
          <a:ext cx="8972548" cy="2914776"/>
        </p:xfrm>
        <a:graphic>
          <a:graphicData uri="http://schemas.openxmlformats.org/drawingml/2006/table">
            <a:tbl>
              <a:tblPr/>
              <a:tblGrid>
                <a:gridCol w="1455207">
                  <a:extLst>
                    <a:ext uri="{9D8B030D-6E8A-4147-A177-3AD203B41FA5}">
                      <a16:colId xmlns="" xmlns:a16="http://schemas.microsoft.com/office/drawing/2014/main" val="359272510"/>
                    </a:ext>
                  </a:extLst>
                </a:gridCol>
                <a:gridCol w="1236134">
                  <a:extLst>
                    <a:ext uri="{9D8B030D-6E8A-4147-A177-3AD203B41FA5}">
                      <a16:colId xmlns="" xmlns:a16="http://schemas.microsoft.com/office/drawing/2014/main" val="3412921365"/>
                    </a:ext>
                  </a:extLst>
                </a:gridCol>
                <a:gridCol w="1905000">
                  <a:extLst>
                    <a:ext uri="{9D8B030D-6E8A-4147-A177-3AD203B41FA5}">
                      <a16:colId xmlns="" xmlns:a16="http://schemas.microsoft.com/office/drawing/2014/main" val="2759265858"/>
                    </a:ext>
                  </a:extLst>
                </a:gridCol>
                <a:gridCol w="2235200">
                  <a:extLst>
                    <a:ext uri="{9D8B030D-6E8A-4147-A177-3AD203B41FA5}">
                      <a16:colId xmlns="" xmlns:a16="http://schemas.microsoft.com/office/drawing/2014/main" val="3167903044"/>
                    </a:ext>
                  </a:extLst>
                </a:gridCol>
                <a:gridCol w="2141007">
                  <a:extLst>
                    <a:ext uri="{9D8B030D-6E8A-4147-A177-3AD203B41FA5}">
                      <a16:colId xmlns="" xmlns:a16="http://schemas.microsoft.com/office/drawing/2014/main" val="3289793550"/>
                    </a:ext>
                  </a:extLst>
                </a:gridCol>
              </a:tblGrid>
              <a:tr h="333525">
                <a:tc>
                  <a:txBody>
                    <a:bodyPr/>
                    <a:lstStyle/>
                    <a:p>
                      <a:pPr fontAlgn="ctr" latinLnBrk="0"/>
                      <a:r>
                        <a:rPr lang="zh-CN" altLang="en-US" sz="1100" b="1" i="0" dirty="0">
                          <a:solidFill>
                            <a:srgbClr val="000000"/>
                          </a:solidFill>
                          <a:effectLst/>
                        </a:rPr>
                        <a:t>关键任务目标值</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959E"/>
                    </a:solidFill>
                  </a:tcPr>
                </a:tc>
                <a:tc>
                  <a:txBody>
                    <a:bodyPr/>
                    <a:lstStyle/>
                    <a:p>
                      <a:pPr algn="ctr" fontAlgn="ctr" latinLnBrk="0"/>
                      <a:r>
                        <a:rPr lang="zh-CN" altLang="en-US" sz="1000" b="0" i="0" dirty="0">
                          <a:solidFill>
                            <a:srgbClr val="000000"/>
                          </a:solidFill>
                          <a:effectLst/>
                        </a:rPr>
                        <a:t>目标权重</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58"/>
                    </a:solidFill>
                  </a:tcPr>
                </a:tc>
                <a:tc>
                  <a:txBody>
                    <a:bodyPr/>
                    <a:lstStyle/>
                    <a:p>
                      <a:pPr fontAlgn="ctr" latinLnBrk="0"/>
                      <a:r>
                        <a:rPr lang="en-US" altLang="zh-CN" sz="1100" b="1" i="0">
                          <a:solidFill>
                            <a:srgbClr val="000000"/>
                          </a:solidFill>
                          <a:effectLst/>
                        </a:rPr>
                        <a:t>4</a:t>
                      </a:r>
                      <a:r>
                        <a:rPr lang="zh-CN" altLang="en-US" sz="1100" b="1" i="0">
                          <a:solidFill>
                            <a:srgbClr val="000000"/>
                          </a:solidFill>
                          <a:effectLst/>
                        </a:rPr>
                        <a:t>月</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1D1"/>
                    </a:solidFill>
                  </a:tcPr>
                </a:tc>
                <a:tc>
                  <a:txBody>
                    <a:bodyPr/>
                    <a:lstStyle/>
                    <a:p>
                      <a:pPr fontAlgn="ctr" latinLnBrk="0"/>
                      <a:r>
                        <a:rPr lang="en-US" altLang="zh-CN" sz="1100" b="1" i="0">
                          <a:solidFill>
                            <a:srgbClr val="000000"/>
                          </a:solidFill>
                          <a:effectLst/>
                        </a:rPr>
                        <a:t>5</a:t>
                      </a:r>
                      <a:r>
                        <a:rPr lang="zh-CN" altLang="en-US" sz="1100" b="1" i="0">
                          <a:solidFill>
                            <a:srgbClr val="000000"/>
                          </a:solidFill>
                          <a:effectLst/>
                        </a:rPr>
                        <a:t>月</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1D1"/>
                    </a:solidFill>
                  </a:tcPr>
                </a:tc>
                <a:tc>
                  <a:txBody>
                    <a:bodyPr/>
                    <a:lstStyle/>
                    <a:p>
                      <a:pPr fontAlgn="ctr" latinLnBrk="0"/>
                      <a:r>
                        <a:rPr lang="en-US" altLang="zh-CN" sz="1100" b="1" i="0" dirty="0">
                          <a:solidFill>
                            <a:srgbClr val="000000"/>
                          </a:solidFill>
                          <a:effectLst/>
                        </a:rPr>
                        <a:t>6</a:t>
                      </a:r>
                      <a:r>
                        <a:rPr lang="zh-CN" altLang="en-US" sz="1100" b="1" i="0" dirty="0">
                          <a:solidFill>
                            <a:srgbClr val="000000"/>
                          </a:solidFill>
                          <a:effectLst/>
                        </a:rPr>
                        <a:t>月</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1D1"/>
                    </a:solidFill>
                  </a:tcPr>
                </a:tc>
                <a:extLst>
                  <a:ext uri="{0D108BD9-81ED-4DB2-BD59-A6C34878D82A}">
                    <a16:rowId xmlns="" xmlns:a16="http://schemas.microsoft.com/office/drawing/2014/main" val="1513164425"/>
                  </a:ext>
                </a:extLst>
              </a:tr>
              <a:tr h="388609">
                <a:tc>
                  <a:txBody>
                    <a:bodyPr/>
                    <a:lstStyle/>
                    <a:p>
                      <a:pPr fontAlgn="ctr" latinLnBrk="0"/>
                      <a:r>
                        <a:rPr lang="zh-CN" altLang="en-US" sz="1000" b="1" i="0">
                          <a:solidFill>
                            <a:srgbClr val="000000"/>
                          </a:solidFill>
                          <a:effectLst/>
                        </a:rPr>
                        <a:t>园区网销量</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algn="ctr" fontAlgn="ctr" latinLnBrk="0"/>
                      <a:r>
                        <a:rPr lang="en-US" altLang="zh-CN" sz="1000" b="0" i="0" dirty="0">
                          <a:solidFill>
                            <a:srgbClr val="000000"/>
                          </a:solidFill>
                          <a:effectLst/>
                        </a:rPr>
                        <a:t>40%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r>
                        <a:rPr lang="zh-CN" altLang="en-US" sz="1000" b="1" i="0">
                          <a:solidFill>
                            <a:srgbClr val="000000"/>
                          </a:solidFill>
                          <a:effectLst/>
                        </a:rPr>
                        <a:t>累计</a:t>
                      </a:r>
                      <a:r>
                        <a:rPr lang="en-US" altLang="zh-CN" sz="1000" b="1" i="0">
                          <a:solidFill>
                            <a:srgbClr val="000000"/>
                          </a:solidFill>
                          <a:effectLst/>
                        </a:rPr>
                        <a:t>3.5</a:t>
                      </a:r>
                      <a:r>
                        <a:rPr lang="zh-CN" altLang="en-US" sz="1000" b="1" i="0">
                          <a:solidFill>
                            <a:srgbClr val="000000"/>
                          </a:solidFill>
                          <a:effectLst/>
                        </a:rPr>
                        <a:t>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r>
                        <a:rPr lang="zh-CN" altLang="en-US" sz="1000" b="1" i="0">
                          <a:solidFill>
                            <a:srgbClr val="000000"/>
                          </a:solidFill>
                          <a:effectLst/>
                        </a:rPr>
                        <a:t>累计</a:t>
                      </a:r>
                      <a:r>
                        <a:rPr lang="en-US" altLang="zh-CN" sz="1000" b="1" i="0">
                          <a:solidFill>
                            <a:srgbClr val="000000"/>
                          </a:solidFill>
                          <a:effectLst/>
                        </a:rPr>
                        <a:t>5</a:t>
                      </a:r>
                      <a:r>
                        <a:rPr lang="zh-CN" altLang="en-US" sz="1000" b="1" i="0">
                          <a:solidFill>
                            <a:srgbClr val="000000"/>
                          </a:solidFill>
                          <a:effectLst/>
                        </a:rPr>
                        <a:t>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r>
                        <a:rPr lang="zh-CN" altLang="en-US" sz="1000" b="1" i="0">
                          <a:solidFill>
                            <a:srgbClr val="000000"/>
                          </a:solidFill>
                          <a:effectLst/>
                        </a:rPr>
                        <a:t>累计</a:t>
                      </a:r>
                      <a:r>
                        <a:rPr lang="en-US" altLang="zh-CN" sz="1000" b="1" i="0">
                          <a:solidFill>
                            <a:srgbClr val="000000"/>
                          </a:solidFill>
                          <a:effectLst/>
                        </a:rPr>
                        <a:t>7.5</a:t>
                      </a:r>
                      <a:r>
                        <a:rPr lang="zh-CN" altLang="en-US" sz="1000" b="1" i="0">
                          <a:solidFill>
                            <a:srgbClr val="000000"/>
                          </a:solidFill>
                          <a:effectLst/>
                        </a:rPr>
                        <a:t>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extLst>
                  <a:ext uri="{0D108BD9-81ED-4DB2-BD59-A6C34878D82A}">
                    <a16:rowId xmlns="" xmlns:a16="http://schemas.microsoft.com/office/drawing/2014/main" val="1781159369"/>
                  </a:ext>
                </a:extLst>
              </a:tr>
              <a:tr h="389460">
                <a:tc>
                  <a:txBody>
                    <a:bodyPr/>
                    <a:lstStyle/>
                    <a:p>
                      <a:pPr fontAlgn="ctr" latinLnBrk="0"/>
                      <a:r>
                        <a:rPr lang="zh-CN" altLang="en-US" sz="1000" b="1" i="0">
                          <a:solidFill>
                            <a:srgbClr val="000000"/>
                          </a:solidFill>
                          <a:effectLst/>
                        </a:rPr>
                        <a:t>园区网个数</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algn="ctr" fontAlgn="ctr" latinLnBrk="0"/>
                      <a:r>
                        <a:rPr lang="en-US" altLang="zh-CN" sz="1000" b="0" i="0" dirty="0">
                          <a:solidFill>
                            <a:srgbClr val="000000"/>
                          </a:solidFill>
                          <a:effectLst/>
                        </a:rPr>
                        <a:t>60%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r>
                        <a:rPr lang="zh-CN" altLang="en-US" sz="1000" b="1" i="0" dirty="0">
                          <a:solidFill>
                            <a:srgbClr val="000000"/>
                          </a:solidFill>
                          <a:effectLst/>
                        </a:rPr>
                        <a:t>累计</a:t>
                      </a:r>
                      <a:r>
                        <a:rPr lang="en-US" altLang="zh-CN" sz="1000" b="1" i="0" dirty="0">
                          <a:solidFill>
                            <a:srgbClr val="000000"/>
                          </a:solidFill>
                          <a:effectLst/>
                        </a:rPr>
                        <a:t>170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r>
                        <a:rPr lang="zh-CN" altLang="en-US" sz="1000" b="1" i="0">
                          <a:solidFill>
                            <a:srgbClr val="000000"/>
                          </a:solidFill>
                          <a:effectLst/>
                        </a:rPr>
                        <a:t>累计</a:t>
                      </a:r>
                      <a:r>
                        <a:rPr lang="en-US" altLang="zh-CN" sz="1000" b="1" i="0">
                          <a:solidFill>
                            <a:srgbClr val="000000"/>
                          </a:solidFill>
                          <a:effectLst/>
                        </a:rPr>
                        <a:t>200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r>
                        <a:rPr lang="zh-CN" altLang="en-US" sz="1000" b="1" i="0" dirty="0">
                          <a:solidFill>
                            <a:srgbClr val="000000"/>
                          </a:solidFill>
                          <a:effectLst/>
                        </a:rPr>
                        <a:t>累计</a:t>
                      </a:r>
                      <a:r>
                        <a:rPr lang="en-US" altLang="zh-CN" sz="1000" b="1" i="0" dirty="0">
                          <a:solidFill>
                            <a:srgbClr val="000000"/>
                          </a:solidFill>
                          <a:effectLst/>
                        </a:rPr>
                        <a:t>350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extLst>
                  <a:ext uri="{0D108BD9-81ED-4DB2-BD59-A6C34878D82A}">
                    <a16:rowId xmlns="" xmlns:a16="http://schemas.microsoft.com/office/drawing/2014/main" val="2946553803"/>
                  </a:ext>
                </a:extLst>
              </a:tr>
              <a:tr h="1803182">
                <a:tc gridSpan="2">
                  <a:txBody>
                    <a:bodyPr/>
                    <a:lstStyle/>
                    <a:p>
                      <a:pPr algn="ctr" fontAlgn="ctr" latinLnBrk="0"/>
                      <a:r>
                        <a:rPr lang="zh-CN" altLang="en-US" sz="1000" b="0" i="0" dirty="0">
                          <a:solidFill>
                            <a:srgbClr val="000000"/>
                          </a:solidFill>
                          <a:effectLst/>
                        </a:rPr>
                        <a:t>关键任务里程碑</a:t>
                      </a:r>
                      <a:endParaRPr lang="en-US" altLang="zh-CN" sz="1000" b="0" i="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hMerge="1">
                  <a:txBody>
                    <a:bodyPr/>
                    <a:lstStyle/>
                    <a:p>
                      <a:endParaRPr dirty="0"/>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endParaRPr lang="en-US" altLang="zh-CN" sz="1000" b="1" i="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endParaRPr lang="en-US" altLang="zh-CN" sz="1000" b="1" i="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tc>
                  <a:txBody>
                    <a:bodyPr/>
                    <a:lstStyle/>
                    <a:p>
                      <a:pPr fontAlgn="ctr" latinLnBrk="0"/>
                      <a:endParaRPr lang="en-US" altLang="zh-CN" sz="1000" b="1" i="0" dirty="0">
                        <a:solidFill>
                          <a:srgbClr val="000000"/>
                        </a:solidFill>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9FA"/>
                    </a:solidFill>
                  </a:tcPr>
                </a:tc>
                <a:extLst>
                  <a:ext uri="{0D108BD9-81ED-4DB2-BD59-A6C34878D82A}">
                    <a16:rowId xmlns="" xmlns:a16="http://schemas.microsoft.com/office/drawing/2014/main" val="3427920358"/>
                  </a:ext>
                </a:extLst>
              </a:tr>
            </a:tbl>
          </a:graphicData>
        </a:graphic>
      </p:graphicFrame>
      <p:sp>
        <p:nvSpPr>
          <p:cNvPr id="5" name="Rectangle 1">
            <a:extLst>
              <a:ext uri="{FF2B5EF4-FFF2-40B4-BE49-F238E27FC236}">
                <a16:creationId xmlns="" xmlns:a16="http://schemas.microsoft.com/office/drawing/2014/main" id="{84E5B77B-EBCE-1040-2A91-214B2E732CE1}"/>
              </a:ext>
            </a:extLst>
          </p:cNvPr>
          <p:cNvSpPr>
            <a:spLocks noChangeArrowheads="1"/>
          </p:cNvSpPr>
          <p:nvPr/>
        </p:nvSpPr>
        <p:spPr bwMode="auto">
          <a:xfrm>
            <a:off x="1371600" y="33924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a:extLst>
              <a:ext uri="{FF2B5EF4-FFF2-40B4-BE49-F238E27FC236}">
                <a16:creationId xmlns="" xmlns:a16="http://schemas.microsoft.com/office/drawing/2014/main" id="{38BFBC83-1621-B3F4-99DD-59360ABEBEAE}"/>
              </a:ext>
            </a:extLst>
          </p:cNvPr>
          <p:cNvSpPr/>
          <p:nvPr/>
        </p:nvSpPr>
        <p:spPr>
          <a:xfrm>
            <a:off x="10916514" y="0"/>
            <a:ext cx="1275486" cy="1136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沙书</a:t>
            </a:r>
            <a:r>
              <a:rPr lang="zh-CN" altLang="en-US" dirty="0" smtClean="0"/>
              <a:t>立</a:t>
            </a:r>
            <a:endParaRPr lang="en-US" altLang="zh-CN" dirty="0" smtClean="0"/>
          </a:p>
          <a:p>
            <a:pPr algn="ctr"/>
            <a:r>
              <a:rPr lang="zh-CN" altLang="en-US" dirty="0"/>
              <a:t>赵波</a:t>
            </a:r>
            <a:endParaRPr lang="en-US" altLang="zh-CN" dirty="0"/>
          </a:p>
        </p:txBody>
      </p:sp>
    </p:spTree>
    <p:extLst>
      <p:ext uri="{BB962C8B-B14F-4D97-AF65-F5344CB8AC3E}">
        <p14:creationId xmlns:p14="http://schemas.microsoft.com/office/powerpoint/2010/main" val="28221575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Y0MWRjZTIxZWI5ZmZkYzk1OGM4ZWRhZWNhOGZiNzkifQ=="/>
  <p:tag name="RESOURCE_RECORD_KEY" val="{&quot;70&quot;:[3314412,3312483]}"/>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29632</TotalTime>
  <Words>2279</Words>
  <Application>Microsoft Office PowerPoint</Application>
  <PresentationFormat>宽屏</PresentationFormat>
  <Paragraphs>370</Paragraphs>
  <Slides>22</Slides>
  <Notes>1</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22</vt:i4>
      </vt:variant>
    </vt:vector>
  </HeadingPairs>
  <TitlesOfParts>
    <vt:vector size="32" baseType="lpstr">
      <vt:lpstr>MonospacedNumber</vt:lpstr>
      <vt:lpstr>宋体</vt:lpstr>
      <vt:lpstr>微软雅黑</vt:lpstr>
      <vt:lpstr>Arial</vt:lpstr>
      <vt:lpstr>Calibri</vt:lpstr>
      <vt:lpstr>Wingdings</vt:lpstr>
      <vt:lpstr>WPS</vt:lpstr>
      <vt:lpstr>自定义设计方案</vt:lpstr>
      <vt:lpstr>2_WPS</vt:lpstr>
      <vt:lpstr>1_WPS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黄海滨</dc:creator>
  <cp:lastModifiedBy>Lenovo</cp:lastModifiedBy>
  <cp:revision>410</cp:revision>
  <dcterms:created xsi:type="dcterms:W3CDTF">2024-04-11T14:37:00Z</dcterms:created>
  <dcterms:modified xsi:type="dcterms:W3CDTF">2025-03-21T07:32:59Z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3D581ACFB0384E74B2CFF6F630C2A670_13</vt:lpwstr>
  </property>
</Properties>
</file>