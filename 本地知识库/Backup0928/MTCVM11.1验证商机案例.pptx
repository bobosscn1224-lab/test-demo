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3"/>
  </p:notesMasterIdLst>
  <p:sldIdLst>
    <p:sldId id="257" r:id="rId2"/>
  </p:sldIdLst>
  <p:sldSz cx="6858000" cy="212407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CEA4"/>
    <a:srgbClr val="EFC487"/>
    <a:srgbClr val="630305"/>
    <a:srgbClr val="DCCDA5"/>
    <a:srgbClr val="4C240F"/>
    <a:srgbClr val="4403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23" autoAdjust="0"/>
    <p:restoredTop sz="94692"/>
  </p:normalViewPr>
  <p:slideViewPr>
    <p:cSldViewPr snapToGrid="0">
      <p:cViewPr>
        <p:scale>
          <a:sx n="70" d="100"/>
          <a:sy n="70" d="100"/>
        </p:scale>
        <p:origin x="2520" y="-36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377DDE-CFF2-244C-8189-1D6B56C32BD8}" type="datetimeFigureOut">
              <a:rPr kumimoji="1" lang="zh-CN" altLang="en-US" smtClean="0"/>
              <a:t>2025/8/22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30525" y="1143000"/>
            <a:ext cx="9969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04E162-6C39-EE43-BD8D-D898BC6629C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957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3476208"/>
            <a:ext cx="5829300" cy="739492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11156312"/>
            <a:ext cx="5143500" cy="51282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208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91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636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5295443"/>
            <a:ext cx="5915025" cy="883556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14214591"/>
            <a:ext cx="5915025" cy="4646413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5654366"/>
            <a:ext cx="2914650" cy="1347706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5654366"/>
            <a:ext cx="2914650" cy="1347706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355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1130878"/>
            <a:ext cx="5915025" cy="410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5206935"/>
            <a:ext cx="2901255" cy="255183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7758774"/>
            <a:ext cx="2901255" cy="11411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5206935"/>
            <a:ext cx="2915543" cy="255183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7758774"/>
            <a:ext cx="2915543" cy="11411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93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1876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2128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1416050"/>
            <a:ext cx="2211884" cy="495617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3058279"/>
            <a:ext cx="3471863" cy="150947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6372225"/>
            <a:ext cx="2211884" cy="11805335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359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1416050"/>
            <a:ext cx="2211884" cy="495617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3058279"/>
            <a:ext cx="3471863" cy="15094700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6372225"/>
            <a:ext cx="2211884" cy="11805335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224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7714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1130873"/>
            <a:ext cx="1478756" cy="1800055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1130873"/>
            <a:ext cx="4350544" cy="1800055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0266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1130878"/>
            <a:ext cx="5915025" cy="410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5654366"/>
            <a:ext cx="5915025" cy="13477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19687033"/>
            <a:ext cx="1543050" cy="11308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66731A-0CFF-41AA-B263-2F568EF76ECA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9687033"/>
            <a:ext cx="2314575" cy="11308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9687033"/>
            <a:ext cx="1543050" cy="11308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1480F280-FE05-5E3D-70E7-B87EFA611D8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6858000" cy="2124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513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740646"/>
            <a:ext cx="6857999" cy="1688524"/>
            <a:chOff x="0" y="880346"/>
            <a:chExt cx="6857999" cy="1688524"/>
          </a:xfrm>
        </p:grpSpPr>
        <p:sp>
          <p:nvSpPr>
            <p:cNvPr id="4" name="矩形 3"/>
            <p:cNvSpPr/>
            <p:nvPr/>
          </p:nvSpPr>
          <p:spPr>
            <a:xfrm>
              <a:off x="0" y="880346"/>
              <a:ext cx="6857999" cy="1659654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6049" y="962276"/>
              <a:ext cx="6765900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5400" b="1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MTCV</a:t>
              </a:r>
              <a:r>
                <a:rPr lang="zh-CN" altLang="en-US" sz="5400" b="1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流程实践</a:t>
              </a:r>
              <a:r>
                <a:rPr lang="zh-CN" altLang="en-US" sz="5400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案例</a:t>
              </a:r>
              <a:endParaRPr lang="en-US" altLang="zh-CN" sz="5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zh-CN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M11.1 </a:t>
              </a:r>
              <a:r>
                <a:rPr lang="zh-CN" altLang="en-US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验证商机流程</a:t>
              </a:r>
              <a:r>
                <a:rPr lang="en-US" altLang="zh-CN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</a:t>
              </a:r>
              <a:r>
                <a:rPr lang="zh-CN" altLang="en-US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山东区域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760274" y="2867294"/>
            <a:ext cx="52485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 </a:t>
            </a:r>
            <a:r>
              <a:rPr lang="zh-CN" altLang="en-US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山东区域验证商机流程实践成果</a:t>
            </a:r>
            <a:r>
              <a:rPr lang="en-US" altLang="zh-CN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endParaRPr lang="en-US" altLang="zh-CN" sz="2400" b="1" dirty="0">
              <a:solidFill>
                <a:srgbClr val="DCCEA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64625" y="3351805"/>
            <a:ext cx="631861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试点</a:t>
            </a: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 </a:t>
            </a: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自工序项目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明确流程活动、输入</a:t>
            </a:r>
            <a:r>
              <a:rPr lang="en-US" altLang="zh-CN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输出及良品条件，</a:t>
            </a: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提升漏斗质量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月产品 、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金额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输入准确率，</a:t>
            </a: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环比</a:t>
            </a: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均提升</a:t>
            </a:r>
            <a:r>
              <a:rPr lang="en-US" altLang="zh-CN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+58%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同比分别提升</a:t>
            </a:r>
            <a:r>
              <a:rPr lang="en-US" altLang="zh-CN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+11</a:t>
            </a:r>
            <a:r>
              <a:rPr lang="en-US" altLang="zh-CN" sz="16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r>
              <a:rPr lang="zh-CN" altLang="en-US" sz="16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en-US" altLang="zh-CN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20%</a:t>
            </a:r>
            <a:endParaRPr lang="en-US" altLang="zh-CN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CRM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方案实现重点项目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自动分级、匹配人员、发起立项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告别</a:t>
            </a: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手动操作，减少无效</a:t>
            </a: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流程活动，</a:t>
            </a: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效率</a:t>
            </a:r>
            <a:r>
              <a:rPr lang="zh-CN" altLang="en-US" sz="16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跃升</a:t>
            </a:r>
            <a:endParaRPr lang="en-US" altLang="zh-CN" sz="1600" b="1" dirty="0" smtClean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立项</a:t>
            </a: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进度</a:t>
            </a: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看</a:t>
            </a: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板</a:t>
            </a:r>
            <a:r>
              <a:rPr lang="en-US" altLang="zh-CN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运转</a:t>
            </a: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机制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，联合销管团队共同推进，</a:t>
            </a:r>
            <a:r>
              <a:rPr lang="zh-CN" altLang="en-US" sz="16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</a:t>
            </a: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执行情况透明</a:t>
            </a:r>
            <a:r>
              <a:rPr lang="zh-CN" altLang="en-US" sz="16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高效</a:t>
            </a:r>
            <a:endParaRPr lang="en-US" altLang="zh-CN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21427" y="6521160"/>
            <a:ext cx="50321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 </a:t>
            </a:r>
            <a:r>
              <a:rPr lang="zh-CN" altLang="en-US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山东区域是如何</a:t>
            </a:r>
            <a:r>
              <a:rPr lang="zh-CN" altLang="en-US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实践流程的？ </a:t>
            </a:r>
            <a:r>
              <a:rPr lang="en-US" altLang="zh-CN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endParaRPr lang="en-US" altLang="zh-CN" sz="2400" b="1" dirty="0">
              <a:solidFill>
                <a:srgbClr val="DCCEA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42268" y="2752670"/>
            <a:ext cx="6563331" cy="3340100"/>
          </a:xfrm>
          <a:prstGeom prst="rect">
            <a:avLst/>
          </a:prstGeom>
          <a:noFill/>
          <a:ln w="38100">
            <a:solidFill>
              <a:srgbClr val="DCCE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42268" y="6296527"/>
            <a:ext cx="6563331" cy="8656538"/>
          </a:xfrm>
          <a:prstGeom prst="rect">
            <a:avLst/>
          </a:prstGeom>
          <a:noFill/>
          <a:ln w="38100">
            <a:solidFill>
              <a:srgbClr val="DCCE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142267" y="9933451"/>
            <a:ext cx="6563332" cy="2354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通过自工序方法积极开展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的试点工作，提升漏斗质量：</a:t>
            </a:r>
            <a:endParaRPr lang="en-US" altLang="zh-CN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lang="en-US" altLang="zh-CN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的业务定义明确核心关联抓手是</a:t>
            </a: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配置清单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可信度自评打分</a:t>
            </a: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标准及</a:t>
            </a: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清单可信度要求</a:t>
            </a:r>
            <a:r>
              <a:rPr lang="zh-CN" altLang="en-US" sz="14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聚焦核心业务场景：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商机漏斗外进漏斗内和漏斗内项目预测类别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变化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持续更新配置清单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针对</a:t>
            </a:r>
            <a:r>
              <a:rPr lang="en-US" altLang="zh-CN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3T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预计要货时间，预计开标时间，要求到货时间）：规范</a:t>
            </a: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推算方法与质量标准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助力销售人员</a:t>
            </a: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提升时间估算准确性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041249" y="15364114"/>
            <a:ext cx="30027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流程使用者反馈</a:t>
            </a:r>
            <a:r>
              <a:rPr lang="en-US" altLang="zh-CN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endParaRPr lang="en-US" altLang="zh-CN" sz="2400" b="1" dirty="0">
              <a:solidFill>
                <a:srgbClr val="DCCEA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60640" y="15156822"/>
            <a:ext cx="6563331" cy="4635401"/>
          </a:xfrm>
          <a:prstGeom prst="rect">
            <a:avLst/>
          </a:prstGeom>
          <a:noFill/>
          <a:ln w="38100">
            <a:solidFill>
              <a:srgbClr val="DCCE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160640" y="15156822"/>
            <a:ext cx="6544959" cy="4487497"/>
          </a:xfrm>
          <a:prstGeom prst="rect">
            <a:avLst/>
          </a:prstGeom>
          <a:solidFill>
            <a:schemeClr val="tx1">
              <a:lumMod val="95000"/>
              <a:lumOff val="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326685" y="15836879"/>
            <a:ext cx="63881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刘忠强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（售前）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有了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的这套流程和方法，确实让售前在配置清单的这项工作上有了很明确的指导，提高了工作效率也加强了售前与销售之间的沟通和协同。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是一个很好的开始，目前线下操作和校验工作量比较大，希望以后能够上数字化方案进行流程的优化和持续改进。</a:t>
            </a:r>
            <a:endParaRPr lang="en-US" altLang="zh-CN" sz="16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刘娜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（销售）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通过这个流程，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让大家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3T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的标准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概念和关键活动有了统一清晰的认知和共识，这样有利于整体业务提升。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期待数字化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方案上线后对流程效率的提升。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-38889" y="19927515"/>
            <a:ext cx="6896888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《DSTE</a:t>
            </a:r>
            <a:r>
              <a:rPr lang="zh-CN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战略洞察</a:t>
            </a:r>
            <a:r>
              <a:rPr lang="en-US" altLang="zh-CN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-END</a:t>
            </a:r>
            <a:r>
              <a:rPr lang="zh-CN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事业部实践案例</a:t>
            </a:r>
            <a:r>
              <a:rPr lang="en-US" altLang="zh-CN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案例详情</a:t>
            </a:r>
            <a:endParaRPr lang="en-US" altLang="zh-CN" sz="16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飞</a:t>
            </a:r>
            <a:r>
              <a:rPr lang="zh-CN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书云文档：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EBG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流程知识库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-&gt;MTCV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流程知识库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流程实践案例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https://ruijie.feishu.cn/wiki/VhagwA2QpibBoukCjuPcHCBDnPf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27888" y="12173534"/>
            <a:ext cx="6563332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商机分级分层与立项决策全线上自动化管理，提升流程效率：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明确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项目分级分层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定义及标准，在</a:t>
            </a:r>
            <a:r>
              <a:rPr lang="en-US" altLang="zh-CN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CRM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系统中预设规则，</a:t>
            </a: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系统自动对满足条件的重点项目进行分层分级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，包括：区域级，</a:t>
            </a:r>
            <a:r>
              <a:rPr lang="en-US" altLang="zh-CN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级和</a:t>
            </a:r>
            <a:r>
              <a:rPr lang="en-US" altLang="zh-CN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BG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</a:t>
            </a:r>
            <a:endParaRPr lang="en-US" altLang="zh-CN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针对不同级别项目，</a:t>
            </a: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系统自动带出项目核心成员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，并按照预设规则</a:t>
            </a: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自动发起立项申请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给到相关负责人决策审批。</a:t>
            </a:r>
            <a:endParaRPr lang="en-US" altLang="zh-CN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08" y="7052016"/>
            <a:ext cx="6268893" cy="2761064"/>
          </a:xfrm>
          <a:prstGeom prst="rect">
            <a:avLst/>
          </a:prstGeom>
        </p:spPr>
      </p:pic>
      <p:sp>
        <p:nvSpPr>
          <p:cNvPr id="29" name="矩形 28"/>
          <p:cNvSpPr/>
          <p:nvPr/>
        </p:nvSpPr>
        <p:spPr>
          <a:xfrm>
            <a:off x="160640" y="14048524"/>
            <a:ext cx="6563332" cy="877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设计立项数据看板，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联合销管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BP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共同推进流程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通过销售周例会进行项目数据呈现与跟催，</a:t>
            </a: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提升流程执行率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8136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4458</TotalTime>
  <Words>504</Words>
  <Application>Microsoft Office PowerPoint</Application>
  <PresentationFormat>自定义</PresentationFormat>
  <Paragraphs>24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微软雅黑</vt:lpstr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帐户</dc:creator>
  <cp:lastModifiedBy>Lenovo</cp:lastModifiedBy>
  <cp:revision>105</cp:revision>
  <dcterms:created xsi:type="dcterms:W3CDTF">2025-07-30T10:15:34Z</dcterms:created>
  <dcterms:modified xsi:type="dcterms:W3CDTF">2025-08-22T08:51:27Z</dcterms:modified>
</cp:coreProperties>
</file>