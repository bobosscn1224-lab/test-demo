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33"/>
  </p:notesMasterIdLst>
  <p:sldIdLst>
    <p:sldId id="256" r:id="rId3"/>
    <p:sldId id="259" r:id="rId4"/>
    <p:sldId id="324" r:id="rId5"/>
    <p:sldId id="307" r:id="rId6"/>
    <p:sldId id="323" r:id="rId7"/>
    <p:sldId id="312" r:id="rId8"/>
    <p:sldId id="282" r:id="rId9"/>
    <p:sldId id="308" r:id="rId10"/>
    <p:sldId id="311" r:id="rId11"/>
    <p:sldId id="329" r:id="rId12"/>
    <p:sldId id="330" r:id="rId13"/>
    <p:sldId id="331" r:id="rId14"/>
    <p:sldId id="332" r:id="rId15"/>
    <p:sldId id="333" r:id="rId16"/>
    <p:sldId id="334" r:id="rId17"/>
    <p:sldId id="309" r:id="rId18"/>
    <p:sldId id="310" r:id="rId19"/>
    <p:sldId id="314" r:id="rId20"/>
    <p:sldId id="313" r:id="rId21"/>
    <p:sldId id="315" r:id="rId22"/>
    <p:sldId id="317" r:id="rId23"/>
    <p:sldId id="318" r:id="rId24"/>
    <p:sldId id="319" r:id="rId25"/>
    <p:sldId id="320" r:id="rId26"/>
    <p:sldId id="326" r:id="rId27"/>
    <p:sldId id="327" r:id="rId28"/>
    <p:sldId id="328" r:id="rId29"/>
    <p:sldId id="322" r:id="rId30"/>
    <p:sldId id="266" r:id="rId31"/>
    <p:sldId id="316" r:id="rId32"/>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70" autoAdjust="0"/>
    <p:restoredTop sz="90196" autoAdjust="0"/>
  </p:normalViewPr>
  <p:slideViewPr>
    <p:cSldViewPr snapToGrid="0">
      <p:cViewPr varScale="1">
        <p:scale>
          <a:sx n="88" d="100"/>
          <a:sy n="88" d="100"/>
        </p:scale>
        <p:origin x="499" y="48"/>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23344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2025/9/8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4881465" cy="492443"/>
          </a:xfrm>
          <a:prstGeom prst="rect">
            <a:avLst/>
          </a:prstGeom>
          <a:noFill/>
        </p:spPr>
        <p:txBody>
          <a:bodyPr wrap="none" rtlCol="0">
            <a:spAutoFit/>
          </a:bodyPr>
          <a:lstStyle/>
          <a:p>
            <a:r>
              <a:rPr kumimoji="1" lang="zh-CN" altLang="en-US" sz="2600" b="1" dirty="0">
                <a:solidFill>
                  <a:schemeClr val="bg1">
                    <a:lumMod val="50000"/>
                  </a:schemeClr>
                </a:solidFill>
                <a:latin typeface="微软雅黑" panose="020B0503020204020204" pitchFamily="34" charset="-122"/>
                <a:ea typeface="微软雅黑" panose="020B0503020204020204" pitchFamily="34" charset="-122"/>
              </a:rPr>
              <a:t>关于</a:t>
            </a:r>
            <a:r>
              <a:rPr kumimoji="1" lang="en-US" altLang="zh-CN" sz="2600" b="1" dirty="0">
                <a:solidFill>
                  <a:schemeClr val="bg1">
                    <a:lumMod val="50000"/>
                  </a:schemeClr>
                </a:solidFill>
                <a:latin typeface="微软雅黑" panose="020B0503020204020204" pitchFamily="34" charset="-122"/>
                <a:ea typeface="微软雅黑" panose="020B0503020204020204" pitchFamily="34" charset="-122"/>
              </a:rPr>
              <a:t>N</a:t>
            </a:r>
            <a:r>
              <a:rPr kumimoji="1" lang="zh-CN" altLang="en-US" sz="2600" b="1" dirty="0">
                <a:solidFill>
                  <a:schemeClr val="bg1">
                    <a:lumMod val="50000"/>
                  </a:schemeClr>
                </a:solidFill>
                <a:latin typeface="微软雅黑" panose="020B0503020204020204" pitchFamily="34" charset="-122"/>
                <a:ea typeface="微软雅黑" panose="020B0503020204020204" pitchFamily="34" charset="-122"/>
              </a:rPr>
              <a:t>和</a:t>
            </a:r>
            <a:r>
              <a:rPr kumimoji="1" lang="en-US" altLang="zh-CN" sz="2600" b="1" dirty="0">
                <a:solidFill>
                  <a:schemeClr val="bg1">
                    <a:lumMod val="50000"/>
                  </a:schemeClr>
                </a:solidFill>
                <a:latin typeface="微软雅黑" panose="020B0503020204020204" pitchFamily="34" charset="-122"/>
                <a:ea typeface="微软雅黑" panose="020B0503020204020204" pitchFamily="34" charset="-122"/>
              </a:rPr>
              <a:t>3T</a:t>
            </a:r>
            <a:r>
              <a:rPr kumimoji="1" lang="zh-CN" altLang="en-US" sz="2600" b="1" dirty="0">
                <a:solidFill>
                  <a:schemeClr val="bg1">
                    <a:lumMod val="50000"/>
                  </a:schemeClr>
                </a:solidFill>
                <a:latin typeface="微软雅黑" panose="020B0503020204020204" pitchFamily="34" charset="-122"/>
                <a:ea typeface="微软雅黑" panose="020B0503020204020204" pitchFamily="34" charset="-122"/>
              </a:rPr>
              <a:t>流程和质量标准培训</a:t>
            </a: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a:solidFill>
                  <a:schemeClr val="bg1">
                    <a:lumMod val="50000"/>
                  </a:schemeClr>
                </a:solidFill>
                <a:latin typeface="微软雅黑" panose="020B0503020204020204" pitchFamily="34" charset="-122"/>
                <a:ea typeface="微软雅黑" panose="020B0503020204020204" pitchFamily="34" charset="-122"/>
              </a:rPr>
              <a:t>2025.08</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90" y="24427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背景，试点结果与整体计划</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zh-CN" altLang="en-US" dirty="0"/>
              <a:t>答疑与互动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a:t>背景</a:t>
            </a:r>
          </a:p>
        </p:txBody>
      </p:sp>
      <p:grpSp>
        <p:nvGrpSpPr>
          <p:cNvPr id="12" name="组合 11"/>
          <p:cNvGrpSpPr/>
          <p:nvPr/>
        </p:nvGrpSpPr>
        <p:grpSpPr>
          <a:xfrm>
            <a:off x="157833" y="903721"/>
            <a:ext cx="4438962" cy="5657791"/>
            <a:chOff x="356958" y="904534"/>
            <a:chExt cx="4438962" cy="5657791"/>
          </a:xfrm>
        </p:grpSpPr>
        <p:sp>
          <p:nvSpPr>
            <p:cNvPr id="13" name="文本框 12"/>
            <p:cNvSpPr txBox="1"/>
            <p:nvPr/>
          </p:nvSpPr>
          <p:spPr>
            <a:xfrm>
              <a:off x="933552" y="904534"/>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过去销售售前如何做“</a:t>
              </a:r>
              <a:r>
                <a:rPr lang="en-US" altLang="zh-CN" b="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”的？</a:t>
              </a:r>
            </a:p>
          </p:txBody>
        </p:sp>
        <p:sp>
          <p:nvSpPr>
            <p:cNvPr id="14" name="矩形 13"/>
            <p:cNvSpPr/>
            <p:nvPr/>
          </p:nvSpPr>
          <p:spPr>
            <a:xfrm>
              <a:off x="356958" y="1362474"/>
              <a:ext cx="4438962" cy="51998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515219" y="1527924"/>
              <a:ext cx="2219334" cy="4756058"/>
              <a:chOff x="543116" y="1697358"/>
              <a:chExt cx="2815695" cy="4383402"/>
            </a:xfrm>
          </p:grpSpPr>
          <p:sp>
            <p:nvSpPr>
              <p:cNvPr id="32" name="圆角矩形 31"/>
              <p:cNvSpPr/>
              <p:nvPr/>
            </p:nvSpPr>
            <p:spPr>
              <a:xfrm>
                <a:off x="2140518"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线索满足进漏斗条件</a:t>
                </a:r>
              </a:p>
            </p:txBody>
          </p:sp>
          <p:sp>
            <p:nvSpPr>
              <p:cNvPr id="33" name="圆角矩形 32"/>
              <p:cNvSpPr/>
              <p:nvPr/>
            </p:nvSpPr>
            <p:spPr>
              <a:xfrm>
                <a:off x="2132737" y="3473153"/>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获取配置器清单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a:solidFill>
                      <a:schemeClr val="tx1"/>
                    </a:solidFill>
                    <a:latin typeface="微软雅黑" panose="020B0503020204020204" pitchFamily="34" charset="-122"/>
                    <a:ea typeface="微软雅黑" panose="020B0503020204020204" pitchFamily="34" charset="-122"/>
                  </a:rPr>
                  <a:t>）</a:t>
                </a:r>
              </a:p>
            </p:txBody>
          </p:sp>
          <p:sp>
            <p:nvSpPr>
              <p:cNvPr id="34" name="圆角矩形 33"/>
              <p:cNvSpPr/>
              <p:nvPr/>
            </p:nvSpPr>
            <p:spPr>
              <a:xfrm>
                <a:off x="2131743" y="420946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保存至</a:t>
                </a:r>
                <a:r>
                  <a:rPr lang="en-US" altLang="zh-CN" sz="700" dirty="0">
                    <a:solidFill>
                      <a:schemeClr val="tx1"/>
                    </a:solidFill>
                    <a:latin typeface="微软雅黑" panose="020B0503020204020204" pitchFamily="34" charset="-122"/>
                    <a:ea typeface="微软雅黑" panose="020B0503020204020204" pitchFamily="34" charset="-122"/>
                  </a:rPr>
                  <a:t>CRM</a:t>
                </a: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a:solidFill>
                      <a:schemeClr val="tx1"/>
                    </a:solidFill>
                    <a:latin typeface="微软雅黑" panose="020B0503020204020204" pitchFamily="34" charset="-122"/>
                    <a:ea typeface="微软雅黑" panose="020B0503020204020204" pitchFamily="34" charset="-122"/>
                  </a:rPr>
                  <a:t>）</a:t>
                </a:r>
              </a:p>
            </p:txBody>
          </p:sp>
          <p:sp>
            <p:nvSpPr>
              <p:cNvPr id="35" name="圆角矩形 34"/>
              <p:cNvSpPr/>
              <p:nvPr/>
            </p:nvSpPr>
            <p:spPr>
              <a:xfrm>
                <a:off x="682572" y="2776971"/>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配产品清单（产品配置器）</a:t>
                </a:r>
              </a:p>
            </p:txBody>
          </p:sp>
          <p:sp>
            <p:nvSpPr>
              <p:cNvPr id="36" name="圆角矩形 35"/>
              <p:cNvSpPr/>
              <p:nvPr/>
            </p:nvSpPr>
            <p:spPr>
              <a:xfrm>
                <a:off x="682570" y="346619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分享产品报价单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（产品配置器）</a:t>
                </a:r>
              </a:p>
            </p:txBody>
          </p:sp>
          <p:sp>
            <p:nvSpPr>
              <p:cNvPr id="37" name="圆角矩形 36"/>
              <p:cNvSpPr/>
              <p:nvPr/>
            </p:nvSpPr>
            <p:spPr>
              <a:xfrm>
                <a:off x="683722"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获取客户需求</a:t>
                </a:r>
              </a:p>
            </p:txBody>
          </p:sp>
          <p:cxnSp>
            <p:nvCxnSpPr>
              <p:cNvPr id="38" name="直接箭头连接符 37"/>
              <p:cNvCxnSpPr>
                <a:stCxn id="37" idx="2"/>
                <a:endCxn id="35" idx="0"/>
              </p:cNvCxnSpPr>
              <p:nvPr/>
            </p:nvCxnSpPr>
            <p:spPr>
              <a:xfrm flipH="1">
                <a:off x="1220740" y="2567091"/>
                <a:ext cx="1151" cy="20988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5" idx="2"/>
                <a:endCxn id="36" idx="0"/>
              </p:cNvCxnSpPr>
              <p:nvPr/>
            </p:nvCxnSpPr>
            <p:spPr>
              <a:xfrm flipH="1">
                <a:off x="1220739" y="3192877"/>
                <a:ext cx="1" cy="27331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2135965" y="2775044"/>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创建报价单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CRM</a:t>
                </a:r>
                <a:r>
                  <a:rPr lang="zh-CN" altLang="en-US" sz="700" dirty="0">
                    <a:solidFill>
                      <a:schemeClr val="tx1"/>
                    </a:solidFill>
                    <a:latin typeface="微软雅黑" panose="020B0503020204020204" pitchFamily="34" charset="-122"/>
                    <a:ea typeface="微软雅黑" panose="020B0503020204020204" pitchFamily="34" charset="-122"/>
                  </a:rPr>
                  <a:t>）</a:t>
                </a:r>
              </a:p>
            </p:txBody>
          </p:sp>
          <p:cxnSp>
            <p:nvCxnSpPr>
              <p:cNvPr id="41" name="直接箭头连接符 40"/>
              <p:cNvCxnSpPr>
                <a:stCxn id="32" idx="2"/>
                <a:endCxn id="40" idx="0"/>
              </p:cNvCxnSpPr>
              <p:nvPr/>
            </p:nvCxnSpPr>
            <p:spPr>
              <a:xfrm flipH="1">
                <a:off x="2674133" y="2567091"/>
                <a:ext cx="4553" cy="2079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3" idx="2"/>
                <a:endCxn id="34" idx="0"/>
              </p:cNvCxnSpPr>
              <p:nvPr/>
            </p:nvCxnSpPr>
            <p:spPr>
              <a:xfrm flipH="1">
                <a:off x="2669912" y="3889059"/>
                <a:ext cx="993" cy="3204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40" idx="2"/>
                <a:endCxn id="33" idx="0"/>
              </p:cNvCxnSpPr>
              <p:nvPr/>
            </p:nvCxnSpPr>
            <p:spPr>
              <a:xfrm flipH="1">
                <a:off x="2670905" y="3190950"/>
                <a:ext cx="3228" cy="2822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900022" y="1782000"/>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p>
            </p:txBody>
          </p:sp>
          <p:sp>
            <p:nvSpPr>
              <p:cNvPr id="45" name="文本框 44"/>
              <p:cNvSpPr txBox="1"/>
              <p:nvPr/>
            </p:nvSpPr>
            <p:spPr>
              <a:xfrm>
                <a:off x="2378060" y="1775505"/>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销售</a:t>
                </a:r>
              </a:p>
            </p:txBody>
          </p:sp>
          <p:sp>
            <p:nvSpPr>
              <p:cNvPr id="46" name="矩形 45"/>
              <p:cNvSpPr/>
              <p:nvPr/>
            </p:nvSpPr>
            <p:spPr>
              <a:xfrm>
                <a:off x="543116" y="1697358"/>
                <a:ext cx="1357549" cy="4383402"/>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47" name="矩形 46"/>
              <p:cNvSpPr/>
              <p:nvPr/>
            </p:nvSpPr>
            <p:spPr>
              <a:xfrm>
                <a:off x="2018779" y="1699201"/>
                <a:ext cx="1340032" cy="4381559"/>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grpSp>
        <p:sp>
          <p:nvSpPr>
            <p:cNvPr id="16" name="矩形 15"/>
            <p:cNvSpPr/>
            <p:nvPr/>
          </p:nvSpPr>
          <p:spPr>
            <a:xfrm>
              <a:off x="2961446" y="1996548"/>
              <a:ext cx="1724968" cy="13621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售前缺少在漏斗外进漏斗内时对</a:t>
              </a:r>
              <a:r>
                <a:rPr lang="zh-CN" altLang="en-US" sz="1200" dirty="0">
                  <a:solidFill>
                    <a:srgbClr val="FF0000"/>
                  </a:solidFill>
                  <a:latin typeface="微软雅黑" panose="020B0503020204020204" pitchFamily="34" charset="-122"/>
                  <a:ea typeface="微软雅黑" panose="020B0503020204020204" pitchFamily="34" charset="-122"/>
                </a:rPr>
                <a:t>“产品清单做准的”要求、标准、指导，存在根据历史项目产品清单简单调整，只匹配上总金额就提交的情况</a:t>
              </a:r>
            </a:p>
          </p:txBody>
        </p:sp>
        <p:sp>
          <p:nvSpPr>
            <p:cNvPr id="17" name="矩形 16"/>
            <p:cNvSpPr/>
            <p:nvPr/>
          </p:nvSpPr>
          <p:spPr>
            <a:xfrm>
              <a:off x="2938958" y="3761431"/>
              <a:ext cx="1747456" cy="14506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销售存在根据</a:t>
              </a:r>
              <a:r>
                <a:rPr lang="en-US" altLang="zh-CN" sz="1200" dirty="0">
                  <a:solidFill>
                    <a:schemeClr val="tx1"/>
                  </a:solidFill>
                  <a:latin typeface="微软雅黑" panose="020B0503020204020204" pitchFamily="34" charset="-122"/>
                  <a:ea typeface="微软雅黑" panose="020B0503020204020204" pitchFamily="34" charset="-122"/>
                </a:rPr>
                <a:t>ECP</a:t>
              </a:r>
              <a:r>
                <a:rPr lang="zh-CN" altLang="en-US" sz="1200" dirty="0">
                  <a:solidFill>
                    <a:schemeClr val="tx1"/>
                  </a:solidFill>
                  <a:latin typeface="微软雅黑" panose="020B0503020204020204" pitchFamily="34" charset="-122"/>
                  <a:ea typeface="微软雅黑" panose="020B0503020204020204" pitchFamily="34" charset="-122"/>
                </a:rPr>
                <a:t>系统里，</a:t>
              </a:r>
              <a:r>
                <a:rPr lang="zh-CN" altLang="en-US" sz="1200" dirty="0">
                  <a:solidFill>
                    <a:srgbClr val="FF0000"/>
                  </a:solidFill>
                  <a:latin typeface="微软雅黑" panose="020B0503020204020204" pitchFamily="34" charset="-122"/>
                  <a:ea typeface="微软雅黑" panose="020B0503020204020204" pitchFamily="34" charset="-122"/>
                </a:rPr>
                <a:t>使用历史存留的产品报价清单，简单修改，只要匹配上总金额，就提交</a:t>
              </a:r>
              <a:r>
                <a:rPr lang="zh-CN" altLang="en-US" sz="1200" dirty="0">
                  <a:solidFill>
                    <a:schemeClr val="tx1"/>
                  </a:solidFill>
                  <a:latin typeface="微软雅黑" panose="020B0503020204020204" pitchFamily="34" charset="-122"/>
                  <a:ea typeface="微软雅黑" panose="020B0503020204020204" pitchFamily="34" charset="-122"/>
                </a:rPr>
                <a:t>的情况，同时在漏斗外进漏斗内环节缺少检查产品清单的机制</a:t>
              </a:r>
            </a:p>
          </p:txBody>
        </p:sp>
        <p:sp>
          <p:nvSpPr>
            <p:cNvPr id="18" name="文本框 17"/>
            <p:cNvSpPr txBox="1"/>
            <p:nvPr/>
          </p:nvSpPr>
          <p:spPr>
            <a:xfrm>
              <a:off x="2971115" y="1604389"/>
              <a:ext cx="1438214"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为什么不准</a:t>
              </a:r>
            </a:p>
          </p:txBody>
        </p:sp>
        <p:cxnSp>
          <p:nvCxnSpPr>
            <p:cNvPr id="19" name="直接箭头连接符 18"/>
            <p:cNvCxnSpPr>
              <a:stCxn id="36" idx="3"/>
              <a:endCxn id="33" idx="1"/>
            </p:cNvCxnSpPr>
            <p:nvPr/>
          </p:nvCxnSpPr>
          <p:spPr>
            <a:xfrm>
              <a:off x="1473506" y="3672768"/>
              <a:ext cx="294654" cy="75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8325" y="3262055"/>
              <a:ext cx="316228" cy="316228"/>
            </a:xfrm>
            <a:prstGeom prst="rect">
              <a:avLst/>
            </a:prstGeom>
          </p:spPr>
        </p:pic>
        <p:pic>
          <p:nvPicPr>
            <p:cNvPr id="29" name="图片 28"/>
            <p:cNvPicPr>
              <a:picLocks noChangeAspect="1"/>
            </p:cNvPicPr>
            <p:nvPr/>
          </p:nvPicPr>
          <p:blipFill>
            <a:blip r:embed="rId3" cstate="print">
              <a:extLst>
                <a:ext uri="{BEBA8EAE-BF5A-486C-A8C5-ECC9F3942E4B}">
                  <a14:imgProps xmlns:a14="http://schemas.microsoft.com/office/drawing/2010/main">
                    <a14:imgLayer r:embed="rId4">
                      <a14:imgEffect>
                        <a14:backgroundRemoval t="4182" b="90000" l="10000" r="90000"/>
                      </a14:imgEffect>
                    </a14:imgLayer>
                  </a14:imgProps>
                </a:ext>
                <a:ext uri="{28A0092B-C50C-407E-A947-70E740481C1C}">
                  <a14:useLocalDpi xmlns:a14="http://schemas.microsoft.com/office/drawing/2010/main" val="0"/>
                </a:ext>
              </a:extLst>
            </a:blip>
            <a:stretch>
              <a:fillRect/>
            </a:stretch>
          </p:blipFill>
          <p:spPr>
            <a:xfrm>
              <a:off x="1237193" y="2545837"/>
              <a:ext cx="316228" cy="316228"/>
            </a:xfrm>
            <a:prstGeom prst="rect">
              <a:avLst/>
            </a:prstGeom>
          </p:spPr>
        </p:pic>
        <p:cxnSp>
          <p:nvCxnSpPr>
            <p:cNvPr id="30" name="直接箭头连接符 29"/>
            <p:cNvCxnSpPr>
              <a:stCxn id="29" idx="3"/>
              <a:endCxn id="16" idx="1"/>
            </p:cNvCxnSpPr>
            <p:nvPr/>
          </p:nvCxnSpPr>
          <p:spPr>
            <a:xfrm flipV="1">
              <a:off x="1553421" y="2677644"/>
              <a:ext cx="1408025" cy="263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8" idx="2"/>
              <a:endCxn id="17" idx="1"/>
            </p:cNvCxnSpPr>
            <p:nvPr/>
          </p:nvCxnSpPr>
          <p:spPr>
            <a:xfrm>
              <a:off x="2576439" y="3578283"/>
              <a:ext cx="362519" cy="908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4878109" y="856790"/>
            <a:ext cx="5078064" cy="5807655"/>
            <a:chOff x="340538" y="982611"/>
            <a:chExt cx="5078064" cy="5807655"/>
          </a:xfrm>
        </p:grpSpPr>
        <p:sp>
          <p:nvSpPr>
            <p:cNvPr id="49" name="文本框 48"/>
            <p:cNvSpPr txBox="1"/>
            <p:nvPr/>
          </p:nvSpPr>
          <p:spPr>
            <a:xfrm>
              <a:off x="1401350" y="982611"/>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过去销售是如何做“</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”的？</a:t>
              </a:r>
            </a:p>
          </p:txBody>
        </p:sp>
        <p:sp>
          <p:nvSpPr>
            <p:cNvPr id="50" name="矩形 49"/>
            <p:cNvSpPr/>
            <p:nvPr/>
          </p:nvSpPr>
          <p:spPr>
            <a:xfrm>
              <a:off x="340538" y="1439521"/>
              <a:ext cx="5078064" cy="535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51" name="组合 50"/>
            <p:cNvGrpSpPr/>
            <p:nvPr/>
          </p:nvGrpSpPr>
          <p:grpSpPr>
            <a:xfrm>
              <a:off x="516651" y="1548453"/>
              <a:ext cx="4605309" cy="715951"/>
              <a:chOff x="516651" y="1548453"/>
              <a:chExt cx="4605309" cy="715951"/>
            </a:xfrm>
          </p:grpSpPr>
          <p:sp>
            <p:nvSpPr>
              <p:cNvPr id="57" name="圆角矩形 56"/>
              <p:cNvSpPr/>
              <p:nvPr/>
            </p:nvSpPr>
            <p:spPr>
              <a:xfrm>
                <a:off x="516651" y="1548453"/>
                <a:ext cx="4605309" cy="71595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757592" y="1740420"/>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开标时间</a:t>
                </a:r>
              </a:p>
            </p:txBody>
          </p:sp>
          <p:sp>
            <p:nvSpPr>
              <p:cNvPr id="59" name="圆角矩形 58"/>
              <p:cNvSpPr/>
              <p:nvPr/>
            </p:nvSpPr>
            <p:spPr>
              <a:xfrm>
                <a:off x="2401037" y="1717921"/>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下单时间</a:t>
                </a:r>
              </a:p>
            </p:txBody>
          </p:sp>
        </p:grpSp>
        <p:sp>
          <p:nvSpPr>
            <p:cNvPr id="52" name="圆角矩形 51"/>
            <p:cNvSpPr/>
            <p:nvPr/>
          </p:nvSpPr>
          <p:spPr>
            <a:xfrm>
              <a:off x="4031461" y="1723417"/>
              <a:ext cx="956863" cy="366021"/>
            </a:xfrm>
            <a:prstGeom prst="roundRect">
              <a:avLst/>
            </a:prstGeom>
            <a:solidFill>
              <a:schemeClr val="bg1">
                <a:lumMod val="65000"/>
              </a:schemeClr>
            </a:solidFill>
            <a:ln w="12700">
              <a:solidFill>
                <a:srgbClr val="FF0000"/>
              </a:solidFill>
              <a:prstDash val="dash"/>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要货时间</a:t>
              </a:r>
            </a:p>
          </p:txBody>
        </p:sp>
        <p:sp>
          <p:nvSpPr>
            <p:cNvPr id="53" name="文本框 52"/>
            <p:cNvSpPr txBox="1"/>
            <p:nvPr/>
          </p:nvSpPr>
          <p:spPr>
            <a:xfrm>
              <a:off x="469497" y="3677130"/>
              <a:ext cx="4775804" cy="1015663"/>
            </a:xfrm>
            <a:prstGeom prst="rect">
              <a:avLst/>
            </a:prstGeom>
            <a:noFill/>
            <a:ln>
              <a:solidFill>
                <a:srgbClr val="C00000"/>
              </a:solidFill>
            </a:ln>
          </p:spPr>
          <p:txBody>
            <a:bodyPr wrap="square" rtlCol="0">
              <a:spAutoFit/>
            </a:bodyPr>
            <a:lstStyle/>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开标时间：</a:t>
              </a:r>
              <a:r>
                <a:rPr lang="zh-CN" altLang="en-US" sz="1200" dirty="0">
                  <a:latin typeface="微软雅黑" panose="020B0503020204020204" pitchFamily="34" charset="-122"/>
                  <a:ea typeface="微软雅黑" panose="020B0503020204020204" pitchFamily="34" charset="-122"/>
                </a:rPr>
                <a:t>进漏斗内仅要求预计开标时间明确，</a:t>
              </a:r>
              <a:r>
                <a:rPr lang="zh-CN" altLang="en-US" sz="1200" b="1" dirty="0">
                  <a:solidFill>
                    <a:schemeClr val="accent6"/>
                  </a:solidFill>
                  <a:latin typeface="微软雅黑" panose="020B0503020204020204" pitchFamily="34" charset="-122"/>
                  <a:ea typeface="微软雅黑" panose="020B0503020204020204" pitchFamily="34" charset="-122"/>
                </a:rPr>
                <a:t>到季度即可进漏斗</a:t>
              </a:r>
              <a:endParaRPr lang="en-US" altLang="zh-CN" sz="1200" b="1" dirty="0">
                <a:solidFill>
                  <a:schemeClr val="accent6"/>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下单时间：</a:t>
              </a:r>
              <a:r>
                <a:rPr lang="zh-CN" altLang="en-US" sz="1200" dirty="0">
                  <a:latin typeface="微软雅黑" panose="020B0503020204020204" pitchFamily="34" charset="-122"/>
                  <a:ea typeface="微软雅黑" panose="020B0503020204020204" pitchFamily="34" charset="-122"/>
                </a:rPr>
                <a:t>根据项目类型，采用正推法，按客户采购流程估算。或用倒推法，按客户最晚要货时间倒推估算。下单时间估算，要考虑不同类型，如政采类、</a:t>
              </a:r>
              <a:r>
                <a:rPr lang="en-US" altLang="zh-CN" sz="1200" dirty="0">
                  <a:latin typeface="微软雅黑" panose="020B0503020204020204" pitchFamily="34" charset="-122"/>
                  <a:ea typeface="微软雅黑" panose="020B0503020204020204" pitchFamily="34" charset="-122"/>
                </a:rPr>
                <a:t>EPC</a:t>
              </a:r>
              <a:r>
                <a:rPr lang="zh-CN" altLang="en-US" sz="1200" dirty="0">
                  <a:latin typeface="微软雅黑" panose="020B0503020204020204" pitchFamily="34" charset="-122"/>
                  <a:ea typeface="微软雅黑" panose="020B0503020204020204" pitchFamily="34" charset="-122"/>
                </a:rPr>
                <a:t>、投融资等</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要货时间：</a:t>
              </a:r>
              <a:r>
                <a:rPr lang="zh-CN" altLang="en-US" sz="1200" dirty="0">
                  <a:latin typeface="微软雅黑" panose="020B0503020204020204" pitchFamily="34" charset="-122"/>
                  <a:ea typeface="微软雅黑" panose="020B0503020204020204" pitchFamily="34" charset="-122"/>
                </a:rPr>
                <a:t>对漏斗外进漏斗时</a:t>
              </a:r>
              <a:r>
                <a:rPr lang="zh-CN" altLang="en-US" sz="1200" b="1" dirty="0">
                  <a:solidFill>
                    <a:schemeClr val="accent6"/>
                  </a:solidFill>
                  <a:latin typeface="微软雅黑" panose="020B0503020204020204" pitchFamily="34" charset="-122"/>
                  <a:ea typeface="微软雅黑" panose="020B0503020204020204" pitchFamily="34" charset="-122"/>
                </a:rPr>
                <a:t>，要货时间没有明确要求</a:t>
              </a:r>
              <a:endParaRPr lang="en-US" altLang="zh-CN" sz="1200" b="1" dirty="0">
                <a:solidFill>
                  <a:schemeClr val="accent6"/>
                </a:solidFill>
                <a:latin typeface="微软雅黑" panose="020B0503020204020204" pitchFamily="34" charset="-122"/>
                <a:ea typeface="微软雅黑" panose="020B0503020204020204" pitchFamily="34" charset="-122"/>
              </a:endParaRPr>
            </a:p>
          </p:txBody>
        </p:sp>
        <p:pic>
          <p:nvPicPr>
            <p:cNvPr id="54" name="图片 53"/>
            <p:cNvPicPr>
              <a:picLocks noChangeAspect="1"/>
            </p:cNvPicPr>
            <p:nvPr/>
          </p:nvPicPr>
          <p:blipFill>
            <a:blip r:embed="rId5"/>
            <a:stretch>
              <a:fillRect/>
            </a:stretch>
          </p:blipFill>
          <p:spPr>
            <a:xfrm>
              <a:off x="469496" y="2404276"/>
              <a:ext cx="4775804" cy="1164102"/>
            </a:xfrm>
            <a:prstGeom prst="rect">
              <a:avLst/>
            </a:prstGeom>
            <a:ln>
              <a:solidFill>
                <a:schemeClr val="tx1">
                  <a:lumMod val="50000"/>
                  <a:lumOff val="50000"/>
                </a:schemeClr>
              </a:solidFill>
            </a:ln>
          </p:spPr>
        </p:pic>
        <p:pic>
          <p:nvPicPr>
            <p:cNvPr id="55" name="图片 54"/>
            <p:cNvPicPr>
              <a:picLocks noChangeAspect="1"/>
            </p:cNvPicPr>
            <p:nvPr/>
          </p:nvPicPr>
          <p:blipFill>
            <a:blip r:embed="rId6"/>
            <a:stretch>
              <a:fillRect/>
            </a:stretch>
          </p:blipFill>
          <p:spPr>
            <a:xfrm>
              <a:off x="469496" y="4895019"/>
              <a:ext cx="3429615" cy="1034507"/>
            </a:xfrm>
            <a:prstGeom prst="rect">
              <a:avLst/>
            </a:prstGeom>
          </p:spPr>
        </p:pic>
        <p:pic>
          <p:nvPicPr>
            <p:cNvPr id="56" name="图片 55"/>
            <p:cNvPicPr>
              <a:picLocks noChangeAspect="1"/>
            </p:cNvPicPr>
            <p:nvPr/>
          </p:nvPicPr>
          <p:blipFill>
            <a:blip r:embed="rId7"/>
            <a:stretch>
              <a:fillRect/>
            </a:stretch>
          </p:blipFill>
          <p:spPr>
            <a:xfrm>
              <a:off x="2262643" y="5633876"/>
              <a:ext cx="2982657" cy="1057840"/>
            </a:xfrm>
            <a:prstGeom prst="rect">
              <a:avLst/>
            </a:prstGeom>
          </p:spPr>
        </p:pic>
      </p:grpSp>
      <p:sp>
        <p:nvSpPr>
          <p:cNvPr id="60" name="矩形 59"/>
          <p:cNvSpPr/>
          <p:nvPr/>
        </p:nvSpPr>
        <p:spPr>
          <a:xfrm>
            <a:off x="10118573" y="1327514"/>
            <a:ext cx="1933889"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10252029" y="903721"/>
            <a:ext cx="1688221"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造成的影响</a:t>
            </a:r>
          </a:p>
        </p:txBody>
      </p:sp>
      <p:sp>
        <p:nvSpPr>
          <p:cNvPr id="3" name="矩形 2"/>
          <p:cNvSpPr/>
          <p:nvPr/>
        </p:nvSpPr>
        <p:spPr>
          <a:xfrm>
            <a:off x="10085131" y="1566150"/>
            <a:ext cx="1932889" cy="4401205"/>
          </a:xfrm>
          <a:prstGeom prst="rect">
            <a:avLst/>
          </a:prstGeom>
        </p:spPr>
        <p:txBody>
          <a:bodyPr wrap="square">
            <a:spAutoFit/>
          </a:bodyPr>
          <a:lstStyle/>
          <a:p>
            <a:r>
              <a:rPr lang="en-US" altLang="zh-CN" sz="1400" dirty="0"/>
              <a:t>1</a:t>
            </a:r>
            <a:r>
              <a:rPr lang="zh-CN" altLang="en-US" sz="1400" dirty="0"/>
              <a:t>）输入的配置不准确，随意填配置凑金额，导致产品预测不准，形成呆滞料和库存</a:t>
            </a:r>
            <a:endParaRPr lang="en-US" altLang="zh-CN" sz="1400" dirty="0"/>
          </a:p>
          <a:p>
            <a:endParaRPr lang="en-US" altLang="zh-CN" sz="1400" dirty="0"/>
          </a:p>
          <a:p>
            <a:r>
              <a:rPr lang="en-US" altLang="zh-CN" sz="1400" dirty="0"/>
              <a:t>2</a:t>
            </a:r>
            <a:r>
              <a:rPr lang="zh-CN" altLang="en-US" sz="1400" dirty="0"/>
              <a:t>）时间输入不准，更新不及时，导致备货排产不及时，影响客户交付</a:t>
            </a:r>
            <a:endParaRPr lang="en-US" altLang="zh-CN" sz="1400" dirty="0"/>
          </a:p>
          <a:p>
            <a:endParaRPr lang="en-US" altLang="zh-CN" sz="1400" dirty="0"/>
          </a:p>
          <a:p>
            <a:r>
              <a:rPr lang="en-US" altLang="zh-CN" sz="1400" dirty="0"/>
              <a:t>3</a:t>
            </a:r>
            <a:r>
              <a:rPr lang="zh-CN" altLang="en-US" sz="1400" dirty="0"/>
              <a:t>）不质量的商机最后关头调出漏斗，漏斗抖动率大，影响业务决策</a:t>
            </a:r>
            <a:endParaRPr lang="en-US" altLang="zh-CN" sz="1400" dirty="0"/>
          </a:p>
          <a:p>
            <a:endParaRPr lang="en-US" altLang="zh-CN" sz="1400" dirty="0"/>
          </a:p>
          <a:p>
            <a:r>
              <a:rPr lang="zh-CN" altLang="en-US" sz="1400" b="1" dirty="0">
                <a:solidFill>
                  <a:schemeClr val="accent6"/>
                </a:solidFill>
              </a:rPr>
              <a:t>以上这些做法给</a:t>
            </a:r>
            <a:r>
              <a:rPr lang="en-US" altLang="zh-CN" sz="1400" b="1" dirty="0">
                <a:solidFill>
                  <a:schemeClr val="accent6"/>
                </a:solidFill>
              </a:rPr>
              <a:t>EBG</a:t>
            </a:r>
            <a:r>
              <a:rPr lang="zh-CN" altLang="en-US" sz="1400" b="1" dirty="0">
                <a:solidFill>
                  <a:schemeClr val="accent6"/>
                </a:solidFill>
              </a:rPr>
              <a:t>造成很大损失</a:t>
            </a:r>
            <a:r>
              <a:rPr lang="en-US" altLang="zh-CN" sz="1400" b="1" dirty="0">
                <a:solidFill>
                  <a:schemeClr val="accent6"/>
                </a:solidFill>
              </a:rPr>
              <a:t>,</a:t>
            </a:r>
            <a:r>
              <a:rPr lang="zh-CN" altLang="en-US" sz="1400" b="1" dirty="0">
                <a:solidFill>
                  <a:schemeClr val="accent6"/>
                </a:solidFill>
              </a:rPr>
              <a:t>公司计提扣除的净利润上千万，影响到了每个人的利益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6353606" cy="495935"/>
          </a:xfrm>
        </p:spPr>
        <p:txBody>
          <a:bodyPr/>
          <a:lstStyle/>
          <a:p>
            <a:r>
              <a:rPr lang="en-US" altLang="zh-CN" dirty="0"/>
              <a:t>N</a:t>
            </a:r>
            <a:r>
              <a:rPr lang="zh-CN" altLang="en-US" dirty="0"/>
              <a:t>和</a:t>
            </a:r>
            <a:r>
              <a:rPr lang="en-US" altLang="zh-CN" dirty="0"/>
              <a:t>3T</a:t>
            </a:r>
            <a:r>
              <a:rPr lang="zh-CN" altLang="en-US" dirty="0"/>
              <a:t>的试点结果</a:t>
            </a:r>
          </a:p>
        </p:txBody>
      </p:sp>
      <p:graphicFrame>
        <p:nvGraphicFramePr>
          <p:cNvPr id="35" name="表格 34"/>
          <p:cNvGraphicFramePr>
            <a:graphicFrameLocks noGrp="1"/>
          </p:cNvGraphicFramePr>
          <p:nvPr/>
        </p:nvGraphicFramePr>
        <p:xfrm>
          <a:off x="2733517" y="1235690"/>
          <a:ext cx="6748047" cy="2019940"/>
        </p:xfrm>
        <a:graphic>
          <a:graphicData uri="http://schemas.openxmlformats.org/drawingml/2006/table">
            <a:tbl>
              <a:tblPr/>
              <a:tblGrid>
                <a:gridCol w="1458568"/>
                <a:gridCol w="1229391"/>
                <a:gridCol w="857474"/>
                <a:gridCol w="812240"/>
                <a:gridCol w="1195187"/>
                <a:gridCol w="1195187"/>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sp>
        <p:nvSpPr>
          <p:cNvPr id="36" name="文本框 35"/>
          <p:cNvSpPr txBox="1"/>
          <p:nvPr/>
        </p:nvSpPr>
        <p:spPr>
          <a:xfrm>
            <a:off x="353800" y="866358"/>
            <a:ext cx="1736373" cy="369332"/>
          </a:xfrm>
          <a:prstGeom prst="rect">
            <a:avLst/>
          </a:prstGeom>
          <a:noFill/>
        </p:spPr>
        <p:txBody>
          <a:bodyPr wrap="none" rtlCol="0">
            <a:spAutoFit/>
          </a:bodyPr>
          <a:lstStyle/>
          <a:p>
            <a:r>
              <a:rPr lang="en-US" altLang="zh-CN" b="1" dirty="0"/>
              <a:t>N</a:t>
            </a:r>
            <a:r>
              <a:rPr lang="zh-CN" altLang="en-US" b="1" dirty="0"/>
              <a:t>的试点结果：</a:t>
            </a:r>
          </a:p>
        </p:txBody>
      </p:sp>
      <p:sp>
        <p:nvSpPr>
          <p:cNvPr id="37" name="文本框 36"/>
          <p:cNvSpPr txBox="1"/>
          <p:nvPr/>
        </p:nvSpPr>
        <p:spPr>
          <a:xfrm>
            <a:off x="353800" y="3507354"/>
            <a:ext cx="1710725" cy="369332"/>
          </a:xfrm>
          <a:prstGeom prst="rect">
            <a:avLst/>
          </a:prstGeom>
          <a:noFill/>
        </p:spPr>
        <p:txBody>
          <a:bodyPr wrap="none" rtlCol="0">
            <a:spAutoFit/>
          </a:bodyPr>
          <a:lstStyle/>
          <a:p>
            <a:r>
              <a:rPr lang="en-US" altLang="zh-CN" b="1" dirty="0"/>
              <a:t>T</a:t>
            </a:r>
            <a:r>
              <a:rPr lang="zh-CN" altLang="en-US" b="1" dirty="0"/>
              <a:t>的试点结果：</a:t>
            </a:r>
          </a:p>
        </p:txBody>
      </p:sp>
      <p:sp>
        <p:nvSpPr>
          <p:cNvPr id="39" name="矩形 38"/>
          <p:cNvSpPr/>
          <p:nvPr/>
        </p:nvSpPr>
        <p:spPr>
          <a:xfrm>
            <a:off x="4435152" y="4009773"/>
            <a:ext cx="3542522" cy="1384995"/>
          </a:xfrm>
          <a:prstGeom prst="rect">
            <a:avLst/>
          </a:prstGeom>
        </p:spPr>
        <p:txBody>
          <a:bodyPr wrap="square">
            <a:spAutoFit/>
          </a:bodyPr>
          <a:lstStyle/>
          <a:p>
            <a:pPr>
              <a:lnSpc>
                <a:spcPct val="150000"/>
              </a:lnSpc>
            </a:pPr>
            <a:r>
              <a:rPr lang="zh-CN" altLang="en-US" sz="1400" b="1" dirty="0"/>
              <a:t>针对预计下单时间：</a:t>
            </a:r>
            <a:endParaRPr lang="en-US" altLang="zh-CN" sz="1400" b="1" dirty="0"/>
          </a:p>
          <a:p>
            <a:pPr>
              <a:lnSpc>
                <a:spcPct val="150000"/>
              </a:lnSpc>
            </a:pPr>
            <a:r>
              <a:rPr lang="zh-CN" altLang="en-US" sz="1400" dirty="0"/>
              <a:t>通过对项目进行复盘，总结了可借鉴的共性经验，可以与大家分享，提高预计下单时间的预测准确率</a:t>
            </a:r>
            <a:endParaRPr lang="en-US" altLang="zh-CN" sz="1400" dirty="0"/>
          </a:p>
        </p:txBody>
      </p:sp>
      <p:sp>
        <p:nvSpPr>
          <p:cNvPr id="40" name="矩形 39"/>
          <p:cNvSpPr/>
          <p:nvPr/>
        </p:nvSpPr>
        <p:spPr>
          <a:xfrm>
            <a:off x="353799" y="4009773"/>
            <a:ext cx="3751669" cy="2354491"/>
          </a:xfrm>
          <a:prstGeom prst="rect">
            <a:avLst/>
          </a:prstGeom>
        </p:spPr>
        <p:txBody>
          <a:bodyPr wrap="square">
            <a:spAutoFit/>
          </a:bodyPr>
          <a:lstStyle/>
          <a:p>
            <a:pPr>
              <a:lnSpc>
                <a:spcPct val="150000"/>
              </a:lnSpc>
            </a:pPr>
            <a:r>
              <a:rPr lang="zh-CN" altLang="en-US" sz="1400" b="1" dirty="0"/>
              <a:t>针对预计开标时间：</a:t>
            </a:r>
            <a:endParaRPr lang="en-US" altLang="zh-CN" sz="1400" b="1" dirty="0"/>
          </a:p>
          <a:p>
            <a:pPr>
              <a:lnSpc>
                <a:spcPct val="150000"/>
              </a:lnSpc>
            </a:pPr>
            <a:r>
              <a:rPr lang="zh-CN" altLang="en-US" sz="1400" dirty="0"/>
              <a:t>有些项目做的时间很准确，对于客户有明确到货时间要求的项目，通过倒推法准确预测开标时间。</a:t>
            </a:r>
            <a:endParaRPr lang="en-US" altLang="zh-CN" sz="1400" dirty="0"/>
          </a:p>
          <a:p>
            <a:pPr>
              <a:lnSpc>
                <a:spcPct val="150000"/>
              </a:lnSpc>
            </a:pPr>
            <a:r>
              <a:rPr lang="zh-CN" altLang="en-US" sz="1400" dirty="0"/>
              <a:t>对于部分复杂项目，试点过程中销售建议针对“预计开标日期”建立监督跟进机制，</a:t>
            </a:r>
          </a:p>
          <a:p>
            <a:pPr>
              <a:lnSpc>
                <a:spcPct val="150000"/>
              </a:lnSpc>
            </a:pPr>
            <a:endParaRPr lang="en-US" altLang="zh-CN" sz="1400" dirty="0"/>
          </a:p>
        </p:txBody>
      </p:sp>
      <p:sp>
        <p:nvSpPr>
          <p:cNvPr id="41" name="矩形 40"/>
          <p:cNvSpPr/>
          <p:nvPr/>
        </p:nvSpPr>
        <p:spPr>
          <a:xfrm>
            <a:off x="8382001" y="4009773"/>
            <a:ext cx="3542522" cy="1708160"/>
          </a:xfrm>
          <a:prstGeom prst="rect">
            <a:avLst/>
          </a:prstGeom>
        </p:spPr>
        <p:txBody>
          <a:bodyPr wrap="square">
            <a:spAutoFit/>
          </a:bodyPr>
          <a:lstStyle/>
          <a:p>
            <a:pPr>
              <a:lnSpc>
                <a:spcPct val="150000"/>
              </a:lnSpc>
            </a:pPr>
            <a:r>
              <a:rPr lang="zh-CN" altLang="en-US" sz="1400" b="1" dirty="0"/>
              <a:t>针对要求到货时间：</a:t>
            </a:r>
            <a:endParaRPr lang="en-US" altLang="zh-CN" sz="1400" b="1" dirty="0"/>
          </a:p>
          <a:p>
            <a:pPr>
              <a:lnSpc>
                <a:spcPct val="150000"/>
              </a:lnSpc>
            </a:pPr>
            <a:r>
              <a:rPr lang="zh-CN" altLang="en-US" sz="1400" dirty="0"/>
              <a:t>通过试点区域对项目进行分析复盘，形成了“要求到货时间</a:t>
            </a:r>
            <a:r>
              <a:rPr lang="en-US" altLang="zh-CN" sz="1400" dirty="0"/>
              <a:t>-</a:t>
            </a:r>
            <a:r>
              <a:rPr lang="zh-CN" altLang="en-US" sz="1400" dirty="0"/>
              <a:t>要素整理表”，后期可以供大家参考</a:t>
            </a:r>
          </a:p>
          <a:p>
            <a:pPr>
              <a:lnSpc>
                <a:spcPct val="150000"/>
              </a:lnSpc>
            </a:pPr>
            <a:endParaRPr lang="en-US" altLang="zh-C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35369" y="210590"/>
            <a:ext cx="6353606" cy="495935"/>
          </a:xfrm>
        </p:spPr>
        <p:txBody>
          <a:bodyPr/>
          <a:lstStyle/>
          <a:p>
            <a:r>
              <a:rPr lang="zh-CN" altLang="en-US" dirty="0"/>
              <a:t>执行计划和要求</a:t>
            </a:r>
          </a:p>
        </p:txBody>
      </p:sp>
      <p:sp>
        <p:nvSpPr>
          <p:cNvPr id="3" name="矩形 2"/>
          <p:cNvSpPr/>
          <p:nvPr/>
        </p:nvSpPr>
        <p:spPr>
          <a:xfrm>
            <a:off x="2555798" y="1940769"/>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培训，宣贯</a:t>
            </a:r>
          </a:p>
        </p:txBody>
      </p:sp>
      <p:sp>
        <p:nvSpPr>
          <p:cNvPr id="15" name="矩形 14"/>
          <p:cNvSpPr/>
          <p:nvPr/>
        </p:nvSpPr>
        <p:spPr>
          <a:xfrm>
            <a:off x="6270172" y="1940769"/>
            <a:ext cx="1122648"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IT</a:t>
            </a:r>
            <a:r>
              <a:rPr lang="zh-CN" altLang="en-US" dirty="0"/>
              <a:t>上线及培训</a:t>
            </a:r>
          </a:p>
        </p:txBody>
      </p:sp>
      <p:sp>
        <p:nvSpPr>
          <p:cNvPr id="16" name="矩形 15"/>
          <p:cNvSpPr/>
          <p:nvPr/>
        </p:nvSpPr>
        <p:spPr>
          <a:xfrm>
            <a:off x="4309580" y="1940769"/>
            <a:ext cx="1224293" cy="24726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线下盘点手头活动中项目并及时更新</a:t>
            </a:r>
            <a:r>
              <a:rPr lang="en-US" altLang="zh-CN" dirty="0"/>
              <a:t>CRM</a:t>
            </a:r>
            <a:r>
              <a:rPr lang="zh-CN" altLang="en-US" dirty="0"/>
              <a:t>相关信息</a:t>
            </a:r>
          </a:p>
        </p:txBody>
      </p:sp>
      <p:sp>
        <p:nvSpPr>
          <p:cNvPr id="17" name="矩形 16"/>
          <p:cNvSpPr/>
          <p:nvPr/>
        </p:nvSpPr>
        <p:spPr>
          <a:xfrm>
            <a:off x="8158442" y="1940769"/>
            <a:ext cx="1162840" cy="247261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dirty="0"/>
              <a:t>流程执行</a:t>
            </a:r>
            <a:endParaRPr lang="en-US" altLang="zh-CN" dirty="0"/>
          </a:p>
        </p:txBody>
      </p:sp>
      <p:sp>
        <p:nvSpPr>
          <p:cNvPr id="18" name="矩形 17"/>
          <p:cNvSpPr/>
          <p:nvPr/>
        </p:nvSpPr>
        <p:spPr>
          <a:xfrm>
            <a:off x="10200451" y="1940769"/>
            <a:ext cx="1404956"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监控及稽核</a:t>
            </a:r>
            <a:endParaRPr lang="en-US" altLang="zh-CN" dirty="0"/>
          </a:p>
          <a:p>
            <a:pPr algn="ctr"/>
            <a:r>
              <a:rPr lang="zh-CN" altLang="en-US" dirty="0"/>
              <a:t>（数据看板，管理机制）</a:t>
            </a:r>
          </a:p>
        </p:txBody>
      </p:sp>
      <p:sp>
        <p:nvSpPr>
          <p:cNvPr id="7" name="右箭头 6"/>
          <p:cNvSpPr/>
          <p:nvPr/>
        </p:nvSpPr>
        <p:spPr>
          <a:xfrm>
            <a:off x="1767412" y="2958087"/>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5618671"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7439340"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右箭头 23"/>
          <p:cNvSpPr/>
          <p:nvPr/>
        </p:nvSpPr>
        <p:spPr>
          <a:xfrm>
            <a:off x="9449113"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上箭头 10"/>
          <p:cNvSpPr/>
          <p:nvPr/>
        </p:nvSpPr>
        <p:spPr>
          <a:xfrm>
            <a:off x="3059278" y="4512821"/>
            <a:ext cx="457200" cy="8397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260521" y="5452016"/>
            <a:ext cx="1680909" cy="369332"/>
          </a:xfrm>
          <a:prstGeom prst="rect">
            <a:avLst/>
          </a:prstGeom>
          <a:noFill/>
        </p:spPr>
        <p:txBody>
          <a:bodyPr wrap="none" rtlCol="0">
            <a:spAutoFit/>
          </a:bodyPr>
          <a:lstStyle/>
          <a:p>
            <a:r>
              <a:rPr lang="en-US" altLang="zh-CN" dirty="0"/>
              <a:t>We are here</a:t>
            </a:r>
            <a:r>
              <a:rPr lang="zh-CN" altLang="en-US" dirty="0"/>
              <a:t>！</a:t>
            </a:r>
          </a:p>
        </p:txBody>
      </p:sp>
      <p:sp>
        <p:nvSpPr>
          <p:cNvPr id="32" name="矩形 31"/>
          <p:cNvSpPr/>
          <p:nvPr/>
        </p:nvSpPr>
        <p:spPr>
          <a:xfrm>
            <a:off x="575175" y="1940769"/>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设计并试点</a:t>
            </a:r>
            <a:r>
              <a:rPr lang="en-US" altLang="zh-CN" dirty="0"/>
              <a:t>-</a:t>
            </a:r>
            <a:r>
              <a:rPr lang="zh-CN" altLang="en-US" dirty="0"/>
              <a:t>上海、山东区域</a:t>
            </a:r>
          </a:p>
        </p:txBody>
      </p:sp>
      <p:sp>
        <p:nvSpPr>
          <p:cNvPr id="13" name="矩形标注 12"/>
          <p:cNvSpPr/>
          <p:nvPr/>
        </p:nvSpPr>
        <p:spPr>
          <a:xfrm>
            <a:off x="4309580" y="5123582"/>
            <a:ext cx="2735033" cy="1395532"/>
          </a:xfrm>
          <a:prstGeom prst="wedgeRectCallout">
            <a:avLst>
              <a:gd name="adj1" fmla="val -41859"/>
              <a:gd name="adj2" fmla="val -1024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培训完成后，请大家对</a:t>
            </a:r>
            <a:r>
              <a:rPr lang="en-US" altLang="zh-CN" sz="1400" dirty="0">
                <a:solidFill>
                  <a:schemeClr val="tx1"/>
                </a:solidFill>
              </a:rPr>
              <a:t>CRM</a:t>
            </a:r>
            <a:r>
              <a:rPr lang="zh-CN" altLang="en-US" sz="1400" dirty="0">
                <a:solidFill>
                  <a:schemeClr val="tx1"/>
                </a:solidFill>
              </a:rPr>
              <a:t>进行中的项目关于</a:t>
            </a:r>
            <a:r>
              <a:rPr lang="en-US" altLang="zh-CN" sz="1400" dirty="0">
                <a:solidFill>
                  <a:schemeClr val="tx1"/>
                </a:solidFill>
              </a:rPr>
              <a:t>N</a:t>
            </a:r>
            <a:r>
              <a:rPr lang="zh-CN" altLang="en-US" sz="1400" dirty="0">
                <a:solidFill>
                  <a:schemeClr val="tx1"/>
                </a:solidFill>
              </a:rPr>
              <a:t>的配置列表按要求更新，</a:t>
            </a:r>
            <a:r>
              <a:rPr lang="en-US" altLang="zh-CN" sz="1400" dirty="0">
                <a:solidFill>
                  <a:schemeClr val="tx1"/>
                </a:solidFill>
              </a:rPr>
              <a:t>3</a:t>
            </a:r>
            <a:r>
              <a:rPr lang="zh-CN" altLang="en-US" sz="1400" dirty="0">
                <a:solidFill>
                  <a:schemeClr val="tx1"/>
                </a:solidFill>
              </a:rPr>
              <a:t>个</a:t>
            </a:r>
            <a:r>
              <a:rPr lang="en-US" altLang="zh-CN" sz="1400" dirty="0">
                <a:solidFill>
                  <a:schemeClr val="tx1"/>
                </a:solidFill>
              </a:rPr>
              <a:t>T</a:t>
            </a:r>
            <a:r>
              <a:rPr lang="zh-CN" altLang="en-US" sz="1400" dirty="0">
                <a:solidFill>
                  <a:schemeClr val="tx1"/>
                </a:solidFill>
              </a:rPr>
              <a:t>也重新按照新的方法评估和更新，确保在途项目的准确性提上去！！</a:t>
            </a:r>
          </a:p>
        </p:txBody>
      </p:sp>
      <p:sp>
        <p:nvSpPr>
          <p:cNvPr id="33" name="矩形标注 32"/>
          <p:cNvSpPr/>
          <p:nvPr/>
        </p:nvSpPr>
        <p:spPr>
          <a:xfrm>
            <a:off x="8517687" y="5123582"/>
            <a:ext cx="2735033" cy="1395532"/>
          </a:xfrm>
          <a:prstGeom prst="wedgeRectCallout">
            <a:avLst>
              <a:gd name="adj1" fmla="val -41859"/>
              <a:gd name="adj2" fmla="val -1024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rPr>
              <a:t>流程的执行靠大家，我们会在后续推出流程运转机制，除了系统主动提醒以外，前期也会配合运营团队支持大家共同跑好新流程，用好新功能。</a:t>
            </a:r>
          </a:p>
        </p:txBody>
      </p:sp>
      <p:sp>
        <p:nvSpPr>
          <p:cNvPr id="34" name="矩形 33"/>
          <p:cNvSpPr/>
          <p:nvPr/>
        </p:nvSpPr>
        <p:spPr>
          <a:xfrm>
            <a:off x="573405" y="914399"/>
            <a:ext cx="592922" cy="3161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p:cNvSpPr txBox="1"/>
          <p:nvPr/>
        </p:nvSpPr>
        <p:spPr>
          <a:xfrm>
            <a:off x="1166327" y="887816"/>
            <a:ext cx="1356462" cy="369332"/>
          </a:xfrm>
          <a:prstGeom prst="rect">
            <a:avLst/>
          </a:prstGeom>
          <a:noFill/>
        </p:spPr>
        <p:txBody>
          <a:bodyPr wrap="none" rtlCol="0">
            <a:spAutoFit/>
          </a:bodyPr>
          <a:lstStyle/>
          <a:p>
            <a:r>
              <a:rPr lang="zh-CN" altLang="en-US" dirty="0"/>
              <a:t>项目组负责</a:t>
            </a:r>
          </a:p>
        </p:txBody>
      </p:sp>
      <p:sp>
        <p:nvSpPr>
          <p:cNvPr id="37" name="矩形 36"/>
          <p:cNvSpPr/>
          <p:nvPr/>
        </p:nvSpPr>
        <p:spPr>
          <a:xfrm>
            <a:off x="2819250" y="914399"/>
            <a:ext cx="592922" cy="31616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p>
        </p:txBody>
      </p:sp>
      <p:sp>
        <p:nvSpPr>
          <p:cNvPr id="38" name="文本框 37"/>
          <p:cNvSpPr txBox="1"/>
          <p:nvPr/>
        </p:nvSpPr>
        <p:spPr>
          <a:xfrm>
            <a:off x="3516478" y="894211"/>
            <a:ext cx="2031325" cy="369332"/>
          </a:xfrm>
          <a:prstGeom prst="rect">
            <a:avLst/>
          </a:prstGeom>
          <a:noFill/>
        </p:spPr>
        <p:txBody>
          <a:bodyPr wrap="none" rtlCol="0">
            <a:spAutoFit/>
          </a:bodyPr>
          <a:lstStyle/>
          <a:p>
            <a:r>
              <a:rPr lang="zh-CN" altLang="en-US" dirty="0"/>
              <a:t>需要大家配合执行</a:t>
            </a:r>
          </a:p>
        </p:txBody>
      </p:sp>
      <p:sp>
        <p:nvSpPr>
          <p:cNvPr id="39" name="右箭头 38"/>
          <p:cNvSpPr/>
          <p:nvPr/>
        </p:nvSpPr>
        <p:spPr>
          <a:xfrm>
            <a:off x="3672076" y="2934759"/>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3009799"/>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背景与意义</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zh-CN" altLang="en-US" dirty="0"/>
              <a:t>答疑与互动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N</a:t>
            </a:r>
            <a:r>
              <a:rPr lang="zh-CN" altLang="en-US" dirty="0"/>
              <a:t>的定义及关键节点</a:t>
            </a:r>
          </a:p>
        </p:txBody>
      </p:sp>
      <p:sp>
        <p:nvSpPr>
          <p:cNvPr id="45" name="矩形 44"/>
          <p:cNvSpPr/>
          <p:nvPr/>
        </p:nvSpPr>
        <p:spPr>
          <a:xfrm>
            <a:off x="331865" y="1019068"/>
            <a:ext cx="5093283" cy="5219506"/>
          </a:xfrm>
          <a:prstGeom prst="rect">
            <a:avLst/>
          </a:prstGeom>
        </p:spPr>
        <p:txBody>
          <a:bodyPr wrap="square">
            <a:spAutoFit/>
          </a:bodyPr>
          <a:lstStyle/>
          <a:p>
            <a:pPr>
              <a:lnSpc>
                <a:spcPct val="150000"/>
              </a:lnSpc>
            </a:pPr>
            <a:r>
              <a:rPr lang="en-US" altLang="zh-CN" sz="1600" b="1" dirty="0">
                <a:latin typeface="+mn-ea"/>
              </a:rPr>
              <a:t>N</a:t>
            </a:r>
            <a:r>
              <a:rPr lang="zh-CN" altLang="en-US" sz="1600" b="1" dirty="0">
                <a:latin typeface="+mn-ea"/>
              </a:rPr>
              <a:t>就是指项目的产品清单</a:t>
            </a:r>
            <a:r>
              <a:rPr lang="zh-CN" altLang="en-US" sz="1600" dirty="0">
                <a:latin typeface="+mn-ea"/>
              </a:rPr>
              <a:t>，产品清单是客户需求的最终体现，把清单做准就是把</a:t>
            </a:r>
            <a:r>
              <a:rPr lang="en-US" altLang="zh-CN" sz="1600" dirty="0">
                <a:latin typeface="+mn-ea"/>
              </a:rPr>
              <a:t>N</a:t>
            </a:r>
            <a:r>
              <a:rPr lang="zh-CN" altLang="en-US" sz="1600" dirty="0">
                <a:latin typeface="+mn-ea"/>
              </a:rPr>
              <a:t>做准。</a:t>
            </a:r>
            <a:endParaRPr lang="en-US" altLang="zh-CN" sz="1600" dirty="0">
              <a:latin typeface="+mn-ea"/>
            </a:endParaRPr>
          </a:p>
          <a:p>
            <a:pPr>
              <a:lnSpc>
                <a:spcPct val="150000"/>
              </a:lnSpc>
            </a:pPr>
            <a:r>
              <a:rPr lang="zh-CN" altLang="en-US" sz="1600" dirty="0">
                <a:latin typeface="+mn-ea"/>
              </a:rPr>
              <a:t>它有两个含义：</a:t>
            </a:r>
            <a:endParaRPr lang="en-US" altLang="zh-CN" sz="1600" dirty="0">
              <a:latin typeface="+mn-ea"/>
            </a:endParaRPr>
          </a:p>
          <a:p>
            <a:pPr marL="285750" indent="-285750">
              <a:lnSpc>
                <a:spcPct val="150000"/>
              </a:lnSpc>
              <a:buFont typeface="Wingdings" panose="05000000000000000000" pitchFamily="2" charset="2"/>
              <a:buChar char="n"/>
            </a:pPr>
            <a:r>
              <a:rPr lang="zh-CN" altLang="en-US" sz="1400" dirty="0">
                <a:latin typeface="+mn-ea"/>
              </a:rPr>
              <a:t>一是对客户需求把握准确，产品清单准确落地客户需求；</a:t>
            </a:r>
            <a:endParaRPr lang="en-US" altLang="zh-CN" sz="1400" dirty="0">
              <a:latin typeface="+mn-ea"/>
            </a:endParaRPr>
          </a:p>
          <a:p>
            <a:pPr marL="285750" indent="-285750">
              <a:lnSpc>
                <a:spcPct val="150000"/>
              </a:lnSpc>
              <a:buFont typeface="Wingdings" panose="05000000000000000000" pitchFamily="2" charset="2"/>
              <a:buChar char="n"/>
            </a:pPr>
            <a:r>
              <a:rPr lang="zh-CN" altLang="en-US" sz="1400" dirty="0">
                <a:latin typeface="+mn-ea"/>
              </a:rPr>
              <a:t>二是产品清单及时更新到</a:t>
            </a:r>
            <a:r>
              <a:rPr lang="en-US" altLang="zh-CN" sz="1400" dirty="0">
                <a:latin typeface="+mn-ea"/>
              </a:rPr>
              <a:t>CRM</a:t>
            </a:r>
            <a:r>
              <a:rPr lang="zh-CN" altLang="en-US" sz="1400" dirty="0">
                <a:latin typeface="+mn-ea"/>
              </a:rPr>
              <a:t>系统中；</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做准，提升整体漏斗质量，夯实（产品）销售预测；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做准，准确反馈市场需求、夯实（产品）要货预测；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做准，主体责任人是售前，销售为及时更新到</a:t>
            </a:r>
            <a:r>
              <a:rPr lang="en-US" altLang="zh-CN" sz="1200" dirty="0">
                <a:latin typeface="+mn-ea"/>
              </a:rPr>
              <a:t>CRM</a:t>
            </a:r>
            <a:r>
              <a:rPr lang="zh-CN" altLang="en-US" sz="1200" dirty="0">
                <a:latin typeface="+mn-ea"/>
              </a:rPr>
              <a:t>系统负责。</a:t>
            </a:r>
          </a:p>
          <a:p>
            <a:pPr>
              <a:lnSpc>
                <a:spcPct val="150000"/>
              </a:lnSpc>
            </a:pPr>
            <a:endParaRPr lang="zh-CN" altLang="en-US" sz="1600" dirty="0">
              <a:latin typeface="+mn-ea"/>
            </a:endParaRPr>
          </a:p>
          <a:p>
            <a:pPr>
              <a:lnSpc>
                <a:spcPct val="150000"/>
              </a:lnSpc>
            </a:pPr>
            <a:r>
              <a:rPr lang="zh-CN" altLang="en-US" sz="1600" dirty="0">
                <a:latin typeface="+mn-ea"/>
              </a:rPr>
              <a:t>把</a:t>
            </a:r>
            <a:r>
              <a:rPr lang="en-US" altLang="zh-CN" sz="1600" dirty="0">
                <a:latin typeface="+mn-ea"/>
              </a:rPr>
              <a:t>N</a:t>
            </a:r>
            <a:r>
              <a:rPr lang="zh-CN" altLang="en-US" sz="1600" dirty="0">
                <a:latin typeface="+mn-ea"/>
              </a:rPr>
              <a:t>做准取决于</a:t>
            </a:r>
            <a:r>
              <a:rPr lang="en-US" altLang="zh-CN" sz="1600" dirty="0">
                <a:latin typeface="+mn-ea"/>
              </a:rPr>
              <a:t>2</a:t>
            </a:r>
            <a:r>
              <a:rPr lang="zh-CN" altLang="en-US" sz="1600" dirty="0">
                <a:latin typeface="+mn-ea"/>
              </a:rPr>
              <a:t>类业务：</a:t>
            </a:r>
          </a:p>
          <a:p>
            <a:pPr>
              <a:lnSpc>
                <a:spcPct val="150000"/>
              </a:lnSpc>
            </a:pPr>
            <a:r>
              <a:rPr lang="en-US" altLang="zh-CN" sz="1600" b="1" dirty="0">
                <a:latin typeface="+mn-ea"/>
              </a:rPr>
              <a:t>1</a:t>
            </a:r>
            <a:r>
              <a:rPr lang="zh-CN" altLang="en-US" sz="1600" b="1" dirty="0">
                <a:latin typeface="+mn-ea"/>
              </a:rPr>
              <a:t>、项目进漏斗内</a:t>
            </a:r>
            <a:r>
              <a:rPr lang="zh-CN" altLang="en-US" sz="1600" dirty="0">
                <a:latin typeface="+mn-ea"/>
              </a:rPr>
              <a:t>：项目由漏斗外转漏斗内时，</a:t>
            </a:r>
            <a:r>
              <a:rPr lang="zh-CN" altLang="en-US" sz="1600" dirty="0">
                <a:solidFill>
                  <a:schemeClr val="accent4">
                    <a:lumMod val="50000"/>
                  </a:schemeClr>
                </a:solidFill>
                <a:latin typeface="+mn-ea"/>
              </a:rPr>
              <a:t>产品清单中的产品系列</a:t>
            </a:r>
            <a:r>
              <a:rPr lang="zh-CN" altLang="en-US" sz="1600" dirty="0">
                <a:latin typeface="+mn-ea"/>
              </a:rPr>
              <a:t>须是明确的，否则不允许转漏斗内；</a:t>
            </a:r>
          </a:p>
          <a:p>
            <a:pPr>
              <a:lnSpc>
                <a:spcPct val="150000"/>
              </a:lnSpc>
            </a:pPr>
            <a:r>
              <a:rPr lang="en-US" altLang="zh-CN" sz="1600" b="1" dirty="0">
                <a:latin typeface="+mn-ea"/>
              </a:rPr>
              <a:t>2</a:t>
            </a:r>
            <a:r>
              <a:rPr lang="zh-CN" altLang="en-US" sz="1600" b="1" dirty="0">
                <a:latin typeface="+mn-ea"/>
              </a:rPr>
              <a:t>、漏斗内项目管理</a:t>
            </a:r>
            <a:r>
              <a:rPr lang="zh-CN" altLang="en-US" sz="1600" dirty="0">
                <a:latin typeface="+mn-ea"/>
              </a:rPr>
              <a:t>：项目的预测类别、距离开标天数，分别对应不同的</a:t>
            </a:r>
            <a:r>
              <a:rPr lang="zh-CN" altLang="en-US" sz="1600" dirty="0">
                <a:solidFill>
                  <a:schemeClr val="accent4">
                    <a:lumMod val="50000"/>
                  </a:schemeClr>
                </a:solidFill>
                <a:latin typeface="+mn-ea"/>
              </a:rPr>
              <a:t>清单准确度</a:t>
            </a:r>
            <a:r>
              <a:rPr lang="zh-CN" altLang="en-US" sz="1600" dirty="0">
                <a:latin typeface="+mn-ea"/>
              </a:rPr>
              <a:t>要求，清单可信度低于对应要求时，应在规定时间内提升清单可信度达标。</a:t>
            </a:r>
          </a:p>
        </p:txBody>
      </p:sp>
      <p:sp>
        <p:nvSpPr>
          <p:cNvPr id="3" name="流程图: 合并 2"/>
          <p:cNvSpPr/>
          <p:nvPr/>
        </p:nvSpPr>
        <p:spPr>
          <a:xfrm>
            <a:off x="5923476" y="2565487"/>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5949355" y="2554273"/>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5914849" y="2591366"/>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曲线连接符 6"/>
          <p:cNvCxnSpPr/>
          <p:nvPr/>
        </p:nvCxnSpPr>
        <p:spPr>
          <a:xfrm rot="10800000" flipV="1">
            <a:off x="8042055" y="2230823"/>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菱形 58"/>
          <p:cNvSpPr/>
          <p:nvPr/>
        </p:nvSpPr>
        <p:spPr>
          <a:xfrm>
            <a:off x="6767753" y="2286351"/>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进漏斗商机</a:t>
            </a:r>
          </a:p>
        </p:txBody>
      </p:sp>
      <p:sp>
        <p:nvSpPr>
          <p:cNvPr id="65" name="右箭头 64"/>
          <p:cNvSpPr/>
          <p:nvPr/>
        </p:nvSpPr>
        <p:spPr>
          <a:xfrm>
            <a:off x="8265459" y="4229340"/>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7013748" y="4003492"/>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漏斗内项目发生变化</a:t>
            </a:r>
          </a:p>
        </p:txBody>
      </p:sp>
      <p:sp>
        <p:nvSpPr>
          <p:cNvPr id="67" name="圆角矩形 66"/>
          <p:cNvSpPr/>
          <p:nvPr/>
        </p:nvSpPr>
        <p:spPr>
          <a:xfrm>
            <a:off x="9287777" y="4020085"/>
            <a:ext cx="2297540"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配置清单准确度是否达标</a:t>
            </a:r>
            <a:r>
              <a:rPr lang="en-US" altLang="zh-CN" sz="1400" dirty="0">
                <a:solidFill>
                  <a:schemeClr val="tx1"/>
                </a:solidFill>
              </a:rPr>
              <a:t>?</a:t>
            </a:r>
            <a:endParaRPr lang="zh-CN" altLang="en-US" sz="1400" dirty="0">
              <a:solidFill>
                <a:schemeClr val="tx1"/>
              </a:solidFill>
            </a:endParaRPr>
          </a:p>
        </p:txBody>
      </p:sp>
      <p:sp>
        <p:nvSpPr>
          <p:cNvPr id="78" name="圆角矩形 77"/>
          <p:cNvSpPr/>
          <p:nvPr/>
        </p:nvSpPr>
        <p:spPr>
          <a:xfrm>
            <a:off x="9287777" y="1771276"/>
            <a:ext cx="2217697"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产品系列是否明确</a:t>
            </a:r>
            <a:r>
              <a:rPr lang="en-US" altLang="zh-CN" dirty="0">
                <a:solidFill>
                  <a:schemeClr val="tx1"/>
                </a:solidFill>
              </a:rPr>
              <a:t>?</a:t>
            </a:r>
            <a:endParaRPr lang="zh-CN" altLang="en-US" dirty="0">
              <a:solidFill>
                <a:schemeClr val="tx1"/>
              </a:solidFill>
            </a:endParaRPr>
          </a:p>
        </p:txBody>
      </p:sp>
      <p:sp>
        <p:nvSpPr>
          <p:cNvPr id="69" name="矩形 68"/>
          <p:cNvSpPr/>
          <p:nvPr/>
        </p:nvSpPr>
        <p:spPr>
          <a:xfrm>
            <a:off x="5569528" y="1019068"/>
            <a:ext cx="6234590"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可信度自评打分标准</a:t>
            </a:r>
          </a:p>
        </p:txBody>
      </p:sp>
      <p:graphicFrame>
        <p:nvGraphicFramePr>
          <p:cNvPr id="6" name="表格 5"/>
          <p:cNvGraphicFramePr>
            <a:graphicFrameLocks noGrp="1"/>
          </p:cNvGraphicFramePr>
          <p:nvPr/>
        </p:nvGraphicFramePr>
        <p:xfrm>
          <a:off x="573405" y="898822"/>
          <a:ext cx="11234055" cy="5790735"/>
        </p:xfrm>
        <a:graphic>
          <a:graphicData uri="http://schemas.openxmlformats.org/drawingml/2006/table">
            <a:tbl>
              <a:tblPr/>
              <a:tblGrid>
                <a:gridCol w="858156"/>
                <a:gridCol w="480366"/>
                <a:gridCol w="888150"/>
                <a:gridCol w="963242"/>
                <a:gridCol w="3243971"/>
                <a:gridCol w="774441"/>
                <a:gridCol w="914400"/>
                <a:gridCol w="3111329"/>
              </a:tblGrid>
              <a:tr h="523190">
                <a:tc>
                  <a:txBody>
                    <a:bodyPr/>
                    <a:lstStyle/>
                    <a:p>
                      <a:pPr algn="ctr" fontAlgn="ctr" latinLnBrk="0"/>
                      <a:r>
                        <a:rPr lang="zh-CN" altLang="en-US" sz="120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1442843">
                <a:tc>
                  <a:txBody>
                    <a:bodyPr/>
                    <a:lstStyle/>
                    <a:p>
                      <a:pPr algn="ctr" fontAlgn="ctr" latinLnBrk="0"/>
                      <a:r>
                        <a:rPr lang="zh-CN" altLang="en-US" sz="120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1"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我司相关预算，采购规则、历史采购价格及竞手价格策略确认。</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我司相关预算明确。</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项目整体预算确认，我司相关预算可估算。</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20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1501808">
                <a:tc rowSpan="2">
                  <a:txBody>
                    <a:bodyPr/>
                    <a:lstStyle/>
                    <a:p>
                      <a:pPr algn="ctr" fontAlgn="ctr" latinLnBrk="0"/>
                      <a:r>
                        <a:rPr lang="zh-CN" altLang="en-US" sz="120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1"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所有产品系列均可以确定；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20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分：技术路线已写进招标文件。</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分：决策者已经确定技术路线。</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分：我司主推技术路线已经明确。</a:t>
                      </a:r>
                      <a:br>
                        <a:rPr lang="zh-CN" altLang="en-US" sz="1200" b="0" i="0" dirty="0">
                          <a:solidFill>
                            <a:srgbClr val="000000"/>
                          </a:solidFill>
                          <a:effectLst/>
                          <a:latin typeface="+mn-ea"/>
                          <a:ea typeface="+mn-ea"/>
                        </a:rPr>
                      </a:br>
                      <a:endParaRPr lang="en-US" altLang="zh-CN" sz="1200" b="0" i="0" dirty="0">
                        <a:solidFill>
                          <a:srgbClr val="000000"/>
                        </a:solidFill>
                        <a:effectLst/>
                        <a:latin typeface="+mn-ea"/>
                        <a:ea typeface="+mn-ea"/>
                      </a:endParaRPr>
                    </a:p>
                    <a:p>
                      <a:pPr fontAlgn="ctr" latinLnBrk="0"/>
                      <a:r>
                        <a:rPr lang="zh-CN" altLang="en-US" sz="9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983017">
                <a:tc vMerge="1">
                  <a:txBody>
                    <a:bodyPr/>
                    <a:lstStyle/>
                    <a:p>
                      <a:endParaRPr lang="zh-CN"/>
                    </a:p>
                  </a:txBody>
                  <a:tcPr/>
                </a:tc>
                <a:tc>
                  <a:txBody>
                    <a:bodyPr/>
                    <a:lstStyle/>
                    <a:p>
                      <a:pPr algn="ctr" fontAlgn="ctr" latinLnBrk="0"/>
                      <a:r>
                        <a:rPr lang="en-US" altLang="zh-CN" sz="120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endParaRPr lang="zh-CN" altLang="en-US" sz="1200" b="0" i="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所有产品型号均可以确定；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分：产品技术参数已写进招标文件。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分：评估者已经确定产品技术要求。</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983017">
                <a:tc>
                  <a:txBody>
                    <a:bodyPr/>
                    <a:lstStyle/>
                    <a:p>
                      <a:pPr algn="ctr" fontAlgn="ctr" latinLnBrk="0"/>
                      <a:r>
                        <a:rPr lang="zh-CN" altLang="en-US" sz="120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endParaRPr lang="zh-CN" altLang="en-US" sz="1200" b="0" i="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所有产品数量均确定；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分：产品数量已写进招标文件。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分：评估者已经确定产品数量。</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56860">
                <a:tc gridSpan="6">
                  <a:txBody>
                    <a:bodyPr/>
                    <a:lstStyle/>
                    <a:p>
                      <a:pPr algn="ctr" fontAlgn="ctr" latinLnBrk="0"/>
                      <a:r>
                        <a:rPr lang="zh-CN" altLang="en-US" sz="120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algn="ctr" fontAlgn="ctr" latinLnBrk="0"/>
                      <a:r>
                        <a:rPr lang="en-US" altLang="zh-CN" sz="1200" b="0" i="0" dirty="0">
                          <a:solidFill>
                            <a:srgbClr val="000000"/>
                          </a:solidFill>
                          <a:effectLst/>
                          <a:latin typeface="+mn-ea"/>
                          <a:ea typeface="+mn-ea"/>
                        </a:rPr>
                        <a:t>24.00%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配置清单可信度要求</a:t>
            </a:r>
          </a:p>
        </p:txBody>
      </p:sp>
      <p:graphicFrame>
        <p:nvGraphicFramePr>
          <p:cNvPr id="3" name="表格 2"/>
          <p:cNvGraphicFramePr>
            <a:graphicFrameLocks noGrp="1"/>
          </p:cNvGraphicFramePr>
          <p:nvPr/>
        </p:nvGraphicFramePr>
        <p:xfrm>
          <a:off x="2687216" y="3168132"/>
          <a:ext cx="9032033" cy="3442218"/>
        </p:xfrm>
        <a:graphic>
          <a:graphicData uri="http://schemas.openxmlformats.org/drawingml/2006/table">
            <a:tbl>
              <a:tblPr/>
              <a:tblGrid>
                <a:gridCol w="1443645"/>
                <a:gridCol w="2899628"/>
                <a:gridCol w="2344380"/>
                <a:gridCol w="2344380"/>
              </a:tblGrid>
              <a:tr h="657808">
                <a:tc gridSpan="4">
                  <a:txBody>
                    <a:bodyPr/>
                    <a:lstStyle/>
                    <a:p>
                      <a:pPr algn="ctr" fontAlgn="ctr" latinLnBrk="0">
                        <a:lnSpc>
                          <a:spcPct val="150000"/>
                        </a:lnSpc>
                      </a:pPr>
                      <a:r>
                        <a:rPr lang="zh-CN" altLang="en-US" sz="1200" b="0" i="0" dirty="0">
                          <a:solidFill>
                            <a:srgbClr val="000000"/>
                          </a:solidFill>
                          <a:effectLst/>
                        </a:rPr>
                        <a:t>漏斗内项目不同预测类别</a:t>
                      </a:r>
                      <a:r>
                        <a:rPr lang="en-US" altLang="zh-CN" sz="1200" b="0" i="0" dirty="0">
                          <a:solidFill>
                            <a:srgbClr val="000000"/>
                          </a:solidFill>
                          <a:effectLst/>
                        </a:rPr>
                        <a:t>/</a:t>
                      </a:r>
                      <a:r>
                        <a:rPr lang="zh-CN" altLang="en-US" sz="1200" b="0" i="0" dirty="0">
                          <a:solidFill>
                            <a:srgbClr val="000000"/>
                          </a:solidFill>
                          <a:effectLst/>
                        </a:rPr>
                        <a:t>距离开标天数对清单可信度要求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r>
              <a:tr h="685489">
                <a:tc>
                  <a:txBody>
                    <a:bodyPr/>
                    <a:lstStyle/>
                    <a:p>
                      <a:pPr algn="ctr" fontAlgn="ctr" latinLnBrk="0">
                        <a:lnSpc>
                          <a:spcPct val="150000"/>
                        </a:lnSpc>
                      </a:pPr>
                      <a:r>
                        <a:rPr lang="zh-CN" altLang="en-US" sz="1200" b="0" i="0" dirty="0">
                          <a:solidFill>
                            <a:srgbClr val="000000"/>
                          </a:solidFill>
                          <a:effectLst/>
                        </a:rPr>
                        <a:t>预测类别</a:t>
                      </a:r>
                      <a:r>
                        <a:rPr lang="en-US" altLang="zh-CN" sz="1200" b="0" i="0" dirty="0">
                          <a:solidFill>
                            <a:srgbClr val="000000"/>
                          </a:solidFill>
                          <a:effectLst/>
                        </a:rPr>
                        <a:t>/</a:t>
                      </a:r>
                      <a:r>
                        <a:rPr lang="zh-CN" altLang="en-US" sz="1200" b="0" i="0" dirty="0">
                          <a:solidFill>
                            <a:srgbClr val="000000"/>
                          </a:solidFill>
                          <a:effectLst/>
                        </a:rPr>
                        <a:t>时间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lnSpc>
                          <a:spcPct val="150000"/>
                        </a:lnSpc>
                      </a:pPr>
                      <a:r>
                        <a:rPr lang="zh-CN" altLang="en-US" sz="1200" b="0" i="0" dirty="0">
                          <a:solidFill>
                            <a:srgbClr val="000000"/>
                          </a:solidFill>
                          <a:effectLst/>
                        </a:rPr>
                        <a:t>可能</a:t>
                      </a:r>
                      <a:r>
                        <a:rPr lang="en-US" altLang="zh-CN" sz="1200" b="0" i="0" dirty="0">
                          <a:solidFill>
                            <a:srgbClr val="000000"/>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lnSpc>
                          <a:spcPct val="150000"/>
                        </a:lnSpc>
                      </a:pPr>
                      <a:r>
                        <a:rPr lang="zh-CN" altLang="en-US" sz="1200" b="0" i="0">
                          <a:solidFill>
                            <a:srgbClr val="000000"/>
                          </a:solidFill>
                          <a:effectLst/>
                        </a:rPr>
                        <a:t>可能</a:t>
                      </a:r>
                      <a:r>
                        <a:rPr lang="en-US" altLang="zh-CN" sz="1200" b="0" i="0">
                          <a:solidFill>
                            <a:srgbClr val="000000"/>
                          </a:solidFill>
                          <a:effectLs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lnSpc>
                          <a:spcPct val="150000"/>
                        </a:lnSpc>
                      </a:pPr>
                      <a:r>
                        <a:rPr lang="zh-CN" altLang="en-US" sz="1200" b="0" i="0">
                          <a:solidFill>
                            <a:srgbClr val="000000"/>
                          </a:solidFill>
                          <a:effectLst/>
                        </a:rPr>
                        <a:t>优势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r>
              <a:tr h="1071905">
                <a:tc>
                  <a:txBody>
                    <a:bodyPr/>
                    <a:lstStyle/>
                    <a:p>
                      <a:pPr algn="ctr" fontAlgn="ctr" latinLnBrk="0">
                        <a:lnSpc>
                          <a:spcPct val="150000"/>
                        </a:lnSpc>
                      </a:pPr>
                      <a:r>
                        <a:rPr lang="zh-CN" altLang="en-US" sz="1200" b="0" i="0">
                          <a:solidFill>
                            <a:srgbClr val="000000"/>
                          </a:solidFill>
                          <a:effectLst/>
                        </a:rPr>
                        <a:t>可信度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lnSpc>
                          <a:spcPct val="150000"/>
                        </a:lnSpc>
                      </a:pPr>
                      <a:r>
                        <a:rPr lang="en-US" altLang="zh-CN" sz="1200" b="0" i="0" dirty="0">
                          <a:solidFill>
                            <a:srgbClr val="000000"/>
                          </a:solidFill>
                          <a:effectLst/>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lnSpc>
                          <a:spcPct val="150000"/>
                        </a:lnSpc>
                      </a:pPr>
                      <a:r>
                        <a:rPr lang="en-US" altLang="zh-CN" sz="1200" b="0" i="0" dirty="0">
                          <a:solidFill>
                            <a:srgbClr val="000000"/>
                          </a:solidFill>
                          <a:effectLst/>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lnSpc>
                          <a:spcPct val="150000"/>
                        </a:lnSpc>
                      </a:pPr>
                      <a:r>
                        <a:rPr lang="en-US" altLang="zh-CN" sz="1200" b="0" i="0">
                          <a:solidFill>
                            <a:srgbClr val="000000"/>
                          </a:solidFill>
                          <a:effectLst/>
                        </a:rPr>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27016">
                <a:tc>
                  <a:txBody>
                    <a:bodyPr/>
                    <a:lstStyle/>
                    <a:p>
                      <a:pPr algn="ctr" fontAlgn="ctr" latinLnBrk="0">
                        <a:lnSpc>
                          <a:spcPct val="150000"/>
                        </a:lnSpc>
                      </a:pPr>
                      <a:r>
                        <a:rPr lang="zh-CN" altLang="en-US" sz="1200" b="0" i="0" dirty="0">
                          <a:solidFill>
                            <a:srgbClr val="000000"/>
                          </a:solidFill>
                          <a:effectLst/>
                        </a:rPr>
                        <a:t>距离开标</a:t>
                      </a:r>
                      <a:r>
                        <a:rPr lang="en-US" altLang="zh-CN" sz="1200" b="0" i="0" dirty="0">
                          <a:solidFill>
                            <a:srgbClr val="000000"/>
                          </a:solidFill>
                          <a:effectLst/>
                        </a:rPr>
                        <a:t>30</a:t>
                      </a:r>
                      <a:r>
                        <a:rPr lang="zh-CN" altLang="en-US" sz="1200" b="0" i="0" dirty="0">
                          <a:solidFill>
                            <a:srgbClr val="000000"/>
                          </a:solidFill>
                          <a:effectLst/>
                        </a:rPr>
                        <a:t>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6C6"/>
                    </a:solidFill>
                  </a:tcPr>
                </a:tc>
                <a:tc>
                  <a:txBody>
                    <a:bodyPr/>
                    <a:lstStyle/>
                    <a:p>
                      <a:pPr algn="ctr" fontAlgn="ctr" latinLnBrk="0">
                        <a:lnSpc>
                          <a:spcPct val="150000"/>
                        </a:lnSpc>
                      </a:pPr>
                      <a:r>
                        <a:rPr lang="zh-CN" altLang="en-US" sz="1200" b="0" i="0" dirty="0">
                          <a:solidFill>
                            <a:srgbClr val="000000"/>
                          </a:solidFill>
                          <a:effectLst/>
                        </a:rPr>
                        <a:t>弱电</a:t>
                      </a:r>
                      <a:r>
                        <a:rPr lang="en-US" altLang="zh-CN" sz="1200" b="0" i="0" dirty="0">
                          <a:solidFill>
                            <a:srgbClr val="000000"/>
                          </a:solidFill>
                          <a:effectLst/>
                        </a:rPr>
                        <a:t>/ICT</a:t>
                      </a:r>
                      <a:r>
                        <a:rPr lang="zh-CN" altLang="en-US" sz="1200" b="0" i="0" dirty="0">
                          <a:solidFill>
                            <a:srgbClr val="000000"/>
                          </a:solidFill>
                          <a:effectLst/>
                        </a:rPr>
                        <a:t>项目</a:t>
                      </a:r>
                      <a:r>
                        <a:rPr lang="en-US" altLang="zh-CN" sz="1200" b="0" i="0" dirty="0">
                          <a:solidFill>
                            <a:srgbClr val="000000"/>
                          </a:solidFill>
                          <a:effectLst/>
                        </a:rPr>
                        <a:t>65%</a:t>
                      </a:r>
                    </a:p>
                    <a:p>
                      <a:pPr algn="ctr" fontAlgn="ctr" latinLnBrk="0">
                        <a:lnSpc>
                          <a:spcPct val="150000"/>
                        </a:lnSpc>
                      </a:pPr>
                      <a:r>
                        <a:rPr lang="zh-CN" altLang="en-US" sz="1200" b="0" i="0" dirty="0">
                          <a:solidFill>
                            <a:srgbClr val="000000"/>
                          </a:solidFill>
                          <a:effectLst/>
                        </a:rPr>
                        <a:t>其它项目</a:t>
                      </a:r>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lnSpc>
                          <a:spcPct val="150000"/>
                        </a:lnSpc>
                      </a:pPr>
                      <a:r>
                        <a:rPr lang="zh-CN" altLang="en-US" sz="1200" b="0" i="0" dirty="0">
                          <a:solidFill>
                            <a:srgbClr val="000000"/>
                          </a:solidFill>
                          <a:effectLst/>
                        </a:rPr>
                        <a:t>弱电</a:t>
                      </a:r>
                      <a:r>
                        <a:rPr lang="en-US" altLang="zh-CN" sz="1200" b="0" i="0" dirty="0">
                          <a:solidFill>
                            <a:srgbClr val="000000"/>
                          </a:solidFill>
                          <a:effectLst/>
                        </a:rPr>
                        <a:t>/ICT</a:t>
                      </a:r>
                      <a:r>
                        <a:rPr lang="zh-CN" altLang="en-US" sz="1200" b="0" i="0" dirty="0">
                          <a:solidFill>
                            <a:srgbClr val="000000"/>
                          </a:solidFill>
                          <a:effectLst/>
                        </a:rPr>
                        <a:t>项目</a:t>
                      </a:r>
                      <a:r>
                        <a:rPr lang="en-US" altLang="zh-CN" sz="1200" b="0" i="0" dirty="0">
                          <a:solidFill>
                            <a:srgbClr val="000000"/>
                          </a:solidFill>
                          <a:effectLst/>
                        </a:rPr>
                        <a:t>65%</a:t>
                      </a:r>
                    </a:p>
                    <a:p>
                      <a:pPr algn="ctr" fontAlgn="ctr" latinLnBrk="0">
                        <a:lnSpc>
                          <a:spcPct val="150000"/>
                        </a:lnSpc>
                      </a:pPr>
                      <a:r>
                        <a:rPr lang="zh-CN" altLang="en-US" sz="1200" b="0" i="0" dirty="0">
                          <a:solidFill>
                            <a:srgbClr val="000000"/>
                          </a:solidFill>
                          <a:effectLst/>
                        </a:rPr>
                        <a:t>其它项目</a:t>
                      </a:r>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latinLnBrk="0">
                        <a:lnSpc>
                          <a:spcPct val="150000"/>
                        </a:lnSpc>
                      </a:pPr>
                      <a:r>
                        <a:rPr lang="zh-CN" altLang="en-US" sz="1200" b="0" i="0" dirty="0">
                          <a:solidFill>
                            <a:srgbClr val="000000"/>
                          </a:solidFill>
                          <a:effectLst/>
                        </a:rPr>
                        <a:t>弱电</a:t>
                      </a:r>
                      <a:r>
                        <a:rPr lang="en-US" altLang="zh-CN" sz="1200" b="0" i="0" dirty="0">
                          <a:solidFill>
                            <a:srgbClr val="000000"/>
                          </a:solidFill>
                          <a:effectLst/>
                        </a:rPr>
                        <a:t>/ICT</a:t>
                      </a:r>
                      <a:r>
                        <a:rPr lang="zh-CN" altLang="en-US" sz="1200" b="0" i="0" dirty="0">
                          <a:solidFill>
                            <a:srgbClr val="000000"/>
                          </a:solidFill>
                          <a:effectLst/>
                        </a:rPr>
                        <a:t>项目</a:t>
                      </a:r>
                      <a:r>
                        <a:rPr lang="en-US" altLang="zh-CN" sz="1200" b="0" i="0" dirty="0">
                          <a:solidFill>
                            <a:srgbClr val="000000"/>
                          </a:solidFill>
                          <a:effectLst/>
                        </a:rPr>
                        <a:t>65%</a:t>
                      </a:r>
                    </a:p>
                    <a:p>
                      <a:pPr algn="ctr" fontAlgn="ctr" latinLnBrk="0">
                        <a:lnSpc>
                          <a:spcPct val="150000"/>
                        </a:lnSpc>
                      </a:pPr>
                      <a:r>
                        <a:rPr lang="zh-CN" altLang="en-US" sz="1200" b="0" i="0" dirty="0">
                          <a:solidFill>
                            <a:srgbClr val="000000"/>
                          </a:solidFill>
                          <a:effectLst/>
                        </a:rPr>
                        <a:t>其它项目</a:t>
                      </a:r>
                      <a:r>
                        <a:rPr lang="en-US" altLang="zh-CN" sz="1200" b="0" i="0" dirty="0">
                          <a:solidFill>
                            <a:srgbClr val="000000"/>
                          </a:solidFill>
                          <a:effectLst/>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矩形 3"/>
          <p:cNvSpPr/>
          <p:nvPr/>
        </p:nvSpPr>
        <p:spPr>
          <a:xfrm>
            <a:off x="774441" y="3135087"/>
            <a:ext cx="1231641" cy="35083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进漏斗后</a:t>
            </a:r>
          </a:p>
        </p:txBody>
      </p:sp>
      <p:sp>
        <p:nvSpPr>
          <p:cNvPr id="5" name="等腰三角形 4"/>
          <p:cNvSpPr/>
          <p:nvPr/>
        </p:nvSpPr>
        <p:spPr>
          <a:xfrm rot="5400000">
            <a:off x="1940767" y="477727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74440" y="956389"/>
            <a:ext cx="1231641" cy="20480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进漏斗时</a:t>
            </a:r>
          </a:p>
        </p:txBody>
      </p:sp>
      <p:sp>
        <p:nvSpPr>
          <p:cNvPr id="7" name="矩形 6"/>
          <p:cNvSpPr/>
          <p:nvPr/>
        </p:nvSpPr>
        <p:spPr>
          <a:xfrm>
            <a:off x="2687216" y="956389"/>
            <a:ext cx="9060023" cy="20480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rot="5400000">
            <a:off x="1940767" y="191534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046443" y="1357901"/>
            <a:ext cx="8341567" cy="1289456"/>
          </a:xfrm>
          <a:prstGeom prst="rect">
            <a:avLst/>
          </a:prstGeom>
          <a:noFill/>
        </p:spPr>
        <p:txBody>
          <a:bodyPr wrap="square" rtlCol="0">
            <a:spAutoFit/>
          </a:bodyPr>
          <a:lstStyle/>
          <a:p>
            <a:pPr>
              <a:lnSpc>
                <a:spcPct val="150000"/>
              </a:lnSpc>
            </a:pPr>
            <a:r>
              <a:rPr lang="zh-CN" altLang="en-US" dirty="0"/>
              <a:t>进漏斗时售前根据“可信度自评打分标准”对产品清单做可信度自评， 当“</a:t>
            </a:r>
            <a:r>
              <a:rPr lang="zh-CN" altLang="en-US" dirty="0">
                <a:solidFill>
                  <a:schemeClr val="accent4">
                    <a:lumMod val="50000"/>
                  </a:schemeClr>
                </a:solidFill>
              </a:rPr>
              <a:t>预算金额</a:t>
            </a:r>
            <a:r>
              <a:rPr lang="zh-CN" altLang="en-US" dirty="0"/>
              <a:t>”和“</a:t>
            </a:r>
            <a:r>
              <a:rPr lang="zh-CN" altLang="en-US" dirty="0">
                <a:solidFill>
                  <a:schemeClr val="accent4">
                    <a:lumMod val="50000"/>
                  </a:schemeClr>
                </a:solidFill>
              </a:rPr>
              <a:t>产品系列</a:t>
            </a:r>
            <a:r>
              <a:rPr lang="zh-CN" altLang="en-US" dirty="0"/>
              <a:t>”两项均不低于</a:t>
            </a:r>
            <a:r>
              <a:rPr lang="en-US" altLang="zh-CN" dirty="0"/>
              <a:t>3</a:t>
            </a:r>
            <a:r>
              <a:rPr lang="zh-CN" altLang="en-US" dirty="0"/>
              <a:t>分时，才可以把产品清单分享销售。销售导入售前分享的清单后提交漏斗申请。</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操作流程</a:t>
            </a:r>
            <a:r>
              <a:rPr lang="en-US" altLang="zh-CN" dirty="0"/>
              <a:t>-</a:t>
            </a:r>
            <a:r>
              <a:rPr lang="zh-CN" altLang="en-US" dirty="0"/>
              <a:t>漏斗外进漏斗内</a:t>
            </a:r>
          </a:p>
        </p:txBody>
      </p:sp>
      <p:graphicFrame>
        <p:nvGraphicFramePr>
          <p:cNvPr id="6" name="表格 5"/>
          <p:cNvGraphicFramePr>
            <a:graphicFrameLocks noGrp="1"/>
          </p:cNvGraphicFramePr>
          <p:nvPr/>
        </p:nvGraphicFramePr>
        <p:xfrm>
          <a:off x="1876927" y="1134823"/>
          <a:ext cx="7748336" cy="2823333"/>
        </p:xfrm>
        <a:graphic>
          <a:graphicData uri="http://schemas.openxmlformats.org/drawingml/2006/table">
            <a:tbl>
              <a:tblPr/>
              <a:tblGrid>
                <a:gridCol w="1004611"/>
                <a:gridCol w="1496231"/>
                <a:gridCol w="1079424"/>
                <a:gridCol w="4168070"/>
              </a:tblGrid>
              <a:tr h="449734">
                <a:tc gridSpan="4">
                  <a:txBody>
                    <a:bodyPr/>
                    <a:lstStyle/>
                    <a:p>
                      <a:pPr algn="ctr" fontAlgn="ctr" latinLnBrk="0">
                        <a:buNone/>
                      </a:pPr>
                      <a:r>
                        <a:rPr lang="zh-CN" altLang="en-US" sz="1200" b="0" i="0">
                          <a:solidFill>
                            <a:srgbClr val="000000"/>
                          </a:solidFill>
                          <a:effectLst/>
                        </a:rPr>
                        <a:t>项目进漏斗时做准清单的挑战</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p>
                  </a:txBody>
                  <a:tcPr/>
                </a:tc>
                <a:tc hMerge="1">
                  <a:txBody>
                    <a:bodyPr/>
                    <a:lstStyle/>
                    <a:p>
                      <a:endParaRPr lang="zh-CN"/>
                    </a:p>
                  </a:txBody>
                  <a:tcPr/>
                </a:tc>
                <a:tc hMerge="1">
                  <a:txBody>
                    <a:bodyPr/>
                    <a:lstStyle/>
                    <a:p>
                      <a:endParaRPr lang="zh-CN"/>
                    </a:p>
                  </a:txBody>
                  <a:tcPr/>
                </a:tc>
              </a:tr>
              <a:tr h="374779">
                <a:tc>
                  <a:txBody>
                    <a:bodyPr/>
                    <a:lstStyle/>
                    <a:p>
                      <a:pPr algn="ctr" fontAlgn="ctr" latinLnBrk="0">
                        <a:buNone/>
                      </a:pPr>
                      <a:r>
                        <a:rPr lang="zh-CN" altLang="en-US" sz="900" b="0" i="0">
                          <a:solidFill>
                            <a:srgbClr val="000000"/>
                          </a:solidFill>
                          <a:effectLst/>
                        </a:rPr>
                        <a:t>工序步骤</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900" b="0" i="0">
                          <a:solidFill>
                            <a:srgbClr val="000000"/>
                          </a:solidFill>
                          <a:effectLst/>
                        </a:rPr>
                        <a:t>工序名称</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900" b="0" i="0">
                          <a:solidFill>
                            <a:srgbClr val="000000"/>
                          </a:solidFill>
                          <a:effectLst/>
                        </a:rPr>
                        <a:t>工序角色</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900" b="0" i="0">
                          <a:solidFill>
                            <a:srgbClr val="000000"/>
                          </a:solidFill>
                          <a:effectLst/>
                        </a:rPr>
                        <a:t>挑战</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399764">
                <a:tc>
                  <a:txBody>
                    <a:bodyPr/>
                    <a:lstStyle/>
                    <a:p>
                      <a:pPr algn="ctr" fontAlgn="ctr" latinLnBrk="0">
                        <a:buNone/>
                      </a:pPr>
                      <a:r>
                        <a:rPr lang="en-US" altLang="zh-CN" sz="1000" b="0" i="0">
                          <a:solidFill>
                            <a:srgbClr val="000000"/>
                          </a:solidFill>
                          <a:effectLst/>
                        </a:rPr>
                        <a:t>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配置清单</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售前</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900" b="0" i="0">
                          <a:solidFill>
                            <a:srgbClr val="000000"/>
                          </a:solidFill>
                          <a:effectLst/>
                        </a:rPr>
                        <a:t>缺乏质量标准，清单质量参差不齐。</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399764">
                <a:tc>
                  <a:txBody>
                    <a:bodyPr/>
                    <a:lstStyle/>
                    <a:p>
                      <a:pPr algn="ctr" fontAlgn="ctr" latinLnBrk="0">
                        <a:buNone/>
                      </a:pPr>
                      <a:r>
                        <a:rPr lang="en-US" altLang="zh-CN" sz="1000" b="0" i="0">
                          <a:solidFill>
                            <a:srgbClr val="000000"/>
                          </a:solidFill>
                          <a:effectLst/>
                        </a:rPr>
                        <a:t>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录入清单</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销售</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900" b="0" i="0" dirty="0">
                          <a:solidFill>
                            <a:srgbClr val="000000"/>
                          </a:solidFill>
                          <a:effectLst/>
                        </a:rPr>
                        <a:t>随意导入项目清单（其它项目清单、自己配置清单、服务配置清单）</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399764">
                <a:tc>
                  <a:txBody>
                    <a:bodyPr/>
                    <a:lstStyle/>
                    <a:p>
                      <a:pPr algn="ctr" fontAlgn="ctr" latinLnBrk="0">
                        <a:buNone/>
                      </a:pPr>
                      <a:r>
                        <a:rPr lang="en-US" altLang="zh-CN" sz="1000" b="0" i="0">
                          <a:solidFill>
                            <a:srgbClr val="000000"/>
                          </a:solidFill>
                          <a:effectLst/>
                        </a:rPr>
                        <a:t>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提交申请</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销售</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900" b="0" i="0">
                          <a:solidFill>
                            <a:srgbClr val="000000"/>
                          </a:solidFill>
                          <a:effectLst/>
                        </a:rPr>
                        <a:t>关注项目金额匹配，对产品清单不较真</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399764">
                <a:tc>
                  <a:txBody>
                    <a:bodyPr/>
                    <a:lstStyle/>
                    <a:p>
                      <a:pPr algn="ctr" fontAlgn="ctr" latinLnBrk="0">
                        <a:buNone/>
                      </a:pPr>
                      <a:r>
                        <a:rPr lang="en-US" altLang="zh-CN" sz="1000" b="0" i="0">
                          <a:solidFill>
                            <a:srgbClr val="000000"/>
                          </a:solidFill>
                          <a:effectLst/>
                        </a:rPr>
                        <a:t>4</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审批漏斗</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区域经理</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900" b="0" i="0">
                          <a:solidFill>
                            <a:srgbClr val="000000"/>
                          </a:solidFill>
                          <a:effectLst/>
                        </a:rPr>
                        <a:t>对产品清单较少关注，更多关注项目规模和赢率</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399764">
                <a:tc>
                  <a:txBody>
                    <a:bodyPr/>
                    <a:lstStyle/>
                    <a:p>
                      <a:pPr algn="ctr" fontAlgn="ctr" latinLnBrk="0">
                        <a:buNone/>
                      </a:pPr>
                      <a:r>
                        <a:rPr lang="en-US" altLang="zh-CN" sz="1000" b="0" i="0">
                          <a:solidFill>
                            <a:srgbClr val="000000"/>
                          </a:solidFill>
                          <a:effectLst/>
                        </a:rPr>
                        <a:t>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清单校准</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900" b="0" i="0">
                          <a:solidFill>
                            <a:srgbClr val="000000"/>
                          </a:solidFill>
                          <a:effectLst/>
                        </a:rPr>
                        <a:t>售前</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900" b="0" i="0" dirty="0">
                          <a:solidFill>
                            <a:srgbClr val="000000"/>
                          </a:solidFill>
                          <a:effectLst/>
                        </a:rPr>
                        <a:t>进漏斗的项目产品清单是否准确未检查确认</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bl>
          </a:graphicData>
        </a:graphic>
      </p:graphicFrame>
      <p:sp>
        <p:nvSpPr>
          <p:cNvPr id="13" name="Rectangle 1"/>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6" name="组合 35"/>
          <p:cNvGrpSpPr/>
          <p:nvPr/>
        </p:nvGrpSpPr>
        <p:grpSpPr>
          <a:xfrm>
            <a:off x="889838" y="4544044"/>
            <a:ext cx="1228867" cy="1296956"/>
            <a:chOff x="6951305" y="1212979"/>
            <a:chExt cx="1228867" cy="1296956"/>
          </a:xfrm>
        </p:grpSpPr>
        <p:sp>
          <p:nvSpPr>
            <p:cNvPr id="50"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3" name="文本框 52"/>
            <p:cNvSpPr txBox="1"/>
            <p:nvPr/>
          </p:nvSpPr>
          <p:spPr>
            <a:xfrm>
              <a:off x="7114332" y="1860130"/>
              <a:ext cx="902811" cy="523220"/>
            </a:xfrm>
            <a:prstGeom prst="rect">
              <a:avLst/>
            </a:prstGeom>
            <a:noFill/>
          </p:spPr>
          <p:txBody>
            <a:bodyPr wrap="none" rtlCol="0">
              <a:spAutoFit/>
            </a:bodyPr>
            <a:lstStyle/>
            <a:p>
              <a:pPr algn="ctr"/>
              <a:r>
                <a:rPr lang="zh-CN" altLang="en-US" sz="1400" dirty="0"/>
                <a:t>配置清单</a:t>
              </a:r>
              <a:endParaRPr lang="en-US" altLang="zh-CN" sz="1400" dirty="0"/>
            </a:p>
            <a:p>
              <a:pPr algn="ctr"/>
              <a:r>
                <a:rPr lang="zh-CN" altLang="en-US" sz="1400" dirty="0"/>
                <a:t>（售前）</a:t>
              </a:r>
            </a:p>
          </p:txBody>
        </p:sp>
      </p:grpSp>
      <p:grpSp>
        <p:nvGrpSpPr>
          <p:cNvPr id="54" name="组合 53"/>
          <p:cNvGrpSpPr/>
          <p:nvPr/>
        </p:nvGrpSpPr>
        <p:grpSpPr>
          <a:xfrm>
            <a:off x="3104025" y="4545371"/>
            <a:ext cx="1228867" cy="1296956"/>
            <a:chOff x="6951305" y="1212979"/>
            <a:chExt cx="1228867" cy="1296956"/>
          </a:xfrm>
        </p:grpSpPr>
        <p:sp>
          <p:nvSpPr>
            <p:cNvPr id="55"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椭圆 55"/>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57" name="文本框 56"/>
            <p:cNvSpPr txBox="1"/>
            <p:nvPr/>
          </p:nvSpPr>
          <p:spPr>
            <a:xfrm>
              <a:off x="7114332" y="1860130"/>
              <a:ext cx="902811" cy="523220"/>
            </a:xfrm>
            <a:prstGeom prst="rect">
              <a:avLst/>
            </a:prstGeom>
            <a:noFill/>
          </p:spPr>
          <p:txBody>
            <a:bodyPr wrap="none" rtlCol="0">
              <a:spAutoFit/>
            </a:bodyPr>
            <a:lstStyle/>
            <a:p>
              <a:pPr algn="ctr"/>
              <a:r>
                <a:rPr lang="zh-CN" altLang="en-US" sz="1400" dirty="0"/>
                <a:t>录入清单</a:t>
              </a:r>
              <a:endParaRPr lang="en-US" altLang="zh-CN" sz="1400" dirty="0"/>
            </a:p>
            <a:p>
              <a:pPr algn="ctr"/>
              <a:r>
                <a:rPr lang="zh-CN" altLang="en-US" sz="1400" dirty="0"/>
                <a:t>（售前）</a:t>
              </a:r>
            </a:p>
          </p:txBody>
        </p:sp>
      </p:grpSp>
      <p:cxnSp>
        <p:nvCxnSpPr>
          <p:cNvPr id="58" name="直接箭头连接符 57"/>
          <p:cNvCxnSpPr>
            <a:stCxn id="50" idx="3"/>
            <a:endCxn id="55" idx="1"/>
          </p:cNvCxnSpPr>
          <p:nvPr/>
        </p:nvCxnSpPr>
        <p:spPr>
          <a:xfrm>
            <a:off x="2118705" y="5192522"/>
            <a:ext cx="985320" cy="1327"/>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59" name="组合 58"/>
          <p:cNvGrpSpPr/>
          <p:nvPr/>
        </p:nvGrpSpPr>
        <p:grpSpPr>
          <a:xfrm>
            <a:off x="5318212" y="4557528"/>
            <a:ext cx="1228867" cy="1296956"/>
            <a:chOff x="6951305" y="1212979"/>
            <a:chExt cx="1228867" cy="1296956"/>
          </a:xfrm>
        </p:grpSpPr>
        <p:sp>
          <p:nvSpPr>
            <p:cNvPr id="60"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椭圆 6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62" name="文本框 61"/>
            <p:cNvSpPr txBox="1"/>
            <p:nvPr/>
          </p:nvSpPr>
          <p:spPr>
            <a:xfrm>
              <a:off x="7114333" y="1860130"/>
              <a:ext cx="902811" cy="523220"/>
            </a:xfrm>
            <a:prstGeom prst="rect">
              <a:avLst/>
            </a:prstGeom>
            <a:noFill/>
          </p:spPr>
          <p:txBody>
            <a:bodyPr wrap="none" rtlCol="0">
              <a:spAutoFit/>
            </a:bodyPr>
            <a:lstStyle/>
            <a:p>
              <a:pPr algn="ctr"/>
              <a:r>
                <a:rPr lang="zh-CN" altLang="en-US" sz="1400" dirty="0"/>
                <a:t>提交申请</a:t>
              </a:r>
              <a:endParaRPr lang="en-US" altLang="zh-CN" sz="1400" dirty="0"/>
            </a:p>
            <a:p>
              <a:pPr algn="ctr"/>
              <a:r>
                <a:rPr lang="zh-CN" altLang="en-US" sz="1400" dirty="0"/>
                <a:t>（销售）</a:t>
              </a:r>
            </a:p>
          </p:txBody>
        </p:sp>
      </p:grpSp>
      <p:cxnSp>
        <p:nvCxnSpPr>
          <p:cNvPr id="63" name="直接箭头连接符 62"/>
          <p:cNvCxnSpPr>
            <a:stCxn id="55" idx="3"/>
            <a:endCxn id="60" idx="1"/>
          </p:cNvCxnSpPr>
          <p:nvPr/>
        </p:nvCxnSpPr>
        <p:spPr>
          <a:xfrm>
            <a:off x="4332892" y="5193849"/>
            <a:ext cx="985320" cy="12157"/>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79" name="组合 78"/>
          <p:cNvGrpSpPr/>
          <p:nvPr/>
        </p:nvGrpSpPr>
        <p:grpSpPr>
          <a:xfrm>
            <a:off x="7532399" y="4557528"/>
            <a:ext cx="1295547" cy="1296956"/>
            <a:chOff x="6917970" y="1212979"/>
            <a:chExt cx="1295547" cy="1296956"/>
          </a:xfrm>
        </p:grpSpPr>
        <p:sp>
          <p:nvSpPr>
            <p:cNvPr id="80"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椭圆 8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82" name="文本框 81"/>
            <p:cNvSpPr txBox="1"/>
            <p:nvPr/>
          </p:nvSpPr>
          <p:spPr>
            <a:xfrm>
              <a:off x="6917970" y="1860130"/>
              <a:ext cx="1295547" cy="523220"/>
            </a:xfrm>
            <a:prstGeom prst="rect">
              <a:avLst/>
            </a:prstGeom>
            <a:noFill/>
          </p:spPr>
          <p:txBody>
            <a:bodyPr wrap="none" rtlCol="0">
              <a:spAutoFit/>
            </a:bodyPr>
            <a:lstStyle/>
            <a:p>
              <a:pPr algn="ctr"/>
              <a:r>
                <a:rPr lang="zh-CN" altLang="en-US" sz="1400" dirty="0"/>
                <a:t>审批漏斗</a:t>
              </a:r>
              <a:endParaRPr lang="en-US" altLang="zh-CN" sz="1400" dirty="0"/>
            </a:p>
            <a:p>
              <a:pPr algn="ctr"/>
              <a:r>
                <a:rPr lang="zh-CN" altLang="en-US" sz="1400" dirty="0"/>
                <a:t>（区域经理）</a:t>
              </a:r>
            </a:p>
          </p:txBody>
        </p:sp>
      </p:grpSp>
      <p:cxnSp>
        <p:nvCxnSpPr>
          <p:cNvPr id="83" name="直接箭头连接符 82"/>
          <p:cNvCxnSpPr>
            <a:stCxn id="60" idx="3"/>
            <a:endCxn id="80" idx="1"/>
          </p:cNvCxnSpPr>
          <p:nvPr/>
        </p:nvCxnSpPr>
        <p:spPr>
          <a:xfrm>
            <a:off x="6547079" y="5206006"/>
            <a:ext cx="1018655"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84" name="组合 83"/>
          <p:cNvGrpSpPr/>
          <p:nvPr/>
        </p:nvGrpSpPr>
        <p:grpSpPr>
          <a:xfrm>
            <a:off x="9813256" y="4556201"/>
            <a:ext cx="1228867" cy="1296956"/>
            <a:chOff x="6951305" y="1212979"/>
            <a:chExt cx="1228867" cy="1296956"/>
          </a:xfrm>
        </p:grpSpPr>
        <p:sp>
          <p:nvSpPr>
            <p:cNvPr id="85"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椭圆 85"/>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87" name="文本框 86"/>
            <p:cNvSpPr txBox="1"/>
            <p:nvPr/>
          </p:nvSpPr>
          <p:spPr>
            <a:xfrm>
              <a:off x="7114339" y="1860130"/>
              <a:ext cx="902811" cy="523220"/>
            </a:xfrm>
            <a:prstGeom prst="rect">
              <a:avLst/>
            </a:prstGeom>
            <a:noFill/>
          </p:spPr>
          <p:txBody>
            <a:bodyPr wrap="none" rtlCol="0">
              <a:spAutoFit/>
            </a:bodyPr>
            <a:lstStyle/>
            <a:p>
              <a:pPr algn="ctr"/>
              <a:r>
                <a:rPr lang="zh-CN" altLang="en-US" sz="1400" dirty="0"/>
                <a:t>清单校准</a:t>
              </a:r>
              <a:endParaRPr lang="en-US" altLang="zh-CN" sz="1400" dirty="0"/>
            </a:p>
            <a:p>
              <a:pPr algn="ctr"/>
              <a:r>
                <a:rPr lang="zh-CN" altLang="en-US" sz="1400" dirty="0"/>
                <a:t>（售前）</a:t>
              </a:r>
            </a:p>
          </p:txBody>
        </p:sp>
      </p:grpSp>
      <p:cxnSp>
        <p:nvCxnSpPr>
          <p:cNvPr id="88" name="直接箭头连接符 87"/>
          <p:cNvCxnSpPr>
            <a:stCxn id="80" idx="3"/>
            <a:endCxn id="85" idx="1"/>
          </p:cNvCxnSpPr>
          <p:nvPr/>
        </p:nvCxnSpPr>
        <p:spPr>
          <a:xfrm flipV="1">
            <a:off x="8794601" y="5204679"/>
            <a:ext cx="1018655" cy="1327"/>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操作流程</a:t>
            </a:r>
            <a:r>
              <a:rPr lang="en-US" altLang="zh-CN" dirty="0"/>
              <a:t>-</a:t>
            </a:r>
            <a:r>
              <a:rPr lang="zh-CN" altLang="en-US" dirty="0"/>
              <a:t>漏斗外进漏斗内</a:t>
            </a:r>
          </a:p>
        </p:txBody>
      </p:sp>
      <p:sp>
        <p:nvSpPr>
          <p:cNvPr id="13" name="Rectangle 1"/>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331911" y="1037168"/>
          <a:ext cx="11528178" cy="5398633"/>
        </p:xfrm>
        <a:graphic>
          <a:graphicData uri="http://schemas.openxmlformats.org/drawingml/2006/table">
            <a:tbl>
              <a:tblPr/>
              <a:tblGrid>
                <a:gridCol w="748858"/>
                <a:gridCol w="1118012"/>
                <a:gridCol w="1065276"/>
                <a:gridCol w="4225287"/>
                <a:gridCol w="4370745"/>
              </a:tblGrid>
              <a:tr h="300362">
                <a:tc gridSpan="5">
                  <a:txBody>
                    <a:bodyPr/>
                    <a:lstStyle/>
                    <a:p>
                      <a:pPr algn="ctr" fontAlgn="ctr" latinLnBrk="0">
                        <a:buNone/>
                      </a:pPr>
                      <a:r>
                        <a:rPr lang="zh-CN" altLang="en-US" sz="1100" b="0" i="0">
                          <a:solidFill>
                            <a:srgbClr val="000000"/>
                          </a:solidFill>
                          <a:effectLst/>
                        </a:rPr>
                        <a:t>项目进漏斗时做准清单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695601">
                <a:tc>
                  <a:txBody>
                    <a:bodyPr/>
                    <a:lstStyle/>
                    <a:p>
                      <a:pPr algn="ctr" fontAlgn="ctr" latinLnBrk="0">
                        <a:buNone/>
                      </a:pPr>
                      <a:r>
                        <a:rPr lang="zh-CN" altLang="en-US" sz="1100" b="0" i="0" dirty="0">
                          <a:solidFill>
                            <a:srgbClr val="000000"/>
                          </a:solidFill>
                          <a:effectLst/>
                        </a:rPr>
                        <a:t>工序步骤</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工序名称</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工序角色</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a:solidFill>
                            <a:srgbClr val="000000"/>
                          </a:solidFill>
                          <a:effectLst/>
                        </a:rPr>
                        <a:t>操作指导（</a:t>
                      </a:r>
                      <a:r>
                        <a:rPr lang="en-US" altLang="zh-CN" sz="1100" b="0" i="0">
                          <a:solidFill>
                            <a:srgbClr val="000000"/>
                          </a:solidFill>
                          <a:effectLst/>
                        </a:rPr>
                        <a:t>IT</a:t>
                      </a:r>
                      <a:r>
                        <a:rPr lang="zh-CN" altLang="en-US" sz="1100" b="0" i="0">
                          <a:solidFill>
                            <a:srgbClr val="000000"/>
                          </a:solidFill>
                          <a:effectLst/>
                        </a:rPr>
                        <a:t>系统开发完成前）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a:solidFill>
                            <a:srgbClr val="000000"/>
                          </a:solidFill>
                          <a:effectLst/>
                        </a:rPr>
                        <a:t>操作指导（</a:t>
                      </a:r>
                      <a:r>
                        <a:rPr lang="en-US" altLang="zh-CN" sz="1100" b="0" i="0">
                          <a:solidFill>
                            <a:srgbClr val="000000"/>
                          </a:solidFill>
                          <a:effectLst/>
                        </a:rPr>
                        <a:t>IT</a:t>
                      </a:r>
                      <a:r>
                        <a:rPr lang="zh-CN" altLang="en-US" sz="1100" b="0" i="0">
                          <a:solidFill>
                            <a:srgbClr val="000000"/>
                          </a:solidFill>
                          <a:effectLst/>
                        </a:rPr>
                        <a:t>系统开发完成后）</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968202">
                <a:tc>
                  <a:txBody>
                    <a:bodyPr/>
                    <a:lstStyle/>
                    <a:p>
                      <a:pPr algn="ctr" fontAlgn="ctr" latinLnBrk="0">
                        <a:lnSpc>
                          <a:spcPct val="150000"/>
                        </a:lnSpc>
                        <a:buNone/>
                      </a:pPr>
                      <a:r>
                        <a:rPr lang="en-US" altLang="zh-CN" sz="1200" b="0" i="0" dirty="0">
                          <a:solidFill>
                            <a:srgbClr val="000000"/>
                          </a:solidFill>
                          <a:effectLst/>
                        </a:rPr>
                        <a:t>1</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配置清单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、接到销售需求，售前根据需求配置产品清单。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、按照清单可信度自评打分标准自评，自查可信度是否达标。</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、把达标的产品清单分享给销售。</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a:solidFill>
                            <a:srgbClr val="000000"/>
                          </a:solidFill>
                          <a:effectLst/>
                        </a:rPr>
                        <a:t>1</a:t>
                      </a:r>
                      <a:r>
                        <a:rPr lang="zh-CN" altLang="en-US" sz="1100" b="0" i="0">
                          <a:solidFill>
                            <a:srgbClr val="000000"/>
                          </a:solidFill>
                          <a:effectLst/>
                        </a:rPr>
                        <a:t>、接到销售需求，售前根据需求配置产品清单。</a:t>
                      </a:r>
                      <a:br>
                        <a:rPr lang="zh-CN" altLang="en-US" sz="1100" b="0" i="0">
                          <a:solidFill>
                            <a:srgbClr val="000000"/>
                          </a:solidFill>
                          <a:effectLst/>
                        </a:rPr>
                      </a:br>
                      <a:r>
                        <a:rPr lang="en-US" altLang="zh-CN" sz="1100" b="0" i="0">
                          <a:solidFill>
                            <a:srgbClr val="000000"/>
                          </a:solidFill>
                          <a:effectLst/>
                        </a:rPr>
                        <a:t>2</a:t>
                      </a:r>
                      <a:r>
                        <a:rPr lang="zh-CN" altLang="en-US" sz="1100" b="0" i="0">
                          <a:solidFill>
                            <a:srgbClr val="000000"/>
                          </a:solidFill>
                          <a:effectLst/>
                        </a:rPr>
                        <a:t>、按照清单可信度评分指南自评，在系统中填写可信度评分。</a:t>
                      </a:r>
                      <a:br>
                        <a:rPr lang="zh-CN" altLang="en-US" sz="1100" b="0" i="0">
                          <a:solidFill>
                            <a:srgbClr val="000000"/>
                          </a:solidFill>
                          <a:effectLst/>
                        </a:rPr>
                      </a:br>
                      <a:r>
                        <a:rPr lang="en-US" altLang="zh-CN" sz="1100" b="0" i="0">
                          <a:solidFill>
                            <a:srgbClr val="000000"/>
                          </a:solidFill>
                          <a:effectLst/>
                        </a:rPr>
                        <a:t>3</a:t>
                      </a:r>
                      <a:r>
                        <a:rPr lang="zh-CN" altLang="en-US" sz="1100" b="0" i="0">
                          <a:solidFill>
                            <a:srgbClr val="000000"/>
                          </a:solidFill>
                          <a:effectLst/>
                        </a:rPr>
                        <a:t>、把达标的产品清单分享给销售，未达标无法分享。</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1142773">
                <a:tc>
                  <a:txBody>
                    <a:bodyPr/>
                    <a:lstStyle/>
                    <a:p>
                      <a:pPr algn="ctr" fontAlgn="ctr" latinLnBrk="0">
                        <a:lnSpc>
                          <a:spcPct val="150000"/>
                        </a:lnSpc>
                        <a:buNone/>
                      </a:pPr>
                      <a:r>
                        <a:rPr lang="en-US" altLang="zh-CN" sz="1200" b="0" i="0">
                          <a:solidFill>
                            <a:srgbClr val="000000"/>
                          </a:solidFill>
                          <a:effectLst/>
                        </a:rPr>
                        <a:t>2</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录入清单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、通知售前，</a:t>
                      </a:r>
                      <a:r>
                        <a:rPr lang="en-US" altLang="zh-CN" sz="1100" b="0" i="0" dirty="0">
                          <a:solidFill>
                            <a:srgbClr val="000000"/>
                          </a:solidFill>
                          <a:effectLst/>
                        </a:rPr>
                        <a:t>XX</a:t>
                      </a:r>
                      <a:r>
                        <a:rPr lang="zh-CN" altLang="en-US" sz="1100" b="0" i="0" dirty="0">
                          <a:solidFill>
                            <a:srgbClr val="000000"/>
                          </a:solidFill>
                          <a:effectLst/>
                        </a:rPr>
                        <a:t>项目准备进漏斗，需要更新一版清单。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、导入售前分享的最新清单。</a:t>
                      </a:r>
                      <a:endParaRPr lang="en-US" altLang="zh-CN" sz="1100" b="0" i="0" dirty="0">
                        <a:solidFill>
                          <a:srgbClr val="000000"/>
                        </a:solidFill>
                        <a:effectLst/>
                      </a:endParaRPr>
                    </a:p>
                    <a:p>
                      <a:pPr algn="l" fontAlgn="ctr" latinLnBrk="0">
                        <a:lnSpc>
                          <a:spcPct val="150000"/>
                        </a:lnSpc>
                        <a:buNone/>
                      </a:pPr>
                      <a:r>
                        <a:rPr lang="en-US" altLang="zh-CN" sz="1100" b="0" i="0" dirty="0">
                          <a:solidFill>
                            <a:srgbClr val="000000"/>
                          </a:solidFill>
                          <a:effectLst/>
                        </a:rPr>
                        <a:t>3</a:t>
                      </a:r>
                      <a:r>
                        <a:rPr lang="zh-CN" altLang="en-US" sz="1100" b="0" i="0" dirty="0">
                          <a:solidFill>
                            <a:srgbClr val="000000"/>
                          </a:solidFill>
                          <a:effectLst/>
                        </a:rPr>
                        <a:t>、保存至</a:t>
                      </a:r>
                      <a:r>
                        <a:rPr lang="en-US" altLang="zh-CN" sz="1100" b="0" i="0" dirty="0">
                          <a:solidFill>
                            <a:srgbClr val="000000"/>
                          </a:solidFill>
                          <a:effectLst/>
                        </a:rPr>
                        <a:t>CRM</a:t>
                      </a:r>
                      <a:r>
                        <a:rPr lang="zh-CN" altLang="en-US" sz="1100" b="0" i="0" dirty="0">
                          <a:solidFill>
                            <a:srgbClr val="000000"/>
                          </a:solidFill>
                          <a:effectLst/>
                        </a:rPr>
                        <a:t/>
                      </a:r>
                      <a:br>
                        <a:rPr lang="zh-CN" altLang="en-US" sz="1100" b="0" i="0" dirty="0">
                          <a:solidFill>
                            <a:srgbClr val="000000"/>
                          </a:solidFill>
                          <a:effectLst/>
                        </a:rPr>
                      </a:br>
                      <a:r>
                        <a:rPr lang="zh-CN" altLang="en-US" sz="1000" b="0" i="0" dirty="0">
                          <a:solidFill>
                            <a:srgbClr val="000000"/>
                          </a:solidFill>
                          <a:effectLst/>
                        </a:rPr>
                        <a:t>注：如果是销售自己配置的清单或渠道工程师配置的清单，需交由售前核准，售前核准后通过产品配置器分享给销售。</a:t>
                      </a:r>
                      <a:endParaRPr lang="zh-CN" altLang="en-US" sz="1100" b="0" i="0" dirty="0">
                        <a:solidFill>
                          <a:srgbClr val="000000"/>
                        </a:solidFill>
                        <a:effectLst/>
                      </a:endParaRP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、通知售前，</a:t>
                      </a:r>
                      <a:r>
                        <a:rPr lang="en-US" altLang="zh-CN" sz="1100" b="0" i="0" dirty="0">
                          <a:solidFill>
                            <a:srgbClr val="000000"/>
                          </a:solidFill>
                          <a:effectLst/>
                        </a:rPr>
                        <a:t>XX</a:t>
                      </a:r>
                      <a:r>
                        <a:rPr lang="zh-CN" altLang="en-US" sz="1100" b="0" i="0" dirty="0">
                          <a:solidFill>
                            <a:srgbClr val="000000"/>
                          </a:solidFill>
                          <a:effectLst/>
                        </a:rPr>
                        <a:t>项目准备进漏斗，需要更新一版清单。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、只能导入售前分享的最新清单（唯一匹配且携带可信度评分）。</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、保存至</a:t>
                      </a:r>
                      <a:r>
                        <a:rPr lang="en-US" altLang="zh-CN" sz="1100" b="0" i="0" dirty="0">
                          <a:solidFill>
                            <a:srgbClr val="000000"/>
                          </a:solidFill>
                          <a:effectLst/>
                        </a:rPr>
                        <a:t>CRM</a:t>
                      </a:r>
                      <a:r>
                        <a:rPr lang="zh-CN" altLang="en-US" sz="1100" b="0" i="0" dirty="0">
                          <a:solidFill>
                            <a:srgbClr val="000000"/>
                          </a:solidFill>
                          <a:effectLst/>
                        </a:rPr>
                        <a:t>。</a:t>
                      </a:r>
                      <a:endParaRPr lang="en-US" altLang="zh-CN" sz="1100" b="0" i="0" dirty="0">
                        <a:solidFill>
                          <a:srgbClr val="000000"/>
                        </a:solidFill>
                        <a:effectLst/>
                      </a:endParaRPr>
                    </a:p>
                    <a:p>
                      <a:pPr algn="l" fontAlgn="ctr" latinLnBrk="0">
                        <a:lnSpc>
                          <a:spcPct val="150000"/>
                        </a:lnSpc>
                        <a:buNone/>
                      </a:pPr>
                      <a:r>
                        <a:rPr lang="zh-CN" altLang="en-US" sz="1050" b="0" i="0" dirty="0">
                          <a:solidFill>
                            <a:srgbClr val="000000"/>
                          </a:solidFill>
                          <a:effectLst/>
                        </a:rPr>
                        <a:t>注：如果是销售自己配置的清单或渠道工程师配置的清单，需交由售前核准，售前核准后通过产品配置器分享给销售。</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669098">
                <a:tc>
                  <a:txBody>
                    <a:bodyPr/>
                    <a:lstStyle/>
                    <a:p>
                      <a:pPr algn="ctr" fontAlgn="ctr" latinLnBrk="0">
                        <a:lnSpc>
                          <a:spcPct val="150000"/>
                        </a:lnSpc>
                        <a:buNone/>
                      </a:pPr>
                      <a:r>
                        <a:rPr lang="en-US" altLang="zh-CN" sz="1200" b="0" i="0">
                          <a:solidFill>
                            <a:srgbClr val="000000"/>
                          </a:solidFill>
                          <a:effectLst/>
                        </a:rPr>
                        <a:t>3</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提交申请</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、提交漏斗申请时，检查一遍产品清单是否准确。（是否已经更新至售前分享的最新清单）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、提交漏斗申请时，</a:t>
                      </a:r>
                      <a:r>
                        <a:rPr lang="en-US" altLang="zh-CN" sz="1100" b="0" i="0" dirty="0">
                          <a:solidFill>
                            <a:srgbClr val="000000"/>
                          </a:solidFill>
                          <a:effectLst/>
                        </a:rPr>
                        <a:t>CRM</a:t>
                      </a:r>
                      <a:r>
                        <a:rPr lang="zh-CN" altLang="en-US" sz="1100" b="0" i="0" dirty="0">
                          <a:solidFill>
                            <a:srgbClr val="000000"/>
                          </a:solidFill>
                          <a:effectLst/>
                        </a:rPr>
                        <a:t>系统自动判断产品清单可信度，不达标不允许提交。</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564274">
                <a:tc>
                  <a:txBody>
                    <a:bodyPr/>
                    <a:lstStyle/>
                    <a:p>
                      <a:pPr algn="ctr" fontAlgn="ctr" latinLnBrk="0">
                        <a:lnSpc>
                          <a:spcPct val="150000"/>
                        </a:lnSpc>
                        <a:buNone/>
                      </a:pPr>
                      <a:r>
                        <a:rPr lang="en-US" altLang="zh-CN" sz="1200" b="0" i="0">
                          <a:solidFill>
                            <a:srgbClr val="000000"/>
                          </a:solidFill>
                          <a:effectLst/>
                        </a:rPr>
                        <a:t>4</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审批漏斗</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区域经理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、审批漏斗时，查看清单更新时间，是否最近一周更新过</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、审批漏斗时，可以看到产品清单可信度评分。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883774">
                <a:tc>
                  <a:txBody>
                    <a:bodyPr/>
                    <a:lstStyle/>
                    <a:p>
                      <a:pPr algn="ctr" fontAlgn="ctr" latinLnBrk="0">
                        <a:lnSpc>
                          <a:spcPct val="150000"/>
                        </a:lnSpc>
                        <a:buNone/>
                      </a:pPr>
                      <a:r>
                        <a:rPr lang="en-US" altLang="zh-CN" sz="1200" b="0" i="0">
                          <a:solidFill>
                            <a:srgbClr val="000000"/>
                          </a:solidFill>
                          <a:effectLst/>
                        </a:rPr>
                        <a:t>5</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清单校准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a:solidFill>
                            <a:srgbClr val="000000"/>
                          </a:solidFill>
                          <a:effectLst/>
                        </a:rPr>
                        <a:t>1</a:t>
                      </a:r>
                      <a:r>
                        <a:rPr lang="zh-CN" altLang="en-US" sz="1100" b="0" i="0">
                          <a:solidFill>
                            <a:srgbClr val="000000"/>
                          </a:solidFill>
                          <a:effectLst/>
                        </a:rPr>
                        <a:t>、进入</a:t>
                      </a:r>
                      <a:r>
                        <a:rPr lang="en-US" altLang="zh-CN" sz="1100" b="0" i="0">
                          <a:solidFill>
                            <a:srgbClr val="000000"/>
                          </a:solidFill>
                          <a:effectLst/>
                        </a:rPr>
                        <a:t>ECP</a:t>
                      </a:r>
                      <a:r>
                        <a:rPr lang="zh-CN" altLang="en-US" sz="1100" b="0" i="0">
                          <a:solidFill>
                            <a:srgbClr val="000000"/>
                          </a:solidFill>
                          <a:effectLst/>
                        </a:rPr>
                        <a:t>系统，检查配置器、</a:t>
                      </a:r>
                      <a:r>
                        <a:rPr lang="en-US" altLang="zh-CN" sz="1100" b="0" i="0">
                          <a:solidFill>
                            <a:srgbClr val="000000"/>
                          </a:solidFill>
                          <a:effectLst/>
                        </a:rPr>
                        <a:t>ECP</a:t>
                      </a:r>
                      <a:r>
                        <a:rPr lang="zh-CN" altLang="en-US" sz="1100" b="0" i="0">
                          <a:solidFill>
                            <a:srgbClr val="000000"/>
                          </a:solidFill>
                          <a:effectLst/>
                        </a:rPr>
                        <a:t>、</a:t>
                      </a:r>
                      <a:r>
                        <a:rPr lang="en-US" altLang="zh-CN" sz="1100" b="0" i="0">
                          <a:solidFill>
                            <a:srgbClr val="000000"/>
                          </a:solidFill>
                          <a:effectLst/>
                        </a:rPr>
                        <a:t>CRM</a:t>
                      </a:r>
                      <a:r>
                        <a:rPr lang="zh-CN" altLang="en-US" sz="1100" b="0" i="0">
                          <a:solidFill>
                            <a:srgbClr val="000000"/>
                          </a:solidFill>
                          <a:effectLst/>
                        </a:rPr>
                        <a:t>三者清单是否一致</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、进入</a:t>
                      </a:r>
                      <a:r>
                        <a:rPr lang="en-US" altLang="zh-CN" sz="1100" b="0" i="0" dirty="0">
                          <a:solidFill>
                            <a:srgbClr val="000000"/>
                          </a:solidFill>
                          <a:effectLst/>
                        </a:rPr>
                        <a:t>ECP</a:t>
                      </a:r>
                      <a:r>
                        <a:rPr lang="zh-CN" altLang="en-US" sz="1100" b="0" i="0" dirty="0">
                          <a:solidFill>
                            <a:srgbClr val="000000"/>
                          </a:solidFill>
                          <a:effectLst/>
                        </a:rPr>
                        <a:t>系统，检查配置器、</a:t>
                      </a:r>
                      <a:r>
                        <a:rPr lang="en-US" altLang="zh-CN" sz="1100" b="0" i="0" dirty="0">
                          <a:solidFill>
                            <a:srgbClr val="000000"/>
                          </a:solidFill>
                          <a:effectLst/>
                        </a:rPr>
                        <a:t>ECP</a:t>
                      </a:r>
                      <a:r>
                        <a:rPr lang="zh-CN" altLang="en-US" sz="1100" b="0" i="0" dirty="0">
                          <a:solidFill>
                            <a:srgbClr val="000000"/>
                          </a:solidFill>
                          <a:effectLst/>
                        </a:rPr>
                        <a:t>、</a:t>
                      </a:r>
                      <a:r>
                        <a:rPr lang="en-US" altLang="zh-CN" sz="1100" b="0" i="0" dirty="0">
                          <a:solidFill>
                            <a:srgbClr val="000000"/>
                          </a:solidFill>
                          <a:effectLst/>
                        </a:rPr>
                        <a:t>CRM</a:t>
                      </a:r>
                      <a:r>
                        <a:rPr lang="zh-CN" altLang="en-US" sz="1100" b="0" i="0" dirty="0">
                          <a:solidFill>
                            <a:srgbClr val="000000"/>
                          </a:solidFill>
                          <a:effectLst/>
                        </a:rPr>
                        <a:t>三者清单是否一致</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、三个系统自动比对，不一致的项目邮件提醒至销售和售前（待定）。</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bl>
          </a:graphicData>
        </a:graphic>
      </p:graphicFrame>
      <p:sp>
        <p:nvSpPr>
          <p:cNvPr id="4" name="Rectangle 1"/>
          <p:cNvSpPr>
            <a:spLocks noChangeArrowheads="1"/>
          </p:cNvSpPr>
          <p:nvPr/>
        </p:nvSpPr>
        <p:spPr bwMode="auto">
          <a:xfrm>
            <a:off x="3998913" y="18240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操作流程</a:t>
            </a:r>
            <a:r>
              <a:rPr lang="en-US" altLang="zh-CN" dirty="0"/>
              <a:t>-</a:t>
            </a:r>
            <a:r>
              <a:rPr lang="zh-CN" altLang="en-US" dirty="0"/>
              <a:t>漏斗内项目管理</a:t>
            </a:r>
          </a:p>
        </p:txBody>
      </p:sp>
      <p:sp>
        <p:nvSpPr>
          <p:cNvPr id="13" name="Rectangle 1"/>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15" name="表格 14"/>
          <p:cNvGraphicFramePr>
            <a:graphicFrameLocks noGrp="1"/>
          </p:cNvGraphicFramePr>
          <p:nvPr/>
        </p:nvGraphicFramePr>
        <p:xfrm>
          <a:off x="1275287" y="1289310"/>
          <a:ext cx="9472134" cy="3008052"/>
        </p:xfrm>
        <a:graphic>
          <a:graphicData uri="http://schemas.openxmlformats.org/drawingml/2006/table">
            <a:tbl>
              <a:tblPr/>
              <a:tblGrid>
                <a:gridCol w="1273804"/>
                <a:gridCol w="1678549"/>
                <a:gridCol w="1342465"/>
                <a:gridCol w="5177316"/>
              </a:tblGrid>
              <a:tr h="668457">
                <a:tc gridSpan="4">
                  <a:txBody>
                    <a:bodyPr/>
                    <a:lstStyle/>
                    <a:p>
                      <a:pPr algn="ctr" fontAlgn="ctr" latinLnBrk="0">
                        <a:buNone/>
                      </a:pPr>
                      <a:r>
                        <a:rPr lang="zh-CN" altLang="en-US" sz="1200" b="0" i="0">
                          <a:solidFill>
                            <a:srgbClr val="000000"/>
                          </a:solidFill>
                          <a:effectLst/>
                        </a:rPr>
                        <a:t>漏内项目做准清单的挑战</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p>
                  </a:txBody>
                  <a:tcPr/>
                </a:tc>
                <a:tc hMerge="1">
                  <a:txBody>
                    <a:bodyPr/>
                    <a:lstStyle/>
                    <a:p>
                      <a:endParaRPr lang="zh-CN"/>
                    </a:p>
                  </a:txBody>
                  <a:tcPr/>
                </a:tc>
                <a:tc hMerge="1">
                  <a:txBody>
                    <a:bodyPr/>
                    <a:lstStyle/>
                    <a:p>
                      <a:endParaRPr lang="zh-CN"/>
                    </a:p>
                  </a:txBody>
                  <a:tcPr/>
                </a:tc>
              </a:tr>
              <a:tr h="557046">
                <a:tc>
                  <a:txBody>
                    <a:bodyPr/>
                    <a:lstStyle/>
                    <a:p>
                      <a:pPr algn="ctr" fontAlgn="ctr" latinLnBrk="0">
                        <a:buNone/>
                      </a:pPr>
                      <a:r>
                        <a:rPr lang="zh-CN" altLang="en-US" sz="1100" b="0" i="0" dirty="0">
                          <a:solidFill>
                            <a:srgbClr val="000000"/>
                          </a:solidFill>
                          <a:effectLst/>
                        </a:rPr>
                        <a:t>工序步骤</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工序名称</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a:solidFill>
                            <a:srgbClr val="000000"/>
                          </a:solidFill>
                          <a:effectLst/>
                        </a:rPr>
                        <a:t>工序角色</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a:solidFill>
                            <a:srgbClr val="000000"/>
                          </a:solidFill>
                          <a:effectLst/>
                        </a:rPr>
                        <a:t>挑战</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594183">
                <a:tc>
                  <a:txBody>
                    <a:bodyPr/>
                    <a:lstStyle/>
                    <a:p>
                      <a:pPr algn="ctr" fontAlgn="ctr" latinLnBrk="0">
                        <a:buNone/>
                      </a:pPr>
                      <a:r>
                        <a:rPr lang="en-US" altLang="zh-CN" sz="1200" b="0" i="0" dirty="0">
                          <a:solidFill>
                            <a:srgbClr val="000000"/>
                          </a:solidFill>
                          <a:effectLst/>
                        </a:rPr>
                        <a:t>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日常项目自盘</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销售</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1100" b="0" i="0" dirty="0">
                          <a:solidFill>
                            <a:srgbClr val="000000"/>
                          </a:solidFill>
                          <a:effectLst/>
                        </a:rPr>
                        <a:t>只更新项目进展，不关注产品清单是否准确。</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594183">
                <a:tc>
                  <a:txBody>
                    <a:bodyPr/>
                    <a:lstStyle/>
                    <a:p>
                      <a:pPr algn="ctr" fontAlgn="ctr" latinLnBrk="0">
                        <a:buNone/>
                      </a:pPr>
                      <a:r>
                        <a:rPr lang="en-US" altLang="zh-CN" sz="1200" b="0" i="0" dirty="0">
                          <a:solidFill>
                            <a:srgbClr val="000000"/>
                          </a:solidFill>
                          <a:effectLst/>
                        </a:rPr>
                        <a:t>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提升预测类别</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销售</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1100" b="0" i="0" dirty="0">
                          <a:solidFill>
                            <a:srgbClr val="000000"/>
                          </a:solidFill>
                          <a:effectLst/>
                        </a:rPr>
                        <a:t>只调整预测类别，不更新产品清单，提特价时更新清单</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594183">
                <a:tc>
                  <a:txBody>
                    <a:bodyPr/>
                    <a:lstStyle/>
                    <a:p>
                      <a:pPr algn="ctr" fontAlgn="ctr" latinLnBrk="0">
                        <a:buNone/>
                      </a:pPr>
                      <a:r>
                        <a:rPr lang="en-US" altLang="zh-CN" sz="1200" b="0" i="0" dirty="0">
                          <a:solidFill>
                            <a:srgbClr val="000000"/>
                          </a:solidFill>
                          <a:effectLst/>
                        </a:rPr>
                        <a:t>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更新开标时间</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buNone/>
                      </a:pPr>
                      <a:r>
                        <a:rPr lang="zh-CN" altLang="en-US" sz="1100" b="0" i="0" dirty="0">
                          <a:solidFill>
                            <a:srgbClr val="000000"/>
                          </a:solidFill>
                          <a:effectLst/>
                        </a:rPr>
                        <a:t>销售</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buNone/>
                      </a:pPr>
                      <a:r>
                        <a:rPr lang="zh-CN" altLang="en-US" sz="1100" b="0" i="0" dirty="0">
                          <a:solidFill>
                            <a:srgbClr val="000000"/>
                          </a:solidFill>
                          <a:effectLst/>
                        </a:rPr>
                        <a:t>只调整开标时间，不更新产品清单，提特价时更新清单</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bl>
          </a:graphicData>
        </a:graphic>
      </p:graphicFrame>
      <p:sp>
        <p:nvSpPr>
          <p:cNvPr id="26" name="Rectangle 2"/>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658379" y="4692798"/>
            <a:ext cx="1261884" cy="1296956"/>
            <a:chOff x="6934797" y="1212979"/>
            <a:chExt cx="1261884"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文本框 6"/>
            <p:cNvSpPr txBox="1"/>
            <p:nvPr/>
          </p:nvSpPr>
          <p:spPr>
            <a:xfrm>
              <a:off x="6934797" y="1860130"/>
              <a:ext cx="1261884" cy="307777"/>
            </a:xfrm>
            <a:prstGeom prst="rect">
              <a:avLst/>
            </a:prstGeom>
            <a:noFill/>
          </p:spPr>
          <p:txBody>
            <a:bodyPr wrap="none" rtlCol="0">
              <a:spAutoFit/>
            </a:bodyPr>
            <a:lstStyle/>
            <a:p>
              <a:pPr algn="ctr"/>
              <a:r>
                <a:rPr lang="zh-CN" altLang="en-US" sz="1400" dirty="0"/>
                <a:t>日常项目自盘</a:t>
              </a:r>
            </a:p>
          </p:txBody>
        </p:sp>
      </p:grpSp>
      <p:grpSp>
        <p:nvGrpSpPr>
          <p:cNvPr id="8" name="组合 7"/>
          <p:cNvGrpSpPr/>
          <p:nvPr/>
        </p:nvGrpSpPr>
        <p:grpSpPr>
          <a:xfrm>
            <a:off x="4872567" y="4694125"/>
            <a:ext cx="1261884" cy="1296956"/>
            <a:chOff x="6934798" y="1212979"/>
            <a:chExt cx="1261884" cy="1296956"/>
          </a:xfrm>
        </p:grpSpPr>
        <p:sp>
          <p:nvSpPr>
            <p:cNvPr id="9"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1" name="文本框 10"/>
            <p:cNvSpPr txBox="1"/>
            <p:nvPr/>
          </p:nvSpPr>
          <p:spPr>
            <a:xfrm>
              <a:off x="6934798" y="1860130"/>
              <a:ext cx="1261884" cy="307777"/>
            </a:xfrm>
            <a:prstGeom prst="rect">
              <a:avLst/>
            </a:prstGeom>
            <a:noFill/>
          </p:spPr>
          <p:txBody>
            <a:bodyPr wrap="none" rtlCol="0">
              <a:spAutoFit/>
            </a:bodyPr>
            <a:lstStyle/>
            <a:p>
              <a:pPr algn="ctr"/>
              <a:r>
                <a:rPr lang="zh-CN" altLang="en-US" sz="1400" dirty="0"/>
                <a:t>提升预测类别</a:t>
              </a:r>
            </a:p>
          </p:txBody>
        </p:sp>
      </p:grpSp>
      <p:cxnSp>
        <p:nvCxnSpPr>
          <p:cNvPr id="12" name="直接箭头连接符 11"/>
          <p:cNvCxnSpPr>
            <a:stCxn id="4" idx="3"/>
            <a:endCxn id="9" idx="1"/>
          </p:cNvCxnSpPr>
          <p:nvPr/>
        </p:nvCxnSpPr>
        <p:spPr>
          <a:xfrm>
            <a:off x="3903754" y="5341276"/>
            <a:ext cx="985320" cy="1327"/>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7086753" y="4706282"/>
            <a:ext cx="1261885" cy="1296956"/>
            <a:chOff x="6934797" y="1212979"/>
            <a:chExt cx="1261885" cy="1296956"/>
          </a:xfrm>
        </p:grpSpPr>
        <p:sp>
          <p:nvSpPr>
            <p:cNvPr id="16"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8" name="文本框 17"/>
            <p:cNvSpPr txBox="1"/>
            <p:nvPr/>
          </p:nvSpPr>
          <p:spPr>
            <a:xfrm>
              <a:off x="6934797" y="1860130"/>
              <a:ext cx="1261885" cy="307777"/>
            </a:xfrm>
            <a:prstGeom prst="rect">
              <a:avLst/>
            </a:prstGeom>
            <a:noFill/>
          </p:spPr>
          <p:txBody>
            <a:bodyPr wrap="none" rtlCol="0">
              <a:spAutoFit/>
            </a:bodyPr>
            <a:lstStyle/>
            <a:p>
              <a:pPr algn="ctr"/>
              <a:r>
                <a:rPr lang="zh-CN" altLang="en-US" sz="1400" dirty="0"/>
                <a:t>更新开标时间</a:t>
              </a:r>
            </a:p>
          </p:txBody>
        </p:sp>
      </p:grpSp>
      <p:cxnSp>
        <p:nvCxnSpPr>
          <p:cNvPr id="19" name="直接箭头连接符 18"/>
          <p:cNvCxnSpPr>
            <a:stCxn id="9" idx="3"/>
            <a:endCxn id="16" idx="1"/>
          </p:cNvCxnSpPr>
          <p:nvPr/>
        </p:nvCxnSpPr>
        <p:spPr>
          <a:xfrm>
            <a:off x="6117941" y="5342603"/>
            <a:ext cx="985320" cy="12157"/>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操作流程</a:t>
            </a:r>
            <a:r>
              <a:rPr lang="en-US" altLang="zh-CN" dirty="0"/>
              <a:t>-</a:t>
            </a:r>
            <a:r>
              <a:rPr lang="zh-CN" altLang="en-US" dirty="0"/>
              <a:t>漏斗内项目管理</a:t>
            </a:r>
          </a:p>
        </p:txBody>
      </p:sp>
      <p:sp>
        <p:nvSpPr>
          <p:cNvPr id="13" name="Rectangle 1"/>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6" name="Rectangle 2"/>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nvGraphicFramePr>
        <p:xfrm>
          <a:off x="312091" y="843813"/>
          <a:ext cx="11500732" cy="5840070"/>
        </p:xfrm>
        <a:graphic>
          <a:graphicData uri="http://schemas.openxmlformats.org/drawingml/2006/table">
            <a:tbl>
              <a:tblPr/>
              <a:tblGrid>
                <a:gridCol w="785435"/>
                <a:gridCol w="1054137"/>
                <a:gridCol w="1043804"/>
                <a:gridCol w="4132858"/>
                <a:gridCol w="4484498"/>
              </a:tblGrid>
              <a:tr h="436682">
                <a:tc gridSpan="5">
                  <a:txBody>
                    <a:bodyPr/>
                    <a:lstStyle/>
                    <a:p>
                      <a:pPr algn="ctr" fontAlgn="ctr" latinLnBrk="0">
                        <a:lnSpc>
                          <a:spcPct val="150000"/>
                        </a:lnSpc>
                        <a:buNone/>
                      </a:pPr>
                      <a:r>
                        <a:rPr lang="zh-CN" altLang="en-US" sz="1100" b="0" i="0" dirty="0">
                          <a:solidFill>
                            <a:srgbClr val="000000"/>
                          </a:solidFill>
                          <a:effectLst/>
                        </a:rPr>
                        <a:t>漏内项目做准清单</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450424">
                <a:tc>
                  <a:txBody>
                    <a:bodyPr/>
                    <a:lstStyle/>
                    <a:p>
                      <a:pPr algn="ctr" fontAlgn="ctr" latinLnBrk="0">
                        <a:lnSpc>
                          <a:spcPct val="150000"/>
                        </a:lnSpc>
                        <a:buNone/>
                      </a:pPr>
                      <a:r>
                        <a:rPr lang="zh-CN" altLang="en-US" sz="1000" b="0" i="0">
                          <a:solidFill>
                            <a:srgbClr val="000000"/>
                          </a:solidFill>
                          <a:effectLst/>
                        </a:rPr>
                        <a:t>工序步骤</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工序名称</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工序角色</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操作指导（</a:t>
                      </a:r>
                      <a:r>
                        <a:rPr lang="en-US" altLang="zh-CN" sz="1000" b="0" i="0">
                          <a:solidFill>
                            <a:srgbClr val="000000"/>
                          </a:solidFill>
                          <a:effectLst/>
                        </a:rPr>
                        <a:t>IT</a:t>
                      </a:r>
                      <a:r>
                        <a:rPr lang="zh-CN" altLang="en-US" sz="1000" b="0" i="0">
                          <a:solidFill>
                            <a:srgbClr val="000000"/>
                          </a:solidFill>
                          <a:effectLst/>
                        </a:rPr>
                        <a:t>系统开发完成前）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操作指导（</a:t>
                      </a:r>
                      <a:r>
                        <a:rPr lang="en-US" altLang="zh-CN" sz="1000" b="0" i="0">
                          <a:solidFill>
                            <a:srgbClr val="000000"/>
                          </a:solidFill>
                          <a:effectLst/>
                        </a:rPr>
                        <a:t>IT</a:t>
                      </a:r>
                      <a:r>
                        <a:rPr lang="zh-CN" altLang="en-US" sz="1000" b="0" i="0">
                          <a:solidFill>
                            <a:srgbClr val="000000"/>
                          </a:solidFill>
                          <a:effectLst/>
                        </a:rPr>
                        <a:t>系统开发完成后）</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1433383">
                <a:tc>
                  <a:txBody>
                    <a:bodyPr/>
                    <a:lstStyle/>
                    <a:p>
                      <a:pPr algn="ctr" fontAlgn="ctr" latinLnBrk="0">
                        <a:lnSpc>
                          <a:spcPct val="150000"/>
                        </a:lnSpc>
                        <a:buNone/>
                      </a:pPr>
                      <a:r>
                        <a:rPr lang="en-US" altLang="zh-CN" sz="1000" b="0" i="0">
                          <a:solidFill>
                            <a:srgbClr val="000000"/>
                          </a:solidFill>
                          <a:effectLst/>
                        </a:rPr>
                        <a:t>1</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a:solidFill>
                            <a:srgbClr val="000000"/>
                          </a:solidFill>
                          <a:effectLst/>
                        </a:rPr>
                        <a:t>日常项目自盘</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a:solidFill>
                            <a:srgbClr val="000000"/>
                          </a:solidFill>
                          <a:effectLst/>
                        </a:rPr>
                        <a:t>销售</a:t>
                      </a:r>
                      <a:r>
                        <a:rPr lang="en-US" altLang="zh-CN" sz="1000" b="0" i="0">
                          <a:solidFill>
                            <a:srgbClr val="000000"/>
                          </a:solidFill>
                          <a:effectLst/>
                        </a:rPr>
                        <a:t>/</a:t>
                      </a:r>
                      <a:r>
                        <a:rPr lang="zh-CN" altLang="en-US" sz="1000" b="0" i="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000" b="0" i="0" dirty="0">
                          <a:solidFill>
                            <a:srgbClr val="000000"/>
                          </a:solidFill>
                          <a:effectLst/>
                        </a:rPr>
                        <a:t>1</a:t>
                      </a:r>
                      <a:r>
                        <a:rPr lang="zh-CN" altLang="en-US" sz="1000" b="0" i="0" dirty="0">
                          <a:solidFill>
                            <a:srgbClr val="000000"/>
                          </a:solidFill>
                          <a:effectLst/>
                        </a:rPr>
                        <a:t>、项目的产品清单可信度自评打分，自我记录</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、打分结果与可信度目标比对，判断是否达标</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，继续收集和确认用户需求</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1</a:t>
                      </a:r>
                      <a:r>
                        <a:rPr lang="zh-CN" altLang="en-US" sz="1000" b="0" i="0" dirty="0">
                          <a:solidFill>
                            <a:srgbClr val="000000"/>
                          </a:solidFill>
                          <a:effectLst/>
                        </a:rPr>
                        <a:t>、项目的产品清单可信度自评打分，记录在配置器</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2</a:t>
                      </a:r>
                      <a:r>
                        <a:rPr lang="zh-CN" altLang="en-US" sz="1000" b="0" i="0" dirty="0">
                          <a:solidFill>
                            <a:srgbClr val="000000"/>
                          </a:solidFill>
                          <a:effectLst/>
                        </a:rPr>
                        <a:t>、产品清单（更新）分享销售，带可信度评分</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3</a:t>
                      </a:r>
                      <a:r>
                        <a:rPr lang="zh-CN" altLang="en-US" sz="1000" b="0" i="0" dirty="0">
                          <a:solidFill>
                            <a:srgbClr val="000000"/>
                          </a:solidFill>
                          <a:effectLst/>
                        </a:rPr>
                        <a:t>、</a:t>
                      </a:r>
                      <a:r>
                        <a:rPr lang="en-US" altLang="zh-CN" sz="1000" b="0" i="0" dirty="0">
                          <a:solidFill>
                            <a:srgbClr val="000000"/>
                          </a:solidFill>
                          <a:effectLst/>
                        </a:rPr>
                        <a:t>ECP</a:t>
                      </a:r>
                      <a:r>
                        <a:rPr lang="zh-CN" altLang="en-US" sz="1000" b="0" i="0" dirty="0">
                          <a:solidFill>
                            <a:srgbClr val="000000"/>
                          </a:solidFill>
                          <a:effectLst/>
                        </a:rPr>
                        <a:t>导入产品清单（唯一匹配），保存至</a:t>
                      </a:r>
                      <a:r>
                        <a:rPr lang="en-US" altLang="zh-CN" sz="1000" b="0" i="0" dirty="0">
                          <a:solidFill>
                            <a:srgbClr val="000000"/>
                          </a:solidFill>
                          <a:effectLst/>
                        </a:rPr>
                        <a:t>CRM</a:t>
                      </a:r>
                      <a:r>
                        <a:rPr lang="zh-CN" altLang="en-US" sz="1000" b="0"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7</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defRPr/>
                      </a:pPr>
                      <a:r>
                        <a:rPr lang="zh-CN" altLang="en-US" sz="900" b="0" i="0" dirty="0">
                          <a:solidFill>
                            <a:schemeClr val="accent4">
                              <a:lumMod val="50000"/>
                            </a:schemeClr>
                          </a:solidFill>
                          <a:effectLst/>
                        </a:rPr>
                        <a:t>注：以上要求</a:t>
                      </a:r>
                      <a:r>
                        <a:rPr lang="en-US" altLang="zh-CN" sz="900" b="0" i="0" dirty="0">
                          <a:solidFill>
                            <a:schemeClr val="accent4">
                              <a:lumMod val="50000"/>
                            </a:schemeClr>
                          </a:solidFill>
                          <a:effectLst/>
                        </a:rPr>
                        <a:t>30</a:t>
                      </a:r>
                      <a:r>
                        <a:rPr lang="zh-CN" altLang="en-US" sz="900" b="0" i="0" dirty="0">
                          <a:solidFill>
                            <a:schemeClr val="accent4">
                              <a:lumMod val="50000"/>
                            </a:schemeClr>
                          </a:solidFill>
                          <a:effectLst/>
                        </a:rPr>
                        <a:t>天完成，即</a:t>
                      </a:r>
                      <a:r>
                        <a:rPr lang="en-US" altLang="zh-CN" sz="900" b="0" i="0" dirty="0">
                          <a:solidFill>
                            <a:schemeClr val="accent4">
                              <a:lumMod val="50000"/>
                            </a:schemeClr>
                          </a:solidFill>
                          <a:effectLst/>
                        </a:rPr>
                        <a:t>10</a:t>
                      </a:r>
                      <a:r>
                        <a:rPr lang="zh-CN" altLang="en-US" sz="900" b="0" i="0" dirty="0">
                          <a:solidFill>
                            <a:schemeClr val="accent4">
                              <a:lumMod val="50000"/>
                            </a:schemeClr>
                          </a:solidFill>
                          <a:effectLst/>
                        </a:rPr>
                        <a:t>月</a:t>
                      </a:r>
                      <a:r>
                        <a:rPr lang="en-US" altLang="zh-CN" sz="900" b="0" i="0" dirty="0">
                          <a:solidFill>
                            <a:schemeClr val="accent4">
                              <a:lumMod val="50000"/>
                            </a:schemeClr>
                          </a:solidFill>
                          <a:effectLst/>
                        </a:rPr>
                        <a:t>1</a:t>
                      </a:r>
                      <a:r>
                        <a:rPr lang="zh-CN" altLang="en-US" sz="900" b="0" i="0" dirty="0">
                          <a:solidFill>
                            <a:schemeClr val="accent4">
                              <a:lumMod val="50000"/>
                            </a:schemeClr>
                          </a:solidFill>
                          <a:effectLst/>
                        </a:rPr>
                        <a:t>日前。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1233784">
                <a:tc>
                  <a:txBody>
                    <a:bodyPr/>
                    <a:lstStyle/>
                    <a:p>
                      <a:pPr algn="ctr" fontAlgn="ctr" latinLnBrk="0">
                        <a:lnSpc>
                          <a:spcPct val="150000"/>
                        </a:lnSpc>
                        <a:buNone/>
                      </a:pPr>
                      <a:r>
                        <a:rPr lang="en-US" altLang="zh-CN" sz="1000" b="0" i="0">
                          <a:solidFill>
                            <a:srgbClr val="000000"/>
                          </a:solidFill>
                          <a:effectLst/>
                        </a:rPr>
                        <a:t>2</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a:solidFill>
                            <a:srgbClr val="000000"/>
                          </a:solidFill>
                          <a:effectLst/>
                        </a:rPr>
                        <a:t>提升预测类别</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000" b="0" i="0" dirty="0">
                          <a:solidFill>
                            <a:srgbClr val="000000"/>
                          </a:solidFill>
                          <a:effectLst/>
                        </a:rPr>
                        <a:t>1</a:t>
                      </a:r>
                      <a:r>
                        <a:rPr lang="zh-CN" altLang="en-US" sz="1000" b="0" i="0" dirty="0">
                          <a:solidFill>
                            <a:srgbClr val="000000"/>
                          </a:solidFill>
                          <a:effectLst/>
                        </a:rPr>
                        <a:t>、项目预测类别变化时，通知售前；</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、对项目的产品清单可信度自评打分，自我记录</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3</a:t>
                      </a:r>
                      <a:r>
                        <a:rPr lang="zh-CN" altLang="en-US" sz="1000" b="0" i="0" dirty="0">
                          <a:solidFill>
                            <a:srgbClr val="000000"/>
                          </a:solidFill>
                          <a:effectLst/>
                        </a:rPr>
                        <a:t>、打分结果与可信度目标比对，判断是否达标</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4</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，继续收集和确认用户需求</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1</a:t>
                      </a:r>
                      <a:r>
                        <a:rPr lang="zh-CN" altLang="en-US" sz="1000" b="0" i="0" dirty="0">
                          <a:solidFill>
                            <a:srgbClr val="000000"/>
                          </a:solidFill>
                          <a:effectLst/>
                        </a:rPr>
                        <a:t>、项目预测类别变化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r h="1319097">
                <a:tc>
                  <a:txBody>
                    <a:bodyPr/>
                    <a:lstStyle/>
                    <a:p>
                      <a:pPr algn="ctr" fontAlgn="ctr" latinLnBrk="0">
                        <a:lnSpc>
                          <a:spcPct val="150000"/>
                        </a:lnSpc>
                        <a:buNone/>
                      </a:pPr>
                      <a:r>
                        <a:rPr lang="en-US" altLang="zh-CN" sz="1000" b="0" i="0">
                          <a:solidFill>
                            <a:srgbClr val="000000"/>
                          </a:solidFill>
                          <a:effectLst/>
                        </a:rPr>
                        <a:t>3</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a:solidFill>
                            <a:srgbClr val="000000"/>
                          </a:solidFill>
                          <a:effectLst/>
                        </a:rPr>
                        <a:t>更新开标时间</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a:solidFill>
                            <a:srgbClr val="000000"/>
                          </a:solidFill>
                          <a:effectLst/>
                        </a:rPr>
                        <a:t>销售</a:t>
                      </a:r>
                      <a:r>
                        <a:rPr lang="en-US" altLang="zh-CN" sz="1000" b="0" i="0">
                          <a:solidFill>
                            <a:srgbClr val="000000"/>
                          </a:solidFill>
                          <a:effectLst/>
                        </a:rPr>
                        <a:t>/</a:t>
                      </a:r>
                      <a:r>
                        <a:rPr lang="zh-CN" altLang="en-US" sz="1000" b="0" i="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000" b="0" i="0" dirty="0">
                          <a:solidFill>
                            <a:srgbClr val="000000"/>
                          </a:solidFill>
                          <a:effectLst/>
                        </a:rPr>
                        <a:t>1</a:t>
                      </a:r>
                      <a:r>
                        <a:rPr lang="zh-CN" altLang="en-US" sz="1000" b="0" i="0" dirty="0">
                          <a:solidFill>
                            <a:srgbClr val="000000"/>
                          </a:solidFill>
                          <a:effectLst/>
                        </a:rPr>
                        <a:t>、项目距离开标不足</a:t>
                      </a:r>
                      <a:r>
                        <a:rPr lang="en-US" altLang="zh-CN" sz="1000" b="0" i="0" dirty="0">
                          <a:solidFill>
                            <a:srgbClr val="000000"/>
                          </a:solidFill>
                          <a:effectLst/>
                        </a:rPr>
                        <a:t>30</a:t>
                      </a:r>
                      <a:r>
                        <a:rPr lang="zh-CN" altLang="en-US" sz="1000" b="0" i="0" dirty="0">
                          <a:solidFill>
                            <a:srgbClr val="000000"/>
                          </a:solidFill>
                          <a:effectLst/>
                        </a:rPr>
                        <a:t>天时，通知售前。</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、对项目的产品清单可信度自评打分，自我记录</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3</a:t>
                      </a:r>
                      <a:r>
                        <a:rPr lang="zh-CN" altLang="en-US" sz="1000" b="0" i="0" dirty="0">
                          <a:solidFill>
                            <a:srgbClr val="000000"/>
                          </a:solidFill>
                          <a:effectLst/>
                        </a:rPr>
                        <a:t>、打分结果与可信度目标比对，判断是否达标</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4</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，继续收集和确认用户需求</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endParaRPr lang="zh-CN" altLang="en-US"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defRPr/>
                      </a:pPr>
                      <a:r>
                        <a:rPr lang="en-US" altLang="zh-CN" sz="1000" b="0" i="0" dirty="0">
                          <a:solidFill>
                            <a:srgbClr val="000000"/>
                          </a:solidFill>
                          <a:effectLst/>
                        </a:rPr>
                        <a:t>1</a:t>
                      </a:r>
                      <a:r>
                        <a:rPr lang="zh-CN" altLang="en-US" sz="1000" b="0" i="0" dirty="0">
                          <a:solidFill>
                            <a:srgbClr val="000000"/>
                          </a:solidFill>
                          <a:effectLst/>
                        </a:rPr>
                        <a:t>、项目开标时间变化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r>
            </a:tbl>
          </a:graphicData>
        </a:graphic>
      </p:graphicFrame>
      <p:sp>
        <p:nvSpPr>
          <p:cNvPr id="4" name="Rectangle 1"/>
          <p:cNvSpPr>
            <a:spLocks noChangeArrowheads="1"/>
          </p:cNvSpPr>
          <p:nvPr/>
        </p:nvSpPr>
        <p:spPr bwMode="auto">
          <a:xfrm>
            <a:off x="4610100" y="1690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a:t>N</a:t>
            </a:r>
            <a:r>
              <a:rPr lang="zh-CN" altLang="en-US" dirty="0"/>
              <a:t>的质量提升目标</a:t>
            </a:r>
          </a:p>
        </p:txBody>
      </p:sp>
      <p:pic>
        <p:nvPicPr>
          <p:cNvPr id="11" name="图片 10"/>
          <p:cNvPicPr>
            <a:picLocks noChangeAspect="1"/>
          </p:cNvPicPr>
          <p:nvPr/>
        </p:nvPicPr>
        <p:blipFill>
          <a:blip r:embed="rId2"/>
          <a:stretch>
            <a:fillRect/>
          </a:stretch>
        </p:blipFill>
        <p:spPr>
          <a:xfrm>
            <a:off x="281465" y="1053449"/>
            <a:ext cx="11629068" cy="2328331"/>
          </a:xfrm>
          <a:prstGeom prst="rect">
            <a:avLst/>
          </a:prstGeom>
        </p:spPr>
      </p:pic>
      <p:pic>
        <p:nvPicPr>
          <p:cNvPr id="17" name="图片 16"/>
          <p:cNvPicPr>
            <a:picLocks noChangeAspect="1"/>
          </p:cNvPicPr>
          <p:nvPr/>
        </p:nvPicPr>
        <p:blipFill>
          <a:blip r:embed="rId3"/>
          <a:srcRect l="19062"/>
          <a:stretch>
            <a:fillRect/>
          </a:stretch>
        </p:blipFill>
        <p:spPr>
          <a:xfrm>
            <a:off x="281465" y="3614580"/>
            <a:ext cx="7988970" cy="2399776"/>
          </a:xfrm>
          <a:prstGeom prst="rect">
            <a:avLst/>
          </a:prstGeom>
        </p:spPr>
      </p:pic>
      <p:sp>
        <p:nvSpPr>
          <p:cNvPr id="19" name="文本框 18"/>
          <p:cNvSpPr txBox="1"/>
          <p:nvPr/>
        </p:nvSpPr>
        <p:spPr>
          <a:xfrm>
            <a:off x="8432312" y="3664974"/>
            <a:ext cx="3225557" cy="2120452"/>
          </a:xfrm>
          <a:prstGeom prst="rect">
            <a:avLst/>
          </a:prstGeom>
          <a:noFill/>
        </p:spPr>
        <p:txBody>
          <a:bodyPr wrap="square">
            <a:spAutoFit/>
          </a:bodyPr>
          <a:lstStyle/>
          <a:p>
            <a:pPr>
              <a:lnSpc>
                <a:spcPct val="150000"/>
              </a:lnSpc>
              <a:buNone/>
            </a:pPr>
            <a:r>
              <a:rPr lang="zh-CN" altLang="en-US" dirty="0"/>
              <a:t>举例说明：</a:t>
            </a:r>
          </a:p>
          <a:p>
            <a:pPr>
              <a:lnSpc>
                <a:spcPct val="150000"/>
              </a:lnSpc>
              <a:buNone/>
            </a:pPr>
            <a:r>
              <a:rPr lang="zh-CN" altLang="en-US" dirty="0"/>
              <a:t>某项目开标时间是</a:t>
            </a:r>
            <a:r>
              <a:rPr lang="en-US" altLang="zh-CN" dirty="0"/>
              <a:t>8</a:t>
            </a:r>
            <a:r>
              <a:rPr lang="zh-CN" altLang="en-US" dirty="0"/>
              <a:t>月</a:t>
            </a:r>
            <a:r>
              <a:rPr lang="en-US" altLang="zh-CN" dirty="0"/>
              <a:t>12</a:t>
            </a:r>
            <a:r>
              <a:rPr lang="zh-CN" altLang="en-US" dirty="0"/>
              <a:t>日，</a:t>
            </a:r>
          </a:p>
          <a:p>
            <a:pPr>
              <a:lnSpc>
                <a:spcPct val="150000"/>
              </a:lnSpc>
              <a:buNone/>
            </a:pPr>
            <a:r>
              <a:rPr lang="zh-CN" altLang="en-US" dirty="0"/>
              <a:t>则项目财月是</a:t>
            </a:r>
            <a:r>
              <a:rPr lang="en-US" altLang="zh-CN" dirty="0"/>
              <a:t>8</a:t>
            </a:r>
            <a:r>
              <a:rPr lang="zh-CN" altLang="en-US" dirty="0"/>
              <a:t>月（</a:t>
            </a:r>
            <a:r>
              <a:rPr lang="en-US" altLang="zh-CN" dirty="0"/>
              <a:t>7.21-8.20</a:t>
            </a:r>
            <a:r>
              <a:rPr lang="zh-CN" altLang="en-US" dirty="0"/>
              <a:t>）</a:t>
            </a:r>
          </a:p>
          <a:p>
            <a:pPr>
              <a:lnSpc>
                <a:spcPct val="150000"/>
              </a:lnSpc>
              <a:buNone/>
            </a:pPr>
            <a:r>
              <a:rPr lang="en-US" altLang="zh-CN" dirty="0"/>
              <a:t>(M-1)</a:t>
            </a:r>
            <a:r>
              <a:rPr lang="zh-CN" altLang="en-US" dirty="0"/>
              <a:t>月则是</a:t>
            </a:r>
            <a:r>
              <a:rPr lang="en-US" altLang="zh-CN" dirty="0"/>
              <a:t>7</a:t>
            </a:r>
            <a:r>
              <a:rPr lang="zh-CN" altLang="en-US" dirty="0"/>
              <a:t>月（</a:t>
            </a:r>
            <a:r>
              <a:rPr lang="en-US" altLang="zh-CN" dirty="0"/>
              <a:t>6.21-7.20</a:t>
            </a:r>
            <a:r>
              <a:rPr lang="zh-CN" altLang="en-US" dirty="0"/>
              <a:t>）</a:t>
            </a:r>
          </a:p>
          <a:p>
            <a:pPr>
              <a:lnSpc>
                <a:spcPct val="150000"/>
              </a:lnSpc>
              <a:buNone/>
            </a:pPr>
            <a:r>
              <a:rPr lang="en-US" altLang="zh-CN" dirty="0"/>
              <a:t>(M-2)</a:t>
            </a:r>
            <a:r>
              <a:rPr lang="zh-CN" altLang="en-US" dirty="0"/>
              <a:t>月则是</a:t>
            </a:r>
            <a:r>
              <a:rPr lang="en-US" altLang="zh-CN" dirty="0"/>
              <a:t>6</a:t>
            </a:r>
            <a:r>
              <a:rPr lang="zh-CN" altLang="en-US" dirty="0"/>
              <a:t>月（</a:t>
            </a:r>
            <a:r>
              <a:rPr lang="en-US" altLang="zh-CN" dirty="0"/>
              <a:t>5.21-6.20</a:t>
            </a:r>
            <a:r>
              <a:rPr lang="zh-CN" altLang="en-US"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行动计划</a:t>
            </a:r>
          </a:p>
        </p:txBody>
      </p:sp>
      <p:graphicFrame>
        <p:nvGraphicFramePr>
          <p:cNvPr id="4" name="表格 3"/>
          <p:cNvGraphicFramePr>
            <a:graphicFrameLocks noGrp="1"/>
          </p:cNvGraphicFramePr>
          <p:nvPr/>
        </p:nvGraphicFramePr>
        <p:xfrm>
          <a:off x="779014" y="1367183"/>
          <a:ext cx="10633972" cy="3847960"/>
        </p:xfrm>
        <a:graphic>
          <a:graphicData uri="http://schemas.openxmlformats.org/drawingml/2006/table">
            <a:tbl>
              <a:tblPr firstRow="1" bandRow="1">
                <a:tableStyleId>{5C22544A-7EE6-4342-B048-85BDC9FD1C3A}</a:tableStyleId>
              </a:tblPr>
              <a:tblGrid>
                <a:gridCol w="2281869"/>
                <a:gridCol w="4712004"/>
                <a:gridCol w="1408788"/>
                <a:gridCol w="2231311"/>
              </a:tblGrid>
              <a:tr h="441513">
                <a:tc>
                  <a:txBody>
                    <a:bodyPr/>
                    <a:lstStyle/>
                    <a:p>
                      <a:pPr>
                        <a:lnSpc>
                          <a:spcPct val="150000"/>
                        </a:lnSpc>
                      </a:pPr>
                      <a:r>
                        <a:rPr lang="zh-CN" altLang="en-US" sz="1400" dirty="0"/>
                        <a:t>行动项</a:t>
                      </a:r>
                    </a:p>
                  </a:txBody>
                  <a:tcPr anchor="ctr"/>
                </a:tc>
                <a:tc>
                  <a:txBody>
                    <a:bodyPr/>
                    <a:lstStyle/>
                    <a:p>
                      <a:pPr>
                        <a:lnSpc>
                          <a:spcPct val="150000"/>
                        </a:lnSpc>
                      </a:pPr>
                      <a:r>
                        <a:rPr lang="zh-CN" altLang="en-US" sz="1400" dirty="0"/>
                        <a:t>具体动作</a:t>
                      </a:r>
                    </a:p>
                  </a:txBody>
                  <a:tcPr anchor="ctr"/>
                </a:tc>
                <a:tc>
                  <a:txBody>
                    <a:bodyPr/>
                    <a:lstStyle/>
                    <a:p>
                      <a:pPr>
                        <a:lnSpc>
                          <a:spcPct val="150000"/>
                        </a:lnSpc>
                      </a:pPr>
                      <a:r>
                        <a:rPr lang="zh-CN" altLang="en-US" sz="1400" dirty="0"/>
                        <a:t>完成时间</a:t>
                      </a:r>
                    </a:p>
                  </a:txBody>
                  <a:tcPr anchor="ctr"/>
                </a:tc>
                <a:tc>
                  <a:txBody>
                    <a:bodyPr/>
                    <a:lstStyle/>
                    <a:p>
                      <a:pPr>
                        <a:lnSpc>
                          <a:spcPct val="150000"/>
                        </a:lnSpc>
                      </a:pPr>
                      <a:r>
                        <a:rPr lang="zh-CN" altLang="en-US" sz="1400" dirty="0"/>
                        <a:t>责任人</a:t>
                      </a:r>
                    </a:p>
                  </a:txBody>
                  <a:tcPr anchor="ctr"/>
                </a:tc>
              </a:tr>
              <a:tr h="1197011">
                <a:tc>
                  <a:txBody>
                    <a:bodyPr/>
                    <a:lstStyle/>
                    <a:p>
                      <a:pPr>
                        <a:lnSpc>
                          <a:spcPct val="150000"/>
                        </a:lnSpc>
                      </a:pPr>
                      <a:r>
                        <a:rPr lang="zh-CN" altLang="en-US" sz="1400" dirty="0"/>
                        <a:t>漏斗审批参照清单可信度</a:t>
                      </a:r>
                    </a:p>
                  </a:txBody>
                  <a:tcPr anchor="ctr"/>
                </a:tc>
                <a:tc>
                  <a:txBody>
                    <a:bodyPr/>
                    <a:lstStyle/>
                    <a:p>
                      <a:pPr>
                        <a:lnSpc>
                          <a:spcPct val="150000"/>
                        </a:lnSpc>
                      </a:pPr>
                      <a:r>
                        <a:rPr lang="en-US" altLang="zh-CN" sz="1400" dirty="0"/>
                        <a:t>1</a:t>
                      </a:r>
                      <a:r>
                        <a:rPr lang="zh-CN" altLang="en-US" sz="1400" dirty="0"/>
                        <a:t>、产品清单可信度达标后，方可分享销售。</a:t>
                      </a:r>
                      <a:endParaRPr lang="en-US" altLang="zh-CN" sz="1400" dirty="0"/>
                    </a:p>
                    <a:p>
                      <a:pPr>
                        <a:lnSpc>
                          <a:spcPct val="150000"/>
                        </a:lnSpc>
                      </a:pPr>
                      <a:r>
                        <a:rPr lang="en-US" altLang="zh-CN" sz="1400" dirty="0"/>
                        <a:t>2</a:t>
                      </a:r>
                      <a:r>
                        <a:rPr lang="zh-CN" altLang="en-US" sz="1400" dirty="0"/>
                        <a:t>、销售导入售前分享的清单。</a:t>
                      </a:r>
                      <a:endParaRPr lang="en-US" altLang="zh-CN" sz="1400" dirty="0"/>
                    </a:p>
                    <a:p>
                      <a:pPr>
                        <a:lnSpc>
                          <a:spcPct val="150000"/>
                        </a:lnSpc>
                      </a:pPr>
                      <a:r>
                        <a:rPr lang="en-US" altLang="zh-CN" sz="1400" dirty="0"/>
                        <a:t>2</a:t>
                      </a:r>
                      <a:r>
                        <a:rPr lang="zh-CN" altLang="en-US" sz="1400" dirty="0"/>
                        <a:t>、区域经理审批漏斗时验证产品清单可信度。</a:t>
                      </a:r>
                    </a:p>
                  </a:txBody>
                  <a:tcPr anchor="ctr"/>
                </a:tc>
                <a:tc>
                  <a:txBody>
                    <a:bodyPr/>
                    <a:lstStyle/>
                    <a:p>
                      <a:pPr>
                        <a:lnSpc>
                          <a:spcPct val="150000"/>
                        </a:lnSpc>
                      </a:pPr>
                      <a:r>
                        <a:rPr lang="zh-CN" altLang="en-US" sz="1400" dirty="0"/>
                        <a:t>培训后执行</a:t>
                      </a:r>
                    </a:p>
                  </a:txBody>
                  <a:tcPr anchor="ctr"/>
                </a:tc>
                <a:tc>
                  <a:txBody>
                    <a:bodyPr/>
                    <a:lstStyle/>
                    <a:p>
                      <a:pPr>
                        <a:lnSpc>
                          <a:spcPct val="150000"/>
                        </a:lnSpc>
                      </a:pPr>
                      <a:r>
                        <a:rPr lang="en-US" altLang="zh-CN" sz="1400" dirty="0"/>
                        <a:t>1</a:t>
                      </a:r>
                      <a:r>
                        <a:rPr lang="zh-CN" altLang="en-US" sz="1400" dirty="0"/>
                        <a:t>、</a:t>
                      </a:r>
                      <a:r>
                        <a:rPr lang="en-US" altLang="zh-CN" sz="1400" dirty="0"/>
                        <a:t>【</a:t>
                      </a:r>
                      <a:r>
                        <a:rPr lang="zh-CN" altLang="en-US" sz="1400" dirty="0"/>
                        <a:t>售前</a:t>
                      </a:r>
                      <a:r>
                        <a:rPr lang="en-US" altLang="zh-CN" sz="1400" dirty="0"/>
                        <a:t>】</a:t>
                      </a:r>
                    </a:p>
                    <a:p>
                      <a:pPr marL="0" marR="0" lvl="0" indent="0" algn="l" defTabSz="914400" rtl="0" eaLnBrk="1" fontAlgn="auto" latinLnBrk="0" hangingPunct="1">
                        <a:lnSpc>
                          <a:spcPct val="150000"/>
                        </a:lnSpc>
                        <a:spcBef>
                          <a:spcPts val="0"/>
                        </a:spcBef>
                        <a:spcAft>
                          <a:spcPts val="0"/>
                        </a:spcAft>
                        <a:buClrTx/>
                        <a:buSzTx/>
                        <a:buFontTx/>
                        <a:buNone/>
                        <a:defRPr/>
                      </a:pPr>
                      <a:r>
                        <a:rPr lang="en-US" altLang="zh-CN" sz="1400" dirty="0"/>
                        <a:t>2</a:t>
                      </a:r>
                      <a:r>
                        <a:rPr lang="zh-CN" altLang="en-US" sz="1400" dirty="0"/>
                        <a:t>、</a:t>
                      </a:r>
                      <a:r>
                        <a:rPr lang="en-US" altLang="zh-CN" sz="1400" dirty="0"/>
                        <a:t>【</a:t>
                      </a:r>
                      <a:r>
                        <a:rPr lang="zh-CN" altLang="en-US" sz="1400" dirty="0"/>
                        <a:t>销售</a:t>
                      </a:r>
                      <a:r>
                        <a:rPr lang="en-US" altLang="zh-CN" sz="1400" dirty="0"/>
                        <a:t>】</a:t>
                      </a:r>
                      <a:endParaRPr lang="zh-CN" altLang="en-US" sz="1400" dirty="0"/>
                    </a:p>
                    <a:p>
                      <a:pPr>
                        <a:lnSpc>
                          <a:spcPct val="150000"/>
                        </a:lnSpc>
                      </a:pPr>
                      <a:r>
                        <a:rPr lang="en-US" altLang="zh-CN" sz="1400" dirty="0"/>
                        <a:t>3</a:t>
                      </a:r>
                      <a:r>
                        <a:rPr lang="zh-CN" altLang="en-US" sz="1400" dirty="0"/>
                        <a:t>、</a:t>
                      </a:r>
                      <a:r>
                        <a:rPr lang="en-US" altLang="zh-CN" sz="1400" dirty="0"/>
                        <a:t>【</a:t>
                      </a:r>
                      <a:r>
                        <a:rPr lang="zh-CN" altLang="en-US" sz="1400" dirty="0"/>
                        <a:t>区域经理</a:t>
                      </a:r>
                      <a:r>
                        <a:rPr lang="en-US" altLang="zh-CN" sz="1400" dirty="0"/>
                        <a:t>】</a:t>
                      </a:r>
                      <a:endParaRPr lang="zh-CN" altLang="en-US" sz="1400" dirty="0"/>
                    </a:p>
                  </a:txBody>
                  <a:tcPr anchor="ctr"/>
                </a:tc>
              </a:tr>
              <a:tr h="1312536">
                <a:tc>
                  <a:txBody>
                    <a:bodyPr/>
                    <a:lstStyle/>
                    <a:p>
                      <a:pPr>
                        <a:lnSpc>
                          <a:spcPct val="150000"/>
                        </a:lnSpc>
                      </a:pPr>
                      <a:r>
                        <a:rPr lang="zh-CN" altLang="en-US" sz="1400" dirty="0"/>
                        <a:t>项目产品清单可信度自盘</a:t>
                      </a:r>
                    </a:p>
                  </a:txBody>
                  <a:tcPr anchor="ctr"/>
                </a:tc>
                <a:tc>
                  <a:txBody>
                    <a:bodyPr/>
                    <a:lstStyle/>
                    <a:p>
                      <a:pPr>
                        <a:lnSpc>
                          <a:spcPct val="150000"/>
                        </a:lnSpc>
                      </a:pPr>
                      <a:r>
                        <a:rPr lang="en-US" altLang="zh-CN" sz="1400" dirty="0"/>
                        <a:t>1</a:t>
                      </a:r>
                      <a:r>
                        <a:rPr lang="zh-CN" altLang="en-US" sz="1400" dirty="0"/>
                        <a:t>、建立配置器</a:t>
                      </a:r>
                      <a:r>
                        <a:rPr lang="en-US" altLang="zh-CN" sz="1400" dirty="0"/>
                        <a:t>-ECP-CRM</a:t>
                      </a:r>
                      <a:r>
                        <a:rPr lang="zh-CN" altLang="en-US" sz="1400" dirty="0"/>
                        <a:t>系统关联，确保</a:t>
                      </a:r>
                      <a:r>
                        <a:rPr lang="en-US" altLang="zh-CN" sz="1400" dirty="0"/>
                        <a:t>CRM</a:t>
                      </a:r>
                      <a:r>
                        <a:rPr lang="zh-CN" altLang="en-US" sz="1400" dirty="0"/>
                        <a:t>系统中项目的产品清单是售前从配置器分享的。</a:t>
                      </a:r>
                      <a:endParaRPr lang="en-US" altLang="zh-CN" sz="1400" dirty="0"/>
                    </a:p>
                    <a:p>
                      <a:pPr>
                        <a:lnSpc>
                          <a:spcPct val="150000"/>
                        </a:lnSpc>
                      </a:pPr>
                      <a:r>
                        <a:rPr lang="en-US" altLang="zh-CN" sz="1400" dirty="0"/>
                        <a:t>2</a:t>
                      </a:r>
                      <a:r>
                        <a:rPr lang="zh-CN" altLang="en-US" sz="1400" dirty="0"/>
                        <a:t>、完成项目清单可信度达标自评。</a:t>
                      </a:r>
                    </a:p>
                  </a:txBody>
                  <a:tcPr anchor="ctr"/>
                </a:tc>
                <a:tc>
                  <a:txBody>
                    <a:bodyPr/>
                    <a:lstStyle/>
                    <a:p>
                      <a:pPr>
                        <a:lnSpc>
                          <a:spcPct val="150000"/>
                        </a:lnSpc>
                      </a:pPr>
                      <a:r>
                        <a:rPr lang="en-US" altLang="zh-CN" sz="1400" dirty="0"/>
                        <a:t>10</a:t>
                      </a:r>
                      <a:r>
                        <a:rPr lang="zh-CN" altLang="en-US" sz="1400" dirty="0"/>
                        <a:t>月</a:t>
                      </a:r>
                      <a:r>
                        <a:rPr lang="en-US" altLang="zh-CN" sz="1400" dirty="0"/>
                        <a:t>1</a:t>
                      </a:r>
                      <a:r>
                        <a:rPr lang="zh-CN" altLang="en-US" sz="1400" dirty="0"/>
                        <a:t>日前</a:t>
                      </a:r>
                    </a:p>
                  </a:txBody>
                  <a:tcPr anchor="ctr"/>
                </a:tc>
                <a:tc>
                  <a:txBody>
                    <a:bodyPr/>
                    <a:lstStyle/>
                    <a:p>
                      <a:pPr>
                        <a:lnSpc>
                          <a:spcPct val="150000"/>
                        </a:lnSpc>
                      </a:pPr>
                      <a:r>
                        <a:rPr lang="en-US" altLang="zh-CN" sz="1400" dirty="0"/>
                        <a:t>1</a:t>
                      </a:r>
                      <a:r>
                        <a:rPr lang="zh-CN" altLang="en-US" sz="1400" dirty="0"/>
                        <a:t>、</a:t>
                      </a:r>
                      <a:r>
                        <a:rPr lang="en-US" altLang="zh-CN" sz="1400" dirty="0"/>
                        <a:t>【</a:t>
                      </a:r>
                      <a:r>
                        <a:rPr lang="zh-CN" altLang="en-US" sz="1400" dirty="0"/>
                        <a:t>销售</a:t>
                      </a:r>
                      <a:r>
                        <a:rPr lang="en-US" altLang="zh-CN" sz="1400" dirty="0"/>
                        <a:t>】</a:t>
                      </a:r>
                    </a:p>
                    <a:p>
                      <a:pPr>
                        <a:lnSpc>
                          <a:spcPct val="150000"/>
                        </a:lnSpc>
                      </a:pPr>
                      <a:r>
                        <a:rPr lang="en-US" altLang="zh-CN" sz="1400" dirty="0"/>
                        <a:t>2</a:t>
                      </a:r>
                      <a:r>
                        <a:rPr lang="zh-CN" altLang="en-US" sz="1400" dirty="0"/>
                        <a:t>、</a:t>
                      </a:r>
                      <a:r>
                        <a:rPr lang="en-US" altLang="zh-CN" sz="1400" dirty="0"/>
                        <a:t>【</a:t>
                      </a:r>
                      <a:r>
                        <a:rPr lang="zh-CN" altLang="en-US" sz="1400" dirty="0"/>
                        <a:t>售前</a:t>
                      </a:r>
                      <a:r>
                        <a:rPr lang="en-US" altLang="zh-CN" sz="1400" dirty="0"/>
                        <a:t>】</a:t>
                      </a:r>
                      <a:endParaRPr lang="zh-CN" altLang="en-US" sz="1400" dirty="0"/>
                    </a:p>
                  </a:txBody>
                  <a:tcPr anchor="ctr"/>
                </a:tc>
              </a:tr>
              <a:tr h="896900">
                <a:tc>
                  <a:txBody>
                    <a:bodyPr/>
                    <a:lstStyle/>
                    <a:p>
                      <a:pPr>
                        <a:lnSpc>
                          <a:spcPct val="150000"/>
                        </a:lnSpc>
                      </a:pPr>
                      <a:r>
                        <a:rPr lang="zh-CN" altLang="en-US" sz="1400" dirty="0"/>
                        <a:t>产品清单可信度进系统</a:t>
                      </a:r>
                    </a:p>
                  </a:txBody>
                  <a:tcPr anchor="ctr"/>
                </a:tc>
                <a:tc>
                  <a:txBody>
                    <a:bodyPr/>
                    <a:lstStyle/>
                    <a:p>
                      <a:pPr>
                        <a:lnSpc>
                          <a:spcPct val="150000"/>
                        </a:lnSpc>
                      </a:pPr>
                      <a:r>
                        <a:rPr lang="en-US" altLang="zh-CN" sz="1400" dirty="0"/>
                        <a:t>1</a:t>
                      </a:r>
                      <a:r>
                        <a:rPr lang="zh-CN" altLang="en-US" sz="1400" dirty="0"/>
                        <a:t>、可信度自评结果录入产品配置器。</a:t>
                      </a:r>
                      <a:endParaRPr lang="en-US" altLang="zh-CN" sz="1400" dirty="0"/>
                    </a:p>
                    <a:p>
                      <a:pPr>
                        <a:lnSpc>
                          <a:spcPct val="150000"/>
                        </a:lnSpc>
                      </a:pPr>
                      <a:r>
                        <a:rPr lang="en-US" altLang="zh-CN" sz="1400" dirty="0"/>
                        <a:t>2</a:t>
                      </a:r>
                      <a:r>
                        <a:rPr lang="zh-CN" altLang="en-US" sz="1400" dirty="0"/>
                        <a:t>、刷新</a:t>
                      </a:r>
                      <a:r>
                        <a:rPr lang="en-US" altLang="zh-CN" sz="1400" dirty="0"/>
                        <a:t>ECP</a:t>
                      </a:r>
                      <a:r>
                        <a:rPr lang="zh-CN" altLang="en-US" sz="1400" dirty="0"/>
                        <a:t>、</a:t>
                      </a:r>
                      <a:r>
                        <a:rPr lang="en-US" altLang="zh-CN" sz="1400" dirty="0"/>
                        <a:t>CRM</a:t>
                      </a:r>
                      <a:r>
                        <a:rPr lang="zh-CN" altLang="en-US" sz="1400" dirty="0"/>
                        <a:t>产品清单。</a:t>
                      </a:r>
                    </a:p>
                  </a:txBody>
                  <a:tcPr anchor="ctr"/>
                </a:tc>
                <a:tc>
                  <a:txBody>
                    <a:bodyPr/>
                    <a:lstStyle/>
                    <a:p>
                      <a:pPr>
                        <a:lnSpc>
                          <a:spcPct val="150000"/>
                        </a:lnSpc>
                      </a:pPr>
                      <a:r>
                        <a:rPr lang="zh-CN" altLang="en-US" sz="1400" dirty="0"/>
                        <a:t>系统上线后</a:t>
                      </a:r>
                      <a:r>
                        <a:rPr lang="en-US" altLang="zh-CN" sz="1400" dirty="0"/>
                        <a:t>1</a:t>
                      </a:r>
                      <a:r>
                        <a:rPr lang="zh-CN" altLang="en-US" sz="1400" dirty="0"/>
                        <a:t>周</a:t>
                      </a:r>
                    </a:p>
                  </a:txBody>
                  <a:tcPr anchor="ctr"/>
                </a:tc>
                <a:tc>
                  <a:txBody>
                    <a:bodyPr/>
                    <a:lstStyle/>
                    <a:p>
                      <a:pPr>
                        <a:lnSpc>
                          <a:spcPct val="150000"/>
                        </a:lnSpc>
                      </a:pPr>
                      <a:r>
                        <a:rPr lang="en-US" altLang="zh-CN" sz="1400" dirty="0"/>
                        <a:t>1</a:t>
                      </a:r>
                      <a:r>
                        <a:rPr lang="zh-CN" altLang="en-US" sz="1400" dirty="0"/>
                        <a:t>、</a:t>
                      </a:r>
                      <a:r>
                        <a:rPr lang="en-US" altLang="zh-CN" sz="1400" dirty="0"/>
                        <a:t>【</a:t>
                      </a:r>
                      <a:r>
                        <a:rPr lang="zh-CN" altLang="en-US" sz="1400" dirty="0"/>
                        <a:t>售前</a:t>
                      </a:r>
                      <a:r>
                        <a:rPr lang="en-US" altLang="zh-CN" sz="1400" dirty="0"/>
                        <a:t>】</a:t>
                      </a:r>
                    </a:p>
                    <a:p>
                      <a:pPr>
                        <a:lnSpc>
                          <a:spcPct val="150000"/>
                        </a:lnSpc>
                      </a:pPr>
                      <a:r>
                        <a:rPr lang="en-US" altLang="zh-CN" sz="1400" dirty="0"/>
                        <a:t>2</a:t>
                      </a:r>
                      <a:r>
                        <a:rPr lang="zh-CN" altLang="en-US" sz="1400" dirty="0"/>
                        <a:t>、</a:t>
                      </a:r>
                      <a:r>
                        <a:rPr lang="en-US" altLang="zh-CN" sz="1400" dirty="0"/>
                        <a:t>【</a:t>
                      </a:r>
                      <a:r>
                        <a:rPr lang="zh-CN" altLang="en-US" sz="1400" dirty="0"/>
                        <a:t>销售</a:t>
                      </a:r>
                      <a:r>
                        <a:rPr lang="en-US" altLang="zh-CN" sz="1400" dirty="0"/>
                        <a:t>】</a:t>
                      </a:r>
                      <a:endParaRPr lang="zh-CN" altLang="en-US" sz="1400" dirty="0"/>
                    </a:p>
                  </a:txBody>
                  <a:tcPr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操作流程</a:t>
            </a:r>
            <a:r>
              <a:rPr lang="en-US" altLang="zh-CN" dirty="0"/>
              <a:t>-</a:t>
            </a:r>
            <a:r>
              <a:rPr lang="zh-CN" altLang="en-US" dirty="0"/>
              <a:t>漏斗外进漏斗内</a:t>
            </a:r>
          </a:p>
        </p:txBody>
      </p:sp>
      <p:graphicFrame>
        <p:nvGraphicFramePr>
          <p:cNvPr id="3" name="表格 2"/>
          <p:cNvGraphicFramePr>
            <a:graphicFrameLocks noGrp="1"/>
          </p:cNvGraphicFramePr>
          <p:nvPr/>
        </p:nvGraphicFramePr>
        <p:xfrm>
          <a:off x="144197" y="1031512"/>
          <a:ext cx="6141933" cy="5494540"/>
        </p:xfrm>
        <a:graphic>
          <a:graphicData uri="http://schemas.openxmlformats.org/drawingml/2006/table">
            <a:tbl>
              <a:tblPr/>
              <a:tblGrid>
                <a:gridCol w="738059"/>
                <a:gridCol w="738059"/>
                <a:gridCol w="738059"/>
                <a:gridCol w="738059"/>
                <a:gridCol w="1176987"/>
                <a:gridCol w="2012710"/>
              </a:tblGrid>
              <a:tr h="192537">
                <a:tc>
                  <a:txBody>
                    <a:bodyPr/>
                    <a:lstStyle/>
                    <a:p>
                      <a:pPr algn="l" fontAlgn="ctr" latinLnBrk="0"/>
                      <a:r>
                        <a:rPr lang="zh-CN" altLang="en-US" sz="1000" b="1" i="0" dirty="0">
                          <a:solidFill>
                            <a:srgbClr val="000000"/>
                          </a:solidFill>
                          <a:effectLst/>
                        </a:rPr>
                        <a:t>工序名称</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工序步骤</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工序名称</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工序角色</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经验</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问题</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539104">
                <a:tc rowSpan="9">
                  <a:txBody>
                    <a:bodyPr/>
                    <a:lstStyle/>
                    <a:p>
                      <a:pPr algn="l" fontAlgn="ctr" latinLnBrk="0"/>
                      <a:r>
                        <a:rPr lang="zh-CN" altLang="en-US" sz="1000" b="0" i="0">
                          <a:solidFill>
                            <a:srgbClr val="000000"/>
                          </a:solidFill>
                          <a:effectLst/>
                        </a:rPr>
                        <a:t>漏斗外进漏斗内</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effectLst/>
                        </a:rPr>
                        <a:t>1</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配置清单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effectLst/>
                        </a:rPr>
                        <a:t>1</a:t>
                      </a:r>
                      <a:r>
                        <a:rPr lang="zh-CN" altLang="en-US" sz="1000" b="0" i="0">
                          <a:effectLst/>
                        </a:rPr>
                        <a:t>、销售提前和售前説</a:t>
                      </a:r>
                      <a:br>
                        <a:rPr lang="zh-CN" altLang="en-US" sz="1000" b="0" i="0">
                          <a:effectLst/>
                        </a:rPr>
                      </a:br>
                      <a:r>
                        <a:rPr lang="en-US" altLang="zh-CN" sz="1000" b="0" i="0">
                          <a:effectLst/>
                        </a:rPr>
                        <a:t>2</a:t>
                      </a:r>
                      <a:r>
                        <a:rPr lang="zh-CN" altLang="en-US" sz="1000" b="0" i="0">
                          <a:effectLst/>
                        </a:rPr>
                        <a:t>、售前和销售确认预算评分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、服务商工程师配置的清单</a:t>
                      </a:r>
                      <a:r>
                        <a:rPr lang="en-US" altLang="zh-CN" sz="1000" b="0" i="0">
                          <a:solidFill>
                            <a:srgbClr val="000000"/>
                          </a:solidFill>
                          <a:effectLst/>
                        </a:rPr>
                        <a:t>--</a:t>
                      </a:r>
                      <a:r>
                        <a:rPr lang="zh-CN" altLang="en-US" sz="1000" b="0" i="0">
                          <a:solidFill>
                            <a:srgbClr val="000000"/>
                          </a:solidFill>
                          <a:effectLst/>
                        </a:rPr>
                        <a:t>要求原厂审核通过后才可以。</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、何为产品系列确定？</a:t>
                      </a:r>
                      <a:r>
                        <a:rPr lang="en-US" altLang="zh-CN" sz="1000" b="0" i="0">
                          <a:solidFill>
                            <a:srgbClr val="000000"/>
                          </a:solidFill>
                          <a:effectLst/>
                        </a:rPr>
                        <a:t>-</a:t>
                      </a:r>
                      <a:r>
                        <a:rPr lang="zh-CN" altLang="en-US" sz="1000" b="0" i="0">
                          <a:solidFill>
                            <a:srgbClr val="000000"/>
                          </a:solidFill>
                          <a:effectLst/>
                        </a:rPr>
                        <a:t>以配置器的产品系列定义为准。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654626">
                <a:tc vMerge="1">
                  <a:txBody>
                    <a:bodyPr/>
                    <a:lstStyle/>
                    <a:p>
                      <a:endParaRPr lang="zh-CN"/>
                    </a:p>
                  </a:txBody>
                  <a:tcPr/>
                </a:tc>
                <a:tc>
                  <a:txBody>
                    <a:bodyPr/>
                    <a:lstStyle/>
                    <a:p>
                      <a:pPr fontAlgn="ctr" latinLnBrk="0"/>
                      <a:r>
                        <a:rPr lang="en-US" altLang="zh-CN" sz="1000" b="0" i="0">
                          <a:effectLst/>
                        </a:rPr>
                        <a:t>2</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、客观完整评分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、只对预算金额和产品系列</a:t>
                      </a:r>
                      <a:r>
                        <a:rPr lang="en-US" altLang="zh-CN" sz="1000" b="0" i="0">
                          <a:solidFill>
                            <a:srgbClr val="000000"/>
                          </a:solidFill>
                          <a:effectLst/>
                        </a:rPr>
                        <a:t>2</a:t>
                      </a:r>
                      <a:r>
                        <a:rPr lang="zh-CN" altLang="en-US" sz="1000" b="0" i="0">
                          <a:solidFill>
                            <a:srgbClr val="000000"/>
                          </a:solidFill>
                          <a:effectLst/>
                        </a:rPr>
                        <a:t>项评分，仅能对是否进漏斗做评估；</a:t>
                      </a:r>
                      <a:r>
                        <a:rPr lang="en-US" altLang="zh-CN" sz="1000" b="0" i="0">
                          <a:solidFill>
                            <a:srgbClr val="000000"/>
                          </a:solidFill>
                          <a:effectLst/>
                        </a:rPr>
                        <a:t>--</a:t>
                      </a:r>
                      <a:r>
                        <a:rPr lang="zh-CN" altLang="en-US" sz="1000" b="0" i="0">
                          <a:solidFill>
                            <a:srgbClr val="000000"/>
                          </a:solidFill>
                          <a:effectLst/>
                        </a:rPr>
                        <a:t>进入漏斗后会持续判断可信度评分，需要对四项做完整评分，不清楚的项可以打</a:t>
                      </a:r>
                      <a:r>
                        <a:rPr lang="en-US" altLang="zh-CN" sz="1000" b="0" i="0">
                          <a:solidFill>
                            <a:srgbClr val="000000"/>
                          </a:solidFill>
                          <a:effectLst/>
                        </a:rPr>
                        <a:t>0</a:t>
                      </a:r>
                      <a:r>
                        <a:rPr lang="zh-CN" altLang="en-US" sz="1000" b="0" i="0">
                          <a:solidFill>
                            <a:srgbClr val="000000"/>
                          </a:solidFill>
                          <a:effectLst/>
                        </a:rPr>
                        <a:t>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p>
                  </a:txBody>
                  <a:tcPr/>
                </a:tc>
                <a:tc>
                  <a:txBody>
                    <a:bodyPr/>
                    <a:lstStyle/>
                    <a:p>
                      <a:pPr fontAlgn="ctr" latinLnBrk="0"/>
                      <a:r>
                        <a:rPr lang="en-US" altLang="zh-CN" sz="1000" b="0" i="0">
                          <a:effectLst/>
                        </a:rPr>
                        <a:t>3</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分享销售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、业务机会编码和销售全匹配分享</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、系统</a:t>
                      </a:r>
                      <a:r>
                        <a:rPr lang="en-US" altLang="zh-CN" sz="1000" b="0" i="0">
                          <a:solidFill>
                            <a:srgbClr val="000000"/>
                          </a:solidFill>
                          <a:effectLst/>
                        </a:rPr>
                        <a:t>BUG</a:t>
                      </a:r>
                      <a:r>
                        <a:rPr lang="zh-CN" altLang="en-US" sz="1000" b="0" i="0">
                          <a:solidFill>
                            <a:srgbClr val="000000"/>
                          </a:solidFill>
                          <a:effectLst/>
                        </a:rPr>
                        <a:t>，有时匹配不出来</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p>
                  </a:txBody>
                  <a:tcPr/>
                </a:tc>
                <a:tc>
                  <a:txBody>
                    <a:bodyPr/>
                    <a:lstStyle/>
                    <a:p>
                      <a:pPr fontAlgn="ctr" latinLnBrk="0"/>
                      <a:r>
                        <a:rPr lang="en-US" altLang="zh-CN" sz="1000" b="0" i="0">
                          <a:effectLst/>
                        </a:rPr>
                        <a:t>4</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评分邮件</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、希望在系统上评分，每个项目手动评分太麻烦；</a:t>
                      </a:r>
                      <a:r>
                        <a:rPr lang="en-US" altLang="zh-CN" sz="1000" b="0" i="0">
                          <a:solidFill>
                            <a:srgbClr val="000000"/>
                          </a:solidFill>
                          <a:effectLst/>
                        </a:rPr>
                        <a:t>--</a:t>
                      </a:r>
                      <a:r>
                        <a:rPr lang="zh-CN" altLang="en-US" sz="1000" b="0" i="0">
                          <a:solidFill>
                            <a:srgbClr val="000000"/>
                          </a:solidFill>
                          <a:effectLst/>
                        </a:rPr>
                        <a:t>后续系统自动同步，无需手工邮件。</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770148">
                <a:tc vMerge="1">
                  <a:txBody>
                    <a:bodyPr/>
                    <a:lstStyle/>
                    <a:p>
                      <a:endParaRPr lang="zh-CN"/>
                    </a:p>
                  </a:txBody>
                  <a:tcPr/>
                </a:tc>
                <a:tc>
                  <a:txBody>
                    <a:bodyPr/>
                    <a:lstStyle/>
                    <a:p>
                      <a:pPr fontAlgn="ctr" latinLnBrk="0"/>
                      <a:r>
                        <a:rPr lang="en-US" altLang="zh-CN" sz="1000" b="0" i="0">
                          <a:effectLst/>
                        </a:rPr>
                        <a:t>5</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导入</a:t>
                      </a:r>
                      <a:r>
                        <a:rPr lang="en-US" sz="1000" b="0" i="0" dirty="0">
                          <a:solidFill>
                            <a:srgbClr val="000000"/>
                          </a:solidFill>
                          <a:effectLst/>
                        </a:rPr>
                        <a:t>ECP</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a:solidFill>
                            <a:srgbClr val="000000"/>
                          </a:solidFill>
                          <a:effectLst/>
                        </a:rPr>
                        <a:t>1</a:t>
                      </a:r>
                      <a:r>
                        <a:rPr lang="zh-CN" altLang="en-US" sz="1000" b="0" i="0">
                          <a:solidFill>
                            <a:srgbClr val="000000"/>
                          </a:solidFill>
                          <a:effectLst/>
                        </a:rPr>
                        <a:t>、分享的清单在最上面</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、配置器报价单名称和业务机会名称一致</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、还是显示多个，得手动选择；</a:t>
                      </a:r>
                      <a:r>
                        <a:rPr lang="en-US" altLang="zh-CN" sz="1000" b="0" i="0">
                          <a:solidFill>
                            <a:srgbClr val="000000"/>
                          </a:solidFill>
                          <a:effectLst/>
                        </a:rPr>
                        <a:t>--</a:t>
                      </a:r>
                      <a:r>
                        <a:rPr lang="zh-CN" altLang="en-US" sz="1000" b="0" i="0">
                          <a:solidFill>
                            <a:srgbClr val="000000"/>
                          </a:solidFill>
                          <a:effectLst/>
                        </a:rPr>
                        <a:t>导入时让售前分享，会显示在第一个；</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、希望可以自动匹配；</a:t>
                      </a:r>
                      <a:br>
                        <a:rPr lang="zh-CN" altLang="en-US" sz="1000" b="0" i="0">
                          <a:solidFill>
                            <a:srgbClr val="000000"/>
                          </a:solidFill>
                          <a:effectLst/>
                        </a:rPr>
                      </a:br>
                      <a:r>
                        <a:rPr lang="en-US" altLang="zh-CN" sz="1000" b="0" i="0">
                          <a:solidFill>
                            <a:srgbClr val="000000"/>
                          </a:solidFill>
                          <a:effectLst/>
                        </a:rPr>
                        <a:t>3</a:t>
                      </a:r>
                      <a:r>
                        <a:rPr lang="zh-CN" altLang="en-US" sz="1000" b="0" i="0">
                          <a:solidFill>
                            <a:srgbClr val="000000"/>
                          </a:solidFill>
                          <a:effectLst/>
                        </a:rPr>
                        <a:t>、进入</a:t>
                      </a:r>
                      <a:r>
                        <a:rPr lang="en-US" altLang="zh-CN" sz="1000" b="0" i="0">
                          <a:solidFill>
                            <a:srgbClr val="000000"/>
                          </a:solidFill>
                          <a:effectLst/>
                        </a:rPr>
                        <a:t>ECP</a:t>
                      </a:r>
                      <a:r>
                        <a:rPr lang="zh-CN" altLang="en-US" sz="1000" b="0" i="0">
                          <a:solidFill>
                            <a:srgbClr val="000000"/>
                          </a:solidFill>
                          <a:effectLst/>
                        </a:rPr>
                        <a:t>系统时自动提示是否导入新的清单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p>
                  </a:txBody>
                  <a:tcPr/>
                </a:tc>
                <a:tc>
                  <a:txBody>
                    <a:bodyPr/>
                    <a:lstStyle/>
                    <a:p>
                      <a:pPr fontAlgn="ctr" latinLnBrk="0"/>
                      <a:r>
                        <a:rPr lang="en-US" altLang="zh-CN" sz="1000" b="0" i="0">
                          <a:effectLst/>
                        </a:rPr>
                        <a:t>6</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保存至</a:t>
                      </a:r>
                      <a:r>
                        <a:rPr lang="en-US" sz="1000" b="0" i="0">
                          <a:solidFill>
                            <a:srgbClr val="000000"/>
                          </a:solidFill>
                          <a:effectLst/>
                        </a:rPr>
                        <a:t>CRM</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ECP</a:t>
                      </a:r>
                      <a:r>
                        <a:rPr lang="zh-CN" altLang="en-US" sz="1000" b="0" i="0">
                          <a:solidFill>
                            <a:srgbClr val="000000"/>
                          </a:solidFill>
                          <a:effectLst/>
                        </a:rPr>
                        <a:t>系统</a:t>
                      </a:r>
                      <a:r>
                        <a:rPr lang="en-US" altLang="zh-CN" sz="1000" b="0" i="0">
                          <a:solidFill>
                            <a:srgbClr val="000000"/>
                          </a:solidFill>
                          <a:effectLst/>
                        </a:rPr>
                        <a:t>BUG</a:t>
                      </a:r>
                      <a:r>
                        <a:rPr lang="zh-CN" altLang="en-US" sz="1000" b="0" i="0">
                          <a:solidFill>
                            <a:srgbClr val="000000"/>
                          </a:solidFill>
                          <a:effectLst/>
                        </a:rPr>
                        <a:t>，已经勾选服务产品，老提示未勾选，刷新就好了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08059">
                <a:tc vMerge="1">
                  <a:txBody>
                    <a:bodyPr/>
                    <a:lstStyle/>
                    <a:p>
                      <a:endParaRPr lang="zh-CN"/>
                    </a:p>
                  </a:txBody>
                  <a:tcPr/>
                </a:tc>
                <a:tc>
                  <a:txBody>
                    <a:bodyPr/>
                    <a:lstStyle/>
                    <a:p>
                      <a:pPr fontAlgn="ctr" latinLnBrk="0"/>
                      <a:r>
                        <a:rPr lang="en-US" altLang="zh-CN" sz="1000" b="0" i="0">
                          <a:effectLst/>
                        </a:rPr>
                        <a:t>7</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00" b="0" i="0">
                          <a:solidFill>
                            <a:srgbClr val="000000"/>
                          </a:solidFill>
                          <a:effectLst/>
                        </a:rPr>
                        <a:t>CRM</a:t>
                      </a:r>
                      <a:r>
                        <a:rPr lang="zh-CN" altLang="en-US" sz="1000" b="0" i="0">
                          <a:solidFill>
                            <a:srgbClr val="000000"/>
                          </a:solidFill>
                          <a:effectLst/>
                        </a:rPr>
                        <a:t>申请进漏斗内</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p>
                  </a:txBody>
                  <a:tcPr/>
                </a:tc>
                <a:tc>
                  <a:txBody>
                    <a:bodyPr/>
                    <a:lstStyle/>
                    <a:p>
                      <a:pPr fontAlgn="ctr" latinLnBrk="0"/>
                      <a:r>
                        <a:rPr lang="en-US" altLang="zh-CN" sz="1000" b="0" i="0">
                          <a:effectLst/>
                        </a:rPr>
                        <a:t>8</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审批漏斗</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区域经理</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无</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00" b="0" i="0">
                          <a:solidFill>
                            <a:srgbClr val="000000"/>
                          </a:solidFill>
                          <a:effectLst/>
                        </a:rPr>
                        <a:t>1</a:t>
                      </a:r>
                      <a:r>
                        <a:rPr lang="zh-CN" altLang="en-US" sz="1000" b="0" i="0">
                          <a:solidFill>
                            <a:srgbClr val="000000"/>
                          </a:solidFill>
                          <a:effectLst/>
                        </a:rPr>
                        <a:t>、找邮件影响效率，只能让销售私信评分邮件截图；</a:t>
                      </a:r>
                      <a:br>
                        <a:rPr lang="zh-CN" altLang="en-US" sz="1000" b="0" i="0">
                          <a:solidFill>
                            <a:srgbClr val="000000"/>
                          </a:solidFill>
                          <a:effectLst/>
                        </a:rPr>
                      </a:br>
                      <a:r>
                        <a:rPr lang="en-US" altLang="zh-CN" sz="1000" b="0" i="0">
                          <a:solidFill>
                            <a:srgbClr val="000000"/>
                          </a:solidFill>
                          <a:effectLst/>
                        </a:rPr>
                        <a:t>2</a:t>
                      </a:r>
                      <a:r>
                        <a:rPr lang="zh-CN" altLang="en-US" sz="1000" b="0" i="0">
                          <a:solidFill>
                            <a:srgbClr val="000000"/>
                          </a:solidFill>
                          <a:effectLst/>
                        </a:rPr>
                        <a:t>、销售承诺评分后补。</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423582">
                <a:tc vMerge="1">
                  <a:txBody>
                    <a:bodyPr/>
                    <a:lstStyle/>
                    <a:p>
                      <a:endParaRPr lang="zh-CN"/>
                    </a:p>
                  </a:txBody>
                  <a:tcPr/>
                </a:tc>
                <a:tc>
                  <a:txBody>
                    <a:bodyPr/>
                    <a:lstStyle/>
                    <a:p>
                      <a:pPr fontAlgn="ctr" latinLnBrk="0"/>
                      <a:r>
                        <a:rPr lang="en-US" altLang="zh-CN" sz="1000" b="0" i="0">
                          <a:effectLst/>
                        </a:rPr>
                        <a:t>9</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00" b="0" i="0">
                          <a:solidFill>
                            <a:srgbClr val="000000"/>
                          </a:solidFill>
                          <a:effectLst/>
                        </a:rPr>
                        <a:t>核查是清单是否一致</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00" b="0" i="0">
                          <a:solidFill>
                            <a:srgbClr val="000000"/>
                          </a:solidFill>
                          <a:effectLst/>
                        </a:rPr>
                        <a:t>新进漏斗项目，可以使用自动比对功能</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00" b="0" i="0" dirty="0">
                          <a:solidFill>
                            <a:srgbClr val="000000"/>
                          </a:solidFill>
                          <a:effectLst/>
                        </a:rPr>
                        <a:t>1</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清单排序乱，不易检查；</a:t>
                      </a:r>
                      <a:r>
                        <a:rPr lang="en-US" altLang="zh-CN" sz="1000" b="0" i="0" dirty="0">
                          <a:solidFill>
                            <a:srgbClr val="000000"/>
                          </a:solidFill>
                          <a:effectLst/>
                        </a:rPr>
                        <a:t>--</a:t>
                      </a:r>
                      <a:r>
                        <a:rPr lang="zh-CN" altLang="en-US" sz="1000" b="0" i="0" dirty="0">
                          <a:solidFill>
                            <a:srgbClr val="000000"/>
                          </a:solidFill>
                          <a:effectLst/>
                        </a:rPr>
                        <a:t>通过</a:t>
                      </a:r>
                      <a:r>
                        <a:rPr lang="en-US" altLang="zh-CN" sz="1000" b="0" i="0" dirty="0">
                          <a:solidFill>
                            <a:srgbClr val="000000"/>
                          </a:solidFill>
                          <a:effectLst/>
                        </a:rPr>
                        <a:t>ECP</a:t>
                      </a:r>
                      <a:r>
                        <a:rPr lang="zh-CN" altLang="en-US" sz="1000" b="0" i="0" dirty="0">
                          <a:solidFill>
                            <a:srgbClr val="000000"/>
                          </a:solidFill>
                          <a:effectLst/>
                        </a:rPr>
                        <a:t>系统上的自动比对功能核查清单</a:t>
                      </a:r>
                    </a:p>
                  </a:txBody>
                  <a:tcPr marL="77015" marR="77015" marT="38507" marB="38507"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grpSp>
        <p:nvGrpSpPr>
          <p:cNvPr id="8" name="组合 7"/>
          <p:cNvGrpSpPr/>
          <p:nvPr/>
        </p:nvGrpSpPr>
        <p:grpSpPr>
          <a:xfrm>
            <a:off x="6662056" y="1166326"/>
            <a:ext cx="1228867" cy="1296956"/>
            <a:chOff x="6951305" y="1212979"/>
            <a:chExt cx="1228867"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文本框 6"/>
            <p:cNvSpPr txBox="1"/>
            <p:nvPr/>
          </p:nvSpPr>
          <p:spPr>
            <a:xfrm>
              <a:off x="7114332" y="1860130"/>
              <a:ext cx="902811" cy="523220"/>
            </a:xfrm>
            <a:prstGeom prst="rect">
              <a:avLst/>
            </a:prstGeom>
            <a:noFill/>
          </p:spPr>
          <p:txBody>
            <a:bodyPr wrap="none" rtlCol="0">
              <a:spAutoFit/>
            </a:bodyPr>
            <a:lstStyle/>
            <a:p>
              <a:pPr algn="ctr"/>
              <a:r>
                <a:rPr lang="zh-CN" altLang="en-US" sz="1400" dirty="0"/>
                <a:t>配置清单</a:t>
              </a:r>
              <a:endParaRPr lang="en-US" altLang="zh-CN" sz="1400" dirty="0"/>
            </a:p>
            <a:p>
              <a:pPr algn="ctr"/>
              <a:r>
                <a:rPr lang="zh-CN" altLang="en-US" sz="1400" dirty="0"/>
                <a:t>（售前）</a:t>
              </a:r>
            </a:p>
          </p:txBody>
        </p:sp>
      </p:grpSp>
      <p:grpSp>
        <p:nvGrpSpPr>
          <p:cNvPr id="9" name="组合 8"/>
          <p:cNvGrpSpPr/>
          <p:nvPr/>
        </p:nvGrpSpPr>
        <p:grpSpPr>
          <a:xfrm>
            <a:off x="8773885" y="1173709"/>
            <a:ext cx="1228867" cy="1296956"/>
            <a:chOff x="6951305" y="1212979"/>
            <a:chExt cx="1228867" cy="1296956"/>
          </a:xfrm>
        </p:grpSpPr>
        <p:sp>
          <p:nvSpPr>
            <p:cNvPr id="10"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2" name="文本框 11"/>
            <p:cNvSpPr txBox="1"/>
            <p:nvPr/>
          </p:nvSpPr>
          <p:spPr>
            <a:xfrm>
              <a:off x="7114332" y="1860130"/>
              <a:ext cx="902811" cy="523220"/>
            </a:xfrm>
            <a:prstGeom prst="rect">
              <a:avLst/>
            </a:prstGeom>
            <a:noFill/>
          </p:spPr>
          <p:txBody>
            <a:bodyPr wrap="none" rtlCol="0">
              <a:spAutoFit/>
            </a:bodyPr>
            <a:lstStyle/>
            <a:p>
              <a:pPr algn="ctr"/>
              <a:r>
                <a:rPr lang="zh-CN" altLang="en-US" sz="1400" dirty="0"/>
                <a:t>评分</a:t>
              </a:r>
              <a:endParaRPr lang="en-US" altLang="zh-CN" sz="1400" dirty="0"/>
            </a:p>
            <a:p>
              <a:pPr algn="ctr"/>
              <a:r>
                <a:rPr lang="zh-CN" altLang="en-US" sz="1400" dirty="0"/>
                <a:t>（售前）</a:t>
              </a:r>
            </a:p>
          </p:txBody>
        </p:sp>
      </p:grpSp>
      <p:cxnSp>
        <p:nvCxnSpPr>
          <p:cNvPr id="14" name="直接箭头连接符 13"/>
          <p:cNvCxnSpPr/>
          <p:nvPr/>
        </p:nvCxnSpPr>
        <p:spPr>
          <a:xfrm>
            <a:off x="8024327"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0817290" y="1166326"/>
            <a:ext cx="1228867" cy="1296956"/>
            <a:chOff x="6951305" y="1212979"/>
            <a:chExt cx="1228867" cy="1296956"/>
          </a:xfrm>
        </p:grpSpPr>
        <p:sp>
          <p:nvSpPr>
            <p:cNvPr id="17"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9" name="文本框 18"/>
            <p:cNvSpPr txBox="1"/>
            <p:nvPr/>
          </p:nvSpPr>
          <p:spPr>
            <a:xfrm>
              <a:off x="7114333" y="1860130"/>
              <a:ext cx="902811" cy="523220"/>
            </a:xfrm>
            <a:prstGeom prst="rect">
              <a:avLst/>
            </a:prstGeom>
            <a:noFill/>
          </p:spPr>
          <p:txBody>
            <a:bodyPr wrap="none" rtlCol="0">
              <a:spAutoFit/>
            </a:bodyPr>
            <a:lstStyle/>
            <a:p>
              <a:pPr algn="ctr"/>
              <a:r>
                <a:rPr lang="zh-CN" altLang="en-US" sz="1400" dirty="0"/>
                <a:t>分享销售</a:t>
              </a:r>
              <a:endParaRPr lang="en-US" altLang="zh-CN" sz="1400" dirty="0"/>
            </a:p>
            <a:p>
              <a:pPr algn="ctr"/>
              <a:r>
                <a:rPr lang="zh-CN" altLang="en-US" sz="1400" dirty="0"/>
                <a:t>（售前）</a:t>
              </a:r>
            </a:p>
          </p:txBody>
        </p:sp>
      </p:grpSp>
      <p:cxnSp>
        <p:nvCxnSpPr>
          <p:cNvPr id="20" name="直接箭头连接符 19"/>
          <p:cNvCxnSpPr/>
          <p:nvPr/>
        </p:nvCxnSpPr>
        <p:spPr>
          <a:xfrm>
            <a:off x="10105053"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845282" y="3116424"/>
            <a:ext cx="1228867" cy="1296956"/>
            <a:chOff x="6951305" y="1212979"/>
            <a:chExt cx="1228867" cy="1296956"/>
          </a:xfrm>
        </p:grpSpPr>
        <p:sp>
          <p:nvSpPr>
            <p:cNvPr id="22" name="圆角矩形 2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文本框 23"/>
            <p:cNvSpPr txBox="1"/>
            <p:nvPr/>
          </p:nvSpPr>
          <p:spPr>
            <a:xfrm>
              <a:off x="7108723" y="1860130"/>
              <a:ext cx="914033" cy="523220"/>
            </a:xfrm>
            <a:prstGeom prst="rect">
              <a:avLst/>
            </a:prstGeom>
            <a:noFill/>
          </p:spPr>
          <p:txBody>
            <a:bodyPr wrap="none" rtlCol="0">
              <a:spAutoFit/>
            </a:bodyPr>
            <a:lstStyle/>
            <a:p>
              <a:pPr algn="ctr"/>
              <a:r>
                <a:rPr lang="zh-CN" altLang="en-US" sz="1400" dirty="0"/>
                <a:t>导入</a:t>
              </a:r>
              <a:r>
                <a:rPr lang="en-US" altLang="zh-CN" sz="1400" dirty="0"/>
                <a:t>ECP</a:t>
              </a:r>
            </a:p>
            <a:p>
              <a:pPr algn="ctr"/>
              <a:r>
                <a:rPr lang="zh-CN" altLang="en-US" sz="1400" dirty="0"/>
                <a:t>（销售）</a:t>
              </a:r>
            </a:p>
          </p:txBody>
        </p:sp>
      </p:grpSp>
      <p:cxnSp>
        <p:nvCxnSpPr>
          <p:cNvPr id="25" name="直接箭头连接符 24"/>
          <p:cNvCxnSpPr/>
          <p:nvPr/>
        </p:nvCxnSpPr>
        <p:spPr>
          <a:xfrm>
            <a:off x="11400454" y="2509540"/>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73885" y="3117816"/>
            <a:ext cx="1228867" cy="1296956"/>
            <a:chOff x="6951305" y="1212979"/>
            <a:chExt cx="1228867" cy="1296956"/>
          </a:xfrm>
        </p:grpSpPr>
        <p:sp>
          <p:nvSpPr>
            <p:cNvPr id="28" name="圆角矩形 27"/>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30" name="文本框 29"/>
            <p:cNvSpPr txBox="1"/>
            <p:nvPr/>
          </p:nvSpPr>
          <p:spPr>
            <a:xfrm>
              <a:off x="7089488" y="1860130"/>
              <a:ext cx="952504" cy="523220"/>
            </a:xfrm>
            <a:prstGeom prst="rect">
              <a:avLst/>
            </a:prstGeom>
            <a:noFill/>
          </p:spPr>
          <p:txBody>
            <a:bodyPr wrap="none" rtlCol="0">
              <a:spAutoFit/>
            </a:bodyPr>
            <a:lstStyle/>
            <a:p>
              <a:pPr algn="ctr"/>
              <a:r>
                <a:rPr lang="zh-CN" altLang="en-US" sz="1400" dirty="0"/>
                <a:t>保存</a:t>
              </a:r>
              <a:r>
                <a:rPr lang="en-US" altLang="zh-CN" sz="1400" dirty="0"/>
                <a:t>CRM</a:t>
              </a:r>
            </a:p>
            <a:p>
              <a:pPr algn="ctr"/>
              <a:r>
                <a:rPr lang="zh-CN" altLang="en-US" sz="1400" dirty="0"/>
                <a:t>（销售）</a:t>
              </a:r>
            </a:p>
          </p:txBody>
        </p:sp>
      </p:grpSp>
      <p:grpSp>
        <p:nvGrpSpPr>
          <p:cNvPr id="31" name="组合 30"/>
          <p:cNvGrpSpPr/>
          <p:nvPr/>
        </p:nvGrpSpPr>
        <p:grpSpPr>
          <a:xfrm>
            <a:off x="6662056" y="3101100"/>
            <a:ext cx="1228867" cy="1296956"/>
            <a:chOff x="6951305" y="1212979"/>
            <a:chExt cx="1228867" cy="1296956"/>
          </a:xfrm>
        </p:grpSpPr>
        <p:sp>
          <p:nvSpPr>
            <p:cNvPr id="32" name="圆角矩形 3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34" name="文本框 33"/>
            <p:cNvSpPr txBox="1"/>
            <p:nvPr/>
          </p:nvSpPr>
          <p:spPr>
            <a:xfrm>
              <a:off x="7024569" y="1860130"/>
              <a:ext cx="1082348" cy="523220"/>
            </a:xfrm>
            <a:prstGeom prst="rect">
              <a:avLst/>
            </a:prstGeom>
            <a:noFill/>
          </p:spPr>
          <p:txBody>
            <a:bodyPr wrap="none" rtlCol="0">
              <a:spAutoFit/>
            </a:bodyPr>
            <a:lstStyle/>
            <a:p>
              <a:pPr algn="ctr"/>
              <a:r>
                <a:rPr lang="zh-CN" altLang="en-US" sz="1400" dirty="0"/>
                <a:t>提交进漏斗</a:t>
              </a:r>
              <a:endParaRPr lang="en-US" altLang="zh-CN" sz="1400" dirty="0"/>
            </a:p>
            <a:p>
              <a:pPr algn="ctr"/>
              <a:r>
                <a:rPr lang="zh-CN" altLang="en-US" sz="1400" dirty="0"/>
                <a:t>（销售）</a:t>
              </a:r>
            </a:p>
          </p:txBody>
        </p:sp>
      </p:grpSp>
      <p:cxnSp>
        <p:nvCxnSpPr>
          <p:cNvPr id="35" name="直接箭头连接符 34"/>
          <p:cNvCxnSpPr/>
          <p:nvPr/>
        </p:nvCxnSpPr>
        <p:spPr>
          <a:xfrm flipH="1">
            <a:off x="10067147" y="3748251"/>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7948516" y="3742259"/>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628721" y="5163165"/>
            <a:ext cx="1295547" cy="1296956"/>
            <a:chOff x="6917970" y="1212979"/>
            <a:chExt cx="1295547" cy="1296956"/>
          </a:xfrm>
        </p:grpSpPr>
        <p:sp>
          <p:nvSpPr>
            <p:cNvPr id="39"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41" name="文本框 40"/>
            <p:cNvSpPr txBox="1"/>
            <p:nvPr/>
          </p:nvSpPr>
          <p:spPr>
            <a:xfrm>
              <a:off x="6917970" y="1860130"/>
              <a:ext cx="1295547" cy="523220"/>
            </a:xfrm>
            <a:prstGeom prst="rect">
              <a:avLst/>
            </a:prstGeom>
            <a:noFill/>
          </p:spPr>
          <p:txBody>
            <a:bodyPr wrap="none" rtlCol="0">
              <a:spAutoFit/>
            </a:bodyPr>
            <a:lstStyle/>
            <a:p>
              <a:pPr algn="ctr"/>
              <a:r>
                <a:rPr lang="zh-CN" altLang="en-US" sz="1400" dirty="0"/>
                <a:t>漏斗审批</a:t>
              </a:r>
              <a:endParaRPr lang="en-US" altLang="zh-CN" sz="1400" dirty="0"/>
            </a:p>
            <a:p>
              <a:pPr algn="ctr"/>
              <a:r>
                <a:rPr lang="zh-CN" altLang="en-US" sz="1400" dirty="0"/>
                <a:t>（区域经理）</a:t>
              </a:r>
            </a:p>
          </p:txBody>
        </p:sp>
      </p:grpSp>
      <p:cxnSp>
        <p:nvCxnSpPr>
          <p:cNvPr id="42" name="直接箭头连接符 41"/>
          <p:cNvCxnSpPr/>
          <p:nvPr/>
        </p:nvCxnSpPr>
        <p:spPr>
          <a:xfrm>
            <a:off x="7276488" y="4524952"/>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804935" y="5147841"/>
            <a:ext cx="1228867" cy="1296956"/>
            <a:chOff x="6951305" y="1212979"/>
            <a:chExt cx="1228867" cy="1296956"/>
          </a:xfrm>
        </p:grpSpPr>
        <p:sp>
          <p:nvSpPr>
            <p:cNvPr id="44"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46" name="文本框 45"/>
            <p:cNvSpPr txBox="1"/>
            <p:nvPr/>
          </p:nvSpPr>
          <p:spPr>
            <a:xfrm>
              <a:off x="7114339" y="1860130"/>
              <a:ext cx="902811" cy="523220"/>
            </a:xfrm>
            <a:prstGeom prst="rect">
              <a:avLst/>
            </a:prstGeom>
            <a:noFill/>
          </p:spPr>
          <p:txBody>
            <a:bodyPr wrap="none" rtlCol="0">
              <a:spAutoFit/>
            </a:bodyPr>
            <a:lstStyle/>
            <a:p>
              <a:pPr algn="ctr"/>
              <a:r>
                <a:rPr lang="zh-CN" altLang="en-US" sz="1400" dirty="0"/>
                <a:t>清单核查</a:t>
              </a:r>
              <a:endParaRPr lang="en-US" altLang="zh-CN" sz="1400" dirty="0"/>
            </a:p>
            <a:p>
              <a:pPr algn="ctr"/>
              <a:r>
                <a:rPr lang="zh-CN" altLang="en-US" sz="1400" dirty="0"/>
                <a:t>（售前）</a:t>
              </a:r>
            </a:p>
          </p:txBody>
        </p:sp>
      </p:grpSp>
      <p:cxnSp>
        <p:nvCxnSpPr>
          <p:cNvPr id="47" name="直接箭头连接符 46"/>
          <p:cNvCxnSpPr/>
          <p:nvPr/>
        </p:nvCxnSpPr>
        <p:spPr>
          <a:xfrm>
            <a:off x="8024327" y="5813653"/>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8" name="矩形标注 47"/>
          <p:cNvSpPr/>
          <p:nvPr/>
        </p:nvSpPr>
        <p:spPr>
          <a:xfrm>
            <a:off x="7727894" y="489093"/>
            <a:ext cx="1197093" cy="479198"/>
          </a:xfrm>
          <a:prstGeom prst="wedgeRectCallout">
            <a:avLst>
              <a:gd name="adj1" fmla="val 50672"/>
              <a:gd name="adj2" fmla="val 124809"/>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只做预算与金额两项评分</a:t>
            </a:r>
          </a:p>
        </p:txBody>
      </p:sp>
      <p:sp>
        <p:nvSpPr>
          <p:cNvPr id="49" name="矩形标注 48"/>
          <p:cNvSpPr/>
          <p:nvPr/>
        </p:nvSpPr>
        <p:spPr>
          <a:xfrm>
            <a:off x="7892748" y="2561479"/>
            <a:ext cx="3288601" cy="479198"/>
          </a:xfrm>
          <a:prstGeom prst="wedgeRectCallout">
            <a:avLst>
              <a:gd name="adj1" fmla="val 45216"/>
              <a:gd name="adj2" fmla="val -95217"/>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前期手动通过邮件分享，后期系统自动体现，分享销售的同时要分享给区域经理和技术经理</a:t>
            </a:r>
          </a:p>
        </p:txBody>
      </p:sp>
      <p:sp>
        <p:nvSpPr>
          <p:cNvPr id="51" name="矩形标注 50"/>
          <p:cNvSpPr/>
          <p:nvPr/>
        </p:nvSpPr>
        <p:spPr>
          <a:xfrm>
            <a:off x="10423848" y="4723359"/>
            <a:ext cx="1143487" cy="883071"/>
          </a:xfrm>
          <a:prstGeom prst="wedgeRectCallout">
            <a:avLst>
              <a:gd name="adj1" fmla="val -94725"/>
              <a:gd name="adj2" fmla="val 46610"/>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通过</a:t>
            </a:r>
            <a:r>
              <a:rPr lang="en-US" altLang="zh-CN" sz="1200" dirty="0">
                <a:solidFill>
                  <a:schemeClr val="tx1"/>
                </a:solidFill>
              </a:rPr>
              <a:t>ECP</a:t>
            </a:r>
            <a:r>
              <a:rPr lang="zh-CN" altLang="en-US" sz="1200" dirty="0">
                <a:solidFill>
                  <a:schemeClr val="tx1"/>
                </a:solidFill>
              </a:rPr>
              <a:t>系统上的自动比对功能核查清单</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操作流程</a:t>
            </a:r>
            <a:r>
              <a:rPr lang="en-US" altLang="zh-CN" dirty="0"/>
              <a:t>-</a:t>
            </a:r>
            <a:r>
              <a:rPr lang="zh-CN" altLang="en-US" dirty="0"/>
              <a:t>漏斗内项目管理</a:t>
            </a:r>
          </a:p>
        </p:txBody>
      </p:sp>
      <p:grpSp>
        <p:nvGrpSpPr>
          <p:cNvPr id="8" name="组合 7"/>
          <p:cNvGrpSpPr/>
          <p:nvPr/>
        </p:nvGrpSpPr>
        <p:grpSpPr>
          <a:xfrm>
            <a:off x="6662056" y="1166326"/>
            <a:ext cx="1228867" cy="1296956"/>
            <a:chOff x="6951305" y="1212979"/>
            <a:chExt cx="1228867" cy="1296956"/>
          </a:xfrm>
        </p:grpSpPr>
        <p:sp>
          <p:nvSpPr>
            <p:cNvPr id="4" name="圆角矩形 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7" name="文本框 6"/>
            <p:cNvSpPr txBox="1"/>
            <p:nvPr/>
          </p:nvSpPr>
          <p:spPr>
            <a:xfrm>
              <a:off x="7024565" y="1860130"/>
              <a:ext cx="1082348" cy="523220"/>
            </a:xfrm>
            <a:prstGeom prst="rect">
              <a:avLst/>
            </a:prstGeom>
            <a:noFill/>
          </p:spPr>
          <p:txBody>
            <a:bodyPr wrap="none" rtlCol="0">
              <a:spAutoFit/>
            </a:bodyPr>
            <a:lstStyle/>
            <a:p>
              <a:pPr algn="ctr"/>
              <a:r>
                <a:rPr lang="zh-CN" altLang="en-US" sz="1400" dirty="0"/>
                <a:t>可信度自评</a:t>
              </a:r>
              <a:endParaRPr lang="en-US" altLang="zh-CN" sz="1400" dirty="0"/>
            </a:p>
            <a:p>
              <a:pPr algn="ctr"/>
              <a:r>
                <a:rPr lang="zh-CN" altLang="en-US" sz="1400" dirty="0"/>
                <a:t>（售前）</a:t>
              </a:r>
            </a:p>
          </p:txBody>
        </p:sp>
      </p:grpSp>
      <p:grpSp>
        <p:nvGrpSpPr>
          <p:cNvPr id="9" name="组合 8"/>
          <p:cNvGrpSpPr/>
          <p:nvPr/>
        </p:nvGrpSpPr>
        <p:grpSpPr>
          <a:xfrm>
            <a:off x="8460022" y="1173709"/>
            <a:ext cx="1856598" cy="1296956"/>
            <a:chOff x="6637442" y="1212979"/>
            <a:chExt cx="1856598" cy="1296956"/>
          </a:xfrm>
        </p:grpSpPr>
        <p:sp>
          <p:nvSpPr>
            <p:cNvPr id="10" name="圆角矩形 9"/>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2" name="文本框 11"/>
            <p:cNvSpPr txBox="1"/>
            <p:nvPr/>
          </p:nvSpPr>
          <p:spPr>
            <a:xfrm>
              <a:off x="6637442" y="1860130"/>
              <a:ext cx="1856598" cy="523220"/>
            </a:xfrm>
            <a:prstGeom prst="rect">
              <a:avLst/>
            </a:prstGeom>
            <a:noFill/>
          </p:spPr>
          <p:txBody>
            <a:bodyPr wrap="none" rtlCol="0">
              <a:spAutoFit/>
            </a:bodyPr>
            <a:lstStyle/>
            <a:p>
              <a:pPr algn="ctr"/>
              <a:r>
                <a:rPr lang="zh-CN" altLang="en-US" sz="1400" dirty="0"/>
                <a:t>可信度检查</a:t>
              </a:r>
              <a:endParaRPr lang="en-US" altLang="zh-CN" sz="1400" dirty="0"/>
            </a:p>
            <a:p>
              <a:pPr algn="ctr"/>
              <a:r>
                <a:rPr lang="zh-CN" altLang="en-US" sz="1400" dirty="0"/>
                <a:t>（供应链</a:t>
              </a:r>
              <a:r>
                <a:rPr lang="en-US" altLang="zh-CN" sz="1400" dirty="0"/>
                <a:t>/</a:t>
              </a:r>
              <a:r>
                <a:rPr lang="zh-CN" altLang="en-US" sz="1400" dirty="0"/>
                <a:t>技术经理）</a:t>
              </a:r>
            </a:p>
          </p:txBody>
        </p:sp>
      </p:grpSp>
      <p:cxnSp>
        <p:nvCxnSpPr>
          <p:cNvPr id="14" name="直接箭头连接符 13"/>
          <p:cNvCxnSpPr/>
          <p:nvPr/>
        </p:nvCxnSpPr>
        <p:spPr>
          <a:xfrm>
            <a:off x="8024327"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10817290" y="1166326"/>
            <a:ext cx="1228867" cy="1296956"/>
            <a:chOff x="6951305" y="1212979"/>
            <a:chExt cx="1228867" cy="1296956"/>
          </a:xfrm>
        </p:grpSpPr>
        <p:sp>
          <p:nvSpPr>
            <p:cNvPr id="17" name="圆角矩形 16"/>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9" name="文本框 18"/>
            <p:cNvSpPr txBox="1"/>
            <p:nvPr/>
          </p:nvSpPr>
          <p:spPr>
            <a:xfrm>
              <a:off x="7114336" y="1860130"/>
              <a:ext cx="902811" cy="523220"/>
            </a:xfrm>
            <a:prstGeom prst="rect">
              <a:avLst/>
            </a:prstGeom>
            <a:noFill/>
          </p:spPr>
          <p:txBody>
            <a:bodyPr wrap="none" rtlCol="0">
              <a:spAutoFit/>
            </a:bodyPr>
            <a:lstStyle/>
            <a:p>
              <a:pPr algn="ctr"/>
              <a:r>
                <a:rPr lang="zh-CN" altLang="en-US" sz="1400" dirty="0"/>
                <a:t>更新清单</a:t>
              </a:r>
              <a:endParaRPr lang="en-US" altLang="zh-CN" sz="1400" dirty="0"/>
            </a:p>
            <a:p>
              <a:pPr algn="ctr"/>
              <a:r>
                <a:rPr lang="zh-CN" altLang="en-US" sz="1400" dirty="0"/>
                <a:t>（售前）</a:t>
              </a:r>
            </a:p>
          </p:txBody>
        </p:sp>
      </p:grpSp>
      <p:cxnSp>
        <p:nvCxnSpPr>
          <p:cNvPr id="20" name="直接箭头连接符 19"/>
          <p:cNvCxnSpPr/>
          <p:nvPr/>
        </p:nvCxnSpPr>
        <p:spPr>
          <a:xfrm>
            <a:off x="10105053" y="1894114"/>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845282" y="3116424"/>
            <a:ext cx="1228867" cy="1296956"/>
            <a:chOff x="6951305" y="1212979"/>
            <a:chExt cx="1228867" cy="1296956"/>
          </a:xfrm>
        </p:grpSpPr>
        <p:sp>
          <p:nvSpPr>
            <p:cNvPr id="22" name="圆角矩形 2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 name="文本框 23"/>
            <p:cNvSpPr txBox="1"/>
            <p:nvPr/>
          </p:nvSpPr>
          <p:spPr>
            <a:xfrm>
              <a:off x="7114337" y="1860130"/>
              <a:ext cx="902811" cy="523220"/>
            </a:xfrm>
            <a:prstGeom prst="rect">
              <a:avLst/>
            </a:prstGeom>
            <a:noFill/>
          </p:spPr>
          <p:txBody>
            <a:bodyPr wrap="none" rtlCol="0">
              <a:spAutoFit/>
            </a:bodyPr>
            <a:lstStyle/>
            <a:p>
              <a:pPr algn="ctr"/>
              <a:r>
                <a:rPr lang="zh-CN" altLang="en-US" sz="1400" dirty="0"/>
                <a:t>评分</a:t>
              </a:r>
              <a:endParaRPr lang="en-US" altLang="zh-CN" sz="1400" dirty="0"/>
            </a:p>
            <a:p>
              <a:pPr algn="ctr"/>
              <a:r>
                <a:rPr lang="zh-CN" altLang="en-US" sz="1400" dirty="0"/>
                <a:t>（售前）</a:t>
              </a:r>
            </a:p>
          </p:txBody>
        </p:sp>
      </p:grpSp>
      <p:cxnSp>
        <p:nvCxnSpPr>
          <p:cNvPr id="25" name="直接箭头连接符 24"/>
          <p:cNvCxnSpPr/>
          <p:nvPr/>
        </p:nvCxnSpPr>
        <p:spPr>
          <a:xfrm>
            <a:off x="11400454" y="2509540"/>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8773885" y="3117816"/>
            <a:ext cx="1228867" cy="1296956"/>
            <a:chOff x="6951305" y="1212979"/>
            <a:chExt cx="1228867" cy="1296956"/>
          </a:xfrm>
        </p:grpSpPr>
        <p:sp>
          <p:nvSpPr>
            <p:cNvPr id="28" name="圆角矩形 27"/>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椭圆 28"/>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30" name="文本框 29"/>
            <p:cNvSpPr txBox="1"/>
            <p:nvPr/>
          </p:nvSpPr>
          <p:spPr>
            <a:xfrm>
              <a:off x="7114337" y="1860130"/>
              <a:ext cx="902811" cy="523220"/>
            </a:xfrm>
            <a:prstGeom prst="rect">
              <a:avLst/>
            </a:prstGeom>
            <a:noFill/>
          </p:spPr>
          <p:txBody>
            <a:bodyPr wrap="none" rtlCol="0">
              <a:spAutoFit/>
            </a:bodyPr>
            <a:lstStyle/>
            <a:p>
              <a:pPr algn="ctr"/>
              <a:r>
                <a:rPr lang="zh-CN" altLang="en-US" sz="1400" dirty="0"/>
                <a:t>分享销售</a:t>
              </a:r>
              <a:endParaRPr lang="en-US" altLang="zh-CN" sz="1400" dirty="0"/>
            </a:p>
            <a:p>
              <a:pPr algn="ctr"/>
              <a:r>
                <a:rPr lang="zh-CN" altLang="en-US" sz="1400" dirty="0"/>
                <a:t>（售前）</a:t>
              </a:r>
            </a:p>
          </p:txBody>
        </p:sp>
      </p:grpSp>
      <p:grpSp>
        <p:nvGrpSpPr>
          <p:cNvPr id="31" name="组合 30"/>
          <p:cNvGrpSpPr/>
          <p:nvPr/>
        </p:nvGrpSpPr>
        <p:grpSpPr>
          <a:xfrm>
            <a:off x="6662056" y="3101100"/>
            <a:ext cx="1228867" cy="1296956"/>
            <a:chOff x="6951305" y="1212979"/>
            <a:chExt cx="1228867" cy="1296956"/>
          </a:xfrm>
        </p:grpSpPr>
        <p:sp>
          <p:nvSpPr>
            <p:cNvPr id="32" name="圆角矩形 31"/>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椭圆 32"/>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34" name="文本框 33"/>
            <p:cNvSpPr txBox="1"/>
            <p:nvPr/>
          </p:nvSpPr>
          <p:spPr>
            <a:xfrm>
              <a:off x="7108726" y="1860130"/>
              <a:ext cx="914033" cy="523220"/>
            </a:xfrm>
            <a:prstGeom prst="rect">
              <a:avLst/>
            </a:prstGeom>
            <a:noFill/>
          </p:spPr>
          <p:txBody>
            <a:bodyPr wrap="none" rtlCol="0">
              <a:spAutoFit/>
            </a:bodyPr>
            <a:lstStyle/>
            <a:p>
              <a:pPr algn="ctr"/>
              <a:r>
                <a:rPr lang="zh-CN" altLang="en-US" sz="1400" dirty="0"/>
                <a:t>导入</a:t>
              </a:r>
              <a:r>
                <a:rPr lang="en-US" altLang="zh-CN" sz="1400" dirty="0"/>
                <a:t>ECP</a:t>
              </a:r>
            </a:p>
            <a:p>
              <a:pPr algn="ctr"/>
              <a:r>
                <a:rPr lang="zh-CN" altLang="en-US" sz="1400" dirty="0"/>
                <a:t>（销售）</a:t>
              </a:r>
            </a:p>
          </p:txBody>
        </p:sp>
      </p:grpSp>
      <p:cxnSp>
        <p:nvCxnSpPr>
          <p:cNvPr id="35" name="直接箭头连接符 34"/>
          <p:cNvCxnSpPr/>
          <p:nvPr/>
        </p:nvCxnSpPr>
        <p:spPr>
          <a:xfrm flipH="1">
            <a:off x="10067147" y="3748251"/>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a:off x="7948516" y="3742259"/>
            <a:ext cx="71340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6662056" y="5163165"/>
            <a:ext cx="1228867" cy="1296956"/>
            <a:chOff x="6951305" y="1212979"/>
            <a:chExt cx="1228867" cy="1296956"/>
          </a:xfrm>
        </p:grpSpPr>
        <p:sp>
          <p:nvSpPr>
            <p:cNvPr id="39" name="圆角矩形 38"/>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41" name="文本框 40"/>
            <p:cNvSpPr txBox="1"/>
            <p:nvPr/>
          </p:nvSpPr>
          <p:spPr>
            <a:xfrm>
              <a:off x="7089493" y="1860130"/>
              <a:ext cx="952505" cy="523220"/>
            </a:xfrm>
            <a:prstGeom prst="rect">
              <a:avLst/>
            </a:prstGeom>
            <a:noFill/>
          </p:spPr>
          <p:txBody>
            <a:bodyPr wrap="none" rtlCol="0">
              <a:spAutoFit/>
            </a:bodyPr>
            <a:lstStyle/>
            <a:p>
              <a:pPr algn="ctr"/>
              <a:r>
                <a:rPr lang="zh-CN" altLang="en-US" sz="1400" dirty="0"/>
                <a:t>保存</a:t>
              </a:r>
              <a:r>
                <a:rPr lang="en-US" altLang="zh-CN" sz="1400" dirty="0"/>
                <a:t>CRM</a:t>
              </a:r>
            </a:p>
            <a:p>
              <a:pPr algn="ctr"/>
              <a:r>
                <a:rPr lang="zh-CN" altLang="en-US" sz="1400" dirty="0"/>
                <a:t>（销售）</a:t>
              </a:r>
            </a:p>
          </p:txBody>
        </p:sp>
      </p:grpSp>
      <p:cxnSp>
        <p:nvCxnSpPr>
          <p:cNvPr id="42" name="直接箭头连接符 41"/>
          <p:cNvCxnSpPr/>
          <p:nvPr/>
        </p:nvCxnSpPr>
        <p:spPr>
          <a:xfrm>
            <a:off x="7276488" y="4524952"/>
            <a:ext cx="0" cy="532238"/>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8804935" y="5147841"/>
            <a:ext cx="1228867" cy="1296956"/>
            <a:chOff x="6951305" y="1212979"/>
            <a:chExt cx="1228867" cy="1296956"/>
          </a:xfrm>
        </p:grpSpPr>
        <p:sp>
          <p:nvSpPr>
            <p:cNvPr id="44" name="圆角矩形 43"/>
            <p:cNvSpPr/>
            <p:nvPr/>
          </p:nvSpPr>
          <p:spPr>
            <a:xfrm>
              <a:off x="6951305" y="1212979"/>
              <a:ext cx="1228867" cy="1296956"/>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椭圆 44"/>
            <p:cNvSpPr/>
            <p:nvPr/>
          </p:nvSpPr>
          <p:spPr>
            <a:xfrm>
              <a:off x="7354469" y="1373546"/>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46" name="文本框 45"/>
            <p:cNvSpPr txBox="1"/>
            <p:nvPr/>
          </p:nvSpPr>
          <p:spPr>
            <a:xfrm>
              <a:off x="7114339" y="1860130"/>
              <a:ext cx="902811" cy="523220"/>
            </a:xfrm>
            <a:prstGeom prst="rect">
              <a:avLst/>
            </a:prstGeom>
            <a:noFill/>
          </p:spPr>
          <p:txBody>
            <a:bodyPr wrap="none" rtlCol="0">
              <a:spAutoFit/>
            </a:bodyPr>
            <a:lstStyle/>
            <a:p>
              <a:pPr algn="ctr"/>
              <a:r>
                <a:rPr lang="zh-CN" altLang="en-US" sz="1400" dirty="0"/>
                <a:t>清单核查</a:t>
              </a:r>
              <a:endParaRPr lang="en-US" altLang="zh-CN" sz="1400" dirty="0"/>
            </a:p>
            <a:p>
              <a:pPr algn="ctr"/>
              <a:r>
                <a:rPr lang="zh-CN" altLang="en-US" sz="1400" dirty="0"/>
                <a:t>（售前）</a:t>
              </a:r>
            </a:p>
          </p:txBody>
        </p:sp>
      </p:grpSp>
      <p:cxnSp>
        <p:nvCxnSpPr>
          <p:cNvPr id="47" name="直接箭头连接符 46"/>
          <p:cNvCxnSpPr/>
          <p:nvPr/>
        </p:nvCxnSpPr>
        <p:spPr>
          <a:xfrm>
            <a:off x="8024327" y="5813653"/>
            <a:ext cx="637591"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48" name="矩形标注 47"/>
          <p:cNvSpPr/>
          <p:nvPr/>
        </p:nvSpPr>
        <p:spPr>
          <a:xfrm>
            <a:off x="7727894" y="489093"/>
            <a:ext cx="1197093" cy="479198"/>
          </a:xfrm>
          <a:prstGeom prst="wedgeRectCallout">
            <a:avLst>
              <a:gd name="adj1" fmla="val 50672"/>
              <a:gd name="adj2" fmla="val 124809"/>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系统上线后自动提醒</a:t>
            </a:r>
          </a:p>
        </p:txBody>
      </p:sp>
      <p:sp>
        <p:nvSpPr>
          <p:cNvPr id="49" name="矩形标注 48"/>
          <p:cNvSpPr/>
          <p:nvPr/>
        </p:nvSpPr>
        <p:spPr>
          <a:xfrm>
            <a:off x="7892749" y="2561479"/>
            <a:ext cx="1946980" cy="479198"/>
          </a:xfrm>
          <a:prstGeom prst="wedgeRectCallout">
            <a:avLst>
              <a:gd name="adj1" fmla="val -58911"/>
              <a:gd name="adj2" fmla="val -104953"/>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分级分层：新进漏斗、</a:t>
            </a:r>
            <a:r>
              <a:rPr lang="en-US" altLang="zh-CN" sz="1200" dirty="0">
                <a:solidFill>
                  <a:schemeClr val="tx1"/>
                </a:solidFill>
              </a:rPr>
              <a:t>30</a:t>
            </a:r>
            <a:r>
              <a:rPr lang="zh-CN" altLang="en-US" sz="1200" dirty="0">
                <a:solidFill>
                  <a:schemeClr val="tx1"/>
                </a:solidFill>
              </a:rPr>
              <a:t>天内开标、预测类别变化</a:t>
            </a:r>
          </a:p>
        </p:txBody>
      </p:sp>
      <p:sp>
        <p:nvSpPr>
          <p:cNvPr id="51" name="矩形标注 50"/>
          <p:cNvSpPr/>
          <p:nvPr/>
        </p:nvSpPr>
        <p:spPr>
          <a:xfrm>
            <a:off x="10423848" y="4723359"/>
            <a:ext cx="1143487" cy="883071"/>
          </a:xfrm>
          <a:prstGeom prst="wedgeRectCallout">
            <a:avLst>
              <a:gd name="adj1" fmla="val -94725"/>
              <a:gd name="adj2" fmla="val 46610"/>
            </a:avLst>
          </a:prstGeom>
          <a:solidFill>
            <a:schemeClr val="accent4">
              <a:lumMod val="60000"/>
              <a:lumOff val="4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通过</a:t>
            </a:r>
            <a:r>
              <a:rPr lang="en-US" altLang="zh-CN" sz="1200" dirty="0">
                <a:solidFill>
                  <a:schemeClr val="tx1"/>
                </a:solidFill>
              </a:rPr>
              <a:t>ECP</a:t>
            </a:r>
            <a:r>
              <a:rPr lang="zh-CN" altLang="en-US" sz="1200" dirty="0">
                <a:solidFill>
                  <a:schemeClr val="tx1"/>
                </a:solidFill>
              </a:rPr>
              <a:t>系统上的自动比对功能核查清单</a:t>
            </a:r>
          </a:p>
        </p:txBody>
      </p:sp>
      <p:graphicFrame>
        <p:nvGraphicFramePr>
          <p:cNvPr id="15" name="表格 14"/>
          <p:cNvGraphicFramePr>
            <a:graphicFrameLocks noGrp="1"/>
          </p:cNvGraphicFramePr>
          <p:nvPr/>
        </p:nvGraphicFramePr>
        <p:xfrm>
          <a:off x="103913" y="824146"/>
          <a:ext cx="6390194" cy="6060655"/>
        </p:xfrm>
        <a:graphic>
          <a:graphicData uri="http://schemas.openxmlformats.org/drawingml/2006/table">
            <a:tbl>
              <a:tblPr/>
              <a:tblGrid>
                <a:gridCol w="664706"/>
                <a:gridCol w="702968"/>
                <a:gridCol w="832462"/>
                <a:gridCol w="665970"/>
                <a:gridCol w="1535429"/>
                <a:gridCol w="1988659"/>
              </a:tblGrid>
              <a:tr h="256351">
                <a:tc>
                  <a:txBody>
                    <a:bodyPr/>
                    <a:lstStyle/>
                    <a:p>
                      <a:pPr algn="ctr" fontAlgn="ctr" latinLnBrk="0"/>
                      <a:r>
                        <a:rPr lang="zh-CN" altLang="en-US" sz="1000" b="1" i="0" dirty="0">
                          <a:solidFill>
                            <a:srgbClr val="000000"/>
                          </a:solidFill>
                          <a:effectLst/>
                        </a:rPr>
                        <a:t>工序名称</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工序步骤</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工序名称</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dirty="0">
                          <a:solidFill>
                            <a:srgbClr val="000000"/>
                          </a:solidFill>
                          <a:effectLst/>
                        </a:rPr>
                        <a:t>工序角色</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经验</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c>
                  <a:txBody>
                    <a:bodyPr/>
                    <a:lstStyle/>
                    <a:p>
                      <a:pPr algn="ctr" fontAlgn="ctr" latinLnBrk="0"/>
                      <a:r>
                        <a:rPr lang="zh-CN" altLang="en-US" sz="1000" b="0" i="0">
                          <a:solidFill>
                            <a:srgbClr val="000000"/>
                          </a:solidFill>
                          <a:effectLst/>
                        </a:rPr>
                        <a:t>问题</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EE085"/>
                    </a:solidFill>
                  </a:tcPr>
                </a:tc>
              </a:tr>
              <a:tr h="718806">
                <a:tc rowSpan="9">
                  <a:txBody>
                    <a:bodyPr/>
                    <a:lstStyle/>
                    <a:p>
                      <a:pPr algn="ctr" fontAlgn="ctr" latinLnBrk="0"/>
                      <a:r>
                        <a:rPr lang="zh-CN" altLang="en-US" sz="1000" b="0" i="0">
                          <a:solidFill>
                            <a:srgbClr val="000000"/>
                          </a:solidFill>
                          <a:effectLst/>
                        </a:rPr>
                        <a:t>漏斗内项目管理</a:t>
                      </a:r>
                    </a:p>
                  </a:txBody>
                  <a:tcPr marL="80830" marR="80830" marT="40415" marB="40415" anchor="ctr">
                    <a:lnL w="6350" cap="flat" cmpd="sng" algn="ctr">
                      <a:solidFill>
                        <a:srgbClr val="1F2329"/>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rPr>
                        <a:t>1</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effectLst/>
                        </a:rPr>
                        <a:t>可信度自评</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、按照新增漏斗内项目流程自评</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、分层分级自评，新进漏斗</a:t>
                      </a:r>
                      <a:r>
                        <a:rPr lang="en-US" altLang="zh-CN" sz="1000" b="0" i="0" dirty="0">
                          <a:solidFill>
                            <a:srgbClr val="000000"/>
                          </a:solidFill>
                          <a:effectLst/>
                        </a:rPr>
                        <a:t>-30</a:t>
                      </a:r>
                      <a:r>
                        <a:rPr lang="zh-CN" altLang="en-US" sz="1000" b="0" i="0" dirty="0">
                          <a:solidFill>
                            <a:srgbClr val="000000"/>
                          </a:solidFill>
                          <a:effectLst/>
                        </a:rPr>
                        <a:t>天内开标</a:t>
                      </a:r>
                      <a:r>
                        <a:rPr lang="en-US" altLang="zh-CN" sz="1000" b="0" i="0" dirty="0">
                          <a:solidFill>
                            <a:srgbClr val="000000"/>
                          </a:solidFill>
                          <a:effectLst/>
                        </a:rPr>
                        <a:t>-</a:t>
                      </a:r>
                      <a:r>
                        <a:rPr lang="zh-CN" altLang="en-US" sz="1000" b="0" i="0" dirty="0">
                          <a:solidFill>
                            <a:srgbClr val="000000"/>
                          </a:solidFill>
                          <a:effectLst/>
                        </a:rPr>
                        <a:t>预测类别变化。</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、需要专人每天提醒，系统上线后解决。</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718806">
                <a:tc vMerge="1">
                  <a:txBody>
                    <a:bodyPr/>
                    <a:lstStyle/>
                    <a:p>
                      <a:endParaRPr lang="zh-CN"/>
                    </a:p>
                  </a:txBody>
                  <a:tcPr/>
                </a:tc>
                <a:tc>
                  <a:txBody>
                    <a:bodyPr/>
                    <a:lstStyle/>
                    <a:p>
                      <a:pPr algn="ctr" fontAlgn="ctr" latinLnBrk="0"/>
                      <a:r>
                        <a:rPr lang="en-US" altLang="zh-CN" sz="1050" b="0" i="0">
                          <a:solidFill>
                            <a:srgbClr val="000000"/>
                          </a:solidFill>
                          <a:effectLst/>
                        </a:rPr>
                        <a:t>2</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可信度检查</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供应链</a:t>
                      </a:r>
                      <a:r>
                        <a:rPr lang="en-US" altLang="zh-CN" sz="1000" b="0" i="0" dirty="0">
                          <a:solidFill>
                            <a:srgbClr val="000000"/>
                          </a:solidFill>
                          <a:effectLst/>
                        </a:rPr>
                        <a:t>/</a:t>
                      </a:r>
                      <a:r>
                        <a:rPr lang="zh-CN" altLang="en-US" sz="1000" b="0" i="0" dirty="0">
                          <a:solidFill>
                            <a:srgbClr val="000000"/>
                          </a:solidFill>
                          <a:effectLst/>
                        </a:rPr>
                        <a:t>技术经理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、根据预测类别设定可信度值 </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、自评值和目标值自动比对，给出结果</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、每天根据结果提醒对应售前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、需要专人每日跟催，系统上线后解决。</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718806">
                <a:tc vMerge="1">
                  <a:txBody>
                    <a:bodyPr/>
                    <a:lstStyle/>
                    <a:p>
                      <a:endParaRPr lang="zh-CN"/>
                    </a:p>
                  </a:txBody>
                  <a:tcPr/>
                </a:tc>
                <a:tc>
                  <a:txBody>
                    <a:bodyPr/>
                    <a:lstStyle/>
                    <a:p>
                      <a:pPr algn="ctr" fontAlgn="ctr" latinLnBrk="0"/>
                      <a:r>
                        <a:rPr lang="en-US" altLang="zh-CN" sz="1050" b="0" i="0">
                          <a:solidFill>
                            <a:srgbClr val="000000"/>
                          </a:solidFill>
                          <a:effectLst/>
                        </a:rPr>
                        <a:t>3</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更新清单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当客户需求变化时，主动更新清单。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线下清单修改比较方便，但不能导入到配置器。需要在配置器上更新后，再按照渠道要求的格式导出编辑。</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4654">
                <a:tc vMerge="1">
                  <a:txBody>
                    <a:bodyPr/>
                    <a:lstStyle/>
                    <a:p>
                      <a:endParaRPr lang="zh-CN"/>
                    </a:p>
                  </a:txBody>
                  <a:tcPr/>
                </a:tc>
                <a:tc>
                  <a:txBody>
                    <a:bodyPr/>
                    <a:lstStyle/>
                    <a:p>
                      <a:pPr algn="ctr" fontAlgn="ctr" latinLnBrk="0"/>
                      <a:r>
                        <a:rPr lang="en-US" altLang="zh-CN" sz="1050" b="0" i="0">
                          <a:solidFill>
                            <a:srgbClr val="000000"/>
                          </a:solidFill>
                          <a:effectLst/>
                        </a:rPr>
                        <a:t>4</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a:solidFill>
                            <a:srgbClr val="000000"/>
                          </a:solidFill>
                          <a:effectLst/>
                        </a:rPr>
                        <a:t>1</a:t>
                      </a:r>
                      <a:r>
                        <a:rPr lang="zh-CN" altLang="en-US" sz="1000" b="0" i="0">
                          <a:solidFill>
                            <a:srgbClr val="000000"/>
                          </a:solidFill>
                          <a:effectLst/>
                        </a:rPr>
                        <a:t>、希望在系统上评分，每个项目手动评分太麻烦；</a:t>
                      </a:r>
                      <a:r>
                        <a:rPr lang="en-US" altLang="zh-CN" sz="1000" b="0" i="0">
                          <a:solidFill>
                            <a:srgbClr val="000000"/>
                          </a:solidFill>
                          <a:effectLst/>
                        </a:rPr>
                        <a:t>--</a:t>
                      </a:r>
                      <a:r>
                        <a:rPr lang="zh-CN" altLang="en-US" sz="1000" b="0" i="0">
                          <a:solidFill>
                            <a:srgbClr val="000000"/>
                          </a:solidFill>
                          <a:effectLst/>
                        </a:rPr>
                        <a:t>后续系统自动同步，无需手工邮件。</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275620">
                <a:tc vMerge="1">
                  <a:txBody>
                    <a:bodyPr/>
                    <a:lstStyle/>
                    <a:p>
                      <a:endParaRPr lang="zh-CN"/>
                    </a:p>
                  </a:txBody>
                  <a:tcPr/>
                </a:tc>
                <a:tc>
                  <a:txBody>
                    <a:bodyPr/>
                    <a:lstStyle/>
                    <a:p>
                      <a:pPr algn="ctr" fontAlgn="ctr" latinLnBrk="0"/>
                      <a:r>
                        <a:rPr lang="en-US" altLang="zh-CN" sz="1050" b="0" i="0">
                          <a:solidFill>
                            <a:srgbClr val="000000"/>
                          </a:solidFill>
                          <a:effectLst/>
                        </a:rPr>
                        <a:t>5</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分享销售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275620">
                <a:tc vMerge="1">
                  <a:txBody>
                    <a:bodyPr/>
                    <a:lstStyle/>
                    <a:p>
                      <a:endParaRPr lang="zh-CN"/>
                    </a:p>
                  </a:txBody>
                  <a:tcPr/>
                </a:tc>
                <a:tc>
                  <a:txBody>
                    <a:bodyPr/>
                    <a:lstStyle/>
                    <a:p>
                      <a:pPr algn="ctr" fontAlgn="ctr" latinLnBrk="0"/>
                      <a:r>
                        <a:rPr lang="en-US" altLang="zh-CN" sz="1050" b="0" i="0">
                          <a:solidFill>
                            <a:srgbClr val="000000"/>
                          </a:solidFill>
                          <a:effectLst/>
                        </a:rPr>
                        <a:t>6</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评分邮件</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1027109">
                <a:tc vMerge="1">
                  <a:txBody>
                    <a:bodyPr/>
                    <a:lstStyle/>
                    <a:p>
                      <a:endParaRPr lang="zh-CN"/>
                    </a:p>
                  </a:txBody>
                  <a:tcPr/>
                </a:tc>
                <a:tc>
                  <a:txBody>
                    <a:bodyPr/>
                    <a:lstStyle/>
                    <a:p>
                      <a:pPr algn="ctr" fontAlgn="ctr" latinLnBrk="0"/>
                      <a:r>
                        <a:rPr lang="en-US" altLang="zh-CN" sz="1050" b="0" i="0">
                          <a:solidFill>
                            <a:srgbClr val="000000"/>
                          </a:solidFill>
                          <a:effectLst/>
                        </a:rPr>
                        <a:t>7</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导入</a:t>
                      </a:r>
                      <a:r>
                        <a:rPr lang="en-US" sz="1000" b="0" i="0">
                          <a:solidFill>
                            <a:srgbClr val="000000"/>
                          </a:solidFill>
                          <a:effectLst/>
                        </a:rPr>
                        <a:t>ECP</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、还是显示多个，得手动选择；</a:t>
                      </a:r>
                      <a:r>
                        <a:rPr lang="en-US" altLang="zh-CN" sz="1000" b="0" i="0" dirty="0">
                          <a:solidFill>
                            <a:srgbClr val="000000"/>
                          </a:solidFill>
                          <a:effectLst/>
                        </a:rPr>
                        <a:t>--</a:t>
                      </a:r>
                      <a:r>
                        <a:rPr lang="zh-CN" altLang="en-US" sz="1000" b="0" i="0" dirty="0">
                          <a:solidFill>
                            <a:srgbClr val="000000"/>
                          </a:solidFill>
                          <a:effectLst/>
                        </a:rPr>
                        <a:t>导入时让售前分享，会显示在第一个；</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、希望可以自动匹配；</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、进入</a:t>
                      </a:r>
                      <a:r>
                        <a:rPr lang="en-US" altLang="zh-CN" sz="1000" b="0" i="0" dirty="0">
                          <a:solidFill>
                            <a:srgbClr val="000000"/>
                          </a:solidFill>
                          <a:effectLst/>
                        </a:rPr>
                        <a:t>ECP</a:t>
                      </a:r>
                      <a:r>
                        <a:rPr lang="zh-CN" altLang="en-US" sz="1000" b="0" i="0" dirty="0">
                          <a:solidFill>
                            <a:srgbClr val="000000"/>
                          </a:solidFill>
                          <a:effectLst/>
                        </a:rPr>
                        <a:t>系统时自动提示是否导入新的清单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410502">
                <a:tc vMerge="1">
                  <a:txBody>
                    <a:bodyPr/>
                    <a:lstStyle/>
                    <a:p>
                      <a:endParaRPr lang="zh-CN"/>
                    </a:p>
                  </a:txBody>
                  <a:tcPr/>
                </a:tc>
                <a:tc>
                  <a:txBody>
                    <a:bodyPr/>
                    <a:lstStyle/>
                    <a:p>
                      <a:pPr algn="ctr" fontAlgn="ctr" latinLnBrk="0"/>
                      <a:r>
                        <a:rPr lang="en-US" altLang="zh-CN" sz="1050" b="0" i="0">
                          <a:solidFill>
                            <a:srgbClr val="000000"/>
                          </a:solidFill>
                          <a:effectLst/>
                        </a:rPr>
                        <a:t>8</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保存至</a:t>
                      </a:r>
                      <a:r>
                        <a:rPr lang="en-US" sz="1000" b="0" i="0">
                          <a:solidFill>
                            <a:srgbClr val="000000"/>
                          </a:solidFill>
                          <a:effectLst/>
                        </a:rPr>
                        <a:t>CRM</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销售</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无</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ECP</a:t>
                      </a:r>
                      <a:r>
                        <a:rPr lang="zh-CN" altLang="en-US" sz="1000" b="0" i="0" dirty="0">
                          <a:solidFill>
                            <a:srgbClr val="000000"/>
                          </a:solidFill>
                          <a:effectLst/>
                        </a:rPr>
                        <a:t>系统</a:t>
                      </a:r>
                      <a:r>
                        <a:rPr lang="en-US" altLang="zh-CN" sz="1000" b="0" i="0" dirty="0">
                          <a:solidFill>
                            <a:srgbClr val="000000"/>
                          </a:solidFill>
                          <a:effectLst/>
                        </a:rPr>
                        <a:t>BUG</a:t>
                      </a:r>
                      <a:r>
                        <a:rPr lang="zh-CN" altLang="en-US" sz="1000" b="0" i="0" dirty="0">
                          <a:solidFill>
                            <a:srgbClr val="000000"/>
                          </a:solidFill>
                          <a:effectLst/>
                        </a:rPr>
                        <a:t>，已经勾选服务产品，老提示未勾选，刷新就好了</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r h="564654">
                <a:tc vMerge="1">
                  <a:txBody>
                    <a:bodyPr/>
                    <a:lstStyle/>
                    <a:p>
                      <a:endParaRPr lang="zh-CN"/>
                    </a:p>
                  </a:txBody>
                  <a:tcPr/>
                </a:tc>
                <a:tc>
                  <a:txBody>
                    <a:bodyPr/>
                    <a:lstStyle/>
                    <a:p>
                      <a:pPr algn="ctr" fontAlgn="ctr" latinLnBrk="0"/>
                      <a:r>
                        <a:rPr lang="en-US" altLang="zh-CN" sz="1050" b="0" i="0" dirty="0">
                          <a:solidFill>
                            <a:srgbClr val="000000"/>
                          </a:solidFill>
                          <a:effectLst/>
                        </a:rPr>
                        <a:t>9</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dirty="0">
                          <a:solidFill>
                            <a:srgbClr val="000000"/>
                          </a:solidFill>
                          <a:effectLst/>
                        </a:rPr>
                        <a:t>核查是清单是否一致</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zh-CN" altLang="en-US" sz="1000" b="0" i="0">
                          <a:solidFill>
                            <a:srgbClr val="000000"/>
                          </a:solidFill>
                          <a:effectLst/>
                        </a:rPr>
                        <a:t>售前</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、自评后可以使用自动比对功能</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latinLnBrk="0"/>
                      <a:r>
                        <a:rPr lang="en-US" altLang="zh-CN" sz="1000" b="0" i="0" dirty="0">
                          <a:solidFill>
                            <a:srgbClr val="000000"/>
                          </a:solidFill>
                          <a:effectLst/>
                        </a:rPr>
                        <a:t>1</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清单排序乱，不易检查；</a:t>
                      </a:r>
                      <a:r>
                        <a:rPr lang="en-US" altLang="zh-CN" sz="1000" b="0" i="0" dirty="0">
                          <a:solidFill>
                            <a:srgbClr val="000000"/>
                          </a:solidFill>
                          <a:effectLst/>
                        </a:rPr>
                        <a:t>--</a:t>
                      </a:r>
                      <a:r>
                        <a:rPr lang="zh-CN" altLang="en-US" sz="1000" b="0" i="0" dirty="0">
                          <a:solidFill>
                            <a:srgbClr val="000000"/>
                          </a:solidFill>
                          <a:effectLst/>
                        </a:rPr>
                        <a:t>通过</a:t>
                      </a:r>
                      <a:r>
                        <a:rPr lang="en-US" altLang="zh-CN" sz="1000" b="0" i="0" dirty="0">
                          <a:solidFill>
                            <a:srgbClr val="000000"/>
                          </a:solidFill>
                          <a:effectLst/>
                        </a:rPr>
                        <a:t>ECP</a:t>
                      </a:r>
                      <a:r>
                        <a:rPr lang="zh-CN" altLang="en-US" sz="1000" b="0" i="0" dirty="0">
                          <a:solidFill>
                            <a:srgbClr val="000000"/>
                          </a:solidFill>
                          <a:effectLst/>
                        </a:rPr>
                        <a:t>系统上的自动比对功能核查清单</a:t>
                      </a:r>
                    </a:p>
                  </a:txBody>
                  <a:tcPr marL="80830" marR="80830" marT="40415" marB="40415"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N</a:t>
            </a:r>
            <a:r>
              <a:rPr lang="zh-CN" altLang="en-US" dirty="0"/>
              <a:t>试点案例分享</a:t>
            </a:r>
            <a:r>
              <a:rPr lang="en-US" altLang="zh-CN" dirty="0"/>
              <a:t>-</a:t>
            </a:r>
            <a:r>
              <a:rPr lang="zh-CN" altLang="en-US" dirty="0"/>
              <a:t>上海，山东区域</a:t>
            </a:r>
          </a:p>
        </p:txBody>
      </p:sp>
      <p:graphicFrame>
        <p:nvGraphicFramePr>
          <p:cNvPr id="3" name="表格 2"/>
          <p:cNvGraphicFramePr>
            <a:graphicFrameLocks noGrp="1"/>
          </p:cNvGraphicFramePr>
          <p:nvPr/>
        </p:nvGraphicFramePr>
        <p:xfrm>
          <a:off x="270589" y="1040388"/>
          <a:ext cx="6748047" cy="2019940"/>
        </p:xfrm>
        <a:graphic>
          <a:graphicData uri="http://schemas.openxmlformats.org/drawingml/2006/table">
            <a:tbl>
              <a:tblPr/>
              <a:tblGrid>
                <a:gridCol w="1458568"/>
                <a:gridCol w="1229391"/>
                <a:gridCol w="857474"/>
                <a:gridCol w="812240"/>
                <a:gridCol w="1195187"/>
                <a:gridCol w="1195187"/>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r h="377559">
                <a:tc>
                  <a:txBody>
                    <a:bodyPr/>
                    <a:lstStyle/>
                    <a:p>
                      <a:pPr algn="l" fontAlgn="ctr" latinLnBrk="0"/>
                      <a:r>
                        <a:rPr lang="zh-CN" altLang="en-US" sz="1100" b="0" i="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r>
            </a:tbl>
          </a:graphicData>
        </a:graphic>
      </p:graphicFrame>
      <p:pic>
        <p:nvPicPr>
          <p:cNvPr id="8193" name="Picture 1" descr="https://ruijie.feishu.cn/space/api/box/stream/download/asynccode/?code=N2JiMDQ1ZjdiYWMyZjA3YmI4MThlOTVjMmQwMWQzMWZfNFhUOG8yc21yTk9aNDFVeU1pZkVTSEdaRHVZVE9CbTVfVG9rZW46S0o4cGJRVEE4b0ZQZWJ4bXE4dmNzdEpObnZoXzE3NTY0MzEyODk6MTc1NjQzNDg4OV9W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89" y="3202026"/>
            <a:ext cx="7212562" cy="28103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0" name="矩形 49"/>
          <p:cNvSpPr/>
          <p:nvPr/>
        </p:nvSpPr>
        <p:spPr>
          <a:xfrm>
            <a:off x="8224936" y="917568"/>
            <a:ext cx="3746241"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51"/>
          <p:cNvSpPr/>
          <p:nvPr/>
        </p:nvSpPr>
        <p:spPr>
          <a:xfrm rot="5400000">
            <a:off x="6332107" y="3253008"/>
            <a:ext cx="3043873" cy="24725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9197809" y="1047015"/>
            <a:ext cx="1800493" cy="369332"/>
          </a:xfrm>
          <a:prstGeom prst="rect">
            <a:avLst/>
          </a:prstGeom>
          <a:noFill/>
        </p:spPr>
        <p:txBody>
          <a:bodyPr wrap="none" rtlCol="0">
            <a:spAutoFit/>
          </a:bodyPr>
          <a:lstStyle/>
          <a:p>
            <a:r>
              <a:rPr lang="zh-CN" altLang="en-US" b="1" dirty="0"/>
              <a:t>经验分享与总结</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98803" y="355097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背景与意义</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zh-CN" altLang="en-US" dirty="0"/>
              <a:t>答疑与互动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的定义</a:t>
            </a:r>
          </a:p>
        </p:txBody>
      </p:sp>
      <p:graphicFrame>
        <p:nvGraphicFramePr>
          <p:cNvPr id="8" name="表格 7"/>
          <p:cNvGraphicFramePr>
            <a:graphicFrameLocks noGrp="1"/>
          </p:cNvGraphicFramePr>
          <p:nvPr/>
        </p:nvGraphicFramePr>
        <p:xfrm>
          <a:off x="923732" y="2584867"/>
          <a:ext cx="10067728" cy="4229849"/>
        </p:xfrm>
        <a:graphic>
          <a:graphicData uri="http://schemas.openxmlformats.org/drawingml/2006/table">
            <a:tbl>
              <a:tblPr/>
              <a:tblGrid>
                <a:gridCol w="836322"/>
                <a:gridCol w="1168702"/>
                <a:gridCol w="2584011"/>
                <a:gridCol w="5478693"/>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lnSpc>
                          <a:spcPct val="150000"/>
                        </a:lnSpc>
                      </a:pPr>
                      <a:r>
                        <a:rPr lang="zh-CN" altLang="en-US" sz="1400" b="0" i="0" dirty="0">
                          <a:solidFill>
                            <a:srgbClr val="000000"/>
                          </a:solidFill>
                          <a:effectLst/>
                        </a:rPr>
                        <a:t>以最终设备使用或者上线时间来倒推（</a:t>
                      </a:r>
                      <a:r>
                        <a:rPr lang="zh-CN" altLang="en-US" sz="1400" b="0" i="0" dirty="0">
                          <a:solidFill>
                            <a:srgbClr val="000000"/>
                          </a:solidFill>
                        </a:rPr>
                        <a:t>客户希望货到现场的时间，不限于我司，而是客户针对这个项目要求到货时间。备注：“要求到货时间”跟“是否备货”不再强关联）</a:t>
                      </a:r>
                      <a:r>
                        <a:rPr lang="zh-CN" altLang="en-US" sz="1400" b="0" i="0" dirty="0">
                          <a:solidFill>
                            <a:srgbClr val="000000"/>
                          </a:solidFill>
                          <a:effectLst/>
                        </a:rPr>
                        <a:t>）</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tr>
              <a:tr h="551336">
                <a:tc vMerge="1">
                  <a:txBody>
                    <a:bodyPr/>
                    <a:lstStyle/>
                    <a:p>
                      <a:endParaRPr lang="zh-CN"/>
                    </a:p>
                  </a:txBody>
                  <a:tcPr/>
                </a:tc>
                <a:tc vMerge="1">
                  <a:txBody>
                    <a:bodyPr/>
                    <a:lstStyle/>
                    <a:p>
                      <a:endParaRPr lang="zh-CN"/>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tr>
              <a:tr h="551336">
                <a:tc vMerge="1">
                  <a:txBody>
                    <a:bodyPr/>
                    <a:lstStyle/>
                    <a:p>
                      <a:endParaRPr lang="zh-CN"/>
                    </a:p>
                  </a:txBody>
                  <a:tcPr/>
                </a:tc>
                <a:tc vMerge="1">
                  <a:txBody>
                    <a:bodyPr/>
                    <a:lstStyle/>
                    <a:p>
                      <a:endParaRPr lang="zh-CN"/>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a:t>要求到货时间</a:t>
            </a:r>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a:t>正式上线使用</a:t>
            </a:r>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a:t>预计下单日期</a:t>
            </a:r>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a:t>预计开标日期</a:t>
            </a:r>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a:t>获取商机</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要求到货时间的估算方法和填写标准</a:t>
            </a:r>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a:t>正式上线使用</a:t>
            </a:r>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1</a:t>
            </a:r>
            <a:r>
              <a:rPr lang="zh-CN" altLang="en-US" sz="1400" b="1" dirty="0">
                <a:solidFill>
                  <a:schemeClr val="tx1"/>
                </a:solidFill>
              </a:rPr>
              <a:t>：</a:t>
            </a:r>
          </a:p>
          <a:p>
            <a:r>
              <a:rPr lang="zh-CN" altLang="en-US" sz="1400" dirty="0">
                <a:solidFill>
                  <a:schemeClr val="tx1"/>
                </a:solidFill>
              </a:rPr>
              <a:t>不需要大量施工布线的项目，从正式上线使用时间倒推</a:t>
            </a:r>
            <a:r>
              <a:rPr lang="en-US" altLang="zh-CN" sz="1400" dirty="0">
                <a:solidFill>
                  <a:schemeClr val="tx1"/>
                </a:solidFill>
              </a:rPr>
              <a:t>15</a:t>
            </a:r>
            <a:r>
              <a:rPr lang="zh-CN" altLang="en-US" sz="1400" dirty="0">
                <a:solidFill>
                  <a:schemeClr val="tx1"/>
                </a:solidFill>
              </a:rPr>
              <a:t>天</a:t>
            </a: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a:solidFill>
                  <a:srgbClr val="C00000"/>
                </a:solidFill>
              </a:rPr>
              <a:t>15</a:t>
            </a:r>
            <a:r>
              <a:rPr lang="zh-CN" altLang="en-US" b="1" dirty="0">
                <a:solidFill>
                  <a:srgbClr val="C00000"/>
                </a:solidFill>
              </a:rPr>
              <a:t>天左右</a:t>
            </a: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a:solidFill>
                  <a:srgbClr val="C00000"/>
                </a:solidFill>
              </a:rPr>
              <a:t>30</a:t>
            </a:r>
            <a:r>
              <a:rPr lang="zh-CN" altLang="en-US" b="1" dirty="0">
                <a:solidFill>
                  <a:srgbClr val="C00000"/>
                </a:solidFill>
              </a:rPr>
              <a:t>天左右</a:t>
            </a: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2</a:t>
            </a:r>
            <a:r>
              <a:rPr lang="zh-CN" altLang="en-US" sz="1400" b="1" dirty="0">
                <a:solidFill>
                  <a:schemeClr val="tx1"/>
                </a:solidFill>
              </a:rPr>
              <a:t>：</a:t>
            </a: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填写标准</a:t>
            </a: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r>
              <a:rPr lang="zh-CN" altLang="en-US" sz="1200" dirty="0"/>
              <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a:t>要求到货时间</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预计下单时间的估算方法和填写标准</a:t>
            </a:r>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a:solidFill>
                  <a:srgbClr val="000000"/>
                </a:solidFill>
                <a:latin typeface="MonospacedNumber"/>
              </a:rPr>
              <a:t>一个订单里面如果涉及多款产品，每款产品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endParaRPr lang="en-US" altLang="zh-CN" sz="1600" b="1" dirty="0">
              <a:solidFill>
                <a:srgbClr val="000000"/>
              </a:solidFill>
              <a:latin typeface="MonospacedNumber"/>
            </a:endParaRPr>
          </a:p>
          <a:p>
            <a:pPr>
              <a:lnSpc>
                <a:spcPct val="150000"/>
              </a:lnSpc>
            </a:pPr>
            <a:endParaRPr lang="en-US" altLang="zh-CN" sz="1600" dirty="0"/>
          </a:p>
          <a:p>
            <a:pPr>
              <a:lnSpc>
                <a:spcPct val="150000"/>
              </a:lnSpc>
            </a:pPr>
            <a:r>
              <a:rPr lang="zh-CN" altLang="en-US" sz="1600" dirty="0"/>
              <a:t>跟据预计要货时间以及订单的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预计开标时间的估算方法和填写标准</a:t>
            </a:r>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针对“预计开标日期”以“正推法”和“倒推法”，重点以正推法作为指导。</a:t>
            </a:r>
            <a:endParaRPr lang="en-US" altLang="zh-CN" sz="1600" dirty="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a:effectLst/>
                <a:hlinkClick r:id="rId2" action="ppaction://hlinksldjump"/>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a:t>当前时间</a:t>
            </a:r>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a:t>客户采购时间点</a:t>
            </a:r>
            <a:r>
              <a:rPr lang="en-US" altLang="zh-CN" sz="1400" dirty="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a:t>客户采购时间点</a:t>
            </a:r>
            <a:r>
              <a:rPr lang="en-US" altLang="zh-CN" sz="1400" dirty="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当前时间</a:t>
            </a:r>
            <a:r>
              <a:rPr lang="en-US" altLang="zh-CN" sz="1600" b="1" dirty="0">
                <a:solidFill>
                  <a:schemeClr val="accent6"/>
                </a:solidFill>
              </a:rPr>
              <a:t>+ 【</a:t>
            </a:r>
            <a:r>
              <a:rPr lang="zh-CN" altLang="en-US" sz="1600" b="1" dirty="0">
                <a:solidFill>
                  <a:schemeClr val="accent6"/>
                </a:solidFill>
              </a:rPr>
              <a:t>客户采购周期（</a:t>
            </a:r>
            <a:r>
              <a:rPr lang="en-US" altLang="zh-CN" sz="1600" b="1" dirty="0">
                <a:solidFill>
                  <a:schemeClr val="accent6"/>
                </a:solidFill>
              </a:rPr>
              <a:t>1---n</a:t>
            </a:r>
            <a:r>
              <a:rPr lang="zh-CN" altLang="en-US" sz="1600" b="1" dirty="0">
                <a:solidFill>
                  <a:schemeClr val="accent6"/>
                </a:solidFill>
              </a:rPr>
              <a:t>）</a:t>
            </a:r>
            <a:r>
              <a:rPr lang="en-US" altLang="zh-CN" sz="1600" b="1" dirty="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a:t>采购周期</a:t>
            </a:r>
            <a:r>
              <a:rPr lang="en-US" altLang="zh-CN" sz="1400" dirty="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a:t>采购周期</a:t>
            </a:r>
            <a:r>
              <a:rPr lang="en-US" altLang="zh-CN" sz="1400" dirty="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a:t>当前时间</a:t>
            </a:r>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a:t>预计下单日期</a:t>
            </a:r>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客户要货日期</a:t>
            </a:r>
            <a:r>
              <a:rPr lang="en-US" altLang="zh-CN" sz="1600" b="1" dirty="0">
                <a:solidFill>
                  <a:schemeClr val="accent6"/>
                </a:solidFill>
              </a:rPr>
              <a:t> -【</a:t>
            </a:r>
            <a:r>
              <a:rPr lang="zh-CN" altLang="en-US" sz="1600" b="1" dirty="0">
                <a:solidFill>
                  <a:schemeClr val="accent6"/>
                </a:solidFill>
              </a:rPr>
              <a:t>关键活动耗时</a:t>
            </a:r>
            <a:r>
              <a:rPr lang="en-US" altLang="zh-CN" sz="1600" b="1" dirty="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a:t>合同签订及下单周期</a:t>
            </a:r>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a:t>项目复杂程度</a:t>
            </a:r>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a:t>中标公示</a:t>
            </a:r>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a:t>客户最晚要货日期</a:t>
            </a:r>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a:t>T</a:t>
            </a:r>
            <a:r>
              <a:rPr lang="zh-CN" altLang="en-US" dirty="0"/>
              <a:t>试点案例分享</a:t>
            </a:r>
            <a:r>
              <a:rPr lang="en-US" altLang="zh-CN" dirty="0"/>
              <a:t>-</a:t>
            </a:r>
            <a:r>
              <a:rPr lang="zh-CN" altLang="en-US" dirty="0"/>
              <a:t>上海，山东区域</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0" name="矩形 49"/>
          <p:cNvSpPr/>
          <p:nvPr/>
        </p:nvSpPr>
        <p:spPr>
          <a:xfrm>
            <a:off x="351453" y="920736"/>
            <a:ext cx="11066190"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p:cNvSpPr txBox="1"/>
          <p:nvPr/>
        </p:nvSpPr>
        <p:spPr>
          <a:xfrm>
            <a:off x="351453" y="942582"/>
            <a:ext cx="1800493" cy="369332"/>
          </a:xfrm>
          <a:prstGeom prst="rect">
            <a:avLst/>
          </a:prstGeom>
          <a:noFill/>
        </p:spPr>
        <p:txBody>
          <a:bodyPr wrap="none" rtlCol="0">
            <a:spAutoFit/>
          </a:bodyPr>
          <a:lstStyle/>
          <a:p>
            <a:r>
              <a:rPr lang="zh-CN" altLang="en-US" b="1" dirty="0"/>
              <a:t>经验分享与总结</a:t>
            </a:r>
          </a:p>
        </p:txBody>
      </p:sp>
      <p:sp>
        <p:nvSpPr>
          <p:cNvPr id="8" name="矩形 7"/>
          <p:cNvSpPr/>
          <p:nvPr/>
        </p:nvSpPr>
        <p:spPr>
          <a:xfrm>
            <a:off x="500532" y="1525898"/>
            <a:ext cx="10159229" cy="1346522"/>
          </a:xfrm>
          <a:prstGeom prst="rect">
            <a:avLst/>
          </a:prstGeom>
        </p:spPr>
        <p:txBody>
          <a:bodyPr wrap="square">
            <a:spAutoFit/>
          </a:bodyPr>
          <a:lstStyle/>
          <a:p>
            <a:pPr>
              <a:lnSpc>
                <a:spcPct val="150000"/>
              </a:lnSpc>
            </a:pPr>
            <a:r>
              <a:rPr lang="en-US" altLang="zh-CN" sz="1400" dirty="0"/>
              <a:t>1</a:t>
            </a:r>
            <a:r>
              <a:rPr lang="zh-CN" altLang="en-US" sz="1400" dirty="0"/>
              <a:t>、针对“</a:t>
            </a:r>
            <a:r>
              <a:rPr lang="en-US" altLang="zh-CN" sz="1400" dirty="0"/>
              <a:t>3T”</a:t>
            </a:r>
            <a:r>
              <a:rPr lang="zh-CN" altLang="en-US" sz="1400" dirty="0"/>
              <a:t>销售以及部辅导老师还是比较认可“正推法”或者“倒推法”；</a:t>
            </a:r>
          </a:p>
          <a:p>
            <a:pPr>
              <a:lnSpc>
                <a:spcPct val="150000"/>
              </a:lnSpc>
            </a:pPr>
            <a:r>
              <a:rPr lang="en-US" altLang="zh-CN" sz="1400" dirty="0"/>
              <a:t>2</a:t>
            </a:r>
            <a:r>
              <a:rPr lang="zh-CN" altLang="en-US" sz="1400" dirty="0"/>
              <a:t>、经验总结的过程中，销售建议针对“预计开标日期”建立监督跟进机制，除了自工序本省，需要通过流程和机制来督促；</a:t>
            </a:r>
          </a:p>
          <a:p>
            <a:pPr>
              <a:lnSpc>
                <a:spcPct val="150000"/>
              </a:lnSpc>
            </a:pPr>
            <a:r>
              <a:rPr lang="en-US" altLang="zh-CN" sz="1400" dirty="0"/>
              <a:t>3</a:t>
            </a:r>
            <a:r>
              <a:rPr lang="zh-CN" altLang="en-US" sz="1400" dirty="0"/>
              <a:t>、针对“要求到货时间”，尤其是一些无法在</a:t>
            </a:r>
            <a:r>
              <a:rPr lang="en-US" altLang="zh-CN" sz="1400" dirty="0"/>
              <a:t>3</a:t>
            </a:r>
            <a:r>
              <a:rPr lang="zh-CN" altLang="en-US" sz="1400" dirty="0"/>
              <a:t>个月之前备货项目，销售与供应链的计划要建立沟通通道，及时做预警，计划制造可以更进一步的深入一线，例如，预计下单日期</a:t>
            </a:r>
            <a:r>
              <a:rPr lang="en-US" altLang="zh-CN" sz="1400" dirty="0"/>
              <a:t>3</a:t>
            </a:r>
            <a:r>
              <a:rPr lang="zh-CN" altLang="en-US" sz="1400" dirty="0"/>
              <a:t>个月内的项目没有备货，应该触发供应链与一线的预警机制；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a:t>“</a:t>
            </a:r>
            <a:r>
              <a:rPr lang="zh-CN" altLang="en-US" dirty="0"/>
              <a:t>预计开标时间”</a:t>
            </a:r>
            <a:r>
              <a:rPr lang="en-US" altLang="zh-CN" dirty="0"/>
              <a:t>/“</a:t>
            </a:r>
            <a:r>
              <a:rPr lang="zh-CN" altLang="en-US" dirty="0"/>
              <a:t>预计下单时间”监控指标</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p:nvPr>
            <p:custDataLst>
              <p:tags r:id="rId1"/>
            </p:custDataLst>
          </p:nvPr>
        </p:nvGraphicFramePr>
        <p:xfrm>
          <a:off x="618384" y="915984"/>
          <a:ext cx="10972253" cy="4949351"/>
        </p:xfrm>
        <a:graphic>
          <a:graphicData uri="http://schemas.openxmlformats.org/drawingml/2006/table">
            <a:tbl>
              <a:tblPr/>
              <a:tblGrid>
                <a:gridCol w="295844"/>
                <a:gridCol w="531869"/>
                <a:gridCol w="1698040"/>
                <a:gridCol w="2565703"/>
                <a:gridCol w="2106992"/>
                <a:gridCol w="1708746"/>
                <a:gridCol w="545524"/>
                <a:gridCol w="1519535"/>
              </a:tblGrid>
              <a:tr h="494935">
                <a:tc>
                  <a:txBody>
                    <a:bodyPr/>
                    <a:lstStyle/>
                    <a:p>
                      <a:pPr algn="ctr" fontAlgn="ctr" latinLnBrk="0">
                        <a:lnSpc>
                          <a:spcPct val="150000"/>
                        </a:lnSpc>
                      </a:pPr>
                      <a:r>
                        <a:rPr lang="en-US" altLang="zh-CN" sz="1000" b="1" i="0" dirty="0">
                          <a:solidFill>
                            <a:srgbClr val="000000"/>
                          </a:solidFill>
                          <a:latin typeface="微软雅黑" panose="020B0503020204020204" pitchFamily="34" charset="-122"/>
                          <a:ea typeface="微软雅黑" panose="020B0503020204020204" pitchFamily="34" charset="-122"/>
                        </a:rPr>
                        <a:t>NO.</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dirty="0">
                          <a:solidFill>
                            <a:srgbClr val="000000"/>
                          </a:solidFill>
                          <a:latin typeface="微软雅黑" panose="020B0503020204020204" pitchFamily="34" charset="-122"/>
                          <a:ea typeface="微软雅黑" panose="020B0503020204020204" pitchFamily="34" charset="-122"/>
                        </a:rPr>
                        <a:t>周期分类</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dirty="0">
                          <a:solidFill>
                            <a:srgbClr val="000000"/>
                          </a:solidFill>
                          <a:latin typeface="微软雅黑" panose="020B0503020204020204" pitchFamily="34" charset="-122"/>
                          <a:ea typeface="微软雅黑" panose="020B0503020204020204" pitchFamily="34" charset="-122"/>
                        </a:rPr>
                        <a:t>重要数据质量衡量指标</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dirty="0">
                          <a:solidFill>
                            <a:srgbClr val="000000"/>
                          </a:solidFill>
                          <a:latin typeface="微软雅黑" panose="020B0503020204020204" pitchFamily="34" charset="-122"/>
                          <a:ea typeface="微软雅黑" panose="020B0503020204020204" pitchFamily="34" charset="-122"/>
                        </a:rPr>
                        <a:t>指标计算公式</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取值说明</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关键动作</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目标值</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c>
                  <a:txBody>
                    <a:bodyPr/>
                    <a:lstStyle/>
                    <a:p>
                      <a:pPr algn="ctr" fontAlgn="ctr" latinLnBrk="0">
                        <a:lnSpc>
                          <a:spcPct val="150000"/>
                        </a:lnSpc>
                      </a:pPr>
                      <a:r>
                        <a:rPr lang="zh-CN" altLang="en-US" sz="1000" b="1" i="0">
                          <a:solidFill>
                            <a:srgbClr val="000000"/>
                          </a:solidFill>
                          <a:latin typeface="微软雅黑" panose="020B0503020204020204" pitchFamily="34" charset="-122"/>
                          <a:ea typeface="微软雅黑" panose="020B0503020204020204" pitchFamily="34" charset="-122"/>
                        </a:rPr>
                        <a:t>备注</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FCE4D6"/>
                    </a:solidFill>
                  </a:tcPr>
                </a:tc>
              </a:tr>
              <a:tr h="1732273">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1</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月度</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月度开标准确率</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月开标准确率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当月实际开标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的个数（中标、丢标）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月初取值当月预计开标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万</a:t>
                      </a:r>
                      <a:r>
                        <a:rPr lang="en-US" altLang="zh-CN"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的总个数</a:t>
                      </a:r>
                      <a:br>
                        <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br>
                      <a:endParaRPr lang="zh-CN" altLang="en-US" sz="1000" b="0" i="0" dirty="0">
                        <a:solidFill>
                          <a:srgbClr val="1F232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、总的漏斗内金额</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每个月最后一天</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日取的月度开标项目明细合计为准，当月新增的项目不在初用值范围内；</a:t>
                      </a:r>
                      <a:b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、时间维度：以系统里面 预计开标日期</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每个月</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日调整好后一个月系统系统里面开标项目的关键字段：预计下单时间，预计开标时间，金额</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60%</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部门结果看金额，过程管理看</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30w+</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个数</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484805">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2</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季度</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滚动</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个季度漏斗抖动率（漏斗真实性）</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季度漏斗抖动率</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（季度底取消</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调出</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后延</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超期未调金额）</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（季度初取值漏斗内总金额）</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endPar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、总漏斗内金额</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每个季度最后一个月</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日取的项目明细合计为准，季度新增的项目不在初用值范围内；</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、时间维度：以系统里面 预计下单日期</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每个月</a:t>
                      </a:r>
                      <a:r>
                        <a:rPr lang="en-US" altLang="zh-CN" sz="1000" b="0" i="0" dirty="0">
                          <a:latin typeface="微软雅黑" panose="020B0503020204020204" pitchFamily="34" charset="-122"/>
                          <a:ea typeface="微软雅黑" panose="020B0503020204020204" pitchFamily="34" charset="-122"/>
                          <a:cs typeface="微软雅黑" panose="020B0503020204020204" pitchFamily="34" charset="-122"/>
                        </a:rPr>
                        <a:t>18</a:t>
                      </a:r>
                      <a:r>
                        <a:rPr lang="zh-CN" altLang="en-US" sz="1000" b="0" i="0" dirty="0">
                          <a:latin typeface="微软雅黑" panose="020B0503020204020204" pitchFamily="34" charset="-122"/>
                          <a:ea typeface="微软雅黑" panose="020B0503020204020204" pitchFamily="34" charset="-122"/>
                          <a:cs typeface="微软雅黑" panose="020B0503020204020204" pitchFamily="34" charset="-122"/>
                        </a:rPr>
                        <a:t>日调整好后两个季度系统里面下单项目的关键字段：预计下单时间，预计开标时间，金额</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en-US" altLang="zh-CN" sz="1000" b="0" i="0" dirty="0">
                          <a:solidFill>
                            <a:srgbClr val="000000"/>
                          </a:solidFill>
                          <a:latin typeface="微软雅黑" panose="020B0503020204020204" pitchFamily="34" charset="-122"/>
                          <a:ea typeface="微软雅黑" panose="020B0503020204020204" pitchFamily="34" charset="-122"/>
                        </a:rPr>
                        <a:t>30%</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近三个季度，【季度漏斗抖动率】平均为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58%</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24</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Q4</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61%</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Q1</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46%</a:t>
                      </a:r>
                      <a:b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Q2</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59%</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237338">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3</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月度</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rPr>
                        <a:t>进漏斗时预计下单时间偏差率</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偏差</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｜进漏斗时下单时间</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实际下单时间｜</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有质量为：偏差</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≤60</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天</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、取值范围：所有下单的</a:t>
                      </a: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30w+</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特价项目</a:t>
                      </a:r>
                      <a:b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、周期：每月取值</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zh-CN" altLang="en-US" sz="1000" b="0" i="0">
                          <a:latin typeface="微软雅黑" panose="020B0503020204020204" pitchFamily="34" charset="-122"/>
                          <a:ea typeface="微软雅黑" panose="020B0503020204020204" pitchFamily="34" charset="-122"/>
                        </a:rPr>
                        <a:t>进漏斗前，按照指南完成信息确认，满足条件再进漏斗，填写关键字段：预计下单时间，预计开标时间</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ctr" fontAlgn="ctr" latinLnBrk="0">
                        <a:lnSpc>
                          <a:spcPct val="150000"/>
                        </a:lnSpc>
                      </a:pPr>
                      <a:r>
                        <a:rPr lang="en-US" altLang="zh-CN" sz="1000" b="0" i="0">
                          <a:solidFill>
                            <a:srgbClr val="000000"/>
                          </a:solidFill>
                          <a:latin typeface="微软雅黑" panose="020B0503020204020204" pitchFamily="34" charset="-122"/>
                          <a:ea typeface="微软雅黑" panose="020B0503020204020204" pitchFamily="34" charset="-122"/>
                        </a:rPr>
                        <a:t>62%</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algn="l" fontAlgn="ctr" latinLnBrk="0">
                        <a:lnSpc>
                          <a:spcPct val="150000"/>
                        </a:lnSpc>
                      </a:pP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25</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1-7</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月下单的</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30w+</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项目，偏差</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≤60</a:t>
                      </a:r>
                      <a:r>
                        <a:rPr lang="zh-CN" altLang="en-US"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天比例为</a:t>
                      </a:r>
                      <a:r>
                        <a:rPr lang="en-US" altLang="zh-CN" sz="1000" b="0" i="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51%</a:t>
                      </a:r>
                    </a:p>
                  </a:txBody>
                  <a:tcPr marL="0" marR="0" marT="0" marB="0"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zh-CN" altLang="en-US" dirty="0"/>
              <a:t>要求到货时间</a:t>
            </a:r>
            <a:r>
              <a:rPr lang="en-US" altLang="zh-CN" dirty="0"/>
              <a:t>-</a:t>
            </a:r>
            <a:r>
              <a:rPr lang="zh-CN" altLang="en-US" dirty="0"/>
              <a:t>要素整理表（良品）</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356716" y="917568"/>
            <a:ext cx="6099348" cy="824200"/>
          </a:xfrm>
          <a:prstGeom prst="rect">
            <a:avLst/>
          </a:prstGeom>
          <a:noFill/>
        </p:spPr>
        <p:txBody>
          <a:bodyPr wrap="square">
            <a:spAutoFit/>
          </a:bodyPr>
          <a:lstStyle/>
          <a:p>
            <a:pPr algn="l">
              <a:lnSpc>
                <a:spcPct val="150000"/>
              </a:lnSpc>
              <a:buNone/>
            </a:pP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业务名称：提升要货时间准确性</a:t>
            </a:r>
            <a:r>
              <a:rPr lang="en-US" altLang="zh-CN" sz="1100" b="1" i="0" u="none" strike="noStrike" dirty="0">
                <a:solidFill>
                  <a:srgbClr val="000000"/>
                </a:solidFill>
                <a:effectLst/>
                <a:latin typeface="+mj-ea"/>
                <a:ea typeface="+mj-ea"/>
              </a:rPr>
              <a:t>》</a:t>
            </a:r>
            <a:endParaRPr lang="zh-CN" altLang="en-US" sz="1100" b="0" i="0" u="none" strike="noStrike" dirty="0">
              <a:solidFill>
                <a:srgbClr val="000000"/>
              </a:solidFill>
              <a:effectLst/>
              <a:latin typeface="+mj-ea"/>
              <a:ea typeface="+mj-ea"/>
            </a:endParaRPr>
          </a:p>
          <a:p>
            <a:pPr algn="l">
              <a:lnSpc>
                <a:spcPct val="150000"/>
              </a:lnSpc>
              <a:buNone/>
            </a:pPr>
            <a:r>
              <a:rPr lang="zh-CN" altLang="en-US" sz="1100" b="1" i="0" u="none" strike="noStrike" dirty="0">
                <a:solidFill>
                  <a:srgbClr val="000000"/>
                </a:solidFill>
                <a:effectLst/>
                <a:latin typeface="+mj-ea"/>
                <a:ea typeface="+mj-ea"/>
              </a:rPr>
              <a:t>目的：进漏斗的时候把要货时间定准</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随着商机推进去勾选备货</a:t>
            </a:r>
            <a:endParaRPr lang="zh-CN" altLang="en-US" sz="1100" b="0" i="0" u="none" strike="noStrike" dirty="0">
              <a:solidFill>
                <a:srgbClr val="000000"/>
              </a:solidFill>
              <a:effectLst/>
              <a:latin typeface="+mj-ea"/>
              <a:ea typeface="+mj-ea"/>
            </a:endParaRPr>
          </a:p>
          <a:p>
            <a:pPr algn="l">
              <a:lnSpc>
                <a:spcPct val="150000"/>
              </a:lnSpc>
              <a:buNone/>
            </a:pPr>
            <a:r>
              <a:rPr lang="zh-CN" altLang="en-US" sz="1100" b="1" i="0" u="none" strike="noStrike" dirty="0">
                <a:solidFill>
                  <a:srgbClr val="000000"/>
                </a:solidFill>
                <a:effectLst/>
                <a:latin typeface="+mj-ea"/>
                <a:ea typeface="+mj-ea"/>
              </a:rPr>
              <a:t>项目发生</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进漏斗</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关键活动</a:t>
            </a:r>
            <a:endParaRPr lang="zh-CN" altLang="en-US" sz="1100" b="0" i="0" u="none" strike="noStrike" dirty="0">
              <a:solidFill>
                <a:srgbClr val="000000"/>
              </a:solidFill>
              <a:effectLst/>
              <a:latin typeface="+mj-ea"/>
              <a:ea typeface="+mj-ea"/>
            </a:endParaRPr>
          </a:p>
        </p:txBody>
      </p:sp>
      <p:graphicFrame>
        <p:nvGraphicFramePr>
          <p:cNvPr id="11" name="表格 10"/>
          <p:cNvGraphicFramePr>
            <a:graphicFrameLocks noGrp="1"/>
          </p:cNvGraphicFramePr>
          <p:nvPr/>
        </p:nvGraphicFramePr>
        <p:xfrm>
          <a:off x="356716" y="1854123"/>
          <a:ext cx="11409906" cy="4817110"/>
        </p:xfrm>
        <a:graphic>
          <a:graphicData uri="http://schemas.openxmlformats.org/drawingml/2006/table">
            <a:tbl>
              <a:tblPr/>
              <a:tblGrid>
                <a:gridCol w="346655"/>
                <a:gridCol w="346655"/>
                <a:gridCol w="346655"/>
                <a:gridCol w="346655"/>
                <a:gridCol w="346655"/>
                <a:gridCol w="346655"/>
                <a:gridCol w="346655"/>
                <a:gridCol w="1076282"/>
                <a:gridCol w="795656"/>
                <a:gridCol w="1132407"/>
                <a:gridCol w="1201738"/>
                <a:gridCol w="808863"/>
                <a:gridCol w="1082884"/>
                <a:gridCol w="346655"/>
                <a:gridCol w="346655"/>
                <a:gridCol w="346655"/>
                <a:gridCol w="346655"/>
                <a:gridCol w="1498871"/>
              </a:tblGrid>
              <a:tr h="0">
                <a:tc rowSpan="2" gridSpan="4">
                  <a:txBody>
                    <a:bodyPr/>
                    <a:lstStyle/>
                    <a:p>
                      <a:pPr algn="ctr" fontAlgn="ctr">
                        <a:buNone/>
                      </a:pPr>
                      <a:r>
                        <a:rPr lang="zh-CN" altLang="en-US" sz="500" b="1" i="0" dirty="0">
                          <a:solidFill>
                            <a:srgbClr val="000000"/>
                          </a:solidFill>
                          <a:effectLst/>
                          <a:latin typeface="+mn-ea"/>
                          <a:ea typeface="+mn-ea"/>
                        </a:rPr>
                        <a:t>任务要素</a:t>
                      </a:r>
                    </a:p>
                  </a:txBody>
                  <a:tcPr marL="29210" marR="29210" marT="14605" marB="14605" anchor="ctr">
                    <a:lnL w="6350" cap="flat" cmpd="sng" algn="ctr">
                      <a:solidFill>
                        <a:srgbClr val="00000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99CCFF"/>
                    </a:solidFill>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gridSpan="9">
                  <a:txBody>
                    <a:bodyPr/>
                    <a:lstStyle/>
                    <a:p>
                      <a:pPr algn="ctr" fontAlgn="ctr">
                        <a:buNone/>
                      </a:pPr>
                      <a:r>
                        <a:rPr lang="zh-CN" altLang="en-US" sz="500" b="1" i="0">
                          <a:solidFill>
                            <a:srgbClr val="000000"/>
                          </a:solidFill>
                          <a:effectLst/>
                          <a:latin typeface="+mn-ea"/>
                          <a:ea typeface="+mn-ea"/>
                        </a:rPr>
                        <a:t>良品条件</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ctr">
                        <a:buNone/>
                      </a:pPr>
                      <a:r>
                        <a:rPr lang="zh-CN" altLang="en-US" sz="500" b="1" i="0">
                          <a:solidFill>
                            <a:srgbClr val="000000"/>
                          </a:solidFill>
                          <a:effectLst/>
                          <a:latin typeface="+mn-ea"/>
                          <a:ea typeface="+mn-ea"/>
                        </a:rPr>
                        <a:t>工作输出</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0">
                <a:tc gridSpan="4"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gridSpan="5">
                  <a:txBody>
                    <a:bodyPr/>
                    <a:lstStyle/>
                    <a:p>
                      <a:pPr algn="ctr" fontAlgn="ctr">
                        <a:buNone/>
                      </a:pPr>
                      <a:r>
                        <a:rPr lang="zh-CN" altLang="en-US" sz="500" b="1" i="0">
                          <a:solidFill>
                            <a:srgbClr val="000000"/>
                          </a:solidFill>
                          <a:effectLst/>
                          <a:latin typeface="+mn-ea"/>
                          <a:ea typeface="+mn-ea"/>
                        </a:rPr>
                        <a:t>工作输入</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rowSpan="3">
                  <a:txBody>
                    <a:bodyPr/>
                    <a:lstStyle/>
                    <a:p>
                      <a:pPr algn="ctr" fontAlgn="ctr">
                        <a:buNone/>
                      </a:pPr>
                      <a:r>
                        <a:rPr lang="zh-CN" altLang="en-US" sz="500" b="1" i="0">
                          <a:solidFill>
                            <a:srgbClr val="000000"/>
                          </a:solidFill>
                          <a:effectLst/>
                          <a:latin typeface="+mn-ea"/>
                          <a:ea typeface="+mn-ea"/>
                        </a:rPr>
                        <a:t>工具</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方法</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能力</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注意要点・理由</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a:solidFill>
                            <a:srgbClr val="000000"/>
                          </a:solidFill>
                          <a:effectLst/>
                          <a:latin typeface="+mn-ea"/>
                          <a:ea typeface="+mn-ea"/>
                        </a:rPr>
                        <a:t>到哪里</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a:txBody>
                    <a:bodyPr/>
                    <a:lstStyle/>
                    <a:p>
                      <a:pPr algn="ctr" fontAlgn="ctr">
                        <a:buNone/>
                      </a:pPr>
                      <a:endParaRPr lang="zh-CN" altLang="en-US" sz="500" b="1" i="0">
                        <a:solidFill>
                          <a:srgbClr val="000000"/>
                        </a:solidFill>
                        <a:effectLst/>
                        <a:latin typeface="+mn-ea"/>
                        <a:ea typeface="+mn-ea"/>
                      </a:endParaRP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什么</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期限</a:t>
                      </a:r>
                      <a:br>
                        <a:rPr lang="zh-CN" altLang="en-US" sz="500" b="1" i="0">
                          <a:solidFill>
                            <a:srgbClr val="000000"/>
                          </a:solidFill>
                          <a:effectLst/>
                          <a:latin typeface="+mn-ea"/>
                          <a:ea typeface="+mn-ea"/>
                        </a:rPr>
                      </a:b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时机</a:t>
                      </a:r>
                      <a:r>
                        <a:rPr lang="en-US" altLang="zh-CN" sz="500" b="1" i="0">
                          <a:solidFill>
                            <a:srgbClr val="000000"/>
                          </a:solidFill>
                          <a:effectLst/>
                          <a:latin typeface="+mn-ea"/>
                          <a:ea typeface="+mn-ea"/>
                        </a:rPr>
                        <a:t>)</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把什么</a:t>
                      </a: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信息等）</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输出标准</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（搞明白客户要什么）</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r>
              <a:tr h="0">
                <a:tc rowSpan="2">
                  <a:txBody>
                    <a:bodyPr/>
                    <a:lstStyle/>
                    <a:p>
                      <a:pPr algn="ctr" fontAlgn="ctr">
                        <a:buNone/>
                      </a:pPr>
                      <a:r>
                        <a:rPr lang="zh-CN" altLang="en-US" sz="500" b="1" i="0">
                          <a:solidFill>
                            <a:srgbClr val="000000"/>
                          </a:solidFill>
                          <a:effectLst/>
                          <a:latin typeface="+mn-ea"/>
                          <a:ea typeface="+mn-ea"/>
                        </a:rPr>
                        <a:t>大分类</a:t>
                      </a:r>
                    </a:p>
                  </a:txBody>
                  <a:tcPr marL="29210" marR="29210" marT="14605" marB="14605" anchor="ctr">
                    <a:lnL w="6350" cap="flat" cmpd="sng" algn="ctr">
                      <a:solidFill>
                        <a:srgbClr val="00000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a:solidFill>
                            <a:srgbClr val="000000"/>
                          </a:solidFill>
                          <a:effectLst/>
                          <a:latin typeface="+mn-ea"/>
                          <a:ea typeface="+mn-ea"/>
                        </a:rPr>
                        <a:t>中分类</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en-GB" sz="500" b="1" i="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a:solidFill>
                            <a:srgbClr val="000000"/>
                          </a:solidFill>
                          <a:effectLst/>
                          <a:latin typeface="+mn-ea"/>
                          <a:ea typeface="+mn-ea"/>
                        </a:rPr>
                        <a:t>作业要素</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（小分类）</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dirty="0">
                          <a:solidFill>
                            <a:srgbClr val="000000"/>
                          </a:solidFill>
                          <a:effectLst/>
                          <a:latin typeface="+mn-ea"/>
                          <a:ea typeface="+mn-ea"/>
                        </a:rPr>
                        <a:t>什么时候</a:t>
                      </a:r>
                      <a:br>
                        <a:rPr lang="zh-CN" altLang="en-US" sz="500" b="1" i="0" dirty="0">
                          <a:solidFill>
                            <a:srgbClr val="000000"/>
                          </a:solidFill>
                          <a:effectLst/>
                          <a:latin typeface="+mn-ea"/>
                          <a:ea typeface="+mn-ea"/>
                        </a:rPr>
                      </a:br>
                      <a:r>
                        <a:rPr lang="en-US" altLang="zh-CN" sz="500" b="1" i="0" dirty="0">
                          <a:solidFill>
                            <a:srgbClr val="000000"/>
                          </a:solidFill>
                          <a:effectLst/>
                          <a:latin typeface="+mn-ea"/>
                          <a:ea typeface="+mn-ea"/>
                        </a:rPr>
                        <a:t>(</a:t>
                      </a:r>
                      <a:r>
                        <a:rPr lang="zh-CN" altLang="en-US" sz="500" b="1" i="0" dirty="0">
                          <a:solidFill>
                            <a:srgbClr val="000000"/>
                          </a:solidFill>
                          <a:effectLst/>
                          <a:latin typeface="+mn-ea"/>
                          <a:ea typeface="+mn-ea"/>
                        </a:rPr>
                        <a:t>时机</a:t>
                      </a:r>
                      <a:r>
                        <a:rPr lang="en-US" altLang="zh-CN" sz="500" b="1" i="0" dirty="0">
                          <a:solidFill>
                            <a:srgbClr val="000000"/>
                          </a:solidFill>
                          <a:effectLst/>
                          <a:latin typeface="+mn-ea"/>
                          <a:ea typeface="+mn-ea"/>
                        </a:rPr>
                        <a:t>)</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a:solidFill>
                            <a:srgbClr val="000000"/>
                          </a:solidFill>
                          <a:effectLst/>
                          <a:latin typeface="+mn-ea"/>
                          <a:ea typeface="+mn-ea"/>
                        </a:rPr>
                        <a:t>从哪里</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a:txBody>
                    <a:bodyPr/>
                    <a:lstStyle/>
                    <a:p>
                      <a:pPr algn="ctr" fontAlgn="ctr">
                        <a:buNone/>
                      </a:pPr>
                      <a:endParaRPr lang="zh-CN" altLang="en-US" sz="500" b="1" i="0">
                        <a:solidFill>
                          <a:srgbClr val="000000"/>
                        </a:solidFill>
                        <a:effectLst/>
                        <a:latin typeface="+mn-ea"/>
                        <a:ea typeface="+mn-ea"/>
                      </a:endParaRP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rowSpan="2">
                  <a:txBody>
                    <a:bodyPr/>
                    <a:lstStyle/>
                    <a:p>
                      <a:pPr algn="ctr" fontAlgn="ctr">
                        <a:buNone/>
                      </a:pPr>
                      <a:r>
                        <a:rPr lang="zh-CN" altLang="en-US" sz="500" b="1" i="0">
                          <a:solidFill>
                            <a:srgbClr val="000000"/>
                          </a:solidFill>
                          <a:effectLst/>
                          <a:latin typeface="+mn-ea"/>
                          <a:ea typeface="+mn-ea"/>
                        </a:rPr>
                        <a:t>把什么</a:t>
                      </a: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信息等）</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2">
                  <a:txBody>
                    <a:bodyPr/>
                    <a:lstStyle/>
                    <a:p>
                      <a:pPr algn="ctr" fontAlgn="ctr">
                        <a:buNone/>
                      </a:pPr>
                      <a:r>
                        <a:rPr lang="zh-CN" altLang="en-US" sz="500" b="1" i="0">
                          <a:solidFill>
                            <a:srgbClr val="000000"/>
                          </a:solidFill>
                          <a:effectLst/>
                          <a:latin typeface="+mn-ea"/>
                          <a:ea typeface="+mn-ea"/>
                        </a:rPr>
                        <a:t>输入标准</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rowSpan="2">
                  <a:txBody>
                    <a:bodyPr/>
                    <a:lstStyle/>
                    <a:p>
                      <a:pPr algn="ctr" fontAlgn="ctr">
                        <a:buNone/>
                      </a:pPr>
                      <a:r>
                        <a:rPr lang="zh-CN" altLang="en-US" sz="500" b="1" i="0">
                          <a:solidFill>
                            <a:srgbClr val="000000"/>
                          </a:solidFill>
                          <a:effectLst/>
                          <a:latin typeface="+mn-ea"/>
                          <a:ea typeface="+mn-ea"/>
                        </a:rPr>
                        <a:t>后工序</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2">
                  <a:txBody>
                    <a:bodyPr/>
                    <a:lstStyle/>
                    <a:p>
                      <a:pPr algn="ctr" fontAlgn="ctr">
                        <a:buNone/>
                      </a:pPr>
                      <a:r>
                        <a:rPr lang="zh-CN" altLang="en-US" sz="500" b="1" i="0">
                          <a:solidFill>
                            <a:srgbClr val="000000"/>
                          </a:solidFill>
                          <a:effectLst/>
                          <a:latin typeface="+mn-ea"/>
                          <a:ea typeface="+mn-ea"/>
                        </a:rPr>
                        <a:t>任务</a:t>
                      </a:r>
                      <a:br>
                        <a:rPr lang="zh-CN" altLang="en-US" sz="500" b="1" i="0">
                          <a:solidFill>
                            <a:srgbClr val="000000"/>
                          </a:solidFill>
                          <a:effectLst/>
                          <a:latin typeface="+mn-ea"/>
                          <a:ea typeface="+mn-ea"/>
                        </a:rPr>
                      </a:br>
                      <a:r>
                        <a:rPr lang="en-GB" sz="500" b="1" i="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vMerge="1">
                  <a:txBody>
                    <a:bodyPr/>
                    <a:lstStyle/>
                    <a:p>
                      <a:endParaRPr lang="zh-CN"/>
                    </a:p>
                  </a:txBody>
                  <a:tcPr/>
                </a:tc>
                <a:tc vMerge="1">
                  <a:txBody>
                    <a:bodyPr/>
                    <a:lstStyle/>
                    <a:p>
                      <a:endParaRPr lang="zh-CN"/>
                    </a:p>
                  </a:txBody>
                  <a:tcPr/>
                </a:tc>
                <a:tc vMerge="1">
                  <a:txBody>
                    <a:bodyPr/>
                    <a:lstStyle/>
                    <a:p>
                      <a:endParaRPr lang="zh-CN"/>
                    </a:p>
                  </a:txBody>
                  <a:tcPr/>
                </a:tc>
              </a:tr>
              <a:tr h="154589">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buNone/>
                      </a:pPr>
                      <a:r>
                        <a:rPr lang="zh-CN" altLang="en-US" sz="500" b="1" i="0">
                          <a:solidFill>
                            <a:srgbClr val="000000"/>
                          </a:solidFill>
                          <a:effectLst/>
                          <a:latin typeface="+mn-ea"/>
                          <a:ea typeface="+mn-ea"/>
                        </a:rPr>
                        <a:t>前工序</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dirty="0">
                          <a:solidFill>
                            <a:srgbClr val="000000"/>
                          </a:solidFill>
                          <a:effectLst/>
                          <a:latin typeface="+mn-ea"/>
                          <a:ea typeface="+mn-ea"/>
                        </a:rPr>
                        <a:t>任务</a:t>
                      </a:r>
                      <a:br>
                        <a:rPr lang="zh-CN" altLang="en-US" sz="500" b="1" i="0" dirty="0">
                          <a:solidFill>
                            <a:srgbClr val="000000"/>
                          </a:solidFill>
                          <a:effectLst/>
                          <a:latin typeface="+mn-ea"/>
                          <a:ea typeface="+mn-ea"/>
                        </a:rPr>
                      </a:br>
                      <a:r>
                        <a:rPr lang="en-GB" sz="500" b="1" i="0" dirty="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r>
              <a:tr h="349317">
                <a:tc rowSpan="7">
                  <a:txBody>
                    <a:bodyPr/>
                    <a:lstStyle/>
                    <a:p>
                      <a:pPr algn="ctr" fontAlgn="ctr">
                        <a:buNone/>
                      </a:pPr>
                      <a:r>
                        <a:rPr lang="zh-CN" altLang="en-US" sz="500" b="0" i="0">
                          <a:solidFill>
                            <a:srgbClr val="000000"/>
                          </a:solidFill>
                          <a:effectLst/>
                          <a:latin typeface="+mn-ea"/>
                          <a:ea typeface="+mn-ea"/>
                        </a:rPr>
                        <a:t>备货时间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r>
                        <a:rPr lang="zh-CN" altLang="en-US" sz="500" b="0" i="0">
                          <a:solidFill>
                            <a:srgbClr val="1F2329"/>
                          </a:solidFill>
                          <a:effectLst/>
                          <a:latin typeface="+mn-ea"/>
                          <a:ea typeface="+mn-ea"/>
                        </a:rPr>
                        <a:t>获取项目计划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1F2329"/>
                          </a:solidFill>
                          <a:effectLst/>
                          <a:latin typeface="+mn-ea"/>
                          <a:ea typeface="+mn-ea"/>
                        </a:rPr>
                        <a:t>确认客户项目目标与计划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、新建总部大楼、新建产线，客户在进行新的园区、校区、大楼的建设，相关的信息</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、通过客户合作明确收益目标</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、把对客户业务的支撑说清楚（弱电预算金额、产品方案、决策链、在什么时间做什么事）</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、现阶段明确蓝图、后续</a:t>
                      </a:r>
                      <a:r>
                        <a:rPr lang="en-GB" sz="500" b="0" i="0" dirty="0">
                          <a:solidFill>
                            <a:srgbClr val="1F2329"/>
                          </a:solidFill>
                          <a:effectLst/>
                          <a:latin typeface="+mn-ea"/>
                          <a:ea typeface="+mn-ea"/>
                        </a:rPr>
                        <a:t>MANT</a:t>
                      </a:r>
                      <a:r>
                        <a:rPr lang="zh-CN" altLang="en-US" sz="500" b="0" i="0" dirty="0">
                          <a:solidFill>
                            <a:srgbClr val="1F2329"/>
                          </a:solidFill>
                          <a:effectLst/>
                          <a:latin typeface="+mn-ea"/>
                          <a:ea typeface="+mn-ea"/>
                        </a:rPr>
                        <a:t>再逐步细化</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a:t>
                      </a:r>
                      <a:r>
                        <a:rPr lang="en-US" altLang="zh-CN" sz="500" b="0" i="0" dirty="0">
                          <a:solidFill>
                            <a:srgbClr val="1F2329"/>
                          </a:solidFill>
                          <a:effectLst/>
                          <a:latin typeface="+mn-ea"/>
                          <a:ea typeface="+mn-ea"/>
                        </a:rPr>
                        <a:t>《</a:t>
                      </a:r>
                      <a:r>
                        <a:rPr lang="zh-CN" altLang="en-US" sz="500" b="0" i="0" dirty="0">
                          <a:solidFill>
                            <a:srgbClr val="1F2329"/>
                          </a:solidFill>
                          <a:effectLst/>
                          <a:latin typeface="+mn-ea"/>
                          <a:ea typeface="+mn-ea"/>
                        </a:rPr>
                        <a:t>锐捷兵法 </a:t>
                      </a:r>
                      <a:r>
                        <a:rPr lang="en-GB" sz="500" b="0" i="0" dirty="0">
                          <a:solidFill>
                            <a:srgbClr val="1F2329"/>
                          </a:solidFill>
                          <a:effectLst/>
                          <a:latin typeface="+mn-ea"/>
                          <a:ea typeface="+mn-ea"/>
                        </a:rPr>
                        <a:t>V2.0》</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1F2329"/>
                          </a:solidFill>
                          <a:effectLst/>
                          <a:latin typeface="+mn-ea"/>
                          <a:ea typeface="+mn-ea"/>
                        </a:rPr>
                        <a:t>1、MANT</a:t>
                      </a:r>
                      <a:r>
                        <a:rPr lang="zh-CN" altLang="en-US" sz="500" b="0" i="0">
                          <a:solidFill>
                            <a:srgbClr val="1F2329"/>
                          </a:solidFill>
                          <a:effectLst/>
                          <a:latin typeface="+mn-ea"/>
                          <a:ea typeface="+mn-ea"/>
                        </a:rPr>
                        <a:t>信息搜集方法</a:t>
                      </a:r>
                      <a:br>
                        <a:rPr lang="zh-CN" altLang="en-US" sz="500" b="0" i="0">
                          <a:solidFill>
                            <a:srgbClr val="1F2329"/>
                          </a:solidFill>
                          <a:effectLst/>
                          <a:latin typeface="+mn-ea"/>
                          <a:ea typeface="+mn-ea"/>
                        </a:rPr>
                      </a:br>
                      <a:r>
                        <a:rPr lang="en-US" altLang="zh-CN" sz="500" b="0" i="0">
                          <a:solidFill>
                            <a:srgbClr val="1F2329"/>
                          </a:solidFill>
                          <a:effectLst/>
                          <a:latin typeface="+mn-ea"/>
                          <a:ea typeface="+mn-ea"/>
                        </a:rPr>
                        <a:t>2</a:t>
                      </a:r>
                      <a:r>
                        <a:rPr lang="zh-CN" altLang="en-US" sz="500" b="0" i="0">
                          <a:solidFill>
                            <a:srgbClr val="1F2329"/>
                          </a:solidFill>
                          <a:effectLst/>
                          <a:latin typeface="+mn-ea"/>
                          <a:ea typeface="+mn-ea"/>
                        </a:rPr>
                        <a:t>、</a:t>
                      </a:r>
                      <a:r>
                        <a:rPr lang="en-US" altLang="zh-CN" sz="500" b="0" i="0">
                          <a:solidFill>
                            <a:srgbClr val="1F2329"/>
                          </a:solidFill>
                          <a:effectLst/>
                          <a:latin typeface="+mn-ea"/>
                          <a:ea typeface="+mn-ea"/>
                        </a:rPr>
                        <a:t>《</a:t>
                      </a:r>
                      <a:r>
                        <a:rPr lang="zh-CN" altLang="en-US" sz="500" b="0" i="0">
                          <a:solidFill>
                            <a:srgbClr val="1F2329"/>
                          </a:solidFill>
                          <a:effectLst/>
                          <a:latin typeface="+mn-ea"/>
                          <a:ea typeface="+mn-ea"/>
                        </a:rPr>
                        <a:t>客户计划</a:t>
                      </a:r>
                      <a:r>
                        <a:rPr lang="en-US" altLang="zh-CN" sz="500" b="0" i="0">
                          <a:solidFill>
                            <a:srgbClr val="1F2329"/>
                          </a:solidFill>
                          <a:effectLst/>
                          <a:latin typeface="+mn-ea"/>
                          <a:ea typeface="+mn-ea"/>
                        </a:rPr>
                        <a:t>》</a:t>
                      </a:r>
                      <a:r>
                        <a:rPr lang="zh-CN" altLang="en-US" sz="500" b="0" i="0">
                          <a:solidFill>
                            <a:srgbClr val="1F2329"/>
                          </a:solidFill>
                          <a:effectLst/>
                          <a:latin typeface="+mn-ea"/>
                          <a:ea typeface="+mn-ea"/>
                        </a:rPr>
                        <a:t>工具：用于分析客户业务及现状，辅助判断时间节点合理性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、信息梳理能力：能从客户多部门（信息部门、业务部门等）搜集并整合项目目标与计划信息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、项目计划的时间节点需与执行能力匹配，避免因计划过于激进或滞后影响备货时间预测；</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1F2329"/>
                          </a:solidFill>
                          <a:effectLst/>
                          <a:latin typeface="+mn-ea"/>
                          <a:ea typeface="+mn-ea"/>
                        </a:rPr>
                        <a:t>客户项目目标与计划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、项目目标明确具体：明确项目需解决的问题、客户期望达成的价值</a:t>
                      </a:r>
                      <a:br>
                        <a:rPr lang="zh-CN" altLang="en-US" sz="500" b="0" i="0">
                          <a:solidFill>
                            <a:srgbClr val="1F2329"/>
                          </a:solidFill>
                          <a:effectLst/>
                          <a:latin typeface="+mn-ea"/>
                          <a:ea typeface="+mn-ea"/>
                        </a:rPr>
                      </a:br>
                      <a:r>
                        <a:rPr lang="en-US" altLang="zh-CN" sz="500" b="0" i="0">
                          <a:solidFill>
                            <a:srgbClr val="1F2329"/>
                          </a:solidFill>
                          <a:effectLst/>
                          <a:latin typeface="+mn-ea"/>
                          <a:ea typeface="+mn-ea"/>
                        </a:rPr>
                        <a:t>2</a:t>
                      </a:r>
                      <a:r>
                        <a:rPr lang="zh-CN" altLang="en-US" sz="500" b="0" i="0">
                          <a:solidFill>
                            <a:srgbClr val="1F2329"/>
                          </a:solidFill>
                          <a:effectLst/>
                          <a:latin typeface="+mn-ea"/>
                          <a:ea typeface="+mn-ea"/>
                        </a:rPr>
                        <a:t>、项目计划完整：包含各阶段工作目标、时间节点、同各阶段进度匹配；</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r h="536451">
                <a:tc vMerge="1">
                  <a:txBody>
                    <a:bodyPr/>
                    <a:lstStyle/>
                    <a:p>
                      <a:endParaRPr lang="zh-CN"/>
                    </a:p>
                  </a:txBody>
                  <a:tcPr/>
                </a:tc>
                <a:tc rowSpan="4">
                  <a:txBody>
                    <a:bodyPr/>
                    <a:lstStyle/>
                    <a:p>
                      <a:pPr algn="ctr" fontAlgn="ctr">
                        <a:buNone/>
                      </a:pPr>
                      <a:r>
                        <a:rPr lang="zh-CN" altLang="en-US" sz="500" b="0" i="0">
                          <a:solidFill>
                            <a:srgbClr val="000000"/>
                          </a:solidFill>
                          <a:effectLst/>
                          <a:latin typeface="+mn-ea"/>
                          <a:ea typeface="+mn-ea"/>
                        </a:rPr>
                        <a:t>客户需求与项目稳定性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明确沟通角色，客户决策链与组织架构</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、重点客户信息（渠道、最终客户），以及谁是最核心的关键人物。</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、客户决策链信息，参与决策的内部角色：</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、客户组织结构，确定项目的主导部门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、识别重点客户关系，优势渠道与核心客户（如项目建设负责人）</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、明确客户职务，完成决策链显性与隐形分析</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、建立客户联系，摸清客户组织结构</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Authority” </a:t>
                      </a:r>
                      <a:r>
                        <a:rPr lang="zh-CN" altLang="en-US" sz="500" b="0" i="0">
                          <a:solidFill>
                            <a:srgbClr val="000000"/>
                          </a:solidFill>
                          <a:effectLst/>
                          <a:latin typeface="+mn-ea"/>
                          <a:ea typeface="+mn-ea"/>
                        </a:rPr>
                        <a:t>要素搜集决策链信息，确保 “哪些部门 </a:t>
                      </a:r>
                      <a:r>
                        <a:rPr lang="en-US" altLang="zh-CN" sz="500" b="0" i="0">
                          <a:solidFill>
                            <a:srgbClr val="000000"/>
                          </a:solidFill>
                          <a:effectLst/>
                          <a:latin typeface="+mn-ea"/>
                          <a:ea typeface="+mn-ea"/>
                        </a:rPr>
                        <a:t>/ </a:t>
                      </a:r>
                      <a:r>
                        <a:rPr lang="zh-CN" altLang="en-US" sz="500" b="0" i="0">
                          <a:solidFill>
                            <a:srgbClr val="000000"/>
                          </a:solidFill>
                          <a:effectLst/>
                          <a:latin typeface="+mn-ea"/>
                          <a:ea typeface="+mn-ea"/>
                        </a:rPr>
                        <a:t>人参与、角色是什么、关键人物是谁” 等核心信息齐备；</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、招标信息平台，获取招标接口人员信息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项目分析会模板</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及项目分析指导手册</a:t>
                      </a:r>
                      <a:r>
                        <a:rPr lang="en-US" altLang="zh-CN" sz="500" b="0" i="0">
                          <a:solidFill>
                            <a:srgbClr val="000000"/>
                          </a:solidFill>
                          <a:effectLst/>
                          <a:latin typeface="+mn-ea"/>
                          <a:ea typeface="+mn-ea"/>
                        </a:rPr>
                        <a:t>》</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、拜访客户：（关键决策者客户有效覆盖率，方案汇报</a:t>
                      </a:r>
                      <a:r>
                        <a:rPr lang="en-US" altLang="zh-CN" sz="500" b="0" i="0">
                          <a:solidFill>
                            <a:srgbClr val="000000"/>
                          </a:solidFill>
                          <a:effectLst/>
                          <a:latin typeface="+mn-ea"/>
                          <a:ea typeface="+mn-ea"/>
                        </a:rPr>
                        <a:t>/</a:t>
                      </a:r>
                      <a:r>
                        <a:rPr lang="en-GB" sz="500" b="0" i="0">
                          <a:solidFill>
                            <a:srgbClr val="000000"/>
                          </a:solidFill>
                          <a:effectLst/>
                          <a:latin typeface="+mn-ea"/>
                          <a:ea typeface="+mn-ea"/>
                        </a:rPr>
                        <a:t>POC</a:t>
                      </a:r>
                      <a:r>
                        <a:rPr lang="zh-CN" altLang="en-US" sz="500" b="0" i="0">
                          <a:solidFill>
                            <a:srgbClr val="000000"/>
                          </a:solidFill>
                          <a:effectLst/>
                          <a:latin typeface="+mn-ea"/>
                          <a:ea typeface="+mn-ea"/>
                        </a:rPr>
                        <a:t>测试</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总部参观，在</a:t>
                      </a:r>
                      <a:r>
                        <a:rPr lang="en-GB" sz="500" b="0" i="0">
                          <a:solidFill>
                            <a:srgbClr val="000000"/>
                          </a:solidFill>
                          <a:effectLst/>
                          <a:latin typeface="+mn-ea"/>
                          <a:ea typeface="+mn-ea"/>
                        </a:rPr>
                        <a:t>CRM</a:t>
                      </a:r>
                      <a:r>
                        <a:rPr lang="zh-CN" altLang="en-US" sz="500" b="0" i="0">
                          <a:solidFill>
                            <a:srgbClr val="000000"/>
                          </a:solidFill>
                          <a:effectLst/>
                          <a:latin typeface="+mn-ea"/>
                          <a:ea typeface="+mn-ea"/>
                        </a:rPr>
                        <a:t>上记录留痕）</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、多点验证：信息需经客户多部门（如信息部、采购部）、多角色交叉验证，避免依赖单一来源；</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、动态更新：在</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中定期复盘决策链变化（如人员变动、权力调整），并调整策略。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、决策链分析能力</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、信息搜集与多源验证能力：能从客户内部多部门（信息、采购、财务等）获取时间信息并交叉验证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、客户组织架构调整及决策链变化，及时同步供应链调整备货时间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、需全面纳入客户内部及外部所有影响决策的角色，不能仅聚焦于表面可见的职位。</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、需通过 “多点验证” 确保决策链信息的准确性，不能仅依赖单一渠道或角色的表述。</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收集历史项目数据，识别高风险客户和行业特征</a:t>
                      </a:r>
                      <a:br>
                        <a:rPr lang="zh-CN" altLang="en-US" sz="500" b="0" i="0">
                          <a:solidFill>
                            <a:srgbClr val="000000"/>
                          </a:solidFill>
                          <a:effectLst/>
                          <a:latin typeface="+mn-ea"/>
                          <a:ea typeface="+mn-ea"/>
                        </a:rPr>
                      </a:b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关键客户沟通角色，决策者及决策链</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、关键决策者及决策链的 “全面性” 标准：需明确各角色在决策链中的位置（如审批环节、建设环节）及相互关系（如关系圈、历史合作偏好），沟通对象需要到拍板者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决策者，如果是渠道至少联合拜访到位，尤其是大项目；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、关键决策者及决策链的 “精准性” 标准：</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）权力明确：明确谁是最终拍板者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决策者（如客户高层）</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）影响力评估：判断各角色对决策的实际影响程度（如某技术权威虽非领导，但能左右方案走向），交叉验证；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r h="349317">
                <a:tc vMerge="1">
                  <a:txBody>
                    <a:bodyPr/>
                    <a:lstStyle/>
                    <a:p>
                      <a:endParaRPr lang="zh-CN"/>
                    </a:p>
                  </a:txBody>
                  <a:tcPr/>
                </a:tc>
                <a:tc vMerge="1">
                  <a:txBody>
                    <a:bodyPr/>
                    <a:lstStyle/>
                    <a:p>
                      <a:endParaRPr lang="zh-CN"/>
                    </a:p>
                  </a:txBody>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明确项目时间节点与施工进度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、客户业务规划书、施工进度表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、明确可研批复时间、竣工、交付、总包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分包招标时间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、明确当前项目状态、施工进度、所处阶段</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、信息获取：招投标信息公示平台</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政府官方网站</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单位公众号获取信息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、信息确认：</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漏斗质量管理标准</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，结合项目整体进度评估时间节点可行性，支撑时间预测</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、现地现物：去到客户现场、施工现场确认项目进度</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、客户信息交叉验证：通过与客户信息部门、决策者多角色沟通，直接获取时间规划</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、往年同类项目时间点对比验证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、熟悉招标流程</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、销售预判能力</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、多方验证确认客户的业务规划、施工进度（装修）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、实地确认项目环境（如楼宇封顶、内装进度），评估是否具备进场条件</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弱电项目：要和客户、弱电商共同达成一致的时间点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项目时间节点信息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、夯实</a:t>
                      </a:r>
                      <a:r>
                        <a:rPr lang="en-GB" sz="500" b="0" i="0">
                          <a:solidFill>
                            <a:srgbClr val="000000"/>
                          </a:solidFill>
                          <a:effectLst/>
                          <a:latin typeface="+mn-ea"/>
                          <a:ea typeface="+mn-ea"/>
                        </a:rPr>
                        <a:t>CRM</a:t>
                      </a:r>
                      <a:r>
                        <a:rPr lang="zh-CN" altLang="en-US" sz="500" b="0" i="0">
                          <a:solidFill>
                            <a:srgbClr val="000000"/>
                          </a:solidFill>
                          <a:effectLst/>
                          <a:latin typeface="+mn-ea"/>
                          <a:ea typeface="+mn-ea"/>
                        </a:rPr>
                        <a:t>中的</a:t>
                      </a:r>
                      <a:r>
                        <a:rPr lang="en-US" altLang="zh-CN" sz="500" b="0" i="0">
                          <a:solidFill>
                            <a:srgbClr val="000000"/>
                          </a:solidFill>
                          <a:effectLst/>
                          <a:latin typeface="+mn-ea"/>
                          <a:ea typeface="+mn-ea"/>
                        </a:rPr>
                        <a:t>3</a:t>
                      </a:r>
                      <a:r>
                        <a:rPr lang="en-GB" sz="500" b="0" i="0">
                          <a:solidFill>
                            <a:srgbClr val="000000"/>
                          </a:solidFill>
                          <a:effectLst/>
                          <a:latin typeface="+mn-ea"/>
                          <a:ea typeface="+mn-ea"/>
                        </a:rPr>
                        <a:t>T</a:t>
                      </a:r>
                      <a:r>
                        <a:rPr lang="zh-CN" altLang="en-US" sz="500" b="0" i="0">
                          <a:solidFill>
                            <a:srgbClr val="000000"/>
                          </a:solidFill>
                          <a:effectLst/>
                          <a:latin typeface="+mn-ea"/>
                          <a:ea typeface="+mn-ea"/>
                        </a:rPr>
                        <a:t>信息，项目信息变化（涉及道备货实时同步，新建项目长周期项目按月为单位更新），必须沟通到拍板者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r h="286938">
                <a:tc vMerge="1">
                  <a:txBody>
                    <a:bodyPr/>
                    <a:lstStyle/>
                    <a:p>
                      <a:endParaRPr lang="zh-CN"/>
                    </a:p>
                  </a:txBody>
                  <a:tcPr/>
                </a:tc>
                <a:tc vMerge="1">
                  <a:txBody>
                    <a:bodyPr/>
                    <a:lstStyle/>
                    <a:p>
                      <a:endParaRPr lang="zh-CN"/>
                    </a:p>
                  </a:txBody>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明确客户预算资金状态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、客户项目预算信息：资金到位证明、预算批复文件、付款计划等</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、项目预算资金通过审批且已到位</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、资金总额及细分分配：明确和我们项目相关的预算金额或者比例</a:t>
                      </a:r>
                      <a:br>
                        <a:rPr lang="zh-CN" altLang="en-US" sz="500" b="0" i="0">
                          <a:solidFill>
                            <a:srgbClr val="000000"/>
                          </a:solidFill>
                          <a:effectLst/>
                          <a:latin typeface="+mn-ea"/>
                          <a:ea typeface="+mn-ea"/>
                        </a:rPr>
                      </a:b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Money” </a:t>
                      </a:r>
                      <a:r>
                        <a:rPr lang="zh-CN" altLang="en-US" sz="500" b="0" i="0">
                          <a:solidFill>
                            <a:srgbClr val="000000"/>
                          </a:solidFill>
                          <a:effectLst/>
                          <a:latin typeface="+mn-ea"/>
                          <a:ea typeface="+mn-ea"/>
                        </a:rPr>
                        <a:t>为核心要素，确认资金状况及预算信息的基础工具</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、询问业主、设计院、优势集成商（相关干系人），搜集预算及资金信息，并交叉确认确保准确性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、信息搜集与验证能力：能从客户财务、采购等多部门获取资金信息，并通过多源交叉验证确保真实性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、避免依赖口头承诺，定期（如每月）与客户确认项目进度和资金状态（如投融资项目：垫资方资金明确）</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项目预算资金信息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、项目里面与我司项目内容部分的预算到位，且跟拍板者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决策者做过确认；</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、资金预算是动态调整的过程，至少拜访</a:t>
                      </a: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r h="411695">
                <a:tc vMerge="1">
                  <a:txBody>
                    <a:bodyPr/>
                    <a:lstStyle/>
                    <a:p>
                      <a:endParaRPr lang="zh-CN"/>
                    </a:p>
                  </a:txBody>
                  <a:tcPr/>
                </a:tc>
                <a:tc vMerge="1">
                  <a:txBody>
                    <a:bodyPr/>
                    <a:lstStyle/>
                    <a:p>
                      <a:endParaRPr lang="zh-CN"/>
                    </a:p>
                  </a:txBody>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明确招标流程与政策，并动态跟踪</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、招标公告、流标通知</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、行业政策文件</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、招标公告时间与实际供货的时间做准确预判（新建招标）</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、客户确定的采购方式（公开招标、邀请招标、竞争性谈判等）及对应政策规定的招标流程时限（如招标公示期、投标截止时间、评标周期等）</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Time” </a:t>
                      </a:r>
                      <a:r>
                        <a:rPr lang="zh-CN" altLang="en-US" sz="500" b="0" i="0">
                          <a:solidFill>
                            <a:srgbClr val="000000"/>
                          </a:solidFill>
                          <a:effectLst/>
                          <a:latin typeface="+mn-ea"/>
                          <a:ea typeface="+mn-ea"/>
                        </a:rPr>
                        <a:t>要素搜集招标相关时间节点（如招标投标时间、预计下单时间），作为追踪基础</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、判断客户行为（如是否启动招标、是否签订合同）分析当前招标流程阶段，辅助预测后续时间节点；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、切实客户接触拜访：定期拜访客户信息部门、采购部门，跟踪流程进度（如标书审批是否完成、招标公告是否发布）</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、跟踪招标机构发布的公开信息（如招标公告、公示结果），验证客户提供的流程节点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、熟悉招标流程的能力：能根据采购文件判断各环节耗时及政策要求，预判流程推进节奏。</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、招标流程及时跟踪，动态刷新</a:t>
                      </a:r>
                      <a:r>
                        <a:rPr lang="en-GB" sz="500" b="0" i="0">
                          <a:solidFill>
                            <a:srgbClr val="000000"/>
                          </a:solidFill>
                          <a:effectLst/>
                          <a:latin typeface="+mn-ea"/>
                          <a:ea typeface="+mn-ea"/>
                        </a:rPr>
                        <a:t>CRM</a:t>
                      </a:r>
                      <a:r>
                        <a:rPr lang="zh-CN" altLang="en-US" sz="500" b="0" i="0">
                          <a:solidFill>
                            <a:srgbClr val="000000"/>
                          </a:solidFill>
                          <a:effectLst/>
                          <a:latin typeface="+mn-ea"/>
                          <a:ea typeface="+mn-ea"/>
                        </a:rPr>
                        <a:t>状态</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、流标后</a:t>
                      </a:r>
                      <a:r>
                        <a:rPr lang="en-US" altLang="zh-CN" sz="500" b="0" i="0">
                          <a:solidFill>
                            <a:srgbClr val="000000"/>
                          </a:solidFill>
                          <a:effectLst/>
                          <a:latin typeface="+mn-ea"/>
                          <a:ea typeface="+mn-ea"/>
                        </a:rPr>
                        <a:t>24</a:t>
                      </a:r>
                      <a:r>
                        <a:rPr lang="zh-CN" altLang="en-US" sz="500" b="0" i="0">
                          <a:solidFill>
                            <a:srgbClr val="000000"/>
                          </a:solidFill>
                          <a:effectLst/>
                          <a:latin typeface="+mn-ea"/>
                          <a:ea typeface="+mn-ea"/>
                        </a:rPr>
                        <a:t>小时内确认重发标时间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、定期跟踪客户决策链变化（每两周？）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dirty="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dirty="0">
                          <a:solidFill>
                            <a:srgbClr val="1F2329"/>
                          </a:solidFill>
                          <a:effectLst/>
                          <a:latin typeface="+mn-ea"/>
                          <a:ea typeface="+mn-ea"/>
                        </a:rPr>
                        <a:t>开标时间信息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、时间节点明确且具体</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）需精确到具体日期或时间段而非模糊表述</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）需与客户沟通的招标书书写时间、投标截止时间等前置节点逻辑自洽</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a:t>
                      </a:r>
                      <a:r>
                        <a:rPr lang="zh-CN" altLang="en-US" sz="500" b="0" i="0" dirty="0">
                          <a:solidFill>
                            <a:srgbClr val="1F2329"/>
                          </a:solidFill>
                          <a:effectLst/>
                          <a:latin typeface="+mn-ea"/>
                          <a:ea typeface="+mn-ea"/>
                        </a:rPr>
                        <a:t>从要货时间倒推开标时间偏差不超过</a:t>
                      </a: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个月？合理？</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r h="411695">
                <a:tc vMerge="1">
                  <a:txBody>
                    <a:bodyPr/>
                    <a:lstStyle/>
                    <a:p>
                      <a:endParaRPr lang="zh-CN"/>
                    </a:p>
                  </a:txBody>
                  <a:tcPr/>
                </a:tc>
                <a:tc rowSpan="2">
                  <a:txBody>
                    <a:bodyPr/>
                    <a:lstStyle/>
                    <a:p>
                      <a:pPr algn="ctr" fontAlgn="ctr">
                        <a:buNone/>
                      </a:pPr>
                      <a:r>
                        <a:rPr lang="zh-CN" altLang="en-US" sz="500" b="0" i="0">
                          <a:solidFill>
                            <a:srgbClr val="000000"/>
                          </a:solidFill>
                          <a:effectLst/>
                          <a:latin typeface="+mn-ea"/>
                          <a:ea typeface="+mn-ea"/>
                        </a:rPr>
                        <a:t>前后端协同</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跟供应链协作沟通</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、项目订单信息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、供应链相关部门的备货周期、发货时效要求</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、订单信息准确（详细产品类型、数量、客户要求到货的时间）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系统：下单信息录入（如产品型号、数量、到货时间等），确保供应链部门准确接收需求；</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、看板：实时更新备货状态和风险预警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、与供应链部门提前沟通客户需求（如设备型号、数量、供货时间），明确备货与发货的时间节点；</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、备货异常沟通、大宗货物备货沟通、退市报备或者高风险货物备货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、信息同步能力：及时将客户需求、订单信息、时间要求同步至供应链部门，保障信息传递准确；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、风险预判能力：与供应链沟通，识别供应链环节可能出现的风险并制定对策</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、建立销售</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供应链月度协同会议，同步重点项目进展</a:t>
                      </a:r>
                      <a:br>
                        <a:rPr lang="zh-CN" altLang="en-US" sz="500" b="0" i="0">
                          <a:solidFill>
                            <a:srgbClr val="000000"/>
                          </a:solidFill>
                          <a:effectLst/>
                          <a:latin typeface="+mn-ea"/>
                          <a:ea typeface="+mn-ea"/>
                        </a:rPr>
                      </a:br>
                      <a:r>
                        <a:rPr lang="zh-CN" altLang="en-US" sz="500" b="0" i="0">
                          <a:solidFill>
                            <a:srgbClr val="000000"/>
                          </a:solidFill>
                          <a:effectLst/>
                          <a:latin typeface="+mn-ea"/>
                          <a:ea typeface="+mn-ea"/>
                        </a:rPr>
                        <a:t>区分不同类型的项目，可信度的评分办法不一样（弱电、点采、招投标等）</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、完善分类预测模型：市场计划部需按项目类型（政府</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企业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医疗</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教育）制定差异化备货指导标准</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项目订单信息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、订单信息准确：产品清单的准确率，设备型号、数量、到货时间等确认无误，影响因素以</a:t>
                      </a:r>
                      <a:r>
                        <a:rPr lang="en-GB" sz="500" b="0" i="0" dirty="0">
                          <a:solidFill>
                            <a:srgbClr val="000000"/>
                          </a:solidFill>
                          <a:effectLst/>
                          <a:latin typeface="+mn-ea"/>
                          <a:ea typeface="+mn-ea"/>
                        </a:rPr>
                        <a:t>N</a:t>
                      </a:r>
                      <a:r>
                        <a:rPr lang="zh-CN" altLang="en-US" sz="500" b="0" i="0" dirty="0">
                          <a:solidFill>
                            <a:srgbClr val="000000"/>
                          </a:solidFill>
                          <a:effectLst/>
                          <a:latin typeface="+mn-ea"/>
                          <a:ea typeface="+mn-ea"/>
                        </a:rPr>
                        <a:t>的为准；</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、明确项目可能性、发货具体时间节点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r h="474072">
                <a:tc vMerge="1">
                  <a:txBody>
                    <a:bodyPr/>
                    <a:lstStyle/>
                    <a:p>
                      <a:endParaRPr lang="zh-CN"/>
                    </a:p>
                  </a:txBody>
                  <a:tcPr/>
                </a:tc>
                <a:tc vMerge="1">
                  <a:txBody>
                    <a:bodyPr/>
                    <a:lstStyle/>
                    <a:p>
                      <a:endParaRPr lang="zh-CN"/>
                    </a:p>
                  </a:txBody>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动态追踪与预警调整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项目状态变更记录、风险报告</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、供应链给前端的反馈（如：库存芯片不同替换同类型产品、供应风险预警）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系统：订单信息变更录入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 </a:t>
                      </a:r>
                      <a:r>
                        <a:rPr lang="zh-CN" altLang="en-US" sz="500" b="0" i="0">
                          <a:solidFill>
                            <a:srgbClr val="000000"/>
                          </a:solidFill>
                          <a:effectLst/>
                          <a:latin typeface="+mn-ea"/>
                          <a:ea typeface="+mn-ea"/>
                        </a:rPr>
                        <a:t>定期复盘，统计共性原因</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 </a:t>
                      </a:r>
                      <a:r>
                        <a:rPr lang="zh-CN" altLang="en-US" sz="500" b="0" i="0">
                          <a:solidFill>
                            <a:srgbClr val="000000"/>
                          </a:solidFill>
                          <a:effectLst/>
                          <a:latin typeface="+mn-ea"/>
                          <a:ea typeface="+mn-ea"/>
                        </a:rPr>
                        <a:t>建立“项目风险库”</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、项目风险分析能力</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、客户反馈收集能力</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、避免“事后补录”：项目状态变更需</a:t>
                      </a:r>
                      <a:r>
                        <a:rPr lang="en-US" altLang="zh-CN" sz="500" b="0" i="0">
                          <a:solidFill>
                            <a:srgbClr val="000000"/>
                          </a:solidFill>
                          <a:effectLst/>
                          <a:latin typeface="+mn-ea"/>
                          <a:ea typeface="+mn-ea"/>
                        </a:rPr>
                        <a:t>24</a:t>
                      </a:r>
                      <a:r>
                        <a:rPr lang="zh-CN" altLang="en-US" sz="500" b="0" i="0">
                          <a:solidFill>
                            <a:srgbClr val="000000"/>
                          </a:solidFill>
                          <a:effectLst/>
                          <a:latin typeface="+mn-ea"/>
                          <a:ea typeface="+mn-ea"/>
                        </a:rPr>
                        <a:t>小时内更新至</a:t>
                      </a:r>
                      <a:r>
                        <a:rPr lang="en-GB" sz="500" b="0" i="0">
                          <a:solidFill>
                            <a:srgbClr val="000000"/>
                          </a:solidFill>
                          <a:effectLst/>
                          <a:latin typeface="+mn-ea"/>
                          <a:ea typeface="+mn-ea"/>
                        </a:rPr>
                        <a:t>CRM，</a:t>
                      </a:r>
                      <a:r>
                        <a:rPr lang="zh-CN" altLang="en-US" sz="500" b="0" i="0">
                          <a:solidFill>
                            <a:srgbClr val="000000"/>
                          </a:solidFill>
                          <a:effectLst/>
                          <a:latin typeface="+mn-ea"/>
                          <a:ea typeface="+mn-ea"/>
                        </a:rPr>
                        <a:t>防止无效备货；</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、关注趋势性风险：如“低空经济政策影响”、“信创、国产话化”，调整同类项目的备货策略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项目订单变化与风险信息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、配置器中设置备货周期，</a:t>
                      </a:r>
                      <a:r>
                        <a:rPr lang="en-GB" sz="500" b="0" i="0" dirty="0">
                          <a:solidFill>
                            <a:srgbClr val="000000"/>
                          </a:solidFill>
                          <a:effectLst/>
                          <a:latin typeface="+mn-ea"/>
                          <a:ea typeface="+mn-ea"/>
                        </a:rPr>
                        <a:t>SLA</a:t>
                      </a:r>
                      <a:r>
                        <a:rPr lang="zh-CN" altLang="en-US" sz="500" b="0" i="0" dirty="0">
                          <a:solidFill>
                            <a:srgbClr val="000000"/>
                          </a:solidFill>
                          <a:effectLst/>
                          <a:latin typeface="+mn-ea"/>
                          <a:ea typeface="+mn-ea"/>
                        </a:rPr>
                        <a:t>等信息，确保导出清单的相关备货信息及时传递到客户或者渠道；</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a:t>
                      </a:r>
                      <a:r>
                        <a:rPr lang="en-GB" sz="500" b="0" i="0" dirty="0">
                          <a:solidFill>
                            <a:srgbClr val="000000"/>
                          </a:solidFill>
                          <a:effectLst/>
                          <a:latin typeface="+mn-ea"/>
                          <a:ea typeface="+mn-ea"/>
                        </a:rPr>
                        <a:t>ECP</a:t>
                      </a:r>
                      <a:r>
                        <a:rPr lang="zh-CN" altLang="en-US" sz="500" b="0" i="0" dirty="0">
                          <a:solidFill>
                            <a:srgbClr val="000000"/>
                          </a:solidFill>
                          <a:effectLst/>
                          <a:latin typeface="+mn-ea"/>
                          <a:ea typeface="+mn-ea"/>
                        </a:rPr>
                        <a:t>电子流程系统</a:t>
                      </a:r>
                      <a:r>
                        <a:rPr lang="en-US" altLang="zh-CN" sz="500" b="0" i="0" dirty="0">
                          <a:solidFill>
                            <a:srgbClr val="000000"/>
                          </a:solidFill>
                          <a:effectLst/>
                          <a:latin typeface="+mn-ea"/>
                          <a:ea typeface="+mn-ea"/>
                        </a:rPr>
                        <a:t>\</a:t>
                      </a:r>
                      <a:r>
                        <a:rPr lang="en-GB" sz="500" b="0" i="0" dirty="0">
                          <a:solidFill>
                            <a:srgbClr val="000000"/>
                          </a:solidFill>
                          <a:effectLst/>
                          <a:latin typeface="+mn-ea"/>
                          <a:ea typeface="+mn-ea"/>
                        </a:rPr>
                        <a:t>CRM\</a:t>
                      </a:r>
                      <a:r>
                        <a:rPr lang="zh-CN" altLang="en-US" sz="500" b="0" i="0" dirty="0">
                          <a:solidFill>
                            <a:srgbClr val="000000"/>
                          </a:solidFill>
                          <a:effectLst/>
                          <a:latin typeface="+mn-ea"/>
                          <a:ea typeface="+mn-ea"/>
                        </a:rPr>
                        <a:t>飞书系统</a:t>
                      </a:r>
                      <a:r>
                        <a:rPr lang="en-US" altLang="zh-CN" sz="500" b="0" i="0" dirty="0">
                          <a:solidFill>
                            <a:srgbClr val="000000"/>
                          </a:solidFill>
                          <a:effectLst/>
                          <a:latin typeface="+mn-ea"/>
                          <a:ea typeface="+mn-ea"/>
                        </a:rPr>
                        <a:t>\</a:t>
                      </a:r>
                      <a:r>
                        <a:rPr lang="zh-CN" altLang="en-US" sz="500" b="0" i="0" dirty="0">
                          <a:solidFill>
                            <a:srgbClr val="000000"/>
                          </a:solidFill>
                          <a:effectLst/>
                          <a:latin typeface="+mn-ea"/>
                          <a:ea typeface="+mn-ea"/>
                        </a:rPr>
                        <a:t>邮件上，进行高风险货物提示（拿不到芯片、供应紧张、交期长），在投标前进行置换降低风险；</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、按照目前供应链建议</a:t>
                      </a: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个月的备货周期，必须针对</a:t>
                      </a: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个月内没有备货项目做异常拉通沟通。</a:t>
                      </a:r>
                      <a:br>
                        <a:rPr lang="zh-CN" altLang="en-US" sz="500" b="0" i="0" dirty="0">
                          <a:solidFill>
                            <a:srgbClr val="000000"/>
                          </a:solidFill>
                          <a:effectLst/>
                          <a:latin typeface="+mn-ea"/>
                          <a:ea typeface="+mn-ea"/>
                        </a:rPr>
                      </a:br>
                      <a:endParaRPr lang="zh-CN" altLang="en-US" sz="500" b="0" i="0" dirty="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11144416" cy="495935"/>
          </a:xfrm>
        </p:spPr>
        <p:txBody>
          <a:bodyPr/>
          <a:lstStyle/>
          <a:p>
            <a:r>
              <a:rPr lang="zh-CN" altLang="en-US" dirty="0"/>
              <a:t>销售漏斗业务机会“</a:t>
            </a:r>
            <a:r>
              <a:rPr lang="en-US" altLang="zh-CN" dirty="0"/>
              <a:t>3</a:t>
            </a:r>
            <a:r>
              <a:rPr lang="en-GB" altLang="zh-CN" dirty="0"/>
              <a:t>T”</a:t>
            </a:r>
            <a:r>
              <a:rPr lang="zh-CN" altLang="en-GB" dirty="0"/>
              <a:t>（</a:t>
            </a:r>
            <a:r>
              <a:rPr lang="zh-CN" altLang="en-US" dirty="0"/>
              <a:t>要求到货时间、预计下单日期、预计开标日期）指导书</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文本框 3"/>
          <p:cNvSpPr txBox="1"/>
          <p:nvPr/>
        </p:nvSpPr>
        <p:spPr>
          <a:xfrm>
            <a:off x="568411" y="990770"/>
            <a:ext cx="3698789" cy="923330"/>
          </a:xfrm>
          <a:prstGeom prst="rect">
            <a:avLst/>
          </a:prstGeom>
          <a:noFill/>
        </p:spPr>
        <p:txBody>
          <a:bodyPr wrap="square">
            <a:spAutoFit/>
          </a:bodyPr>
          <a:lstStyle/>
          <a:p>
            <a:r>
              <a:rPr lang="zh-CN" altLang="en-US" b="1" dirty="0"/>
              <a:t>链接：https://ruijie.feishu.cn/wiki/VjdNwoMU7inEYQkPlvFcvUUgnmb</a:t>
            </a:r>
          </a:p>
        </p:txBody>
      </p:sp>
      <p:pic>
        <p:nvPicPr>
          <p:cNvPr id="5" name="图片 4"/>
          <p:cNvPicPr>
            <a:picLocks noChangeAspect="1"/>
          </p:cNvPicPr>
          <p:nvPr/>
        </p:nvPicPr>
        <p:blipFill>
          <a:blip r:embed="rId2"/>
          <a:stretch>
            <a:fillRect/>
          </a:stretch>
        </p:blipFill>
        <p:spPr>
          <a:xfrm>
            <a:off x="5483428" y="832082"/>
            <a:ext cx="3355771" cy="5872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08134" y="4138803"/>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a:t>背景与意义</a:t>
            </a:r>
            <a:endParaRPr lang="en-US" altLang="zh-CN" dirty="0"/>
          </a:p>
          <a:p>
            <a:pPr marL="342900" indent="-342900">
              <a:lnSpc>
                <a:spcPct val="150000"/>
              </a:lnSpc>
              <a:buFont typeface="Arial" panose="020B0604020202020204" pitchFamily="34" charset="0"/>
              <a:buChar char="•"/>
              <a:defRPr/>
            </a:pPr>
            <a:r>
              <a:rPr lang="en-US" altLang="zh-CN" dirty="0"/>
              <a:t>N</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en-US" altLang="zh-CN" dirty="0"/>
              <a:t>3T</a:t>
            </a:r>
            <a:r>
              <a:rPr lang="zh-CN" altLang="en-US" dirty="0"/>
              <a:t>做准的流程和案例分享</a:t>
            </a:r>
            <a:endParaRPr lang="en-US" altLang="zh-CN" dirty="0"/>
          </a:p>
          <a:p>
            <a:pPr marL="342900" indent="-342900">
              <a:lnSpc>
                <a:spcPct val="150000"/>
              </a:lnSpc>
              <a:buFont typeface="Arial" panose="020B0604020202020204" pitchFamily="34" charset="0"/>
              <a:buChar char="•"/>
              <a:defRPr/>
            </a:pPr>
            <a:r>
              <a:rPr lang="zh-CN" altLang="en-US" dirty="0"/>
              <a:t>答疑与互动</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的判断标准和质量要求</a:t>
            </a:r>
          </a:p>
        </p:txBody>
      </p:sp>
      <p:graphicFrame>
        <p:nvGraphicFramePr>
          <p:cNvPr id="3" name="表格 2"/>
          <p:cNvGraphicFramePr>
            <a:graphicFrameLocks noGrp="1"/>
          </p:cNvGraphicFramePr>
          <p:nvPr/>
        </p:nvGraphicFramePr>
        <p:xfrm>
          <a:off x="149287" y="770255"/>
          <a:ext cx="11930744" cy="5978028"/>
        </p:xfrm>
        <a:graphic>
          <a:graphicData uri="http://schemas.openxmlformats.org/drawingml/2006/table">
            <a:tbl>
              <a:tblPr/>
              <a:tblGrid>
                <a:gridCol w="367100"/>
                <a:gridCol w="803031"/>
                <a:gridCol w="3980370"/>
                <a:gridCol w="6780243"/>
              </a:tblGrid>
              <a:tr h="322824">
                <a:tc>
                  <a:txBody>
                    <a:bodyPr/>
                    <a:lstStyle/>
                    <a:p>
                      <a:pPr algn="ctr" fontAlgn="ctr" latinLnBrk="0"/>
                      <a:r>
                        <a:rPr lang="zh-CN" altLang="en-US" sz="900" b="1" i="0" dirty="0">
                          <a:solidFill>
                            <a:srgbClr val="000000"/>
                          </a:solidFill>
                          <a:effectLst/>
                        </a:rPr>
                        <a:t>序号</a:t>
                      </a:r>
                    </a:p>
                  </a:txBody>
                  <a:tcPr marL="56267" marR="56267" marT="28134" marB="28134" anchor="ctr">
                    <a:lnL w="6350" cap="flat" cmpd="sng" algn="ctr">
                      <a:solidFill>
                        <a:srgbClr val="D0112D"/>
                      </a:solidFill>
                      <a:prstDash val="solid"/>
                      <a:round/>
                      <a:headEnd type="none" w="med" len="med"/>
                      <a:tailEnd type="none" w="med" len="med"/>
                    </a:lnL>
                    <a:lnR w="6350" cap="flat" cmpd="sng" algn="ctr">
                      <a:solidFill>
                        <a:srgbClr val="50162D"/>
                      </a:solidFill>
                      <a:prstDash val="solid"/>
                      <a:round/>
                      <a:headEnd type="none" w="med" len="med"/>
                      <a:tailEnd type="none" w="med" len="med"/>
                    </a:lnR>
                    <a:lnT w="6350" cap="flat" cmpd="sng" algn="ctr">
                      <a:solidFill>
                        <a:srgbClr val="D0112D"/>
                      </a:solidFill>
                      <a:prstDash val="solid"/>
                      <a:round/>
                      <a:headEnd type="none" w="med" len="med"/>
                      <a:tailEnd type="none" w="med" len="med"/>
                    </a:lnT>
                    <a:lnB w="6350" cap="flat" cmpd="sng" algn="ctr">
                      <a:solidFill>
                        <a:srgbClr val="A01D2D"/>
                      </a:solidFill>
                      <a:prstDash val="solid"/>
                      <a:round/>
                      <a:headEnd type="none" w="med" len="med"/>
                      <a:tailEnd type="none" w="med" len="med"/>
                    </a:lnB>
                    <a:solidFill>
                      <a:srgbClr val="FBE2D5"/>
                    </a:solidFill>
                  </a:tcPr>
                </a:tc>
                <a:tc>
                  <a:txBody>
                    <a:bodyPr/>
                    <a:lstStyle/>
                    <a:p>
                      <a:pPr algn="ctr" fontAlgn="ctr" latinLnBrk="0"/>
                      <a:r>
                        <a:rPr lang="en-US" sz="900" b="1" i="0">
                          <a:solidFill>
                            <a:srgbClr val="000000"/>
                          </a:solidFill>
                          <a:effectLst/>
                        </a:rPr>
                        <a:t>3T</a:t>
                      </a:r>
                    </a:p>
                  </a:txBody>
                  <a:tcPr marL="56267" marR="56267" marT="28134" marB="28134" anchor="ctr">
                    <a:lnL w="6350" cap="flat" cmpd="sng" algn="ctr">
                      <a:solidFill>
                        <a:srgbClr val="50162D"/>
                      </a:solidFill>
                      <a:prstDash val="solid"/>
                      <a:round/>
                      <a:headEnd type="none" w="med" len="med"/>
                      <a:tailEnd type="none" w="med" len="med"/>
                    </a:lnL>
                    <a:lnR w="6350" cap="flat" cmpd="sng" algn="ctr">
                      <a:solidFill>
                        <a:srgbClr val="D0202D"/>
                      </a:solidFill>
                      <a:prstDash val="solid"/>
                      <a:round/>
                      <a:headEnd type="none" w="med" len="med"/>
                      <a:tailEnd type="none" w="med" len="med"/>
                    </a:lnR>
                    <a:lnT w="6350" cap="flat" cmpd="sng" algn="ctr">
                      <a:solidFill>
                        <a:srgbClr val="50162D"/>
                      </a:solidFill>
                      <a:prstDash val="solid"/>
                      <a:round/>
                      <a:headEnd type="none" w="med" len="med"/>
                      <a:tailEnd type="none" w="med" len="med"/>
                    </a:lnT>
                    <a:lnB w="6350" cap="flat" cmpd="sng" algn="ctr">
                      <a:solidFill>
                        <a:srgbClr val="602A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判断（质量）标准</a:t>
                      </a:r>
                    </a:p>
                  </a:txBody>
                  <a:tcPr marL="56267" marR="56267" marT="28134" marB="28134" anchor="ctr">
                    <a:lnL w="6350" cap="flat" cmpd="sng" algn="ctr">
                      <a:solidFill>
                        <a:srgbClr val="D020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D0202D"/>
                      </a:solidFill>
                      <a:prstDash val="solid"/>
                      <a:round/>
                      <a:headEnd type="none" w="med" len="med"/>
                      <a:tailEnd type="none" w="med" len="med"/>
                    </a:lnT>
                    <a:lnB w="6350" cap="flat" cmpd="sng" algn="ctr">
                      <a:solidFill>
                        <a:srgbClr val="B034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质量把控</a:t>
                      </a:r>
                    </a:p>
                  </a:txBody>
                  <a:tcPr marL="56267" marR="56267" marT="28134" marB="28134" anchor="ctr">
                    <a:lnL w="6350" cap="flat" cmpd="sng" algn="ctr">
                      <a:solidFill>
                        <a:srgbClr val="701D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701D2D"/>
                      </a:solidFill>
                      <a:prstDash val="solid"/>
                      <a:round/>
                      <a:headEnd type="none" w="med" len="med"/>
                      <a:tailEnd type="none" w="med" len="med"/>
                    </a:lnT>
                    <a:lnB w="6350" cap="flat" cmpd="sng" algn="ctr">
                      <a:solidFill>
                        <a:srgbClr val="00302D"/>
                      </a:solidFill>
                      <a:prstDash val="solid"/>
                      <a:round/>
                      <a:headEnd type="none" w="med" len="med"/>
                      <a:tailEnd type="none" w="med" len="med"/>
                    </a:lnB>
                    <a:solidFill>
                      <a:srgbClr val="FBE2D5"/>
                    </a:solidFill>
                  </a:tcPr>
                </a:tc>
              </a:tr>
              <a:tr h="1564457">
                <a:tc>
                  <a:txBody>
                    <a:bodyPr/>
                    <a:lstStyle/>
                    <a:p>
                      <a:pPr algn="ctr" fontAlgn="ctr" latinLnBrk="0"/>
                      <a:r>
                        <a:rPr lang="en-US" altLang="zh-CN" sz="900" b="0" i="0">
                          <a:solidFill>
                            <a:srgbClr val="000000"/>
                          </a:solidFill>
                          <a:effectLst/>
                        </a:rPr>
                        <a:t>1</a:t>
                      </a:r>
                    </a:p>
                  </a:txBody>
                  <a:tcPr marL="56267" marR="56267" marT="28134" marB="28134" anchor="ctr">
                    <a:lnL w="6350" cap="flat" cmpd="sng" algn="ctr">
                      <a:solidFill>
                        <a:srgbClr val="A01D2D"/>
                      </a:solidFill>
                      <a:prstDash val="solid"/>
                      <a:round/>
                      <a:headEnd type="none" w="med" len="med"/>
                      <a:tailEnd type="none" w="med" len="med"/>
                    </a:lnL>
                    <a:lnR w="6350" cap="flat" cmpd="sng" algn="ctr">
                      <a:solidFill>
                        <a:srgbClr val="602A2D"/>
                      </a:solidFill>
                      <a:prstDash val="solid"/>
                      <a:round/>
                      <a:headEnd type="none" w="med" len="med"/>
                      <a:tailEnd type="none" w="med" len="med"/>
                    </a:lnR>
                    <a:lnT w="6350" cap="flat" cmpd="sng" algn="ctr">
                      <a:solidFill>
                        <a:srgbClr val="A01D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要求到货时间</a:t>
                      </a:r>
                    </a:p>
                  </a:txBody>
                  <a:tcPr marL="56267" marR="56267" marT="28134" marB="28134" anchor="ctr">
                    <a:lnL w="6350" cap="flat" cmpd="sng" algn="ctr">
                      <a:solidFill>
                        <a:srgbClr val="602A2D"/>
                      </a:solidFill>
                      <a:prstDash val="solid"/>
                      <a:round/>
                      <a:headEnd type="none" w="med" len="med"/>
                      <a:tailEnd type="none" w="med" len="med"/>
                    </a:lnL>
                    <a:lnR w="6350" cap="flat" cmpd="sng" algn="ctr">
                      <a:solidFill>
                        <a:srgbClr val="B0342D"/>
                      </a:solidFill>
                      <a:prstDash val="solid"/>
                      <a:round/>
                      <a:headEnd type="none" w="med" len="med"/>
                      <a:tailEnd type="none" w="med" len="med"/>
                    </a:lnR>
                    <a:lnT w="6350" cap="flat" cmpd="sng" algn="ctr">
                      <a:solidFill>
                        <a:srgbClr val="602A2D"/>
                      </a:solidFill>
                      <a:prstDash val="solid"/>
                      <a:round/>
                      <a:headEnd type="none" w="med" len="med"/>
                      <a:tailEnd type="none" w="med" len="med"/>
                    </a:lnT>
                    <a:lnB w="6350" cap="flat" cmpd="sng" algn="ctr">
                      <a:solidFill>
                        <a:srgbClr val="40322D"/>
                      </a:solidFill>
                      <a:prstDash val="solid"/>
                      <a:round/>
                      <a:headEnd type="none" w="med" len="med"/>
                      <a:tailEnd type="none" w="med" len="med"/>
                    </a:lnB>
                  </a:tcPr>
                </a:tc>
                <a:tc>
                  <a:txBody>
                    <a:bodyPr/>
                    <a:lstStyle/>
                    <a:p>
                      <a:pPr algn="l" fontAlgn="ctr" latinLnBrk="0"/>
                      <a:r>
                        <a:rPr lang="zh-CN" altLang="en-US" sz="900" b="0" i="0" dirty="0">
                          <a:solidFill>
                            <a:srgbClr val="000000"/>
                          </a:solidFill>
                          <a:effectLst/>
                        </a:rPr>
                        <a:t>针对财政资金</a:t>
                      </a:r>
                      <a:r>
                        <a:rPr lang="en-US" altLang="zh-CN" sz="900" b="0" i="0" dirty="0">
                          <a:solidFill>
                            <a:srgbClr val="000000"/>
                          </a:solidFill>
                          <a:effectLst/>
                        </a:rPr>
                        <a:t>/</a:t>
                      </a:r>
                      <a:r>
                        <a:rPr lang="zh-CN" altLang="en-US" sz="900" b="0" i="0" dirty="0">
                          <a:solidFill>
                            <a:srgbClr val="000000"/>
                          </a:solidFill>
                          <a:effectLst/>
                        </a:rPr>
                        <a:t>标准政采项目、弱电</a:t>
                      </a:r>
                      <a:r>
                        <a:rPr lang="en-US" altLang="zh-CN" sz="900" b="0" i="0" dirty="0">
                          <a:solidFill>
                            <a:srgbClr val="000000"/>
                          </a:solidFill>
                          <a:effectLst/>
                        </a:rPr>
                        <a:t>&amp;EPC</a:t>
                      </a:r>
                      <a:r>
                        <a:rPr lang="zh-CN" altLang="en-US" sz="900" b="0" i="0" dirty="0">
                          <a:solidFill>
                            <a:srgbClr val="000000"/>
                          </a:solidFill>
                          <a:effectLst/>
                        </a:rPr>
                        <a:t>总包项目、</a:t>
                      </a:r>
                      <a:r>
                        <a:rPr lang="en-US" altLang="zh-CN" sz="900" b="0" i="0" dirty="0">
                          <a:solidFill>
                            <a:srgbClr val="000000"/>
                          </a:solidFill>
                          <a:effectLst/>
                        </a:rPr>
                        <a:t>ICT&amp;</a:t>
                      </a:r>
                      <a:r>
                        <a:rPr lang="zh-CN" altLang="en-US" sz="900" b="0" i="0" dirty="0">
                          <a:solidFill>
                            <a:srgbClr val="000000"/>
                          </a:solidFill>
                          <a:effectLst/>
                        </a:rPr>
                        <a:t>投融资项目、中大企业集采框架</a:t>
                      </a:r>
                      <a:r>
                        <a:rPr lang="en-US" altLang="zh-CN" sz="900" b="0" i="0" dirty="0">
                          <a:solidFill>
                            <a:srgbClr val="000000"/>
                          </a:solidFill>
                          <a:effectLst/>
                        </a:rPr>
                        <a:t>OC</a:t>
                      </a:r>
                      <a:r>
                        <a:rPr lang="zh-CN" altLang="en-US" sz="900" b="0" i="0" dirty="0">
                          <a:solidFill>
                            <a:srgbClr val="000000"/>
                          </a:solidFill>
                          <a:effectLst/>
                        </a:rPr>
                        <a:t>子项目、金融行业框架</a:t>
                      </a:r>
                      <a:r>
                        <a:rPr lang="en-US" altLang="zh-CN" sz="900" b="0" i="0" dirty="0">
                          <a:solidFill>
                            <a:srgbClr val="000000"/>
                          </a:solidFill>
                          <a:effectLst/>
                        </a:rPr>
                        <a:t>OC</a:t>
                      </a:r>
                      <a:r>
                        <a:rPr lang="zh-CN" altLang="en-US" sz="900" b="0" i="0" dirty="0">
                          <a:solidFill>
                            <a:srgbClr val="000000"/>
                          </a:solidFill>
                          <a:effectLst/>
                        </a:rPr>
                        <a:t>子项目等所有项目均以最终设备使用或者上线时间来倒推“预计要货时间”，主要考虑了如下两种情况：</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不需要大量施工布线的项目：最终设备使用和上线时间至少倒推</a:t>
                      </a:r>
                      <a:r>
                        <a:rPr lang="en-US" altLang="zh-CN" sz="900" b="0" i="0" dirty="0">
                          <a:solidFill>
                            <a:srgbClr val="000000"/>
                          </a:solidFill>
                          <a:effectLst/>
                        </a:rPr>
                        <a:t>15</a:t>
                      </a:r>
                      <a:r>
                        <a:rPr lang="zh-CN" altLang="en-US" sz="900" b="0" i="0" dirty="0">
                          <a:solidFill>
                            <a:srgbClr val="000000"/>
                          </a:solidFill>
                          <a:effectLst/>
                        </a:rPr>
                        <a:t>天来确定预计要货时间；</a:t>
                      </a:r>
                      <a:r>
                        <a:rPr lang="en-US" altLang="zh-CN" sz="900" b="0" i="0" dirty="0">
                          <a:solidFill>
                            <a:srgbClr val="000000"/>
                          </a:solidFill>
                          <a:effectLst/>
                        </a:rPr>
                        <a:t>——</a:t>
                      </a:r>
                      <a:r>
                        <a:rPr lang="zh-CN" altLang="en-US" sz="900" b="0" i="0" dirty="0">
                          <a:solidFill>
                            <a:srgbClr val="000000"/>
                          </a:solidFill>
                          <a:effectLst/>
                        </a:rPr>
                        <a:t>找实施人员确认；</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涉及到大量的施工布线的项目：最终设备使用和上线时间往前倒推</a:t>
                      </a:r>
                      <a:r>
                        <a:rPr lang="en-US" altLang="zh-CN" sz="900" b="0" i="0" dirty="0">
                          <a:solidFill>
                            <a:srgbClr val="000000"/>
                          </a:solidFill>
                          <a:effectLst/>
                        </a:rPr>
                        <a:t>30</a:t>
                      </a:r>
                      <a:r>
                        <a:rPr lang="zh-CN" altLang="en-US" sz="900" b="0" i="0" dirty="0">
                          <a:solidFill>
                            <a:srgbClr val="000000"/>
                          </a:solidFill>
                          <a:effectLst/>
                        </a:rPr>
                        <a:t>天来确定预计要货时间；</a:t>
                      </a:r>
                      <a:br>
                        <a:rPr lang="zh-CN" altLang="en-US" sz="900" b="0" i="0" dirty="0">
                          <a:solidFill>
                            <a:srgbClr val="000000"/>
                          </a:solidFill>
                          <a:effectLst/>
                        </a:rPr>
                      </a:br>
                      <a:r>
                        <a:rPr lang="zh-CN" altLang="en-US" sz="900" b="0" i="0" dirty="0">
                          <a:solidFill>
                            <a:srgbClr val="000000"/>
                          </a:solidFill>
                          <a:effectLst/>
                        </a:rPr>
                        <a:t>如上为建议时间是跟根据项目施工复杂程度来的，重点还是需要销售要提前跟客户</a:t>
                      </a:r>
                      <a:r>
                        <a:rPr lang="en-US" altLang="zh-CN" sz="900" b="0" i="0" dirty="0">
                          <a:solidFill>
                            <a:srgbClr val="000000"/>
                          </a:solidFill>
                          <a:effectLst/>
                        </a:rPr>
                        <a:t>/</a:t>
                      </a:r>
                      <a:r>
                        <a:rPr lang="zh-CN" altLang="en-US" sz="900" b="0" i="0" dirty="0">
                          <a:solidFill>
                            <a:srgbClr val="000000"/>
                          </a:solidFill>
                          <a:effectLst/>
                        </a:rPr>
                        <a:t>渠道沟通好最终设备使用或者上线时间以及施工周期在系统及时更新好“预计要货时间”，需要特殊支持的务必提前跟供应链对应的同事保持沟通。</a:t>
                      </a:r>
                    </a:p>
                  </a:txBody>
                  <a:tcPr marL="56267" marR="56267" marT="28134" marB="28134" anchor="ctr">
                    <a:lnL w="6350" cap="flat" cmpd="sng" algn="ctr">
                      <a:solidFill>
                        <a:srgbClr val="B034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B0342D"/>
                      </a:solidFill>
                      <a:prstDash val="solid"/>
                      <a:round/>
                      <a:headEnd type="none" w="med" len="med"/>
                      <a:tailEnd type="none" w="med" len="med"/>
                    </a:lnT>
                    <a:lnB w="6350" cap="flat" cmpd="sng" algn="ctr">
                      <a:solidFill>
                        <a:srgbClr val="B02E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销售填写“要求到货时间”，并且根据“预计要货时间”的判断说明在“备货说明”里面填写清楚要货时间根据（销售易</a:t>
                      </a:r>
                      <a:r>
                        <a:rPr lang="en-US" altLang="zh-CN" sz="900" b="0" i="0">
                          <a:solidFill>
                            <a:srgbClr val="000000"/>
                          </a:solidFill>
                          <a:effectLst/>
                        </a:rPr>
                        <a:t>CRM</a:t>
                      </a:r>
                      <a:r>
                        <a:rPr lang="zh-CN" altLang="en-US" sz="900" b="0" i="0">
                          <a:solidFill>
                            <a:srgbClr val="000000"/>
                          </a:solidFill>
                          <a:effectLst/>
                        </a:rPr>
                        <a:t>里面的位置以及相关示意如下）；“备货说明”不填写清楚的情况，“要求到货日期”是无法填写的；</a:t>
                      </a:r>
                      <a:br>
                        <a:rPr lang="zh-CN" altLang="en-US" sz="900" b="0" i="0">
                          <a:solidFill>
                            <a:srgbClr val="000000"/>
                          </a:solidFill>
                          <a:effectLst/>
                        </a:rPr>
                      </a:br>
                      <a:r>
                        <a:rPr lang="zh-CN" altLang="en-US" sz="900" b="0" i="0">
                          <a:solidFill>
                            <a:srgbClr val="000000"/>
                          </a:solidFill>
                          <a:effectLst/>
                        </a:rPr>
                        <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备货说明”填写示范：</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1</a:t>
                      </a:r>
                      <a:r>
                        <a:rPr lang="zh-CN" altLang="en-US" sz="900" b="0" i="0">
                          <a:solidFill>
                            <a:srgbClr val="000000"/>
                          </a:solidFill>
                          <a:effectLst/>
                        </a:rPr>
                        <a:t>）不需要大量施工布线的项目按照最终设备使用和上线时间至少倒推</a:t>
                      </a:r>
                      <a:r>
                        <a:rPr lang="en-US" altLang="zh-CN" sz="900" b="0" i="0">
                          <a:solidFill>
                            <a:srgbClr val="000000"/>
                          </a:solidFill>
                          <a:effectLst/>
                        </a:rPr>
                        <a:t>15</a:t>
                      </a:r>
                      <a:r>
                        <a:rPr lang="zh-CN" altLang="en-US" sz="900" b="0" i="0">
                          <a:solidFill>
                            <a:srgbClr val="000000"/>
                          </a:solidFill>
                          <a:effectLst/>
                        </a:rPr>
                        <a:t>天来填写“要求到货时间”，填写范本：与客户端信息办王主任确认，项目预计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日最终上线，且项目不涉及到大量的施工布线，按照上线</a:t>
                      </a:r>
                      <a:r>
                        <a:rPr lang="en-US" altLang="zh-CN" sz="900" b="0" i="0">
                          <a:solidFill>
                            <a:srgbClr val="000000"/>
                          </a:solidFill>
                          <a:effectLst/>
                        </a:rPr>
                        <a:t>15</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15</a:t>
                      </a:r>
                      <a:r>
                        <a:rPr lang="zh-CN" altLang="en-US" sz="900" b="0" i="0">
                          <a:solidFill>
                            <a:srgbClr val="000000"/>
                          </a:solidFill>
                          <a:effectLst/>
                        </a:rPr>
                        <a:t>日填写“要求到货时间”，并且与王主任确认，这个要求到货时间是可以满足的；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2</a:t>
                      </a:r>
                      <a:r>
                        <a:rPr lang="zh-CN" altLang="en-US" sz="900" b="0" i="0">
                          <a:solidFill>
                            <a:srgbClr val="000000"/>
                          </a:solidFill>
                          <a:effectLst/>
                        </a:rPr>
                        <a:t>）涉及到大量的施工布线的项目：最终设备使用和上线时间往前倒推</a:t>
                      </a:r>
                      <a:r>
                        <a:rPr lang="en-US" altLang="zh-CN" sz="900" b="0" i="0">
                          <a:solidFill>
                            <a:srgbClr val="000000"/>
                          </a:solidFill>
                          <a:effectLst/>
                        </a:rPr>
                        <a:t>30</a:t>
                      </a:r>
                      <a:r>
                        <a:rPr lang="zh-CN" altLang="en-US" sz="900" b="0" i="0">
                          <a:solidFill>
                            <a:srgbClr val="000000"/>
                          </a:solidFill>
                          <a:effectLst/>
                        </a:rPr>
                        <a:t>天来确定预计要货时间，填写范本：与现场实施的项目经理王经理确认，项目预计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日最终上线，因项目涉及到大量的布线工作，按照上线</a:t>
                      </a:r>
                      <a:r>
                        <a:rPr lang="en-US" altLang="zh-CN" sz="900" b="0" i="0">
                          <a:solidFill>
                            <a:srgbClr val="000000"/>
                          </a:solidFill>
                          <a:effectLst/>
                        </a:rPr>
                        <a:t>30</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a:t>
                      </a:r>
                      <a:r>
                        <a:rPr lang="zh-CN" altLang="en-US" sz="900" b="0" i="0">
                          <a:solidFill>
                            <a:srgbClr val="000000"/>
                          </a:solidFill>
                          <a:effectLst/>
                        </a:rPr>
                        <a:t>日填写“要求到货时间”，并且与王经理确认，这个要求到货时间是可以满足的；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3</a:t>
                      </a:r>
                      <a:r>
                        <a:rPr lang="zh-CN" altLang="en-US" sz="900" b="0" i="0">
                          <a:solidFill>
                            <a:srgbClr val="000000"/>
                          </a:solidFill>
                          <a:effectLst/>
                        </a:rPr>
                        <a:t>）流水或者紧急项目（含翻盘项目等），根据项目的实际情况填写“要求到货日期”，同时，要与供应链的同事保持密切沟通，做相关到货的协调；</a:t>
                      </a:r>
                    </a:p>
                  </a:txBody>
                  <a:tcPr marL="56267" marR="56267" marT="28134" marB="28134" anchor="ctr">
                    <a:lnL w="6350" cap="flat" cmpd="sng" algn="ctr">
                      <a:solidFill>
                        <a:srgbClr val="0030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0030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r>
              <a:tr h="695313">
                <a:tc>
                  <a:txBody>
                    <a:bodyPr/>
                    <a:lstStyle/>
                    <a:p>
                      <a:pPr algn="ctr" fontAlgn="ctr" latinLnBrk="0"/>
                      <a:r>
                        <a:rPr lang="en-US" altLang="zh-CN" sz="900" b="0" i="0">
                          <a:solidFill>
                            <a:srgbClr val="000000"/>
                          </a:solidFill>
                          <a:effectLst/>
                        </a:rPr>
                        <a:t>2</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4032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a:solidFill>
                            <a:srgbClr val="000000"/>
                          </a:solidFill>
                          <a:effectLst/>
                        </a:rPr>
                        <a:t>预计下单时间</a:t>
                      </a:r>
                    </a:p>
                  </a:txBody>
                  <a:tcPr marL="56267" marR="56267" marT="28134" marB="28134" anchor="ctr">
                    <a:lnL w="6350" cap="flat" cmpd="sng" algn="ctr">
                      <a:solidFill>
                        <a:srgbClr val="40322D"/>
                      </a:solidFill>
                      <a:prstDash val="solid"/>
                      <a:round/>
                      <a:headEnd type="none" w="med" len="med"/>
                      <a:tailEnd type="none" w="med" len="med"/>
                    </a:lnL>
                    <a:lnR w="6350" cap="flat" cmpd="sng" algn="ctr">
                      <a:solidFill>
                        <a:srgbClr val="B02E2D"/>
                      </a:solidFill>
                      <a:prstDash val="solid"/>
                      <a:round/>
                      <a:headEnd type="none" w="med" len="med"/>
                      <a:tailEnd type="none" w="med" len="med"/>
                    </a:lnR>
                    <a:lnT w="6350" cap="flat" cmpd="sng" algn="ctr">
                      <a:solidFill>
                        <a:srgbClr val="4032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针对财政资金</a:t>
                      </a:r>
                      <a:r>
                        <a:rPr lang="en-US" altLang="zh-CN" sz="900" b="0" i="0">
                          <a:solidFill>
                            <a:srgbClr val="000000"/>
                          </a:solidFill>
                          <a:effectLst/>
                        </a:rPr>
                        <a:t>/</a:t>
                      </a:r>
                      <a:r>
                        <a:rPr lang="zh-CN" altLang="en-US" sz="900" b="0" i="0">
                          <a:solidFill>
                            <a:srgbClr val="000000"/>
                          </a:solidFill>
                          <a:effectLst/>
                        </a:rPr>
                        <a:t>标准政采项目、弱电</a:t>
                      </a:r>
                      <a:r>
                        <a:rPr lang="en-US" altLang="zh-CN" sz="900" b="0" i="0">
                          <a:solidFill>
                            <a:srgbClr val="000000"/>
                          </a:solidFill>
                          <a:effectLst/>
                        </a:rPr>
                        <a:t>&amp;EPC</a:t>
                      </a:r>
                      <a:r>
                        <a:rPr lang="zh-CN" altLang="en-US" sz="900" b="0" i="0">
                          <a:solidFill>
                            <a:srgbClr val="000000"/>
                          </a:solidFill>
                          <a:effectLst/>
                        </a:rPr>
                        <a:t>总包项目、</a:t>
                      </a:r>
                      <a:r>
                        <a:rPr lang="en-US" altLang="zh-CN" sz="900" b="0" i="0">
                          <a:solidFill>
                            <a:srgbClr val="000000"/>
                          </a:solidFill>
                          <a:effectLst/>
                        </a:rPr>
                        <a:t>ICT&amp;</a:t>
                      </a:r>
                      <a:r>
                        <a:rPr lang="zh-CN" altLang="en-US" sz="900" b="0" i="0">
                          <a:solidFill>
                            <a:srgbClr val="000000"/>
                          </a:solidFill>
                          <a:effectLst/>
                        </a:rPr>
                        <a:t>投融资项目、中大企业集采框架</a:t>
                      </a:r>
                      <a:r>
                        <a:rPr lang="en-US" altLang="zh-CN" sz="900" b="0" i="0">
                          <a:solidFill>
                            <a:srgbClr val="000000"/>
                          </a:solidFill>
                          <a:effectLst/>
                        </a:rPr>
                        <a:t>OC</a:t>
                      </a:r>
                      <a:r>
                        <a:rPr lang="zh-CN" altLang="en-US" sz="900" b="0" i="0">
                          <a:solidFill>
                            <a:srgbClr val="000000"/>
                          </a:solidFill>
                          <a:effectLst/>
                        </a:rPr>
                        <a:t>子项目、金融行业框架</a:t>
                      </a:r>
                      <a:r>
                        <a:rPr lang="en-US" altLang="zh-CN" sz="900" b="0" i="0">
                          <a:solidFill>
                            <a:srgbClr val="000000"/>
                          </a:solidFill>
                          <a:effectLst/>
                        </a:rPr>
                        <a:t>OC</a:t>
                      </a:r>
                      <a:r>
                        <a:rPr lang="zh-CN" altLang="en-US" sz="900" b="0" i="0">
                          <a:solidFill>
                            <a:srgbClr val="000000"/>
                          </a:solidFill>
                          <a:effectLst/>
                        </a:rPr>
                        <a:t>子项目等所有项目的“预计下单时间”均以“预计要货时间”</a:t>
                      </a:r>
                      <a:r>
                        <a:rPr lang="en-US" altLang="zh-CN" sz="900" b="0" i="0">
                          <a:solidFill>
                            <a:srgbClr val="000000"/>
                          </a:solidFill>
                          <a:effectLst/>
                        </a:rPr>
                        <a:t>-“</a:t>
                      </a:r>
                      <a:r>
                        <a:rPr lang="zh-CN" altLang="en-US" sz="900" b="0" i="0">
                          <a:solidFill>
                            <a:srgbClr val="000000"/>
                          </a:solidFill>
                          <a:effectLst/>
                        </a:rPr>
                        <a:t>订单</a:t>
                      </a:r>
                      <a:r>
                        <a:rPr lang="en-US" altLang="zh-CN" sz="900" b="0" i="0">
                          <a:solidFill>
                            <a:srgbClr val="000000"/>
                          </a:solidFill>
                          <a:effectLst/>
                        </a:rPr>
                        <a:t>SLA”</a:t>
                      </a:r>
                      <a:r>
                        <a:rPr lang="zh-CN" altLang="en-US" sz="900" b="0" i="0">
                          <a:solidFill>
                            <a:srgbClr val="000000"/>
                          </a:solidFill>
                          <a:effectLst/>
                        </a:rPr>
                        <a:t>来做依据；</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一个订单里面如果涉及多款产品，每款产品</a:t>
                      </a:r>
                      <a:r>
                        <a:rPr lang="en-US" altLang="zh-CN" sz="900" b="0" i="0">
                          <a:solidFill>
                            <a:srgbClr val="000000"/>
                          </a:solidFill>
                          <a:effectLst/>
                        </a:rPr>
                        <a:t>SLA</a:t>
                      </a:r>
                      <a:r>
                        <a:rPr lang="zh-CN" altLang="en-US" sz="900" b="0" i="0">
                          <a:solidFill>
                            <a:srgbClr val="000000"/>
                          </a:solidFill>
                          <a:effectLst/>
                        </a:rPr>
                        <a:t>不同，最终订单的</a:t>
                      </a:r>
                      <a:r>
                        <a:rPr lang="en-US" altLang="zh-CN" sz="900" b="0" i="0">
                          <a:solidFill>
                            <a:srgbClr val="000000"/>
                          </a:solidFill>
                          <a:effectLst/>
                        </a:rPr>
                        <a:t>SLA</a:t>
                      </a:r>
                      <a:r>
                        <a:rPr lang="zh-CN" altLang="en-US" sz="900" b="0" i="0">
                          <a:solidFill>
                            <a:srgbClr val="000000"/>
                          </a:solidFill>
                          <a:effectLst/>
                        </a:rPr>
                        <a:t>是取大值，比如</a:t>
                      </a:r>
                      <a:r>
                        <a:rPr lang="en-US" altLang="zh-CN" sz="900" b="0" i="0">
                          <a:solidFill>
                            <a:srgbClr val="000000"/>
                          </a:solidFill>
                          <a:effectLst/>
                        </a:rPr>
                        <a:t>A 3</a:t>
                      </a:r>
                      <a:r>
                        <a:rPr lang="zh-CN" altLang="en-US" sz="900" b="0" i="0">
                          <a:solidFill>
                            <a:srgbClr val="000000"/>
                          </a:solidFill>
                          <a:effectLst/>
                        </a:rPr>
                        <a:t>天，</a:t>
                      </a:r>
                      <a:r>
                        <a:rPr lang="en-US" altLang="zh-CN" sz="900" b="0" i="0">
                          <a:solidFill>
                            <a:srgbClr val="000000"/>
                          </a:solidFill>
                          <a:effectLst/>
                        </a:rPr>
                        <a:t>B7</a:t>
                      </a:r>
                      <a:r>
                        <a:rPr lang="zh-CN" altLang="en-US" sz="900" b="0" i="0">
                          <a:solidFill>
                            <a:srgbClr val="000000"/>
                          </a:solidFill>
                          <a:effectLst/>
                        </a:rPr>
                        <a:t>天，</a:t>
                      </a:r>
                      <a:r>
                        <a:rPr lang="en-US" altLang="zh-CN" sz="900" b="0" i="0">
                          <a:solidFill>
                            <a:srgbClr val="000000"/>
                          </a:solidFill>
                          <a:effectLst/>
                        </a:rPr>
                        <a:t>C 14</a:t>
                      </a:r>
                      <a:r>
                        <a:rPr lang="zh-CN" altLang="en-US" sz="900" b="0" i="0">
                          <a:solidFill>
                            <a:srgbClr val="000000"/>
                          </a:solidFill>
                          <a:effectLst/>
                        </a:rPr>
                        <a:t>天，那么订单的</a:t>
                      </a:r>
                      <a:r>
                        <a:rPr lang="en-US" altLang="zh-CN" sz="900" b="0" i="0">
                          <a:solidFill>
                            <a:srgbClr val="000000"/>
                          </a:solidFill>
                          <a:effectLst/>
                        </a:rPr>
                        <a:t>SLA</a:t>
                      </a:r>
                      <a:r>
                        <a:rPr lang="zh-CN" altLang="en-US" sz="900" b="0" i="0">
                          <a:solidFill>
                            <a:srgbClr val="000000"/>
                          </a:solidFill>
                          <a:effectLst/>
                        </a:rPr>
                        <a:t>是</a:t>
                      </a:r>
                      <a:r>
                        <a:rPr lang="en-US" altLang="zh-CN" sz="900" b="0" i="0">
                          <a:solidFill>
                            <a:srgbClr val="000000"/>
                          </a:solidFill>
                          <a:effectLst/>
                        </a:rPr>
                        <a:t>14</a:t>
                      </a:r>
                      <a:r>
                        <a:rPr lang="zh-CN" altLang="en-US" sz="900" b="0" i="0">
                          <a:solidFill>
                            <a:srgbClr val="000000"/>
                          </a:solidFill>
                          <a:effectLst/>
                        </a:rPr>
                        <a:t>天；</a:t>
                      </a:r>
                    </a:p>
                  </a:txBody>
                  <a:tcPr marL="56267" marR="56267" marT="28134" marB="28134" anchor="ctr">
                    <a:lnL w="6350" cap="flat" cmpd="sng" algn="ctr">
                      <a:solidFill>
                        <a:srgbClr val="B02E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B02E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确保到销售执行：跟据预计要货时间以及订单的</a:t>
                      </a:r>
                      <a:r>
                        <a:rPr lang="en-US" altLang="zh-CN" sz="900" b="0" i="0">
                          <a:solidFill>
                            <a:srgbClr val="000000"/>
                          </a:solidFill>
                          <a:effectLst/>
                        </a:rPr>
                        <a:t>SLA</a:t>
                      </a:r>
                      <a:r>
                        <a:rPr lang="zh-CN" altLang="en-US" sz="900" b="0" i="0">
                          <a:solidFill>
                            <a:srgbClr val="000000"/>
                          </a:solidFill>
                          <a:effectLst/>
                        </a:rPr>
                        <a:t>来设置预计下单时间的底线范围；（目前销售填写的预计下单日期在</a:t>
                      </a:r>
                      <a:r>
                        <a:rPr lang="en-US" altLang="zh-CN" sz="900" b="0" i="0">
                          <a:solidFill>
                            <a:srgbClr val="000000"/>
                          </a:solidFill>
                          <a:effectLst/>
                        </a:rPr>
                        <a:t>SLA</a:t>
                      </a:r>
                      <a:r>
                        <a:rPr lang="zh-CN" altLang="en-US" sz="900" b="0" i="0">
                          <a:solidFill>
                            <a:srgbClr val="000000"/>
                          </a:solidFill>
                          <a:effectLst/>
                        </a:rPr>
                        <a:t>测算出来之后的，视为质量</a:t>
                      </a:r>
                      <a:r>
                        <a:rPr lang="en-US" altLang="zh-CN" sz="900" b="0" i="0">
                          <a:solidFill>
                            <a:srgbClr val="000000"/>
                          </a:solidFill>
                          <a:effectLst/>
                        </a:rPr>
                        <a:t>OK</a:t>
                      </a:r>
                      <a:r>
                        <a:rPr lang="zh-CN" altLang="en-US" sz="900" b="0" i="0">
                          <a:solidFill>
                            <a:srgbClr val="000000"/>
                          </a:solidFill>
                          <a:effectLst/>
                        </a:rPr>
                        <a:t>）</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tr>
              <a:tr h="3178579">
                <a:tc>
                  <a:txBody>
                    <a:bodyPr/>
                    <a:lstStyle/>
                    <a:p>
                      <a:pPr algn="ctr" fontAlgn="ctr" latinLnBrk="0"/>
                      <a:r>
                        <a:rPr lang="en-US" altLang="zh-CN" sz="900" b="0" i="0">
                          <a:solidFill>
                            <a:srgbClr val="000000"/>
                          </a:solidFill>
                          <a:effectLst/>
                        </a:rPr>
                        <a:t>3</a:t>
                      </a:r>
                    </a:p>
                  </a:txBody>
                  <a:tcPr marL="56267" marR="56267" marT="28134" marB="28134" anchor="ctr">
                    <a:lnL w="6350" cap="flat" cmpd="sng" algn="ctr">
                      <a:solidFill>
                        <a:srgbClr val="D02C2D"/>
                      </a:solidFill>
                      <a:prstDash val="solid"/>
                      <a:round/>
                      <a:headEnd type="none" w="med" len="med"/>
                      <a:tailEnd type="none" w="med" len="med"/>
                    </a:lnL>
                    <a:lnR w="6350" cap="flat" cmpd="sng" algn="ctr">
                      <a:solidFill>
                        <a:srgbClr val="60332D"/>
                      </a:solidFill>
                      <a:prstDash val="solid"/>
                      <a:round/>
                      <a:headEnd type="none" w="med" len="med"/>
                      <a:tailEnd type="none" w="med" len="med"/>
                    </a:lnR>
                    <a:lnT w="6350" cap="flat" cmpd="sng" algn="ctr">
                      <a:solidFill>
                        <a:srgbClr val="D02C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预计开标时间</a:t>
                      </a:r>
                    </a:p>
                  </a:txBody>
                  <a:tcPr marL="56267" marR="56267" marT="28134" marB="28134" anchor="ctr">
                    <a:lnL w="6350" cap="flat" cmpd="sng" algn="ctr">
                      <a:solidFill>
                        <a:srgbClr val="60332D"/>
                      </a:solidFill>
                      <a:prstDash val="solid"/>
                      <a:round/>
                      <a:headEnd type="none" w="med" len="med"/>
                      <a:tailEnd type="none" w="med" len="med"/>
                    </a:lnL>
                    <a:lnR w="6350" cap="flat" cmpd="sng" algn="ctr">
                      <a:solidFill>
                        <a:srgbClr val="F0332D"/>
                      </a:solidFill>
                      <a:prstDash val="solid"/>
                      <a:round/>
                      <a:headEnd type="none" w="med" len="med"/>
                      <a:tailEnd type="none" w="med" len="med"/>
                    </a:lnR>
                    <a:lnT w="6350" cap="flat" cmpd="sng" algn="ctr">
                      <a:solidFill>
                        <a:srgbClr val="6033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针对“预计开标日期”以“正推法”和“倒推法”，重点以正推法作为指导</a:t>
                      </a:r>
                      <a:br>
                        <a:rPr lang="zh-CN" altLang="en-US" sz="900" b="0" i="0" dirty="0">
                          <a:solidFill>
                            <a:srgbClr val="000000"/>
                          </a:solidFill>
                          <a:effectLst/>
                        </a:rPr>
                      </a:br>
                      <a:r>
                        <a:rPr lang="zh-CN" altLang="en-US" sz="900" b="0" i="0" dirty="0">
                          <a:solidFill>
                            <a:srgbClr val="000000"/>
                          </a:solidFill>
                          <a:effectLst/>
                        </a:rPr>
                        <a:t>（试点过程中的复盘，销售基本都在用“正推法”和“倒推法”，沟通充分的情况下，盘点基本</a:t>
                      </a:r>
                      <a:r>
                        <a:rPr lang="en-US" altLang="zh-CN" sz="900" b="0" i="0" dirty="0">
                          <a:solidFill>
                            <a:srgbClr val="000000"/>
                          </a:solidFill>
                          <a:effectLst/>
                        </a:rPr>
                        <a:t>ok</a:t>
                      </a:r>
                      <a:r>
                        <a:rPr lang="zh-CN" altLang="en-US" sz="900" b="0" i="0" dirty="0">
                          <a:solidFill>
                            <a:srgbClr val="000000"/>
                          </a:solidFill>
                          <a:effectLst/>
                        </a:rPr>
                        <a:t>）</a:t>
                      </a:r>
                    </a:p>
                  </a:txBody>
                  <a:tcPr marL="56267" marR="56267" marT="28134" marB="28134" anchor="ctr">
                    <a:lnL w="6350" cap="flat" cmpd="sng" algn="ctr">
                      <a:solidFill>
                        <a:srgbClr val="F033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F033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项目在申请进入漏斗内的时候，需要销售参考“预计开标时间”的判断标准，填写清楚“预计开标日期填写依据”（销售易</a:t>
                      </a:r>
                      <a:r>
                        <a:rPr lang="en-US" altLang="zh-CN" sz="900" b="0" i="0" dirty="0">
                          <a:solidFill>
                            <a:srgbClr val="000000"/>
                          </a:solidFill>
                          <a:effectLst/>
                        </a:rPr>
                        <a:t>CRM</a:t>
                      </a:r>
                      <a:r>
                        <a:rPr lang="zh-CN" altLang="en-US" sz="900" b="0" i="0" dirty="0">
                          <a:solidFill>
                            <a:srgbClr val="000000"/>
                          </a:solidFill>
                          <a:effectLst/>
                        </a:rPr>
                        <a:t>里面的位置以及相关示意如下），系统会做设置，如果该字段未填写，系统无法提交漏斗内的申请，漏斗内申请成功之后，区域经理需要针对“预计开标日期填写依据”做核对，没问题才可以审批同意进入漏斗内；</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预计开标日期填写依据”填写示范：</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1</a:t>
                      </a:r>
                      <a:r>
                        <a:rPr lang="zh-CN" altLang="en-US" sz="900" b="0" i="0" dirty="0">
                          <a:solidFill>
                            <a:srgbClr val="000000"/>
                          </a:solidFill>
                          <a:effectLst/>
                        </a:rPr>
                        <a:t>）如果已经发标的项目，填写范本如下：项目已经发出标书，招标文件里面写的投标时间是</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20</a:t>
                      </a:r>
                      <a:r>
                        <a:rPr lang="zh-CN" altLang="en-US" sz="900" b="0" i="0" dirty="0">
                          <a:solidFill>
                            <a:srgbClr val="000000"/>
                          </a:solidFill>
                          <a:effectLst/>
                        </a:rPr>
                        <a:t>日，与信息办王主任沟通，项目计划在</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日评标，并且当天能出结果，所以预计开标时间时间填写</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2</a:t>
                      </a:r>
                      <a:r>
                        <a:rPr lang="zh-CN" altLang="en-US" sz="900" b="0" i="0" dirty="0">
                          <a:solidFill>
                            <a:srgbClr val="000000"/>
                          </a:solidFill>
                          <a:effectLst/>
                        </a:rPr>
                        <a:t>）如果项目还没有发标，重点依据“正推法”或者“倒推法”里面的：</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例如按照“正推法”的填写范本如下：该项目的客户是</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6</a:t>
                      </a:r>
                      <a:r>
                        <a:rPr lang="zh-CN" altLang="en-US" sz="900" b="0" i="0" dirty="0">
                          <a:solidFill>
                            <a:srgbClr val="000000"/>
                          </a:solidFill>
                          <a:effectLst/>
                        </a:rPr>
                        <a:t>月中旬正在进行方案评估工作，与信息办王主任确认他们还要进行测试和样板考察，这大概需要</a:t>
                      </a:r>
                      <a:r>
                        <a:rPr lang="en-US" altLang="zh-CN" sz="900" b="0" i="0" dirty="0">
                          <a:solidFill>
                            <a:srgbClr val="000000"/>
                          </a:solidFill>
                          <a:effectLst/>
                        </a:rPr>
                        <a:t>1</a:t>
                      </a:r>
                      <a:r>
                        <a:rPr lang="zh-CN" altLang="en-US" sz="900" b="0" i="0" dirty="0">
                          <a:solidFill>
                            <a:srgbClr val="000000"/>
                          </a:solidFill>
                          <a:effectLst/>
                        </a:rPr>
                        <a:t>个半月的时间，时间就到了</a:t>
                      </a:r>
                      <a:r>
                        <a:rPr lang="en-US" altLang="zh-CN" sz="900" b="0" i="0" dirty="0">
                          <a:solidFill>
                            <a:srgbClr val="000000"/>
                          </a:solidFill>
                          <a:effectLst/>
                        </a:rPr>
                        <a:t>8</a:t>
                      </a:r>
                      <a:r>
                        <a:rPr lang="zh-CN" altLang="en-US" sz="900" b="0" i="0" dirty="0">
                          <a:solidFill>
                            <a:srgbClr val="000000"/>
                          </a:solidFill>
                          <a:effectLst/>
                        </a:rPr>
                        <a:t>月初；然后信息办确定方案和最终预算，要上院办会评审报批，院办会每</a:t>
                      </a:r>
                      <a:r>
                        <a:rPr lang="en-US" altLang="zh-CN" sz="900" b="0" i="0" dirty="0">
                          <a:solidFill>
                            <a:srgbClr val="000000"/>
                          </a:solidFill>
                          <a:effectLst/>
                        </a:rPr>
                        <a:t>2</a:t>
                      </a:r>
                      <a:r>
                        <a:rPr lang="zh-CN" altLang="en-US" sz="900" b="0" i="0" dirty="0">
                          <a:solidFill>
                            <a:srgbClr val="000000"/>
                          </a:solidFill>
                          <a:effectLst/>
                        </a:rPr>
                        <a:t>周一次，顺利排上过会需要至少</a:t>
                      </a:r>
                      <a:r>
                        <a:rPr lang="en-US" altLang="zh-CN" sz="900" b="0" i="0" dirty="0">
                          <a:solidFill>
                            <a:srgbClr val="000000"/>
                          </a:solidFill>
                          <a:effectLst/>
                        </a:rPr>
                        <a:t>2</a:t>
                      </a:r>
                      <a:r>
                        <a:rPr lang="zh-CN" altLang="en-US" sz="900" b="0" i="0" dirty="0">
                          <a:solidFill>
                            <a:srgbClr val="000000"/>
                          </a:solidFill>
                          <a:effectLst/>
                        </a:rPr>
                        <a:t>周时间，时间就到了</a:t>
                      </a:r>
                      <a:r>
                        <a:rPr lang="en-US" altLang="zh-CN" sz="900" b="0" i="0" dirty="0">
                          <a:solidFill>
                            <a:srgbClr val="000000"/>
                          </a:solidFill>
                          <a:effectLst/>
                        </a:rPr>
                        <a:t>8</a:t>
                      </a:r>
                      <a:r>
                        <a:rPr lang="zh-CN" altLang="en-US" sz="900" b="0" i="0" dirty="0">
                          <a:solidFill>
                            <a:srgbClr val="000000"/>
                          </a:solidFill>
                          <a:effectLst/>
                        </a:rPr>
                        <a:t>月中旬；方案预算过了之后，信息中心需要起草招标文件这需要</a:t>
                      </a:r>
                      <a:r>
                        <a:rPr lang="en-US" altLang="zh-CN" sz="900" b="0" i="0" dirty="0">
                          <a:solidFill>
                            <a:srgbClr val="000000"/>
                          </a:solidFill>
                          <a:effectLst/>
                        </a:rPr>
                        <a:t>1</a:t>
                      </a:r>
                      <a:r>
                        <a:rPr lang="zh-CN" altLang="en-US" sz="900" b="0" i="0" dirty="0">
                          <a:solidFill>
                            <a:srgbClr val="000000"/>
                          </a:solidFill>
                          <a:effectLst/>
                        </a:rPr>
                        <a:t>周时间，然后报国资处审核又需要至少</a:t>
                      </a:r>
                      <a:r>
                        <a:rPr lang="en-US" altLang="zh-CN" sz="900" b="0" i="0" dirty="0">
                          <a:solidFill>
                            <a:srgbClr val="000000"/>
                          </a:solidFill>
                          <a:effectLst/>
                        </a:rPr>
                        <a:t>2</a:t>
                      </a:r>
                      <a:r>
                        <a:rPr lang="zh-CN" altLang="en-US" sz="900" b="0" i="0" dirty="0">
                          <a:solidFill>
                            <a:srgbClr val="000000"/>
                          </a:solidFill>
                          <a:effectLst/>
                        </a:rPr>
                        <a:t>周时间，这就到了</a:t>
                      </a:r>
                      <a:r>
                        <a:rPr lang="en-US" altLang="zh-CN" sz="900" b="0" i="0" dirty="0">
                          <a:solidFill>
                            <a:srgbClr val="000000"/>
                          </a:solidFill>
                          <a:effectLst/>
                        </a:rPr>
                        <a:t>9</a:t>
                      </a:r>
                      <a:r>
                        <a:rPr lang="zh-CN" altLang="en-US" sz="900" b="0" i="0" dirty="0">
                          <a:solidFill>
                            <a:srgbClr val="000000"/>
                          </a:solidFill>
                          <a:effectLst/>
                        </a:rPr>
                        <a:t>月上旬；然后国资处会整理好招标文件报招标公司，招标公司排队</a:t>
                      </a:r>
                      <a:r>
                        <a:rPr lang="en-US" altLang="zh-CN" sz="900" b="0" i="0" dirty="0">
                          <a:solidFill>
                            <a:srgbClr val="000000"/>
                          </a:solidFill>
                          <a:effectLst/>
                        </a:rPr>
                        <a:t>2</a:t>
                      </a:r>
                      <a:r>
                        <a:rPr lang="zh-CN" altLang="en-US" sz="900" b="0" i="0" dirty="0">
                          <a:solidFill>
                            <a:srgbClr val="000000"/>
                          </a:solidFill>
                          <a:effectLst/>
                        </a:rPr>
                        <a:t>周时间发标，预计发标日期就到了</a:t>
                      </a:r>
                      <a:r>
                        <a:rPr lang="en-US" altLang="zh-CN" sz="900" b="0" i="0" dirty="0">
                          <a:solidFill>
                            <a:srgbClr val="000000"/>
                          </a:solidFill>
                          <a:effectLst/>
                        </a:rPr>
                        <a:t>9</a:t>
                      </a:r>
                      <a:r>
                        <a:rPr lang="zh-CN" altLang="en-US" sz="900" b="0" i="0" dirty="0">
                          <a:solidFill>
                            <a:srgbClr val="000000"/>
                          </a:solidFill>
                          <a:effectLst/>
                        </a:rPr>
                        <a:t>月底；按照该客户以往的项目看，发标后大概率有人质疑，</a:t>
                      </a:r>
                      <a:r>
                        <a:rPr lang="en-US" altLang="zh-CN" sz="900" b="0" i="0" dirty="0">
                          <a:solidFill>
                            <a:srgbClr val="000000"/>
                          </a:solidFill>
                          <a:effectLst/>
                        </a:rPr>
                        <a:t>21</a:t>
                      </a:r>
                      <a:r>
                        <a:rPr lang="zh-CN" altLang="en-US" sz="900" b="0" i="0" dirty="0">
                          <a:solidFill>
                            <a:srgbClr val="000000"/>
                          </a:solidFill>
                          <a:effectLst/>
                        </a:rPr>
                        <a:t>天肯定开不了标，预计开标日期可能在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日，所以开标日期写</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日；（范本里面内容是假设，大家参考这个格式按照实际情况来填写，并且随着项目的推进及时的修订项目的预计开标时间）</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例如按照“倒推法”的填写范本如下：项目前期规划要在</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10</a:t>
                      </a:r>
                      <a:r>
                        <a:rPr lang="zh-CN" altLang="en-US" sz="900" b="0" i="0" dirty="0">
                          <a:solidFill>
                            <a:srgbClr val="000000"/>
                          </a:solidFill>
                          <a:effectLst/>
                        </a:rPr>
                        <a:t>月底竣工验收，根据目前与客户谁谁（或者渠道谁谁）安装实施调试至少</a:t>
                      </a:r>
                      <a:r>
                        <a:rPr lang="en-US" altLang="zh-CN" sz="900" b="0" i="0" dirty="0">
                          <a:solidFill>
                            <a:srgbClr val="000000"/>
                          </a:solidFill>
                          <a:effectLst/>
                        </a:rPr>
                        <a:t>1</a:t>
                      </a:r>
                      <a:r>
                        <a:rPr lang="zh-CN" altLang="en-US" sz="900" b="0" i="0" dirty="0">
                          <a:solidFill>
                            <a:srgbClr val="000000"/>
                          </a:solidFill>
                          <a:effectLst/>
                        </a:rPr>
                        <a:t>个月的时间，那么客户到货日期就在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日左右；从下完单发货到客户收货，估计要持续至少</a:t>
                      </a:r>
                      <a:r>
                        <a:rPr lang="en-US" altLang="zh-CN" sz="900" b="0" i="0" dirty="0">
                          <a:solidFill>
                            <a:srgbClr val="000000"/>
                          </a:solidFill>
                          <a:effectLst/>
                        </a:rPr>
                        <a:t>2</a:t>
                      </a:r>
                      <a:r>
                        <a:rPr lang="zh-CN" altLang="en-US" sz="900" b="0" i="0" dirty="0">
                          <a:solidFill>
                            <a:srgbClr val="000000"/>
                          </a:solidFill>
                          <a:effectLst/>
                        </a:rPr>
                        <a:t>周时间，那预计下单日期就在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15</a:t>
                      </a:r>
                      <a:r>
                        <a:rPr lang="zh-CN" altLang="en-US" sz="900" b="0" i="0" dirty="0">
                          <a:solidFill>
                            <a:srgbClr val="000000"/>
                          </a:solidFill>
                          <a:effectLst/>
                        </a:rPr>
                        <a:t>日左右；项目属于财政招标项目，客户中完标就要货，中标渠道与客户签订合同加上各级渠道的下单商务流程至少要</a:t>
                      </a:r>
                      <a:r>
                        <a:rPr lang="en-US" altLang="zh-CN" sz="900" b="0" i="0" dirty="0">
                          <a:solidFill>
                            <a:srgbClr val="000000"/>
                          </a:solidFill>
                          <a:effectLst/>
                        </a:rPr>
                        <a:t>1</a:t>
                      </a:r>
                      <a:r>
                        <a:rPr lang="zh-CN" altLang="en-US" sz="900" b="0" i="0" dirty="0">
                          <a:solidFill>
                            <a:srgbClr val="000000"/>
                          </a:solidFill>
                          <a:effectLst/>
                        </a:rPr>
                        <a:t>周时间，那中标渠道与客户合同签订日期就要在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8</a:t>
                      </a:r>
                      <a:r>
                        <a:rPr lang="zh-CN" altLang="en-US" sz="900" b="0" i="0" dirty="0">
                          <a:solidFill>
                            <a:srgbClr val="000000"/>
                          </a:solidFill>
                          <a:effectLst/>
                        </a:rPr>
                        <a:t>日左右；中标渠道签客户合同需要</a:t>
                      </a:r>
                      <a:r>
                        <a:rPr lang="en-US" altLang="zh-CN" sz="900" b="0" i="0" dirty="0">
                          <a:solidFill>
                            <a:srgbClr val="000000"/>
                          </a:solidFill>
                          <a:effectLst/>
                        </a:rPr>
                        <a:t>1</a:t>
                      </a:r>
                      <a:r>
                        <a:rPr lang="zh-CN" altLang="en-US" sz="900" b="0" i="0" dirty="0">
                          <a:solidFill>
                            <a:srgbClr val="000000"/>
                          </a:solidFill>
                          <a:effectLst/>
                        </a:rPr>
                        <a:t>周时间，预计拿到中标通知书的时间在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a:t>
                      </a:r>
                      <a:r>
                        <a:rPr lang="zh-CN" altLang="en-US" sz="900" b="0" i="0" dirty="0">
                          <a:solidFill>
                            <a:srgbClr val="000000"/>
                          </a:solidFill>
                          <a:effectLst/>
                        </a:rPr>
                        <a:t>日左右；中标公示</a:t>
                      </a:r>
                      <a:r>
                        <a:rPr lang="en-US" altLang="zh-CN" sz="900" b="0" i="0" dirty="0">
                          <a:solidFill>
                            <a:srgbClr val="000000"/>
                          </a:solidFill>
                          <a:effectLst/>
                        </a:rPr>
                        <a:t>7</a:t>
                      </a:r>
                      <a:r>
                        <a:rPr lang="zh-CN" altLang="en-US" sz="900" b="0" i="0" dirty="0">
                          <a:solidFill>
                            <a:srgbClr val="000000"/>
                          </a:solidFill>
                          <a:effectLst/>
                        </a:rPr>
                        <a:t>天，那预计开标日期就应该在</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24</a:t>
                      </a:r>
                      <a:r>
                        <a:rPr lang="zh-CN" altLang="en-US" sz="900" b="0" i="0" dirty="0">
                          <a:solidFill>
                            <a:srgbClr val="000000"/>
                          </a:solidFill>
                          <a:effectLst/>
                        </a:rPr>
                        <a:t>日左右；（每一个节点都应该是找到相关人员做过核实的）</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如果是</a:t>
                      </a:r>
                      <a:r>
                        <a:rPr lang="en-US" altLang="zh-CN" sz="900" b="0" i="0" dirty="0">
                          <a:solidFill>
                            <a:srgbClr val="000000"/>
                          </a:solidFill>
                          <a:effectLst/>
                        </a:rPr>
                        <a:t>30</a:t>
                      </a:r>
                      <a:r>
                        <a:rPr lang="zh-CN" altLang="en-US" sz="900" b="0" i="0" dirty="0">
                          <a:solidFill>
                            <a:srgbClr val="000000"/>
                          </a:solidFill>
                          <a:effectLst/>
                        </a:rPr>
                        <a:t>万以下流水且不招标项目，可以简化填写，填写范本如下：与上海**渠道采购经理王**确认，合同以及</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日能完成签约，考虑到之前跟他们公司签约合同总会拖几天，所以综合考虑因素往后推出</a:t>
                      </a:r>
                      <a:r>
                        <a:rPr lang="en-US" altLang="zh-CN" sz="900" b="0" i="0" dirty="0">
                          <a:solidFill>
                            <a:srgbClr val="000000"/>
                          </a:solidFill>
                          <a:effectLst/>
                        </a:rPr>
                        <a:t>5</a:t>
                      </a:r>
                      <a:r>
                        <a:rPr lang="zh-CN" altLang="en-US" sz="900" b="0" i="0" dirty="0">
                          <a:solidFill>
                            <a:srgbClr val="000000"/>
                          </a:solidFill>
                          <a:effectLst/>
                        </a:rPr>
                        <a:t>天，所以预计开标日期写</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a:t>
                      </a:r>
                    </a:p>
                  </a:txBody>
                  <a:tcPr marL="56267" marR="56267" marT="28134" marB="28134" anchor="ctr">
                    <a:lnL w="6350" cap="flat" cmpd="sng" algn="ctr">
                      <a:solidFill>
                        <a:srgbClr val="2034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2034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tr>
            </a:tbl>
          </a:graphicData>
        </a:graphic>
      </p:graphicFrame>
      <p:sp>
        <p:nvSpPr>
          <p:cNvPr id="4" name="左箭头 3">
            <a:hlinkClick r:id="rId2" action="ppaction://hlinksldjump"/>
          </p:cNvPr>
          <p:cNvSpPr/>
          <p:nvPr/>
        </p:nvSpPr>
        <p:spPr>
          <a:xfrm>
            <a:off x="11038114" y="205275"/>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返回</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843*392"/>
  <p:tag name="TABLE_ENDDRAG_RECT" val="75*117*843*39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5846</Words>
  <Application>Microsoft Office PowerPoint</Application>
  <PresentationFormat>宽屏</PresentationFormat>
  <Paragraphs>771</Paragraphs>
  <Slides>30</Slides>
  <Notes>0</Notes>
  <HiddenSlides>3</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30</vt:i4>
      </vt:variant>
    </vt:vector>
  </HeadingPairs>
  <TitlesOfParts>
    <vt:vector size="40" baseType="lpstr">
      <vt:lpstr>MonospacedNumber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278</cp:revision>
  <dcterms:created xsi:type="dcterms:W3CDTF">2025-07-28T02:11:00Z</dcterms:created>
  <dcterms:modified xsi:type="dcterms:W3CDTF">2025-09-08T04:55:38Z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2052-12.1.0.22529</vt:lpwstr>
  </property>
</Properties>
</file>