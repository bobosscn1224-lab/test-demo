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61" r:id="rId2"/>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ECE6"/>
    <a:srgbClr val="FCECE8"/>
    <a:srgbClr val="F8CCAC"/>
    <a:srgbClr val="EAE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172" autoAdjust="0"/>
    <p:restoredTop sz="94072" autoAdjust="0"/>
  </p:normalViewPr>
  <p:slideViewPr>
    <p:cSldViewPr snapToGrid="0" showGuides="1">
      <p:cViewPr varScale="1">
        <p:scale>
          <a:sx n="92" d="100"/>
          <a:sy n="92" d="100"/>
        </p:scale>
        <p:origin x="51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569A15-4387-4BAF-B9A5-6E3281A819DD}" type="datetimeFigureOut">
              <a:rPr lang="zh-CN" altLang="en-US" smtClean="0"/>
              <a:t>2025/7/9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C8669-E6A0-4814-9F6C-9CF5D470E792}" type="slidenum">
              <a:rPr lang="zh-CN" altLang="en-US" smtClean="0"/>
              <a:t>‹#›</a:t>
            </a:fld>
            <a:endParaRPr lang="zh-CN" altLang="en-US"/>
          </a:p>
        </p:txBody>
      </p:sp>
    </p:spTree>
    <p:extLst>
      <p:ext uri="{BB962C8B-B14F-4D97-AF65-F5344CB8AC3E}">
        <p14:creationId xmlns:p14="http://schemas.microsoft.com/office/powerpoint/2010/main" val="1436296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3C8669-E6A0-4814-9F6C-9CF5D470E792}" type="slidenum">
              <a:rPr lang="zh-CN" altLang="en-US" smtClean="0"/>
              <a:t>1</a:t>
            </a:fld>
            <a:endParaRPr lang="zh-CN" altLang="en-US"/>
          </a:p>
        </p:txBody>
      </p:sp>
    </p:spTree>
    <p:extLst>
      <p:ext uri="{BB962C8B-B14F-4D97-AF65-F5344CB8AC3E}">
        <p14:creationId xmlns:p14="http://schemas.microsoft.com/office/powerpoint/2010/main" val="4003650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3595448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4101383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540682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1195024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2091391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1882097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586954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4014387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3724208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1970708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3229987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页脚占位符 3"/>
          <p:cNvSpPr>
            <a:spLocks noChangeArrowheads="1"/>
          </p:cNvSpPr>
          <p:nvPr/>
        </p:nvSpPr>
        <p:spPr bwMode="auto">
          <a:xfrm>
            <a:off x="964370" y="6214395"/>
            <a:ext cx="2208456" cy="288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lvl1pPr eaLnBrk="0" hangingPunct="0">
              <a:defRPr>
                <a:solidFill>
                  <a:srgbClr val="000000"/>
                </a:solidFill>
                <a:latin typeface="Arial" panose="020B0604020202020204" pitchFamily="34" charset="0"/>
                <a:ea typeface="宋体" pitchFamily="2" charset="-122"/>
              </a:defRPr>
            </a:lvl1pPr>
            <a:lvl2pPr marL="742950" indent="-285750" eaLnBrk="0" hangingPunct="0">
              <a:defRPr>
                <a:solidFill>
                  <a:srgbClr val="000000"/>
                </a:solidFill>
                <a:latin typeface="Arial" panose="020B0604020202020204" pitchFamily="34" charset="0"/>
                <a:ea typeface="宋体" pitchFamily="2" charset="-122"/>
              </a:defRPr>
            </a:lvl2pPr>
            <a:lvl3pPr marL="1143000" indent="-228600" eaLnBrk="0" hangingPunct="0">
              <a:defRPr>
                <a:solidFill>
                  <a:srgbClr val="000000"/>
                </a:solidFill>
                <a:latin typeface="Arial" panose="020B0604020202020204" pitchFamily="34" charset="0"/>
                <a:ea typeface="宋体" pitchFamily="2" charset="-122"/>
              </a:defRPr>
            </a:lvl3pPr>
            <a:lvl4pPr marL="1600200" indent="-228600" eaLnBrk="0" hangingPunct="0">
              <a:defRPr>
                <a:solidFill>
                  <a:srgbClr val="000000"/>
                </a:solidFill>
                <a:latin typeface="Arial" panose="020B0604020202020204" pitchFamily="34" charset="0"/>
                <a:ea typeface="宋体" pitchFamily="2" charset="-122"/>
              </a:defRPr>
            </a:lvl4pPr>
            <a:lvl5pPr marL="2057400" indent="-228600" eaLnBrk="0" hangingPunct="0">
              <a:defRPr>
                <a:solidFill>
                  <a:srgbClr val="000000"/>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rgbClr val="000000"/>
                </a:solidFill>
                <a:latin typeface="Arial" panose="020B0604020202020204" pitchFamily="34" charset="0"/>
                <a:ea typeface="宋体" pitchFamily="2" charset="-122"/>
              </a:defRPr>
            </a:lvl9pPr>
          </a:lstStyle>
          <a:p>
            <a:pPr eaLnBrk="1" fontAlgn="base" hangingPunct="1">
              <a:spcBef>
                <a:spcPct val="0"/>
              </a:spcBef>
              <a:spcAft>
                <a:spcPct val="0"/>
              </a:spcAft>
              <a:buFont typeface="Arial" panose="020B0604020202020204" pitchFamily="34" charset="0"/>
              <a:buNone/>
            </a:pPr>
            <a:r>
              <a:rPr lang="en-US" altLang="zh-CN" sz="1200" b="1" i="1" dirty="0">
                <a:ea typeface="微软雅黑" panose="020B0503020204020204" charset="-122"/>
                <a:sym typeface="宋体" pitchFamily="2" charset="-122"/>
              </a:rPr>
              <a:t>|  </a:t>
            </a:r>
            <a:r>
              <a:rPr lang="en-US" altLang="zh-CN" sz="1200" i="1" dirty="0" err="1">
                <a:ea typeface="微软雅黑" panose="020B0503020204020204" charset="-122"/>
                <a:sym typeface="宋体" pitchFamily="2" charset="-122"/>
              </a:rPr>
              <a:t>www.ruijie.com.cn</a:t>
            </a:r>
            <a:endParaRPr lang="en-US" altLang="zh-CN" sz="1200" i="1" dirty="0">
              <a:ea typeface="微软雅黑" panose="020B0503020204020204" charset="-122"/>
              <a:sym typeface="宋体" pitchFamily="2" charset="-122"/>
            </a:endParaRPr>
          </a:p>
        </p:txBody>
      </p:sp>
      <p:pic>
        <p:nvPicPr>
          <p:cNvPr id="5" name="图片 4" descr="场景无限 智享物联 锐捷网络移动医疗解决方案2018-03"/>
          <p:cNvPicPr>
            <a:picLocks noChangeAspect="1"/>
          </p:cNvPicPr>
          <p:nvPr/>
        </p:nvPicPr>
        <p:blipFill>
          <a:blip r:embed="rId2" cstate="email"/>
          <a:stretch>
            <a:fillRect/>
          </a:stretch>
        </p:blipFill>
        <p:spPr>
          <a:xfrm>
            <a:off x="9680584" y="6195585"/>
            <a:ext cx="1903404" cy="325931"/>
          </a:xfrm>
          <a:prstGeom prst="rect">
            <a:avLst/>
          </a:prstGeom>
        </p:spPr>
      </p:pic>
      <p:sp>
        <p:nvSpPr>
          <p:cNvPr id="8" name="矩形 7"/>
          <p:cNvSpPr/>
          <p:nvPr/>
        </p:nvSpPr>
        <p:spPr>
          <a:xfrm>
            <a:off x="-10754" y="364237"/>
            <a:ext cx="621026" cy="504018"/>
          </a:xfrm>
          <a:prstGeom prst="rect">
            <a:avLst/>
          </a:prstGeom>
          <a:solidFill>
            <a:srgbClr val="E60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buFont typeface="Arial" panose="020B0604020202020204" pitchFamily="34" charset="0"/>
              <a:buNone/>
            </a:pPr>
            <a:endParaRPr lang="zh-CN" altLang="en-US">
              <a:solidFill>
                <a:prstClr val="white"/>
              </a:solidFill>
            </a:endParaRPr>
          </a:p>
        </p:txBody>
      </p:sp>
    </p:spTree>
    <p:extLst>
      <p:ext uri="{BB962C8B-B14F-4D97-AF65-F5344CB8AC3E}">
        <p14:creationId xmlns:p14="http://schemas.microsoft.com/office/powerpoint/2010/main" val="3816364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24599-1BCC-4D2E-991F-75EE450259C9}" type="datetimeFigureOut">
              <a:rPr lang="zh-CN" altLang="en-US" smtClean="0"/>
              <a:t>2025/7/9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E45DBA-3AF1-4750-85F1-B46E9D23C3D5}" type="slidenum">
              <a:rPr lang="zh-CN" altLang="en-US" smtClean="0"/>
              <a:t>‹#›</a:t>
            </a:fld>
            <a:endParaRPr lang="zh-CN" altLang="en-US"/>
          </a:p>
        </p:txBody>
      </p:sp>
    </p:spTree>
    <p:extLst>
      <p:ext uri="{BB962C8B-B14F-4D97-AF65-F5344CB8AC3E}">
        <p14:creationId xmlns:p14="http://schemas.microsoft.com/office/powerpoint/2010/main" val="1600880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2.xml"/><Relationship Id="rId1" Type="http://schemas.openxmlformats.org/officeDocument/2006/relationships/tags" Target="../tags/tag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216516" y="1375130"/>
            <a:ext cx="6872687" cy="52048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 name="文本框 1"/>
          <p:cNvSpPr txBox="1"/>
          <p:nvPr>
            <p:custDataLst>
              <p:tags r:id="rId1"/>
            </p:custDataLst>
          </p:nvPr>
        </p:nvSpPr>
        <p:spPr>
          <a:xfrm>
            <a:off x="619269" y="369497"/>
            <a:ext cx="11664661" cy="504362"/>
          </a:xfrm>
          <a:prstGeom prst="rect">
            <a:avLst/>
          </a:prstGeom>
          <a:noFill/>
        </p:spPr>
        <p:txBody>
          <a:bodyPr wrap="square" rtlCol="0">
            <a:noAutofit/>
          </a:bodyPr>
          <a:lstStyle/>
          <a:p>
            <a:r>
              <a:rPr kumimoji="1" lang="zh-CN" altLang="en-US" sz="2800" b="1" dirty="0" smtClean="0">
                <a:solidFill>
                  <a:srgbClr val="E60039"/>
                </a:solidFill>
                <a:latin typeface="微软雅黑" panose="020B0503020204020204" charset="-122"/>
                <a:ea typeface="微软雅黑" panose="020B0503020204020204" charset="-122"/>
                <a:sym typeface="+mn-ea"/>
              </a:rPr>
              <a:t>自工序</a:t>
            </a:r>
            <a:r>
              <a:rPr kumimoji="1" lang="en-US" altLang="zh-CN" sz="2800" b="1" dirty="0" smtClean="0">
                <a:solidFill>
                  <a:srgbClr val="E60039"/>
                </a:solidFill>
                <a:latin typeface="微软雅黑" panose="020B0503020204020204" charset="-122"/>
                <a:ea typeface="微软雅黑" panose="020B0503020204020204" charset="-122"/>
                <a:sym typeface="+mn-ea"/>
              </a:rPr>
              <a:t>-</a:t>
            </a:r>
            <a:r>
              <a:rPr kumimoji="1" lang="zh-CN" altLang="en-US" sz="2800" b="1" dirty="0" smtClean="0">
                <a:solidFill>
                  <a:srgbClr val="E60039"/>
                </a:solidFill>
                <a:latin typeface="微软雅黑" panose="020B0503020204020204" charset="-122"/>
                <a:ea typeface="微软雅黑" panose="020B0503020204020204" charset="-122"/>
                <a:sym typeface="+mn-ea"/>
              </a:rPr>
              <a:t>漏斗外进漏斗内如何做准“</a:t>
            </a:r>
            <a:r>
              <a:rPr kumimoji="1" lang="en-US" altLang="zh-CN" sz="2800" b="1" dirty="0" smtClean="0">
                <a:solidFill>
                  <a:srgbClr val="E60039"/>
                </a:solidFill>
                <a:latin typeface="微软雅黑" panose="020B0503020204020204" charset="-122"/>
                <a:ea typeface="微软雅黑" panose="020B0503020204020204" charset="-122"/>
                <a:sym typeface="+mn-ea"/>
              </a:rPr>
              <a:t>N</a:t>
            </a:r>
            <a:r>
              <a:rPr kumimoji="1" lang="zh-CN" altLang="en-US" sz="2800" b="1" dirty="0" smtClean="0">
                <a:solidFill>
                  <a:srgbClr val="E60039"/>
                </a:solidFill>
                <a:latin typeface="微软雅黑" panose="020B0503020204020204" charset="-122"/>
                <a:ea typeface="微软雅黑" panose="020B0503020204020204" charset="-122"/>
                <a:sym typeface="+mn-ea"/>
              </a:rPr>
              <a:t>”</a:t>
            </a:r>
            <a:endParaRPr kumimoji="1" lang="zh-CN" altLang="en-US" sz="2800" b="1" dirty="0">
              <a:solidFill>
                <a:srgbClr val="E60039"/>
              </a:solidFill>
              <a:latin typeface="微软雅黑" panose="020B0503020204020204" charset="-122"/>
              <a:ea typeface="微软雅黑" panose="020B0503020204020204" charset="-122"/>
              <a:sym typeface="+mn-ea"/>
            </a:endParaRPr>
          </a:p>
        </p:txBody>
      </p:sp>
      <p:sp>
        <p:nvSpPr>
          <p:cNvPr id="3" name="文本框 2"/>
          <p:cNvSpPr txBox="1"/>
          <p:nvPr/>
        </p:nvSpPr>
        <p:spPr>
          <a:xfrm>
            <a:off x="933552" y="904534"/>
            <a:ext cx="3401587"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过去销售售前如何做“</a:t>
            </a:r>
            <a:r>
              <a:rPr lang="en-US" altLang="zh-CN" b="1" dirty="0" smtClean="0">
                <a:latin typeface="微软雅黑" panose="020B0503020204020204" pitchFamily="34" charset="-122"/>
                <a:ea typeface="微软雅黑" panose="020B0503020204020204" pitchFamily="34" charset="-122"/>
              </a:rPr>
              <a:t>N</a:t>
            </a:r>
            <a:r>
              <a:rPr lang="zh-CN" altLang="en-US" b="1" dirty="0" smtClean="0">
                <a:latin typeface="微软雅黑" panose="020B0503020204020204" pitchFamily="34" charset="-122"/>
                <a:ea typeface="微软雅黑" panose="020B0503020204020204" pitchFamily="34" charset="-122"/>
              </a:rPr>
              <a:t>”的？</a:t>
            </a:r>
            <a:endParaRPr lang="zh-CN" altLang="en-US" b="1" dirty="0">
              <a:latin typeface="微软雅黑" panose="020B0503020204020204" pitchFamily="34" charset="-122"/>
              <a:ea typeface="微软雅黑" panose="020B0503020204020204" pitchFamily="34" charset="-122"/>
            </a:endParaRPr>
          </a:p>
        </p:txBody>
      </p:sp>
      <p:sp>
        <p:nvSpPr>
          <p:cNvPr id="4" name="矩形 3"/>
          <p:cNvSpPr/>
          <p:nvPr/>
        </p:nvSpPr>
        <p:spPr>
          <a:xfrm>
            <a:off x="356958" y="1362474"/>
            <a:ext cx="4438962" cy="51998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文本框 5"/>
          <p:cNvSpPr txBox="1"/>
          <p:nvPr/>
        </p:nvSpPr>
        <p:spPr>
          <a:xfrm>
            <a:off x="6704305" y="898851"/>
            <a:ext cx="3401587" cy="369332"/>
          </a:xfrm>
          <a:prstGeom prst="rect">
            <a:avLst/>
          </a:prstGeom>
          <a:noFill/>
        </p:spPr>
        <p:txBody>
          <a:bodyPr wrap="squar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现在</a:t>
            </a:r>
            <a:r>
              <a:rPr lang="zh-CN" altLang="en-US" b="1" dirty="0" smtClean="0">
                <a:solidFill>
                  <a:srgbClr val="FF0000"/>
                </a:solidFill>
                <a:latin typeface="微软雅黑" panose="020B0503020204020204" pitchFamily="34" charset="-122"/>
                <a:ea typeface="微软雅黑" panose="020B0503020204020204" pitchFamily="34" charset="-122"/>
              </a:rPr>
              <a:t>销售</a:t>
            </a:r>
            <a:r>
              <a:rPr lang="zh-CN" altLang="en-US" b="1" dirty="0" smtClean="0">
                <a:solidFill>
                  <a:srgbClr val="FF0000"/>
                </a:solidFill>
                <a:latin typeface="微软雅黑" panose="020B0503020204020204" pitchFamily="34" charset="-122"/>
                <a:ea typeface="微软雅黑" panose="020B0503020204020204" pitchFamily="34" charset="-122"/>
              </a:rPr>
              <a:t>售</a:t>
            </a:r>
            <a:r>
              <a:rPr lang="zh-CN" altLang="en-US" b="1" dirty="0" smtClean="0">
                <a:solidFill>
                  <a:srgbClr val="FF0000"/>
                </a:solidFill>
                <a:latin typeface="微软雅黑" panose="020B0503020204020204" pitchFamily="34" charset="-122"/>
                <a:ea typeface="微软雅黑" panose="020B0503020204020204" pitchFamily="34" charset="-122"/>
              </a:rPr>
              <a:t>前要如何</a:t>
            </a:r>
            <a:r>
              <a:rPr lang="zh-CN" altLang="en-US" b="1" dirty="0" smtClean="0">
                <a:solidFill>
                  <a:srgbClr val="FF0000"/>
                </a:solidFill>
                <a:latin typeface="微软雅黑" panose="020B0503020204020204" pitchFamily="34" charset="-122"/>
                <a:ea typeface="微软雅黑" panose="020B0503020204020204" pitchFamily="34" charset="-122"/>
              </a:rPr>
              <a:t>做“</a:t>
            </a:r>
            <a:r>
              <a:rPr lang="en-US" altLang="zh-CN" b="1" dirty="0" smtClean="0">
                <a:solidFill>
                  <a:srgbClr val="FF0000"/>
                </a:solidFill>
                <a:latin typeface="微软雅黑" panose="020B0503020204020204" pitchFamily="34" charset="-122"/>
                <a:ea typeface="微软雅黑" panose="020B0503020204020204" pitchFamily="34" charset="-122"/>
              </a:rPr>
              <a:t>N</a:t>
            </a:r>
            <a:r>
              <a:rPr lang="zh-CN" altLang="en-US" b="1" dirty="0" smtClean="0">
                <a:solidFill>
                  <a:srgbClr val="FF0000"/>
                </a:solidFill>
                <a:latin typeface="微软雅黑" panose="020B0503020204020204" pitchFamily="34" charset="-122"/>
                <a:ea typeface="微软雅黑" panose="020B0503020204020204" pitchFamily="34" charset="-122"/>
              </a:rPr>
              <a:t>”？</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10171065" y="2129683"/>
            <a:ext cx="1818315" cy="655082"/>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sz="500">
                <a:solidFill>
                  <a:schemeClr val="tx1"/>
                </a:solidFill>
                <a:latin typeface="微软雅黑" panose="020B0503020204020204" pitchFamily="34" charset="-122"/>
                <a:ea typeface="微软雅黑" panose="020B0503020204020204" pitchFamily="34" charset="-122"/>
              </a:defRPr>
            </a:lvl1pPr>
          </a:lstStyle>
          <a:p>
            <a:pPr algn="l"/>
            <a:r>
              <a:rPr lang="zh-CN" altLang="en-US" sz="1100" dirty="0" smtClean="0">
                <a:solidFill>
                  <a:srgbClr val="C00000"/>
                </a:solidFill>
              </a:rPr>
              <a:t>产品清单只能由售前配置，</a:t>
            </a:r>
            <a:r>
              <a:rPr lang="en-US" altLang="zh-CN" sz="1100" dirty="0" smtClean="0">
                <a:solidFill>
                  <a:srgbClr val="C00000"/>
                </a:solidFill>
              </a:rPr>
              <a:t>CRM</a:t>
            </a:r>
            <a:r>
              <a:rPr lang="zh-CN" altLang="en-US" sz="1100" dirty="0" smtClean="0">
                <a:solidFill>
                  <a:srgbClr val="C00000"/>
                </a:solidFill>
              </a:rPr>
              <a:t>系统项目与</a:t>
            </a:r>
            <a:r>
              <a:rPr lang="en-US" altLang="zh-CN" sz="1100" dirty="0" smtClean="0">
                <a:solidFill>
                  <a:srgbClr val="C00000"/>
                </a:solidFill>
              </a:rPr>
              <a:t>ECP</a:t>
            </a:r>
            <a:r>
              <a:rPr lang="zh-CN" altLang="en-US" sz="1100" dirty="0" smtClean="0">
                <a:solidFill>
                  <a:srgbClr val="C00000"/>
                </a:solidFill>
              </a:rPr>
              <a:t>系统项目一对一匹配</a:t>
            </a:r>
            <a:endParaRPr lang="zh-CN" altLang="en-US" sz="1100" dirty="0">
              <a:solidFill>
                <a:srgbClr val="C00000"/>
              </a:solidFill>
            </a:endParaRPr>
          </a:p>
        </p:txBody>
      </p:sp>
      <p:grpSp>
        <p:nvGrpSpPr>
          <p:cNvPr id="98" name="组合 97"/>
          <p:cNvGrpSpPr/>
          <p:nvPr/>
        </p:nvGrpSpPr>
        <p:grpSpPr>
          <a:xfrm>
            <a:off x="515219" y="1527924"/>
            <a:ext cx="2219334" cy="4756058"/>
            <a:chOff x="543116" y="1697358"/>
            <a:chExt cx="2815695" cy="4383402"/>
          </a:xfrm>
        </p:grpSpPr>
        <p:sp>
          <p:nvSpPr>
            <p:cNvPr id="9" name="圆角矩形 8"/>
            <p:cNvSpPr/>
            <p:nvPr/>
          </p:nvSpPr>
          <p:spPr>
            <a:xfrm>
              <a:off x="2140518"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线索满足进漏斗条件</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2132737" y="3473153"/>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获取配置器清单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ECP</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5" name="圆角矩形 34"/>
            <p:cNvSpPr/>
            <p:nvPr/>
          </p:nvSpPr>
          <p:spPr>
            <a:xfrm>
              <a:off x="2131743" y="420946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保存至</a:t>
              </a:r>
              <a:r>
                <a:rPr lang="en-US" altLang="zh-CN" sz="700" dirty="0" smtClean="0">
                  <a:solidFill>
                    <a:schemeClr val="tx1"/>
                  </a:solidFill>
                  <a:latin typeface="微软雅黑" panose="020B0503020204020204" pitchFamily="34" charset="-122"/>
                  <a:ea typeface="微软雅黑" panose="020B0503020204020204" pitchFamily="34" charset="-122"/>
                </a:rPr>
                <a:t>CRM</a:t>
              </a: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smtClean="0">
                  <a:solidFill>
                    <a:schemeClr val="tx1"/>
                  </a:solidFill>
                  <a:latin typeface="微软雅黑" panose="020B0503020204020204" pitchFamily="34" charset="-122"/>
                  <a:ea typeface="微软雅黑" panose="020B0503020204020204" pitchFamily="34" charset="-122"/>
                </a:rPr>
                <a:t>ECP</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682572" y="2776971"/>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配产品清单（</a:t>
              </a:r>
              <a:r>
                <a:rPr lang="zh-CN" altLang="en-US" sz="700" dirty="0" smtClean="0">
                  <a:solidFill>
                    <a:schemeClr val="tx1"/>
                  </a:solidFill>
                  <a:latin typeface="微软雅黑" panose="020B0503020204020204" pitchFamily="34" charset="-122"/>
                  <a:ea typeface="微软雅黑" panose="020B0503020204020204" pitchFamily="34" charset="-122"/>
                </a:rPr>
                <a:t>产品配置器）</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41" name="圆角矩形 40"/>
            <p:cNvSpPr/>
            <p:nvPr/>
          </p:nvSpPr>
          <p:spPr>
            <a:xfrm>
              <a:off x="682570" y="346619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分享</a:t>
              </a:r>
              <a:r>
                <a:rPr lang="zh-CN" altLang="en-US" sz="700" dirty="0" smtClean="0">
                  <a:solidFill>
                    <a:schemeClr val="tx1"/>
                  </a:solidFill>
                  <a:latin typeface="微软雅黑" panose="020B0503020204020204" pitchFamily="34" charset="-122"/>
                  <a:ea typeface="微软雅黑" panose="020B0503020204020204" pitchFamily="34" charset="-122"/>
                </a:rPr>
                <a:t>产品报价清单</a:t>
              </a:r>
              <a:r>
                <a:rPr lang="zh-CN" altLang="en-US" sz="700" dirty="0" smtClean="0">
                  <a:solidFill>
                    <a:schemeClr val="tx1"/>
                  </a:solidFill>
                  <a:latin typeface="微软雅黑" panose="020B0503020204020204" pitchFamily="34" charset="-122"/>
                  <a:ea typeface="微软雅黑" panose="020B0503020204020204" pitchFamily="34" charset="-122"/>
                </a:rPr>
                <a:t>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（产品配置器）</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44" name="圆角矩形 43"/>
            <p:cNvSpPr/>
            <p:nvPr/>
          </p:nvSpPr>
          <p:spPr>
            <a:xfrm>
              <a:off x="683722"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获取客户需求</a:t>
              </a:r>
              <a:endParaRPr lang="zh-CN" altLang="en-US" sz="700" dirty="0">
                <a:solidFill>
                  <a:schemeClr val="tx1"/>
                </a:solidFill>
                <a:latin typeface="微软雅黑" panose="020B0503020204020204" pitchFamily="34" charset="-122"/>
                <a:ea typeface="微软雅黑" panose="020B0503020204020204" pitchFamily="34" charset="-122"/>
              </a:endParaRPr>
            </a:p>
          </p:txBody>
        </p:sp>
        <p:cxnSp>
          <p:nvCxnSpPr>
            <p:cNvPr id="45" name="直接箭头连接符 44"/>
            <p:cNvCxnSpPr>
              <a:stCxn id="44" idx="2"/>
              <a:endCxn id="36" idx="0"/>
            </p:cNvCxnSpPr>
            <p:nvPr/>
          </p:nvCxnSpPr>
          <p:spPr>
            <a:xfrm flipH="1">
              <a:off x="1220740" y="2567091"/>
              <a:ext cx="1151" cy="20988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36" idx="2"/>
              <a:endCxn id="41" idx="0"/>
            </p:cNvCxnSpPr>
            <p:nvPr/>
          </p:nvCxnSpPr>
          <p:spPr>
            <a:xfrm flipH="1">
              <a:off x="1220739" y="3192877"/>
              <a:ext cx="1" cy="273315"/>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圆角矩形 46"/>
            <p:cNvSpPr/>
            <p:nvPr/>
          </p:nvSpPr>
          <p:spPr>
            <a:xfrm>
              <a:off x="2135965" y="2775044"/>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创建报价单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smtClean="0">
                  <a:solidFill>
                    <a:schemeClr val="tx1"/>
                  </a:solidFill>
                  <a:latin typeface="微软雅黑" panose="020B0503020204020204" pitchFamily="34" charset="-122"/>
                  <a:ea typeface="微软雅黑" panose="020B0503020204020204" pitchFamily="34" charset="-122"/>
                </a:rPr>
                <a:t>CRM</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cxnSp>
          <p:nvCxnSpPr>
            <p:cNvPr id="52" name="直接箭头连接符 51"/>
            <p:cNvCxnSpPr>
              <a:stCxn id="9" idx="2"/>
              <a:endCxn id="47" idx="0"/>
            </p:cNvCxnSpPr>
            <p:nvPr/>
          </p:nvCxnSpPr>
          <p:spPr>
            <a:xfrm flipH="1">
              <a:off x="2674133" y="2567091"/>
              <a:ext cx="4553" cy="2079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28" idx="2"/>
              <a:endCxn id="35" idx="0"/>
            </p:cNvCxnSpPr>
            <p:nvPr/>
          </p:nvCxnSpPr>
          <p:spPr>
            <a:xfrm flipH="1">
              <a:off x="2669912" y="3889059"/>
              <a:ext cx="993" cy="3204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47" idx="2"/>
              <a:endCxn id="28" idx="0"/>
            </p:cNvCxnSpPr>
            <p:nvPr/>
          </p:nvCxnSpPr>
          <p:spPr>
            <a:xfrm flipH="1">
              <a:off x="2670905" y="3190950"/>
              <a:ext cx="3228" cy="2822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900022" y="1782000"/>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售前</a:t>
              </a:r>
            </a:p>
          </p:txBody>
        </p:sp>
        <p:sp>
          <p:nvSpPr>
            <p:cNvPr id="69" name="文本框 68"/>
            <p:cNvSpPr txBox="1"/>
            <p:nvPr/>
          </p:nvSpPr>
          <p:spPr>
            <a:xfrm>
              <a:off x="2378060" y="1775505"/>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smtClean="0">
                  <a:solidFill>
                    <a:schemeClr val="bg1"/>
                  </a:solidFill>
                  <a:latin typeface="微软雅黑" panose="020B0503020204020204" pitchFamily="34" charset="-122"/>
                  <a:ea typeface="微软雅黑" panose="020B0503020204020204" pitchFamily="34" charset="-122"/>
                </a:rPr>
                <a:t>销售</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70" name="矩形 69"/>
            <p:cNvSpPr/>
            <p:nvPr/>
          </p:nvSpPr>
          <p:spPr>
            <a:xfrm>
              <a:off x="543116" y="1697358"/>
              <a:ext cx="1357549" cy="4383402"/>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71" name="矩形 70"/>
            <p:cNvSpPr/>
            <p:nvPr/>
          </p:nvSpPr>
          <p:spPr>
            <a:xfrm>
              <a:off x="2018779" y="1699201"/>
              <a:ext cx="1340032" cy="4381559"/>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grpSp>
      <p:sp>
        <p:nvSpPr>
          <p:cNvPr id="74" name="圆角矩形 73"/>
          <p:cNvSpPr/>
          <p:nvPr/>
        </p:nvSpPr>
        <p:spPr>
          <a:xfrm>
            <a:off x="9161547" y="1491153"/>
            <a:ext cx="944235" cy="451264"/>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solidFill>
                <a:latin typeface="微软雅黑" panose="020B0503020204020204" pitchFamily="34" charset="-122"/>
                <a:ea typeface="微软雅黑" panose="020B0503020204020204" pitchFamily="34" charset="-122"/>
              </a:rPr>
              <a:t>显示该项目对应的配置清单</a:t>
            </a:r>
            <a:endParaRPr lang="en-US" altLang="zh-CN" sz="800" dirty="0" smtClean="0">
              <a:solidFill>
                <a:schemeClr val="tx1"/>
              </a:solidFill>
              <a:latin typeface="微软雅黑" panose="020B0503020204020204" pitchFamily="34" charset="-122"/>
              <a:ea typeface="微软雅黑" panose="020B0503020204020204" pitchFamily="34" charset="-122"/>
            </a:endParaRPr>
          </a:p>
          <a:p>
            <a:pPr algn="ctr"/>
            <a:r>
              <a:rPr lang="zh-CN" altLang="en-US" sz="800" dirty="0" smtClean="0">
                <a:solidFill>
                  <a:schemeClr val="tx1"/>
                </a:solidFill>
                <a:latin typeface="微软雅黑" panose="020B0503020204020204" pitchFamily="34" charset="-122"/>
                <a:ea typeface="微软雅黑" panose="020B0503020204020204" pitchFamily="34" charset="-122"/>
              </a:rPr>
              <a:t>（</a:t>
            </a:r>
            <a:r>
              <a:rPr lang="en-US" altLang="zh-CN" sz="800" dirty="0" smtClean="0">
                <a:solidFill>
                  <a:schemeClr val="tx1"/>
                </a:solidFill>
                <a:latin typeface="微软雅黑" panose="020B0503020204020204" pitchFamily="34" charset="-122"/>
                <a:ea typeface="微软雅黑" panose="020B0503020204020204" pitchFamily="34" charset="-122"/>
              </a:rPr>
              <a:t>ECP</a:t>
            </a:r>
            <a:r>
              <a:rPr lang="zh-CN" altLang="en-US" sz="800" dirty="0" smtClean="0">
                <a:solidFill>
                  <a:schemeClr val="tx1"/>
                </a:solidFill>
                <a:latin typeface="微软雅黑" panose="020B0503020204020204" pitchFamily="34" charset="-122"/>
                <a:ea typeface="微软雅黑" panose="020B0503020204020204" pitchFamily="34" charset="-122"/>
              </a:rPr>
              <a:t>）</a:t>
            </a:r>
            <a:endParaRPr lang="zh-CN" altLang="en-US" sz="800" dirty="0">
              <a:solidFill>
                <a:schemeClr val="tx1"/>
              </a:solidFill>
              <a:latin typeface="微软雅黑" panose="020B0503020204020204" pitchFamily="34" charset="-122"/>
              <a:ea typeface="微软雅黑" panose="020B0503020204020204" pitchFamily="34" charset="-122"/>
            </a:endParaRPr>
          </a:p>
        </p:txBody>
      </p:sp>
      <p:sp>
        <p:nvSpPr>
          <p:cNvPr id="90" name="文本框 89"/>
          <p:cNvSpPr txBox="1"/>
          <p:nvPr/>
        </p:nvSpPr>
        <p:spPr>
          <a:xfrm>
            <a:off x="5265483" y="1619543"/>
            <a:ext cx="486046"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smtClean="0">
                <a:solidFill>
                  <a:schemeClr val="bg1"/>
                </a:solidFill>
                <a:latin typeface="微软雅黑" panose="020B0503020204020204" pitchFamily="34" charset="-122"/>
                <a:ea typeface="微软雅黑" panose="020B0503020204020204" pitchFamily="34" charset="-122"/>
              </a:rPr>
              <a:t>销售</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100" name="矩形 99"/>
          <p:cNvSpPr/>
          <p:nvPr/>
        </p:nvSpPr>
        <p:spPr>
          <a:xfrm>
            <a:off x="2961446" y="1996548"/>
            <a:ext cx="1724968" cy="13621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smtClean="0">
                <a:solidFill>
                  <a:schemeClr val="tx1"/>
                </a:solidFill>
                <a:latin typeface="微软雅黑" panose="020B0503020204020204" pitchFamily="34" charset="-122"/>
                <a:ea typeface="微软雅黑" panose="020B0503020204020204" pitchFamily="34" charset="-122"/>
              </a:rPr>
              <a:t>售前缺少在漏斗外进漏斗内时对</a:t>
            </a:r>
            <a:r>
              <a:rPr lang="zh-CN" altLang="en-US" sz="1200" dirty="0" smtClean="0">
                <a:solidFill>
                  <a:srgbClr val="FF0000"/>
                </a:solidFill>
                <a:latin typeface="微软雅黑" panose="020B0503020204020204" pitchFamily="34" charset="-122"/>
                <a:ea typeface="微软雅黑" panose="020B0503020204020204" pitchFamily="34" charset="-122"/>
              </a:rPr>
              <a:t>“产品清单做准的”要求、标准、指导，存在根据历史项目产品清单简单调整，只匹配上总金额就提交的情况</a:t>
            </a:r>
            <a:endParaRPr lang="zh-CN" altLang="en-US" sz="1200" dirty="0">
              <a:solidFill>
                <a:srgbClr val="FF0000"/>
              </a:solidFill>
              <a:latin typeface="微软雅黑" panose="020B0503020204020204" pitchFamily="34" charset="-122"/>
              <a:ea typeface="微软雅黑" panose="020B0503020204020204" pitchFamily="34" charset="-122"/>
            </a:endParaRPr>
          </a:p>
        </p:txBody>
      </p:sp>
      <p:sp>
        <p:nvSpPr>
          <p:cNvPr id="101" name="矩形 100"/>
          <p:cNvSpPr/>
          <p:nvPr/>
        </p:nvSpPr>
        <p:spPr>
          <a:xfrm>
            <a:off x="2938958" y="3761431"/>
            <a:ext cx="1747456" cy="14506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smtClean="0">
                <a:solidFill>
                  <a:schemeClr val="tx1"/>
                </a:solidFill>
                <a:latin typeface="微软雅黑" panose="020B0503020204020204" pitchFamily="34" charset="-122"/>
                <a:ea typeface="微软雅黑" panose="020B0503020204020204" pitchFamily="34" charset="-122"/>
              </a:rPr>
              <a:t>销售存在根据</a:t>
            </a:r>
            <a:r>
              <a:rPr lang="en-US" altLang="zh-CN" sz="1200" dirty="0" smtClean="0">
                <a:solidFill>
                  <a:schemeClr val="tx1"/>
                </a:solidFill>
                <a:latin typeface="微软雅黑" panose="020B0503020204020204" pitchFamily="34" charset="-122"/>
                <a:ea typeface="微软雅黑" panose="020B0503020204020204" pitchFamily="34" charset="-122"/>
              </a:rPr>
              <a:t>ECP</a:t>
            </a:r>
            <a:r>
              <a:rPr lang="zh-CN" altLang="en-US" sz="1200" dirty="0" smtClean="0">
                <a:solidFill>
                  <a:schemeClr val="tx1"/>
                </a:solidFill>
                <a:latin typeface="微软雅黑" panose="020B0503020204020204" pitchFamily="34" charset="-122"/>
                <a:ea typeface="微软雅黑" panose="020B0503020204020204" pitchFamily="34" charset="-122"/>
              </a:rPr>
              <a:t>系统里，</a:t>
            </a:r>
            <a:r>
              <a:rPr lang="zh-CN" altLang="en-US" sz="1200" dirty="0" smtClean="0">
                <a:solidFill>
                  <a:srgbClr val="FF0000"/>
                </a:solidFill>
                <a:latin typeface="微软雅黑" panose="020B0503020204020204" pitchFamily="34" charset="-122"/>
                <a:ea typeface="微软雅黑" panose="020B0503020204020204" pitchFamily="34" charset="-122"/>
              </a:rPr>
              <a:t>使用历史存留的产品报价清单，简单修改，只要匹配上总金额，就提交</a:t>
            </a:r>
            <a:r>
              <a:rPr lang="zh-CN" altLang="en-US" sz="1200" dirty="0" smtClean="0">
                <a:solidFill>
                  <a:schemeClr val="tx1"/>
                </a:solidFill>
                <a:latin typeface="微软雅黑" panose="020B0503020204020204" pitchFamily="34" charset="-122"/>
                <a:ea typeface="微软雅黑" panose="020B0503020204020204" pitchFamily="34" charset="-122"/>
              </a:rPr>
              <a:t>的情况，同时在漏斗外进漏斗内环节缺少检查产品清单的机制</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104" name="表格 103"/>
          <p:cNvGraphicFramePr>
            <a:graphicFrameLocks noGrp="1"/>
          </p:cNvGraphicFramePr>
          <p:nvPr>
            <p:extLst>
              <p:ext uri="{D42A27DB-BD31-4B8C-83A1-F6EECF244321}">
                <p14:modId xmlns:p14="http://schemas.microsoft.com/office/powerpoint/2010/main" val="3894967581"/>
              </p:ext>
            </p:extLst>
          </p:nvPr>
        </p:nvGraphicFramePr>
        <p:xfrm>
          <a:off x="5309144" y="3782602"/>
          <a:ext cx="6486082" cy="2660839"/>
        </p:xfrm>
        <a:graphic>
          <a:graphicData uri="http://schemas.openxmlformats.org/drawingml/2006/table">
            <a:tbl>
              <a:tblPr firstRow="1" bandRow="1">
                <a:tableStyleId>{9DCAF9ED-07DC-4A11-8D7F-57B35C25682E}</a:tableStyleId>
              </a:tblPr>
              <a:tblGrid>
                <a:gridCol w="543069">
                  <a:extLst>
                    <a:ext uri="{9D8B030D-6E8A-4147-A177-3AD203B41FA5}">
                      <a16:colId xmlns:a16="http://schemas.microsoft.com/office/drawing/2014/main" xmlns="" val="910313212"/>
                    </a:ext>
                  </a:extLst>
                </a:gridCol>
                <a:gridCol w="248580">
                  <a:extLst>
                    <a:ext uri="{9D8B030D-6E8A-4147-A177-3AD203B41FA5}">
                      <a16:colId xmlns:a16="http://schemas.microsoft.com/office/drawing/2014/main" xmlns="" val="149268332"/>
                    </a:ext>
                  </a:extLst>
                </a:gridCol>
                <a:gridCol w="305994">
                  <a:extLst>
                    <a:ext uri="{9D8B030D-6E8A-4147-A177-3AD203B41FA5}">
                      <a16:colId xmlns:a16="http://schemas.microsoft.com/office/drawing/2014/main" xmlns="" val="3828378604"/>
                    </a:ext>
                  </a:extLst>
                </a:gridCol>
                <a:gridCol w="381000">
                  <a:extLst>
                    <a:ext uri="{9D8B030D-6E8A-4147-A177-3AD203B41FA5}">
                      <a16:colId xmlns:a16="http://schemas.microsoft.com/office/drawing/2014/main" xmlns="" val="3258958576"/>
                    </a:ext>
                  </a:extLst>
                </a:gridCol>
                <a:gridCol w="1820018">
                  <a:extLst>
                    <a:ext uri="{9D8B030D-6E8A-4147-A177-3AD203B41FA5}">
                      <a16:colId xmlns:a16="http://schemas.microsoft.com/office/drawing/2014/main" xmlns="" val="955801584"/>
                    </a:ext>
                  </a:extLst>
                </a:gridCol>
                <a:gridCol w="344062">
                  <a:extLst>
                    <a:ext uri="{9D8B030D-6E8A-4147-A177-3AD203B41FA5}">
                      <a16:colId xmlns:a16="http://schemas.microsoft.com/office/drawing/2014/main" xmlns="" val="833554738"/>
                    </a:ext>
                  </a:extLst>
                </a:gridCol>
                <a:gridCol w="386080">
                  <a:extLst>
                    <a:ext uri="{9D8B030D-6E8A-4147-A177-3AD203B41FA5}">
                      <a16:colId xmlns:a16="http://schemas.microsoft.com/office/drawing/2014/main" xmlns="" val="1474701834"/>
                    </a:ext>
                  </a:extLst>
                </a:gridCol>
                <a:gridCol w="2457279">
                  <a:extLst>
                    <a:ext uri="{9D8B030D-6E8A-4147-A177-3AD203B41FA5}">
                      <a16:colId xmlns:a16="http://schemas.microsoft.com/office/drawing/2014/main" xmlns="" val="1218999251"/>
                    </a:ext>
                  </a:extLst>
                </a:gridCol>
              </a:tblGrid>
              <a:tr h="164500">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打分项分类</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序号</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打分项</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自评打分</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a:effectLst/>
                          <a:latin typeface="微软雅黑 Light" panose="020B0502040204020203" pitchFamily="34" charset="-122"/>
                          <a:ea typeface="微软雅黑 Light" panose="020B0502040204020203" pitchFamily="34" charset="-122"/>
                        </a:rPr>
                        <a:t>自评打分依据</a:t>
                      </a:r>
                      <a:endParaRPr lang="zh-CN" altLang="en-US" sz="700" b="1" i="0" u="none" strike="noStrike">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a:effectLst/>
                          <a:latin typeface="微软雅黑 Light" panose="020B0502040204020203" pitchFamily="34" charset="-122"/>
                          <a:ea typeface="微软雅黑 Light" panose="020B0502040204020203" pitchFamily="34" charset="-122"/>
                        </a:rPr>
                        <a:t>权重</a:t>
                      </a:r>
                      <a:endParaRPr lang="zh-CN" altLang="en-US" sz="700" b="1" i="0" u="none" strike="noStrike">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a:effectLst/>
                          <a:latin typeface="微软雅黑 Light" panose="020B0502040204020203" pitchFamily="34" charset="-122"/>
                          <a:ea typeface="微软雅黑 Light" panose="020B0502040204020203" pitchFamily="34" charset="-122"/>
                        </a:rPr>
                        <a:t>打分结果</a:t>
                      </a:r>
                      <a:endParaRPr lang="zh-CN" altLang="en-US" sz="700" b="1" i="0" u="none" strike="noStrike">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tc>
                  <a:txBody>
                    <a:bodyPr/>
                    <a:lstStyle/>
                    <a:p>
                      <a:pPr algn="ctr" fontAlgn="ctr"/>
                      <a:r>
                        <a:rPr lang="zh-CN" altLang="en-US" sz="700" b="1" u="none" strike="noStrike" dirty="0">
                          <a:effectLst/>
                          <a:latin typeface="微软雅黑 Light" panose="020B0502040204020203" pitchFamily="34" charset="-122"/>
                          <a:ea typeface="微软雅黑 Light" panose="020B0502040204020203" pitchFamily="34" charset="-122"/>
                        </a:rPr>
                        <a:t>检查依据</a:t>
                      </a:r>
                      <a:endParaRPr lang="zh-CN" altLang="en-US" sz="700" b="1" i="0" u="none" strike="noStrike" dirty="0">
                        <a:solidFill>
                          <a:srgbClr val="000000"/>
                        </a:solidFill>
                        <a:effectLst/>
                        <a:latin typeface="微软雅黑 Light" panose="020B0502040204020203" pitchFamily="34" charset="-122"/>
                        <a:ea typeface="微软雅黑 Light" panose="020B0502040204020203" pitchFamily="34" charset="-122"/>
                      </a:endParaRPr>
                    </a:p>
                  </a:txBody>
                  <a:tcPr marL="6350" marR="6350" marT="6350" marB="0" anchor="ctr"/>
                </a:tc>
                <a:extLst>
                  <a:ext uri="{0D108BD9-81ED-4DB2-BD59-A6C34878D82A}">
                    <a16:rowId xmlns:a16="http://schemas.microsoft.com/office/drawing/2014/main" xmlns="" val="3960608024"/>
                  </a:ext>
                </a:extLst>
              </a:tr>
              <a:tr h="212923">
                <a:tc rowSpan="3">
                  <a:txBody>
                    <a:bodyPr/>
                    <a:lstStyle/>
                    <a:p>
                      <a:pPr algn="l" fontAlgn="ctr"/>
                      <a:r>
                        <a:rPr lang="zh-CN" altLang="en-US" sz="600" u="none" strike="noStrike" dirty="0">
                          <a:effectLst/>
                          <a:latin typeface="微软雅黑" panose="020B0503020204020204" pitchFamily="34" charset="-122"/>
                          <a:ea typeface="微软雅黑" panose="020B0503020204020204" pitchFamily="34" charset="-122"/>
                        </a:rPr>
                        <a:t>项目预算</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accent2">
                        <a:lumMod val="40000"/>
                        <a:lumOff val="60000"/>
                      </a:schemeClr>
                    </a:solidFill>
                  </a:tcPr>
                </a:tc>
                <a:tc rowSpan="3">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1</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tc rowSpan="3">
                  <a:txBody>
                    <a:bodyPr/>
                    <a:lstStyle/>
                    <a:p>
                      <a:pPr algn="l" fontAlgn="ctr"/>
                      <a:r>
                        <a:rPr lang="zh-CN" altLang="en-US" sz="600" u="none" strike="noStrike" dirty="0">
                          <a:effectLst/>
                          <a:latin typeface="微软雅黑" panose="020B0503020204020204" pitchFamily="34" charset="-122"/>
                          <a:ea typeface="微软雅黑" panose="020B0503020204020204" pitchFamily="34" charset="-122"/>
                        </a:rPr>
                        <a:t>预研金额</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tc rowSpan="3">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5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项目相关的价格及竞争情报，历史采购价格及竞争价格准确输入；</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lnB w="12700" cmpd="sng">
                      <a:noFill/>
                    </a:lnB>
                    <a:solidFill>
                      <a:srgbClr val="FCECE8"/>
                    </a:solidFill>
                  </a:tcPr>
                </a:tc>
                <a:tc rowSpan="3">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20%</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tc rowSpan="3">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0.6</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tc rowSpan="3">
                  <a:txBody>
                    <a:bodyPr/>
                    <a:lstStyle/>
                    <a:p>
                      <a:pPr algn="l" fontAlgn="ctr"/>
                      <a:r>
                        <a:rPr lang="zh-CN" altLang="en-US" sz="600" u="none" strike="noStrike" dirty="0">
                          <a:effectLst/>
                          <a:latin typeface="微软雅黑" panose="020B0503020204020204" pitchFamily="34" charset="-122"/>
                          <a:ea typeface="微软雅黑" panose="020B0503020204020204" pitchFamily="34" charset="-122"/>
                        </a:rPr>
                        <a:t>以销售判断为准</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extLst>
                  <a:ext uri="{0D108BD9-81ED-4DB2-BD59-A6C34878D82A}">
                    <a16:rowId xmlns:a16="http://schemas.microsoft.com/office/drawing/2014/main" xmlns="" val="4005179688"/>
                  </a:ext>
                </a:extLst>
              </a:tr>
              <a:tr h="21292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kern="1200" dirty="0">
                          <a:solidFill>
                            <a:schemeClr val="dk1"/>
                          </a:solidFill>
                          <a:effectLst/>
                          <a:latin typeface="微软雅黑" panose="020B0503020204020204" pitchFamily="34" charset="-122"/>
                          <a:ea typeface="微软雅黑" panose="020B0503020204020204" pitchFamily="34" charset="-122"/>
                          <a:cs typeface="+mn-cs"/>
                        </a:rPr>
                        <a:t>4 </a:t>
                      </a:r>
                      <a:r>
                        <a:rPr lang="zh-CN" altLang="en-US" sz="600" u="none" strike="noStrike" kern="1200" dirty="0">
                          <a:solidFill>
                            <a:schemeClr val="dk1"/>
                          </a:solidFill>
                          <a:effectLst/>
                          <a:latin typeface="微软雅黑" panose="020B0503020204020204" pitchFamily="34" charset="-122"/>
                          <a:ea typeface="微软雅黑" panose="020B0503020204020204" pitchFamily="34" charset="-122"/>
                          <a:cs typeface="+mn-cs"/>
                        </a:rPr>
                        <a:t>分 </a:t>
                      </a:r>
                      <a:r>
                        <a:rPr lang="en-US" altLang="zh-CN" sz="600" u="none" strike="noStrike" kern="1200" dirty="0">
                          <a:solidFill>
                            <a:schemeClr val="dk1"/>
                          </a:solidFill>
                          <a:effectLst/>
                          <a:latin typeface="微软雅黑" panose="020B0503020204020204" pitchFamily="34" charset="-122"/>
                          <a:ea typeface="微软雅黑" panose="020B0503020204020204" pitchFamily="34" charset="-122"/>
                          <a:cs typeface="+mn-cs"/>
                        </a:rPr>
                        <a:t>- </a:t>
                      </a:r>
                      <a:r>
                        <a:rPr lang="zh-CN" altLang="en-US" sz="600" u="none" strike="noStrike" kern="1200" dirty="0">
                          <a:solidFill>
                            <a:schemeClr val="dk1"/>
                          </a:solidFill>
                          <a:effectLst/>
                          <a:latin typeface="微软雅黑" panose="020B0503020204020204" pitchFamily="34" charset="-122"/>
                          <a:ea typeface="微软雅黑" panose="020B0503020204020204" pitchFamily="34" charset="-122"/>
                          <a:cs typeface="+mn-cs"/>
                        </a:rPr>
                        <a:t>项目相关的价格及竞争情报输入，缺 </a:t>
                      </a:r>
                      <a:r>
                        <a:rPr lang="en-US" altLang="zh-CN" sz="600" u="none" strike="noStrike" kern="1200" dirty="0">
                          <a:solidFill>
                            <a:schemeClr val="dk1"/>
                          </a:solidFill>
                          <a:effectLst/>
                          <a:latin typeface="微软雅黑" panose="020B0503020204020204" pitchFamily="34" charset="-122"/>
                          <a:ea typeface="微软雅黑" panose="020B0503020204020204" pitchFamily="34" charset="-122"/>
                          <a:cs typeface="+mn-cs"/>
                        </a:rPr>
                        <a:t>1 </a:t>
                      </a:r>
                      <a:r>
                        <a:rPr lang="zh-CN" altLang="en-US" sz="600" u="none" strike="noStrike" kern="1200" dirty="0">
                          <a:solidFill>
                            <a:schemeClr val="dk1"/>
                          </a:solidFill>
                          <a:effectLst/>
                          <a:latin typeface="微软雅黑" panose="020B0503020204020204" pitchFamily="34" charset="-122"/>
                          <a:ea typeface="微软雅黑" panose="020B0503020204020204" pitchFamily="34" charset="-122"/>
                          <a:cs typeface="+mn-cs"/>
                        </a:rPr>
                        <a:t>项相关预算可信；</a:t>
                      </a:r>
                    </a:p>
                  </a:txBody>
                  <a:tcPr marL="114300" marR="6350" marT="6350" marB="0" anchor="ctr">
                    <a:lnL>
                      <a:noFill/>
                    </a:lnL>
                    <a:lnR>
                      <a:noFill/>
                    </a:lnR>
                    <a:lnT w="12700" cmpd="sng">
                      <a:noFill/>
                    </a:lnT>
                    <a:lnB w="12700" cmpd="sng">
                      <a:noFill/>
                    </a:lnB>
                    <a:lnTlToBr w="12700" cmpd="sng">
                      <a:noFill/>
                      <a:prstDash val="solid"/>
                    </a:lnTlToBr>
                    <a:lnBlToTr w="12700" cmpd="sng">
                      <a:noFill/>
                      <a:prstDash val="solid"/>
                    </a:lnBlToTr>
                    <a:solidFill>
                      <a:srgbClr val="FCECE8"/>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653442569"/>
                  </a:ext>
                </a:extLst>
              </a:tr>
              <a:tr h="9320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kern="1200" dirty="0">
                          <a:solidFill>
                            <a:schemeClr val="dk1"/>
                          </a:solidFill>
                          <a:effectLst/>
                          <a:latin typeface="微软雅黑" panose="020B0503020204020204" pitchFamily="34" charset="-122"/>
                          <a:ea typeface="微软雅黑" panose="020B0503020204020204" pitchFamily="34" charset="-122"/>
                          <a:cs typeface="+mn-cs"/>
                        </a:rPr>
                        <a:t>3 </a:t>
                      </a:r>
                      <a:r>
                        <a:rPr lang="zh-CN" altLang="en-US" sz="600" u="none" strike="noStrike" kern="1200" dirty="0">
                          <a:solidFill>
                            <a:schemeClr val="dk1"/>
                          </a:solidFill>
                          <a:effectLst/>
                          <a:latin typeface="微软雅黑" panose="020B0503020204020204" pitchFamily="34" charset="-122"/>
                          <a:ea typeface="微软雅黑" panose="020B0503020204020204" pitchFamily="34" charset="-122"/>
                          <a:cs typeface="+mn-cs"/>
                        </a:rPr>
                        <a:t>分 </a:t>
                      </a:r>
                      <a:r>
                        <a:rPr lang="en-US" altLang="zh-CN" sz="600" u="none" strike="noStrike" kern="1200" dirty="0">
                          <a:solidFill>
                            <a:schemeClr val="dk1"/>
                          </a:solidFill>
                          <a:effectLst/>
                          <a:latin typeface="微软雅黑" panose="020B0503020204020204" pitchFamily="34" charset="-122"/>
                          <a:ea typeface="微软雅黑" panose="020B0503020204020204" pitchFamily="34" charset="-122"/>
                          <a:cs typeface="+mn-cs"/>
                        </a:rPr>
                        <a:t>- </a:t>
                      </a:r>
                      <a:r>
                        <a:rPr lang="zh-CN" altLang="en-US" sz="600" u="none" strike="noStrike" kern="1200" dirty="0">
                          <a:solidFill>
                            <a:schemeClr val="dk1"/>
                          </a:solidFill>
                          <a:effectLst/>
                          <a:latin typeface="微软雅黑" panose="020B0503020204020204" pitchFamily="34" charset="-122"/>
                          <a:ea typeface="微软雅黑" panose="020B0503020204020204" pitchFamily="34" charset="-122"/>
                          <a:cs typeface="+mn-cs"/>
                        </a:rPr>
                        <a:t>其他。</a:t>
                      </a:r>
                    </a:p>
                  </a:txBody>
                  <a:tcPr marL="114300" marR="6350" marT="6350" marB="0" anchor="ctr">
                    <a:lnT w="12700" cmpd="sng">
                      <a:noFill/>
                    </a:lnT>
                    <a:solidFill>
                      <a:srgbClr val="FCECE8"/>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2271064861"/>
                  </a:ext>
                </a:extLst>
              </a:tr>
              <a:tr h="143331">
                <a:tc rowSpan="8">
                  <a:txBody>
                    <a:bodyPr/>
                    <a:lstStyle/>
                    <a:p>
                      <a:pPr algn="l" fontAlgn="ctr"/>
                      <a:r>
                        <a:rPr lang="zh-CN" altLang="en-US" sz="600" u="none" strike="noStrike" dirty="0">
                          <a:effectLst/>
                          <a:latin typeface="微软雅黑" panose="020B0503020204020204" pitchFamily="34" charset="-122"/>
                          <a:ea typeface="微软雅黑" panose="020B0503020204020204" pitchFamily="34" charset="-122"/>
                        </a:rPr>
                        <a:t>技术路线级</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r>
                        <a:rPr lang="zh-CN" altLang="en-US" sz="600" u="none" strike="noStrike" dirty="0">
                          <a:effectLst/>
                          <a:latin typeface="微软雅黑" panose="020B0503020204020204" pitchFamily="34" charset="-122"/>
                          <a:ea typeface="微软雅黑" panose="020B0503020204020204" pitchFamily="34" charset="-122"/>
                        </a:rPr>
                        <a:t>　</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accent2">
                        <a:lumMod val="40000"/>
                        <a:lumOff val="60000"/>
                      </a:schemeClr>
                    </a:solidFill>
                  </a:tcPr>
                </a:tc>
                <a:tc rowSpan="4">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2</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rowSpan="4">
                  <a:txBody>
                    <a:bodyPr/>
                    <a:lstStyle/>
                    <a:p>
                      <a:pPr algn="l" fontAlgn="ctr"/>
                      <a:r>
                        <a:rPr lang="zh-CN" altLang="en-US" sz="600" u="none" strike="noStrike" dirty="0">
                          <a:effectLst/>
                          <a:latin typeface="微软雅黑" panose="020B0503020204020204" pitchFamily="34" charset="-122"/>
                          <a:ea typeface="微软雅黑" panose="020B0503020204020204" pitchFamily="34" charset="-122"/>
                        </a:rPr>
                        <a:t>产品系列</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rowSpan="4">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5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所有产品系列均可以确定；</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tc rowSpan="4">
                  <a:txBody>
                    <a:bodyPr/>
                    <a:lstStyle/>
                    <a:p>
                      <a:pPr algn="l" fontAlgn="ctr"/>
                      <a:r>
                        <a:rPr lang="en-US" altLang="zh-CN" sz="600" u="none" strike="noStrike">
                          <a:effectLst/>
                          <a:latin typeface="微软雅黑" panose="020B0503020204020204" pitchFamily="34" charset="-122"/>
                          <a:ea typeface="微软雅黑" panose="020B0503020204020204" pitchFamily="34" charset="-122"/>
                        </a:rPr>
                        <a:t>20%</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rowSpan="4">
                  <a:txBody>
                    <a:bodyPr/>
                    <a:lstStyle/>
                    <a:p>
                      <a:pPr algn="l" fontAlgn="ctr"/>
                      <a:r>
                        <a:rPr lang="en-US" altLang="zh-CN" sz="600" u="none" strike="noStrike">
                          <a:effectLst/>
                          <a:latin typeface="微软雅黑" panose="020B0503020204020204" pitchFamily="34" charset="-122"/>
                          <a:ea typeface="微软雅黑" panose="020B0503020204020204" pitchFamily="34" charset="-122"/>
                        </a:rPr>
                        <a:t>0.6</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5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技术路线已写进指标文件，决策者已经确定技术路线；</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extLst>
                  <a:ext uri="{0D108BD9-81ED-4DB2-BD59-A6C34878D82A}">
                    <a16:rowId xmlns:a16="http://schemas.microsoft.com/office/drawing/2014/main" xmlns="" val="286389751"/>
                  </a:ext>
                </a:extLst>
              </a:tr>
              <a:tr h="20935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4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产品系列 </a:t>
                      </a:r>
                      <a:r>
                        <a:rPr lang="en-US" altLang="zh-CN" sz="600" u="none" strike="noStrike" dirty="0">
                          <a:effectLst/>
                          <a:latin typeface="微软雅黑" panose="020B0503020204020204" pitchFamily="34" charset="-122"/>
                          <a:ea typeface="微软雅黑" panose="020B0503020204020204" pitchFamily="34" charset="-122"/>
                        </a:rPr>
                        <a:t>80% </a:t>
                      </a:r>
                      <a:r>
                        <a:rPr lang="zh-CN" altLang="en-US" sz="600" u="none" strike="noStrike" dirty="0">
                          <a:effectLst/>
                          <a:latin typeface="微软雅黑" panose="020B0503020204020204" pitchFamily="34" charset="-122"/>
                          <a:ea typeface="微软雅黑" panose="020B0503020204020204" pitchFamily="34" charset="-122"/>
                        </a:rPr>
                        <a:t>以上可以确定；</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4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技术路线已基本确定，产品系列的定义：同一产品中功能相同、性能相近的列为一系列，要认证框式交换机；</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extLst>
                  <a:ext uri="{0D108BD9-81ED-4DB2-BD59-A6C34878D82A}">
                    <a16:rowId xmlns:a16="http://schemas.microsoft.com/office/drawing/2014/main" xmlns="" val="4137225728"/>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产品系列 </a:t>
                      </a:r>
                      <a:r>
                        <a:rPr lang="en-US" altLang="zh-CN" sz="600" u="none" strike="noStrike" dirty="0">
                          <a:effectLst/>
                          <a:latin typeface="微软雅黑" panose="020B0503020204020204" pitchFamily="34" charset="-122"/>
                          <a:ea typeface="微软雅黑" panose="020B0503020204020204" pitchFamily="34" charset="-122"/>
                        </a:rPr>
                        <a:t>50% </a:t>
                      </a:r>
                      <a:r>
                        <a:rPr lang="zh-CN" altLang="en-US" sz="600" u="none" strike="noStrike" dirty="0">
                          <a:effectLst/>
                          <a:latin typeface="微软雅黑" panose="020B0503020204020204" pitchFamily="34" charset="-122"/>
                          <a:ea typeface="微软雅黑" panose="020B0503020204020204" pitchFamily="34" charset="-122"/>
                        </a:rPr>
                        <a:t>以上可以确定；</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78% </a:t>
                      </a:r>
                      <a:r>
                        <a:rPr lang="zh-CN" altLang="en-US" sz="600" u="none" strike="noStrike" dirty="0">
                          <a:effectLst/>
                          <a:latin typeface="微软雅黑" panose="020B0503020204020204" pitchFamily="34" charset="-122"/>
                          <a:ea typeface="微软雅黑" panose="020B0503020204020204" pitchFamily="34" charset="-122"/>
                        </a:rPr>
                        <a:t>为同一（框式交换机）；</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extLst>
                  <a:ext uri="{0D108BD9-81ED-4DB2-BD59-A6C34878D82A}">
                    <a16:rowId xmlns:a16="http://schemas.microsoft.com/office/drawing/2014/main" xmlns="" val="34897810"/>
                  </a:ext>
                </a:extLst>
              </a:tr>
              <a:tr h="10818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0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其它。</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其它。</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extLst>
                  <a:ext uri="{0D108BD9-81ED-4DB2-BD59-A6C34878D82A}">
                    <a16:rowId xmlns:a16="http://schemas.microsoft.com/office/drawing/2014/main" xmlns="" val="3375865209"/>
                  </a:ext>
                </a:extLst>
              </a:tr>
              <a:tr h="143331">
                <a:tc vMerge="1">
                  <a:txBody>
                    <a:bodyPr/>
                    <a:lstStyle/>
                    <a:p>
                      <a:pPr algn="l" fontAlgn="ct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rowSpan="4">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rowSpan="4">
                  <a:txBody>
                    <a:bodyPr/>
                    <a:lstStyle/>
                    <a:p>
                      <a:pPr algn="l" fontAlgn="ctr"/>
                      <a:r>
                        <a:rPr lang="zh-CN" altLang="en-US" sz="600" u="none" strike="noStrike" dirty="0">
                          <a:effectLst/>
                          <a:latin typeface="微软雅黑" panose="020B0503020204020204" pitchFamily="34" charset="-122"/>
                          <a:ea typeface="微软雅黑" panose="020B0503020204020204" pitchFamily="34" charset="-122"/>
                        </a:rPr>
                        <a:t>产品型号</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rowSpan="4">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5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所有产品型号均可以确定；</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rowSpan="4">
                  <a:txBody>
                    <a:bodyPr/>
                    <a:lstStyle/>
                    <a:p>
                      <a:pPr algn="l" fontAlgn="ctr"/>
                      <a:r>
                        <a:rPr lang="en-US" altLang="zh-CN" sz="600" u="none" strike="noStrike">
                          <a:effectLst/>
                          <a:latin typeface="微软雅黑" panose="020B0503020204020204" pitchFamily="34" charset="-122"/>
                          <a:ea typeface="微软雅黑" panose="020B0503020204020204" pitchFamily="34" charset="-122"/>
                        </a:rPr>
                        <a:t>30%</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rowSpan="4">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0</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5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产品技术参数已写进指标文件，评估清单已写进指标文件；</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extLst>
                  <a:ext uri="{0D108BD9-81ED-4DB2-BD59-A6C34878D82A}">
                    <a16:rowId xmlns:a16="http://schemas.microsoft.com/office/drawing/2014/main" xmlns="" val="1953804757"/>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4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产品型号 </a:t>
                      </a:r>
                      <a:r>
                        <a:rPr lang="en-US" altLang="zh-CN" sz="600" u="none" strike="noStrike" dirty="0">
                          <a:effectLst/>
                          <a:latin typeface="微软雅黑" panose="020B0503020204020204" pitchFamily="34" charset="-122"/>
                          <a:ea typeface="微软雅黑" panose="020B0503020204020204" pitchFamily="34" charset="-122"/>
                        </a:rPr>
                        <a:t>80% </a:t>
                      </a:r>
                      <a:r>
                        <a:rPr lang="zh-CN" altLang="en-US" sz="600" u="none" strike="noStrike" dirty="0">
                          <a:effectLst/>
                          <a:latin typeface="微软雅黑" panose="020B0503020204020204" pitchFamily="34" charset="-122"/>
                          <a:ea typeface="微软雅黑" panose="020B0503020204020204" pitchFamily="34" charset="-122"/>
                        </a:rPr>
                        <a:t>以上可以确定；</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4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产品技术参数已写进指标文件，评估清单已写进指标文件；</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extLst>
                  <a:ext uri="{0D108BD9-81ED-4DB2-BD59-A6C34878D82A}">
                    <a16:rowId xmlns:a16="http://schemas.microsoft.com/office/drawing/2014/main" xmlns="" val="2378795627"/>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产品型号 </a:t>
                      </a:r>
                      <a:r>
                        <a:rPr lang="en-US" altLang="zh-CN" sz="600" u="none" strike="noStrike" dirty="0">
                          <a:effectLst/>
                          <a:latin typeface="微软雅黑" panose="020B0503020204020204" pitchFamily="34" charset="-122"/>
                          <a:ea typeface="微软雅黑" panose="020B0503020204020204" pitchFamily="34" charset="-122"/>
                        </a:rPr>
                        <a:t>50% </a:t>
                      </a:r>
                      <a:r>
                        <a:rPr lang="zh-CN" altLang="en-US" sz="600" u="none" strike="noStrike" dirty="0">
                          <a:effectLst/>
                          <a:latin typeface="微软雅黑" panose="020B0503020204020204" pitchFamily="34" charset="-122"/>
                          <a:ea typeface="微软雅黑" panose="020B0503020204020204" pitchFamily="34" charset="-122"/>
                        </a:rPr>
                        <a:t>以上可以确定；</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产品技术参数和评估清单正在评估中。</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extLst>
                  <a:ext uri="{0D108BD9-81ED-4DB2-BD59-A6C34878D82A}">
                    <a16:rowId xmlns:a16="http://schemas.microsoft.com/office/drawing/2014/main" xmlns="" val="1717626814"/>
                  </a:ext>
                </a:extLst>
              </a:tr>
              <a:tr h="10818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0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其它。</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600" u="none" strike="noStrike" dirty="0">
                          <a:effectLst/>
                          <a:latin typeface="微软雅黑" panose="020B0503020204020204" pitchFamily="34" charset="-122"/>
                          <a:ea typeface="微软雅黑" panose="020B0503020204020204" pitchFamily="34" charset="-122"/>
                        </a:rPr>
                        <a:t>　</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rgbClr val="FCECE6"/>
                    </a:solidFill>
                  </a:tcPr>
                </a:tc>
                <a:extLst>
                  <a:ext uri="{0D108BD9-81ED-4DB2-BD59-A6C34878D82A}">
                    <a16:rowId xmlns:a16="http://schemas.microsoft.com/office/drawing/2014/main" xmlns="" val="1336543817"/>
                  </a:ext>
                </a:extLst>
              </a:tr>
              <a:tr h="143331">
                <a:tc rowSpan="4">
                  <a:txBody>
                    <a:bodyPr/>
                    <a:lstStyle/>
                    <a:p>
                      <a:pPr algn="l" fontAlgn="ctr"/>
                      <a:r>
                        <a:rPr lang="zh-CN" altLang="en-US" sz="600" u="none" strike="noStrike" dirty="0">
                          <a:effectLst/>
                          <a:latin typeface="微软雅黑" panose="020B0503020204020204" pitchFamily="34" charset="-122"/>
                          <a:ea typeface="微软雅黑" panose="020B0503020204020204" pitchFamily="34" charset="-122"/>
                        </a:rPr>
                        <a:t>性能容量</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accent2">
                        <a:lumMod val="40000"/>
                        <a:lumOff val="60000"/>
                      </a:schemeClr>
                    </a:solidFill>
                  </a:tcPr>
                </a:tc>
                <a:tc rowSpan="4">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4</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rowSpan="4">
                  <a:txBody>
                    <a:bodyPr/>
                    <a:lstStyle/>
                    <a:p>
                      <a:pPr algn="l" fontAlgn="ctr"/>
                      <a:r>
                        <a:rPr lang="zh-CN" altLang="en-US" sz="600" u="none" strike="noStrike" dirty="0">
                          <a:effectLst/>
                          <a:latin typeface="微软雅黑" panose="020B0503020204020204" pitchFamily="34" charset="-122"/>
                          <a:ea typeface="微软雅黑" panose="020B0503020204020204" pitchFamily="34" charset="-122"/>
                        </a:rPr>
                        <a:t>产品数量</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rowSpan="4">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5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所有产品数量均可以确定；</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tc rowSpan="4">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30%</a:t>
                      </a:r>
                      <a:endParaRPr lang="en-US" altLang="zh-CN"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rowSpan="4">
                  <a:txBody>
                    <a:bodyPr/>
                    <a:lstStyle/>
                    <a:p>
                      <a:pPr algn="l" fontAlgn="ctr"/>
                      <a:r>
                        <a:rPr lang="en-US" altLang="zh-CN" sz="600" u="none" strike="noStrike">
                          <a:effectLst/>
                          <a:latin typeface="微软雅黑" panose="020B0503020204020204" pitchFamily="34" charset="-122"/>
                          <a:ea typeface="微软雅黑" panose="020B0503020204020204" pitchFamily="34" charset="-122"/>
                        </a:rPr>
                        <a:t>0</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5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产品数量已写进指标文件；</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tc>
                <a:extLst>
                  <a:ext uri="{0D108BD9-81ED-4DB2-BD59-A6C34878D82A}">
                    <a16:rowId xmlns:a16="http://schemas.microsoft.com/office/drawing/2014/main" xmlns="" val="1252164575"/>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4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产品数量 </a:t>
                      </a:r>
                      <a:r>
                        <a:rPr lang="en-US" altLang="zh-CN" sz="600" u="none" strike="noStrike" dirty="0">
                          <a:effectLst/>
                          <a:latin typeface="微软雅黑" panose="020B0503020204020204" pitchFamily="34" charset="-122"/>
                          <a:ea typeface="微软雅黑" panose="020B0503020204020204" pitchFamily="34" charset="-122"/>
                        </a:rPr>
                        <a:t>80% </a:t>
                      </a:r>
                      <a:r>
                        <a:rPr lang="zh-CN" altLang="en-US" sz="600" u="none" strike="noStrike" dirty="0">
                          <a:effectLst/>
                          <a:latin typeface="微软雅黑" panose="020B0503020204020204" pitchFamily="34" charset="-122"/>
                          <a:ea typeface="微软雅黑" panose="020B0503020204020204" pitchFamily="34" charset="-122"/>
                        </a:rPr>
                        <a:t>以上可以确定；</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4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产品数量已写进指标文件；</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extLst>
                  <a:ext uri="{0D108BD9-81ED-4DB2-BD59-A6C34878D82A}">
                    <a16:rowId xmlns:a16="http://schemas.microsoft.com/office/drawing/2014/main" xmlns="" val="1911112987"/>
                  </a:ext>
                </a:extLst>
              </a:tr>
              <a:tr h="1803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产品数量 </a:t>
                      </a:r>
                      <a:r>
                        <a:rPr lang="en-US" altLang="zh-CN" sz="600" u="none" strike="noStrike" dirty="0">
                          <a:effectLst/>
                          <a:latin typeface="微软雅黑" panose="020B0503020204020204" pitchFamily="34" charset="-122"/>
                          <a:ea typeface="微软雅黑" panose="020B0503020204020204" pitchFamily="34" charset="-122"/>
                        </a:rPr>
                        <a:t>50% </a:t>
                      </a:r>
                      <a:r>
                        <a:rPr lang="zh-CN" altLang="en-US" sz="600" u="none" strike="noStrike" dirty="0">
                          <a:effectLst/>
                          <a:latin typeface="微软雅黑" panose="020B0503020204020204" pitchFamily="34" charset="-122"/>
                          <a:ea typeface="微软雅黑" panose="020B0503020204020204" pitchFamily="34" charset="-122"/>
                        </a:rPr>
                        <a:t>以上可以确定；</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3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产品数量已写进指标文件；</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extLst>
                  <a:ext uri="{0D108BD9-81ED-4DB2-BD59-A6C34878D82A}">
                    <a16:rowId xmlns:a16="http://schemas.microsoft.com/office/drawing/2014/main" xmlns="" val="3165546541"/>
                  </a:ext>
                </a:extLst>
              </a:tr>
              <a:tr h="10701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a:effectLst/>
                          <a:latin typeface="微软雅黑" panose="020B0503020204020204" pitchFamily="34" charset="-122"/>
                          <a:ea typeface="微软雅黑" panose="020B0503020204020204" pitchFamily="34" charset="-122"/>
                        </a:rPr>
                        <a:t>0 </a:t>
                      </a:r>
                      <a:r>
                        <a:rPr lang="zh-CN" altLang="en-US" sz="600" u="none" strike="noStrike">
                          <a:effectLst/>
                          <a:latin typeface="微软雅黑" panose="020B0503020204020204" pitchFamily="34" charset="-122"/>
                          <a:ea typeface="微软雅黑" panose="020B0503020204020204" pitchFamily="34" charset="-122"/>
                        </a:rPr>
                        <a:t>分 </a:t>
                      </a:r>
                      <a:r>
                        <a:rPr lang="en-US" altLang="zh-CN" sz="600" u="none" strike="noStrike">
                          <a:effectLst/>
                          <a:latin typeface="微软雅黑" panose="020B0503020204020204" pitchFamily="34" charset="-122"/>
                          <a:ea typeface="微软雅黑" panose="020B0503020204020204" pitchFamily="34" charset="-122"/>
                        </a:rPr>
                        <a:t>- </a:t>
                      </a:r>
                      <a:r>
                        <a:rPr lang="zh-CN" altLang="en-US" sz="600" u="none" strike="noStrike">
                          <a:effectLst/>
                          <a:latin typeface="微软雅黑" panose="020B0503020204020204" pitchFamily="34" charset="-122"/>
                          <a:ea typeface="微软雅黑" panose="020B0503020204020204" pitchFamily="34" charset="-122"/>
                        </a:rPr>
                        <a:t>其它。</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tc vMerge="1">
                  <a:txBody>
                    <a:bodyPr/>
                    <a:lstStyle/>
                    <a:p>
                      <a:endParaRPr lang="zh-CN" altLang="en-US"/>
                    </a:p>
                  </a:txBody>
                  <a:tcPr/>
                </a:tc>
                <a:tc vMerge="1">
                  <a:txBody>
                    <a:bodyPr/>
                    <a:lstStyle/>
                    <a:p>
                      <a:endParaRPr lang="zh-CN" altLang="en-US"/>
                    </a:p>
                  </a:txBody>
                  <a:tcPr/>
                </a:tc>
                <a:tc>
                  <a:txBody>
                    <a:bodyPr/>
                    <a:lstStyle/>
                    <a:p>
                      <a:pPr algn="l" fontAlgn="ctr"/>
                      <a:r>
                        <a:rPr lang="en-US" altLang="zh-CN" sz="600" u="none" strike="noStrike" dirty="0">
                          <a:effectLst/>
                          <a:latin typeface="微软雅黑" panose="020B0503020204020204" pitchFamily="34" charset="-122"/>
                          <a:ea typeface="微软雅黑" panose="020B0503020204020204" pitchFamily="34" charset="-122"/>
                        </a:rPr>
                        <a:t>0 </a:t>
                      </a:r>
                      <a:r>
                        <a:rPr lang="zh-CN" altLang="en-US" sz="600" u="none" strike="noStrike" dirty="0">
                          <a:effectLst/>
                          <a:latin typeface="微软雅黑" panose="020B0503020204020204" pitchFamily="34" charset="-122"/>
                          <a:ea typeface="微软雅黑" panose="020B0503020204020204" pitchFamily="34" charset="-122"/>
                        </a:rPr>
                        <a:t>分 </a:t>
                      </a:r>
                      <a:r>
                        <a:rPr lang="en-US" altLang="zh-CN" sz="600" u="none" strike="noStrike" dirty="0">
                          <a:effectLst/>
                          <a:latin typeface="微软雅黑" panose="020B0503020204020204" pitchFamily="34" charset="-122"/>
                          <a:ea typeface="微软雅黑" panose="020B0503020204020204" pitchFamily="34" charset="-122"/>
                        </a:rPr>
                        <a:t>- </a:t>
                      </a:r>
                      <a:r>
                        <a:rPr lang="zh-CN" altLang="en-US" sz="600" u="none" strike="noStrike" dirty="0">
                          <a:effectLst/>
                          <a:latin typeface="微软雅黑" panose="020B0503020204020204" pitchFamily="34" charset="-122"/>
                          <a:ea typeface="微软雅黑" panose="020B0503020204020204" pitchFamily="34" charset="-122"/>
                        </a:rPr>
                        <a:t>已经评估出产品数量。</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bg1"/>
                    </a:solidFill>
                  </a:tcPr>
                </a:tc>
                <a:extLst>
                  <a:ext uri="{0D108BD9-81ED-4DB2-BD59-A6C34878D82A}">
                    <a16:rowId xmlns:a16="http://schemas.microsoft.com/office/drawing/2014/main" xmlns="" val="1876206746"/>
                  </a:ext>
                </a:extLst>
              </a:tr>
              <a:tr h="108189">
                <a:tc gridSpan="6">
                  <a:txBody>
                    <a:bodyPr/>
                    <a:lstStyle/>
                    <a:p>
                      <a:pPr algn="ctr" fontAlgn="ctr"/>
                      <a:r>
                        <a:rPr lang="zh-CN" altLang="en-US" sz="600" b="1" u="none" strike="noStrike" dirty="0">
                          <a:effectLst/>
                          <a:latin typeface="微软雅黑" panose="020B0503020204020204" pitchFamily="34" charset="-122"/>
                          <a:ea typeface="微软雅黑" panose="020B0503020204020204" pitchFamily="34" charset="-122"/>
                        </a:rPr>
                        <a:t>自评可信度合计得分</a:t>
                      </a:r>
                      <a:endParaRPr lang="zh-CN" altLang="en-US" sz="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solidFill>
                      <a:srgbClr val="FFC0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600" b="1" u="none" strike="noStrike" dirty="0" smtClean="0">
                          <a:solidFill>
                            <a:srgbClr val="C00000"/>
                          </a:solidFill>
                          <a:effectLst/>
                          <a:latin typeface="微软雅黑" panose="020B0503020204020204" pitchFamily="34" charset="-122"/>
                          <a:ea typeface="微软雅黑" panose="020B0503020204020204" pitchFamily="34" charset="-122"/>
                        </a:rPr>
                        <a:t>24%</a:t>
                      </a:r>
                      <a:endParaRPr lang="en-US" altLang="zh-CN" sz="600" b="1" i="0" u="none" strike="noStrike" dirty="0">
                        <a:solidFill>
                          <a:srgbClr val="C00000"/>
                        </a:solidFill>
                        <a:effectLst/>
                        <a:latin typeface="微软雅黑" panose="020B0503020204020204" pitchFamily="34" charset="-122"/>
                        <a:ea typeface="微软雅黑" panose="020B0503020204020204" pitchFamily="34" charset="-122"/>
                      </a:endParaRPr>
                    </a:p>
                  </a:txBody>
                  <a:tcPr marL="114300" marR="6350" marT="6350" marB="0" anchor="ctr">
                    <a:solidFill>
                      <a:schemeClr val="accent2">
                        <a:lumMod val="20000"/>
                        <a:lumOff val="80000"/>
                      </a:schemeClr>
                    </a:solidFill>
                  </a:tcPr>
                </a:tc>
                <a:tc>
                  <a:txBody>
                    <a:bodyPr/>
                    <a:lstStyle/>
                    <a:p>
                      <a:pPr algn="ctr" fontAlgn="b"/>
                      <a:r>
                        <a:rPr lang="zh-CN" altLang="en-US" sz="600" u="none" strike="noStrike" dirty="0">
                          <a:effectLst/>
                          <a:latin typeface="微软雅黑" panose="020B0503020204020204" pitchFamily="34" charset="-122"/>
                          <a:ea typeface="微软雅黑" panose="020B0503020204020204" pitchFamily="34" charset="-122"/>
                        </a:rPr>
                        <a:t>　</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b"/>
                </a:tc>
                <a:extLst>
                  <a:ext uri="{0D108BD9-81ED-4DB2-BD59-A6C34878D82A}">
                    <a16:rowId xmlns:a16="http://schemas.microsoft.com/office/drawing/2014/main" xmlns="" val="2931205115"/>
                  </a:ext>
                </a:extLst>
              </a:tr>
            </a:tbl>
          </a:graphicData>
        </a:graphic>
      </p:graphicFrame>
      <p:sp>
        <p:nvSpPr>
          <p:cNvPr id="105" name="文本框 104"/>
          <p:cNvSpPr txBox="1"/>
          <p:nvPr/>
        </p:nvSpPr>
        <p:spPr>
          <a:xfrm>
            <a:off x="2971115" y="1604389"/>
            <a:ext cx="1438214"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N </a:t>
            </a:r>
            <a:r>
              <a:rPr lang="zh-CN" altLang="en-US" sz="1600" b="1" dirty="0" smtClean="0">
                <a:latin typeface="微软雅黑" panose="020B0503020204020204" pitchFamily="34" charset="-122"/>
                <a:ea typeface="微软雅黑" panose="020B0503020204020204" pitchFamily="34" charset="-122"/>
              </a:rPr>
              <a:t>为什么不准</a:t>
            </a:r>
            <a:endParaRPr lang="zh-CN" altLang="en-US" sz="1600" b="1" dirty="0">
              <a:latin typeface="微软雅黑" panose="020B0503020204020204" pitchFamily="34" charset="-122"/>
              <a:ea typeface="微软雅黑" panose="020B0503020204020204" pitchFamily="34" charset="-122"/>
            </a:endParaRPr>
          </a:p>
        </p:txBody>
      </p:sp>
      <p:sp>
        <p:nvSpPr>
          <p:cNvPr id="106" name="文本框 105"/>
          <p:cNvSpPr txBox="1"/>
          <p:nvPr/>
        </p:nvSpPr>
        <p:spPr>
          <a:xfrm>
            <a:off x="7552717" y="2655833"/>
            <a:ext cx="1233030" cy="338554"/>
          </a:xfrm>
          <a:prstGeom prst="rect">
            <a:avLst/>
          </a:prstGeom>
          <a:noFill/>
        </p:spPr>
        <p:txBody>
          <a:bodyPr wrap="none" rtlCol="0">
            <a:spAutoFit/>
          </a:bodyPr>
          <a:lstStyle/>
          <a:p>
            <a:r>
              <a:rPr lang="zh-CN" altLang="en-US" sz="1600" b="1" dirty="0" smtClean="0">
                <a:solidFill>
                  <a:srgbClr val="FF0000"/>
                </a:solidFill>
                <a:latin typeface="微软雅黑" panose="020B0503020204020204" pitchFamily="34" charset="-122"/>
                <a:ea typeface="微软雅黑" panose="020B0503020204020204" pitchFamily="34" charset="-122"/>
              </a:rPr>
              <a:t>如何做准 </a:t>
            </a:r>
            <a:r>
              <a:rPr lang="en-US" altLang="zh-CN" sz="1600" b="1" dirty="0" smtClean="0">
                <a:solidFill>
                  <a:srgbClr val="FF0000"/>
                </a:solidFill>
                <a:latin typeface="微软雅黑" panose="020B0503020204020204" pitchFamily="34" charset="-122"/>
                <a:ea typeface="微软雅黑" panose="020B0503020204020204" pitchFamily="34" charset="-122"/>
              </a:rPr>
              <a:t>N</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cxnSp>
        <p:nvCxnSpPr>
          <p:cNvPr id="22" name="直接箭头连接符 21"/>
          <p:cNvCxnSpPr>
            <a:stCxn id="41" idx="3"/>
            <a:endCxn id="28" idx="1"/>
          </p:cNvCxnSpPr>
          <p:nvPr/>
        </p:nvCxnSpPr>
        <p:spPr>
          <a:xfrm>
            <a:off x="1473506" y="3672768"/>
            <a:ext cx="294654" cy="75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18325" y="3262055"/>
            <a:ext cx="316228" cy="316228"/>
          </a:xfrm>
          <a:prstGeom prst="rect">
            <a:avLst/>
          </a:prstGeom>
        </p:spPr>
      </p:pic>
      <p:pic>
        <p:nvPicPr>
          <p:cNvPr id="94" name="图片 93"/>
          <p:cNvPicPr>
            <a:picLocks noChangeAspect="1"/>
          </p:cNvPicPr>
          <p:nvPr/>
        </p:nvPicPr>
        <p:blipFill>
          <a:blip r:embed="rId5" cstate="print">
            <a:extLst>
              <a:ext uri="{BEBA8EAE-BF5A-486C-A8C5-ECC9F3942E4B}">
                <a14:imgProps xmlns:a14="http://schemas.microsoft.com/office/drawing/2010/main">
                  <a14:imgLayer r:embed="rId6">
                    <a14:imgEffect>
                      <a14:backgroundRemoval t="4182" b="90000" l="10000" r="90000"/>
                    </a14:imgEffect>
                  </a14:imgLayer>
                </a14:imgProps>
              </a:ext>
              <a:ext uri="{28A0092B-C50C-407E-A947-70E740481C1C}">
                <a14:useLocalDpi xmlns:a14="http://schemas.microsoft.com/office/drawing/2010/main" val="0"/>
              </a:ext>
            </a:extLst>
          </a:blip>
          <a:stretch>
            <a:fillRect/>
          </a:stretch>
        </p:blipFill>
        <p:spPr>
          <a:xfrm>
            <a:off x="1237193" y="2545837"/>
            <a:ext cx="316228" cy="316228"/>
          </a:xfrm>
          <a:prstGeom prst="rect">
            <a:avLst/>
          </a:prstGeom>
        </p:spPr>
      </p:pic>
      <p:cxnSp>
        <p:nvCxnSpPr>
          <p:cNvPr id="29" name="直接箭头连接符 28"/>
          <p:cNvCxnSpPr>
            <a:stCxn id="94" idx="3"/>
            <a:endCxn id="100" idx="1"/>
          </p:cNvCxnSpPr>
          <p:nvPr/>
        </p:nvCxnSpPr>
        <p:spPr>
          <a:xfrm flipV="1">
            <a:off x="1553421" y="2677644"/>
            <a:ext cx="1408025" cy="263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26" idx="2"/>
            <a:endCxn id="101" idx="1"/>
          </p:cNvCxnSpPr>
          <p:nvPr/>
        </p:nvCxnSpPr>
        <p:spPr>
          <a:xfrm>
            <a:off x="2576439" y="3578283"/>
            <a:ext cx="362519" cy="908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2" name="圆角矩形 121"/>
          <p:cNvSpPr/>
          <p:nvPr/>
        </p:nvSpPr>
        <p:spPr>
          <a:xfrm>
            <a:off x="5987798" y="1494139"/>
            <a:ext cx="848369" cy="451264"/>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solidFill>
                <a:latin typeface="微软雅黑" panose="020B0503020204020204" pitchFamily="34" charset="-122"/>
                <a:ea typeface="微软雅黑" panose="020B0503020204020204" pitchFamily="34" charset="-122"/>
              </a:rPr>
              <a:t>线索满足进漏斗条件</a:t>
            </a:r>
            <a:endParaRPr lang="zh-CN" altLang="en-US" sz="800" dirty="0">
              <a:solidFill>
                <a:schemeClr val="tx1"/>
              </a:solidFill>
              <a:latin typeface="微软雅黑" panose="020B0503020204020204" pitchFamily="34" charset="-122"/>
              <a:ea typeface="微软雅黑" panose="020B0503020204020204" pitchFamily="34" charset="-122"/>
            </a:endParaRPr>
          </a:p>
        </p:txBody>
      </p:sp>
      <p:sp>
        <p:nvSpPr>
          <p:cNvPr id="123" name="圆角矩形 122"/>
          <p:cNvSpPr/>
          <p:nvPr/>
        </p:nvSpPr>
        <p:spPr>
          <a:xfrm>
            <a:off x="7001654" y="1491153"/>
            <a:ext cx="848369" cy="451264"/>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solidFill>
                <a:latin typeface="微软雅黑" panose="020B0503020204020204" pitchFamily="34" charset="-122"/>
                <a:ea typeface="微软雅黑" panose="020B0503020204020204" pitchFamily="34" charset="-122"/>
              </a:rPr>
              <a:t>创建报价单</a:t>
            </a:r>
            <a:endParaRPr lang="en-US" altLang="zh-CN" sz="800" dirty="0" smtClean="0">
              <a:solidFill>
                <a:schemeClr val="tx1"/>
              </a:solidFill>
              <a:latin typeface="微软雅黑" panose="020B0503020204020204" pitchFamily="34" charset="-122"/>
              <a:ea typeface="微软雅黑" panose="020B0503020204020204" pitchFamily="34" charset="-122"/>
            </a:endParaRPr>
          </a:p>
          <a:p>
            <a:pPr algn="ctr"/>
            <a:r>
              <a:rPr lang="zh-CN" altLang="en-US" sz="800" dirty="0" smtClean="0">
                <a:solidFill>
                  <a:schemeClr val="tx1"/>
                </a:solidFill>
                <a:latin typeface="微软雅黑" panose="020B0503020204020204" pitchFamily="34" charset="-122"/>
                <a:ea typeface="微软雅黑" panose="020B0503020204020204" pitchFamily="34" charset="-122"/>
              </a:rPr>
              <a:t>（</a:t>
            </a:r>
            <a:r>
              <a:rPr lang="en-US" altLang="zh-CN" sz="800" dirty="0" smtClean="0">
                <a:solidFill>
                  <a:schemeClr val="tx1"/>
                </a:solidFill>
                <a:latin typeface="微软雅黑" panose="020B0503020204020204" pitchFamily="34" charset="-122"/>
                <a:ea typeface="微软雅黑" panose="020B0503020204020204" pitchFamily="34" charset="-122"/>
              </a:rPr>
              <a:t>CRM</a:t>
            </a:r>
            <a:r>
              <a:rPr lang="zh-CN" altLang="en-US" sz="800" dirty="0" smtClean="0">
                <a:solidFill>
                  <a:schemeClr val="tx1"/>
                </a:solidFill>
                <a:latin typeface="微软雅黑" panose="020B0503020204020204" pitchFamily="34" charset="-122"/>
                <a:ea typeface="微软雅黑" panose="020B0503020204020204" pitchFamily="34" charset="-122"/>
              </a:rPr>
              <a:t>）</a:t>
            </a:r>
            <a:endParaRPr lang="zh-CN" altLang="en-US" sz="800" dirty="0">
              <a:solidFill>
                <a:schemeClr val="tx1"/>
              </a:solidFill>
              <a:latin typeface="微软雅黑" panose="020B0503020204020204" pitchFamily="34" charset="-122"/>
              <a:ea typeface="微软雅黑" panose="020B0503020204020204" pitchFamily="34" charset="-122"/>
            </a:endParaRPr>
          </a:p>
        </p:txBody>
      </p:sp>
      <p:sp>
        <p:nvSpPr>
          <p:cNvPr id="124" name="圆角矩形 123"/>
          <p:cNvSpPr/>
          <p:nvPr/>
        </p:nvSpPr>
        <p:spPr>
          <a:xfrm>
            <a:off x="8029237" y="1491153"/>
            <a:ext cx="953096" cy="451264"/>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solidFill>
                <a:latin typeface="微软雅黑" panose="020B0503020204020204" pitchFamily="34" charset="-122"/>
                <a:ea typeface="微软雅黑" panose="020B0503020204020204" pitchFamily="34" charset="-122"/>
              </a:rPr>
              <a:t>获取配置器清单</a:t>
            </a:r>
            <a:endParaRPr lang="en-US" altLang="zh-CN" sz="800" dirty="0" smtClean="0">
              <a:solidFill>
                <a:schemeClr val="tx1"/>
              </a:solidFill>
              <a:latin typeface="微软雅黑" panose="020B0503020204020204" pitchFamily="34" charset="-122"/>
              <a:ea typeface="微软雅黑" panose="020B0503020204020204" pitchFamily="34" charset="-122"/>
            </a:endParaRPr>
          </a:p>
          <a:p>
            <a:pPr algn="ctr"/>
            <a:r>
              <a:rPr lang="zh-CN" altLang="en-US" sz="800" dirty="0" smtClean="0">
                <a:solidFill>
                  <a:schemeClr val="tx1"/>
                </a:solidFill>
                <a:latin typeface="微软雅黑" panose="020B0503020204020204" pitchFamily="34" charset="-122"/>
                <a:ea typeface="微软雅黑" panose="020B0503020204020204" pitchFamily="34" charset="-122"/>
              </a:rPr>
              <a:t>（</a:t>
            </a:r>
            <a:r>
              <a:rPr lang="en-US" altLang="zh-CN" sz="800" dirty="0">
                <a:solidFill>
                  <a:schemeClr val="tx1"/>
                </a:solidFill>
                <a:latin typeface="微软雅黑" panose="020B0503020204020204" pitchFamily="34" charset="-122"/>
                <a:ea typeface="微软雅黑" panose="020B0503020204020204" pitchFamily="34" charset="-122"/>
              </a:rPr>
              <a:t>ECP</a:t>
            </a:r>
            <a:r>
              <a:rPr lang="zh-CN" altLang="en-US" sz="800" dirty="0" smtClean="0">
                <a:solidFill>
                  <a:schemeClr val="tx1"/>
                </a:solidFill>
                <a:latin typeface="微软雅黑" panose="020B0503020204020204" pitchFamily="34" charset="-122"/>
                <a:ea typeface="微软雅黑" panose="020B0503020204020204" pitchFamily="34" charset="-122"/>
              </a:rPr>
              <a:t>）</a:t>
            </a:r>
            <a:endParaRPr lang="zh-CN" altLang="en-US" sz="800" dirty="0">
              <a:solidFill>
                <a:schemeClr val="tx1"/>
              </a:solidFill>
              <a:latin typeface="微软雅黑" panose="020B0503020204020204" pitchFamily="34" charset="-122"/>
              <a:ea typeface="微软雅黑" panose="020B0503020204020204" pitchFamily="34" charset="-122"/>
            </a:endParaRPr>
          </a:p>
        </p:txBody>
      </p:sp>
      <p:sp>
        <p:nvSpPr>
          <p:cNvPr id="127" name="圆角矩形 126"/>
          <p:cNvSpPr/>
          <p:nvPr/>
        </p:nvSpPr>
        <p:spPr>
          <a:xfrm>
            <a:off x="10277182" y="1491007"/>
            <a:ext cx="803041" cy="451264"/>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solidFill>
                <a:latin typeface="微软雅黑" panose="020B0503020204020204" pitchFamily="34" charset="-122"/>
                <a:ea typeface="微软雅黑" panose="020B0503020204020204" pitchFamily="34" charset="-122"/>
              </a:rPr>
              <a:t>覆盖现有产品（</a:t>
            </a:r>
            <a:r>
              <a:rPr lang="en-US" altLang="zh-CN" sz="800" dirty="0" smtClean="0">
                <a:solidFill>
                  <a:schemeClr val="tx1"/>
                </a:solidFill>
                <a:latin typeface="微软雅黑" panose="020B0503020204020204" pitchFamily="34" charset="-122"/>
                <a:ea typeface="微软雅黑" panose="020B0503020204020204" pitchFamily="34" charset="-122"/>
              </a:rPr>
              <a:t>ECP</a:t>
            </a:r>
            <a:r>
              <a:rPr lang="zh-CN" altLang="en-US" sz="800" dirty="0" smtClean="0">
                <a:solidFill>
                  <a:schemeClr val="tx1"/>
                </a:solidFill>
                <a:latin typeface="微软雅黑" panose="020B0503020204020204" pitchFamily="34" charset="-122"/>
                <a:ea typeface="微软雅黑" panose="020B0503020204020204" pitchFamily="34" charset="-122"/>
              </a:rPr>
              <a:t>）</a:t>
            </a:r>
            <a:endParaRPr lang="zh-CN" altLang="en-US" sz="800" dirty="0">
              <a:solidFill>
                <a:schemeClr val="tx1"/>
              </a:solidFill>
              <a:latin typeface="微软雅黑" panose="020B0503020204020204" pitchFamily="34" charset="-122"/>
              <a:ea typeface="微软雅黑" panose="020B0503020204020204" pitchFamily="34" charset="-122"/>
            </a:endParaRPr>
          </a:p>
        </p:txBody>
      </p:sp>
      <p:sp>
        <p:nvSpPr>
          <p:cNvPr id="128" name="圆角矩形 127"/>
          <p:cNvSpPr/>
          <p:nvPr/>
        </p:nvSpPr>
        <p:spPr>
          <a:xfrm>
            <a:off x="11251623" y="1491007"/>
            <a:ext cx="753342" cy="451264"/>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solidFill>
                <a:latin typeface="微软雅黑" panose="020B0503020204020204" pitchFamily="34" charset="-122"/>
                <a:ea typeface="微软雅黑" panose="020B0503020204020204" pitchFamily="34" charset="-122"/>
              </a:rPr>
              <a:t>保存至</a:t>
            </a:r>
            <a:r>
              <a:rPr lang="en-US" altLang="zh-CN" sz="800" dirty="0" smtClean="0">
                <a:solidFill>
                  <a:schemeClr val="tx1"/>
                </a:solidFill>
                <a:latin typeface="微软雅黑" panose="020B0503020204020204" pitchFamily="34" charset="-122"/>
                <a:ea typeface="微软雅黑" panose="020B0503020204020204" pitchFamily="34" charset="-122"/>
              </a:rPr>
              <a:t>CRM</a:t>
            </a:r>
            <a:r>
              <a:rPr lang="zh-CN" altLang="en-US" sz="800" dirty="0" smtClean="0">
                <a:solidFill>
                  <a:schemeClr val="tx1"/>
                </a:solidFill>
                <a:latin typeface="微软雅黑" panose="020B0503020204020204" pitchFamily="34" charset="-122"/>
                <a:ea typeface="微软雅黑" panose="020B0503020204020204" pitchFamily="34" charset="-122"/>
              </a:rPr>
              <a:t>（</a:t>
            </a:r>
            <a:r>
              <a:rPr lang="en-US" altLang="zh-CN" sz="800" dirty="0" smtClean="0">
                <a:solidFill>
                  <a:schemeClr val="tx1"/>
                </a:solidFill>
                <a:latin typeface="微软雅黑" panose="020B0503020204020204" pitchFamily="34" charset="-122"/>
                <a:ea typeface="微软雅黑" panose="020B0503020204020204" pitchFamily="34" charset="-122"/>
              </a:rPr>
              <a:t>ECP</a:t>
            </a:r>
            <a:r>
              <a:rPr lang="zh-CN" altLang="en-US" sz="800" dirty="0" smtClean="0">
                <a:solidFill>
                  <a:schemeClr val="tx1"/>
                </a:solidFill>
                <a:latin typeface="微软雅黑" panose="020B0503020204020204" pitchFamily="34" charset="-122"/>
                <a:ea typeface="微软雅黑" panose="020B0503020204020204" pitchFamily="34" charset="-122"/>
              </a:rPr>
              <a:t>）</a:t>
            </a:r>
            <a:endParaRPr lang="zh-CN" altLang="en-US" sz="800" dirty="0">
              <a:solidFill>
                <a:schemeClr val="tx1"/>
              </a:solidFill>
              <a:latin typeface="微软雅黑" panose="020B0503020204020204" pitchFamily="34" charset="-122"/>
              <a:ea typeface="微软雅黑" panose="020B0503020204020204" pitchFamily="34" charset="-122"/>
            </a:endParaRPr>
          </a:p>
        </p:txBody>
      </p:sp>
      <p:cxnSp>
        <p:nvCxnSpPr>
          <p:cNvPr id="130" name="直接箭头连接符 129"/>
          <p:cNvCxnSpPr>
            <a:stCxn id="122" idx="3"/>
            <a:endCxn id="123" idx="1"/>
          </p:cNvCxnSpPr>
          <p:nvPr/>
        </p:nvCxnSpPr>
        <p:spPr>
          <a:xfrm flipV="1">
            <a:off x="6836167" y="1716785"/>
            <a:ext cx="165487" cy="298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接箭头连接符 130"/>
          <p:cNvCxnSpPr>
            <a:stCxn id="123" idx="3"/>
            <a:endCxn id="124" idx="1"/>
          </p:cNvCxnSpPr>
          <p:nvPr/>
        </p:nvCxnSpPr>
        <p:spPr>
          <a:xfrm>
            <a:off x="7850023" y="1716785"/>
            <a:ext cx="179214"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a:stCxn id="124" idx="3"/>
            <a:endCxn id="74" idx="1"/>
          </p:cNvCxnSpPr>
          <p:nvPr/>
        </p:nvCxnSpPr>
        <p:spPr>
          <a:xfrm>
            <a:off x="8982333" y="1716785"/>
            <a:ext cx="179214"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直接箭头连接符 136"/>
          <p:cNvCxnSpPr>
            <a:stCxn id="74" idx="3"/>
            <a:endCxn id="127" idx="1"/>
          </p:cNvCxnSpPr>
          <p:nvPr/>
        </p:nvCxnSpPr>
        <p:spPr>
          <a:xfrm flipV="1">
            <a:off x="10105782" y="1716639"/>
            <a:ext cx="171400" cy="14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接箭头连接符 139"/>
          <p:cNvCxnSpPr>
            <a:stCxn id="127" idx="3"/>
            <a:endCxn id="128" idx="1"/>
          </p:cNvCxnSpPr>
          <p:nvPr/>
        </p:nvCxnSpPr>
        <p:spPr>
          <a:xfrm>
            <a:off x="11080223" y="1716639"/>
            <a:ext cx="171400" cy="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3" name="文本框 142"/>
          <p:cNvSpPr txBox="1"/>
          <p:nvPr/>
        </p:nvSpPr>
        <p:spPr>
          <a:xfrm>
            <a:off x="5265483" y="2226392"/>
            <a:ext cx="486046"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售前</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144" name="圆角矩形 143"/>
          <p:cNvSpPr/>
          <p:nvPr/>
        </p:nvSpPr>
        <p:spPr>
          <a:xfrm>
            <a:off x="5987798" y="2116176"/>
            <a:ext cx="848369" cy="451264"/>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smtClean="0">
                <a:solidFill>
                  <a:schemeClr val="tx1"/>
                </a:solidFill>
                <a:latin typeface="微软雅黑" panose="020B0503020204020204" pitchFamily="34" charset="-122"/>
                <a:ea typeface="微软雅黑" panose="020B0503020204020204" pitchFamily="34" charset="-122"/>
              </a:rPr>
              <a:t>获取客户需求</a:t>
            </a:r>
            <a:endParaRPr lang="zh-CN" altLang="en-US" sz="800" dirty="0">
              <a:solidFill>
                <a:schemeClr val="tx1"/>
              </a:solidFill>
              <a:latin typeface="微软雅黑" panose="020B0503020204020204" pitchFamily="34" charset="-122"/>
              <a:ea typeface="微软雅黑" panose="020B0503020204020204" pitchFamily="34" charset="-122"/>
            </a:endParaRPr>
          </a:p>
        </p:txBody>
      </p:sp>
      <p:sp>
        <p:nvSpPr>
          <p:cNvPr id="145" name="圆角矩形 144"/>
          <p:cNvSpPr/>
          <p:nvPr/>
        </p:nvSpPr>
        <p:spPr>
          <a:xfrm>
            <a:off x="7001655" y="2114250"/>
            <a:ext cx="848369" cy="451264"/>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配产品清单（</a:t>
            </a:r>
            <a:r>
              <a:rPr lang="zh-CN" altLang="en-US" sz="700" dirty="0" smtClean="0">
                <a:solidFill>
                  <a:schemeClr val="tx1"/>
                </a:solidFill>
                <a:latin typeface="微软雅黑" panose="020B0503020204020204" pitchFamily="34" charset="-122"/>
                <a:ea typeface="微软雅黑" panose="020B0503020204020204" pitchFamily="34" charset="-122"/>
              </a:rPr>
              <a:t>产品配置器）</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146" name="圆角矩形 145"/>
          <p:cNvSpPr/>
          <p:nvPr/>
        </p:nvSpPr>
        <p:spPr>
          <a:xfrm>
            <a:off x="8081600" y="2102825"/>
            <a:ext cx="848369" cy="451264"/>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分享</a:t>
            </a:r>
            <a:r>
              <a:rPr lang="zh-CN" altLang="en-US" sz="700" dirty="0" smtClean="0">
                <a:solidFill>
                  <a:schemeClr val="tx1"/>
                </a:solidFill>
                <a:latin typeface="微软雅黑" panose="020B0503020204020204" pitchFamily="34" charset="-122"/>
                <a:ea typeface="微软雅黑" panose="020B0503020204020204" pitchFamily="34" charset="-122"/>
              </a:rPr>
              <a:t>产品报价清单</a:t>
            </a:r>
            <a:r>
              <a:rPr lang="zh-CN" altLang="en-US" sz="700" dirty="0" smtClean="0">
                <a:solidFill>
                  <a:schemeClr val="tx1"/>
                </a:solidFill>
                <a:latin typeface="微软雅黑" panose="020B0503020204020204" pitchFamily="34" charset="-122"/>
                <a:ea typeface="微软雅黑" panose="020B0503020204020204" pitchFamily="34" charset="-122"/>
              </a:rPr>
              <a:t>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（产品配置器）</a:t>
            </a:r>
            <a:endParaRPr lang="zh-CN" altLang="en-US" sz="700" dirty="0">
              <a:solidFill>
                <a:schemeClr val="tx1"/>
              </a:solidFill>
              <a:latin typeface="微软雅黑" panose="020B0503020204020204" pitchFamily="34" charset="-122"/>
              <a:ea typeface="微软雅黑" panose="020B0503020204020204" pitchFamily="34" charset="-122"/>
            </a:endParaRPr>
          </a:p>
        </p:txBody>
      </p:sp>
      <p:cxnSp>
        <p:nvCxnSpPr>
          <p:cNvPr id="147" name="直接箭头连接符 146"/>
          <p:cNvCxnSpPr>
            <a:stCxn id="144" idx="3"/>
            <a:endCxn id="145" idx="1"/>
          </p:cNvCxnSpPr>
          <p:nvPr/>
        </p:nvCxnSpPr>
        <p:spPr>
          <a:xfrm flipV="1">
            <a:off x="6836167" y="2339882"/>
            <a:ext cx="165488" cy="192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p:cNvCxnSpPr>
            <a:stCxn id="145" idx="3"/>
            <a:endCxn id="146" idx="1"/>
          </p:cNvCxnSpPr>
          <p:nvPr/>
        </p:nvCxnSpPr>
        <p:spPr>
          <a:xfrm flipV="1">
            <a:off x="7850024" y="2328457"/>
            <a:ext cx="231576" cy="11425"/>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a:stCxn id="146" idx="0"/>
            <a:endCxn id="124" idx="2"/>
          </p:cNvCxnSpPr>
          <p:nvPr/>
        </p:nvCxnSpPr>
        <p:spPr>
          <a:xfrm flipV="1">
            <a:off x="8505785" y="1942417"/>
            <a:ext cx="0" cy="160408"/>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p:cNvCxnSpPr>
            <a:stCxn id="31" idx="1"/>
          </p:cNvCxnSpPr>
          <p:nvPr/>
        </p:nvCxnSpPr>
        <p:spPr>
          <a:xfrm flipH="1" flipV="1">
            <a:off x="8929969" y="1883442"/>
            <a:ext cx="1241096" cy="573782"/>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1" name="文本框 160"/>
          <p:cNvSpPr txBox="1"/>
          <p:nvPr/>
        </p:nvSpPr>
        <p:spPr>
          <a:xfrm>
            <a:off x="5352141" y="2833241"/>
            <a:ext cx="2064951" cy="568731"/>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sz="500">
                <a:solidFill>
                  <a:schemeClr val="tx1"/>
                </a:solidFill>
                <a:latin typeface="微软雅黑" panose="020B0503020204020204" pitchFamily="34" charset="-122"/>
                <a:ea typeface="微软雅黑" panose="020B0503020204020204" pitchFamily="34" charset="-122"/>
              </a:defRPr>
            </a:lvl1pPr>
          </a:lstStyle>
          <a:p>
            <a:pPr algn="l"/>
            <a:r>
              <a:rPr lang="zh-CN" altLang="en-US" sz="1100" dirty="0" smtClean="0">
                <a:solidFill>
                  <a:srgbClr val="C00000"/>
                </a:solidFill>
              </a:rPr>
              <a:t>售前按照做准“</a:t>
            </a:r>
            <a:r>
              <a:rPr lang="en-US" altLang="zh-CN" sz="1100" dirty="0" smtClean="0">
                <a:solidFill>
                  <a:srgbClr val="C00000"/>
                </a:solidFill>
              </a:rPr>
              <a:t>N</a:t>
            </a:r>
            <a:r>
              <a:rPr lang="zh-CN" altLang="en-US" sz="1100" dirty="0" smtClean="0">
                <a:solidFill>
                  <a:srgbClr val="C00000"/>
                </a:solidFill>
              </a:rPr>
              <a:t>”的质量标准与操作指导，配置清单</a:t>
            </a:r>
            <a:endParaRPr lang="zh-CN" altLang="en-US" sz="1100" dirty="0">
              <a:solidFill>
                <a:srgbClr val="C00000"/>
              </a:solidFill>
            </a:endParaRPr>
          </a:p>
        </p:txBody>
      </p:sp>
      <p:cxnSp>
        <p:nvCxnSpPr>
          <p:cNvPr id="163" name="直接箭头连接符 162"/>
          <p:cNvCxnSpPr/>
          <p:nvPr/>
        </p:nvCxnSpPr>
        <p:spPr>
          <a:xfrm flipH="1">
            <a:off x="7167993" y="2567853"/>
            <a:ext cx="2" cy="2256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直接箭头连接符 165"/>
          <p:cNvCxnSpPr/>
          <p:nvPr/>
        </p:nvCxnSpPr>
        <p:spPr>
          <a:xfrm>
            <a:off x="7167993" y="3401972"/>
            <a:ext cx="0" cy="4083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8" name="矩形 167"/>
          <p:cNvSpPr/>
          <p:nvPr/>
        </p:nvSpPr>
        <p:spPr>
          <a:xfrm>
            <a:off x="7704479" y="3159232"/>
            <a:ext cx="4052457" cy="600164"/>
          </a:xfrm>
          <a:prstGeom prst="rect">
            <a:avLst/>
          </a:prstGeom>
          <a:solidFill>
            <a:srgbClr val="002060">
              <a:alpha val="90000"/>
            </a:srgbClr>
          </a:solidFill>
        </p:spPr>
        <p:txBody>
          <a:bodyPr wrap="square">
            <a:spAutoFit/>
          </a:bodyPr>
          <a:lstStyle/>
          <a:p>
            <a:pPr marL="342900" indent="-342900">
              <a:buAutoNum type="arabicPeriod"/>
            </a:pPr>
            <a:r>
              <a:rPr lang="zh-CN" altLang="en-US" sz="1100" dirty="0" smtClean="0">
                <a:solidFill>
                  <a:schemeClr val="bg1"/>
                </a:solidFill>
                <a:latin typeface="微软雅黑" panose="020B0503020204020204" pitchFamily="34" charset="-122"/>
                <a:ea typeface="微软雅黑" panose="020B0503020204020204" pitchFamily="34" charset="-122"/>
              </a:rPr>
              <a:t>项目漏斗进漏斗内时，需要明确</a:t>
            </a:r>
            <a:r>
              <a:rPr lang="zh-CN" altLang="en-US" sz="1100" b="1" dirty="0" smtClean="0">
                <a:solidFill>
                  <a:srgbClr val="FFFF00"/>
                </a:solidFill>
                <a:latin typeface="微软雅黑" panose="020B0503020204020204" pitchFamily="34" charset="-122"/>
                <a:ea typeface="微软雅黑" panose="020B0503020204020204" pitchFamily="34" charset="-122"/>
              </a:rPr>
              <a:t>产品清单中的产品系列</a:t>
            </a:r>
            <a:endParaRPr lang="en-US" altLang="zh-CN" sz="1100" b="1" dirty="0" smtClean="0">
              <a:solidFill>
                <a:srgbClr val="FFFF00"/>
              </a:solidFill>
              <a:latin typeface="微软雅黑" panose="020B0503020204020204" pitchFamily="34" charset="-122"/>
              <a:ea typeface="微软雅黑" panose="020B0503020204020204" pitchFamily="34" charset="-122"/>
            </a:endParaRPr>
          </a:p>
          <a:p>
            <a:pPr marL="342900" indent="-342900">
              <a:buFontTx/>
              <a:buAutoNum type="arabicPeriod"/>
            </a:pPr>
            <a:r>
              <a:rPr lang="zh-CN" altLang="en-US" sz="1100" dirty="0" smtClean="0">
                <a:solidFill>
                  <a:schemeClr val="bg1"/>
                </a:solidFill>
                <a:latin typeface="微软雅黑" panose="020B0503020204020204" pitchFamily="34" charset="-122"/>
                <a:ea typeface="微软雅黑" panose="020B0503020204020204" pitchFamily="34" charset="-122"/>
              </a:rPr>
              <a:t>不同的</a:t>
            </a:r>
            <a:r>
              <a:rPr lang="zh-CN" altLang="en-US" sz="1100" b="1" dirty="0" smtClean="0">
                <a:solidFill>
                  <a:srgbClr val="FFFF00"/>
                </a:solidFill>
                <a:latin typeface="微软雅黑" panose="020B0503020204020204" pitchFamily="34" charset="-122"/>
                <a:ea typeface="微软雅黑" panose="020B0503020204020204" pitchFamily="34" charset="-122"/>
              </a:rPr>
              <a:t>预测类别</a:t>
            </a:r>
            <a:r>
              <a:rPr lang="zh-CN" altLang="en-US" sz="1100" dirty="0" smtClean="0">
                <a:solidFill>
                  <a:schemeClr val="bg1"/>
                </a:solidFill>
                <a:latin typeface="微软雅黑" panose="020B0503020204020204" pitchFamily="34" charset="-122"/>
                <a:ea typeface="微软雅黑" panose="020B0503020204020204" pitchFamily="34" charset="-122"/>
              </a:rPr>
              <a:t>，有</a:t>
            </a:r>
            <a:r>
              <a:rPr lang="zh-CN" altLang="en-US" sz="1100" b="1" dirty="0" smtClean="0">
                <a:solidFill>
                  <a:srgbClr val="FFFF00"/>
                </a:solidFill>
                <a:latin typeface="微软雅黑" panose="020B0503020204020204" pitchFamily="34" charset="-122"/>
                <a:ea typeface="微软雅黑" panose="020B0503020204020204" pitchFamily="34" charset="-122"/>
              </a:rPr>
              <a:t>最低的清单准确度要求</a:t>
            </a:r>
            <a:endParaRPr lang="en-US" altLang="zh-CN" sz="1100" b="1" dirty="0" smtClean="0">
              <a:solidFill>
                <a:srgbClr val="FFFF00"/>
              </a:solidFill>
              <a:latin typeface="微软雅黑" panose="020B0503020204020204" pitchFamily="34" charset="-122"/>
              <a:ea typeface="微软雅黑" panose="020B0503020204020204" pitchFamily="34" charset="-122"/>
            </a:endParaRPr>
          </a:p>
          <a:p>
            <a:pPr marL="342900" indent="-342900">
              <a:buFontTx/>
              <a:buAutoNum type="arabicPeriod"/>
            </a:pPr>
            <a:r>
              <a:rPr lang="zh-CN" altLang="en-US" sz="1100" dirty="0" smtClean="0">
                <a:solidFill>
                  <a:schemeClr val="bg1"/>
                </a:solidFill>
                <a:latin typeface="微软雅黑" panose="020B0503020204020204" pitchFamily="34" charset="-122"/>
                <a:ea typeface="微软雅黑" panose="020B0503020204020204" pitchFamily="34" charset="-122"/>
              </a:rPr>
              <a:t>当</a:t>
            </a:r>
            <a:r>
              <a:rPr lang="zh-CN" altLang="en-US" sz="1100" b="1" dirty="0" smtClean="0">
                <a:solidFill>
                  <a:srgbClr val="FFFF00"/>
                </a:solidFill>
                <a:latin typeface="微软雅黑" panose="020B0503020204020204" pitchFamily="34" charset="-122"/>
                <a:ea typeface="微软雅黑" panose="020B0503020204020204" pitchFamily="34" charset="-122"/>
              </a:rPr>
              <a:t>预测类别发生变化</a:t>
            </a:r>
            <a:r>
              <a:rPr lang="zh-CN" altLang="en-US" sz="1100" dirty="0" smtClean="0">
                <a:solidFill>
                  <a:schemeClr val="bg1"/>
                </a:solidFill>
                <a:latin typeface="微软雅黑" panose="020B0503020204020204" pitchFamily="34" charset="-122"/>
                <a:ea typeface="微软雅黑" panose="020B0503020204020204" pitchFamily="34" charset="-122"/>
              </a:rPr>
              <a:t>时，</a:t>
            </a:r>
            <a:r>
              <a:rPr lang="zh-CN" altLang="en-US" sz="1100" b="1" dirty="0" smtClean="0">
                <a:solidFill>
                  <a:srgbClr val="FFFF00"/>
                </a:solidFill>
                <a:latin typeface="微软雅黑" panose="020B0503020204020204" pitchFamily="34" charset="-122"/>
                <a:ea typeface="微软雅黑" panose="020B0503020204020204" pitchFamily="34" charset="-122"/>
              </a:rPr>
              <a:t>清单可信度要及时提升</a:t>
            </a:r>
            <a:r>
              <a:rPr lang="zh-CN" altLang="en-US" sz="1100" dirty="0" smtClean="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765674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619269" y="369497"/>
            <a:ext cx="11664661" cy="504362"/>
          </a:xfrm>
          <a:prstGeom prst="rect">
            <a:avLst/>
          </a:prstGeom>
          <a:noFill/>
        </p:spPr>
        <p:txBody>
          <a:bodyPr wrap="square" rtlCol="0">
            <a:noAutofit/>
          </a:bodyPr>
          <a:lstStyle/>
          <a:p>
            <a:r>
              <a:rPr kumimoji="1" lang="zh-CN" altLang="en-US" sz="2800" b="1" dirty="0" smtClean="0">
                <a:solidFill>
                  <a:srgbClr val="E60039"/>
                </a:solidFill>
                <a:latin typeface="微软雅黑" panose="020B0503020204020204" charset="-122"/>
                <a:ea typeface="微软雅黑" panose="020B0503020204020204" charset="-122"/>
                <a:sym typeface="+mn-ea"/>
              </a:rPr>
              <a:t>自工序</a:t>
            </a:r>
            <a:r>
              <a:rPr kumimoji="1" lang="en-US" altLang="zh-CN" sz="2800" b="1" dirty="0" smtClean="0">
                <a:solidFill>
                  <a:srgbClr val="E60039"/>
                </a:solidFill>
                <a:latin typeface="微软雅黑" panose="020B0503020204020204" charset="-122"/>
                <a:ea typeface="微软雅黑" panose="020B0503020204020204" charset="-122"/>
                <a:sym typeface="+mn-ea"/>
              </a:rPr>
              <a:t>-</a:t>
            </a:r>
            <a:r>
              <a:rPr kumimoji="1" lang="zh-CN" altLang="en-US" sz="2800" b="1" dirty="0" smtClean="0">
                <a:solidFill>
                  <a:srgbClr val="E60039"/>
                </a:solidFill>
                <a:latin typeface="微软雅黑" panose="020B0503020204020204" charset="-122"/>
                <a:ea typeface="微软雅黑" panose="020B0503020204020204" charset="-122"/>
                <a:sym typeface="+mn-ea"/>
              </a:rPr>
              <a:t>漏斗外进漏斗内如何做准“</a:t>
            </a:r>
            <a:r>
              <a:rPr kumimoji="1" lang="en-US" altLang="zh-CN" sz="2800" b="1" dirty="0">
                <a:solidFill>
                  <a:srgbClr val="E60039"/>
                </a:solidFill>
                <a:latin typeface="微软雅黑" panose="020B0503020204020204" charset="-122"/>
                <a:ea typeface="微软雅黑" panose="020B0503020204020204" charset="-122"/>
                <a:sym typeface="+mn-ea"/>
              </a:rPr>
              <a:t>T</a:t>
            </a:r>
            <a:r>
              <a:rPr kumimoji="1" lang="zh-CN" altLang="en-US" sz="2800" b="1" dirty="0" smtClean="0">
                <a:solidFill>
                  <a:srgbClr val="E60039"/>
                </a:solidFill>
                <a:latin typeface="微软雅黑" panose="020B0503020204020204" charset="-122"/>
                <a:ea typeface="微软雅黑" panose="020B0503020204020204" charset="-122"/>
                <a:sym typeface="+mn-ea"/>
              </a:rPr>
              <a:t>”</a:t>
            </a:r>
            <a:endParaRPr kumimoji="1" lang="zh-CN" altLang="en-US" sz="2800" b="1" dirty="0">
              <a:solidFill>
                <a:srgbClr val="E60039"/>
              </a:solidFill>
              <a:latin typeface="微软雅黑" panose="020B0503020204020204" charset="-122"/>
              <a:ea typeface="微软雅黑" panose="020B0503020204020204" charset="-122"/>
              <a:sym typeface="+mn-ea"/>
            </a:endParaRPr>
          </a:p>
        </p:txBody>
      </p:sp>
      <p:sp>
        <p:nvSpPr>
          <p:cNvPr id="3" name="文本框 2"/>
          <p:cNvSpPr txBox="1"/>
          <p:nvPr/>
        </p:nvSpPr>
        <p:spPr>
          <a:xfrm>
            <a:off x="1401350" y="982611"/>
            <a:ext cx="3401587"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过去</a:t>
            </a:r>
            <a:r>
              <a:rPr lang="zh-CN" altLang="en-US" b="1" dirty="0" smtClean="0">
                <a:latin typeface="微软雅黑" panose="020B0503020204020204" pitchFamily="34" charset="-122"/>
                <a:ea typeface="微软雅黑" panose="020B0503020204020204" pitchFamily="34" charset="-122"/>
              </a:rPr>
              <a:t>销售</a:t>
            </a:r>
            <a:r>
              <a:rPr lang="zh-CN" altLang="en-US" b="1" dirty="0">
                <a:latin typeface="微软雅黑" panose="020B0503020204020204" pitchFamily="34" charset="-122"/>
                <a:ea typeface="微软雅黑" panose="020B0503020204020204" pitchFamily="34" charset="-122"/>
              </a:rPr>
              <a:t>是</a:t>
            </a:r>
            <a:r>
              <a:rPr lang="zh-CN" altLang="en-US" b="1" dirty="0" smtClean="0">
                <a:latin typeface="微软雅黑" panose="020B0503020204020204" pitchFamily="34" charset="-122"/>
                <a:ea typeface="微软雅黑" panose="020B0503020204020204" pitchFamily="34" charset="-122"/>
              </a:rPr>
              <a:t>如何</a:t>
            </a:r>
            <a:r>
              <a:rPr lang="zh-CN" altLang="en-US" b="1" dirty="0" smtClean="0">
                <a:latin typeface="微软雅黑" panose="020B0503020204020204" pitchFamily="34" charset="-122"/>
                <a:ea typeface="微软雅黑" panose="020B0503020204020204" pitchFamily="34" charset="-122"/>
              </a:rPr>
              <a:t>做“</a:t>
            </a:r>
            <a:r>
              <a:rPr lang="en-US" altLang="zh-CN" b="1" dirty="0">
                <a:latin typeface="微软雅黑" panose="020B0503020204020204" pitchFamily="34" charset="-122"/>
                <a:ea typeface="微软雅黑" panose="020B0503020204020204" pitchFamily="34" charset="-122"/>
              </a:rPr>
              <a:t>T</a:t>
            </a:r>
            <a:r>
              <a:rPr lang="zh-CN" altLang="en-US" b="1" dirty="0" smtClean="0">
                <a:latin typeface="微软雅黑" panose="020B0503020204020204" pitchFamily="34" charset="-122"/>
                <a:ea typeface="微软雅黑" panose="020B0503020204020204" pitchFamily="34" charset="-122"/>
              </a:rPr>
              <a:t>”的？</a:t>
            </a:r>
            <a:endParaRPr lang="zh-CN" altLang="en-US" b="1" dirty="0">
              <a:latin typeface="微软雅黑" panose="020B0503020204020204" pitchFamily="34" charset="-122"/>
              <a:ea typeface="微软雅黑" panose="020B0503020204020204" pitchFamily="34" charset="-122"/>
            </a:endParaRPr>
          </a:p>
        </p:txBody>
      </p:sp>
      <p:sp>
        <p:nvSpPr>
          <p:cNvPr id="4" name="矩形 3"/>
          <p:cNvSpPr/>
          <p:nvPr/>
        </p:nvSpPr>
        <p:spPr>
          <a:xfrm>
            <a:off x="340538" y="1439521"/>
            <a:ext cx="5078064" cy="535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 name="文本框 5"/>
          <p:cNvSpPr txBox="1"/>
          <p:nvPr/>
        </p:nvSpPr>
        <p:spPr>
          <a:xfrm>
            <a:off x="7350447" y="911562"/>
            <a:ext cx="3401587"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现在</a:t>
            </a:r>
            <a:r>
              <a:rPr lang="zh-CN" altLang="en-US" b="1" dirty="0" smtClean="0">
                <a:latin typeface="微软雅黑" panose="020B0503020204020204" pitchFamily="34" charset="-122"/>
                <a:ea typeface="微软雅黑" panose="020B0503020204020204" pitchFamily="34" charset="-122"/>
              </a:rPr>
              <a:t>销售要如何做准“</a:t>
            </a:r>
            <a:r>
              <a:rPr lang="en-US" altLang="zh-CN" b="1" dirty="0">
                <a:latin typeface="微软雅黑" panose="020B0503020204020204" pitchFamily="34" charset="-122"/>
                <a:ea typeface="微软雅黑" panose="020B0503020204020204" pitchFamily="34" charset="-122"/>
              </a:rPr>
              <a:t>T</a:t>
            </a:r>
            <a:r>
              <a:rPr lang="zh-CN" altLang="en-US"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7" name="矩形 6"/>
          <p:cNvSpPr/>
          <p:nvPr/>
        </p:nvSpPr>
        <p:spPr>
          <a:xfrm>
            <a:off x="5571067" y="1439521"/>
            <a:ext cx="6518078" cy="53507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grpSp>
        <p:nvGrpSpPr>
          <p:cNvPr id="22" name="组合 21"/>
          <p:cNvGrpSpPr/>
          <p:nvPr/>
        </p:nvGrpSpPr>
        <p:grpSpPr>
          <a:xfrm>
            <a:off x="516651" y="1548453"/>
            <a:ext cx="4605309" cy="715951"/>
            <a:chOff x="516651" y="1548453"/>
            <a:chExt cx="4605309" cy="715951"/>
          </a:xfrm>
        </p:grpSpPr>
        <p:sp>
          <p:nvSpPr>
            <p:cNvPr id="19" name="圆角矩形 18"/>
            <p:cNvSpPr/>
            <p:nvPr/>
          </p:nvSpPr>
          <p:spPr>
            <a:xfrm>
              <a:off x="516651" y="1548453"/>
              <a:ext cx="4605309" cy="715951"/>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757592" y="1740420"/>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开标时间</a:t>
              </a:r>
            </a:p>
          </p:txBody>
        </p:sp>
        <p:sp>
          <p:nvSpPr>
            <p:cNvPr id="12" name="圆角矩形 11"/>
            <p:cNvSpPr/>
            <p:nvPr/>
          </p:nvSpPr>
          <p:spPr>
            <a:xfrm>
              <a:off x="2401037" y="1717921"/>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下</a:t>
              </a:r>
              <a:r>
                <a:rPr lang="zh-CN" altLang="en-US" sz="1400" b="1" dirty="0" smtClean="0">
                  <a:solidFill>
                    <a:schemeClr val="bg1"/>
                  </a:solidFill>
                  <a:latin typeface="微软雅黑" panose="020B0503020204020204" pitchFamily="34" charset="-122"/>
                  <a:ea typeface="微软雅黑" panose="020B0503020204020204" pitchFamily="34" charset="-122"/>
                </a:rPr>
                <a:t>单时间</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sp>
        <p:nvSpPr>
          <p:cNvPr id="13" name="圆角矩形 12"/>
          <p:cNvSpPr/>
          <p:nvPr/>
        </p:nvSpPr>
        <p:spPr>
          <a:xfrm>
            <a:off x="4031461" y="1723417"/>
            <a:ext cx="956863" cy="366021"/>
          </a:xfrm>
          <a:prstGeom prst="roundRect">
            <a:avLst/>
          </a:prstGeom>
          <a:solidFill>
            <a:schemeClr val="bg1">
              <a:lumMod val="65000"/>
            </a:schemeClr>
          </a:solidFill>
          <a:ln w="12700">
            <a:solidFill>
              <a:srgbClr val="FF0000"/>
            </a:solidFill>
            <a:prstDash val="dash"/>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smtClean="0">
                <a:solidFill>
                  <a:schemeClr val="bg1"/>
                </a:solidFill>
                <a:latin typeface="微软雅黑" panose="020B0503020204020204" pitchFamily="34" charset="-122"/>
                <a:ea typeface="微软雅黑" panose="020B0503020204020204" pitchFamily="34" charset="-122"/>
              </a:rPr>
              <a:t>要货</a:t>
            </a:r>
            <a:r>
              <a:rPr lang="zh-CN" altLang="en-US" sz="1400" b="1" dirty="0">
                <a:solidFill>
                  <a:schemeClr val="bg1"/>
                </a:solidFill>
                <a:latin typeface="微软雅黑" panose="020B0503020204020204" pitchFamily="34" charset="-122"/>
                <a:ea typeface="微软雅黑" panose="020B0503020204020204" pitchFamily="34" charset="-122"/>
              </a:rPr>
              <a:t>时间</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6110102" y="2404276"/>
            <a:ext cx="5979043" cy="276999"/>
          </a:xfrm>
          <a:prstGeom prst="rect">
            <a:avLst/>
          </a:prstGeom>
          <a:noFill/>
        </p:spPr>
        <p:txBody>
          <a:bodyPr wrap="square" rtlCol="0">
            <a:spAutoFit/>
          </a:bodyPr>
          <a:lstStyle/>
          <a:p>
            <a:r>
              <a:rPr lang="zh-CN" altLang="en-US" sz="1200" b="1" dirty="0" smtClean="0">
                <a:latin typeface="微软雅黑" panose="020B0503020204020204" pitchFamily="34" charset="-122"/>
                <a:ea typeface="微软雅黑" panose="020B0503020204020204" pitchFamily="34" charset="-122"/>
              </a:rPr>
              <a:t>漏斗外进漏斗内要求做准“</a:t>
            </a:r>
            <a:r>
              <a:rPr lang="en-US" altLang="zh-CN" sz="1200" b="1" dirty="0" smtClean="0">
                <a:latin typeface="微软雅黑" panose="020B0503020204020204" pitchFamily="34" charset="-122"/>
                <a:ea typeface="微软雅黑" panose="020B0503020204020204" pitchFamily="34" charset="-122"/>
              </a:rPr>
              <a:t>3</a:t>
            </a:r>
            <a:r>
              <a:rPr lang="zh-CN" altLang="en-US" sz="1200" b="1" dirty="0">
                <a:latin typeface="微软雅黑" panose="020B0503020204020204" pitchFamily="34" charset="-122"/>
                <a:ea typeface="微软雅黑" panose="020B0503020204020204" pitchFamily="34" charset="-122"/>
              </a:rPr>
              <a:t>个</a:t>
            </a:r>
            <a:r>
              <a:rPr lang="en-US" altLang="zh-CN" sz="1200" b="1" dirty="0" smtClean="0">
                <a:latin typeface="微软雅黑" panose="020B0503020204020204" pitchFamily="34" charset="-122"/>
                <a:ea typeface="微软雅黑" panose="020B0503020204020204" pitchFamily="34" charset="-122"/>
              </a:rPr>
              <a:t>T</a:t>
            </a:r>
            <a:r>
              <a:rPr lang="zh-CN" altLang="en-US" sz="1200" b="1" dirty="0" smtClean="0">
                <a:latin typeface="微软雅黑" panose="020B0503020204020204" pitchFamily="34" charset="-122"/>
                <a:ea typeface="微软雅黑" panose="020B0503020204020204" pitchFamily="34" charset="-122"/>
              </a:rPr>
              <a:t>”：</a:t>
            </a:r>
            <a:r>
              <a:rPr lang="en-US" altLang="zh-CN" sz="1200" b="1" dirty="0" smtClean="0">
                <a:latin typeface="微软雅黑" panose="020B0503020204020204" pitchFamily="34" charset="-122"/>
                <a:ea typeface="微软雅黑" panose="020B0503020204020204" pitchFamily="34" charset="-122"/>
              </a:rPr>
              <a:t>——</a:t>
            </a:r>
            <a:r>
              <a:rPr lang="zh-CN" altLang="en-US" sz="1200" b="1" dirty="0" smtClean="0">
                <a:latin typeface="微软雅黑" panose="020B0503020204020204" pitchFamily="34" charset="-122"/>
                <a:ea typeface="微软雅黑" panose="020B0503020204020204" pitchFamily="34" charset="-122"/>
              </a:rPr>
              <a:t>开标</a:t>
            </a:r>
            <a:r>
              <a:rPr lang="zh-CN" altLang="en-US" sz="1200" b="1" dirty="0" smtClean="0">
                <a:latin typeface="微软雅黑" panose="020B0503020204020204" pitchFamily="34" charset="-122"/>
                <a:ea typeface="微软雅黑" panose="020B0503020204020204" pitchFamily="34" charset="-122"/>
              </a:rPr>
              <a:t>时间、下单时间、要货</a:t>
            </a:r>
            <a:r>
              <a:rPr lang="zh-CN" altLang="en-US" sz="1200" b="1" dirty="0" smtClean="0">
                <a:latin typeface="微软雅黑" panose="020B0503020204020204" pitchFamily="34" charset="-122"/>
                <a:ea typeface="微软雅黑" panose="020B0503020204020204" pitchFamily="34" charset="-122"/>
              </a:rPr>
              <a:t>时间</a:t>
            </a:r>
            <a:endParaRPr lang="en-US" altLang="zh-CN" sz="12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469497" y="3677130"/>
            <a:ext cx="4775804" cy="1015663"/>
          </a:xfrm>
          <a:prstGeom prst="rect">
            <a:avLst/>
          </a:prstGeom>
          <a:noFill/>
          <a:ln>
            <a:solidFill>
              <a:srgbClr val="C00000"/>
            </a:solidFill>
          </a:ln>
        </p:spPr>
        <p:txBody>
          <a:bodyPr wrap="square" rtlCol="0">
            <a:spAutoFit/>
          </a:bodyPr>
          <a:lstStyle/>
          <a:p>
            <a:pPr marL="171450" indent="-171450">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rPr>
              <a:t>开标时间：</a:t>
            </a:r>
            <a:r>
              <a:rPr lang="zh-CN" altLang="en-US" sz="1200" dirty="0" smtClean="0">
                <a:latin typeface="微软雅黑" panose="020B0503020204020204" pitchFamily="34" charset="-122"/>
                <a:ea typeface="微软雅黑" panose="020B0503020204020204" pitchFamily="34" charset="-122"/>
              </a:rPr>
              <a:t>进漏斗内仅要求预计开标时间明确，到季度即可进漏斗</a:t>
            </a:r>
            <a:endParaRPr lang="en-US" altLang="zh-CN" sz="1200" dirty="0" smtClean="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rPr>
              <a:t>下单时间：</a:t>
            </a:r>
            <a:r>
              <a:rPr lang="zh-CN" altLang="en-US" sz="1200" dirty="0" smtClean="0">
                <a:latin typeface="微软雅黑" panose="020B0503020204020204" pitchFamily="34" charset="-122"/>
                <a:ea typeface="微软雅黑" panose="020B0503020204020204" pitchFamily="34" charset="-122"/>
              </a:rPr>
              <a:t>根据项目类型，采用正推法，按客户采购流程估算。或用倒推法，按客户最晚要货时间倒推估算。下单时间估算，要考虑不同类型，如政采类、</a:t>
            </a:r>
            <a:r>
              <a:rPr lang="en-US" altLang="zh-CN" sz="1200" dirty="0" smtClean="0">
                <a:latin typeface="微软雅黑" panose="020B0503020204020204" pitchFamily="34" charset="-122"/>
                <a:ea typeface="微软雅黑" panose="020B0503020204020204" pitchFamily="34" charset="-122"/>
              </a:rPr>
              <a:t>EPC</a:t>
            </a:r>
            <a:r>
              <a:rPr lang="zh-CN" altLang="en-US" sz="1200" dirty="0" smtClean="0">
                <a:latin typeface="微软雅黑" panose="020B0503020204020204" pitchFamily="34" charset="-122"/>
                <a:ea typeface="微软雅黑" panose="020B0503020204020204" pitchFamily="34" charset="-122"/>
              </a:rPr>
              <a:t>、投融资等</a:t>
            </a:r>
            <a:endParaRPr lang="en-US" altLang="zh-CN" sz="1200" dirty="0" smtClean="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要货</a:t>
            </a:r>
            <a:r>
              <a:rPr lang="zh-CN" altLang="en-US" sz="1200" b="1" dirty="0" smtClean="0">
                <a:latin typeface="微软雅黑" panose="020B0503020204020204" pitchFamily="34" charset="-122"/>
                <a:ea typeface="微软雅黑" panose="020B0503020204020204" pitchFamily="34" charset="-122"/>
              </a:rPr>
              <a:t>时间：</a:t>
            </a:r>
            <a:r>
              <a:rPr lang="zh-CN" altLang="en-US" sz="1200" dirty="0" smtClean="0">
                <a:latin typeface="微软雅黑" panose="020B0503020204020204" pitchFamily="34" charset="-122"/>
                <a:ea typeface="微软雅黑" panose="020B0503020204020204" pitchFamily="34" charset="-122"/>
              </a:rPr>
              <a:t>对漏斗外进漏斗时，要货时间没有明确要求</a:t>
            </a:r>
            <a:endParaRPr lang="en-US" altLang="zh-CN" sz="1200" dirty="0" smtClean="0">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extLst>
              <p:ext uri="{D42A27DB-BD31-4B8C-83A1-F6EECF244321}">
                <p14:modId xmlns:p14="http://schemas.microsoft.com/office/powerpoint/2010/main" val="2773974593"/>
              </p:ext>
            </p:extLst>
          </p:nvPr>
        </p:nvGraphicFramePr>
        <p:xfrm>
          <a:off x="5997071" y="3251080"/>
          <a:ext cx="5938619" cy="3489960"/>
        </p:xfrm>
        <a:graphic>
          <a:graphicData uri="http://schemas.openxmlformats.org/drawingml/2006/table">
            <a:tbl>
              <a:tblPr firstRow="1" bandRow="1">
                <a:tableStyleId>{21E4AEA4-8DFA-4A89-87EB-49C32662AFE0}</a:tableStyleId>
              </a:tblPr>
              <a:tblGrid>
                <a:gridCol w="418013">
                  <a:extLst>
                    <a:ext uri="{9D8B030D-6E8A-4147-A177-3AD203B41FA5}">
                      <a16:colId xmlns:a16="http://schemas.microsoft.com/office/drawing/2014/main" xmlns="" val="996821220"/>
                    </a:ext>
                  </a:extLst>
                </a:gridCol>
                <a:gridCol w="1010952">
                  <a:extLst>
                    <a:ext uri="{9D8B030D-6E8A-4147-A177-3AD203B41FA5}">
                      <a16:colId xmlns:a16="http://schemas.microsoft.com/office/drawing/2014/main" xmlns="" val="2268101690"/>
                    </a:ext>
                  </a:extLst>
                </a:gridCol>
                <a:gridCol w="1245841">
                  <a:extLst>
                    <a:ext uri="{9D8B030D-6E8A-4147-A177-3AD203B41FA5}">
                      <a16:colId xmlns:a16="http://schemas.microsoft.com/office/drawing/2014/main" xmlns="" val="1528874461"/>
                    </a:ext>
                  </a:extLst>
                </a:gridCol>
                <a:gridCol w="3263813">
                  <a:extLst>
                    <a:ext uri="{9D8B030D-6E8A-4147-A177-3AD203B41FA5}">
                      <a16:colId xmlns:a16="http://schemas.microsoft.com/office/drawing/2014/main" xmlns="" val="2078432254"/>
                    </a:ext>
                  </a:extLst>
                </a:gridCol>
              </a:tblGrid>
              <a:tr h="255762">
                <a:tc>
                  <a:txBody>
                    <a:bodyPr/>
                    <a:lstStyle/>
                    <a:p>
                      <a:pPr algn="ctr"/>
                      <a:r>
                        <a:rPr lang="en-US" altLang="zh-CN" sz="900" b="0" dirty="0" smtClean="0">
                          <a:effectLst/>
                          <a:latin typeface="微软雅黑" panose="020B0503020204020204" pitchFamily="34" charset="-122"/>
                          <a:ea typeface="微软雅黑" panose="020B0503020204020204" pitchFamily="34" charset="-122"/>
                        </a:rPr>
                        <a:t>#</a:t>
                      </a:r>
                      <a:endParaRPr lang="zh-CN" altLang="en-US" sz="9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pPr algn="ctr"/>
                      <a:r>
                        <a:rPr lang="en-US" sz="900" b="0" dirty="0">
                          <a:effectLst/>
                          <a:latin typeface="微软雅黑" panose="020B0503020204020204" pitchFamily="34" charset="-122"/>
                          <a:ea typeface="微软雅黑" panose="020B0503020204020204" pitchFamily="34" charset="-122"/>
                        </a:rPr>
                        <a:t>3T</a:t>
                      </a:r>
                    </a:p>
                  </a:txBody>
                  <a:tcPr marL="114300" marR="114300" marT="76200" marB="76200" anchor="ctr"/>
                </a:tc>
                <a:tc>
                  <a:txBody>
                    <a:bodyPr/>
                    <a:lstStyle/>
                    <a:p>
                      <a:pPr algn="ctr"/>
                      <a:r>
                        <a:rPr lang="zh-CN" altLang="en-US" sz="900" b="0" dirty="0">
                          <a:effectLst/>
                          <a:latin typeface="微软雅黑" panose="020B0503020204020204" pitchFamily="34" charset="-122"/>
                          <a:ea typeface="微软雅黑" panose="020B0503020204020204" pitchFamily="34" charset="-122"/>
                        </a:rPr>
                        <a:t>项目分类</a:t>
                      </a:r>
                    </a:p>
                  </a:txBody>
                  <a:tcPr marL="114300" marR="114300" marT="76200" marB="76200" anchor="ctr"/>
                </a:tc>
                <a:tc>
                  <a:txBody>
                    <a:bodyPr/>
                    <a:lstStyle/>
                    <a:p>
                      <a:pPr algn="ctr"/>
                      <a:r>
                        <a:rPr lang="zh-CN" altLang="en-US" sz="900" b="0" dirty="0">
                          <a:effectLst/>
                          <a:latin typeface="微软雅黑" panose="020B0503020204020204" pitchFamily="34" charset="-122"/>
                          <a:ea typeface="微软雅黑" panose="020B0503020204020204" pitchFamily="34" charset="-122"/>
                        </a:rPr>
                        <a:t>定义</a:t>
                      </a:r>
                    </a:p>
                  </a:txBody>
                  <a:tcPr marL="114300" marR="114300" marT="76200" marB="76200" anchor="ctr"/>
                </a:tc>
                <a:extLst>
                  <a:ext uri="{0D108BD9-81ED-4DB2-BD59-A6C34878D82A}">
                    <a16:rowId xmlns:a16="http://schemas.microsoft.com/office/drawing/2014/main" xmlns="" val="4111314105"/>
                  </a:ext>
                </a:extLst>
              </a:tr>
              <a:tr h="403835">
                <a:tc>
                  <a:txBody>
                    <a:bodyPr/>
                    <a:lstStyle/>
                    <a:p>
                      <a:pPr algn="ctr"/>
                      <a:r>
                        <a:rPr lang="en-US" altLang="zh-CN" sz="1000" dirty="0">
                          <a:effectLst/>
                          <a:latin typeface="微软雅黑" panose="020B0503020204020204" pitchFamily="34" charset="-122"/>
                          <a:ea typeface="微软雅黑" panose="020B0503020204020204" pitchFamily="34" charset="-122"/>
                        </a:rPr>
                        <a:t>1</a:t>
                      </a:r>
                      <a:endParaRPr lang="en-US" altLang="zh-CN"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要求到货时间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所有项目</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b="1" dirty="0">
                          <a:solidFill>
                            <a:srgbClr val="FF0000"/>
                          </a:solidFill>
                          <a:effectLst/>
                          <a:latin typeface="微软雅黑" panose="020B0503020204020204" pitchFamily="34" charset="-122"/>
                          <a:ea typeface="微软雅黑" panose="020B0503020204020204" pitchFamily="34" charset="-122"/>
                        </a:rPr>
                        <a:t>以最终设备使用或者上线时间来倒推（客户希望货到现场的时间）</a:t>
                      </a:r>
                    </a:p>
                  </a:txBody>
                  <a:tcPr marL="114300" marR="114300" marT="76200" marB="76200" anchor="ctr"/>
                </a:tc>
                <a:extLst>
                  <a:ext uri="{0D108BD9-81ED-4DB2-BD59-A6C34878D82A}">
                    <a16:rowId xmlns:a16="http://schemas.microsoft.com/office/drawing/2014/main" xmlns="" val="3260419257"/>
                  </a:ext>
                </a:extLst>
              </a:tr>
              <a:tr h="403835">
                <a:tc>
                  <a:txBody>
                    <a:bodyPr/>
                    <a:lstStyle/>
                    <a:p>
                      <a:pPr algn="ctr"/>
                      <a:r>
                        <a:rPr lang="en-US" altLang="zh-CN" sz="1000" dirty="0">
                          <a:effectLst/>
                          <a:latin typeface="微软雅黑" panose="020B0503020204020204" pitchFamily="34" charset="-122"/>
                          <a:ea typeface="微软雅黑" panose="020B0503020204020204" pitchFamily="34" charset="-122"/>
                        </a:rPr>
                        <a:t>2</a:t>
                      </a:r>
                      <a:endParaRPr lang="en-US" altLang="zh-CN"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预计下单日期</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所有项目</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b="1" dirty="0">
                          <a:solidFill>
                            <a:srgbClr val="FF0000"/>
                          </a:solidFill>
                          <a:effectLst/>
                          <a:latin typeface="微软雅黑" panose="020B0503020204020204" pitchFamily="34" charset="-122"/>
                          <a:ea typeface="微软雅黑" panose="020B0503020204020204" pitchFamily="34" charset="-122"/>
                        </a:rPr>
                        <a:t>“预计要货时间” 减去 </a:t>
                      </a:r>
                      <a:r>
                        <a:rPr lang="en-US" altLang="zh-CN" sz="1000" b="1" dirty="0">
                          <a:solidFill>
                            <a:srgbClr val="FF0000"/>
                          </a:solidFill>
                          <a:effectLst/>
                          <a:latin typeface="微软雅黑" panose="020B0503020204020204" pitchFamily="34" charset="-122"/>
                          <a:ea typeface="微软雅黑" panose="020B0503020204020204" pitchFamily="34" charset="-122"/>
                        </a:rPr>
                        <a:t>SLA/EPC </a:t>
                      </a:r>
                      <a:r>
                        <a:rPr lang="zh-CN" altLang="en-US" sz="1000" b="1" dirty="0">
                          <a:solidFill>
                            <a:srgbClr val="FF0000"/>
                          </a:solidFill>
                          <a:effectLst/>
                          <a:latin typeface="微软雅黑" panose="020B0503020204020204" pitchFamily="34" charset="-122"/>
                          <a:ea typeface="微软雅黑" panose="020B0503020204020204" pitchFamily="34" charset="-122"/>
                        </a:rPr>
                        <a:t>系统里面下单流程结束的时间</a:t>
                      </a:r>
                    </a:p>
                  </a:txBody>
                  <a:tcPr marL="114300" marR="114300" marT="76200" marB="76200" anchor="ctr"/>
                </a:tc>
                <a:extLst>
                  <a:ext uri="{0D108BD9-81ED-4DB2-BD59-A6C34878D82A}">
                    <a16:rowId xmlns:a16="http://schemas.microsoft.com/office/drawing/2014/main" xmlns="" val="1696631045"/>
                  </a:ext>
                </a:extLst>
              </a:tr>
              <a:tr h="403835">
                <a:tc rowSpan="5">
                  <a:txBody>
                    <a:bodyPr/>
                    <a:lstStyle/>
                    <a:p>
                      <a:pPr algn="ctr"/>
                      <a:r>
                        <a:rPr lang="en-US" altLang="zh-CN" sz="1000" dirty="0">
                          <a:effectLst/>
                          <a:latin typeface="微软雅黑" panose="020B0503020204020204" pitchFamily="34" charset="-122"/>
                          <a:ea typeface="微软雅黑" panose="020B0503020204020204" pitchFamily="34" charset="-122"/>
                        </a:rPr>
                        <a:t>3</a:t>
                      </a:r>
                      <a:endParaRPr lang="en-US" altLang="zh-CN" sz="1000" b="0" dirty="0">
                        <a:effectLst/>
                        <a:latin typeface="微软雅黑" panose="020B0503020204020204" pitchFamily="34" charset="-122"/>
                        <a:ea typeface="微软雅黑" panose="020B0503020204020204" pitchFamily="34" charset="-122"/>
                      </a:endParaRPr>
                    </a:p>
                  </a:txBody>
                  <a:tcPr marL="114300" marR="114300" marT="76200" marB="76200" anchor="ctr"/>
                </a:tc>
                <a:tc rowSpan="5">
                  <a:txBody>
                    <a:bodyPr/>
                    <a:lstStyle/>
                    <a:p>
                      <a:r>
                        <a:rPr lang="zh-CN" altLang="en-US" sz="1000" dirty="0">
                          <a:effectLst/>
                          <a:latin typeface="微软雅黑" panose="020B0503020204020204" pitchFamily="34" charset="-122"/>
                          <a:ea typeface="微软雅黑" panose="020B0503020204020204" pitchFamily="34" charset="-122"/>
                        </a:rPr>
                        <a:t>预计开标日期</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财政资金 </a:t>
                      </a:r>
                      <a:r>
                        <a:rPr lang="en-US" altLang="zh-CN" sz="1000" dirty="0">
                          <a:effectLst/>
                          <a:latin typeface="微软雅黑" panose="020B0503020204020204" pitchFamily="34" charset="-122"/>
                          <a:ea typeface="微软雅黑" panose="020B0503020204020204" pitchFamily="34" charset="-122"/>
                        </a:rPr>
                        <a:t>/ </a:t>
                      </a:r>
                      <a:r>
                        <a:rPr lang="zh-CN" altLang="en-US" sz="1000" dirty="0">
                          <a:effectLst/>
                          <a:latin typeface="微软雅黑" panose="020B0503020204020204" pitchFamily="34" charset="-122"/>
                          <a:ea typeface="微软雅黑" panose="020B0503020204020204" pitchFamily="34" charset="-122"/>
                        </a:rPr>
                        <a:t>标准政采项目</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发出中标公告 </a:t>
                      </a:r>
                      <a:r>
                        <a:rPr lang="en-US" altLang="zh-CN" sz="1000" dirty="0">
                          <a:effectLst/>
                          <a:latin typeface="微软雅黑" panose="020B0503020204020204" pitchFamily="34" charset="-122"/>
                          <a:ea typeface="微软雅黑" panose="020B0503020204020204" pitchFamily="34" charset="-122"/>
                        </a:rPr>
                        <a:t>/ </a:t>
                      </a:r>
                      <a:r>
                        <a:rPr lang="zh-CN" altLang="en-US" sz="1000" dirty="0">
                          <a:effectLst/>
                          <a:latin typeface="微软雅黑" panose="020B0503020204020204" pitchFamily="34" charset="-122"/>
                          <a:ea typeface="微软雅黑" panose="020B0503020204020204" pitchFamily="34" charset="-122"/>
                        </a:rPr>
                        <a:t>中标通知书的时间 </a:t>
                      </a:r>
                      <a:r>
                        <a:rPr lang="en-US" altLang="zh-CN" sz="1000" dirty="0">
                          <a:effectLst/>
                          <a:latin typeface="微软雅黑" panose="020B0503020204020204" pitchFamily="34" charset="-122"/>
                          <a:ea typeface="微软雅黑" panose="020B0503020204020204" pitchFamily="34" charset="-122"/>
                        </a:rPr>
                        <a:t>/ </a:t>
                      </a:r>
                      <a:r>
                        <a:rPr lang="zh-CN" altLang="en-US" sz="1000" dirty="0">
                          <a:effectLst/>
                          <a:latin typeface="微软雅黑" panose="020B0503020204020204" pitchFamily="34" charset="-122"/>
                          <a:ea typeface="微软雅黑" panose="020B0503020204020204" pitchFamily="34" charset="-122"/>
                        </a:rPr>
                        <a:t>开标结果的时间，而不是投标时间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xmlns="" val="55256566"/>
                  </a:ext>
                </a:extLst>
              </a:tr>
              <a:tr h="403835">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弱电 </a:t>
                      </a:r>
                      <a:r>
                        <a:rPr lang="en-US" altLang="zh-CN" sz="1000" dirty="0">
                          <a:effectLst/>
                          <a:latin typeface="微软雅黑" panose="020B0503020204020204" pitchFamily="34" charset="-122"/>
                          <a:ea typeface="微软雅黑" panose="020B0503020204020204" pitchFamily="34" charset="-122"/>
                        </a:rPr>
                        <a:t>&amp; EPC </a:t>
                      </a:r>
                      <a:r>
                        <a:rPr lang="zh-CN" altLang="en-US" sz="1000" dirty="0">
                          <a:effectLst/>
                          <a:latin typeface="微软雅黑" panose="020B0503020204020204" pitchFamily="34" charset="-122"/>
                          <a:ea typeface="微软雅黑" panose="020B0503020204020204" pitchFamily="34" charset="-122"/>
                        </a:rPr>
                        <a:t>总包项目</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弱电商和我司或者我司代理商签订合同的时间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xmlns="" val="2897802243"/>
                  </a:ext>
                </a:extLst>
              </a:tr>
              <a:tr h="403835">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en-US" sz="1000">
                          <a:effectLst/>
                          <a:latin typeface="微软雅黑" panose="020B0503020204020204" pitchFamily="34" charset="-122"/>
                          <a:ea typeface="微软雅黑" panose="020B0503020204020204" pitchFamily="34" charset="-122"/>
                        </a:rPr>
                        <a:t>ICT &amp; </a:t>
                      </a:r>
                      <a:r>
                        <a:rPr lang="zh-CN" altLang="en-US" sz="1000">
                          <a:effectLst/>
                          <a:latin typeface="微软雅黑" panose="020B0503020204020204" pitchFamily="34" charset="-122"/>
                          <a:ea typeface="微软雅黑" panose="020B0503020204020204" pitchFamily="34" charset="-122"/>
                        </a:rPr>
                        <a:t>投融资项目</a:t>
                      </a:r>
                      <a:endParaRPr lang="zh-CN" altLang="en-US" sz="1000" b="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投资方或者投资方指定的垫资渠道和我司或者我司代理商签订合同的时间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xmlns="" val="2825249603"/>
                  </a:ext>
                </a:extLst>
              </a:tr>
              <a:tr h="403835">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a:effectLst/>
                          <a:latin typeface="微软雅黑" panose="020B0503020204020204" pitchFamily="34" charset="-122"/>
                          <a:ea typeface="微软雅黑" panose="020B0503020204020204" pitchFamily="34" charset="-122"/>
                        </a:rPr>
                        <a:t>中大企业集采框架 </a:t>
                      </a:r>
                      <a:r>
                        <a:rPr lang="en-US" altLang="zh-CN" sz="1000">
                          <a:effectLst/>
                          <a:latin typeface="微软雅黑" panose="020B0503020204020204" pitchFamily="34" charset="-122"/>
                          <a:ea typeface="微软雅黑" panose="020B0503020204020204" pitchFamily="34" charset="-122"/>
                        </a:rPr>
                        <a:t>OC </a:t>
                      </a:r>
                      <a:r>
                        <a:rPr lang="zh-CN" altLang="en-US" sz="1000">
                          <a:effectLst/>
                          <a:latin typeface="微软雅黑" panose="020B0503020204020204" pitchFamily="34" charset="-122"/>
                          <a:ea typeface="微软雅黑" panose="020B0503020204020204" pitchFamily="34" charset="-122"/>
                        </a:rPr>
                        <a:t>子项目</a:t>
                      </a:r>
                      <a:endParaRPr lang="zh-CN" altLang="en-US" sz="1000" b="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en-US" altLang="zh-CN" sz="1000" dirty="0">
                          <a:effectLst/>
                          <a:latin typeface="微软雅黑" panose="020B0503020204020204" pitchFamily="34" charset="-122"/>
                          <a:ea typeface="微软雅黑" panose="020B0503020204020204" pitchFamily="34" charset="-122"/>
                        </a:rPr>
                        <a:t>PO </a:t>
                      </a:r>
                      <a:r>
                        <a:rPr lang="zh-CN" altLang="en-US" sz="1000" dirty="0">
                          <a:effectLst/>
                          <a:latin typeface="微软雅黑" panose="020B0503020204020204" pitchFamily="34" charset="-122"/>
                          <a:ea typeface="微软雅黑" panose="020B0503020204020204" pitchFamily="34" charset="-122"/>
                        </a:rPr>
                        <a:t>单生产的时间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xmlns="" val="408820162"/>
                  </a:ext>
                </a:extLst>
              </a:tr>
              <a:tr h="403835">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vMerge="1">
                  <a:txBody>
                    <a:bodyPr/>
                    <a:lstStyle/>
                    <a:p>
                      <a:endParaRPr lang="zh-CN" altLang="en-US" sz="12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zh-CN" altLang="en-US" sz="1000" dirty="0">
                          <a:effectLst/>
                          <a:latin typeface="微软雅黑" panose="020B0503020204020204" pitchFamily="34" charset="-122"/>
                          <a:ea typeface="微软雅黑" panose="020B0503020204020204" pitchFamily="34" charset="-122"/>
                        </a:rPr>
                        <a:t>金融行业框架 </a:t>
                      </a:r>
                      <a:r>
                        <a:rPr lang="en-US" altLang="zh-CN" sz="1000" dirty="0">
                          <a:effectLst/>
                          <a:latin typeface="微软雅黑" panose="020B0503020204020204" pitchFamily="34" charset="-122"/>
                          <a:ea typeface="微软雅黑" panose="020B0503020204020204" pitchFamily="34" charset="-122"/>
                        </a:rPr>
                        <a:t>OC </a:t>
                      </a:r>
                      <a:r>
                        <a:rPr lang="zh-CN" altLang="en-US" sz="1000" dirty="0">
                          <a:effectLst/>
                          <a:latin typeface="微软雅黑" panose="020B0503020204020204" pitchFamily="34" charset="-122"/>
                          <a:ea typeface="微软雅黑" panose="020B0503020204020204" pitchFamily="34" charset="-122"/>
                        </a:rPr>
                        <a:t>子项目</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tc>
                  <a:txBody>
                    <a:bodyPr/>
                    <a:lstStyle/>
                    <a:p>
                      <a:r>
                        <a:rPr lang="en-US" altLang="zh-CN" sz="1000" dirty="0">
                          <a:effectLst/>
                          <a:latin typeface="微软雅黑" panose="020B0503020204020204" pitchFamily="34" charset="-122"/>
                          <a:ea typeface="微软雅黑" panose="020B0503020204020204" pitchFamily="34" charset="-122"/>
                        </a:rPr>
                        <a:t>PO </a:t>
                      </a:r>
                      <a:r>
                        <a:rPr lang="zh-CN" altLang="en-US" sz="1000" dirty="0">
                          <a:effectLst/>
                          <a:latin typeface="微软雅黑" panose="020B0503020204020204" pitchFamily="34" charset="-122"/>
                          <a:ea typeface="微软雅黑" panose="020B0503020204020204" pitchFamily="34" charset="-122"/>
                        </a:rPr>
                        <a:t>单生产的时间</a:t>
                      </a:r>
                      <a:endParaRPr lang="zh-CN" altLang="en-US" sz="1000" b="0" dirty="0">
                        <a:effectLst/>
                        <a:latin typeface="微软雅黑" panose="020B0503020204020204" pitchFamily="34" charset="-122"/>
                        <a:ea typeface="微软雅黑" panose="020B0503020204020204" pitchFamily="34" charset="-122"/>
                      </a:endParaRPr>
                    </a:p>
                  </a:txBody>
                  <a:tcPr marL="114300" marR="114300" marT="76200" marB="76200" anchor="ctr"/>
                </a:tc>
                <a:extLst>
                  <a:ext uri="{0D108BD9-81ED-4DB2-BD59-A6C34878D82A}">
                    <a16:rowId xmlns:a16="http://schemas.microsoft.com/office/drawing/2014/main" xmlns="" val="4269876226"/>
                  </a:ext>
                </a:extLst>
              </a:tr>
            </a:tbl>
          </a:graphicData>
        </a:graphic>
      </p:graphicFrame>
      <p:pic>
        <p:nvPicPr>
          <p:cNvPr id="23" name="图片 22"/>
          <p:cNvPicPr>
            <a:picLocks noChangeAspect="1"/>
          </p:cNvPicPr>
          <p:nvPr/>
        </p:nvPicPr>
        <p:blipFill>
          <a:blip r:embed="rId3"/>
          <a:stretch>
            <a:fillRect/>
          </a:stretch>
        </p:blipFill>
        <p:spPr>
          <a:xfrm>
            <a:off x="469496" y="2404276"/>
            <a:ext cx="4775804" cy="1164102"/>
          </a:xfrm>
          <a:prstGeom prst="rect">
            <a:avLst/>
          </a:prstGeom>
          <a:ln>
            <a:solidFill>
              <a:schemeClr val="tx1">
                <a:lumMod val="50000"/>
                <a:lumOff val="50000"/>
              </a:schemeClr>
            </a:solidFill>
          </a:ln>
        </p:spPr>
      </p:pic>
      <p:pic>
        <p:nvPicPr>
          <p:cNvPr id="24" name="图片 23"/>
          <p:cNvPicPr>
            <a:picLocks noChangeAspect="1"/>
          </p:cNvPicPr>
          <p:nvPr/>
        </p:nvPicPr>
        <p:blipFill>
          <a:blip r:embed="rId4"/>
          <a:stretch>
            <a:fillRect/>
          </a:stretch>
        </p:blipFill>
        <p:spPr>
          <a:xfrm>
            <a:off x="469496" y="4895019"/>
            <a:ext cx="3429615" cy="1034507"/>
          </a:xfrm>
          <a:prstGeom prst="rect">
            <a:avLst/>
          </a:prstGeom>
        </p:spPr>
      </p:pic>
      <p:pic>
        <p:nvPicPr>
          <p:cNvPr id="26" name="图片 25"/>
          <p:cNvPicPr>
            <a:picLocks noChangeAspect="1"/>
          </p:cNvPicPr>
          <p:nvPr/>
        </p:nvPicPr>
        <p:blipFill>
          <a:blip r:embed="rId5"/>
          <a:stretch>
            <a:fillRect/>
          </a:stretch>
        </p:blipFill>
        <p:spPr>
          <a:xfrm>
            <a:off x="2262643" y="5633876"/>
            <a:ext cx="2982657" cy="1057840"/>
          </a:xfrm>
          <a:prstGeom prst="rect">
            <a:avLst/>
          </a:prstGeom>
        </p:spPr>
      </p:pic>
      <p:grpSp>
        <p:nvGrpSpPr>
          <p:cNvPr id="34" name="组合 33"/>
          <p:cNvGrpSpPr/>
          <p:nvPr/>
        </p:nvGrpSpPr>
        <p:grpSpPr>
          <a:xfrm>
            <a:off x="6451599" y="1542955"/>
            <a:ext cx="4605309" cy="715951"/>
            <a:chOff x="6451599" y="1542955"/>
            <a:chExt cx="4605309" cy="715951"/>
          </a:xfrm>
        </p:grpSpPr>
        <p:sp>
          <p:nvSpPr>
            <p:cNvPr id="29" name="圆角矩形 28"/>
            <p:cNvSpPr/>
            <p:nvPr/>
          </p:nvSpPr>
          <p:spPr>
            <a:xfrm>
              <a:off x="6451599" y="1542955"/>
              <a:ext cx="4605309" cy="71595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9"/>
            <p:cNvSpPr/>
            <p:nvPr/>
          </p:nvSpPr>
          <p:spPr>
            <a:xfrm>
              <a:off x="6692540" y="1734922"/>
              <a:ext cx="956863" cy="366021"/>
            </a:xfrm>
            <a:prstGeom prst="round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开标时间</a:t>
              </a:r>
            </a:p>
          </p:txBody>
        </p:sp>
        <p:sp>
          <p:nvSpPr>
            <p:cNvPr id="31" name="圆角矩形 30"/>
            <p:cNvSpPr/>
            <p:nvPr/>
          </p:nvSpPr>
          <p:spPr>
            <a:xfrm>
              <a:off x="8335985" y="1712423"/>
              <a:ext cx="956863" cy="366021"/>
            </a:xfrm>
            <a:prstGeom prst="round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下</a:t>
              </a:r>
              <a:r>
                <a:rPr lang="zh-CN" altLang="en-US" sz="1400" b="1" dirty="0" smtClean="0">
                  <a:solidFill>
                    <a:schemeClr val="bg1"/>
                  </a:solidFill>
                  <a:latin typeface="微软雅黑" panose="020B0503020204020204" pitchFamily="34" charset="-122"/>
                  <a:ea typeface="微软雅黑" panose="020B0503020204020204" pitchFamily="34" charset="-122"/>
                </a:rPr>
                <a:t>单时间</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33" name="圆角矩形 32"/>
            <p:cNvSpPr/>
            <p:nvPr/>
          </p:nvSpPr>
          <p:spPr>
            <a:xfrm>
              <a:off x="9915403" y="1712423"/>
              <a:ext cx="956863" cy="366021"/>
            </a:xfrm>
            <a:prstGeom prst="round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要货</a:t>
              </a:r>
              <a:r>
                <a:rPr lang="zh-CN" altLang="en-US" sz="1400" b="1" dirty="0" smtClean="0">
                  <a:solidFill>
                    <a:schemeClr val="bg1"/>
                  </a:solidFill>
                  <a:latin typeface="微软雅黑" panose="020B0503020204020204" pitchFamily="34" charset="-122"/>
                  <a:ea typeface="微软雅黑" panose="020B0503020204020204" pitchFamily="34" charset="-122"/>
                </a:rPr>
                <a:t>时间</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sp>
        <p:nvSpPr>
          <p:cNvPr id="35" name="文本框 34"/>
          <p:cNvSpPr txBox="1"/>
          <p:nvPr/>
        </p:nvSpPr>
        <p:spPr>
          <a:xfrm>
            <a:off x="8009692" y="2899738"/>
            <a:ext cx="1875835" cy="338554"/>
          </a:xfrm>
          <a:prstGeom prst="rect">
            <a:avLst/>
          </a:prstGeom>
          <a:noFill/>
        </p:spPr>
        <p:txBody>
          <a:bodyPr wrap="none" rtlCol="0">
            <a:spAutoFit/>
          </a:bodyPr>
          <a:lstStyle/>
          <a:p>
            <a:r>
              <a:rPr lang="zh-CN" altLang="en-US" sz="1600" b="1" dirty="0" smtClean="0">
                <a:solidFill>
                  <a:srgbClr val="FF0000"/>
                </a:solidFill>
                <a:latin typeface="微软雅黑" panose="020B0503020204020204" pitchFamily="34" charset="-122"/>
                <a:ea typeface="微软雅黑" panose="020B0503020204020204" pitchFamily="34" charset="-122"/>
              </a:rPr>
              <a:t>如何做</a:t>
            </a:r>
            <a:r>
              <a:rPr lang="zh-CN" altLang="en-US" sz="1600" b="1" dirty="0" smtClean="0">
                <a:solidFill>
                  <a:srgbClr val="FF0000"/>
                </a:solidFill>
                <a:latin typeface="微软雅黑" panose="020B0503020204020204" pitchFamily="34" charset="-122"/>
                <a:ea typeface="微软雅黑" panose="020B0503020204020204" pitchFamily="34" charset="-122"/>
              </a:rPr>
              <a:t>准</a:t>
            </a:r>
            <a:r>
              <a:rPr lang="en-US" altLang="zh-CN" sz="1600" b="1" dirty="0" smtClean="0">
                <a:solidFill>
                  <a:srgbClr val="FF0000"/>
                </a:solidFill>
                <a:latin typeface="微软雅黑" panose="020B0503020204020204" pitchFamily="34" charset="-122"/>
                <a:ea typeface="微软雅黑" panose="020B0503020204020204" pitchFamily="34" charset="-122"/>
              </a:rPr>
              <a:t>3</a:t>
            </a:r>
            <a:r>
              <a:rPr lang="zh-CN" altLang="en-US" sz="1600" b="1" dirty="0" smtClean="0">
                <a:solidFill>
                  <a:srgbClr val="FF0000"/>
                </a:solidFill>
                <a:latin typeface="微软雅黑" panose="020B0503020204020204" pitchFamily="34" charset="-122"/>
                <a:ea typeface="微软雅黑" panose="020B0503020204020204" pitchFamily="34" charset="-122"/>
              </a:rPr>
              <a:t>个“</a:t>
            </a:r>
            <a:r>
              <a:rPr lang="en-US" altLang="zh-CN" sz="1600" b="1" dirty="0" smtClean="0">
                <a:solidFill>
                  <a:srgbClr val="FF0000"/>
                </a:solidFill>
                <a:latin typeface="微软雅黑" panose="020B0503020204020204" pitchFamily="34" charset="-122"/>
                <a:ea typeface="微软雅黑" panose="020B0503020204020204" pitchFamily="34" charset="-122"/>
              </a:rPr>
              <a:t>T</a:t>
            </a:r>
            <a:r>
              <a:rPr lang="zh-CN" altLang="en-US" sz="1600" b="1" dirty="0" smtClean="0">
                <a:solidFill>
                  <a:srgbClr val="FF0000"/>
                </a:solidFill>
                <a:latin typeface="微软雅黑" panose="020B0503020204020204" pitchFamily="34" charset="-122"/>
                <a:ea typeface="微软雅黑" panose="020B0503020204020204" pitchFamily="34" charset="-122"/>
              </a:rPr>
              <a:t>”</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358778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TotalTime>
  <Words>1012</Words>
  <Application>Microsoft Office PowerPoint</Application>
  <PresentationFormat>宽屏</PresentationFormat>
  <Paragraphs>142</Paragraphs>
  <Slides>2</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vt:i4>
      </vt:variant>
    </vt:vector>
  </HeadingPairs>
  <TitlesOfParts>
    <vt:vector size="9" baseType="lpstr">
      <vt:lpstr>宋体</vt:lpstr>
      <vt:lpstr>微软雅黑</vt:lpstr>
      <vt:lpstr>微软雅黑 Light</vt:lpstr>
      <vt:lpstr>Arial</vt:lpstr>
      <vt:lpstr>Calibri</vt:lpstr>
      <vt:lpstr>Calibri Light</vt:lpstr>
      <vt:lpstr>Office 主题</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79</cp:revision>
  <dcterms:created xsi:type="dcterms:W3CDTF">2025-07-07T03:55:28Z</dcterms:created>
  <dcterms:modified xsi:type="dcterms:W3CDTF">2025-07-09T08:20:11Z</dcterms:modified>
</cp:coreProperties>
</file>