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24"/>
  </p:notesMasterIdLst>
  <p:sldIdLst>
    <p:sldId id="256" r:id="rId3"/>
    <p:sldId id="259" r:id="rId4"/>
    <p:sldId id="324" r:id="rId5"/>
    <p:sldId id="307" r:id="rId6"/>
    <p:sldId id="323" r:id="rId7"/>
    <p:sldId id="312" r:id="rId8"/>
    <p:sldId id="282" r:id="rId9"/>
    <p:sldId id="308" r:id="rId10"/>
    <p:sldId id="311" r:id="rId11"/>
    <p:sldId id="309" r:id="rId12"/>
    <p:sldId id="310" r:id="rId13"/>
    <p:sldId id="314" r:id="rId14"/>
    <p:sldId id="313" r:id="rId15"/>
    <p:sldId id="315" r:id="rId16"/>
    <p:sldId id="317" r:id="rId17"/>
    <p:sldId id="318" r:id="rId18"/>
    <p:sldId id="319" r:id="rId19"/>
    <p:sldId id="320" r:id="rId20"/>
    <p:sldId id="322" r:id="rId21"/>
    <p:sldId id="266" r:id="rId22"/>
    <p:sldId id="316" r:id="rId23"/>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53F"/>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2" autoAdjust="0"/>
    <p:restoredTop sz="90196" autoAdjust="0"/>
  </p:normalViewPr>
  <p:slideViewPr>
    <p:cSldViewPr snapToGrid="0">
      <p:cViewPr varScale="1">
        <p:scale>
          <a:sx n="88" d="100"/>
          <a:sy n="88" d="100"/>
        </p:scale>
        <p:origin x="418" y="48"/>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2025/8/29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1746390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spcBef>
                <a:spcPct val="0"/>
              </a:spcBef>
              <a:buFont typeface="Arial" panose="020B0604020202090204" pitchFamily="34" charset="0"/>
              <a:buNone/>
            </a:pPr>
            <a:r>
              <a:rPr lang="en-US" altLang="zh-CN" sz="4400" b="1" dirty="0">
                <a:solidFill>
                  <a:schemeClr val="bg1">
                    <a:lumMod val="50000"/>
                  </a:schemeClr>
                </a:solidFill>
                <a:latin typeface="Arial" panose="020B0604020202090204" pitchFamily="34" charset="0"/>
                <a:ea typeface="Arial" panose="020B0604020202090204" pitchFamily="34" charset="0"/>
                <a:cs typeface="Arial" panose="020B060402020209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lnSpc>
                <a:spcPct val="150000"/>
              </a:lnSpc>
              <a:spcBef>
                <a:spcPct val="0"/>
              </a:spcBef>
              <a:buFont typeface="Arial" panose="020B060402020209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9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9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extLst>
      <p:ext uri="{BB962C8B-B14F-4D97-AF65-F5344CB8AC3E}">
        <p14:creationId xmlns:p14="http://schemas.microsoft.com/office/powerpoint/2010/main" val="9545222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9.xml"/><Relationship Id="rId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2025/8/29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5"/>
            </p:custDataLst>
          </p:nvPr>
        </p:nvPicPr>
        <p:blipFill>
          <a:blip r:embed="rId6"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4881465" cy="492443"/>
          </a:xfrm>
          <a:prstGeom prst="rect">
            <a:avLst/>
          </a:prstGeom>
          <a:noFill/>
        </p:spPr>
        <p:txBody>
          <a:bodyPr wrap="none" rtlCol="0">
            <a:spAutoFit/>
          </a:bodyPr>
          <a:lstStyle/>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关于</a:t>
            </a:r>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N</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和</a:t>
            </a:r>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3T</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流程和质量标准培训</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2025.08</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20890" y="244273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zh-CN" altLang="en-US" dirty="0" smtClean="0"/>
              <a:t>背景，试点结果与整体计划</a:t>
            </a:r>
            <a:endParaRPr lang="en-US" altLang="zh-CN" dirty="0" smtClean="0"/>
          </a:p>
          <a:p>
            <a:pPr marL="342900" indent="-342900">
              <a:lnSpc>
                <a:spcPct val="150000"/>
              </a:lnSpc>
              <a:buFont typeface="Arial" panose="020B0604020202090204" pitchFamily="34" charset="0"/>
              <a:buChar char="•"/>
              <a:defRPr/>
            </a:pPr>
            <a:r>
              <a:rPr lang="en-US" altLang="zh-CN" dirty="0" smtClean="0"/>
              <a:t>N</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en-US" altLang="zh-CN" dirty="0" smtClean="0"/>
              <a:t>3T</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zh-CN" altLang="en-US" dirty="0" smtClean="0"/>
              <a:t>答疑与互动</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smtClean="0"/>
              <a:t>背景</a:t>
            </a:r>
            <a:endParaRPr lang="zh-CN" altLang="en-US" dirty="0"/>
          </a:p>
        </p:txBody>
      </p:sp>
      <p:grpSp>
        <p:nvGrpSpPr>
          <p:cNvPr id="12" name="组合 11"/>
          <p:cNvGrpSpPr/>
          <p:nvPr/>
        </p:nvGrpSpPr>
        <p:grpSpPr>
          <a:xfrm>
            <a:off x="157833" y="903721"/>
            <a:ext cx="4438962" cy="5657791"/>
            <a:chOff x="356958" y="904534"/>
            <a:chExt cx="4438962" cy="5657791"/>
          </a:xfrm>
        </p:grpSpPr>
        <p:sp>
          <p:nvSpPr>
            <p:cNvPr id="13" name="文本框 12"/>
            <p:cNvSpPr txBox="1"/>
            <p:nvPr/>
          </p:nvSpPr>
          <p:spPr>
            <a:xfrm>
              <a:off x="933552" y="904534"/>
              <a:ext cx="3401587" cy="369332"/>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过去销售售前如何做“</a:t>
              </a:r>
              <a:r>
                <a:rPr lang="en-US" altLang="zh-CN" b="1" dirty="0" smtClean="0">
                  <a:latin typeface="微软雅黑" panose="020B0503020204020204" pitchFamily="34" charset="-122"/>
                  <a:ea typeface="微软雅黑" panose="020B0503020204020204" pitchFamily="34" charset="-122"/>
                </a:rPr>
                <a:t>N</a:t>
              </a:r>
              <a:r>
                <a:rPr lang="zh-CN" altLang="en-US" b="1" dirty="0" smtClean="0">
                  <a:latin typeface="微软雅黑" panose="020B0503020204020204" pitchFamily="34" charset="-122"/>
                  <a:ea typeface="微软雅黑" panose="020B0503020204020204" pitchFamily="34" charset="-122"/>
                </a:rPr>
                <a:t>”的？</a:t>
              </a:r>
              <a:endParaRPr lang="zh-CN" altLang="en-US" b="1" dirty="0">
                <a:latin typeface="微软雅黑" panose="020B0503020204020204" pitchFamily="34" charset="-122"/>
                <a:ea typeface="微软雅黑" panose="020B0503020204020204" pitchFamily="34" charset="-122"/>
              </a:endParaRPr>
            </a:p>
          </p:txBody>
        </p:sp>
        <p:sp>
          <p:nvSpPr>
            <p:cNvPr id="14" name="矩形 13"/>
            <p:cNvSpPr/>
            <p:nvPr/>
          </p:nvSpPr>
          <p:spPr>
            <a:xfrm>
              <a:off x="356958" y="1362474"/>
              <a:ext cx="4438962" cy="51998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515219" y="1527924"/>
              <a:ext cx="2219334" cy="4756058"/>
              <a:chOff x="543116" y="1697358"/>
              <a:chExt cx="2815695" cy="4383402"/>
            </a:xfrm>
          </p:grpSpPr>
          <p:sp>
            <p:nvSpPr>
              <p:cNvPr id="32" name="圆角矩形 31"/>
              <p:cNvSpPr/>
              <p:nvPr/>
            </p:nvSpPr>
            <p:spPr>
              <a:xfrm>
                <a:off x="2140518" y="2151186"/>
                <a:ext cx="1076336" cy="415906"/>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线索满足进漏斗条件</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33" name="圆角矩形 32"/>
              <p:cNvSpPr/>
              <p:nvPr/>
            </p:nvSpPr>
            <p:spPr>
              <a:xfrm>
                <a:off x="2132737" y="3473153"/>
                <a:ext cx="1076336" cy="415906"/>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获取配置器清单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ECP</a:t>
                </a:r>
                <a:r>
                  <a:rPr lang="zh-CN" altLang="en-US" sz="700" dirty="0" smtClean="0">
                    <a:solidFill>
                      <a:schemeClr val="tx1"/>
                    </a:solidFill>
                    <a:latin typeface="微软雅黑" panose="020B0503020204020204" pitchFamily="34" charset="-122"/>
                    <a:ea typeface="微软雅黑" panose="020B0503020204020204" pitchFamily="34" charset="-122"/>
                  </a:rPr>
                  <a:t>）</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34" name="圆角矩形 33"/>
              <p:cNvSpPr/>
              <p:nvPr/>
            </p:nvSpPr>
            <p:spPr>
              <a:xfrm>
                <a:off x="2131743" y="4209462"/>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保存至</a:t>
                </a:r>
                <a:r>
                  <a:rPr lang="en-US" altLang="zh-CN" sz="700" dirty="0" smtClean="0">
                    <a:solidFill>
                      <a:schemeClr val="tx1"/>
                    </a:solidFill>
                    <a:latin typeface="微软雅黑" panose="020B0503020204020204" pitchFamily="34" charset="-122"/>
                    <a:ea typeface="微软雅黑" panose="020B0503020204020204" pitchFamily="34" charset="-122"/>
                  </a:rPr>
                  <a:t>CRM</a:t>
                </a:r>
              </a:p>
              <a:p>
                <a:pPr algn="ctr"/>
                <a:r>
                  <a:rPr lang="zh-CN" altLang="en-US" sz="700" dirty="0" smtClean="0">
                    <a:solidFill>
                      <a:schemeClr val="tx1"/>
                    </a:solidFill>
                    <a:latin typeface="微软雅黑" panose="020B0503020204020204" pitchFamily="34" charset="-122"/>
                    <a:ea typeface="微软雅黑" panose="020B0503020204020204" pitchFamily="34" charset="-122"/>
                  </a:rPr>
                  <a:t>（</a:t>
                </a:r>
                <a:r>
                  <a:rPr lang="en-US" altLang="zh-CN" sz="700" dirty="0" smtClean="0">
                    <a:solidFill>
                      <a:schemeClr val="tx1"/>
                    </a:solidFill>
                    <a:latin typeface="微软雅黑" panose="020B0503020204020204" pitchFamily="34" charset="-122"/>
                    <a:ea typeface="微软雅黑" panose="020B0503020204020204" pitchFamily="34" charset="-122"/>
                  </a:rPr>
                  <a:t>ECP</a:t>
                </a:r>
                <a:r>
                  <a:rPr lang="zh-CN" altLang="en-US" sz="700" dirty="0" smtClean="0">
                    <a:solidFill>
                      <a:schemeClr val="tx1"/>
                    </a:solidFill>
                    <a:latin typeface="微软雅黑" panose="020B0503020204020204" pitchFamily="34" charset="-122"/>
                    <a:ea typeface="微软雅黑" panose="020B0503020204020204" pitchFamily="34" charset="-122"/>
                  </a:rPr>
                  <a:t>）</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35" name="圆角矩形 34"/>
              <p:cNvSpPr/>
              <p:nvPr/>
            </p:nvSpPr>
            <p:spPr>
              <a:xfrm>
                <a:off x="682572" y="2776971"/>
                <a:ext cx="1076336" cy="415906"/>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配产品清单（产品配置器）</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682570" y="3466192"/>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分享产品报价清单单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（产品配置器）</a:t>
                </a:r>
                <a:endParaRPr lang="zh-CN" altLang="en-US" sz="700" dirty="0">
                  <a:solidFill>
                    <a:schemeClr val="tx1"/>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683722" y="2151186"/>
                <a:ext cx="1076336" cy="415906"/>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获取客户需求</a:t>
                </a:r>
                <a:endParaRPr lang="zh-CN" altLang="en-US" sz="700" dirty="0">
                  <a:solidFill>
                    <a:schemeClr val="tx1"/>
                  </a:solidFill>
                  <a:latin typeface="微软雅黑" panose="020B0503020204020204" pitchFamily="34" charset="-122"/>
                  <a:ea typeface="微软雅黑" panose="020B0503020204020204" pitchFamily="34" charset="-122"/>
                </a:endParaRPr>
              </a:p>
            </p:txBody>
          </p:sp>
          <p:cxnSp>
            <p:nvCxnSpPr>
              <p:cNvPr id="38" name="直接箭头连接符 37"/>
              <p:cNvCxnSpPr>
                <a:stCxn id="37" idx="2"/>
                <a:endCxn id="35" idx="0"/>
              </p:cNvCxnSpPr>
              <p:nvPr/>
            </p:nvCxnSpPr>
            <p:spPr>
              <a:xfrm flipH="1">
                <a:off x="1220740" y="2567091"/>
                <a:ext cx="1151" cy="20988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35" idx="2"/>
                <a:endCxn id="36" idx="0"/>
              </p:cNvCxnSpPr>
              <p:nvPr/>
            </p:nvCxnSpPr>
            <p:spPr>
              <a:xfrm flipH="1">
                <a:off x="1220739" y="3192877"/>
                <a:ext cx="1" cy="273315"/>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圆角矩形 39"/>
              <p:cNvSpPr/>
              <p:nvPr/>
            </p:nvSpPr>
            <p:spPr>
              <a:xfrm>
                <a:off x="2135965" y="2775044"/>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smtClean="0">
                    <a:solidFill>
                      <a:schemeClr val="tx1"/>
                    </a:solidFill>
                    <a:latin typeface="微软雅黑" panose="020B0503020204020204" pitchFamily="34" charset="-122"/>
                    <a:ea typeface="微软雅黑" panose="020B0503020204020204" pitchFamily="34" charset="-122"/>
                  </a:rPr>
                  <a:t>创建报价单</a:t>
                </a:r>
                <a:endParaRPr lang="en-US" altLang="zh-CN" sz="700" dirty="0" smtClean="0">
                  <a:solidFill>
                    <a:schemeClr val="tx1"/>
                  </a:solidFill>
                  <a:latin typeface="微软雅黑" panose="020B0503020204020204" pitchFamily="34" charset="-122"/>
                  <a:ea typeface="微软雅黑" panose="020B0503020204020204" pitchFamily="34" charset="-122"/>
                </a:endParaRPr>
              </a:p>
              <a:p>
                <a:pPr algn="ctr"/>
                <a:r>
                  <a:rPr lang="zh-CN" altLang="en-US" sz="700" dirty="0" smtClean="0">
                    <a:solidFill>
                      <a:schemeClr val="tx1"/>
                    </a:solidFill>
                    <a:latin typeface="微软雅黑" panose="020B0503020204020204" pitchFamily="34" charset="-122"/>
                    <a:ea typeface="微软雅黑" panose="020B0503020204020204" pitchFamily="34" charset="-122"/>
                  </a:rPr>
                  <a:t>（</a:t>
                </a:r>
                <a:r>
                  <a:rPr lang="en-US" altLang="zh-CN" sz="700" dirty="0" smtClean="0">
                    <a:solidFill>
                      <a:schemeClr val="tx1"/>
                    </a:solidFill>
                    <a:latin typeface="微软雅黑" panose="020B0503020204020204" pitchFamily="34" charset="-122"/>
                    <a:ea typeface="微软雅黑" panose="020B0503020204020204" pitchFamily="34" charset="-122"/>
                  </a:rPr>
                  <a:t>CRM</a:t>
                </a:r>
                <a:r>
                  <a:rPr lang="zh-CN" altLang="en-US" sz="700" dirty="0" smtClean="0">
                    <a:solidFill>
                      <a:schemeClr val="tx1"/>
                    </a:solidFill>
                    <a:latin typeface="微软雅黑" panose="020B0503020204020204" pitchFamily="34" charset="-122"/>
                    <a:ea typeface="微软雅黑" panose="020B0503020204020204" pitchFamily="34" charset="-122"/>
                  </a:rPr>
                  <a:t>）</a:t>
                </a:r>
                <a:endParaRPr lang="zh-CN" altLang="en-US" sz="700" dirty="0">
                  <a:solidFill>
                    <a:schemeClr val="tx1"/>
                  </a:solidFill>
                  <a:latin typeface="微软雅黑" panose="020B0503020204020204" pitchFamily="34" charset="-122"/>
                  <a:ea typeface="微软雅黑" panose="020B0503020204020204" pitchFamily="34" charset="-122"/>
                </a:endParaRPr>
              </a:p>
            </p:txBody>
          </p:sp>
          <p:cxnSp>
            <p:nvCxnSpPr>
              <p:cNvPr id="41" name="直接箭头连接符 40"/>
              <p:cNvCxnSpPr>
                <a:stCxn id="32" idx="2"/>
                <a:endCxn id="40" idx="0"/>
              </p:cNvCxnSpPr>
              <p:nvPr/>
            </p:nvCxnSpPr>
            <p:spPr>
              <a:xfrm flipH="1">
                <a:off x="2674133" y="2567091"/>
                <a:ext cx="4553" cy="20795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33" idx="2"/>
                <a:endCxn id="34" idx="0"/>
              </p:cNvCxnSpPr>
              <p:nvPr/>
            </p:nvCxnSpPr>
            <p:spPr>
              <a:xfrm flipH="1">
                <a:off x="2669912" y="3889059"/>
                <a:ext cx="993" cy="32040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40" idx="2"/>
                <a:endCxn id="33" idx="0"/>
              </p:cNvCxnSpPr>
              <p:nvPr/>
            </p:nvCxnSpPr>
            <p:spPr>
              <a:xfrm flipH="1">
                <a:off x="2670905" y="3190950"/>
                <a:ext cx="3228" cy="28220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900022" y="1782000"/>
                <a:ext cx="650498"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a:solidFill>
                      <a:schemeClr val="bg1"/>
                    </a:solidFill>
                    <a:latin typeface="微软雅黑" panose="020B0503020204020204" pitchFamily="34" charset="-122"/>
                    <a:ea typeface="微软雅黑" panose="020B0503020204020204" pitchFamily="34" charset="-122"/>
                  </a:rPr>
                  <a:t>售前</a:t>
                </a:r>
              </a:p>
            </p:txBody>
          </p:sp>
          <p:sp>
            <p:nvSpPr>
              <p:cNvPr id="45" name="文本框 44"/>
              <p:cNvSpPr txBox="1"/>
              <p:nvPr/>
            </p:nvSpPr>
            <p:spPr>
              <a:xfrm>
                <a:off x="2378060" y="1775505"/>
                <a:ext cx="650498"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smtClean="0">
                    <a:solidFill>
                      <a:schemeClr val="bg1"/>
                    </a:solidFill>
                    <a:latin typeface="微软雅黑" panose="020B0503020204020204" pitchFamily="34" charset="-122"/>
                    <a:ea typeface="微软雅黑" panose="020B0503020204020204" pitchFamily="34" charset="-122"/>
                  </a:rPr>
                  <a:t>销售</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46" name="矩形 45"/>
              <p:cNvSpPr/>
              <p:nvPr/>
            </p:nvSpPr>
            <p:spPr>
              <a:xfrm>
                <a:off x="543116" y="1697358"/>
                <a:ext cx="1357549" cy="4383402"/>
              </a:xfrm>
              <a:prstGeom prst="rect">
                <a:avLst/>
              </a:prstGeom>
              <a:noFill/>
              <a:ln w="190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47" name="矩形 46"/>
              <p:cNvSpPr/>
              <p:nvPr/>
            </p:nvSpPr>
            <p:spPr>
              <a:xfrm>
                <a:off x="2018779" y="1699201"/>
                <a:ext cx="1340032" cy="4381559"/>
              </a:xfrm>
              <a:prstGeom prst="rect">
                <a:avLst/>
              </a:prstGeom>
              <a:noFill/>
              <a:ln w="190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grpSp>
        <p:sp>
          <p:nvSpPr>
            <p:cNvPr id="16" name="矩形 15"/>
            <p:cNvSpPr/>
            <p:nvPr/>
          </p:nvSpPr>
          <p:spPr>
            <a:xfrm>
              <a:off x="2961446" y="1996548"/>
              <a:ext cx="1724968" cy="13621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smtClean="0">
                  <a:solidFill>
                    <a:schemeClr val="tx1"/>
                  </a:solidFill>
                  <a:latin typeface="微软雅黑" panose="020B0503020204020204" pitchFamily="34" charset="-122"/>
                  <a:ea typeface="微软雅黑" panose="020B0503020204020204" pitchFamily="34" charset="-122"/>
                </a:rPr>
                <a:t>售前缺少在漏斗外进漏斗内时对</a:t>
              </a:r>
              <a:r>
                <a:rPr lang="zh-CN" altLang="en-US" sz="1200" dirty="0" smtClean="0">
                  <a:solidFill>
                    <a:srgbClr val="FF0000"/>
                  </a:solidFill>
                  <a:latin typeface="微软雅黑" panose="020B0503020204020204" pitchFamily="34" charset="-122"/>
                  <a:ea typeface="微软雅黑" panose="020B0503020204020204" pitchFamily="34" charset="-122"/>
                </a:rPr>
                <a:t>“产品清单做准的”要求、标准、指导，存在根据历史项目产品清单简单调整，只匹配上总金额就提交的情况</a:t>
              </a:r>
              <a:endParaRPr lang="zh-CN" altLang="en-US" sz="1200" dirty="0">
                <a:solidFill>
                  <a:srgbClr val="FF0000"/>
                </a:solidFill>
                <a:latin typeface="微软雅黑" panose="020B0503020204020204" pitchFamily="34" charset="-122"/>
                <a:ea typeface="微软雅黑" panose="020B0503020204020204" pitchFamily="34" charset="-122"/>
              </a:endParaRPr>
            </a:p>
          </p:txBody>
        </p:sp>
        <p:sp>
          <p:nvSpPr>
            <p:cNvPr id="17" name="矩形 16"/>
            <p:cNvSpPr/>
            <p:nvPr/>
          </p:nvSpPr>
          <p:spPr>
            <a:xfrm>
              <a:off x="2938958" y="3761431"/>
              <a:ext cx="1747456" cy="14506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smtClean="0">
                  <a:solidFill>
                    <a:schemeClr val="tx1"/>
                  </a:solidFill>
                  <a:latin typeface="微软雅黑" panose="020B0503020204020204" pitchFamily="34" charset="-122"/>
                  <a:ea typeface="微软雅黑" panose="020B0503020204020204" pitchFamily="34" charset="-122"/>
                </a:rPr>
                <a:t>销售存在根据</a:t>
              </a:r>
              <a:r>
                <a:rPr lang="en-US" altLang="zh-CN" sz="1200" dirty="0" smtClean="0">
                  <a:solidFill>
                    <a:schemeClr val="tx1"/>
                  </a:solidFill>
                  <a:latin typeface="微软雅黑" panose="020B0503020204020204" pitchFamily="34" charset="-122"/>
                  <a:ea typeface="微软雅黑" panose="020B0503020204020204" pitchFamily="34" charset="-122"/>
                </a:rPr>
                <a:t>ECP</a:t>
              </a:r>
              <a:r>
                <a:rPr lang="zh-CN" altLang="en-US" sz="1200" dirty="0" smtClean="0">
                  <a:solidFill>
                    <a:schemeClr val="tx1"/>
                  </a:solidFill>
                  <a:latin typeface="微软雅黑" panose="020B0503020204020204" pitchFamily="34" charset="-122"/>
                  <a:ea typeface="微软雅黑" panose="020B0503020204020204" pitchFamily="34" charset="-122"/>
                </a:rPr>
                <a:t>系统里，</a:t>
              </a:r>
              <a:r>
                <a:rPr lang="zh-CN" altLang="en-US" sz="1200" dirty="0" smtClean="0">
                  <a:solidFill>
                    <a:srgbClr val="FF0000"/>
                  </a:solidFill>
                  <a:latin typeface="微软雅黑" panose="020B0503020204020204" pitchFamily="34" charset="-122"/>
                  <a:ea typeface="微软雅黑" panose="020B0503020204020204" pitchFamily="34" charset="-122"/>
                </a:rPr>
                <a:t>使用历史存留的产品报价清单，简单修改，只要匹配上总金额，就提交</a:t>
              </a:r>
              <a:r>
                <a:rPr lang="zh-CN" altLang="en-US" sz="1200" dirty="0" smtClean="0">
                  <a:solidFill>
                    <a:schemeClr val="tx1"/>
                  </a:solidFill>
                  <a:latin typeface="微软雅黑" panose="020B0503020204020204" pitchFamily="34" charset="-122"/>
                  <a:ea typeface="微软雅黑" panose="020B0503020204020204" pitchFamily="34" charset="-122"/>
                </a:rPr>
                <a:t>的情况，同时在漏斗外进漏斗内环节缺少检查产品清单的机制</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2971115" y="1604389"/>
              <a:ext cx="1438214" cy="338554"/>
            </a:xfrm>
            <a:prstGeom prst="rect">
              <a:avLst/>
            </a:prstGeom>
            <a:noFill/>
          </p:spPr>
          <p:txBody>
            <a:bodyPr wrap="none" rtlCol="0">
              <a:spAutoFit/>
            </a:bodyPr>
            <a:lstStyle/>
            <a:p>
              <a:r>
                <a:rPr lang="en-US" altLang="zh-CN" sz="1600" b="1" dirty="0" smtClean="0">
                  <a:latin typeface="微软雅黑" panose="020B0503020204020204" pitchFamily="34" charset="-122"/>
                  <a:ea typeface="微软雅黑" panose="020B0503020204020204" pitchFamily="34" charset="-122"/>
                </a:rPr>
                <a:t>N </a:t>
              </a:r>
              <a:r>
                <a:rPr lang="zh-CN" altLang="en-US" sz="1600" b="1" dirty="0" smtClean="0">
                  <a:latin typeface="微软雅黑" panose="020B0503020204020204" pitchFamily="34" charset="-122"/>
                  <a:ea typeface="微软雅黑" panose="020B0503020204020204" pitchFamily="34" charset="-122"/>
                </a:rPr>
                <a:t>为什么不准</a:t>
              </a:r>
              <a:endParaRPr lang="zh-CN" altLang="en-US" sz="1600" b="1" dirty="0">
                <a:latin typeface="微软雅黑" panose="020B0503020204020204" pitchFamily="34" charset="-122"/>
                <a:ea typeface="微软雅黑" panose="020B0503020204020204" pitchFamily="34" charset="-122"/>
              </a:endParaRPr>
            </a:p>
          </p:txBody>
        </p:sp>
        <p:cxnSp>
          <p:nvCxnSpPr>
            <p:cNvPr id="19" name="直接箭头连接符 18"/>
            <p:cNvCxnSpPr>
              <a:stCxn id="36" idx="3"/>
              <a:endCxn id="33" idx="1"/>
            </p:cNvCxnSpPr>
            <p:nvPr/>
          </p:nvCxnSpPr>
          <p:spPr>
            <a:xfrm>
              <a:off x="1473506" y="3672768"/>
              <a:ext cx="294654" cy="755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8325" y="3262055"/>
              <a:ext cx="316228" cy="316228"/>
            </a:xfrm>
            <a:prstGeom prst="rect">
              <a:avLst/>
            </a:prstGeom>
          </p:spPr>
        </p:pic>
        <p:pic>
          <p:nvPicPr>
            <p:cNvPr id="29" name="图片 28"/>
            <p:cNvPicPr>
              <a:picLocks noChangeAspect="1"/>
            </p:cNvPicPr>
            <p:nvPr/>
          </p:nvPicPr>
          <p:blipFill>
            <a:blip r:embed="rId3" cstate="print">
              <a:extLst>
                <a:ext uri="{BEBA8EAE-BF5A-486C-A8C5-ECC9F3942E4B}">
                  <a14:imgProps xmlns:a14="http://schemas.microsoft.com/office/drawing/2010/main">
                    <a14:imgLayer r:embed="rId4">
                      <a14:imgEffect>
                        <a14:backgroundRemoval t="4182" b="90000" l="10000" r="90000"/>
                      </a14:imgEffect>
                    </a14:imgLayer>
                  </a14:imgProps>
                </a:ext>
                <a:ext uri="{28A0092B-C50C-407E-A947-70E740481C1C}">
                  <a14:useLocalDpi xmlns:a14="http://schemas.microsoft.com/office/drawing/2010/main" val="0"/>
                </a:ext>
              </a:extLst>
            </a:blip>
            <a:stretch>
              <a:fillRect/>
            </a:stretch>
          </p:blipFill>
          <p:spPr>
            <a:xfrm>
              <a:off x="1237193" y="2545837"/>
              <a:ext cx="316228" cy="316228"/>
            </a:xfrm>
            <a:prstGeom prst="rect">
              <a:avLst/>
            </a:prstGeom>
          </p:spPr>
        </p:pic>
        <p:cxnSp>
          <p:nvCxnSpPr>
            <p:cNvPr id="30" name="直接箭头连接符 29"/>
            <p:cNvCxnSpPr>
              <a:stCxn id="29" idx="3"/>
              <a:endCxn id="16" idx="1"/>
            </p:cNvCxnSpPr>
            <p:nvPr/>
          </p:nvCxnSpPr>
          <p:spPr>
            <a:xfrm flipV="1">
              <a:off x="1553421" y="2677644"/>
              <a:ext cx="1408025" cy="263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8" idx="2"/>
              <a:endCxn id="17" idx="1"/>
            </p:cNvCxnSpPr>
            <p:nvPr/>
          </p:nvCxnSpPr>
          <p:spPr>
            <a:xfrm>
              <a:off x="2576439" y="3578283"/>
              <a:ext cx="362519" cy="9084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8" name="组合 47"/>
          <p:cNvGrpSpPr/>
          <p:nvPr/>
        </p:nvGrpSpPr>
        <p:grpSpPr>
          <a:xfrm>
            <a:off x="4878109" y="856790"/>
            <a:ext cx="5078064" cy="5807655"/>
            <a:chOff x="340538" y="982611"/>
            <a:chExt cx="5078064" cy="5807655"/>
          </a:xfrm>
        </p:grpSpPr>
        <p:sp>
          <p:nvSpPr>
            <p:cNvPr id="49" name="文本框 48"/>
            <p:cNvSpPr txBox="1"/>
            <p:nvPr/>
          </p:nvSpPr>
          <p:spPr>
            <a:xfrm>
              <a:off x="1401350" y="982611"/>
              <a:ext cx="3401587" cy="369332"/>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过去销售</a:t>
              </a:r>
              <a:r>
                <a:rPr lang="zh-CN" altLang="en-US" b="1" dirty="0">
                  <a:latin typeface="微软雅黑" panose="020B0503020204020204" pitchFamily="34" charset="-122"/>
                  <a:ea typeface="微软雅黑" panose="020B0503020204020204" pitchFamily="34" charset="-122"/>
                </a:rPr>
                <a:t>是</a:t>
              </a:r>
              <a:r>
                <a:rPr lang="zh-CN" altLang="en-US" b="1" dirty="0" smtClean="0">
                  <a:latin typeface="微软雅黑" panose="020B0503020204020204" pitchFamily="34" charset="-122"/>
                  <a:ea typeface="微软雅黑" panose="020B0503020204020204" pitchFamily="34" charset="-122"/>
                </a:rPr>
                <a:t>如何做“</a:t>
              </a:r>
              <a:r>
                <a:rPr lang="en-US" altLang="zh-CN" b="1" dirty="0">
                  <a:latin typeface="微软雅黑" panose="020B0503020204020204" pitchFamily="34" charset="-122"/>
                  <a:ea typeface="微软雅黑" panose="020B0503020204020204" pitchFamily="34" charset="-122"/>
                </a:rPr>
                <a:t>T</a:t>
              </a:r>
              <a:r>
                <a:rPr lang="zh-CN" altLang="en-US" b="1" dirty="0" smtClean="0">
                  <a:latin typeface="微软雅黑" panose="020B0503020204020204" pitchFamily="34" charset="-122"/>
                  <a:ea typeface="微软雅黑" panose="020B0503020204020204" pitchFamily="34" charset="-122"/>
                </a:rPr>
                <a:t>”的？</a:t>
              </a:r>
              <a:endParaRPr lang="zh-CN" altLang="en-US" b="1" dirty="0">
                <a:latin typeface="微软雅黑" panose="020B0503020204020204" pitchFamily="34" charset="-122"/>
                <a:ea typeface="微软雅黑" panose="020B0503020204020204" pitchFamily="34" charset="-122"/>
              </a:endParaRPr>
            </a:p>
          </p:txBody>
        </p:sp>
        <p:sp>
          <p:nvSpPr>
            <p:cNvPr id="50" name="矩形 49"/>
            <p:cNvSpPr/>
            <p:nvPr/>
          </p:nvSpPr>
          <p:spPr>
            <a:xfrm>
              <a:off x="340538" y="1439521"/>
              <a:ext cx="5078064" cy="535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51" name="组合 50"/>
            <p:cNvGrpSpPr/>
            <p:nvPr/>
          </p:nvGrpSpPr>
          <p:grpSpPr>
            <a:xfrm>
              <a:off x="516651" y="1548453"/>
              <a:ext cx="4605309" cy="715951"/>
              <a:chOff x="516651" y="1548453"/>
              <a:chExt cx="4605309" cy="715951"/>
            </a:xfrm>
          </p:grpSpPr>
          <p:sp>
            <p:nvSpPr>
              <p:cNvPr id="57" name="圆角矩形 56"/>
              <p:cNvSpPr/>
              <p:nvPr/>
            </p:nvSpPr>
            <p:spPr>
              <a:xfrm>
                <a:off x="516651" y="1548453"/>
                <a:ext cx="4605309" cy="715951"/>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757592" y="1740420"/>
                <a:ext cx="956863" cy="366021"/>
              </a:xfrm>
              <a:prstGeom prst="roundRect">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开标时间</a:t>
                </a:r>
              </a:p>
            </p:txBody>
          </p:sp>
          <p:sp>
            <p:nvSpPr>
              <p:cNvPr id="59" name="圆角矩形 58"/>
              <p:cNvSpPr/>
              <p:nvPr/>
            </p:nvSpPr>
            <p:spPr>
              <a:xfrm>
                <a:off x="2401037" y="1717921"/>
                <a:ext cx="956863" cy="366021"/>
              </a:xfrm>
              <a:prstGeom prst="roundRect">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下</a:t>
                </a:r>
                <a:r>
                  <a:rPr lang="zh-CN" altLang="en-US" sz="1400" b="1" dirty="0" smtClean="0">
                    <a:solidFill>
                      <a:schemeClr val="bg1"/>
                    </a:solidFill>
                    <a:latin typeface="微软雅黑" panose="020B0503020204020204" pitchFamily="34" charset="-122"/>
                    <a:ea typeface="微软雅黑" panose="020B0503020204020204" pitchFamily="34" charset="-122"/>
                  </a:rPr>
                  <a:t>单时间</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grpSp>
        <p:sp>
          <p:nvSpPr>
            <p:cNvPr id="52" name="圆角矩形 51"/>
            <p:cNvSpPr/>
            <p:nvPr/>
          </p:nvSpPr>
          <p:spPr>
            <a:xfrm>
              <a:off x="4031461" y="1723417"/>
              <a:ext cx="956863" cy="366021"/>
            </a:xfrm>
            <a:prstGeom prst="roundRect">
              <a:avLst/>
            </a:prstGeom>
            <a:solidFill>
              <a:schemeClr val="bg1">
                <a:lumMod val="65000"/>
              </a:schemeClr>
            </a:solidFill>
            <a:ln w="12700">
              <a:solidFill>
                <a:srgbClr val="FF0000"/>
              </a:solidFill>
              <a:prstDash val="dash"/>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smtClean="0">
                  <a:solidFill>
                    <a:schemeClr val="bg1"/>
                  </a:solidFill>
                  <a:latin typeface="微软雅黑" panose="020B0503020204020204" pitchFamily="34" charset="-122"/>
                  <a:ea typeface="微软雅黑" panose="020B0503020204020204" pitchFamily="34" charset="-122"/>
                </a:rPr>
                <a:t>要货</a:t>
              </a:r>
              <a:r>
                <a:rPr lang="zh-CN" altLang="en-US" sz="1400" b="1" dirty="0">
                  <a:solidFill>
                    <a:schemeClr val="bg1"/>
                  </a:solidFill>
                  <a:latin typeface="微软雅黑" panose="020B0503020204020204" pitchFamily="34" charset="-122"/>
                  <a:ea typeface="微软雅黑" panose="020B0503020204020204" pitchFamily="34" charset="-122"/>
                </a:rPr>
                <a:t>时间</a:t>
              </a:r>
            </a:p>
          </p:txBody>
        </p:sp>
        <p:sp>
          <p:nvSpPr>
            <p:cNvPr id="53" name="文本框 52"/>
            <p:cNvSpPr txBox="1"/>
            <p:nvPr/>
          </p:nvSpPr>
          <p:spPr>
            <a:xfrm>
              <a:off x="469497" y="3677130"/>
              <a:ext cx="4775804" cy="1015663"/>
            </a:xfrm>
            <a:prstGeom prst="rect">
              <a:avLst/>
            </a:prstGeom>
            <a:noFill/>
            <a:ln>
              <a:solidFill>
                <a:srgbClr val="C00000"/>
              </a:solidFill>
            </a:ln>
          </p:spPr>
          <p:txBody>
            <a:bodyPr wrap="square" rtlCol="0">
              <a:spAutoFit/>
            </a:bodyPr>
            <a:lstStyle/>
            <a:p>
              <a:pPr marL="171450" indent="-171450">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rPr>
                <a:t>开标时间：</a:t>
              </a:r>
              <a:r>
                <a:rPr lang="zh-CN" altLang="en-US" sz="1200" dirty="0" smtClean="0">
                  <a:latin typeface="微软雅黑" panose="020B0503020204020204" pitchFamily="34" charset="-122"/>
                  <a:ea typeface="微软雅黑" panose="020B0503020204020204" pitchFamily="34" charset="-122"/>
                </a:rPr>
                <a:t>进漏斗内仅要求预计开标时间明确，</a:t>
              </a:r>
              <a:r>
                <a:rPr lang="zh-CN" altLang="en-US" sz="1200" b="1" dirty="0" smtClean="0">
                  <a:solidFill>
                    <a:schemeClr val="accent6"/>
                  </a:solidFill>
                  <a:latin typeface="微软雅黑" panose="020B0503020204020204" pitchFamily="34" charset="-122"/>
                  <a:ea typeface="微软雅黑" panose="020B0503020204020204" pitchFamily="34" charset="-122"/>
                </a:rPr>
                <a:t>到季度即可进漏斗</a:t>
              </a:r>
              <a:endParaRPr lang="en-US" altLang="zh-CN" sz="1200" b="1" dirty="0" smtClean="0">
                <a:solidFill>
                  <a:schemeClr val="accent6"/>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rPr>
                <a:t>下单时间：</a:t>
              </a:r>
              <a:r>
                <a:rPr lang="zh-CN" altLang="en-US" sz="1200" dirty="0" smtClean="0">
                  <a:latin typeface="微软雅黑" panose="020B0503020204020204" pitchFamily="34" charset="-122"/>
                  <a:ea typeface="微软雅黑" panose="020B0503020204020204" pitchFamily="34" charset="-122"/>
                </a:rPr>
                <a:t>根据项目类型，采用正推法，按客户采购流程估算。或用倒推法，按客户最晚要货时间倒推估算。下单时间估算，要考虑不同类型，如政采类、</a:t>
              </a:r>
              <a:r>
                <a:rPr lang="en-US" altLang="zh-CN" sz="1200" dirty="0" smtClean="0">
                  <a:latin typeface="微软雅黑" panose="020B0503020204020204" pitchFamily="34" charset="-122"/>
                  <a:ea typeface="微软雅黑" panose="020B0503020204020204" pitchFamily="34" charset="-122"/>
                </a:rPr>
                <a:t>EPC</a:t>
              </a:r>
              <a:r>
                <a:rPr lang="zh-CN" altLang="en-US" sz="1200" dirty="0" smtClean="0">
                  <a:latin typeface="微软雅黑" panose="020B0503020204020204" pitchFamily="34" charset="-122"/>
                  <a:ea typeface="微软雅黑" panose="020B0503020204020204" pitchFamily="34" charset="-122"/>
                </a:rPr>
                <a:t>、投融资等</a:t>
              </a:r>
              <a:endParaRPr lang="en-US" altLang="zh-CN" sz="1200" dirty="0" smtClean="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要货</a:t>
              </a:r>
              <a:r>
                <a:rPr lang="zh-CN" altLang="en-US" sz="1200" b="1" dirty="0" smtClean="0">
                  <a:latin typeface="微软雅黑" panose="020B0503020204020204" pitchFamily="34" charset="-122"/>
                  <a:ea typeface="微软雅黑" panose="020B0503020204020204" pitchFamily="34" charset="-122"/>
                </a:rPr>
                <a:t>时间：</a:t>
              </a:r>
              <a:r>
                <a:rPr lang="zh-CN" altLang="en-US" sz="1200" dirty="0" smtClean="0">
                  <a:latin typeface="微软雅黑" panose="020B0503020204020204" pitchFamily="34" charset="-122"/>
                  <a:ea typeface="微软雅黑" panose="020B0503020204020204" pitchFamily="34" charset="-122"/>
                </a:rPr>
                <a:t>对漏斗外进漏斗时</a:t>
              </a:r>
              <a:r>
                <a:rPr lang="zh-CN" altLang="en-US" sz="1200" b="1" dirty="0" smtClean="0">
                  <a:solidFill>
                    <a:schemeClr val="accent6"/>
                  </a:solidFill>
                  <a:latin typeface="微软雅黑" panose="020B0503020204020204" pitchFamily="34" charset="-122"/>
                  <a:ea typeface="微软雅黑" panose="020B0503020204020204" pitchFamily="34" charset="-122"/>
                </a:rPr>
                <a:t>，要货时间没有明确要求</a:t>
              </a:r>
              <a:endParaRPr lang="en-US" altLang="zh-CN" sz="1200" b="1" dirty="0" smtClean="0">
                <a:solidFill>
                  <a:schemeClr val="accent6"/>
                </a:solidFill>
                <a:latin typeface="微软雅黑" panose="020B0503020204020204" pitchFamily="34" charset="-122"/>
                <a:ea typeface="微软雅黑" panose="020B0503020204020204" pitchFamily="34" charset="-122"/>
              </a:endParaRPr>
            </a:p>
          </p:txBody>
        </p:sp>
        <p:pic>
          <p:nvPicPr>
            <p:cNvPr id="54" name="图片 53"/>
            <p:cNvPicPr>
              <a:picLocks noChangeAspect="1"/>
            </p:cNvPicPr>
            <p:nvPr/>
          </p:nvPicPr>
          <p:blipFill>
            <a:blip r:embed="rId5"/>
            <a:stretch>
              <a:fillRect/>
            </a:stretch>
          </p:blipFill>
          <p:spPr>
            <a:xfrm>
              <a:off x="469496" y="2404276"/>
              <a:ext cx="4775804" cy="1164102"/>
            </a:xfrm>
            <a:prstGeom prst="rect">
              <a:avLst/>
            </a:prstGeom>
            <a:ln>
              <a:solidFill>
                <a:schemeClr val="tx1">
                  <a:lumMod val="50000"/>
                  <a:lumOff val="50000"/>
                </a:schemeClr>
              </a:solidFill>
            </a:ln>
          </p:spPr>
        </p:pic>
        <p:pic>
          <p:nvPicPr>
            <p:cNvPr id="55" name="图片 54"/>
            <p:cNvPicPr>
              <a:picLocks noChangeAspect="1"/>
            </p:cNvPicPr>
            <p:nvPr/>
          </p:nvPicPr>
          <p:blipFill>
            <a:blip r:embed="rId6"/>
            <a:stretch>
              <a:fillRect/>
            </a:stretch>
          </p:blipFill>
          <p:spPr>
            <a:xfrm>
              <a:off x="469496" y="4895019"/>
              <a:ext cx="3429615" cy="1034507"/>
            </a:xfrm>
            <a:prstGeom prst="rect">
              <a:avLst/>
            </a:prstGeom>
          </p:spPr>
        </p:pic>
        <p:pic>
          <p:nvPicPr>
            <p:cNvPr id="56" name="图片 55"/>
            <p:cNvPicPr>
              <a:picLocks noChangeAspect="1"/>
            </p:cNvPicPr>
            <p:nvPr/>
          </p:nvPicPr>
          <p:blipFill>
            <a:blip r:embed="rId7"/>
            <a:stretch>
              <a:fillRect/>
            </a:stretch>
          </p:blipFill>
          <p:spPr>
            <a:xfrm>
              <a:off x="2262643" y="5633876"/>
              <a:ext cx="2982657" cy="1057840"/>
            </a:xfrm>
            <a:prstGeom prst="rect">
              <a:avLst/>
            </a:prstGeom>
          </p:spPr>
        </p:pic>
      </p:grpSp>
      <p:sp>
        <p:nvSpPr>
          <p:cNvPr id="60" name="矩形 59"/>
          <p:cNvSpPr/>
          <p:nvPr/>
        </p:nvSpPr>
        <p:spPr>
          <a:xfrm>
            <a:off x="10118573" y="1327514"/>
            <a:ext cx="1933889" cy="49732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本次</a:t>
            </a:r>
            <a:endParaRPr lang="zh-CN" altLang="en-US" dirty="0"/>
          </a:p>
        </p:txBody>
      </p:sp>
      <p:sp>
        <p:nvSpPr>
          <p:cNvPr id="61" name="文本框 60"/>
          <p:cNvSpPr txBox="1"/>
          <p:nvPr/>
        </p:nvSpPr>
        <p:spPr>
          <a:xfrm>
            <a:off x="10252029" y="903721"/>
            <a:ext cx="1688221" cy="369332"/>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造成的影响</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10085131" y="1566150"/>
            <a:ext cx="1932889" cy="4401205"/>
          </a:xfrm>
          <a:prstGeom prst="rect">
            <a:avLst/>
          </a:prstGeom>
        </p:spPr>
        <p:txBody>
          <a:bodyPr wrap="square">
            <a:spAutoFit/>
          </a:bodyPr>
          <a:lstStyle/>
          <a:p>
            <a:r>
              <a:rPr lang="en-US" altLang="zh-CN" sz="1400" dirty="0"/>
              <a:t>1</a:t>
            </a:r>
            <a:r>
              <a:rPr lang="zh-CN" altLang="en-US" sz="1400" dirty="0"/>
              <a:t>）输入的配置不准确</a:t>
            </a:r>
            <a:r>
              <a:rPr lang="zh-CN" altLang="en-US" sz="1400" dirty="0" smtClean="0"/>
              <a:t>，随意填配置</a:t>
            </a:r>
            <a:r>
              <a:rPr lang="zh-CN" altLang="en-US" sz="1400" dirty="0"/>
              <a:t>凑金额，导致预测不准，形成呆滞料和</a:t>
            </a:r>
            <a:r>
              <a:rPr lang="zh-CN" altLang="en-US" sz="1400" dirty="0" smtClean="0"/>
              <a:t>库存</a:t>
            </a:r>
            <a:endParaRPr lang="en-US" altLang="zh-CN" sz="1400" dirty="0" smtClean="0"/>
          </a:p>
          <a:p>
            <a:endParaRPr lang="en-US" altLang="zh-CN" sz="1400" dirty="0"/>
          </a:p>
          <a:p>
            <a:r>
              <a:rPr lang="en-US" altLang="zh-CN" sz="1400" dirty="0"/>
              <a:t>2</a:t>
            </a:r>
            <a:r>
              <a:rPr lang="zh-CN" altLang="en-US" sz="1400" dirty="0"/>
              <a:t>）时间输入不准，更新不及时，</a:t>
            </a:r>
            <a:r>
              <a:rPr lang="zh-CN" altLang="en-US" sz="1400" dirty="0" smtClean="0"/>
              <a:t>导致备货排产不及时，影响客户交付</a:t>
            </a:r>
            <a:endParaRPr lang="en-US" altLang="zh-CN" sz="1400" dirty="0" smtClean="0"/>
          </a:p>
          <a:p>
            <a:endParaRPr lang="en-US" altLang="zh-CN" sz="1400" dirty="0"/>
          </a:p>
          <a:p>
            <a:r>
              <a:rPr lang="en-US" altLang="zh-CN" sz="1400" dirty="0"/>
              <a:t>3</a:t>
            </a:r>
            <a:r>
              <a:rPr lang="zh-CN" altLang="en-US" sz="1400" dirty="0"/>
              <a:t>）不质量的商机最后关头调出漏斗，漏斗抖动率大，影响业务</a:t>
            </a:r>
            <a:r>
              <a:rPr lang="zh-CN" altLang="en-US" sz="1400" dirty="0" smtClean="0"/>
              <a:t>决策</a:t>
            </a:r>
            <a:endParaRPr lang="en-US" altLang="zh-CN" sz="1400" dirty="0" smtClean="0"/>
          </a:p>
          <a:p>
            <a:endParaRPr lang="en-US" altLang="zh-CN" sz="1400" dirty="0"/>
          </a:p>
          <a:p>
            <a:r>
              <a:rPr lang="zh-CN" altLang="en-US" sz="1400" b="1" dirty="0" smtClean="0">
                <a:solidFill>
                  <a:schemeClr val="accent6"/>
                </a:solidFill>
              </a:rPr>
              <a:t>以上这些做法给</a:t>
            </a:r>
            <a:r>
              <a:rPr lang="en-US" altLang="zh-CN" sz="1400" b="1" dirty="0" smtClean="0">
                <a:solidFill>
                  <a:schemeClr val="accent6"/>
                </a:solidFill>
              </a:rPr>
              <a:t>EBG</a:t>
            </a:r>
            <a:r>
              <a:rPr lang="zh-CN" altLang="en-US" sz="1400" b="1" dirty="0" smtClean="0">
                <a:solidFill>
                  <a:schemeClr val="accent6"/>
                </a:solidFill>
              </a:rPr>
              <a:t>造成很大损失</a:t>
            </a:r>
            <a:r>
              <a:rPr lang="en-US" altLang="zh-CN" sz="1400" b="1" dirty="0" smtClean="0">
                <a:solidFill>
                  <a:schemeClr val="accent6"/>
                </a:solidFill>
              </a:rPr>
              <a:t>,</a:t>
            </a:r>
            <a:r>
              <a:rPr lang="zh-CN" altLang="en-US" sz="1400" b="1" dirty="0" smtClean="0">
                <a:solidFill>
                  <a:schemeClr val="accent6"/>
                </a:solidFill>
              </a:rPr>
              <a:t>公司计提扣除的净利润上千万，影响到了每个人的利益</a:t>
            </a:r>
            <a:endParaRPr lang="zh-CN" altLang="en-US" sz="1400" b="1" dirty="0">
              <a:solidFill>
                <a:schemeClr val="accent6"/>
              </a:solidFill>
            </a:endParaRPr>
          </a:p>
        </p:txBody>
      </p:sp>
    </p:spTree>
    <p:extLst>
      <p:ext uri="{BB962C8B-B14F-4D97-AF65-F5344CB8AC3E}">
        <p14:creationId xmlns:p14="http://schemas.microsoft.com/office/powerpoint/2010/main" val="6412467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6353606" cy="495935"/>
          </a:xfrm>
        </p:spPr>
        <p:txBody>
          <a:bodyPr/>
          <a:lstStyle/>
          <a:p>
            <a:r>
              <a:rPr lang="en-US" altLang="zh-CN" dirty="0" smtClean="0"/>
              <a:t>N</a:t>
            </a:r>
            <a:r>
              <a:rPr lang="zh-CN" altLang="en-US" dirty="0" smtClean="0"/>
              <a:t>和</a:t>
            </a:r>
            <a:r>
              <a:rPr lang="en-US" altLang="zh-CN" dirty="0" smtClean="0"/>
              <a:t>3T</a:t>
            </a:r>
            <a:r>
              <a:rPr lang="zh-CN" altLang="en-US" dirty="0" smtClean="0"/>
              <a:t>的试点结果</a:t>
            </a:r>
            <a:endParaRPr lang="zh-CN" altLang="en-US" dirty="0"/>
          </a:p>
        </p:txBody>
      </p:sp>
      <p:graphicFrame>
        <p:nvGraphicFramePr>
          <p:cNvPr id="35" name="表格 34"/>
          <p:cNvGraphicFramePr>
            <a:graphicFrameLocks noGrp="1"/>
          </p:cNvGraphicFramePr>
          <p:nvPr>
            <p:extLst>
              <p:ext uri="{D42A27DB-BD31-4B8C-83A1-F6EECF244321}">
                <p14:modId xmlns:p14="http://schemas.microsoft.com/office/powerpoint/2010/main" val="280753631"/>
              </p:ext>
            </p:extLst>
          </p:nvPr>
        </p:nvGraphicFramePr>
        <p:xfrm>
          <a:off x="2733517" y="1235690"/>
          <a:ext cx="6748047" cy="2019940"/>
        </p:xfrm>
        <a:graphic>
          <a:graphicData uri="http://schemas.openxmlformats.org/drawingml/2006/table">
            <a:tbl>
              <a:tblPr/>
              <a:tblGrid>
                <a:gridCol w="1458568"/>
                <a:gridCol w="1229391"/>
                <a:gridCol w="857474"/>
                <a:gridCol w="812240"/>
                <a:gridCol w="1195187"/>
                <a:gridCol w="1195187"/>
              </a:tblGrid>
              <a:tr h="509704">
                <a:tc>
                  <a:txBody>
                    <a:bodyPr/>
                    <a:lstStyle/>
                    <a:p>
                      <a:pPr algn="l" fontAlgn="ctr" latinLnBrk="0"/>
                      <a:r>
                        <a:rPr lang="zh-CN" altLang="en-US" sz="1100" b="1" i="0" dirty="0">
                          <a:solidFill>
                            <a:srgbClr val="000000"/>
                          </a:solidFill>
                          <a:effectLst/>
                        </a:rPr>
                        <a:t>区域</a:t>
                      </a:r>
                      <a:r>
                        <a:rPr lang="en-US" altLang="zh-CN" sz="1100" b="1" i="0" dirty="0">
                          <a:solidFill>
                            <a:srgbClr val="000000"/>
                          </a:solidFill>
                          <a:effectLst/>
                        </a:rPr>
                        <a:t>\</a:t>
                      </a:r>
                      <a:r>
                        <a:rPr lang="zh-CN" altLang="en-US" sz="1100" b="1" i="0" dirty="0">
                          <a:solidFill>
                            <a:srgbClr val="000000"/>
                          </a:solidFill>
                          <a:effectLst/>
                        </a:rPr>
                        <a:t>月度</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7</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2024</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环比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同比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377559">
                <a:tc>
                  <a:txBody>
                    <a:bodyPr/>
                    <a:lstStyle/>
                    <a:p>
                      <a:pPr algn="l" fontAlgn="ctr" latinLnBrk="0"/>
                      <a:r>
                        <a:rPr lang="zh-CN" altLang="en-US" sz="1100" b="0" i="0">
                          <a:solidFill>
                            <a:srgbClr val="000000"/>
                          </a:solidFill>
                          <a:effectLst/>
                        </a:rPr>
                        <a:t>山东（产品）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86%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28%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a:solidFill>
                            <a:srgbClr val="000000"/>
                          </a:solidFill>
                          <a:effectLst/>
                        </a:rPr>
                        <a:t>上海 （产品）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76%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46%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a:solidFill>
                            <a:srgbClr val="000000"/>
                          </a:solidFill>
                          <a:effectLst/>
                        </a:rPr>
                        <a:t>61%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30%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dirty="0">
                          <a:solidFill>
                            <a:srgbClr val="000000"/>
                          </a:solidFill>
                          <a:effectLst/>
                        </a:rPr>
                        <a:t>山东（金额）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90%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32%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20%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a:solidFill>
                            <a:srgbClr val="000000"/>
                          </a:solidFill>
                          <a:effectLst/>
                        </a:rPr>
                        <a:t>上海 （金额）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92%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51%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69%</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41%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23%</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bl>
          </a:graphicData>
        </a:graphic>
      </p:graphicFrame>
      <p:sp>
        <p:nvSpPr>
          <p:cNvPr id="36" name="文本框 35"/>
          <p:cNvSpPr txBox="1"/>
          <p:nvPr/>
        </p:nvSpPr>
        <p:spPr>
          <a:xfrm>
            <a:off x="353800" y="866358"/>
            <a:ext cx="1736373" cy="369332"/>
          </a:xfrm>
          <a:prstGeom prst="rect">
            <a:avLst/>
          </a:prstGeom>
          <a:noFill/>
        </p:spPr>
        <p:txBody>
          <a:bodyPr wrap="none" rtlCol="0">
            <a:spAutoFit/>
          </a:bodyPr>
          <a:lstStyle/>
          <a:p>
            <a:r>
              <a:rPr lang="en-US" altLang="zh-CN" b="1" dirty="0" smtClean="0"/>
              <a:t>N</a:t>
            </a:r>
            <a:r>
              <a:rPr lang="zh-CN" altLang="en-US" b="1" dirty="0" smtClean="0"/>
              <a:t>的试点结果：</a:t>
            </a:r>
            <a:endParaRPr lang="zh-CN" altLang="en-US" b="1" dirty="0"/>
          </a:p>
        </p:txBody>
      </p:sp>
      <p:sp>
        <p:nvSpPr>
          <p:cNvPr id="37" name="文本框 36"/>
          <p:cNvSpPr txBox="1"/>
          <p:nvPr/>
        </p:nvSpPr>
        <p:spPr>
          <a:xfrm>
            <a:off x="353800" y="3507354"/>
            <a:ext cx="1710725" cy="369332"/>
          </a:xfrm>
          <a:prstGeom prst="rect">
            <a:avLst/>
          </a:prstGeom>
          <a:noFill/>
        </p:spPr>
        <p:txBody>
          <a:bodyPr wrap="none" rtlCol="0">
            <a:spAutoFit/>
          </a:bodyPr>
          <a:lstStyle/>
          <a:p>
            <a:r>
              <a:rPr lang="en-US" altLang="zh-CN" b="1" dirty="0" smtClean="0"/>
              <a:t>T</a:t>
            </a:r>
            <a:r>
              <a:rPr lang="zh-CN" altLang="en-US" b="1" dirty="0" smtClean="0"/>
              <a:t>的试点结果：</a:t>
            </a:r>
            <a:endParaRPr lang="zh-CN" altLang="en-US" b="1" dirty="0"/>
          </a:p>
        </p:txBody>
      </p:sp>
      <p:sp>
        <p:nvSpPr>
          <p:cNvPr id="39" name="矩形 38"/>
          <p:cNvSpPr/>
          <p:nvPr/>
        </p:nvSpPr>
        <p:spPr>
          <a:xfrm>
            <a:off x="4435152" y="4009773"/>
            <a:ext cx="3542522" cy="1384995"/>
          </a:xfrm>
          <a:prstGeom prst="rect">
            <a:avLst/>
          </a:prstGeom>
        </p:spPr>
        <p:txBody>
          <a:bodyPr wrap="square">
            <a:spAutoFit/>
          </a:bodyPr>
          <a:lstStyle/>
          <a:p>
            <a:pPr>
              <a:lnSpc>
                <a:spcPct val="150000"/>
              </a:lnSpc>
            </a:pPr>
            <a:r>
              <a:rPr lang="zh-CN" altLang="en-US" sz="1400" b="1" dirty="0" smtClean="0"/>
              <a:t>针对预计下单时间：</a:t>
            </a:r>
            <a:endParaRPr lang="en-US" altLang="zh-CN" sz="1400" b="1" dirty="0" smtClean="0"/>
          </a:p>
          <a:p>
            <a:pPr>
              <a:lnSpc>
                <a:spcPct val="150000"/>
              </a:lnSpc>
            </a:pPr>
            <a:r>
              <a:rPr lang="zh-CN" altLang="en-US" sz="1400" dirty="0" smtClean="0"/>
              <a:t>通过对项目进行复盘，总结了可借鉴的共性经验，可以与大家分享，提高预计下单时间的预测准确率</a:t>
            </a:r>
            <a:endParaRPr lang="en-US" altLang="zh-CN" sz="1400" dirty="0"/>
          </a:p>
        </p:txBody>
      </p:sp>
      <p:sp>
        <p:nvSpPr>
          <p:cNvPr id="40" name="矩形 39"/>
          <p:cNvSpPr/>
          <p:nvPr/>
        </p:nvSpPr>
        <p:spPr>
          <a:xfrm>
            <a:off x="353799" y="4009773"/>
            <a:ext cx="3751669" cy="2354491"/>
          </a:xfrm>
          <a:prstGeom prst="rect">
            <a:avLst/>
          </a:prstGeom>
        </p:spPr>
        <p:txBody>
          <a:bodyPr wrap="square">
            <a:spAutoFit/>
          </a:bodyPr>
          <a:lstStyle/>
          <a:p>
            <a:pPr>
              <a:lnSpc>
                <a:spcPct val="150000"/>
              </a:lnSpc>
            </a:pPr>
            <a:r>
              <a:rPr lang="zh-CN" altLang="en-US" sz="1400" b="1" dirty="0"/>
              <a:t>针对预计开标</a:t>
            </a:r>
            <a:r>
              <a:rPr lang="zh-CN" altLang="en-US" sz="1400" b="1" dirty="0" smtClean="0"/>
              <a:t>时间：</a:t>
            </a:r>
            <a:endParaRPr lang="en-US" altLang="zh-CN" sz="1400" b="1" dirty="0" smtClean="0"/>
          </a:p>
          <a:p>
            <a:pPr>
              <a:lnSpc>
                <a:spcPct val="150000"/>
              </a:lnSpc>
            </a:pPr>
            <a:r>
              <a:rPr lang="zh-CN" altLang="en-US" sz="1400" dirty="0" smtClean="0"/>
              <a:t>有些项目做的时间很准确，对于客户有明确到货时间要求的项目，通过倒推法准确预测开标时间。</a:t>
            </a:r>
            <a:endParaRPr lang="en-US" altLang="zh-CN" sz="1400" dirty="0" smtClean="0"/>
          </a:p>
          <a:p>
            <a:pPr>
              <a:lnSpc>
                <a:spcPct val="150000"/>
              </a:lnSpc>
            </a:pPr>
            <a:r>
              <a:rPr lang="zh-CN" altLang="en-US" sz="1400" dirty="0" smtClean="0"/>
              <a:t>对于部分复杂项目，试点</a:t>
            </a:r>
            <a:r>
              <a:rPr lang="zh-CN" altLang="en-US" sz="1400" dirty="0"/>
              <a:t>过程中销售建议</a:t>
            </a:r>
            <a:r>
              <a:rPr lang="zh-CN" altLang="en-US" sz="1400" dirty="0" smtClean="0"/>
              <a:t>针对“预计开标日期”</a:t>
            </a:r>
            <a:r>
              <a:rPr lang="zh-CN" altLang="en-US" sz="1400" dirty="0"/>
              <a:t>建立监督跟进</a:t>
            </a:r>
            <a:r>
              <a:rPr lang="zh-CN" altLang="en-US" sz="1400" dirty="0" smtClean="0"/>
              <a:t>机制，</a:t>
            </a:r>
            <a:endParaRPr lang="zh-CN" altLang="en-US" sz="1400" dirty="0"/>
          </a:p>
          <a:p>
            <a:pPr>
              <a:lnSpc>
                <a:spcPct val="150000"/>
              </a:lnSpc>
            </a:pPr>
            <a:endParaRPr lang="en-US" altLang="zh-CN" sz="1400" dirty="0"/>
          </a:p>
        </p:txBody>
      </p:sp>
      <p:sp>
        <p:nvSpPr>
          <p:cNvPr id="41" name="矩形 40"/>
          <p:cNvSpPr/>
          <p:nvPr/>
        </p:nvSpPr>
        <p:spPr>
          <a:xfrm>
            <a:off x="8382001" y="4009773"/>
            <a:ext cx="3542522" cy="1708160"/>
          </a:xfrm>
          <a:prstGeom prst="rect">
            <a:avLst/>
          </a:prstGeom>
        </p:spPr>
        <p:txBody>
          <a:bodyPr wrap="square">
            <a:spAutoFit/>
          </a:bodyPr>
          <a:lstStyle/>
          <a:p>
            <a:pPr>
              <a:lnSpc>
                <a:spcPct val="150000"/>
              </a:lnSpc>
            </a:pPr>
            <a:r>
              <a:rPr lang="zh-CN" altLang="en-US" sz="1400" b="1" dirty="0" smtClean="0"/>
              <a:t>针对要求到货时间：</a:t>
            </a:r>
            <a:endParaRPr lang="en-US" altLang="zh-CN" sz="1400" b="1" dirty="0" smtClean="0"/>
          </a:p>
          <a:p>
            <a:pPr>
              <a:lnSpc>
                <a:spcPct val="150000"/>
              </a:lnSpc>
            </a:pPr>
            <a:r>
              <a:rPr lang="zh-CN" altLang="en-US" sz="1400" dirty="0"/>
              <a:t>通过试点区域对项目进行分析复盘，形成</a:t>
            </a:r>
            <a:r>
              <a:rPr lang="zh-CN" altLang="en-US" sz="1400" dirty="0" smtClean="0"/>
              <a:t>了“要求</a:t>
            </a:r>
            <a:r>
              <a:rPr lang="zh-CN" altLang="en-US" sz="1400" dirty="0"/>
              <a:t>到货时间</a:t>
            </a:r>
            <a:r>
              <a:rPr lang="en-US" altLang="zh-CN" sz="1400" dirty="0"/>
              <a:t>-</a:t>
            </a:r>
            <a:r>
              <a:rPr lang="zh-CN" altLang="en-US" sz="1400" dirty="0"/>
              <a:t>要素整理</a:t>
            </a:r>
            <a:r>
              <a:rPr lang="zh-CN" altLang="en-US" sz="1400" dirty="0" smtClean="0"/>
              <a:t>表”，后期可以供大家参考</a:t>
            </a:r>
            <a:endParaRPr lang="zh-CN" altLang="en-US" sz="1400" dirty="0"/>
          </a:p>
          <a:p>
            <a:pPr>
              <a:lnSpc>
                <a:spcPct val="150000"/>
              </a:lnSpc>
            </a:pPr>
            <a:endParaRPr lang="en-US" altLang="zh-CN" sz="1400" dirty="0"/>
          </a:p>
        </p:txBody>
      </p:sp>
    </p:spTree>
    <p:extLst>
      <p:ext uri="{BB962C8B-B14F-4D97-AF65-F5344CB8AC3E}">
        <p14:creationId xmlns:p14="http://schemas.microsoft.com/office/powerpoint/2010/main" val="14855285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35369" y="210590"/>
            <a:ext cx="6353606" cy="495935"/>
          </a:xfrm>
        </p:spPr>
        <p:txBody>
          <a:bodyPr/>
          <a:lstStyle/>
          <a:p>
            <a:r>
              <a:rPr lang="zh-CN" altLang="en-US" dirty="0" smtClean="0"/>
              <a:t>执行计划和要求</a:t>
            </a:r>
            <a:endParaRPr lang="zh-CN" altLang="en-US" dirty="0"/>
          </a:p>
        </p:txBody>
      </p:sp>
      <p:sp>
        <p:nvSpPr>
          <p:cNvPr id="3" name="矩形 2"/>
          <p:cNvSpPr/>
          <p:nvPr/>
        </p:nvSpPr>
        <p:spPr>
          <a:xfrm>
            <a:off x="2555798" y="1940769"/>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培训，宣贯</a:t>
            </a:r>
            <a:endParaRPr lang="zh-CN" altLang="en-US" dirty="0"/>
          </a:p>
        </p:txBody>
      </p:sp>
      <p:sp>
        <p:nvSpPr>
          <p:cNvPr id="15" name="矩形 14"/>
          <p:cNvSpPr/>
          <p:nvPr/>
        </p:nvSpPr>
        <p:spPr>
          <a:xfrm>
            <a:off x="6270172" y="1940769"/>
            <a:ext cx="1122648"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IT</a:t>
            </a:r>
            <a:r>
              <a:rPr lang="zh-CN" altLang="en-US" dirty="0" smtClean="0"/>
              <a:t>上线及培训</a:t>
            </a:r>
            <a:endParaRPr lang="zh-CN" altLang="en-US" dirty="0"/>
          </a:p>
        </p:txBody>
      </p:sp>
      <p:sp>
        <p:nvSpPr>
          <p:cNvPr id="16" name="矩形 15"/>
          <p:cNvSpPr/>
          <p:nvPr/>
        </p:nvSpPr>
        <p:spPr>
          <a:xfrm>
            <a:off x="4309580" y="1940769"/>
            <a:ext cx="1224293" cy="247261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线下盘点手头活动中项目并及时更新</a:t>
            </a:r>
            <a:r>
              <a:rPr lang="en-US" altLang="zh-CN" dirty="0" smtClean="0"/>
              <a:t>CRM</a:t>
            </a:r>
            <a:r>
              <a:rPr lang="zh-CN" altLang="en-US" dirty="0" smtClean="0"/>
              <a:t>相关信息</a:t>
            </a:r>
            <a:endParaRPr lang="zh-CN" altLang="en-US" dirty="0"/>
          </a:p>
        </p:txBody>
      </p:sp>
      <p:sp>
        <p:nvSpPr>
          <p:cNvPr id="17" name="矩形 16"/>
          <p:cNvSpPr/>
          <p:nvPr/>
        </p:nvSpPr>
        <p:spPr>
          <a:xfrm>
            <a:off x="8158442" y="1940769"/>
            <a:ext cx="1162840" cy="247261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smtClean="0"/>
              <a:t>流程执行</a:t>
            </a:r>
            <a:endParaRPr lang="en-US" altLang="zh-CN" dirty="0" smtClean="0"/>
          </a:p>
        </p:txBody>
      </p:sp>
      <p:sp>
        <p:nvSpPr>
          <p:cNvPr id="18" name="矩形 17"/>
          <p:cNvSpPr/>
          <p:nvPr/>
        </p:nvSpPr>
        <p:spPr>
          <a:xfrm>
            <a:off x="10200451" y="1940769"/>
            <a:ext cx="1404956"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监控及稽核</a:t>
            </a:r>
            <a:endParaRPr lang="en-US" altLang="zh-CN" dirty="0" smtClean="0"/>
          </a:p>
          <a:p>
            <a:pPr algn="ctr"/>
            <a:r>
              <a:rPr lang="zh-CN" altLang="en-US" dirty="0" smtClean="0"/>
              <a:t>（数据看板，管理机制）</a:t>
            </a:r>
            <a:endParaRPr lang="zh-CN" altLang="en-US" dirty="0"/>
          </a:p>
        </p:txBody>
      </p:sp>
      <p:sp>
        <p:nvSpPr>
          <p:cNvPr id="7" name="右箭头 6"/>
          <p:cNvSpPr/>
          <p:nvPr/>
        </p:nvSpPr>
        <p:spPr>
          <a:xfrm>
            <a:off x="1767412" y="2958087"/>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右箭头 21"/>
          <p:cNvSpPr/>
          <p:nvPr/>
        </p:nvSpPr>
        <p:spPr>
          <a:xfrm>
            <a:off x="5618671"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右箭头 22"/>
          <p:cNvSpPr/>
          <p:nvPr/>
        </p:nvSpPr>
        <p:spPr>
          <a:xfrm>
            <a:off x="7439340"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右箭头 23"/>
          <p:cNvSpPr/>
          <p:nvPr/>
        </p:nvSpPr>
        <p:spPr>
          <a:xfrm>
            <a:off x="9449113"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上箭头 10"/>
          <p:cNvSpPr/>
          <p:nvPr/>
        </p:nvSpPr>
        <p:spPr>
          <a:xfrm>
            <a:off x="3059278" y="4512821"/>
            <a:ext cx="457200" cy="83975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260521" y="5452016"/>
            <a:ext cx="1680909" cy="369332"/>
          </a:xfrm>
          <a:prstGeom prst="rect">
            <a:avLst/>
          </a:prstGeom>
          <a:noFill/>
        </p:spPr>
        <p:txBody>
          <a:bodyPr wrap="none" rtlCol="0">
            <a:spAutoFit/>
          </a:bodyPr>
          <a:lstStyle/>
          <a:p>
            <a:r>
              <a:rPr lang="en-US" altLang="zh-CN" dirty="0" smtClean="0"/>
              <a:t>We are here</a:t>
            </a:r>
            <a:r>
              <a:rPr lang="zh-CN" altLang="en-US" dirty="0" smtClean="0"/>
              <a:t>！</a:t>
            </a:r>
            <a:endParaRPr lang="zh-CN" altLang="en-US" dirty="0"/>
          </a:p>
        </p:txBody>
      </p:sp>
      <p:sp>
        <p:nvSpPr>
          <p:cNvPr id="32" name="矩形 31"/>
          <p:cNvSpPr/>
          <p:nvPr/>
        </p:nvSpPr>
        <p:spPr>
          <a:xfrm>
            <a:off x="575175" y="1940769"/>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设计并试点</a:t>
            </a:r>
            <a:r>
              <a:rPr lang="en-US" altLang="zh-CN" dirty="0" smtClean="0"/>
              <a:t>-</a:t>
            </a:r>
            <a:r>
              <a:rPr lang="zh-CN" altLang="en-US" dirty="0" smtClean="0"/>
              <a:t>上海、山东区域</a:t>
            </a:r>
            <a:endParaRPr lang="zh-CN" altLang="en-US" dirty="0"/>
          </a:p>
        </p:txBody>
      </p:sp>
      <p:sp>
        <p:nvSpPr>
          <p:cNvPr id="13" name="矩形标注 12"/>
          <p:cNvSpPr/>
          <p:nvPr/>
        </p:nvSpPr>
        <p:spPr>
          <a:xfrm>
            <a:off x="4309580" y="5123582"/>
            <a:ext cx="2735033" cy="1395532"/>
          </a:xfrm>
          <a:prstGeom prst="wedgeRectCallout">
            <a:avLst>
              <a:gd name="adj1" fmla="val -41859"/>
              <a:gd name="adj2" fmla="val -1024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smtClean="0">
                <a:solidFill>
                  <a:schemeClr val="tx1"/>
                </a:solidFill>
              </a:rPr>
              <a:t>培训完成后，请大家对</a:t>
            </a:r>
            <a:r>
              <a:rPr lang="en-US" altLang="zh-CN" sz="1400" dirty="0" smtClean="0">
                <a:solidFill>
                  <a:schemeClr val="tx1"/>
                </a:solidFill>
              </a:rPr>
              <a:t>CRM</a:t>
            </a:r>
            <a:r>
              <a:rPr lang="zh-CN" altLang="en-US" sz="1400" dirty="0" smtClean="0">
                <a:solidFill>
                  <a:schemeClr val="tx1"/>
                </a:solidFill>
              </a:rPr>
              <a:t>进行中的项目关于</a:t>
            </a:r>
            <a:r>
              <a:rPr lang="en-US" altLang="zh-CN" sz="1400" dirty="0" smtClean="0">
                <a:solidFill>
                  <a:schemeClr val="tx1"/>
                </a:solidFill>
              </a:rPr>
              <a:t>N</a:t>
            </a:r>
            <a:r>
              <a:rPr lang="zh-CN" altLang="en-US" sz="1400" dirty="0" smtClean="0">
                <a:solidFill>
                  <a:schemeClr val="tx1"/>
                </a:solidFill>
              </a:rPr>
              <a:t>的配置列表按要求更新，</a:t>
            </a:r>
            <a:r>
              <a:rPr lang="en-US" altLang="zh-CN" sz="1400" dirty="0" smtClean="0">
                <a:solidFill>
                  <a:schemeClr val="tx1"/>
                </a:solidFill>
              </a:rPr>
              <a:t>3</a:t>
            </a:r>
            <a:r>
              <a:rPr lang="zh-CN" altLang="en-US" sz="1400" dirty="0" smtClean="0">
                <a:solidFill>
                  <a:schemeClr val="tx1"/>
                </a:solidFill>
              </a:rPr>
              <a:t>个</a:t>
            </a:r>
            <a:r>
              <a:rPr lang="en-US" altLang="zh-CN" sz="1400" dirty="0" smtClean="0">
                <a:solidFill>
                  <a:schemeClr val="tx1"/>
                </a:solidFill>
              </a:rPr>
              <a:t>T</a:t>
            </a:r>
            <a:r>
              <a:rPr lang="zh-CN" altLang="en-US" sz="1400" dirty="0" smtClean="0">
                <a:solidFill>
                  <a:schemeClr val="tx1"/>
                </a:solidFill>
              </a:rPr>
              <a:t>也重新按照新的方法评估和更新，确保在途项目的准确性提上去！！</a:t>
            </a:r>
            <a:endParaRPr lang="zh-CN" altLang="en-US" sz="1400" dirty="0">
              <a:solidFill>
                <a:schemeClr val="tx1"/>
              </a:solidFill>
            </a:endParaRPr>
          </a:p>
        </p:txBody>
      </p:sp>
      <p:sp>
        <p:nvSpPr>
          <p:cNvPr id="33" name="矩形标注 32"/>
          <p:cNvSpPr/>
          <p:nvPr/>
        </p:nvSpPr>
        <p:spPr>
          <a:xfrm>
            <a:off x="8517687" y="5123582"/>
            <a:ext cx="2735033" cy="1395532"/>
          </a:xfrm>
          <a:prstGeom prst="wedgeRectCallout">
            <a:avLst>
              <a:gd name="adj1" fmla="val -41859"/>
              <a:gd name="adj2" fmla="val -1024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smtClean="0">
                <a:solidFill>
                  <a:schemeClr val="tx1"/>
                </a:solidFill>
              </a:rPr>
              <a:t>流程的执行靠大家，我们会在后续推出流程运转机制，除了系统主动提醒以外，前期也会配合运营团队支持大家共同跑好新流程，用好新功能。</a:t>
            </a:r>
            <a:endParaRPr lang="zh-CN" altLang="en-US" sz="1400" dirty="0">
              <a:solidFill>
                <a:schemeClr val="tx1"/>
              </a:solidFill>
            </a:endParaRPr>
          </a:p>
        </p:txBody>
      </p:sp>
      <p:sp>
        <p:nvSpPr>
          <p:cNvPr id="34" name="矩形 33"/>
          <p:cNvSpPr/>
          <p:nvPr/>
        </p:nvSpPr>
        <p:spPr>
          <a:xfrm>
            <a:off x="573405" y="914399"/>
            <a:ext cx="592922" cy="316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p:cNvSpPr txBox="1"/>
          <p:nvPr/>
        </p:nvSpPr>
        <p:spPr>
          <a:xfrm>
            <a:off x="1166327" y="887816"/>
            <a:ext cx="1356462" cy="369332"/>
          </a:xfrm>
          <a:prstGeom prst="rect">
            <a:avLst/>
          </a:prstGeom>
          <a:noFill/>
        </p:spPr>
        <p:txBody>
          <a:bodyPr wrap="none" rtlCol="0">
            <a:spAutoFit/>
          </a:bodyPr>
          <a:lstStyle/>
          <a:p>
            <a:r>
              <a:rPr lang="zh-CN" altLang="en-US" dirty="0" smtClean="0"/>
              <a:t>项目组负责</a:t>
            </a:r>
            <a:endParaRPr lang="zh-CN" altLang="en-US" dirty="0"/>
          </a:p>
        </p:txBody>
      </p:sp>
      <p:sp>
        <p:nvSpPr>
          <p:cNvPr id="37" name="矩形 36"/>
          <p:cNvSpPr/>
          <p:nvPr/>
        </p:nvSpPr>
        <p:spPr>
          <a:xfrm>
            <a:off x="2819250" y="914399"/>
            <a:ext cx="592922" cy="31616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38" name="文本框 37"/>
          <p:cNvSpPr txBox="1"/>
          <p:nvPr/>
        </p:nvSpPr>
        <p:spPr>
          <a:xfrm>
            <a:off x="3516478" y="894211"/>
            <a:ext cx="2031325" cy="369332"/>
          </a:xfrm>
          <a:prstGeom prst="rect">
            <a:avLst/>
          </a:prstGeom>
          <a:noFill/>
        </p:spPr>
        <p:txBody>
          <a:bodyPr wrap="none" rtlCol="0">
            <a:spAutoFit/>
          </a:bodyPr>
          <a:lstStyle/>
          <a:p>
            <a:r>
              <a:rPr lang="zh-CN" altLang="en-US" dirty="0" smtClean="0"/>
              <a:t>需要大家配合执行</a:t>
            </a:r>
            <a:endParaRPr lang="zh-CN" altLang="en-US" dirty="0"/>
          </a:p>
        </p:txBody>
      </p:sp>
      <p:sp>
        <p:nvSpPr>
          <p:cNvPr id="39" name="右箭头 38"/>
          <p:cNvSpPr/>
          <p:nvPr/>
        </p:nvSpPr>
        <p:spPr>
          <a:xfrm>
            <a:off x="3672076"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528133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08134" y="3009799"/>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zh-CN" altLang="en-US" dirty="0" smtClean="0"/>
              <a:t>背景与意义</a:t>
            </a:r>
            <a:endParaRPr lang="en-US" altLang="zh-CN" dirty="0"/>
          </a:p>
          <a:p>
            <a:pPr marL="342900" indent="-342900">
              <a:lnSpc>
                <a:spcPct val="150000"/>
              </a:lnSpc>
              <a:buFont typeface="Arial" panose="020B0604020202090204" pitchFamily="34" charset="0"/>
              <a:buChar char="•"/>
              <a:defRPr/>
            </a:pPr>
            <a:r>
              <a:rPr lang="en-US" altLang="zh-CN" dirty="0" smtClean="0"/>
              <a:t>N</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en-US" altLang="zh-CN" dirty="0" smtClean="0"/>
              <a:t>3T</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zh-CN" altLang="en-US" dirty="0" smtClean="0"/>
              <a:t>答疑与互动</a:t>
            </a:r>
            <a:endParaRPr lang="zh-CN" altLang="en-US" dirty="0"/>
          </a:p>
        </p:txBody>
      </p:sp>
    </p:spTree>
    <p:extLst>
      <p:ext uri="{BB962C8B-B14F-4D97-AF65-F5344CB8AC3E}">
        <p14:creationId xmlns:p14="http://schemas.microsoft.com/office/powerpoint/2010/main" val="41885661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N</a:t>
            </a:r>
            <a:r>
              <a:rPr lang="zh-CN" altLang="en-US" dirty="0" smtClean="0"/>
              <a:t>的定义及关键节点</a:t>
            </a:r>
            <a:endParaRPr lang="zh-CN" altLang="en-US" dirty="0"/>
          </a:p>
        </p:txBody>
      </p:sp>
      <p:sp>
        <p:nvSpPr>
          <p:cNvPr id="45" name="矩形 44"/>
          <p:cNvSpPr/>
          <p:nvPr/>
        </p:nvSpPr>
        <p:spPr>
          <a:xfrm>
            <a:off x="331865" y="1019068"/>
            <a:ext cx="4645577" cy="5588389"/>
          </a:xfrm>
          <a:prstGeom prst="rect">
            <a:avLst/>
          </a:prstGeom>
        </p:spPr>
        <p:txBody>
          <a:bodyPr wrap="square">
            <a:spAutoFit/>
          </a:bodyPr>
          <a:lstStyle/>
          <a:p>
            <a:pPr>
              <a:lnSpc>
                <a:spcPct val="150000"/>
              </a:lnSpc>
            </a:pPr>
            <a:r>
              <a:rPr lang="zh-CN" altLang="en-US" sz="1600" dirty="0"/>
              <a:t>项目进漏斗内有四个条件，分别是</a:t>
            </a:r>
            <a:r>
              <a:rPr lang="en-US" altLang="zh-CN" sz="1600" dirty="0"/>
              <a:t>MANT</a:t>
            </a:r>
            <a:r>
              <a:rPr lang="zh-CN" altLang="en-US" sz="1600" dirty="0"/>
              <a:t>，其中</a:t>
            </a:r>
            <a:r>
              <a:rPr lang="zh-CN" altLang="en-US" sz="1600" b="1" dirty="0"/>
              <a:t>“</a:t>
            </a:r>
            <a:r>
              <a:rPr lang="en-US" altLang="zh-CN" sz="1600" b="1" dirty="0"/>
              <a:t>N“</a:t>
            </a:r>
            <a:r>
              <a:rPr lang="zh-CN" altLang="en-US" sz="1600" dirty="0"/>
              <a:t>明确意味着产品清单是明确的，当然从项目刚开始跟进时只能选定大概的产品系列到逐步明确产品型号和数量，这是一个</a:t>
            </a:r>
            <a:r>
              <a:rPr lang="zh-CN" altLang="en-US" sz="1600" b="1" dirty="0"/>
              <a:t>产品清单可信度</a:t>
            </a:r>
            <a:r>
              <a:rPr lang="zh-CN" altLang="en-US" sz="1600" dirty="0"/>
              <a:t>不断提升的过程。</a:t>
            </a:r>
          </a:p>
          <a:p>
            <a:pPr>
              <a:lnSpc>
                <a:spcPct val="150000"/>
              </a:lnSpc>
            </a:pPr>
            <a:r>
              <a:rPr lang="zh-CN" altLang="en-US" sz="1600" dirty="0"/>
              <a:t>基于及时供货、避免呆滞、战略产品拓展等纬度，希望每个项目的产品清单能够尽早做准</a:t>
            </a:r>
            <a:r>
              <a:rPr lang="zh-CN" altLang="en-US" sz="1600" dirty="0" smtClean="0"/>
              <a:t>。</a:t>
            </a:r>
            <a:endParaRPr lang="en-US" altLang="zh-CN" sz="1600" dirty="0" smtClean="0"/>
          </a:p>
          <a:p>
            <a:pPr>
              <a:lnSpc>
                <a:spcPct val="150000"/>
              </a:lnSpc>
            </a:pPr>
            <a:endParaRPr lang="zh-CN" altLang="en-US" sz="1600" dirty="0"/>
          </a:p>
          <a:p>
            <a:pPr>
              <a:lnSpc>
                <a:spcPct val="150000"/>
              </a:lnSpc>
            </a:pPr>
            <a:r>
              <a:rPr lang="zh-CN" altLang="en-US" sz="1600" dirty="0"/>
              <a:t>此次山东试点聚集于</a:t>
            </a:r>
            <a:r>
              <a:rPr lang="en-US" altLang="zh-CN" sz="1600" dirty="0"/>
              <a:t>2</a:t>
            </a:r>
            <a:r>
              <a:rPr lang="zh-CN" altLang="en-US" sz="1600" dirty="0"/>
              <a:t>个节点：</a:t>
            </a:r>
          </a:p>
          <a:p>
            <a:pPr>
              <a:lnSpc>
                <a:spcPct val="150000"/>
              </a:lnSpc>
            </a:pPr>
            <a:r>
              <a:rPr lang="zh-CN" altLang="en-US" sz="1600" b="1" dirty="0"/>
              <a:t>项目进漏斗内</a:t>
            </a:r>
            <a:r>
              <a:rPr lang="zh-CN" altLang="en-US" sz="1600" dirty="0"/>
              <a:t>：项目漏斗外转转内，或直接新建漏斗内项目时，需要明确</a:t>
            </a:r>
            <a:r>
              <a:rPr lang="zh-CN" altLang="en-US" sz="1600" b="1" dirty="0"/>
              <a:t>产品清单中的产品系列</a:t>
            </a:r>
            <a:r>
              <a:rPr lang="zh-CN" altLang="en-US" sz="1600" dirty="0"/>
              <a:t>，否则不允许转漏斗内；</a:t>
            </a:r>
          </a:p>
          <a:p>
            <a:pPr>
              <a:lnSpc>
                <a:spcPct val="150000"/>
              </a:lnSpc>
            </a:pPr>
            <a:r>
              <a:rPr lang="zh-CN" altLang="en-US" sz="1600" b="1" dirty="0" smtClean="0"/>
              <a:t>漏斗内项目</a:t>
            </a:r>
            <a:r>
              <a:rPr lang="zh-CN" altLang="en-US" sz="1600" b="1" dirty="0"/>
              <a:t>预测类别调整</a:t>
            </a:r>
            <a:r>
              <a:rPr lang="zh-CN" altLang="en-US" sz="1600" dirty="0"/>
              <a:t>：不同的预测类别，有最低的清单准确度要求，当预测类别发生变化时，清单可信度要及时提升。</a:t>
            </a:r>
          </a:p>
        </p:txBody>
      </p:sp>
      <p:sp>
        <p:nvSpPr>
          <p:cNvPr id="3" name="流程图: 合并 2"/>
          <p:cNvSpPr/>
          <p:nvPr/>
        </p:nvSpPr>
        <p:spPr>
          <a:xfrm>
            <a:off x="5205956" y="2412404"/>
            <a:ext cx="3200400" cy="3476445"/>
          </a:xfrm>
          <a:prstGeom prst="flowChartMerg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5231835" y="2401190"/>
            <a:ext cx="3183147"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任意多边形 4"/>
          <p:cNvSpPr/>
          <p:nvPr/>
        </p:nvSpPr>
        <p:spPr>
          <a:xfrm>
            <a:off x="5197329" y="2438283"/>
            <a:ext cx="3209027" cy="310574"/>
          </a:xfrm>
          <a:custGeom>
            <a:avLst/>
            <a:gdLst>
              <a:gd name="connsiteX0" fmla="*/ 0 w 3209027"/>
              <a:gd name="connsiteY0" fmla="*/ 0 h 310574"/>
              <a:gd name="connsiteX1" fmla="*/ 1682151 w 3209027"/>
              <a:gd name="connsiteY1" fmla="*/ 310551 h 310574"/>
              <a:gd name="connsiteX2" fmla="*/ 3209027 w 3209027"/>
              <a:gd name="connsiteY2" fmla="*/ 17253 h 310574"/>
            </a:gdLst>
            <a:ahLst/>
            <a:cxnLst>
              <a:cxn ang="0">
                <a:pos x="connsiteX0" y="connsiteY0"/>
              </a:cxn>
              <a:cxn ang="0">
                <a:pos x="connsiteX1" y="connsiteY1"/>
              </a:cxn>
              <a:cxn ang="0">
                <a:pos x="connsiteX2" y="connsiteY2"/>
              </a:cxn>
            </a:cxnLst>
            <a:rect l="l" t="t" r="r" b="b"/>
            <a:pathLst>
              <a:path w="3209027" h="310574">
                <a:moveTo>
                  <a:pt x="0" y="0"/>
                </a:moveTo>
                <a:cubicBezTo>
                  <a:pt x="573656" y="153838"/>
                  <a:pt x="1147313" y="307676"/>
                  <a:pt x="1682151" y="310551"/>
                </a:cubicBezTo>
                <a:cubicBezTo>
                  <a:pt x="2216989" y="313426"/>
                  <a:pt x="2859657" y="51759"/>
                  <a:pt x="3209027" y="17253"/>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曲线连接符 6"/>
          <p:cNvCxnSpPr/>
          <p:nvPr/>
        </p:nvCxnSpPr>
        <p:spPr>
          <a:xfrm rot="10800000" flipV="1">
            <a:off x="7324535" y="2077740"/>
            <a:ext cx="1116326" cy="411712"/>
          </a:xfrm>
          <a:prstGeom prst="curvedConnector3">
            <a:avLst>
              <a:gd name="adj1" fmla="val 88448"/>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9" name="菱形 58"/>
          <p:cNvSpPr/>
          <p:nvPr/>
        </p:nvSpPr>
        <p:spPr>
          <a:xfrm>
            <a:off x="6050233" y="2133268"/>
            <a:ext cx="1497706" cy="1084324"/>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tx1"/>
                </a:solidFill>
              </a:rPr>
              <a:t>进漏斗商机</a:t>
            </a:r>
            <a:endParaRPr lang="zh-CN" altLang="en-US" sz="1400" dirty="0">
              <a:solidFill>
                <a:schemeClr val="tx1"/>
              </a:solidFill>
            </a:endParaRPr>
          </a:p>
        </p:txBody>
      </p:sp>
      <p:sp>
        <p:nvSpPr>
          <p:cNvPr id="65" name="右箭头 64"/>
          <p:cNvSpPr/>
          <p:nvPr/>
        </p:nvSpPr>
        <p:spPr>
          <a:xfrm>
            <a:off x="7547939" y="4076257"/>
            <a:ext cx="858417" cy="4851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6296228" y="3850409"/>
            <a:ext cx="1054359" cy="936886"/>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漏斗内项目发生变化</a:t>
            </a:r>
          </a:p>
        </p:txBody>
      </p:sp>
      <p:sp>
        <p:nvSpPr>
          <p:cNvPr id="67" name="圆角矩形 66"/>
          <p:cNvSpPr/>
          <p:nvPr/>
        </p:nvSpPr>
        <p:spPr>
          <a:xfrm>
            <a:off x="8570257" y="3867002"/>
            <a:ext cx="2907874"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配置清单准确度是否达标</a:t>
            </a:r>
            <a:r>
              <a:rPr lang="en-US" altLang="zh-CN" dirty="0">
                <a:solidFill>
                  <a:schemeClr val="tx1"/>
                </a:solidFill>
              </a:rPr>
              <a:t>?</a:t>
            </a:r>
            <a:endParaRPr lang="zh-CN" altLang="en-US" dirty="0">
              <a:solidFill>
                <a:schemeClr val="tx1"/>
              </a:solidFill>
            </a:endParaRPr>
          </a:p>
        </p:txBody>
      </p:sp>
      <p:sp>
        <p:nvSpPr>
          <p:cNvPr id="78" name="圆角矩形 77"/>
          <p:cNvSpPr/>
          <p:nvPr/>
        </p:nvSpPr>
        <p:spPr>
          <a:xfrm>
            <a:off x="8570257" y="1618193"/>
            <a:ext cx="2907874"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产品系列是否</a:t>
            </a:r>
            <a:r>
              <a:rPr lang="zh-CN" altLang="en-US" dirty="0" smtClean="0">
                <a:solidFill>
                  <a:schemeClr val="tx1"/>
                </a:solidFill>
              </a:rPr>
              <a:t>明确</a:t>
            </a:r>
            <a:r>
              <a:rPr lang="en-US" altLang="zh-CN" dirty="0" smtClean="0">
                <a:solidFill>
                  <a:schemeClr val="tx1"/>
                </a:solidFill>
              </a:rPr>
              <a:t>?</a:t>
            </a:r>
            <a:endParaRPr lang="zh-CN" altLang="en-US" dirty="0">
              <a:solidFill>
                <a:schemeClr val="tx1"/>
              </a:solidFill>
            </a:endParaRPr>
          </a:p>
        </p:txBody>
      </p:sp>
      <p:sp>
        <p:nvSpPr>
          <p:cNvPr id="69" name="矩形 68"/>
          <p:cNvSpPr/>
          <p:nvPr/>
        </p:nvSpPr>
        <p:spPr>
          <a:xfrm>
            <a:off x="4951869" y="917568"/>
            <a:ext cx="6795372"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可信度自评</a:t>
            </a:r>
            <a:r>
              <a:rPr lang="zh-CN" altLang="en-US" dirty="0" smtClean="0"/>
              <a:t>打分</a:t>
            </a:r>
            <a:r>
              <a:rPr lang="zh-CN" altLang="en-US" dirty="0"/>
              <a:t>标准</a:t>
            </a:r>
          </a:p>
        </p:txBody>
      </p:sp>
      <p:graphicFrame>
        <p:nvGraphicFramePr>
          <p:cNvPr id="6" name="表格 5"/>
          <p:cNvGraphicFramePr>
            <a:graphicFrameLocks noGrp="1"/>
          </p:cNvGraphicFramePr>
          <p:nvPr>
            <p:extLst>
              <p:ext uri="{D42A27DB-BD31-4B8C-83A1-F6EECF244321}">
                <p14:modId xmlns:p14="http://schemas.microsoft.com/office/powerpoint/2010/main" val="2118716608"/>
              </p:ext>
            </p:extLst>
          </p:nvPr>
        </p:nvGraphicFramePr>
        <p:xfrm>
          <a:off x="573405" y="898823"/>
          <a:ext cx="11234055" cy="5660877"/>
        </p:xfrm>
        <a:graphic>
          <a:graphicData uri="http://schemas.openxmlformats.org/drawingml/2006/table">
            <a:tbl>
              <a:tblPr/>
              <a:tblGrid>
                <a:gridCol w="858156"/>
                <a:gridCol w="797479"/>
                <a:gridCol w="840820"/>
                <a:gridCol w="693459"/>
                <a:gridCol w="3243971"/>
                <a:gridCol w="774441"/>
                <a:gridCol w="914400"/>
                <a:gridCol w="3111329"/>
              </a:tblGrid>
              <a:tr h="464055">
                <a:tc>
                  <a:txBody>
                    <a:bodyPr/>
                    <a:lstStyle/>
                    <a:p>
                      <a:pPr algn="ctr" fontAlgn="ctr" latinLnBrk="0"/>
                      <a:r>
                        <a:rPr lang="zh-CN" altLang="en-US" sz="1400" b="1" i="0" dirty="0">
                          <a:solidFill>
                            <a:srgbClr val="000000"/>
                          </a:solidFill>
                          <a:effectLst/>
                        </a:rPr>
                        <a:t>打分类别 </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dirty="0">
                          <a:solidFill>
                            <a:srgbClr val="000000"/>
                          </a:solidFill>
                          <a:effectLst/>
                        </a:rPr>
                        <a:t>序号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dirty="0">
                          <a:solidFill>
                            <a:srgbClr val="000000"/>
                          </a:solidFill>
                          <a:effectLst/>
                        </a:rPr>
                        <a:t>打分项</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dirty="0">
                          <a:solidFill>
                            <a:srgbClr val="000000"/>
                          </a:solidFill>
                          <a:effectLst/>
                        </a:rPr>
                        <a:t>自评打分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dirty="0">
                          <a:solidFill>
                            <a:srgbClr val="000000"/>
                          </a:solidFill>
                          <a:effectLst/>
                        </a:rPr>
                        <a:t>自评打分依据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a:solidFill>
                            <a:srgbClr val="000000"/>
                          </a:solidFill>
                          <a:effectLst/>
                        </a:rPr>
                        <a:t>权重</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a:solidFill>
                            <a:srgbClr val="000000"/>
                          </a:solidFill>
                          <a:effectLst/>
                        </a:rPr>
                        <a:t>打分结果</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400" b="1" i="0" dirty="0">
                          <a:solidFill>
                            <a:srgbClr val="000000"/>
                          </a:solidFill>
                          <a:effectLst/>
                        </a:rPr>
                        <a:t>核查依据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1279760">
                <a:tc>
                  <a:txBody>
                    <a:bodyPr/>
                    <a:lstStyle/>
                    <a:p>
                      <a:pPr algn="ctr" fontAlgn="ctr" latinLnBrk="0"/>
                      <a:r>
                        <a:rPr lang="zh-CN" altLang="en-US" sz="1400" b="0" i="0" dirty="0">
                          <a:solidFill>
                            <a:srgbClr val="000000"/>
                          </a:solidFill>
                          <a:effectLst/>
                        </a:rPr>
                        <a:t>项目预算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400" b="0" i="0" dirty="0">
                          <a:solidFill>
                            <a:srgbClr val="000000"/>
                          </a:solidFill>
                          <a:effectLst/>
                        </a:rPr>
                        <a:t>1</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400" b="1" i="0">
                          <a:solidFill>
                            <a:srgbClr val="000000"/>
                          </a:solidFill>
                          <a:effectLst/>
                        </a:rPr>
                        <a:t>预算金额</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400" b="0" i="0" dirty="0">
                          <a:solidFill>
                            <a:srgbClr val="000000"/>
                          </a:solidFill>
                          <a:effectLst/>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400" b="0" i="0" dirty="0">
                          <a:solidFill>
                            <a:srgbClr val="000000"/>
                          </a:solidFill>
                          <a:effectLst/>
                        </a:rPr>
                        <a:t>5</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我司相关预算，采购规则、历史采购价格及竞手价格策略确认。</a:t>
                      </a:r>
                      <a:br>
                        <a:rPr lang="zh-CN" altLang="en-US" sz="1400" b="0" i="0" dirty="0">
                          <a:solidFill>
                            <a:srgbClr val="000000"/>
                          </a:solidFill>
                          <a:effectLst/>
                        </a:rPr>
                      </a:br>
                      <a:r>
                        <a:rPr lang="en-US" altLang="zh-CN" sz="1400" b="0" i="0" dirty="0">
                          <a:solidFill>
                            <a:srgbClr val="000000"/>
                          </a:solidFill>
                          <a:effectLst/>
                        </a:rPr>
                        <a:t>4</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我司相关预算明确。</a:t>
                      </a:r>
                      <a:br>
                        <a:rPr lang="zh-CN" altLang="en-US" sz="1400" b="0" i="0" dirty="0">
                          <a:solidFill>
                            <a:srgbClr val="000000"/>
                          </a:solidFill>
                          <a:effectLst/>
                        </a:rPr>
                      </a:br>
                      <a:r>
                        <a:rPr lang="en-US" altLang="zh-CN" sz="1400" b="0" i="0" dirty="0">
                          <a:solidFill>
                            <a:srgbClr val="000000"/>
                          </a:solidFill>
                          <a:effectLst/>
                        </a:rPr>
                        <a:t>3</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项目整体预算确认，我司相关预算可估算。</a:t>
                      </a:r>
                      <a:br>
                        <a:rPr lang="zh-CN" altLang="en-US" sz="1400" b="0" i="0" dirty="0">
                          <a:solidFill>
                            <a:srgbClr val="000000"/>
                          </a:solidFill>
                          <a:effectLst/>
                        </a:rPr>
                      </a:br>
                      <a:r>
                        <a:rPr lang="en-US" altLang="zh-CN" sz="1400" b="0" i="0" dirty="0">
                          <a:solidFill>
                            <a:srgbClr val="000000"/>
                          </a:solidFill>
                          <a:effectLst/>
                        </a:rPr>
                        <a:t>0</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dirty="0">
                          <a:solidFill>
                            <a:srgbClr val="000000"/>
                          </a:solidFill>
                          <a:effectLst/>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dirty="0">
                          <a:solidFill>
                            <a:srgbClr val="000000"/>
                          </a:solidFill>
                          <a:effectLst/>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400" b="0" i="0" dirty="0">
                          <a:solidFill>
                            <a:srgbClr val="000000"/>
                          </a:solidFill>
                          <a:effectLst/>
                        </a:rPr>
                        <a:t>以销售判断为准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1680742">
                <a:tc rowSpan="2">
                  <a:txBody>
                    <a:bodyPr/>
                    <a:lstStyle/>
                    <a:p>
                      <a:pPr algn="ctr" fontAlgn="ctr" latinLnBrk="0"/>
                      <a:r>
                        <a:rPr lang="zh-CN" altLang="en-US" sz="1400" b="0" i="0" dirty="0">
                          <a:solidFill>
                            <a:srgbClr val="000000"/>
                          </a:solidFill>
                          <a:effectLst/>
                        </a:rPr>
                        <a:t>技术路线</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400" b="0" i="0">
                          <a:solidFill>
                            <a:srgbClr val="000000"/>
                          </a:solidFill>
                          <a:effectLst/>
                        </a:rPr>
                        <a:t>2</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400" b="1" i="0" dirty="0">
                          <a:solidFill>
                            <a:srgbClr val="000000"/>
                          </a:solidFill>
                          <a:effectLst/>
                        </a:rPr>
                        <a:t>产品系列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400" b="0" i="0" dirty="0">
                          <a:solidFill>
                            <a:srgbClr val="000000"/>
                          </a:solidFill>
                          <a:effectLst/>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400" b="0" i="0" dirty="0">
                          <a:solidFill>
                            <a:srgbClr val="000000"/>
                          </a:solidFill>
                          <a:effectLst/>
                        </a:rPr>
                        <a:t>5</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所有产品系列均可以确定；</a:t>
                      </a:r>
                      <a:br>
                        <a:rPr lang="zh-CN" altLang="en-US" sz="1400" b="0" i="0" dirty="0">
                          <a:solidFill>
                            <a:srgbClr val="000000"/>
                          </a:solidFill>
                          <a:effectLst/>
                        </a:rPr>
                      </a:br>
                      <a:r>
                        <a:rPr lang="en-US" altLang="zh-CN" sz="1400" b="0" i="0" dirty="0">
                          <a:solidFill>
                            <a:srgbClr val="000000"/>
                          </a:solidFill>
                          <a:effectLst/>
                        </a:rPr>
                        <a:t>4</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产品系列</a:t>
                      </a:r>
                      <a:r>
                        <a:rPr lang="en-US" altLang="zh-CN" sz="1400" b="0" i="0" dirty="0">
                          <a:solidFill>
                            <a:srgbClr val="000000"/>
                          </a:solidFill>
                          <a:effectLst/>
                        </a:rPr>
                        <a:t>80%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3</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产品系列</a:t>
                      </a:r>
                      <a:r>
                        <a:rPr lang="en-US" altLang="zh-CN" sz="1400" b="0" i="0" dirty="0">
                          <a:solidFill>
                            <a:srgbClr val="000000"/>
                          </a:solidFill>
                          <a:effectLst/>
                        </a:rPr>
                        <a:t>50%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0</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ctr" fontAlgn="ctr" latinLnBrk="0"/>
                      <a:r>
                        <a:rPr lang="en-US" altLang="zh-CN" sz="1400" b="0" i="0">
                          <a:solidFill>
                            <a:srgbClr val="000000"/>
                          </a:solidFill>
                          <a:effectLst/>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a:solidFill>
                            <a:srgbClr val="000000"/>
                          </a:solidFill>
                          <a:effectLst/>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400" b="0" i="0" dirty="0">
                          <a:solidFill>
                            <a:srgbClr val="000000"/>
                          </a:solidFill>
                          <a:effectLst/>
                        </a:rPr>
                        <a:t>5</a:t>
                      </a:r>
                      <a:r>
                        <a:rPr lang="zh-CN" altLang="en-US" sz="1400" b="0" i="0" dirty="0">
                          <a:solidFill>
                            <a:srgbClr val="000000"/>
                          </a:solidFill>
                          <a:effectLst/>
                        </a:rPr>
                        <a:t>分：技术路线已写进招标文件。</a:t>
                      </a:r>
                      <a:br>
                        <a:rPr lang="zh-CN" altLang="en-US" sz="1400" b="0" i="0" dirty="0">
                          <a:solidFill>
                            <a:srgbClr val="000000"/>
                          </a:solidFill>
                          <a:effectLst/>
                        </a:rPr>
                      </a:br>
                      <a:r>
                        <a:rPr lang="en-US" altLang="zh-CN" sz="1400" b="0" i="0" dirty="0">
                          <a:solidFill>
                            <a:srgbClr val="000000"/>
                          </a:solidFill>
                          <a:effectLst/>
                        </a:rPr>
                        <a:t>4</a:t>
                      </a:r>
                      <a:r>
                        <a:rPr lang="zh-CN" altLang="en-US" sz="1400" b="0" i="0" dirty="0">
                          <a:solidFill>
                            <a:srgbClr val="000000"/>
                          </a:solidFill>
                          <a:effectLst/>
                        </a:rPr>
                        <a:t>分：决策者已经确定技术路线。</a:t>
                      </a:r>
                      <a:br>
                        <a:rPr lang="zh-CN" altLang="en-US" sz="1400" b="0" i="0" dirty="0">
                          <a:solidFill>
                            <a:srgbClr val="000000"/>
                          </a:solidFill>
                          <a:effectLst/>
                        </a:rPr>
                      </a:br>
                      <a:r>
                        <a:rPr lang="en-US" altLang="zh-CN" sz="1400" b="0" i="0" dirty="0">
                          <a:solidFill>
                            <a:srgbClr val="000000"/>
                          </a:solidFill>
                          <a:effectLst/>
                        </a:rPr>
                        <a:t>3</a:t>
                      </a:r>
                      <a:r>
                        <a:rPr lang="zh-CN" altLang="en-US" sz="1400" b="0" i="0" dirty="0">
                          <a:solidFill>
                            <a:srgbClr val="000000"/>
                          </a:solidFill>
                          <a:effectLst/>
                        </a:rPr>
                        <a:t>分：我司主推技术路线已经明确</a:t>
                      </a:r>
                      <a:r>
                        <a:rPr lang="zh-CN" altLang="en-US" sz="1400" b="0" i="0" dirty="0" smtClean="0">
                          <a:solidFill>
                            <a:srgbClr val="000000"/>
                          </a:solidFill>
                          <a:effectLst/>
                        </a:rPr>
                        <a:t>。</a:t>
                      </a:r>
                      <a:r>
                        <a:rPr lang="zh-CN" altLang="en-US" sz="1400" b="0" i="0" dirty="0">
                          <a:solidFill>
                            <a:srgbClr val="000000"/>
                          </a:solidFill>
                          <a:effectLst/>
                        </a:rPr>
                        <a:t/>
                      </a:r>
                      <a:br>
                        <a:rPr lang="zh-CN" altLang="en-US" sz="1400" b="0" i="0" dirty="0">
                          <a:solidFill>
                            <a:srgbClr val="000000"/>
                          </a:solidFill>
                          <a:effectLst/>
                        </a:rPr>
                      </a:br>
                      <a:r>
                        <a:rPr lang="zh-CN" altLang="en-US" sz="1400" b="0" i="0" dirty="0">
                          <a:solidFill>
                            <a:srgbClr val="000000"/>
                          </a:solidFill>
                          <a:effectLst/>
                        </a:rPr>
                        <a:t>产品系列的定义：同一产品线中功能相同、性能相近的为同一系列。</a:t>
                      </a:r>
                      <a:br>
                        <a:rPr lang="zh-CN" altLang="en-US" sz="1400" b="0" i="0" dirty="0">
                          <a:solidFill>
                            <a:srgbClr val="000000"/>
                          </a:solidFill>
                          <a:effectLst/>
                        </a:rPr>
                      </a:br>
                      <a:r>
                        <a:rPr lang="zh-CN" altLang="en-US" sz="1400" b="0" i="0" dirty="0">
                          <a:solidFill>
                            <a:srgbClr val="000000"/>
                          </a:solidFill>
                          <a:effectLst/>
                        </a:rPr>
                        <a:t>如交换机中：</a:t>
                      </a:r>
                      <a:r>
                        <a:rPr lang="en-US" altLang="zh-CN" sz="1400" b="0" i="0" dirty="0">
                          <a:solidFill>
                            <a:srgbClr val="000000"/>
                          </a:solidFill>
                          <a:effectLst/>
                        </a:rPr>
                        <a:t>18E</a:t>
                      </a:r>
                      <a:r>
                        <a:rPr lang="zh-CN" altLang="en-US" sz="1400" b="0" i="0" dirty="0">
                          <a:solidFill>
                            <a:srgbClr val="000000"/>
                          </a:solidFill>
                          <a:effectLst/>
                        </a:rPr>
                        <a:t>系列（大二层认证框式交换机）、</a:t>
                      </a:r>
                      <a:r>
                        <a:rPr lang="en-US" altLang="zh-CN" sz="1400" b="0" i="0" dirty="0">
                          <a:solidFill>
                            <a:srgbClr val="000000"/>
                          </a:solidFill>
                          <a:effectLst/>
                        </a:rPr>
                        <a:t>78C</a:t>
                      </a:r>
                      <a:r>
                        <a:rPr lang="zh-CN" altLang="en-US" sz="1400" b="0" i="0" dirty="0">
                          <a:solidFill>
                            <a:srgbClr val="000000"/>
                          </a:solidFill>
                          <a:effectLst/>
                        </a:rPr>
                        <a:t>系列（框式交换机）。</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871907">
                <a:tc vMerge="1">
                  <a:txBody>
                    <a:bodyPr/>
                    <a:lstStyle/>
                    <a:p>
                      <a:endParaRPr lang="zh-CN" altLang="en-US"/>
                    </a:p>
                  </a:txBody>
                  <a:tcPr/>
                </a:tc>
                <a:tc>
                  <a:txBody>
                    <a:bodyPr/>
                    <a:lstStyle/>
                    <a:p>
                      <a:pPr algn="ctr" fontAlgn="ctr" latinLnBrk="0"/>
                      <a:r>
                        <a:rPr lang="en-US" altLang="zh-CN" sz="1400" b="0" i="0">
                          <a:solidFill>
                            <a:srgbClr val="000000"/>
                          </a:solidFill>
                          <a:effectLst/>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产品型号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endParaRPr lang="zh-CN" altLang="en-US" sz="1400" b="0" i="0">
                        <a:solidFill>
                          <a:srgbClr val="000000"/>
                        </a:solidFill>
                        <a:effectLst/>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400" b="0" i="0" dirty="0">
                          <a:solidFill>
                            <a:srgbClr val="000000"/>
                          </a:solidFill>
                          <a:effectLst/>
                        </a:rPr>
                        <a:t>5</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所有产品型号均可以确定；</a:t>
                      </a:r>
                      <a:br>
                        <a:rPr lang="zh-CN" altLang="en-US" sz="1400" b="0" i="0" dirty="0">
                          <a:solidFill>
                            <a:srgbClr val="000000"/>
                          </a:solidFill>
                          <a:effectLst/>
                        </a:rPr>
                      </a:br>
                      <a:r>
                        <a:rPr lang="en-US" altLang="zh-CN" sz="1400" b="0" i="0" dirty="0">
                          <a:solidFill>
                            <a:srgbClr val="000000"/>
                          </a:solidFill>
                          <a:effectLst/>
                        </a:rPr>
                        <a:t>4</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产品型号</a:t>
                      </a:r>
                      <a:r>
                        <a:rPr lang="en-US" altLang="zh-CN" sz="1400" b="0" i="0" dirty="0">
                          <a:solidFill>
                            <a:srgbClr val="000000"/>
                          </a:solidFill>
                          <a:effectLst/>
                        </a:rPr>
                        <a:t>80%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3</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产品型号</a:t>
                      </a:r>
                      <a:r>
                        <a:rPr lang="en-US" altLang="zh-CN" sz="1400" b="0" i="0" dirty="0">
                          <a:solidFill>
                            <a:srgbClr val="000000"/>
                          </a:solidFill>
                          <a:effectLst/>
                        </a:rPr>
                        <a:t>50%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0</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a:solidFill>
                            <a:srgbClr val="000000"/>
                          </a:solidFill>
                          <a:effectLst/>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a:solidFill>
                            <a:srgbClr val="000000"/>
                          </a:solidFill>
                          <a:effectLst/>
                        </a:rPr>
                        <a:t>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400" b="0" i="0">
                          <a:solidFill>
                            <a:srgbClr val="000000"/>
                          </a:solidFill>
                          <a:effectLst/>
                        </a:rPr>
                        <a:t>5</a:t>
                      </a:r>
                      <a:r>
                        <a:rPr lang="zh-CN" altLang="en-US" sz="1400" b="0" i="0">
                          <a:solidFill>
                            <a:srgbClr val="000000"/>
                          </a:solidFill>
                          <a:effectLst/>
                        </a:rPr>
                        <a:t>分：产品技术参数已写进招标文件。</a:t>
                      </a:r>
                      <a:br>
                        <a:rPr lang="zh-CN" altLang="en-US" sz="1400" b="0" i="0">
                          <a:solidFill>
                            <a:srgbClr val="000000"/>
                          </a:solidFill>
                          <a:effectLst/>
                        </a:rPr>
                      </a:br>
                      <a:r>
                        <a:rPr lang="en-US" altLang="zh-CN" sz="1400" b="0" i="0">
                          <a:solidFill>
                            <a:srgbClr val="000000"/>
                          </a:solidFill>
                          <a:effectLst/>
                        </a:rPr>
                        <a:t>4</a:t>
                      </a:r>
                      <a:r>
                        <a:rPr lang="zh-CN" altLang="en-US" sz="1400" b="0" i="0">
                          <a:solidFill>
                            <a:srgbClr val="000000"/>
                          </a:solidFill>
                          <a:effectLst/>
                        </a:rPr>
                        <a:t>分：评估者已经确定产品技术要求。</a:t>
                      </a:r>
                      <a:br>
                        <a:rPr lang="zh-CN" altLang="en-US" sz="1400" b="0" i="0">
                          <a:solidFill>
                            <a:srgbClr val="000000"/>
                          </a:solidFill>
                          <a:effectLst/>
                        </a:rPr>
                      </a:br>
                      <a:r>
                        <a:rPr lang="en-US" altLang="zh-CN" sz="1400" b="0" i="0">
                          <a:solidFill>
                            <a:srgbClr val="000000"/>
                          </a:solidFill>
                          <a:effectLst/>
                        </a:rPr>
                        <a:t>3</a:t>
                      </a:r>
                      <a:r>
                        <a:rPr lang="zh-CN" altLang="en-US" sz="1400" b="0" i="0">
                          <a:solidFill>
                            <a:srgbClr val="000000"/>
                          </a:solidFill>
                          <a:effectLst/>
                        </a:rPr>
                        <a:t>分：我司主推产品型号已经明确。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871907">
                <a:tc>
                  <a:txBody>
                    <a:bodyPr/>
                    <a:lstStyle/>
                    <a:p>
                      <a:pPr algn="ctr" fontAlgn="ctr" latinLnBrk="0"/>
                      <a:r>
                        <a:rPr lang="zh-CN" altLang="en-US" sz="1400" b="0" i="0">
                          <a:solidFill>
                            <a:srgbClr val="000000"/>
                          </a:solidFill>
                          <a:effectLst/>
                        </a:rPr>
                        <a:t>性能容量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400" b="0" i="0">
                          <a:effectLst/>
                        </a:rPr>
                        <a:t>4</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endParaRPr lang="zh-CN" altLang="en-US" sz="1400" b="0" i="0">
                        <a:solidFill>
                          <a:srgbClr val="000000"/>
                        </a:solidFill>
                        <a:effectLst/>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5</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所有产品数量均确定；</a:t>
                      </a:r>
                      <a:br>
                        <a:rPr lang="zh-CN" altLang="en-US" sz="1400" b="0" i="0" dirty="0">
                          <a:solidFill>
                            <a:srgbClr val="000000"/>
                          </a:solidFill>
                          <a:effectLst/>
                        </a:rPr>
                      </a:br>
                      <a:r>
                        <a:rPr lang="en-US" altLang="zh-CN" sz="1400" b="0" i="0" dirty="0">
                          <a:solidFill>
                            <a:srgbClr val="000000"/>
                          </a:solidFill>
                          <a:effectLst/>
                        </a:rPr>
                        <a:t>4</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产品数量</a:t>
                      </a:r>
                      <a:r>
                        <a:rPr lang="en-US" altLang="zh-CN" sz="1400" b="0" i="0" dirty="0">
                          <a:solidFill>
                            <a:srgbClr val="000000"/>
                          </a:solidFill>
                          <a:effectLst/>
                        </a:rPr>
                        <a:t>80%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3</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产品数量</a:t>
                      </a:r>
                      <a:r>
                        <a:rPr lang="en-US" altLang="zh-CN" sz="1400" b="0" i="0" dirty="0">
                          <a:solidFill>
                            <a:srgbClr val="000000"/>
                          </a:solidFill>
                          <a:effectLst/>
                        </a:rPr>
                        <a:t>50%</a:t>
                      </a:r>
                      <a:r>
                        <a:rPr lang="zh-CN" altLang="en-US" sz="1400" b="0" i="0" dirty="0">
                          <a:solidFill>
                            <a:srgbClr val="000000"/>
                          </a:solidFill>
                          <a:effectLst/>
                        </a:rPr>
                        <a:t>以上可以确定；</a:t>
                      </a:r>
                      <a:br>
                        <a:rPr lang="zh-CN" altLang="en-US" sz="1400" b="0" i="0" dirty="0">
                          <a:solidFill>
                            <a:srgbClr val="000000"/>
                          </a:solidFill>
                          <a:effectLst/>
                        </a:rPr>
                      </a:br>
                      <a:r>
                        <a:rPr lang="en-US" altLang="zh-CN" sz="1400" b="0" i="0" dirty="0">
                          <a:solidFill>
                            <a:srgbClr val="000000"/>
                          </a:solidFill>
                          <a:effectLst/>
                        </a:rPr>
                        <a:t>0</a:t>
                      </a:r>
                      <a:r>
                        <a:rPr lang="zh-CN" altLang="en-US" sz="1400" b="0" i="0" dirty="0">
                          <a:solidFill>
                            <a:srgbClr val="000000"/>
                          </a:solidFill>
                          <a:effectLst/>
                        </a:rPr>
                        <a:t>分</a:t>
                      </a:r>
                      <a:r>
                        <a:rPr lang="en-US" altLang="zh-CN" sz="1400" b="0" i="0" dirty="0">
                          <a:solidFill>
                            <a:srgbClr val="000000"/>
                          </a:solidFill>
                          <a:effectLst/>
                        </a:rPr>
                        <a:t>--</a:t>
                      </a:r>
                      <a:r>
                        <a:rPr lang="zh-CN" altLang="en-US" sz="1400" b="0" i="0" dirty="0">
                          <a:solidFill>
                            <a:srgbClr val="000000"/>
                          </a:solidFill>
                          <a:effectLst/>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dirty="0">
                          <a:solidFill>
                            <a:srgbClr val="000000"/>
                          </a:solidFill>
                          <a:effectLst/>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400" b="0" i="0">
                          <a:solidFill>
                            <a:srgbClr val="000000"/>
                          </a:solidFill>
                          <a:effectLst/>
                        </a:rPr>
                        <a:t>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400" b="0" i="0">
                          <a:solidFill>
                            <a:srgbClr val="000000"/>
                          </a:solidFill>
                          <a:effectLst/>
                        </a:rPr>
                        <a:t>5</a:t>
                      </a:r>
                      <a:r>
                        <a:rPr lang="zh-CN" altLang="en-US" sz="1400" b="0" i="0">
                          <a:solidFill>
                            <a:srgbClr val="000000"/>
                          </a:solidFill>
                          <a:effectLst/>
                        </a:rPr>
                        <a:t>分：产品数量已写进招标文件。</a:t>
                      </a:r>
                      <a:br>
                        <a:rPr lang="zh-CN" altLang="en-US" sz="1400" b="0" i="0">
                          <a:solidFill>
                            <a:srgbClr val="000000"/>
                          </a:solidFill>
                          <a:effectLst/>
                        </a:rPr>
                      </a:br>
                      <a:r>
                        <a:rPr lang="en-US" altLang="zh-CN" sz="1400" b="0" i="0">
                          <a:solidFill>
                            <a:srgbClr val="000000"/>
                          </a:solidFill>
                          <a:effectLst/>
                        </a:rPr>
                        <a:t>4</a:t>
                      </a:r>
                      <a:r>
                        <a:rPr lang="zh-CN" altLang="en-US" sz="1400" b="0" i="0">
                          <a:solidFill>
                            <a:srgbClr val="000000"/>
                          </a:solidFill>
                          <a:effectLst/>
                        </a:rPr>
                        <a:t>分：评估者已经确定产品数量。</a:t>
                      </a:r>
                      <a:br>
                        <a:rPr lang="zh-CN" altLang="en-US" sz="1400" b="0" i="0">
                          <a:solidFill>
                            <a:srgbClr val="000000"/>
                          </a:solidFill>
                          <a:effectLst/>
                        </a:rPr>
                      </a:br>
                      <a:r>
                        <a:rPr lang="en-US" altLang="zh-CN" sz="1400" b="0" i="0">
                          <a:solidFill>
                            <a:srgbClr val="000000"/>
                          </a:solidFill>
                          <a:effectLst/>
                        </a:rPr>
                        <a:t>3</a:t>
                      </a:r>
                      <a:r>
                        <a:rPr lang="zh-CN" altLang="en-US" sz="1400" b="0" i="0">
                          <a:solidFill>
                            <a:srgbClr val="000000"/>
                          </a:solidFill>
                          <a:effectLst/>
                        </a:rPr>
                        <a:t>分：我司已经评估出产品数量。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31167">
                <a:tc gridSpan="6">
                  <a:txBody>
                    <a:bodyPr/>
                    <a:lstStyle/>
                    <a:p>
                      <a:pPr algn="ctr" fontAlgn="ctr" latinLnBrk="0"/>
                      <a:r>
                        <a:rPr lang="zh-CN" altLang="en-US" sz="1400" b="0" i="0" dirty="0">
                          <a:solidFill>
                            <a:srgbClr val="000000"/>
                          </a:solidFill>
                          <a:effectLst/>
                        </a:rPr>
                        <a:t>自评可信度合计得分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E780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altLang="zh-CN" sz="1400" b="0" i="0" dirty="0">
                          <a:solidFill>
                            <a:srgbClr val="000000"/>
                          </a:solidFill>
                          <a:effectLst/>
                        </a:rPr>
                        <a:t>24.00%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endParaRPr lang="zh-CN" altLang="en-US" sz="1400" b="0" i="0" dirty="0">
                        <a:solidFill>
                          <a:srgbClr val="000000"/>
                        </a:solidFill>
                        <a:effectLst/>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87910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配置清单可信度要求</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19692235"/>
              </p:ext>
            </p:extLst>
          </p:nvPr>
        </p:nvGraphicFramePr>
        <p:xfrm>
          <a:off x="2733868" y="3163076"/>
          <a:ext cx="9032033" cy="3508312"/>
        </p:xfrm>
        <a:graphic>
          <a:graphicData uri="http://schemas.openxmlformats.org/drawingml/2006/table">
            <a:tbl>
              <a:tblPr/>
              <a:tblGrid>
                <a:gridCol w="1443645"/>
                <a:gridCol w="2899628"/>
                <a:gridCol w="2344380"/>
                <a:gridCol w="2344380"/>
              </a:tblGrid>
              <a:tr h="657808">
                <a:tc gridSpan="4">
                  <a:txBody>
                    <a:bodyPr/>
                    <a:lstStyle/>
                    <a:p>
                      <a:pPr algn="ctr" fontAlgn="ctr" latinLnBrk="0"/>
                      <a:r>
                        <a:rPr lang="zh-CN" altLang="en-US" sz="1200" b="0" i="0" dirty="0">
                          <a:solidFill>
                            <a:srgbClr val="000000"/>
                          </a:solidFill>
                          <a:effectLst/>
                        </a:rPr>
                        <a:t>进漏斗后项目不同预测类别对清单可信度要求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096348">
                <a:tc>
                  <a:txBody>
                    <a:bodyPr/>
                    <a:lstStyle/>
                    <a:p>
                      <a:pPr algn="ctr" fontAlgn="ctr" latinLnBrk="0"/>
                      <a:r>
                        <a:rPr lang="zh-CN" altLang="en-US" sz="1200" b="0" i="0" dirty="0">
                          <a:solidFill>
                            <a:srgbClr val="000000"/>
                          </a:solidFill>
                          <a:effectLst/>
                        </a:rPr>
                        <a:t>预测类别</a:t>
                      </a:r>
                      <a:r>
                        <a:rPr lang="en-US" altLang="zh-CN" sz="1200" b="0" i="0" dirty="0">
                          <a:solidFill>
                            <a:srgbClr val="000000"/>
                          </a:solidFill>
                          <a:effectLst/>
                        </a:rPr>
                        <a:t>/</a:t>
                      </a:r>
                      <a:r>
                        <a:rPr lang="zh-CN" altLang="en-US" sz="1200" b="0" i="0" dirty="0">
                          <a:solidFill>
                            <a:srgbClr val="000000"/>
                          </a:solidFill>
                          <a:effectLst/>
                        </a:rPr>
                        <a:t>时间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r>
                        <a:rPr lang="zh-CN" altLang="en-US" sz="1200" b="0" i="0" dirty="0">
                          <a:solidFill>
                            <a:srgbClr val="000000"/>
                          </a:solidFill>
                          <a:effectLst/>
                        </a:rPr>
                        <a:t>可能</a:t>
                      </a:r>
                      <a:r>
                        <a:rPr lang="en-US" altLang="zh-CN" sz="1200" b="0" i="0" dirty="0">
                          <a:solidFill>
                            <a:srgbClr val="000000"/>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r>
                        <a:rPr lang="zh-CN" altLang="en-US" sz="1200" b="0" i="0">
                          <a:solidFill>
                            <a:srgbClr val="000000"/>
                          </a:solidFill>
                          <a:effectLst/>
                        </a:rPr>
                        <a:t>可能</a:t>
                      </a:r>
                      <a:r>
                        <a:rPr lang="en-US" altLang="zh-CN" sz="1200" b="0" i="0">
                          <a:solidFill>
                            <a:srgbClr val="000000"/>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r>
                        <a:rPr lang="zh-CN" altLang="en-US" sz="1200" b="0" i="0">
                          <a:solidFill>
                            <a:srgbClr val="000000"/>
                          </a:solidFill>
                          <a:effectLst/>
                        </a:rPr>
                        <a:t>优势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r>
              <a:tr h="657808">
                <a:tc>
                  <a:txBody>
                    <a:bodyPr/>
                    <a:lstStyle/>
                    <a:p>
                      <a:pPr algn="ctr" fontAlgn="ctr" latinLnBrk="0"/>
                      <a:r>
                        <a:rPr lang="zh-CN" altLang="en-US" sz="1200" b="0" i="0">
                          <a:solidFill>
                            <a:srgbClr val="000000"/>
                          </a:solidFill>
                          <a:effectLst/>
                        </a:rPr>
                        <a:t>可信度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r>
                        <a:rPr lang="en-US" altLang="zh-CN" sz="1200" b="0" i="0" dirty="0">
                          <a:solidFill>
                            <a:srgbClr val="000000"/>
                          </a:solidFill>
                          <a:effectLst/>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96348">
                <a:tc>
                  <a:txBody>
                    <a:bodyPr/>
                    <a:lstStyle/>
                    <a:p>
                      <a:pPr algn="ctr" fontAlgn="ctr" latinLnBrk="0"/>
                      <a:r>
                        <a:rPr lang="zh-CN" altLang="en-US" sz="1200" b="0" i="0">
                          <a:solidFill>
                            <a:srgbClr val="000000"/>
                          </a:solidFill>
                          <a:effectLst/>
                        </a:rPr>
                        <a:t>开标前</a:t>
                      </a:r>
                      <a:r>
                        <a:rPr lang="en-US" altLang="zh-CN" sz="1200" b="0" i="0">
                          <a:solidFill>
                            <a:srgbClr val="000000"/>
                          </a:solidFill>
                          <a:effectLst/>
                        </a:rPr>
                        <a:t>30</a:t>
                      </a:r>
                      <a:r>
                        <a:rPr lang="zh-CN" altLang="en-US" sz="1200" b="0" i="0">
                          <a:solidFill>
                            <a:srgbClr val="000000"/>
                          </a:solidFill>
                          <a:effectLst/>
                        </a:rPr>
                        <a:t>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r>
                        <a:rPr lang="en-US" altLang="zh-CN" sz="1200" b="0" i="0" dirty="0">
                          <a:solidFill>
                            <a:srgbClr val="000000"/>
                          </a:solidFill>
                          <a:effectLs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矩形 3"/>
          <p:cNvSpPr/>
          <p:nvPr/>
        </p:nvSpPr>
        <p:spPr>
          <a:xfrm>
            <a:off x="774441" y="3135087"/>
            <a:ext cx="1231641" cy="35083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进漏斗后</a:t>
            </a:r>
            <a:endParaRPr lang="zh-CN" altLang="en-US" dirty="0"/>
          </a:p>
        </p:txBody>
      </p:sp>
      <p:sp>
        <p:nvSpPr>
          <p:cNvPr id="5" name="等腰三角形 4"/>
          <p:cNvSpPr/>
          <p:nvPr/>
        </p:nvSpPr>
        <p:spPr>
          <a:xfrm rot="5400000">
            <a:off x="1940767" y="4777274"/>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74440" y="956389"/>
            <a:ext cx="1231641" cy="204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进漏斗时</a:t>
            </a:r>
            <a:endParaRPr lang="zh-CN" altLang="en-US" dirty="0"/>
          </a:p>
        </p:txBody>
      </p:sp>
      <p:sp>
        <p:nvSpPr>
          <p:cNvPr id="7" name="矩形 6"/>
          <p:cNvSpPr/>
          <p:nvPr/>
        </p:nvSpPr>
        <p:spPr>
          <a:xfrm>
            <a:off x="2687216" y="956389"/>
            <a:ext cx="9060023" cy="20480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rot="5400000">
            <a:off x="1940767" y="1915348"/>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046443" y="1357901"/>
            <a:ext cx="8341567" cy="1338828"/>
          </a:xfrm>
          <a:prstGeom prst="rect">
            <a:avLst/>
          </a:prstGeom>
          <a:noFill/>
        </p:spPr>
        <p:txBody>
          <a:bodyPr wrap="square" rtlCol="0">
            <a:spAutoFit/>
          </a:bodyPr>
          <a:lstStyle/>
          <a:p>
            <a:pPr>
              <a:lnSpc>
                <a:spcPct val="150000"/>
              </a:lnSpc>
            </a:pPr>
            <a:r>
              <a:rPr lang="zh-CN" altLang="en-US" dirty="0" smtClean="0"/>
              <a:t>进漏斗时需要根据“可信度</a:t>
            </a:r>
            <a:r>
              <a:rPr lang="zh-CN" altLang="en-US" dirty="0"/>
              <a:t>自评打分</a:t>
            </a:r>
            <a:r>
              <a:rPr lang="zh-CN" altLang="en-US" dirty="0" smtClean="0"/>
              <a:t>标准”对预算和产品系列两项进行评估打分， 原则上两项综合评分不低于</a:t>
            </a:r>
            <a:r>
              <a:rPr lang="en-US" altLang="zh-CN" dirty="0" smtClean="0"/>
              <a:t>3</a:t>
            </a:r>
            <a:r>
              <a:rPr lang="zh-CN" altLang="en-US" dirty="0" smtClean="0"/>
              <a:t>分的项目才能进入漏斗推进。区域经理基于该原则决策是否审批项目进入漏斗。</a:t>
            </a:r>
            <a:endParaRPr lang="zh-CN" altLang="en-US" dirty="0"/>
          </a:p>
        </p:txBody>
      </p:sp>
    </p:spTree>
    <p:extLst>
      <p:ext uri="{BB962C8B-B14F-4D97-AF65-F5344CB8AC3E}">
        <p14:creationId xmlns:p14="http://schemas.microsoft.com/office/powerpoint/2010/main" val="9849711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操作流程</a:t>
            </a:r>
            <a:r>
              <a:rPr lang="en-US" altLang="zh-CN" dirty="0" smtClean="0"/>
              <a:t>-</a:t>
            </a:r>
            <a:r>
              <a:rPr lang="zh-CN" altLang="en-US" dirty="0" smtClean="0"/>
              <a:t>漏斗外进漏斗内</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83791352"/>
              </p:ext>
            </p:extLst>
          </p:nvPr>
        </p:nvGraphicFramePr>
        <p:xfrm>
          <a:off x="144197" y="1031512"/>
          <a:ext cx="6141933" cy="5494540"/>
        </p:xfrm>
        <a:graphic>
          <a:graphicData uri="http://schemas.openxmlformats.org/drawingml/2006/table">
            <a:tbl>
              <a:tblPr/>
              <a:tblGrid>
                <a:gridCol w="738059"/>
                <a:gridCol w="738059"/>
                <a:gridCol w="738059"/>
                <a:gridCol w="738059"/>
                <a:gridCol w="1176987"/>
                <a:gridCol w="2012710"/>
              </a:tblGrid>
              <a:tr h="192537">
                <a:tc>
                  <a:txBody>
                    <a:bodyPr/>
                    <a:lstStyle/>
                    <a:p>
                      <a:pPr algn="l" fontAlgn="ctr" latinLnBrk="0"/>
                      <a:r>
                        <a:rPr lang="zh-CN" altLang="en-US" sz="1000" b="1" i="0" dirty="0">
                          <a:solidFill>
                            <a:srgbClr val="000000"/>
                          </a:solidFill>
                          <a:effectLst/>
                        </a:rPr>
                        <a:t>工序名称</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工序步骤</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工序名称</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工序角色</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经验</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问题</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539104">
                <a:tc rowSpan="9">
                  <a:txBody>
                    <a:bodyPr/>
                    <a:lstStyle/>
                    <a:p>
                      <a:pPr algn="l" fontAlgn="ctr" latinLnBrk="0"/>
                      <a:r>
                        <a:rPr lang="zh-CN" altLang="en-US" sz="1000" b="0" i="0">
                          <a:solidFill>
                            <a:srgbClr val="000000"/>
                          </a:solidFill>
                          <a:effectLst/>
                        </a:rPr>
                        <a:t>漏斗外进漏斗内</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effectLst/>
                        </a:rPr>
                        <a:t>1</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配置清单</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effectLst/>
                        </a:rPr>
                        <a:t>1</a:t>
                      </a:r>
                      <a:r>
                        <a:rPr lang="zh-CN" altLang="en-US" sz="1000" b="0" i="0">
                          <a:effectLst/>
                        </a:rPr>
                        <a:t>、销售提前和售前説</a:t>
                      </a:r>
                      <a:br>
                        <a:rPr lang="zh-CN" altLang="en-US" sz="1000" b="0" i="0">
                          <a:effectLst/>
                        </a:rPr>
                      </a:br>
                      <a:r>
                        <a:rPr lang="en-US" altLang="zh-CN" sz="1000" b="0" i="0">
                          <a:effectLst/>
                        </a:rPr>
                        <a:t>2</a:t>
                      </a:r>
                      <a:r>
                        <a:rPr lang="zh-CN" altLang="en-US" sz="1000" b="0" i="0">
                          <a:effectLst/>
                        </a:rPr>
                        <a:t>、售前和销售确认预算评分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、服务商工程师配置的清单</a:t>
                      </a:r>
                      <a:r>
                        <a:rPr lang="en-US" altLang="zh-CN" sz="1000" b="0" i="0">
                          <a:solidFill>
                            <a:srgbClr val="000000"/>
                          </a:solidFill>
                          <a:effectLst/>
                        </a:rPr>
                        <a:t>--</a:t>
                      </a:r>
                      <a:r>
                        <a:rPr lang="zh-CN" altLang="en-US" sz="1000" b="0" i="0">
                          <a:solidFill>
                            <a:srgbClr val="000000"/>
                          </a:solidFill>
                          <a:effectLst/>
                        </a:rPr>
                        <a:t>要求原厂审核通过后才可以。</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、何为产品系列确定？</a:t>
                      </a:r>
                      <a:r>
                        <a:rPr lang="en-US" altLang="zh-CN" sz="1000" b="0" i="0">
                          <a:solidFill>
                            <a:srgbClr val="000000"/>
                          </a:solidFill>
                          <a:effectLst/>
                        </a:rPr>
                        <a:t>-</a:t>
                      </a:r>
                      <a:r>
                        <a:rPr lang="zh-CN" altLang="en-US" sz="1000" b="0" i="0">
                          <a:solidFill>
                            <a:srgbClr val="000000"/>
                          </a:solidFill>
                          <a:effectLst/>
                        </a:rPr>
                        <a:t>以配置器的产品系列定义为准。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654626">
                <a:tc vMerge="1">
                  <a:txBody>
                    <a:bodyPr/>
                    <a:lstStyle/>
                    <a:p>
                      <a:endParaRPr lang="zh-CN" altLang="en-US"/>
                    </a:p>
                  </a:txBody>
                  <a:tcPr/>
                </a:tc>
                <a:tc>
                  <a:txBody>
                    <a:bodyPr/>
                    <a:lstStyle/>
                    <a:p>
                      <a:pPr fontAlgn="ctr" latinLnBrk="0"/>
                      <a:r>
                        <a:rPr lang="en-US" altLang="zh-CN" sz="1000" b="0" i="0">
                          <a:effectLst/>
                        </a:rPr>
                        <a:t>2</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、客观完整评分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、只对预算金额和产品系列</a:t>
                      </a:r>
                      <a:r>
                        <a:rPr lang="en-US" altLang="zh-CN" sz="1000" b="0" i="0">
                          <a:solidFill>
                            <a:srgbClr val="000000"/>
                          </a:solidFill>
                          <a:effectLst/>
                        </a:rPr>
                        <a:t>2</a:t>
                      </a:r>
                      <a:r>
                        <a:rPr lang="zh-CN" altLang="en-US" sz="1000" b="0" i="0">
                          <a:solidFill>
                            <a:srgbClr val="000000"/>
                          </a:solidFill>
                          <a:effectLst/>
                        </a:rPr>
                        <a:t>项评分，仅能对是否进漏斗做评估；</a:t>
                      </a:r>
                      <a:r>
                        <a:rPr lang="en-US" altLang="zh-CN" sz="1000" b="0" i="0">
                          <a:solidFill>
                            <a:srgbClr val="000000"/>
                          </a:solidFill>
                          <a:effectLst/>
                        </a:rPr>
                        <a:t>--</a:t>
                      </a:r>
                      <a:r>
                        <a:rPr lang="zh-CN" altLang="en-US" sz="1000" b="0" i="0">
                          <a:solidFill>
                            <a:srgbClr val="000000"/>
                          </a:solidFill>
                          <a:effectLst/>
                        </a:rPr>
                        <a:t>进入漏斗后会持续判断可信度评分，需要对四项做完整评分，不清楚的项可以打</a:t>
                      </a:r>
                      <a:r>
                        <a:rPr lang="en-US" altLang="zh-CN" sz="1000" b="0" i="0">
                          <a:solidFill>
                            <a:srgbClr val="000000"/>
                          </a:solidFill>
                          <a:effectLst/>
                        </a:rPr>
                        <a:t>0</a:t>
                      </a:r>
                      <a:r>
                        <a:rPr lang="zh-CN" altLang="en-US" sz="1000" b="0" i="0">
                          <a:solidFill>
                            <a:srgbClr val="000000"/>
                          </a:solidFill>
                          <a:effectLst/>
                        </a:rPr>
                        <a:t>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08059">
                <a:tc vMerge="1">
                  <a:txBody>
                    <a:bodyPr/>
                    <a:lstStyle/>
                    <a:p>
                      <a:endParaRPr lang="zh-CN" altLang="en-US"/>
                    </a:p>
                  </a:txBody>
                  <a:tcPr/>
                </a:tc>
                <a:tc>
                  <a:txBody>
                    <a:bodyPr/>
                    <a:lstStyle/>
                    <a:p>
                      <a:pPr fontAlgn="ctr" latinLnBrk="0"/>
                      <a:r>
                        <a:rPr lang="en-US" altLang="zh-CN" sz="1000" b="0" i="0">
                          <a:effectLst/>
                        </a:rPr>
                        <a:t>3</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分享销售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、业务机会编码和销售全匹配分享</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、系统</a:t>
                      </a:r>
                      <a:r>
                        <a:rPr lang="en-US" altLang="zh-CN" sz="1000" b="0" i="0">
                          <a:solidFill>
                            <a:srgbClr val="000000"/>
                          </a:solidFill>
                          <a:effectLst/>
                        </a:rPr>
                        <a:t>BUG</a:t>
                      </a:r>
                      <a:r>
                        <a:rPr lang="zh-CN" altLang="en-US" sz="1000" b="0" i="0">
                          <a:solidFill>
                            <a:srgbClr val="000000"/>
                          </a:solidFill>
                          <a:effectLst/>
                        </a:rPr>
                        <a:t>，有时匹配不出来</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423582">
                <a:tc vMerge="1">
                  <a:txBody>
                    <a:bodyPr/>
                    <a:lstStyle/>
                    <a:p>
                      <a:endParaRPr lang="zh-CN" altLang="en-US"/>
                    </a:p>
                  </a:txBody>
                  <a:tcPr/>
                </a:tc>
                <a:tc>
                  <a:txBody>
                    <a:bodyPr/>
                    <a:lstStyle/>
                    <a:p>
                      <a:pPr fontAlgn="ctr" latinLnBrk="0"/>
                      <a:r>
                        <a:rPr lang="en-US" altLang="zh-CN" sz="1000" b="0" i="0">
                          <a:effectLst/>
                        </a:rPr>
                        <a:t>4</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评分邮件</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、希望在系统上评分，每个项目手动评分太麻烦；</a:t>
                      </a:r>
                      <a:r>
                        <a:rPr lang="en-US" altLang="zh-CN" sz="1000" b="0" i="0">
                          <a:solidFill>
                            <a:srgbClr val="000000"/>
                          </a:solidFill>
                          <a:effectLst/>
                        </a:rPr>
                        <a:t>--</a:t>
                      </a:r>
                      <a:r>
                        <a:rPr lang="zh-CN" altLang="en-US" sz="1000" b="0" i="0">
                          <a:solidFill>
                            <a:srgbClr val="000000"/>
                          </a:solidFill>
                          <a:effectLst/>
                        </a:rPr>
                        <a:t>后续系统自动同步，无需手工邮件。</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770148">
                <a:tc vMerge="1">
                  <a:txBody>
                    <a:bodyPr/>
                    <a:lstStyle/>
                    <a:p>
                      <a:endParaRPr lang="zh-CN" altLang="en-US"/>
                    </a:p>
                  </a:txBody>
                  <a:tcPr/>
                </a:tc>
                <a:tc>
                  <a:txBody>
                    <a:bodyPr/>
                    <a:lstStyle/>
                    <a:p>
                      <a:pPr fontAlgn="ctr" latinLnBrk="0"/>
                      <a:r>
                        <a:rPr lang="en-US" altLang="zh-CN" sz="1000" b="0" i="0">
                          <a:effectLst/>
                        </a:rPr>
                        <a:t>5</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导入</a:t>
                      </a:r>
                      <a:r>
                        <a:rPr lang="en-US" sz="1000" b="0" i="0" dirty="0">
                          <a:solidFill>
                            <a:srgbClr val="000000"/>
                          </a:solidFill>
                          <a:effectLst/>
                        </a:rPr>
                        <a:t>ECP</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、分享的清单在最上面</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、配置器报价单名称和业务机会名称一致</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、还是显示多个，得手动选择；</a:t>
                      </a:r>
                      <a:r>
                        <a:rPr lang="en-US" altLang="zh-CN" sz="1000" b="0" i="0">
                          <a:solidFill>
                            <a:srgbClr val="000000"/>
                          </a:solidFill>
                          <a:effectLst/>
                        </a:rPr>
                        <a:t>--</a:t>
                      </a:r>
                      <a:r>
                        <a:rPr lang="zh-CN" altLang="en-US" sz="1000" b="0" i="0">
                          <a:solidFill>
                            <a:srgbClr val="000000"/>
                          </a:solidFill>
                          <a:effectLst/>
                        </a:rPr>
                        <a:t>导入时让售前分享，会显示在第一个；</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、希望可以自动匹配；</a:t>
                      </a:r>
                      <a:br>
                        <a:rPr lang="zh-CN" altLang="en-US" sz="1000" b="0" i="0">
                          <a:solidFill>
                            <a:srgbClr val="000000"/>
                          </a:solidFill>
                          <a:effectLst/>
                        </a:rPr>
                      </a:br>
                      <a:r>
                        <a:rPr lang="en-US" altLang="zh-CN" sz="1000" b="0" i="0">
                          <a:solidFill>
                            <a:srgbClr val="000000"/>
                          </a:solidFill>
                          <a:effectLst/>
                        </a:rPr>
                        <a:t>3</a:t>
                      </a:r>
                      <a:r>
                        <a:rPr lang="zh-CN" altLang="en-US" sz="1000" b="0" i="0">
                          <a:solidFill>
                            <a:srgbClr val="000000"/>
                          </a:solidFill>
                          <a:effectLst/>
                        </a:rPr>
                        <a:t>、进入</a:t>
                      </a:r>
                      <a:r>
                        <a:rPr lang="en-US" altLang="zh-CN" sz="1000" b="0" i="0">
                          <a:solidFill>
                            <a:srgbClr val="000000"/>
                          </a:solidFill>
                          <a:effectLst/>
                        </a:rPr>
                        <a:t>ECP</a:t>
                      </a:r>
                      <a:r>
                        <a:rPr lang="zh-CN" altLang="en-US" sz="1000" b="0" i="0">
                          <a:solidFill>
                            <a:srgbClr val="000000"/>
                          </a:solidFill>
                          <a:effectLst/>
                        </a:rPr>
                        <a:t>系统时自动提示是否导入新的清单</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08059">
                <a:tc vMerge="1">
                  <a:txBody>
                    <a:bodyPr/>
                    <a:lstStyle/>
                    <a:p>
                      <a:endParaRPr lang="zh-CN" altLang="en-US"/>
                    </a:p>
                  </a:txBody>
                  <a:tcPr/>
                </a:tc>
                <a:tc>
                  <a:txBody>
                    <a:bodyPr/>
                    <a:lstStyle/>
                    <a:p>
                      <a:pPr fontAlgn="ctr" latinLnBrk="0"/>
                      <a:r>
                        <a:rPr lang="en-US" altLang="zh-CN" sz="1000" b="0" i="0">
                          <a:effectLst/>
                        </a:rPr>
                        <a:t>6</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保存至</a:t>
                      </a:r>
                      <a:r>
                        <a:rPr lang="en-US" sz="1000" b="0" i="0">
                          <a:solidFill>
                            <a:srgbClr val="000000"/>
                          </a:solidFill>
                          <a:effectLst/>
                        </a:rPr>
                        <a:t>CRM</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ECP</a:t>
                      </a:r>
                      <a:r>
                        <a:rPr lang="zh-CN" altLang="en-US" sz="1000" b="0" i="0">
                          <a:solidFill>
                            <a:srgbClr val="000000"/>
                          </a:solidFill>
                          <a:effectLst/>
                        </a:rPr>
                        <a:t>系统</a:t>
                      </a:r>
                      <a:r>
                        <a:rPr lang="en-US" altLang="zh-CN" sz="1000" b="0" i="0">
                          <a:solidFill>
                            <a:srgbClr val="000000"/>
                          </a:solidFill>
                          <a:effectLst/>
                        </a:rPr>
                        <a:t>BUG</a:t>
                      </a:r>
                      <a:r>
                        <a:rPr lang="zh-CN" altLang="en-US" sz="1000" b="0" i="0">
                          <a:solidFill>
                            <a:srgbClr val="000000"/>
                          </a:solidFill>
                          <a:effectLst/>
                        </a:rPr>
                        <a:t>，已经勾选服务产品，老提示未勾选，刷新就好了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08059">
                <a:tc vMerge="1">
                  <a:txBody>
                    <a:bodyPr/>
                    <a:lstStyle/>
                    <a:p>
                      <a:endParaRPr lang="zh-CN" altLang="en-US"/>
                    </a:p>
                  </a:txBody>
                  <a:tcPr/>
                </a:tc>
                <a:tc>
                  <a:txBody>
                    <a:bodyPr/>
                    <a:lstStyle/>
                    <a:p>
                      <a:pPr fontAlgn="ctr" latinLnBrk="0"/>
                      <a:r>
                        <a:rPr lang="en-US" altLang="zh-CN" sz="1000" b="0" i="0">
                          <a:effectLst/>
                        </a:rPr>
                        <a:t>7</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00" b="0" i="0">
                          <a:solidFill>
                            <a:srgbClr val="000000"/>
                          </a:solidFill>
                          <a:effectLst/>
                        </a:rPr>
                        <a:t>CRM</a:t>
                      </a:r>
                      <a:r>
                        <a:rPr lang="zh-CN" altLang="en-US" sz="1000" b="0" i="0">
                          <a:solidFill>
                            <a:srgbClr val="000000"/>
                          </a:solidFill>
                          <a:effectLst/>
                        </a:rPr>
                        <a:t>申请进漏斗内</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423582">
                <a:tc vMerge="1">
                  <a:txBody>
                    <a:bodyPr/>
                    <a:lstStyle/>
                    <a:p>
                      <a:endParaRPr lang="zh-CN" altLang="en-US"/>
                    </a:p>
                  </a:txBody>
                  <a:tcPr/>
                </a:tc>
                <a:tc>
                  <a:txBody>
                    <a:bodyPr/>
                    <a:lstStyle/>
                    <a:p>
                      <a:pPr fontAlgn="ctr" latinLnBrk="0"/>
                      <a:r>
                        <a:rPr lang="en-US" altLang="zh-CN" sz="1000" b="0" i="0">
                          <a:effectLst/>
                        </a:rPr>
                        <a:t>8</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审批漏斗</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区域经理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、找邮件影响效率，只能让销售私信评分邮件截图；</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、销售承诺评分后补。</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423582">
                <a:tc vMerge="1">
                  <a:txBody>
                    <a:bodyPr/>
                    <a:lstStyle/>
                    <a:p>
                      <a:endParaRPr lang="zh-CN" altLang="en-US"/>
                    </a:p>
                  </a:txBody>
                  <a:tcPr/>
                </a:tc>
                <a:tc>
                  <a:txBody>
                    <a:bodyPr/>
                    <a:lstStyle/>
                    <a:p>
                      <a:pPr fontAlgn="ctr" latinLnBrk="0"/>
                      <a:r>
                        <a:rPr lang="en-US" altLang="zh-CN" sz="1000" b="0" i="0">
                          <a:effectLst/>
                        </a:rPr>
                        <a:t>9</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核查是清单是否一致</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新进漏斗项目，可以使用自动比对功能</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dirty="0">
                          <a:solidFill>
                            <a:srgbClr val="000000"/>
                          </a:solidFill>
                          <a:effectLst/>
                        </a:rPr>
                        <a:t>1</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清单排序乱，不易检查；</a:t>
                      </a:r>
                      <a:r>
                        <a:rPr lang="en-US" altLang="zh-CN" sz="1000" b="0" i="0" dirty="0">
                          <a:solidFill>
                            <a:srgbClr val="000000"/>
                          </a:solidFill>
                          <a:effectLst/>
                        </a:rPr>
                        <a:t>--</a:t>
                      </a:r>
                      <a:r>
                        <a:rPr lang="zh-CN" altLang="en-US" sz="1000" b="0" i="0" dirty="0">
                          <a:solidFill>
                            <a:srgbClr val="000000"/>
                          </a:solidFill>
                          <a:effectLst/>
                        </a:rPr>
                        <a:t>通过</a:t>
                      </a:r>
                      <a:r>
                        <a:rPr lang="en-US" altLang="zh-CN" sz="1000" b="0" i="0" dirty="0">
                          <a:solidFill>
                            <a:srgbClr val="000000"/>
                          </a:solidFill>
                          <a:effectLst/>
                        </a:rPr>
                        <a:t>ECP</a:t>
                      </a:r>
                      <a:r>
                        <a:rPr lang="zh-CN" altLang="en-US" sz="1000" b="0" i="0" dirty="0">
                          <a:solidFill>
                            <a:srgbClr val="000000"/>
                          </a:solidFill>
                          <a:effectLst/>
                        </a:rPr>
                        <a:t>系统上的自动比对功能核查清单</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bl>
          </a:graphicData>
        </a:graphic>
      </p:graphicFrame>
      <p:grpSp>
        <p:nvGrpSpPr>
          <p:cNvPr id="8" name="组合 7"/>
          <p:cNvGrpSpPr/>
          <p:nvPr/>
        </p:nvGrpSpPr>
        <p:grpSpPr>
          <a:xfrm>
            <a:off x="6662056" y="1166326"/>
            <a:ext cx="1228867" cy="1296956"/>
            <a:chOff x="6951305" y="1212979"/>
            <a:chExt cx="1228867" cy="1296956"/>
          </a:xfrm>
        </p:grpSpPr>
        <p:sp>
          <p:nvSpPr>
            <p:cNvPr id="4" name="圆角矩形 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椭圆 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7" name="文本框 6"/>
            <p:cNvSpPr txBox="1"/>
            <p:nvPr/>
          </p:nvSpPr>
          <p:spPr>
            <a:xfrm>
              <a:off x="7114332" y="1860130"/>
              <a:ext cx="902811" cy="523220"/>
            </a:xfrm>
            <a:prstGeom prst="rect">
              <a:avLst/>
            </a:prstGeom>
            <a:noFill/>
          </p:spPr>
          <p:txBody>
            <a:bodyPr wrap="none" rtlCol="0">
              <a:spAutoFit/>
            </a:bodyPr>
            <a:lstStyle/>
            <a:p>
              <a:pPr algn="ctr"/>
              <a:r>
                <a:rPr lang="zh-CN" altLang="en-US" sz="1400" dirty="0" smtClean="0"/>
                <a:t>配置清单</a:t>
              </a:r>
              <a:endParaRPr lang="en-US" altLang="zh-CN" sz="1400" dirty="0" smtClean="0"/>
            </a:p>
            <a:p>
              <a:pPr algn="ctr"/>
              <a:r>
                <a:rPr lang="zh-CN" altLang="en-US" sz="1400" dirty="0" smtClean="0"/>
                <a:t>（售前）</a:t>
              </a:r>
              <a:endParaRPr lang="zh-CN" altLang="en-US" sz="1400" dirty="0"/>
            </a:p>
          </p:txBody>
        </p:sp>
      </p:grpSp>
      <p:grpSp>
        <p:nvGrpSpPr>
          <p:cNvPr id="9" name="组合 8"/>
          <p:cNvGrpSpPr/>
          <p:nvPr/>
        </p:nvGrpSpPr>
        <p:grpSpPr>
          <a:xfrm>
            <a:off x="8773885" y="1173709"/>
            <a:ext cx="1228867" cy="1296956"/>
            <a:chOff x="6951305" y="1212979"/>
            <a:chExt cx="1228867" cy="1296956"/>
          </a:xfrm>
        </p:grpSpPr>
        <p:sp>
          <p:nvSpPr>
            <p:cNvPr id="10" name="圆角矩形 9"/>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椭圆 10"/>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12" name="文本框 11"/>
            <p:cNvSpPr txBox="1"/>
            <p:nvPr/>
          </p:nvSpPr>
          <p:spPr>
            <a:xfrm>
              <a:off x="7114332" y="1860130"/>
              <a:ext cx="902811" cy="523220"/>
            </a:xfrm>
            <a:prstGeom prst="rect">
              <a:avLst/>
            </a:prstGeom>
            <a:noFill/>
          </p:spPr>
          <p:txBody>
            <a:bodyPr wrap="none" rtlCol="0">
              <a:spAutoFit/>
            </a:bodyPr>
            <a:lstStyle/>
            <a:p>
              <a:pPr algn="ctr"/>
              <a:r>
                <a:rPr lang="zh-CN" altLang="en-US" sz="1400" dirty="0" smtClean="0"/>
                <a:t>评分</a:t>
              </a:r>
              <a:endParaRPr lang="en-US" altLang="zh-CN" sz="1400" dirty="0" smtClean="0"/>
            </a:p>
            <a:p>
              <a:pPr algn="ctr"/>
              <a:r>
                <a:rPr lang="zh-CN" altLang="en-US" sz="1400" dirty="0" smtClean="0"/>
                <a:t>（售前）</a:t>
              </a:r>
              <a:endParaRPr lang="zh-CN" altLang="en-US" sz="1400" dirty="0"/>
            </a:p>
          </p:txBody>
        </p:sp>
      </p:grpSp>
      <p:cxnSp>
        <p:nvCxnSpPr>
          <p:cNvPr id="14" name="直接箭头连接符 13"/>
          <p:cNvCxnSpPr/>
          <p:nvPr/>
        </p:nvCxnSpPr>
        <p:spPr>
          <a:xfrm>
            <a:off x="8024327"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10817290" y="1166326"/>
            <a:ext cx="1228867" cy="1296956"/>
            <a:chOff x="6951305" y="1212979"/>
            <a:chExt cx="1228867" cy="1296956"/>
          </a:xfrm>
        </p:grpSpPr>
        <p:sp>
          <p:nvSpPr>
            <p:cNvPr id="17" name="圆角矩形 16"/>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19" name="文本框 18"/>
            <p:cNvSpPr txBox="1"/>
            <p:nvPr/>
          </p:nvSpPr>
          <p:spPr>
            <a:xfrm>
              <a:off x="7114333" y="1860130"/>
              <a:ext cx="902811" cy="523220"/>
            </a:xfrm>
            <a:prstGeom prst="rect">
              <a:avLst/>
            </a:prstGeom>
            <a:noFill/>
          </p:spPr>
          <p:txBody>
            <a:bodyPr wrap="none" rtlCol="0">
              <a:spAutoFit/>
            </a:bodyPr>
            <a:lstStyle/>
            <a:p>
              <a:pPr algn="ctr"/>
              <a:r>
                <a:rPr lang="zh-CN" altLang="en-US" sz="1400" dirty="0" smtClean="0"/>
                <a:t>分享销售</a:t>
              </a:r>
              <a:endParaRPr lang="en-US" altLang="zh-CN" sz="1400" dirty="0" smtClean="0"/>
            </a:p>
            <a:p>
              <a:pPr algn="ctr"/>
              <a:r>
                <a:rPr lang="zh-CN" altLang="en-US" sz="1400" dirty="0" smtClean="0"/>
                <a:t>（售前）</a:t>
              </a:r>
              <a:endParaRPr lang="zh-CN" altLang="en-US" sz="1400" dirty="0"/>
            </a:p>
          </p:txBody>
        </p:sp>
      </p:grpSp>
      <p:cxnSp>
        <p:nvCxnSpPr>
          <p:cNvPr id="20" name="直接箭头连接符 19"/>
          <p:cNvCxnSpPr/>
          <p:nvPr/>
        </p:nvCxnSpPr>
        <p:spPr>
          <a:xfrm>
            <a:off x="10105053"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0845282" y="3116424"/>
            <a:ext cx="1228867" cy="1296956"/>
            <a:chOff x="6951305" y="1212979"/>
            <a:chExt cx="1228867" cy="1296956"/>
          </a:xfrm>
        </p:grpSpPr>
        <p:sp>
          <p:nvSpPr>
            <p:cNvPr id="22" name="圆角矩形 2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24" name="文本框 23"/>
            <p:cNvSpPr txBox="1"/>
            <p:nvPr/>
          </p:nvSpPr>
          <p:spPr>
            <a:xfrm>
              <a:off x="7108723" y="1860130"/>
              <a:ext cx="914033" cy="523220"/>
            </a:xfrm>
            <a:prstGeom prst="rect">
              <a:avLst/>
            </a:prstGeom>
            <a:noFill/>
          </p:spPr>
          <p:txBody>
            <a:bodyPr wrap="none" rtlCol="0">
              <a:spAutoFit/>
            </a:bodyPr>
            <a:lstStyle/>
            <a:p>
              <a:pPr algn="ctr"/>
              <a:r>
                <a:rPr lang="zh-CN" altLang="en-US" sz="1400" dirty="0"/>
                <a:t>导</a:t>
              </a:r>
              <a:r>
                <a:rPr lang="zh-CN" altLang="en-US" sz="1400" dirty="0" smtClean="0"/>
                <a:t>入</a:t>
              </a:r>
              <a:r>
                <a:rPr lang="en-US" altLang="zh-CN" sz="1400" dirty="0" smtClean="0"/>
                <a:t>ECP</a:t>
              </a:r>
            </a:p>
            <a:p>
              <a:pPr algn="ctr"/>
              <a:r>
                <a:rPr lang="zh-CN" altLang="en-US" sz="1400" dirty="0" smtClean="0"/>
                <a:t>（销售）</a:t>
              </a:r>
              <a:endParaRPr lang="zh-CN" altLang="en-US" sz="1400" dirty="0"/>
            </a:p>
          </p:txBody>
        </p:sp>
      </p:grpSp>
      <p:cxnSp>
        <p:nvCxnSpPr>
          <p:cNvPr id="25" name="直接箭头连接符 24"/>
          <p:cNvCxnSpPr/>
          <p:nvPr/>
        </p:nvCxnSpPr>
        <p:spPr>
          <a:xfrm>
            <a:off x="11400454" y="2509540"/>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8773885" y="3117816"/>
            <a:ext cx="1228867" cy="1296956"/>
            <a:chOff x="6951305" y="1212979"/>
            <a:chExt cx="1228867" cy="1296956"/>
          </a:xfrm>
        </p:grpSpPr>
        <p:sp>
          <p:nvSpPr>
            <p:cNvPr id="28" name="圆角矩形 27"/>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30" name="文本框 29"/>
            <p:cNvSpPr txBox="1"/>
            <p:nvPr/>
          </p:nvSpPr>
          <p:spPr>
            <a:xfrm>
              <a:off x="7089488" y="1860130"/>
              <a:ext cx="952504" cy="523220"/>
            </a:xfrm>
            <a:prstGeom prst="rect">
              <a:avLst/>
            </a:prstGeom>
            <a:noFill/>
          </p:spPr>
          <p:txBody>
            <a:bodyPr wrap="none" rtlCol="0">
              <a:spAutoFit/>
            </a:bodyPr>
            <a:lstStyle/>
            <a:p>
              <a:pPr algn="ctr"/>
              <a:r>
                <a:rPr lang="zh-CN" altLang="en-US" sz="1400" dirty="0" smtClean="0"/>
                <a:t>保存</a:t>
              </a:r>
              <a:r>
                <a:rPr lang="en-US" altLang="zh-CN" sz="1400" dirty="0" smtClean="0"/>
                <a:t>CRM</a:t>
              </a:r>
            </a:p>
            <a:p>
              <a:pPr algn="ctr"/>
              <a:r>
                <a:rPr lang="zh-CN" altLang="en-US" sz="1400" dirty="0" smtClean="0"/>
                <a:t>（销售）</a:t>
              </a:r>
              <a:endParaRPr lang="zh-CN" altLang="en-US" sz="1400" dirty="0"/>
            </a:p>
          </p:txBody>
        </p:sp>
      </p:grpSp>
      <p:grpSp>
        <p:nvGrpSpPr>
          <p:cNvPr id="31" name="组合 30"/>
          <p:cNvGrpSpPr/>
          <p:nvPr/>
        </p:nvGrpSpPr>
        <p:grpSpPr>
          <a:xfrm>
            <a:off x="6662056" y="3101100"/>
            <a:ext cx="1228867" cy="1296956"/>
            <a:chOff x="6951305" y="1212979"/>
            <a:chExt cx="1228867" cy="1296956"/>
          </a:xfrm>
        </p:grpSpPr>
        <p:sp>
          <p:nvSpPr>
            <p:cNvPr id="32" name="圆角矩形 3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椭圆 3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sp>
          <p:nvSpPr>
            <p:cNvPr id="34" name="文本框 33"/>
            <p:cNvSpPr txBox="1"/>
            <p:nvPr/>
          </p:nvSpPr>
          <p:spPr>
            <a:xfrm>
              <a:off x="7024569" y="1860130"/>
              <a:ext cx="1082348" cy="523220"/>
            </a:xfrm>
            <a:prstGeom prst="rect">
              <a:avLst/>
            </a:prstGeom>
            <a:noFill/>
          </p:spPr>
          <p:txBody>
            <a:bodyPr wrap="none" rtlCol="0">
              <a:spAutoFit/>
            </a:bodyPr>
            <a:lstStyle/>
            <a:p>
              <a:pPr algn="ctr"/>
              <a:r>
                <a:rPr lang="zh-CN" altLang="en-US" sz="1400" dirty="0" smtClean="0"/>
                <a:t>提交进漏斗</a:t>
              </a:r>
              <a:endParaRPr lang="en-US" altLang="zh-CN" sz="1400" dirty="0" smtClean="0"/>
            </a:p>
            <a:p>
              <a:pPr algn="ctr"/>
              <a:r>
                <a:rPr lang="zh-CN" altLang="en-US" sz="1400" dirty="0" smtClean="0"/>
                <a:t>（销售）</a:t>
              </a:r>
              <a:endParaRPr lang="zh-CN" altLang="en-US" sz="1400" dirty="0"/>
            </a:p>
          </p:txBody>
        </p:sp>
      </p:grpSp>
      <p:cxnSp>
        <p:nvCxnSpPr>
          <p:cNvPr id="35" name="直接箭头连接符 34"/>
          <p:cNvCxnSpPr/>
          <p:nvPr/>
        </p:nvCxnSpPr>
        <p:spPr>
          <a:xfrm flipH="1">
            <a:off x="10067147" y="3748251"/>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H="1">
            <a:off x="7948516" y="3742259"/>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6628721" y="5163165"/>
            <a:ext cx="1295547" cy="1296956"/>
            <a:chOff x="6917970" y="1212979"/>
            <a:chExt cx="1295547" cy="1296956"/>
          </a:xfrm>
        </p:grpSpPr>
        <p:sp>
          <p:nvSpPr>
            <p:cNvPr id="39" name="圆角矩形 38"/>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41" name="文本框 40"/>
            <p:cNvSpPr txBox="1"/>
            <p:nvPr/>
          </p:nvSpPr>
          <p:spPr>
            <a:xfrm>
              <a:off x="6917970" y="1860130"/>
              <a:ext cx="1295547" cy="523220"/>
            </a:xfrm>
            <a:prstGeom prst="rect">
              <a:avLst/>
            </a:prstGeom>
            <a:noFill/>
          </p:spPr>
          <p:txBody>
            <a:bodyPr wrap="none" rtlCol="0">
              <a:spAutoFit/>
            </a:bodyPr>
            <a:lstStyle/>
            <a:p>
              <a:pPr algn="ctr"/>
              <a:r>
                <a:rPr lang="zh-CN" altLang="en-US" sz="1400" dirty="0" smtClean="0"/>
                <a:t>漏斗审批</a:t>
              </a:r>
              <a:endParaRPr lang="en-US" altLang="zh-CN" sz="1400" dirty="0" smtClean="0"/>
            </a:p>
            <a:p>
              <a:pPr algn="ctr"/>
              <a:r>
                <a:rPr lang="zh-CN" altLang="en-US" sz="1400" dirty="0" smtClean="0"/>
                <a:t>（区域经理）</a:t>
              </a:r>
              <a:endParaRPr lang="zh-CN" altLang="en-US" sz="1400" dirty="0"/>
            </a:p>
          </p:txBody>
        </p:sp>
      </p:grpSp>
      <p:cxnSp>
        <p:nvCxnSpPr>
          <p:cNvPr id="42" name="直接箭头连接符 41"/>
          <p:cNvCxnSpPr/>
          <p:nvPr/>
        </p:nvCxnSpPr>
        <p:spPr>
          <a:xfrm>
            <a:off x="7276488" y="4524952"/>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8804935" y="5147841"/>
            <a:ext cx="1228867" cy="1296956"/>
            <a:chOff x="6951305" y="1212979"/>
            <a:chExt cx="1228867" cy="1296956"/>
          </a:xfrm>
        </p:grpSpPr>
        <p:sp>
          <p:nvSpPr>
            <p:cNvPr id="44" name="圆角矩形 4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8</a:t>
              </a:r>
              <a:endParaRPr lang="zh-CN" altLang="en-US" dirty="0"/>
            </a:p>
          </p:txBody>
        </p:sp>
        <p:sp>
          <p:nvSpPr>
            <p:cNvPr id="46" name="文本框 45"/>
            <p:cNvSpPr txBox="1"/>
            <p:nvPr/>
          </p:nvSpPr>
          <p:spPr>
            <a:xfrm>
              <a:off x="7114339" y="1860130"/>
              <a:ext cx="902811" cy="523220"/>
            </a:xfrm>
            <a:prstGeom prst="rect">
              <a:avLst/>
            </a:prstGeom>
            <a:noFill/>
          </p:spPr>
          <p:txBody>
            <a:bodyPr wrap="none" rtlCol="0">
              <a:spAutoFit/>
            </a:bodyPr>
            <a:lstStyle/>
            <a:p>
              <a:pPr algn="ctr"/>
              <a:r>
                <a:rPr lang="zh-CN" altLang="en-US" sz="1400" dirty="0" smtClean="0"/>
                <a:t>清单核查</a:t>
              </a:r>
              <a:endParaRPr lang="en-US" altLang="zh-CN" sz="1400" dirty="0" smtClean="0"/>
            </a:p>
            <a:p>
              <a:pPr algn="ctr"/>
              <a:r>
                <a:rPr lang="zh-CN" altLang="en-US" sz="1400" dirty="0" smtClean="0"/>
                <a:t>（售前）</a:t>
              </a:r>
              <a:endParaRPr lang="zh-CN" altLang="en-US" sz="1400" dirty="0"/>
            </a:p>
          </p:txBody>
        </p:sp>
      </p:grpSp>
      <p:cxnSp>
        <p:nvCxnSpPr>
          <p:cNvPr id="47" name="直接箭头连接符 46"/>
          <p:cNvCxnSpPr/>
          <p:nvPr/>
        </p:nvCxnSpPr>
        <p:spPr>
          <a:xfrm>
            <a:off x="8024327" y="5813653"/>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48" name="矩形标注 47"/>
          <p:cNvSpPr/>
          <p:nvPr/>
        </p:nvSpPr>
        <p:spPr>
          <a:xfrm>
            <a:off x="7727894" y="489093"/>
            <a:ext cx="1197093" cy="479198"/>
          </a:xfrm>
          <a:prstGeom prst="wedgeRectCallout">
            <a:avLst>
              <a:gd name="adj1" fmla="val 50672"/>
              <a:gd name="adj2" fmla="val 124809"/>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只</a:t>
            </a:r>
            <a:r>
              <a:rPr lang="zh-CN" altLang="en-US" sz="1200" dirty="0" smtClean="0">
                <a:solidFill>
                  <a:schemeClr val="tx1"/>
                </a:solidFill>
              </a:rPr>
              <a:t>做预算与金额两项评分</a:t>
            </a:r>
            <a:endParaRPr lang="zh-CN" altLang="en-US" sz="1200" dirty="0">
              <a:solidFill>
                <a:schemeClr val="tx1"/>
              </a:solidFill>
            </a:endParaRPr>
          </a:p>
        </p:txBody>
      </p:sp>
      <p:sp>
        <p:nvSpPr>
          <p:cNvPr id="49" name="矩形标注 48"/>
          <p:cNvSpPr/>
          <p:nvPr/>
        </p:nvSpPr>
        <p:spPr>
          <a:xfrm>
            <a:off x="7892748" y="2561479"/>
            <a:ext cx="3288601" cy="479198"/>
          </a:xfrm>
          <a:prstGeom prst="wedgeRectCallout">
            <a:avLst>
              <a:gd name="adj1" fmla="val 45216"/>
              <a:gd name="adj2" fmla="val -95217"/>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前期手动通过邮件分享，后期系统自动</a:t>
            </a:r>
            <a:r>
              <a:rPr lang="zh-CN" altLang="en-US" sz="1200" dirty="0" smtClean="0">
                <a:solidFill>
                  <a:schemeClr val="tx1"/>
                </a:solidFill>
              </a:rPr>
              <a:t>体现，分享销售的同时要分享给区域经理和技术经理</a:t>
            </a:r>
            <a:endParaRPr lang="zh-CN" altLang="en-US" sz="1200" dirty="0">
              <a:solidFill>
                <a:schemeClr val="tx1"/>
              </a:solidFill>
            </a:endParaRPr>
          </a:p>
        </p:txBody>
      </p:sp>
      <p:sp>
        <p:nvSpPr>
          <p:cNvPr id="51" name="矩形标注 50"/>
          <p:cNvSpPr/>
          <p:nvPr/>
        </p:nvSpPr>
        <p:spPr>
          <a:xfrm>
            <a:off x="10423848" y="4723359"/>
            <a:ext cx="1143487" cy="883071"/>
          </a:xfrm>
          <a:prstGeom prst="wedgeRectCallout">
            <a:avLst>
              <a:gd name="adj1" fmla="val -94725"/>
              <a:gd name="adj2" fmla="val 46610"/>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通过</a:t>
            </a:r>
            <a:r>
              <a:rPr lang="en-US" altLang="zh-CN" sz="1200" dirty="0" smtClean="0">
                <a:solidFill>
                  <a:schemeClr val="tx1"/>
                </a:solidFill>
              </a:rPr>
              <a:t>ECP</a:t>
            </a:r>
            <a:r>
              <a:rPr lang="zh-CN" altLang="en-US" sz="1200" dirty="0" smtClean="0">
                <a:solidFill>
                  <a:schemeClr val="tx1"/>
                </a:solidFill>
              </a:rPr>
              <a:t>系统上的自动比对功能核查清单</a:t>
            </a:r>
            <a:endParaRPr lang="zh-CN" altLang="en-US" sz="1200" dirty="0">
              <a:solidFill>
                <a:schemeClr val="tx1"/>
              </a:solidFill>
            </a:endParaRPr>
          </a:p>
        </p:txBody>
      </p:sp>
    </p:spTree>
    <p:extLst>
      <p:ext uri="{BB962C8B-B14F-4D97-AF65-F5344CB8AC3E}">
        <p14:creationId xmlns:p14="http://schemas.microsoft.com/office/powerpoint/2010/main" val="31959444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操作流程</a:t>
            </a:r>
            <a:r>
              <a:rPr lang="en-US" altLang="zh-CN" dirty="0" smtClean="0"/>
              <a:t>-</a:t>
            </a:r>
            <a:r>
              <a:rPr lang="zh-CN" altLang="en-US" dirty="0" smtClean="0"/>
              <a:t>漏斗内项目管理</a:t>
            </a:r>
            <a:endParaRPr lang="zh-CN" altLang="en-US" dirty="0"/>
          </a:p>
        </p:txBody>
      </p:sp>
      <p:grpSp>
        <p:nvGrpSpPr>
          <p:cNvPr id="8" name="组合 7"/>
          <p:cNvGrpSpPr/>
          <p:nvPr/>
        </p:nvGrpSpPr>
        <p:grpSpPr>
          <a:xfrm>
            <a:off x="6662056" y="1166326"/>
            <a:ext cx="1228867" cy="1296956"/>
            <a:chOff x="6951305" y="1212979"/>
            <a:chExt cx="1228867" cy="1296956"/>
          </a:xfrm>
        </p:grpSpPr>
        <p:sp>
          <p:nvSpPr>
            <p:cNvPr id="4" name="圆角矩形 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椭圆 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a:t>
              </a:r>
              <a:endParaRPr lang="zh-CN" altLang="en-US" dirty="0"/>
            </a:p>
          </p:txBody>
        </p:sp>
        <p:sp>
          <p:nvSpPr>
            <p:cNvPr id="7" name="文本框 6"/>
            <p:cNvSpPr txBox="1"/>
            <p:nvPr/>
          </p:nvSpPr>
          <p:spPr>
            <a:xfrm>
              <a:off x="7024565" y="1860130"/>
              <a:ext cx="1082348" cy="523220"/>
            </a:xfrm>
            <a:prstGeom prst="rect">
              <a:avLst/>
            </a:prstGeom>
            <a:noFill/>
          </p:spPr>
          <p:txBody>
            <a:bodyPr wrap="none" rtlCol="0">
              <a:spAutoFit/>
            </a:bodyPr>
            <a:lstStyle/>
            <a:p>
              <a:pPr algn="ctr"/>
              <a:r>
                <a:rPr lang="zh-CN" altLang="en-US" sz="1400" dirty="0" smtClean="0"/>
                <a:t>可信度自评</a:t>
              </a:r>
              <a:endParaRPr lang="en-US" altLang="zh-CN" sz="1400" dirty="0" smtClean="0"/>
            </a:p>
            <a:p>
              <a:pPr algn="ctr"/>
              <a:r>
                <a:rPr lang="zh-CN" altLang="en-US" sz="1400" dirty="0" smtClean="0"/>
                <a:t>（售前）</a:t>
              </a:r>
              <a:endParaRPr lang="zh-CN" altLang="en-US" sz="1400" dirty="0"/>
            </a:p>
          </p:txBody>
        </p:sp>
      </p:grpSp>
      <p:grpSp>
        <p:nvGrpSpPr>
          <p:cNvPr id="9" name="组合 8"/>
          <p:cNvGrpSpPr/>
          <p:nvPr/>
        </p:nvGrpSpPr>
        <p:grpSpPr>
          <a:xfrm>
            <a:off x="8460022" y="1173709"/>
            <a:ext cx="1856598" cy="1296956"/>
            <a:chOff x="6637442" y="1212979"/>
            <a:chExt cx="1856598" cy="1296956"/>
          </a:xfrm>
        </p:grpSpPr>
        <p:sp>
          <p:nvSpPr>
            <p:cNvPr id="10" name="圆角矩形 9"/>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椭圆 10"/>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a:t>
              </a:r>
              <a:endParaRPr lang="zh-CN" altLang="en-US" dirty="0"/>
            </a:p>
          </p:txBody>
        </p:sp>
        <p:sp>
          <p:nvSpPr>
            <p:cNvPr id="12" name="文本框 11"/>
            <p:cNvSpPr txBox="1"/>
            <p:nvPr/>
          </p:nvSpPr>
          <p:spPr>
            <a:xfrm>
              <a:off x="6637442" y="1860130"/>
              <a:ext cx="1856598" cy="523220"/>
            </a:xfrm>
            <a:prstGeom prst="rect">
              <a:avLst/>
            </a:prstGeom>
            <a:noFill/>
          </p:spPr>
          <p:txBody>
            <a:bodyPr wrap="none" rtlCol="0">
              <a:spAutoFit/>
            </a:bodyPr>
            <a:lstStyle/>
            <a:p>
              <a:pPr algn="ctr"/>
              <a:r>
                <a:rPr lang="zh-CN" altLang="en-US" sz="1400" dirty="0" smtClean="0"/>
                <a:t>可信度检查</a:t>
              </a:r>
              <a:endParaRPr lang="en-US" altLang="zh-CN" sz="1400" dirty="0" smtClean="0"/>
            </a:p>
            <a:p>
              <a:pPr algn="ctr"/>
              <a:r>
                <a:rPr lang="zh-CN" altLang="en-US" sz="1400" dirty="0" smtClean="0"/>
                <a:t>（供应链</a:t>
              </a:r>
              <a:r>
                <a:rPr lang="en-US" altLang="zh-CN" sz="1400" dirty="0" smtClean="0"/>
                <a:t>/</a:t>
              </a:r>
              <a:r>
                <a:rPr lang="zh-CN" altLang="en-US" sz="1400" dirty="0" smtClean="0"/>
                <a:t>技术经理）</a:t>
              </a:r>
              <a:endParaRPr lang="zh-CN" altLang="en-US" sz="1400" dirty="0"/>
            </a:p>
          </p:txBody>
        </p:sp>
      </p:grpSp>
      <p:cxnSp>
        <p:nvCxnSpPr>
          <p:cNvPr id="14" name="直接箭头连接符 13"/>
          <p:cNvCxnSpPr/>
          <p:nvPr/>
        </p:nvCxnSpPr>
        <p:spPr>
          <a:xfrm>
            <a:off x="8024327"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10817290" y="1166326"/>
            <a:ext cx="1228867" cy="1296956"/>
            <a:chOff x="6951305" y="1212979"/>
            <a:chExt cx="1228867" cy="1296956"/>
          </a:xfrm>
        </p:grpSpPr>
        <p:sp>
          <p:nvSpPr>
            <p:cNvPr id="17" name="圆角矩形 16"/>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3</a:t>
              </a:r>
              <a:endParaRPr lang="zh-CN" altLang="en-US" dirty="0"/>
            </a:p>
          </p:txBody>
        </p:sp>
        <p:sp>
          <p:nvSpPr>
            <p:cNvPr id="19" name="文本框 18"/>
            <p:cNvSpPr txBox="1"/>
            <p:nvPr/>
          </p:nvSpPr>
          <p:spPr>
            <a:xfrm>
              <a:off x="7114336" y="1860130"/>
              <a:ext cx="902811" cy="523220"/>
            </a:xfrm>
            <a:prstGeom prst="rect">
              <a:avLst/>
            </a:prstGeom>
            <a:noFill/>
          </p:spPr>
          <p:txBody>
            <a:bodyPr wrap="none" rtlCol="0">
              <a:spAutoFit/>
            </a:bodyPr>
            <a:lstStyle/>
            <a:p>
              <a:pPr algn="ctr"/>
              <a:r>
                <a:rPr lang="zh-CN" altLang="en-US" sz="1400" dirty="0" smtClean="0"/>
                <a:t>更新清单</a:t>
              </a:r>
              <a:endParaRPr lang="en-US" altLang="zh-CN" sz="1400" dirty="0" smtClean="0"/>
            </a:p>
            <a:p>
              <a:pPr algn="ctr"/>
              <a:r>
                <a:rPr lang="zh-CN" altLang="en-US" sz="1400" dirty="0" smtClean="0"/>
                <a:t>（售前）</a:t>
              </a:r>
              <a:endParaRPr lang="zh-CN" altLang="en-US" sz="1400" dirty="0"/>
            </a:p>
          </p:txBody>
        </p:sp>
      </p:grpSp>
      <p:cxnSp>
        <p:nvCxnSpPr>
          <p:cNvPr id="20" name="直接箭头连接符 19"/>
          <p:cNvCxnSpPr/>
          <p:nvPr/>
        </p:nvCxnSpPr>
        <p:spPr>
          <a:xfrm>
            <a:off x="10105053"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0845282" y="3116424"/>
            <a:ext cx="1228867" cy="1296956"/>
            <a:chOff x="6951305" y="1212979"/>
            <a:chExt cx="1228867" cy="1296956"/>
          </a:xfrm>
        </p:grpSpPr>
        <p:sp>
          <p:nvSpPr>
            <p:cNvPr id="22" name="圆角矩形 2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24" name="文本框 23"/>
            <p:cNvSpPr txBox="1"/>
            <p:nvPr/>
          </p:nvSpPr>
          <p:spPr>
            <a:xfrm>
              <a:off x="7114337" y="1860130"/>
              <a:ext cx="902811" cy="523220"/>
            </a:xfrm>
            <a:prstGeom prst="rect">
              <a:avLst/>
            </a:prstGeom>
            <a:noFill/>
          </p:spPr>
          <p:txBody>
            <a:bodyPr wrap="none" rtlCol="0">
              <a:spAutoFit/>
            </a:bodyPr>
            <a:lstStyle/>
            <a:p>
              <a:pPr algn="ctr"/>
              <a:r>
                <a:rPr lang="zh-CN" altLang="en-US" sz="1400" dirty="0" smtClean="0"/>
                <a:t>评分</a:t>
              </a:r>
              <a:endParaRPr lang="en-US" altLang="zh-CN" sz="1400" dirty="0" smtClean="0"/>
            </a:p>
            <a:p>
              <a:pPr algn="ctr"/>
              <a:r>
                <a:rPr lang="zh-CN" altLang="en-US" sz="1400" dirty="0" smtClean="0"/>
                <a:t>（售前）</a:t>
              </a:r>
              <a:endParaRPr lang="zh-CN" altLang="en-US" sz="1400" dirty="0"/>
            </a:p>
          </p:txBody>
        </p:sp>
      </p:grpSp>
      <p:cxnSp>
        <p:nvCxnSpPr>
          <p:cNvPr id="25" name="直接箭头连接符 24"/>
          <p:cNvCxnSpPr/>
          <p:nvPr/>
        </p:nvCxnSpPr>
        <p:spPr>
          <a:xfrm>
            <a:off x="11400454" y="2509540"/>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8773885" y="3117816"/>
            <a:ext cx="1228867" cy="1296956"/>
            <a:chOff x="6951305" y="1212979"/>
            <a:chExt cx="1228867" cy="1296956"/>
          </a:xfrm>
        </p:grpSpPr>
        <p:sp>
          <p:nvSpPr>
            <p:cNvPr id="28" name="圆角矩形 27"/>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30" name="文本框 29"/>
            <p:cNvSpPr txBox="1"/>
            <p:nvPr/>
          </p:nvSpPr>
          <p:spPr>
            <a:xfrm>
              <a:off x="7114337" y="1860130"/>
              <a:ext cx="902811" cy="523220"/>
            </a:xfrm>
            <a:prstGeom prst="rect">
              <a:avLst/>
            </a:prstGeom>
            <a:noFill/>
          </p:spPr>
          <p:txBody>
            <a:bodyPr wrap="none" rtlCol="0">
              <a:spAutoFit/>
            </a:bodyPr>
            <a:lstStyle/>
            <a:p>
              <a:pPr algn="ctr"/>
              <a:r>
                <a:rPr lang="zh-CN" altLang="en-US" sz="1400" dirty="0" smtClean="0"/>
                <a:t>分享销售</a:t>
              </a:r>
              <a:endParaRPr lang="en-US" altLang="zh-CN" sz="1400" dirty="0" smtClean="0"/>
            </a:p>
            <a:p>
              <a:pPr algn="ctr"/>
              <a:r>
                <a:rPr lang="zh-CN" altLang="en-US" sz="1400" dirty="0" smtClean="0"/>
                <a:t>（售前）</a:t>
              </a:r>
              <a:endParaRPr lang="zh-CN" altLang="en-US" sz="1400" dirty="0"/>
            </a:p>
          </p:txBody>
        </p:sp>
      </p:grpSp>
      <p:grpSp>
        <p:nvGrpSpPr>
          <p:cNvPr id="31" name="组合 30"/>
          <p:cNvGrpSpPr/>
          <p:nvPr/>
        </p:nvGrpSpPr>
        <p:grpSpPr>
          <a:xfrm>
            <a:off x="6662056" y="3101100"/>
            <a:ext cx="1228867" cy="1296956"/>
            <a:chOff x="6951305" y="1212979"/>
            <a:chExt cx="1228867" cy="1296956"/>
          </a:xfrm>
        </p:grpSpPr>
        <p:sp>
          <p:nvSpPr>
            <p:cNvPr id="32" name="圆角矩形 3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椭圆 3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sp>
          <p:nvSpPr>
            <p:cNvPr id="34" name="文本框 33"/>
            <p:cNvSpPr txBox="1"/>
            <p:nvPr/>
          </p:nvSpPr>
          <p:spPr>
            <a:xfrm>
              <a:off x="7108726" y="1860130"/>
              <a:ext cx="914033" cy="523220"/>
            </a:xfrm>
            <a:prstGeom prst="rect">
              <a:avLst/>
            </a:prstGeom>
            <a:noFill/>
          </p:spPr>
          <p:txBody>
            <a:bodyPr wrap="none" rtlCol="0">
              <a:spAutoFit/>
            </a:bodyPr>
            <a:lstStyle/>
            <a:p>
              <a:pPr algn="ctr"/>
              <a:r>
                <a:rPr lang="zh-CN" altLang="en-US" sz="1400" dirty="0" smtClean="0"/>
                <a:t>导入</a:t>
              </a:r>
              <a:r>
                <a:rPr lang="en-US" altLang="zh-CN" sz="1400" dirty="0" smtClean="0"/>
                <a:t>ECP</a:t>
              </a:r>
            </a:p>
            <a:p>
              <a:pPr algn="ctr"/>
              <a:r>
                <a:rPr lang="zh-CN" altLang="en-US" sz="1400" dirty="0" smtClean="0"/>
                <a:t>（销售）</a:t>
              </a:r>
              <a:endParaRPr lang="zh-CN" altLang="en-US" sz="1400" dirty="0"/>
            </a:p>
          </p:txBody>
        </p:sp>
      </p:grpSp>
      <p:cxnSp>
        <p:nvCxnSpPr>
          <p:cNvPr id="35" name="直接箭头连接符 34"/>
          <p:cNvCxnSpPr/>
          <p:nvPr/>
        </p:nvCxnSpPr>
        <p:spPr>
          <a:xfrm flipH="1">
            <a:off x="10067147" y="3748251"/>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H="1">
            <a:off x="7948516" y="3742259"/>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6662056" y="5163165"/>
            <a:ext cx="1228867" cy="1296956"/>
            <a:chOff x="6951305" y="1212979"/>
            <a:chExt cx="1228867" cy="1296956"/>
          </a:xfrm>
        </p:grpSpPr>
        <p:sp>
          <p:nvSpPr>
            <p:cNvPr id="39" name="圆角矩形 38"/>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7</a:t>
              </a:r>
              <a:endParaRPr lang="zh-CN" altLang="en-US" dirty="0"/>
            </a:p>
          </p:txBody>
        </p:sp>
        <p:sp>
          <p:nvSpPr>
            <p:cNvPr id="41" name="文本框 40"/>
            <p:cNvSpPr txBox="1"/>
            <p:nvPr/>
          </p:nvSpPr>
          <p:spPr>
            <a:xfrm>
              <a:off x="7089493" y="1860130"/>
              <a:ext cx="952505" cy="523220"/>
            </a:xfrm>
            <a:prstGeom prst="rect">
              <a:avLst/>
            </a:prstGeom>
            <a:noFill/>
          </p:spPr>
          <p:txBody>
            <a:bodyPr wrap="none" rtlCol="0">
              <a:spAutoFit/>
            </a:bodyPr>
            <a:lstStyle/>
            <a:p>
              <a:pPr algn="ctr"/>
              <a:r>
                <a:rPr lang="zh-CN" altLang="en-US" sz="1400" dirty="0" smtClean="0"/>
                <a:t>保存</a:t>
              </a:r>
              <a:r>
                <a:rPr lang="en-US" altLang="zh-CN" sz="1400" dirty="0" smtClean="0"/>
                <a:t>CRM</a:t>
              </a:r>
            </a:p>
            <a:p>
              <a:pPr algn="ctr"/>
              <a:r>
                <a:rPr lang="zh-CN" altLang="en-US" sz="1400" dirty="0" smtClean="0"/>
                <a:t>（销售）</a:t>
              </a:r>
              <a:endParaRPr lang="zh-CN" altLang="en-US" sz="1400" dirty="0"/>
            </a:p>
          </p:txBody>
        </p:sp>
      </p:grpSp>
      <p:cxnSp>
        <p:nvCxnSpPr>
          <p:cNvPr id="42" name="直接箭头连接符 41"/>
          <p:cNvCxnSpPr/>
          <p:nvPr/>
        </p:nvCxnSpPr>
        <p:spPr>
          <a:xfrm>
            <a:off x="7276488" y="4524952"/>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8804935" y="5147841"/>
            <a:ext cx="1228867" cy="1296956"/>
            <a:chOff x="6951305" y="1212979"/>
            <a:chExt cx="1228867" cy="1296956"/>
          </a:xfrm>
        </p:grpSpPr>
        <p:sp>
          <p:nvSpPr>
            <p:cNvPr id="44" name="圆角矩形 4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8</a:t>
              </a:r>
              <a:endParaRPr lang="zh-CN" altLang="en-US" dirty="0"/>
            </a:p>
          </p:txBody>
        </p:sp>
        <p:sp>
          <p:nvSpPr>
            <p:cNvPr id="46" name="文本框 45"/>
            <p:cNvSpPr txBox="1"/>
            <p:nvPr/>
          </p:nvSpPr>
          <p:spPr>
            <a:xfrm>
              <a:off x="7114339" y="1860130"/>
              <a:ext cx="902811" cy="523220"/>
            </a:xfrm>
            <a:prstGeom prst="rect">
              <a:avLst/>
            </a:prstGeom>
            <a:noFill/>
          </p:spPr>
          <p:txBody>
            <a:bodyPr wrap="none" rtlCol="0">
              <a:spAutoFit/>
            </a:bodyPr>
            <a:lstStyle/>
            <a:p>
              <a:pPr algn="ctr"/>
              <a:r>
                <a:rPr lang="zh-CN" altLang="en-US" sz="1400" dirty="0" smtClean="0"/>
                <a:t>清单核查</a:t>
              </a:r>
              <a:endParaRPr lang="en-US" altLang="zh-CN" sz="1400" dirty="0" smtClean="0"/>
            </a:p>
            <a:p>
              <a:pPr algn="ctr"/>
              <a:r>
                <a:rPr lang="zh-CN" altLang="en-US" sz="1400" dirty="0" smtClean="0"/>
                <a:t>（售前）</a:t>
              </a:r>
              <a:endParaRPr lang="zh-CN" altLang="en-US" sz="1400" dirty="0"/>
            </a:p>
          </p:txBody>
        </p:sp>
      </p:grpSp>
      <p:cxnSp>
        <p:nvCxnSpPr>
          <p:cNvPr id="47" name="直接箭头连接符 46"/>
          <p:cNvCxnSpPr/>
          <p:nvPr/>
        </p:nvCxnSpPr>
        <p:spPr>
          <a:xfrm>
            <a:off x="8024327" y="5813653"/>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48" name="矩形标注 47"/>
          <p:cNvSpPr/>
          <p:nvPr/>
        </p:nvSpPr>
        <p:spPr>
          <a:xfrm>
            <a:off x="7727894" y="489093"/>
            <a:ext cx="1197093" cy="479198"/>
          </a:xfrm>
          <a:prstGeom prst="wedgeRectCallout">
            <a:avLst>
              <a:gd name="adj1" fmla="val 50672"/>
              <a:gd name="adj2" fmla="val 124809"/>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系统上线后自动提醒</a:t>
            </a:r>
            <a:endParaRPr lang="zh-CN" altLang="en-US" sz="1200" dirty="0">
              <a:solidFill>
                <a:schemeClr val="tx1"/>
              </a:solidFill>
            </a:endParaRPr>
          </a:p>
        </p:txBody>
      </p:sp>
      <p:sp>
        <p:nvSpPr>
          <p:cNvPr id="49" name="矩形标注 48"/>
          <p:cNvSpPr/>
          <p:nvPr/>
        </p:nvSpPr>
        <p:spPr>
          <a:xfrm>
            <a:off x="7892749" y="2561479"/>
            <a:ext cx="1946980" cy="479198"/>
          </a:xfrm>
          <a:prstGeom prst="wedgeRectCallout">
            <a:avLst>
              <a:gd name="adj1" fmla="val -58911"/>
              <a:gd name="adj2" fmla="val -104953"/>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分级分层：新进漏斗、</a:t>
            </a:r>
            <a:r>
              <a:rPr lang="en-US" altLang="zh-CN" sz="1200" dirty="0" smtClean="0">
                <a:solidFill>
                  <a:schemeClr val="tx1"/>
                </a:solidFill>
              </a:rPr>
              <a:t>30</a:t>
            </a:r>
            <a:r>
              <a:rPr lang="zh-CN" altLang="en-US" sz="1200" dirty="0" smtClean="0">
                <a:solidFill>
                  <a:schemeClr val="tx1"/>
                </a:solidFill>
              </a:rPr>
              <a:t>天内开标、预测类别变化</a:t>
            </a:r>
            <a:endParaRPr lang="zh-CN" altLang="en-US" sz="1200" dirty="0">
              <a:solidFill>
                <a:schemeClr val="tx1"/>
              </a:solidFill>
            </a:endParaRPr>
          </a:p>
        </p:txBody>
      </p:sp>
      <p:sp>
        <p:nvSpPr>
          <p:cNvPr id="51" name="矩形标注 50"/>
          <p:cNvSpPr/>
          <p:nvPr/>
        </p:nvSpPr>
        <p:spPr>
          <a:xfrm>
            <a:off x="10423848" y="4723359"/>
            <a:ext cx="1143487" cy="883071"/>
          </a:xfrm>
          <a:prstGeom prst="wedgeRectCallout">
            <a:avLst>
              <a:gd name="adj1" fmla="val -94725"/>
              <a:gd name="adj2" fmla="val 46610"/>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rPr>
              <a:t>通过</a:t>
            </a:r>
            <a:r>
              <a:rPr lang="en-US" altLang="zh-CN" sz="1200" dirty="0" smtClean="0">
                <a:solidFill>
                  <a:schemeClr val="tx1"/>
                </a:solidFill>
              </a:rPr>
              <a:t>ECP</a:t>
            </a:r>
            <a:r>
              <a:rPr lang="zh-CN" altLang="en-US" sz="1200" dirty="0" smtClean="0">
                <a:solidFill>
                  <a:schemeClr val="tx1"/>
                </a:solidFill>
              </a:rPr>
              <a:t>系统上的自动比对功能核查清单</a:t>
            </a:r>
            <a:endParaRPr lang="zh-CN" altLang="en-US" sz="1200" dirty="0">
              <a:solidFill>
                <a:schemeClr val="tx1"/>
              </a:solidFill>
            </a:endParaRPr>
          </a:p>
        </p:txBody>
      </p:sp>
      <p:graphicFrame>
        <p:nvGraphicFramePr>
          <p:cNvPr id="15" name="表格 14"/>
          <p:cNvGraphicFramePr>
            <a:graphicFrameLocks noGrp="1"/>
          </p:cNvGraphicFramePr>
          <p:nvPr>
            <p:extLst>
              <p:ext uri="{D42A27DB-BD31-4B8C-83A1-F6EECF244321}">
                <p14:modId xmlns:p14="http://schemas.microsoft.com/office/powerpoint/2010/main" val="2196938083"/>
              </p:ext>
            </p:extLst>
          </p:nvPr>
        </p:nvGraphicFramePr>
        <p:xfrm>
          <a:off x="103913" y="824146"/>
          <a:ext cx="6390194" cy="6060655"/>
        </p:xfrm>
        <a:graphic>
          <a:graphicData uri="http://schemas.openxmlformats.org/drawingml/2006/table">
            <a:tbl>
              <a:tblPr/>
              <a:tblGrid>
                <a:gridCol w="664706"/>
                <a:gridCol w="702968"/>
                <a:gridCol w="832462"/>
                <a:gridCol w="665970"/>
                <a:gridCol w="1535429"/>
                <a:gridCol w="1988659"/>
              </a:tblGrid>
              <a:tr h="256351">
                <a:tc>
                  <a:txBody>
                    <a:bodyPr/>
                    <a:lstStyle/>
                    <a:p>
                      <a:pPr algn="ctr" fontAlgn="ctr" latinLnBrk="0"/>
                      <a:r>
                        <a:rPr lang="zh-CN" altLang="en-US" sz="1000" b="1" i="0" dirty="0">
                          <a:solidFill>
                            <a:srgbClr val="000000"/>
                          </a:solidFill>
                          <a:effectLst/>
                        </a:rPr>
                        <a:t>工序名称</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工序步骤</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工序名称</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dirty="0">
                          <a:solidFill>
                            <a:srgbClr val="000000"/>
                          </a:solidFill>
                          <a:effectLst/>
                        </a:rPr>
                        <a:t>工序角色</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经验</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问题</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r>
              <a:tr h="718806">
                <a:tc rowSpan="9">
                  <a:txBody>
                    <a:bodyPr/>
                    <a:lstStyle/>
                    <a:p>
                      <a:pPr algn="ctr" fontAlgn="ctr" latinLnBrk="0"/>
                      <a:r>
                        <a:rPr lang="zh-CN" altLang="en-US" sz="1000" b="0" i="0">
                          <a:solidFill>
                            <a:srgbClr val="000000"/>
                          </a:solidFill>
                          <a:effectLst/>
                        </a:rPr>
                        <a:t>漏斗内项目管理</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rPr>
                        <a:t>1</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effectLst/>
                        </a:rPr>
                        <a:t>可信度自评</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、按照新增漏斗内项目流程自评</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、分层分级自评，新进漏斗</a:t>
                      </a:r>
                      <a:r>
                        <a:rPr lang="en-US" altLang="zh-CN" sz="1000" b="0" i="0" dirty="0">
                          <a:solidFill>
                            <a:srgbClr val="000000"/>
                          </a:solidFill>
                          <a:effectLst/>
                        </a:rPr>
                        <a:t>-30</a:t>
                      </a:r>
                      <a:r>
                        <a:rPr lang="zh-CN" altLang="en-US" sz="1000" b="0" i="0" dirty="0">
                          <a:solidFill>
                            <a:srgbClr val="000000"/>
                          </a:solidFill>
                          <a:effectLst/>
                        </a:rPr>
                        <a:t>天内开标</a:t>
                      </a:r>
                      <a:r>
                        <a:rPr lang="en-US" altLang="zh-CN" sz="1000" b="0" i="0" dirty="0">
                          <a:solidFill>
                            <a:srgbClr val="000000"/>
                          </a:solidFill>
                          <a:effectLst/>
                        </a:rPr>
                        <a:t>-</a:t>
                      </a:r>
                      <a:r>
                        <a:rPr lang="zh-CN" altLang="en-US" sz="1000" b="0" i="0" dirty="0">
                          <a:solidFill>
                            <a:srgbClr val="000000"/>
                          </a:solidFill>
                          <a:effectLst/>
                        </a:rPr>
                        <a:t>预测类别变化。</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a:solidFill>
                            <a:srgbClr val="000000"/>
                          </a:solidFill>
                          <a:effectLst/>
                        </a:rPr>
                        <a:t>1</a:t>
                      </a:r>
                      <a:r>
                        <a:rPr lang="zh-CN" altLang="en-US" sz="1000" b="0" i="0">
                          <a:solidFill>
                            <a:srgbClr val="000000"/>
                          </a:solidFill>
                          <a:effectLst/>
                        </a:rPr>
                        <a:t>、需要专人每天提醒，系统上线后解决。</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718806">
                <a:tc vMerge="1">
                  <a:txBody>
                    <a:bodyPr/>
                    <a:lstStyle/>
                    <a:p>
                      <a:endParaRPr lang="zh-CN" altLang="en-US"/>
                    </a:p>
                  </a:txBody>
                  <a:tcPr/>
                </a:tc>
                <a:tc>
                  <a:txBody>
                    <a:bodyPr/>
                    <a:lstStyle/>
                    <a:p>
                      <a:pPr algn="ctr" fontAlgn="ctr" latinLnBrk="0"/>
                      <a:r>
                        <a:rPr lang="en-US" altLang="zh-CN" sz="1050" b="0" i="0">
                          <a:solidFill>
                            <a:srgbClr val="000000"/>
                          </a:solidFill>
                          <a:effectLst/>
                        </a:rPr>
                        <a:t>2</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可信度检查</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供应链</a:t>
                      </a:r>
                      <a:r>
                        <a:rPr lang="en-US" altLang="zh-CN" sz="1000" b="0" i="0" dirty="0">
                          <a:solidFill>
                            <a:srgbClr val="000000"/>
                          </a:solidFill>
                          <a:effectLst/>
                        </a:rPr>
                        <a:t>/</a:t>
                      </a:r>
                      <a:r>
                        <a:rPr lang="zh-CN" altLang="en-US" sz="1000" b="0" i="0" dirty="0">
                          <a:solidFill>
                            <a:srgbClr val="000000"/>
                          </a:solidFill>
                          <a:effectLst/>
                        </a:rPr>
                        <a:t>技术经理</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、根据预测类别设定可信度值 </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、自评值和目标值自动比对，给出结果</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、每天根据结果提醒对应售前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a:solidFill>
                            <a:srgbClr val="000000"/>
                          </a:solidFill>
                          <a:effectLst/>
                        </a:rPr>
                        <a:t>1</a:t>
                      </a:r>
                      <a:r>
                        <a:rPr lang="zh-CN" altLang="en-US" sz="1000" b="0" i="0">
                          <a:solidFill>
                            <a:srgbClr val="000000"/>
                          </a:solidFill>
                          <a:effectLst/>
                        </a:rPr>
                        <a:t>、需要专人每日跟催，系统上线后解决。</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718806">
                <a:tc vMerge="1">
                  <a:txBody>
                    <a:bodyPr/>
                    <a:lstStyle/>
                    <a:p>
                      <a:endParaRPr lang="zh-CN" altLang="en-US"/>
                    </a:p>
                  </a:txBody>
                  <a:tcPr/>
                </a:tc>
                <a:tc>
                  <a:txBody>
                    <a:bodyPr/>
                    <a:lstStyle/>
                    <a:p>
                      <a:pPr algn="ctr" fontAlgn="ctr" latinLnBrk="0"/>
                      <a:r>
                        <a:rPr lang="en-US" altLang="zh-CN" sz="1050" b="0" i="0">
                          <a:solidFill>
                            <a:srgbClr val="000000"/>
                          </a:solidFill>
                          <a:effectLst/>
                        </a:rPr>
                        <a:t>3</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更新清单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当客户需求变化时，主动更新清单。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线下清单修改比较方便，但不能导入到配置器。需要在配置器上更新后，再按照渠道要求的格式导出编辑。</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64654">
                <a:tc vMerge="1">
                  <a:txBody>
                    <a:bodyPr/>
                    <a:lstStyle/>
                    <a:p>
                      <a:endParaRPr lang="zh-CN" altLang="en-US"/>
                    </a:p>
                  </a:txBody>
                  <a:tcPr/>
                </a:tc>
                <a:tc>
                  <a:txBody>
                    <a:bodyPr/>
                    <a:lstStyle/>
                    <a:p>
                      <a:pPr algn="ctr" fontAlgn="ctr" latinLnBrk="0"/>
                      <a:r>
                        <a:rPr lang="en-US" altLang="zh-CN" sz="1050" b="0" i="0">
                          <a:solidFill>
                            <a:srgbClr val="000000"/>
                          </a:solidFill>
                          <a:effectLst/>
                        </a:rPr>
                        <a:t>4</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a:solidFill>
                            <a:srgbClr val="000000"/>
                          </a:solidFill>
                          <a:effectLst/>
                        </a:rPr>
                        <a:t>1</a:t>
                      </a:r>
                      <a:r>
                        <a:rPr lang="zh-CN" altLang="en-US" sz="1000" b="0" i="0">
                          <a:solidFill>
                            <a:srgbClr val="000000"/>
                          </a:solidFill>
                          <a:effectLst/>
                        </a:rPr>
                        <a:t>、希望在系统上评分，每个项目手动评分太麻烦；</a:t>
                      </a:r>
                      <a:r>
                        <a:rPr lang="en-US" altLang="zh-CN" sz="1000" b="0" i="0">
                          <a:solidFill>
                            <a:srgbClr val="000000"/>
                          </a:solidFill>
                          <a:effectLst/>
                        </a:rPr>
                        <a:t>--</a:t>
                      </a:r>
                      <a:r>
                        <a:rPr lang="zh-CN" altLang="en-US" sz="1000" b="0" i="0">
                          <a:solidFill>
                            <a:srgbClr val="000000"/>
                          </a:solidFill>
                          <a:effectLst/>
                        </a:rPr>
                        <a:t>后续系统自动同步，无需手工邮件。</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275620">
                <a:tc vMerge="1">
                  <a:txBody>
                    <a:bodyPr/>
                    <a:lstStyle/>
                    <a:p>
                      <a:endParaRPr lang="zh-CN" altLang="en-US"/>
                    </a:p>
                  </a:txBody>
                  <a:tcPr/>
                </a:tc>
                <a:tc>
                  <a:txBody>
                    <a:bodyPr/>
                    <a:lstStyle/>
                    <a:p>
                      <a:pPr algn="ctr" fontAlgn="ctr" latinLnBrk="0"/>
                      <a:r>
                        <a:rPr lang="en-US" altLang="zh-CN" sz="1050" b="0" i="0">
                          <a:solidFill>
                            <a:srgbClr val="000000"/>
                          </a:solidFill>
                          <a:effectLst/>
                        </a:rPr>
                        <a:t>5</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分享销售</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275620">
                <a:tc vMerge="1">
                  <a:txBody>
                    <a:bodyPr/>
                    <a:lstStyle/>
                    <a:p>
                      <a:endParaRPr lang="zh-CN" altLang="en-US"/>
                    </a:p>
                  </a:txBody>
                  <a:tcPr/>
                </a:tc>
                <a:tc>
                  <a:txBody>
                    <a:bodyPr/>
                    <a:lstStyle/>
                    <a:p>
                      <a:pPr algn="ctr" fontAlgn="ctr" latinLnBrk="0"/>
                      <a:r>
                        <a:rPr lang="en-US" altLang="zh-CN" sz="1050" b="0" i="0">
                          <a:solidFill>
                            <a:srgbClr val="000000"/>
                          </a:solidFill>
                          <a:effectLst/>
                        </a:rPr>
                        <a:t>6</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评分邮件</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1027109">
                <a:tc vMerge="1">
                  <a:txBody>
                    <a:bodyPr/>
                    <a:lstStyle/>
                    <a:p>
                      <a:endParaRPr lang="zh-CN" altLang="en-US"/>
                    </a:p>
                  </a:txBody>
                  <a:tcPr/>
                </a:tc>
                <a:tc>
                  <a:txBody>
                    <a:bodyPr/>
                    <a:lstStyle/>
                    <a:p>
                      <a:pPr algn="ctr" fontAlgn="ctr" latinLnBrk="0"/>
                      <a:r>
                        <a:rPr lang="en-US" altLang="zh-CN" sz="1050" b="0" i="0">
                          <a:solidFill>
                            <a:srgbClr val="000000"/>
                          </a:solidFill>
                          <a:effectLst/>
                        </a:rPr>
                        <a:t>7</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导入</a:t>
                      </a:r>
                      <a:r>
                        <a:rPr lang="en-US" sz="1000" b="0" i="0">
                          <a:solidFill>
                            <a:srgbClr val="000000"/>
                          </a:solidFill>
                          <a:effectLst/>
                        </a:rPr>
                        <a:t>ECP</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、还是显示多个，得手动选择；</a:t>
                      </a:r>
                      <a:r>
                        <a:rPr lang="en-US" altLang="zh-CN" sz="1000" b="0" i="0" dirty="0">
                          <a:solidFill>
                            <a:srgbClr val="000000"/>
                          </a:solidFill>
                          <a:effectLst/>
                        </a:rPr>
                        <a:t>--</a:t>
                      </a:r>
                      <a:r>
                        <a:rPr lang="zh-CN" altLang="en-US" sz="1000" b="0" i="0" dirty="0">
                          <a:solidFill>
                            <a:srgbClr val="000000"/>
                          </a:solidFill>
                          <a:effectLst/>
                        </a:rPr>
                        <a:t>导入时让售前分享，会显示在第一个；</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、希望可以自动匹配；</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、进入</a:t>
                      </a:r>
                      <a:r>
                        <a:rPr lang="en-US" altLang="zh-CN" sz="1000" b="0" i="0" dirty="0">
                          <a:solidFill>
                            <a:srgbClr val="000000"/>
                          </a:solidFill>
                          <a:effectLst/>
                        </a:rPr>
                        <a:t>ECP</a:t>
                      </a:r>
                      <a:r>
                        <a:rPr lang="zh-CN" altLang="en-US" sz="1000" b="0" i="0" dirty="0">
                          <a:solidFill>
                            <a:srgbClr val="000000"/>
                          </a:solidFill>
                          <a:effectLst/>
                        </a:rPr>
                        <a:t>系统时自动提示是否导入新的清单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410502">
                <a:tc vMerge="1">
                  <a:txBody>
                    <a:bodyPr/>
                    <a:lstStyle/>
                    <a:p>
                      <a:endParaRPr lang="zh-CN" altLang="en-US"/>
                    </a:p>
                  </a:txBody>
                  <a:tcPr/>
                </a:tc>
                <a:tc>
                  <a:txBody>
                    <a:bodyPr/>
                    <a:lstStyle/>
                    <a:p>
                      <a:pPr algn="ctr" fontAlgn="ctr" latinLnBrk="0"/>
                      <a:r>
                        <a:rPr lang="en-US" altLang="zh-CN" sz="1050" b="0" i="0">
                          <a:solidFill>
                            <a:srgbClr val="000000"/>
                          </a:solidFill>
                          <a:effectLst/>
                        </a:rPr>
                        <a:t>8</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保存至</a:t>
                      </a:r>
                      <a:r>
                        <a:rPr lang="en-US" sz="1000" b="0" i="0">
                          <a:solidFill>
                            <a:srgbClr val="000000"/>
                          </a:solidFill>
                          <a:effectLst/>
                        </a:rPr>
                        <a:t>CRM</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ECP</a:t>
                      </a:r>
                      <a:r>
                        <a:rPr lang="zh-CN" altLang="en-US" sz="1000" b="0" i="0" dirty="0">
                          <a:solidFill>
                            <a:srgbClr val="000000"/>
                          </a:solidFill>
                          <a:effectLst/>
                        </a:rPr>
                        <a:t>系统</a:t>
                      </a:r>
                      <a:r>
                        <a:rPr lang="en-US" altLang="zh-CN" sz="1000" b="0" i="0" dirty="0">
                          <a:solidFill>
                            <a:srgbClr val="000000"/>
                          </a:solidFill>
                          <a:effectLst/>
                        </a:rPr>
                        <a:t>BUG</a:t>
                      </a:r>
                      <a:r>
                        <a:rPr lang="zh-CN" altLang="en-US" sz="1000" b="0" i="0" dirty="0">
                          <a:solidFill>
                            <a:srgbClr val="000000"/>
                          </a:solidFill>
                          <a:effectLst/>
                        </a:rPr>
                        <a:t>，已经勾选服务产品，老提示未勾选，刷新就好了</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64654">
                <a:tc vMerge="1">
                  <a:txBody>
                    <a:bodyPr/>
                    <a:lstStyle/>
                    <a:p>
                      <a:endParaRPr lang="zh-CN" altLang="en-US"/>
                    </a:p>
                  </a:txBody>
                  <a:tcPr/>
                </a:tc>
                <a:tc>
                  <a:txBody>
                    <a:bodyPr/>
                    <a:lstStyle/>
                    <a:p>
                      <a:pPr algn="ctr" fontAlgn="ctr" latinLnBrk="0"/>
                      <a:r>
                        <a:rPr lang="en-US" altLang="zh-CN" sz="1050" b="0" i="0" dirty="0">
                          <a:solidFill>
                            <a:srgbClr val="000000"/>
                          </a:solidFill>
                          <a:effectLst/>
                        </a:rPr>
                        <a:t>9</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核查是清单是否一致</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、自评后可以使用自动比对功能</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清单排序乱，不易检查；</a:t>
                      </a:r>
                      <a:r>
                        <a:rPr lang="en-US" altLang="zh-CN" sz="1000" b="0" i="0" dirty="0">
                          <a:solidFill>
                            <a:srgbClr val="000000"/>
                          </a:solidFill>
                          <a:effectLst/>
                        </a:rPr>
                        <a:t>--</a:t>
                      </a:r>
                      <a:r>
                        <a:rPr lang="zh-CN" altLang="en-US" sz="1000" b="0" i="0" dirty="0">
                          <a:solidFill>
                            <a:srgbClr val="000000"/>
                          </a:solidFill>
                          <a:effectLst/>
                        </a:rPr>
                        <a:t>通过</a:t>
                      </a:r>
                      <a:r>
                        <a:rPr lang="en-US" altLang="zh-CN" sz="1000" b="0" i="0" dirty="0">
                          <a:solidFill>
                            <a:srgbClr val="000000"/>
                          </a:solidFill>
                          <a:effectLst/>
                        </a:rPr>
                        <a:t>ECP</a:t>
                      </a:r>
                      <a:r>
                        <a:rPr lang="zh-CN" altLang="en-US" sz="1000" b="0" i="0" dirty="0">
                          <a:solidFill>
                            <a:srgbClr val="000000"/>
                          </a:solidFill>
                          <a:effectLst/>
                        </a:rPr>
                        <a:t>系统上的自动比对功能核查清单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920026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N</a:t>
            </a:r>
            <a:r>
              <a:rPr lang="zh-CN" altLang="en-US" dirty="0" smtClean="0"/>
              <a:t>试点案例分享</a:t>
            </a:r>
            <a:r>
              <a:rPr lang="en-US" altLang="zh-CN" dirty="0" smtClean="0"/>
              <a:t>-</a:t>
            </a:r>
            <a:r>
              <a:rPr lang="zh-CN" altLang="en-US" dirty="0" smtClean="0"/>
              <a:t>上海，山东区域</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456424274"/>
              </p:ext>
            </p:extLst>
          </p:nvPr>
        </p:nvGraphicFramePr>
        <p:xfrm>
          <a:off x="270589" y="1040388"/>
          <a:ext cx="6748047" cy="2019940"/>
        </p:xfrm>
        <a:graphic>
          <a:graphicData uri="http://schemas.openxmlformats.org/drawingml/2006/table">
            <a:tbl>
              <a:tblPr/>
              <a:tblGrid>
                <a:gridCol w="1458568"/>
                <a:gridCol w="1229391"/>
                <a:gridCol w="857474"/>
                <a:gridCol w="812240"/>
                <a:gridCol w="1195187"/>
                <a:gridCol w="1195187"/>
              </a:tblGrid>
              <a:tr h="509704">
                <a:tc>
                  <a:txBody>
                    <a:bodyPr/>
                    <a:lstStyle/>
                    <a:p>
                      <a:pPr algn="l" fontAlgn="ctr" latinLnBrk="0"/>
                      <a:r>
                        <a:rPr lang="zh-CN" altLang="en-US" sz="1100" b="1" i="0" dirty="0">
                          <a:solidFill>
                            <a:srgbClr val="000000"/>
                          </a:solidFill>
                          <a:effectLst/>
                        </a:rPr>
                        <a:t>区域</a:t>
                      </a:r>
                      <a:r>
                        <a:rPr lang="en-US" altLang="zh-CN" sz="1100" b="1" i="0" dirty="0">
                          <a:solidFill>
                            <a:srgbClr val="000000"/>
                          </a:solidFill>
                          <a:effectLst/>
                        </a:rPr>
                        <a:t>\</a:t>
                      </a:r>
                      <a:r>
                        <a:rPr lang="zh-CN" altLang="en-US" sz="1100" b="1" i="0" dirty="0">
                          <a:solidFill>
                            <a:srgbClr val="000000"/>
                          </a:solidFill>
                          <a:effectLst/>
                        </a:rPr>
                        <a:t>月度</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7</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2024</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环比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同比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377559">
                <a:tc>
                  <a:txBody>
                    <a:bodyPr/>
                    <a:lstStyle/>
                    <a:p>
                      <a:pPr algn="l" fontAlgn="ctr" latinLnBrk="0"/>
                      <a:r>
                        <a:rPr lang="zh-CN" altLang="en-US" sz="1100" b="0" i="0">
                          <a:solidFill>
                            <a:srgbClr val="000000"/>
                          </a:solidFill>
                          <a:effectLst/>
                        </a:rPr>
                        <a:t>山东（产品）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86%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28%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a:solidFill>
                            <a:srgbClr val="000000"/>
                          </a:solidFill>
                          <a:effectLst/>
                        </a:rPr>
                        <a:t>上海 （产品）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76%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46%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61%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30%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dirty="0">
                          <a:solidFill>
                            <a:srgbClr val="000000"/>
                          </a:solidFill>
                          <a:effectLst/>
                        </a:rPr>
                        <a:t>山东（金额）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90%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32%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20%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a:solidFill>
                            <a:srgbClr val="000000"/>
                          </a:solidFill>
                          <a:effectLst/>
                        </a:rPr>
                        <a:t>上海 （金额）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92%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51%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69%</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41%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23%</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bl>
          </a:graphicData>
        </a:graphic>
      </p:graphicFrame>
      <p:pic>
        <p:nvPicPr>
          <p:cNvPr id="8193" name="Picture 1" descr="https://ruijie.feishu.cn/space/api/box/stream/download/asynccode/?code=N2JiMDQ1ZjdiYWMyZjA3YmI4MThlOTVjMmQwMWQzMWZfNFhUOG8yc21yTk9aNDFVeU1pZkVTSEdaRHVZVE9CbTVfVG9rZW46S0o4cGJRVEE4b0ZQZWJ4bXE4dmNzdEpObnZoXzE3NTY0MzEyODk6MTc1NjQzNDg4OV9W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589" y="3202026"/>
            <a:ext cx="7212562" cy="28103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0" name="矩形 49"/>
          <p:cNvSpPr/>
          <p:nvPr/>
        </p:nvSpPr>
        <p:spPr>
          <a:xfrm>
            <a:off x="8224936" y="917568"/>
            <a:ext cx="3746241"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nvSpPr>
        <p:spPr>
          <a:xfrm rot="5400000">
            <a:off x="6332107" y="3253008"/>
            <a:ext cx="3043873" cy="24725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9197809" y="1047015"/>
            <a:ext cx="1800493" cy="369332"/>
          </a:xfrm>
          <a:prstGeom prst="rect">
            <a:avLst/>
          </a:prstGeom>
          <a:noFill/>
        </p:spPr>
        <p:txBody>
          <a:bodyPr wrap="none" rtlCol="0">
            <a:spAutoFit/>
          </a:bodyPr>
          <a:lstStyle/>
          <a:p>
            <a:r>
              <a:rPr lang="zh-CN" altLang="en-US" b="1" dirty="0" smtClean="0"/>
              <a:t>经验分享与总结</a:t>
            </a:r>
            <a:endParaRPr lang="zh-CN" altLang="en-US" b="1" dirty="0"/>
          </a:p>
        </p:txBody>
      </p:sp>
    </p:spTree>
    <p:extLst>
      <p:ext uri="{BB962C8B-B14F-4D97-AF65-F5344CB8AC3E}">
        <p14:creationId xmlns:p14="http://schemas.microsoft.com/office/powerpoint/2010/main" val="3075125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98803" y="3550975"/>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zh-CN" altLang="en-US" dirty="0" smtClean="0"/>
              <a:t>背景与意义</a:t>
            </a:r>
            <a:endParaRPr lang="en-US" altLang="zh-CN" dirty="0"/>
          </a:p>
          <a:p>
            <a:pPr marL="342900" indent="-342900">
              <a:lnSpc>
                <a:spcPct val="150000"/>
              </a:lnSpc>
              <a:buFont typeface="Arial" panose="020B0604020202090204" pitchFamily="34" charset="0"/>
              <a:buChar char="•"/>
              <a:defRPr/>
            </a:pPr>
            <a:r>
              <a:rPr lang="en-US" altLang="zh-CN" dirty="0" smtClean="0"/>
              <a:t>N</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en-US" altLang="zh-CN" dirty="0" smtClean="0"/>
              <a:t>3T</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zh-CN" altLang="en-US" dirty="0" smtClean="0"/>
              <a:t>答疑与互动</a:t>
            </a:r>
            <a:endParaRPr lang="zh-CN" altLang="en-US" dirty="0"/>
          </a:p>
        </p:txBody>
      </p:sp>
    </p:spTree>
    <p:extLst>
      <p:ext uri="{BB962C8B-B14F-4D97-AF65-F5344CB8AC3E}">
        <p14:creationId xmlns:p14="http://schemas.microsoft.com/office/powerpoint/2010/main" val="33689926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3T</a:t>
            </a:r>
            <a:r>
              <a:rPr lang="zh-CN" altLang="en-US" dirty="0" smtClean="0"/>
              <a:t>的定义</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865125245"/>
              </p:ext>
            </p:extLst>
          </p:nvPr>
        </p:nvGraphicFramePr>
        <p:xfrm>
          <a:off x="923732" y="2584867"/>
          <a:ext cx="10067728" cy="3729625"/>
        </p:xfrm>
        <a:graphic>
          <a:graphicData uri="http://schemas.openxmlformats.org/drawingml/2006/table">
            <a:tbl>
              <a:tblPr/>
              <a:tblGrid>
                <a:gridCol w="836322"/>
                <a:gridCol w="1168702"/>
                <a:gridCol w="2584011"/>
                <a:gridCol w="5478693"/>
              </a:tblGrid>
              <a:tr h="324315">
                <a:tc>
                  <a:txBody>
                    <a:bodyPr/>
                    <a:lstStyle/>
                    <a:p>
                      <a:pPr algn="ctr" fontAlgn="ctr" latinLnBrk="0"/>
                      <a:r>
                        <a:rPr lang="zh-CN" altLang="en-US" sz="1400" b="1" i="0" dirty="0">
                          <a:solidFill>
                            <a:srgbClr val="000000"/>
                          </a:solidFill>
                          <a:effectLst/>
                        </a:rPr>
                        <a:t>序号</a:t>
                      </a:r>
                    </a:p>
                  </a:txBody>
                  <a:tcPr anchor="ctr">
                    <a:lnL w="6350" cap="flat" cmpd="sng" algn="ctr">
                      <a:solidFill>
                        <a:srgbClr val="8072FA"/>
                      </a:solidFill>
                      <a:prstDash val="solid"/>
                      <a:round/>
                      <a:headEnd type="none" w="med" len="med"/>
                      <a:tailEnd type="none" w="med" len="med"/>
                    </a:lnL>
                    <a:lnR w="6350" cap="flat" cmpd="sng" algn="ctr">
                      <a:solidFill>
                        <a:srgbClr val="C074FA"/>
                      </a:solidFill>
                      <a:prstDash val="solid"/>
                      <a:round/>
                      <a:headEnd type="none" w="med" len="med"/>
                      <a:tailEnd type="none" w="med" len="med"/>
                    </a:lnR>
                    <a:lnT w="6350" cap="flat" cmpd="sng" algn="ctr">
                      <a:solidFill>
                        <a:srgbClr val="8072FA"/>
                      </a:solidFill>
                      <a:prstDash val="solid"/>
                      <a:round/>
                      <a:headEnd type="none" w="med" len="med"/>
                      <a:tailEnd type="none" w="med" len="med"/>
                    </a:lnT>
                    <a:lnB w="6350" cap="flat" cmpd="sng" algn="ctr">
                      <a:solidFill>
                        <a:srgbClr val="A070FA"/>
                      </a:solidFill>
                      <a:prstDash val="solid"/>
                      <a:round/>
                      <a:headEnd type="none" w="med" len="med"/>
                      <a:tailEnd type="none" w="med" len="med"/>
                    </a:lnB>
                    <a:solidFill>
                      <a:srgbClr val="FBE2D5"/>
                    </a:solidFill>
                  </a:tcPr>
                </a:tc>
                <a:tc>
                  <a:txBody>
                    <a:bodyPr/>
                    <a:lstStyle/>
                    <a:p>
                      <a:pPr algn="ctr" fontAlgn="ctr" latinLnBrk="0"/>
                      <a:r>
                        <a:rPr lang="en-US" sz="1400" b="1" i="0" dirty="0">
                          <a:solidFill>
                            <a:srgbClr val="000000"/>
                          </a:solidFill>
                          <a:effectLst/>
                        </a:rPr>
                        <a:t>3T</a:t>
                      </a:r>
                    </a:p>
                  </a:txBody>
                  <a:tcPr anchor="ctr">
                    <a:lnL w="6350" cap="flat" cmpd="sng" algn="ctr">
                      <a:solidFill>
                        <a:srgbClr val="C074FA"/>
                      </a:solidFill>
                      <a:prstDash val="solid"/>
                      <a:round/>
                      <a:headEnd type="none" w="med" len="med"/>
                      <a:tailEnd type="none" w="med" len="med"/>
                    </a:lnL>
                    <a:lnR w="6350" cap="flat" cmpd="sng" algn="ctr">
                      <a:solidFill>
                        <a:srgbClr val="D073FA"/>
                      </a:solidFill>
                      <a:prstDash val="solid"/>
                      <a:round/>
                      <a:headEnd type="none" w="med" len="med"/>
                      <a:tailEnd type="none" w="med" len="med"/>
                    </a:lnR>
                    <a:lnT w="6350" cap="flat" cmpd="sng" algn="ctr">
                      <a:solidFill>
                        <a:srgbClr val="C074FA"/>
                      </a:solidFill>
                      <a:prstDash val="solid"/>
                      <a:round/>
                      <a:headEnd type="none" w="med" len="med"/>
                      <a:tailEnd type="none" w="med" len="med"/>
                    </a:lnT>
                    <a:lnB w="6350" cap="flat" cmpd="sng" algn="ctr">
                      <a:solidFill>
                        <a:srgbClr val="206CFA"/>
                      </a:solidFill>
                      <a:prstDash val="solid"/>
                      <a:round/>
                      <a:headEnd type="none" w="med" len="med"/>
                      <a:tailEnd type="none" w="med" len="med"/>
                    </a:lnB>
                    <a:solidFill>
                      <a:srgbClr val="FBE2D5"/>
                    </a:solidFill>
                  </a:tcPr>
                </a:tc>
                <a:tc>
                  <a:txBody>
                    <a:bodyPr/>
                    <a:lstStyle/>
                    <a:p>
                      <a:pPr algn="ctr" fontAlgn="ctr" latinLnBrk="0"/>
                      <a:r>
                        <a:rPr lang="zh-CN" altLang="en-US" sz="1400" b="1" i="0">
                          <a:solidFill>
                            <a:srgbClr val="000000"/>
                          </a:solidFill>
                          <a:effectLst/>
                        </a:rPr>
                        <a:t>项目分类</a:t>
                      </a:r>
                    </a:p>
                  </a:txBody>
                  <a:tcPr anchor="ctr">
                    <a:lnL w="6350" cap="flat" cmpd="sng" algn="ctr">
                      <a:solidFill>
                        <a:srgbClr val="D073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D073FA"/>
                      </a:solidFill>
                      <a:prstDash val="solid"/>
                      <a:round/>
                      <a:headEnd type="none" w="med" len="med"/>
                      <a:tailEnd type="none" w="med" len="med"/>
                    </a:lnT>
                    <a:lnB w="6350" cap="flat" cmpd="sng" algn="ctr">
                      <a:solidFill>
                        <a:srgbClr val="B072FA"/>
                      </a:solidFill>
                      <a:prstDash val="solid"/>
                      <a:round/>
                      <a:headEnd type="none" w="med" len="med"/>
                      <a:tailEnd type="none" w="med" len="med"/>
                    </a:lnB>
                    <a:solidFill>
                      <a:srgbClr val="FBE2D5"/>
                    </a:solidFill>
                  </a:tcPr>
                </a:tc>
                <a:tc>
                  <a:txBody>
                    <a:bodyPr/>
                    <a:lstStyle/>
                    <a:p>
                      <a:pPr algn="ctr" fontAlgn="ctr" latinLnBrk="0"/>
                      <a:r>
                        <a:rPr lang="zh-CN" altLang="en-US" sz="1400" b="1" i="0" dirty="0">
                          <a:solidFill>
                            <a:srgbClr val="000000"/>
                          </a:solidFill>
                          <a:effectLst/>
                        </a:rPr>
                        <a:t>定义</a:t>
                      </a:r>
                      <a:r>
                        <a:rPr lang="en-US" sz="1400" b="1" i="0" dirty="0">
                          <a:solidFill>
                            <a:srgbClr val="000000"/>
                          </a:solidFill>
                          <a:effectLst/>
                        </a:rPr>
                        <a:t>V1.0</a:t>
                      </a:r>
                    </a:p>
                  </a:txBody>
                  <a:tcPr anchor="ctr">
                    <a:lnL w="6350" cap="flat" cmpd="sng" algn="ctr">
                      <a:solidFill>
                        <a:srgbClr val="F074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F074FA"/>
                      </a:solidFill>
                      <a:prstDash val="solid"/>
                      <a:round/>
                      <a:headEnd type="none" w="med" len="med"/>
                      <a:tailEnd type="none" w="med" len="med"/>
                    </a:lnT>
                    <a:lnB w="6350" cap="flat" cmpd="sng" algn="ctr">
                      <a:solidFill>
                        <a:srgbClr val="C06EFA"/>
                      </a:solidFill>
                      <a:prstDash val="solid"/>
                      <a:round/>
                      <a:headEnd type="none" w="med" len="med"/>
                      <a:tailEnd type="none" w="med" len="med"/>
                    </a:lnB>
                    <a:solidFill>
                      <a:srgbClr val="FBE2D5"/>
                    </a:solidFill>
                  </a:tcPr>
                </a:tc>
              </a:tr>
              <a:tr h="551336">
                <a:tc>
                  <a:txBody>
                    <a:bodyPr/>
                    <a:lstStyle/>
                    <a:p>
                      <a:pPr algn="ctr" fontAlgn="ctr" latinLnBrk="0"/>
                      <a:r>
                        <a:rPr lang="en-US" altLang="zh-CN" sz="1400" b="0" i="0" dirty="0">
                          <a:solidFill>
                            <a:srgbClr val="000000"/>
                          </a:solidFill>
                          <a:effectLst/>
                        </a:rPr>
                        <a:t>1</a:t>
                      </a:r>
                    </a:p>
                  </a:txBody>
                  <a:tcPr anchor="ctr">
                    <a:lnL w="6350" cap="flat" cmpd="sng" algn="ctr">
                      <a:solidFill>
                        <a:srgbClr val="A070FA"/>
                      </a:solidFill>
                      <a:prstDash val="solid"/>
                      <a:round/>
                      <a:headEnd type="none" w="med" len="med"/>
                      <a:tailEnd type="none" w="med" len="med"/>
                    </a:lnL>
                    <a:lnR w="6350" cap="flat" cmpd="sng" algn="ctr">
                      <a:solidFill>
                        <a:srgbClr val="206CFA"/>
                      </a:solidFill>
                      <a:prstDash val="solid"/>
                      <a:round/>
                      <a:headEnd type="none" w="med" len="med"/>
                      <a:tailEnd type="none" w="med" len="med"/>
                    </a:lnR>
                    <a:lnT w="6350" cap="flat" cmpd="sng" algn="ctr">
                      <a:solidFill>
                        <a:srgbClr val="A070FA"/>
                      </a:solidFill>
                      <a:prstDash val="solid"/>
                      <a:round/>
                      <a:headEnd type="none" w="med" len="med"/>
                      <a:tailEnd type="none" w="med" len="med"/>
                    </a:lnT>
                    <a:lnB w="6350" cap="flat" cmpd="sng" algn="ctr">
                      <a:solidFill>
                        <a:srgbClr val="0074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要求到货时间</a:t>
                      </a:r>
                    </a:p>
                  </a:txBody>
                  <a:tcPr anchor="ctr">
                    <a:lnL w="6350" cap="flat" cmpd="sng" algn="ctr">
                      <a:solidFill>
                        <a:srgbClr val="206CFA"/>
                      </a:solidFill>
                      <a:prstDash val="solid"/>
                      <a:round/>
                      <a:headEnd type="none" w="med" len="med"/>
                      <a:tailEnd type="none" w="med" len="med"/>
                    </a:lnL>
                    <a:lnR w="6350" cap="flat" cmpd="sng" algn="ctr">
                      <a:solidFill>
                        <a:srgbClr val="B072FA"/>
                      </a:solidFill>
                      <a:prstDash val="solid"/>
                      <a:round/>
                      <a:headEnd type="none" w="med" len="med"/>
                      <a:tailEnd type="none" w="med" len="med"/>
                    </a:lnR>
                    <a:lnT w="6350" cap="flat" cmpd="sng" algn="ctr">
                      <a:solidFill>
                        <a:srgbClr val="206CFA"/>
                      </a:solidFill>
                      <a:prstDash val="solid"/>
                      <a:round/>
                      <a:headEnd type="none" w="med" len="med"/>
                      <a:tailEnd type="none" w="med" len="med"/>
                    </a:lnT>
                    <a:lnB w="6350" cap="flat" cmpd="sng" algn="ctr">
                      <a:solidFill>
                        <a:srgbClr val="707C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B072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B072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以最终设备使用或者上线时间来倒推（客户希望货到现场的时间）</a:t>
                      </a:r>
                    </a:p>
                  </a:txBody>
                  <a:tcPr anchor="ctr">
                    <a:lnL w="6350" cap="flat" cmpd="sng" algn="ctr">
                      <a:solidFill>
                        <a:srgbClr val="C06E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C06E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tr>
              <a:tr h="551336">
                <a:tc>
                  <a:txBody>
                    <a:bodyPr/>
                    <a:lstStyle/>
                    <a:p>
                      <a:pPr algn="ctr" fontAlgn="ctr" latinLnBrk="0"/>
                      <a:r>
                        <a:rPr lang="en-US" altLang="zh-CN" sz="1400" b="0" i="0">
                          <a:solidFill>
                            <a:srgbClr val="000000"/>
                          </a:solidFill>
                          <a:effectLst/>
                        </a:rPr>
                        <a:t>2</a:t>
                      </a:r>
                    </a:p>
                  </a:txBody>
                  <a:tcPr anchor="ctr">
                    <a:lnL w="6350" cap="flat" cmpd="sng" algn="ctr">
                      <a:solidFill>
                        <a:srgbClr val="0074FA"/>
                      </a:solidFill>
                      <a:prstDash val="solid"/>
                      <a:round/>
                      <a:headEnd type="none" w="med" len="med"/>
                      <a:tailEnd type="none" w="med" len="med"/>
                    </a:lnL>
                    <a:lnR w="6350" cap="flat" cmpd="sng" algn="ctr">
                      <a:solidFill>
                        <a:srgbClr val="707CFA"/>
                      </a:solidFill>
                      <a:prstDash val="solid"/>
                      <a:round/>
                      <a:headEnd type="none" w="med" len="med"/>
                      <a:tailEnd type="none" w="med" len="med"/>
                    </a:lnR>
                    <a:lnT w="6350" cap="flat" cmpd="sng" algn="ctr">
                      <a:solidFill>
                        <a:srgbClr val="0074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预计下单日期</a:t>
                      </a:r>
                    </a:p>
                  </a:txBody>
                  <a:tcPr anchor="ctr">
                    <a:lnL w="6350" cap="flat" cmpd="sng" algn="ctr">
                      <a:solidFill>
                        <a:srgbClr val="707C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707C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4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“预计要货时间” 减去 </a:t>
                      </a:r>
                      <a:r>
                        <a:rPr lang="en-US" altLang="zh-CN" sz="1400" b="0" i="0" dirty="0">
                          <a:solidFill>
                            <a:srgbClr val="000000"/>
                          </a:solidFill>
                          <a:effectLst/>
                        </a:rPr>
                        <a:t>SLA </a:t>
                      </a:r>
                      <a:r>
                        <a:rPr lang="zh-CN" altLang="en-US" sz="1400" b="0" i="0" dirty="0">
                          <a:solidFill>
                            <a:srgbClr val="000000"/>
                          </a:solidFill>
                          <a:effectLst/>
                        </a:rPr>
                        <a:t>（</a:t>
                      </a:r>
                      <a:r>
                        <a:rPr lang="en-US" altLang="zh-CN" sz="1400" b="0" i="0" dirty="0">
                          <a:solidFill>
                            <a:srgbClr val="000000"/>
                          </a:solidFill>
                          <a:effectLst/>
                        </a:rPr>
                        <a:t>ERP</a:t>
                      </a:r>
                      <a:r>
                        <a:rPr lang="zh-CN" altLang="en-US" sz="1400" b="0" i="0" dirty="0">
                          <a:solidFill>
                            <a:srgbClr val="000000"/>
                          </a:solidFill>
                          <a:effectLst/>
                        </a:rPr>
                        <a:t>系统里面下单流程结束的时间）</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AFA"/>
                      </a:solidFill>
                      <a:prstDash val="solid"/>
                      <a:round/>
                      <a:headEnd type="none" w="med" len="med"/>
                      <a:tailEnd type="none" w="med" len="med"/>
                    </a:lnB>
                  </a:tcPr>
                </a:tc>
              </a:tr>
              <a:tr h="551336">
                <a:tc rowSpan="5">
                  <a:txBody>
                    <a:bodyPr/>
                    <a:lstStyle/>
                    <a:p>
                      <a:pPr algn="ctr" fontAlgn="ctr" latinLnBrk="0"/>
                      <a:r>
                        <a:rPr lang="en-US" altLang="zh-CN" sz="1400" b="0" i="0">
                          <a:solidFill>
                            <a:srgbClr val="000000"/>
                          </a:solidFill>
                          <a:effectLst/>
                        </a:rPr>
                        <a:t>3</a:t>
                      </a:r>
                    </a:p>
                  </a:txBody>
                  <a:tcPr anchor="ctr">
                    <a:lnL w="6350" cap="flat" cmpd="sng" algn="ctr">
                      <a:solidFill>
                        <a:srgbClr val="D085FA"/>
                      </a:solidFill>
                      <a:prstDash val="solid"/>
                      <a:round/>
                      <a:headEnd type="none" w="med" len="med"/>
                      <a:tailEnd type="none" w="med" len="med"/>
                    </a:lnL>
                    <a:lnR w="6350" cap="flat" cmpd="sng" algn="ctr">
                      <a:solidFill>
                        <a:srgbClr val="9083FA"/>
                      </a:solidFill>
                      <a:prstDash val="solid"/>
                      <a:round/>
                      <a:headEnd type="none" w="med" len="med"/>
                      <a:tailEnd type="none" w="med" len="med"/>
                    </a:lnR>
                    <a:lnT w="6350" cap="flat" cmpd="sng" algn="ctr">
                      <a:solidFill>
                        <a:srgbClr val="D085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rowSpan="5">
                  <a:txBody>
                    <a:bodyPr/>
                    <a:lstStyle/>
                    <a:p>
                      <a:pPr algn="ctr" fontAlgn="ctr" latinLnBrk="0"/>
                      <a:r>
                        <a:rPr lang="zh-CN" altLang="en-US" sz="1400" b="0" i="0" dirty="0">
                          <a:solidFill>
                            <a:srgbClr val="000000"/>
                          </a:solidFill>
                          <a:effectLst/>
                        </a:rPr>
                        <a:t>预计开标日期</a:t>
                      </a:r>
                    </a:p>
                  </a:txBody>
                  <a:tcPr anchor="ctr">
                    <a:lnL w="6350" cap="flat" cmpd="sng" algn="ctr">
                      <a:solidFill>
                        <a:srgbClr val="9083FA"/>
                      </a:solidFill>
                      <a:prstDash val="solid"/>
                      <a:round/>
                      <a:headEnd type="none" w="med" len="med"/>
                      <a:tailEnd type="none" w="med" len="med"/>
                    </a:lnL>
                    <a:lnR w="6350" cap="flat" cmpd="sng" algn="ctr">
                      <a:solidFill>
                        <a:srgbClr val="8084FA"/>
                      </a:solidFill>
                      <a:prstDash val="solid"/>
                      <a:round/>
                      <a:headEnd type="none" w="med" len="med"/>
                      <a:tailEnd type="none" w="med" len="med"/>
                    </a:lnR>
                    <a:lnT w="6350" cap="flat" cmpd="sng" algn="ctr">
                      <a:solidFill>
                        <a:srgbClr val="9083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财政资金</a:t>
                      </a:r>
                      <a:r>
                        <a:rPr lang="en-US" altLang="zh-CN" sz="1400" b="0" i="0" dirty="0">
                          <a:solidFill>
                            <a:srgbClr val="000000"/>
                          </a:solidFill>
                          <a:effectLst/>
                        </a:rPr>
                        <a:t>/</a:t>
                      </a:r>
                      <a:r>
                        <a:rPr lang="zh-CN" altLang="en-US" sz="1400" b="0" i="0" dirty="0">
                          <a:solidFill>
                            <a:srgbClr val="000000"/>
                          </a:solidFill>
                          <a:effectLst/>
                        </a:rPr>
                        <a:t>标准政采项目</a:t>
                      </a:r>
                    </a:p>
                  </a:txBody>
                  <a:tcPr anchor="ctr">
                    <a:lnL w="6350" cap="flat" cmpd="sng" algn="ctr">
                      <a:solidFill>
                        <a:srgbClr val="8084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4FA"/>
                      </a:solidFill>
                      <a:prstDash val="solid"/>
                      <a:round/>
                      <a:headEnd type="none" w="med" len="med"/>
                      <a:tailEnd type="none" w="med" len="med"/>
                    </a:lnT>
                    <a:lnB w="6350" cap="flat" cmpd="sng" algn="ctr">
                      <a:solidFill>
                        <a:srgbClr val="F095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发出中标公告</a:t>
                      </a:r>
                      <a:r>
                        <a:rPr lang="en-US" altLang="zh-CN" sz="1400" b="0" i="0">
                          <a:solidFill>
                            <a:srgbClr val="000000"/>
                          </a:solidFill>
                          <a:effectLst/>
                        </a:rPr>
                        <a:t>/</a:t>
                      </a:r>
                      <a:r>
                        <a:rPr lang="zh-CN" altLang="en-US" sz="1400" b="0" i="0">
                          <a:solidFill>
                            <a:srgbClr val="000000"/>
                          </a:solidFill>
                          <a:effectLst/>
                        </a:rPr>
                        <a:t>中标通知书的时间</a:t>
                      </a:r>
                      <a:r>
                        <a:rPr lang="en-US" altLang="zh-CN" sz="1400" b="0" i="0">
                          <a:solidFill>
                            <a:srgbClr val="000000"/>
                          </a:solidFill>
                          <a:effectLst/>
                        </a:rPr>
                        <a:t>/</a:t>
                      </a:r>
                      <a:r>
                        <a:rPr lang="zh-CN" altLang="en-US" sz="1400" b="0" i="0">
                          <a:solidFill>
                            <a:srgbClr val="000000"/>
                          </a:solidFill>
                          <a:effectLst/>
                        </a:rPr>
                        <a:t>开标结果的时间，而不是投标时间</a:t>
                      </a:r>
                    </a:p>
                  </a:txBody>
                  <a:tcPr anchor="ctr">
                    <a:lnL w="6350" cap="flat" cmpd="sng" algn="ctr">
                      <a:solidFill>
                        <a:srgbClr val="808A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AFA"/>
                      </a:solidFill>
                      <a:prstDash val="solid"/>
                      <a:round/>
                      <a:headEnd type="none" w="med" len="med"/>
                      <a:tailEnd type="none" w="med" len="med"/>
                    </a:lnT>
                    <a:lnB w="6350" cap="flat" cmpd="sng" algn="ctr">
                      <a:solidFill>
                        <a:srgbClr val="4097FA"/>
                      </a:solidFill>
                      <a:prstDash val="solid"/>
                      <a:round/>
                      <a:headEnd type="none" w="med" len="med"/>
                      <a:tailEnd type="none" w="med" len="med"/>
                    </a:lnB>
                    <a:solidFill>
                      <a:srgbClr val="FFFFFF"/>
                    </a:solidFill>
                  </a:tcPr>
                </a:tc>
              </a:tr>
              <a:tr h="324315">
                <a:tc vMerge="1">
                  <a:txBody>
                    <a:bodyPr/>
                    <a:lstStyle/>
                    <a:p>
                      <a:endParaRPr lang="zh-CN" altLang="en-US"/>
                    </a:p>
                  </a:txBody>
                  <a:tcPr/>
                </a:tc>
                <a:tc vMerge="1">
                  <a:txBody>
                    <a:bodyPr/>
                    <a:lstStyle/>
                    <a:p>
                      <a:endParaRPr lang="zh-CN" altLang="en-US"/>
                    </a:p>
                  </a:txBody>
                  <a:tcPr/>
                </a:tc>
                <a:tc>
                  <a:txBody>
                    <a:bodyPr/>
                    <a:lstStyle/>
                    <a:p>
                      <a:pPr algn="l" fontAlgn="ctr" latinLnBrk="0"/>
                      <a:r>
                        <a:rPr lang="zh-CN" altLang="en-US" sz="1400" b="0" i="0" dirty="0">
                          <a:solidFill>
                            <a:srgbClr val="000000"/>
                          </a:solidFill>
                          <a:effectLst/>
                        </a:rPr>
                        <a:t>弱电</a:t>
                      </a:r>
                      <a:r>
                        <a:rPr lang="en-US" altLang="zh-CN" sz="1400" b="0" i="0" dirty="0">
                          <a:solidFill>
                            <a:srgbClr val="000000"/>
                          </a:solidFill>
                          <a:effectLst/>
                        </a:rPr>
                        <a:t>&amp;EPC</a:t>
                      </a:r>
                      <a:r>
                        <a:rPr lang="zh-CN" altLang="en-US" sz="1400" b="0" i="0" dirty="0">
                          <a:solidFill>
                            <a:srgbClr val="000000"/>
                          </a:solidFill>
                          <a:effectLst/>
                        </a:rPr>
                        <a:t>总包项目</a:t>
                      </a:r>
                    </a:p>
                  </a:txBody>
                  <a:tcPr anchor="ctr">
                    <a:lnL w="6350" cap="flat" cmpd="sng" algn="ctr">
                      <a:solidFill>
                        <a:srgbClr val="F095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F095FA"/>
                      </a:solidFill>
                      <a:prstDash val="solid"/>
                      <a:round/>
                      <a:headEnd type="none" w="med" len="med"/>
                      <a:tailEnd type="none" w="med" len="med"/>
                    </a:lnT>
                    <a:lnB w="6350" cap="flat" cmpd="sng" algn="ctr">
                      <a:solidFill>
                        <a:srgbClr val="4094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弱电商和我司或者我司代理商签订合同的时间</a:t>
                      </a:r>
                    </a:p>
                  </a:txBody>
                  <a:tcPr anchor="ctr">
                    <a:lnL w="6350" cap="flat" cmpd="sng" algn="ctr">
                      <a:solidFill>
                        <a:srgbClr val="4097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4097FA"/>
                      </a:solidFill>
                      <a:prstDash val="solid"/>
                      <a:round/>
                      <a:headEnd type="none" w="med" len="med"/>
                      <a:tailEnd type="none" w="med" len="med"/>
                    </a:lnT>
                    <a:lnB w="6350" cap="flat" cmpd="sng" algn="ctr">
                      <a:solidFill>
                        <a:srgbClr val="5090FA"/>
                      </a:solidFill>
                      <a:prstDash val="solid"/>
                      <a:round/>
                      <a:headEnd type="none" w="med" len="med"/>
                      <a:tailEnd type="none" w="med" len="med"/>
                    </a:lnB>
                  </a:tcPr>
                </a:tc>
              </a:tr>
              <a:tr h="551336">
                <a:tc vMerge="1">
                  <a:txBody>
                    <a:bodyPr/>
                    <a:lstStyle/>
                    <a:p>
                      <a:endParaRPr lang="zh-CN" altLang="en-US"/>
                    </a:p>
                  </a:txBody>
                  <a:tcPr/>
                </a:tc>
                <a:tc vMerge="1">
                  <a:txBody>
                    <a:bodyPr/>
                    <a:lstStyle/>
                    <a:p>
                      <a:endParaRPr lang="zh-CN" altLang="en-US"/>
                    </a:p>
                  </a:txBody>
                  <a:tcPr/>
                </a:tc>
                <a:tc>
                  <a:txBody>
                    <a:bodyPr/>
                    <a:lstStyle/>
                    <a:p>
                      <a:pPr algn="l" fontAlgn="ctr" latinLnBrk="0"/>
                      <a:r>
                        <a:rPr lang="en-US" sz="1400" b="0" i="0">
                          <a:solidFill>
                            <a:srgbClr val="000000"/>
                          </a:solidFill>
                          <a:effectLst/>
                        </a:rPr>
                        <a:t>ICT&amp;</a:t>
                      </a:r>
                      <a:r>
                        <a:rPr lang="zh-CN" altLang="en-US" sz="1400" b="0" i="0">
                          <a:solidFill>
                            <a:srgbClr val="000000"/>
                          </a:solidFill>
                          <a:effectLst/>
                        </a:rPr>
                        <a:t>投融资项目</a:t>
                      </a:r>
                    </a:p>
                  </a:txBody>
                  <a:tcPr anchor="ctr">
                    <a:lnL w="6350" cap="flat" cmpd="sng" algn="ctr">
                      <a:solidFill>
                        <a:srgbClr val="4094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4094FA"/>
                      </a:solidFill>
                      <a:prstDash val="solid"/>
                      <a:round/>
                      <a:headEnd type="none" w="med" len="med"/>
                      <a:tailEnd type="none" w="med" len="med"/>
                    </a:lnT>
                    <a:lnB w="6350" cap="flat" cmpd="sng" algn="ctr">
                      <a:solidFill>
                        <a:srgbClr val="008F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投资方或者投资方指定的垫资渠道和我司或者我司代理商签订合同的时间</a:t>
                      </a:r>
                    </a:p>
                  </a:txBody>
                  <a:tcPr anchor="ctr">
                    <a:lnL w="6350" cap="flat" cmpd="sng" algn="ctr">
                      <a:solidFill>
                        <a:srgbClr val="5090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5090FA"/>
                      </a:solidFill>
                      <a:prstDash val="solid"/>
                      <a:round/>
                      <a:headEnd type="none" w="med" len="med"/>
                      <a:tailEnd type="none" w="med" len="med"/>
                    </a:lnT>
                    <a:lnB w="6350" cap="flat" cmpd="sng" algn="ctr">
                      <a:solidFill>
                        <a:srgbClr val="E090FA"/>
                      </a:solidFill>
                      <a:prstDash val="solid"/>
                      <a:round/>
                      <a:headEnd type="none" w="med" len="med"/>
                      <a:tailEnd type="none" w="med" len="med"/>
                    </a:lnB>
                  </a:tcPr>
                </a:tc>
              </a:tr>
              <a:tr h="551336">
                <a:tc vMerge="1">
                  <a:txBody>
                    <a:bodyPr/>
                    <a:lstStyle/>
                    <a:p>
                      <a:endParaRPr lang="zh-CN" altLang="en-US"/>
                    </a:p>
                  </a:txBody>
                  <a:tcPr/>
                </a:tc>
                <a:tc vMerge="1">
                  <a:txBody>
                    <a:bodyPr/>
                    <a:lstStyle/>
                    <a:p>
                      <a:endParaRPr lang="zh-CN" altLang="en-US"/>
                    </a:p>
                  </a:txBody>
                  <a:tcPr/>
                </a:tc>
                <a:tc>
                  <a:txBody>
                    <a:bodyPr/>
                    <a:lstStyle/>
                    <a:p>
                      <a:pPr algn="l" fontAlgn="ctr" latinLnBrk="0"/>
                      <a:r>
                        <a:rPr lang="zh-CN" altLang="en-US" sz="1400" b="0" i="0">
                          <a:solidFill>
                            <a:srgbClr val="000000"/>
                          </a:solidFill>
                          <a:effectLst/>
                        </a:rPr>
                        <a:t>中大企业集采框架</a:t>
                      </a:r>
                      <a:r>
                        <a:rPr lang="en-US" altLang="zh-CN" sz="1400" b="0" i="0">
                          <a:solidFill>
                            <a:srgbClr val="000000"/>
                          </a:solidFill>
                          <a:effectLst/>
                        </a:rPr>
                        <a:t>OC</a:t>
                      </a:r>
                      <a:r>
                        <a:rPr lang="zh-CN" altLang="en-US" sz="1400" b="0" i="0">
                          <a:solidFill>
                            <a:srgbClr val="000000"/>
                          </a:solidFill>
                          <a:effectLst/>
                        </a:rPr>
                        <a:t>子项目</a:t>
                      </a:r>
                    </a:p>
                  </a:txBody>
                  <a:tcPr anchor="ctr">
                    <a:lnL w="6350" cap="flat" cmpd="sng" algn="ctr">
                      <a:solidFill>
                        <a:srgbClr val="008F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008F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E090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E090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tr>
              <a:tr h="324315">
                <a:tc vMerge="1">
                  <a:txBody>
                    <a:bodyPr/>
                    <a:lstStyle/>
                    <a:p>
                      <a:endParaRPr lang="zh-CN" altLang="en-US"/>
                    </a:p>
                  </a:txBody>
                  <a:tcPr/>
                </a:tc>
                <a:tc vMerge="1">
                  <a:txBody>
                    <a:bodyPr/>
                    <a:lstStyle/>
                    <a:p>
                      <a:endParaRPr lang="zh-CN" altLang="en-US"/>
                    </a:p>
                  </a:txBody>
                  <a:tcPr/>
                </a:tc>
                <a:tc>
                  <a:txBody>
                    <a:bodyPr/>
                    <a:lstStyle/>
                    <a:p>
                      <a:pPr algn="l" fontAlgn="ctr" latinLnBrk="0"/>
                      <a:r>
                        <a:rPr lang="zh-CN" altLang="en-US" sz="1400" b="0" i="0" dirty="0">
                          <a:solidFill>
                            <a:srgbClr val="000000"/>
                          </a:solidFill>
                          <a:effectLst/>
                        </a:rPr>
                        <a:t>金融行业框架</a:t>
                      </a:r>
                      <a:r>
                        <a:rPr lang="en-US" altLang="zh-CN" sz="1400" b="0" i="0" dirty="0">
                          <a:solidFill>
                            <a:srgbClr val="000000"/>
                          </a:solidFill>
                          <a:effectLst/>
                        </a:rPr>
                        <a:t>OC</a:t>
                      </a:r>
                      <a:r>
                        <a:rPr lang="zh-CN" altLang="en-US" sz="1400" b="0" i="0" dirty="0">
                          <a:solidFill>
                            <a:srgbClr val="000000"/>
                          </a:solidFill>
                          <a:effectLst/>
                        </a:rPr>
                        <a:t>子项目</a:t>
                      </a:r>
                    </a:p>
                  </a:txBody>
                  <a:tcPr anchor="ctr">
                    <a:lnL w="6350" cap="flat" cmpd="sng" algn="ctr">
                      <a:solidFill>
                        <a:srgbClr val="2093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2093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C09B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C09B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tr>
            </a:tbl>
          </a:graphicData>
        </a:graphic>
      </p:graphicFrame>
      <p:cxnSp>
        <p:nvCxnSpPr>
          <p:cNvPr id="10" name="直接箭头连接符 9"/>
          <p:cNvCxnSpPr/>
          <p:nvPr/>
        </p:nvCxnSpPr>
        <p:spPr>
          <a:xfrm>
            <a:off x="1474237" y="1567542"/>
            <a:ext cx="896671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1" name="等腰三角形 10"/>
          <p:cNvSpPr/>
          <p:nvPr/>
        </p:nvSpPr>
        <p:spPr>
          <a:xfrm>
            <a:off x="8265208" y="1350993"/>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13643" y="1894112"/>
            <a:ext cx="1569660" cy="369332"/>
          </a:xfrm>
          <a:prstGeom prst="rect">
            <a:avLst/>
          </a:prstGeom>
          <a:noFill/>
        </p:spPr>
        <p:txBody>
          <a:bodyPr wrap="none" rtlCol="0">
            <a:spAutoFit/>
          </a:bodyPr>
          <a:lstStyle/>
          <a:p>
            <a:r>
              <a:rPr lang="zh-CN" altLang="en-US" dirty="0" smtClean="0"/>
              <a:t>要求到货时间</a:t>
            </a:r>
            <a:endParaRPr lang="zh-CN" altLang="en-US" dirty="0"/>
          </a:p>
        </p:txBody>
      </p:sp>
      <p:sp>
        <p:nvSpPr>
          <p:cNvPr id="13" name="菱形 12"/>
          <p:cNvSpPr/>
          <p:nvPr/>
        </p:nvSpPr>
        <p:spPr>
          <a:xfrm>
            <a:off x="9965094" y="1371599"/>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431953" y="1403482"/>
            <a:ext cx="1569660" cy="369332"/>
          </a:xfrm>
          <a:prstGeom prst="rect">
            <a:avLst/>
          </a:prstGeom>
          <a:noFill/>
        </p:spPr>
        <p:txBody>
          <a:bodyPr wrap="none" rtlCol="0">
            <a:spAutoFit/>
          </a:bodyPr>
          <a:lstStyle/>
          <a:p>
            <a:r>
              <a:rPr lang="zh-CN" altLang="en-US" dirty="0" smtClean="0"/>
              <a:t>正式上线使用</a:t>
            </a:r>
            <a:endParaRPr lang="zh-CN" altLang="en-US" dirty="0"/>
          </a:p>
        </p:txBody>
      </p:sp>
      <p:sp>
        <p:nvSpPr>
          <p:cNvPr id="23" name="等腰三角形 22"/>
          <p:cNvSpPr/>
          <p:nvPr/>
        </p:nvSpPr>
        <p:spPr>
          <a:xfrm>
            <a:off x="5957596"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492957" y="1894112"/>
            <a:ext cx="1569660" cy="369332"/>
          </a:xfrm>
          <a:prstGeom prst="rect">
            <a:avLst/>
          </a:prstGeom>
          <a:noFill/>
        </p:spPr>
        <p:txBody>
          <a:bodyPr wrap="none" rtlCol="0">
            <a:spAutoFit/>
          </a:bodyPr>
          <a:lstStyle/>
          <a:p>
            <a:r>
              <a:rPr lang="zh-CN" altLang="en-US" dirty="0" smtClean="0"/>
              <a:t>预计下单日期</a:t>
            </a:r>
            <a:endParaRPr lang="zh-CN" altLang="en-US" dirty="0"/>
          </a:p>
        </p:txBody>
      </p:sp>
      <p:sp>
        <p:nvSpPr>
          <p:cNvPr id="25" name="等腰三角形 24"/>
          <p:cNvSpPr/>
          <p:nvPr/>
        </p:nvSpPr>
        <p:spPr>
          <a:xfrm>
            <a:off x="3417224"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2865659" y="1894112"/>
            <a:ext cx="1569660" cy="369332"/>
          </a:xfrm>
          <a:prstGeom prst="rect">
            <a:avLst/>
          </a:prstGeom>
          <a:noFill/>
        </p:spPr>
        <p:txBody>
          <a:bodyPr wrap="none" rtlCol="0">
            <a:spAutoFit/>
          </a:bodyPr>
          <a:lstStyle/>
          <a:p>
            <a:r>
              <a:rPr lang="zh-CN" altLang="en-US" dirty="0" smtClean="0"/>
              <a:t>预计开标日期</a:t>
            </a:r>
            <a:endParaRPr lang="zh-CN" altLang="en-US" dirty="0"/>
          </a:p>
        </p:txBody>
      </p:sp>
      <p:sp>
        <p:nvSpPr>
          <p:cNvPr id="27" name="文本框 26"/>
          <p:cNvSpPr txBox="1"/>
          <p:nvPr/>
        </p:nvSpPr>
        <p:spPr>
          <a:xfrm>
            <a:off x="303561" y="1350993"/>
            <a:ext cx="1107996" cy="369332"/>
          </a:xfrm>
          <a:prstGeom prst="rect">
            <a:avLst/>
          </a:prstGeom>
          <a:noFill/>
        </p:spPr>
        <p:txBody>
          <a:bodyPr wrap="none" rtlCol="0">
            <a:spAutoFit/>
          </a:bodyPr>
          <a:lstStyle/>
          <a:p>
            <a:r>
              <a:rPr lang="zh-CN" altLang="en-US" dirty="0" smtClean="0"/>
              <a:t>获取商机</a:t>
            </a:r>
            <a:endParaRPr lang="zh-CN" altLang="en-US" dirty="0"/>
          </a:p>
        </p:txBody>
      </p:sp>
    </p:spTree>
    <p:extLst>
      <p:ext uri="{BB962C8B-B14F-4D97-AF65-F5344CB8AC3E}">
        <p14:creationId xmlns:p14="http://schemas.microsoft.com/office/powerpoint/2010/main" val="25459822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要求到货时间的估算方法和填写标准</a:t>
            </a:r>
            <a:endParaRPr lang="zh-CN" altLang="en-US" dirty="0"/>
          </a:p>
        </p:txBody>
      </p:sp>
      <p:cxnSp>
        <p:nvCxnSpPr>
          <p:cNvPr id="5" name="直接箭头连接符 4"/>
          <p:cNvCxnSpPr/>
          <p:nvPr/>
        </p:nvCxnSpPr>
        <p:spPr>
          <a:xfrm>
            <a:off x="3918856" y="1772818"/>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6" name="菱形 5"/>
          <p:cNvSpPr/>
          <p:nvPr/>
        </p:nvSpPr>
        <p:spPr>
          <a:xfrm>
            <a:off x="9806473" y="1576875"/>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282334" y="1599429"/>
            <a:ext cx="1569660" cy="369332"/>
          </a:xfrm>
          <a:prstGeom prst="rect">
            <a:avLst/>
          </a:prstGeom>
          <a:noFill/>
        </p:spPr>
        <p:txBody>
          <a:bodyPr wrap="none" rtlCol="0">
            <a:spAutoFit/>
          </a:bodyPr>
          <a:lstStyle/>
          <a:p>
            <a:r>
              <a:rPr lang="zh-CN" altLang="en-US" dirty="0" smtClean="0"/>
              <a:t>正式上线使用</a:t>
            </a:r>
            <a:endParaRPr lang="zh-CN" altLang="en-US" dirty="0"/>
          </a:p>
        </p:txBody>
      </p:sp>
      <p:sp>
        <p:nvSpPr>
          <p:cNvPr id="9" name="等腰三角形 8"/>
          <p:cNvSpPr/>
          <p:nvPr/>
        </p:nvSpPr>
        <p:spPr>
          <a:xfrm>
            <a:off x="6902937" y="1894117"/>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0800000">
            <a:off x="4918627" y="137821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7656464" y="2232111"/>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a:t>
            </a:r>
            <a:r>
              <a:rPr lang="zh-CN" altLang="en-US" sz="1400" b="1" dirty="0" smtClean="0">
                <a:solidFill>
                  <a:schemeClr val="tx1"/>
                </a:solidFill>
              </a:rPr>
              <a:t>时间估算场景</a:t>
            </a:r>
            <a:r>
              <a:rPr lang="en-US" altLang="zh-CN" sz="1400" b="1" dirty="0" smtClean="0">
                <a:solidFill>
                  <a:schemeClr val="tx1"/>
                </a:solidFill>
              </a:rPr>
              <a:t>1</a:t>
            </a:r>
            <a:r>
              <a:rPr lang="zh-CN" altLang="en-US" sz="1400" b="1" dirty="0" smtClean="0">
                <a:solidFill>
                  <a:schemeClr val="tx1"/>
                </a:solidFill>
              </a:rPr>
              <a:t>：</a:t>
            </a:r>
            <a:endParaRPr lang="zh-CN" altLang="en-US" sz="1400" b="1" dirty="0">
              <a:solidFill>
                <a:schemeClr val="tx1"/>
              </a:solidFill>
            </a:endParaRPr>
          </a:p>
          <a:p>
            <a:r>
              <a:rPr lang="zh-CN" altLang="en-US" sz="1400" dirty="0" smtClean="0">
                <a:solidFill>
                  <a:schemeClr val="tx1"/>
                </a:solidFill>
              </a:rPr>
              <a:t>不</a:t>
            </a:r>
            <a:r>
              <a:rPr lang="zh-CN" altLang="en-US" sz="1400" dirty="0">
                <a:solidFill>
                  <a:schemeClr val="tx1"/>
                </a:solidFill>
              </a:rPr>
              <a:t>需要大量施工布线的</a:t>
            </a:r>
            <a:r>
              <a:rPr lang="zh-CN" altLang="en-US" sz="1400" dirty="0" smtClean="0">
                <a:solidFill>
                  <a:schemeClr val="tx1"/>
                </a:solidFill>
              </a:rPr>
              <a:t>项目，从正式上线使用时间倒推</a:t>
            </a:r>
            <a:r>
              <a:rPr lang="en-US" altLang="zh-CN" sz="1400" dirty="0" smtClean="0">
                <a:solidFill>
                  <a:schemeClr val="tx1"/>
                </a:solidFill>
              </a:rPr>
              <a:t>15</a:t>
            </a:r>
            <a:r>
              <a:rPr lang="zh-CN" altLang="en-US" sz="1400" dirty="0" smtClean="0">
                <a:solidFill>
                  <a:schemeClr val="tx1"/>
                </a:solidFill>
              </a:rPr>
              <a:t>天</a:t>
            </a:r>
            <a:endParaRPr lang="zh-CN" altLang="en-US" sz="1400" dirty="0">
              <a:solidFill>
                <a:schemeClr val="tx1"/>
              </a:solidFill>
            </a:endParaRPr>
          </a:p>
        </p:txBody>
      </p:sp>
      <p:cxnSp>
        <p:nvCxnSpPr>
          <p:cNvPr id="22" name="直接连接符 21"/>
          <p:cNvCxnSpPr/>
          <p:nvPr/>
        </p:nvCxnSpPr>
        <p:spPr>
          <a:xfrm>
            <a:off x="7100595" y="1968761"/>
            <a:ext cx="297818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8102803" y="1862780"/>
            <a:ext cx="1133644" cy="369332"/>
          </a:xfrm>
          <a:prstGeom prst="rect">
            <a:avLst/>
          </a:prstGeom>
          <a:solidFill>
            <a:schemeClr val="bg2"/>
          </a:solidFill>
        </p:spPr>
        <p:txBody>
          <a:bodyPr wrap="none" rtlCol="0">
            <a:spAutoFit/>
          </a:bodyPr>
          <a:lstStyle/>
          <a:p>
            <a:r>
              <a:rPr lang="en-US" altLang="zh-CN" b="1" dirty="0" smtClean="0">
                <a:solidFill>
                  <a:srgbClr val="C00000"/>
                </a:solidFill>
              </a:rPr>
              <a:t>15</a:t>
            </a:r>
            <a:r>
              <a:rPr lang="zh-CN" altLang="en-US" b="1" dirty="0" smtClean="0">
                <a:solidFill>
                  <a:srgbClr val="C00000"/>
                </a:solidFill>
              </a:rPr>
              <a:t>天左右</a:t>
            </a:r>
            <a:endParaRPr lang="zh-CN" altLang="en-US" b="1" dirty="0">
              <a:solidFill>
                <a:srgbClr val="C00000"/>
              </a:solidFill>
            </a:endParaRPr>
          </a:p>
        </p:txBody>
      </p:sp>
      <p:cxnSp>
        <p:nvCxnSpPr>
          <p:cNvPr id="25" name="直接连接符 24"/>
          <p:cNvCxnSpPr>
            <a:stCxn id="11" idx="1"/>
            <a:endCxn id="6" idx="0"/>
          </p:cNvCxnSpPr>
          <p:nvPr/>
        </p:nvCxnSpPr>
        <p:spPr>
          <a:xfrm>
            <a:off x="5268524" y="1574157"/>
            <a:ext cx="4775880" cy="2718"/>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7028993" y="1250158"/>
            <a:ext cx="1133644" cy="369332"/>
          </a:xfrm>
          <a:prstGeom prst="rect">
            <a:avLst/>
          </a:prstGeom>
          <a:solidFill>
            <a:schemeClr val="bg2"/>
          </a:solidFill>
        </p:spPr>
        <p:txBody>
          <a:bodyPr wrap="none" rtlCol="0">
            <a:spAutoFit/>
          </a:bodyPr>
          <a:lstStyle/>
          <a:p>
            <a:r>
              <a:rPr lang="en-US" altLang="zh-CN" b="1" dirty="0" smtClean="0">
                <a:solidFill>
                  <a:srgbClr val="C00000"/>
                </a:solidFill>
              </a:rPr>
              <a:t>30</a:t>
            </a:r>
            <a:r>
              <a:rPr lang="zh-CN" altLang="en-US" b="1" dirty="0" smtClean="0">
                <a:solidFill>
                  <a:srgbClr val="C00000"/>
                </a:solidFill>
              </a:rPr>
              <a:t>天左右</a:t>
            </a:r>
            <a:endParaRPr lang="zh-CN" altLang="en-US" b="1" dirty="0">
              <a:solidFill>
                <a:srgbClr val="C00000"/>
              </a:solidFill>
            </a:endParaRPr>
          </a:p>
        </p:txBody>
      </p:sp>
      <p:sp>
        <p:nvSpPr>
          <p:cNvPr id="29" name="圆角矩形 28"/>
          <p:cNvSpPr/>
          <p:nvPr/>
        </p:nvSpPr>
        <p:spPr>
          <a:xfrm>
            <a:off x="2934708" y="1862780"/>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a:t>
            </a:r>
            <a:r>
              <a:rPr lang="zh-CN" altLang="en-US" sz="1400" b="1" dirty="0" smtClean="0">
                <a:solidFill>
                  <a:schemeClr val="tx1"/>
                </a:solidFill>
              </a:rPr>
              <a:t>时间估算场景</a:t>
            </a:r>
            <a:r>
              <a:rPr lang="en-US" altLang="zh-CN" sz="1400" b="1" dirty="0" smtClean="0">
                <a:solidFill>
                  <a:schemeClr val="tx1"/>
                </a:solidFill>
              </a:rPr>
              <a:t>2</a:t>
            </a:r>
            <a:r>
              <a:rPr lang="zh-CN" altLang="en-US" sz="1400" b="1" dirty="0" smtClean="0">
                <a:solidFill>
                  <a:schemeClr val="tx1"/>
                </a:solidFill>
              </a:rPr>
              <a:t>：</a:t>
            </a:r>
            <a:endParaRPr lang="zh-CN" altLang="en-US" sz="1400" b="1" dirty="0">
              <a:solidFill>
                <a:schemeClr val="tx1"/>
              </a:solidFill>
            </a:endParaRPr>
          </a:p>
          <a:p>
            <a:r>
              <a:rPr lang="zh-CN" altLang="en-US" sz="1400" dirty="0">
                <a:solidFill>
                  <a:schemeClr val="tx1"/>
                </a:solidFill>
              </a:rPr>
              <a:t>涉及到大量的施工布线的项目：最终设备使用和上线时间往前倒推</a:t>
            </a:r>
            <a:r>
              <a:rPr lang="en-US" altLang="zh-CN" sz="1400" dirty="0">
                <a:solidFill>
                  <a:schemeClr val="tx1"/>
                </a:solidFill>
              </a:rPr>
              <a:t>30</a:t>
            </a:r>
            <a:r>
              <a:rPr lang="zh-CN" altLang="en-US" sz="1400" dirty="0">
                <a:solidFill>
                  <a:schemeClr val="tx1"/>
                </a:solidFill>
              </a:rPr>
              <a:t>天来确定预计要货时间；</a:t>
            </a:r>
          </a:p>
        </p:txBody>
      </p:sp>
      <p:sp>
        <p:nvSpPr>
          <p:cNvPr id="30" name="矩形 29"/>
          <p:cNvSpPr/>
          <p:nvPr/>
        </p:nvSpPr>
        <p:spPr>
          <a:xfrm>
            <a:off x="353197" y="1101015"/>
            <a:ext cx="1829161" cy="3032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针对财政资金</a:t>
            </a:r>
            <a:r>
              <a:rPr lang="en-US" altLang="zh-CN" sz="1400" dirty="0">
                <a:solidFill>
                  <a:schemeClr val="bg1"/>
                </a:solidFill>
              </a:rPr>
              <a:t>/</a:t>
            </a:r>
            <a:r>
              <a:rPr lang="zh-CN" altLang="en-US" sz="1400" dirty="0">
                <a:solidFill>
                  <a:schemeClr val="bg1"/>
                </a:solidFill>
              </a:rPr>
              <a:t>标准政采项目、弱电</a:t>
            </a:r>
            <a:r>
              <a:rPr lang="en-US" altLang="zh-CN" sz="1400" dirty="0">
                <a:solidFill>
                  <a:schemeClr val="bg1"/>
                </a:solidFill>
              </a:rPr>
              <a:t>&amp;EPC</a:t>
            </a:r>
            <a:r>
              <a:rPr lang="zh-CN" altLang="en-US" sz="1400" dirty="0">
                <a:solidFill>
                  <a:schemeClr val="bg1"/>
                </a:solidFill>
              </a:rPr>
              <a:t>总包项目、</a:t>
            </a:r>
            <a:r>
              <a:rPr lang="en-US" altLang="zh-CN" sz="1400" dirty="0">
                <a:solidFill>
                  <a:schemeClr val="bg1"/>
                </a:solidFill>
              </a:rPr>
              <a:t>ICT&amp;</a:t>
            </a:r>
            <a:r>
              <a:rPr lang="zh-CN" altLang="en-US" sz="1400" dirty="0">
                <a:solidFill>
                  <a:schemeClr val="bg1"/>
                </a:solidFill>
              </a:rPr>
              <a:t>投融资项目、中大企业集采框架</a:t>
            </a:r>
            <a:r>
              <a:rPr lang="en-US" altLang="zh-CN" sz="1400" dirty="0">
                <a:solidFill>
                  <a:schemeClr val="bg1"/>
                </a:solidFill>
              </a:rPr>
              <a:t>OC</a:t>
            </a:r>
            <a:r>
              <a:rPr lang="zh-CN" altLang="en-US" sz="1400" dirty="0">
                <a:solidFill>
                  <a:schemeClr val="bg1"/>
                </a:solidFill>
              </a:rPr>
              <a:t>子项目、金融行业框架</a:t>
            </a:r>
            <a:r>
              <a:rPr lang="en-US" altLang="zh-CN" sz="1400" dirty="0">
                <a:solidFill>
                  <a:schemeClr val="bg1"/>
                </a:solidFill>
              </a:rPr>
              <a:t>OC</a:t>
            </a:r>
            <a:r>
              <a:rPr lang="zh-CN" altLang="en-US" sz="1400" dirty="0">
                <a:solidFill>
                  <a:schemeClr val="bg1"/>
                </a:solidFill>
              </a:rPr>
              <a:t>子项目等</a:t>
            </a:r>
          </a:p>
        </p:txBody>
      </p:sp>
      <p:sp>
        <p:nvSpPr>
          <p:cNvPr id="31" name="等腰三角形 30"/>
          <p:cNvSpPr/>
          <p:nvPr/>
        </p:nvSpPr>
        <p:spPr>
          <a:xfrm rot="5400000">
            <a:off x="2184127" y="2476306"/>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2864498" y="944193"/>
            <a:ext cx="9060023" cy="33945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2964414" y="3493690"/>
            <a:ext cx="8887580" cy="738664"/>
          </a:xfrm>
          <a:prstGeom prst="rect">
            <a:avLst/>
          </a:prstGeom>
        </p:spPr>
        <p:txBody>
          <a:bodyPr wrap="square">
            <a:spAutoFit/>
          </a:bodyPr>
          <a:lstStyle/>
          <a:p>
            <a:r>
              <a:rPr lang="zh-CN" altLang="en-US" sz="1400" dirty="0">
                <a:solidFill>
                  <a:srgbClr val="000000"/>
                </a:solidFill>
                <a:latin typeface="MonospacedNumber"/>
              </a:rPr>
              <a:t>如上为建议时间是跟根据项目施工复杂程度来的，重点还是需要销售要提前跟客户</a:t>
            </a:r>
            <a:r>
              <a:rPr lang="en-US" altLang="zh-CN" sz="1400" dirty="0">
                <a:solidFill>
                  <a:srgbClr val="000000"/>
                </a:solidFill>
                <a:latin typeface="MonospacedNumber"/>
              </a:rPr>
              <a:t>/</a:t>
            </a:r>
            <a:r>
              <a:rPr lang="zh-CN" altLang="en-US" sz="1400" dirty="0">
                <a:solidFill>
                  <a:srgbClr val="000000"/>
                </a:solidFill>
                <a:latin typeface="MonospacedNumber"/>
              </a:rPr>
              <a:t>渠道沟通好最终设备使用或者上线时间以及施工周期在系统及时更新好“预计要货时间”，需要特殊支持的务必提前跟供应链对应的同事保持沟通。</a:t>
            </a:r>
            <a:endParaRPr lang="zh-CN" altLang="en-US" sz="1400" dirty="0">
              <a:effectLst/>
            </a:endParaRPr>
          </a:p>
        </p:txBody>
      </p:sp>
      <p:sp>
        <p:nvSpPr>
          <p:cNvPr id="34" name="矩形 33"/>
          <p:cNvSpPr/>
          <p:nvPr/>
        </p:nvSpPr>
        <p:spPr>
          <a:xfrm>
            <a:off x="353197" y="4417020"/>
            <a:ext cx="1829161" cy="2254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chemeClr val="bg1"/>
                </a:solidFill>
              </a:rPr>
              <a:t>填写标准</a:t>
            </a:r>
            <a:endParaRPr lang="zh-CN" altLang="en-US" sz="1400" dirty="0">
              <a:solidFill>
                <a:schemeClr val="bg1"/>
              </a:solidFill>
            </a:endParaRPr>
          </a:p>
        </p:txBody>
      </p:sp>
      <p:sp>
        <p:nvSpPr>
          <p:cNvPr id="35" name="等腰三角形 34"/>
          <p:cNvSpPr/>
          <p:nvPr/>
        </p:nvSpPr>
        <p:spPr>
          <a:xfrm rot="5400000">
            <a:off x="2072159" y="5245624"/>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2864498" y="4362335"/>
            <a:ext cx="9060023" cy="23090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2976800" y="4400078"/>
            <a:ext cx="8785333" cy="2308324"/>
          </a:xfrm>
          <a:prstGeom prst="rect">
            <a:avLst/>
          </a:prstGeom>
        </p:spPr>
        <p:txBody>
          <a:bodyPr wrap="square">
            <a:spAutoFit/>
          </a:bodyPr>
          <a:lstStyle/>
          <a:p>
            <a:r>
              <a:rPr lang="zh-CN" altLang="en-US" sz="1200" b="1" dirty="0">
                <a:solidFill>
                  <a:srgbClr val="000000"/>
                </a:solidFill>
                <a:latin typeface="MonospacedNumber"/>
              </a:rPr>
              <a:t>销售填写“要求到货时间”，并且根据“预计要货时间”的判断说明在“备货说明”里面填写清楚要货时间根据（销售易</a:t>
            </a:r>
            <a:r>
              <a:rPr lang="en-US" altLang="zh-CN" sz="1200" b="1" dirty="0">
                <a:solidFill>
                  <a:srgbClr val="000000"/>
                </a:solidFill>
                <a:latin typeface="MonospacedNumber"/>
              </a:rPr>
              <a:t>CRM</a:t>
            </a:r>
            <a:r>
              <a:rPr lang="zh-CN" altLang="en-US" sz="1200" b="1" dirty="0">
                <a:solidFill>
                  <a:srgbClr val="000000"/>
                </a:solidFill>
                <a:latin typeface="MonospacedNumber"/>
              </a:rPr>
              <a:t>里面的位置以及相关示意如下）；“备货说明”不填写清楚的情况，“要求到货日期”是无法填写的</a:t>
            </a:r>
            <a:r>
              <a:rPr lang="zh-CN" altLang="en-US" sz="1200" b="1" dirty="0" smtClean="0">
                <a:solidFill>
                  <a:srgbClr val="000000"/>
                </a:solidFill>
                <a:latin typeface="MonospacedNumber"/>
              </a:rPr>
              <a:t>；</a:t>
            </a:r>
            <a:r>
              <a:rPr lang="zh-CN" altLang="en-US" sz="1200" dirty="0"/>
              <a:t/>
            </a:r>
            <a:br>
              <a:rPr lang="zh-CN" altLang="en-US" sz="1200" dirty="0"/>
            </a:br>
            <a:endParaRPr lang="zh-CN" altLang="en-US" sz="1200" dirty="0"/>
          </a:p>
          <a:p>
            <a:r>
              <a:rPr lang="en-US" altLang="zh-CN" sz="1200" dirty="0">
                <a:solidFill>
                  <a:srgbClr val="000000"/>
                </a:solidFill>
                <a:latin typeface="MonospacedNumber"/>
              </a:rPr>
              <a:t>- “</a:t>
            </a:r>
            <a:r>
              <a:rPr lang="zh-CN" altLang="en-US" sz="1200" dirty="0">
                <a:solidFill>
                  <a:srgbClr val="000000"/>
                </a:solidFill>
                <a:latin typeface="MonospacedNumber"/>
              </a:rPr>
              <a:t>备货说明”填写示范：</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1</a:t>
            </a:r>
            <a:r>
              <a:rPr lang="zh-CN" altLang="en-US" sz="1200" dirty="0">
                <a:solidFill>
                  <a:srgbClr val="000000"/>
                </a:solidFill>
                <a:latin typeface="MonospacedNumber"/>
              </a:rPr>
              <a:t>）不需要大量施工布线的项目按照最终设备使用和上线时间至少倒推</a:t>
            </a:r>
            <a:r>
              <a:rPr lang="en-US" altLang="zh-CN" sz="1200" dirty="0">
                <a:solidFill>
                  <a:srgbClr val="000000"/>
                </a:solidFill>
                <a:latin typeface="MonospacedNumber"/>
              </a:rPr>
              <a:t>15</a:t>
            </a:r>
            <a:r>
              <a:rPr lang="zh-CN" altLang="en-US" sz="1200" dirty="0">
                <a:solidFill>
                  <a:srgbClr val="000000"/>
                </a:solidFill>
                <a:latin typeface="MonospacedNumber"/>
              </a:rPr>
              <a:t>天来填写“要求到货时间”，填写范本：与客户端信息办王主任确认，项目预计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日最终上线，且项目不涉及到大量的施工布线，按照上线</a:t>
            </a:r>
            <a:r>
              <a:rPr lang="en-US" altLang="zh-CN" sz="1200" dirty="0">
                <a:solidFill>
                  <a:srgbClr val="000000"/>
                </a:solidFill>
                <a:latin typeface="MonospacedNumber"/>
              </a:rPr>
              <a:t>15</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15</a:t>
            </a:r>
            <a:r>
              <a:rPr lang="zh-CN" altLang="en-US" sz="1200" dirty="0">
                <a:solidFill>
                  <a:srgbClr val="000000"/>
                </a:solidFill>
                <a:latin typeface="MonospacedNumber"/>
              </a:rPr>
              <a:t>日填写“要求到货时间”，并且与王主任确认，这个要求到货时间是可以满足的；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2</a:t>
            </a:r>
            <a:r>
              <a:rPr lang="zh-CN" altLang="en-US" sz="1200" dirty="0">
                <a:solidFill>
                  <a:srgbClr val="000000"/>
                </a:solidFill>
                <a:latin typeface="MonospacedNumber"/>
              </a:rPr>
              <a:t>）涉及到大量的施工布线的项目：最终设备使用和上线时间往前倒推</a:t>
            </a:r>
            <a:r>
              <a:rPr lang="en-US" altLang="zh-CN" sz="1200" dirty="0">
                <a:solidFill>
                  <a:srgbClr val="000000"/>
                </a:solidFill>
                <a:latin typeface="MonospacedNumber"/>
              </a:rPr>
              <a:t>30</a:t>
            </a:r>
            <a:r>
              <a:rPr lang="zh-CN" altLang="en-US" sz="1200" dirty="0">
                <a:solidFill>
                  <a:srgbClr val="000000"/>
                </a:solidFill>
                <a:latin typeface="MonospacedNumber"/>
              </a:rPr>
              <a:t>天来确定预计要货时间，填写范本：与现场实施的项目经理王经理确认，项目预计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日最终上线，因项目涉及到大量的布线工作，按照上线</a:t>
            </a:r>
            <a:r>
              <a:rPr lang="en-US" altLang="zh-CN" sz="1200" dirty="0">
                <a:solidFill>
                  <a:srgbClr val="000000"/>
                </a:solidFill>
                <a:latin typeface="MonospacedNumber"/>
              </a:rPr>
              <a:t>30</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a:t>
            </a:r>
            <a:r>
              <a:rPr lang="zh-CN" altLang="en-US" sz="1200" dirty="0">
                <a:solidFill>
                  <a:srgbClr val="000000"/>
                </a:solidFill>
                <a:latin typeface="MonospacedNumber"/>
              </a:rPr>
              <a:t>日填写“要求到货时间”，并且与王经理确认，这个要求到货时间是可以满足的；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3</a:t>
            </a:r>
            <a:r>
              <a:rPr lang="zh-CN" altLang="en-US" sz="1200" dirty="0">
                <a:solidFill>
                  <a:srgbClr val="000000"/>
                </a:solidFill>
                <a:latin typeface="MonospacedNumber"/>
              </a:rPr>
              <a:t>）流水或者紧急项目（含翻盘项目等），根据项目的实际情况填写“要求到货日期”，同时，要与供应链的同事保持密切沟通，做相关到货的协调；</a:t>
            </a:r>
            <a:endParaRPr lang="zh-CN" altLang="en-US" sz="1200" dirty="0">
              <a:effectLst/>
            </a:endParaRPr>
          </a:p>
        </p:txBody>
      </p:sp>
      <p:sp>
        <p:nvSpPr>
          <p:cNvPr id="38" name="文本框 37"/>
          <p:cNvSpPr txBox="1"/>
          <p:nvPr/>
        </p:nvSpPr>
        <p:spPr>
          <a:xfrm>
            <a:off x="2864498" y="936115"/>
            <a:ext cx="1569660" cy="369332"/>
          </a:xfrm>
          <a:prstGeom prst="rect">
            <a:avLst/>
          </a:prstGeom>
          <a:noFill/>
        </p:spPr>
        <p:txBody>
          <a:bodyPr wrap="none" rtlCol="0">
            <a:spAutoFit/>
          </a:bodyPr>
          <a:lstStyle/>
          <a:p>
            <a:r>
              <a:rPr lang="zh-CN" altLang="en-US" b="1" dirty="0" smtClean="0"/>
              <a:t>要求到货时间</a:t>
            </a:r>
            <a:endParaRPr lang="zh-CN" altLang="en-US" b="1" dirty="0"/>
          </a:p>
        </p:txBody>
      </p:sp>
    </p:spTree>
    <p:extLst>
      <p:ext uri="{BB962C8B-B14F-4D97-AF65-F5344CB8AC3E}">
        <p14:creationId xmlns:p14="http://schemas.microsoft.com/office/powerpoint/2010/main" val="14921842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预计下单时间的</a:t>
            </a:r>
            <a:r>
              <a:rPr lang="zh-CN" altLang="en-US" dirty="0"/>
              <a:t>估算方法和填写标准</a:t>
            </a:r>
          </a:p>
        </p:txBody>
      </p:sp>
      <p:sp>
        <p:nvSpPr>
          <p:cNvPr id="4" name="矩形 3"/>
          <p:cNvSpPr/>
          <p:nvPr/>
        </p:nvSpPr>
        <p:spPr>
          <a:xfrm>
            <a:off x="321576" y="1039150"/>
            <a:ext cx="4245428" cy="5632311"/>
          </a:xfrm>
          <a:prstGeom prst="rect">
            <a:avLst/>
          </a:prstGeom>
        </p:spPr>
        <p:txBody>
          <a:bodyPr wrap="square">
            <a:spAutoFit/>
          </a:bodyPr>
          <a:lstStyle/>
          <a:p>
            <a:pPr>
              <a:lnSpc>
                <a:spcPct val="150000"/>
              </a:lnSpc>
            </a:pPr>
            <a:r>
              <a:rPr lang="zh-CN" altLang="en-US" sz="1600" dirty="0">
                <a:solidFill>
                  <a:srgbClr val="000000"/>
                </a:solidFill>
                <a:latin typeface="MonospacedNumber"/>
              </a:rPr>
              <a:t>针对财政资金</a:t>
            </a:r>
            <a:r>
              <a:rPr lang="en-US" altLang="zh-CN" sz="1600" dirty="0">
                <a:solidFill>
                  <a:srgbClr val="000000"/>
                </a:solidFill>
                <a:latin typeface="MonospacedNumber"/>
              </a:rPr>
              <a:t>/</a:t>
            </a:r>
            <a:r>
              <a:rPr lang="zh-CN" altLang="en-US" sz="1600" dirty="0">
                <a:solidFill>
                  <a:srgbClr val="000000"/>
                </a:solidFill>
                <a:latin typeface="MonospacedNumber"/>
              </a:rPr>
              <a:t>标准政采项目、弱电</a:t>
            </a:r>
            <a:r>
              <a:rPr lang="en-US" altLang="zh-CN" sz="1600" dirty="0">
                <a:solidFill>
                  <a:srgbClr val="000000"/>
                </a:solidFill>
                <a:latin typeface="MonospacedNumber"/>
              </a:rPr>
              <a:t>&amp;EPC</a:t>
            </a:r>
            <a:r>
              <a:rPr lang="zh-CN" altLang="en-US" sz="1600" dirty="0">
                <a:solidFill>
                  <a:srgbClr val="000000"/>
                </a:solidFill>
                <a:latin typeface="MonospacedNumber"/>
              </a:rPr>
              <a:t>总包项目、</a:t>
            </a:r>
            <a:r>
              <a:rPr lang="en-US" altLang="zh-CN" sz="1600" dirty="0">
                <a:solidFill>
                  <a:srgbClr val="000000"/>
                </a:solidFill>
                <a:latin typeface="MonospacedNumber"/>
              </a:rPr>
              <a:t>ICT&amp;</a:t>
            </a:r>
            <a:r>
              <a:rPr lang="zh-CN" altLang="en-US" sz="1600" dirty="0">
                <a:solidFill>
                  <a:srgbClr val="000000"/>
                </a:solidFill>
                <a:latin typeface="MonospacedNumber"/>
              </a:rPr>
              <a:t>投融资项目、中大企业集采框架</a:t>
            </a:r>
            <a:r>
              <a:rPr lang="en-US" altLang="zh-CN" sz="1600" dirty="0">
                <a:solidFill>
                  <a:srgbClr val="000000"/>
                </a:solidFill>
                <a:latin typeface="MonospacedNumber"/>
              </a:rPr>
              <a:t>OC</a:t>
            </a:r>
            <a:r>
              <a:rPr lang="zh-CN" altLang="en-US" sz="1600" dirty="0">
                <a:solidFill>
                  <a:srgbClr val="000000"/>
                </a:solidFill>
                <a:latin typeface="MonospacedNumber"/>
              </a:rPr>
              <a:t>子项目、金融行业框架</a:t>
            </a:r>
            <a:r>
              <a:rPr lang="en-US" altLang="zh-CN" sz="1600" dirty="0">
                <a:solidFill>
                  <a:srgbClr val="000000"/>
                </a:solidFill>
                <a:latin typeface="MonospacedNumber"/>
              </a:rPr>
              <a:t>OC</a:t>
            </a:r>
            <a:r>
              <a:rPr lang="zh-CN" altLang="en-US" sz="1600" dirty="0">
                <a:solidFill>
                  <a:srgbClr val="000000"/>
                </a:solidFill>
                <a:latin typeface="MonospacedNumber"/>
              </a:rPr>
              <a:t>子项目等所有项目的“预计下单时间”均以“预计要货时间”</a:t>
            </a:r>
            <a:r>
              <a:rPr lang="en-US" altLang="zh-CN" sz="1600" dirty="0">
                <a:solidFill>
                  <a:srgbClr val="000000"/>
                </a:solidFill>
                <a:latin typeface="MonospacedNumber"/>
              </a:rPr>
              <a:t>-“</a:t>
            </a:r>
            <a:r>
              <a:rPr lang="zh-CN" altLang="en-US" sz="1600" dirty="0">
                <a:solidFill>
                  <a:srgbClr val="000000"/>
                </a:solidFill>
                <a:latin typeface="MonospacedNumber"/>
              </a:rPr>
              <a:t>订单</a:t>
            </a:r>
            <a:r>
              <a:rPr lang="en-US" altLang="zh-CN" sz="1600" dirty="0">
                <a:solidFill>
                  <a:srgbClr val="000000"/>
                </a:solidFill>
                <a:latin typeface="MonospacedNumber"/>
              </a:rPr>
              <a:t>SLA”</a:t>
            </a:r>
            <a:r>
              <a:rPr lang="zh-CN" altLang="en-US" sz="1600" dirty="0">
                <a:solidFill>
                  <a:srgbClr val="000000"/>
                </a:solidFill>
                <a:latin typeface="MonospacedNumber"/>
              </a:rPr>
              <a:t>来做依据；</a:t>
            </a:r>
            <a:endParaRPr lang="zh-CN" altLang="en-US" sz="1600" dirty="0"/>
          </a:p>
          <a:p>
            <a:pPr marL="285750" indent="-285750">
              <a:lnSpc>
                <a:spcPct val="150000"/>
              </a:lnSpc>
              <a:buFontTx/>
              <a:buChar char="-"/>
            </a:pPr>
            <a:r>
              <a:rPr lang="zh-CN" altLang="en-US" sz="1600" b="1" dirty="0" smtClean="0">
                <a:solidFill>
                  <a:srgbClr val="000000"/>
                </a:solidFill>
                <a:latin typeface="MonospacedNumber"/>
              </a:rPr>
              <a:t>一</a:t>
            </a:r>
            <a:r>
              <a:rPr lang="zh-CN" altLang="en-US" sz="1600" b="1" dirty="0">
                <a:solidFill>
                  <a:srgbClr val="000000"/>
                </a:solidFill>
                <a:latin typeface="MonospacedNumber"/>
              </a:rPr>
              <a:t>个订单里面如果涉及多款产品，每款产品</a:t>
            </a:r>
            <a:r>
              <a:rPr lang="en-US" altLang="zh-CN" sz="1600" b="1" dirty="0">
                <a:solidFill>
                  <a:srgbClr val="000000"/>
                </a:solidFill>
                <a:latin typeface="MonospacedNumber"/>
              </a:rPr>
              <a:t>SLA</a:t>
            </a:r>
            <a:r>
              <a:rPr lang="zh-CN" altLang="en-US" sz="1600" b="1" dirty="0">
                <a:solidFill>
                  <a:srgbClr val="000000"/>
                </a:solidFill>
                <a:latin typeface="MonospacedNumber"/>
              </a:rPr>
              <a:t>不同，最终订单的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是取大值，比如</a:t>
            </a:r>
            <a:r>
              <a:rPr lang="en-US" altLang="zh-CN" sz="1600" b="1" dirty="0">
                <a:solidFill>
                  <a:srgbClr val="000000"/>
                </a:solidFill>
                <a:latin typeface="MonospacedNumber"/>
              </a:rPr>
              <a:t>A 3</a:t>
            </a:r>
            <a:r>
              <a:rPr lang="zh-CN" altLang="en-US" sz="1600" b="1" dirty="0">
                <a:solidFill>
                  <a:srgbClr val="000000"/>
                </a:solidFill>
                <a:latin typeface="MonospacedNumber"/>
              </a:rPr>
              <a:t>天，</a:t>
            </a:r>
            <a:r>
              <a:rPr lang="en-US" altLang="zh-CN" sz="1600" b="1" dirty="0">
                <a:solidFill>
                  <a:srgbClr val="000000"/>
                </a:solidFill>
                <a:latin typeface="MonospacedNumber"/>
              </a:rPr>
              <a:t>B7</a:t>
            </a:r>
            <a:r>
              <a:rPr lang="zh-CN" altLang="en-US" sz="1600" b="1" dirty="0">
                <a:solidFill>
                  <a:srgbClr val="000000"/>
                </a:solidFill>
                <a:latin typeface="MonospacedNumber"/>
              </a:rPr>
              <a:t>天，</a:t>
            </a:r>
            <a:r>
              <a:rPr lang="en-US" altLang="zh-CN" sz="1600" b="1" dirty="0">
                <a:solidFill>
                  <a:srgbClr val="000000"/>
                </a:solidFill>
                <a:latin typeface="MonospacedNumber"/>
              </a:rPr>
              <a:t>C 14</a:t>
            </a:r>
            <a:r>
              <a:rPr lang="zh-CN" altLang="en-US" sz="1600" b="1" dirty="0">
                <a:solidFill>
                  <a:srgbClr val="000000"/>
                </a:solidFill>
                <a:latin typeface="MonospacedNumber"/>
              </a:rPr>
              <a:t>天，那么订单的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a:t>
            </a:r>
            <a:r>
              <a:rPr lang="en-US" altLang="zh-CN" sz="1600" b="1" dirty="0">
                <a:solidFill>
                  <a:srgbClr val="000000"/>
                </a:solidFill>
                <a:latin typeface="MonospacedNumber"/>
              </a:rPr>
              <a:t>14</a:t>
            </a:r>
            <a:r>
              <a:rPr lang="zh-CN" altLang="en-US" sz="1600" b="1" dirty="0">
                <a:solidFill>
                  <a:srgbClr val="000000"/>
                </a:solidFill>
                <a:latin typeface="MonospacedNumber"/>
              </a:rPr>
              <a:t>天</a:t>
            </a:r>
            <a:r>
              <a:rPr lang="zh-CN" altLang="en-US" sz="1600" b="1" dirty="0" smtClean="0">
                <a:solidFill>
                  <a:srgbClr val="000000"/>
                </a:solidFill>
                <a:latin typeface="MonospacedNumber"/>
              </a:rPr>
              <a:t>；</a:t>
            </a:r>
            <a:endParaRPr lang="en-US" altLang="zh-CN" sz="1600" b="1" dirty="0" smtClean="0">
              <a:solidFill>
                <a:srgbClr val="000000"/>
              </a:solidFill>
              <a:latin typeface="MonospacedNumber"/>
            </a:endParaRPr>
          </a:p>
          <a:p>
            <a:pPr>
              <a:lnSpc>
                <a:spcPct val="150000"/>
              </a:lnSpc>
            </a:pPr>
            <a:endParaRPr lang="en-US" altLang="zh-CN" sz="1600" dirty="0" smtClean="0"/>
          </a:p>
          <a:p>
            <a:pPr>
              <a:lnSpc>
                <a:spcPct val="150000"/>
              </a:lnSpc>
            </a:pPr>
            <a:r>
              <a:rPr lang="zh-CN" altLang="en-US" sz="1600" dirty="0" smtClean="0"/>
              <a:t>跟</a:t>
            </a:r>
            <a:r>
              <a:rPr lang="zh-CN" altLang="en-US" sz="1600" dirty="0"/>
              <a:t>据预计要货时间以及订单的</a:t>
            </a:r>
            <a:r>
              <a:rPr lang="en-US" altLang="zh-CN" sz="1600" dirty="0"/>
              <a:t>SLA</a:t>
            </a:r>
            <a:r>
              <a:rPr lang="zh-CN" altLang="en-US" sz="1600" dirty="0"/>
              <a:t>来设置预计下单时间的底线范围；（目前销售填写的预计下单日期在</a:t>
            </a:r>
            <a:r>
              <a:rPr lang="en-US" altLang="zh-CN" sz="1600" dirty="0"/>
              <a:t>SLA</a:t>
            </a:r>
            <a:r>
              <a:rPr lang="zh-CN" altLang="en-US" sz="1600" dirty="0"/>
              <a:t>测算出来之后的，视为质量</a:t>
            </a:r>
            <a:r>
              <a:rPr lang="en-US" altLang="zh-CN" sz="1600" dirty="0"/>
              <a:t>OK</a:t>
            </a:r>
            <a:r>
              <a:rPr lang="zh-CN" altLang="en-US" sz="1600" dirty="0"/>
              <a:t>）</a:t>
            </a:r>
          </a:p>
          <a:p>
            <a:pPr marL="285750" indent="-285750">
              <a:lnSpc>
                <a:spcPct val="150000"/>
              </a:lnSpc>
              <a:buFontTx/>
              <a:buChar char="-"/>
            </a:pPr>
            <a:endParaRPr lang="zh-CN" altLang="en-US" sz="1600" dirty="0">
              <a:effectLst/>
            </a:endParaRPr>
          </a:p>
        </p:txBody>
      </p:sp>
      <p:pic>
        <p:nvPicPr>
          <p:cNvPr id="8" name="图片 7"/>
          <p:cNvPicPr>
            <a:picLocks noChangeAspect="1"/>
          </p:cNvPicPr>
          <p:nvPr/>
        </p:nvPicPr>
        <p:blipFill>
          <a:blip r:embed="rId2"/>
          <a:stretch>
            <a:fillRect/>
          </a:stretch>
        </p:blipFill>
        <p:spPr>
          <a:xfrm>
            <a:off x="5313452" y="1039150"/>
            <a:ext cx="5724661" cy="3002336"/>
          </a:xfrm>
          <a:prstGeom prst="rect">
            <a:avLst/>
          </a:prstGeom>
        </p:spPr>
      </p:pic>
      <p:pic>
        <p:nvPicPr>
          <p:cNvPr id="7" name="图片 6"/>
          <p:cNvPicPr>
            <a:picLocks noChangeAspect="1"/>
          </p:cNvPicPr>
          <p:nvPr/>
        </p:nvPicPr>
        <p:blipFill>
          <a:blip r:embed="rId3"/>
          <a:stretch>
            <a:fillRect/>
          </a:stretch>
        </p:blipFill>
        <p:spPr>
          <a:xfrm>
            <a:off x="5192156" y="3614463"/>
            <a:ext cx="6359142" cy="3159204"/>
          </a:xfrm>
          <a:prstGeom prst="rect">
            <a:avLst/>
          </a:prstGeom>
        </p:spPr>
      </p:pic>
      <p:sp>
        <p:nvSpPr>
          <p:cNvPr id="9" name="矩形 8"/>
          <p:cNvSpPr/>
          <p:nvPr/>
        </p:nvSpPr>
        <p:spPr>
          <a:xfrm>
            <a:off x="5080189" y="955175"/>
            <a:ext cx="6471109" cy="5902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850259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预计开标</a:t>
            </a:r>
            <a:r>
              <a:rPr lang="zh-CN" altLang="en-US" dirty="0" smtClean="0"/>
              <a:t>时间的估算方法和填写标准</a:t>
            </a:r>
            <a:endParaRPr lang="zh-CN" altLang="en-US" dirty="0"/>
          </a:p>
        </p:txBody>
      </p:sp>
      <p:sp>
        <p:nvSpPr>
          <p:cNvPr id="4" name="矩形 3"/>
          <p:cNvSpPr/>
          <p:nvPr/>
        </p:nvSpPr>
        <p:spPr>
          <a:xfrm>
            <a:off x="510115" y="2526078"/>
            <a:ext cx="2683132" cy="1938992"/>
          </a:xfrm>
          <a:prstGeom prst="rect">
            <a:avLst/>
          </a:prstGeom>
          <a:ln>
            <a:solidFill>
              <a:schemeClr val="accent1">
                <a:shade val="50000"/>
              </a:schemeClr>
            </a:solidFill>
          </a:ln>
        </p:spPr>
        <p:txBody>
          <a:bodyPr wrap="square">
            <a:spAutoFit/>
          </a:bodyPr>
          <a:lstStyle/>
          <a:p>
            <a:pPr fontAlgn="ctr">
              <a:lnSpc>
                <a:spcPct val="150000"/>
              </a:lnSpc>
            </a:pPr>
            <a:r>
              <a:rPr lang="zh-CN" altLang="en-US" sz="1600" dirty="0">
                <a:solidFill>
                  <a:srgbClr val="000000"/>
                </a:solidFill>
              </a:rPr>
              <a:t>针对“预计开标日期”以“正推法”和“倒推法”，重点以正推法作为</a:t>
            </a:r>
            <a:r>
              <a:rPr lang="zh-CN" altLang="en-US" sz="1600" dirty="0" smtClean="0">
                <a:solidFill>
                  <a:srgbClr val="000000"/>
                </a:solidFill>
              </a:rPr>
              <a:t>指导。</a:t>
            </a:r>
            <a:endParaRPr lang="en-US" altLang="zh-CN" sz="1600" dirty="0" smtClean="0">
              <a:solidFill>
                <a:srgbClr val="000000"/>
              </a:solidFill>
            </a:endParaRPr>
          </a:p>
          <a:p>
            <a:pPr fontAlgn="ctr">
              <a:lnSpc>
                <a:spcPct val="150000"/>
              </a:lnSpc>
            </a:pPr>
            <a:endParaRPr lang="en-US" altLang="zh-CN" sz="1600" dirty="0">
              <a:solidFill>
                <a:srgbClr val="000000"/>
              </a:solidFill>
              <a:effectLst/>
            </a:endParaRPr>
          </a:p>
          <a:p>
            <a:pPr fontAlgn="ctr">
              <a:lnSpc>
                <a:spcPct val="150000"/>
              </a:lnSpc>
            </a:pPr>
            <a:r>
              <a:rPr lang="zh-CN" altLang="en-US" sz="1600" dirty="0" smtClean="0">
                <a:effectLst/>
                <a:hlinkClick r:id="rId2" action="ppaction://hlinksldjump"/>
              </a:rPr>
              <a:t>填写示范与标准</a:t>
            </a:r>
            <a:endParaRPr lang="zh-CN" altLang="en-US" sz="1600" dirty="0">
              <a:effectLst/>
            </a:endParaRPr>
          </a:p>
        </p:txBody>
      </p:sp>
      <p:sp>
        <p:nvSpPr>
          <p:cNvPr id="5" name="矩形 4"/>
          <p:cNvSpPr/>
          <p:nvPr/>
        </p:nvSpPr>
        <p:spPr>
          <a:xfrm>
            <a:off x="4146829" y="932169"/>
            <a:ext cx="3750906" cy="553998"/>
          </a:xfrm>
          <a:prstGeom prst="rect">
            <a:avLst/>
          </a:prstGeom>
        </p:spPr>
        <p:txBody>
          <a:bodyPr wrap="square">
            <a:spAutoFit/>
          </a:bodyPr>
          <a:lstStyle/>
          <a:p>
            <a:pPr fontAlgn="ctr">
              <a:lnSpc>
                <a:spcPct val="150000"/>
              </a:lnSpc>
            </a:pPr>
            <a:r>
              <a:rPr lang="zh-CN" altLang="en-US" sz="2000" b="1" dirty="0" smtClean="0">
                <a:solidFill>
                  <a:srgbClr val="000000"/>
                </a:solidFill>
              </a:rPr>
              <a:t>正推法：</a:t>
            </a:r>
            <a:endParaRPr lang="zh-CN" altLang="en-US" sz="2000" b="1" dirty="0">
              <a:effectLst/>
            </a:endParaRPr>
          </a:p>
        </p:txBody>
      </p:sp>
      <p:cxnSp>
        <p:nvCxnSpPr>
          <p:cNvPr id="6" name="直接箭头连接符 5"/>
          <p:cNvCxnSpPr/>
          <p:nvPr/>
        </p:nvCxnSpPr>
        <p:spPr>
          <a:xfrm>
            <a:off x="5215812" y="2102410"/>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8" name="等腰三角形 7"/>
          <p:cNvSpPr/>
          <p:nvPr/>
        </p:nvSpPr>
        <p:spPr>
          <a:xfrm>
            <a:off x="10411248" y="1895189"/>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435728" y="2461491"/>
            <a:ext cx="1569660" cy="369332"/>
          </a:xfrm>
          <a:prstGeom prst="rect">
            <a:avLst/>
          </a:prstGeom>
          <a:solidFill>
            <a:schemeClr val="bg2"/>
          </a:solidFill>
        </p:spPr>
        <p:txBody>
          <a:bodyPr wrap="none" rtlCol="0">
            <a:spAutoFit/>
          </a:bodyPr>
          <a:lstStyle/>
          <a:p>
            <a:r>
              <a:rPr lang="zh-CN" altLang="en-US" b="1" dirty="0" smtClean="0">
                <a:solidFill>
                  <a:srgbClr val="C00000"/>
                </a:solidFill>
              </a:rPr>
              <a:t>预计开标日期</a:t>
            </a:r>
            <a:endParaRPr lang="zh-CN" altLang="en-US" b="1" dirty="0">
              <a:solidFill>
                <a:srgbClr val="C00000"/>
              </a:solidFill>
            </a:endParaRPr>
          </a:p>
        </p:txBody>
      </p:sp>
      <p:sp>
        <p:nvSpPr>
          <p:cNvPr id="10" name="文本框 9"/>
          <p:cNvSpPr txBox="1"/>
          <p:nvPr/>
        </p:nvSpPr>
        <p:spPr>
          <a:xfrm>
            <a:off x="4251847" y="1955905"/>
            <a:ext cx="902811" cy="307777"/>
          </a:xfrm>
          <a:prstGeom prst="rect">
            <a:avLst/>
          </a:prstGeom>
          <a:noFill/>
        </p:spPr>
        <p:txBody>
          <a:bodyPr wrap="none" rtlCol="0">
            <a:spAutoFit/>
          </a:bodyPr>
          <a:lstStyle/>
          <a:p>
            <a:r>
              <a:rPr lang="zh-CN" altLang="en-US" sz="1400" dirty="0" smtClean="0"/>
              <a:t>当前时间</a:t>
            </a:r>
            <a:endParaRPr lang="zh-CN" altLang="en-US" sz="1400" dirty="0"/>
          </a:p>
        </p:txBody>
      </p:sp>
      <p:sp>
        <p:nvSpPr>
          <p:cNvPr id="3" name="菱形 2"/>
          <p:cNvSpPr/>
          <p:nvPr/>
        </p:nvSpPr>
        <p:spPr>
          <a:xfrm>
            <a:off x="5766323"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337453" y="2373972"/>
            <a:ext cx="1540806" cy="307777"/>
          </a:xfrm>
          <a:prstGeom prst="rect">
            <a:avLst/>
          </a:prstGeom>
          <a:noFill/>
        </p:spPr>
        <p:txBody>
          <a:bodyPr wrap="none" rtlCol="0">
            <a:spAutoFit/>
          </a:bodyPr>
          <a:lstStyle/>
          <a:p>
            <a:r>
              <a:rPr lang="zh-CN" altLang="en-US" sz="1400" dirty="0" smtClean="0"/>
              <a:t>客户采购时间点</a:t>
            </a:r>
            <a:r>
              <a:rPr lang="en-US" altLang="zh-CN" sz="1400" dirty="0" smtClean="0"/>
              <a:t>1</a:t>
            </a:r>
            <a:endParaRPr lang="zh-CN" altLang="en-US" sz="1400" dirty="0"/>
          </a:p>
        </p:txBody>
      </p:sp>
      <p:sp>
        <p:nvSpPr>
          <p:cNvPr id="12" name="菱形 11"/>
          <p:cNvSpPr/>
          <p:nvPr/>
        </p:nvSpPr>
        <p:spPr>
          <a:xfrm>
            <a:off x="7308979"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958454" y="2380569"/>
            <a:ext cx="1540806" cy="307777"/>
          </a:xfrm>
          <a:prstGeom prst="rect">
            <a:avLst/>
          </a:prstGeom>
          <a:noFill/>
        </p:spPr>
        <p:txBody>
          <a:bodyPr wrap="none" rtlCol="0">
            <a:spAutoFit/>
          </a:bodyPr>
          <a:lstStyle/>
          <a:p>
            <a:r>
              <a:rPr lang="zh-CN" altLang="en-US" sz="1400" dirty="0" smtClean="0"/>
              <a:t>客户采购时间点</a:t>
            </a:r>
            <a:r>
              <a:rPr lang="en-US" altLang="zh-CN" sz="1400" dirty="0" smtClean="0"/>
              <a:t>2</a:t>
            </a:r>
            <a:endParaRPr lang="zh-CN" altLang="en-US" sz="1400" dirty="0"/>
          </a:p>
        </p:txBody>
      </p:sp>
      <p:sp>
        <p:nvSpPr>
          <p:cNvPr id="14" name="菱形 13"/>
          <p:cNvSpPr/>
          <p:nvPr/>
        </p:nvSpPr>
        <p:spPr>
          <a:xfrm>
            <a:off x="8959827" y="189518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579455" y="2380570"/>
            <a:ext cx="1540806" cy="307777"/>
          </a:xfrm>
          <a:prstGeom prst="rect">
            <a:avLst/>
          </a:prstGeom>
          <a:noFill/>
        </p:spPr>
        <p:txBody>
          <a:bodyPr wrap="none" rtlCol="0">
            <a:spAutoFit/>
          </a:bodyPr>
          <a:lstStyle/>
          <a:p>
            <a:r>
              <a:rPr lang="zh-CN" altLang="en-US" sz="1400" dirty="0" smtClean="0"/>
              <a:t>客户采购时间点</a:t>
            </a:r>
            <a:r>
              <a:rPr lang="en-US" altLang="zh-CN" sz="1400" dirty="0"/>
              <a:t>n</a:t>
            </a:r>
            <a:endParaRPr lang="zh-CN" altLang="en-US" sz="1400" dirty="0"/>
          </a:p>
        </p:txBody>
      </p:sp>
      <p:sp>
        <p:nvSpPr>
          <p:cNvPr id="16" name="文本框 15"/>
          <p:cNvSpPr txBox="1"/>
          <p:nvPr/>
        </p:nvSpPr>
        <p:spPr>
          <a:xfrm>
            <a:off x="5664098" y="2967227"/>
            <a:ext cx="5032147" cy="338554"/>
          </a:xfrm>
          <a:prstGeom prst="rect">
            <a:avLst/>
          </a:prstGeom>
          <a:noFill/>
        </p:spPr>
        <p:txBody>
          <a:bodyPr wrap="none" rtlCol="0">
            <a:spAutoFit/>
          </a:bodyPr>
          <a:lstStyle/>
          <a:p>
            <a:r>
              <a:rPr lang="zh-CN" altLang="en-US" sz="1600" b="1" dirty="0" smtClean="0">
                <a:solidFill>
                  <a:schemeClr val="accent6"/>
                </a:solidFill>
              </a:rPr>
              <a:t>预计开标时间</a:t>
            </a:r>
            <a:r>
              <a:rPr lang="en-US" altLang="zh-CN" sz="1600" b="1" dirty="0" smtClean="0">
                <a:solidFill>
                  <a:schemeClr val="accent6"/>
                </a:solidFill>
              </a:rPr>
              <a:t>=</a:t>
            </a:r>
            <a:r>
              <a:rPr lang="zh-CN" altLang="en-US" sz="1600" b="1" dirty="0" smtClean="0">
                <a:solidFill>
                  <a:schemeClr val="accent6"/>
                </a:solidFill>
              </a:rPr>
              <a:t>当前时间</a:t>
            </a:r>
            <a:r>
              <a:rPr lang="en-US" altLang="zh-CN" sz="1600" b="1" dirty="0" smtClean="0">
                <a:solidFill>
                  <a:schemeClr val="accent6"/>
                </a:solidFill>
              </a:rPr>
              <a:t>+ 【</a:t>
            </a:r>
            <a:r>
              <a:rPr lang="zh-CN" altLang="en-US" sz="1600" b="1" dirty="0" smtClean="0">
                <a:solidFill>
                  <a:schemeClr val="accent6"/>
                </a:solidFill>
              </a:rPr>
              <a:t>客户采购周期（</a:t>
            </a:r>
            <a:r>
              <a:rPr lang="en-US" altLang="zh-CN" sz="1600" b="1" dirty="0" smtClean="0">
                <a:solidFill>
                  <a:schemeClr val="accent6"/>
                </a:solidFill>
              </a:rPr>
              <a:t>1---n</a:t>
            </a:r>
            <a:r>
              <a:rPr lang="zh-CN" altLang="en-US" sz="1600" b="1" dirty="0" smtClean="0">
                <a:solidFill>
                  <a:schemeClr val="accent6"/>
                </a:solidFill>
              </a:rPr>
              <a:t>）</a:t>
            </a:r>
            <a:r>
              <a:rPr lang="en-US" altLang="zh-CN" sz="1600" b="1" dirty="0" smtClean="0">
                <a:solidFill>
                  <a:schemeClr val="accent6"/>
                </a:solidFill>
              </a:rPr>
              <a:t>】</a:t>
            </a:r>
            <a:endParaRPr lang="zh-CN" altLang="en-US" sz="1600" b="1" dirty="0">
              <a:solidFill>
                <a:schemeClr val="accent6"/>
              </a:solidFill>
            </a:endParaRPr>
          </a:p>
        </p:txBody>
      </p:sp>
      <p:sp>
        <p:nvSpPr>
          <p:cNvPr id="17" name="右大括号 16"/>
          <p:cNvSpPr/>
          <p:nvPr/>
        </p:nvSpPr>
        <p:spPr>
          <a:xfrm rot="16200000">
            <a:off x="6565855"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6306082" y="1150036"/>
            <a:ext cx="1002197" cy="307777"/>
          </a:xfrm>
          <a:prstGeom prst="rect">
            <a:avLst/>
          </a:prstGeom>
          <a:noFill/>
        </p:spPr>
        <p:txBody>
          <a:bodyPr wrap="none" rtlCol="0">
            <a:spAutoFit/>
          </a:bodyPr>
          <a:lstStyle/>
          <a:p>
            <a:r>
              <a:rPr lang="zh-CN" altLang="en-US" sz="1400" dirty="0" smtClean="0"/>
              <a:t>采购周期</a:t>
            </a:r>
            <a:r>
              <a:rPr lang="en-US" altLang="zh-CN" sz="1400" dirty="0" smtClean="0"/>
              <a:t>1</a:t>
            </a:r>
            <a:endParaRPr lang="zh-CN" altLang="en-US" sz="1400" dirty="0"/>
          </a:p>
        </p:txBody>
      </p:sp>
      <p:sp>
        <p:nvSpPr>
          <p:cNvPr id="19" name="右大括号 18"/>
          <p:cNvSpPr/>
          <p:nvPr/>
        </p:nvSpPr>
        <p:spPr>
          <a:xfrm rot="16200000">
            <a:off x="8237700"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7897735" y="1139285"/>
            <a:ext cx="1002197" cy="307777"/>
          </a:xfrm>
          <a:prstGeom prst="rect">
            <a:avLst/>
          </a:prstGeom>
          <a:noFill/>
        </p:spPr>
        <p:txBody>
          <a:bodyPr wrap="none" rtlCol="0">
            <a:spAutoFit/>
          </a:bodyPr>
          <a:lstStyle/>
          <a:p>
            <a:r>
              <a:rPr lang="zh-CN" altLang="en-US" sz="1400" dirty="0" smtClean="0"/>
              <a:t>采购周期</a:t>
            </a:r>
            <a:r>
              <a:rPr lang="en-US" altLang="zh-CN" sz="1400" dirty="0" smtClean="0"/>
              <a:t>2</a:t>
            </a:r>
            <a:endParaRPr lang="zh-CN" altLang="en-US" sz="1400" dirty="0"/>
          </a:p>
        </p:txBody>
      </p:sp>
      <p:sp>
        <p:nvSpPr>
          <p:cNvPr id="21" name="右大括号 20"/>
          <p:cNvSpPr/>
          <p:nvPr/>
        </p:nvSpPr>
        <p:spPr>
          <a:xfrm rot="16200000">
            <a:off x="9786356" y="1019830"/>
            <a:ext cx="319702" cy="138138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9379705" y="1148616"/>
            <a:ext cx="1002197" cy="307777"/>
          </a:xfrm>
          <a:prstGeom prst="rect">
            <a:avLst/>
          </a:prstGeom>
          <a:noFill/>
        </p:spPr>
        <p:txBody>
          <a:bodyPr wrap="none" rtlCol="0">
            <a:spAutoFit/>
          </a:bodyPr>
          <a:lstStyle/>
          <a:p>
            <a:r>
              <a:rPr lang="zh-CN" altLang="en-US" sz="1400" dirty="0" smtClean="0"/>
              <a:t>采购周期</a:t>
            </a:r>
            <a:r>
              <a:rPr lang="en-US" altLang="zh-CN" sz="1400" dirty="0"/>
              <a:t>n</a:t>
            </a:r>
            <a:endParaRPr lang="zh-CN" altLang="en-US" sz="1400" dirty="0"/>
          </a:p>
        </p:txBody>
      </p:sp>
      <p:sp>
        <p:nvSpPr>
          <p:cNvPr id="23" name="矩形 22"/>
          <p:cNvSpPr/>
          <p:nvPr/>
        </p:nvSpPr>
        <p:spPr>
          <a:xfrm>
            <a:off x="4058817" y="1038719"/>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146829" y="3603297"/>
            <a:ext cx="3750906" cy="553998"/>
          </a:xfrm>
          <a:prstGeom prst="rect">
            <a:avLst/>
          </a:prstGeom>
        </p:spPr>
        <p:txBody>
          <a:bodyPr wrap="square">
            <a:spAutoFit/>
          </a:bodyPr>
          <a:lstStyle/>
          <a:p>
            <a:pPr fontAlgn="ctr">
              <a:lnSpc>
                <a:spcPct val="150000"/>
              </a:lnSpc>
            </a:pPr>
            <a:r>
              <a:rPr lang="zh-CN" altLang="en-US" sz="2000" b="1" dirty="0" smtClean="0">
                <a:solidFill>
                  <a:srgbClr val="000000"/>
                </a:solidFill>
              </a:rPr>
              <a:t>倒推法：</a:t>
            </a:r>
            <a:endParaRPr lang="zh-CN" altLang="en-US" sz="2000" b="1" dirty="0">
              <a:effectLst/>
            </a:endParaRPr>
          </a:p>
        </p:txBody>
      </p:sp>
      <p:cxnSp>
        <p:nvCxnSpPr>
          <p:cNvPr id="25" name="直接箭头连接符 24"/>
          <p:cNvCxnSpPr/>
          <p:nvPr/>
        </p:nvCxnSpPr>
        <p:spPr>
          <a:xfrm flipH="1">
            <a:off x="5443785" y="4777186"/>
            <a:ext cx="5776773"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703252" y="5061813"/>
            <a:ext cx="1569660" cy="369332"/>
          </a:xfrm>
          <a:prstGeom prst="rect">
            <a:avLst/>
          </a:prstGeom>
          <a:solidFill>
            <a:schemeClr val="bg2"/>
          </a:solidFill>
        </p:spPr>
        <p:txBody>
          <a:bodyPr wrap="none" rtlCol="0">
            <a:spAutoFit/>
          </a:bodyPr>
          <a:lstStyle/>
          <a:p>
            <a:r>
              <a:rPr lang="zh-CN" altLang="en-US" b="1" dirty="0" smtClean="0">
                <a:solidFill>
                  <a:srgbClr val="C00000"/>
                </a:solidFill>
              </a:rPr>
              <a:t>预计开标日期</a:t>
            </a:r>
            <a:endParaRPr lang="zh-CN" altLang="en-US" b="1" dirty="0">
              <a:solidFill>
                <a:srgbClr val="C00000"/>
              </a:solidFill>
            </a:endParaRPr>
          </a:p>
        </p:txBody>
      </p:sp>
      <p:sp>
        <p:nvSpPr>
          <p:cNvPr id="28" name="文本框 27"/>
          <p:cNvSpPr txBox="1"/>
          <p:nvPr/>
        </p:nvSpPr>
        <p:spPr>
          <a:xfrm>
            <a:off x="4251847" y="4627033"/>
            <a:ext cx="902811" cy="307777"/>
          </a:xfrm>
          <a:prstGeom prst="rect">
            <a:avLst/>
          </a:prstGeom>
          <a:noFill/>
        </p:spPr>
        <p:txBody>
          <a:bodyPr wrap="none" rtlCol="0">
            <a:spAutoFit/>
          </a:bodyPr>
          <a:lstStyle/>
          <a:p>
            <a:r>
              <a:rPr lang="zh-CN" altLang="en-US" sz="1400" dirty="0" smtClean="0"/>
              <a:t>当前时间</a:t>
            </a:r>
            <a:endParaRPr lang="zh-CN" altLang="en-US" sz="1400" dirty="0"/>
          </a:p>
        </p:txBody>
      </p:sp>
      <p:sp>
        <p:nvSpPr>
          <p:cNvPr id="29" name="菱形 28"/>
          <p:cNvSpPr/>
          <p:nvPr/>
        </p:nvSpPr>
        <p:spPr>
          <a:xfrm>
            <a:off x="10486212" y="45783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菱形 30"/>
          <p:cNvSpPr/>
          <p:nvPr/>
        </p:nvSpPr>
        <p:spPr>
          <a:xfrm>
            <a:off x="7156348" y="458497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菱形 32"/>
          <p:cNvSpPr/>
          <p:nvPr/>
        </p:nvSpPr>
        <p:spPr>
          <a:xfrm>
            <a:off x="8883504" y="45567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580494" y="5089301"/>
            <a:ext cx="1261884" cy="307777"/>
          </a:xfrm>
          <a:prstGeom prst="rect">
            <a:avLst/>
          </a:prstGeom>
          <a:noFill/>
        </p:spPr>
        <p:txBody>
          <a:bodyPr wrap="none" rtlCol="0">
            <a:spAutoFit/>
          </a:bodyPr>
          <a:lstStyle/>
          <a:p>
            <a:r>
              <a:rPr lang="zh-CN" altLang="en-US" sz="1400" dirty="0" smtClean="0"/>
              <a:t>预计下单日期</a:t>
            </a:r>
            <a:endParaRPr lang="zh-CN" altLang="en-US" sz="1400" dirty="0"/>
          </a:p>
        </p:txBody>
      </p:sp>
      <p:sp>
        <p:nvSpPr>
          <p:cNvPr id="35" name="文本框 34"/>
          <p:cNvSpPr txBox="1"/>
          <p:nvPr/>
        </p:nvSpPr>
        <p:spPr>
          <a:xfrm>
            <a:off x="5764494" y="5684139"/>
            <a:ext cx="4535216" cy="338554"/>
          </a:xfrm>
          <a:prstGeom prst="rect">
            <a:avLst/>
          </a:prstGeom>
          <a:noFill/>
        </p:spPr>
        <p:txBody>
          <a:bodyPr wrap="none" rtlCol="0">
            <a:spAutoFit/>
          </a:bodyPr>
          <a:lstStyle/>
          <a:p>
            <a:r>
              <a:rPr lang="zh-CN" altLang="en-US" sz="1600" b="1" dirty="0" smtClean="0">
                <a:solidFill>
                  <a:schemeClr val="accent6"/>
                </a:solidFill>
              </a:rPr>
              <a:t>预计开标时间</a:t>
            </a:r>
            <a:r>
              <a:rPr lang="en-US" altLang="zh-CN" sz="1600" b="1" dirty="0" smtClean="0">
                <a:solidFill>
                  <a:schemeClr val="accent6"/>
                </a:solidFill>
              </a:rPr>
              <a:t>=</a:t>
            </a:r>
            <a:r>
              <a:rPr lang="zh-CN" altLang="en-US" sz="1600" b="1" dirty="0" smtClean="0">
                <a:solidFill>
                  <a:schemeClr val="accent6"/>
                </a:solidFill>
              </a:rPr>
              <a:t>客户要货日期</a:t>
            </a:r>
            <a:r>
              <a:rPr lang="en-US" altLang="zh-CN" sz="1600" b="1" dirty="0">
                <a:solidFill>
                  <a:schemeClr val="accent6"/>
                </a:solidFill>
              </a:rPr>
              <a:t> </a:t>
            </a:r>
            <a:r>
              <a:rPr lang="en-US" altLang="zh-CN" sz="1600" b="1" dirty="0" smtClean="0">
                <a:solidFill>
                  <a:schemeClr val="accent6"/>
                </a:solidFill>
              </a:rPr>
              <a:t>-【</a:t>
            </a:r>
            <a:r>
              <a:rPr lang="zh-CN" altLang="en-US" sz="1600" b="1" dirty="0" smtClean="0">
                <a:solidFill>
                  <a:schemeClr val="accent6"/>
                </a:solidFill>
              </a:rPr>
              <a:t>关键活动耗时</a:t>
            </a:r>
            <a:r>
              <a:rPr lang="en-US" altLang="zh-CN" sz="1600" b="1" dirty="0" smtClean="0">
                <a:solidFill>
                  <a:schemeClr val="accent6"/>
                </a:solidFill>
              </a:rPr>
              <a:t>】</a:t>
            </a:r>
            <a:endParaRPr lang="zh-CN" altLang="en-US" sz="1600" b="1" dirty="0">
              <a:solidFill>
                <a:schemeClr val="accent6"/>
              </a:solidFill>
            </a:endParaRPr>
          </a:p>
        </p:txBody>
      </p:sp>
      <p:sp>
        <p:nvSpPr>
          <p:cNvPr id="36" name="右大括号 35"/>
          <p:cNvSpPr/>
          <p:nvPr/>
        </p:nvSpPr>
        <p:spPr>
          <a:xfrm rot="16200000">
            <a:off x="8020321" y="3547273"/>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文本框 36"/>
          <p:cNvSpPr txBox="1"/>
          <p:nvPr/>
        </p:nvSpPr>
        <p:spPr>
          <a:xfrm>
            <a:off x="7250822" y="3746829"/>
            <a:ext cx="1800493" cy="307777"/>
          </a:xfrm>
          <a:prstGeom prst="rect">
            <a:avLst/>
          </a:prstGeom>
          <a:noFill/>
        </p:spPr>
        <p:txBody>
          <a:bodyPr wrap="none" rtlCol="0">
            <a:spAutoFit/>
          </a:bodyPr>
          <a:lstStyle/>
          <a:p>
            <a:r>
              <a:rPr lang="zh-CN" altLang="en-US" sz="1400" dirty="0" smtClean="0"/>
              <a:t>合同签订及下单周期</a:t>
            </a:r>
            <a:endParaRPr lang="zh-CN" altLang="en-US" sz="1400" dirty="0"/>
          </a:p>
        </p:txBody>
      </p:sp>
      <p:sp>
        <p:nvSpPr>
          <p:cNvPr id="38" name="右大括号 37"/>
          <p:cNvSpPr/>
          <p:nvPr/>
        </p:nvSpPr>
        <p:spPr>
          <a:xfrm rot="16200000">
            <a:off x="9720952" y="3550198"/>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文本框 38"/>
          <p:cNvSpPr txBox="1"/>
          <p:nvPr/>
        </p:nvSpPr>
        <p:spPr>
          <a:xfrm>
            <a:off x="9320647" y="3746829"/>
            <a:ext cx="1261884" cy="307777"/>
          </a:xfrm>
          <a:prstGeom prst="rect">
            <a:avLst/>
          </a:prstGeom>
          <a:noFill/>
        </p:spPr>
        <p:txBody>
          <a:bodyPr wrap="none" rtlCol="0">
            <a:spAutoFit/>
          </a:bodyPr>
          <a:lstStyle/>
          <a:p>
            <a:r>
              <a:rPr lang="zh-CN" altLang="en-US" sz="1400" dirty="0" smtClean="0"/>
              <a:t>项目复杂程度</a:t>
            </a:r>
            <a:endParaRPr lang="zh-CN" altLang="en-US" sz="1400" dirty="0"/>
          </a:p>
        </p:txBody>
      </p:sp>
      <p:sp>
        <p:nvSpPr>
          <p:cNvPr id="42" name="矩形 41"/>
          <p:cNvSpPr/>
          <p:nvPr/>
        </p:nvSpPr>
        <p:spPr>
          <a:xfrm>
            <a:off x="4058817" y="3709847"/>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a:off x="5894246" y="4582610"/>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右大括号 45"/>
          <p:cNvSpPr/>
          <p:nvPr/>
        </p:nvSpPr>
        <p:spPr>
          <a:xfrm rot="16200000">
            <a:off x="6587050" y="3741768"/>
            <a:ext cx="319702" cy="1238777"/>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文本框 46"/>
          <p:cNvSpPr txBox="1"/>
          <p:nvPr/>
        </p:nvSpPr>
        <p:spPr>
          <a:xfrm>
            <a:off x="6214635" y="3726407"/>
            <a:ext cx="902811" cy="307777"/>
          </a:xfrm>
          <a:prstGeom prst="rect">
            <a:avLst/>
          </a:prstGeom>
          <a:noFill/>
        </p:spPr>
        <p:txBody>
          <a:bodyPr wrap="none" rtlCol="0">
            <a:spAutoFit/>
          </a:bodyPr>
          <a:lstStyle/>
          <a:p>
            <a:r>
              <a:rPr lang="zh-CN" altLang="en-US" sz="1400" dirty="0" smtClean="0"/>
              <a:t>中标公示</a:t>
            </a:r>
            <a:endParaRPr lang="zh-CN" altLang="en-US" sz="1400" dirty="0"/>
          </a:p>
        </p:txBody>
      </p:sp>
      <p:sp>
        <p:nvSpPr>
          <p:cNvPr id="49" name="文本框 48"/>
          <p:cNvSpPr txBox="1"/>
          <p:nvPr/>
        </p:nvSpPr>
        <p:spPr>
          <a:xfrm>
            <a:off x="10133161" y="5099729"/>
            <a:ext cx="1620957" cy="307777"/>
          </a:xfrm>
          <a:prstGeom prst="rect">
            <a:avLst/>
          </a:prstGeom>
          <a:noFill/>
        </p:spPr>
        <p:txBody>
          <a:bodyPr wrap="none" rtlCol="0">
            <a:spAutoFit/>
          </a:bodyPr>
          <a:lstStyle/>
          <a:p>
            <a:r>
              <a:rPr lang="zh-CN" altLang="en-US" sz="1400" dirty="0" smtClean="0"/>
              <a:t>客户最晚要货日期</a:t>
            </a:r>
            <a:endParaRPr lang="zh-CN" altLang="en-US" sz="1400" dirty="0"/>
          </a:p>
        </p:txBody>
      </p:sp>
      <p:sp>
        <p:nvSpPr>
          <p:cNvPr id="50" name="等腰三角形 49"/>
          <p:cNvSpPr/>
          <p:nvPr/>
        </p:nvSpPr>
        <p:spPr>
          <a:xfrm rot="5400000">
            <a:off x="3107588" y="3042228"/>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187291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7606768" cy="495935"/>
          </a:xfrm>
        </p:spPr>
        <p:txBody>
          <a:bodyPr/>
          <a:lstStyle/>
          <a:p>
            <a:r>
              <a:rPr lang="en-US" altLang="zh-CN" dirty="0" smtClean="0"/>
              <a:t>T</a:t>
            </a:r>
            <a:r>
              <a:rPr lang="zh-CN" altLang="en-US" dirty="0" smtClean="0"/>
              <a:t>试点</a:t>
            </a:r>
            <a:r>
              <a:rPr lang="zh-CN" altLang="en-US" dirty="0"/>
              <a:t>案例分享</a:t>
            </a:r>
            <a:r>
              <a:rPr lang="en-US" altLang="zh-CN" dirty="0"/>
              <a:t>-</a:t>
            </a:r>
            <a:r>
              <a:rPr lang="zh-CN" altLang="en-US" dirty="0"/>
              <a:t>上海，山东区域</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0" name="矩形 49"/>
          <p:cNvSpPr/>
          <p:nvPr/>
        </p:nvSpPr>
        <p:spPr>
          <a:xfrm>
            <a:off x="9293290" y="917568"/>
            <a:ext cx="2677887"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nvSpPr>
        <p:spPr>
          <a:xfrm rot="5400000">
            <a:off x="7517094" y="3495150"/>
            <a:ext cx="3043873" cy="24725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9850952" y="1044574"/>
            <a:ext cx="1800493" cy="369332"/>
          </a:xfrm>
          <a:prstGeom prst="rect">
            <a:avLst/>
          </a:prstGeom>
          <a:noFill/>
        </p:spPr>
        <p:txBody>
          <a:bodyPr wrap="none" rtlCol="0">
            <a:spAutoFit/>
          </a:bodyPr>
          <a:lstStyle/>
          <a:p>
            <a:r>
              <a:rPr lang="zh-CN" altLang="en-US" b="1" dirty="0" smtClean="0"/>
              <a:t>经验分享与总结</a:t>
            </a:r>
            <a:endParaRPr lang="zh-CN" altLang="en-US" b="1" dirty="0"/>
          </a:p>
        </p:txBody>
      </p:sp>
      <p:graphicFrame>
        <p:nvGraphicFramePr>
          <p:cNvPr id="4" name="表格 3"/>
          <p:cNvGraphicFramePr>
            <a:graphicFrameLocks noGrp="1"/>
          </p:cNvGraphicFramePr>
          <p:nvPr>
            <p:extLst>
              <p:ext uri="{D42A27DB-BD31-4B8C-83A1-F6EECF244321}">
                <p14:modId xmlns:p14="http://schemas.microsoft.com/office/powerpoint/2010/main" val="337125743"/>
              </p:ext>
            </p:extLst>
          </p:nvPr>
        </p:nvGraphicFramePr>
        <p:xfrm>
          <a:off x="91091" y="1229240"/>
          <a:ext cx="8717006" cy="2255520"/>
        </p:xfrm>
        <a:graphic>
          <a:graphicData uri="http://schemas.openxmlformats.org/drawingml/2006/table">
            <a:tbl>
              <a:tblPr/>
              <a:tblGrid>
                <a:gridCol w="361015"/>
                <a:gridCol w="556565"/>
                <a:gridCol w="1444060"/>
                <a:gridCol w="2324033"/>
                <a:gridCol w="2542147"/>
                <a:gridCol w="1489186"/>
              </a:tblGrid>
              <a:tr h="312591">
                <a:tc>
                  <a:txBody>
                    <a:bodyPr/>
                    <a:lstStyle/>
                    <a:p>
                      <a:pPr algn="ctr" fontAlgn="ctr" latinLnBrk="0"/>
                      <a:r>
                        <a:rPr lang="en-US" sz="1000" b="1" i="0" dirty="0">
                          <a:solidFill>
                            <a:srgbClr val="000000"/>
                          </a:solidFill>
                          <a:effectLst/>
                        </a:rPr>
                        <a:t>NO.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dirty="0">
                          <a:solidFill>
                            <a:srgbClr val="000000"/>
                          </a:solidFill>
                          <a:effectLst/>
                        </a:rPr>
                        <a:t>周期分类</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a:solidFill>
                            <a:srgbClr val="000000"/>
                          </a:solidFill>
                          <a:effectLst/>
                        </a:rPr>
                        <a:t>重要数据质量衡量指标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a:solidFill>
                            <a:srgbClr val="000000"/>
                          </a:solidFill>
                          <a:effectLst/>
                        </a:rPr>
                        <a:t>指标计算公式</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dirty="0">
                          <a:solidFill>
                            <a:srgbClr val="000000"/>
                          </a:solidFill>
                          <a:effectLst/>
                        </a:rPr>
                        <a:t>取值说明</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dirty="0">
                          <a:solidFill>
                            <a:srgbClr val="000000"/>
                          </a:solidFill>
                          <a:effectLst/>
                        </a:rPr>
                        <a:t>关键动作</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r>
              <a:tr h="913727">
                <a:tc>
                  <a:txBody>
                    <a:bodyPr/>
                    <a:lstStyle/>
                    <a:p>
                      <a:pPr algn="ctr" fontAlgn="ctr" latinLnBrk="0"/>
                      <a:r>
                        <a:rPr lang="en-US" altLang="zh-CN" sz="1000" b="0" i="0">
                          <a:solidFill>
                            <a:srgbClr val="000000"/>
                          </a:solidFill>
                          <a:effectLst/>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月度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dirty="0">
                          <a:solidFill>
                            <a:srgbClr val="000000"/>
                          </a:solidFill>
                          <a:effectLst/>
                        </a:rPr>
                        <a:t>1</a:t>
                      </a:r>
                      <a:r>
                        <a:rPr lang="zh-CN" altLang="en-US" sz="1000" b="0" i="0" dirty="0">
                          <a:solidFill>
                            <a:srgbClr val="000000"/>
                          </a:solidFill>
                          <a:effectLst/>
                        </a:rPr>
                        <a:t>、滚动两个月度开标抖动率</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、月开标率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solidFill>
                            <a:srgbClr val="000000"/>
                          </a:solidFill>
                          <a:effectLst/>
                        </a:rPr>
                        <a:t>月度开标时间里漏斗内项目抖动金额（取消、降至漏斗外、开标跨月延期除以总的漏斗内金额</a:t>
                      </a:r>
                      <a:br>
                        <a:rPr lang="zh-CN" altLang="en-US" sz="1000" b="0" i="0" dirty="0">
                          <a:solidFill>
                            <a:srgbClr val="000000"/>
                          </a:solidFill>
                          <a:effectLst/>
                        </a:rPr>
                      </a:br>
                      <a:r>
                        <a:rPr lang="zh-CN" altLang="en-US" sz="1000" b="0" i="0" dirty="0">
                          <a:solidFill>
                            <a:srgbClr val="000000"/>
                          </a:solidFill>
                          <a:effectLst/>
                        </a:rPr>
                        <a:t>月开标率</a:t>
                      </a:r>
                      <a:r>
                        <a:rPr lang="en-US" altLang="zh-CN" sz="1000" b="0" i="0" dirty="0">
                          <a:solidFill>
                            <a:srgbClr val="000000"/>
                          </a:solidFill>
                          <a:effectLst/>
                        </a:rPr>
                        <a:t>=</a:t>
                      </a:r>
                      <a:r>
                        <a:rPr lang="zh-CN" altLang="en-US" sz="1000" b="0" i="0" dirty="0">
                          <a:solidFill>
                            <a:srgbClr val="000000"/>
                          </a:solidFill>
                          <a:effectLst/>
                        </a:rPr>
                        <a:t>实际开标有结果的项目总金额（中标、丢单）</a:t>
                      </a:r>
                      <a:r>
                        <a:rPr lang="en-US" altLang="zh-CN" sz="1000" b="0" i="0" dirty="0">
                          <a:solidFill>
                            <a:srgbClr val="000000"/>
                          </a:solidFill>
                          <a:effectLst/>
                        </a:rPr>
                        <a:t>/</a:t>
                      </a:r>
                      <a:r>
                        <a:rPr lang="zh-CN" altLang="en-US" sz="1000" b="0" i="0" dirty="0">
                          <a:solidFill>
                            <a:srgbClr val="000000"/>
                          </a:solidFill>
                          <a:effectLst/>
                        </a:rPr>
                        <a:t>月初取值的开标总金额</a:t>
                      </a:r>
                      <a:br>
                        <a:rPr lang="zh-CN" altLang="en-US" sz="1000" b="0" i="0" dirty="0">
                          <a:solidFill>
                            <a:srgbClr val="000000"/>
                          </a:solidFill>
                          <a:effectLst/>
                        </a:rPr>
                      </a:br>
                      <a:endParaRPr lang="zh-CN" altLang="en-US" sz="1000" b="0" i="0" dirty="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dirty="0">
                          <a:effectLst/>
                        </a:rPr>
                        <a:t>1</a:t>
                      </a:r>
                      <a:r>
                        <a:rPr lang="zh-CN" altLang="en-US" sz="1000" b="0" i="0" dirty="0">
                          <a:effectLst/>
                        </a:rPr>
                        <a:t>、总的漏斗内金额</a:t>
                      </a:r>
                      <a:r>
                        <a:rPr lang="en-US" altLang="zh-CN" sz="1000" b="0" i="0" dirty="0">
                          <a:effectLst/>
                        </a:rPr>
                        <a:t>=</a:t>
                      </a:r>
                      <a:r>
                        <a:rPr lang="zh-CN" altLang="en-US" sz="1000" b="0" i="0" dirty="0">
                          <a:effectLst/>
                        </a:rPr>
                        <a:t>每个月最后一天</a:t>
                      </a:r>
                      <a:r>
                        <a:rPr lang="en-US" altLang="zh-CN" sz="1000" b="0" i="0" dirty="0">
                          <a:effectLst/>
                        </a:rPr>
                        <a:t>20</a:t>
                      </a:r>
                      <a:r>
                        <a:rPr lang="zh-CN" altLang="en-US" sz="1000" b="0" i="0" dirty="0">
                          <a:effectLst/>
                        </a:rPr>
                        <a:t>日取的月度开标项目明细合计为准，当月新增的项目不在初用值范围内；</a:t>
                      </a:r>
                      <a:br>
                        <a:rPr lang="zh-CN" altLang="en-US" sz="1000" b="0" i="0" dirty="0">
                          <a:effectLst/>
                        </a:rPr>
                      </a:br>
                      <a:r>
                        <a:rPr lang="en-US" altLang="zh-CN" sz="1000" b="0" i="0" dirty="0">
                          <a:effectLst/>
                        </a:rPr>
                        <a:t>2</a:t>
                      </a:r>
                      <a:r>
                        <a:rPr lang="zh-CN" altLang="en-US" sz="1000" b="0" i="0" dirty="0">
                          <a:effectLst/>
                        </a:rPr>
                        <a:t>、时间维度：以系统里面 预计开标日期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effectLst/>
                        </a:rPr>
                        <a:t>每个月</a:t>
                      </a:r>
                      <a:r>
                        <a:rPr lang="en-US" altLang="zh-CN" sz="1000" b="0" i="0">
                          <a:effectLst/>
                        </a:rPr>
                        <a:t>18</a:t>
                      </a:r>
                      <a:r>
                        <a:rPr lang="zh-CN" altLang="en-US" sz="1000" b="0" i="0">
                          <a:effectLst/>
                        </a:rPr>
                        <a:t>日调整好后两个月系统系统里面开标项目</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53046">
                <a:tc>
                  <a:txBody>
                    <a:bodyPr/>
                    <a:lstStyle/>
                    <a:p>
                      <a:pPr algn="ctr" fontAlgn="ctr" latinLnBrk="0"/>
                      <a:r>
                        <a:rPr lang="en-US" altLang="zh-CN" sz="1000" b="0" i="0">
                          <a:solidFill>
                            <a:srgbClr val="000000"/>
                          </a:solidFill>
                          <a:effectLst/>
                        </a:rPr>
                        <a:t>2</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季度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滚动</a:t>
                      </a:r>
                      <a:r>
                        <a:rPr lang="en-US" altLang="zh-CN" sz="1000" b="0" i="0">
                          <a:solidFill>
                            <a:srgbClr val="000000"/>
                          </a:solidFill>
                          <a:effectLst/>
                        </a:rPr>
                        <a:t>2</a:t>
                      </a:r>
                      <a:r>
                        <a:rPr lang="zh-CN" altLang="en-US" sz="1000" b="0" i="0">
                          <a:solidFill>
                            <a:srgbClr val="000000"/>
                          </a:solidFill>
                          <a:effectLst/>
                        </a:rPr>
                        <a:t>个季度漏斗抖动率（漏斗真实性）</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季度时间里漏斗内项目抖动金额（取消、降至漏斗外、下单跨季延期除以总的漏斗内金额</a:t>
                      </a:r>
                      <a:br>
                        <a:rPr lang="zh-CN" altLang="en-US" sz="1000" b="0" i="0">
                          <a:solidFill>
                            <a:srgbClr val="000000"/>
                          </a:solidFill>
                          <a:effectLst/>
                        </a:rPr>
                      </a:br>
                      <a:endParaRPr lang="zh-CN" altLang="en-US" sz="1000" b="0" i="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dirty="0">
                          <a:solidFill>
                            <a:srgbClr val="000000"/>
                          </a:solidFill>
                          <a:effectLst/>
                        </a:rPr>
                        <a:t>1</a:t>
                      </a:r>
                      <a:r>
                        <a:rPr lang="zh-CN" altLang="en-US" sz="1000" b="0" i="0" dirty="0">
                          <a:solidFill>
                            <a:srgbClr val="000000"/>
                          </a:solidFill>
                          <a:effectLst/>
                        </a:rPr>
                        <a:t>、总漏斗内金额</a:t>
                      </a:r>
                      <a:r>
                        <a:rPr lang="en-US" altLang="zh-CN" sz="1000" b="0" i="0" dirty="0">
                          <a:solidFill>
                            <a:srgbClr val="000000"/>
                          </a:solidFill>
                          <a:effectLst/>
                        </a:rPr>
                        <a:t>=</a:t>
                      </a:r>
                      <a:r>
                        <a:rPr lang="zh-CN" altLang="en-US" sz="1000" b="0" i="0" dirty="0">
                          <a:solidFill>
                            <a:srgbClr val="000000"/>
                          </a:solidFill>
                          <a:effectLst/>
                        </a:rPr>
                        <a:t>每个季度最后一个月</a:t>
                      </a:r>
                      <a:r>
                        <a:rPr lang="en-US" altLang="zh-CN" sz="1000" b="0" i="0" dirty="0">
                          <a:solidFill>
                            <a:srgbClr val="000000"/>
                          </a:solidFill>
                          <a:effectLst/>
                        </a:rPr>
                        <a:t>20</a:t>
                      </a:r>
                      <a:r>
                        <a:rPr lang="zh-CN" altLang="en-US" sz="1000" b="0" i="0" dirty="0">
                          <a:solidFill>
                            <a:srgbClr val="000000"/>
                          </a:solidFill>
                          <a:effectLst/>
                        </a:rPr>
                        <a:t>日取的项目明细合计为准，季度新增的项目不在初用值范围内；</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、时间维度：以系统里面 预计下单日期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effectLst/>
                        </a:rPr>
                        <a:t>每个月</a:t>
                      </a:r>
                      <a:r>
                        <a:rPr lang="en-US" altLang="zh-CN" sz="1000" b="0" i="0" dirty="0">
                          <a:effectLst/>
                        </a:rPr>
                        <a:t>18</a:t>
                      </a:r>
                      <a:r>
                        <a:rPr lang="zh-CN" altLang="en-US" sz="1000" b="0" i="0" dirty="0">
                          <a:effectLst/>
                        </a:rPr>
                        <a:t>日调整好后两个季度系统里面下单项目</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bl>
          </a:graphicData>
        </a:graphic>
      </p:graphicFrame>
      <p:sp>
        <p:nvSpPr>
          <p:cNvPr id="5" name="矩形 4"/>
          <p:cNvSpPr/>
          <p:nvPr/>
        </p:nvSpPr>
        <p:spPr>
          <a:xfrm>
            <a:off x="91091" y="859908"/>
            <a:ext cx="4634602" cy="369332"/>
          </a:xfrm>
          <a:prstGeom prst="rect">
            <a:avLst/>
          </a:prstGeom>
        </p:spPr>
        <p:txBody>
          <a:bodyPr wrap="none">
            <a:spAutoFit/>
          </a:bodyPr>
          <a:lstStyle/>
          <a:p>
            <a:r>
              <a:rPr lang="en-US" altLang="zh-CN" b="1" dirty="0" smtClean="0"/>
              <a:t>“</a:t>
            </a:r>
            <a:r>
              <a:rPr lang="zh-CN" altLang="en-US" b="1" dirty="0"/>
              <a:t>预计开标时间”</a:t>
            </a:r>
            <a:r>
              <a:rPr lang="en-US" altLang="zh-CN" b="1" dirty="0"/>
              <a:t>/“</a:t>
            </a:r>
            <a:r>
              <a:rPr lang="zh-CN" altLang="en-US" b="1" dirty="0"/>
              <a:t>预计下单时间”监控指标</a:t>
            </a:r>
          </a:p>
        </p:txBody>
      </p:sp>
      <p:graphicFrame>
        <p:nvGraphicFramePr>
          <p:cNvPr id="7" name="表格 6"/>
          <p:cNvGraphicFramePr>
            <a:graphicFrameLocks noGrp="1"/>
          </p:cNvGraphicFramePr>
          <p:nvPr>
            <p:extLst>
              <p:ext uri="{D42A27DB-BD31-4B8C-83A1-F6EECF244321}">
                <p14:modId xmlns:p14="http://schemas.microsoft.com/office/powerpoint/2010/main" val="2433402729"/>
              </p:ext>
            </p:extLst>
          </p:nvPr>
        </p:nvGraphicFramePr>
        <p:xfrm>
          <a:off x="91091" y="3515833"/>
          <a:ext cx="8627474" cy="2804160"/>
        </p:xfrm>
        <a:graphic>
          <a:graphicData uri="http://schemas.openxmlformats.org/drawingml/2006/table">
            <a:tbl>
              <a:tblPr/>
              <a:tblGrid>
                <a:gridCol w="286847"/>
                <a:gridCol w="514854"/>
                <a:gridCol w="1412170"/>
                <a:gridCol w="2272711"/>
                <a:gridCol w="2486006"/>
                <a:gridCol w="1654886"/>
              </a:tblGrid>
              <a:tr h="443883">
                <a:tc>
                  <a:txBody>
                    <a:bodyPr/>
                    <a:lstStyle/>
                    <a:p>
                      <a:pPr algn="ctr" fontAlgn="ctr" latinLnBrk="0"/>
                      <a:r>
                        <a:rPr lang="en-US" sz="1000" b="1" i="0" dirty="0">
                          <a:solidFill>
                            <a:srgbClr val="000000"/>
                          </a:solidFill>
                          <a:effectLst/>
                        </a:rPr>
                        <a:t>NO.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dirty="0">
                          <a:solidFill>
                            <a:srgbClr val="000000"/>
                          </a:solidFill>
                          <a:effectLst/>
                        </a:rPr>
                        <a:t>周期分类</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a:solidFill>
                            <a:srgbClr val="000000"/>
                          </a:solidFill>
                          <a:effectLst/>
                        </a:rPr>
                        <a:t>重要数据质量衡量指标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a:solidFill>
                            <a:srgbClr val="000000"/>
                          </a:solidFill>
                          <a:effectLst/>
                        </a:rPr>
                        <a:t>指标计算公式</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dirty="0">
                          <a:solidFill>
                            <a:srgbClr val="000000"/>
                          </a:solidFill>
                          <a:effectLst/>
                        </a:rPr>
                        <a:t>取值说明</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c>
                  <a:txBody>
                    <a:bodyPr/>
                    <a:lstStyle/>
                    <a:p>
                      <a:pPr algn="ctr" fontAlgn="ctr" latinLnBrk="0"/>
                      <a:r>
                        <a:rPr lang="zh-CN" altLang="en-US" sz="1000" b="1" i="0">
                          <a:solidFill>
                            <a:srgbClr val="000000"/>
                          </a:solidFill>
                          <a:effectLst/>
                        </a:rPr>
                        <a:t>关键动作</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CE4D6"/>
                    </a:solidFill>
                  </a:tcPr>
                </a:tc>
              </a:tr>
              <a:tr h="567184">
                <a:tc>
                  <a:txBody>
                    <a:bodyPr/>
                    <a:lstStyle/>
                    <a:p>
                      <a:pPr algn="ctr" fontAlgn="ctr" latinLnBrk="0"/>
                      <a:r>
                        <a:rPr lang="en-US" altLang="zh-CN" sz="1000" b="0" i="0">
                          <a:solidFill>
                            <a:srgbClr val="000000"/>
                          </a:solidFill>
                          <a:effectLst/>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月度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solidFill>
                            <a:srgbClr val="000000"/>
                          </a:solidFill>
                          <a:effectLst/>
                        </a:rPr>
                        <a:t>月度开标准确率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solidFill>
                            <a:srgbClr val="1F2329"/>
                          </a:solidFill>
                          <a:effectLst/>
                        </a:rPr>
                        <a:t>月开标准确率</a:t>
                      </a:r>
                      <a:r>
                        <a:rPr lang="en-US" altLang="zh-CN" sz="1000" b="0" i="0" dirty="0">
                          <a:solidFill>
                            <a:srgbClr val="1F2329"/>
                          </a:solidFill>
                          <a:effectLst/>
                        </a:rPr>
                        <a:t>=</a:t>
                      </a:r>
                      <a:r>
                        <a:rPr lang="zh-CN" altLang="en-US" sz="1000" b="0" i="0" dirty="0">
                          <a:solidFill>
                            <a:srgbClr val="1F2329"/>
                          </a:solidFill>
                          <a:effectLst/>
                        </a:rPr>
                        <a:t>当月实际开标</a:t>
                      </a:r>
                      <a:r>
                        <a:rPr lang="en-US" altLang="zh-CN" sz="1000" b="0" i="0" dirty="0">
                          <a:solidFill>
                            <a:srgbClr val="1F2329"/>
                          </a:solidFill>
                          <a:effectLst/>
                        </a:rPr>
                        <a:t>30</a:t>
                      </a:r>
                      <a:r>
                        <a:rPr lang="zh-CN" altLang="en-US" sz="1000" b="0" i="0" dirty="0">
                          <a:solidFill>
                            <a:srgbClr val="1F2329"/>
                          </a:solidFill>
                          <a:effectLst/>
                        </a:rPr>
                        <a:t>万</a:t>
                      </a:r>
                      <a:r>
                        <a:rPr lang="en-US" altLang="zh-CN" sz="1000" b="0" i="0" dirty="0">
                          <a:solidFill>
                            <a:srgbClr val="1F2329"/>
                          </a:solidFill>
                          <a:effectLst/>
                        </a:rPr>
                        <a:t>+</a:t>
                      </a:r>
                      <a:r>
                        <a:rPr lang="zh-CN" altLang="en-US" sz="1000" b="0" i="0" dirty="0">
                          <a:solidFill>
                            <a:srgbClr val="1F2329"/>
                          </a:solidFill>
                          <a:effectLst/>
                        </a:rPr>
                        <a:t>的个数（中标、丢标）</a:t>
                      </a:r>
                      <a:r>
                        <a:rPr lang="en-US" altLang="zh-CN" sz="1000" b="0" i="0" dirty="0">
                          <a:solidFill>
                            <a:srgbClr val="1F2329"/>
                          </a:solidFill>
                          <a:effectLst/>
                        </a:rPr>
                        <a:t>/</a:t>
                      </a:r>
                      <a:r>
                        <a:rPr lang="zh-CN" altLang="en-US" sz="1000" b="0" i="0" dirty="0">
                          <a:solidFill>
                            <a:srgbClr val="1F2329"/>
                          </a:solidFill>
                          <a:effectLst/>
                        </a:rPr>
                        <a:t>月初取值当月预计开标</a:t>
                      </a:r>
                      <a:r>
                        <a:rPr lang="en-US" altLang="zh-CN" sz="1000" b="0" i="0" dirty="0">
                          <a:solidFill>
                            <a:srgbClr val="1F2329"/>
                          </a:solidFill>
                          <a:effectLst/>
                        </a:rPr>
                        <a:t>30</a:t>
                      </a:r>
                      <a:r>
                        <a:rPr lang="zh-CN" altLang="en-US" sz="1000" b="0" i="0" dirty="0">
                          <a:solidFill>
                            <a:srgbClr val="1F2329"/>
                          </a:solidFill>
                          <a:effectLst/>
                        </a:rPr>
                        <a:t>万</a:t>
                      </a:r>
                      <a:r>
                        <a:rPr lang="en-US" altLang="zh-CN" sz="1000" b="0" i="0" dirty="0">
                          <a:solidFill>
                            <a:srgbClr val="1F2329"/>
                          </a:solidFill>
                          <a:effectLst/>
                        </a:rPr>
                        <a:t>+</a:t>
                      </a:r>
                      <a:r>
                        <a:rPr lang="zh-CN" altLang="en-US" sz="1000" b="0" i="0" dirty="0">
                          <a:solidFill>
                            <a:srgbClr val="1F2329"/>
                          </a:solidFill>
                          <a:effectLst/>
                        </a:rPr>
                        <a:t>的总个数</a:t>
                      </a:r>
                      <a:br>
                        <a:rPr lang="zh-CN" altLang="en-US" sz="1000" b="0" i="0" dirty="0">
                          <a:solidFill>
                            <a:srgbClr val="1F2329"/>
                          </a:solidFill>
                          <a:effectLst/>
                        </a:rPr>
                      </a:br>
                      <a:endParaRPr lang="zh-CN" altLang="en-US" sz="1000" b="0" i="0" dirty="0">
                        <a:solidFill>
                          <a:srgbClr val="1F2329"/>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a:effectLst/>
                        </a:rPr>
                        <a:t>1</a:t>
                      </a:r>
                      <a:r>
                        <a:rPr lang="zh-CN" altLang="en-US" sz="1000" b="0" i="0">
                          <a:effectLst/>
                        </a:rPr>
                        <a:t>、总的漏斗内金额</a:t>
                      </a:r>
                      <a:r>
                        <a:rPr lang="en-US" altLang="zh-CN" sz="1000" b="0" i="0">
                          <a:effectLst/>
                        </a:rPr>
                        <a:t>=</a:t>
                      </a:r>
                      <a:r>
                        <a:rPr lang="zh-CN" altLang="en-US" sz="1000" b="0" i="0">
                          <a:effectLst/>
                        </a:rPr>
                        <a:t>每个月最后一天</a:t>
                      </a:r>
                      <a:r>
                        <a:rPr lang="en-US" altLang="zh-CN" sz="1000" b="0" i="0">
                          <a:effectLst/>
                        </a:rPr>
                        <a:t>20</a:t>
                      </a:r>
                      <a:r>
                        <a:rPr lang="zh-CN" altLang="en-US" sz="1000" b="0" i="0">
                          <a:effectLst/>
                        </a:rPr>
                        <a:t>日取的月度开标项目明细合计为准，当月新增的项目不在初用值范围内；</a:t>
                      </a:r>
                      <a:br>
                        <a:rPr lang="zh-CN" altLang="en-US" sz="1000" b="0" i="0">
                          <a:effectLst/>
                        </a:rPr>
                      </a:br>
                      <a:r>
                        <a:rPr lang="en-US" altLang="zh-CN" sz="1000" b="0" i="0">
                          <a:effectLst/>
                        </a:rPr>
                        <a:t>2</a:t>
                      </a:r>
                      <a:r>
                        <a:rPr lang="zh-CN" altLang="en-US" sz="1000" b="0" i="0">
                          <a:effectLst/>
                        </a:rPr>
                        <a:t>、时间维度：以系统里面 预计开标日期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effectLst/>
                        </a:rPr>
                        <a:t>每个月</a:t>
                      </a:r>
                      <a:r>
                        <a:rPr lang="en-US" altLang="zh-CN" sz="1000" b="0" i="0">
                          <a:effectLst/>
                        </a:rPr>
                        <a:t>18</a:t>
                      </a:r>
                      <a:r>
                        <a:rPr lang="zh-CN" altLang="en-US" sz="1000" b="0" i="0">
                          <a:effectLst/>
                        </a:rPr>
                        <a:t>日调整好后一个月系统系统里面开标项目的关键字段：预计下单时间，预计开标时间，金额</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67184">
                <a:tc>
                  <a:txBody>
                    <a:bodyPr/>
                    <a:lstStyle/>
                    <a:p>
                      <a:pPr algn="ctr" fontAlgn="ctr" latinLnBrk="0"/>
                      <a:r>
                        <a:rPr lang="en-US" altLang="zh-CN" sz="1000" b="0" i="0">
                          <a:solidFill>
                            <a:srgbClr val="000000"/>
                          </a:solidFill>
                          <a:effectLst/>
                        </a:rPr>
                        <a:t>2</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季度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滚动</a:t>
                      </a:r>
                      <a:r>
                        <a:rPr lang="en-US" altLang="zh-CN" sz="1000" b="0" i="0">
                          <a:solidFill>
                            <a:srgbClr val="000000"/>
                          </a:solidFill>
                          <a:effectLst/>
                        </a:rPr>
                        <a:t>2</a:t>
                      </a:r>
                      <a:r>
                        <a:rPr lang="zh-CN" altLang="en-US" sz="1000" b="0" i="0">
                          <a:solidFill>
                            <a:srgbClr val="000000"/>
                          </a:solidFill>
                          <a:effectLst/>
                        </a:rPr>
                        <a:t>个季度漏斗抖动率（漏斗真实性）</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solidFill>
                            <a:srgbClr val="000000"/>
                          </a:solidFill>
                          <a:effectLst/>
                        </a:rPr>
                        <a:t>季度漏斗抖动率</a:t>
                      </a:r>
                      <a:r>
                        <a:rPr lang="en-US" altLang="zh-CN" sz="1000" b="0" i="0" dirty="0">
                          <a:solidFill>
                            <a:srgbClr val="000000"/>
                          </a:solidFill>
                          <a:effectLst/>
                        </a:rPr>
                        <a:t>=</a:t>
                      </a:r>
                      <a:r>
                        <a:rPr lang="zh-CN" altLang="en-US" sz="1000" b="0" i="0" dirty="0">
                          <a:solidFill>
                            <a:srgbClr val="000000"/>
                          </a:solidFill>
                          <a:effectLst/>
                        </a:rPr>
                        <a:t>（季度底取消</a:t>
                      </a:r>
                      <a:r>
                        <a:rPr lang="en-US" altLang="zh-CN" sz="1000" b="0" i="0" dirty="0">
                          <a:solidFill>
                            <a:srgbClr val="000000"/>
                          </a:solidFill>
                          <a:effectLst/>
                        </a:rPr>
                        <a:t>+</a:t>
                      </a:r>
                      <a:r>
                        <a:rPr lang="zh-CN" altLang="en-US" sz="1000" b="0" i="0" dirty="0">
                          <a:solidFill>
                            <a:srgbClr val="000000"/>
                          </a:solidFill>
                          <a:effectLst/>
                        </a:rPr>
                        <a:t>调出</a:t>
                      </a:r>
                      <a:r>
                        <a:rPr lang="en-US" altLang="zh-CN" sz="1000" b="0" i="0" dirty="0">
                          <a:solidFill>
                            <a:srgbClr val="000000"/>
                          </a:solidFill>
                          <a:effectLst/>
                        </a:rPr>
                        <a:t>+</a:t>
                      </a:r>
                      <a:r>
                        <a:rPr lang="zh-CN" altLang="en-US" sz="1000" b="0" i="0" dirty="0">
                          <a:solidFill>
                            <a:srgbClr val="000000"/>
                          </a:solidFill>
                          <a:effectLst/>
                        </a:rPr>
                        <a:t>后延</a:t>
                      </a:r>
                      <a:r>
                        <a:rPr lang="en-US" altLang="zh-CN" sz="1000" b="0" i="0" dirty="0">
                          <a:solidFill>
                            <a:srgbClr val="000000"/>
                          </a:solidFill>
                          <a:effectLst/>
                        </a:rPr>
                        <a:t>+</a:t>
                      </a:r>
                      <a:r>
                        <a:rPr lang="zh-CN" altLang="en-US" sz="1000" b="0" i="0" dirty="0">
                          <a:solidFill>
                            <a:srgbClr val="000000"/>
                          </a:solidFill>
                          <a:effectLst/>
                        </a:rPr>
                        <a:t>超期未调金额）</a:t>
                      </a:r>
                      <a:r>
                        <a:rPr lang="en-US" altLang="zh-CN" sz="1000" b="0" i="0" dirty="0">
                          <a:solidFill>
                            <a:srgbClr val="000000"/>
                          </a:solidFill>
                          <a:effectLst/>
                        </a:rPr>
                        <a:t>/</a:t>
                      </a:r>
                      <a:r>
                        <a:rPr lang="zh-CN" altLang="en-US" sz="1000" b="0" i="0" dirty="0">
                          <a:solidFill>
                            <a:srgbClr val="000000"/>
                          </a:solidFill>
                          <a:effectLst/>
                        </a:rPr>
                        <a:t>（季度初取值漏斗内总金额）</a:t>
                      </a:r>
                      <a:br>
                        <a:rPr lang="zh-CN" altLang="en-US" sz="1000" b="0" i="0" dirty="0">
                          <a:solidFill>
                            <a:srgbClr val="000000"/>
                          </a:solidFill>
                          <a:effectLst/>
                        </a:rPr>
                      </a:br>
                      <a:endParaRPr lang="zh-CN" altLang="en-US" sz="1000" b="0" i="0" dirty="0">
                        <a:solidFill>
                          <a:srgbClr val="000000"/>
                        </a:solidFill>
                        <a:effectLs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dirty="0">
                          <a:solidFill>
                            <a:srgbClr val="000000"/>
                          </a:solidFill>
                          <a:effectLst/>
                        </a:rPr>
                        <a:t>1</a:t>
                      </a:r>
                      <a:r>
                        <a:rPr lang="zh-CN" altLang="en-US" sz="1000" b="0" i="0" dirty="0">
                          <a:solidFill>
                            <a:srgbClr val="000000"/>
                          </a:solidFill>
                          <a:effectLst/>
                        </a:rPr>
                        <a:t>、总漏斗内金额</a:t>
                      </a:r>
                      <a:r>
                        <a:rPr lang="en-US" altLang="zh-CN" sz="1000" b="0" i="0" dirty="0">
                          <a:solidFill>
                            <a:srgbClr val="000000"/>
                          </a:solidFill>
                          <a:effectLst/>
                        </a:rPr>
                        <a:t>=</a:t>
                      </a:r>
                      <a:r>
                        <a:rPr lang="zh-CN" altLang="en-US" sz="1000" b="0" i="0" dirty="0">
                          <a:solidFill>
                            <a:srgbClr val="000000"/>
                          </a:solidFill>
                          <a:effectLst/>
                        </a:rPr>
                        <a:t>每个季度最后一个月</a:t>
                      </a:r>
                      <a:r>
                        <a:rPr lang="en-US" altLang="zh-CN" sz="1000" b="0" i="0" dirty="0">
                          <a:solidFill>
                            <a:srgbClr val="000000"/>
                          </a:solidFill>
                          <a:effectLst/>
                        </a:rPr>
                        <a:t>20</a:t>
                      </a:r>
                      <a:r>
                        <a:rPr lang="zh-CN" altLang="en-US" sz="1000" b="0" i="0" dirty="0">
                          <a:solidFill>
                            <a:srgbClr val="000000"/>
                          </a:solidFill>
                          <a:effectLst/>
                        </a:rPr>
                        <a:t>日取的项目明细合计为准，季度新增的项目不在初用值范围内；</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、时间维度：以系统里面 预计下单日期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effectLst/>
                        </a:rPr>
                        <a:t>每个月</a:t>
                      </a:r>
                      <a:r>
                        <a:rPr lang="en-US" altLang="zh-CN" sz="1000" b="0" i="0">
                          <a:effectLst/>
                        </a:rPr>
                        <a:t>18</a:t>
                      </a:r>
                      <a:r>
                        <a:rPr lang="zh-CN" altLang="en-US" sz="1000" b="0" i="0">
                          <a:effectLst/>
                        </a:rPr>
                        <a:t>日调整好后两个季度系统里面下单项目的关键字段：预计下单时间，预计开标时间，金额</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67184">
                <a:tc>
                  <a:txBody>
                    <a:bodyPr/>
                    <a:lstStyle/>
                    <a:p>
                      <a:pPr algn="ctr" fontAlgn="ctr" latinLnBrk="0"/>
                      <a:r>
                        <a:rPr lang="en-US" altLang="zh-CN" sz="1000" b="0" i="0">
                          <a:solidFill>
                            <a:srgbClr val="000000"/>
                          </a:solidFill>
                          <a:effectLst/>
                        </a:rPr>
                        <a:t>3</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月度</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solidFill>
                            <a:srgbClr val="000000"/>
                          </a:solidFill>
                          <a:effectLst/>
                        </a:rPr>
                        <a:t>进漏斗时预计下单时间偏差率</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偏差</a:t>
                      </a:r>
                      <a:r>
                        <a:rPr lang="en-US" altLang="zh-CN" sz="1000" b="0" i="0">
                          <a:solidFill>
                            <a:srgbClr val="000000"/>
                          </a:solidFill>
                          <a:effectLst/>
                        </a:rPr>
                        <a:t>=</a:t>
                      </a:r>
                      <a:r>
                        <a:rPr lang="zh-CN" altLang="en-US" sz="1000" b="0" i="0">
                          <a:solidFill>
                            <a:srgbClr val="000000"/>
                          </a:solidFill>
                          <a:effectLst/>
                        </a:rPr>
                        <a:t>｜进漏斗时下单时间</a:t>
                      </a:r>
                      <a:r>
                        <a:rPr lang="en-US" altLang="zh-CN" sz="1000" b="0" i="0">
                          <a:solidFill>
                            <a:srgbClr val="000000"/>
                          </a:solidFill>
                          <a:effectLst/>
                        </a:rPr>
                        <a:t>-</a:t>
                      </a:r>
                      <a:r>
                        <a:rPr lang="zh-CN" altLang="en-US" sz="1000" b="0" i="0">
                          <a:solidFill>
                            <a:srgbClr val="000000"/>
                          </a:solidFill>
                          <a:effectLst/>
                        </a:rPr>
                        <a:t>实际下单时间｜</a:t>
                      </a:r>
                      <a:br>
                        <a:rPr lang="zh-CN" altLang="en-US" sz="1000" b="0" i="0">
                          <a:solidFill>
                            <a:srgbClr val="000000"/>
                          </a:solidFill>
                          <a:effectLst/>
                        </a:rPr>
                      </a:br>
                      <a:r>
                        <a:rPr lang="zh-CN" altLang="en-US" sz="1000" b="0" i="0">
                          <a:solidFill>
                            <a:srgbClr val="000000"/>
                          </a:solidFill>
                          <a:effectLst/>
                        </a:rPr>
                        <a:t>有质量为：偏差≤</a:t>
                      </a:r>
                      <a:r>
                        <a:rPr lang="en-US" altLang="zh-CN" sz="1000" b="0" i="0">
                          <a:solidFill>
                            <a:srgbClr val="000000"/>
                          </a:solidFill>
                          <a:effectLst/>
                        </a:rPr>
                        <a:t>60</a:t>
                      </a:r>
                      <a:r>
                        <a:rPr lang="zh-CN" altLang="en-US" sz="1000" b="0" i="0">
                          <a:solidFill>
                            <a:srgbClr val="000000"/>
                          </a:solidFill>
                          <a:effectLst/>
                        </a:rPr>
                        <a:t>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en-US" altLang="zh-CN" sz="1000" b="0" i="0" dirty="0">
                          <a:solidFill>
                            <a:srgbClr val="000000"/>
                          </a:solidFill>
                          <a:effectLst/>
                        </a:rPr>
                        <a:t>1</a:t>
                      </a:r>
                      <a:r>
                        <a:rPr lang="zh-CN" altLang="en-US" sz="1000" b="0" i="0" dirty="0">
                          <a:solidFill>
                            <a:srgbClr val="000000"/>
                          </a:solidFill>
                          <a:effectLst/>
                        </a:rPr>
                        <a:t>、取值范围：所有下单的</a:t>
                      </a:r>
                      <a:r>
                        <a:rPr lang="en-US" altLang="zh-CN" sz="1000" b="0" i="0" dirty="0">
                          <a:solidFill>
                            <a:srgbClr val="000000"/>
                          </a:solidFill>
                          <a:effectLst/>
                        </a:rPr>
                        <a:t>30</a:t>
                      </a:r>
                      <a:r>
                        <a:rPr lang="en-US" sz="1000" b="0" i="0" dirty="0">
                          <a:solidFill>
                            <a:srgbClr val="000000"/>
                          </a:solidFill>
                          <a:effectLst/>
                        </a:rPr>
                        <a:t>w+</a:t>
                      </a:r>
                      <a:r>
                        <a:rPr lang="zh-CN" altLang="en-US" sz="1000" b="0" i="0" dirty="0">
                          <a:solidFill>
                            <a:srgbClr val="000000"/>
                          </a:solidFill>
                          <a:effectLst/>
                        </a:rPr>
                        <a:t>特价项目</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、周期：每月取值</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fontAlgn="ctr" latinLnBrk="0"/>
                      <a:r>
                        <a:rPr lang="zh-CN" altLang="en-US" sz="1000" b="0" i="0" dirty="0">
                          <a:effectLst/>
                        </a:rPr>
                        <a:t>进漏斗前，按照指南完成信息确认，满足条件再进漏斗，填写关键字段：预计下单时间，预计开标时间</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bl>
          </a:graphicData>
        </a:graphic>
      </p:graphicFrame>
      <p:sp>
        <p:nvSpPr>
          <p:cNvPr id="8" name="矩形 7"/>
          <p:cNvSpPr/>
          <p:nvPr/>
        </p:nvSpPr>
        <p:spPr>
          <a:xfrm>
            <a:off x="9544050" y="1693824"/>
            <a:ext cx="2176366" cy="4185761"/>
          </a:xfrm>
          <a:prstGeom prst="rect">
            <a:avLst/>
          </a:prstGeom>
        </p:spPr>
        <p:txBody>
          <a:bodyPr wrap="square">
            <a:spAutoFit/>
          </a:bodyPr>
          <a:lstStyle/>
          <a:p>
            <a:r>
              <a:rPr lang="en-US" altLang="zh-CN" sz="1400" dirty="0"/>
              <a:t>1</a:t>
            </a:r>
            <a:r>
              <a:rPr lang="zh-CN" altLang="en-US" sz="1400" dirty="0"/>
              <a:t>、针对“</a:t>
            </a:r>
            <a:r>
              <a:rPr lang="en-US" altLang="zh-CN" sz="1400" dirty="0"/>
              <a:t>3T”</a:t>
            </a:r>
            <a:r>
              <a:rPr lang="zh-CN" altLang="en-US" sz="1400" dirty="0"/>
              <a:t>销售以及外部辅导老师还是比较认可“正推法”或者“倒推法”；</a:t>
            </a:r>
          </a:p>
          <a:p>
            <a:r>
              <a:rPr lang="en-US" altLang="zh-CN" sz="1400" dirty="0"/>
              <a:t>2</a:t>
            </a:r>
            <a:r>
              <a:rPr lang="zh-CN" altLang="en-US" sz="1400" dirty="0"/>
              <a:t>、经验总结的过程中，销售建议针对“预计开标日期”建立监督跟进机制，除了自工序本省，需要通过流程和机制来督促；</a:t>
            </a:r>
          </a:p>
          <a:p>
            <a:r>
              <a:rPr lang="en-US" altLang="zh-CN" sz="1400" dirty="0"/>
              <a:t>3</a:t>
            </a:r>
            <a:r>
              <a:rPr lang="zh-CN" altLang="en-US" sz="1400" dirty="0"/>
              <a:t>、针对“要求到货时间”，尤其是一些无法在</a:t>
            </a:r>
            <a:r>
              <a:rPr lang="en-US" altLang="zh-CN" sz="1400" dirty="0"/>
              <a:t>3</a:t>
            </a:r>
            <a:r>
              <a:rPr lang="zh-CN" altLang="en-US" sz="1400" dirty="0"/>
              <a:t>个月之前备货项目，销售与供应链的计划要建立沟通通道，及时做预警，计划制造可以更进一步的深入一线，例如，预计下单日期</a:t>
            </a:r>
            <a:r>
              <a:rPr lang="en-US" altLang="zh-CN" sz="1400" dirty="0"/>
              <a:t>3</a:t>
            </a:r>
            <a:r>
              <a:rPr lang="zh-CN" altLang="en-US" sz="1400" dirty="0"/>
              <a:t>个月内的项目没有备货，应该触发供应链与一线的预警机制；</a:t>
            </a:r>
          </a:p>
        </p:txBody>
      </p:sp>
      <p:sp>
        <p:nvSpPr>
          <p:cNvPr id="9" name="矩形 8"/>
          <p:cNvSpPr/>
          <p:nvPr/>
        </p:nvSpPr>
        <p:spPr>
          <a:xfrm>
            <a:off x="5054976" y="6403969"/>
            <a:ext cx="3724096" cy="369332"/>
          </a:xfrm>
          <a:prstGeom prst="rect">
            <a:avLst/>
          </a:prstGeom>
        </p:spPr>
        <p:txBody>
          <a:bodyPr wrap="none">
            <a:spAutoFit/>
          </a:bodyPr>
          <a:lstStyle/>
          <a:p>
            <a:r>
              <a:rPr lang="zh-CN" altLang="en-US" b="1" dirty="0"/>
              <a:t>要求到货时间</a:t>
            </a:r>
            <a:r>
              <a:rPr lang="en-US" altLang="zh-CN" b="1" dirty="0"/>
              <a:t>-</a:t>
            </a:r>
            <a:r>
              <a:rPr lang="zh-CN" altLang="en-US" b="1" dirty="0"/>
              <a:t>要素整理表（良品）</a:t>
            </a:r>
          </a:p>
        </p:txBody>
      </p:sp>
      <p:sp>
        <p:nvSpPr>
          <p:cNvPr id="14" name="矩形 13"/>
          <p:cNvSpPr/>
          <p:nvPr/>
        </p:nvSpPr>
        <p:spPr>
          <a:xfrm rot="19614577">
            <a:off x="4695610" y="460166"/>
            <a:ext cx="2492990" cy="646331"/>
          </a:xfrm>
          <a:prstGeom prst="rect">
            <a:avLst/>
          </a:prstGeom>
        </p:spPr>
        <p:txBody>
          <a:bodyPr wrap="none">
            <a:spAutoFit/>
          </a:bodyPr>
          <a:lstStyle/>
          <a:p>
            <a:r>
              <a:rPr lang="zh-CN" altLang="en-US" sz="3600" b="1" dirty="0" smtClean="0">
                <a:solidFill>
                  <a:schemeClr val="accent6"/>
                </a:solidFill>
              </a:rPr>
              <a:t>请完善该页</a:t>
            </a:r>
            <a:endParaRPr lang="zh-CN" altLang="en-US" sz="3600" b="1" dirty="0">
              <a:solidFill>
                <a:schemeClr val="accent6"/>
              </a:solidFill>
            </a:endParaRPr>
          </a:p>
        </p:txBody>
      </p:sp>
    </p:spTree>
    <p:extLst>
      <p:ext uri="{BB962C8B-B14F-4D97-AF65-F5344CB8AC3E}">
        <p14:creationId xmlns:p14="http://schemas.microsoft.com/office/powerpoint/2010/main" val="41871845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08134" y="4138803"/>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zh-CN" altLang="en-US" dirty="0" smtClean="0"/>
              <a:t>背景与意义</a:t>
            </a:r>
            <a:endParaRPr lang="en-US" altLang="zh-CN" dirty="0"/>
          </a:p>
          <a:p>
            <a:pPr marL="342900" indent="-342900">
              <a:lnSpc>
                <a:spcPct val="150000"/>
              </a:lnSpc>
              <a:buFont typeface="Arial" panose="020B0604020202090204" pitchFamily="34" charset="0"/>
              <a:buChar char="•"/>
              <a:defRPr/>
            </a:pPr>
            <a:r>
              <a:rPr lang="en-US" altLang="zh-CN" dirty="0" smtClean="0"/>
              <a:t>N</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en-US" altLang="zh-CN" dirty="0" smtClean="0"/>
              <a:t>3T</a:t>
            </a:r>
            <a:r>
              <a:rPr lang="zh-CN" altLang="en-US" dirty="0" smtClean="0"/>
              <a:t>做准的流程和案例分享</a:t>
            </a:r>
            <a:endParaRPr lang="en-US" altLang="zh-CN" dirty="0" smtClean="0"/>
          </a:p>
          <a:p>
            <a:pPr marL="342900" indent="-342900">
              <a:lnSpc>
                <a:spcPct val="150000"/>
              </a:lnSpc>
              <a:buFont typeface="Arial" panose="020B0604020202090204" pitchFamily="34" charset="0"/>
              <a:buChar char="•"/>
              <a:defRPr/>
            </a:pPr>
            <a:r>
              <a:rPr lang="zh-CN" altLang="en-US" dirty="0" smtClean="0"/>
              <a:t>答疑与互动</a:t>
            </a:r>
            <a:endParaRPr lang="zh-CN" altLang="en-US" dirty="0"/>
          </a:p>
        </p:txBody>
      </p:sp>
    </p:spTree>
    <p:extLst>
      <p:ext uri="{BB962C8B-B14F-4D97-AF65-F5344CB8AC3E}">
        <p14:creationId xmlns:p14="http://schemas.microsoft.com/office/powerpoint/2010/main" val="14364835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3T</a:t>
            </a:r>
            <a:r>
              <a:rPr lang="zh-CN" altLang="en-US" dirty="0"/>
              <a:t>的判断标准和质量要求</a:t>
            </a:r>
          </a:p>
        </p:txBody>
      </p:sp>
      <p:graphicFrame>
        <p:nvGraphicFramePr>
          <p:cNvPr id="3" name="表格 2"/>
          <p:cNvGraphicFramePr>
            <a:graphicFrameLocks noGrp="1"/>
          </p:cNvGraphicFramePr>
          <p:nvPr>
            <p:extLst>
              <p:ext uri="{D42A27DB-BD31-4B8C-83A1-F6EECF244321}">
                <p14:modId xmlns:p14="http://schemas.microsoft.com/office/powerpoint/2010/main" val="3106313427"/>
              </p:ext>
            </p:extLst>
          </p:nvPr>
        </p:nvGraphicFramePr>
        <p:xfrm>
          <a:off x="149287" y="770255"/>
          <a:ext cx="11930744" cy="5978028"/>
        </p:xfrm>
        <a:graphic>
          <a:graphicData uri="http://schemas.openxmlformats.org/drawingml/2006/table">
            <a:tbl>
              <a:tblPr/>
              <a:tblGrid>
                <a:gridCol w="367100"/>
                <a:gridCol w="803031"/>
                <a:gridCol w="3980370"/>
                <a:gridCol w="6780243"/>
              </a:tblGrid>
              <a:tr h="322824">
                <a:tc>
                  <a:txBody>
                    <a:bodyPr/>
                    <a:lstStyle/>
                    <a:p>
                      <a:pPr algn="ctr" fontAlgn="ctr" latinLnBrk="0"/>
                      <a:r>
                        <a:rPr lang="zh-CN" altLang="en-US" sz="900" b="1" i="0" dirty="0">
                          <a:solidFill>
                            <a:srgbClr val="000000"/>
                          </a:solidFill>
                          <a:effectLst/>
                        </a:rPr>
                        <a:t>序号</a:t>
                      </a:r>
                    </a:p>
                  </a:txBody>
                  <a:tcPr marL="56267" marR="56267" marT="28134" marB="28134" anchor="ctr">
                    <a:lnL w="6350" cap="flat" cmpd="sng" algn="ctr">
                      <a:solidFill>
                        <a:srgbClr val="D0112D"/>
                      </a:solidFill>
                      <a:prstDash val="solid"/>
                      <a:round/>
                      <a:headEnd type="none" w="med" len="med"/>
                      <a:tailEnd type="none" w="med" len="med"/>
                    </a:lnL>
                    <a:lnR w="6350" cap="flat" cmpd="sng" algn="ctr">
                      <a:solidFill>
                        <a:srgbClr val="50162D"/>
                      </a:solidFill>
                      <a:prstDash val="solid"/>
                      <a:round/>
                      <a:headEnd type="none" w="med" len="med"/>
                      <a:tailEnd type="none" w="med" len="med"/>
                    </a:lnR>
                    <a:lnT w="6350" cap="flat" cmpd="sng" algn="ctr">
                      <a:solidFill>
                        <a:srgbClr val="D0112D"/>
                      </a:solidFill>
                      <a:prstDash val="solid"/>
                      <a:round/>
                      <a:headEnd type="none" w="med" len="med"/>
                      <a:tailEnd type="none" w="med" len="med"/>
                    </a:lnT>
                    <a:lnB w="6350" cap="flat" cmpd="sng" algn="ctr">
                      <a:solidFill>
                        <a:srgbClr val="A01D2D"/>
                      </a:solidFill>
                      <a:prstDash val="solid"/>
                      <a:round/>
                      <a:headEnd type="none" w="med" len="med"/>
                      <a:tailEnd type="none" w="med" len="med"/>
                    </a:lnB>
                    <a:solidFill>
                      <a:srgbClr val="FBE2D5"/>
                    </a:solidFill>
                  </a:tcPr>
                </a:tc>
                <a:tc>
                  <a:txBody>
                    <a:bodyPr/>
                    <a:lstStyle/>
                    <a:p>
                      <a:pPr algn="ctr" fontAlgn="ctr" latinLnBrk="0"/>
                      <a:r>
                        <a:rPr lang="en-US" sz="900" b="1" i="0">
                          <a:solidFill>
                            <a:srgbClr val="000000"/>
                          </a:solidFill>
                          <a:effectLst/>
                        </a:rPr>
                        <a:t>3T</a:t>
                      </a:r>
                    </a:p>
                  </a:txBody>
                  <a:tcPr marL="56267" marR="56267" marT="28134" marB="28134" anchor="ctr">
                    <a:lnL w="6350" cap="flat" cmpd="sng" algn="ctr">
                      <a:solidFill>
                        <a:srgbClr val="50162D"/>
                      </a:solidFill>
                      <a:prstDash val="solid"/>
                      <a:round/>
                      <a:headEnd type="none" w="med" len="med"/>
                      <a:tailEnd type="none" w="med" len="med"/>
                    </a:lnL>
                    <a:lnR w="6350" cap="flat" cmpd="sng" algn="ctr">
                      <a:solidFill>
                        <a:srgbClr val="D0202D"/>
                      </a:solidFill>
                      <a:prstDash val="solid"/>
                      <a:round/>
                      <a:headEnd type="none" w="med" len="med"/>
                      <a:tailEnd type="none" w="med" len="med"/>
                    </a:lnR>
                    <a:lnT w="6350" cap="flat" cmpd="sng" algn="ctr">
                      <a:solidFill>
                        <a:srgbClr val="50162D"/>
                      </a:solidFill>
                      <a:prstDash val="solid"/>
                      <a:round/>
                      <a:headEnd type="none" w="med" len="med"/>
                      <a:tailEnd type="none" w="med" len="med"/>
                    </a:lnT>
                    <a:lnB w="6350" cap="flat" cmpd="sng" algn="ctr">
                      <a:solidFill>
                        <a:srgbClr val="602A2D"/>
                      </a:solidFill>
                      <a:prstDash val="solid"/>
                      <a:round/>
                      <a:headEnd type="none" w="med" len="med"/>
                      <a:tailEnd type="none" w="med" len="med"/>
                    </a:lnB>
                    <a:solidFill>
                      <a:srgbClr val="FBE2D5"/>
                    </a:solidFill>
                  </a:tcPr>
                </a:tc>
                <a:tc>
                  <a:txBody>
                    <a:bodyPr/>
                    <a:lstStyle/>
                    <a:p>
                      <a:pPr algn="ctr" fontAlgn="ctr" latinLnBrk="0"/>
                      <a:r>
                        <a:rPr lang="zh-CN" altLang="en-US" sz="900" b="1" i="0">
                          <a:solidFill>
                            <a:srgbClr val="000000"/>
                          </a:solidFill>
                          <a:effectLst/>
                        </a:rPr>
                        <a:t>判断（质量）标准</a:t>
                      </a:r>
                    </a:p>
                  </a:txBody>
                  <a:tcPr marL="56267" marR="56267" marT="28134" marB="28134" anchor="ctr">
                    <a:lnL w="6350" cap="flat" cmpd="sng" algn="ctr">
                      <a:solidFill>
                        <a:srgbClr val="D0202D"/>
                      </a:solidFill>
                      <a:prstDash val="solid"/>
                      <a:round/>
                      <a:headEnd type="none" w="med" len="med"/>
                      <a:tailEnd type="none" w="med" len="med"/>
                    </a:lnL>
                    <a:lnR w="6350" cap="flat" cmpd="sng" algn="ctr">
                      <a:solidFill>
                        <a:srgbClr val="701D2D"/>
                      </a:solidFill>
                      <a:prstDash val="solid"/>
                      <a:round/>
                      <a:headEnd type="none" w="med" len="med"/>
                      <a:tailEnd type="none" w="med" len="med"/>
                    </a:lnR>
                    <a:lnT w="6350" cap="flat" cmpd="sng" algn="ctr">
                      <a:solidFill>
                        <a:srgbClr val="D0202D"/>
                      </a:solidFill>
                      <a:prstDash val="solid"/>
                      <a:round/>
                      <a:headEnd type="none" w="med" len="med"/>
                      <a:tailEnd type="none" w="med" len="med"/>
                    </a:lnT>
                    <a:lnB w="6350" cap="flat" cmpd="sng" algn="ctr">
                      <a:solidFill>
                        <a:srgbClr val="B0342D"/>
                      </a:solidFill>
                      <a:prstDash val="solid"/>
                      <a:round/>
                      <a:headEnd type="none" w="med" len="med"/>
                      <a:tailEnd type="none" w="med" len="med"/>
                    </a:lnB>
                    <a:solidFill>
                      <a:srgbClr val="FBE2D5"/>
                    </a:solidFill>
                  </a:tcPr>
                </a:tc>
                <a:tc>
                  <a:txBody>
                    <a:bodyPr/>
                    <a:lstStyle/>
                    <a:p>
                      <a:pPr algn="ctr" fontAlgn="ctr" latinLnBrk="0"/>
                      <a:r>
                        <a:rPr lang="zh-CN" altLang="en-US" sz="900" b="1" i="0">
                          <a:solidFill>
                            <a:srgbClr val="000000"/>
                          </a:solidFill>
                          <a:effectLst/>
                        </a:rPr>
                        <a:t>质量把控</a:t>
                      </a:r>
                    </a:p>
                  </a:txBody>
                  <a:tcPr marL="56267" marR="56267" marT="28134" marB="28134" anchor="ctr">
                    <a:lnL w="6350" cap="flat" cmpd="sng" algn="ctr">
                      <a:solidFill>
                        <a:srgbClr val="701D2D"/>
                      </a:solidFill>
                      <a:prstDash val="solid"/>
                      <a:round/>
                      <a:headEnd type="none" w="med" len="med"/>
                      <a:tailEnd type="none" w="med" len="med"/>
                    </a:lnL>
                    <a:lnR w="6350" cap="flat" cmpd="sng" algn="ctr">
                      <a:solidFill>
                        <a:srgbClr val="701D2D"/>
                      </a:solidFill>
                      <a:prstDash val="solid"/>
                      <a:round/>
                      <a:headEnd type="none" w="med" len="med"/>
                      <a:tailEnd type="none" w="med" len="med"/>
                    </a:lnR>
                    <a:lnT w="6350" cap="flat" cmpd="sng" algn="ctr">
                      <a:solidFill>
                        <a:srgbClr val="701D2D"/>
                      </a:solidFill>
                      <a:prstDash val="solid"/>
                      <a:round/>
                      <a:headEnd type="none" w="med" len="med"/>
                      <a:tailEnd type="none" w="med" len="med"/>
                    </a:lnT>
                    <a:lnB w="6350" cap="flat" cmpd="sng" algn="ctr">
                      <a:solidFill>
                        <a:srgbClr val="00302D"/>
                      </a:solidFill>
                      <a:prstDash val="solid"/>
                      <a:round/>
                      <a:headEnd type="none" w="med" len="med"/>
                      <a:tailEnd type="none" w="med" len="med"/>
                    </a:lnB>
                    <a:solidFill>
                      <a:srgbClr val="FBE2D5"/>
                    </a:solidFill>
                  </a:tcPr>
                </a:tc>
              </a:tr>
              <a:tr h="1564457">
                <a:tc>
                  <a:txBody>
                    <a:bodyPr/>
                    <a:lstStyle/>
                    <a:p>
                      <a:pPr algn="ctr" fontAlgn="ctr" latinLnBrk="0"/>
                      <a:r>
                        <a:rPr lang="en-US" altLang="zh-CN" sz="900" b="0" i="0">
                          <a:solidFill>
                            <a:srgbClr val="000000"/>
                          </a:solidFill>
                          <a:effectLst/>
                        </a:rPr>
                        <a:t>1</a:t>
                      </a:r>
                    </a:p>
                  </a:txBody>
                  <a:tcPr marL="56267" marR="56267" marT="28134" marB="28134" anchor="ctr">
                    <a:lnL w="6350" cap="flat" cmpd="sng" algn="ctr">
                      <a:solidFill>
                        <a:srgbClr val="A01D2D"/>
                      </a:solidFill>
                      <a:prstDash val="solid"/>
                      <a:round/>
                      <a:headEnd type="none" w="med" len="med"/>
                      <a:tailEnd type="none" w="med" len="med"/>
                    </a:lnL>
                    <a:lnR w="6350" cap="flat" cmpd="sng" algn="ctr">
                      <a:solidFill>
                        <a:srgbClr val="602A2D"/>
                      </a:solidFill>
                      <a:prstDash val="solid"/>
                      <a:round/>
                      <a:headEnd type="none" w="med" len="med"/>
                      <a:tailEnd type="none" w="med" len="med"/>
                    </a:lnR>
                    <a:lnT w="6350" cap="flat" cmpd="sng" algn="ctr">
                      <a:solidFill>
                        <a:srgbClr val="A01D2D"/>
                      </a:solidFill>
                      <a:prstDash val="solid"/>
                      <a:round/>
                      <a:headEnd type="none" w="med" len="med"/>
                      <a:tailEnd type="none" w="med" len="med"/>
                    </a:lnT>
                    <a:lnB w="6350" cap="flat" cmpd="sng" algn="ctr">
                      <a:solidFill>
                        <a:srgbClr val="F02D2D"/>
                      </a:solidFill>
                      <a:prstDash val="solid"/>
                      <a:round/>
                      <a:headEnd type="none" w="med" len="med"/>
                      <a:tailEnd type="none" w="med" len="med"/>
                    </a:lnB>
                  </a:tcPr>
                </a:tc>
                <a:tc>
                  <a:txBody>
                    <a:bodyPr/>
                    <a:lstStyle/>
                    <a:p>
                      <a:pPr algn="ctr" fontAlgn="ctr" latinLnBrk="0"/>
                      <a:r>
                        <a:rPr lang="zh-CN" altLang="en-US" sz="900" b="0" i="0" dirty="0">
                          <a:solidFill>
                            <a:srgbClr val="000000"/>
                          </a:solidFill>
                          <a:effectLst/>
                        </a:rPr>
                        <a:t>要求到货时间</a:t>
                      </a:r>
                    </a:p>
                  </a:txBody>
                  <a:tcPr marL="56267" marR="56267" marT="28134" marB="28134" anchor="ctr">
                    <a:lnL w="6350" cap="flat" cmpd="sng" algn="ctr">
                      <a:solidFill>
                        <a:srgbClr val="602A2D"/>
                      </a:solidFill>
                      <a:prstDash val="solid"/>
                      <a:round/>
                      <a:headEnd type="none" w="med" len="med"/>
                      <a:tailEnd type="none" w="med" len="med"/>
                    </a:lnL>
                    <a:lnR w="6350" cap="flat" cmpd="sng" algn="ctr">
                      <a:solidFill>
                        <a:srgbClr val="B0342D"/>
                      </a:solidFill>
                      <a:prstDash val="solid"/>
                      <a:round/>
                      <a:headEnd type="none" w="med" len="med"/>
                      <a:tailEnd type="none" w="med" len="med"/>
                    </a:lnR>
                    <a:lnT w="6350" cap="flat" cmpd="sng" algn="ctr">
                      <a:solidFill>
                        <a:srgbClr val="602A2D"/>
                      </a:solidFill>
                      <a:prstDash val="solid"/>
                      <a:round/>
                      <a:headEnd type="none" w="med" len="med"/>
                      <a:tailEnd type="none" w="med" len="med"/>
                    </a:lnT>
                    <a:lnB w="6350" cap="flat" cmpd="sng" algn="ctr">
                      <a:solidFill>
                        <a:srgbClr val="40322D"/>
                      </a:solidFill>
                      <a:prstDash val="solid"/>
                      <a:round/>
                      <a:headEnd type="none" w="med" len="med"/>
                      <a:tailEnd type="none" w="med" len="med"/>
                    </a:lnB>
                  </a:tcPr>
                </a:tc>
                <a:tc>
                  <a:txBody>
                    <a:bodyPr/>
                    <a:lstStyle/>
                    <a:p>
                      <a:pPr algn="l" fontAlgn="ctr" latinLnBrk="0"/>
                      <a:r>
                        <a:rPr lang="zh-CN" altLang="en-US" sz="900" b="0" i="0" dirty="0">
                          <a:solidFill>
                            <a:srgbClr val="000000"/>
                          </a:solidFill>
                          <a:effectLst/>
                        </a:rPr>
                        <a:t>针对财政资金</a:t>
                      </a:r>
                      <a:r>
                        <a:rPr lang="en-US" altLang="zh-CN" sz="900" b="0" i="0" dirty="0">
                          <a:solidFill>
                            <a:srgbClr val="000000"/>
                          </a:solidFill>
                          <a:effectLst/>
                        </a:rPr>
                        <a:t>/</a:t>
                      </a:r>
                      <a:r>
                        <a:rPr lang="zh-CN" altLang="en-US" sz="900" b="0" i="0" dirty="0">
                          <a:solidFill>
                            <a:srgbClr val="000000"/>
                          </a:solidFill>
                          <a:effectLst/>
                        </a:rPr>
                        <a:t>标准政采项目、弱电</a:t>
                      </a:r>
                      <a:r>
                        <a:rPr lang="en-US" altLang="zh-CN" sz="900" b="0" i="0" dirty="0">
                          <a:solidFill>
                            <a:srgbClr val="000000"/>
                          </a:solidFill>
                          <a:effectLst/>
                        </a:rPr>
                        <a:t>&amp;EPC</a:t>
                      </a:r>
                      <a:r>
                        <a:rPr lang="zh-CN" altLang="en-US" sz="900" b="0" i="0" dirty="0">
                          <a:solidFill>
                            <a:srgbClr val="000000"/>
                          </a:solidFill>
                          <a:effectLst/>
                        </a:rPr>
                        <a:t>总包项目、</a:t>
                      </a:r>
                      <a:r>
                        <a:rPr lang="en-US" altLang="zh-CN" sz="900" b="0" i="0" dirty="0">
                          <a:solidFill>
                            <a:srgbClr val="000000"/>
                          </a:solidFill>
                          <a:effectLst/>
                        </a:rPr>
                        <a:t>ICT&amp;</a:t>
                      </a:r>
                      <a:r>
                        <a:rPr lang="zh-CN" altLang="en-US" sz="900" b="0" i="0" dirty="0">
                          <a:solidFill>
                            <a:srgbClr val="000000"/>
                          </a:solidFill>
                          <a:effectLst/>
                        </a:rPr>
                        <a:t>投融资项目、中大企业集采框架</a:t>
                      </a:r>
                      <a:r>
                        <a:rPr lang="en-US" altLang="zh-CN" sz="900" b="0" i="0" dirty="0">
                          <a:solidFill>
                            <a:srgbClr val="000000"/>
                          </a:solidFill>
                          <a:effectLst/>
                        </a:rPr>
                        <a:t>OC</a:t>
                      </a:r>
                      <a:r>
                        <a:rPr lang="zh-CN" altLang="en-US" sz="900" b="0" i="0" dirty="0">
                          <a:solidFill>
                            <a:srgbClr val="000000"/>
                          </a:solidFill>
                          <a:effectLst/>
                        </a:rPr>
                        <a:t>子项目、金融行业框架</a:t>
                      </a:r>
                      <a:r>
                        <a:rPr lang="en-US" altLang="zh-CN" sz="900" b="0" i="0" dirty="0">
                          <a:solidFill>
                            <a:srgbClr val="000000"/>
                          </a:solidFill>
                          <a:effectLst/>
                        </a:rPr>
                        <a:t>OC</a:t>
                      </a:r>
                      <a:r>
                        <a:rPr lang="zh-CN" altLang="en-US" sz="900" b="0" i="0" dirty="0">
                          <a:solidFill>
                            <a:srgbClr val="000000"/>
                          </a:solidFill>
                          <a:effectLst/>
                        </a:rPr>
                        <a:t>子项目等所有项目均以最终设备使用或者上线时间来倒推“预计要货时间”，主要考虑了如下两种情况：</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不需要大量施工布线的项目：最终设备使用和上线时间至少倒推</a:t>
                      </a:r>
                      <a:r>
                        <a:rPr lang="en-US" altLang="zh-CN" sz="900" b="0" i="0" dirty="0">
                          <a:solidFill>
                            <a:srgbClr val="000000"/>
                          </a:solidFill>
                          <a:effectLst/>
                        </a:rPr>
                        <a:t>15</a:t>
                      </a:r>
                      <a:r>
                        <a:rPr lang="zh-CN" altLang="en-US" sz="900" b="0" i="0" dirty="0">
                          <a:solidFill>
                            <a:srgbClr val="000000"/>
                          </a:solidFill>
                          <a:effectLst/>
                        </a:rPr>
                        <a:t>天来确定预计要货时间；</a:t>
                      </a:r>
                      <a:r>
                        <a:rPr lang="en-US" altLang="zh-CN" sz="900" b="0" i="0" dirty="0">
                          <a:solidFill>
                            <a:srgbClr val="000000"/>
                          </a:solidFill>
                          <a:effectLst/>
                        </a:rPr>
                        <a:t>——</a:t>
                      </a:r>
                      <a:r>
                        <a:rPr lang="zh-CN" altLang="en-US" sz="900" b="0" i="0" dirty="0">
                          <a:solidFill>
                            <a:srgbClr val="000000"/>
                          </a:solidFill>
                          <a:effectLst/>
                        </a:rPr>
                        <a:t>找实施人员确认；</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涉及到大量的施工布线的项目：最终设备使用和上线时间往前倒推</a:t>
                      </a:r>
                      <a:r>
                        <a:rPr lang="en-US" altLang="zh-CN" sz="900" b="0" i="0" dirty="0">
                          <a:solidFill>
                            <a:srgbClr val="000000"/>
                          </a:solidFill>
                          <a:effectLst/>
                        </a:rPr>
                        <a:t>30</a:t>
                      </a:r>
                      <a:r>
                        <a:rPr lang="zh-CN" altLang="en-US" sz="900" b="0" i="0" dirty="0">
                          <a:solidFill>
                            <a:srgbClr val="000000"/>
                          </a:solidFill>
                          <a:effectLst/>
                        </a:rPr>
                        <a:t>天来确定预计要货时间；</a:t>
                      </a:r>
                      <a:br>
                        <a:rPr lang="zh-CN" altLang="en-US" sz="900" b="0" i="0" dirty="0">
                          <a:solidFill>
                            <a:srgbClr val="000000"/>
                          </a:solidFill>
                          <a:effectLst/>
                        </a:rPr>
                      </a:br>
                      <a:r>
                        <a:rPr lang="zh-CN" altLang="en-US" sz="900" b="0" i="0" dirty="0">
                          <a:solidFill>
                            <a:srgbClr val="000000"/>
                          </a:solidFill>
                          <a:effectLst/>
                        </a:rPr>
                        <a:t>如上为建议时间是跟根据项目施工复杂程度来的，重点还是需要销售要提前跟客户</a:t>
                      </a:r>
                      <a:r>
                        <a:rPr lang="en-US" altLang="zh-CN" sz="900" b="0" i="0" dirty="0">
                          <a:solidFill>
                            <a:srgbClr val="000000"/>
                          </a:solidFill>
                          <a:effectLst/>
                        </a:rPr>
                        <a:t>/</a:t>
                      </a:r>
                      <a:r>
                        <a:rPr lang="zh-CN" altLang="en-US" sz="900" b="0" i="0" dirty="0">
                          <a:solidFill>
                            <a:srgbClr val="000000"/>
                          </a:solidFill>
                          <a:effectLst/>
                        </a:rPr>
                        <a:t>渠道沟通好最终设备使用或者上线时间以及施工周期在系统及时更新好“预计要货时间”，需要特殊支持的务必提前跟供应链对应的同事保持沟通。</a:t>
                      </a:r>
                    </a:p>
                  </a:txBody>
                  <a:tcPr marL="56267" marR="56267" marT="28134" marB="28134" anchor="ctr">
                    <a:lnL w="6350" cap="flat" cmpd="sng" algn="ctr">
                      <a:solidFill>
                        <a:srgbClr val="B0342D"/>
                      </a:solidFill>
                      <a:prstDash val="solid"/>
                      <a:round/>
                      <a:headEnd type="none" w="med" len="med"/>
                      <a:tailEnd type="none" w="med" len="med"/>
                    </a:lnL>
                    <a:lnR w="6350" cap="flat" cmpd="sng" algn="ctr">
                      <a:solidFill>
                        <a:srgbClr val="00302D"/>
                      </a:solidFill>
                      <a:prstDash val="solid"/>
                      <a:round/>
                      <a:headEnd type="none" w="med" len="med"/>
                      <a:tailEnd type="none" w="med" len="med"/>
                    </a:lnR>
                    <a:lnT w="6350" cap="flat" cmpd="sng" algn="ctr">
                      <a:solidFill>
                        <a:srgbClr val="B0342D"/>
                      </a:solidFill>
                      <a:prstDash val="solid"/>
                      <a:round/>
                      <a:headEnd type="none" w="med" len="med"/>
                      <a:tailEnd type="none" w="med" len="med"/>
                    </a:lnT>
                    <a:lnB w="6350" cap="flat" cmpd="sng" algn="ctr">
                      <a:solidFill>
                        <a:srgbClr val="B02E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销售填写“要求到货时间”，并且根据“预计要货时间”的判断说明在“备货说明”里面填写清楚要货时间根据（销售易</a:t>
                      </a:r>
                      <a:r>
                        <a:rPr lang="en-US" altLang="zh-CN" sz="900" b="0" i="0">
                          <a:solidFill>
                            <a:srgbClr val="000000"/>
                          </a:solidFill>
                          <a:effectLst/>
                        </a:rPr>
                        <a:t>CRM</a:t>
                      </a:r>
                      <a:r>
                        <a:rPr lang="zh-CN" altLang="en-US" sz="900" b="0" i="0">
                          <a:solidFill>
                            <a:srgbClr val="000000"/>
                          </a:solidFill>
                          <a:effectLst/>
                        </a:rPr>
                        <a:t>里面的位置以及相关示意如下）；“备货说明”不填写清楚的情况，“要求到货日期”是无法填写的；</a:t>
                      </a:r>
                      <a:br>
                        <a:rPr lang="zh-CN" altLang="en-US" sz="900" b="0" i="0">
                          <a:solidFill>
                            <a:srgbClr val="000000"/>
                          </a:solidFill>
                          <a:effectLst/>
                        </a:rPr>
                      </a:br>
                      <a:r>
                        <a:rPr lang="zh-CN" altLang="en-US" sz="900" b="0" i="0">
                          <a:solidFill>
                            <a:srgbClr val="000000"/>
                          </a:solidFill>
                          <a:effectLst/>
                        </a:rPr>
                        <a:t/>
                      </a:r>
                      <a:br>
                        <a:rPr lang="zh-CN" altLang="en-US" sz="900" b="0" i="0">
                          <a:solidFill>
                            <a:srgbClr val="000000"/>
                          </a:solidFill>
                          <a:effectLst/>
                        </a:rPr>
                      </a:br>
                      <a:r>
                        <a:rPr lang="en-US" altLang="zh-CN" sz="900" b="0" i="0">
                          <a:solidFill>
                            <a:srgbClr val="000000"/>
                          </a:solidFill>
                          <a:effectLst/>
                        </a:rPr>
                        <a:t>- “</a:t>
                      </a:r>
                      <a:r>
                        <a:rPr lang="zh-CN" altLang="en-US" sz="900" b="0" i="0">
                          <a:solidFill>
                            <a:srgbClr val="000000"/>
                          </a:solidFill>
                          <a:effectLst/>
                        </a:rPr>
                        <a:t>备货说明”填写示范：</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1</a:t>
                      </a:r>
                      <a:r>
                        <a:rPr lang="zh-CN" altLang="en-US" sz="900" b="0" i="0">
                          <a:solidFill>
                            <a:srgbClr val="000000"/>
                          </a:solidFill>
                          <a:effectLst/>
                        </a:rPr>
                        <a:t>）不需要大量施工布线的项目按照最终设备使用和上线时间至少倒推</a:t>
                      </a:r>
                      <a:r>
                        <a:rPr lang="en-US" altLang="zh-CN" sz="900" b="0" i="0">
                          <a:solidFill>
                            <a:srgbClr val="000000"/>
                          </a:solidFill>
                          <a:effectLst/>
                        </a:rPr>
                        <a:t>15</a:t>
                      </a:r>
                      <a:r>
                        <a:rPr lang="zh-CN" altLang="en-US" sz="900" b="0" i="0">
                          <a:solidFill>
                            <a:srgbClr val="000000"/>
                          </a:solidFill>
                          <a:effectLst/>
                        </a:rPr>
                        <a:t>天来填写“要求到货时间”，填写范本：与客户端信息办王主任确认，项目预计</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30</a:t>
                      </a:r>
                      <a:r>
                        <a:rPr lang="zh-CN" altLang="en-US" sz="900" b="0" i="0">
                          <a:solidFill>
                            <a:srgbClr val="000000"/>
                          </a:solidFill>
                          <a:effectLst/>
                        </a:rPr>
                        <a:t>日最终上线，且项目不涉及到大量的施工布线，按照上线</a:t>
                      </a:r>
                      <a:r>
                        <a:rPr lang="en-US" altLang="zh-CN" sz="900" b="0" i="0">
                          <a:solidFill>
                            <a:srgbClr val="000000"/>
                          </a:solidFill>
                          <a:effectLst/>
                        </a:rPr>
                        <a:t>15</a:t>
                      </a:r>
                      <a:r>
                        <a:rPr lang="zh-CN" altLang="en-US" sz="900" b="0" i="0">
                          <a:solidFill>
                            <a:srgbClr val="000000"/>
                          </a:solidFill>
                          <a:effectLst/>
                        </a:rPr>
                        <a:t>天也就是</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15</a:t>
                      </a:r>
                      <a:r>
                        <a:rPr lang="zh-CN" altLang="en-US" sz="900" b="0" i="0">
                          <a:solidFill>
                            <a:srgbClr val="000000"/>
                          </a:solidFill>
                          <a:effectLst/>
                        </a:rPr>
                        <a:t>日填写“要求到货时间”，并且与王主任确认，这个要求到货时间是可以满足的；</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2</a:t>
                      </a:r>
                      <a:r>
                        <a:rPr lang="zh-CN" altLang="en-US" sz="900" b="0" i="0">
                          <a:solidFill>
                            <a:srgbClr val="000000"/>
                          </a:solidFill>
                          <a:effectLst/>
                        </a:rPr>
                        <a:t>）涉及到大量的施工布线的项目：最终设备使用和上线时间往前倒推</a:t>
                      </a:r>
                      <a:r>
                        <a:rPr lang="en-US" altLang="zh-CN" sz="900" b="0" i="0">
                          <a:solidFill>
                            <a:srgbClr val="000000"/>
                          </a:solidFill>
                          <a:effectLst/>
                        </a:rPr>
                        <a:t>30</a:t>
                      </a:r>
                      <a:r>
                        <a:rPr lang="zh-CN" altLang="en-US" sz="900" b="0" i="0">
                          <a:solidFill>
                            <a:srgbClr val="000000"/>
                          </a:solidFill>
                          <a:effectLst/>
                        </a:rPr>
                        <a:t>天来确定预计要货时间，填写范本：与现场实施的项目经理王经理确认，项目预计</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30</a:t>
                      </a:r>
                      <a:r>
                        <a:rPr lang="zh-CN" altLang="en-US" sz="900" b="0" i="0">
                          <a:solidFill>
                            <a:srgbClr val="000000"/>
                          </a:solidFill>
                          <a:effectLst/>
                        </a:rPr>
                        <a:t>日最终上线，因项目涉及到大量的布线工作，按照上线</a:t>
                      </a:r>
                      <a:r>
                        <a:rPr lang="en-US" altLang="zh-CN" sz="900" b="0" i="0">
                          <a:solidFill>
                            <a:srgbClr val="000000"/>
                          </a:solidFill>
                          <a:effectLst/>
                        </a:rPr>
                        <a:t>30</a:t>
                      </a:r>
                      <a:r>
                        <a:rPr lang="zh-CN" altLang="en-US" sz="900" b="0" i="0">
                          <a:solidFill>
                            <a:srgbClr val="000000"/>
                          </a:solidFill>
                          <a:effectLst/>
                        </a:rPr>
                        <a:t>天也就是</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1</a:t>
                      </a:r>
                      <a:r>
                        <a:rPr lang="zh-CN" altLang="en-US" sz="900" b="0" i="0">
                          <a:solidFill>
                            <a:srgbClr val="000000"/>
                          </a:solidFill>
                          <a:effectLst/>
                        </a:rPr>
                        <a:t>日填写“要求到货时间”，并且与王经理确认，这个要求到货时间是可以满足的；</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3</a:t>
                      </a:r>
                      <a:r>
                        <a:rPr lang="zh-CN" altLang="en-US" sz="900" b="0" i="0">
                          <a:solidFill>
                            <a:srgbClr val="000000"/>
                          </a:solidFill>
                          <a:effectLst/>
                        </a:rPr>
                        <a:t>）流水或者紧急项目（含翻盘项目等），根据项目的实际情况填写“要求到货日期”，同时，要与供应链的同事保持密切沟通，做相关到货的协调；</a:t>
                      </a:r>
                    </a:p>
                  </a:txBody>
                  <a:tcPr marL="56267" marR="56267" marT="28134" marB="28134" anchor="ctr">
                    <a:lnL w="6350" cap="flat" cmpd="sng" algn="ctr">
                      <a:solidFill>
                        <a:srgbClr val="00302D"/>
                      </a:solidFill>
                      <a:prstDash val="solid"/>
                      <a:round/>
                      <a:headEnd type="none" w="med" len="med"/>
                      <a:tailEnd type="none" w="med" len="med"/>
                    </a:lnL>
                    <a:lnR w="6350" cap="flat" cmpd="sng" algn="ctr">
                      <a:solidFill>
                        <a:srgbClr val="00302D"/>
                      </a:solidFill>
                      <a:prstDash val="solid"/>
                      <a:round/>
                      <a:headEnd type="none" w="med" len="med"/>
                      <a:tailEnd type="none" w="med" len="med"/>
                    </a:lnR>
                    <a:lnT w="6350" cap="flat" cmpd="sng" algn="ctr">
                      <a:solidFill>
                        <a:srgbClr val="00302D"/>
                      </a:solidFill>
                      <a:prstDash val="solid"/>
                      <a:round/>
                      <a:headEnd type="none" w="med" len="med"/>
                      <a:tailEnd type="none" w="med" len="med"/>
                    </a:lnT>
                    <a:lnB w="6350" cap="flat" cmpd="sng" algn="ctr">
                      <a:solidFill>
                        <a:srgbClr val="F02D2D"/>
                      </a:solidFill>
                      <a:prstDash val="solid"/>
                      <a:round/>
                      <a:headEnd type="none" w="med" len="med"/>
                      <a:tailEnd type="none" w="med" len="med"/>
                    </a:lnB>
                  </a:tcPr>
                </a:tc>
              </a:tr>
              <a:tr h="695313">
                <a:tc>
                  <a:txBody>
                    <a:bodyPr/>
                    <a:lstStyle/>
                    <a:p>
                      <a:pPr algn="ctr" fontAlgn="ctr" latinLnBrk="0"/>
                      <a:r>
                        <a:rPr lang="en-US" altLang="zh-CN" sz="900" b="0" i="0">
                          <a:solidFill>
                            <a:srgbClr val="000000"/>
                          </a:solidFill>
                          <a:effectLst/>
                        </a:rPr>
                        <a:t>2</a:t>
                      </a:r>
                    </a:p>
                  </a:txBody>
                  <a:tcPr marL="56267" marR="56267" marT="28134" marB="28134" anchor="ctr">
                    <a:lnL w="6350" cap="flat" cmpd="sng" algn="ctr">
                      <a:solidFill>
                        <a:srgbClr val="F02D2D"/>
                      </a:solidFill>
                      <a:prstDash val="solid"/>
                      <a:round/>
                      <a:headEnd type="none" w="med" len="med"/>
                      <a:tailEnd type="none" w="med" len="med"/>
                    </a:lnL>
                    <a:lnR w="6350" cap="flat" cmpd="sng" algn="ctr">
                      <a:solidFill>
                        <a:srgbClr val="40322D"/>
                      </a:solidFill>
                      <a:prstDash val="solid"/>
                      <a:round/>
                      <a:headEnd type="none" w="med" len="med"/>
                      <a:tailEnd type="none" w="med" len="med"/>
                    </a:lnR>
                    <a:lnT w="6350" cap="flat" cmpd="sng" algn="ctr">
                      <a:solidFill>
                        <a:srgbClr val="F02D2D"/>
                      </a:solidFill>
                      <a:prstDash val="solid"/>
                      <a:round/>
                      <a:headEnd type="none" w="med" len="med"/>
                      <a:tailEnd type="none" w="med" len="med"/>
                    </a:lnT>
                    <a:lnB w="6350" cap="flat" cmpd="sng" algn="ctr">
                      <a:solidFill>
                        <a:srgbClr val="D02C2D"/>
                      </a:solidFill>
                      <a:prstDash val="solid"/>
                      <a:round/>
                      <a:headEnd type="none" w="med" len="med"/>
                      <a:tailEnd type="none" w="med" len="med"/>
                    </a:lnB>
                  </a:tcPr>
                </a:tc>
                <a:tc>
                  <a:txBody>
                    <a:bodyPr/>
                    <a:lstStyle/>
                    <a:p>
                      <a:pPr algn="ctr" fontAlgn="ctr" latinLnBrk="0"/>
                      <a:r>
                        <a:rPr lang="zh-CN" altLang="en-US" sz="900" b="0" i="0">
                          <a:solidFill>
                            <a:srgbClr val="000000"/>
                          </a:solidFill>
                          <a:effectLst/>
                        </a:rPr>
                        <a:t>预计下单时间</a:t>
                      </a:r>
                    </a:p>
                  </a:txBody>
                  <a:tcPr marL="56267" marR="56267" marT="28134" marB="28134" anchor="ctr">
                    <a:lnL w="6350" cap="flat" cmpd="sng" algn="ctr">
                      <a:solidFill>
                        <a:srgbClr val="40322D"/>
                      </a:solidFill>
                      <a:prstDash val="solid"/>
                      <a:round/>
                      <a:headEnd type="none" w="med" len="med"/>
                      <a:tailEnd type="none" w="med" len="med"/>
                    </a:lnL>
                    <a:lnR w="6350" cap="flat" cmpd="sng" algn="ctr">
                      <a:solidFill>
                        <a:srgbClr val="B02E2D"/>
                      </a:solidFill>
                      <a:prstDash val="solid"/>
                      <a:round/>
                      <a:headEnd type="none" w="med" len="med"/>
                      <a:tailEnd type="none" w="med" len="med"/>
                    </a:lnR>
                    <a:lnT w="6350" cap="flat" cmpd="sng" algn="ctr">
                      <a:solidFill>
                        <a:srgbClr val="40322D"/>
                      </a:solidFill>
                      <a:prstDash val="solid"/>
                      <a:round/>
                      <a:headEnd type="none" w="med" len="med"/>
                      <a:tailEnd type="none" w="med" len="med"/>
                    </a:lnT>
                    <a:lnB w="6350" cap="flat" cmpd="sng" algn="ctr">
                      <a:solidFill>
                        <a:srgbClr val="6033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针对财政资金</a:t>
                      </a:r>
                      <a:r>
                        <a:rPr lang="en-US" altLang="zh-CN" sz="900" b="0" i="0">
                          <a:solidFill>
                            <a:srgbClr val="000000"/>
                          </a:solidFill>
                          <a:effectLst/>
                        </a:rPr>
                        <a:t>/</a:t>
                      </a:r>
                      <a:r>
                        <a:rPr lang="zh-CN" altLang="en-US" sz="900" b="0" i="0">
                          <a:solidFill>
                            <a:srgbClr val="000000"/>
                          </a:solidFill>
                          <a:effectLst/>
                        </a:rPr>
                        <a:t>标准政采项目、弱电</a:t>
                      </a:r>
                      <a:r>
                        <a:rPr lang="en-US" altLang="zh-CN" sz="900" b="0" i="0">
                          <a:solidFill>
                            <a:srgbClr val="000000"/>
                          </a:solidFill>
                          <a:effectLst/>
                        </a:rPr>
                        <a:t>&amp;EPC</a:t>
                      </a:r>
                      <a:r>
                        <a:rPr lang="zh-CN" altLang="en-US" sz="900" b="0" i="0">
                          <a:solidFill>
                            <a:srgbClr val="000000"/>
                          </a:solidFill>
                          <a:effectLst/>
                        </a:rPr>
                        <a:t>总包项目、</a:t>
                      </a:r>
                      <a:r>
                        <a:rPr lang="en-US" altLang="zh-CN" sz="900" b="0" i="0">
                          <a:solidFill>
                            <a:srgbClr val="000000"/>
                          </a:solidFill>
                          <a:effectLst/>
                        </a:rPr>
                        <a:t>ICT&amp;</a:t>
                      </a:r>
                      <a:r>
                        <a:rPr lang="zh-CN" altLang="en-US" sz="900" b="0" i="0">
                          <a:solidFill>
                            <a:srgbClr val="000000"/>
                          </a:solidFill>
                          <a:effectLst/>
                        </a:rPr>
                        <a:t>投融资项目、中大企业集采框架</a:t>
                      </a:r>
                      <a:r>
                        <a:rPr lang="en-US" altLang="zh-CN" sz="900" b="0" i="0">
                          <a:solidFill>
                            <a:srgbClr val="000000"/>
                          </a:solidFill>
                          <a:effectLst/>
                        </a:rPr>
                        <a:t>OC</a:t>
                      </a:r>
                      <a:r>
                        <a:rPr lang="zh-CN" altLang="en-US" sz="900" b="0" i="0">
                          <a:solidFill>
                            <a:srgbClr val="000000"/>
                          </a:solidFill>
                          <a:effectLst/>
                        </a:rPr>
                        <a:t>子项目、金融行业框架</a:t>
                      </a:r>
                      <a:r>
                        <a:rPr lang="en-US" altLang="zh-CN" sz="900" b="0" i="0">
                          <a:solidFill>
                            <a:srgbClr val="000000"/>
                          </a:solidFill>
                          <a:effectLst/>
                        </a:rPr>
                        <a:t>OC</a:t>
                      </a:r>
                      <a:r>
                        <a:rPr lang="zh-CN" altLang="en-US" sz="900" b="0" i="0">
                          <a:solidFill>
                            <a:srgbClr val="000000"/>
                          </a:solidFill>
                          <a:effectLst/>
                        </a:rPr>
                        <a:t>子项目等所有项目的“预计下单时间”均以“预计要货时间”</a:t>
                      </a:r>
                      <a:r>
                        <a:rPr lang="en-US" altLang="zh-CN" sz="900" b="0" i="0">
                          <a:solidFill>
                            <a:srgbClr val="000000"/>
                          </a:solidFill>
                          <a:effectLst/>
                        </a:rPr>
                        <a:t>-“</a:t>
                      </a:r>
                      <a:r>
                        <a:rPr lang="zh-CN" altLang="en-US" sz="900" b="0" i="0">
                          <a:solidFill>
                            <a:srgbClr val="000000"/>
                          </a:solidFill>
                          <a:effectLst/>
                        </a:rPr>
                        <a:t>订单</a:t>
                      </a:r>
                      <a:r>
                        <a:rPr lang="en-US" altLang="zh-CN" sz="900" b="0" i="0">
                          <a:solidFill>
                            <a:srgbClr val="000000"/>
                          </a:solidFill>
                          <a:effectLst/>
                        </a:rPr>
                        <a:t>SLA”</a:t>
                      </a:r>
                      <a:r>
                        <a:rPr lang="zh-CN" altLang="en-US" sz="900" b="0" i="0">
                          <a:solidFill>
                            <a:srgbClr val="000000"/>
                          </a:solidFill>
                          <a:effectLst/>
                        </a:rPr>
                        <a:t>来做依据；</a:t>
                      </a:r>
                      <a:br>
                        <a:rPr lang="zh-CN" altLang="en-US" sz="900" b="0" i="0">
                          <a:solidFill>
                            <a:srgbClr val="000000"/>
                          </a:solidFill>
                          <a:effectLst/>
                        </a:rPr>
                      </a:br>
                      <a:r>
                        <a:rPr lang="en-US" altLang="zh-CN" sz="900" b="0" i="0">
                          <a:solidFill>
                            <a:srgbClr val="000000"/>
                          </a:solidFill>
                          <a:effectLst/>
                        </a:rPr>
                        <a:t>- </a:t>
                      </a:r>
                      <a:r>
                        <a:rPr lang="zh-CN" altLang="en-US" sz="900" b="0" i="0">
                          <a:solidFill>
                            <a:srgbClr val="000000"/>
                          </a:solidFill>
                          <a:effectLst/>
                        </a:rPr>
                        <a:t>一个订单里面如果涉及多款产品，每款产品</a:t>
                      </a:r>
                      <a:r>
                        <a:rPr lang="en-US" altLang="zh-CN" sz="900" b="0" i="0">
                          <a:solidFill>
                            <a:srgbClr val="000000"/>
                          </a:solidFill>
                          <a:effectLst/>
                        </a:rPr>
                        <a:t>SLA</a:t>
                      </a:r>
                      <a:r>
                        <a:rPr lang="zh-CN" altLang="en-US" sz="900" b="0" i="0">
                          <a:solidFill>
                            <a:srgbClr val="000000"/>
                          </a:solidFill>
                          <a:effectLst/>
                        </a:rPr>
                        <a:t>不同，最终订单的</a:t>
                      </a:r>
                      <a:r>
                        <a:rPr lang="en-US" altLang="zh-CN" sz="900" b="0" i="0">
                          <a:solidFill>
                            <a:srgbClr val="000000"/>
                          </a:solidFill>
                          <a:effectLst/>
                        </a:rPr>
                        <a:t>SLA</a:t>
                      </a:r>
                      <a:r>
                        <a:rPr lang="zh-CN" altLang="en-US" sz="900" b="0" i="0">
                          <a:solidFill>
                            <a:srgbClr val="000000"/>
                          </a:solidFill>
                          <a:effectLst/>
                        </a:rPr>
                        <a:t>是取大值，比如</a:t>
                      </a:r>
                      <a:r>
                        <a:rPr lang="en-US" altLang="zh-CN" sz="900" b="0" i="0">
                          <a:solidFill>
                            <a:srgbClr val="000000"/>
                          </a:solidFill>
                          <a:effectLst/>
                        </a:rPr>
                        <a:t>A 3</a:t>
                      </a:r>
                      <a:r>
                        <a:rPr lang="zh-CN" altLang="en-US" sz="900" b="0" i="0">
                          <a:solidFill>
                            <a:srgbClr val="000000"/>
                          </a:solidFill>
                          <a:effectLst/>
                        </a:rPr>
                        <a:t>天，</a:t>
                      </a:r>
                      <a:r>
                        <a:rPr lang="en-US" altLang="zh-CN" sz="900" b="0" i="0">
                          <a:solidFill>
                            <a:srgbClr val="000000"/>
                          </a:solidFill>
                          <a:effectLst/>
                        </a:rPr>
                        <a:t>B7</a:t>
                      </a:r>
                      <a:r>
                        <a:rPr lang="zh-CN" altLang="en-US" sz="900" b="0" i="0">
                          <a:solidFill>
                            <a:srgbClr val="000000"/>
                          </a:solidFill>
                          <a:effectLst/>
                        </a:rPr>
                        <a:t>天，</a:t>
                      </a:r>
                      <a:r>
                        <a:rPr lang="en-US" altLang="zh-CN" sz="900" b="0" i="0">
                          <a:solidFill>
                            <a:srgbClr val="000000"/>
                          </a:solidFill>
                          <a:effectLst/>
                        </a:rPr>
                        <a:t>C 14</a:t>
                      </a:r>
                      <a:r>
                        <a:rPr lang="zh-CN" altLang="en-US" sz="900" b="0" i="0">
                          <a:solidFill>
                            <a:srgbClr val="000000"/>
                          </a:solidFill>
                          <a:effectLst/>
                        </a:rPr>
                        <a:t>天，那么订单的</a:t>
                      </a:r>
                      <a:r>
                        <a:rPr lang="en-US" altLang="zh-CN" sz="900" b="0" i="0">
                          <a:solidFill>
                            <a:srgbClr val="000000"/>
                          </a:solidFill>
                          <a:effectLst/>
                        </a:rPr>
                        <a:t>SLA</a:t>
                      </a:r>
                      <a:r>
                        <a:rPr lang="zh-CN" altLang="en-US" sz="900" b="0" i="0">
                          <a:solidFill>
                            <a:srgbClr val="000000"/>
                          </a:solidFill>
                          <a:effectLst/>
                        </a:rPr>
                        <a:t>是</a:t>
                      </a:r>
                      <a:r>
                        <a:rPr lang="en-US" altLang="zh-CN" sz="900" b="0" i="0">
                          <a:solidFill>
                            <a:srgbClr val="000000"/>
                          </a:solidFill>
                          <a:effectLst/>
                        </a:rPr>
                        <a:t>14</a:t>
                      </a:r>
                      <a:r>
                        <a:rPr lang="zh-CN" altLang="en-US" sz="900" b="0" i="0">
                          <a:solidFill>
                            <a:srgbClr val="000000"/>
                          </a:solidFill>
                          <a:effectLst/>
                        </a:rPr>
                        <a:t>天；</a:t>
                      </a:r>
                    </a:p>
                  </a:txBody>
                  <a:tcPr marL="56267" marR="56267" marT="28134" marB="28134" anchor="ctr">
                    <a:lnL w="6350" cap="flat" cmpd="sng" algn="ctr">
                      <a:solidFill>
                        <a:srgbClr val="B02E2D"/>
                      </a:solidFill>
                      <a:prstDash val="solid"/>
                      <a:round/>
                      <a:headEnd type="none" w="med" len="med"/>
                      <a:tailEnd type="none" w="med" len="med"/>
                    </a:lnL>
                    <a:lnR w="6350" cap="flat" cmpd="sng" algn="ctr">
                      <a:solidFill>
                        <a:srgbClr val="F02D2D"/>
                      </a:solidFill>
                      <a:prstDash val="solid"/>
                      <a:round/>
                      <a:headEnd type="none" w="med" len="med"/>
                      <a:tailEnd type="none" w="med" len="med"/>
                    </a:lnR>
                    <a:lnT w="6350" cap="flat" cmpd="sng" algn="ctr">
                      <a:solidFill>
                        <a:srgbClr val="B02E2D"/>
                      </a:solidFill>
                      <a:prstDash val="solid"/>
                      <a:round/>
                      <a:headEnd type="none" w="med" len="med"/>
                      <a:tailEnd type="none" w="med" len="med"/>
                    </a:lnT>
                    <a:lnB w="6350" cap="flat" cmpd="sng" algn="ctr">
                      <a:solidFill>
                        <a:srgbClr val="F033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确保到销售执行：跟据预计要货时间以及订单的</a:t>
                      </a:r>
                      <a:r>
                        <a:rPr lang="en-US" altLang="zh-CN" sz="900" b="0" i="0">
                          <a:solidFill>
                            <a:srgbClr val="000000"/>
                          </a:solidFill>
                          <a:effectLst/>
                        </a:rPr>
                        <a:t>SLA</a:t>
                      </a:r>
                      <a:r>
                        <a:rPr lang="zh-CN" altLang="en-US" sz="900" b="0" i="0">
                          <a:solidFill>
                            <a:srgbClr val="000000"/>
                          </a:solidFill>
                          <a:effectLst/>
                        </a:rPr>
                        <a:t>来设置预计下单时间的底线范围；（目前销售填写的预计下单日期在</a:t>
                      </a:r>
                      <a:r>
                        <a:rPr lang="en-US" altLang="zh-CN" sz="900" b="0" i="0">
                          <a:solidFill>
                            <a:srgbClr val="000000"/>
                          </a:solidFill>
                          <a:effectLst/>
                        </a:rPr>
                        <a:t>SLA</a:t>
                      </a:r>
                      <a:r>
                        <a:rPr lang="zh-CN" altLang="en-US" sz="900" b="0" i="0">
                          <a:solidFill>
                            <a:srgbClr val="000000"/>
                          </a:solidFill>
                          <a:effectLst/>
                        </a:rPr>
                        <a:t>测算出来之后的，视为质量</a:t>
                      </a:r>
                      <a:r>
                        <a:rPr lang="en-US" altLang="zh-CN" sz="900" b="0" i="0">
                          <a:solidFill>
                            <a:srgbClr val="000000"/>
                          </a:solidFill>
                          <a:effectLst/>
                        </a:rPr>
                        <a:t>OK</a:t>
                      </a:r>
                      <a:r>
                        <a:rPr lang="zh-CN" altLang="en-US" sz="900" b="0" i="0">
                          <a:solidFill>
                            <a:srgbClr val="000000"/>
                          </a:solidFill>
                          <a:effectLst/>
                        </a:rPr>
                        <a:t>）</a:t>
                      </a:r>
                    </a:p>
                  </a:txBody>
                  <a:tcPr marL="56267" marR="56267" marT="28134" marB="28134" anchor="ctr">
                    <a:lnL w="6350" cap="flat" cmpd="sng" algn="ctr">
                      <a:solidFill>
                        <a:srgbClr val="F02D2D"/>
                      </a:solidFill>
                      <a:prstDash val="solid"/>
                      <a:round/>
                      <a:headEnd type="none" w="med" len="med"/>
                      <a:tailEnd type="none" w="med" len="med"/>
                    </a:lnL>
                    <a:lnR w="6350" cap="flat" cmpd="sng" algn="ctr">
                      <a:solidFill>
                        <a:srgbClr val="F02D2D"/>
                      </a:solidFill>
                      <a:prstDash val="solid"/>
                      <a:round/>
                      <a:headEnd type="none" w="med" len="med"/>
                      <a:tailEnd type="none" w="med" len="med"/>
                    </a:lnR>
                    <a:lnT w="6350" cap="flat" cmpd="sng" algn="ctr">
                      <a:solidFill>
                        <a:srgbClr val="F02D2D"/>
                      </a:solidFill>
                      <a:prstDash val="solid"/>
                      <a:round/>
                      <a:headEnd type="none" w="med" len="med"/>
                      <a:tailEnd type="none" w="med" len="med"/>
                    </a:lnT>
                    <a:lnB w="6350" cap="flat" cmpd="sng" algn="ctr">
                      <a:solidFill>
                        <a:srgbClr val="20342D"/>
                      </a:solidFill>
                      <a:prstDash val="solid"/>
                      <a:round/>
                      <a:headEnd type="none" w="med" len="med"/>
                      <a:tailEnd type="none" w="med" len="med"/>
                    </a:lnB>
                  </a:tcPr>
                </a:tc>
              </a:tr>
              <a:tr h="3178579">
                <a:tc>
                  <a:txBody>
                    <a:bodyPr/>
                    <a:lstStyle/>
                    <a:p>
                      <a:pPr algn="ctr" fontAlgn="ctr" latinLnBrk="0"/>
                      <a:r>
                        <a:rPr lang="en-US" altLang="zh-CN" sz="900" b="0" i="0">
                          <a:solidFill>
                            <a:srgbClr val="000000"/>
                          </a:solidFill>
                          <a:effectLst/>
                        </a:rPr>
                        <a:t>3</a:t>
                      </a:r>
                    </a:p>
                  </a:txBody>
                  <a:tcPr marL="56267" marR="56267" marT="28134" marB="28134" anchor="ctr">
                    <a:lnL w="6350" cap="flat" cmpd="sng" algn="ctr">
                      <a:solidFill>
                        <a:srgbClr val="D02C2D"/>
                      </a:solidFill>
                      <a:prstDash val="solid"/>
                      <a:round/>
                      <a:headEnd type="none" w="med" len="med"/>
                      <a:tailEnd type="none" w="med" len="med"/>
                    </a:lnL>
                    <a:lnR w="6350" cap="flat" cmpd="sng" algn="ctr">
                      <a:solidFill>
                        <a:srgbClr val="60332D"/>
                      </a:solidFill>
                      <a:prstDash val="solid"/>
                      <a:round/>
                      <a:headEnd type="none" w="med" len="med"/>
                      <a:tailEnd type="none" w="med" len="med"/>
                    </a:lnR>
                    <a:lnT w="6350" cap="flat" cmpd="sng" algn="ctr">
                      <a:solidFill>
                        <a:srgbClr val="D02C2D"/>
                      </a:solidFill>
                      <a:prstDash val="solid"/>
                      <a:round/>
                      <a:headEnd type="none" w="med" len="med"/>
                      <a:tailEnd type="none" w="med" len="med"/>
                    </a:lnT>
                    <a:lnB w="6350" cap="flat" cmpd="sng" algn="ctr">
                      <a:solidFill>
                        <a:srgbClr val="D02C2D"/>
                      </a:solidFill>
                      <a:prstDash val="solid"/>
                      <a:round/>
                      <a:headEnd type="none" w="med" len="med"/>
                      <a:tailEnd type="none" w="med" len="med"/>
                    </a:lnB>
                  </a:tcPr>
                </a:tc>
                <a:tc>
                  <a:txBody>
                    <a:bodyPr/>
                    <a:lstStyle/>
                    <a:p>
                      <a:pPr algn="ctr" fontAlgn="ctr" latinLnBrk="0"/>
                      <a:r>
                        <a:rPr lang="zh-CN" altLang="en-US" sz="900" b="0" i="0" dirty="0">
                          <a:solidFill>
                            <a:srgbClr val="000000"/>
                          </a:solidFill>
                          <a:effectLst/>
                        </a:rPr>
                        <a:t>预计开标时间</a:t>
                      </a:r>
                    </a:p>
                  </a:txBody>
                  <a:tcPr marL="56267" marR="56267" marT="28134" marB="28134" anchor="ctr">
                    <a:lnL w="6350" cap="flat" cmpd="sng" algn="ctr">
                      <a:solidFill>
                        <a:srgbClr val="60332D"/>
                      </a:solidFill>
                      <a:prstDash val="solid"/>
                      <a:round/>
                      <a:headEnd type="none" w="med" len="med"/>
                      <a:tailEnd type="none" w="med" len="med"/>
                    </a:lnL>
                    <a:lnR w="6350" cap="flat" cmpd="sng" algn="ctr">
                      <a:solidFill>
                        <a:srgbClr val="F0332D"/>
                      </a:solidFill>
                      <a:prstDash val="solid"/>
                      <a:round/>
                      <a:headEnd type="none" w="med" len="med"/>
                      <a:tailEnd type="none" w="med" len="med"/>
                    </a:lnR>
                    <a:lnT w="6350" cap="flat" cmpd="sng" algn="ctr">
                      <a:solidFill>
                        <a:srgbClr val="60332D"/>
                      </a:solidFill>
                      <a:prstDash val="solid"/>
                      <a:round/>
                      <a:headEnd type="none" w="med" len="med"/>
                      <a:tailEnd type="none" w="med" len="med"/>
                    </a:lnT>
                    <a:lnB w="6350" cap="flat" cmpd="sng" algn="ctr">
                      <a:solidFill>
                        <a:srgbClr val="60332D"/>
                      </a:solidFill>
                      <a:prstDash val="solid"/>
                      <a:round/>
                      <a:headEnd type="none" w="med" len="med"/>
                      <a:tailEnd type="none" w="med" len="med"/>
                    </a:lnB>
                  </a:tcPr>
                </a:tc>
                <a:tc>
                  <a:txBody>
                    <a:bodyPr/>
                    <a:lstStyle/>
                    <a:p>
                      <a:pPr fontAlgn="ctr" latinLnBrk="0"/>
                      <a:r>
                        <a:rPr lang="zh-CN" altLang="en-US" sz="900" b="0" i="0" dirty="0">
                          <a:solidFill>
                            <a:srgbClr val="000000"/>
                          </a:solidFill>
                          <a:effectLst/>
                        </a:rPr>
                        <a:t>针对“预计开标日期”以“正推法”和“倒推法”，重点以正推法作为指导</a:t>
                      </a:r>
                      <a:br>
                        <a:rPr lang="zh-CN" altLang="en-US" sz="900" b="0" i="0" dirty="0">
                          <a:solidFill>
                            <a:srgbClr val="000000"/>
                          </a:solidFill>
                          <a:effectLst/>
                        </a:rPr>
                      </a:br>
                      <a:r>
                        <a:rPr lang="zh-CN" altLang="en-US" sz="900" b="0" i="0" dirty="0">
                          <a:solidFill>
                            <a:srgbClr val="000000"/>
                          </a:solidFill>
                          <a:effectLst/>
                        </a:rPr>
                        <a:t>（试点过程中的复盘，销售基本都在用“正推法”和“倒推法”，沟通充分的情况下，盘点基本</a:t>
                      </a:r>
                      <a:r>
                        <a:rPr lang="en-US" altLang="zh-CN" sz="900" b="0" i="0" dirty="0">
                          <a:solidFill>
                            <a:srgbClr val="000000"/>
                          </a:solidFill>
                          <a:effectLst/>
                        </a:rPr>
                        <a:t>ok</a:t>
                      </a:r>
                      <a:r>
                        <a:rPr lang="zh-CN" altLang="en-US" sz="900" b="0" i="0" dirty="0">
                          <a:solidFill>
                            <a:srgbClr val="000000"/>
                          </a:solidFill>
                          <a:effectLst/>
                        </a:rPr>
                        <a:t>）</a:t>
                      </a:r>
                    </a:p>
                  </a:txBody>
                  <a:tcPr marL="56267" marR="56267" marT="28134" marB="28134" anchor="ctr">
                    <a:lnL w="6350" cap="flat" cmpd="sng" algn="ctr">
                      <a:solidFill>
                        <a:srgbClr val="F0332D"/>
                      </a:solidFill>
                      <a:prstDash val="solid"/>
                      <a:round/>
                      <a:headEnd type="none" w="med" len="med"/>
                      <a:tailEnd type="none" w="med" len="med"/>
                    </a:lnL>
                    <a:lnR w="6350" cap="flat" cmpd="sng" algn="ctr">
                      <a:solidFill>
                        <a:srgbClr val="20342D"/>
                      </a:solidFill>
                      <a:prstDash val="solid"/>
                      <a:round/>
                      <a:headEnd type="none" w="med" len="med"/>
                      <a:tailEnd type="none" w="med" len="med"/>
                    </a:lnR>
                    <a:lnT w="6350" cap="flat" cmpd="sng" algn="ctr">
                      <a:solidFill>
                        <a:srgbClr val="F0332D"/>
                      </a:solidFill>
                      <a:prstDash val="solid"/>
                      <a:round/>
                      <a:headEnd type="none" w="med" len="med"/>
                      <a:tailEnd type="none" w="med" len="med"/>
                    </a:lnT>
                    <a:lnB w="6350" cap="flat" cmpd="sng" algn="ctr">
                      <a:solidFill>
                        <a:srgbClr val="F0332D"/>
                      </a:solidFill>
                      <a:prstDash val="solid"/>
                      <a:round/>
                      <a:headEnd type="none" w="med" len="med"/>
                      <a:tailEnd type="none" w="med" len="med"/>
                    </a:lnB>
                  </a:tcPr>
                </a:tc>
                <a:tc>
                  <a:txBody>
                    <a:bodyPr/>
                    <a:lstStyle/>
                    <a:p>
                      <a:pPr fontAlgn="ctr" latinLnBrk="0"/>
                      <a:r>
                        <a:rPr lang="zh-CN" altLang="en-US" sz="900" b="0" i="0" dirty="0">
                          <a:solidFill>
                            <a:srgbClr val="000000"/>
                          </a:solidFill>
                          <a:effectLst/>
                        </a:rPr>
                        <a:t>项目在申请进入漏斗内的时候，需要销售参考“预计开标时间”的判断标准，填写清楚“预计开标日期填写依据”（销售易</a:t>
                      </a:r>
                      <a:r>
                        <a:rPr lang="en-US" altLang="zh-CN" sz="900" b="0" i="0" dirty="0">
                          <a:solidFill>
                            <a:srgbClr val="000000"/>
                          </a:solidFill>
                          <a:effectLst/>
                        </a:rPr>
                        <a:t>CRM</a:t>
                      </a:r>
                      <a:r>
                        <a:rPr lang="zh-CN" altLang="en-US" sz="900" b="0" i="0" dirty="0">
                          <a:solidFill>
                            <a:srgbClr val="000000"/>
                          </a:solidFill>
                          <a:effectLst/>
                        </a:rPr>
                        <a:t>里面的位置以及相关示意如下），系统会做设置，如果该字段未填写，系统无法提交漏斗内的申请，漏斗内申请成功之后，区域经理需要针对“预计开标日期填写依据”做核对，没问题才可以审批同意进入漏斗内；</a:t>
                      </a:r>
                      <a:br>
                        <a:rPr lang="zh-CN" altLang="en-US" sz="900" b="0" i="0" dirty="0">
                          <a:solidFill>
                            <a:srgbClr val="000000"/>
                          </a:solidFill>
                          <a:effectLst/>
                        </a:rPr>
                      </a:br>
                      <a:r>
                        <a:rPr lang="zh-CN" altLang="en-US" sz="900" b="0" i="0" dirty="0">
                          <a:solidFill>
                            <a:srgbClr val="000000"/>
                          </a:solidFill>
                          <a:effectLst/>
                        </a:rPr>
                        <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预计开标日期填写依据”填写示范：</a:t>
                      </a:r>
                      <a:br>
                        <a:rPr lang="zh-CN" altLang="en-US" sz="900" b="0" i="0" dirty="0">
                          <a:solidFill>
                            <a:srgbClr val="000000"/>
                          </a:solidFill>
                          <a:effectLst/>
                        </a:rPr>
                      </a:br>
                      <a:r>
                        <a:rPr lang="zh-CN" altLang="en-US" sz="900" b="0" i="0" dirty="0">
                          <a:solidFill>
                            <a:srgbClr val="000000"/>
                          </a:solidFill>
                          <a:effectLst/>
                        </a:rPr>
                        <a:t>（</a:t>
                      </a:r>
                      <a:r>
                        <a:rPr lang="en-US" altLang="zh-CN" sz="900" b="0" i="0" dirty="0">
                          <a:solidFill>
                            <a:srgbClr val="000000"/>
                          </a:solidFill>
                          <a:effectLst/>
                        </a:rPr>
                        <a:t>1</a:t>
                      </a:r>
                      <a:r>
                        <a:rPr lang="zh-CN" altLang="en-US" sz="900" b="0" i="0" dirty="0">
                          <a:solidFill>
                            <a:srgbClr val="000000"/>
                          </a:solidFill>
                          <a:effectLst/>
                        </a:rPr>
                        <a:t>）如果已经发标的项目，填写范本如下：项目已经发出标书，招标文件里面写的投标时间是</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20</a:t>
                      </a:r>
                      <a:r>
                        <a:rPr lang="zh-CN" altLang="en-US" sz="900" b="0" i="0" dirty="0">
                          <a:solidFill>
                            <a:srgbClr val="000000"/>
                          </a:solidFill>
                          <a:effectLst/>
                        </a:rPr>
                        <a:t>日，与信息办王主任沟通，项目计划在</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25</a:t>
                      </a:r>
                      <a:r>
                        <a:rPr lang="zh-CN" altLang="en-US" sz="900" b="0" i="0" dirty="0">
                          <a:solidFill>
                            <a:srgbClr val="000000"/>
                          </a:solidFill>
                          <a:effectLst/>
                        </a:rPr>
                        <a:t>日评标，并且当天能出结果，所以预计开标时间时间填写</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25</a:t>
                      </a:r>
                      <a:r>
                        <a:rPr lang="zh-CN" altLang="en-US" sz="900" b="0" i="0" dirty="0">
                          <a:solidFill>
                            <a:srgbClr val="000000"/>
                          </a:solidFill>
                          <a:effectLst/>
                        </a:rPr>
                        <a:t>日；</a:t>
                      </a:r>
                      <a:br>
                        <a:rPr lang="zh-CN" altLang="en-US" sz="900" b="0" i="0" dirty="0">
                          <a:solidFill>
                            <a:srgbClr val="000000"/>
                          </a:solidFill>
                          <a:effectLst/>
                        </a:rPr>
                      </a:br>
                      <a:r>
                        <a:rPr lang="zh-CN" altLang="en-US" sz="900" b="0" i="0" dirty="0">
                          <a:solidFill>
                            <a:srgbClr val="000000"/>
                          </a:solidFill>
                          <a:effectLst/>
                        </a:rPr>
                        <a:t>（</a:t>
                      </a:r>
                      <a:r>
                        <a:rPr lang="en-US" altLang="zh-CN" sz="900" b="0" i="0" dirty="0">
                          <a:solidFill>
                            <a:srgbClr val="000000"/>
                          </a:solidFill>
                          <a:effectLst/>
                        </a:rPr>
                        <a:t>2</a:t>
                      </a:r>
                      <a:r>
                        <a:rPr lang="zh-CN" altLang="en-US" sz="900" b="0" i="0" dirty="0">
                          <a:solidFill>
                            <a:srgbClr val="000000"/>
                          </a:solidFill>
                          <a:effectLst/>
                        </a:rPr>
                        <a:t>）如果项目还没有发标，重点依据“正推法”或者“倒推法”里面的：</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例如按照“正推法”的填写范本如下：该项目的客户是</a:t>
                      </a:r>
                      <a:r>
                        <a:rPr lang="en-US" altLang="zh-CN" sz="900" b="0" i="0" dirty="0">
                          <a:solidFill>
                            <a:srgbClr val="000000"/>
                          </a:solidFill>
                          <a:effectLst/>
                        </a:rPr>
                        <a:t>2025</a:t>
                      </a:r>
                      <a:r>
                        <a:rPr lang="zh-CN" altLang="en-US" sz="900" b="0" i="0" dirty="0">
                          <a:solidFill>
                            <a:srgbClr val="000000"/>
                          </a:solidFill>
                          <a:effectLst/>
                        </a:rPr>
                        <a:t>年</a:t>
                      </a:r>
                      <a:r>
                        <a:rPr lang="en-US" altLang="zh-CN" sz="900" b="0" i="0" dirty="0">
                          <a:solidFill>
                            <a:srgbClr val="000000"/>
                          </a:solidFill>
                          <a:effectLst/>
                        </a:rPr>
                        <a:t>6</a:t>
                      </a:r>
                      <a:r>
                        <a:rPr lang="zh-CN" altLang="en-US" sz="900" b="0" i="0" dirty="0">
                          <a:solidFill>
                            <a:srgbClr val="000000"/>
                          </a:solidFill>
                          <a:effectLst/>
                        </a:rPr>
                        <a:t>月中旬正在进行方案评估工作，与信息办王主任确认他们还要进行测试和样板考察，这大概需要</a:t>
                      </a:r>
                      <a:r>
                        <a:rPr lang="en-US" altLang="zh-CN" sz="900" b="0" i="0" dirty="0">
                          <a:solidFill>
                            <a:srgbClr val="000000"/>
                          </a:solidFill>
                          <a:effectLst/>
                        </a:rPr>
                        <a:t>1</a:t>
                      </a:r>
                      <a:r>
                        <a:rPr lang="zh-CN" altLang="en-US" sz="900" b="0" i="0" dirty="0">
                          <a:solidFill>
                            <a:srgbClr val="000000"/>
                          </a:solidFill>
                          <a:effectLst/>
                        </a:rPr>
                        <a:t>个半月的时间，时间就到了</a:t>
                      </a:r>
                      <a:r>
                        <a:rPr lang="en-US" altLang="zh-CN" sz="900" b="0" i="0" dirty="0">
                          <a:solidFill>
                            <a:srgbClr val="000000"/>
                          </a:solidFill>
                          <a:effectLst/>
                        </a:rPr>
                        <a:t>8</a:t>
                      </a:r>
                      <a:r>
                        <a:rPr lang="zh-CN" altLang="en-US" sz="900" b="0" i="0" dirty="0">
                          <a:solidFill>
                            <a:srgbClr val="000000"/>
                          </a:solidFill>
                          <a:effectLst/>
                        </a:rPr>
                        <a:t>月初；然后信息办确定方案和最终预算，要上院办会评审报批，院办会每</a:t>
                      </a:r>
                      <a:r>
                        <a:rPr lang="en-US" altLang="zh-CN" sz="900" b="0" i="0" dirty="0">
                          <a:solidFill>
                            <a:srgbClr val="000000"/>
                          </a:solidFill>
                          <a:effectLst/>
                        </a:rPr>
                        <a:t>2</a:t>
                      </a:r>
                      <a:r>
                        <a:rPr lang="zh-CN" altLang="en-US" sz="900" b="0" i="0" dirty="0">
                          <a:solidFill>
                            <a:srgbClr val="000000"/>
                          </a:solidFill>
                          <a:effectLst/>
                        </a:rPr>
                        <a:t>周一次，顺利排上过会需要至少</a:t>
                      </a:r>
                      <a:r>
                        <a:rPr lang="en-US" altLang="zh-CN" sz="900" b="0" i="0" dirty="0">
                          <a:solidFill>
                            <a:srgbClr val="000000"/>
                          </a:solidFill>
                          <a:effectLst/>
                        </a:rPr>
                        <a:t>2</a:t>
                      </a:r>
                      <a:r>
                        <a:rPr lang="zh-CN" altLang="en-US" sz="900" b="0" i="0" dirty="0">
                          <a:solidFill>
                            <a:srgbClr val="000000"/>
                          </a:solidFill>
                          <a:effectLst/>
                        </a:rPr>
                        <a:t>周时间，时间就到了</a:t>
                      </a:r>
                      <a:r>
                        <a:rPr lang="en-US" altLang="zh-CN" sz="900" b="0" i="0" dirty="0">
                          <a:solidFill>
                            <a:srgbClr val="000000"/>
                          </a:solidFill>
                          <a:effectLst/>
                        </a:rPr>
                        <a:t>8</a:t>
                      </a:r>
                      <a:r>
                        <a:rPr lang="zh-CN" altLang="en-US" sz="900" b="0" i="0" dirty="0">
                          <a:solidFill>
                            <a:srgbClr val="000000"/>
                          </a:solidFill>
                          <a:effectLst/>
                        </a:rPr>
                        <a:t>月中旬；方案预算过了之后，信息中心需要起草招标文件这需要</a:t>
                      </a:r>
                      <a:r>
                        <a:rPr lang="en-US" altLang="zh-CN" sz="900" b="0" i="0" dirty="0">
                          <a:solidFill>
                            <a:srgbClr val="000000"/>
                          </a:solidFill>
                          <a:effectLst/>
                        </a:rPr>
                        <a:t>1</a:t>
                      </a:r>
                      <a:r>
                        <a:rPr lang="zh-CN" altLang="en-US" sz="900" b="0" i="0" dirty="0">
                          <a:solidFill>
                            <a:srgbClr val="000000"/>
                          </a:solidFill>
                          <a:effectLst/>
                        </a:rPr>
                        <a:t>周时间，然后报国资处审核又需要至少</a:t>
                      </a:r>
                      <a:r>
                        <a:rPr lang="en-US" altLang="zh-CN" sz="900" b="0" i="0" dirty="0">
                          <a:solidFill>
                            <a:srgbClr val="000000"/>
                          </a:solidFill>
                          <a:effectLst/>
                        </a:rPr>
                        <a:t>2</a:t>
                      </a:r>
                      <a:r>
                        <a:rPr lang="zh-CN" altLang="en-US" sz="900" b="0" i="0" dirty="0">
                          <a:solidFill>
                            <a:srgbClr val="000000"/>
                          </a:solidFill>
                          <a:effectLst/>
                        </a:rPr>
                        <a:t>周时间，这就到了</a:t>
                      </a:r>
                      <a:r>
                        <a:rPr lang="en-US" altLang="zh-CN" sz="900" b="0" i="0" dirty="0">
                          <a:solidFill>
                            <a:srgbClr val="000000"/>
                          </a:solidFill>
                          <a:effectLst/>
                        </a:rPr>
                        <a:t>9</a:t>
                      </a:r>
                      <a:r>
                        <a:rPr lang="zh-CN" altLang="en-US" sz="900" b="0" i="0" dirty="0">
                          <a:solidFill>
                            <a:srgbClr val="000000"/>
                          </a:solidFill>
                          <a:effectLst/>
                        </a:rPr>
                        <a:t>月上旬；然后国资处会整理好招标文件报招标公司，招标公司排队</a:t>
                      </a:r>
                      <a:r>
                        <a:rPr lang="en-US" altLang="zh-CN" sz="900" b="0" i="0" dirty="0">
                          <a:solidFill>
                            <a:srgbClr val="000000"/>
                          </a:solidFill>
                          <a:effectLst/>
                        </a:rPr>
                        <a:t>2</a:t>
                      </a:r>
                      <a:r>
                        <a:rPr lang="zh-CN" altLang="en-US" sz="900" b="0" i="0" dirty="0">
                          <a:solidFill>
                            <a:srgbClr val="000000"/>
                          </a:solidFill>
                          <a:effectLst/>
                        </a:rPr>
                        <a:t>周时间发标，预计发标日期就到了</a:t>
                      </a:r>
                      <a:r>
                        <a:rPr lang="en-US" altLang="zh-CN" sz="900" b="0" i="0" dirty="0">
                          <a:solidFill>
                            <a:srgbClr val="000000"/>
                          </a:solidFill>
                          <a:effectLst/>
                        </a:rPr>
                        <a:t>9</a:t>
                      </a:r>
                      <a:r>
                        <a:rPr lang="zh-CN" altLang="en-US" sz="900" b="0" i="0" dirty="0">
                          <a:solidFill>
                            <a:srgbClr val="000000"/>
                          </a:solidFill>
                          <a:effectLst/>
                        </a:rPr>
                        <a:t>月底；按照该客户以往的项目看，发标后大概率有人质疑，</a:t>
                      </a:r>
                      <a:r>
                        <a:rPr lang="en-US" altLang="zh-CN" sz="900" b="0" i="0" dirty="0">
                          <a:solidFill>
                            <a:srgbClr val="000000"/>
                          </a:solidFill>
                          <a:effectLst/>
                        </a:rPr>
                        <a:t>21</a:t>
                      </a:r>
                      <a:r>
                        <a:rPr lang="zh-CN" altLang="en-US" sz="900" b="0" i="0" dirty="0">
                          <a:solidFill>
                            <a:srgbClr val="000000"/>
                          </a:solidFill>
                          <a:effectLst/>
                        </a:rPr>
                        <a:t>天肯定开不了标，预计开标日期可能在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日，所以开标日期写</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日；（范本里面内容是假设，大家参考这个格式按照实际情况来填写，并且随着项目的推进及时的修订项目的预计开标时间）</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例如按照“倒推法”的填写范本如下：项目前期规划要在</a:t>
                      </a:r>
                      <a:r>
                        <a:rPr lang="en-US" altLang="zh-CN" sz="900" b="0" i="0" dirty="0">
                          <a:solidFill>
                            <a:srgbClr val="000000"/>
                          </a:solidFill>
                          <a:effectLst/>
                        </a:rPr>
                        <a:t>2025</a:t>
                      </a:r>
                      <a:r>
                        <a:rPr lang="zh-CN" altLang="en-US" sz="900" b="0" i="0" dirty="0">
                          <a:solidFill>
                            <a:srgbClr val="000000"/>
                          </a:solidFill>
                          <a:effectLst/>
                        </a:rPr>
                        <a:t>年</a:t>
                      </a:r>
                      <a:r>
                        <a:rPr lang="en-US" altLang="zh-CN" sz="900" b="0" i="0" dirty="0">
                          <a:solidFill>
                            <a:srgbClr val="000000"/>
                          </a:solidFill>
                          <a:effectLst/>
                        </a:rPr>
                        <a:t>10</a:t>
                      </a:r>
                      <a:r>
                        <a:rPr lang="zh-CN" altLang="en-US" sz="900" b="0" i="0" dirty="0">
                          <a:solidFill>
                            <a:srgbClr val="000000"/>
                          </a:solidFill>
                          <a:effectLst/>
                        </a:rPr>
                        <a:t>月底竣工验收，根据目前与客户谁谁（或者渠道谁谁）安装实施调试至少</a:t>
                      </a:r>
                      <a:r>
                        <a:rPr lang="en-US" altLang="zh-CN" sz="900" b="0" i="0" dirty="0">
                          <a:solidFill>
                            <a:srgbClr val="000000"/>
                          </a:solidFill>
                          <a:effectLst/>
                        </a:rPr>
                        <a:t>1</a:t>
                      </a:r>
                      <a:r>
                        <a:rPr lang="zh-CN" altLang="en-US" sz="900" b="0" i="0" dirty="0">
                          <a:solidFill>
                            <a:srgbClr val="000000"/>
                          </a:solidFill>
                          <a:effectLst/>
                        </a:rPr>
                        <a:t>个月的时间，那么客户到货日期就在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日左右；从下完单发货到客户收货，估计要持续至少</a:t>
                      </a:r>
                      <a:r>
                        <a:rPr lang="en-US" altLang="zh-CN" sz="900" b="0" i="0" dirty="0">
                          <a:solidFill>
                            <a:srgbClr val="000000"/>
                          </a:solidFill>
                          <a:effectLst/>
                        </a:rPr>
                        <a:t>2</a:t>
                      </a:r>
                      <a:r>
                        <a:rPr lang="zh-CN" altLang="en-US" sz="900" b="0" i="0" dirty="0">
                          <a:solidFill>
                            <a:srgbClr val="000000"/>
                          </a:solidFill>
                          <a:effectLst/>
                        </a:rPr>
                        <a:t>周时间，那预计下单日期就在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15</a:t>
                      </a:r>
                      <a:r>
                        <a:rPr lang="zh-CN" altLang="en-US" sz="900" b="0" i="0" dirty="0">
                          <a:solidFill>
                            <a:srgbClr val="000000"/>
                          </a:solidFill>
                          <a:effectLst/>
                        </a:rPr>
                        <a:t>日左右；项目属于财政招标项目，客户中完标就要货，中标渠道与客户签订合同加上各级渠道的下单商务流程至少要</a:t>
                      </a:r>
                      <a:r>
                        <a:rPr lang="en-US" altLang="zh-CN" sz="900" b="0" i="0" dirty="0">
                          <a:solidFill>
                            <a:srgbClr val="000000"/>
                          </a:solidFill>
                          <a:effectLst/>
                        </a:rPr>
                        <a:t>1</a:t>
                      </a:r>
                      <a:r>
                        <a:rPr lang="zh-CN" altLang="en-US" sz="900" b="0" i="0" dirty="0">
                          <a:solidFill>
                            <a:srgbClr val="000000"/>
                          </a:solidFill>
                          <a:effectLst/>
                        </a:rPr>
                        <a:t>周时间，那中标渠道与客户合同签订日期就要在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8</a:t>
                      </a:r>
                      <a:r>
                        <a:rPr lang="zh-CN" altLang="en-US" sz="900" b="0" i="0" dirty="0">
                          <a:solidFill>
                            <a:srgbClr val="000000"/>
                          </a:solidFill>
                          <a:effectLst/>
                        </a:rPr>
                        <a:t>日左右；中标渠道签客户合同需要</a:t>
                      </a:r>
                      <a:r>
                        <a:rPr lang="en-US" altLang="zh-CN" sz="900" b="0" i="0" dirty="0">
                          <a:solidFill>
                            <a:srgbClr val="000000"/>
                          </a:solidFill>
                          <a:effectLst/>
                        </a:rPr>
                        <a:t>1</a:t>
                      </a:r>
                      <a:r>
                        <a:rPr lang="zh-CN" altLang="en-US" sz="900" b="0" i="0" dirty="0">
                          <a:solidFill>
                            <a:srgbClr val="000000"/>
                          </a:solidFill>
                          <a:effectLst/>
                        </a:rPr>
                        <a:t>周时间，预计拿到中标通知书的时间在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1</a:t>
                      </a:r>
                      <a:r>
                        <a:rPr lang="zh-CN" altLang="en-US" sz="900" b="0" i="0" dirty="0">
                          <a:solidFill>
                            <a:srgbClr val="000000"/>
                          </a:solidFill>
                          <a:effectLst/>
                        </a:rPr>
                        <a:t>日左右；中标公示</a:t>
                      </a:r>
                      <a:r>
                        <a:rPr lang="en-US" altLang="zh-CN" sz="900" b="0" i="0" dirty="0">
                          <a:solidFill>
                            <a:srgbClr val="000000"/>
                          </a:solidFill>
                          <a:effectLst/>
                        </a:rPr>
                        <a:t>7</a:t>
                      </a:r>
                      <a:r>
                        <a:rPr lang="zh-CN" altLang="en-US" sz="900" b="0" i="0" dirty="0">
                          <a:solidFill>
                            <a:srgbClr val="000000"/>
                          </a:solidFill>
                          <a:effectLst/>
                        </a:rPr>
                        <a:t>天，那预计开标日期就应该在</a:t>
                      </a:r>
                      <a:r>
                        <a:rPr lang="en-US" altLang="zh-CN" sz="900" b="0" i="0" dirty="0">
                          <a:solidFill>
                            <a:srgbClr val="000000"/>
                          </a:solidFill>
                          <a:effectLst/>
                        </a:rPr>
                        <a:t>8</a:t>
                      </a:r>
                      <a:r>
                        <a:rPr lang="zh-CN" altLang="en-US" sz="900" b="0" i="0" dirty="0">
                          <a:solidFill>
                            <a:srgbClr val="000000"/>
                          </a:solidFill>
                          <a:effectLst/>
                        </a:rPr>
                        <a:t>月</a:t>
                      </a:r>
                      <a:r>
                        <a:rPr lang="en-US" altLang="zh-CN" sz="900" b="0" i="0" dirty="0">
                          <a:solidFill>
                            <a:srgbClr val="000000"/>
                          </a:solidFill>
                          <a:effectLst/>
                        </a:rPr>
                        <a:t>24</a:t>
                      </a:r>
                      <a:r>
                        <a:rPr lang="zh-CN" altLang="en-US" sz="900" b="0" i="0" dirty="0">
                          <a:solidFill>
                            <a:srgbClr val="000000"/>
                          </a:solidFill>
                          <a:effectLst/>
                        </a:rPr>
                        <a:t>日左右；（每一个节点都应该是找到相关人员做过核实的）</a:t>
                      </a:r>
                      <a:br>
                        <a:rPr lang="zh-CN" altLang="en-US" sz="900" b="0" i="0" dirty="0">
                          <a:solidFill>
                            <a:srgbClr val="000000"/>
                          </a:solidFill>
                          <a:effectLst/>
                        </a:rPr>
                      </a:br>
                      <a:r>
                        <a:rPr lang="zh-CN" altLang="en-US" sz="900" b="0" i="0" dirty="0">
                          <a:solidFill>
                            <a:srgbClr val="000000"/>
                          </a:solidFill>
                          <a:effectLst/>
                        </a:rPr>
                        <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如果是</a:t>
                      </a:r>
                      <a:r>
                        <a:rPr lang="en-US" altLang="zh-CN" sz="900" b="0" i="0" dirty="0">
                          <a:solidFill>
                            <a:srgbClr val="000000"/>
                          </a:solidFill>
                          <a:effectLst/>
                        </a:rPr>
                        <a:t>30</a:t>
                      </a:r>
                      <a:r>
                        <a:rPr lang="zh-CN" altLang="en-US" sz="900" b="0" i="0" dirty="0">
                          <a:solidFill>
                            <a:srgbClr val="000000"/>
                          </a:solidFill>
                          <a:effectLst/>
                        </a:rPr>
                        <a:t>万以下流水且不招标项目，可以简化填写，填写范本如下：与上海**渠道采购经理王**确认，合同以及</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日能完成签约，考虑到之前跟他们公司签约合同总会拖几天，所以综合考虑因素往后推出</a:t>
                      </a:r>
                      <a:r>
                        <a:rPr lang="en-US" altLang="zh-CN" sz="900" b="0" i="0" dirty="0">
                          <a:solidFill>
                            <a:srgbClr val="000000"/>
                          </a:solidFill>
                          <a:effectLst/>
                        </a:rPr>
                        <a:t>5</a:t>
                      </a:r>
                      <a:r>
                        <a:rPr lang="zh-CN" altLang="en-US" sz="900" b="0" i="0" dirty="0">
                          <a:solidFill>
                            <a:srgbClr val="000000"/>
                          </a:solidFill>
                          <a:effectLst/>
                        </a:rPr>
                        <a:t>天，所以预计开标日期写</a:t>
                      </a:r>
                      <a:r>
                        <a:rPr lang="en-US" altLang="zh-CN" sz="900" b="0" i="0" dirty="0">
                          <a:solidFill>
                            <a:srgbClr val="000000"/>
                          </a:solidFill>
                          <a:effectLst/>
                        </a:rPr>
                        <a:t>8</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a:t>
                      </a:r>
                    </a:p>
                  </a:txBody>
                  <a:tcPr marL="56267" marR="56267" marT="28134" marB="28134" anchor="ctr">
                    <a:lnL w="6350" cap="flat" cmpd="sng" algn="ctr">
                      <a:solidFill>
                        <a:srgbClr val="20342D"/>
                      </a:solidFill>
                      <a:prstDash val="solid"/>
                      <a:round/>
                      <a:headEnd type="none" w="med" len="med"/>
                      <a:tailEnd type="none" w="med" len="med"/>
                    </a:lnL>
                    <a:lnR w="6350" cap="flat" cmpd="sng" algn="ctr">
                      <a:solidFill>
                        <a:srgbClr val="20342D"/>
                      </a:solidFill>
                      <a:prstDash val="solid"/>
                      <a:round/>
                      <a:headEnd type="none" w="med" len="med"/>
                      <a:tailEnd type="none" w="med" len="med"/>
                    </a:lnR>
                    <a:lnT w="6350" cap="flat" cmpd="sng" algn="ctr">
                      <a:solidFill>
                        <a:srgbClr val="20342D"/>
                      </a:solidFill>
                      <a:prstDash val="solid"/>
                      <a:round/>
                      <a:headEnd type="none" w="med" len="med"/>
                      <a:tailEnd type="none" w="med" len="med"/>
                    </a:lnT>
                    <a:lnB w="6350" cap="flat" cmpd="sng" algn="ctr">
                      <a:solidFill>
                        <a:srgbClr val="20342D"/>
                      </a:solidFill>
                      <a:prstDash val="solid"/>
                      <a:round/>
                      <a:headEnd type="none" w="med" len="med"/>
                      <a:tailEnd type="none" w="med" len="med"/>
                    </a:lnB>
                  </a:tcPr>
                </a:tc>
              </a:tr>
            </a:tbl>
          </a:graphicData>
        </a:graphic>
      </p:graphicFrame>
      <p:sp>
        <p:nvSpPr>
          <p:cNvPr id="4" name="左箭头 3">
            <a:hlinkClick r:id="rId2" action="ppaction://hlinksldjump"/>
          </p:cNvPr>
          <p:cNvSpPr/>
          <p:nvPr/>
        </p:nvSpPr>
        <p:spPr>
          <a:xfrm>
            <a:off x="11038114" y="205275"/>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返回</a:t>
            </a:r>
            <a:endParaRPr lang="zh-CN" altLang="en-US" dirty="0"/>
          </a:p>
        </p:txBody>
      </p:sp>
    </p:spTree>
    <p:extLst>
      <p:ext uri="{BB962C8B-B14F-4D97-AF65-F5344CB8AC3E}">
        <p14:creationId xmlns:p14="http://schemas.microsoft.com/office/powerpoint/2010/main" val="391403590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10215</TotalTime>
  <Words>3715</Words>
  <Application>Microsoft Office PowerPoint</Application>
  <PresentationFormat>宽屏</PresentationFormat>
  <Paragraphs>513</Paragraphs>
  <Slides>21</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21</vt:i4>
      </vt:variant>
    </vt:vector>
  </HeadingPairs>
  <TitlesOfParts>
    <vt:vector size="31" baseType="lpstr">
      <vt:lpstr>MonospacedNumber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273</cp:revision>
  <dcterms:created xsi:type="dcterms:W3CDTF">2025-07-28T02:11:23Z</dcterms:created>
  <dcterms:modified xsi:type="dcterms:W3CDTF">2025-08-29T07:23:29Z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FC3DAD5E4268449992511FCE7F88E9A6</vt:lpwstr>
  </property>
  <property fmtid="{D5CDD505-2E9C-101B-9397-08002B2CF9AE}" pid="3" name="KSOProductBuildVer">
    <vt:lpwstr>2052-7.5.1.8994</vt:lpwstr>
  </property>
</Properties>
</file>