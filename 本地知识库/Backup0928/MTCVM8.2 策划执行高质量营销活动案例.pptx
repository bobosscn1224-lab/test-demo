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3"/>
  </p:notesMasterIdLst>
  <p:sldIdLst>
    <p:sldId id="257" r:id="rId2"/>
  </p:sldIdLst>
  <p:sldSz cx="6858000" cy="21240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CEA4"/>
    <a:srgbClr val="EFC487"/>
    <a:srgbClr val="630305"/>
    <a:srgbClr val="DCCDA5"/>
    <a:srgbClr val="4C240F"/>
    <a:srgbClr val="4403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23" autoAdjust="0"/>
    <p:restoredTop sz="94692"/>
  </p:normalViewPr>
  <p:slideViewPr>
    <p:cSldViewPr snapToGrid="0">
      <p:cViewPr>
        <p:scale>
          <a:sx n="70" d="100"/>
          <a:sy n="70" d="100"/>
        </p:scale>
        <p:origin x="2520" y="-51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77DDE-CFF2-244C-8189-1D6B56C32BD8}" type="datetimeFigureOut">
              <a:rPr kumimoji="1" lang="zh-CN" altLang="en-US" smtClean="0"/>
              <a:t>2025/9/11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30525" y="1143000"/>
            <a:ext cx="9969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4E162-6C39-EE43-BD8D-D898BC6629C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957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476208"/>
            <a:ext cx="5829300" cy="739492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11156312"/>
            <a:ext cx="5143500" cy="51282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208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91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3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5295443"/>
            <a:ext cx="5915025" cy="883556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14214591"/>
            <a:ext cx="5915025" cy="464641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5654366"/>
            <a:ext cx="2914650" cy="1347706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5654366"/>
            <a:ext cx="2914650" cy="1347706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35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130878"/>
            <a:ext cx="5915025" cy="410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5206935"/>
            <a:ext cx="2901255" cy="2551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7758774"/>
            <a:ext cx="2901255" cy="11411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5206935"/>
            <a:ext cx="2915543" cy="255183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7758774"/>
            <a:ext cx="2915543" cy="11411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93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87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128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16050"/>
            <a:ext cx="2211884" cy="49561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3058279"/>
            <a:ext cx="3471863" cy="150947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6372225"/>
            <a:ext cx="2211884" cy="118053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359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1416050"/>
            <a:ext cx="2211884" cy="495617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3058279"/>
            <a:ext cx="3471863" cy="1509470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6372225"/>
            <a:ext cx="2211884" cy="11805335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224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714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1130873"/>
            <a:ext cx="1478756" cy="180005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1130873"/>
            <a:ext cx="4350544" cy="1800055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731A-0CFF-41AA-B263-2F568EF76EC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266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1130878"/>
            <a:ext cx="5915025" cy="410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5654366"/>
            <a:ext cx="5915025" cy="13477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19687033"/>
            <a:ext cx="1543050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6731A-0CFF-41AA-B263-2F568EF76ECA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9687033"/>
            <a:ext cx="2314575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9687033"/>
            <a:ext cx="1543050" cy="11308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00BE3-7C18-43EA-9DA8-403EA307222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1480F280-FE05-5E3D-70E7-B87EFA611D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858000" cy="2124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513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620434"/>
            <a:ext cx="6857999" cy="2123658"/>
            <a:chOff x="0" y="760134"/>
            <a:chExt cx="6857999" cy="2123658"/>
          </a:xfrm>
        </p:grpSpPr>
        <p:sp>
          <p:nvSpPr>
            <p:cNvPr id="4" name="矩形 3"/>
            <p:cNvSpPr/>
            <p:nvPr/>
          </p:nvSpPr>
          <p:spPr>
            <a:xfrm>
              <a:off x="0" y="880346"/>
              <a:ext cx="6857999" cy="1948108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600" y="760134"/>
              <a:ext cx="676590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5400" b="1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MTCV</a:t>
              </a:r>
              <a:r>
                <a:rPr lang="zh-CN" altLang="en-US" sz="5400" b="1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流程实践</a:t>
              </a:r>
              <a:r>
                <a:rPr lang="zh-CN" altLang="en-US" sz="54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</a:t>
              </a:r>
              <a:endParaRPr lang="en-US" altLang="zh-CN" sz="54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en-US" altLang="zh-CN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M8.2 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策划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及执行高质量活动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</a:t>
              </a:r>
              <a:endPara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lnSpc>
                  <a:spcPct val="120000"/>
                </a:lnSpc>
              </a:pP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教育系统部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705818" y="2900987"/>
            <a:ext cx="54729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教育系统部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SID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活动流程实践成果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0246" y="3381710"/>
            <a:ext cx="6318616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目标客户参会客户质量高：</a:t>
            </a:r>
            <a:r>
              <a:rPr lang="zh-CN" altLang="en-US" sz="16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邀请</a:t>
            </a:r>
            <a:r>
              <a:rPr lang="en-US" altLang="zh-CN" sz="16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16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个目标客户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985+20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个双一流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+10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普本），</a:t>
            </a:r>
            <a:r>
              <a:rPr lang="en-US" altLang="zh-CN" sz="16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38</a:t>
            </a:r>
            <a:r>
              <a:rPr lang="zh-CN" altLang="en-US" sz="16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个客户参会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（其中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C9-8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985-15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位，双一流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-32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位，其余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-24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位）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活动成效：活动线索生成达预期，活动现场收集了</a:t>
            </a:r>
            <a:r>
              <a: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30+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项目线索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，可能带来的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金额</a:t>
            </a:r>
            <a:r>
              <a:rPr lang="en-US" altLang="zh-CN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3000+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新产品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方案提声量，价值获认可，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如北航、中传、江师等大客户现场发声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40801" y="6511395"/>
            <a:ext cx="35846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  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如何实践流程的？ 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42268" y="2752670"/>
            <a:ext cx="6563331" cy="3340100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42268" y="6296527"/>
            <a:ext cx="6563331" cy="8656538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42267" y="10096739"/>
            <a:ext cx="6563332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产品聚焦与价值传递的突破：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活动完全围绕自身产品展开，主动传递产品价值，而非迁就外部内容，强调 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“做活动就要大方说产品、讲价值”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是根本原则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产品价值萃取的显著进步：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线将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价值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萃取并串联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，结合客户需求与产品理念，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让价值从 “白开水” 变为 “浓厚咖啡”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041249" y="15364114"/>
            <a:ext cx="30027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流程使用者反馈</a:t>
            </a:r>
            <a:r>
              <a:rPr lang="en-US" altLang="zh-CN" sz="2400" b="1" dirty="0" smtClean="0">
                <a:solidFill>
                  <a:srgbClr val="DCCEA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endParaRPr lang="en-US" altLang="zh-CN" sz="2400" b="1" dirty="0">
              <a:solidFill>
                <a:srgbClr val="DCCEA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0640" y="15156822"/>
            <a:ext cx="6563331" cy="4635401"/>
          </a:xfrm>
          <a:prstGeom prst="rect">
            <a:avLst/>
          </a:prstGeom>
          <a:noFill/>
          <a:ln w="38100">
            <a:solidFill>
              <a:srgbClr val="DCCE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160640" y="15156822"/>
            <a:ext cx="6544959" cy="4487497"/>
          </a:xfrm>
          <a:prstGeom prst="rect">
            <a:avLst/>
          </a:prstGeom>
          <a:solidFill>
            <a:schemeClr val="tx1">
              <a:lumMod val="95000"/>
              <a:lumOff val="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26685" y="15836879"/>
            <a:ext cx="63881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陈思行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营销经理）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客户参会有明确需求，后续活动需串联内容，避免只讲自身想传递的，且要贯彻 “大方讲产品” 原则。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议程内容可借鉴内外部联合共创（如信广联维度），聚焦问题谈透、明确价值，避免前期堆砌。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执行需精细化管理，明确活动主导者（项目组负责人），确保目标客户安排落地；演讲内容确定、策划及质量把控等细节经验，应内化到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DG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全国市场活动流程</a:t>
            </a: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6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-38889" y="19927515"/>
            <a:ext cx="6896888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策划及执行高质量活动组合</a:t>
            </a: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教育系统部实践案例</a:t>
            </a:r>
            <a:r>
              <a:rPr lang="en-US" altLang="zh-CN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案例详情</a:t>
            </a:r>
            <a:endParaRPr lang="en-US" altLang="zh-CN" sz="16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</a:t>
            </a: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书云文档：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EBG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流程知识库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-&gt;MTCV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流程知识库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流程实践案例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https://ruijie.feishu.cn/wiki/D6ggwoKiIigNFmkdrInceULin9b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27888" y="12358592"/>
            <a:ext cx="6563332" cy="1523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活动目标与受众匹配的精准化：</a:t>
            </a:r>
            <a:endParaRPr lang="zh-CN" altLang="en-US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目标明确，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精准邀请与产品高度关联的受众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（针对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985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大学，而非高职、普通本科），强调需明确产品对应客户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群体，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这是活动设计的重要源头。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27888" y="13748626"/>
            <a:ext cx="65633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活动环节设计的高效性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环节紧凑，无废话，内容、</a:t>
            </a:r>
            <a:r>
              <a:rPr lang="zh-CN" altLang="en-US" sz="16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讨论均围绕产品展开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，环环相扣，以产品 </a:t>
            </a: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为核心维度。</a:t>
            </a:r>
            <a:endParaRPr lang="en-US" altLang="zh-CN" sz="1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78" y="7036976"/>
            <a:ext cx="5376543" cy="288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36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4507</TotalTime>
  <Words>429</Words>
  <Application>Microsoft Office PowerPoint</Application>
  <PresentationFormat>自定义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Lenovo</cp:lastModifiedBy>
  <cp:revision>110</cp:revision>
  <dcterms:created xsi:type="dcterms:W3CDTF">2025-07-30T10:15:34Z</dcterms:created>
  <dcterms:modified xsi:type="dcterms:W3CDTF">2025-09-11T08:40:53Z</dcterms:modified>
</cp:coreProperties>
</file>