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89" r:id="rId4"/>
    <p:sldId id="307" r:id="rId5"/>
    <p:sldId id="312" r:id="rId6"/>
    <p:sldId id="313" r:id="rId7"/>
    <p:sldId id="314" r:id="rId8"/>
    <p:sldId id="264" r:id="rId9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33"/>
    <a:srgbClr val="A6A6A6"/>
    <a:srgbClr val="BF504D"/>
    <a:srgbClr val="910015"/>
    <a:srgbClr val="27C39E"/>
    <a:srgbClr val="2CD4AC"/>
    <a:srgbClr val="2CDCAC"/>
    <a:srgbClr val="27BF9B"/>
    <a:srgbClr val="00FFCC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7838" autoAdjust="0"/>
  </p:normalViewPr>
  <p:slideViewPr>
    <p:cSldViewPr showGuides="1">
      <p:cViewPr varScale="1">
        <p:scale>
          <a:sx n="77" d="100"/>
          <a:sy n="77" d="100"/>
        </p:scale>
        <p:origin x="1646" y="6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C01C-0604-4629-ACC8-3F5670522AC3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2B2D-961B-4F11-9D4F-F4B940EBF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665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765E-E08B-4CCB-AE85-B4DEE85320BC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498C-04FC-4C57-9267-2C30343E44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75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1—3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页为封面页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99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6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、对试用期的目标达成情况进行量化描述，如无法量化，需写明工作结果及里程碑的差距。</a:t>
            </a:r>
            <a:endParaRPr lang="en-US" altLang="zh-CN" sz="1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、说明工作中遇到的具体问题，解决方案、实施步骤及结果。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7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工作亮点为工作中表现的闪光点，可给别人提供正向参考价值，可沉淀经验</a:t>
            </a:r>
            <a:endParaRPr lang="en-US" altLang="zh-CN" dirty="0"/>
          </a:p>
          <a:p>
            <a:r>
              <a:rPr lang="zh-CN" altLang="en-US" dirty="0"/>
              <a:t>工作机会点为工作中可改善的，或可大力发展的方面。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0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24—26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1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83569" y="4077072"/>
            <a:ext cx="3312368" cy="2880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683568" y="4365104"/>
            <a:ext cx="3312368" cy="288031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" y="0"/>
            <a:ext cx="9144635" cy="6858000"/>
          </a:xfrm>
          <a:prstGeom prst="rect">
            <a:avLst/>
          </a:prstGeom>
          <a:noFill/>
        </p:spPr>
      </p:pic>
      <p:pic>
        <p:nvPicPr>
          <p:cNvPr id="2" name="图片 1" descr="场景无限 智享物联 锐捷网络移动医疗解决方案2018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与场景亲密接触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做方案创新专家</a:t>
            </a:r>
          </a:p>
        </p:txBody>
      </p:sp>
      <p:sp>
        <p:nvSpPr>
          <p:cNvPr id="11" name="标题 19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试用期员工转正答辩</a:t>
            </a:r>
          </a:p>
        </p:txBody>
      </p:sp>
      <p:sp>
        <p:nvSpPr>
          <p:cNvPr id="12" name="副标题 20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 fontScale="92500"/>
          </a:bodyPr>
          <a:lstStyle/>
          <a:p>
            <a:r>
              <a:rPr lang="zh-CN" altLang="en-US" b="1" dirty="0"/>
              <a:t>用</a:t>
            </a:r>
            <a:r>
              <a:rPr lang="zh-CN" altLang="en-US" b="1" dirty="0" smtClean="0"/>
              <a:t>专业能力</a:t>
            </a:r>
            <a:r>
              <a:rPr lang="zh-CN" altLang="en-US" b="1" dirty="0"/>
              <a:t>，解组织协同之困，创运营提效之果</a:t>
            </a:r>
            <a:endParaRPr lang="en-US" altLang="zh-CN" dirty="0">
              <a:cs typeface="+mn-ea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idx="13"/>
          </p:nvPr>
        </p:nvSpPr>
        <p:spPr>
          <a:xfrm>
            <a:off x="683569" y="4077072"/>
            <a:ext cx="3312368" cy="28803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姓名</a:t>
            </a:r>
            <a:r>
              <a:rPr lang="zh-CN" altLang="en-US" dirty="0" smtClean="0">
                <a:cs typeface="+mn-ea"/>
              </a:rPr>
              <a:t>：赵波</a:t>
            </a:r>
            <a:endParaRPr lang="zh-CN" altLang="en-US" dirty="0">
              <a:cs typeface="+mn-ea"/>
            </a:endParaRPr>
          </a:p>
        </p:txBody>
      </p:sp>
      <p:sp>
        <p:nvSpPr>
          <p:cNvPr id="14" name="文本占位符 22"/>
          <p:cNvSpPr>
            <a:spLocks noGrp="1"/>
          </p:cNvSpPr>
          <p:nvPr>
            <p:ph type="body" idx="14"/>
          </p:nvPr>
        </p:nvSpPr>
        <p:spPr>
          <a:xfrm>
            <a:off x="683568" y="4365104"/>
            <a:ext cx="3312368" cy="288031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日期</a:t>
            </a:r>
            <a:r>
              <a:rPr lang="zh-CN" altLang="en-US" dirty="0" smtClean="0">
                <a:cs typeface="+mn-ea"/>
              </a:rPr>
              <a:t>：</a:t>
            </a:r>
            <a:r>
              <a:rPr lang="en-US" altLang="zh-CN" dirty="0" smtClean="0">
                <a:cs typeface="+mn-ea"/>
              </a:rPr>
              <a:t>2025-07</a:t>
            </a:r>
            <a:endParaRPr lang="zh-CN" altLang="en-US" dirty="0"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Contents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404664"/>
            <a:ext cx="467544" cy="504056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2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占位符 43"/>
          <p:cNvSpPr txBox="1"/>
          <p:nvPr/>
        </p:nvSpPr>
        <p:spPr>
          <a:xfrm>
            <a:off x="611561" y="1268760"/>
            <a:ext cx="7860356" cy="4248472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arabicPeriod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试用期目标及达成情况</a:t>
            </a:r>
            <a:endParaRPr lang="en-US" altLang="zh-CN" sz="2800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工作中的亮点和机会点</a:t>
            </a:r>
            <a:endParaRPr lang="en-US" altLang="zh-CN" sz="2800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试用期期间的经验与能力提升</a:t>
            </a:r>
            <a:endParaRPr lang="en-US" altLang="zh-CN" sz="2800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en-US" altLang="zh-CN" sz="2800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25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年下半年的绩效承诺</a:t>
            </a:r>
          </a:p>
          <a:p>
            <a:r>
              <a:rPr lang="zh-CN" altLang="en-US" sz="2800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对部门或业务的建议</a:t>
            </a:r>
            <a:endParaRPr lang="en-US" altLang="zh-CN" sz="2800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endParaRPr lang="en-US" altLang="zh-CN" sz="2800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1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、试用期目标及达成情况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3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13952"/>
              </p:ext>
            </p:extLst>
          </p:nvPr>
        </p:nvGraphicFramePr>
        <p:xfrm>
          <a:off x="273243" y="1268760"/>
          <a:ext cx="8465101" cy="3723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909"/>
                <a:gridCol w="1682449"/>
                <a:gridCol w="1728192"/>
                <a:gridCol w="2160240"/>
                <a:gridCol w="576064"/>
                <a:gridCol w="549799"/>
                <a:gridCol w="946448"/>
              </a:tblGrid>
              <a:tr h="6227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主要工作职责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本周期内的关键目标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目标的考核标准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关键举措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权重（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自评分值</a:t>
                      </a:r>
                      <a:b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</a:b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（每项满分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分）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一季度：发布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 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条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流程梳理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业务评审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二季度：发布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</a:p>
                    <a:p>
                      <a:pPr algn="ctr" fontAlgn="ctr"/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V1.0 100%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7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跑通跑顺案例评审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发布总结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覆盖率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组织所有区域，系统部进行了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流程的培训与宣贯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线上培训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一页纸制作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小视频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整合流程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1-2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参与并贡献专业知识与经验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重客适配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漏斗质量自工序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788024" y="1996019"/>
            <a:ext cx="4230801" cy="374682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079" y="1998425"/>
            <a:ext cx="4438250" cy="3744416"/>
          </a:xfrm>
          <a:prstGeom prst="rect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sym typeface="+mn-ea"/>
              </a:rPr>
              <a:t>工作中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的亮点、机会点</a:t>
            </a:r>
            <a:endParaRPr lang="zh-CN" altLang="en-US" dirty="0">
              <a:solidFill>
                <a:srgbClr val="E6003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221089" y="5933887"/>
            <a:ext cx="537845" cy="241300"/>
          </a:xfrm>
        </p:spPr>
        <p:txBody>
          <a:bodyPr/>
          <a:lstStyle/>
          <a:p>
            <a:fld id="{E1C1B161-4EA0-4354-A154-2430C001F00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Oval 4"/>
          <p:cNvSpPr/>
          <p:nvPr/>
        </p:nvSpPr>
        <p:spPr>
          <a:xfrm>
            <a:off x="4842036" y="932249"/>
            <a:ext cx="903035" cy="90821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7" name="Oval 5"/>
          <p:cNvSpPr/>
          <p:nvPr/>
        </p:nvSpPr>
        <p:spPr>
          <a:xfrm>
            <a:off x="3530983" y="932249"/>
            <a:ext cx="903035" cy="908217"/>
          </a:xfrm>
          <a:prstGeom prst="ellipse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10" name="Freeform 45"/>
          <p:cNvSpPr>
            <a:spLocks noEditPoints="1"/>
          </p:cNvSpPr>
          <p:nvPr/>
        </p:nvSpPr>
        <p:spPr bwMode="auto">
          <a:xfrm>
            <a:off x="3779177" y="1124139"/>
            <a:ext cx="406647" cy="524434"/>
          </a:xfrm>
          <a:custGeom>
            <a:avLst/>
            <a:gdLst>
              <a:gd name="T0" fmla="*/ 104 w 109"/>
              <a:gd name="T1" fmla="*/ 67 h 141"/>
              <a:gd name="T2" fmla="*/ 96 w 109"/>
              <a:gd name="T3" fmla="*/ 67 h 141"/>
              <a:gd name="T4" fmla="*/ 96 w 109"/>
              <a:gd name="T5" fmla="*/ 44 h 141"/>
              <a:gd name="T6" fmla="*/ 84 w 109"/>
              <a:gd name="T7" fmla="*/ 13 h 141"/>
              <a:gd name="T8" fmla="*/ 55 w 109"/>
              <a:gd name="T9" fmla="*/ 0 h 141"/>
              <a:gd name="T10" fmla="*/ 25 w 109"/>
              <a:gd name="T11" fmla="*/ 13 h 141"/>
              <a:gd name="T12" fmla="*/ 13 w 109"/>
              <a:gd name="T13" fmla="*/ 44 h 141"/>
              <a:gd name="T14" fmla="*/ 13 w 109"/>
              <a:gd name="T15" fmla="*/ 67 h 141"/>
              <a:gd name="T16" fmla="*/ 6 w 109"/>
              <a:gd name="T17" fmla="*/ 67 h 141"/>
              <a:gd name="T18" fmla="*/ 0 w 109"/>
              <a:gd name="T19" fmla="*/ 73 h 141"/>
              <a:gd name="T20" fmla="*/ 0 w 109"/>
              <a:gd name="T21" fmla="*/ 136 h 141"/>
              <a:gd name="T22" fmla="*/ 6 w 109"/>
              <a:gd name="T23" fmla="*/ 141 h 141"/>
              <a:gd name="T24" fmla="*/ 104 w 109"/>
              <a:gd name="T25" fmla="*/ 141 h 141"/>
              <a:gd name="T26" fmla="*/ 109 w 109"/>
              <a:gd name="T27" fmla="*/ 136 h 141"/>
              <a:gd name="T28" fmla="*/ 109 w 109"/>
              <a:gd name="T29" fmla="*/ 73 h 141"/>
              <a:gd name="T30" fmla="*/ 104 w 109"/>
              <a:gd name="T31" fmla="*/ 67 h 141"/>
              <a:gd name="T32" fmla="*/ 67 w 109"/>
              <a:gd name="T33" fmla="*/ 124 h 141"/>
              <a:gd name="T34" fmla="*/ 55 w 109"/>
              <a:gd name="T35" fmla="*/ 136 h 141"/>
              <a:gd name="T36" fmla="*/ 43 w 109"/>
              <a:gd name="T37" fmla="*/ 124 h 141"/>
              <a:gd name="T38" fmla="*/ 43 w 109"/>
              <a:gd name="T39" fmla="*/ 102 h 141"/>
              <a:gd name="T40" fmla="*/ 55 w 109"/>
              <a:gd name="T41" fmla="*/ 90 h 141"/>
              <a:gd name="T42" fmla="*/ 67 w 109"/>
              <a:gd name="T43" fmla="*/ 102 h 141"/>
              <a:gd name="T44" fmla="*/ 67 w 109"/>
              <a:gd name="T45" fmla="*/ 124 h 141"/>
              <a:gd name="T46" fmla="*/ 77 w 109"/>
              <a:gd name="T47" fmla="*/ 67 h 141"/>
              <a:gd name="T48" fmla="*/ 33 w 109"/>
              <a:gd name="T49" fmla="*/ 67 h 141"/>
              <a:gd name="T50" fmla="*/ 33 w 109"/>
              <a:gd name="T51" fmla="*/ 44 h 141"/>
              <a:gd name="T52" fmla="*/ 39 w 109"/>
              <a:gd name="T53" fmla="*/ 26 h 141"/>
              <a:gd name="T54" fmla="*/ 55 w 109"/>
              <a:gd name="T55" fmla="*/ 19 h 141"/>
              <a:gd name="T56" fmla="*/ 70 w 109"/>
              <a:gd name="T57" fmla="*/ 26 h 141"/>
              <a:gd name="T58" fmla="*/ 77 w 109"/>
              <a:gd name="T59" fmla="*/ 44 h 141"/>
              <a:gd name="T60" fmla="*/ 77 w 109"/>
              <a:gd name="T61" fmla="*/ 6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9" h="141">
                <a:moveTo>
                  <a:pt x="104" y="67"/>
                </a:moveTo>
                <a:cubicBezTo>
                  <a:pt x="96" y="67"/>
                  <a:pt x="96" y="67"/>
                  <a:pt x="96" y="67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2"/>
                  <a:pt x="92" y="21"/>
                  <a:pt x="84" y="13"/>
                </a:cubicBezTo>
                <a:cubicBezTo>
                  <a:pt x="77" y="5"/>
                  <a:pt x="66" y="0"/>
                  <a:pt x="55" y="0"/>
                </a:cubicBezTo>
                <a:cubicBezTo>
                  <a:pt x="43" y="0"/>
                  <a:pt x="32" y="5"/>
                  <a:pt x="25" y="13"/>
                </a:cubicBezTo>
                <a:cubicBezTo>
                  <a:pt x="18" y="21"/>
                  <a:pt x="13" y="32"/>
                  <a:pt x="13" y="44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6" y="67"/>
                  <a:pt x="6" y="67"/>
                </a:cubicBezTo>
                <a:cubicBezTo>
                  <a:pt x="3" y="67"/>
                  <a:pt x="0" y="70"/>
                  <a:pt x="0" y="7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3" y="141"/>
                  <a:pt x="6" y="141"/>
                </a:cubicBezTo>
                <a:cubicBezTo>
                  <a:pt x="104" y="141"/>
                  <a:pt x="104" y="141"/>
                  <a:pt x="104" y="141"/>
                </a:cubicBezTo>
                <a:cubicBezTo>
                  <a:pt x="107" y="141"/>
                  <a:pt x="109" y="139"/>
                  <a:pt x="109" y="136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0"/>
                  <a:pt x="107" y="67"/>
                  <a:pt x="104" y="67"/>
                </a:cubicBezTo>
                <a:close/>
                <a:moveTo>
                  <a:pt x="67" y="124"/>
                </a:moveTo>
                <a:cubicBezTo>
                  <a:pt x="67" y="130"/>
                  <a:pt x="61" y="136"/>
                  <a:pt x="55" y="136"/>
                </a:cubicBezTo>
                <a:cubicBezTo>
                  <a:pt x="48" y="136"/>
                  <a:pt x="43" y="130"/>
                  <a:pt x="43" y="124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43" y="95"/>
                  <a:pt x="48" y="90"/>
                  <a:pt x="55" y="90"/>
                </a:cubicBezTo>
                <a:cubicBezTo>
                  <a:pt x="61" y="90"/>
                  <a:pt x="67" y="95"/>
                  <a:pt x="67" y="102"/>
                </a:cubicBezTo>
                <a:lnTo>
                  <a:pt x="67" y="124"/>
                </a:lnTo>
                <a:close/>
                <a:moveTo>
                  <a:pt x="77" y="67"/>
                </a:moveTo>
                <a:cubicBezTo>
                  <a:pt x="33" y="67"/>
                  <a:pt x="33" y="67"/>
                  <a:pt x="33" y="67"/>
                </a:cubicBezTo>
                <a:cubicBezTo>
                  <a:pt x="33" y="44"/>
                  <a:pt x="33" y="44"/>
                  <a:pt x="33" y="44"/>
                </a:cubicBezTo>
                <a:cubicBezTo>
                  <a:pt x="33" y="37"/>
                  <a:pt x="35" y="31"/>
                  <a:pt x="39" y="26"/>
                </a:cubicBezTo>
                <a:cubicBezTo>
                  <a:pt x="44" y="22"/>
                  <a:pt x="49" y="19"/>
                  <a:pt x="55" y="19"/>
                </a:cubicBezTo>
                <a:cubicBezTo>
                  <a:pt x="61" y="19"/>
                  <a:pt x="66" y="22"/>
                  <a:pt x="70" y="26"/>
                </a:cubicBezTo>
                <a:cubicBezTo>
                  <a:pt x="74" y="31"/>
                  <a:pt x="77" y="37"/>
                  <a:pt x="77" y="44"/>
                </a:cubicBezTo>
                <a:lnTo>
                  <a:pt x="77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grpSp>
        <p:nvGrpSpPr>
          <p:cNvPr id="11" name="Group 32"/>
          <p:cNvGrpSpPr/>
          <p:nvPr/>
        </p:nvGrpSpPr>
        <p:grpSpPr>
          <a:xfrm>
            <a:off x="5027109" y="1124139"/>
            <a:ext cx="532893" cy="524434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12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  <p:sp>
          <p:nvSpPr>
            <p:cNvPr id="13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4" name="Rectangle 21"/>
          <p:cNvSpPr/>
          <p:nvPr/>
        </p:nvSpPr>
        <p:spPr>
          <a:xfrm flipH="1" flipV="1">
            <a:off x="4647998" y="1226281"/>
            <a:ext cx="45719" cy="4707605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1768898" y="1317246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32998" y="1317246"/>
            <a:ext cx="158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机会点</a:t>
            </a:r>
          </a:p>
        </p:txBody>
      </p:sp>
      <p:sp>
        <p:nvSpPr>
          <p:cNvPr id="3" name="矩形 2"/>
          <p:cNvSpPr/>
          <p:nvPr/>
        </p:nvSpPr>
        <p:spPr>
          <a:xfrm>
            <a:off x="116079" y="2369565"/>
            <a:ext cx="4215664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流程梳理与设计：按季度目标推进 </a:t>
            </a:r>
            <a:r>
              <a:rPr lang="en-US" altLang="zh-CN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MO/DG 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各 </a:t>
            </a:r>
            <a:r>
              <a:rPr lang="en-US" altLang="zh-CN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L3 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 </a:t>
            </a:r>
            <a:r>
              <a:rPr lang="en-US" altLang="zh-CN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V0.9/1.0 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版本评审及发布，高效达成阶段成果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落地与执行：主导流程推广执行，强化宣贯力度，创新设计运转方法与机制，保障落地效能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业务流程咨询：结合业界标杆与实操经验，为业务焦点问题提供专业指导，助力问题解决。​</a:t>
            </a: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907697" y="2369565"/>
            <a:ext cx="3980726" cy="2492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深化业务融合：深入业务场景，以机制设计推动流程落地执行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推动数智融合：结合数字化工具赋能业务，实现提效、留痕，支撑流程迭代。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强化协同联动：加强与 </a:t>
            </a:r>
            <a:r>
              <a:rPr lang="en-US" altLang="zh-CN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PO 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沟通，调动项目组积极性，提升流程全周期参与度。​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989" y="294565"/>
            <a:ext cx="8229600" cy="634082"/>
          </a:xfrm>
        </p:spPr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3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、试用期期间的经验与能力提升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5</a:t>
            </a:fld>
            <a:endParaRPr lang="zh-CN" altLang="en-US" dirty="0"/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145989" y="1263649"/>
            <a:ext cx="4418859" cy="5226047"/>
            <a:chOff x="1790701" y="1746249"/>
            <a:chExt cx="4633089" cy="4562475"/>
          </a:xfrm>
        </p:grpSpPr>
        <p:sp>
          <p:nvSpPr>
            <p:cNvPr id="7" name="矩形: 对角圆角 8"/>
            <p:cNvSpPr/>
            <p:nvPr/>
          </p:nvSpPr>
          <p:spPr>
            <a:xfrm flipH="1">
              <a:off x="1790701" y="1746249"/>
              <a:ext cx="4633089" cy="4562475"/>
            </a:xfrm>
            <a:prstGeom prst="round2DiagRect">
              <a:avLst>
                <a:gd name="adj1" fmla="val 12455"/>
                <a:gd name="adj2" fmla="val 0"/>
              </a:avLst>
            </a:prstGeom>
            <a:solidFill>
              <a:schemeClr val="accent1"/>
            </a:solidFill>
            <a:ln>
              <a:gradFill flip="none" rotWithShape="1">
                <a:gsLst>
                  <a:gs pos="0">
                    <a:schemeClr val="bg1">
                      <a:alpha val="25000"/>
                    </a:schemeClr>
                  </a:gs>
                  <a:gs pos="90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41300" dist="127000" algn="ctr" rotWithShape="0">
                <a:schemeClr val="accent1">
                  <a:lumMod val="50000"/>
                  <a:alpha val="5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: 对角圆角 10"/>
            <p:cNvSpPr/>
            <p:nvPr/>
          </p:nvSpPr>
          <p:spPr>
            <a:xfrm flipH="1">
              <a:off x="1881289" y="2660650"/>
              <a:ext cx="4468710" cy="3555999"/>
            </a:xfrm>
            <a:prstGeom prst="round2DiagRect">
              <a:avLst>
                <a:gd name="adj1" fmla="val 980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279400" dist="38100" dir="13500000" algn="br" rotWithShape="0">
                <a:schemeClr val="accent1">
                  <a:alpha val="13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4709286" y="1263649"/>
            <a:ext cx="4202886" cy="5226047"/>
            <a:chOff x="1790701" y="1746249"/>
            <a:chExt cx="4633089" cy="4562475"/>
          </a:xfrm>
        </p:grpSpPr>
        <p:sp>
          <p:nvSpPr>
            <p:cNvPr id="10" name="矩形: 对角圆角 42"/>
            <p:cNvSpPr/>
            <p:nvPr/>
          </p:nvSpPr>
          <p:spPr>
            <a:xfrm flipH="1">
              <a:off x="1790701" y="1746249"/>
              <a:ext cx="4633089" cy="4562475"/>
            </a:xfrm>
            <a:prstGeom prst="round2DiagRect">
              <a:avLst>
                <a:gd name="adj1" fmla="val 12455"/>
                <a:gd name="adj2" fmla="val 0"/>
              </a:avLst>
            </a:prstGeom>
            <a:solidFill>
              <a:schemeClr val="accent2"/>
            </a:solidFill>
            <a:ln>
              <a:gradFill flip="none" rotWithShape="1">
                <a:gsLst>
                  <a:gs pos="0">
                    <a:schemeClr val="bg1">
                      <a:alpha val="25000"/>
                    </a:schemeClr>
                  </a:gs>
                  <a:gs pos="90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41300" dist="127000" algn="ctr" rotWithShape="0">
                <a:schemeClr val="accent1">
                  <a:lumMod val="50000"/>
                  <a:alpha val="5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: 对角圆角 43"/>
            <p:cNvSpPr/>
            <p:nvPr/>
          </p:nvSpPr>
          <p:spPr>
            <a:xfrm flipH="1">
              <a:off x="1881289" y="2660650"/>
              <a:ext cx="4468710" cy="3555999"/>
            </a:xfrm>
            <a:prstGeom prst="round2DiagRect">
              <a:avLst>
                <a:gd name="adj1" fmla="val 980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279400" dist="38100" dir="13500000" algn="br" rotWithShape="0">
                <a:schemeClr val="accent1">
                  <a:alpha val="13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87624" y="1545152"/>
            <a:ext cx="27170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chemeClr val="bg1"/>
                </a:solidFill>
                <a:latin typeface="+mj-ea"/>
                <a:ea typeface="+mj-ea"/>
                <a:cs typeface="Alibaba PuHuiTi Medium" pitchFamily="18" charset="-122"/>
              </a:rPr>
              <a:t>额外的学习情况</a:t>
            </a:r>
            <a:endParaRPr kumimoji="1" lang="en-US" altLang="zh-CN" sz="2200" b="1" dirty="0">
              <a:solidFill>
                <a:schemeClr val="bg1"/>
              </a:solidFill>
              <a:latin typeface="+mj-ea"/>
              <a:ea typeface="+mj-ea"/>
              <a:cs typeface="Alibaba PuHuiTi Medium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9142" y="1545153"/>
            <a:ext cx="2762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chemeClr val="bg1"/>
                </a:solidFill>
                <a:latin typeface="+mj-ea"/>
                <a:ea typeface="+mj-ea"/>
                <a:cs typeface="Alibaba PuHuiTi Medium" pitchFamily="18" charset="-122"/>
              </a:rPr>
              <a:t>总体成长与进步​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76826" y="2380944"/>
            <a:ext cx="3973201" cy="369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1200">
                <a:latin typeface="+mn-ea"/>
                <a:cs typeface="Alibaba PuHuiTi Medium" pitchFamily="18" charset="-122"/>
              </a:defRPr>
            </a:lvl1pPr>
          </a:lstStyle>
          <a:p>
            <a:r>
              <a:rPr lang="zh-CN" altLang="en-US" sz="1400" dirty="0"/>
              <a:t>​在试用期内，我围绕流程管理工作展开了多维度的学习与</a:t>
            </a:r>
            <a:r>
              <a:rPr lang="zh-CN" altLang="en-US" sz="1400" dirty="0" smtClean="0"/>
              <a:t>实践：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zh-CN" altLang="en-US" sz="1400" dirty="0"/>
              <a:t>标准化建设上，我深入钻研流程管理规范，设计并推行流程文档 “七件套” 模板，将流程文件编制标准系统化，显著提升文档的规范性与可读性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zh-CN" altLang="en-US" sz="1400" dirty="0"/>
              <a:t>项目推进方面，创新性地采用树立标杆案例、激励优秀 </a:t>
            </a:r>
            <a:r>
              <a:rPr lang="en-US" altLang="zh-CN" sz="1400" dirty="0"/>
              <a:t>PO</a:t>
            </a:r>
            <a:r>
              <a:rPr lang="zh-CN" altLang="en-US" sz="1400" dirty="0"/>
              <a:t>、及时通报阶段性成果等手段，打破传统推进模式，有效激发团队积极性，提升流程认可度与执行力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同时</a:t>
            </a:r>
            <a:r>
              <a:rPr lang="zh-CN" altLang="en-US" sz="1400" dirty="0"/>
              <a:t>，我积极学习并构建 “立项 </a:t>
            </a:r>
            <a:r>
              <a:rPr lang="en-US" altLang="zh-CN" sz="1400" dirty="0"/>
              <a:t>- </a:t>
            </a:r>
            <a:r>
              <a:rPr lang="zh-CN" altLang="en-US" sz="1400" dirty="0"/>
              <a:t>评审发布 </a:t>
            </a:r>
            <a:r>
              <a:rPr lang="en-US" altLang="zh-CN" sz="1400" dirty="0"/>
              <a:t>- </a:t>
            </a:r>
            <a:r>
              <a:rPr lang="zh-CN" altLang="en-US" sz="1400" dirty="0"/>
              <a:t>案例优化” 的标准化流程推进体系，将前沿方法论深度融入工作，确保流程建设各环节科学有序、环环相扣。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62688" y="3054383"/>
            <a:ext cx="1311578" cy="516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1200">
                <a:latin typeface="+mn-ea"/>
                <a:cs typeface="Alibaba PuHuiTi Medium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1020,563</a:t>
            </a:r>
            <a:r>
              <a:rPr lang="zh-CN" altLang="en-US" dirty="0">
                <a:solidFill>
                  <a:schemeClr val="bg1"/>
                </a:solidFill>
              </a:rPr>
              <a:t>万用户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用户同比增长率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906341" y="2399389"/>
            <a:ext cx="3867925" cy="2657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1200">
                <a:latin typeface="+mn-ea"/>
                <a:cs typeface="Alibaba PuHuiTi Medium" pitchFamily="18" charset="-122"/>
              </a:defRPr>
            </a:lvl1pPr>
          </a:lstStyle>
          <a:p>
            <a:r>
              <a:rPr lang="zh-CN" altLang="en-US" sz="1400" dirty="0" smtClean="0"/>
              <a:t>​</a:t>
            </a:r>
            <a:r>
              <a:rPr lang="zh-CN" altLang="en-US" sz="1400" dirty="0"/>
              <a:t>通过深度参与公司流程建设与管理工作，我实现了从经验应用到能力突破的全面成长</a:t>
            </a:r>
            <a:r>
              <a:rPr lang="zh-CN" altLang="en-US" sz="1400" dirty="0" smtClean="0"/>
              <a:t>。不仅</a:t>
            </a:r>
            <a:r>
              <a:rPr lang="zh-CN" altLang="en-US" sz="1400" dirty="0"/>
              <a:t>将过往经验与行业前沿方法论有机结合，主导完成 </a:t>
            </a:r>
            <a:r>
              <a:rPr lang="en-US" altLang="zh-CN" sz="1400" dirty="0"/>
              <a:t>MO </a:t>
            </a:r>
            <a:r>
              <a:rPr lang="zh-CN" altLang="en-US" sz="1400" dirty="0"/>
              <a:t>和 </a:t>
            </a:r>
            <a:r>
              <a:rPr lang="en-US" altLang="zh-CN" sz="1400" dirty="0"/>
              <a:t>DG </a:t>
            </a:r>
            <a:r>
              <a:rPr lang="zh-CN" altLang="en-US" sz="1400" dirty="0"/>
              <a:t>领域的全流程梳理与搭建</a:t>
            </a:r>
            <a:r>
              <a:rPr lang="zh-CN" altLang="en-US" sz="1400" dirty="0" smtClean="0"/>
              <a:t>，还</a:t>
            </a:r>
            <a:r>
              <a:rPr lang="zh-CN" altLang="en-US" sz="1400" dirty="0"/>
              <a:t>通过 “流程 </a:t>
            </a:r>
            <a:r>
              <a:rPr lang="en-US" altLang="zh-CN" sz="1400" dirty="0"/>
              <a:t>+ IT” </a:t>
            </a:r>
            <a:r>
              <a:rPr lang="zh-CN" altLang="en-US" sz="1400" dirty="0"/>
              <a:t>双轮驱动模式，推动流程数字化转型。在这一过程中，我不仅强化了流程落地效果，更在流程数字化管理、跨领域协作等方面获得新突破，形成了对流程全生命周期管理的系统性认知，为未来持续优化企业流程运营体系、推动业务高效运转奠定了坚实基础。</a:t>
            </a:r>
          </a:p>
        </p:txBody>
      </p:sp>
    </p:spTree>
    <p:extLst>
      <p:ext uri="{BB962C8B-B14F-4D97-AF65-F5344CB8AC3E}">
        <p14:creationId xmlns:p14="http://schemas.microsoft.com/office/powerpoint/2010/main" val="13288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760" y="260648"/>
            <a:ext cx="8229600" cy="634082"/>
          </a:xfrm>
        </p:spPr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4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en-US" altLang="zh-CN" dirty="0">
                <a:solidFill>
                  <a:srgbClr val="E60033"/>
                </a:solidFill>
                <a:cs typeface="+mn-ea"/>
              </a:rPr>
              <a:t>25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年下半年的绩效承诺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238760" y="6068318"/>
            <a:ext cx="537845" cy="241300"/>
          </a:xfrm>
        </p:spPr>
        <p:txBody>
          <a:bodyPr/>
          <a:lstStyle/>
          <a:p>
            <a:fld id="{E1C1B161-4EA0-4354-A154-2430C001F00B}" type="slidenum">
              <a:rPr lang="zh-CN" altLang="en-US" smtClean="0"/>
              <a:t>6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60667"/>
              </p:ext>
            </p:extLst>
          </p:nvPr>
        </p:nvGraphicFramePr>
        <p:xfrm>
          <a:off x="323528" y="980728"/>
          <a:ext cx="8507288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7288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核心目标</a:t>
                      </a:r>
                      <a:endParaRPr lang="zh-CN" alt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rgbClr val="1F2329"/>
                          </a:solidFill>
                          <a:latin typeface="Inter"/>
                        </a:rPr>
                        <a:t>在市场竞争加剧、技术快速迭代背景下，聚焦 </a:t>
                      </a:r>
                      <a:r>
                        <a:rPr lang="en-US" altLang="zh-CN" dirty="0" smtClean="0">
                          <a:solidFill>
                            <a:srgbClr val="1F2329"/>
                          </a:solidFill>
                          <a:latin typeface="Inter"/>
                        </a:rPr>
                        <a:t>V1.0 </a:t>
                      </a:r>
                      <a:r>
                        <a:rPr lang="zh-CN" altLang="en-US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流程落地，实现 “流程被执行” 与 “业务有改善”，发挥流程专家价值，助力公司发展。</a:t>
                      </a:r>
                      <a:endParaRPr lang="en-US" altLang="zh-CN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71837"/>
              </p:ext>
            </p:extLst>
          </p:nvPr>
        </p:nvGraphicFramePr>
        <p:xfrm>
          <a:off x="323528" y="2132856"/>
          <a:ext cx="850728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3096344"/>
                <a:gridCol w="2746649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zh-CN" altLang="en-US" dirty="0" smtClean="0"/>
                        <a:t>关键行动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流程执行推动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/>
                        <a:t>业务改善促进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/>
                        <a:t>深化专家角色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深度协同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：通过每周例会加强进度跟踪与计划拉齐​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精准赋能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：继续推动流程宣贯，培训覆盖率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100%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，掌握率≥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80%​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智能监控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：搭建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平台做到流程执行情况能够实时追踪，月度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/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季度看板数据自动生成</a:t>
                      </a: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 smtClean="0"/>
                        <a:t>指标牵引</a:t>
                      </a:r>
                      <a:r>
                        <a:rPr lang="zh-CN" altLang="en-US" sz="1600" dirty="0" smtClean="0"/>
                        <a:t>：协同制定流程关键指标（如 </a:t>
                      </a:r>
                      <a:r>
                        <a:rPr lang="en-US" altLang="zh-CN" sz="1600" dirty="0" smtClean="0"/>
                        <a:t>MO </a:t>
                      </a:r>
                      <a:r>
                        <a:rPr lang="zh-CN" altLang="en-US" sz="1600" dirty="0" smtClean="0"/>
                        <a:t>效率提升</a:t>
                      </a:r>
                      <a:r>
                        <a:rPr lang="en-US" altLang="zh-CN" sz="1600" dirty="0" smtClean="0"/>
                        <a:t>20%</a:t>
                      </a:r>
                      <a:r>
                        <a:rPr lang="zh-CN" altLang="en-US" sz="1600" dirty="0" smtClean="0"/>
                        <a:t>、</a:t>
                      </a:r>
                      <a:r>
                        <a:rPr lang="en-US" altLang="zh-CN" sz="1600" dirty="0" smtClean="0"/>
                        <a:t>DG</a:t>
                      </a:r>
                      <a:r>
                        <a:rPr lang="zh-CN" altLang="en-US" sz="1600" dirty="0" smtClean="0"/>
                        <a:t>活动开展质量合格率≥</a:t>
                      </a:r>
                      <a:r>
                        <a:rPr lang="en-US" altLang="zh-CN" sz="1600" dirty="0" smtClean="0"/>
                        <a:t>95%</a:t>
                      </a:r>
                      <a:r>
                        <a:rPr lang="zh-CN" altLang="en-US" sz="1600" dirty="0" smtClean="0"/>
                        <a:t>等），进行月度季度跟踪与分析​</a:t>
                      </a:r>
                    </a:p>
                    <a:p>
                      <a:r>
                        <a:rPr lang="zh-CN" altLang="en-US" sz="1600" b="1" dirty="0" smtClean="0"/>
                        <a:t>闭环优化</a:t>
                      </a:r>
                      <a:r>
                        <a:rPr lang="zh-CN" altLang="en-US" sz="1600" dirty="0" smtClean="0"/>
                        <a:t>：季度研讨流程，</a:t>
                      </a:r>
                      <a:r>
                        <a:rPr lang="en-US" altLang="zh-CN" sz="1600" dirty="0" smtClean="0"/>
                        <a:t>1 </a:t>
                      </a:r>
                      <a:r>
                        <a:rPr lang="zh-CN" altLang="en-US" sz="1600" dirty="0" smtClean="0"/>
                        <a:t>个月内完成调整，</a:t>
                      </a:r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个月跟踪效果​</a:t>
                      </a:r>
                    </a:p>
                    <a:p>
                      <a:r>
                        <a:rPr lang="zh-CN" altLang="en-US" sz="1600" b="1" dirty="0" smtClean="0"/>
                        <a:t>标杆复制</a:t>
                      </a:r>
                      <a:r>
                        <a:rPr lang="zh-CN" altLang="en-US" sz="1600" dirty="0" smtClean="0"/>
                        <a:t>：每季度至少输出 </a:t>
                      </a:r>
                      <a:r>
                        <a:rPr lang="en-US" altLang="zh-CN" sz="1600" dirty="0" smtClean="0"/>
                        <a:t>1-2 </a:t>
                      </a:r>
                      <a:r>
                        <a:rPr lang="zh-CN" altLang="en-US" sz="1600" dirty="0" smtClean="0"/>
                        <a:t>个标杆优秀案例</a:t>
                      </a:r>
                      <a:endParaRPr lang="en-US" altLang="zh-CN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 smtClean="0"/>
                        <a:t>跨域协同</a:t>
                      </a:r>
                      <a:r>
                        <a:rPr lang="zh-CN" altLang="en-US" sz="1600" dirty="0" smtClean="0"/>
                        <a:t>：每月参与≥</a:t>
                      </a:r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个流程内部探讨，输出专业建议​</a:t>
                      </a:r>
                    </a:p>
                    <a:p>
                      <a:r>
                        <a:rPr lang="zh-CN" altLang="en-US" sz="1600" b="1" dirty="0" smtClean="0"/>
                        <a:t>问题攻坚</a:t>
                      </a:r>
                      <a:r>
                        <a:rPr lang="zh-CN" altLang="en-US" sz="1600" dirty="0" smtClean="0"/>
                        <a:t>：每周至少</a:t>
                      </a:r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次深入一线业务对话，了解流程痛点与执行效果，同时答疑解惑。​</a:t>
                      </a:r>
                    </a:p>
                    <a:p>
                      <a:r>
                        <a:rPr lang="zh-CN" altLang="en-US" sz="1600" b="1" dirty="0" smtClean="0"/>
                        <a:t>知识共享</a:t>
                      </a:r>
                      <a:r>
                        <a:rPr lang="zh-CN" altLang="en-US" sz="1600" dirty="0" smtClean="0"/>
                        <a:t>：每季度 至少</a:t>
                      </a:r>
                      <a:r>
                        <a:rPr lang="en-US" altLang="zh-CN" sz="1600" dirty="0" smtClean="0"/>
                        <a:t>1 </a:t>
                      </a:r>
                      <a:r>
                        <a:rPr lang="zh-CN" altLang="en-US" sz="1600" dirty="0" smtClean="0"/>
                        <a:t>次流程知识分享（内部或外部）</a:t>
                      </a:r>
                      <a:endParaRPr lang="en-US" altLang="zh-CN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14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041" y="260648"/>
            <a:ext cx="8229600" cy="634082"/>
          </a:xfrm>
        </p:spPr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cs typeface="+mn-ea"/>
              </a:rPr>
              <a:t>对部门或业务的建议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7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490710"/>
              </p:ext>
            </p:extLst>
          </p:nvPr>
        </p:nvGraphicFramePr>
        <p:xfrm>
          <a:off x="216041" y="911160"/>
          <a:ext cx="8725728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863"/>
                <a:gridCol w="2209529"/>
                <a:gridCol w="3024336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zh-CN" altLang="en-US" dirty="0" smtClean="0"/>
                        <a:t>对部门及业务，个人建议如下：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流程管理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/>
                        <a:t>项目组管理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数字化建设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fontAlgn="auto"/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、推动建立覆盖全业务链条的整体流程框架，将分散的业务流程纳入统一管理体系，打破流程间的孤岛状态，实现各流程在框架内的有序衔接；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auto"/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、系统梳理并明确各流程的上下游关系，清晰界定每个流程的输入内容（如前置流程的成果、相关数据信息等）和输出成果（如为后续流程提供的资料、决策依据等），确保流程间的协作有章可循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auto"/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构建流程持续优化改进机制，定期组织各业务环节对流程运行情况进行复盘，结合实际业务需求和外部环境变化，及时发现流程中的堵点与不足并加以调整，通过制定优化计划、明确责任主体、跟踪改进效果等方式，让流程管理工作常态化推进，切实提升部门整体业务运行效率与协同质量。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为提升流程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PO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参与度，通过建立激励机制、简化流程、强化价值共识的同时，建议从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MTCV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整个流程建设层面，针对一些重要的话题和业务问题，组织对应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PO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通过线下沟通会的形式面对面沟通，加强互动，增进了解，充分调动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PO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参与流程建设的积极性，形成 “减负提效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+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系统赋能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+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全员协同” 的良性循环。</a:t>
                      </a:r>
                      <a:endParaRPr lang="zh-CN" altLang="en-US" sz="1600" b="0" i="0" dirty="0" smtClean="0">
                        <a:solidFill>
                          <a:srgbClr val="1F2329"/>
                        </a:solidFill>
                        <a:effectLst/>
                        <a:latin typeface="Inter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目前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V1.0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流程已发布，各流程组提出的碎片化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需求也在逐步上线，虽取得了阶段性成果，但这些 “打补丁” 式的工作未能从根本上解决端到端流程执行效率低、用户体验欠佳、数据标准化不足等问题。因此，建议待现有流程运转成熟后，统筹规划并统一建立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MTCV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流程建设的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项目，通过端到端的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系统化数字化建设，对所有流程进行全面整合与重构，打破碎片化建设带来的局限，实现流程的高效协同、数据的规范统一以及用户体验的显著提升，从根源上提升流程管理的整体效能。</a:t>
                      </a: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39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" y="0"/>
            <a:ext cx="9142730" cy="6856644"/>
          </a:xfrm>
          <a:prstGeom prst="rect">
            <a:avLst/>
          </a:prstGeom>
          <a:noFill/>
        </p:spPr>
      </p:pic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3635896" y="1935694"/>
            <a:ext cx="5098799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rgbClr val="E60033"/>
                </a:solidFill>
                <a:ea typeface="微软雅黑" panose="020B0503020204020204" pitchFamily="34" charset="-122"/>
                <a:cs typeface="+mn-ea"/>
              </a:rPr>
              <a:t>THANKS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35896" y="2610381"/>
            <a:ext cx="5259943" cy="1466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锐捷网络股份有限公司</a:t>
            </a:r>
            <a:endParaRPr lang="en-US" altLang="zh-CN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地址：北京海淀区复兴路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29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号中意鹏奥大厦东塔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座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11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层   邮编：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100036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Office Tel: 010-5171 5999     Fax: 010-5171 5872</a:t>
            </a:r>
          </a:p>
          <a:p>
            <a:pPr eaLnBrk="1" hangingPunct="1">
              <a:lnSpc>
                <a:spcPct val="150000"/>
              </a:lnSpc>
            </a:pP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www.ruijie.com.cn 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8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pic>
        <p:nvPicPr>
          <p:cNvPr id="4" name="图片 3" descr="组 13 拷贝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2215" y="1545590"/>
            <a:ext cx="5596890" cy="3184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与场景亲密接触</a:t>
            </a:r>
            <a:endParaRPr lang="en-US" altLang="zh-CN" sz="1400" dirty="0">
              <a:solidFill>
                <a:schemeClr val="bg1"/>
              </a:solidFill>
              <a:cs typeface="+mn-ea"/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做方案创新专家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wNDA3MDQzYTc3NDEzNzFkMDFmZDJkM2M2YzQzN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SO0000400332" val="OLDID"/>
  <p:tag name="ESE00001" val="{&quot;index&quot;:1,&quot;name&quot;:null,&quot;color&quot;:0,&quot;uid&quot;:1,&quot;displayname&quot;:&quot;组 3&quot;,&quot;abstypecode&quot;:0,&quot;spid&quot;:4,&quot;nativeid&quot;:10,&quot;isexit&quot;:0,&quot;bhvcode&quot;:&quot;spcc&quot;,&quot;oindex&quot;:1,&quot;autoReverse&quot;:false,&quot;isClickTriggered&quot;:false,&quot;rangedatastart&quot;:0.0,&quot;rangedataend&quot;:1.10000002384185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SO0000400332" val="OLDID"/>
  <p:tag name="ESE00001" val="{&quot;index&quot;:1,&quot;name&quot;:null,&quot;color&quot;:0,&quot;uid&quot;:1,&quot;displayname&quot;:&quot;组 3&quot;,&quot;abstypecode&quot;:0,&quot;spid&quot;:4,&quot;nativeid&quot;:10,&quot;isexit&quot;:0,&quot;bhvcode&quot;:&quot;spcc&quot;,&quot;oindex&quot;:1,&quot;autoReverse&quot;:false,&quot;isClickTriggered&quot;:false,&quot;rangedatastart&quot;:0.0,&quot;rangedataend&quot;:1.100000023841857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qomxa5u">
      <a:majorFont>
        <a:latin typeface=""/>
        <a:ea typeface="微软雅黑 Light"/>
        <a:cs typeface=""/>
      </a:majorFont>
      <a:minorFont>
        <a:latin typeface="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3644</TotalTime>
  <Words>1467</Words>
  <Application>Microsoft Office PowerPoint</Application>
  <PresentationFormat>全屏显示(4:3)</PresentationFormat>
  <Paragraphs>127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Alibaba PuHuiTi Medium</vt:lpstr>
      <vt:lpstr>Inter</vt:lpstr>
      <vt:lpstr>仿宋</vt:lpstr>
      <vt:lpstr>宋体</vt:lpstr>
      <vt:lpstr>微软雅黑</vt:lpstr>
      <vt:lpstr>微软雅黑 Light</vt:lpstr>
      <vt:lpstr>Arial</vt:lpstr>
      <vt:lpstr>Calibri</vt:lpstr>
      <vt:lpstr>Office 主题</vt:lpstr>
      <vt:lpstr>试用期员工转正答辩</vt:lpstr>
      <vt:lpstr>PowerPoint 演示文稿</vt:lpstr>
      <vt:lpstr>1、试用期目标及达成情况</vt:lpstr>
      <vt:lpstr>2、工作中的亮点、机会点</vt:lpstr>
      <vt:lpstr>3、试用期期间的经验与能力提升</vt:lpstr>
      <vt:lpstr>4、25年下半年的绩效承诺</vt:lpstr>
      <vt:lpstr>5、对部门或业务的建议</vt:lpstr>
      <vt:lpstr>PowerPoint 演示文稿</vt:lpstr>
    </vt:vector>
  </TitlesOfParts>
  <Company>锐捷网络股份有限公司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2018公司PPT模版</dc:title>
  <dc:creator>林士扬(HR 北京)</dc:creator>
  <cp:lastModifiedBy>Lenovo</cp:lastModifiedBy>
  <cp:revision>425</cp:revision>
  <dcterms:created xsi:type="dcterms:W3CDTF">2018-01-30T14:18:00Z</dcterms:created>
  <dcterms:modified xsi:type="dcterms:W3CDTF">2025-07-16T09:55:26Z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7FC3DE202B1E413C95DB8359213743D9</vt:lpwstr>
  </property>
</Properties>
</file>