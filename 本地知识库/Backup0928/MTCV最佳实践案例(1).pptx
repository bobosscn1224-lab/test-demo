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6858000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EA4"/>
    <a:srgbClr val="EFC487"/>
    <a:srgbClr val="630305"/>
    <a:srgbClr val="DCCDA5"/>
    <a:srgbClr val="4C240F"/>
    <a:srgbClr val="44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3" autoAdjust="0"/>
    <p:restoredTop sz="94692"/>
  </p:normalViewPr>
  <p:slideViewPr>
    <p:cSldViewPr snapToGrid="0">
      <p:cViewPr varScale="1">
        <p:scale>
          <a:sx n="51" d="100"/>
          <a:sy n="51" d="100"/>
        </p:scale>
        <p:origin x="56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7DDE-CFF2-244C-8189-1D6B56C32BD8}" type="datetimeFigureOut">
              <a:rPr kumimoji="1" lang="zh-CN" altLang="en-US" smtClean="0"/>
              <a:t>2025/8/6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1143000"/>
            <a:ext cx="996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4E162-6C39-EE43-BD8D-D898BC6629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5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476208"/>
            <a:ext cx="5829300" cy="739492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156312"/>
            <a:ext cx="5143500" cy="51282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9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295443"/>
            <a:ext cx="5915025" cy="883556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214591"/>
            <a:ext cx="5915025" cy="46464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3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30878"/>
            <a:ext cx="5915025" cy="410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06935"/>
            <a:ext cx="2901255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758774"/>
            <a:ext cx="2901255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06935"/>
            <a:ext cx="2915543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758774"/>
            <a:ext cx="2915543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2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058279"/>
            <a:ext cx="3471863" cy="150947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5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058279"/>
            <a:ext cx="3471863" cy="15094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2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30873"/>
            <a:ext cx="1478756" cy="180005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30873"/>
            <a:ext cx="4350544" cy="180005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30878"/>
            <a:ext cx="5915025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654366"/>
            <a:ext cx="5915025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31A-0CFF-41AA-B263-2F568EF76ECA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9687033"/>
            <a:ext cx="231457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480F280-FE05-5E3D-70E7-B87EFA611D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858000" cy="212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740646"/>
            <a:ext cx="6857999" cy="1688524"/>
            <a:chOff x="0" y="880346"/>
            <a:chExt cx="6857999" cy="1688524"/>
          </a:xfrm>
        </p:grpSpPr>
        <p:sp>
          <p:nvSpPr>
            <p:cNvPr id="4" name="矩形 3"/>
            <p:cNvSpPr/>
            <p:nvPr/>
          </p:nvSpPr>
          <p:spPr>
            <a:xfrm>
              <a:off x="0" y="880346"/>
              <a:ext cx="6857999" cy="1659654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6049" y="962276"/>
              <a:ext cx="6765900" cy="1606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MTCV</a:t>
              </a:r>
              <a:r>
                <a:rPr lang="zh-CN" altLang="en-US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流程实践</a:t>
              </a:r>
              <a:r>
                <a:rPr lang="zh-CN" altLang="en-US" sz="5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  <a:endPara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M1.1 DSTE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战略洞察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—EDN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事业部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389835" y="2878906"/>
            <a:ext cx="41745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EDN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战略洞察实践成果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0204" y="3519925"/>
            <a:ext cx="3296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EDN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洞察数据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90204" y="3889257"/>
            <a:ext cx="61883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洞察开题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个，同比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115%</a:t>
            </a:r>
            <a:endParaRPr lang="en-US" altLang="zh-CN" sz="20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洞察结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同比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endParaRPr lang="en-US" altLang="zh-CN" sz="20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高质量洞察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（结题评审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分及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以上）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结题时长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1.34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个月，同比</a:t>
            </a:r>
            <a:r>
              <a:rPr lang="zh-CN" altLang="en-US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提速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</a:p>
        </p:txBody>
      </p:sp>
      <p:sp>
        <p:nvSpPr>
          <p:cNvPr id="12" name="矩形 11"/>
          <p:cNvSpPr/>
          <p:nvPr/>
        </p:nvSpPr>
        <p:spPr>
          <a:xfrm>
            <a:off x="821427" y="6521160"/>
            <a:ext cx="54056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EDN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事业部是如何实践流程的？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2268" y="2752670"/>
            <a:ext cx="6563331" cy="3340100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42268" y="6296527"/>
            <a:ext cx="6563331" cy="7649634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7" y="7207457"/>
            <a:ext cx="6594283" cy="1087204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90501" y="8497679"/>
            <a:ext cx="6667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题评审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全员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开题标准模板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提高整体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开题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endParaRPr lang="en-US" altLang="zh-CN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主管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把关开题质量，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SP/BP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等具有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重大意义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课题开题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开题人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接题人对标清楚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 what how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67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的课题采用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联合开题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，与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协作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发挥各自优势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，分工明确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2267" y="10455023"/>
            <a:ext cx="65633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开展六看：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高效使用</a:t>
            </a:r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（销售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锐捷小锐），显著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提升信息获取检索率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，锐捷小锐提升提取核心信息效率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联合洞察发挥各部门优势，六看选取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该领域专家，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力出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一孔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降低解题时长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必包含“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”至少一条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90501" y="12412367"/>
            <a:ext cx="6388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结题评审：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战略洞察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，结题报告评审标准中，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洞察没有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结论，绝不放行！</a:t>
            </a:r>
            <a:endParaRPr lang="en-US" altLang="zh-CN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过去的“知识扫盲”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到真正的“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辅助决策、指引行动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10177" y="14356470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流程使用者反馈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9568" y="14149178"/>
            <a:ext cx="6563331" cy="5499231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12016" y="14818135"/>
            <a:ext cx="6436334" cy="4728072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17499" y="15021892"/>
            <a:ext cx="6388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林鹏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（部门主管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开题人）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SP/BP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的五看为目标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提前规划开题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，将洞察工作计划性的落到每个季度管理，避免了开题的临时性和结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题仓促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协同开题与解题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，一些课题是由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战略研究员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技术专家等共同参与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，比以前各部门各自开题，既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提高了效率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了洞察课题的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广度和深度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顾峰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（接题人）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今年感觉做洞察，有了系统，让我们更直观的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看到进展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看到异常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，能及时调整时间安排。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很多指导书、模板内嵌到系统，我们用的时候更方便也更清晰，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不需要再到处找或者自己做模板了</a:t>
            </a:r>
            <a:endParaRPr lang="en-US" altLang="zh-CN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今年我们对评委的评审标准更清晰，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知道什么样的结题是部门需要的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，解题的时候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更有方向感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，结的题得到部门认可，也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很有成就感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17" y="19874156"/>
            <a:ext cx="689688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《DSTE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战略洞察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-END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事业部实践案例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案例详情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书云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文档：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-&gt;MTCV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流程实践案例库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://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ruijie.feishu.cn/wiki/Yy0qwlHiriX0bikxRiBcFqeynJd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13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4346</TotalTime>
  <Words>502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95</cp:revision>
  <dcterms:created xsi:type="dcterms:W3CDTF">2025-07-30T10:15:34Z</dcterms:created>
  <dcterms:modified xsi:type="dcterms:W3CDTF">2025-08-07T07:46:54Z</dcterms:modified>
</cp:coreProperties>
</file>