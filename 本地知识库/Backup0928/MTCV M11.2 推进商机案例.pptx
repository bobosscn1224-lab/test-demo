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3"/>
  </p:notesMasterIdLst>
  <p:sldIdLst>
    <p:sldId id="257" r:id="rId2"/>
  </p:sldIdLst>
  <p:sldSz cx="6858000" cy="212407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CEA4"/>
    <a:srgbClr val="EFC487"/>
    <a:srgbClr val="630305"/>
    <a:srgbClr val="DCCDA5"/>
    <a:srgbClr val="4C240F"/>
    <a:srgbClr val="4403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23" autoAdjust="0"/>
    <p:restoredTop sz="94692"/>
  </p:normalViewPr>
  <p:slideViewPr>
    <p:cSldViewPr snapToGrid="0">
      <p:cViewPr>
        <p:scale>
          <a:sx n="60" d="100"/>
          <a:sy n="60" d="100"/>
        </p:scale>
        <p:origin x="205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377DDE-CFF2-244C-8189-1D6B56C32BD8}" type="datetimeFigureOut">
              <a:rPr kumimoji="1" lang="zh-CN" altLang="en-US" smtClean="0"/>
              <a:t>2025/9/23</a:t>
            </a:fld>
            <a:endParaRPr kumimoji="1" lang="zh-CN" altLang="en-US"/>
          </a:p>
        </p:txBody>
      </p:sp>
      <p:sp>
        <p:nvSpPr>
          <p:cNvPr id="4" name="幻灯片图像占位符 3"/>
          <p:cNvSpPr>
            <a:spLocks noGrp="1" noRot="1" noChangeAspect="1"/>
          </p:cNvSpPr>
          <p:nvPr>
            <p:ph type="sldImg" idx="2"/>
          </p:nvPr>
        </p:nvSpPr>
        <p:spPr>
          <a:xfrm>
            <a:off x="2930525" y="1143000"/>
            <a:ext cx="99695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04E162-6C39-EE43-BD8D-D898BC6629C2}" type="slidenum">
              <a:rPr kumimoji="1" lang="zh-CN" altLang="en-US" smtClean="0"/>
              <a:t>‹#›</a:t>
            </a:fld>
            <a:endParaRPr kumimoji="1" lang="zh-CN" altLang="en-US"/>
          </a:p>
        </p:txBody>
      </p:sp>
    </p:spTree>
    <p:extLst>
      <p:ext uri="{BB962C8B-B14F-4D97-AF65-F5344CB8AC3E}">
        <p14:creationId xmlns:p14="http://schemas.microsoft.com/office/powerpoint/2010/main" val="322957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514350" y="3476208"/>
            <a:ext cx="5829300" cy="7394928"/>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857250" y="11156312"/>
            <a:ext cx="5143500" cy="512826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D66731A-0CFF-41AA-B263-2F568EF76ECA}" type="datetimeFigureOut">
              <a:rPr lang="zh-CN" altLang="en-US" smtClean="0"/>
              <a:t>2025/9/23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8A00BE3-7C18-43EA-9DA8-403EA307222F}" type="slidenum">
              <a:rPr lang="zh-CN" altLang="en-US" smtClean="0"/>
              <a:t>‹#›</a:t>
            </a:fld>
            <a:endParaRPr lang="zh-CN" altLang="en-US"/>
          </a:p>
        </p:txBody>
      </p:sp>
    </p:spTree>
    <p:extLst>
      <p:ext uri="{BB962C8B-B14F-4D97-AF65-F5344CB8AC3E}">
        <p14:creationId xmlns:p14="http://schemas.microsoft.com/office/powerpoint/2010/main" val="3624208020"/>
      </p:ext>
    </p:extLst>
  </p:cSld>
  <p:clrMapOvr>
    <a:masterClrMapping/>
  </p:clrMapOvr>
  <p:extLst>
    <p:ext uri="{DCECCB84-F9BA-43D5-87BE-67443E8EF086}">
      <p15:sldGuideLst xmlns:p15="http://schemas.microsoft.com/office/powerpoint/2012/main">
        <p15:guide id="1" orient="horz" pos="6691"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D66731A-0CFF-41AA-B263-2F568EF76ECA}" type="datetimeFigureOut">
              <a:rPr lang="zh-CN" altLang="en-US" smtClean="0"/>
              <a:t>2025/9/23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8A00BE3-7C18-43EA-9DA8-403EA307222F}" type="slidenum">
              <a:rPr lang="zh-CN" altLang="en-US" smtClean="0"/>
              <a:t>‹#›</a:t>
            </a:fld>
            <a:endParaRPr lang="zh-CN" altLang="en-US"/>
          </a:p>
        </p:txBody>
      </p:sp>
    </p:spTree>
    <p:extLst>
      <p:ext uri="{BB962C8B-B14F-4D97-AF65-F5344CB8AC3E}">
        <p14:creationId xmlns:p14="http://schemas.microsoft.com/office/powerpoint/2010/main" val="213636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467916" y="5295443"/>
            <a:ext cx="5915025" cy="8835560"/>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467916" y="14214591"/>
            <a:ext cx="5915025" cy="4646413"/>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D66731A-0CFF-41AA-B263-2F568EF76ECA}" type="datetimeFigureOut">
              <a:rPr lang="zh-CN" altLang="en-US" smtClean="0"/>
              <a:t>2025/9/23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8A00BE3-7C18-43EA-9DA8-403EA307222F}" type="slidenum">
              <a:rPr lang="zh-CN" altLang="en-US" smtClean="0"/>
              <a:t>‹#›</a:t>
            </a:fld>
            <a:endParaRPr lang="zh-CN" altLang="en-US"/>
          </a:p>
        </p:txBody>
      </p:sp>
    </p:spTree>
    <p:extLst>
      <p:ext uri="{BB962C8B-B14F-4D97-AF65-F5344CB8AC3E}">
        <p14:creationId xmlns:p14="http://schemas.microsoft.com/office/powerpoint/2010/main" val="835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471488" y="5654366"/>
            <a:ext cx="2914650" cy="1347706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3471863" y="5654366"/>
            <a:ext cx="2914650" cy="1347706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4D66731A-0CFF-41AA-B263-2F568EF76ECA}" type="datetimeFigureOut">
              <a:rPr lang="zh-CN" altLang="en-US" smtClean="0"/>
              <a:t>2025/9/23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8A00BE3-7C18-43EA-9DA8-403EA307222F}" type="slidenum">
              <a:rPr lang="zh-CN" altLang="en-US" smtClean="0"/>
              <a:t>‹#›</a:t>
            </a:fld>
            <a:endParaRPr lang="zh-CN" altLang="en-US"/>
          </a:p>
        </p:txBody>
      </p:sp>
    </p:spTree>
    <p:extLst>
      <p:ext uri="{BB962C8B-B14F-4D97-AF65-F5344CB8AC3E}">
        <p14:creationId xmlns:p14="http://schemas.microsoft.com/office/powerpoint/2010/main" val="4120355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72381" y="1130878"/>
            <a:ext cx="5915025" cy="410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472381" y="5206935"/>
            <a:ext cx="2901255" cy="255183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472381" y="7758774"/>
            <a:ext cx="2901255" cy="114119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3471863" y="5206935"/>
            <a:ext cx="2915543" cy="255183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3471863" y="7758774"/>
            <a:ext cx="2915543" cy="114119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4D66731A-0CFF-41AA-B263-2F568EF76ECA}" type="datetimeFigureOut">
              <a:rPr lang="zh-CN" altLang="en-US" smtClean="0"/>
              <a:t>2025/9/23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88A00BE3-7C18-43EA-9DA8-403EA307222F}" type="slidenum">
              <a:rPr lang="zh-CN" altLang="en-US" smtClean="0"/>
              <a:t>‹#›</a:t>
            </a:fld>
            <a:endParaRPr lang="zh-CN" altLang="en-US"/>
          </a:p>
        </p:txBody>
      </p:sp>
    </p:spTree>
    <p:extLst>
      <p:ext uri="{BB962C8B-B14F-4D97-AF65-F5344CB8AC3E}">
        <p14:creationId xmlns:p14="http://schemas.microsoft.com/office/powerpoint/2010/main" val="2044939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D66731A-0CFF-41AA-B263-2F568EF76ECA}" type="datetimeFigureOut">
              <a:rPr lang="zh-CN" altLang="en-US" smtClean="0"/>
              <a:t>2025/9/23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88A00BE3-7C18-43EA-9DA8-403EA307222F}" type="slidenum">
              <a:rPr lang="zh-CN" altLang="en-US" smtClean="0"/>
              <a:t>‹#›</a:t>
            </a:fld>
            <a:endParaRPr lang="zh-CN" altLang="en-US"/>
          </a:p>
        </p:txBody>
      </p:sp>
    </p:spTree>
    <p:extLst>
      <p:ext uri="{BB962C8B-B14F-4D97-AF65-F5344CB8AC3E}">
        <p14:creationId xmlns:p14="http://schemas.microsoft.com/office/powerpoint/2010/main" val="851876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66731A-0CFF-41AA-B263-2F568EF76ECA}" type="datetimeFigureOut">
              <a:rPr lang="zh-CN" altLang="en-US" smtClean="0"/>
              <a:t>2025/9/23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88A00BE3-7C18-43EA-9DA8-403EA307222F}" type="slidenum">
              <a:rPr lang="zh-CN" altLang="en-US" smtClean="0"/>
              <a:t>‹#›</a:t>
            </a:fld>
            <a:endParaRPr lang="zh-CN" altLang="en-US"/>
          </a:p>
        </p:txBody>
      </p:sp>
    </p:spTree>
    <p:extLst>
      <p:ext uri="{BB962C8B-B14F-4D97-AF65-F5344CB8AC3E}">
        <p14:creationId xmlns:p14="http://schemas.microsoft.com/office/powerpoint/2010/main" val="1012128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1416050"/>
            <a:ext cx="2211884" cy="4956175"/>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2915543" y="3058279"/>
            <a:ext cx="3471863" cy="150947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472381" y="6372225"/>
            <a:ext cx="2211884" cy="11805335"/>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D66731A-0CFF-41AA-B263-2F568EF76ECA}" type="datetimeFigureOut">
              <a:rPr lang="zh-CN" altLang="en-US" smtClean="0"/>
              <a:t>2025/9/23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8A00BE3-7C18-43EA-9DA8-403EA307222F}" type="slidenum">
              <a:rPr lang="zh-CN" altLang="en-US" smtClean="0"/>
              <a:t>‹#›</a:t>
            </a:fld>
            <a:endParaRPr lang="zh-CN" altLang="en-US"/>
          </a:p>
        </p:txBody>
      </p:sp>
    </p:spTree>
    <p:extLst>
      <p:ext uri="{BB962C8B-B14F-4D97-AF65-F5344CB8AC3E}">
        <p14:creationId xmlns:p14="http://schemas.microsoft.com/office/powerpoint/2010/main" val="1386359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1416050"/>
            <a:ext cx="2211884" cy="4956175"/>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915543" y="3058279"/>
            <a:ext cx="3471863" cy="15094700"/>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472381" y="6372225"/>
            <a:ext cx="2211884" cy="11805335"/>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D66731A-0CFF-41AA-B263-2F568EF76ECA}" type="datetimeFigureOut">
              <a:rPr lang="zh-CN" altLang="en-US" smtClean="0"/>
              <a:t>2025/9/23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8A00BE3-7C18-43EA-9DA8-403EA307222F}" type="slidenum">
              <a:rPr lang="zh-CN" altLang="en-US" smtClean="0"/>
              <a:t>‹#›</a:t>
            </a:fld>
            <a:endParaRPr lang="zh-CN" altLang="en-US"/>
          </a:p>
        </p:txBody>
      </p:sp>
    </p:spTree>
    <p:extLst>
      <p:ext uri="{BB962C8B-B14F-4D97-AF65-F5344CB8AC3E}">
        <p14:creationId xmlns:p14="http://schemas.microsoft.com/office/powerpoint/2010/main" val="3407224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D66731A-0CFF-41AA-B263-2F568EF76ECA}" type="datetimeFigureOut">
              <a:rPr lang="zh-CN" altLang="en-US" smtClean="0"/>
              <a:t>2025/9/23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8A00BE3-7C18-43EA-9DA8-403EA307222F}" type="slidenum">
              <a:rPr lang="zh-CN" altLang="en-US" smtClean="0"/>
              <a:t>‹#›</a:t>
            </a:fld>
            <a:endParaRPr lang="zh-CN" altLang="en-US"/>
          </a:p>
        </p:txBody>
      </p:sp>
    </p:spTree>
    <p:extLst>
      <p:ext uri="{BB962C8B-B14F-4D97-AF65-F5344CB8AC3E}">
        <p14:creationId xmlns:p14="http://schemas.microsoft.com/office/powerpoint/2010/main" val="3397714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1130873"/>
            <a:ext cx="1478756" cy="1800055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71488" y="1130873"/>
            <a:ext cx="4350544" cy="18000554"/>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D66731A-0CFF-41AA-B263-2F568EF76ECA}" type="datetimeFigureOut">
              <a:rPr lang="zh-CN" altLang="en-US" smtClean="0"/>
              <a:t>2025/9/23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8A00BE3-7C18-43EA-9DA8-403EA307222F}" type="slidenum">
              <a:rPr lang="zh-CN" altLang="en-US" smtClean="0"/>
              <a:t>‹#›</a:t>
            </a:fld>
            <a:endParaRPr lang="zh-CN" altLang="en-US"/>
          </a:p>
        </p:txBody>
      </p:sp>
    </p:spTree>
    <p:extLst>
      <p:ext uri="{BB962C8B-B14F-4D97-AF65-F5344CB8AC3E}">
        <p14:creationId xmlns:p14="http://schemas.microsoft.com/office/powerpoint/2010/main" val="2630266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1130878"/>
            <a:ext cx="5915025" cy="410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71488" y="5654366"/>
            <a:ext cx="5915025" cy="1347706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471487" y="19687033"/>
            <a:ext cx="1543050" cy="1130873"/>
          </a:xfrm>
          <a:prstGeom prst="rect">
            <a:avLst/>
          </a:prstGeom>
        </p:spPr>
        <p:txBody>
          <a:bodyPr vert="horz" lIns="91440" tIns="45720" rIns="91440" bIns="45720" rtlCol="0" anchor="ctr"/>
          <a:lstStyle>
            <a:lvl1pPr algn="l">
              <a:defRPr sz="900">
                <a:solidFill>
                  <a:schemeClr val="tx1">
                    <a:tint val="75000"/>
                  </a:schemeClr>
                </a:solidFill>
              </a:defRPr>
            </a:lvl1pPr>
          </a:lstStyle>
          <a:p>
            <a:fld id="{4D66731A-0CFF-41AA-B263-2F568EF76ECA}" type="datetimeFigureOut">
              <a:rPr lang="zh-CN" altLang="en-US" smtClean="0"/>
              <a:t>2025/9/23</a:t>
            </a:fld>
            <a:endParaRPr lang="zh-CN" altLang="en-US"/>
          </a:p>
        </p:txBody>
      </p:sp>
      <p:sp>
        <p:nvSpPr>
          <p:cNvPr id="5" name="Footer Placeholder 4"/>
          <p:cNvSpPr>
            <a:spLocks noGrp="1"/>
          </p:cNvSpPr>
          <p:nvPr>
            <p:ph type="ftr" sz="quarter" idx="3"/>
          </p:nvPr>
        </p:nvSpPr>
        <p:spPr>
          <a:xfrm>
            <a:off x="2271713" y="19687033"/>
            <a:ext cx="2314575" cy="113087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19687033"/>
            <a:ext cx="1543050" cy="1130873"/>
          </a:xfrm>
          <a:prstGeom prst="rect">
            <a:avLst/>
          </a:prstGeom>
        </p:spPr>
        <p:txBody>
          <a:bodyPr vert="horz" lIns="91440" tIns="45720" rIns="91440" bIns="45720" rtlCol="0" anchor="ctr"/>
          <a:lstStyle>
            <a:lvl1pPr algn="r">
              <a:defRPr sz="900">
                <a:solidFill>
                  <a:schemeClr val="tx1">
                    <a:tint val="75000"/>
                  </a:schemeClr>
                </a:solidFill>
              </a:defRPr>
            </a:lvl1pPr>
          </a:lstStyle>
          <a:p>
            <a:fld id="{88A00BE3-7C18-43EA-9DA8-403EA307222F}" type="slidenum">
              <a:rPr lang="zh-CN" altLang="en-US" smtClean="0"/>
              <a:t>‹#›</a:t>
            </a:fld>
            <a:endParaRPr lang="zh-CN" altLang="en-US"/>
          </a:p>
        </p:txBody>
      </p:sp>
      <p:pic>
        <p:nvPicPr>
          <p:cNvPr id="7" name="图片 6">
            <a:extLst>
              <a:ext uri="{FF2B5EF4-FFF2-40B4-BE49-F238E27FC236}">
                <a16:creationId xmlns:a16="http://schemas.microsoft.com/office/drawing/2014/main" xmlns="" id="{1480F280-FE05-5E3D-70E7-B87EFA611D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1"/>
            <a:ext cx="6858000" cy="21240750"/>
          </a:xfrm>
          <a:prstGeom prst="rect">
            <a:avLst/>
          </a:prstGeom>
        </p:spPr>
      </p:pic>
    </p:spTree>
    <p:extLst>
      <p:ext uri="{BB962C8B-B14F-4D97-AF65-F5344CB8AC3E}">
        <p14:creationId xmlns:p14="http://schemas.microsoft.com/office/powerpoint/2010/main" val="2583513955"/>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175020" y="15362006"/>
            <a:ext cx="6544959" cy="4644210"/>
          </a:xfrm>
          <a:prstGeom prst="rect">
            <a:avLst/>
          </a:prstGeom>
          <a:solidFill>
            <a:schemeClr val="tx1">
              <a:lumMod val="95000"/>
              <a:lumOff val="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0" y="54423"/>
            <a:ext cx="6857999" cy="1948108"/>
            <a:chOff x="0" y="880346"/>
            <a:chExt cx="6857999" cy="1948108"/>
          </a:xfrm>
        </p:grpSpPr>
        <p:sp>
          <p:nvSpPr>
            <p:cNvPr id="4" name="矩形 3"/>
            <p:cNvSpPr/>
            <p:nvPr/>
          </p:nvSpPr>
          <p:spPr>
            <a:xfrm>
              <a:off x="0" y="880346"/>
              <a:ext cx="6857999" cy="1948108"/>
            </a:xfrm>
            <a:prstGeom prst="rect">
              <a:avLst/>
            </a:prstGeom>
            <a:solidFill>
              <a:schemeClr val="tx1">
                <a:lumMod val="65000"/>
                <a:lumOff val="3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26604" y="939994"/>
              <a:ext cx="6765900" cy="1606594"/>
            </a:xfrm>
            <a:prstGeom prst="rect">
              <a:avLst/>
            </a:prstGeom>
            <a:noFill/>
          </p:spPr>
          <p:txBody>
            <a:bodyPr wrap="square" rtlCol="0">
              <a:spAutoFit/>
            </a:bodyPr>
            <a:lstStyle/>
            <a:p>
              <a:pPr algn="ctr">
                <a:lnSpc>
                  <a:spcPct val="120000"/>
                </a:lnSpc>
              </a:pPr>
              <a:r>
                <a:rPr lang="en-US" altLang="zh-CN" sz="5400" b="1" dirty="0" smtClean="0">
                  <a:solidFill>
                    <a:srgbClr val="FFFF00"/>
                  </a:solidFill>
                  <a:latin typeface="微软雅黑" panose="020B0503020204020204" pitchFamily="34" charset="-122"/>
                  <a:ea typeface="微软雅黑" panose="020B0503020204020204" pitchFamily="34" charset="-122"/>
                </a:rPr>
                <a:t>MTCV</a:t>
              </a:r>
              <a:r>
                <a:rPr lang="zh-CN" altLang="en-US" sz="5400" b="1" dirty="0" smtClean="0">
                  <a:solidFill>
                    <a:srgbClr val="FFFF00"/>
                  </a:solidFill>
                  <a:latin typeface="微软雅黑" panose="020B0503020204020204" pitchFamily="34" charset="-122"/>
                  <a:ea typeface="微软雅黑" panose="020B0503020204020204" pitchFamily="34" charset="-122"/>
                </a:rPr>
                <a:t>流程实践</a:t>
              </a:r>
              <a:r>
                <a:rPr lang="zh-CN" altLang="en-US" sz="5400" b="1" dirty="0">
                  <a:solidFill>
                    <a:srgbClr val="FFFF00"/>
                  </a:solidFill>
                  <a:latin typeface="微软雅黑" panose="020B0503020204020204" pitchFamily="34" charset="-122"/>
                  <a:ea typeface="微软雅黑" panose="020B0503020204020204" pitchFamily="34" charset="-122"/>
                </a:rPr>
                <a:t>案例</a:t>
              </a:r>
              <a:endParaRPr lang="en-US" altLang="zh-CN" sz="5400" b="1" dirty="0">
                <a:solidFill>
                  <a:srgbClr val="FFFF00"/>
                </a:solidFill>
                <a:latin typeface="微软雅黑" panose="020B0503020204020204" pitchFamily="34" charset="-122"/>
                <a:ea typeface="微软雅黑" panose="020B0503020204020204" pitchFamily="34" charset="-122"/>
              </a:endParaRPr>
            </a:p>
            <a:p>
              <a:pPr algn="ctr">
                <a:lnSpc>
                  <a:spcPct val="120000"/>
                </a:lnSpc>
              </a:pPr>
              <a:r>
                <a:rPr lang="en-US" altLang="zh-CN" sz="2800" b="1" dirty="0" smtClean="0">
                  <a:solidFill>
                    <a:schemeClr val="bg1"/>
                  </a:solidFill>
                  <a:latin typeface="微软雅黑" panose="020B0503020204020204" pitchFamily="34" charset="-122"/>
                  <a:ea typeface="微软雅黑" panose="020B0503020204020204" pitchFamily="34" charset="-122"/>
                </a:rPr>
                <a:t>M11.2 </a:t>
              </a:r>
              <a:r>
                <a:rPr lang="zh-CN" altLang="en-US" sz="2800" b="1" dirty="0" smtClean="0">
                  <a:solidFill>
                    <a:schemeClr val="bg1"/>
                  </a:solidFill>
                  <a:latin typeface="微软雅黑" panose="020B0503020204020204" pitchFamily="34" charset="-122"/>
                  <a:ea typeface="微软雅黑" panose="020B0503020204020204" pitchFamily="34" charset="-122"/>
                </a:rPr>
                <a:t>推进</a:t>
              </a:r>
              <a:r>
                <a:rPr lang="zh-CN" altLang="en-US" sz="2800" b="1" dirty="0">
                  <a:solidFill>
                    <a:schemeClr val="bg1"/>
                  </a:solidFill>
                  <a:latin typeface="微软雅黑" panose="020B0503020204020204" pitchFamily="34" charset="-122"/>
                  <a:ea typeface="微软雅黑" panose="020B0503020204020204" pitchFamily="34" charset="-122"/>
                </a:rPr>
                <a:t>商机</a:t>
              </a:r>
              <a:r>
                <a:rPr lang="zh-CN" altLang="en-US" sz="2800" b="1" dirty="0" smtClean="0">
                  <a:solidFill>
                    <a:schemeClr val="bg1"/>
                  </a:solidFill>
                  <a:latin typeface="微软雅黑" panose="020B0503020204020204" pitchFamily="34" charset="-122"/>
                  <a:ea typeface="微软雅黑" panose="020B0503020204020204" pitchFamily="34" charset="-122"/>
                </a:rPr>
                <a:t>流程</a:t>
              </a:r>
              <a:r>
                <a:rPr lang="en-US" altLang="zh-CN" sz="2800" b="1" dirty="0" smtClean="0">
                  <a:solidFill>
                    <a:schemeClr val="bg1"/>
                  </a:solidFill>
                  <a:latin typeface="微软雅黑" panose="020B0503020204020204" pitchFamily="34" charset="-122"/>
                  <a:ea typeface="微软雅黑" panose="020B0503020204020204" pitchFamily="34" charset="-122"/>
                </a:rPr>
                <a:t>-</a:t>
              </a:r>
              <a:r>
                <a:rPr lang="zh-CN" altLang="en-US" sz="2800" b="1" dirty="0" smtClean="0">
                  <a:solidFill>
                    <a:schemeClr val="bg1"/>
                  </a:solidFill>
                  <a:latin typeface="微软雅黑" panose="020B0503020204020204" pitchFamily="34" charset="-122"/>
                  <a:ea typeface="微软雅黑" panose="020B0503020204020204" pitchFamily="34" charset="-122"/>
                </a:rPr>
                <a:t>北京区域</a:t>
              </a:r>
              <a:endParaRPr lang="en-US" altLang="zh-CN" sz="2800" b="1" dirty="0" smtClean="0">
                <a:solidFill>
                  <a:schemeClr val="bg1"/>
                </a:solidFill>
                <a:latin typeface="微软雅黑" panose="020B0503020204020204" pitchFamily="34" charset="-122"/>
                <a:ea typeface="微软雅黑" panose="020B0503020204020204" pitchFamily="34" charset="-122"/>
              </a:endParaRPr>
            </a:p>
          </p:txBody>
        </p:sp>
      </p:grpSp>
      <p:sp>
        <p:nvSpPr>
          <p:cNvPr id="8" name="矩形 7"/>
          <p:cNvSpPr/>
          <p:nvPr/>
        </p:nvSpPr>
        <p:spPr>
          <a:xfrm>
            <a:off x="781174" y="2215399"/>
            <a:ext cx="5248553" cy="461665"/>
          </a:xfrm>
          <a:prstGeom prst="rect">
            <a:avLst/>
          </a:prstGeom>
        </p:spPr>
        <p:txBody>
          <a:bodyPr wrap="none">
            <a:spAutoFit/>
          </a:bodyPr>
          <a:lstStyle/>
          <a:p>
            <a:r>
              <a:rPr lang="en-US" altLang="zh-CN" sz="2400" b="1" dirty="0" smtClean="0">
                <a:solidFill>
                  <a:srgbClr val="DCCEA4"/>
                </a:solidFill>
                <a:latin typeface="微软雅黑" panose="020B0503020204020204" pitchFamily="34" charset="-122"/>
                <a:ea typeface="微软雅黑" panose="020B0503020204020204" pitchFamily="34" charset="-122"/>
              </a:rPr>
              <a:t>— </a:t>
            </a:r>
            <a:r>
              <a:rPr lang="zh-CN" altLang="en-US" sz="2400" b="1" dirty="0" smtClean="0">
                <a:solidFill>
                  <a:srgbClr val="DCCEA4"/>
                </a:solidFill>
                <a:latin typeface="微软雅黑" panose="020B0503020204020204" pitchFamily="34" charset="-122"/>
                <a:ea typeface="微软雅黑" panose="020B0503020204020204" pitchFamily="34" charset="-122"/>
              </a:rPr>
              <a:t>北京区域推进商机流程</a:t>
            </a:r>
            <a:r>
              <a:rPr lang="zh-CN" altLang="en-US" sz="2400" b="1" dirty="0" smtClean="0">
                <a:solidFill>
                  <a:srgbClr val="DCCEA4"/>
                </a:solidFill>
                <a:latin typeface="微软雅黑" panose="020B0503020204020204" pitchFamily="34" charset="-122"/>
                <a:ea typeface="微软雅黑" panose="020B0503020204020204" pitchFamily="34" charset="-122"/>
              </a:rPr>
              <a:t>实践成果</a:t>
            </a:r>
            <a:r>
              <a:rPr lang="en-US" altLang="zh-CN" sz="2400" b="1" dirty="0" smtClean="0">
                <a:solidFill>
                  <a:srgbClr val="DCCEA4"/>
                </a:solidFill>
                <a:latin typeface="微软雅黑" panose="020B0503020204020204" pitchFamily="34" charset="-122"/>
                <a:ea typeface="微软雅黑" panose="020B0503020204020204" pitchFamily="34" charset="-122"/>
              </a:rPr>
              <a:t>—</a:t>
            </a:r>
            <a:endParaRPr lang="en-US" altLang="zh-CN" sz="2400" b="1" dirty="0">
              <a:solidFill>
                <a:srgbClr val="DCCEA4"/>
              </a:solidFill>
              <a:latin typeface="微软雅黑" panose="020B0503020204020204" pitchFamily="34" charset="-122"/>
              <a:ea typeface="微软雅黑" panose="020B0503020204020204" pitchFamily="34" charset="-122"/>
            </a:endParaRPr>
          </a:p>
        </p:txBody>
      </p:sp>
      <p:sp>
        <p:nvSpPr>
          <p:cNvPr id="11" name="矩形 10"/>
          <p:cNvSpPr/>
          <p:nvPr/>
        </p:nvSpPr>
        <p:spPr>
          <a:xfrm>
            <a:off x="282997" y="2716361"/>
            <a:ext cx="6318616" cy="2585323"/>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400" dirty="0" smtClean="0">
                <a:solidFill>
                  <a:schemeClr val="bg1"/>
                </a:solidFill>
                <a:latin typeface="微软雅黑" panose="020B0503020204020204" pitchFamily="34" charset="-122"/>
                <a:ea typeface="微软雅黑" panose="020B0503020204020204" pitchFamily="34" charset="-122"/>
              </a:rPr>
              <a:t>对区域内立项的重点项目组织了项目启动会，明确责任分工，</a:t>
            </a:r>
            <a:r>
              <a:rPr lang="zh-CN" altLang="en-US" sz="1600" b="1" dirty="0" smtClean="0">
                <a:solidFill>
                  <a:srgbClr val="FFFF00"/>
                </a:solidFill>
                <a:latin typeface="微软雅黑" panose="020B0503020204020204" pitchFamily="34" charset="-122"/>
                <a:ea typeface="微软雅黑" panose="020B0503020204020204" pitchFamily="34" charset="-122"/>
              </a:rPr>
              <a:t>启动</a:t>
            </a:r>
            <a:r>
              <a:rPr lang="zh-CN" altLang="en-US" sz="1600" b="1" dirty="0">
                <a:solidFill>
                  <a:srgbClr val="FFFF00"/>
                </a:solidFill>
                <a:latin typeface="微软雅黑" panose="020B0503020204020204" pitchFamily="34" charset="-122"/>
                <a:ea typeface="微软雅黑" panose="020B0503020204020204" pitchFamily="34" charset="-122"/>
              </a:rPr>
              <a:t>会</a:t>
            </a:r>
            <a:r>
              <a:rPr lang="zh-CN" altLang="en-US" sz="1600" b="1" dirty="0">
                <a:solidFill>
                  <a:srgbClr val="FFFF00"/>
                </a:solidFill>
                <a:latin typeface="微软雅黑" panose="020B0503020204020204" pitchFamily="34" charset="-122"/>
                <a:ea typeface="微软雅黑" panose="020B0503020204020204" pitchFamily="34" charset="-122"/>
              </a:rPr>
              <a:t>执行率</a:t>
            </a:r>
            <a:r>
              <a:rPr lang="en-US" altLang="zh-CN" sz="1600" b="1" dirty="0">
                <a:solidFill>
                  <a:srgbClr val="FFFF00"/>
                </a:solidFill>
                <a:latin typeface="微软雅黑" panose="020B0503020204020204" pitchFamily="34" charset="-122"/>
                <a:ea typeface="微软雅黑" panose="020B0503020204020204" pitchFamily="34" charset="-122"/>
              </a:rPr>
              <a:t>100%</a:t>
            </a:r>
          </a:p>
          <a:p>
            <a:pPr marL="285750" indent="-285750">
              <a:lnSpc>
                <a:spcPct val="150000"/>
              </a:lnSpc>
              <a:buFont typeface="Arial" panose="020B0604020202020204" pitchFamily="34" charset="0"/>
              <a:buChar char="•"/>
            </a:pPr>
            <a:r>
              <a:rPr lang="zh-CN" altLang="en-US" sz="1400" dirty="0" smtClean="0">
                <a:solidFill>
                  <a:schemeClr val="bg1"/>
                </a:solidFill>
                <a:latin typeface="微软雅黑" panose="020B0503020204020204" pitchFamily="34" charset="-122"/>
                <a:ea typeface="微软雅黑" panose="020B0503020204020204" pitchFamily="34" charset="-122"/>
              </a:rPr>
              <a:t>大项目解决方案</a:t>
            </a:r>
            <a:r>
              <a:rPr lang="zh-CN" altLang="en-US" sz="1400" dirty="0">
                <a:solidFill>
                  <a:schemeClr val="bg1"/>
                </a:solidFill>
                <a:latin typeface="微软雅黑" panose="020B0503020204020204" pitchFamily="34" charset="-122"/>
                <a:ea typeface="微软雅黑" panose="020B0503020204020204" pitchFamily="34" charset="-122"/>
              </a:rPr>
              <a:t>评审会</a:t>
            </a:r>
            <a:r>
              <a:rPr lang="zh-CN" altLang="en-US" sz="1600" b="1" dirty="0">
                <a:solidFill>
                  <a:srgbClr val="FFFF00"/>
                </a:solidFill>
                <a:latin typeface="微软雅黑" panose="020B0503020204020204" pitchFamily="34" charset="-122"/>
                <a:ea typeface="微软雅黑" panose="020B0503020204020204" pitchFamily="34" charset="-122"/>
              </a:rPr>
              <a:t>执行率</a:t>
            </a:r>
            <a:r>
              <a:rPr lang="en-US" altLang="zh-CN" sz="1600" b="1" dirty="0">
                <a:solidFill>
                  <a:srgbClr val="FFFF00"/>
                </a:solidFill>
                <a:latin typeface="微软雅黑" panose="020B0503020204020204" pitchFamily="34" charset="-122"/>
                <a:ea typeface="微软雅黑" panose="020B0503020204020204" pitchFamily="34" charset="-122"/>
              </a:rPr>
              <a:t>100</a:t>
            </a:r>
            <a:r>
              <a:rPr lang="en-US" altLang="zh-CN" sz="1600" b="1" dirty="0">
                <a:solidFill>
                  <a:srgbClr val="FFFF00"/>
                </a:solidFill>
                <a:latin typeface="微软雅黑" panose="020B0503020204020204" pitchFamily="34" charset="-122"/>
                <a:ea typeface="微软雅黑" panose="020B0503020204020204" pitchFamily="34" charset="-122"/>
              </a:rPr>
              <a:t>%</a:t>
            </a:r>
            <a:r>
              <a:rPr lang="zh-CN" altLang="en-US" sz="1400" dirty="0" smtClean="0">
                <a:solidFill>
                  <a:schemeClr val="bg1"/>
                </a:solidFill>
                <a:latin typeface="微软雅黑" panose="020B0503020204020204" pitchFamily="34" charset="-122"/>
                <a:ea typeface="微软雅黑" panose="020B0503020204020204" pitchFamily="34" charset="-122"/>
              </a:rPr>
              <a:t>，组织多部门参与解决方案评审，确保方案的有效性和可交付性</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smtClean="0">
                <a:solidFill>
                  <a:schemeClr val="bg1"/>
                </a:solidFill>
                <a:latin typeface="微软雅黑" panose="020B0503020204020204" pitchFamily="34" charset="-122"/>
                <a:ea typeface="微软雅黑" panose="020B0503020204020204" pitchFamily="34" charset="-122"/>
              </a:rPr>
              <a:t>对每一个重点项目组织多场项目分析会，在吃透</a:t>
            </a:r>
            <a:r>
              <a:rPr lang="zh-CN" altLang="en-US" sz="1400" dirty="0">
                <a:solidFill>
                  <a:schemeClr val="bg1"/>
                </a:solidFill>
                <a:latin typeface="微软雅黑" panose="020B0503020204020204" pitchFamily="34" charset="-122"/>
                <a:ea typeface="微软雅黑" panose="020B0503020204020204" pitchFamily="34" charset="-122"/>
              </a:rPr>
              <a:t>客户需求，痛点</a:t>
            </a:r>
            <a:r>
              <a:rPr lang="zh-CN" altLang="en-US" sz="1400" dirty="0" smtClean="0">
                <a:solidFill>
                  <a:schemeClr val="bg1"/>
                </a:solidFill>
                <a:latin typeface="微软雅黑" panose="020B0503020204020204" pitchFamily="34" charset="-122"/>
                <a:ea typeface="微软雅黑" panose="020B0503020204020204" pitchFamily="34" charset="-122"/>
              </a:rPr>
              <a:t>及核心诉求后，明确我</a:t>
            </a:r>
            <a:r>
              <a:rPr lang="zh-CN" altLang="en-US" sz="1400" dirty="0">
                <a:solidFill>
                  <a:schemeClr val="bg1"/>
                </a:solidFill>
                <a:latin typeface="微软雅黑" panose="020B0503020204020204" pitchFamily="34" charset="-122"/>
                <a:ea typeface="微软雅黑" panose="020B0503020204020204" pitchFamily="34" charset="-122"/>
              </a:rPr>
              <a:t>司</a:t>
            </a:r>
            <a:r>
              <a:rPr lang="en-US" altLang="zh-CN" sz="1400" dirty="0">
                <a:solidFill>
                  <a:schemeClr val="bg1"/>
                </a:solidFill>
                <a:latin typeface="微软雅黑" panose="020B0503020204020204" pitchFamily="34" charset="-122"/>
                <a:ea typeface="微软雅黑" panose="020B0503020204020204" pitchFamily="34" charset="-122"/>
              </a:rPr>
              <a:t>UBV</a:t>
            </a:r>
            <a:r>
              <a:rPr lang="zh-CN" altLang="en-US" sz="1400" dirty="0">
                <a:solidFill>
                  <a:schemeClr val="bg1"/>
                </a:solidFill>
                <a:latin typeface="微软雅黑" panose="020B0503020204020204" pitchFamily="34" charset="-122"/>
                <a:ea typeface="微软雅黑" panose="020B0503020204020204" pitchFamily="34" charset="-122"/>
              </a:rPr>
              <a:t>（卖点）及赢单</a:t>
            </a:r>
            <a:r>
              <a:rPr lang="zh-CN" altLang="en-US" sz="1400" dirty="0" smtClean="0">
                <a:solidFill>
                  <a:schemeClr val="bg1"/>
                </a:solidFill>
                <a:latin typeface="微软雅黑" panose="020B0503020204020204" pitchFamily="34" charset="-122"/>
                <a:ea typeface="微软雅黑" panose="020B0503020204020204" pitchFamily="34" charset="-122"/>
              </a:rPr>
              <a:t>策略，分析会总</a:t>
            </a:r>
            <a:r>
              <a:rPr lang="zh-CN" altLang="en-US" sz="1400" dirty="0">
                <a:solidFill>
                  <a:schemeClr val="bg1"/>
                </a:solidFill>
                <a:latin typeface="微软雅黑" panose="020B0503020204020204" pitchFamily="34" charset="-122"/>
                <a:ea typeface="微软雅黑" panose="020B0503020204020204" pitchFamily="34" charset="-122"/>
              </a:rPr>
              <a:t>场次达</a:t>
            </a:r>
            <a:r>
              <a:rPr lang="en-US" altLang="zh-CN" sz="1400" dirty="0">
                <a:solidFill>
                  <a:schemeClr val="bg1"/>
                </a:solidFill>
                <a:latin typeface="微软雅黑" panose="020B0503020204020204" pitchFamily="34" charset="-122"/>
                <a:ea typeface="微软雅黑" panose="020B0503020204020204" pitchFamily="34" charset="-122"/>
              </a:rPr>
              <a:t>12</a:t>
            </a:r>
            <a:r>
              <a:rPr lang="zh-CN" altLang="en-US" sz="1400" dirty="0">
                <a:solidFill>
                  <a:schemeClr val="bg1"/>
                </a:solidFill>
                <a:latin typeface="微软雅黑" panose="020B0503020204020204" pitchFamily="34" charset="-122"/>
                <a:ea typeface="微软雅黑" panose="020B0503020204020204" pitchFamily="34" charset="-122"/>
              </a:rPr>
              <a:t>场 ，</a:t>
            </a:r>
            <a:r>
              <a:rPr lang="zh-CN" altLang="en-US" sz="1600" b="1" dirty="0">
                <a:solidFill>
                  <a:srgbClr val="FFFF00"/>
                </a:solidFill>
                <a:latin typeface="微软雅黑" panose="020B0503020204020204" pitchFamily="34" charset="-122"/>
                <a:ea typeface="微软雅黑" panose="020B0503020204020204" pitchFamily="34" charset="-122"/>
              </a:rPr>
              <a:t>执行率</a:t>
            </a:r>
            <a:r>
              <a:rPr lang="en-US" altLang="zh-CN" sz="1600" b="1" dirty="0">
                <a:solidFill>
                  <a:srgbClr val="FFFF00"/>
                </a:solidFill>
                <a:latin typeface="微软雅黑" panose="020B0503020204020204" pitchFamily="34" charset="-122"/>
                <a:ea typeface="微软雅黑" panose="020B0503020204020204" pitchFamily="34" charset="-122"/>
              </a:rPr>
              <a:t>100</a:t>
            </a:r>
            <a:r>
              <a:rPr lang="en-US" altLang="zh-CN" sz="1600" b="1" dirty="0">
                <a:solidFill>
                  <a:srgbClr val="FFFF00"/>
                </a:solidFill>
                <a:latin typeface="微软雅黑" panose="020B0503020204020204" pitchFamily="34" charset="-122"/>
                <a:ea typeface="微软雅黑" panose="020B0503020204020204" pitchFamily="34" charset="-122"/>
              </a:rPr>
              <a:t>%</a:t>
            </a:r>
            <a:endParaRPr lang="en-US" altLang="zh-CN" sz="1600" b="1" dirty="0">
              <a:solidFill>
                <a:srgbClr val="FFFF00"/>
              </a:solidFill>
              <a:latin typeface="微软雅黑" panose="020B0503020204020204" pitchFamily="34" charset="-122"/>
              <a:ea typeface="微软雅黑" panose="020B0503020204020204" pitchFamily="34" charset="-122"/>
            </a:endParaRPr>
          </a:p>
        </p:txBody>
      </p:sp>
      <p:sp>
        <p:nvSpPr>
          <p:cNvPr id="12" name="矩形 11"/>
          <p:cNvSpPr/>
          <p:nvPr/>
        </p:nvSpPr>
        <p:spPr>
          <a:xfrm>
            <a:off x="1613132" y="5696524"/>
            <a:ext cx="3584636" cy="461665"/>
          </a:xfrm>
          <a:prstGeom prst="rect">
            <a:avLst/>
          </a:prstGeom>
        </p:spPr>
        <p:txBody>
          <a:bodyPr wrap="none">
            <a:spAutoFit/>
          </a:bodyPr>
          <a:lstStyle/>
          <a:p>
            <a:r>
              <a:rPr lang="en-US" altLang="zh-CN" sz="2400" b="1" dirty="0" smtClean="0">
                <a:solidFill>
                  <a:srgbClr val="DCCEA4"/>
                </a:solidFill>
                <a:latin typeface="微软雅黑" panose="020B0503020204020204" pitchFamily="34" charset="-122"/>
                <a:ea typeface="微软雅黑" panose="020B0503020204020204" pitchFamily="34" charset="-122"/>
              </a:rPr>
              <a:t>—  </a:t>
            </a:r>
            <a:r>
              <a:rPr lang="zh-CN" altLang="en-US" sz="2400" b="1" dirty="0" smtClean="0">
                <a:solidFill>
                  <a:srgbClr val="DCCEA4"/>
                </a:solidFill>
                <a:latin typeface="微软雅黑" panose="020B0503020204020204" pitchFamily="34" charset="-122"/>
                <a:ea typeface="微软雅黑" panose="020B0503020204020204" pitchFamily="34" charset="-122"/>
              </a:rPr>
              <a:t>如何实践流程的？ </a:t>
            </a:r>
            <a:r>
              <a:rPr lang="en-US" altLang="zh-CN" sz="2400" b="1" dirty="0" smtClean="0">
                <a:solidFill>
                  <a:srgbClr val="DCCEA4"/>
                </a:solidFill>
                <a:latin typeface="微软雅黑" panose="020B0503020204020204" pitchFamily="34" charset="-122"/>
                <a:ea typeface="微软雅黑" panose="020B0503020204020204" pitchFamily="34" charset="-122"/>
              </a:rPr>
              <a:t>—</a:t>
            </a:r>
            <a:endParaRPr lang="en-US" altLang="zh-CN" sz="2400" b="1" dirty="0">
              <a:solidFill>
                <a:srgbClr val="DCCEA4"/>
              </a:solidFill>
              <a:latin typeface="微软雅黑" panose="020B0503020204020204" pitchFamily="34" charset="-122"/>
              <a:ea typeface="微软雅黑" panose="020B0503020204020204" pitchFamily="34" charset="-122"/>
            </a:endParaRPr>
          </a:p>
        </p:txBody>
      </p:sp>
      <p:sp>
        <p:nvSpPr>
          <p:cNvPr id="16" name="矩形 15"/>
          <p:cNvSpPr/>
          <p:nvPr/>
        </p:nvSpPr>
        <p:spPr>
          <a:xfrm>
            <a:off x="123786" y="2080192"/>
            <a:ext cx="6563331" cy="3340100"/>
          </a:xfrm>
          <a:prstGeom prst="rect">
            <a:avLst/>
          </a:prstGeom>
          <a:noFill/>
          <a:ln w="38100">
            <a:solidFill>
              <a:srgbClr val="DCCE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30977" y="5576512"/>
            <a:ext cx="6563331" cy="9629274"/>
          </a:xfrm>
          <a:prstGeom prst="rect">
            <a:avLst/>
          </a:prstGeom>
          <a:noFill/>
          <a:ln w="38100">
            <a:solidFill>
              <a:srgbClr val="DCCE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47333" y="9507504"/>
            <a:ext cx="6563332" cy="1477328"/>
          </a:xfrm>
          <a:prstGeom prst="rect">
            <a:avLst/>
          </a:prstGeom>
        </p:spPr>
        <p:txBody>
          <a:bodyPr wrap="square">
            <a:spAutoFit/>
          </a:bodyPr>
          <a:lstStyle/>
          <a:p>
            <a:pPr>
              <a:lnSpc>
                <a:spcPct val="150000"/>
              </a:lnSpc>
            </a:pPr>
            <a:r>
              <a:rPr lang="zh-CN" altLang="en-US" b="1" dirty="0">
                <a:solidFill>
                  <a:schemeClr val="bg1"/>
                </a:solidFill>
                <a:latin typeface="微软雅黑" panose="020B0503020204020204" pitchFamily="34" charset="-122"/>
                <a:ea typeface="微软雅黑" panose="020B0503020204020204" pitchFamily="34" charset="-122"/>
              </a:rPr>
              <a:t>设计项目启动会环节完善项目组成员，明确职责分工：</a:t>
            </a:r>
            <a:endParaRPr lang="en-US" altLang="zh-CN" b="1" dirty="0" smtClean="0">
              <a:solidFill>
                <a:schemeClr val="bg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smtClean="0">
                <a:solidFill>
                  <a:schemeClr val="bg1"/>
                </a:solidFill>
                <a:latin typeface="微软雅黑" panose="020B0503020204020204" pitchFamily="34" charset="-122"/>
                <a:ea typeface="微软雅黑" panose="020B0503020204020204" pitchFamily="34" charset="-122"/>
              </a:rPr>
              <a:t>项目立项后的第一项重要工作就是项目启动会，通过该环节及时的召集项目组核心人员进行第一轮沟通，明确项目范围，目标，成员与职责分工，为后续的项目推进打好基础。</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
        <p:nvSpPr>
          <p:cNvPr id="23" name="矩形 22"/>
          <p:cNvSpPr/>
          <p:nvPr/>
        </p:nvSpPr>
        <p:spPr>
          <a:xfrm>
            <a:off x="1927626" y="15419955"/>
            <a:ext cx="3002745" cy="461665"/>
          </a:xfrm>
          <a:prstGeom prst="rect">
            <a:avLst/>
          </a:prstGeom>
        </p:spPr>
        <p:txBody>
          <a:bodyPr wrap="none">
            <a:spAutoFit/>
          </a:bodyPr>
          <a:lstStyle/>
          <a:p>
            <a:r>
              <a:rPr lang="en-US" altLang="zh-CN" sz="2400" b="1" dirty="0" smtClean="0">
                <a:solidFill>
                  <a:srgbClr val="DCCEA4"/>
                </a:solidFill>
                <a:latin typeface="微软雅黑" panose="020B0503020204020204" pitchFamily="34" charset="-122"/>
                <a:ea typeface="微软雅黑" panose="020B0503020204020204" pitchFamily="34" charset="-122"/>
              </a:rPr>
              <a:t>—</a:t>
            </a:r>
            <a:r>
              <a:rPr lang="zh-CN" altLang="en-US" sz="2400" b="1" dirty="0" smtClean="0">
                <a:solidFill>
                  <a:srgbClr val="DCCEA4"/>
                </a:solidFill>
                <a:latin typeface="微软雅黑" panose="020B0503020204020204" pitchFamily="34" charset="-122"/>
                <a:ea typeface="微软雅黑" panose="020B0503020204020204" pitchFamily="34" charset="-122"/>
              </a:rPr>
              <a:t>流程使用者反馈</a:t>
            </a:r>
            <a:r>
              <a:rPr lang="en-US" altLang="zh-CN" sz="2400" b="1" dirty="0" smtClean="0">
                <a:solidFill>
                  <a:srgbClr val="DCCEA4"/>
                </a:solidFill>
                <a:latin typeface="微软雅黑" panose="020B0503020204020204" pitchFamily="34" charset="-122"/>
                <a:ea typeface="微软雅黑" panose="020B0503020204020204" pitchFamily="34" charset="-122"/>
              </a:rPr>
              <a:t>—</a:t>
            </a:r>
            <a:endParaRPr lang="en-US" altLang="zh-CN" sz="2400" b="1" dirty="0">
              <a:solidFill>
                <a:srgbClr val="DCCEA4"/>
              </a:solidFill>
              <a:latin typeface="微软雅黑" panose="020B0503020204020204" pitchFamily="34" charset="-122"/>
              <a:ea typeface="微软雅黑" panose="020B0503020204020204" pitchFamily="34" charset="-122"/>
            </a:endParaRPr>
          </a:p>
        </p:txBody>
      </p:sp>
      <p:sp>
        <p:nvSpPr>
          <p:cNvPr id="24" name="矩形 23"/>
          <p:cNvSpPr/>
          <p:nvPr/>
        </p:nvSpPr>
        <p:spPr>
          <a:xfrm>
            <a:off x="123787" y="15319800"/>
            <a:ext cx="6569114" cy="4714830"/>
          </a:xfrm>
          <a:prstGeom prst="rect">
            <a:avLst/>
          </a:prstGeom>
          <a:noFill/>
          <a:ln w="38100">
            <a:solidFill>
              <a:srgbClr val="DCCE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253449" y="15990290"/>
            <a:ext cx="6388100" cy="3785652"/>
          </a:xfrm>
          <a:prstGeom prst="rect">
            <a:avLst/>
          </a:prstGeom>
        </p:spPr>
        <p:txBody>
          <a:bodyPr wrap="square">
            <a:spAutoFit/>
          </a:bodyPr>
          <a:lstStyle/>
          <a:p>
            <a:pPr>
              <a:lnSpc>
                <a:spcPct val="150000"/>
              </a:lnSpc>
            </a:pPr>
            <a:r>
              <a:rPr lang="zh-CN" altLang="en-US" sz="1600" dirty="0" smtClean="0">
                <a:solidFill>
                  <a:schemeClr val="bg1"/>
                </a:solidFill>
                <a:latin typeface="微软雅黑" panose="020B0503020204020204" pitchFamily="34" charset="-122"/>
                <a:ea typeface="微软雅黑" panose="020B0503020204020204" pitchFamily="34" charset="-122"/>
              </a:rPr>
              <a:t>张宏涛（区域经理）</a:t>
            </a:r>
            <a:endParaRPr lang="en-US" altLang="zh-CN" sz="1600" dirty="0" smtClean="0">
              <a:solidFill>
                <a:schemeClr val="bg1"/>
              </a:solidFill>
              <a:latin typeface="微软雅黑" panose="020B0503020204020204" pitchFamily="34" charset="-122"/>
              <a:ea typeface="微软雅黑" panose="020B0503020204020204" pitchFamily="34" charset="-122"/>
            </a:endParaRPr>
          </a:p>
          <a:p>
            <a:pPr lvl="1">
              <a:lnSpc>
                <a:spcPct val="150000"/>
              </a:lnSpc>
            </a:pPr>
            <a:r>
              <a:rPr lang="zh-CN" altLang="en-US" sz="1600" dirty="0">
                <a:solidFill>
                  <a:schemeClr val="bg1"/>
                </a:solidFill>
                <a:latin typeface="微软雅黑" panose="020B0503020204020204" pitchFamily="34" charset="-122"/>
                <a:ea typeface="微软雅黑" panose="020B0503020204020204" pitchFamily="34" charset="-122"/>
              </a:rPr>
              <a:t>作为北京区域的区域经理，也是该流程的</a:t>
            </a:r>
            <a:r>
              <a:rPr lang="en-US" altLang="zh-CN" sz="1600" dirty="0">
                <a:solidFill>
                  <a:schemeClr val="bg1"/>
                </a:solidFill>
                <a:latin typeface="微软雅黑" panose="020B0503020204020204" pitchFamily="34" charset="-122"/>
                <a:ea typeface="微软雅黑" panose="020B0503020204020204" pitchFamily="34" charset="-122"/>
              </a:rPr>
              <a:t>L3</a:t>
            </a:r>
            <a:r>
              <a:rPr lang="zh-CN" altLang="en-US" sz="1600" dirty="0">
                <a:solidFill>
                  <a:schemeClr val="bg1"/>
                </a:solidFill>
                <a:latin typeface="微软雅黑" panose="020B0503020204020204" pitchFamily="34" charset="-122"/>
                <a:ea typeface="微软雅黑" panose="020B0503020204020204" pitchFamily="34" charset="-122"/>
              </a:rPr>
              <a:t>流程</a:t>
            </a:r>
            <a:r>
              <a:rPr lang="en-US" altLang="zh-CN" sz="1600" dirty="0">
                <a:solidFill>
                  <a:schemeClr val="bg1"/>
                </a:solidFill>
                <a:latin typeface="微软雅黑" panose="020B0503020204020204" pitchFamily="34" charset="-122"/>
                <a:ea typeface="微软雅黑" panose="020B0503020204020204" pitchFamily="34" charset="-122"/>
              </a:rPr>
              <a:t>PO</a:t>
            </a:r>
            <a:r>
              <a:rPr lang="zh-CN" altLang="en-US" sz="1600" dirty="0">
                <a:solidFill>
                  <a:schemeClr val="bg1"/>
                </a:solidFill>
                <a:latin typeface="微软雅黑" panose="020B0503020204020204" pitchFamily="34" charset="-122"/>
                <a:ea typeface="微软雅黑" panose="020B0503020204020204" pitchFamily="34" charset="-122"/>
              </a:rPr>
              <a:t>，经过这一段时间流程落地，关键活动推进良好，流程运转顺畅。后续会继续紧盯执行质量，若遇适配问题会及时同步并逐步迭代优化。</a:t>
            </a:r>
            <a:endParaRPr lang="en-US" altLang="zh-CN" sz="1600" dirty="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1600" dirty="0" smtClean="0">
                <a:solidFill>
                  <a:schemeClr val="bg1"/>
                </a:solidFill>
                <a:latin typeface="微软雅黑" panose="020B0503020204020204" pitchFamily="34" charset="-122"/>
                <a:ea typeface="微软雅黑" panose="020B0503020204020204" pitchFamily="34" charset="-122"/>
              </a:rPr>
              <a:t>郑超（售前经理）</a:t>
            </a:r>
          </a:p>
          <a:p>
            <a:pPr marL="342900" indent="-342900">
              <a:lnSpc>
                <a:spcPct val="150000"/>
              </a:lnSpc>
              <a:buAutoNum type="arabicPeriod"/>
            </a:pPr>
            <a:r>
              <a:rPr lang="en-US" altLang="zh-CN" sz="1600" dirty="0" smtClean="0">
                <a:solidFill>
                  <a:schemeClr val="bg1"/>
                </a:solidFill>
                <a:latin typeface="微软雅黑" panose="020B0503020204020204" pitchFamily="34" charset="-122"/>
                <a:ea typeface="微软雅黑" panose="020B0503020204020204" pitchFamily="34" charset="-122"/>
              </a:rPr>
              <a:t>MO</a:t>
            </a:r>
            <a:r>
              <a:rPr lang="zh-CN" altLang="en-US" sz="1600" dirty="0">
                <a:solidFill>
                  <a:schemeClr val="bg1"/>
                </a:solidFill>
                <a:latin typeface="微软雅黑" panose="020B0503020204020204" pitchFamily="34" charset="-122"/>
                <a:ea typeface="微软雅黑" panose="020B0503020204020204" pitchFamily="34" charset="-122"/>
              </a:rPr>
              <a:t>推进商机流程优化后，明确了各阶段关键活动及主责人，有效解决了立项项目推进过程中权责不清，分工不明确的问题</a:t>
            </a:r>
            <a:r>
              <a:rPr lang="zh-CN" altLang="en-US" sz="1600" dirty="0" smtClean="0">
                <a:solidFill>
                  <a:schemeClr val="bg1"/>
                </a:solidFill>
                <a:latin typeface="微软雅黑" panose="020B0503020204020204" pitchFamily="34" charset="-122"/>
                <a:ea typeface="微软雅黑" panose="020B0503020204020204" pitchFamily="34" charset="-122"/>
              </a:rPr>
              <a:t>。</a:t>
            </a:r>
            <a:endParaRPr lang="en-US" altLang="zh-CN" sz="1600" dirty="0" smtClean="0">
              <a:solidFill>
                <a:schemeClr val="bg1"/>
              </a:solidFill>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zh-CN" altLang="en-US" sz="1600" dirty="0" smtClean="0">
                <a:solidFill>
                  <a:schemeClr val="bg1"/>
                </a:solidFill>
                <a:latin typeface="微软雅黑" panose="020B0503020204020204" pitchFamily="34" charset="-122"/>
                <a:ea typeface="微软雅黑" panose="020B0503020204020204" pitchFamily="34" charset="-122"/>
              </a:rPr>
              <a:t>立项</a:t>
            </a:r>
            <a:r>
              <a:rPr lang="zh-CN" altLang="en-US" sz="1600" dirty="0">
                <a:solidFill>
                  <a:schemeClr val="bg1"/>
                </a:solidFill>
                <a:latin typeface="微软雅黑" panose="020B0503020204020204" pitchFamily="34" charset="-122"/>
                <a:ea typeface="微软雅黑" panose="020B0503020204020204" pitchFamily="34" charset="-122"/>
              </a:rPr>
              <a:t>项目关键活动实现了</a:t>
            </a:r>
            <a:r>
              <a:rPr lang="en-US" altLang="zh-CN" sz="1600" dirty="0">
                <a:solidFill>
                  <a:schemeClr val="bg1"/>
                </a:solidFill>
                <a:latin typeface="微软雅黑" panose="020B0503020204020204" pitchFamily="34" charset="-122"/>
                <a:ea typeface="微软雅黑" panose="020B0503020204020204" pitchFamily="34" charset="-122"/>
              </a:rPr>
              <a:t>IT</a:t>
            </a:r>
            <a:r>
              <a:rPr lang="zh-CN" altLang="en-US" sz="1600" dirty="0">
                <a:solidFill>
                  <a:schemeClr val="bg1"/>
                </a:solidFill>
                <a:latin typeface="微软雅黑" panose="020B0503020204020204" pitchFamily="34" charset="-122"/>
                <a:ea typeface="微软雅黑" panose="020B0503020204020204" pitchFamily="34" charset="-122"/>
              </a:rPr>
              <a:t>化和过程文档的标准化，实现了从立项启动会、项目分析会、解决方案评审会、标前分析会、中标</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丢标复盘等数据的有效留存，帮助我们更好的复盘和萃取经验。</a:t>
            </a:r>
            <a:endParaRPr lang="en-US" altLang="zh-CN" sz="1600" dirty="0" smtClean="0">
              <a:solidFill>
                <a:schemeClr val="bg1"/>
              </a:solidFill>
              <a:latin typeface="微软雅黑" panose="020B0503020204020204" pitchFamily="34" charset="-122"/>
              <a:ea typeface="微软雅黑" panose="020B0503020204020204" pitchFamily="34" charset="-122"/>
            </a:endParaRPr>
          </a:p>
        </p:txBody>
      </p:sp>
      <p:sp>
        <p:nvSpPr>
          <p:cNvPr id="27" name="矩形 26"/>
          <p:cNvSpPr/>
          <p:nvPr/>
        </p:nvSpPr>
        <p:spPr>
          <a:xfrm>
            <a:off x="123786" y="20120229"/>
            <a:ext cx="6896888" cy="978729"/>
          </a:xfrm>
          <a:prstGeom prst="rect">
            <a:avLst/>
          </a:prstGeom>
        </p:spPr>
        <p:txBody>
          <a:bodyPr wrap="square">
            <a:spAutoFit/>
          </a:bodyPr>
          <a:lstStyle/>
          <a:p>
            <a:pPr>
              <a:lnSpc>
                <a:spcPct val="120000"/>
              </a:lnSpc>
            </a:pPr>
            <a:r>
              <a:rPr lang="en-US" altLang="zh-CN" sz="1600" b="1"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600" b="1" dirty="0" smtClean="0">
                <a:solidFill>
                  <a:schemeClr val="tx1">
                    <a:lumMod val="75000"/>
                    <a:lumOff val="25000"/>
                  </a:schemeClr>
                </a:solidFill>
                <a:latin typeface="微软雅黑" panose="020B0503020204020204" pitchFamily="34" charset="-122"/>
                <a:ea typeface="微软雅黑" panose="020B0503020204020204" pitchFamily="34" charset="-122"/>
              </a:rPr>
              <a:t>推进商机流程</a:t>
            </a:r>
            <a:r>
              <a:rPr lang="en-US" altLang="zh-CN" sz="1600" b="1"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600" b="1" dirty="0" smtClean="0">
                <a:solidFill>
                  <a:schemeClr val="tx1">
                    <a:lumMod val="75000"/>
                    <a:lumOff val="25000"/>
                  </a:schemeClr>
                </a:solidFill>
                <a:latin typeface="微软雅黑" panose="020B0503020204020204" pitchFamily="34" charset="-122"/>
                <a:ea typeface="微软雅黑" panose="020B0503020204020204" pitchFamily="34" charset="-122"/>
              </a:rPr>
              <a:t>北京区域实践案例</a:t>
            </a:r>
            <a:r>
              <a:rPr lang="en-US" altLang="zh-CN" sz="1600" b="1"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600" b="1" dirty="0" smtClean="0">
                <a:solidFill>
                  <a:schemeClr val="tx1">
                    <a:lumMod val="75000"/>
                    <a:lumOff val="25000"/>
                  </a:schemeClr>
                </a:solidFill>
                <a:latin typeface="微软雅黑" panose="020B0503020204020204" pitchFamily="34" charset="-122"/>
                <a:ea typeface="微软雅黑" panose="020B0503020204020204" pitchFamily="34" charset="-122"/>
              </a:rPr>
              <a:t>案例详情</a:t>
            </a:r>
            <a:endParaRPr lang="en-US" altLang="zh-CN" sz="1600" b="1"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20000"/>
              </a:lnSpc>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飞</a:t>
            </a:r>
            <a:r>
              <a:rPr lang="zh-CN" altLang="en-US" sz="1600" b="1" dirty="0" smtClean="0">
                <a:solidFill>
                  <a:schemeClr val="tx1">
                    <a:lumMod val="75000"/>
                    <a:lumOff val="25000"/>
                  </a:schemeClr>
                </a:solidFill>
                <a:latin typeface="微软雅黑" panose="020B0503020204020204" pitchFamily="34" charset="-122"/>
                <a:ea typeface="微软雅黑" panose="020B0503020204020204" pitchFamily="34" charset="-122"/>
              </a:rPr>
              <a:t>书云文档：</a:t>
            </a: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rPr>
              <a:t>EBG</a:t>
            </a:r>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流程知识库</a:t>
            </a: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rPr>
              <a:t>-&gt;MTCV</a:t>
            </a:r>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流程知识库</a:t>
            </a:r>
            <a:r>
              <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rPr>
              <a:t>-&gt;</a:t>
            </a:r>
            <a:r>
              <a:rPr lang="zh-CN" altLang="en-US" sz="1600" dirty="0" smtClean="0">
                <a:solidFill>
                  <a:schemeClr val="tx1">
                    <a:lumMod val="75000"/>
                    <a:lumOff val="25000"/>
                  </a:schemeClr>
                </a:solidFill>
                <a:latin typeface="微软雅黑" panose="020B0503020204020204" pitchFamily="34" charset="-122"/>
                <a:ea typeface="微软雅黑" panose="020B0503020204020204" pitchFamily="34" charset="-122"/>
              </a:rPr>
              <a:t>流程实践案例库</a:t>
            </a:r>
            <a:endParaRPr lang="en-US" altLang="zh-CN" sz="16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2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https://ruijie.feishu.cn/wiki/Rh7Vw93HxiyPfRknPtZcelaynld</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矩形 27"/>
          <p:cNvSpPr/>
          <p:nvPr/>
        </p:nvSpPr>
        <p:spPr>
          <a:xfrm>
            <a:off x="156647" y="10932430"/>
            <a:ext cx="6563332" cy="1154162"/>
          </a:xfrm>
          <a:prstGeom prst="rect">
            <a:avLst/>
          </a:prstGeom>
        </p:spPr>
        <p:txBody>
          <a:bodyPr wrap="square">
            <a:spAutoFit/>
          </a:bodyPr>
          <a:lstStyle/>
          <a:p>
            <a:pPr>
              <a:lnSpc>
                <a:spcPct val="150000"/>
              </a:lnSpc>
            </a:pPr>
            <a:r>
              <a:rPr lang="zh-CN" altLang="en-US" b="1" dirty="0">
                <a:solidFill>
                  <a:schemeClr val="bg1"/>
                </a:solidFill>
                <a:latin typeface="微软雅黑" panose="020B0503020204020204" pitchFamily="34" charset="-122"/>
                <a:ea typeface="微软雅黑" panose="020B0503020204020204" pitchFamily="34" charset="-122"/>
              </a:rPr>
              <a:t>设计解决方案评审环节</a:t>
            </a:r>
            <a:r>
              <a:rPr lang="zh-CN" altLang="en-US" b="1" dirty="0" smtClean="0">
                <a:solidFill>
                  <a:schemeClr val="bg1"/>
                </a:solidFill>
                <a:latin typeface="微软雅黑" panose="020B0503020204020204" pitchFamily="34" charset="-122"/>
                <a:ea typeface="微软雅黑" panose="020B0503020204020204" pitchFamily="34" charset="-122"/>
              </a:rPr>
              <a:t>，提升</a:t>
            </a:r>
            <a:r>
              <a:rPr lang="zh-CN" altLang="en-US" b="1" dirty="0">
                <a:solidFill>
                  <a:schemeClr val="bg1"/>
                </a:solidFill>
                <a:latin typeface="微软雅黑" panose="020B0503020204020204" pitchFamily="34" charset="-122"/>
                <a:ea typeface="微软雅黑" panose="020B0503020204020204" pitchFamily="34" charset="-122"/>
              </a:rPr>
              <a:t>解决方案质量：</a:t>
            </a:r>
            <a:endParaRPr lang="zh-CN" altLang="en-US" b="1" dirty="0" smtClean="0">
              <a:solidFill>
                <a:schemeClr val="bg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smtClean="0">
                <a:solidFill>
                  <a:schemeClr val="bg1"/>
                </a:solidFill>
                <a:latin typeface="微软雅黑" panose="020B0503020204020204" pitchFamily="34" charset="-122"/>
                <a:ea typeface="微软雅黑" panose="020B0503020204020204" pitchFamily="34" charset="-122"/>
              </a:rPr>
              <a:t>在解决方案评审环节不仅仅对方案可行性和有效性进行把关，同时也关注解决方案的可实施性与可交付性，提前引入售后及产研团队参与，达成多方共识。</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29" name="矩形 28"/>
          <p:cNvSpPr/>
          <p:nvPr/>
        </p:nvSpPr>
        <p:spPr>
          <a:xfrm>
            <a:off x="139155" y="12037280"/>
            <a:ext cx="6563332" cy="1477328"/>
          </a:xfrm>
          <a:prstGeom prst="rect">
            <a:avLst/>
          </a:prstGeom>
        </p:spPr>
        <p:txBody>
          <a:bodyPr wrap="square">
            <a:spAutoFit/>
          </a:bodyPr>
          <a:lstStyle/>
          <a:p>
            <a:pPr>
              <a:lnSpc>
                <a:spcPct val="150000"/>
              </a:lnSpc>
            </a:pPr>
            <a:r>
              <a:rPr lang="zh-CN" altLang="en-US" b="1" dirty="0">
                <a:solidFill>
                  <a:schemeClr val="bg1"/>
                </a:solidFill>
                <a:latin typeface="微软雅黑" panose="020B0503020204020204" pitchFamily="34" charset="-122"/>
                <a:ea typeface="微软雅黑" panose="020B0503020204020204" pitchFamily="34" charset="-122"/>
              </a:rPr>
              <a:t>强化高质量客户交流：</a:t>
            </a:r>
            <a:endParaRPr lang="en-US" altLang="zh-CN" b="1" dirty="0" smtClean="0">
              <a:solidFill>
                <a:schemeClr val="bg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a:solidFill>
                  <a:schemeClr val="bg1"/>
                </a:solidFill>
                <a:latin typeface="微软雅黑" panose="020B0503020204020204" pitchFamily="34" charset="-122"/>
                <a:ea typeface="微软雅黑" panose="020B0503020204020204" pitchFamily="34" charset="-122"/>
              </a:rPr>
              <a:t>商机推进环节的最重要的一项工作就是组织客户交流，开展高质量的客户交流对理解客户需求，展现我司价值主张及核心优势起着至关重要的作用，通过</a:t>
            </a:r>
            <a:r>
              <a:rPr lang="zh-CN" altLang="en-US" sz="1400" dirty="0" smtClean="0">
                <a:solidFill>
                  <a:schemeClr val="bg1"/>
                </a:solidFill>
                <a:latin typeface="微软雅黑" panose="020B0503020204020204" pitchFamily="34" charset="-122"/>
                <a:ea typeface="微软雅黑" panose="020B0503020204020204" pitchFamily="34" charset="-122"/>
              </a:rPr>
              <a:t>设计技术交流</a:t>
            </a:r>
            <a:r>
              <a:rPr lang="zh-CN" altLang="en-US" sz="1400" dirty="0">
                <a:solidFill>
                  <a:schemeClr val="bg1"/>
                </a:solidFill>
                <a:latin typeface="微软雅黑" panose="020B0503020204020204" pitchFamily="34" charset="-122"/>
                <a:ea typeface="微软雅黑" panose="020B0503020204020204" pitchFamily="34" charset="-122"/>
              </a:rPr>
              <a:t>材料工具，有效支撑客户技术交流</a:t>
            </a:r>
            <a:r>
              <a:rPr lang="zh-CN" altLang="en-US" sz="1400" dirty="0" smtClean="0">
                <a:solidFill>
                  <a:schemeClr val="bg1"/>
                </a:solidFill>
                <a:latin typeface="微软雅黑" panose="020B0503020204020204" pitchFamily="34" charset="-122"/>
                <a:ea typeface="微软雅黑" panose="020B0503020204020204" pitchFamily="34" charset="-122"/>
              </a:rPr>
              <a:t>工作。</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528540" y="6243789"/>
            <a:ext cx="5768204" cy="3196765"/>
          </a:xfrm>
          <a:prstGeom prst="rect">
            <a:avLst/>
          </a:prstGeom>
        </p:spPr>
      </p:pic>
      <p:sp>
        <p:nvSpPr>
          <p:cNvPr id="20" name="矩形 19"/>
          <p:cNvSpPr/>
          <p:nvPr/>
        </p:nvSpPr>
        <p:spPr>
          <a:xfrm>
            <a:off x="105306" y="13555189"/>
            <a:ext cx="6563332" cy="1477328"/>
          </a:xfrm>
          <a:prstGeom prst="rect">
            <a:avLst/>
          </a:prstGeom>
        </p:spPr>
        <p:txBody>
          <a:bodyPr wrap="square">
            <a:spAutoFit/>
          </a:bodyPr>
          <a:lstStyle/>
          <a:p>
            <a:pPr>
              <a:lnSpc>
                <a:spcPct val="150000"/>
              </a:lnSpc>
            </a:pPr>
            <a:r>
              <a:rPr lang="zh-CN" altLang="en-US" b="1" dirty="0">
                <a:solidFill>
                  <a:schemeClr val="bg1"/>
                </a:solidFill>
                <a:latin typeface="微软雅黑" panose="020B0503020204020204" pitchFamily="34" charset="-122"/>
                <a:ea typeface="微软雅黑" panose="020B0503020204020204" pitchFamily="34" charset="-122"/>
              </a:rPr>
              <a:t>制作项目分析</a:t>
            </a:r>
            <a:r>
              <a:rPr lang="zh-CN" altLang="en-US" b="1" dirty="0" smtClean="0">
                <a:solidFill>
                  <a:schemeClr val="bg1"/>
                </a:solidFill>
                <a:latin typeface="微软雅黑" panose="020B0503020204020204" pitchFamily="34" charset="-122"/>
                <a:ea typeface="微软雅黑" panose="020B0503020204020204" pitchFamily="34" charset="-122"/>
              </a:rPr>
              <a:t>会标准模板提升效率保证质量：</a:t>
            </a:r>
            <a:endParaRPr lang="en-US" altLang="zh-CN" b="1" dirty="0" smtClean="0">
              <a:solidFill>
                <a:schemeClr val="bg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dirty="0" smtClean="0">
                <a:solidFill>
                  <a:schemeClr val="bg1"/>
                </a:solidFill>
                <a:latin typeface="微软雅黑" panose="020B0503020204020204" pitchFamily="34" charset="-122"/>
                <a:ea typeface="微软雅黑" panose="020B0503020204020204" pitchFamily="34" charset="-122"/>
              </a:rPr>
              <a:t>重点的项目少不了多轮的项目分析会，每一次项目分析会对于项目后期的成功都起着非常重要的作用，为了提升会议效率，保障会议质量，设计了项目分析会标准模板作为关键指导工具支撑项目分析会的开展。</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18136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4729</TotalTime>
  <Words>553</Words>
  <Application>Microsoft Office PowerPoint</Application>
  <PresentationFormat>自定义</PresentationFormat>
  <Paragraphs>24</Paragraphs>
  <Slides>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vt:i4>
      </vt:variant>
    </vt:vector>
  </HeadingPairs>
  <TitlesOfParts>
    <vt:vector size="8" baseType="lpstr">
      <vt:lpstr>等线</vt:lpstr>
      <vt:lpstr>等线 Light</vt:lpstr>
      <vt:lpstr>微软雅黑</vt:lpstr>
      <vt:lpstr>Arial</vt:lpstr>
      <vt:lpstr>Calibri</vt:lpstr>
      <vt:lpstr>Calibri Light</vt:lpstr>
      <vt:lpstr>Office 主题​​</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Lenovo</cp:lastModifiedBy>
  <cp:revision>116</cp:revision>
  <dcterms:created xsi:type="dcterms:W3CDTF">2025-07-30T10:15:34Z</dcterms:created>
  <dcterms:modified xsi:type="dcterms:W3CDTF">2025-09-23T06:34:53Z</dcterms:modified>
</cp:coreProperties>
</file>