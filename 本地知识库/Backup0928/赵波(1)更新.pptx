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64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53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9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75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52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78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14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15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97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8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39FC4-2C42-4C59-9677-4DBEC49129B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1EB1D-808A-476A-87B8-C913EEF58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25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368748" y="1679122"/>
            <a:ext cx="3775470" cy="48740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/>
            </a:defPPr>
            <a:lvl1pPr>
              <a:defRPr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fontAlgn="auto"/>
            <a:r>
              <a:rPr lang="zh-CN" altLang="en-US" sz="1200" b="1" dirty="0"/>
              <a:t>总部新品发布会</a:t>
            </a:r>
            <a:r>
              <a:rPr lang="zh-CN" altLang="en-US" sz="1200" dirty="0"/>
              <a:t>：​</a:t>
            </a:r>
          </a:p>
          <a:p>
            <a:r>
              <a:rPr lang="zh-CN" altLang="en-US" sz="1200" dirty="0"/>
              <a:t>责任人：总部 </a:t>
            </a:r>
            <a:r>
              <a:rPr lang="en-US" altLang="zh-CN" sz="1200" dirty="0"/>
              <a:t>GTM </a:t>
            </a:r>
            <a:r>
              <a:rPr lang="zh-CN" altLang="en-US" sz="1200" dirty="0"/>
              <a:t>经理 </a:t>
            </a:r>
            <a:r>
              <a:rPr lang="en-US" altLang="zh-CN" sz="1200" dirty="0"/>
              <a:t>+ </a:t>
            </a:r>
            <a:r>
              <a:rPr lang="zh-CN" altLang="en-US" sz="1200" dirty="0"/>
              <a:t>品牌代表 </a:t>
            </a:r>
            <a:r>
              <a:rPr lang="en-US" altLang="zh-CN" sz="1200" dirty="0"/>
              <a:t>+ </a:t>
            </a:r>
            <a:r>
              <a:rPr lang="zh-CN" altLang="en-US" sz="1200" dirty="0"/>
              <a:t>产品经理​</a:t>
            </a:r>
          </a:p>
          <a:p>
            <a:r>
              <a:rPr lang="zh-CN" altLang="en-US" sz="1200" dirty="0"/>
              <a:t>执行要点：统筹策划全国性活动流程，明确新品核心价值与传播重点；品牌代表负责品牌形象塑造与预热宣传（如线上线下造势、媒体邀约）；产品经理主导新品功能演示、技术亮点解读与答疑；联动跨部门保障活动落地，会后收集反馈推动新品转化与品牌声量提升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fontAlgn="auto"/>
            <a:r>
              <a:rPr lang="zh-CN" altLang="en-US" sz="1200" b="1" dirty="0"/>
              <a:t>行业圈子活动</a:t>
            </a:r>
            <a:r>
              <a:rPr lang="zh-CN" altLang="en-US" sz="1200" dirty="0"/>
              <a:t>：​</a:t>
            </a:r>
          </a:p>
          <a:p>
            <a:r>
              <a:rPr lang="zh-CN" altLang="en-US" sz="1200" dirty="0"/>
              <a:t>责任人：行业 </a:t>
            </a:r>
            <a:r>
              <a:rPr lang="en-US" altLang="zh-CN" sz="1200" dirty="0"/>
              <a:t>GTM </a:t>
            </a:r>
            <a:r>
              <a:rPr lang="zh-CN" altLang="en-US" sz="1200" dirty="0"/>
              <a:t>代表 </a:t>
            </a:r>
            <a:r>
              <a:rPr lang="en-US" altLang="zh-CN" sz="1200" dirty="0"/>
              <a:t>+ </a:t>
            </a:r>
            <a:r>
              <a:rPr lang="zh-CN" altLang="en-US" sz="1200" dirty="0"/>
              <a:t>品牌代表 </a:t>
            </a:r>
            <a:r>
              <a:rPr lang="en-US" altLang="zh-CN" sz="1200" dirty="0"/>
              <a:t>+ </a:t>
            </a:r>
            <a:r>
              <a:rPr lang="zh-CN" altLang="en-US" sz="1200" dirty="0"/>
              <a:t>解决方案代表​</a:t>
            </a:r>
          </a:p>
          <a:p>
            <a:r>
              <a:rPr lang="zh-CN" altLang="en-US" sz="1200" dirty="0"/>
              <a:t>执行要点：行业 </a:t>
            </a:r>
            <a:r>
              <a:rPr lang="en-US" altLang="zh-CN" sz="1200" dirty="0"/>
              <a:t>GTM </a:t>
            </a:r>
            <a:r>
              <a:rPr lang="zh-CN" altLang="en-US" sz="1200" dirty="0"/>
              <a:t>代表聚焦特定行业需求，确定活动</a:t>
            </a:r>
            <a:r>
              <a:rPr lang="zh-CN" altLang="en-US" sz="1200" dirty="0" smtClean="0"/>
              <a:t>主题并</a:t>
            </a:r>
            <a:r>
              <a:rPr lang="zh-CN" altLang="en-US" sz="1200" dirty="0"/>
              <a:t>联动区域资源；品牌代表融入行业场景传递品牌价值，增强行业客户认可度；解决方案代表针对性输出行业专属方案，现场收集需求反馈；会后协同跟进线索商机，优化方案以适配行业需求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 fontAlgn="auto"/>
            <a:r>
              <a:rPr lang="zh-CN" altLang="en-US" sz="1200" b="1" dirty="0"/>
              <a:t>区域圈子活动</a:t>
            </a:r>
            <a:r>
              <a:rPr lang="zh-CN" altLang="en-US" sz="1200" dirty="0"/>
              <a:t>：​</a:t>
            </a:r>
          </a:p>
          <a:p>
            <a:r>
              <a:rPr lang="zh-CN" altLang="en-US" sz="1200" dirty="0"/>
              <a:t>责任人：区域 </a:t>
            </a:r>
            <a:r>
              <a:rPr lang="en-US" altLang="zh-CN" sz="1200" dirty="0"/>
              <a:t>GTM </a:t>
            </a:r>
            <a:r>
              <a:rPr lang="zh-CN" altLang="en-US" sz="1200" dirty="0"/>
              <a:t>经理 </a:t>
            </a:r>
            <a:r>
              <a:rPr lang="en-US" altLang="zh-CN" sz="1200" dirty="0"/>
              <a:t>+ </a:t>
            </a:r>
            <a:r>
              <a:rPr lang="zh-CN" altLang="en-US" sz="1200" dirty="0"/>
              <a:t>区域 </a:t>
            </a:r>
            <a:r>
              <a:rPr lang="en-US" altLang="zh-CN" sz="1200" dirty="0"/>
              <a:t>IMC​</a:t>
            </a:r>
          </a:p>
          <a:p>
            <a:r>
              <a:rPr lang="zh-CN" altLang="en-US" sz="1200" dirty="0"/>
              <a:t>执行要点：区域 </a:t>
            </a:r>
            <a:r>
              <a:rPr lang="en-US" altLang="zh-CN" sz="1200" dirty="0"/>
              <a:t>GTM </a:t>
            </a:r>
            <a:r>
              <a:rPr lang="zh-CN" altLang="en-US" sz="1200" dirty="0"/>
              <a:t>经理调研本地市场，策划贴合区域需求的活动（如小型沙龙、客户座谈）；区域 </a:t>
            </a:r>
            <a:r>
              <a:rPr lang="en-US" altLang="zh-CN" sz="1200" dirty="0"/>
              <a:t>IMC </a:t>
            </a:r>
            <a:r>
              <a:rPr lang="zh-CN" altLang="en-US" sz="1200" dirty="0"/>
              <a:t>负责本地渠道宣传（如本地社群、协会合作推广）与现场氛围营造；控制活动规模以保障互动质量，会后建群维护客户关系，跟进问题并激活区域市场。</a:t>
            </a:r>
          </a:p>
          <a:p>
            <a:pPr fontAlgn="auto"/>
            <a:r>
              <a:rPr lang="zh-CN" altLang="en-US" sz="1200" b="1" dirty="0"/>
              <a:t>线上活动</a:t>
            </a:r>
            <a:r>
              <a:rPr lang="zh-CN" altLang="en-US" sz="1200" dirty="0"/>
              <a:t>：​</a:t>
            </a:r>
          </a:p>
          <a:p>
            <a:r>
              <a:rPr lang="zh-CN" altLang="en-US" sz="1200" dirty="0"/>
              <a:t>责任人：品牌代表​</a:t>
            </a:r>
          </a:p>
          <a:p>
            <a:r>
              <a:rPr lang="zh-CN" altLang="en-US" sz="1200" dirty="0"/>
              <a:t>执行要点：策划多样化线上形式（如直播、线上品宣、数字化营销）；明确活动目标（如获客、品牌传播），设计互动环节（如问答抽奖、试用预约）；统筹线上渠道投放与流量引导，实时跟进活动数据；会后整理用户反馈，优化内容以提升线上触达效率与转化效果。​</a:t>
            </a:r>
          </a:p>
          <a:p>
            <a:r>
              <a:rPr lang="zh-CN" altLang="en-US" sz="1200" dirty="0"/>
              <a:t/>
            </a:r>
            <a:br>
              <a:rPr lang="zh-CN" altLang="en-US" sz="1200" dirty="0"/>
            </a:b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7" name="矩形 6"/>
          <p:cNvSpPr/>
          <p:nvPr/>
        </p:nvSpPr>
        <p:spPr>
          <a:xfrm>
            <a:off x="185991" y="1097280"/>
            <a:ext cx="2028890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什么是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5991" y="1693001"/>
            <a:ext cx="2028890" cy="50954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精品活动是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以产品为主线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，经系统化、标准化策划与组织，能精准对接市场需求和品牌定位。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56332" y="1097278"/>
            <a:ext cx="2162241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的意义和价值</a:t>
            </a:r>
          </a:p>
        </p:txBody>
      </p:sp>
      <p:sp>
        <p:nvSpPr>
          <p:cNvPr id="10" name="矩形 9"/>
          <p:cNvSpPr/>
          <p:nvPr/>
        </p:nvSpPr>
        <p:spPr>
          <a:xfrm>
            <a:off x="2337342" y="1693000"/>
            <a:ext cx="2181231" cy="5095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提升营销活动整体效率与效果，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确保活动充分契合市场需求和品牌定位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提升价值认可效率，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激发线索生成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，帮助挖掘更多线索，保障年度整合营销目标高质量达成。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促进重大机会上升并达成增长目标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，推动业务可持续增长。</a:t>
            </a:r>
          </a:p>
        </p:txBody>
      </p:sp>
      <p:sp>
        <p:nvSpPr>
          <p:cNvPr id="11" name="矩形 10"/>
          <p:cNvSpPr/>
          <p:nvPr/>
        </p:nvSpPr>
        <p:spPr>
          <a:xfrm>
            <a:off x="4660025" y="1097278"/>
            <a:ext cx="3142192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分级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全国、行业、区域</a:t>
            </a:r>
          </a:p>
        </p:txBody>
      </p:sp>
      <p:sp>
        <p:nvSpPr>
          <p:cNvPr id="12" name="矩形 11"/>
          <p:cNvSpPr/>
          <p:nvPr/>
        </p:nvSpPr>
        <p:spPr>
          <a:xfrm>
            <a:off x="4657118" y="1679122"/>
            <a:ext cx="3145099" cy="5109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一、线下活动：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全国：由总部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经理策划，面向全行业组织的以产品为主线的精品活动，目的是扩大产品方案影响力，典型的如新品发布会活动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行业：行业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经理策划，系统部、区域协同，借总部技术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品牌支持开展；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现场收集需求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反馈，会后区域跟进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转化，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旨在精准匹配行业痛点、提升方案适配性，同时获客并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发现行业线索及商机。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区域：区域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经理调研本地需求定主题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；联动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本地资源、用本地渠道宣传降本提效，聚焦本地需求激活区域市场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。典型的如本地沙龙，区域圈子活动等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、线上活动：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线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上活动涵盖直播、品宣、线上线下结合的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1+N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活动、客户数字化营销等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形式，直播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侧重实时互动传递信息，品宣聚焦品牌价值线上传播，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1+N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活动以线上统筹联动线下落地实现规模效应，客户数字化营销精准触达目标客户；整体通过多样化形式组合，达成更灵活的活动部署与更高效的用户触达，助力营销目标快速落地。</a:t>
            </a:r>
            <a:endParaRPr lang="en-US" altLang="zh-CN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68748" y="1097279"/>
            <a:ext cx="3775470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如何开展活动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88193" y="345280"/>
            <a:ext cx="7416710" cy="548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dirty="0" smtClean="0"/>
              <a:t>GTM</a:t>
            </a:r>
            <a:r>
              <a:rPr lang="zh-CN" altLang="en-US" dirty="0" smtClean="0"/>
              <a:t>落地核心抓手三：品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5328950" y="1810613"/>
            <a:ext cx="2542540" cy="486019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dirty="0" smtClean="0"/>
              <a:t>一、线下活动：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全国：由总部</a:t>
            </a:r>
            <a:r>
              <a:rPr kumimoji="1" lang="en-US" altLang="zh-CN" sz="1400" dirty="0" smtClean="0"/>
              <a:t>GTM</a:t>
            </a:r>
            <a:r>
              <a:rPr kumimoji="1" lang="zh-CN" altLang="en-US" sz="1400" dirty="0" smtClean="0"/>
              <a:t>经理策划，面向全行业组织的以产品为主线的精品活动，目的是扩大产品方案影响力，典型的如新品发布会活动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行业：由行业</a:t>
            </a:r>
            <a:r>
              <a:rPr kumimoji="1" lang="en-US" altLang="zh-CN" sz="1400" dirty="0" smtClean="0"/>
              <a:t>GTM</a:t>
            </a:r>
            <a:r>
              <a:rPr kumimoji="1" lang="zh-CN" altLang="en-US" sz="1400" dirty="0" smtClean="0"/>
              <a:t>经理策划</a:t>
            </a:r>
            <a:r>
              <a:rPr kumimoji="1" lang="en-US" altLang="zh-CN" sz="1400" dirty="0" smtClean="0"/>
              <a:t>….</a:t>
            </a:r>
          </a:p>
          <a:p>
            <a:r>
              <a:rPr kumimoji="1" lang="zh-CN" altLang="en-US" sz="1400" dirty="0" smtClean="0"/>
              <a:t>区域：由区域</a:t>
            </a:r>
            <a:r>
              <a:rPr kumimoji="1" lang="en-US" altLang="zh-CN" sz="1400" dirty="0" smtClean="0"/>
              <a:t>GTM</a:t>
            </a:r>
            <a:r>
              <a:rPr kumimoji="1" lang="zh-CN" altLang="en-US" sz="1400" dirty="0" smtClean="0"/>
              <a:t>经理策划</a:t>
            </a:r>
            <a:r>
              <a:rPr kumimoji="1" lang="en-US" altLang="zh-CN" sz="1400" dirty="0" smtClean="0"/>
              <a:t>…</a:t>
            </a:r>
          </a:p>
          <a:p>
            <a:endParaRPr kumimoji="1" lang="en-US" altLang="zh-CN" sz="1400" dirty="0"/>
          </a:p>
          <a:p>
            <a:r>
              <a:rPr kumimoji="1" lang="zh-CN" altLang="en-US" sz="1400" dirty="0" smtClean="0"/>
              <a:t>二、线上活动：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形式包括直播、品宣、</a:t>
            </a:r>
            <a:r>
              <a:rPr kumimoji="1" lang="zh-CN" altLang="en-US" sz="1400" dirty="0"/>
              <a:t>线上</a:t>
            </a:r>
            <a:r>
              <a:rPr kumimoji="1" lang="zh-CN" altLang="en-US" sz="1400" dirty="0" smtClean="0"/>
              <a:t>与线下结合的</a:t>
            </a:r>
            <a:r>
              <a:rPr kumimoji="1" lang="en-US" altLang="zh-CN" sz="1400" dirty="0" smtClean="0"/>
              <a:t>1+N</a:t>
            </a:r>
            <a:r>
              <a:rPr kumimoji="1" lang="zh-CN" altLang="en-US" sz="1400" dirty="0" smtClean="0"/>
              <a:t>活动、客户数字化营销等，目的是通过更灵活、更高效的活动形式</a:t>
            </a:r>
            <a:r>
              <a:rPr kumimoji="1" lang="en-US" altLang="zh-CN" sz="1400" dirty="0" smtClean="0"/>
              <a:t>…..</a:t>
            </a:r>
            <a:endParaRPr kumimoji="1" lang="zh-CN" altLang="en-US" sz="1400" dirty="0"/>
          </a:p>
        </p:txBody>
      </p:sp>
      <p:sp>
        <p:nvSpPr>
          <p:cNvPr id="15" name="矩形 14"/>
          <p:cNvSpPr/>
          <p:nvPr/>
        </p:nvSpPr>
        <p:spPr>
          <a:xfrm>
            <a:off x="12282763" y="1784183"/>
            <a:ext cx="4628515" cy="486019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dirty="0" smtClean="0"/>
              <a:t>总部新品发布会：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责任人：总部</a:t>
            </a:r>
            <a:r>
              <a:rPr kumimoji="1" lang="en-US" altLang="zh-CN" sz="1400" dirty="0" smtClean="0"/>
              <a:t>GTM</a:t>
            </a:r>
            <a:r>
              <a:rPr kumimoji="1" lang="zh-CN" altLang="en-US" sz="1400" dirty="0" smtClean="0"/>
              <a:t>经理</a:t>
            </a:r>
            <a:r>
              <a:rPr kumimoji="1" lang="en-US" altLang="zh-CN" sz="1400" dirty="0" smtClean="0"/>
              <a:t>+</a:t>
            </a:r>
            <a:r>
              <a:rPr kumimoji="1" lang="zh-CN" altLang="en-US" sz="1400" dirty="0" smtClean="0"/>
              <a:t>品牌代表</a:t>
            </a:r>
            <a:r>
              <a:rPr kumimoji="1" lang="en-US" altLang="zh-CN" sz="1400" dirty="0" smtClean="0"/>
              <a:t>+</a:t>
            </a:r>
            <a:r>
              <a:rPr kumimoji="1" lang="zh-CN" altLang="en-US" sz="1400" dirty="0" smtClean="0"/>
              <a:t>产品经理</a:t>
            </a:r>
            <a:endParaRPr kumimoji="1" lang="en-US" altLang="zh-CN" sz="1400" dirty="0"/>
          </a:p>
          <a:p>
            <a:r>
              <a:rPr kumimoji="1" lang="zh-CN" altLang="en-US" sz="1400" dirty="0" smtClean="0"/>
              <a:t>执行要点：</a:t>
            </a:r>
            <a:r>
              <a:rPr kumimoji="1" lang="en-US" altLang="zh-CN" sz="1400" dirty="0" smtClean="0"/>
              <a:t>XXX</a:t>
            </a:r>
          </a:p>
          <a:p>
            <a:endParaRPr kumimoji="1" lang="en-US" altLang="zh-CN" sz="1400" dirty="0" smtClean="0"/>
          </a:p>
          <a:p>
            <a:r>
              <a:rPr kumimoji="1" lang="zh-CN" altLang="en-US" sz="1400" dirty="0" smtClean="0"/>
              <a:t>行业圈子活动：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责任人：行业</a:t>
            </a:r>
            <a:r>
              <a:rPr kumimoji="1" lang="en-US" altLang="zh-CN" sz="1400" dirty="0" smtClean="0"/>
              <a:t>GTM</a:t>
            </a:r>
            <a:r>
              <a:rPr kumimoji="1" lang="zh-CN" altLang="en-US" sz="1400" dirty="0" smtClean="0"/>
              <a:t>代表</a:t>
            </a:r>
            <a:r>
              <a:rPr kumimoji="1" lang="en-US" altLang="zh-CN" sz="1400" dirty="0" smtClean="0"/>
              <a:t>+</a:t>
            </a:r>
            <a:r>
              <a:rPr kumimoji="1" lang="zh-CN" altLang="en-US" sz="1400" dirty="0" smtClean="0"/>
              <a:t>品牌代表</a:t>
            </a:r>
            <a:r>
              <a:rPr kumimoji="1" lang="en-US" altLang="zh-CN" sz="1400" dirty="0" smtClean="0"/>
              <a:t>+</a:t>
            </a:r>
            <a:r>
              <a:rPr kumimoji="1" lang="zh-CN" altLang="en-US" sz="1400" dirty="0" smtClean="0"/>
              <a:t>解决方案代表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执行要点：</a:t>
            </a:r>
            <a:endParaRPr kumimoji="1" lang="en-US" altLang="zh-CN" sz="1400" dirty="0" smtClean="0"/>
          </a:p>
          <a:p>
            <a:endParaRPr kumimoji="1" lang="en-US" altLang="zh-CN" sz="1400" dirty="0"/>
          </a:p>
          <a:p>
            <a:r>
              <a:rPr kumimoji="1" lang="zh-CN" altLang="en-US" sz="1400" dirty="0" smtClean="0"/>
              <a:t>区域圈子活动：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责任人：区域</a:t>
            </a:r>
            <a:r>
              <a:rPr kumimoji="1" lang="en-US" altLang="zh-CN" sz="1400" dirty="0" smtClean="0"/>
              <a:t>GTM</a:t>
            </a:r>
            <a:r>
              <a:rPr kumimoji="1" lang="zh-CN" altLang="en-US" sz="1400" dirty="0" smtClean="0"/>
              <a:t>经理</a:t>
            </a:r>
            <a:r>
              <a:rPr kumimoji="1" lang="en-US" altLang="zh-CN" sz="1400" dirty="0" smtClean="0"/>
              <a:t>+</a:t>
            </a:r>
            <a:r>
              <a:rPr kumimoji="1" lang="zh-CN" altLang="en-US" sz="1400" dirty="0" smtClean="0"/>
              <a:t>区域</a:t>
            </a:r>
            <a:r>
              <a:rPr kumimoji="1" lang="en-US" altLang="zh-CN" sz="1400" dirty="0" smtClean="0"/>
              <a:t>IMC</a:t>
            </a:r>
          </a:p>
          <a:p>
            <a:r>
              <a:rPr kumimoji="1" lang="zh-CN" altLang="en-US" sz="1400" dirty="0" smtClean="0"/>
              <a:t>执行要点：</a:t>
            </a:r>
            <a:endParaRPr kumimoji="1" lang="en-US" altLang="zh-CN" sz="1400" dirty="0" smtClean="0"/>
          </a:p>
          <a:p>
            <a:endParaRPr kumimoji="1" lang="en-US" altLang="zh-CN" sz="1400" dirty="0"/>
          </a:p>
          <a:p>
            <a:r>
              <a:rPr kumimoji="1" lang="zh-CN" altLang="en-US" sz="1400" dirty="0" smtClean="0"/>
              <a:t>线上活动：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责任人：品牌代表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执行要点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0186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40762" y="1679122"/>
            <a:ext cx="4203456" cy="48740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/>
            </a:defPPr>
            <a:lvl1pPr>
              <a:defRPr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fontAlgn="auto"/>
            <a:r>
              <a:rPr lang="en-US" altLang="zh-CN" sz="1100" b="1" dirty="0" smtClean="0"/>
              <a:t>1</a:t>
            </a:r>
            <a:r>
              <a:rPr lang="zh-CN" altLang="en-US" sz="1100" b="1" dirty="0" smtClean="0"/>
              <a:t>、总部</a:t>
            </a:r>
            <a:r>
              <a:rPr lang="zh-CN" altLang="en-US" sz="1100" b="1" dirty="0"/>
              <a:t>新品发布会</a:t>
            </a:r>
            <a:r>
              <a:rPr lang="zh-CN" altLang="en-US" sz="1100" dirty="0"/>
              <a:t>：​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责任人：</a:t>
            </a:r>
            <a:r>
              <a:rPr lang="zh-CN" altLang="en-US" sz="1100" dirty="0"/>
              <a:t>总部 </a:t>
            </a:r>
            <a:r>
              <a:rPr lang="en-US" altLang="zh-CN" sz="1100" dirty="0"/>
              <a:t>GTM </a:t>
            </a:r>
            <a:r>
              <a:rPr lang="zh-CN" altLang="en-US" sz="1100" dirty="0"/>
              <a:t>经理 </a:t>
            </a:r>
            <a:r>
              <a:rPr lang="en-US" altLang="zh-CN" sz="1100" dirty="0"/>
              <a:t>+ </a:t>
            </a:r>
            <a:r>
              <a:rPr lang="zh-CN" altLang="en-US" sz="1100" dirty="0"/>
              <a:t>品牌代表 </a:t>
            </a:r>
            <a:r>
              <a:rPr lang="en-US" altLang="zh-CN" sz="1100" dirty="0"/>
              <a:t>+ </a:t>
            </a:r>
            <a:r>
              <a:rPr lang="zh-CN" altLang="en-US" sz="1100" dirty="0"/>
              <a:t>产品经理​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执行要点：</a:t>
            </a:r>
            <a:r>
              <a:rPr lang="zh-CN" altLang="en-US" sz="1100" dirty="0"/>
              <a:t>统筹策划全国性活动流程，明确新品核心价值与传播重点；品牌代表负责品牌形象塑造与预热宣传（如线上线下造势、媒体邀约）；产品经理主导新品功能演示、技术亮点解读与答疑；联动跨部门保障活动落地，会后收集反馈推动新品转化与品牌声量提升</a:t>
            </a:r>
            <a:r>
              <a:rPr lang="zh-CN" altLang="en-US" sz="1100" dirty="0" smtClean="0"/>
              <a:t>。</a:t>
            </a:r>
            <a:endParaRPr lang="en-US" altLang="zh-CN" sz="1100" dirty="0" smtClean="0"/>
          </a:p>
          <a:p>
            <a:pPr fontAlgn="auto"/>
            <a:r>
              <a:rPr lang="en-US" altLang="zh-CN" sz="1100" b="1" dirty="0" smtClean="0"/>
              <a:t>2</a:t>
            </a:r>
            <a:r>
              <a:rPr lang="zh-CN" altLang="en-US" sz="1100" b="1" dirty="0" smtClean="0"/>
              <a:t>、行业</a:t>
            </a:r>
            <a:r>
              <a:rPr lang="zh-CN" altLang="en-US" sz="1100" b="1" dirty="0"/>
              <a:t>圈子活动</a:t>
            </a:r>
            <a:r>
              <a:rPr lang="zh-CN" altLang="en-US" sz="1100" dirty="0"/>
              <a:t>：​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责任人：</a:t>
            </a:r>
            <a:r>
              <a:rPr lang="zh-CN" altLang="en-US" sz="1100" dirty="0"/>
              <a:t>行业 </a:t>
            </a:r>
            <a:r>
              <a:rPr lang="en-US" altLang="zh-CN" sz="1100" dirty="0"/>
              <a:t>GTM </a:t>
            </a:r>
            <a:r>
              <a:rPr lang="zh-CN" altLang="en-US" sz="1100" dirty="0"/>
              <a:t>代表 </a:t>
            </a:r>
            <a:r>
              <a:rPr lang="en-US" altLang="zh-CN" sz="1100" dirty="0"/>
              <a:t>+ </a:t>
            </a:r>
            <a:r>
              <a:rPr lang="zh-CN" altLang="en-US" sz="1100" dirty="0"/>
              <a:t>品牌代表 </a:t>
            </a:r>
            <a:r>
              <a:rPr lang="en-US" altLang="zh-CN" sz="1100" dirty="0"/>
              <a:t>+ </a:t>
            </a:r>
            <a:r>
              <a:rPr lang="zh-CN" altLang="en-US" sz="1100" dirty="0"/>
              <a:t>解决方案代表​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执行要点：</a:t>
            </a:r>
            <a:r>
              <a:rPr lang="zh-CN" altLang="en-US" sz="1100" dirty="0"/>
              <a:t>行业 </a:t>
            </a:r>
            <a:r>
              <a:rPr lang="en-US" altLang="zh-CN" sz="1100" dirty="0"/>
              <a:t>GTM </a:t>
            </a:r>
            <a:r>
              <a:rPr lang="zh-CN" altLang="en-US" sz="1100" dirty="0"/>
              <a:t>代表聚焦特定行业需求，确定活动</a:t>
            </a:r>
            <a:r>
              <a:rPr lang="zh-CN" altLang="en-US" sz="1100" dirty="0" smtClean="0"/>
              <a:t>主题并</a:t>
            </a:r>
            <a:r>
              <a:rPr lang="zh-CN" altLang="en-US" sz="1100" dirty="0"/>
              <a:t>联动区域资源；品牌代表融入行业场景传递品牌价值，增强行业客户认可度；解决方案代表针对性输出行业专属方案，现场收集需求反馈；会后协同跟进线索商机，优化方案以适配行业需求</a:t>
            </a:r>
            <a:r>
              <a:rPr lang="zh-CN" altLang="en-US" sz="1100" dirty="0" smtClean="0"/>
              <a:t>。</a:t>
            </a:r>
            <a:endParaRPr lang="en-US" altLang="zh-CN" sz="1100" dirty="0" smtClean="0"/>
          </a:p>
          <a:p>
            <a:pPr fontAlgn="auto"/>
            <a:r>
              <a:rPr lang="en-US" altLang="zh-CN" sz="1100" b="1" dirty="0" smtClean="0"/>
              <a:t>3</a:t>
            </a:r>
            <a:r>
              <a:rPr lang="zh-CN" altLang="en-US" sz="1100" b="1" dirty="0" smtClean="0"/>
              <a:t>、区域</a:t>
            </a:r>
            <a:r>
              <a:rPr lang="zh-CN" altLang="en-US" sz="1100" b="1" dirty="0"/>
              <a:t>圈子活动</a:t>
            </a:r>
            <a:r>
              <a:rPr lang="zh-CN" altLang="en-US" sz="1100" dirty="0"/>
              <a:t>：​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责任人：</a:t>
            </a:r>
            <a:r>
              <a:rPr lang="zh-CN" altLang="en-US" sz="1100" dirty="0"/>
              <a:t>区域 </a:t>
            </a:r>
            <a:r>
              <a:rPr lang="en-US" altLang="zh-CN" sz="1100" dirty="0"/>
              <a:t>GTM </a:t>
            </a:r>
            <a:r>
              <a:rPr lang="zh-CN" altLang="en-US" sz="1100" dirty="0"/>
              <a:t>经理 </a:t>
            </a:r>
            <a:r>
              <a:rPr lang="en-US" altLang="zh-CN" sz="1100" dirty="0"/>
              <a:t>+ </a:t>
            </a:r>
            <a:r>
              <a:rPr lang="zh-CN" altLang="en-US" sz="1100" dirty="0"/>
              <a:t>区域 </a:t>
            </a:r>
            <a:r>
              <a:rPr lang="en-US" altLang="zh-CN" sz="1100" dirty="0"/>
              <a:t>IMC​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执行要点：</a:t>
            </a:r>
            <a:r>
              <a:rPr lang="zh-CN" altLang="en-US" sz="1100" dirty="0"/>
              <a:t>区域 </a:t>
            </a:r>
            <a:r>
              <a:rPr lang="en-US" altLang="zh-CN" sz="1100" dirty="0"/>
              <a:t>GTM </a:t>
            </a:r>
            <a:r>
              <a:rPr lang="zh-CN" altLang="en-US" sz="1100" dirty="0"/>
              <a:t>经理调研本地市场，策划贴合区域需求的活动（如小型沙龙、客户座谈）；区域 </a:t>
            </a:r>
            <a:r>
              <a:rPr lang="en-US" altLang="zh-CN" sz="1100" dirty="0"/>
              <a:t>IMC </a:t>
            </a:r>
            <a:r>
              <a:rPr lang="zh-CN" altLang="en-US" sz="1100" dirty="0"/>
              <a:t>负责本地渠道宣传（如本地社群、协会合作推广）与现场氛围营造；控制活动规模以保障互动质量，会后建群维护客户关系，跟进问题并激活区域市场。</a:t>
            </a:r>
          </a:p>
          <a:p>
            <a:pPr fontAlgn="auto"/>
            <a:r>
              <a:rPr lang="en-US" altLang="zh-CN" sz="1100" b="1" dirty="0" smtClean="0"/>
              <a:t>4</a:t>
            </a:r>
            <a:r>
              <a:rPr lang="zh-CN" altLang="en-US" sz="1100" b="1" dirty="0" smtClean="0"/>
              <a:t>、线</a:t>
            </a:r>
            <a:r>
              <a:rPr lang="zh-CN" altLang="en-US" sz="1100" b="1" dirty="0"/>
              <a:t>上活动</a:t>
            </a:r>
            <a:r>
              <a:rPr lang="zh-CN" altLang="en-US" sz="1100" dirty="0"/>
              <a:t>：​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责任人：</a:t>
            </a:r>
            <a:r>
              <a:rPr lang="zh-CN" altLang="en-US" sz="1100" dirty="0"/>
              <a:t>品牌代表​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执行要点：</a:t>
            </a:r>
            <a:r>
              <a:rPr lang="zh-CN" altLang="en-US" sz="1100" dirty="0"/>
              <a:t>策划多样化线上形式（如直播、线上品宣、数字化营销）；明确活动目标（如获客、品牌传播），设计互动环节（如问答抽奖、试用预约）；统筹线上渠道投放与流量引导，实时跟进活动数据；会后整理用户反馈，优化内容以提升线上触达效率与转化效果。​</a:t>
            </a:r>
          </a:p>
          <a:p>
            <a:r>
              <a:rPr lang="zh-CN" altLang="en-US" sz="1100" dirty="0"/>
              <a:t/>
            </a:r>
            <a:br>
              <a:rPr lang="zh-CN" altLang="en-US" sz="1100" dirty="0"/>
            </a:br>
            <a:endParaRPr lang="zh-CN" altLang="en-US" sz="1100" dirty="0"/>
          </a:p>
          <a:p>
            <a:endParaRPr lang="zh-CN" altLang="en-US" sz="1100" dirty="0"/>
          </a:p>
        </p:txBody>
      </p:sp>
      <p:sp>
        <p:nvSpPr>
          <p:cNvPr id="7" name="矩形 6"/>
          <p:cNvSpPr/>
          <p:nvPr/>
        </p:nvSpPr>
        <p:spPr>
          <a:xfrm>
            <a:off x="185991" y="1097280"/>
            <a:ext cx="2028890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什么是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5991" y="1693001"/>
            <a:ext cx="2028890" cy="50954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精品活动是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以产品为主线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，经系统化、标准化策划与组织，能精准对接市场需求和品牌定位。</a:t>
            </a:r>
            <a:endParaRPr lang="en-US" altLang="zh-CN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56332" y="1097278"/>
            <a:ext cx="2162241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的意义和价值</a:t>
            </a:r>
          </a:p>
        </p:txBody>
      </p:sp>
      <p:sp>
        <p:nvSpPr>
          <p:cNvPr id="10" name="矩形 9"/>
          <p:cNvSpPr/>
          <p:nvPr/>
        </p:nvSpPr>
        <p:spPr>
          <a:xfrm>
            <a:off x="2337342" y="1693000"/>
            <a:ext cx="2181231" cy="5095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提升营销活动整体效率与效果，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确保活动充分契合市场需求和品牌定位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提升价值认可效率，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激发线索生成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，帮助挖掘更多线索，保障年度整合营销目标高质量达成。</a:t>
            </a:r>
            <a:endParaRPr lang="en-US" altLang="zh-CN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1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促进重大机会上升并达成增长目标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，推动业务可持续增长。</a:t>
            </a:r>
          </a:p>
        </p:txBody>
      </p:sp>
      <p:sp>
        <p:nvSpPr>
          <p:cNvPr id="11" name="矩形 10"/>
          <p:cNvSpPr/>
          <p:nvPr/>
        </p:nvSpPr>
        <p:spPr>
          <a:xfrm>
            <a:off x="4660025" y="1097278"/>
            <a:ext cx="3142192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分级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全国、行业、区域</a:t>
            </a:r>
          </a:p>
        </p:txBody>
      </p:sp>
      <p:sp>
        <p:nvSpPr>
          <p:cNvPr id="12" name="矩形 11"/>
          <p:cNvSpPr/>
          <p:nvPr/>
        </p:nvSpPr>
        <p:spPr>
          <a:xfrm>
            <a:off x="4657118" y="1679122"/>
            <a:ext cx="3145099" cy="5109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一、线下活动：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全国：由总部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经理策划，面向全行业组织的以产品为主线的精品活动，目的是扩大产品方案影响力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，如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新品发布会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活动。</a:t>
            </a:r>
            <a:endParaRPr lang="zh-CN" altLang="en-US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行业：行业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经理策划，系统部、区域协同，借总部技术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品牌支持开展；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现场收集需求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反馈，会后区域跟进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转化，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旨在精准匹配行业痛点、提升方案适配性，同时获客并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发现行业线索及商机。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区域：区域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GTM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经理调研本地需求定主题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；联动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本地资源、用本地渠道宣传降本提效，聚焦本地需求激活区域市场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。典型的如本地沙龙，区域圈子活动等。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、线上活动：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线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上活动涵盖直播、品宣、线上线下结合的 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1+N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活动、客户数字化营销等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形式，直播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侧重实时互动传递信息，品宣聚焦品牌价值线上传播，</a:t>
            </a:r>
            <a:r>
              <a:rPr lang="en-US" altLang="zh-CN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1+N 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活动以线上统筹联动线下落地实现规模效应，客户数字化营销精准触达目标客户；整体通过多样化形式组合，达成更灵活的活动部署与更高效的用户触达，助力营销目标快速落地。</a:t>
            </a:r>
            <a:endParaRPr lang="en-US" altLang="zh-CN" sz="1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43669" y="1097279"/>
            <a:ext cx="4200549" cy="50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如何开展活动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88193" y="345280"/>
            <a:ext cx="7416710" cy="548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dirty="0" smtClean="0"/>
              <a:t>GTM</a:t>
            </a:r>
            <a:r>
              <a:rPr lang="zh-CN" altLang="en-US" dirty="0" smtClean="0"/>
              <a:t>落地核心抓手三：品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511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1508</Words>
  <Application>Microsoft Office PowerPoint</Application>
  <PresentationFormat>宽屏</PresentationFormat>
  <Paragraphs>82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ruijie</dc:creator>
  <cp:lastModifiedBy>Lenovo</cp:lastModifiedBy>
  <cp:revision>4</cp:revision>
  <dcterms:created xsi:type="dcterms:W3CDTF">2025-09-24T00:28:23Z</dcterms:created>
  <dcterms:modified xsi:type="dcterms:W3CDTF">2025-09-24T00:50:58Z</dcterms:modified>
</cp:coreProperties>
</file>