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1" r:id="rId2"/>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CE6"/>
    <a:srgbClr val="FCECE8"/>
    <a:srgbClr val="F8CCAC"/>
    <a:srgbClr val="EAE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72" autoAdjust="0"/>
    <p:restoredTop sz="94072" autoAdjust="0"/>
  </p:normalViewPr>
  <p:slideViewPr>
    <p:cSldViewPr snapToGrid="0" showGuides="1">
      <p:cViewPr varScale="1">
        <p:scale>
          <a:sx n="70" d="100"/>
          <a:sy n="70" d="100"/>
        </p:scale>
        <p:origin x="9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69A15-4387-4BAF-B9A5-6E3281A819DD}" type="datetimeFigureOut">
              <a:rPr lang="zh-CN" altLang="en-US" smtClean="0"/>
              <a:t>2025/7/9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C8669-E6A0-4814-9F6C-9CF5D470E792}" type="slidenum">
              <a:rPr lang="zh-CN" altLang="en-US" smtClean="0"/>
              <a:t>‹#›</a:t>
            </a:fld>
            <a:endParaRPr lang="zh-CN" altLang="en-US"/>
          </a:p>
        </p:txBody>
      </p:sp>
    </p:spTree>
    <p:extLst>
      <p:ext uri="{BB962C8B-B14F-4D97-AF65-F5344CB8AC3E}">
        <p14:creationId xmlns:p14="http://schemas.microsoft.com/office/powerpoint/2010/main" val="143629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3C8669-E6A0-4814-9F6C-9CF5D470E792}" type="slidenum">
              <a:rPr lang="zh-CN" altLang="en-US" smtClean="0"/>
              <a:t>1</a:t>
            </a:fld>
            <a:endParaRPr lang="zh-CN" altLang="en-US"/>
          </a:p>
        </p:txBody>
      </p:sp>
    </p:spTree>
    <p:extLst>
      <p:ext uri="{BB962C8B-B14F-4D97-AF65-F5344CB8AC3E}">
        <p14:creationId xmlns:p14="http://schemas.microsoft.com/office/powerpoint/2010/main" val="4003650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595448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4101383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540682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19502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209139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88209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58695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4014387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72420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97070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229987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页脚占位符 3"/>
          <p:cNvSpPr>
            <a:spLocks noChangeArrowheads="1"/>
          </p:cNvSpPr>
          <p:nvPr/>
        </p:nvSpPr>
        <p:spPr bwMode="auto">
          <a:xfrm>
            <a:off x="964370" y="6214395"/>
            <a:ext cx="2208456" cy="28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lvl1pPr eaLnBrk="0" hangingPunct="0">
              <a:defRPr>
                <a:solidFill>
                  <a:srgbClr val="000000"/>
                </a:solidFill>
                <a:latin typeface="Arial" panose="020B0604020202020204" pitchFamily="34" charset="0"/>
                <a:ea typeface="宋体" pitchFamily="2" charset="-122"/>
              </a:defRPr>
            </a:lvl1pPr>
            <a:lvl2pPr marL="742950" indent="-285750" eaLnBrk="0" hangingPunct="0">
              <a:defRPr>
                <a:solidFill>
                  <a:srgbClr val="000000"/>
                </a:solidFill>
                <a:latin typeface="Arial" panose="020B0604020202020204" pitchFamily="34" charset="0"/>
                <a:ea typeface="宋体" pitchFamily="2" charset="-122"/>
              </a:defRPr>
            </a:lvl2pPr>
            <a:lvl3pPr marL="1143000" indent="-228600" eaLnBrk="0" hangingPunct="0">
              <a:defRPr>
                <a:solidFill>
                  <a:srgbClr val="000000"/>
                </a:solidFill>
                <a:latin typeface="Arial" panose="020B0604020202020204" pitchFamily="34" charset="0"/>
                <a:ea typeface="宋体" pitchFamily="2" charset="-122"/>
              </a:defRPr>
            </a:lvl3pPr>
            <a:lvl4pPr marL="1600200" indent="-228600" eaLnBrk="0" hangingPunct="0">
              <a:defRPr>
                <a:solidFill>
                  <a:srgbClr val="000000"/>
                </a:solidFill>
                <a:latin typeface="Arial" panose="020B0604020202020204" pitchFamily="34" charset="0"/>
                <a:ea typeface="宋体" pitchFamily="2" charset="-122"/>
              </a:defRPr>
            </a:lvl4pPr>
            <a:lvl5pPr marL="2057400" indent="-228600" eaLnBrk="0" hangingPunct="0">
              <a:defRPr>
                <a:solidFill>
                  <a:srgbClr val="000000"/>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9pPr>
          </a:lstStyle>
          <a:p>
            <a:pPr eaLnBrk="1" fontAlgn="base" hangingPunct="1">
              <a:spcBef>
                <a:spcPct val="0"/>
              </a:spcBef>
              <a:spcAft>
                <a:spcPct val="0"/>
              </a:spcAft>
              <a:buFont typeface="Arial" panose="020B0604020202020204" pitchFamily="34" charset="0"/>
              <a:buNone/>
            </a:pPr>
            <a:r>
              <a:rPr lang="en-US" altLang="zh-CN" sz="1200" b="1" i="1" dirty="0">
                <a:ea typeface="微软雅黑" panose="020B0503020204020204" charset="-122"/>
                <a:sym typeface="宋体" pitchFamily="2" charset="-122"/>
              </a:rPr>
              <a:t>|  </a:t>
            </a:r>
            <a:r>
              <a:rPr lang="en-US" altLang="zh-CN" sz="1200" i="1" dirty="0" err="1">
                <a:ea typeface="微软雅黑" panose="020B0503020204020204" charset="-122"/>
                <a:sym typeface="宋体" pitchFamily="2" charset="-122"/>
              </a:rPr>
              <a:t>www.ruijie.com.cn</a:t>
            </a:r>
            <a:endParaRPr lang="en-US" altLang="zh-CN" sz="1200" i="1" dirty="0">
              <a:ea typeface="微软雅黑" panose="020B0503020204020204" charset="-122"/>
              <a:sym typeface="宋体" pitchFamily="2" charset="-122"/>
            </a:endParaRPr>
          </a:p>
        </p:txBody>
      </p:sp>
      <p:pic>
        <p:nvPicPr>
          <p:cNvPr id="5" name="图片 4" descr="场景无限 智享物联 锐捷网络移动医疗解决方案2018-03"/>
          <p:cNvPicPr>
            <a:picLocks noChangeAspect="1"/>
          </p:cNvPicPr>
          <p:nvPr/>
        </p:nvPicPr>
        <p:blipFill>
          <a:blip r:embed="rId2" cstate="email"/>
          <a:stretch>
            <a:fillRect/>
          </a:stretch>
        </p:blipFill>
        <p:spPr>
          <a:xfrm>
            <a:off x="9680584" y="6195585"/>
            <a:ext cx="1903404" cy="325931"/>
          </a:xfrm>
          <a:prstGeom prst="rect">
            <a:avLst/>
          </a:prstGeom>
        </p:spPr>
      </p:pic>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buFont typeface="Arial" panose="020B0604020202020204" pitchFamily="34" charset="0"/>
              <a:buNone/>
            </a:pPr>
            <a:endParaRPr lang="zh-CN" altLang="en-US">
              <a:solidFill>
                <a:prstClr val="white"/>
              </a:solidFill>
            </a:endParaRPr>
          </a:p>
        </p:txBody>
      </p:sp>
    </p:spTree>
    <p:extLst>
      <p:ext uri="{BB962C8B-B14F-4D97-AF65-F5344CB8AC3E}">
        <p14:creationId xmlns:p14="http://schemas.microsoft.com/office/powerpoint/2010/main" val="3816364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600880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053974" y="1582650"/>
            <a:ext cx="6872687" cy="5204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619269" y="369497"/>
            <a:ext cx="11664661" cy="504362"/>
          </a:xfrm>
          <a:prstGeom prst="rect">
            <a:avLst/>
          </a:prstGeom>
          <a:noFill/>
        </p:spPr>
        <p:txBody>
          <a:bodyPr wrap="square" rtlCol="0">
            <a:noAutofit/>
          </a:bodyPr>
          <a:lstStyle/>
          <a:p>
            <a:r>
              <a:rPr kumimoji="1" lang="zh-CN" altLang="en-US" sz="2800" b="1" dirty="0" smtClean="0">
                <a:solidFill>
                  <a:srgbClr val="E60039"/>
                </a:solidFill>
                <a:latin typeface="微软雅黑" panose="020B0503020204020204" charset="-122"/>
                <a:ea typeface="微软雅黑" panose="020B0503020204020204" charset="-122"/>
                <a:sym typeface="+mn-ea"/>
              </a:rPr>
              <a:t>自工序</a:t>
            </a:r>
            <a:r>
              <a:rPr kumimoji="1" lang="en-US" altLang="zh-CN" sz="2800" b="1" dirty="0" smtClean="0">
                <a:solidFill>
                  <a:srgbClr val="E60039"/>
                </a:solidFill>
                <a:latin typeface="微软雅黑" panose="020B0503020204020204" charset="-122"/>
                <a:ea typeface="微软雅黑" panose="020B0503020204020204" charset="-122"/>
                <a:sym typeface="+mn-ea"/>
              </a:rPr>
              <a:t>-</a:t>
            </a:r>
            <a:r>
              <a:rPr kumimoji="1" lang="zh-CN" altLang="en-US" sz="2800" b="1" dirty="0" smtClean="0">
                <a:solidFill>
                  <a:srgbClr val="E60039"/>
                </a:solidFill>
                <a:latin typeface="微软雅黑" panose="020B0503020204020204" charset="-122"/>
                <a:ea typeface="微软雅黑" panose="020B0503020204020204" charset="-122"/>
                <a:sym typeface="+mn-ea"/>
              </a:rPr>
              <a:t>漏斗外进漏斗内如何做准“</a:t>
            </a:r>
            <a:r>
              <a:rPr kumimoji="1" lang="en-US" altLang="zh-CN" sz="2800" b="1" dirty="0" smtClean="0">
                <a:solidFill>
                  <a:srgbClr val="E60039"/>
                </a:solidFill>
                <a:latin typeface="微软雅黑" panose="020B0503020204020204" charset="-122"/>
                <a:ea typeface="微软雅黑" panose="020B0503020204020204" charset="-122"/>
                <a:sym typeface="+mn-ea"/>
              </a:rPr>
              <a:t>N</a:t>
            </a:r>
            <a:r>
              <a:rPr kumimoji="1" lang="zh-CN" altLang="en-US" sz="2800" b="1" dirty="0" smtClean="0">
                <a:solidFill>
                  <a:srgbClr val="E60039"/>
                </a:solidFill>
                <a:latin typeface="微软雅黑" panose="020B0503020204020204" charset="-122"/>
                <a:ea typeface="微软雅黑" panose="020B0503020204020204" charset="-122"/>
                <a:sym typeface="+mn-ea"/>
              </a:rPr>
              <a:t>”</a:t>
            </a:r>
            <a:endParaRPr kumimoji="1" lang="zh-CN" altLang="en-US" sz="2800" b="1" dirty="0">
              <a:solidFill>
                <a:srgbClr val="E60039"/>
              </a:solidFill>
              <a:latin typeface="微软雅黑" panose="020B0503020204020204" charset="-122"/>
              <a:ea typeface="微软雅黑" panose="020B0503020204020204" charset="-122"/>
              <a:sym typeface="+mn-ea"/>
            </a:endParaRPr>
          </a:p>
        </p:txBody>
      </p:sp>
      <p:sp>
        <p:nvSpPr>
          <p:cNvPr id="3" name="文本框 2"/>
          <p:cNvSpPr txBox="1"/>
          <p:nvPr/>
        </p:nvSpPr>
        <p:spPr>
          <a:xfrm>
            <a:off x="879676" y="1052460"/>
            <a:ext cx="3401587"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过去销售售前如何做“</a:t>
            </a:r>
            <a:r>
              <a:rPr lang="en-US" altLang="zh-CN" dirty="0" smtClean="0">
                <a:latin typeface="微软雅黑" panose="020B0503020204020204" pitchFamily="34" charset="-122"/>
                <a:ea typeface="微软雅黑" panose="020B0503020204020204" pitchFamily="34" charset="-122"/>
              </a:rPr>
              <a:t>N</a:t>
            </a:r>
            <a:r>
              <a:rPr lang="zh-CN" altLang="en-US" dirty="0" smtClean="0">
                <a:latin typeface="微软雅黑" panose="020B0503020204020204" pitchFamily="34" charset="-122"/>
                <a:ea typeface="微软雅黑" panose="020B0503020204020204" pitchFamily="34" charset="-122"/>
              </a:rPr>
              <a:t>”的？</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368642" y="1582650"/>
            <a:ext cx="4438962" cy="51998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663562" y="1087787"/>
            <a:ext cx="34015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未来</a:t>
            </a:r>
            <a:r>
              <a:rPr lang="zh-CN" altLang="en-US" dirty="0" smtClean="0">
                <a:latin typeface="微软雅黑" panose="020B0503020204020204" pitchFamily="34" charset="-122"/>
                <a:ea typeface="微软雅黑" panose="020B0503020204020204" pitchFamily="34" charset="-122"/>
              </a:rPr>
              <a:t>销售售前如何做“</a:t>
            </a:r>
            <a:r>
              <a:rPr lang="en-US" altLang="zh-CN" dirty="0" smtClean="0">
                <a:latin typeface="微软雅黑" panose="020B0503020204020204" pitchFamily="34" charset="-122"/>
                <a:ea typeface="微软雅黑" panose="020B0503020204020204" pitchFamily="34" charset="-122"/>
              </a:rPr>
              <a:t>N</a:t>
            </a:r>
            <a:r>
              <a:rPr lang="zh-CN" altLang="en-US" dirty="0" smtClean="0">
                <a:latin typeface="微软雅黑" panose="020B0503020204020204" pitchFamily="34" charset="-122"/>
                <a:ea typeface="微软雅黑" panose="020B0503020204020204" pitchFamily="34" charset="-122"/>
              </a:rPr>
              <a:t>”的？</a:t>
            </a:r>
            <a:endParaRPr lang="zh-CN" altLang="en-US"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8450101" y="2204665"/>
            <a:ext cx="2862740" cy="659503"/>
          </a:xfrm>
          <a:prstGeom prst="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500">
                <a:solidFill>
                  <a:schemeClr val="tx1"/>
                </a:solidFill>
                <a:latin typeface="微软雅黑" panose="020B0503020204020204" pitchFamily="34" charset="-122"/>
                <a:ea typeface="微软雅黑" panose="020B0503020204020204" pitchFamily="34" charset="-122"/>
              </a:defRPr>
            </a:lvl1pPr>
          </a:lstStyle>
          <a:p>
            <a:pPr algn="l"/>
            <a:r>
              <a:rPr lang="zh-CN" altLang="en-US" sz="1200" dirty="0">
                <a:solidFill>
                  <a:srgbClr val="C00000"/>
                </a:solidFill>
              </a:rPr>
              <a:t>规范 </a:t>
            </a:r>
            <a:r>
              <a:rPr lang="en-US" altLang="zh-CN" sz="1200" dirty="0">
                <a:solidFill>
                  <a:srgbClr val="C00000"/>
                </a:solidFill>
              </a:rPr>
              <a:t>N </a:t>
            </a:r>
            <a:r>
              <a:rPr lang="zh-CN" altLang="en-US" sz="1200" dirty="0">
                <a:solidFill>
                  <a:srgbClr val="C00000"/>
                </a:solidFill>
              </a:rPr>
              <a:t>的良品的条件，明确了售前的配置标准。</a:t>
            </a:r>
          </a:p>
        </p:txBody>
      </p:sp>
      <p:sp>
        <p:nvSpPr>
          <p:cNvPr id="31" name="文本框 30"/>
          <p:cNvSpPr txBox="1"/>
          <p:nvPr/>
        </p:nvSpPr>
        <p:spPr>
          <a:xfrm>
            <a:off x="8450101" y="3106574"/>
            <a:ext cx="2864239" cy="655082"/>
          </a:xfrm>
          <a:prstGeom prst="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500">
                <a:solidFill>
                  <a:schemeClr val="tx1"/>
                </a:solidFill>
                <a:latin typeface="微软雅黑" panose="020B0503020204020204" pitchFamily="34" charset="-122"/>
                <a:ea typeface="微软雅黑" panose="020B0503020204020204" pitchFamily="34" charset="-122"/>
              </a:defRPr>
            </a:lvl1pPr>
          </a:lstStyle>
          <a:p>
            <a:pPr algn="l"/>
            <a:r>
              <a:rPr lang="zh-CN" altLang="en-US" sz="1200" dirty="0">
                <a:solidFill>
                  <a:srgbClr val="C00000"/>
                </a:solidFill>
              </a:rPr>
              <a:t>销售的配置必须基于售前的配置清单（系统中固化）</a:t>
            </a:r>
          </a:p>
        </p:txBody>
      </p:sp>
      <p:sp>
        <p:nvSpPr>
          <p:cNvPr id="39" name="椭圆 38"/>
          <p:cNvSpPr/>
          <p:nvPr/>
        </p:nvSpPr>
        <p:spPr>
          <a:xfrm>
            <a:off x="8337991" y="2178167"/>
            <a:ext cx="220825" cy="1705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smtClean="0">
                <a:latin typeface="微软雅黑" panose="020B0503020204020204" pitchFamily="34" charset="-122"/>
                <a:ea typeface="微软雅黑" panose="020B0503020204020204" pitchFamily="34" charset="-122"/>
              </a:rPr>
              <a:t>1</a:t>
            </a:r>
            <a:endParaRPr lang="zh-CN" altLang="en-US" sz="1050" dirty="0">
              <a:latin typeface="微软雅黑" panose="020B0503020204020204" pitchFamily="34" charset="-122"/>
              <a:ea typeface="微软雅黑" panose="020B0503020204020204" pitchFamily="34" charset="-122"/>
            </a:endParaRPr>
          </a:p>
        </p:txBody>
      </p:sp>
      <p:sp>
        <p:nvSpPr>
          <p:cNvPr id="40" name="椭圆 39"/>
          <p:cNvSpPr/>
          <p:nvPr/>
        </p:nvSpPr>
        <p:spPr>
          <a:xfrm>
            <a:off x="8364355" y="3071164"/>
            <a:ext cx="220825" cy="1705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smtClean="0">
                <a:latin typeface="微软雅黑" panose="020B0503020204020204" pitchFamily="34" charset="-122"/>
                <a:ea typeface="微软雅黑" panose="020B0503020204020204" pitchFamily="34" charset="-122"/>
              </a:rPr>
              <a:t>2</a:t>
            </a:r>
            <a:endParaRPr lang="zh-CN" altLang="en-US" sz="1050" dirty="0">
              <a:latin typeface="微软雅黑" panose="020B0503020204020204" pitchFamily="34" charset="-122"/>
              <a:ea typeface="微软雅黑" panose="020B0503020204020204" pitchFamily="34" charset="-122"/>
            </a:endParaRPr>
          </a:p>
        </p:txBody>
      </p:sp>
      <p:grpSp>
        <p:nvGrpSpPr>
          <p:cNvPr id="98" name="组合 97"/>
          <p:cNvGrpSpPr/>
          <p:nvPr/>
        </p:nvGrpSpPr>
        <p:grpSpPr>
          <a:xfrm>
            <a:off x="538024" y="1763614"/>
            <a:ext cx="2219334" cy="4756058"/>
            <a:chOff x="543116" y="1697358"/>
            <a:chExt cx="2815695" cy="4383402"/>
          </a:xfrm>
        </p:grpSpPr>
        <p:sp>
          <p:nvSpPr>
            <p:cNvPr id="9" name="圆角矩形 8"/>
            <p:cNvSpPr/>
            <p:nvPr/>
          </p:nvSpPr>
          <p:spPr>
            <a:xfrm>
              <a:off x="2121740" y="2106568"/>
              <a:ext cx="1076336" cy="415906"/>
            </a:xfrm>
            <a:prstGeom prst="roundRect">
              <a:avLst>
                <a:gd name="adj" fmla="val 49299"/>
              </a:avLst>
            </a:prstGeom>
            <a:solidFill>
              <a:srgbClr val="EAE2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预测类型</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由线索调整为可能</a:t>
              </a:r>
              <a:r>
                <a:rPr lang="en-US" altLang="zh-CN" sz="700" dirty="0" smtClean="0">
                  <a:solidFill>
                    <a:schemeClr val="tx1"/>
                  </a:solidFill>
                  <a:latin typeface="微软雅黑" panose="020B0503020204020204" pitchFamily="34" charset="-122"/>
                  <a:ea typeface="微软雅黑" panose="020B0503020204020204" pitchFamily="34" charset="-122"/>
                </a:rPr>
                <a:t>+/</a:t>
              </a:r>
              <a:r>
                <a:rPr lang="zh-CN" altLang="en-US" sz="700" dirty="0" smtClean="0">
                  <a:solidFill>
                    <a:schemeClr val="tx1"/>
                  </a:solidFill>
                  <a:latin typeface="微软雅黑" panose="020B0503020204020204" pitchFamily="34" charset="-122"/>
                  <a:ea typeface="微软雅黑" panose="020B0503020204020204" pitchFamily="34" charset="-122"/>
                </a:rPr>
                <a:t>可能</a:t>
              </a:r>
              <a:r>
                <a:rPr lang="en-US" altLang="zh-CN" sz="700" dirty="0" smtClean="0">
                  <a:solidFill>
                    <a:schemeClr val="tx1"/>
                  </a:solidFill>
                  <a:latin typeface="微软雅黑" panose="020B0503020204020204" pitchFamily="34" charset="-122"/>
                  <a:ea typeface="微软雅黑" panose="020B0503020204020204" pitchFamily="34" charset="-122"/>
                </a:rPr>
                <a:t>-/</a:t>
              </a:r>
              <a:r>
                <a:rPr lang="zh-CN" altLang="en-US" sz="700" dirty="0" smtClean="0">
                  <a:solidFill>
                    <a:schemeClr val="tx1"/>
                  </a:solidFill>
                  <a:latin typeface="微软雅黑" panose="020B0503020204020204" pitchFamily="34" charset="-122"/>
                  <a:ea typeface="微软雅黑" panose="020B0503020204020204" pitchFamily="34" charset="-122"/>
                </a:rPr>
                <a:t>优势</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2112595" y="3511147"/>
              <a:ext cx="1076336" cy="415906"/>
            </a:xfrm>
            <a:prstGeom prst="round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获取配置器清单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2112595" y="4205328"/>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显示该项目对应的配置清单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2112594" y="4900355"/>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覆盖现有产品</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2109324" y="5545982"/>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保存至</a:t>
              </a:r>
              <a:r>
                <a:rPr lang="en-US" altLang="zh-CN" sz="700" dirty="0" smtClean="0">
                  <a:solidFill>
                    <a:schemeClr val="tx1"/>
                  </a:solidFill>
                  <a:latin typeface="微软雅黑" panose="020B0503020204020204" pitchFamily="34" charset="-122"/>
                  <a:ea typeface="微软雅黑" panose="020B0503020204020204" pitchFamily="34" charset="-122"/>
                </a:rPr>
                <a:t>CRM</a:t>
              </a: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670463" y="3482028"/>
              <a:ext cx="1076336" cy="415906"/>
            </a:xfrm>
            <a:prstGeom prst="round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41" name="圆角矩形 40"/>
            <p:cNvSpPr/>
            <p:nvPr/>
          </p:nvSpPr>
          <p:spPr>
            <a:xfrm>
              <a:off x="670463" y="4205328"/>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分享报价单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44" name="圆角矩形 43"/>
            <p:cNvSpPr/>
            <p:nvPr/>
          </p:nvSpPr>
          <p:spPr>
            <a:xfrm>
              <a:off x="673930" y="2666441"/>
              <a:ext cx="1076336" cy="415906"/>
            </a:xfrm>
            <a:prstGeom prst="roundRect">
              <a:avLst>
                <a:gd name="adj" fmla="val 49299"/>
              </a:avLst>
            </a:prstGeom>
            <a:solidFill>
              <a:srgbClr val="EAE2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获取客户需求</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17" name="直接箭头连接符 16"/>
            <p:cNvCxnSpPr>
              <a:stCxn id="41" idx="3"/>
              <a:endCxn id="33" idx="1"/>
            </p:cNvCxnSpPr>
            <p:nvPr/>
          </p:nvCxnSpPr>
          <p:spPr>
            <a:xfrm>
              <a:off x="1746799" y="4413281"/>
              <a:ext cx="36579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44" idx="2"/>
              <a:endCxn id="36" idx="0"/>
            </p:cNvCxnSpPr>
            <p:nvPr/>
          </p:nvCxnSpPr>
          <p:spPr>
            <a:xfrm flipH="1">
              <a:off x="1208631" y="3082347"/>
              <a:ext cx="3467" cy="39968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36" idx="2"/>
              <a:endCxn id="41" idx="0"/>
            </p:cNvCxnSpPr>
            <p:nvPr/>
          </p:nvCxnSpPr>
          <p:spPr>
            <a:xfrm>
              <a:off x="1208631" y="3897934"/>
              <a:ext cx="0" cy="30739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a:xfrm>
              <a:off x="2117104" y="2736844"/>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CRM</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48" name="直接箭头连接符 47"/>
            <p:cNvCxnSpPr>
              <a:stCxn id="33" idx="2"/>
              <a:endCxn id="34" idx="0"/>
            </p:cNvCxnSpPr>
            <p:nvPr/>
          </p:nvCxnSpPr>
          <p:spPr>
            <a:xfrm flipH="1">
              <a:off x="2650762" y="4621234"/>
              <a:ext cx="1" cy="27912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34" idx="2"/>
              <a:endCxn id="35" idx="0"/>
            </p:cNvCxnSpPr>
            <p:nvPr/>
          </p:nvCxnSpPr>
          <p:spPr>
            <a:xfrm flipH="1">
              <a:off x="2647492" y="5316261"/>
              <a:ext cx="3270" cy="22972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9" idx="2"/>
              <a:endCxn id="47" idx="0"/>
            </p:cNvCxnSpPr>
            <p:nvPr/>
          </p:nvCxnSpPr>
          <p:spPr>
            <a:xfrm flipH="1">
              <a:off x="2655272" y="2522474"/>
              <a:ext cx="4636" cy="21437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8" idx="2"/>
              <a:endCxn id="33" idx="0"/>
            </p:cNvCxnSpPr>
            <p:nvPr/>
          </p:nvCxnSpPr>
          <p:spPr>
            <a:xfrm>
              <a:off x="2650763" y="3927053"/>
              <a:ext cx="0" cy="2782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7" idx="2"/>
              <a:endCxn id="28" idx="0"/>
            </p:cNvCxnSpPr>
            <p:nvPr/>
          </p:nvCxnSpPr>
          <p:spPr>
            <a:xfrm flipH="1">
              <a:off x="2650763" y="3152750"/>
              <a:ext cx="4509" cy="35839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976290" y="1763614"/>
              <a:ext cx="650498" cy="230832"/>
            </a:xfrm>
            <a:prstGeom prst="rect">
              <a:avLst/>
            </a:prstGeom>
            <a:solidFill>
              <a:schemeClr val="accent1">
                <a:lumMod val="50000"/>
              </a:schemeClr>
            </a:solidFill>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69" name="文本框 68"/>
            <p:cNvSpPr txBox="1"/>
            <p:nvPr/>
          </p:nvSpPr>
          <p:spPr>
            <a:xfrm>
              <a:off x="2378060" y="1775505"/>
              <a:ext cx="650498" cy="230832"/>
            </a:xfrm>
            <a:prstGeom prst="rect">
              <a:avLst/>
            </a:prstGeom>
            <a:solidFill>
              <a:schemeClr val="accent1">
                <a:lumMod val="50000"/>
              </a:schemeClr>
            </a:solidFill>
          </p:spPr>
          <p:txBody>
            <a:bodyPr wrap="square" rtlCol="0">
              <a:spAutoFit/>
            </a:bodyPr>
            <a:lstStyle/>
            <a:p>
              <a:pPr algn="ctr"/>
              <a:r>
                <a:rPr lang="zh-CN" altLang="en-US" sz="900" dirty="0" smtClean="0">
                  <a:solidFill>
                    <a:schemeClr val="bg1"/>
                  </a:solidFill>
                  <a:latin typeface="微软雅黑" panose="020B0503020204020204" pitchFamily="34" charset="-122"/>
                  <a:ea typeface="微软雅黑" panose="020B0503020204020204" pitchFamily="34" charset="-122"/>
                </a:rPr>
                <a:t>销售</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70" name="矩形 69"/>
            <p:cNvSpPr/>
            <p:nvPr/>
          </p:nvSpPr>
          <p:spPr>
            <a:xfrm>
              <a:off x="543116" y="1697358"/>
              <a:ext cx="1357549" cy="4383402"/>
            </a:xfrm>
            <a:prstGeom prst="rect">
              <a:avLst/>
            </a:prstGeom>
            <a:noFill/>
            <a:ln w="19050">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71" name="矩形 70"/>
            <p:cNvSpPr/>
            <p:nvPr/>
          </p:nvSpPr>
          <p:spPr>
            <a:xfrm>
              <a:off x="2018779" y="1699201"/>
              <a:ext cx="1340032" cy="4381559"/>
            </a:xfrm>
            <a:prstGeom prst="rect">
              <a:avLst/>
            </a:prstGeom>
            <a:noFill/>
            <a:ln w="19050">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grpSp>
        <p:nvGrpSpPr>
          <p:cNvPr id="99" name="组合 98"/>
          <p:cNvGrpSpPr/>
          <p:nvPr/>
        </p:nvGrpSpPr>
        <p:grpSpPr>
          <a:xfrm>
            <a:off x="5534048" y="1763614"/>
            <a:ext cx="2103863" cy="2198786"/>
            <a:chOff x="7810256" y="1766464"/>
            <a:chExt cx="2815695" cy="4383402"/>
          </a:xfrm>
        </p:grpSpPr>
        <p:sp>
          <p:nvSpPr>
            <p:cNvPr id="72" name="圆角矩形 71"/>
            <p:cNvSpPr/>
            <p:nvPr/>
          </p:nvSpPr>
          <p:spPr>
            <a:xfrm>
              <a:off x="9388880" y="2175674"/>
              <a:ext cx="1076336" cy="415906"/>
            </a:xfrm>
            <a:prstGeom prst="roundRect">
              <a:avLst>
                <a:gd name="adj" fmla="val 49299"/>
              </a:avLst>
            </a:prstGeom>
            <a:solidFill>
              <a:srgbClr val="EAE2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预测类型</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由线索调整为可能</a:t>
              </a:r>
              <a:r>
                <a:rPr lang="en-US" altLang="zh-CN" sz="500" dirty="0" smtClean="0">
                  <a:solidFill>
                    <a:schemeClr val="tx1"/>
                  </a:solidFill>
                  <a:latin typeface="微软雅黑" panose="020B0503020204020204" pitchFamily="34" charset="-122"/>
                  <a:ea typeface="微软雅黑" panose="020B0503020204020204" pitchFamily="34" charset="-122"/>
                </a:rPr>
                <a:t>+/</a:t>
              </a:r>
              <a:r>
                <a:rPr lang="zh-CN" altLang="en-US" sz="500" dirty="0" smtClean="0">
                  <a:solidFill>
                    <a:schemeClr val="tx1"/>
                  </a:solidFill>
                  <a:latin typeface="微软雅黑" panose="020B0503020204020204" pitchFamily="34" charset="-122"/>
                  <a:ea typeface="微软雅黑" panose="020B0503020204020204" pitchFamily="34" charset="-122"/>
                </a:rPr>
                <a:t>可能</a:t>
              </a:r>
              <a:r>
                <a:rPr lang="en-US" altLang="zh-CN" sz="500" dirty="0" smtClean="0">
                  <a:solidFill>
                    <a:schemeClr val="tx1"/>
                  </a:solidFill>
                  <a:latin typeface="微软雅黑" panose="020B0503020204020204" pitchFamily="34" charset="-122"/>
                  <a:ea typeface="微软雅黑" panose="020B0503020204020204" pitchFamily="34" charset="-122"/>
                </a:rPr>
                <a:t>-/</a:t>
              </a:r>
              <a:r>
                <a:rPr lang="zh-CN" altLang="en-US" sz="500" dirty="0" smtClean="0">
                  <a:solidFill>
                    <a:schemeClr val="tx1"/>
                  </a:solidFill>
                  <a:latin typeface="微软雅黑" panose="020B0503020204020204" pitchFamily="34" charset="-122"/>
                  <a:ea typeface="微软雅黑" panose="020B0503020204020204" pitchFamily="34" charset="-122"/>
                </a:rPr>
                <a:t>优势</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3" name="圆角矩形 72"/>
            <p:cNvSpPr/>
            <p:nvPr/>
          </p:nvSpPr>
          <p:spPr>
            <a:xfrm>
              <a:off x="9379735" y="3580253"/>
              <a:ext cx="1076336" cy="415906"/>
            </a:xfrm>
            <a:prstGeom prst="round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获取配置器清单</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a:t>
              </a:r>
              <a:r>
                <a:rPr lang="en-US" altLang="zh-CN" sz="500" dirty="0">
                  <a:solidFill>
                    <a:schemeClr val="tx1"/>
                  </a:solidFill>
                  <a:latin typeface="微软雅黑" panose="020B0503020204020204" pitchFamily="34" charset="-122"/>
                  <a:ea typeface="微软雅黑" panose="020B0503020204020204" pitchFamily="34" charset="-122"/>
                </a:rPr>
                <a:t>ECP</a:t>
              </a:r>
              <a:r>
                <a:rPr lang="zh-CN" altLang="en-US" sz="500" dirty="0" smtClean="0">
                  <a:solidFill>
                    <a:schemeClr val="tx1"/>
                  </a:solidFill>
                  <a:latin typeface="微软雅黑" panose="020B0503020204020204" pitchFamily="34" charset="-122"/>
                  <a:ea typeface="微软雅黑" panose="020B0503020204020204" pitchFamily="34" charset="-122"/>
                </a:rPr>
                <a:t>）</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4" name="圆角矩形 73"/>
            <p:cNvSpPr/>
            <p:nvPr/>
          </p:nvSpPr>
          <p:spPr>
            <a:xfrm>
              <a:off x="9379735" y="4274434"/>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显示该项目对应的配置清单</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a:t>
              </a:r>
              <a:r>
                <a:rPr lang="en-US" altLang="zh-CN" sz="500" dirty="0" smtClean="0">
                  <a:solidFill>
                    <a:schemeClr val="tx1"/>
                  </a:solidFill>
                  <a:latin typeface="微软雅黑" panose="020B0503020204020204" pitchFamily="34" charset="-122"/>
                  <a:ea typeface="微软雅黑" panose="020B0503020204020204" pitchFamily="34" charset="-122"/>
                </a:rPr>
                <a:t>ECP</a:t>
              </a:r>
              <a:r>
                <a:rPr lang="zh-CN" altLang="en-US" sz="500" dirty="0" smtClean="0">
                  <a:solidFill>
                    <a:schemeClr val="tx1"/>
                  </a:solidFill>
                  <a:latin typeface="微软雅黑" panose="020B0503020204020204" pitchFamily="34" charset="-122"/>
                  <a:ea typeface="微软雅黑" panose="020B0503020204020204" pitchFamily="34" charset="-122"/>
                </a:rPr>
                <a:t>）</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5" name="圆角矩形 74"/>
            <p:cNvSpPr/>
            <p:nvPr/>
          </p:nvSpPr>
          <p:spPr>
            <a:xfrm>
              <a:off x="9379734" y="4969461"/>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覆盖现有产品</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a:t>
              </a:r>
              <a:r>
                <a:rPr lang="en-US" altLang="zh-CN" sz="500" dirty="0" smtClean="0">
                  <a:solidFill>
                    <a:schemeClr val="tx1"/>
                  </a:solidFill>
                  <a:latin typeface="微软雅黑" panose="020B0503020204020204" pitchFamily="34" charset="-122"/>
                  <a:ea typeface="微软雅黑" panose="020B0503020204020204" pitchFamily="34" charset="-122"/>
                </a:rPr>
                <a:t>ECP</a:t>
              </a:r>
              <a:r>
                <a:rPr lang="zh-CN" altLang="en-US" sz="500" dirty="0" smtClean="0">
                  <a:solidFill>
                    <a:schemeClr val="tx1"/>
                  </a:solidFill>
                  <a:latin typeface="微软雅黑" panose="020B0503020204020204" pitchFamily="34" charset="-122"/>
                  <a:ea typeface="微软雅黑" panose="020B0503020204020204" pitchFamily="34" charset="-122"/>
                </a:rPr>
                <a:t>）</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6" name="圆角矩形 75"/>
            <p:cNvSpPr/>
            <p:nvPr/>
          </p:nvSpPr>
          <p:spPr>
            <a:xfrm>
              <a:off x="9376464" y="5615088"/>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保存至</a:t>
              </a:r>
              <a:r>
                <a:rPr lang="en-US" altLang="zh-CN" sz="500" dirty="0" smtClean="0">
                  <a:solidFill>
                    <a:schemeClr val="tx1"/>
                  </a:solidFill>
                  <a:latin typeface="微软雅黑" panose="020B0503020204020204" pitchFamily="34" charset="-122"/>
                  <a:ea typeface="微软雅黑" panose="020B0503020204020204" pitchFamily="34" charset="-122"/>
                </a:rPr>
                <a:t>CRM</a:t>
              </a:r>
            </a:p>
            <a:p>
              <a:pPr algn="ctr"/>
              <a:r>
                <a:rPr lang="zh-CN" altLang="en-US" sz="500" dirty="0" smtClean="0">
                  <a:solidFill>
                    <a:schemeClr val="tx1"/>
                  </a:solidFill>
                  <a:latin typeface="微软雅黑" panose="020B0503020204020204" pitchFamily="34" charset="-122"/>
                  <a:ea typeface="微软雅黑" panose="020B0503020204020204" pitchFamily="34" charset="-122"/>
                </a:rPr>
                <a:t>（</a:t>
              </a:r>
              <a:r>
                <a:rPr lang="en-US" altLang="zh-CN" sz="500" dirty="0" smtClean="0">
                  <a:solidFill>
                    <a:schemeClr val="tx1"/>
                  </a:solidFill>
                  <a:latin typeface="微软雅黑" panose="020B0503020204020204" pitchFamily="34" charset="-122"/>
                  <a:ea typeface="微软雅黑" panose="020B0503020204020204" pitchFamily="34" charset="-122"/>
                </a:rPr>
                <a:t>ECP</a:t>
              </a:r>
              <a:r>
                <a:rPr lang="zh-CN" altLang="en-US" sz="500" dirty="0" smtClean="0">
                  <a:solidFill>
                    <a:schemeClr val="tx1"/>
                  </a:solidFill>
                  <a:latin typeface="微软雅黑" panose="020B0503020204020204" pitchFamily="34" charset="-122"/>
                  <a:ea typeface="微软雅黑" panose="020B0503020204020204" pitchFamily="34" charset="-122"/>
                </a:rPr>
                <a:t>）</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7" name="圆角矩形 76"/>
            <p:cNvSpPr/>
            <p:nvPr/>
          </p:nvSpPr>
          <p:spPr>
            <a:xfrm>
              <a:off x="7937603" y="3579709"/>
              <a:ext cx="1076336" cy="415906"/>
            </a:xfrm>
            <a:prstGeom prst="roundRect">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8" name="圆角矩形 77"/>
            <p:cNvSpPr/>
            <p:nvPr/>
          </p:nvSpPr>
          <p:spPr>
            <a:xfrm>
              <a:off x="7937603" y="4274434"/>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分享报价单</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500" dirty="0">
                <a:solidFill>
                  <a:schemeClr val="tx1"/>
                </a:solidFill>
                <a:latin typeface="微软雅黑" panose="020B0503020204020204" pitchFamily="34" charset="-122"/>
                <a:ea typeface="微软雅黑" panose="020B0503020204020204" pitchFamily="34" charset="-122"/>
              </a:endParaRPr>
            </a:p>
          </p:txBody>
        </p:sp>
        <p:sp>
          <p:nvSpPr>
            <p:cNvPr id="79" name="圆角矩形 78"/>
            <p:cNvSpPr/>
            <p:nvPr/>
          </p:nvSpPr>
          <p:spPr>
            <a:xfrm>
              <a:off x="7941070" y="2735547"/>
              <a:ext cx="1076336" cy="415906"/>
            </a:xfrm>
            <a:prstGeom prst="roundRect">
              <a:avLst>
                <a:gd name="adj" fmla="val 49299"/>
              </a:avLst>
            </a:prstGeom>
            <a:solidFill>
              <a:srgbClr val="EAE2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获取客户需求</a:t>
              </a:r>
              <a:endParaRPr lang="zh-CN" altLang="en-US" sz="500" dirty="0">
                <a:solidFill>
                  <a:schemeClr val="tx1"/>
                </a:solidFill>
                <a:latin typeface="微软雅黑" panose="020B0503020204020204" pitchFamily="34" charset="-122"/>
                <a:ea typeface="微软雅黑" panose="020B0503020204020204" pitchFamily="34" charset="-122"/>
              </a:endParaRPr>
            </a:p>
          </p:txBody>
        </p:sp>
        <p:cxnSp>
          <p:nvCxnSpPr>
            <p:cNvPr id="80" name="直接箭头连接符 79"/>
            <p:cNvCxnSpPr>
              <a:stCxn id="78" idx="3"/>
              <a:endCxn id="74" idx="1"/>
            </p:cNvCxnSpPr>
            <p:nvPr/>
          </p:nvCxnSpPr>
          <p:spPr>
            <a:xfrm>
              <a:off x="9013939" y="4482387"/>
              <a:ext cx="36579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79" idx="2"/>
              <a:endCxn id="77" idx="0"/>
            </p:cNvCxnSpPr>
            <p:nvPr/>
          </p:nvCxnSpPr>
          <p:spPr>
            <a:xfrm flipH="1">
              <a:off x="8475771" y="3151453"/>
              <a:ext cx="3467" cy="4282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77" idx="2"/>
              <a:endCxn id="78" idx="0"/>
            </p:cNvCxnSpPr>
            <p:nvPr/>
          </p:nvCxnSpPr>
          <p:spPr>
            <a:xfrm>
              <a:off x="8475771" y="3995615"/>
              <a:ext cx="0" cy="27881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圆角矩形 82"/>
            <p:cNvSpPr/>
            <p:nvPr/>
          </p:nvSpPr>
          <p:spPr>
            <a:xfrm>
              <a:off x="9384244" y="2805950"/>
              <a:ext cx="1076336" cy="415906"/>
            </a:xfrm>
            <a:prstGeom prst="round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500" dirty="0" smtClean="0">
                <a:solidFill>
                  <a:schemeClr val="tx1"/>
                </a:solidFill>
                <a:latin typeface="微软雅黑" panose="020B0503020204020204" pitchFamily="34" charset="-122"/>
                <a:ea typeface="微软雅黑" panose="020B0503020204020204" pitchFamily="34" charset="-122"/>
              </a:endParaRPr>
            </a:p>
            <a:p>
              <a:pPr algn="ctr"/>
              <a:r>
                <a:rPr lang="zh-CN" altLang="en-US" sz="500" dirty="0" smtClean="0">
                  <a:solidFill>
                    <a:schemeClr val="tx1"/>
                  </a:solidFill>
                  <a:latin typeface="微软雅黑" panose="020B0503020204020204" pitchFamily="34" charset="-122"/>
                  <a:ea typeface="微软雅黑" panose="020B0503020204020204" pitchFamily="34" charset="-122"/>
                </a:rPr>
                <a:t>（</a:t>
              </a:r>
              <a:r>
                <a:rPr lang="en-US" altLang="zh-CN" sz="500" dirty="0" smtClean="0">
                  <a:solidFill>
                    <a:schemeClr val="tx1"/>
                  </a:solidFill>
                  <a:latin typeface="微软雅黑" panose="020B0503020204020204" pitchFamily="34" charset="-122"/>
                  <a:ea typeface="微软雅黑" panose="020B0503020204020204" pitchFamily="34" charset="-122"/>
                </a:rPr>
                <a:t>CRM</a:t>
              </a:r>
              <a:r>
                <a:rPr lang="zh-CN" altLang="en-US" sz="500" dirty="0" smtClean="0">
                  <a:solidFill>
                    <a:schemeClr val="tx1"/>
                  </a:solidFill>
                  <a:latin typeface="微软雅黑" panose="020B0503020204020204" pitchFamily="34" charset="-122"/>
                  <a:ea typeface="微软雅黑" panose="020B0503020204020204" pitchFamily="34" charset="-122"/>
                </a:rPr>
                <a:t>）</a:t>
              </a:r>
              <a:endParaRPr lang="zh-CN" altLang="en-US" sz="500" dirty="0">
                <a:solidFill>
                  <a:schemeClr val="tx1"/>
                </a:solidFill>
                <a:latin typeface="微软雅黑" panose="020B0503020204020204" pitchFamily="34" charset="-122"/>
                <a:ea typeface="微软雅黑" panose="020B0503020204020204" pitchFamily="34" charset="-122"/>
              </a:endParaRPr>
            </a:p>
          </p:txBody>
        </p:sp>
        <p:cxnSp>
          <p:nvCxnSpPr>
            <p:cNvPr id="84" name="直接箭头连接符 83"/>
            <p:cNvCxnSpPr>
              <a:stCxn id="74" idx="2"/>
              <a:endCxn id="75" idx="0"/>
            </p:cNvCxnSpPr>
            <p:nvPr/>
          </p:nvCxnSpPr>
          <p:spPr>
            <a:xfrm flipH="1">
              <a:off x="9917902" y="4690340"/>
              <a:ext cx="1" cy="27912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75" idx="2"/>
              <a:endCxn id="76" idx="0"/>
            </p:cNvCxnSpPr>
            <p:nvPr/>
          </p:nvCxnSpPr>
          <p:spPr>
            <a:xfrm flipH="1">
              <a:off x="9914632" y="5385367"/>
              <a:ext cx="3270" cy="22972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stCxn id="72" idx="2"/>
              <a:endCxn id="83" idx="0"/>
            </p:cNvCxnSpPr>
            <p:nvPr/>
          </p:nvCxnSpPr>
          <p:spPr>
            <a:xfrm flipH="1">
              <a:off x="9922412" y="2591580"/>
              <a:ext cx="4636" cy="21437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73" idx="2"/>
              <a:endCxn id="74" idx="0"/>
            </p:cNvCxnSpPr>
            <p:nvPr/>
          </p:nvCxnSpPr>
          <p:spPr>
            <a:xfrm>
              <a:off x="9917903" y="3996159"/>
              <a:ext cx="0" cy="2782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83" idx="2"/>
              <a:endCxn id="73" idx="0"/>
            </p:cNvCxnSpPr>
            <p:nvPr/>
          </p:nvCxnSpPr>
          <p:spPr>
            <a:xfrm flipH="1">
              <a:off x="9917903" y="3221856"/>
              <a:ext cx="4509" cy="35839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8243430" y="1832718"/>
              <a:ext cx="650497" cy="398821"/>
            </a:xfrm>
            <a:prstGeom prst="rect">
              <a:avLst/>
            </a:prstGeom>
            <a:solidFill>
              <a:schemeClr val="accent1">
                <a:lumMod val="50000"/>
              </a:schemeClr>
            </a:solidFill>
          </p:spPr>
          <p:txBody>
            <a:bodyPr wrap="square" rtlCol="0">
              <a:spAutoFit/>
            </a:bodyPr>
            <a:lstStyle/>
            <a:p>
              <a:pPr algn="ctr"/>
              <a:r>
                <a:rPr lang="zh-CN" altLang="en-US" sz="700" dirty="0">
                  <a:solidFill>
                    <a:schemeClr val="bg1"/>
                  </a:solidFill>
                  <a:latin typeface="微软雅黑" panose="020B0503020204020204" pitchFamily="34" charset="-122"/>
                  <a:ea typeface="微软雅黑" panose="020B0503020204020204" pitchFamily="34" charset="-122"/>
                </a:rPr>
                <a:t>售前</a:t>
              </a:r>
            </a:p>
          </p:txBody>
        </p:sp>
        <p:sp>
          <p:nvSpPr>
            <p:cNvPr id="90" name="文本框 89"/>
            <p:cNvSpPr txBox="1"/>
            <p:nvPr/>
          </p:nvSpPr>
          <p:spPr>
            <a:xfrm>
              <a:off x="9645200" y="1844609"/>
              <a:ext cx="650497" cy="398821"/>
            </a:xfrm>
            <a:prstGeom prst="rect">
              <a:avLst/>
            </a:prstGeom>
            <a:solidFill>
              <a:schemeClr val="accent1">
                <a:lumMod val="50000"/>
              </a:schemeClr>
            </a:solidFill>
          </p:spPr>
          <p:txBody>
            <a:bodyPr wrap="square" rtlCol="0">
              <a:spAutoFit/>
            </a:bodyPr>
            <a:lstStyle/>
            <a:p>
              <a:pPr algn="ctr"/>
              <a:r>
                <a:rPr lang="zh-CN" altLang="en-US" sz="700" dirty="0" smtClean="0">
                  <a:solidFill>
                    <a:schemeClr val="bg1"/>
                  </a:solidFill>
                  <a:latin typeface="微软雅黑" panose="020B0503020204020204" pitchFamily="34" charset="-122"/>
                  <a:ea typeface="微软雅黑" panose="020B0503020204020204" pitchFamily="34" charset="-122"/>
                </a:rPr>
                <a:t>销售</a:t>
              </a:r>
              <a:endParaRPr lang="zh-CN" altLang="en-US" sz="700" dirty="0">
                <a:solidFill>
                  <a:schemeClr val="bg1"/>
                </a:solidFill>
                <a:latin typeface="微软雅黑" panose="020B0503020204020204" pitchFamily="34" charset="-122"/>
                <a:ea typeface="微软雅黑" panose="020B0503020204020204" pitchFamily="34" charset="-122"/>
              </a:endParaRPr>
            </a:p>
          </p:txBody>
        </p:sp>
        <p:sp>
          <p:nvSpPr>
            <p:cNvPr id="91" name="矩形 90"/>
            <p:cNvSpPr/>
            <p:nvPr/>
          </p:nvSpPr>
          <p:spPr>
            <a:xfrm>
              <a:off x="7810256" y="1766464"/>
              <a:ext cx="1357549" cy="4383402"/>
            </a:xfrm>
            <a:prstGeom prst="rect">
              <a:avLst/>
            </a:prstGeom>
            <a:noFill/>
            <a:ln w="19050">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92" name="矩形 91"/>
            <p:cNvSpPr/>
            <p:nvPr/>
          </p:nvSpPr>
          <p:spPr>
            <a:xfrm>
              <a:off x="9285919" y="1768307"/>
              <a:ext cx="1340032" cy="4381559"/>
            </a:xfrm>
            <a:prstGeom prst="rect">
              <a:avLst/>
            </a:prstGeom>
            <a:noFill/>
            <a:ln w="19050">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cxnSp>
          <p:nvCxnSpPr>
            <p:cNvPr id="93" name="直接箭头连接符 92"/>
            <p:cNvCxnSpPr>
              <a:stCxn id="77" idx="3"/>
              <a:endCxn id="73" idx="1"/>
            </p:cNvCxnSpPr>
            <p:nvPr/>
          </p:nvCxnSpPr>
          <p:spPr>
            <a:xfrm>
              <a:off x="9013939" y="3787662"/>
              <a:ext cx="365796" cy="54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7887802" y="3430272"/>
              <a:ext cx="237744" cy="2579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smtClean="0">
                  <a:latin typeface="微软雅黑" panose="020B0503020204020204" pitchFamily="34" charset="-122"/>
                  <a:ea typeface="微软雅黑" panose="020B0503020204020204" pitchFamily="34" charset="-122"/>
                </a:rPr>
                <a:t>1</a:t>
              </a:r>
              <a:endParaRPr lang="zh-CN" altLang="en-US" sz="1000" dirty="0">
                <a:latin typeface="微软雅黑" panose="020B0503020204020204" pitchFamily="34" charset="-122"/>
                <a:ea typeface="微软雅黑" panose="020B0503020204020204" pitchFamily="34" charset="-122"/>
              </a:endParaRPr>
            </a:p>
          </p:txBody>
        </p:sp>
        <p:sp>
          <p:nvSpPr>
            <p:cNvPr id="97" name="椭圆 96"/>
            <p:cNvSpPr/>
            <p:nvPr/>
          </p:nvSpPr>
          <p:spPr>
            <a:xfrm>
              <a:off x="9278818" y="3518774"/>
              <a:ext cx="237744" cy="2579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smtClean="0">
                  <a:latin typeface="微软雅黑" panose="020B0503020204020204" pitchFamily="34" charset="-122"/>
                  <a:ea typeface="微软雅黑" panose="020B0503020204020204" pitchFamily="34" charset="-122"/>
                </a:rPr>
                <a:t>2</a:t>
              </a:r>
              <a:endParaRPr lang="zh-CN" altLang="en-US" sz="1000" dirty="0">
                <a:latin typeface="微软雅黑" panose="020B0503020204020204" pitchFamily="34" charset="-122"/>
                <a:ea typeface="微软雅黑" panose="020B0503020204020204" pitchFamily="34" charset="-122"/>
              </a:endParaRPr>
            </a:p>
          </p:txBody>
        </p:sp>
      </p:grpSp>
      <p:sp>
        <p:nvSpPr>
          <p:cNvPr id="100" name="矩形 99"/>
          <p:cNvSpPr/>
          <p:nvPr/>
        </p:nvSpPr>
        <p:spPr>
          <a:xfrm>
            <a:off x="2926892" y="2249722"/>
            <a:ext cx="1724968" cy="641751"/>
          </a:xfrm>
          <a:prstGeom prst="rect">
            <a:avLst/>
          </a:prstGeom>
          <a:solidFill>
            <a:srgbClr val="F8CC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rgbClr val="C00000"/>
                </a:solidFill>
                <a:latin typeface="微软雅黑" panose="020B0503020204020204" pitchFamily="34" charset="-122"/>
                <a:ea typeface="微软雅黑" panose="020B0503020204020204" pitchFamily="34" charset="-122"/>
              </a:rPr>
              <a:t>之前，售前给出的产品配置没有</a:t>
            </a:r>
            <a:r>
              <a:rPr lang="zh-CN" altLang="en-US" sz="1200" dirty="0">
                <a:solidFill>
                  <a:srgbClr val="C00000"/>
                </a:solidFill>
                <a:latin typeface="微软雅黑" panose="020B0503020204020204" pitchFamily="34" charset="-122"/>
                <a:ea typeface="微软雅黑" panose="020B0503020204020204" pitchFamily="34" charset="-122"/>
              </a:rPr>
              <a:t>标准。</a:t>
            </a:r>
          </a:p>
        </p:txBody>
      </p:sp>
      <p:sp>
        <p:nvSpPr>
          <p:cNvPr id="101" name="矩形 100"/>
          <p:cNvSpPr/>
          <p:nvPr/>
        </p:nvSpPr>
        <p:spPr>
          <a:xfrm>
            <a:off x="2904404" y="3106574"/>
            <a:ext cx="1747456" cy="655082"/>
          </a:xfrm>
          <a:prstGeom prst="rect">
            <a:avLst/>
          </a:prstGeom>
          <a:solidFill>
            <a:srgbClr val="F8CCA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rgbClr val="C00000"/>
                </a:solidFill>
                <a:latin typeface="微软雅黑" panose="020B0503020204020204" pitchFamily="34" charset="-122"/>
                <a:ea typeface="微软雅黑" panose="020B0503020204020204" pitchFamily="34" charset="-122"/>
              </a:rPr>
              <a:t>销售未</a:t>
            </a:r>
            <a:r>
              <a:rPr lang="zh-CN" altLang="en-US" sz="1200" dirty="0">
                <a:solidFill>
                  <a:srgbClr val="C00000"/>
                </a:solidFill>
                <a:latin typeface="微软雅黑" panose="020B0503020204020204" pitchFamily="34" charset="-122"/>
                <a:ea typeface="微软雅黑" panose="020B0503020204020204" pitchFamily="34" charset="-122"/>
              </a:rPr>
              <a:t>依据售</a:t>
            </a:r>
            <a:r>
              <a:rPr lang="zh-CN" altLang="en-US" sz="1200" dirty="0" smtClean="0">
                <a:solidFill>
                  <a:srgbClr val="C00000"/>
                </a:solidFill>
                <a:latin typeface="微软雅黑" panose="020B0503020204020204" pitchFamily="34" charset="-122"/>
                <a:ea typeface="微软雅黑" panose="020B0503020204020204" pitchFamily="34" charset="-122"/>
              </a:rPr>
              <a:t>前的配置，为满足报价总金额，</a:t>
            </a:r>
            <a:r>
              <a:rPr lang="zh-CN" altLang="en-US" sz="1200" dirty="0">
                <a:solidFill>
                  <a:srgbClr val="C00000"/>
                </a:solidFill>
                <a:latin typeface="微软雅黑" panose="020B0503020204020204" pitchFamily="34" charset="-122"/>
                <a:ea typeface="微软雅黑" panose="020B0503020204020204" pitchFamily="34" charset="-122"/>
              </a:rPr>
              <a:t>随意拼凑</a:t>
            </a:r>
            <a:r>
              <a:rPr lang="zh-CN" altLang="en-US" sz="1200" dirty="0" smtClean="0">
                <a:solidFill>
                  <a:srgbClr val="C00000"/>
                </a:solidFill>
                <a:latin typeface="微软雅黑" panose="020B0503020204020204" pitchFamily="34" charset="-122"/>
                <a:ea typeface="微软雅黑" panose="020B0503020204020204" pitchFamily="34" charset="-122"/>
              </a:rPr>
              <a:t>配置。</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104" name="表格 103"/>
          <p:cNvGraphicFramePr>
            <a:graphicFrameLocks noGrp="1"/>
          </p:cNvGraphicFramePr>
          <p:nvPr>
            <p:extLst>
              <p:ext uri="{D42A27DB-BD31-4B8C-83A1-F6EECF244321}">
                <p14:modId xmlns:p14="http://schemas.microsoft.com/office/powerpoint/2010/main" val="2310985111"/>
              </p:ext>
            </p:extLst>
          </p:nvPr>
        </p:nvGraphicFramePr>
        <p:xfrm>
          <a:off x="5303157" y="4038974"/>
          <a:ext cx="6486082" cy="2705209"/>
        </p:xfrm>
        <a:graphic>
          <a:graphicData uri="http://schemas.openxmlformats.org/drawingml/2006/table">
            <a:tbl>
              <a:tblPr firstRow="1" bandRow="1">
                <a:tableStyleId>{9DCAF9ED-07DC-4A11-8D7F-57B35C25682E}</a:tableStyleId>
              </a:tblPr>
              <a:tblGrid>
                <a:gridCol w="543069">
                  <a:extLst>
                    <a:ext uri="{9D8B030D-6E8A-4147-A177-3AD203B41FA5}">
                      <a16:colId xmlns:a16="http://schemas.microsoft.com/office/drawing/2014/main" val="910313212"/>
                    </a:ext>
                  </a:extLst>
                </a:gridCol>
                <a:gridCol w="248580">
                  <a:extLst>
                    <a:ext uri="{9D8B030D-6E8A-4147-A177-3AD203B41FA5}">
                      <a16:colId xmlns:a16="http://schemas.microsoft.com/office/drawing/2014/main" val="149268332"/>
                    </a:ext>
                  </a:extLst>
                </a:gridCol>
                <a:gridCol w="500729">
                  <a:extLst>
                    <a:ext uri="{9D8B030D-6E8A-4147-A177-3AD203B41FA5}">
                      <a16:colId xmlns:a16="http://schemas.microsoft.com/office/drawing/2014/main" val="3828378604"/>
                    </a:ext>
                  </a:extLst>
                </a:gridCol>
                <a:gridCol w="472779">
                  <a:extLst>
                    <a:ext uri="{9D8B030D-6E8A-4147-A177-3AD203B41FA5}">
                      <a16:colId xmlns:a16="http://schemas.microsoft.com/office/drawing/2014/main" val="3258958576"/>
                    </a:ext>
                  </a:extLst>
                </a:gridCol>
                <a:gridCol w="1282833">
                  <a:extLst>
                    <a:ext uri="{9D8B030D-6E8A-4147-A177-3AD203B41FA5}">
                      <a16:colId xmlns:a16="http://schemas.microsoft.com/office/drawing/2014/main" val="955801584"/>
                    </a:ext>
                  </a:extLst>
                </a:gridCol>
                <a:gridCol w="396721">
                  <a:extLst>
                    <a:ext uri="{9D8B030D-6E8A-4147-A177-3AD203B41FA5}">
                      <a16:colId xmlns:a16="http://schemas.microsoft.com/office/drawing/2014/main" val="833554738"/>
                    </a:ext>
                  </a:extLst>
                </a:gridCol>
                <a:gridCol w="395064">
                  <a:extLst>
                    <a:ext uri="{9D8B030D-6E8A-4147-A177-3AD203B41FA5}">
                      <a16:colId xmlns:a16="http://schemas.microsoft.com/office/drawing/2014/main" val="1474701834"/>
                    </a:ext>
                  </a:extLst>
                </a:gridCol>
                <a:gridCol w="2646307">
                  <a:extLst>
                    <a:ext uri="{9D8B030D-6E8A-4147-A177-3AD203B41FA5}">
                      <a16:colId xmlns:a16="http://schemas.microsoft.com/office/drawing/2014/main" val="1218999251"/>
                    </a:ext>
                  </a:extLst>
                </a:gridCol>
              </a:tblGrid>
              <a:tr h="164500">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打分项分类</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序号</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打分项</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自评打分</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自评打分依据</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权重</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打分结果</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检查依据</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extLst>
                  <a:ext uri="{0D108BD9-81ED-4DB2-BD59-A6C34878D82A}">
                    <a16:rowId xmlns:a16="http://schemas.microsoft.com/office/drawing/2014/main" val="3960608024"/>
                  </a:ext>
                </a:extLst>
              </a:tr>
              <a:tr h="212923">
                <a:tc rowSpan="3">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项目预算</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3">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1</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3">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预研金额</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3">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项目相关的价格及竞争情报，历史采购价格及竞争价格准确输入；</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lnB w="12700" cmpd="sng">
                      <a:noFill/>
                    </a:lnB>
                    <a:solidFill>
                      <a:srgbClr val="FCECE8"/>
                    </a:solidFill>
                  </a:tcPr>
                </a:tc>
                <a:tc rowSpan="3">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20%</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3">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0.6</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3">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以销售判断为准</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extLst>
                  <a:ext uri="{0D108BD9-81ED-4DB2-BD59-A6C34878D82A}">
                    <a16:rowId xmlns:a16="http://schemas.microsoft.com/office/drawing/2014/main" val="4005179688"/>
                  </a:ext>
                </a:extLst>
              </a:tr>
              <a:tr h="21292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4 </a:t>
                      </a:r>
                      <a:r>
                        <a:rPr lang="zh-CN" altLang="en-US"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分 </a:t>
                      </a:r>
                      <a:r>
                        <a:rPr lang="en-US" altLang="zh-CN"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 </a:t>
                      </a:r>
                      <a:r>
                        <a:rPr lang="zh-CN" altLang="en-US"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项目相关的价格及竞争情报输入，缺 </a:t>
                      </a:r>
                      <a:r>
                        <a:rPr lang="en-US" altLang="zh-CN"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1 </a:t>
                      </a:r>
                      <a:r>
                        <a:rPr lang="zh-CN" altLang="en-US"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项相关预算可信；</a:t>
                      </a:r>
                    </a:p>
                  </a:txBody>
                  <a:tcPr marL="114300" marR="6350" marT="6350" marB="0" anchor="ctr">
                    <a:lnL>
                      <a:noFill/>
                    </a:lnL>
                    <a:lnR>
                      <a:noFill/>
                    </a:lnR>
                    <a:lnT w="12700" cmpd="sng">
                      <a:noFill/>
                    </a:lnT>
                    <a:lnB w="12700" cmpd="sng">
                      <a:noFill/>
                    </a:lnB>
                    <a:lnTlToBr w="12700" cmpd="sng">
                      <a:noFill/>
                      <a:prstDash val="solid"/>
                    </a:lnTlToBr>
                    <a:lnBlToTr w="12700" cmpd="sng">
                      <a:noFill/>
                      <a:prstDash val="solid"/>
                    </a:lnBlToTr>
                    <a:solidFill>
                      <a:srgbClr val="FCECE8"/>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653442569"/>
                  </a:ext>
                </a:extLst>
              </a:tr>
              <a:tr h="9320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3 </a:t>
                      </a:r>
                      <a:r>
                        <a:rPr lang="zh-CN" altLang="en-US"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分 </a:t>
                      </a:r>
                      <a:r>
                        <a:rPr lang="en-US" altLang="zh-CN"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 </a:t>
                      </a:r>
                      <a:r>
                        <a:rPr lang="zh-CN" altLang="en-US" sz="600" u="none" strike="noStrike" kern="1200" dirty="0">
                          <a:solidFill>
                            <a:schemeClr val="dk1"/>
                          </a:solidFill>
                          <a:effectLst/>
                          <a:latin typeface="微软雅黑 Light" panose="020B0502040204020203" pitchFamily="34" charset="-122"/>
                          <a:ea typeface="微软雅黑 Light" panose="020B0502040204020203" pitchFamily="34" charset="-122"/>
                          <a:cs typeface="+mn-cs"/>
                        </a:rPr>
                        <a:t>其他。</a:t>
                      </a:r>
                    </a:p>
                  </a:txBody>
                  <a:tcPr marL="114300" marR="6350" marT="6350" marB="0" anchor="ctr">
                    <a:lnT w="12700" cmpd="sng">
                      <a:noFill/>
                    </a:lnT>
                    <a:solidFill>
                      <a:srgbClr val="FCECE8"/>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271064861"/>
                  </a:ext>
                </a:extLst>
              </a:tr>
              <a:tr h="143331">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技术路线级</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2</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产品系列</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所有产品系列均可以确定；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4">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20%</a:t>
                      </a:r>
                      <a:endParaRPr lang="en-US" altLang="zh-CN"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0.6</a:t>
                      </a:r>
                      <a:endParaRPr lang="en-US" altLang="zh-CN"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技术路线已写进指标文件，决策者已经确定技术路线；</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extLst>
                  <a:ext uri="{0D108BD9-81ED-4DB2-BD59-A6C34878D82A}">
                    <a16:rowId xmlns:a16="http://schemas.microsoft.com/office/drawing/2014/main" val="286389751"/>
                  </a:ext>
                </a:extLst>
              </a:tr>
              <a:tr h="20935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产品系列 </a:t>
                      </a:r>
                      <a:r>
                        <a:rPr lang="en-US" altLang="zh-CN" sz="600" u="none" strike="noStrike" dirty="0">
                          <a:effectLst/>
                          <a:latin typeface="微软雅黑 Light" panose="020B0502040204020203" pitchFamily="34" charset="-122"/>
                          <a:ea typeface="微软雅黑 Light" panose="020B0502040204020203" pitchFamily="34" charset="-122"/>
                        </a:rPr>
                        <a:t>80%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技术路线已基本确定，产品系列的定义：同一产品中功能相同、性能相近的列为一系列，要认证框式交换机；</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4137225728"/>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产品系列 </a:t>
                      </a:r>
                      <a:r>
                        <a:rPr lang="en-US" altLang="zh-CN" sz="600" u="none" strike="noStrike" dirty="0">
                          <a:effectLst/>
                          <a:latin typeface="微软雅黑 Light" panose="020B0502040204020203" pitchFamily="34" charset="-122"/>
                          <a:ea typeface="微软雅黑 Light" panose="020B0502040204020203" pitchFamily="34" charset="-122"/>
                        </a:rPr>
                        <a:t>50%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78% </a:t>
                      </a:r>
                      <a:r>
                        <a:rPr lang="zh-CN" altLang="en-US" sz="600" u="none" strike="noStrike" dirty="0">
                          <a:effectLst/>
                          <a:latin typeface="微软雅黑 Light" panose="020B0502040204020203" pitchFamily="34" charset="-122"/>
                          <a:ea typeface="微软雅黑 Light" panose="020B0502040204020203" pitchFamily="34" charset="-122"/>
                        </a:rPr>
                        <a:t>为同一（框式交换机）；</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34897810"/>
                  </a:ext>
                </a:extLst>
              </a:tr>
              <a:tr h="1081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0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其它。</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其它。</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3375865209"/>
                  </a:ext>
                </a:extLst>
              </a:tr>
              <a:tr h="143331">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　</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产品型号</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所有产品型号均可以确定；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rowSpan="4">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30%</a:t>
                      </a:r>
                      <a:endParaRPr lang="en-US" altLang="zh-CN"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0</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产品技术参数已写进指标文件，评估清单已写进指标文件；</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extLst>
                  <a:ext uri="{0D108BD9-81ED-4DB2-BD59-A6C34878D82A}">
                    <a16:rowId xmlns:a16="http://schemas.microsoft.com/office/drawing/2014/main" val="195380475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产品型号 </a:t>
                      </a:r>
                      <a:r>
                        <a:rPr lang="en-US" altLang="zh-CN" sz="600" u="none" strike="noStrike" dirty="0">
                          <a:effectLst/>
                          <a:latin typeface="微软雅黑 Light" panose="020B0502040204020203" pitchFamily="34" charset="-122"/>
                          <a:ea typeface="微软雅黑 Light" panose="020B0502040204020203" pitchFamily="34" charset="-122"/>
                        </a:rPr>
                        <a:t>80%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产品技术参数已写进指标文件，评估清单已写进指标文件；</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extLst>
                  <a:ext uri="{0D108BD9-81ED-4DB2-BD59-A6C34878D82A}">
                    <a16:rowId xmlns:a16="http://schemas.microsoft.com/office/drawing/2014/main" val="237879562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产品型号 </a:t>
                      </a:r>
                      <a:r>
                        <a:rPr lang="en-US" altLang="zh-CN" sz="600" u="none" strike="noStrike" dirty="0">
                          <a:effectLst/>
                          <a:latin typeface="微软雅黑 Light" panose="020B0502040204020203" pitchFamily="34" charset="-122"/>
                          <a:ea typeface="微软雅黑 Light" panose="020B0502040204020203" pitchFamily="34" charset="-122"/>
                        </a:rPr>
                        <a:t>50%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产品技术参数和评估清单正在评估中。</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extLst>
                  <a:ext uri="{0D108BD9-81ED-4DB2-BD59-A6C34878D82A}">
                    <a16:rowId xmlns:a16="http://schemas.microsoft.com/office/drawing/2014/main" val="1717626814"/>
                  </a:ext>
                </a:extLst>
              </a:tr>
              <a:tr h="1081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0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其它。</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　</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rgbClr val="FCECE6"/>
                    </a:solidFill>
                  </a:tcPr>
                </a:tc>
                <a:extLst>
                  <a:ext uri="{0D108BD9-81ED-4DB2-BD59-A6C34878D82A}">
                    <a16:rowId xmlns:a16="http://schemas.microsoft.com/office/drawing/2014/main" val="1336543817"/>
                  </a:ext>
                </a:extLst>
              </a:tr>
              <a:tr h="143331">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性能容量</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zh-CN" altLang="en-US" sz="600" u="none" strike="noStrike" dirty="0">
                          <a:effectLst/>
                          <a:latin typeface="微软雅黑 Light" panose="020B0502040204020203" pitchFamily="34" charset="-122"/>
                          <a:ea typeface="微软雅黑 Light" panose="020B0502040204020203" pitchFamily="34" charset="-122"/>
                        </a:rPr>
                        <a:t>产品数量</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a:t>
                      </a:r>
                      <a:endParaRPr lang="en-US" altLang="zh-CN"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所有产品数量均可以确定；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tc rowSpan="4">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30%</a:t>
                      </a:r>
                      <a:endParaRPr lang="en-US" altLang="zh-CN"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rowSpan="4">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0</a:t>
                      </a:r>
                      <a:endParaRPr lang="en-US" altLang="zh-CN"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5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产品数量已写进指标文件；</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tc>
                <a:extLst>
                  <a:ext uri="{0D108BD9-81ED-4DB2-BD59-A6C34878D82A}">
                    <a16:rowId xmlns:a16="http://schemas.microsoft.com/office/drawing/2014/main" val="1252164575"/>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产品数量 </a:t>
                      </a:r>
                      <a:r>
                        <a:rPr lang="en-US" altLang="zh-CN" sz="600" u="none" strike="noStrike" dirty="0">
                          <a:effectLst/>
                          <a:latin typeface="微软雅黑 Light" panose="020B0502040204020203" pitchFamily="34" charset="-122"/>
                          <a:ea typeface="微软雅黑 Light" panose="020B0502040204020203" pitchFamily="34" charset="-122"/>
                        </a:rPr>
                        <a:t>80%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4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产品数量已写进指标文件；</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191111298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产品数量 </a:t>
                      </a:r>
                      <a:r>
                        <a:rPr lang="en-US" altLang="zh-CN" sz="600" u="none" strike="noStrike" dirty="0">
                          <a:effectLst/>
                          <a:latin typeface="微软雅黑 Light" panose="020B0502040204020203" pitchFamily="34" charset="-122"/>
                          <a:ea typeface="微软雅黑 Light" panose="020B0502040204020203" pitchFamily="34" charset="-122"/>
                        </a:rPr>
                        <a:t>50% </a:t>
                      </a:r>
                      <a:r>
                        <a:rPr lang="zh-CN" altLang="en-US" sz="600" u="none" strike="noStrike" dirty="0">
                          <a:effectLst/>
                          <a:latin typeface="微软雅黑 Light" panose="020B0502040204020203" pitchFamily="34" charset="-122"/>
                          <a:ea typeface="微软雅黑 Light" panose="020B0502040204020203" pitchFamily="34" charset="-122"/>
                        </a:rPr>
                        <a:t>以上可以确定；</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3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产品数量已写进指标文件；</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3165546541"/>
                  </a:ext>
                </a:extLst>
              </a:tr>
              <a:tr h="10701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a:effectLst/>
                          <a:latin typeface="微软雅黑 Light" panose="020B0502040204020203" pitchFamily="34" charset="-122"/>
                          <a:ea typeface="微软雅黑 Light" panose="020B0502040204020203" pitchFamily="34" charset="-122"/>
                        </a:rPr>
                        <a:t>0 </a:t>
                      </a:r>
                      <a:r>
                        <a:rPr lang="zh-CN" altLang="en-US" sz="600" u="none" strike="noStrike">
                          <a:effectLst/>
                          <a:latin typeface="微软雅黑 Light" panose="020B0502040204020203" pitchFamily="34" charset="-122"/>
                          <a:ea typeface="微软雅黑 Light" panose="020B0502040204020203" pitchFamily="34" charset="-122"/>
                        </a:rPr>
                        <a:t>分 </a:t>
                      </a:r>
                      <a:r>
                        <a:rPr lang="en-US" altLang="zh-CN" sz="600" u="none" strike="noStrike">
                          <a:effectLst/>
                          <a:latin typeface="微软雅黑 Light" panose="020B0502040204020203" pitchFamily="34" charset="-122"/>
                          <a:ea typeface="微软雅黑 Light" panose="020B0502040204020203" pitchFamily="34" charset="-122"/>
                        </a:rPr>
                        <a:t>- </a:t>
                      </a:r>
                      <a:r>
                        <a:rPr lang="zh-CN" altLang="en-US" sz="600" u="none" strike="noStrike">
                          <a:effectLst/>
                          <a:latin typeface="微软雅黑 Light" panose="020B0502040204020203" pitchFamily="34" charset="-122"/>
                          <a:ea typeface="微软雅黑 Light" panose="020B0502040204020203" pitchFamily="34" charset="-122"/>
                        </a:rPr>
                        <a:t>其它。</a:t>
                      </a:r>
                      <a:endParaRPr lang="zh-CN" altLang="en-US" sz="600" b="0" i="0" u="none" strike="noStrike">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Light" panose="020B0502040204020203" pitchFamily="34" charset="-122"/>
                          <a:ea typeface="微软雅黑 Light" panose="020B0502040204020203" pitchFamily="34" charset="-122"/>
                        </a:rPr>
                        <a:t>0 </a:t>
                      </a:r>
                      <a:r>
                        <a:rPr lang="zh-CN" altLang="en-US" sz="600" u="none" strike="noStrike" dirty="0">
                          <a:effectLst/>
                          <a:latin typeface="微软雅黑 Light" panose="020B0502040204020203" pitchFamily="34" charset="-122"/>
                          <a:ea typeface="微软雅黑 Light" panose="020B0502040204020203" pitchFamily="34" charset="-122"/>
                        </a:rPr>
                        <a:t>分 </a:t>
                      </a:r>
                      <a:r>
                        <a:rPr lang="en-US" altLang="zh-CN" sz="600" u="none" strike="noStrike" dirty="0">
                          <a:effectLst/>
                          <a:latin typeface="微软雅黑 Light" panose="020B0502040204020203" pitchFamily="34" charset="-122"/>
                          <a:ea typeface="微软雅黑 Light" panose="020B0502040204020203" pitchFamily="34" charset="-122"/>
                        </a:rPr>
                        <a:t>- </a:t>
                      </a:r>
                      <a:r>
                        <a:rPr lang="zh-CN" altLang="en-US" sz="600" u="none" strike="noStrike" dirty="0">
                          <a:effectLst/>
                          <a:latin typeface="微软雅黑 Light" panose="020B0502040204020203" pitchFamily="34" charset="-122"/>
                          <a:ea typeface="微软雅黑 Light" panose="020B0502040204020203" pitchFamily="34" charset="-122"/>
                        </a:rPr>
                        <a:t>已经评估出产品数量。</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bg1"/>
                    </a:solidFill>
                  </a:tcPr>
                </a:tc>
                <a:extLst>
                  <a:ext uri="{0D108BD9-81ED-4DB2-BD59-A6C34878D82A}">
                    <a16:rowId xmlns:a16="http://schemas.microsoft.com/office/drawing/2014/main" val="1876206746"/>
                  </a:ext>
                </a:extLst>
              </a:tr>
              <a:tr h="108189">
                <a:tc gridSpan="6">
                  <a:txBody>
                    <a:bodyPr/>
                    <a:lstStyle/>
                    <a:p>
                      <a:pPr algn="ctr" fontAlgn="ctr"/>
                      <a:r>
                        <a:rPr lang="zh-CN" altLang="en-US" sz="600" b="1" u="none" strike="noStrike" dirty="0">
                          <a:effectLst/>
                          <a:latin typeface="微软雅黑 Light" panose="020B0502040204020203" pitchFamily="34" charset="-122"/>
                          <a:ea typeface="微软雅黑 Light" panose="020B0502040204020203" pitchFamily="34" charset="-122"/>
                        </a:rPr>
                        <a:t>自评可信度合计得分</a:t>
                      </a:r>
                      <a:endParaRPr lang="zh-CN" altLang="en-US" sz="6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solidFill>
                      <a:srgbClr val="FFC0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b="1" u="none" strike="noStrike" dirty="0" smtClean="0">
                          <a:solidFill>
                            <a:srgbClr val="C00000"/>
                          </a:solidFill>
                          <a:effectLst/>
                          <a:latin typeface="微软雅黑 Light" panose="020B0502040204020203" pitchFamily="34" charset="-122"/>
                          <a:ea typeface="微软雅黑 Light" panose="020B0502040204020203" pitchFamily="34" charset="-122"/>
                        </a:rPr>
                        <a:t>24%</a:t>
                      </a:r>
                      <a:endParaRPr lang="en-US" altLang="zh-CN" sz="600" b="1" i="0" u="none" strike="noStrike" dirty="0">
                        <a:solidFill>
                          <a:srgbClr val="C00000"/>
                        </a:solidFill>
                        <a:effectLst/>
                        <a:latin typeface="微软雅黑 Light" panose="020B0502040204020203" pitchFamily="34" charset="-122"/>
                        <a:ea typeface="微软雅黑 Light" panose="020B0502040204020203" pitchFamily="34" charset="-122"/>
                      </a:endParaRPr>
                    </a:p>
                  </a:txBody>
                  <a:tcPr marL="114300" marR="6350" marT="6350" marB="0" anchor="ctr">
                    <a:solidFill>
                      <a:schemeClr val="accent2">
                        <a:lumMod val="20000"/>
                        <a:lumOff val="80000"/>
                      </a:schemeClr>
                    </a:solidFill>
                  </a:tcPr>
                </a:tc>
                <a:tc>
                  <a:txBody>
                    <a:bodyPr/>
                    <a:lstStyle/>
                    <a:p>
                      <a:pPr algn="ctr" fontAlgn="b"/>
                      <a:r>
                        <a:rPr lang="zh-CN" altLang="en-US" sz="600" u="none" strike="noStrike" dirty="0">
                          <a:effectLst/>
                          <a:latin typeface="微软雅黑 Light" panose="020B0502040204020203" pitchFamily="34" charset="-122"/>
                          <a:ea typeface="微软雅黑 Light" panose="020B0502040204020203" pitchFamily="34" charset="-122"/>
                        </a:rPr>
                        <a:t>　</a:t>
                      </a:r>
                      <a:endParaRPr lang="zh-CN" altLang="en-US" sz="600" b="0"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b"/>
                </a:tc>
                <a:extLst>
                  <a:ext uri="{0D108BD9-81ED-4DB2-BD59-A6C34878D82A}">
                    <a16:rowId xmlns:a16="http://schemas.microsoft.com/office/drawing/2014/main" val="2931205115"/>
                  </a:ext>
                </a:extLst>
              </a:tr>
            </a:tbl>
          </a:graphicData>
        </a:graphic>
      </p:graphicFrame>
      <p:sp>
        <p:nvSpPr>
          <p:cNvPr id="105" name="文本框 104"/>
          <p:cNvSpPr txBox="1"/>
          <p:nvPr/>
        </p:nvSpPr>
        <p:spPr>
          <a:xfrm>
            <a:off x="2982799" y="1824565"/>
            <a:ext cx="1438214" cy="338554"/>
          </a:xfrm>
          <a:prstGeom prst="rect">
            <a:avLst/>
          </a:prstGeom>
          <a:noFill/>
        </p:spPr>
        <p:txBody>
          <a:bodyPr wrap="none" rtlCol="0">
            <a:spAutoFit/>
          </a:bodyPr>
          <a:lstStyle/>
          <a:p>
            <a:r>
              <a:rPr lang="en-US" altLang="zh-CN" sz="1600" b="1" dirty="0" smtClean="0">
                <a:solidFill>
                  <a:schemeClr val="bg1"/>
                </a:solidFill>
                <a:latin typeface="微软雅黑" panose="020B0503020204020204" pitchFamily="34" charset="-122"/>
                <a:ea typeface="微软雅黑" panose="020B0503020204020204" pitchFamily="34" charset="-122"/>
              </a:rPr>
              <a:t>N </a:t>
            </a:r>
            <a:r>
              <a:rPr lang="zh-CN" altLang="en-US" sz="1600" b="1" dirty="0" smtClean="0">
                <a:solidFill>
                  <a:schemeClr val="bg1"/>
                </a:solidFill>
                <a:latin typeface="微软雅黑" panose="020B0503020204020204" pitchFamily="34" charset="-122"/>
                <a:ea typeface="微软雅黑" panose="020B0503020204020204" pitchFamily="34" charset="-122"/>
              </a:rPr>
              <a:t>为什么不准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9277507" y="1748100"/>
            <a:ext cx="1233030" cy="338554"/>
          </a:xfrm>
          <a:prstGeom prst="rect">
            <a:avLst/>
          </a:prstGeom>
          <a:noFill/>
        </p:spPr>
        <p:txBody>
          <a:bodyPr wrap="non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如何做准 </a:t>
            </a:r>
            <a:r>
              <a:rPr lang="en-US" altLang="zh-CN" sz="1600" b="1" dirty="0" smtClean="0">
                <a:solidFill>
                  <a:schemeClr val="bg1"/>
                </a:solidFill>
                <a:latin typeface="微软雅黑" panose="020B0503020204020204" pitchFamily="34" charset="-122"/>
                <a:ea typeface="微软雅黑" panose="020B0503020204020204" pitchFamily="34" charset="-122"/>
              </a:rPr>
              <a:t>N</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765674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619269" y="369497"/>
            <a:ext cx="11664661" cy="504362"/>
          </a:xfrm>
          <a:prstGeom prst="rect">
            <a:avLst/>
          </a:prstGeom>
          <a:noFill/>
        </p:spPr>
        <p:txBody>
          <a:bodyPr wrap="square" rtlCol="0">
            <a:noAutofit/>
          </a:bodyPr>
          <a:lstStyle/>
          <a:p>
            <a:r>
              <a:rPr kumimoji="1" lang="zh-CN" altLang="en-US" sz="2800" b="1" dirty="0" smtClean="0">
                <a:solidFill>
                  <a:srgbClr val="E60039"/>
                </a:solidFill>
                <a:latin typeface="微软雅黑" panose="020B0503020204020204" charset="-122"/>
                <a:ea typeface="微软雅黑" panose="020B0503020204020204" charset="-122"/>
                <a:sym typeface="+mn-ea"/>
              </a:rPr>
              <a:t>自工序</a:t>
            </a:r>
            <a:r>
              <a:rPr kumimoji="1" lang="en-US" altLang="zh-CN" sz="2800" b="1" dirty="0" smtClean="0">
                <a:solidFill>
                  <a:srgbClr val="E60039"/>
                </a:solidFill>
                <a:latin typeface="微软雅黑" panose="020B0503020204020204" charset="-122"/>
                <a:ea typeface="微软雅黑" panose="020B0503020204020204" charset="-122"/>
                <a:sym typeface="+mn-ea"/>
              </a:rPr>
              <a:t>-</a:t>
            </a:r>
            <a:r>
              <a:rPr kumimoji="1" lang="zh-CN" altLang="en-US" sz="2800" b="1" dirty="0" smtClean="0">
                <a:solidFill>
                  <a:srgbClr val="E60039"/>
                </a:solidFill>
                <a:latin typeface="微软雅黑" panose="020B0503020204020204" charset="-122"/>
                <a:ea typeface="微软雅黑" panose="020B0503020204020204" charset="-122"/>
                <a:sym typeface="+mn-ea"/>
              </a:rPr>
              <a:t>漏斗外进漏斗内如何做准“</a:t>
            </a:r>
            <a:r>
              <a:rPr kumimoji="1" lang="en-US" altLang="zh-CN" sz="2800" b="1" dirty="0">
                <a:solidFill>
                  <a:srgbClr val="E60039"/>
                </a:solidFill>
                <a:latin typeface="微软雅黑" panose="020B0503020204020204" charset="-122"/>
                <a:ea typeface="微软雅黑" panose="020B0503020204020204" charset="-122"/>
                <a:sym typeface="+mn-ea"/>
              </a:rPr>
              <a:t>T</a:t>
            </a:r>
            <a:r>
              <a:rPr kumimoji="1" lang="zh-CN" altLang="en-US" sz="2800" b="1" dirty="0" smtClean="0">
                <a:solidFill>
                  <a:srgbClr val="E60039"/>
                </a:solidFill>
                <a:latin typeface="微软雅黑" panose="020B0503020204020204" charset="-122"/>
                <a:ea typeface="微软雅黑" panose="020B0503020204020204" charset="-122"/>
                <a:sym typeface="+mn-ea"/>
              </a:rPr>
              <a:t>”</a:t>
            </a:r>
            <a:endParaRPr kumimoji="1" lang="zh-CN" altLang="en-US" sz="2800" b="1" dirty="0">
              <a:solidFill>
                <a:srgbClr val="E60039"/>
              </a:solidFill>
              <a:latin typeface="微软雅黑" panose="020B0503020204020204" charset="-122"/>
              <a:ea typeface="微软雅黑" panose="020B0503020204020204" charset="-122"/>
              <a:sym typeface="+mn-ea"/>
            </a:endParaRPr>
          </a:p>
        </p:txBody>
      </p:sp>
      <p:sp>
        <p:nvSpPr>
          <p:cNvPr id="3" name="文本框 2"/>
          <p:cNvSpPr txBox="1"/>
          <p:nvPr/>
        </p:nvSpPr>
        <p:spPr>
          <a:xfrm>
            <a:off x="1491404" y="954012"/>
            <a:ext cx="3401587"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过去销售售前如何做“</a:t>
            </a:r>
            <a:r>
              <a:rPr lang="en-US" altLang="zh-CN" dirty="0">
                <a:latin typeface="微软雅黑" panose="020B0503020204020204" pitchFamily="34" charset="-122"/>
                <a:ea typeface="微软雅黑" panose="020B0503020204020204" pitchFamily="34" charset="-122"/>
              </a:rPr>
              <a:t>T</a:t>
            </a:r>
            <a:r>
              <a:rPr lang="zh-CN" altLang="en-US" dirty="0" smtClean="0">
                <a:latin typeface="微软雅黑" panose="020B0503020204020204" pitchFamily="34" charset="-122"/>
                <a:ea typeface="微软雅黑" panose="020B0503020204020204" pitchFamily="34" charset="-122"/>
              </a:rPr>
              <a:t>”的？</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340538" y="1439521"/>
            <a:ext cx="5078064" cy="5350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7350447" y="911562"/>
            <a:ext cx="3401587"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未来</a:t>
            </a:r>
            <a:r>
              <a:rPr lang="zh-CN" altLang="en-US" dirty="0" smtClean="0">
                <a:latin typeface="微软雅黑" panose="020B0503020204020204" pitchFamily="34" charset="-122"/>
                <a:ea typeface="微软雅黑" panose="020B0503020204020204" pitchFamily="34" charset="-122"/>
              </a:rPr>
              <a:t>销售如何做“</a:t>
            </a:r>
            <a:r>
              <a:rPr lang="en-US" altLang="zh-CN" dirty="0">
                <a:latin typeface="微软雅黑" panose="020B0503020204020204" pitchFamily="34" charset="-122"/>
                <a:ea typeface="微软雅黑" panose="020B0503020204020204" pitchFamily="34" charset="-122"/>
              </a:rPr>
              <a:t>T</a:t>
            </a:r>
            <a:r>
              <a:rPr lang="zh-CN" altLang="en-US" dirty="0" smtClean="0">
                <a:latin typeface="微软雅黑" panose="020B0503020204020204" pitchFamily="34" charset="-122"/>
                <a:ea typeface="微软雅黑" panose="020B0503020204020204" pitchFamily="34" charset="-122"/>
              </a:rPr>
              <a:t>”的？</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5571067" y="1439521"/>
            <a:ext cx="6518078" cy="53507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25" name="矩形 24"/>
          <p:cNvSpPr/>
          <p:nvPr/>
        </p:nvSpPr>
        <p:spPr>
          <a:xfrm>
            <a:off x="541468" y="3130965"/>
            <a:ext cx="4555677" cy="3509033"/>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148517" y="1528854"/>
            <a:ext cx="3401587" cy="366021"/>
            <a:chOff x="818239" y="4156270"/>
            <a:chExt cx="3401587" cy="493885"/>
          </a:xfrm>
        </p:grpSpPr>
        <p:sp>
          <p:nvSpPr>
            <p:cNvPr id="9" name="圆角矩形 8"/>
            <p:cNvSpPr/>
            <p:nvPr/>
          </p:nvSpPr>
          <p:spPr>
            <a:xfrm>
              <a:off x="818239" y="4156270"/>
              <a:ext cx="956863" cy="4938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200" dirty="0"/>
                <a:t>开标时间</a:t>
              </a:r>
            </a:p>
          </p:txBody>
        </p:sp>
        <p:sp>
          <p:nvSpPr>
            <p:cNvPr id="12" name="圆角矩形 11"/>
            <p:cNvSpPr/>
            <p:nvPr/>
          </p:nvSpPr>
          <p:spPr>
            <a:xfrm>
              <a:off x="2040601" y="4156270"/>
              <a:ext cx="956863" cy="4938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200" dirty="0"/>
                <a:t>下</a:t>
              </a:r>
              <a:r>
                <a:rPr lang="zh-CN" altLang="en-US" sz="1200" dirty="0" smtClean="0"/>
                <a:t>单时间</a:t>
              </a:r>
              <a:endParaRPr lang="zh-CN" altLang="en-US" sz="1200" dirty="0"/>
            </a:p>
          </p:txBody>
        </p:sp>
        <p:sp>
          <p:nvSpPr>
            <p:cNvPr id="13" name="圆角矩形 12"/>
            <p:cNvSpPr/>
            <p:nvPr/>
          </p:nvSpPr>
          <p:spPr>
            <a:xfrm>
              <a:off x="3262963" y="4156270"/>
              <a:ext cx="956863" cy="493885"/>
            </a:xfrm>
            <a:prstGeom prst="roundRect">
              <a:avLst/>
            </a:prstGeom>
            <a:solidFill>
              <a:schemeClr val="bg1">
                <a:lumMod val="85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200" dirty="0"/>
            </a:p>
          </p:txBody>
        </p:sp>
      </p:grpSp>
      <p:grpSp>
        <p:nvGrpSpPr>
          <p:cNvPr id="15" name="组合 14"/>
          <p:cNvGrpSpPr/>
          <p:nvPr/>
        </p:nvGrpSpPr>
        <p:grpSpPr>
          <a:xfrm>
            <a:off x="7181114" y="1495797"/>
            <a:ext cx="3401587" cy="356681"/>
            <a:chOff x="818239" y="4156270"/>
            <a:chExt cx="3401587" cy="493885"/>
          </a:xfrm>
        </p:grpSpPr>
        <p:sp>
          <p:nvSpPr>
            <p:cNvPr id="16" name="圆角矩形 15"/>
            <p:cNvSpPr/>
            <p:nvPr/>
          </p:nvSpPr>
          <p:spPr>
            <a:xfrm>
              <a:off x="818239" y="4156270"/>
              <a:ext cx="956863" cy="4938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a:t>开标时间</a:t>
              </a:r>
            </a:p>
          </p:txBody>
        </p:sp>
        <p:sp>
          <p:nvSpPr>
            <p:cNvPr id="17" name="圆角矩形 16"/>
            <p:cNvSpPr/>
            <p:nvPr/>
          </p:nvSpPr>
          <p:spPr>
            <a:xfrm>
              <a:off x="2040601" y="4156270"/>
              <a:ext cx="956863" cy="4938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a:t>下</a:t>
              </a:r>
              <a:r>
                <a:rPr lang="zh-CN" altLang="en-US" sz="1400" dirty="0" smtClean="0"/>
                <a:t>单时间</a:t>
              </a:r>
              <a:endParaRPr lang="zh-CN" altLang="en-US" sz="1400" dirty="0"/>
            </a:p>
          </p:txBody>
        </p:sp>
        <p:sp>
          <p:nvSpPr>
            <p:cNvPr id="18" name="圆角矩形 17"/>
            <p:cNvSpPr/>
            <p:nvPr/>
          </p:nvSpPr>
          <p:spPr>
            <a:xfrm>
              <a:off x="3262963" y="4156270"/>
              <a:ext cx="956863" cy="4938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dirty="0" smtClean="0"/>
                <a:t>要货时间</a:t>
              </a:r>
              <a:endParaRPr lang="zh-CN" altLang="en-US" sz="1400" dirty="0"/>
            </a:p>
          </p:txBody>
        </p:sp>
      </p:grpSp>
      <p:sp>
        <p:nvSpPr>
          <p:cNvPr id="20" name="文本框 19"/>
          <p:cNvSpPr txBox="1"/>
          <p:nvPr/>
        </p:nvSpPr>
        <p:spPr>
          <a:xfrm>
            <a:off x="6918646" y="1988012"/>
            <a:ext cx="4467219" cy="1015663"/>
          </a:xfrm>
          <a:prstGeom prst="rect">
            <a:avLst/>
          </a:prstGeom>
          <a:noFill/>
        </p:spPr>
        <p:txBody>
          <a:bodyPr wrap="square" rtlCol="0">
            <a:spAutoFit/>
          </a:bodyPr>
          <a:lstStyle/>
          <a:p>
            <a:pPr marL="342900" indent="-342900">
              <a:buFont typeface="Arial" panose="020B0604020202020204" pitchFamily="34" charset="0"/>
              <a:buChar char="•"/>
            </a:pPr>
            <a:r>
              <a:rPr lang="zh-CN" altLang="en-US" sz="1200" dirty="0" smtClean="0">
                <a:solidFill>
                  <a:schemeClr val="bg1"/>
                </a:solidFill>
                <a:latin typeface="微软雅黑" panose="020B0503020204020204" pitchFamily="34" charset="-122"/>
                <a:ea typeface="微软雅黑" panose="020B0503020204020204" pitchFamily="34" charset="-122"/>
              </a:rPr>
              <a:t>现在关注 </a:t>
            </a:r>
            <a:r>
              <a:rPr lang="en-US" altLang="zh-CN" sz="1200" dirty="0" smtClean="0">
                <a:solidFill>
                  <a:schemeClr val="bg1"/>
                </a:solidFill>
                <a:latin typeface="微软雅黑" panose="020B0503020204020204" pitchFamily="34" charset="-122"/>
                <a:ea typeface="微软雅黑" panose="020B0503020204020204" pitchFamily="34" charset="-122"/>
              </a:rPr>
              <a:t>3</a:t>
            </a:r>
            <a:r>
              <a:rPr lang="zh-CN" altLang="en-US" sz="1200" dirty="0">
                <a:solidFill>
                  <a:schemeClr val="bg1"/>
                </a:solidFill>
                <a:latin typeface="微软雅黑" panose="020B0503020204020204" pitchFamily="34" charset="-122"/>
                <a:ea typeface="微软雅黑" panose="020B0503020204020204" pitchFamily="34" charset="-122"/>
              </a:rPr>
              <a:t>个</a:t>
            </a:r>
            <a:r>
              <a:rPr lang="en-US" altLang="zh-CN" sz="1200" dirty="0" smtClean="0">
                <a:solidFill>
                  <a:schemeClr val="bg1"/>
                </a:solidFill>
                <a:latin typeface="微软雅黑" panose="020B0503020204020204" pitchFamily="34" charset="-122"/>
                <a:ea typeface="微软雅黑" panose="020B0503020204020204" pitchFamily="34" charset="-122"/>
              </a:rPr>
              <a:t>T</a:t>
            </a:r>
            <a:r>
              <a:rPr lang="zh-CN" altLang="en-US" sz="1200" dirty="0">
                <a:solidFill>
                  <a:schemeClr val="bg1"/>
                </a:solidFill>
                <a:latin typeface="微软雅黑" panose="020B0503020204020204" pitchFamily="34" charset="-122"/>
                <a:ea typeface="微软雅黑" panose="020B0503020204020204" pitchFamily="34" charset="-122"/>
              </a:rPr>
              <a:t>：</a:t>
            </a:r>
            <a:r>
              <a:rPr lang="zh-CN" altLang="en-US" sz="1200" dirty="0" smtClean="0">
                <a:solidFill>
                  <a:schemeClr val="bg1"/>
                </a:solidFill>
                <a:latin typeface="微软雅黑" panose="020B0503020204020204" pitchFamily="34" charset="-122"/>
                <a:ea typeface="微软雅黑" panose="020B0503020204020204" pitchFamily="34" charset="-122"/>
              </a:rPr>
              <a:t> 开标时间、下单时间、</a:t>
            </a:r>
            <a:r>
              <a:rPr lang="zh-CN" altLang="en-US" sz="1200" dirty="0" smtClean="0">
                <a:solidFill>
                  <a:srgbClr val="C00000"/>
                </a:solidFill>
                <a:latin typeface="微软雅黑" panose="020B0503020204020204" pitchFamily="34" charset="-122"/>
                <a:ea typeface="微软雅黑" panose="020B0503020204020204" pitchFamily="34" charset="-122"/>
              </a:rPr>
              <a:t>要货时间</a:t>
            </a:r>
            <a:endParaRPr lang="en-US" altLang="zh-CN" sz="1200" dirty="0">
              <a:solidFill>
                <a:srgbClr val="C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smtClean="0">
                <a:solidFill>
                  <a:schemeClr val="bg1"/>
                </a:solidFill>
                <a:latin typeface="微软雅黑" panose="020B0503020204020204" pitchFamily="34" charset="-122"/>
                <a:ea typeface="微软雅黑" panose="020B0503020204020204" pitchFamily="34" charset="-122"/>
              </a:rPr>
              <a:t>重点采用 </a:t>
            </a:r>
            <a:r>
              <a:rPr lang="zh-CN" altLang="en-US" sz="1200" dirty="0" smtClean="0">
                <a:solidFill>
                  <a:srgbClr val="C00000"/>
                </a:solidFill>
                <a:latin typeface="微软雅黑" panose="020B0503020204020204" pitchFamily="34" charset="-122"/>
                <a:ea typeface="微软雅黑" panose="020B0503020204020204" pitchFamily="34" charset="-122"/>
              </a:rPr>
              <a:t>正推法</a:t>
            </a:r>
            <a:endParaRPr lang="en-US" altLang="zh-CN" sz="1200" dirty="0">
              <a:solidFill>
                <a:srgbClr val="C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五个指南</a:t>
            </a:r>
            <a:r>
              <a:rPr lang="zh-CN" altLang="en-US" sz="1200" dirty="0" smtClean="0">
                <a:solidFill>
                  <a:schemeClr val="bg1"/>
                </a:solidFill>
                <a:latin typeface="微软雅黑" panose="020B0503020204020204" pitchFamily="34" charset="-122"/>
                <a:ea typeface="微软雅黑" panose="020B0503020204020204" pitchFamily="34" charset="-122"/>
              </a:rPr>
              <a:t>：增加</a:t>
            </a:r>
            <a:r>
              <a:rPr lang="zh-CN" altLang="en-US" sz="1200" dirty="0" smtClean="0">
                <a:solidFill>
                  <a:srgbClr val="C00000"/>
                </a:solidFill>
                <a:latin typeface="微软雅黑" panose="020B0503020204020204" pitchFamily="34" charset="-122"/>
                <a:ea typeface="微软雅黑" panose="020B0503020204020204" pitchFamily="34" charset="-122"/>
              </a:rPr>
              <a:t>了 金融</a:t>
            </a:r>
            <a:r>
              <a:rPr lang="en-US" altLang="zh-CN" sz="1200" dirty="0" smtClean="0">
                <a:solidFill>
                  <a:srgbClr val="C00000"/>
                </a:solidFill>
                <a:latin typeface="微软雅黑" panose="020B0503020204020204" pitchFamily="34" charset="-122"/>
                <a:ea typeface="微软雅黑" panose="020B0503020204020204" pitchFamily="34" charset="-122"/>
              </a:rPr>
              <a:t>OC</a:t>
            </a:r>
            <a:r>
              <a:rPr lang="zh-CN" altLang="en-US" sz="1200" dirty="0" smtClean="0">
                <a:solidFill>
                  <a:srgbClr val="C00000"/>
                </a:solidFill>
                <a:latin typeface="微软雅黑" panose="020B0503020204020204" pitchFamily="34" charset="-122"/>
                <a:ea typeface="微软雅黑" panose="020B0503020204020204" pitchFamily="34" charset="-122"/>
              </a:rPr>
              <a:t>、中央集采 </a:t>
            </a:r>
            <a:endParaRPr lang="en-US" altLang="zh-CN" sz="1200" dirty="0" smtClean="0">
              <a:solidFill>
                <a:srgbClr val="C0000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预测到 </a:t>
            </a:r>
            <a:r>
              <a:rPr lang="en-US" altLang="zh-CN" sz="1200" dirty="0" smtClean="0">
                <a:solidFill>
                  <a:schemeClr val="bg1"/>
                </a:solidFill>
                <a:latin typeface="微软雅黑" panose="020B0503020204020204" pitchFamily="34" charset="-122"/>
                <a:ea typeface="微软雅黑" panose="020B0503020204020204" pitchFamily="34" charset="-122"/>
              </a:rPr>
              <a:t>  </a:t>
            </a:r>
            <a:r>
              <a:rPr lang="en-US" altLang="zh-CN" sz="1200" dirty="0" smtClean="0">
                <a:solidFill>
                  <a:srgbClr val="C00000"/>
                </a:solidFill>
                <a:latin typeface="微软雅黑" panose="020B0503020204020204" pitchFamily="34" charset="-122"/>
                <a:ea typeface="微软雅黑" panose="020B0503020204020204" pitchFamily="34" charset="-122"/>
              </a:rPr>
              <a:t>‘</a:t>
            </a:r>
            <a:r>
              <a:rPr lang="zh-CN" altLang="en-US" sz="1200" dirty="0" smtClean="0">
                <a:solidFill>
                  <a:srgbClr val="C00000"/>
                </a:solidFill>
                <a:latin typeface="微软雅黑" panose="020B0503020204020204" pitchFamily="34" charset="-122"/>
                <a:ea typeface="微软雅黑" panose="020B0503020204020204" pitchFamily="34" charset="-122"/>
              </a:rPr>
              <a:t>天</a:t>
            </a:r>
            <a:r>
              <a:rPr lang="en-US" altLang="zh-CN" sz="1200" dirty="0" smtClean="0">
                <a:solidFill>
                  <a:srgbClr val="C00000"/>
                </a:solidFill>
                <a:latin typeface="微软雅黑" panose="020B0503020204020204" pitchFamily="34" charset="-122"/>
                <a:ea typeface="微软雅黑" panose="020B0503020204020204" pitchFamily="34" charset="-122"/>
              </a:rPr>
              <a:t>’</a:t>
            </a:r>
          </a:p>
          <a:p>
            <a:pPr marL="342900" indent="-342900">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加入</a:t>
            </a:r>
            <a:r>
              <a:rPr lang="zh-CN" altLang="en-US" sz="1200" dirty="0" smtClean="0">
                <a:solidFill>
                  <a:schemeClr val="bg1"/>
                </a:solidFill>
                <a:latin typeface="微软雅黑" panose="020B0503020204020204" pitchFamily="34" charset="-122"/>
                <a:ea typeface="微软雅黑" panose="020B0503020204020204" pitchFamily="34" charset="-122"/>
              </a:rPr>
              <a:t>  </a:t>
            </a:r>
            <a:r>
              <a:rPr lang="en-US" altLang="zh-CN" sz="1200" dirty="0">
                <a:solidFill>
                  <a:srgbClr val="C00000"/>
                </a:solidFill>
                <a:latin typeface="微软雅黑" panose="020B0503020204020204" pitchFamily="34" charset="-122"/>
                <a:ea typeface="微软雅黑" panose="020B0503020204020204" pitchFamily="34" charset="-122"/>
              </a:rPr>
              <a:t>SLA </a:t>
            </a:r>
            <a:r>
              <a:rPr lang="zh-CN" altLang="en-US" sz="1200" dirty="0" smtClean="0">
                <a:solidFill>
                  <a:srgbClr val="C00000"/>
                </a:solidFill>
                <a:latin typeface="微软雅黑" panose="020B0503020204020204" pitchFamily="34" charset="-122"/>
                <a:ea typeface="微软雅黑" panose="020B0503020204020204" pitchFamily="34" charset="-122"/>
              </a:rPr>
              <a:t>时间  </a:t>
            </a:r>
            <a:r>
              <a:rPr lang="zh-CN" altLang="en-US" sz="1200" dirty="0" smtClean="0">
                <a:solidFill>
                  <a:schemeClr val="bg1"/>
                </a:solidFill>
                <a:latin typeface="微软雅黑" panose="020B0503020204020204" pitchFamily="34" charset="-122"/>
                <a:ea typeface="微软雅黑" panose="020B0503020204020204" pitchFamily="34" charset="-122"/>
              </a:rPr>
              <a:t>参照 </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1117558" y="2067362"/>
            <a:ext cx="2993127" cy="1015663"/>
          </a:xfrm>
          <a:prstGeom prst="rect">
            <a:avLst/>
          </a:prstGeom>
          <a:noFill/>
        </p:spPr>
        <p:txBody>
          <a:bodyPr wrap="none" rtlCol="0">
            <a:spAutoFit/>
          </a:bodyPr>
          <a:lstStyle/>
          <a:p>
            <a:pPr marL="342900" indent="-342900">
              <a:buFont typeface="Arial" panose="020B0604020202020204" pitchFamily="34" charset="0"/>
              <a:buChar char="•"/>
            </a:pPr>
            <a:r>
              <a:rPr lang="zh-CN" altLang="en-US" sz="1200" dirty="0">
                <a:solidFill>
                  <a:schemeClr val="bg1"/>
                </a:solidFill>
                <a:latin typeface="微软雅黑" panose="020B0503020204020204" pitchFamily="34" charset="-122"/>
                <a:ea typeface="微软雅黑" panose="020B0503020204020204" pitchFamily="34" charset="-122"/>
              </a:rPr>
              <a:t>过去只</a:t>
            </a:r>
            <a:r>
              <a:rPr lang="zh-CN" altLang="en-US" sz="1200" dirty="0" smtClean="0">
                <a:solidFill>
                  <a:schemeClr val="bg1"/>
                </a:solidFill>
                <a:latin typeface="微软雅黑" panose="020B0503020204020204" pitchFamily="34" charset="-122"/>
                <a:ea typeface="微软雅黑" panose="020B0503020204020204" pitchFamily="34" charset="-122"/>
              </a:rPr>
              <a:t>关注</a:t>
            </a:r>
            <a:r>
              <a:rPr lang="en-US" altLang="zh-CN" sz="1200" b="1" dirty="0" smtClean="0">
                <a:solidFill>
                  <a:schemeClr val="bg1"/>
                </a:solidFill>
                <a:latin typeface="微软雅黑" panose="020B0503020204020204" pitchFamily="34" charset="-122"/>
                <a:ea typeface="微软雅黑" panose="020B0503020204020204" pitchFamily="34" charset="-122"/>
              </a:rPr>
              <a:t>2</a:t>
            </a:r>
            <a:r>
              <a:rPr lang="zh-CN" altLang="en-US" sz="1200" b="1" dirty="0" smtClean="0">
                <a:solidFill>
                  <a:schemeClr val="bg1"/>
                </a:solidFill>
                <a:latin typeface="微软雅黑" panose="020B0503020204020204" pitchFamily="34" charset="-122"/>
                <a:ea typeface="微软雅黑" panose="020B0503020204020204" pitchFamily="34" charset="-122"/>
              </a:rPr>
              <a:t>个</a:t>
            </a:r>
            <a:r>
              <a:rPr lang="en-US" altLang="zh-CN" sz="1200" b="1" dirty="0" smtClean="0">
                <a:solidFill>
                  <a:schemeClr val="bg1"/>
                </a:solidFill>
                <a:latin typeface="微软雅黑" panose="020B0503020204020204" pitchFamily="34" charset="-122"/>
                <a:ea typeface="微软雅黑" panose="020B0503020204020204" pitchFamily="34" charset="-122"/>
              </a:rPr>
              <a:t>T</a:t>
            </a:r>
            <a:endParaRPr lang="en-US" altLang="zh-CN" sz="1200" dirty="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smtClean="0">
                <a:solidFill>
                  <a:schemeClr val="bg1"/>
                </a:solidFill>
                <a:latin typeface="微软雅黑" panose="020B0503020204020204" pitchFamily="34" charset="-122"/>
                <a:ea typeface="微软雅黑" panose="020B0503020204020204" pitchFamily="34" charset="-122"/>
              </a:rPr>
              <a:t>正</a:t>
            </a:r>
            <a:r>
              <a:rPr lang="zh-CN" altLang="en-US" sz="1200" dirty="0">
                <a:solidFill>
                  <a:schemeClr val="bg1"/>
                </a:solidFill>
                <a:latin typeface="微软雅黑" panose="020B0503020204020204" pitchFamily="34" charset="-122"/>
                <a:ea typeface="微软雅黑" panose="020B0503020204020204" pitchFamily="34" charset="-122"/>
              </a:rPr>
              <a:t>推法，倒推</a:t>
            </a:r>
            <a:r>
              <a:rPr lang="zh-CN" altLang="en-US" sz="1200" dirty="0" smtClean="0">
                <a:solidFill>
                  <a:schemeClr val="bg1"/>
                </a:solidFill>
                <a:latin typeface="微软雅黑" panose="020B0503020204020204" pitchFamily="34" charset="-122"/>
                <a:ea typeface="微软雅黑" panose="020B0503020204020204" pitchFamily="34" charset="-122"/>
              </a:rPr>
              <a:t>法</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smtClean="0">
                <a:solidFill>
                  <a:schemeClr val="bg1"/>
                </a:solidFill>
                <a:latin typeface="微软雅黑" panose="020B0503020204020204" pitchFamily="34" charset="-122"/>
                <a:ea typeface="微软雅黑" panose="020B0503020204020204" pitchFamily="34" charset="-122"/>
              </a:rPr>
              <a:t>三个指南：财政资金、投融资、弱电</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dirty="0" smtClean="0">
                <a:solidFill>
                  <a:schemeClr val="bg1"/>
                </a:solidFill>
                <a:latin typeface="微软雅黑" panose="020B0503020204020204" pitchFamily="34" charset="-122"/>
                <a:ea typeface="微软雅黑" panose="020B0503020204020204" pitchFamily="34" charset="-122"/>
              </a:rPr>
              <a:t>预测到</a:t>
            </a:r>
            <a:r>
              <a:rPr lang="en-US" altLang="zh-CN" sz="1200" dirty="0" smtClean="0">
                <a:solidFill>
                  <a:schemeClr val="bg1"/>
                </a:solidFill>
                <a:latin typeface="微软雅黑" panose="020B0503020204020204" pitchFamily="34" charset="-122"/>
                <a:ea typeface="微软雅黑" panose="020B0503020204020204" pitchFamily="34" charset="-122"/>
              </a:rPr>
              <a:t> ‘</a:t>
            </a:r>
            <a:r>
              <a:rPr lang="zh-CN" altLang="en-US" sz="1200" dirty="0" smtClean="0">
                <a:solidFill>
                  <a:schemeClr val="bg1"/>
                </a:solidFill>
                <a:latin typeface="微软雅黑" panose="020B0503020204020204" pitchFamily="34" charset="-122"/>
                <a:ea typeface="微软雅黑" panose="020B0503020204020204" pitchFamily="34" charset="-122"/>
              </a:rPr>
              <a:t>季度</a:t>
            </a:r>
            <a:r>
              <a:rPr lang="en-US" altLang="zh-CN" sz="1200" dirty="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85923" y="3265203"/>
            <a:ext cx="4266766" cy="969496"/>
          </a:xfrm>
          <a:prstGeom prst="rect">
            <a:avLst/>
          </a:prstGeom>
          <a:noFill/>
        </p:spPr>
        <p:txBody>
          <a:bodyPr wrap="square" rtlCol="0">
            <a:spAutoFit/>
          </a:bodyPr>
          <a:lstStyle/>
          <a:p>
            <a:pPr algn="ctr"/>
            <a:r>
              <a:rPr lang="en-US" altLang="zh-CN" sz="1200" dirty="0" smtClean="0">
                <a:solidFill>
                  <a:srgbClr val="C00000"/>
                </a:solidFill>
              </a:rPr>
              <a:t>《</a:t>
            </a:r>
            <a:r>
              <a:rPr lang="zh-CN" altLang="en-US" sz="1200" dirty="0" smtClean="0">
                <a:solidFill>
                  <a:srgbClr val="C00000"/>
                </a:solidFill>
              </a:rPr>
              <a:t>漏斗</a:t>
            </a:r>
            <a:r>
              <a:rPr lang="zh-CN" altLang="en-US" sz="1200" dirty="0">
                <a:solidFill>
                  <a:srgbClr val="C00000"/>
                </a:solidFill>
              </a:rPr>
              <a:t>内业务机会预计开标 </a:t>
            </a:r>
            <a:r>
              <a:rPr lang="en-US" altLang="zh-CN" sz="1200" dirty="0">
                <a:solidFill>
                  <a:srgbClr val="C00000"/>
                </a:solidFill>
              </a:rPr>
              <a:t>&amp; </a:t>
            </a:r>
            <a:r>
              <a:rPr lang="zh-CN" altLang="en-US" sz="1200" dirty="0">
                <a:solidFill>
                  <a:srgbClr val="C00000"/>
                </a:solidFill>
              </a:rPr>
              <a:t>预计下单时间参考</a:t>
            </a:r>
            <a:r>
              <a:rPr lang="zh-CN" altLang="en-US" sz="1200" dirty="0" smtClean="0">
                <a:solidFill>
                  <a:srgbClr val="C00000"/>
                </a:solidFill>
              </a:rPr>
              <a:t>标准</a:t>
            </a:r>
            <a:r>
              <a:rPr lang="en-US" altLang="zh-CN" sz="1200" dirty="0" smtClean="0">
                <a:solidFill>
                  <a:srgbClr val="C00000"/>
                </a:solidFill>
              </a:rPr>
              <a:t>》</a:t>
            </a:r>
          </a:p>
          <a:p>
            <a:r>
              <a:rPr lang="zh-CN" altLang="en-US" sz="900" dirty="0">
                <a:solidFill>
                  <a:srgbClr val="C00000"/>
                </a:solidFill>
              </a:rPr>
              <a:t/>
            </a:r>
            <a:br>
              <a:rPr lang="zh-CN" altLang="en-US" sz="900" dirty="0">
                <a:solidFill>
                  <a:srgbClr val="C00000"/>
                </a:solidFill>
              </a:rPr>
            </a:br>
            <a:r>
              <a:rPr lang="zh-CN" altLang="en-US" sz="1200" dirty="0">
                <a:solidFill>
                  <a:srgbClr val="C00000"/>
                </a:solidFill>
              </a:rPr>
              <a:t>预计开标日期、下单日期均指预计项目最晚的开标日期和下单日期，要求客观</a:t>
            </a:r>
            <a:r>
              <a:rPr lang="zh-CN" altLang="en-US" sz="1200" dirty="0" smtClean="0">
                <a:solidFill>
                  <a:srgbClr val="C00000"/>
                </a:solidFill>
              </a:rPr>
              <a:t>。</a:t>
            </a:r>
            <a:endParaRPr lang="en-US" altLang="zh-CN" sz="1200" dirty="0">
              <a:solidFill>
                <a:srgbClr val="C00000"/>
              </a:solidFill>
            </a:endParaRPr>
          </a:p>
          <a:p>
            <a:r>
              <a:rPr lang="zh-CN" altLang="en-US" sz="1200" dirty="0" smtClean="0">
                <a:solidFill>
                  <a:srgbClr val="C00000"/>
                </a:solidFill>
              </a:rPr>
              <a:t>预估</a:t>
            </a:r>
            <a:r>
              <a:rPr lang="zh-CN" altLang="en-US" sz="1200" dirty="0">
                <a:solidFill>
                  <a:srgbClr val="C00000"/>
                </a:solidFill>
              </a:rPr>
              <a:t>开标日期和下单日期有 </a:t>
            </a:r>
            <a:r>
              <a:rPr lang="en-US" altLang="zh-CN" sz="1200" dirty="0">
                <a:solidFill>
                  <a:srgbClr val="C00000"/>
                </a:solidFill>
              </a:rPr>
              <a:t>2 </a:t>
            </a:r>
            <a:r>
              <a:rPr lang="zh-CN" altLang="en-US" sz="1200" dirty="0">
                <a:solidFill>
                  <a:srgbClr val="C00000"/>
                </a:solidFill>
              </a:rPr>
              <a:t>个方法，</a:t>
            </a:r>
            <a:r>
              <a:rPr lang="en-US" altLang="zh-CN" sz="1200" dirty="0">
                <a:solidFill>
                  <a:srgbClr val="C00000"/>
                </a:solidFill>
              </a:rPr>
              <a:t>3 </a:t>
            </a:r>
            <a:r>
              <a:rPr lang="zh-CN" altLang="en-US" sz="1200" dirty="0">
                <a:solidFill>
                  <a:srgbClr val="C00000"/>
                </a:solidFill>
              </a:rPr>
              <a:t>个原则和 </a:t>
            </a:r>
            <a:r>
              <a:rPr lang="en-US" altLang="zh-CN" sz="1200" dirty="0">
                <a:solidFill>
                  <a:srgbClr val="C00000"/>
                </a:solidFill>
              </a:rPr>
              <a:t>3 </a:t>
            </a:r>
            <a:r>
              <a:rPr lang="zh-CN" altLang="en-US" sz="1200" dirty="0">
                <a:solidFill>
                  <a:srgbClr val="C00000"/>
                </a:solidFill>
              </a:rPr>
              <a:t>个指南。</a:t>
            </a:r>
            <a:endParaRPr lang="zh-CN" altLang="en-US" sz="900" dirty="0">
              <a:solidFill>
                <a:srgbClr val="C00000"/>
              </a:solidFill>
            </a:endParaRPr>
          </a:p>
        </p:txBody>
      </p:sp>
      <p:graphicFrame>
        <p:nvGraphicFramePr>
          <p:cNvPr id="10" name="表格 9"/>
          <p:cNvGraphicFramePr>
            <a:graphicFrameLocks noGrp="1"/>
          </p:cNvGraphicFramePr>
          <p:nvPr>
            <p:extLst>
              <p:ext uri="{D42A27DB-BD31-4B8C-83A1-F6EECF244321}">
                <p14:modId xmlns:p14="http://schemas.microsoft.com/office/powerpoint/2010/main" val="3613465162"/>
              </p:ext>
            </p:extLst>
          </p:nvPr>
        </p:nvGraphicFramePr>
        <p:xfrm>
          <a:off x="5948580" y="3150039"/>
          <a:ext cx="5938619" cy="3489960"/>
        </p:xfrm>
        <a:graphic>
          <a:graphicData uri="http://schemas.openxmlformats.org/drawingml/2006/table">
            <a:tbl>
              <a:tblPr firstRow="1" bandRow="1">
                <a:tableStyleId>{21E4AEA4-8DFA-4A89-87EB-49C32662AFE0}</a:tableStyleId>
              </a:tblPr>
              <a:tblGrid>
                <a:gridCol w="418013">
                  <a:extLst>
                    <a:ext uri="{9D8B030D-6E8A-4147-A177-3AD203B41FA5}">
                      <a16:colId xmlns:a16="http://schemas.microsoft.com/office/drawing/2014/main" val="996821220"/>
                    </a:ext>
                  </a:extLst>
                </a:gridCol>
                <a:gridCol w="1100944">
                  <a:extLst>
                    <a:ext uri="{9D8B030D-6E8A-4147-A177-3AD203B41FA5}">
                      <a16:colId xmlns:a16="http://schemas.microsoft.com/office/drawing/2014/main" val="2268101690"/>
                    </a:ext>
                  </a:extLst>
                </a:gridCol>
                <a:gridCol w="1155849">
                  <a:extLst>
                    <a:ext uri="{9D8B030D-6E8A-4147-A177-3AD203B41FA5}">
                      <a16:colId xmlns:a16="http://schemas.microsoft.com/office/drawing/2014/main" val="1528874461"/>
                    </a:ext>
                  </a:extLst>
                </a:gridCol>
                <a:gridCol w="3263813">
                  <a:extLst>
                    <a:ext uri="{9D8B030D-6E8A-4147-A177-3AD203B41FA5}">
                      <a16:colId xmlns:a16="http://schemas.microsoft.com/office/drawing/2014/main" val="2078432254"/>
                    </a:ext>
                  </a:extLst>
                </a:gridCol>
              </a:tblGrid>
              <a:tr h="263469">
                <a:tc>
                  <a:txBody>
                    <a:bodyPr/>
                    <a:lstStyle/>
                    <a:p>
                      <a:pPr algn="ctr"/>
                      <a:r>
                        <a:rPr lang="en-US" altLang="zh-CN" sz="900" b="0" dirty="0" smtClean="0">
                          <a:effectLst/>
                          <a:latin typeface="微软雅黑" panose="020B0503020204020204" pitchFamily="34" charset="-122"/>
                          <a:ea typeface="微软雅黑" panose="020B0503020204020204" pitchFamily="34" charset="-122"/>
                        </a:rPr>
                        <a:t>#</a:t>
                      </a:r>
                      <a:endParaRPr lang="zh-CN" altLang="en-US" sz="9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pPr algn="ctr"/>
                      <a:r>
                        <a:rPr lang="en-US" sz="900" b="0" dirty="0">
                          <a:effectLst/>
                          <a:latin typeface="微软雅黑" panose="020B0503020204020204" pitchFamily="34" charset="-122"/>
                          <a:ea typeface="微软雅黑" panose="020B0503020204020204" pitchFamily="34" charset="-122"/>
                        </a:rPr>
                        <a:t>3T</a:t>
                      </a:r>
                    </a:p>
                  </a:txBody>
                  <a:tcPr marL="114300" marR="114300" marT="76200" marB="76200" anchor="ctr"/>
                </a:tc>
                <a:tc>
                  <a:txBody>
                    <a:bodyPr/>
                    <a:lstStyle/>
                    <a:p>
                      <a:pPr algn="ctr"/>
                      <a:r>
                        <a:rPr lang="zh-CN" altLang="en-US" sz="900" b="0" dirty="0">
                          <a:effectLst/>
                          <a:latin typeface="微软雅黑" panose="020B0503020204020204" pitchFamily="34" charset="-122"/>
                          <a:ea typeface="微软雅黑" panose="020B0503020204020204" pitchFamily="34" charset="-122"/>
                        </a:rPr>
                        <a:t>项目分类</a:t>
                      </a:r>
                    </a:p>
                  </a:txBody>
                  <a:tcPr marL="114300" marR="114300" marT="76200" marB="76200" anchor="ctr"/>
                </a:tc>
                <a:tc>
                  <a:txBody>
                    <a:bodyPr/>
                    <a:lstStyle/>
                    <a:p>
                      <a:pPr algn="ctr"/>
                      <a:r>
                        <a:rPr lang="zh-CN" altLang="en-US" sz="900" b="0" dirty="0">
                          <a:effectLst/>
                          <a:latin typeface="微软雅黑" panose="020B0503020204020204" pitchFamily="34" charset="-122"/>
                          <a:ea typeface="微软雅黑" panose="020B0503020204020204" pitchFamily="34" charset="-122"/>
                        </a:rPr>
                        <a:t>定义</a:t>
                      </a:r>
                    </a:p>
                  </a:txBody>
                  <a:tcPr marL="114300" marR="114300" marT="76200" marB="76200" anchor="ctr"/>
                </a:tc>
                <a:extLst>
                  <a:ext uri="{0D108BD9-81ED-4DB2-BD59-A6C34878D82A}">
                    <a16:rowId xmlns:a16="http://schemas.microsoft.com/office/drawing/2014/main" val="4111314105"/>
                  </a:ext>
                </a:extLst>
              </a:tr>
              <a:tr h="408377">
                <a:tc>
                  <a:txBody>
                    <a:bodyPr/>
                    <a:lstStyle/>
                    <a:p>
                      <a:pPr algn="ctr"/>
                      <a:r>
                        <a:rPr lang="en-US" altLang="zh-CN" sz="1000" dirty="0">
                          <a:effectLst/>
                          <a:latin typeface="微软雅黑" panose="020B0503020204020204" pitchFamily="34" charset="-122"/>
                          <a:ea typeface="微软雅黑" panose="020B0503020204020204" pitchFamily="34" charset="-122"/>
                        </a:rPr>
                        <a:t>1</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要求到货时间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所有项目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以最终设备使用或者上线时间来倒推（客户希望货到现场的时间）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3260419257"/>
                  </a:ext>
                </a:extLst>
              </a:tr>
              <a:tr h="408377">
                <a:tc>
                  <a:txBody>
                    <a:bodyPr/>
                    <a:lstStyle/>
                    <a:p>
                      <a:pPr algn="ctr"/>
                      <a:r>
                        <a:rPr lang="en-US" altLang="zh-CN" sz="1000" dirty="0">
                          <a:effectLst/>
                          <a:latin typeface="微软雅黑" panose="020B0503020204020204" pitchFamily="34" charset="-122"/>
                          <a:ea typeface="微软雅黑" panose="020B0503020204020204" pitchFamily="34" charset="-122"/>
                        </a:rPr>
                        <a:t>2</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预计下单日期</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所有项目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“预计要货时间” 减去 </a:t>
                      </a:r>
                      <a:r>
                        <a:rPr lang="en-US" altLang="zh-CN" sz="1000" dirty="0">
                          <a:effectLst/>
                          <a:latin typeface="微软雅黑" panose="020B0503020204020204" pitchFamily="34" charset="-122"/>
                          <a:ea typeface="微软雅黑" panose="020B0503020204020204" pitchFamily="34" charset="-122"/>
                        </a:rPr>
                        <a:t>SLA/EPC </a:t>
                      </a:r>
                      <a:r>
                        <a:rPr lang="zh-CN" altLang="en-US" sz="1000" dirty="0">
                          <a:effectLst/>
                          <a:latin typeface="微软雅黑" panose="020B0503020204020204" pitchFamily="34" charset="-122"/>
                          <a:ea typeface="微软雅黑" panose="020B0503020204020204" pitchFamily="34" charset="-122"/>
                        </a:rPr>
                        <a:t>系统里面下单流程结束的时间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1696631045"/>
                  </a:ext>
                </a:extLst>
              </a:tr>
              <a:tr h="408377">
                <a:tc rowSpan="5">
                  <a:txBody>
                    <a:bodyPr/>
                    <a:lstStyle/>
                    <a:p>
                      <a:pPr algn="ctr"/>
                      <a:r>
                        <a:rPr lang="en-US" altLang="zh-CN" sz="1000" dirty="0">
                          <a:effectLst/>
                          <a:latin typeface="微软雅黑" panose="020B0503020204020204" pitchFamily="34" charset="-122"/>
                          <a:ea typeface="微软雅黑" panose="020B0503020204020204" pitchFamily="34" charset="-122"/>
                        </a:rPr>
                        <a:t>3</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rowSpan="5">
                  <a:txBody>
                    <a:bodyPr/>
                    <a:lstStyle/>
                    <a:p>
                      <a:r>
                        <a:rPr lang="zh-CN" altLang="en-US" sz="1000" dirty="0">
                          <a:effectLst/>
                          <a:latin typeface="微软雅黑" panose="020B0503020204020204" pitchFamily="34" charset="-122"/>
                          <a:ea typeface="微软雅黑" panose="020B0503020204020204" pitchFamily="34" charset="-122"/>
                        </a:rPr>
                        <a:t>预计开标日期</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财政资金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标准政采项目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发出中标公告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中标通知书的时间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开标结果的时间，而不是投标时间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55256566"/>
                  </a:ext>
                </a:extLst>
              </a:tr>
              <a:tr h="270056">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弱电 </a:t>
                      </a:r>
                      <a:r>
                        <a:rPr lang="en-US" altLang="zh-CN" sz="1000" dirty="0">
                          <a:effectLst/>
                          <a:latin typeface="微软雅黑" panose="020B0503020204020204" pitchFamily="34" charset="-122"/>
                          <a:ea typeface="微软雅黑" panose="020B0503020204020204" pitchFamily="34" charset="-122"/>
                        </a:rPr>
                        <a:t>&amp; EPC </a:t>
                      </a:r>
                      <a:r>
                        <a:rPr lang="zh-CN" altLang="en-US" sz="1000" dirty="0">
                          <a:effectLst/>
                          <a:latin typeface="微软雅黑" panose="020B0503020204020204" pitchFamily="34" charset="-122"/>
                          <a:ea typeface="微软雅黑" panose="020B0503020204020204" pitchFamily="34" charset="-122"/>
                        </a:rPr>
                        <a:t>总包项目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弱电商和我司或者我司代理商签订合同的时间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2897802243"/>
                  </a:ext>
                </a:extLst>
              </a:tr>
              <a:tr h="408377">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sz="1000">
                          <a:effectLst/>
                          <a:latin typeface="微软雅黑" panose="020B0503020204020204" pitchFamily="34" charset="-122"/>
                          <a:ea typeface="微软雅黑" panose="020B0503020204020204" pitchFamily="34" charset="-122"/>
                        </a:rPr>
                        <a:t>ICT &amp; </a:t>
                      </a:r>
                      <a:r>
                        <a:rPr lang="zh-CN" altLang="en-US" sz="1000">
                          <a:effectLst/>
                          <a:latin typeface="微软雅黑" panose="020B0503020204020204" pitchFamily="34" charset="-122"/>
                          <a:ea typeface="微软雅黑" panose="020B0503020204020204" pitchFamily="34" charset="-122"/>
                        </a:rPr>
                        <a:t>投融资项目</a:t>
                      </a:r>
                      <a:endParaRPr lang="zh-CN" altLang="en-US" sz="1000" b="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投资方或者投资方指定的垫资渠道和我司或者我司代理商签订合同的时间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2825249603"/>
                  </a:ext>
                </a:extLst>
              </a:tr>
              <a:tr h="408377">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a:effectLst/>
                          <a:latin typeface="微软雅黑" panose="020B0503020204020204" pitchFamily="34" charset="-122"/>
                          <a:ea typeface="微软雅黑" panose="020B0503020204020204" pitchFamily="34" charset="-122"/>
                        </a:rPr>
                        <a:t>中大企业集采框架 </a:t>
                      </a:r>
                      <a:r>
                        <a:rPr lang="en-US" altLang="zh-CN" sz="1000">
                          <a:effectLst/>
                          <a:latin typeface="微软雅黑" panose="020B0503020204020204" pitchFamily="34" charset="-122"/>
                          <a:ea typeface="微软雅黑" panose="020B0503020204020204" pitchFamily="34" charset="-122"/>
                        </a:rPr>
                        <a:t>OC </a:t>
                      </a:r>
                      <a:r>
                        <a:rPr lang="zh-CN" altLang="en-US" sz="1000">
                          <a:effectLst/>
                          <a:latin typeface="微软雅黑" panose="020B0503020204020204" pitchFamily="34" charset="-122"/>
                          <a:ea typeface="微软雅黑" panose="020B0503020204020204" pitchFamily="34" charset="-122"/>
                        </a:rPr>
                        <a:t>子项目</a:t>
                      </a:r>
                      <a:endParaRPr lang="zh-CN" altLang="en-US" sz="1000" b="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altLang="zh-CN" sz="1000" dirty="0">
                          <a:effectLst/>
                          <a:latin typeface="微软雅黑" panose="020B0503020204020204" pitchFamily="34" charset="-122"/>
                          <a:ea typeface="微软雅黑" panose="020B0503020204020204" pitchFamily="34" charset="-122"/>
                        </a:rPr>
                        <a:t>PO </a:t>
                      </a:r>
                      <a:r>
                        <a:rPr lang="zh-CN" altLang="en-US" sz="1000" dirty="0">
                          <a:effectLst/>
                          <a:latin typeface="微软雅黑" panose="020B0503020204020204" pitchFamily="34" charset="-122"/>
                          <a:ea typeface="微软雅黑" panose="020B0503020204020204" pitchFamily="34" charset="-122"/>
                        </a:rPr>
                        <a:t>单生产的时间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408820162"/>
                  </a:ext>
                </a:extLst>
              </a:tr>
              <a:tr h="408377">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a:effectLst/>
                          <a:latin typeface="微软雅黑" panose="020B0503020204020204" pitchFamily="34" charset="-122"/>
                          <a:ea typeface="微软雅黑" panose="020B0503020204020204" pitchFamily="34" charset="-122"/>
                        </a:rPr>
                        <a:t>金融行业框架 </a:t>
                      </a:r>
                      <a:r>
                        <a:rPr lang="en-US" altLang="zh-CN" sz="1000">
                          <a:effectLst/>
                          <a:latin typeface="微软雅黑" panose="020B0503020204020204" pitchFamily="34" charset="-122"/>
                          <a:ea typeface="微软雅黑" panose="020B0503020204020204" pitchFamily="34" charset="-122"/>
                        </a:rPr>
                        <a:t>OC </a:t>
                      </a:r>
                      <a:r>
                        <a:rPr lang="zh-CN" altLang="en-US" sz="1000">
                          <a:effectLst/>
                          <a:latin typeface="微软雅黑" panose="020B0503020204020204" pitchFamily="34" charset="-122"/>
                          <a:ea typeface="微软雅黑" panose="020B0503020204020204" pitchFamily="34" charset="-122"/>
                        </a:rPr>
                        <a:t>子项目</a:t>
                      </a:r>
                      <a:endParaRPr lang="zh-CN" altLang="en-US" sz="1000" b="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altLang="zh-CN" sz="1000" dirty="0">
                          <a:effectLst/>
                          <a:latin typeface="微软雅黑" panose="020B0503020204020204" pitchFamily="34" charset="-122"/>
                          <a:ea typeface="微软雅黑" panose="020B0503020204020204" pitchFamily="34" charset="-122"/>
                        </a:rPr>
                        <a:t>PO </a:t>
                      </a:r>
                      <a:r>
                        <a:rPr lang="zh-CN" altLang="en-US" sz="1000" dirty="0">
                          <a:effectLst/>
                          <a:latin typeface="微软雅黑" panose="020B0503020204020204" pitchFamily="34" charset="-122"/>
                          <a:ea typeface="微软雅黑" panose="020B0503020204020204" pitchFamily="34" charset="-122"/>
                        </a:rPr>
                        <a:t>单生产的时间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val="4269876226"/>
                  </a:ext>
                </a:extLst>
              </a:tr>
            </a:tbl>
          </a:graphicData>
        </a:graphic>
      </p:graphicFrame>
      <p:sp>
        <p:nvSpPr>
          <p:cNvPr id="11" name="矩形 10"/>
          <p:cNvSpPr/>
          <p:nvPr/>
        </p:nvSpPr>
        <p:spPr>
          <a:xfrm>
            <a:off x="2702440" y="6345801"/>
            <a:ext cx="2432076" cy="246221"/>
          </a:xfrm>
          <a:prstGeom prst="rect">
            <a:avLst/>
          </a:prstGeom>
        </p:spPr>
        <p:txBody>
          <a:bodyPr wrap="none">
            <a:spAutoFit/>
          </a:bodyPr>
          <a:lstStyle/>
          <a:p>
            <a:r>
              <a:rPr lang="zh-CN" altLang="en-US" sz="1000" b="1" dirty="0">
                <a:latin typeface="微软雅黑" panose="020B0503020204020204" pitchFamily="34" charset="-122"/>
                <a:ea typeface="微软雅黑" panose="020B0503020204020204" pitchFamily="34" charset="-122"/>
              </a:rPr>
              <a:t>来源</a:t>
            </a:r>
            <a:r>
              <a:rPr lang="zh-CN" altLang="en-US" sz="1000" b="1" dirty="0" smtClean="0">
                <a:latin typeface="微软雅黑" panose="020B0503020204020204" pitchFamily="34" charset="-122"/>
                <a:ea typeface="微软雅黑" panose="020B0503020204020204" pitchFamily="34" charset="-122"/>
              </a:rPr>
              <a:t>： </a:t>
            </a:r>
            <a:r>
              <a:rPr lang="en-US" altLang="zh-CN" sz="1000" b="1" dirty="0" smtClean="0">
                <a:latin typeface="微软雅黑" panose="020B0503020204020204" pitchFamily="34" charset="-122"/>
                <a:ea typeface="微软雅黑" panose="020B0503020204020204" pitchFamily="34" charset="-122"/>
              </a:rPr>
              <a:t>《</a:t>
            </a:r>
            <a:r>
              <a:rPr lang="zh-CN" altLang="en-US" sz="1000" b="1" dirty="0" smtClean="0">
                <a:latin typeface="微软雅黑" panose="020B0503020204020204" pitchFamily="34" charset="-122"/>
                <a:ea typeface="微软雅黑" panose="020B0503020204020204" pitchFamily="34" charset="-122"/>
              </a:rPr>
              <a:t>销售</a:t>
            </a:r>
            <a:r>
              <a:rPr lang="zh-CN" altLang="en-US" sz="1000" b="1" dirty="0">
                <a:latin typeface="微软雅黑" panose="020B0503020204020204" pitchFamily="34" charset="-122"/>
                <a:ea typeface="微软雅黑" panose="020B0503020204020204" pitchFamily="34" charset="-122"/>
              </a:rPr>
              <a:t>漏斗质量管理标准V9.</a:t>
            </a:r>
            <a:r>
              <a:rPr lang="zh-CN" altLang="en-US" sz="1000" b="1" dirty="0" smtClean="0">
                <a:latin typeface="微软雅黑" panose="020B0503020204020204" pitchFamily="34" charset="-122"/>
                <a:ea typeface="微软雅黑" panose="020B0503020204020204" pitchFamily="34" charset="-122"/>
              </a:rPr>
              <a:t>0</a:t>
            </a:r>
            <a:r>
              <a:rPr lang="en-US" altLang="zh-CN" sz="1000" b="1" dirty="0" smtClean="0">
                <a:latin typeface="微软雅黑" panose="020B0503020204020204" pitchFamily="34" charset="-122"/>
                <a:ea typeface="微软雅黑" panose="020B0503020204020204" pitchFamily="34" charset="-122"/>
              </a:rPr>
              <a:t>》</a:t>
            </a:r>
            <a:endParaRPr lang="zh-CN" altLang="en-US" sz="1000" b="1" dirty="0">
              <a:latin typeface="微软雅黑" panose="020B0503020204020204" pitchFamily="34" charset="-122"/>
              <a:ea typeface="微软雅黑" panose="020B0503020204020204" pitchFamily="34" charset="-122"/>
            </a:endParaRPr>
          </a:p>
        </p:txBody>
      </p:sp>
      <p:sp>
        <p:nvSpPr>
          <p:cNvPr id="14" name="矩形 13"/>
          <p:cNvSpPr/>
          <p:nvPr/>
        </p:nvSpPr>
        <p:spPr>
          <a:xfrm>
            <a:off x="5948580" y="1965145"/>
            <a:ext cx="5938620" cy="103473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41468" y="2016812"/>
            <a:ext cx="4528264" cy="9638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358778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913</Words>
  <Application>Microsoft Office PowerPoint</Application>
  <PresentationFormat>宽屏</PresentationFormat>
  <Paragraphs>160</Paragraphs>
  <Slides>2</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宋体</vt:lpstr>
      <vt:lpstr>微软雅黑</vt:lpstr>
      <vt:lpstr>微软雅黑 Light</vt:lpstr>
      <vt:lpstr>Arial</vt:lpstr>
      <vt:lpstr>Calibri</vt:lpstr>
      <vt:lpstr>Calibri Light</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ruijie</cp:lastModifiedBy>
  <cp:revision>66</cp:revision>
  <dcterms:created xsi:type="dcterms:W3CDTF">2025-07-07T03:55:28Z</dcterms:created>
  <dcterms:modified xsi:type="dcterms:W3CDTF">2025-07-09T06:57:25Z</dcterms:modified>
</cp:coreProperties>
</file>