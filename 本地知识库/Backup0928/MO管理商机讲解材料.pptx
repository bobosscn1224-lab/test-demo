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17"/>
  </p:notesMasterIdLst>
  <p:sldIdLst>
    <p:sldId id="256" r:id="rId3"/>
    <p:sldId id="259" r:id="rId4"/>
    <p:sldId id="267" r:id="rId5"/>
    <p:sldId id="282" r:id="rId6"/>
    <p:sldId id="296" r:id="rId7"/>
    <p:sldId id="297" r:id="rId8"/>
    <p:sldId id="271" r:id="rId9"/>
    <p:sldId id="298" r:id="rId10"/>
    <p:sldId id="299" r:id="rId11"/>
    <p:sldId id="300" r:id="rId12"/>
    <p:sldId id="301" r:id="rId13"/>
    <p:sldId id="303" r:id="rId14"/>
    <p:sldId id="302" r:id="rId15"/>
    <p:sldId id="266"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3" autoAdjust="0"/>
    <p:restoredTop sz="90196" autoAdjust="0"/>
  </p:normalViewPr>
  <p:slideViewPr>
    <p:cSldViewPr snapToGrid="0">
      <p:cViewPr varScale="1">
        <p:scale>
          <a:sx n="88" d="100"/>
          <a:sy n="88" d="100"/>
        </p:scale>
        <p:origin x="418" y="53"/>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218978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2025/7/15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5" Type="http://schemas.openxmlformats.org/officeDocument/2006/relationships/hyperlink" Target="https://ruijie.feishu.cn/wiki/F78Bwr1PuisHvdkpbMwcO776nwe" TargetMode="External"/><Relationship Id="rId4" Type="http://schemas.openxmlformats.org/officeDocument/2006/relationships/hyperlink" Target="https://ruijie.feishu.cn/wiki/NqbqwswI4ivIyHkj3UDctMxdnAf"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4" Type="http://schemas.openxmlformats.org/officeDocument/2006/relationships/hyperlink" Target="https://ruijie.feishu.cn/sheets/HSRusFT8Qh93XstgrCicL0gynse?sheet=OIIkAn" TargetMode="Externa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ruijie.feishu.cn/wiki/O56UwXKaAixLOFkZhiNcS9OHn4b"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2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2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2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extLst>
      <p:ext uri="{BB962C8B-B14F-4D97-AF65-F5344CB8AC3E}">
        <p14:creationId xmlns:p14="http://schemas.microsoft.com/office/powerpoint/2010/main" val="327138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charset="-122"/>
                <a:ea typeface="微软雅黑" panose="020B0503020204020204" charset="-122"/>
                <a:cs typeface="Arial" panose="020B0604020202020204" pitchFamily="34" charset="0"/>
              </a:rPr>
              <a:t>MO</a:t>
            </a:r>
            <a:r>
              <a:rPr lang="zh-CN" altLang="en-US" sz="1600" b="1" dirty="0" smtClean="0">
                <a:solidFill>
                  <a:srgbClr val="FFFFFF"/>
                </a:solidFill>
                <a:latin typeface="微软雅黑" panose="020B0503020204020204" charset="-122"/>
                <a:ea typeface="微软雅黑" panose="020B0503020204020204" charset="-122"/>
                <a:cs typeface="Arial" panose="020B0604020202020204" pitchFamily="34" charset="0"/>
              </a:rPr>
              <a:t>管理</a:t>
            </a:r>
            <a:r>
              <a:rPr lang="zh-CN" altLang="en-US" sz="1600" b="1" dirty="0">
                <a:solidFill>
                  <a:srgbClr val="FFFFFF"/>
                </a:solidFill>
                <a:latin typeface="微软雅黑" panose="020B0503020204020204" charset="-122"/>
                <a:ea typeface="微软雅黑" panose="020B0503020204020204" charset="-122"/>
                <a:cs typeface="Arial" panose="020B0604020202020204" pitchFamily="34" charset="0"/>
              </a:rPr>
              <a:t>机会点</a:t>
            </a:r>
            <a:endParaRPr lang="zh-HK" altLang="en-US" sz="16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投标决策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签约决策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charset="-122"/>
                <a:ea typeface="微软雅黑" panose="020B0503020204020204" charset="-122"/>
                <a:cs typeface="Arial" panose="020B0604020202020204" pitchFamily="34" charset="0"/>
              </a:rPr>
              <a:t>立项决策</a:t>
            </a:r>
            <a:endParaRPr lang="en-US" altLang="zh-CN" sz="900" b="1"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charset="-122"/>
              <a:ea typeface="微软雅黑" panose="020B0503020204020204" charset="-122"/>
              <a:cs typeface="Arial" panose="020B060402020202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charset="-122"/>
              <a:ea typeface="微软雅黑" panose="020B0503020204020204" charset="-122"/>
              <a:cs typeface="Arial" panose="020B060402020202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defRPr/>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关键</a:t>
            </a:r>
            <a:r>
              <a:rPr lang="en-US" altLang="zh-CN" sz="1400" b="1" dirty="0" smtClean="0">
                <a:solidFill>
                  <a:schemeClr val="bg1"/>
                </a:solidFill>
                <a:latin typeface="微软雅黑" panose="020B0503020204020204" charset="-122"/>
                <a:ea typeface="微软雅黑" panose="020B0503020204020204" charset="-122"/>
                <a:cs typeface="Arial" panose="020B0604020202020204" pitchFamily="34" charset="0"/>
              </a:rPr>
              <a:t>KCP/KDP</a:t>
            </a: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设计</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defRPr/>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业务价值</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后续交付、合同</a:t>
            </a:r>
            <a:r>
              <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处理效率提升</a:t>
            </a:r>
            <a:endParaRPr lang="en-US" altLang="zh-CN" sz="9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投标赢率得到提升</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提高销售项目成功把握度</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提升标书制作的效率和质量</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确保合同的合规性</a:t>
            </a:r>
            <a:endParaRPr lang="en-US" altLang="zh-CN" sz="9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价格策略，商务策略等</a:t>
            </a: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点，同时，启动丢</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赢单复盘</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分析和评估机会点</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制定解决方案和价值主张，影响</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客户</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的</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谈判并签订合同：直签项目合同评审，丢</a:t>
            </a:r>
            <a:r>
              <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赢单复盘</a:t>
            </a:r>
          </a:p>
        </p:txBody>
      </p:sp>
    </p:spTree>
    <p:extLst>
      <p:ext uri="{BB962C8B-B14F-4D97-AF65-F5344CB8AC3E}">
        <p14:creationId xmlns:p14="http://schemas.microsoft.com/office/powerpoint/2010/main" val="3852789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跟踪和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收集和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验证商机</a:t>
                  </a:r>
                  <a:endPar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立项决策</a:t>
                    </a:r>
                    <a:endParaRPr lang="en-US" altLang="zh-CN" sz="9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管理合同 </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关闭和</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评价</a:t>
                  </a:r>
                  <a: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r>
                  <a:br>
                    <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br>
                  <a:r>
                    <a:rPr lang="zh-CN" altLang="en-GB"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管理交付</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验收</a:t>
                  </a:r>
                  <a:r>
                    <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管理开票和回款</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管理风险和争议</a:t>
                  </a:r>
                  <a:endParaRPr lang="en-US" altLang="zh-CN" sz="1000" b="1">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管理合同 </a:t>
                  </a:r>
                  <a:r>
                    <a:rPr lang="en-GB"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PO</a:t>
                  </a:r>
                  <a:r>
                    <a:rPr lang="zh-CN" altLang="en-US"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变更</a:t>
                  </a: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ATAC</a:t>
                  </a:r>
                  <a:endParaRPr lang="en-US" altLang="zh-HK" sz="8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charset="-122"/>
                  <a:ea typeface="微软雅黑" panose="020B0503020204020204" charset="-122"/>
                  <a:cs typeface="Arial" panose="020B0604020202020204" pitchFamily="34" charset="0"/>
                </a:rPr>
                <a:t>管理合同执行</a:t>
              </a:r>
              <a:r>
                <a:rPr lang="en-US" altLang="zh-CN" sz="800" b="1" dirty="0">
                  <a:solidFill>
                    <a:srgbClr val="FFFFFF"/>
                  </a:solidFill>
                  <a:latin typeface="微软雅黑" panose="020B0503020204020204" charset="-122"/>
                  <a:ea typeface="微软雅黑" panose="020B0503020204020204" charset="-122"/>
                  <a:cs typeface="Arial" panose="020B0604020202020204" pitchFamily="34" charset="0"/>
                </a:rPr>
                <a:t>(MCE)</a:t>
              </a:r>
              <a:endParaRPr lang="zh-CN" altLang="en-US" sz="8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rPr>
                <a:t>管理机会点</a:t>
              </a:r>
              <a:r>
                <a:rPr lang="en-US" altLang="zh-CN" sz="900" b="1" dirty="0">
                  <a:solidFill>
                    <a:srgbClr val="FFFFFF"/>
                  </a:solidFill>
                  <a:latin typeface="微软雅黑" panose="020B0503020204020204" charset="-122"/>
                  <a:ea typeface="微软雅黑" panose="020B0503020204020204" charset="-122"/>
                  <a:cs typeface="Arial" panose="020B0604020202020204" pitchFamily="34" charset="0"/>
                </a:rPr>
                <a:t>(MO)</a:t>
              </a:r>
              <a:endParaRPr lang="zh-HK" altLang="en-US" sz="900" b="1"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rPr>
                <a:t>管理线索</a:t>
              </a:r>
              <a:r>
                <a:rPr lang="en-US" altLang="zh-CN" sz="900" b="1" dirty="0">
                  <a:solidFill>
                    <a:srgbClr val="FFFFFF"/>
                  </a:solidFill>
                  <a:latin typeface="微软雅黑" panose="020B0503020204020204" charset="-122"/>
                  <a:ea typeface="微软雅黑" panose="020B0503020204020204" charset="-122"/>
                  <a:cs typeface="Arial" panose="020B0604020202020204" pitchFamily="34" charset="0"/>
                </a:rPr>
                <a:t>(ML)</a:t>
              </a:r>
              <a:endParaRPr lang="zh-CN" altLang="en-US" sz="900" b="1" dirty="0">
                <a:solidFill>
                  <a:srgbClr val="FFFFFF"/>
                </a:solidFill>
                <a:latin typeface="微软雅黑" panose="020B0503020204020204" charset="-122"/>
                <a:ea typeface="微软雅黑" panose="020B0503020204020204" charset="-122"/>
                <a:cs typeface="Arial" panose="020B060402020202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charset="-122"/>
                <a:ea typeface="微软雅黑" panose="020B0503020204020204" charset="-122"/>
                <a:cs typeface="Arial" panose="020B0604020202020204" pitchFamily="34" charset="0"/>
              </a:rPr>
              <a:t>组织</a:t>
            </a:r>
            <a:endParaRPr lang="en-US" altLang="zh-CN" sz="12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20204" pitchFamily="34" charset="0"/>
                <a:ea typeface="华文细黑" panose="02010600040101010101" pitchFamily="2" charset="-122"/>
                <a:cs typeface="Arial" panose="020B060402020202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20204" pitchFamily="34" charset="0"/>
                <a:ea typeface="华文细黑" panose="02010600040101010101" pitchFamily="2" charset="-122"/>
                <a:cs typeface="Arial" panose="020B060402020202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20204" pitchFamily="34" charset="0"/>
                <a:ea typeface="华文细黑" panose="02010600040101010101" pitchFamily="2" charset="-122"/>
                <a:cs typeface="Arial" panose="020B0604020202020204" pitchFamily="34" charset="0"/>
              </a:defRPr>
            </a:lvl3pPr>
            <a:lvl4pPr marL="1600200" indent="-228600" eaLnBrk="0" hangingPunct="0">
              <a:lnSpc>
                <a:spcPct val="140000"/>
              </a:lnSpc>
              <a:buChar char="–"/>
              <a:defRPr sz="1200">
                <a:solidFill>
                  <a:schemeClr val="tx1"/>
                </a:solidFill>
                <a:latin typeface="Arial" panose="020B0604020202020204" pitchFamily="34" charset="0"/>
                <a:ea typeface="华文细黑" panose="02010600040101010101" pitchFamily="2" charset="-122"/>
                <a:cs typeface="Arial" panose="020B060402020202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2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charset="-122"/>
                <a:ea typeface="微软雅黑" panose="020B0503020204020204" charset="-122"/>
              </a:rPr>
              <a:t>重客特殊组织保障</a:t>
            </a:r>
            <a:endParaRPr lang="zh-CN" altLang="en-US"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项目经理</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技术负责人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客户体验负责人</a:t>
            </a:r>
            <a:endParaRPr lang="en-US" sz="1200" dirty="0">
              <a:solidFill>
                <a:schemeClr val="tx1">
                  <a:lumMod val="75000"/>
                  <a:lumOff val="25000"/>
                </a:schemeClr>
              </a:solidFill>
              <a:latin typeface="+mn-lt"/>
              <a:ea typeface="+mn-ea"/>
              <a:cs typeface="Arial" panose="020B060402020202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charset="-122"/>
                <a:ea typeface="微软雅黑" panose="020B0503020204020204" charset="-122"/>
                <a:cs typeface="Arial" panose="020B0604020202020204" pitchFamily="34" charset="0"/>
              </a:rPr>
              <a:t>项目组核心角色</a:t>
            </a:r>
            <a:endParaRPr lang="en-US" altLang="zh-CN"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平台管理部</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系统部 （解决方案，拓展）</a:t>
            </a:r>
            <a:endParaRPr lang="en-US" altLang="zh-CN"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售前技术部</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产</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研</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BU</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（交换无线，云桌面，睿智，身份管理，</a:t>
            </a:r>
            <a:r>
              <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EDN</a:t>
            </a: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职能部门（商务，法务，财务）</a:t>
            </a:r>
            <a:endParaRPr lang="en-US" altLang="zh-CN" sz="12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charset="-122"/>
                <a:ea typeface="微软雅黑" panose="020B0503020204020204" charset="-122"/>
                <a:cs typeface="Arial" panose="020B0604020202020204" pitchFamily="34" charset="0"/>
              </a:rPr>
              <a:t>支持部门</a:t>
            </a:r>
            <a:endParaRPr lang="en-US" altLang="en-US" sz="1400" b="1" cap="small" baseline="30000" dirty="0">
              <a:solidFill>
                <a:srgbClr val="FFFFFF"/>
              </a:solidFill>
              <a:latin typeface="微软雅黑" panose="020B0503020204020204" charset="-122"/>
              <a:ea typeface="微软雅黑" panose="020B0503020204020204" charset="-122"/>
              <a:cs typeface="Arial" panose="020B060402020202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合同关闭决策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charset="-122"/>
                <a:ea typeface="微软雅黑" panose="020B0503020204020204" charset="-122"/>
                <a:cs typeface="Arial" panose="020B060402020202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charset="-122"/>
                <a:ea typeface="微软雅黑" panose="020B0503020204020204" charset="-122"/>
                <a:cs typeface="Arial" panose="020B060402020202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合同变更决策</a:t>
              </a:r>
              <a:endParaRPr lang="en-US" altLang="zh-HK"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charset="-122"/>
                <a:ea typeface="微软雅黑" panose="020B0503020204020204" charset="-122"/>
                <a:cs typeface="Arial" panose="020B060402020202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BR</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CR</a:t>
              </a: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a:t>
              </a:r>
              <a:r>
                <a:rPr lang="en-US" altLang="zh-CN"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PO</a:t>
              </a:r>
              <a:r>
                <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立项评审 </a:t>
              </a:r>
              <a:r>
                <a:rPr lang="en-US" altLang="zh-CN" sz="1000"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IR</a:t>
              </a:r>
              <a:endParaRPr lang="zh-CN" altLang="en-US" sz="1000"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charset="-122"/>
                <a:ea typeface="微软雅黑" panose="020B0503020204020204" charset="-122"/>
                <a:cs typeface="Arial" panose="020B060402020202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charset="-122"/>
                  <a:ea typeface="微软雅黑" panose="020B0503020204020204" charset="-122"/>
                  <a:cs typeface="Arial" panose="020B0604020202020204" pitchFamily="34" charset="0"/>
                </a:rPr>
                <a:t>商机分级分层</a:t>
              </a:r>
              <a:endParaRPr lang="zh-CN" altLang="en-US" sz="1400" b="1" dirty="0">
                <a:latin typeface="微软雅黑" panose="020B0503020204020204" charset="-122"/>
                <a:ea typeface="微软雅黑" panose="020B0503020204020204" charset="-122"/>
                <a:cs typeface="Arial" panose="020B060402020202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是否递交标书</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聚焦战略、风险和财务</a:t>
              </a:r>
              <a:endParaRPr lang="en-US" altLang="zh-CN" sz="1000" dirty="0">
                <a:latin typeface="微软雅黑" panose="020B0503020204020204" charset="-122"/>
                <a:ea typeface="微软雅黑" panose="020B0503020204020204" charset="-122"/>
                <a:cs typeface="Arial" panose="020B060402020202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是否签约</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是否进行合同</a:t>
              </a:r>
              <a:r>
                <a:rPr lang="en-US" altLang="zh-CN" sz="1000" dirty="0">
                  <a:latin typeface="微软雅黑" panose="020B0503020204020204" charset="-122"/>
                  <a:ea typeface="微软雅黑" panose="020B0503020204020204" charset="-122"/>
                  <a:cs typeface="Arial" panose="020B0604020202020204" pitchFamily="34" charset="0"/>
                </a:rPr>
                <a:t>/PO</a:t>
              </a:r>
              <a:r>
                <a:rPr lang="zh-CN" altLang="en-US" sz="1000" dirty="0">
                  <a:latin typeface="微软雅黑" panose="020B0503020204020204" charset="-122"/>
                  <a:ea typeface="微软雅黑" panose="020B0503020204020204" charset="-122"/>
                  <a:cs typeface="Arial" panose="020B060402020202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变更条款的风险及对利润的影响</a:t>
              </a:r>
              <a:endParaRPr lang="en-US" altLang="zh-CN" sz="1000" dirty="0">
                <a:latin typeface="微软雅黑" panose="020B0503020204020204" charset="-122"/>
                <a:ea typeface="微软雅黑" panose="020B0503020204020204" charset="-122"/>
                <a:cs typeface="Arial" panose="020B060402020202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charset="-122"/>
                  <a:ea typeface="微软雅黑" panose="020B0503020204020204" charset="-122"/>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是否关闭合同</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条款的履约情况</a:t>
              </a:r>
              <a:endParaRPr lang="en-US" altLang="zh-CN" sz="1000" dirty="0">
                <a:latin typeface="微软雅黑" panose="020B0503020204020204" charset="-122"/>
                <a:ea typeface="微软雅黑" panose="020B0503020204020204" charset="-122"/>
                <a:cs typeface="Arial" panose="020B060402020202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charset="-122"/>
                  <a:ea typeface="微软雅黑" panose="020B0503020204020204" charset="-122"/>
                  <a:cs typeface="Arial" panose="020B060402020202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20204" pitchFamily="34" charset="0"/>
                </a:rPr>
                <a:t> </a:t>
              </a:r>
              <a:r>
                <a:rPr lang="zh-CN" altLang="en-US" sz="12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charset="-122"/>
                <a:ea typeface="微软雅黑" panose="020B0503020204020204" charset="-122"/>
                <a:cs typeface="Arial" panose="020B0604020202020204" pitchFamily="34" charset="0"/>
              </a:rPr>
              <a:t>评审与决策</a:t>
            </a:r>
            <a:endParaRPr lang="en-US" altLang="zh-CN" sz="12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专属项目经理</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客户主责人</a:t>
            </a:r>
            <a:endParaRPr lang="en-US" altLang="zh-CN" sz="1200" dirty="0" smtClean="0">
              <a:solidFill>
                <a:schemeClr val="tx1">
                  <a:lumMod val="75000"/>
                  <a:lumOff val="25000"/>
                </a:schemeClr>
              </a:solidFill>
              <a:latin typeface="+mn-lt"/>
              <a:ea typeface="+mn-ea"/>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20204" pitchFamily="34" charset="0"/>
              </a:rPr>
              <a:t>专</a:t>
            </a:r>
            <a:r>
              <a:rPr lang="zh-CN" altLang="en-US" sz="1200" dirty="0" smtClean="0">
                <a:solidFill>
                  <a:schemeClr val="tx1">
                    <a:lumMod val="75000"/>
                    <a:lumOff val="25000"/>
                  </a:schemeClr>
                </a:solidFill>
                <a:cs typeface="Arial" panose="020B0604020202020204" pitchFamily="34" charset="0"/>
              </a:rPr>
              <a:t>属客户体验负责人</a:t>
            </a:r>
            <a:endParaRPr lang="en-US" altLang="zh-CN" sz="1200" dirty="0" smtClean="0">
              <a:solidFill>
                <a:schemeClr val="tx1">
                  <a:lumMod val="75000"/>
                  <a:lumOff val="25000"/>
                </a:schemeClr>
              </a:solidFill>
              <a:cs typeface="Arial" panose="020B060402020202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20204" pitchFamily="34" charset="0"/>
              </a:rPr>
              <a:t>拓展负责人</a:t>
            </a:r>
            <a:endParaRPr lang="en-US" sz="1200" dirty="0">
              <a:solidFill>
                <a:schemeClr val="tx1">
                  <a:lumMod val="75000"/>
                  <a:lumOff val="25000"/>
                </a:schemeClr>
              </a:solidFill>
              <a:latin typeface="+mn-lt"/>
              <a:ea typeface="+mn-ea"/>
              <a:cs typeface="Arial" panose="020B060402020202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191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2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2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2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extLst>
      <p:ext uri="{BB962C8B-B14F-4D97-AF65-F5344CB8AC3E}">
        <p14:creationId xmlns:p14="http://schemas.microsoft.com/office/powerpoint/2010/main" val="1397499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4014706" y="2919908"/>
            <a:ext cx="2556550"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、商机填报一定要严格按照</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EBG</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、商机分级分层标准参见商机分类表。</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4</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、不立项项目，进入一般项目池常态化管理。</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pic>
        <p:nvPicPr>
          <p:cNvPr id="44" name="图片 43"/>
          <p:cNvPicPr>
            <a:picLocks noChangeAspect="1"/>
          </p:cNvPicPr>
          <p:nvPr/>
        </p:nvPicPr>
        <p:blipFill>
          <a:blip r:embed="rId3"/>
          <a:stretch>
            <a:fillRect/>
          </a:stretch>
        </p:blipFill>
        <p:spPr>
          <a:xfrm>
            <a:off x="797136" y="2835172"/>
            <a:ext cx="3217569" cy="3417706"/>
          </a:xfrm>
          <a:prstGeom prst="rect">
            <a:avLst/>
          </a:prstGeom>
        </p:spPr>
      </p:pic>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r>
              <a:rPr lang="zh-CN" altLang="en-US" sz="1400" dirty="0" smtClean="0"/>
              <a:t>（参见流程）</a:t>
            </a:r>
            <a:endParaRPr lang="en-US" altLang="zh-CN" sz="1400" dirty="0" smtClean="0"/>
          </a:p>
          <a:p>
            <a:pPr marL="399415" indent="-285750" eaLnBrk="0">
              <a:lnSpc>
                <a:spcPct val="85000"/>
              </a:lnSpc>
              <a:spcBef>
                <a:spcPts val="425"/>
              </a:spcBef>
              <a:buFont typeface="Arial" panose="020B0604020202020204" pitchFamily="34" charset="0"/>
              <a:buChar char="•"/>
            </a:pPr>
            <a:r>
              <a:rPr lang="zh-CN" altLang="en-US" sz="1400" dirty="0">
                <a:hlinkClick r:id="rId4"/>
              </a:rPr>
              <a:t>商机审批销售经理审批指导</a:t>
            </a:r>
            <a:r>
              <a:rPr lang="zh-CN" altLang="en-US" sz="1400" dirty="0" smtClean="0">
                <a:hlinkClick r:id="rId4"/>
              </a:rPr>
              <a:t>书</a:t>
            </a:r>
            <a:endParaRPr lang="en-US" altLang="zh-CN" sz="1400" dirty="0" smtClean="0"/>
          </a:p>
          <a:p>
            <a:pPr marL="399415" indent="-285750" eaLnBrk="0">
              <a:lnSpc>
                <a:spcPct val="85000"/>
              </a:lnSpc>
              <a:spcBef>
                <a:spcPts val="425"/>
              </a:spcBef>
              <a:buFont typeface="Arial" panose="020B0604020202020204" pitchFamily="34" charset="0"/>
              <a:buChar char="•"/>
            </a:pPr>
            <a:r>
              <a:rPr lang="en-US" altLang="zh-CN" sz="1400" dirty="0">
                <a:hlinkClick r:id="rId5"/>
              </a:rPr>
              <a:t>MTCV-MO-MO11.1-S-</a:t>
            </a:r>
            <a:r>
              <a:rPr lang="zh-CN" altLang="en-US" sz="1400" dirty="0">
                <a:hlinkClick r:id="rId5"/>
              </a:rPr>
              <a:t>商机分级表</a:t>
            </a:r>
            <a:r>
              <a:rPr lang="en-US" altLang="zh-CN" sz="1400" dirty="0">
                <a:hlinkClick r:id="rId5"/>
              </a:rPr>
              <a:t>-V0.9</a:t>
            </a:r>
            <a:endParaRPr lang="en-US" altLang="zh-CN" sz="1400" dirty="0"/>
          </a:p>
          <a:p>
            <a:pPr marL="399415" indent="-285750" eaLnBrk="0">
              <a:lnSpc>
                <a:spcPct val="85000"/>
              </a:lnSpc>
              <a:spcBef>
                <a:spcPts val="425"/>
              </a:spcBef>
              <a:buFont typeface="Arial" panose="020B0604020202020204" pitchFamily="34" charset="0"/>
              <a:buChar char="•"/>
            </a:pP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立项决策</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结果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项目</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组信息</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Tree>
    <p:extLst>
      <p:ext uri="{BB962C8B-B14F-4D97-AF65-F5344CB8AC3E}">
        <p14:creationId xmlns:p14="http://schemas.microsoft.com/office/powerpoint/2010/main" val="314997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、同时对需要安排客户测试的项目进行</a:t>
            </a: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POC</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流程调用</a:t>
            </a: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92486" y="2807094"/>
            <a:ext cx="3999159" cy="2842060"/>
          </a:xfrm>
          <a:prstGeom prst="rect">
            <a:avLst/>
          </a:prstGeom>
        </p:spPr>
        <p:txBody>
          <a:bodyPr wrap="square">
            <a:spAutoFit/>
          </a:bodyPr>
          <a:lstStyle/>
          <a:p>
            <a:pPr marL="456565" indent="-342900" eaLnBrk="0">
              <a:lnSpc>
                <a:spcPct val="85000"/>
              </a:lnSpc>
              <a:spcBef>
                <a:spcPts val="425"/>
              </a:spcBef>
              <a:buFont typeface="Arial" panose="020B060402020202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2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2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2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2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2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smtClean="0">
                <a:hlinkClick r:id="rId8"/>
              </a:rPr>
              <a:t>docx</a:t>
            </a:r>
            <a:endParaRPr lang="en-US" altLang="zh-CN" sz="1400" dirty="0" smtClean="0"/>
          </a:p>
          <a:p>
            <a:pPr marL="456565" indent="-342900" eaLnBrk="0">
              <a:lnSpc>
                <a:spcPct val="85000"/>
              </a:lnSpc>
              <a:spcBef>
                <a:spcPts val="425"/>
              </a:spcBef>
              <a:buFont typeface="Arial" panose="020B0604020202020204" pitchFamily="34" charset="0"/>
              <a:buChar char="•"/>
            </a:pPr>
            <a:r>
              <a:rPr lang="zh-CN" altLang="en-US" sz="1400" dirty="0"/>
              <a:t>项目分析会模板</a:t>
            </a:r>
            <a:r>
              <a:rPr lang="en-US" altLang="zh-CN" sz="1400" dirty="0"/>
              <a:t>-2023</a:t>
            </a:r>
            <a:r>
              <a:rPr lang="zh-CN" altLang="en-US" sz="1400" dirty="0"/>
              <a:t>年版</a:t>
            </a:r>
            <a:r>
              <a:rPr lang="en-US" altLang="zh-CN" sz="1400" dirty="0"/>
              <a:t>.</a:t>
            </a:r>
            <a:r>
              <a:rPr lang="en-US" altLang="zh-CN" sz="1400" dirty="0" err="1" smtClean="0"/>
              <a:t>pptx</a:t>
            </a:r>
            <a:r>
              <a:rPr lang="en-US" altLang="zh-CN" sz="1400" dirty="0" smtClean="0"/>
              <a:t>(</a:t>
            </a:r>
            <a:r>
              <a:rPr lang="zh-CN" altLang="en-US" sz="1400" dirty="0" smtClean="0"/>
              <a:t>参见流程</a:t>
            </a:r>
            <a:r>
              <a:rPr lang="en-US" altLang="zh-CN" sz="1400" dirty="0" smtClean="0"/>
              <a:t>)</a:t>
            </a:r>
            <a:endParaRPr lang="en-US" altLang="zh-CN" sz="1400" dirty="0"/>
          </a:p>
          <a:p>
            <a:pPr marL="456565" indent="-342900" eaLnBrk="0">
              <a:lnSpc>
                <a:spcPct val="85000"/>
              </a:lnSpc>
              <a:spcBef>
                <a:spcPts val="425"/>
              </a:spcBef>
              <a:buFont typeface="Arial" panose="020B0604020202020204" pitchFamily="34" charset="0"/>
              <a:buChar char="•"/>
            </a:pPr>
            <a:endParaRPr lang="en-US" altLang="zh-CN" sz="1400" dirty="0"/>
          </a:p>
          <a:p>
            <a:pPr marL="456565" indent="-342900" eaLnBrk="0">
              <a:lnSpc>
                <a:spcPct val="85000"/>
              </a:lnSpc>
              <a:spcBef>
                <a:spcPts val="425"/>
              </a:spcBef>
              <a:buFont typeface="Arial" panose="020B0604020202020204" pitchFamily="34" charset="0"/>
              <a:buChar char="•"/>
            </a:pPr>
            <a:endParaRPr lang="zh-CN" altLang="en-US" sz="1400" dirty="0"/>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20204" pitchFamily="34" charset="0"/>
              <a:buChar char="•"/>
            </a:pPr>
            <a:r>
              <a:rPr lang="zh-CN" altLang="en-US" sz="1400" dirty="0" smtClean="0"/>
              <a:t>解决方案</a:t>
            </a:r>
            <a:endParaRPr lang="en-US" altLang="zh-CN" sz="1400" dirty="0" smtClean="0"/>
          </a:p>
          <a:p>
            <a:pPr marL="285750" indent="-285750">
              <a:buFont typeface="Arial" panose="020B060402020202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2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20204"/>
              <a:cs typeface="Arial" panose="020B0604020202020204"/>
            </a:endParaRPr>
          </a:p>
        </p:txBody>
      </p:sp>
      <p:pic>
        <p:nvPicPr>
          <p:cNvPr id="4" name="图片 3"/>
          <p:cNvPicPr>
            <a:picLocks noChangeAspect="1"/>
          </p:cNvPicPr>
          <p:nvPr/>
        </p:nvPicPr>
        <p:blipFill>
          <a:blip r:embed="rId9"/>
          <a:stretch>
            <a:fillRect/>
          </a:stretch>
        </p:blipFill>
        <p:spPr>
          <a:xfrm>
            <a:off x="769957" y="2647928"/>
            <a:ext cx="5906012" cy="2842506"/>
          </a:xfrm>
          <a:prstGeom prst="rect">
            <a:avLst/>
          </a:prstGeom>
        </p:spPr>
      </p:pic>
    </p:spTree>
    <p:extLst>
      <p:ext uri="{BB962C8B-B14F-4D97-AF65-F5344CB8AC3E}">
        <p14:creationId xmlns:p14="http://schemas.microsoft.com/office/powerpoint/2010/main" val="15282602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标书环节要吃透招标</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、特价申请与审批严格执行</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EBG</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现有流程</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92486" y="2962370"/>
            <a:ext cx="3964654" cy="2138791"/>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r>
              <a:rPr lang="zh-CN" altLang="en-US" sz="1400" dirty="0" smtClean="0"/>
              <a:t>（参见流程）</a:t>
            </a:r>
            <a:endParaRPr lang="en-US" altLang="zh-CN" sz="1400" dirty="0" smtClean="0"/>
          </a:p>
          <a:p>
            <a:pPr marL="399415" indent="-285750" eaLnBrk="0">
              <a:lnSpc>
                <a:spcPct val="85000"/>
              </a:lnSpc>
              <a:spcBef>
                <a:spcPts val="425"/>
              </a:spcBef>
              <a:buFont typeface="Arial" panose="020B060402020202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2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smtClean="0"/>
              <a:t>》</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投标书终稿</a:t>
            </a:r>
            <a:endParaRPr lang="zh-CN" altLang="en-US" sz="300" dirty="0">
              <a:ea typeface="Arial" panose="020B0604020202020204"/>
              <a:cs typeface="Arial" panose="020B060402020202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extLst>
      <p:ext uri="{BB962C8B-B14F-4D97-AF65-F5344CB8AC3E}">
        <p14:creationId xmlns:p14="http://schemas.microsoft.com/office/powerpoint/2010/main" val="2364461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20204"/>
                <a:ea typeface="Arial" panose="020B0604020202020204"/>
                <a:cs typeface="Arial" panose="020B0604020202020204"/>
              </a:endParaRPr>
            </a:p>
            <a:p>
              <a:pPr marL="2513965" eaLnBrk="0">
                <a:lnSpc>
                  <a:spcPct val="95000"/>
                </a:lnSpc>
              </a:pPr>
              <a:r>
                <a:rPr lang="zh-CN" altLang="en-US" sz="17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关键活动</a:t>
              </a:r>
              <a:endParaRPr lang="zh-CN" altLang="en-US" sz="17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20204"/>
                <a:ea typeface="Arial" panose="020B0604020202020204"/>
                <a:cs typeface="Arial" panose="020B060402020202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表证单书</a:t>
              </a:r>
              <a:endParaRPr sz="1700" dirty="0" smtClean="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smtClean="0">
                <a:latin typeface="Arial" panose="020B0604020202020204"/>
                <a:ea typeface="Arial" panose="020B0604020202020204"/>
                <a:cs typeface="Arial" panose="020B0604020202020204"/>
              </a:endParaRPr>
            </a:p>
            <a:p>
              <a:pPr algn="l" rtl="0" eaLnBrk="0">
                <a:lnSpc>
                  <a:spcPct val="119000"/>
                </a:lnSpc>
              </a:pPr>
              <a:endParaRPr sz="300" dirty="0">
                <a:latin typeface="Arial" panose="020B0604020202020204"/>
                <a:ea typeface="Arial" panose="020B0604020202020204"/>
                <a:cs typeface="Arial" panose="020B060402020202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charset="-122"/>
                <a:ea typeface="微软雅黑" panose="020B0503020204020204" charset="-122"/>
                <a:cs typeface="微软雅黑" panose="020B050302020402020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、确保每一个项目都做到丢</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赢单复盘，通过经验总结为后续工作提供指导。</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商机推进</a:t>
            </a:r>
            <a:endParaRPr lang="en-US" altLang="zh-CN"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制定并执行投标策略</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验证</a:t>
            </a:r>
            <a:r>
              <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rPr>
              <a:t>谈判并签订合同</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Arial" panose="020B0604020202020204" pitchFamily="34" charset="0"/>
            </a:endParaRPr>
          </a:p>
        </p:txBody>
      </p:sp>
      <p:sp>
        <p:nvSpPr>
          <p:cNvPr id="51" name="矩形 50"/>
          <p:cNvSpPr/>
          <p:nvPr/>
        </p:nvSpPr>
        <p:spPr>
          <a:xfrm>
            <a:off x="6705684" y="2975434"/>
            <a:ext cx="4222228" cy="2373214"/>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dirty="0"/>
              <a:t>业务合同三审流程初审模板</a:t>
            </a:r>
            <a:r>
              <a:rPr lang="en-US" altLang="zh-CN" sz="1400" dirty="0"/>
              <a:t>.</a:t>
            </a:r>
            <a:r>
              <a:rPr lang="en-US" altLang="zh-CN" sz="1400" dirty="0" err="1" smtClean="0"/>
              <a:t>xlsx</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2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2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r>
              <a:rPr lang="zh-CN" altLang="en-US" sz="1400" dirty="0" smtClean="0"/>
              <a:t>（参见流程）</a:t>
            </a:r>
            <a:endParaRPr lang="en-US" altLang="zh-CN" sz="1400" dirty="0"/>
          </a:p>
          <a:p>
            <a:pPr marL="399415" indent="-285750" eaLnBrk="0">
              <a:lnSpc>
                <a:spcPct val="85000"/>
              </a:lnSpc>
              <a:spcBef>
                <a:spcPts val="425"/>
              </a:spcBef>
              <a:buFont typeface="Arial" panose="020B060402020202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r>
              <a:rPr lang="zh-CN" altLang="en-US" sz="1400" dirty="0" smtClean="0"/>
              <a:t>（参见流程）</a:t>
            </a:r>
            <a:endParaRPr lang="zh-CN" altLang="en-US" sz="1400" dirty="0" smtClean="0"/>
          </a:p>
          <a:p>
            <a:pPr marL="399415" indent="-285750" eaLnBrk="0">
              <a:lnSpc>
                <a:spcPct val="85000"/>
              </a:lnSpc>
              <a:spcBef>
                <a:spcPts val="425"/>
              </a:spcBef>
              <a:buFont typeface="Arial" panose="020B0604020202020204" pitchFamily="34" charset="0"/>
              <a:buChar char="•"/>
            </a:pPr>
            <a:endParaRPr lang="en-US" altLang="zh-CN" sz="1400" dirty="0" smtClean="0"/>
          </a:p>
          <a:p>
            <a:pPr marL="399415" indent="-285750" eaLnBrk="0">
              <a:lnSpc>
                <a:spcPct val="85000"/>
              </a:lnSpc>
              <a:spcBef>
                <a:spcPts val="425"/>
              </a:spcBef>
              <a:buFont typeface="Arial" panose="020B0604020202020204" pitchFamily="34" charset="0"/>
              <a:buChar char="•"/>
            </a:pPr>
            <a:endParaRPr lang="en-US" altLang="zh-CN" sz="1400" dirty="0"/>
          </a:p>
          <a:p>
            <a:pPr marL="399415" indent="-285750" eaLnBrk="0">
              <a:lnSpc>
                <a:spcPct val="85000"/>
              </a:lnSpc>
              <a:spcBef>
                <a:spcPts val="425"/>
              </a:spcBef>
              <a:buFont typeface="Arial" panose="020B0604020202020204" pitchFamily="34" charset="0"/>
              <a:buChar char="•"/>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签署的合同</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endParaRPr>
          </a:p>
          <a:p>
            <a:pPr marL="399415" indent="-285750" eaLnBrk="0">
              <a:lnSpc>
                <a:spcPct val="85000"/>
              </a:lnSpc>
              <a:spcBef>
                <a:spcPts val="425"/>
              </a:spcBef>
              <a:buFont typeface="Arial" panose="020B0604020202020204" pitchFamily="34" charset="0"/>
              <a:buChar char="•"/>
            </a:pP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丢</a:t>
            </a:r>
            <a:r>
              <a:rPr lang="en-US" altLang="zh-CN"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Arial" panose="020B0604020202020204"/>
              </a:rPr>
              <a:t>赢单复盘报告</a:t>
            </a:r>
            <a:endParaRPr lang="zh-CN" altLang="en-US" sz="300" dirty="0">
              <a:ea typeface="Arial" panose="020B0604020202020204"/>
              <a:cs typeface="Arial" panose="020B060402020202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extLst>
      <p:ext uri="{BB962C8B-B14F-4D97-AF65-F5344CB8AC3E}">
        <p14:creationId xmlns:p14="http://schemas.microsoft.com/office/powerpoint/2010/main" val="1907510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2"/>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641675" y="1070648"/>
            <a:ext cx="6271404" cy="6182975"/>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运转机制：</a:t>
            </a:r>
            <a:endParaRPr lang="en-US" altLang="zh-CN" sz="1400" b="1"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endParaRPr lang="en-US" altLang="zh-CN" sz="1400" dirty="0" smtClean="0"/>
          </a:p>
          <a:p>
            <a:pPr lvl="1"/>
            <a:r>
              <a:rPr lang="zh-CN" altLang="en-US" sz="1400" dirty="0" smtClean="0"/>
              <a:t>月度</a:t>
            </a:r>
            <a:r>
              <a:rPr lang="zh-CN" altLang="en-US" sz="1400" dirty="0"/>
              <a:t>、季度进行以上关键任务执行看板，应用至</a:t>
            </a:r>
            <a:r>
              <a:rPr lang="en-US" altLang="zh-CN" sz="1400" dirty="0"/>
              <a:t>QBC</a:t>
            </a:r>
            <a:r>
              <a:rPr lang="zh-CN" altLang="en-US" sz="1400" dirty="0"/>
              <a:t>季度考核打分，每个未</a:t>
            </a:r>
            <a:r>
              <a:rPr lang="zh-CN" altLang="en-US" sz="1400" dirty="0" smtClean="0"/>
              <a:t>执行关键</a:t>
            </a:r>
            <a:r>
              <a:rPr lang="zh-CN" altLang="en-US" sz="1400" dirty="0"/>
              <a:t>任务次数，扣减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5293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流程执行情况汇报</a:t>
            </a:r>
            <a:r>
              <a:rPr lang="en-US" altLang="zh-CN" dirty="0" smtClean="0"/>
              <a:t>-</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06839" y="854013"/>
            <a:ext cx="1811548" cy="307777"/>
          </a:xfrm>
          <a:prstGeom prst="rect">
            <a:avLst/>
          </a:prstGeom>
          <a:noFill/>
        </p:spPr>
        <p:txBody>
          <a:bodyPr wrap="square" rtlCol="0">
            <a:spAutoFit/>
          </a:bodyPr>
          <a:lstStyle/>
          <a:p>
            <a:r>
              <a:rPr lang="zh-CN" altLang="en-US" sz="1400" b="1" dirty="0" smtClean="0"/>
              <a:t>关键卡点设计</a:t>
            </a:r>
            <a:endParaRPr lang="zh-CN" altLang="en-US" sz="14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82792" y="854013"/>
            <a:ext cx="1811548" cy="307777"/>
          </a:xfrm>
          <a:prstGeom prst="rect">
            <a:avLst/>
          </a:prstGeom>
          <a:noFill/>
        </p:spPr>
        <p:txBody>
          <a:bodyPr wrap="square" rtlCol="0">
            <a:spAutoFit/>
          </a:bodyPr>
          <a:lstStyle/>
          <a:p>
            <a:r>
              <a:rPr lang="zh-CN" altLang="en-US" sz="1400" b="1" dirty="0" smtClean="0"/>
              <a:t>观测业务指标</a:t>
            </a:r>
            <a:endParaRPr lang="zh-CN" altLang="en-US" sz="14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extLst>
              <p:ext uri="{D42A27DB-BD31-4B8C-83A1-F6EECF244321}">
                <p14:modId xmlns:p14="http://schemas.microsoft.com/office/powerpoint/2010/main" val="649872476"/>
              </p:ext>
            </p:extLst>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商机创建总数</a:t>
                      </a:r>
                      <a:endParaRPr lang="zh-CN" altLang="en-US" sz="1200" b="1" dirty="0"/>
                    </a:p>
                  </a:txBody>
                  <a:tcPr/>
                </a:tc>
                <a:tc>
                  <a:txBody>
                    <a:bodyPr/>
                    <a:lstStyle/>
                    <a:p>
                      <a:r>
                        <a:rPr lang="zh-CN" altLang="en-US" sz="1200" b="1" dirty="0" smtClean="0"/>
                        <a:t>审批进漏斗数</a:t>
                      </a:r>
                      <a:endParaRPr lang="zh-CN" altLang="en-US" sz="1200" b="1" dirty="0"/>
                    </a:p>
                  </a:txBody>
                  <a:tcPr/>
                </a:tc>
                <a:tc>
                  <a:txBody>
                    <a:bodyPr/>
                    <a:lstStyle/>
                    <a:p>
                      <a:r>
                        <a:rPr lang="zh-CN" altLang="en-US" sz="1200" b="1" dirty="0" smtClean="0"/>
                        <a:t>需要立项数</a:t>
                      </a:r>
                      <a:endParaRPr lang="zh-CN" altLang="en-US" sz="1200" b="1" dirty="0"/>
                    </a:p>
                  </a:txBody>
                  <a:tcPr/>
                </a:tc>
                <a:tc>
                  <a:txBody>
                    <a:bodyPr/>
                    <a:lstStyle/>
                    <a:p>
                      <a:r>
                        <a:rPr lang="zh-CN" altLang="en-US" sz="1200" b="1" dirty="0" smtClean="0"/>
                        <a:t>立项决策会场次</a:t>
                      </a:r>
                      <a:endParaRPr lang="zh-CN" altLang="en-US" sz="1200" b="1" dirty="0"/>
                    </a:p>
                  </a:txBody>
                  <a:tcPr/>
                </a:tc>
                <a:tc>
                  <a:txBody>
                    <a:bodyPr/>
                    <a:lstStyle/>
                    <a:p>
                      <a:r>
                        <a:rPr lang="zh-CN" altLang="en-US" sz="1200" b="1" dirty="0" smtClean="0"/>
                        <a:t>立项项目数</a:t>
                      </a:r>
                      <a:endParaRPr lang="zh-CN" altLang="en-US" sz="1200" b="1" dirty="0"/>
                    </a:p>
                  </a:txBody>
                  <a:tcPr/>
                </a:tc>
                <a:tc>
                  <a:txBody>
                    <a:bodyPr/>
                    <a:lstStyle/>
                    <a:p>
                      <a:r>
                        <a:rPr lang="zh-CN" altLang="en-US" sz="1200" b="1" dirty="0" smtClean="0"/>
                        <a:t>一般项目数</a:t>
                      </a:r>
                      <a:endParaRPr lang="zh-CN" altLang="en-US" sz="1200" b="1"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283157954"/>
              </p:ext>
            </p:extLst>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立项项目推进情况汇总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ltLang="en-US" dirty="0"/>
                    </a:p>
                  </a:txBody>
                  <a:tcPr/>
                </a:tc>
                <a:tc hMerge="1">
                  <a:txBody>
                    <a:bodyPr/>
                    <a:lstStyle/>
                    <a:p>
                      <a:endParaRPr lang="zh-CN" altLang="en-US"/>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结项总数</a:t>
                      </a:r>
                      <a:endParaRPr lang="zh-CN" altLang="en-US" sz="1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t>赢单数</a:t>
                      </a:r>
                    </a:p>
                    <a:p>
                      <a:endParaRPr lang="zh-CN" altLang="en-US" sz="1200" b="1" dirty="0"/>
                    </a:p>
                  </a:txBody>
                  <a:tcPr/>
                </a:tc>
                <a:tc>
                  <a:txBody>
                    <a:bodyPr/>
                    <a:lstStyle/>
                    <a:p>
                      <a:r>
                        <a:rPr lang="zh-CN" altLang="en-US" sz="1200" b="1" dirty="0" smtClean="0"/>
                        <a:t>丢单数</a:t>
                      </a:r>
                      <a:endParaRPr lang="zh-CN" altLang="en-US" sz="1200" b="1" dirty="0"/>
                    </a:p>
                  </a:txBody>
                  <a:tcPr/>
                </a:tc>
                <a:tc>
                  <a:txBody>
                    <a:bodyPr/>
                    <a:lstStyle/>
                    <a:p>
                      <a:r>
                        <a:rPr lang="zh-CN" altLang="en-US" sz="1200" b="1" dirty="0" smtClean="0"/>
                        <a:t>项目启动会场次</a:t>
                      </a:r>
                      <a:endParaRPr lang="zh-CN" altLang="en-US" sz="12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t>解决方案评审会场次</a:t>
                      </a:r>
                    </a:p>
                  </a:txBody>
                  <a:tcPr/>
                </a:tc>
                <a:tc>
                  <a:txBody>
                    <a:bodyPr/>
                    <a:lstStyle/>
                    <a:p>
                      <a:r>
                        <a:rPr lang="zh-CN" altLang="en-US" sz="1200" b="1" dirty="0" smtClean="0"/>
                        <a:t>标前评审会场次</a:t>
                      </a:r>
                      <a:endParaRPr lang="zh-CN" altLang="en-US" sz="1200" b="1" dirty="0"/>
                    </a:p>
                  </a:txBody>
                  <a:tcPr/>
                </a:tc>
                <a:tc>
                  <a:txBody>
                    <a:bodyPr/>
                    <a:lstStyle/>
                    <a:p>
                      <a:r>
                        <a:rPr lang="zh-CN" altLang="en-US" sz="1200" b="1" dirty="0" smtClean="0"/>
                        <a:t>丢</a:t>
                      </a:r>
                      <a:r>
                        <a:rPr lang="en-US" altLang="zh-CN" sz="1200" b="1" dirty="0" smtClean="0"/>
                        <a:t>/</a:t>
                      </a:r>
                      <a:r>
                        <a:rPr lang="zh-CN" altLang="en-US" sz="1200" b="1" dirty="0" smtClean="0"/>
                        <a:t>赢单复盘数</a:t>
                      </a:r>
                      <a:endParaRPr lang="zh-CN" altLang="en-US" sz="1200" b="1"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934558250"/>
              </p:ext>
            </p:extLst>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业务监测指标</a:t>
                      </a:r>
                      <a:endParaRPr lang="zh-CN" altLang="en-US" sz="1200" b="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c hMerge="1">
                  <a:txBody>
                    <a:bodyPr/>
                    <a:lstStyle/>
                    <a:p>
                      <a:endParaRPr lang="zh-CN" altLang="en-US"/>
                    </a:p>
                  </a:txBody>
                  <a:tcPr/>
                </a:tc>
              </a:tr>
              <a:tr h="370840">
                <a:tc>
                  <a:txBody>
                    <a:bodyPr/>
                    <a:lstStyle/>
                    <a:p>
                      <a:endParaRPr lang="zh-CN" altLang="en-US" sz="1200" dirty="0"/>
                    </a:p>
                  </a:txBody>
                  <a:tcPr/>
                </a:tc>
                <a:tc>
                  <a:txBody>
                    <a:bodyPr/>
                    <a:lstStyle/>
                    <a:p>
                      <a:r>
                        <a:rPr lang="zh-CN" altLang="en-US" sz="1200" b="1" dirty="0" smtClean="0"/>
                        <a:t>立项启动率</a:t>
                      </a:r>
                      <a:endParaRPr lang="zh-CN" altLang="en-US" sz="1200" b="1" dirty="0"/>
                    </a:p>
                  </a:txBody>
                  <a:tcPr/>
                </a:tc>
                <a:tc>
                  <a:txBody>
                    <a:bodyPr/>
                    <a:lstStyle/>
                    <a:p>
                      <a:r>
                        <a:rPr lang="zh-CN" altLang="en-US" sz="1200" b="1" dirty="0" smtClean="0"/>
                        <a:t>解决方案评审率</a:t>
                      </a:r>
                      <a:endParaRPr lang="zh-CN" altLang="en-US" sz="1200" b="1" dirty="0"/>
                    </a:p>
                  </a:txBody>
                  <a:tcPr/>
                </a:tc>
                <a:tc>
                  <a:txBody>
                    <a:bodyPr/>
                    <a:lstStyle/>
                    <a:p>
                      <a:r>
                        <a:rPr lang="zh-CN" altLang="en-US" sz="1200" b="1" dirty="0" smtClean="0"/>
                        <a:t>标前评审率</a:t>
                      </a:r>
                      <a:endParaRPr lang="zh-CN" altLang="en-US" sz="1200" b="1" dirty="0"/>
                    </a:p>
                  </a:txBody>
                  <a:tcPr/>
                </a:tc>
                <a:tc>
                  <a:txBody>
                    <a:bodyPr/>
                    <a:lstStyle/>
                    <a:p>
                      <a:r>
                        <a:rPr lang="zh-CN" altLang="en-US" sz="1200" b="1" dirty="0" smtClean="0"/>
                        <a:t>丢</a:t>
                      </a:r>
                      <a:r>
                        <a:rPr lang="en-US" altLang="zh-CN" sz="1200" b="1" dirty="0" smtClean="0"/>
                        <a:t>/</a:t>
                      </a:r>
                      <a:r>
                        <a:rPr lang="zh-CN" altLang="en-US" sz="1200" b="1" dirty="0" smtClean="0"/>
                        <a:t>赢单复盘率</a:t>
                      </a:r>
                      <a:endParaRPr lang="zh-CN" altLang="en-US" sz="1200" b="1" dirty="0"/>
                    </a:p>
                  </a:txBody>
                  <a:tcPr/>
                </a:tc>
                <a:tc>
                  <a:txBody>
                    <a:bodyPr/>
                    <a:lstStyle/>
                    <a:p>
                      <a:r>
                        <a:rPr lang="zh-CN" altLang="en-US" sz="1200" b="1" dirty="0" smtClean="0"/>
                        <a:t>季度金额兑现率</a:t>
                      </a:r>
                      <a:endParaRPr lang="zh-CN" altLang="en-US" sz="1200" b="1" dirty="0"/>
                    </a:p>
                  </a:txBody>
                  <a:tcPr/>
                </a:tc>
                <a:tc>
                  <a:txBody>
                    <a:bodyPr/>
                    <a:lstStyle/>
                    <a:p>
                      <a:r>
                        <a:rPr lang="en-US" altLang="zh-CN" sz="1200" b="1" dirty="0" smtClean="0"/>
                        <a:t>30W+</a:t>
                      </a:r>
                      <a:r>
                        <a:rPr lang="zh-CN" altLang="en-US" sz="1200" b="1" dirty="0" smtClean="0"/>
                        <a:t>项目个数兑现率</a:t>
                      </a:r>
                      <a:endParaRPr lang="zh-CN" altLang="en-US" sz="1200" b="1" dirty="0"/>
                    </a:p>
                  </a:txBody>
                  <a:tcPr/>
                </a:tc>
                <a:tc>
                  <a:txBody>
                    <a:bodyPr/>
                    <a:lstStyle/>
                    <a:p>
                      <a:r>
                        <a:rPr lang="zh-CN" altLang="en-US" sz="1200" b="1" dirty="0" smtClean="0"/>
                        <a:t>下单时间偏差占比</a:t>
                      </a:r>
                      <a:endParaRPr lang="zh-CN" altLang="en-US" sz="1200" b="1"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15" name="矩形 14"/>
          <p:cNvSpPr/>
          <p:nvPr/>
        </p:nvSpPr>
        <p:spPr>
          <a:xfrm>
            <a:off x="5906036" y="4312456"/>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5973606" y="4327585"/>
            <a:ext cx="1811548" cy="338554"/>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17" name="文本框 16"/>
          <p:cNvSpPr txBox="1"/>
          <p:nvPr/>
        </p:nvSpPr>
        <p:spPr>
          <a:xfrm>
            <a:off x="6087652" y="4709554"/>
            <a:ext cx="5387172" cy="646331"/>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a:t>
            </a:r>
            <a:endParaRPr lang="zh-CN" altLang="en-US" sz="1200" dirty="0"/>
          </a:p>
        </p:txBody>
      </p:sp>
      <p:sp>
        <p:nvSpPr>
          <p:cNvPr id="18" name="文本框 17"/>
          <p:cNvSpPr txBox="1"/>
          <p:nvPr/>
        </p:nvSpPr>
        <p:spPr>
          <a:xfrm>
            <a:off x="6095456" y="5429817"/>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extLst>
      <p:ext uri="{BB962C8B-B14F-4D97-AF65-F5344CB8AC3E}">
        <p14:creationId xmlns:p14="http://schemas.microsoft.com/office/powerpoint/2010/main" val="147068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28712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重点注意事项</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对于</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V1.0</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流程推行需要的</a:t>
            </a:r>
            <a:r>
              <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IT</a:t>
            </a: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rPr>
              <a:t>培训文档：</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113665" eaLnBrk="0">
              <a:lnSpc>
                <a:spcPct val="85000"/>
              </a:lnSpc>
              <a:spcBef>
                <a:spcPts val="425"/>
              </a:spcBef>
            </a:pPr>
            <a:endParaRPr lang="zh-CN" altLang="en-US" sz="300" dirty="0">
              <a:ea typeface="Arial" panose="020B0604020202020204"/>
              <a:cs typeface="Arial" panose="020B0604020202020204"/>
            </a:endParaRPr>
          </a:p>
        </p:txBody>
      </p:sp>
    </p:spTree>
    <p:extLst>
      <p:ext uri="{BB962C8B-B14F-4D97-AF65-F5344CB8AC3E}">
        <p14:creationId xmlns:p14="http://schemas.microsoft.com/office/powerpoint/2010/main" val="109970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7480</TotalTime>
  <Words>2700</Words>
  <Application>Microsoft Office PowerPoint</Application>
  <PresentationFormat>宽屏</PresentationFormat>
  <Paragraphs>327</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vt:i4>
      </vt:variant>
    </vt:vector>
  </HeadingPairs>
  <TitlesOfParts>
    <vt:vector size="24"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233</cp:revision>
  <dcterms:created xsi:type="dcterms:W3CDTF">2023-01-31T08:37:00Z</dcterms:created>
  <dcterms:modified xsi:type="dcterms:W3CDTF">2025-07-15T09:12:30Z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2052-11.1.0.14309</vt:lpwstr>
  </property>
</Properties>
</file>