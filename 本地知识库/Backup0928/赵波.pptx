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220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680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318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9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97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942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059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329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75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74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7532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0754" y="364237"/>
            <a:ext cx="621026" cy="504018"/>
          </a:xfrm>
          <a:prstGeom prst="rect">
            <a:avLst/>
          </a:prstGeom>
          <a:solidFill>
            <a:srgbClr val="E60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059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4FF50-7362-4B4F-9AE4-5578F5E145A7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DFEED-0C76-4F89-A6D8-5AFDA147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120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107681" y="2179319"/>
            <a:ext cx="4241800" cy="4617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zh-CN"/>
            </a:defPPr>
            <a:lvl1pPr>
              <a:defRPr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b="1" dirty="0"/>
              <a:t>新品发布会</a:t>
            </a:r>
          </a:p>
          <a:p>
            <a:pPr>
              <a:lnSpc>
                <a:spcPct val="130000"/>
              </a:lnSpc>
            </a:pPr>
            <a:r>
              <a:rPr lang="zh-CN" altLang="en-US" sz="1200" dirty="0"/>
              <a:t>策划：产品经理定目标、做规划，联合多方评审方案。</a:t>
            </a:r>
          </a:p>
          <a:p>
            <a:pPr>
              <a:lnSpc>
                <a:spcPct val="130000"/>
              </a:lnSpc>
            </a:pPr>
            <a:r>
              <a:rPr lang="zh-CN" altLang="en-US" sz="1200" dirty="0"/>
              <a:t>执行：行业 </a:t>
            </a:r>
            <a:r>
              <a:rPr lang="en-US" altLang="zh-CN" sz="1200" dirty="0"/>
              <a:t>IMC </a:t>
            </a:r>
            <a:r>
              <a:rPr lang="zh-CN" altLang="en-US" sz="1200" dirty="0"/>
              <a:t>主导，展示讲解新品，收集客户反馈与信息。</a:t>
            </a:r>
          </a:p>
          <a:p>
            <a:pPr>
              <a:lnSpc>
                <a:spcPct val="130000"/>
              </a:lnSpc>
            </a:pPr>
            <a:r>
              <a:rPr lang="zh-CN" altLang="en-US" sz="1200"/>
              <a:t>总结：</a:t>
            </a:r>
            <a:r>
              <a:rPr lang="zh-CN" altLang="en-US" sz="1200" dirty="0"/>
              <a:t>相关人员总结活动情况，优化后续活动。</a:t>
            </a:r>
          </a:p>
          <a:p>
            <a:pPr>
              <a:lnSpc>
                <a:spcPct val="130000"/>
              </a:lnSpc>
            </a:pPr>
            <a:r>
              <a:rPr lang="zh-CN" altLang="en-US" sz="1200" b="1" dirty="0"/>
              <a:t>行业活动</a:t>
            </a:r>
          </a:p>
          <a:p>
            <a:pPr>
              <a:lnSpc>
                <a:spcPct val="130000"/>
              </a:lnSpc>
            </a:pPr>
            <a:r>
              <a:rPr lang="zh-CN" altLang="en-US" sz="1200" dirty="0"/>
              <a:t>策划：系统部营销负责人联合行业 </a:t>
            </a:r>
            <a:r>
              <a:rPr lang="en-US" altLang="zh-CN" sz="1200" dirty="0"/>
              <a:t>IMC</a:t>
            </a:r>
            <a:r>
              <a:rPr lang="zh-CN" altLang="en-US" sz="1200" dirty="0"/>
              <a:t>，确定主题议程，邀嘉宾，定宣传计划。</a:t>
            </a:r>
          </a:p>
          <a:p>
            <a:pPr>
              <a:lnSpc>
                <a:spcPct val="130000"/>
              </a:lnSpc>
            </a:pPr>
            <a:r>
              <a:rPr lang="zh-CN" altLang="en-US" sz="1200" dirty="0"/>
              <a:t>执行：行业</a:t>
            </a:r>
            <a:r>
              <a:rPr lang="en-US" altLang="zh-CN" sz="1200" dirty="0"/>
              <a:t>IMC </a:t>
            </a:r>
            <a:r>
              <a:rPr lang="zh-CN" altLang="en-US" sz="1200" dirty="0"/>
              <a:t>负责，推进流程，传递价值，收集客户互动信息。</a:t>
            </a:r>
          </a:p>
          <a:p>
            <a:pPr>
              <a:lnSpc>
                <a:spcPct val="130000"/>
              </a:lnSpc>
            </a:pPr>
            <a:r>
              <a:rPr lang="zh-CN" altLang="en-US" sz="1200" dirty="0"/>
              <a:t>总结：相关人员跟进客户需求，总结经验。</a:t>
            </a:r>
          </a:p>
          <a:p>
            <a:pPr>
              <a:lnSpc>
                <a:spcPct val="130000"/>
              </a:lnSpc>
            </a:pPr>
            <a:r>
              <a:rPr lang="zh-CN" altLang="en-US" sz="1200" b="1" dirty="0"/>
              <a:t>区域活动</a:t>
            </a:r>
          </a:p>
          <a:p>
            <a:pPr>
              <a:lnSpc>
                <a:spcPct val="130000"/>
              </a:lnSpc>
            </a:pPr>
            <a:r>
              <a:rPr lang="zh-CN" altLang="en-US" sz="1200" dirty="0"/>
              <a:t>策划：系统部细分市场负责人发起需求，组建团队，筹备物料并优化方案。</a:t>
            </a:r>
          </a:p>
          <a:p>
            <a:pPr>
              <a:lnSpc>
                <a:spcPct val="130000"/>
              </a:lnSpc>
            </a:pPr>
            <a:r>
              <a:rPr lang="zh-CN" altLang="en-US" sz="1200" dirty="0"/>
              <a:t>执行：行业 </a:t>
            </a:r>
            <a:r>
              <a:rPr lang="en-US" altLang="zh-CN" sz="1200" dirty="0"/>
              <a:t>IMC </a:t>
            </a:r>
            <a:r>
              <a:rPr lang="zh-CN" altLang="en-US" sz="1200" dirty="0"/>
              <a:t>发布，系统部与区域互锁，销售 </a:t>
            </a:r>
            <a:r>
              <a:rPr lang="en-US" altLang="zh-CN" sz="1200" dirty="0"/>
              <a:t>/ </a:t>
            </a:r>
            <a:r>
              <a:rPr lang="zh-CN" altLang="en-US" sz="1200" dirty="0"/>
              <a:t>售前等开展申报执行。</a:t>
            </a:r>
          </a:p>
          <a:p>
            <a:pPr>
              <a:lnSpc>
                <a:spcPct val="130000"/>
              </a:lnSpc>
            </a:pPr>
            <a:r>
              <a:rPr lang="zh-CN" altLang="en-US" sz="1200" dirty="0"/>
              <a:t>总结：区域活动执行负责人汇总数据，总结并改进活动。</a:t>
            </a:r>
          </a:p>
        </p:txBody>
      </p:sp>
      <p:sp>
        <p:nvSpPr>
          <p:cNvPr id="7" name="矩形 6"/>
          <p:cNvSpPr/>
          <p:nvPr/>
        </p:nvSpPr>
        <p:spPr>
          <a:xfrm>
            <a:off x="175830" y="1341120"/>
            <a:ext cx="2464889" cy="50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什么是 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品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’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5830" y="2133694"/>
            <a:ext cx="2464889" cy="427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精品活动是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以产品为主线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，经系统化、标准化策划与组织，能精准对接市场需求和品牌定位。</a:t>
            </a:r>
            <a:endParaRPr lang="en-US" altLang="zh-CN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54224" y="1341119"/>
            <a:ext cx="2464889" cy="50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品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’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的意义和价值</a:t>
            </a:r>
          </a:p>
        </p:txBody>
      </p:sp>
      <p:sp>
        <p:nvSpPr>
          <p:cNvPr id="10" name="矩形 9"/>
          <p:cNvSpPr/>
          <p:nvPr/>
        </p:nvSpPr>
        <p:spPr>
          <a:xfrm>
            <a:off x="2735234" y="2164079"/>
            <a:ext cx="2499963" cy="427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提升营销活动整体效率与效果，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确保活动充分契合市场需求和品牌定位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提升价值认可效率，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激发线索生成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，帮助挖掘更多线索，保障年度整合营销目标高质量达成。</a:t>
            </a:r>
            <a:endParaRPr lang="en-US" altLang="zh-CN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altLang="zh-CN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促进重大机会上升并达成增长目标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，推动业务可持续增长。</a:t>
            </a:r>
          </a:p>
        </p:txBody>
      </p:sp>
      <p:sp>
        <p:nvSpPr>
          <p:cNvPr id="11" name="矩形 10"/>
          <p:cNvSpPr/>
          <p:nvPr/>
        </p:nvSpPr>
        <p:spPr>
          <a:xfrm>
            <a:off x="5381001" y="1341120"/>
            <a:ext cx="2464889" cy="50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分级 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全国、行业、区域</a:t>
            </a:r>
          </a:p>
        </p:txBody>
      </p:sp>
      <p:sp>
        <p:nvSpPr>
          <p:cNvPr id="12" name="矩形 11"/>
          <p:cNvSpPr/>
          <p:nvPr/>
        </p:nvSpPr>
        <p:spPr>
          <a:xfrm>
            <a:off x="5348702" y="2164079"/>
            <a:ext cx="2536615" cy="4231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全国 （行业级）：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如全国性市场活动，聚焦全国范围行业层面，整合优质资源，打造具有广泛行业影响力的活动，为全国各区域行业市场提供示范和经验。</a:t>
            </a:r>
            <a:endParaRPr lang="en-US" altLang="zh-CN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区域级：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针对特定区域市场，结合区域特色与需求策划组织，推动区域市场业务拓展与品牌传播。</a:t>
            </a: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线上营销级：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借助线上平台开展整合营销，突破地域限制，触达更广泛受众，实现线上线索获取与品牌推广。</a:t>
            </a:r>
          </a:p>
        </p:txBody>
      </p:sp>
      <p:sp>
        <p:nvSpPr>
          <p:cNvPr id="13" name="矩形 12"/>
          <p:cNvSpPr/>
          <p:nvPr/>
        </p:nvSpPr>
        <p:spPr>
          <a:xfrm>
            <a:off x="8177629" y="1356360"/>
            <a:ext cx="3908046" cy="50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如何开展活动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88193" y="345280"/>
            <a:ext cx="7416710" cy="548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defPPr>
              <a:defRPr lang="zh-CN"/>
            </a:defPPr>
            <a:lvl1pPr>
              <a:spcBef>
                <a:spcPct val="0"/>
              </a:spcBef>
              <a:buNone/>
              <a:defRPr sz="3200" b="1">
                <a:solidFill>
                  <a:srgbClr val="E6003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defRPr/>
            </a:pPr>
            <a:r>
              <a:rPr lang="en-US" altLang="zh-CN" dirty="0" smtClean="0"/>
              <a:t>GTM</a:t>
            </a:r>
            <a:r>
              <a:rPr lang="zh-CN" altLang="en-US" dirty="0" smtClean="0"/>
              <a:t>落地核心抓手三：品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9567800" y="519269"/>
            <a:ext cx="2023357" cy="769950"/>
          </a:xfrm>
          <a:prstGeom prst="rect">
            <a:avLst/>
          </a:prstGeom>
          <a:solidFill>
            <a:srgbClr val="FFC000">
              <a:alpha val="100000"/>
            </a:srgbClr>
          </a:solidFill>
          <a:ln w="25400" cap="flat" cmpd="sng" algn="ctr">
            <a:solidFill>
              <a:srgbClr val="AEB5C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zh-CN" altLang="en-US">
                <a:solidFill>
                  <a:srgbClr val="000000"/>
                </a:solidFill>
              </a:rPr>
              <a:t>修改</a:t>
            </a:r>
          </a:p>
        </p:txBody>
      </p:sp>
      <p:sp>
        <p:nvSpPr>
          <p:cNvPr id="16" name="矩形 15"/>
          <p:cNvSpPr/>
          <p:nvPr/>
        </p:nvSpPr>
        <p:spPr>
          <a:xfrm>
            <a:off x="6313850" y="664034"/>
            <a:ext cx="2300117" cy="7897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分级</a:t>
            </a:r>
            <a:r>
              <a:rPr kumimoji="1" lang="zh-CN" altLang="en-US" dirty="0" smtClean="0"/>
              <a:t>分类的意义和价值</a:t>
            </a:r>
            <a:endParaRPr kumimoji="1"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9391117" y="619586"/>
            <a:ext cx="2300117" cy="7897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 smtClean="0"/>
              <a:t>分级分类怎么干，谁来干？</a:t>
            </a:r>
            <a:endParaRPr kumimoji="1"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739626" y="1931501"/>
            <a:ext cx="2300117" cy="118636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 smtClean="0"/>
              <a:t>总部：</a:t>
            </a:r>
            <a:r>
              <a:rPr kumimoji="1" lang="en-US" altLang="zh-CN" dirty="0" smtClean="0"/>
              <a:t>GTM</a:t>
            </a:r>
            <a:r>
              <a:rPr kumimoji="1" lang="zh-CN" altLang="en-US" dirty="0" smtClean="0"/>
              <a:t>经理干</a:t>
            </a:r>
            <a:endParaRPr kumimoji="1" lang="en-US" altLang="zh-CN" dirty="0" smtClean="0"/>
          </a:p>
          <a:p>
            <a:pPr algn="ctr"/>
            <a:r>
              <a:rPr kumimoji="1" lang="zh-CN" altLang="en-US" dirty="0" smtClean="0"/>
              <a:t>总部新品发布会：</a:t>
            </a:r>
            <a:endParaRPr kumimoji="1" lang="en-US" altLang="zh-CN" dirty="0" smtClean="0"/>
          </a:p>
          <a:p>
            <a:pPr algn="ctr"/>
            <a:r>
              <a:rPr kumimoji="1" lang="zh-CN" altLang="en-US" dirty="0" smtClean="0"/>
              <a:t>总部的线上直播、总部整合营销传播</a:t>
            </a:r>
            <a:endParaRPr kumimoji="1" lang="en-US" altLang="zh-CN" dirty="0" smtClean="0"/>
          </a:p>
        </p:txBody>
      </p:sp>
      <p:sp>
        <p:nvSpPr>
          <p:cNvPr id="19" name="矩形 18"/>
          <p:cNvSpPr/>
          <p:nvPr/>
        </p:nvSpPr>
        <p:spPr>
          <a:xfrm>
            <a:off x="11591157" y="3724816"/>
            <a:ext cx="2653163" cy="118636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行业</a:t>
            </a:r>
            <a:r>
              <a:rPr kumimoji="1" lang="zh-CN" altLang="en-US" dirty="0" smtClean="0"/>
              <a:t>：行业</a:t>
            </a:r>
            <a:r>
              <a:rPr kumimoji="1" lang="en-US" altLang="zh-CN" dirty="0" smtClean="0"/>
              <a:t>GTM</a:t>
            </a:r>
            <a:r>
              <a:rPr kumimoji="1" lang="zh-CN" altLang="en-US" dirty="0" smtClean="0"/>
              <a:t>经理干</a:t>
            </a:r>
            <a:endParaRPr kumimoji="1" lang="en-US" altLang="zh-CN" dirty="0" smtClean="0"/>
          </a:p>
          <a:p>
            <a:pPr algn="ctr"/>
            <a:r>
              <a:rPr kumimoji="1" lang="zh-CN" altLang="en-US" dirty="0" smtClean="0"/>
              <a:t>行业总部活动：</a:t>
            </a:r>
            <a:endParaRPr kumimoji="1" lang="en-US" altLang="zh-CN" dirty="0" smtClean="0"/>
          </a:p>
          <a:p>
            <a:pPr algn="ctr"/>
            <a:r>
              <a:rPr kumimoji="1" lang="zh-CN" altLang="en-US" dirty="0" smtClean="0"/>
              <a:t>行业</a:t>
            </a:r>
            <a:r>
              <a:rPr kumimoji="1" lang="en-US" altLang="zh-CN" dirty="0" smtClean="0"/>
              <a:t>+</a:t>
            </a:r>
            <a:r>
              <a:rPr kumimoji="1" lang="zh-CN" altLang="en-US" dirty="0" smtClean="0"/>
              <a:t>区域模板活动</a:t>
            </a:r>
            <a:endParaRPr kumimoji="1" lang="en-US" altLang="zh-CN" dirty="0" smtClean="0"/>
          </a:p>
        </p:txBody>
      </p:sp>
      <p:sp>
        <p:nvSpPr>
          <p:cNvPr id="20" name="矩形 19"/>
          <p:cNvSpPr/>
          <p:nvPr/>
        </p:nvSpPr>
        <p:spPr>
          <a:xfrm>
            <a:off x="11691234" y="5411376"/>
            <a:ext cx="2653163" cy="118636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区域</a:t>
            </a:r>
            <a:r>
              <a:rPr kumimoji="1" lang="zh-CN" altLang="en-US" dirty="0" smtClean="0"/>
              <a:t>：区域</a:t>
            </a:r>
            <a:r>
              <a:rPr kumimoji="1" lang="en-US" altLang="zh-CN" dirty="0" smtClean="0"/>
              <a:t>GTM</a:t>
            </a:r>
            <a:r>
              <a:rPr kumimoji="1" lang="zh-CN" altLang="en-US" dirty="0" smtClean="0"/>
              <a:t>经理干</a:t>
            </a:r>
            <a:endParaRPr kumimoji="1" lang="en-US" altLang="zh-CN" dirty="0" smtClean="0"/>
          </a:p>
          <a:p>
            <a:pPr algn="ctr"/>
            <a:r>
              <a:rPr kumimoji="1" lang="zh-CN" altLang="en-US" dirty="0" smtClean="0"/>
              <a:t>区域模板活动：</a:t>
            </a:r>
            <a:endParaRPr kumimoji="1" lang="en-US" altLang="zh-CN" dirty="0" smtClean="0"/>
          </a:p>
          <a:p>
            <a:pPr algn="ctr"/>
            <a:r>
              <a:rPr kumimoji="1" lang="zh-CN" altLang="en-US" dirty="0" smtClean="0"/>
              <a:t>区域技术沙龙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331328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</Words>
  <Application>Microsoft Office PowerPoint</Application>
  <PresentationFormat>宽屏</PresentationFormat>
  <Paragraphs>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ruijie</dc:creator>
  <cp:lastModifiedBy>ruijie</cp:lastModifiedBy>
  <cp:revision>1</cp:revision>
  <dcterms:created xsi:type="dcterms:W3CDTF">2025-09-23T02:00:18Z</dcterms:created>
  <dcterms:modified xsi:type="dcterms:W3CDTF">2025-09-23T02:00:24Z</dcterms:modified>
</cp:coreProperties>
</file>