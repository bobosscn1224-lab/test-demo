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5" r:id="rId3"/>
  </p:sldMasterIdLst>
  <p:notesMasterIdLst>
    <p:notesMasterId r:id="rId16"/>
  </p:notesMasterIdLst>
  <p:sldIdLst>
    <p:sldId id="256" r:id="rId4"/>
    <p:sldId id="259" r:id="rId5"/>
    <p:sldId id="267" r:id="rId6"/>
    <p:sldId id="282" r:id="rId7"/>
    <p:sldId id="305" r:id="rId8"/>
    <p:sldId id="296" r:id="rId9"/>
    <p:sldId id="297" r:id="rId10"/>
    <p:sldId id="271" r:id="rId11"/>
    <p:sldId id="298" r:id="rId12"/>
    <p:sldId id="299" r:id="rId13"/>
    <p:sldId id="300" r:id="rId14"/>
    <p:sldId id="301" r:id="rId15"/>
    <p:sldId id="303" r:id="rId17"/>
    <p:sldId id="304" r:id="rId18"/>
    <p:sldId id="302" r:id="rId19"/>
    <p:sldId id="266" r:id="rId20"/>
  </p:sldIdLst>
  <p:sldSz cx="12192000" cy="6858000"/>
  <p:notesSz cx="6858000" cy="9144000"/>
  <p:custDataLst>
    <p:tags r:id="rId2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R02753" initials="R" lastIdx="1" clrIdx="0"/>
  <p:cmAuthor id="7" name="wanghaizhen" initials="w" lastIdx="2" clrIdx="6"/>
  <p:cmAuthor id="1" name="HE JC" initials="HJ" lastIdx="1" clrIdx="0"/>
  <p:cmAuthor id="2" name="作者" initials="A" lastIdx="0" clrIdx="1"/>
  <p:cmAuthor id="3" name="米 羽" initials="米" lastIdx="1" clrIdx="2"/>
  <p:cmAuthor id="4" name="孙 喜桐" initials="孙" lastIdx="1" clrIdx="3"/>
  <p:cmAuthor id="5" name="R11988" initials="R" lastIdx="1" clrIdx="4"/>
  <p:cmAuthor id="6" name="Loda" initials="L" lastIdx="1" clrIdx="5"/>
  <p:cmAuthor id="76" name="dell" initials="d" lastIdx="2" clrIdx="2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3BB"/>
    <a:srgbClr val="FF9700"/>
    <a:srgbClr val="0070C0"/>
    <a:srgbClr val="3979C1"/>
    <a:srgbClr val="4F98EB"/>
    <a:srgbClr val="D0E4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92" autoAdjust="0"/>
    <p:restoredTop sz="90196" autoAdjust="0"/>
  </p:normalViewPr>
  <p:slideViewPr>
    <p:cSldViewPr snapToGrid="0">
      <p:cViewPr varScale="1">
        <p:scale>
          <a:sx n="88" d="100"/>
          <a:sy n="88" d="100"/>
        </p:scale>
        <p:origin x="418" y="38"/>
      </p:cViewPr>
      <p:guideLst/>
    </p:cSldViewPr>
  </p:slideViewPr>
  <p:notesTextViewPr>
    <p:cViewPr>
      <p:scale>
        <a:sx n="1" d="1"/>
        <a:sy n="1" d="1"/>
      </p:scale>
      <p:origin x="0" y="0"/>
    </p:cViewPr>
  </p:notesTextViewPr>
  <p:sorterViewPr>
    <p:cViewPr>
      <p:scale>
        <a:sx n="130" d="100"/>
        <a:sy n="13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5" Type="http://schemas.openxmlformats.org/officeDocument/2006/relationships/tags" Target="tags/tag14.xml"/><Relationship Id="rId24" Type="http://schemas.openxmlformats.org/officeDocument/2006/relationships/commentAuthors" Target="commentAuthors.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notesMaster" Target="notesMasters/notesMaster1.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050FCB-07F6-4B22-B162-6C5FE8368D04}"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E951AD-B4A1-46FE-A52F-08C91A0806C2}"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9" Type="http://schemas.openxmlformats.org/officeDocument/2006/relationships/tags" Target="../tags/tag6.xml"/><Relationship Id="rId8" Type="http://schemas.openxmlformats.org/officeDocument/2006/relationships/tags" Target="../tags/tag5.xml"/><Relationship Id="rId7" Type="http://schemas.openxmlformats.org/officeDocument/2006/relationships/tags" Target="../tags/tag4.xml"/><Relationship Id="rId6" Type="http://schemas.openxmlformats.org/officeDocument/2006/relationships/tags" Target="../tags/tag3.xml"/><Relationship Id="rId5" Type="http://schemas.openxmlformats.org/officeDocument/2006/relationships/image" Target="../media/image2.png"/><Relationship Id="rId4" Type="http://schemas.openxmlformats.org/officeDocument/2006/relationships/tags" Target="../tags/tag2.xml"/><Relationship Id="rId3" Type="http://schemas.openxmlformats.org/officeDocument/2006/relationships/image" Target="../media/image1.jpeg"/><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4" Type="http://schemas.openxmlformats.org/officeDocument/2006/relationships/image" Target="../media/image4.png"/><Relationship Id="rId3" Type="http://schemas.openxmlformats.org/officeDocument/2006/relationships/hyperlink" Target="http://www.ruijie.com.cn/" TargetMode="External"/><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7" Type="http://schemas.openxmlformats.org/officeDocument/2006/relationships/tags" Target="../tags/tag11.xml"/><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image" Target="../media/image2.png"/><Relationship Id="rId2" Type="http://schemas.openxmlformats.org/officeDocument/2006/relationships/tags" Target="../tags/tag7.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内容页">
    <p:spTree>
      <p:nvGrpSpPr>
        <p:cNvPr id="1" name=""/>
        <p:cNvGrpSpPr/>
        <p:nvPr/>
      </p:nvGrpSpPr>
      <p:grpSpPr>
        <a:xfrm>
          <a:off x="0" y="0"/>
          <a:ext cx="0" cy="0"/>
          <a:chOff x="0" y="0"/>
          <a:chExt cx="0" cy="0"/>
        </a:xfrm>
      </p:grpSpPr>
      <p:pic>
        <p:nvPicPr>
          <p:cNvPr id="13" name="图片 12" descr="蓝色的天空&#10;&#10;描述已自动生成"/>
          <p:cNvPicPr>
            <a:picLocks noChangeAspect="1"/>
          </p:cNvPicPr>
          <p:nvPr userDrawn="1">
            <p:custDataLst>
              <p:tags r:id="rId2"/>
            </p:custDataLst>
          </p:nvPr>
        </p:nvPicPr>
        <p:blipFill>
          <a:blip r:embed="rId3" cstate="screen">
            <a:alphaModFix amt="35000"/>
          </a:blip>
          <a:stretch>
            <a:fillRect/>
          </a:stretch>
        </p:blipFill>
        <p:spPr>
          <a:xfrm>
            <a:off x="438" y="0"/>
            <a:ext cx="12191562" cy="6858000"/>
          </a:xfrm>
          <a:prstGeom prst="rect">
            <a:avLst/>
          </a:prstGeom>
        </p:spPr>
      </p:pic>
      <p:pic>
        <p:nvPicPr>
          <p:cNvPr id="7" name="图片 6"/>
          <p:cNvPicPr>
            <a:picLocks noChangeAspect="1"/>
          </p:cNvPicPr>
          <p:nvPr userDrawn="1">
            <p:custDataLst>
              <p:tags r:id="rId4"/>
            </p:custDataLst>
          </p:nvPr>
        </p:nvPicPr>
        <p:blipFill>
          <a:blip r:embed="rId5" cstate="screen"/>
          <a:stretch>
            <a:fillRect/>
          </a:stretch>
        </p:blipFill>
        <p:spPr>
          <a:xfrm>
            <a:off x="10144927" y="351797"/>
            <a:ext cx="1492890" cy="253694"/>
          </a:xfrm>
          <a:prstGeom prst="rect">
            <a:avLst/>
          </a:prstGeom>
        </p:spPr>
      </p:pic>
      <p:sp>
        <p:nvSpPr>
          <p:cNvPr id="10" name="矩形 9"/>
          <p:cNvSpPr/>
          <p:nvPr userDrawn="1">
            <p:custDataLst>
              <p:tags r:id="rId6"/>
            </p:custDataLst>
          </p:nvPr>
        </p:nvSpPr>
        <p:spPr>
          <a:xfrm>
            <a:off x="554182" y="763832"/>
            <a:ext cx="11083635" cy="28388"/>
          </a:xfrm>
          <a:prstGeom prst="rect">
            <a:avLst/>
          </a:prstGeom>
          <a:gradFill>
            <a:gsLst>
              <a:gs pos="0">
                <a:srgbClr val="4F98EB"/>
              </a:gs>
              <a:gs pos="100000">
                <a:srgbClr val="4F98EB">
                  <a:alpha val="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灯片编号占位符 1"/>
          <p:cNvSpPr txBox="1"/>
          <p:nvPr userDrawn="1">
            <p:custDataLst>
              <p:tags r:id="rId7"/>
            </p:custDataLst>
          </p:nvPr>
        </p:nvSpPr>
        <p:spPr>
          <a:xfrm>
            <a:off x="331770" y="6356350"/>
            <a:ext cx="517113" cy="365125"/>
          </a:xfrm>
          <a:prstGeom prst="rect">
            <a:avLst/>
          </a:prstGeom>
        </p:spPr>
        <p:txBody>
          <a:bodyPr vert="horz" lIns="91440" tIns="45720" rIns="91440" bIns="45720" rtlCol="0" anchor="ctr"/>
          <a:lstStyle>
            <a:defPPr>
              <a:defRPr lang="zh-CN"/>
            </a:defPPr>
            <a:lvl1pPr marL="0" algn="r" defTabSz="914400" rtl="0" eaLnBrk="1" latinLnBrk="0" hangingPunct="1">
              <a:defRPr sz="1050" b="0" i="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A4EADD4-75EE-B446-88DA-ECFA910E472F}" type="slidenum">
              <a:rPr kumimoji="1" lang="zh-CN" altLang="en-US" smtClean="0"/>
            </a:fld>
            <a:endParaRPr kumimoji="1" lang="zh-CN" altLang="en-US" dirty="0"/>
          </a:p>
        </p:txBody>
      </p:sp>
      <p:sp>
        <p:nvSpPr>
          <p:cNvPr id="14" name="灯片编号占位符 1"/>
          <p:cNvSpPr txBox="1"/>
          <p:nvPr userDrawn="1">
            <p:custDataLst>
              <p:tags r:id="rId8"/>
            </p:custDataLst>
          </p:nvPr>
        </p:nvSpPr>
        <p:spPr>
          <a:xfrm>
            <a:off x="724661" y="6356350"/>
            <a:ext cx="2350470" cy="365125"/>
          </a:xfrm>
          <a:prstGeom prst="rect">
            <a:avLst/>
          </a:prstGeom>
        </p:spPr>
        <p:txBody>
          <a:bodyPr vert="horz" lIns="91440" tIns="45720" rIns="91440" bIns="45720" rtlCol="0" anchor="ctr"/>
          <a:lstStyle>
            <a:defPPr>
              <a:defRPr lang="zh-CN"/>
            </a:defPPr>
            <a:lvl1pPr marL="0" algn="r" defTabSz="914400" rtl="0" eaLnBrk="1" latinLnBrk="0" hangingPunct="1">
              <a:defRPr sz="1050" b="0" i="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zh-CN" altLang="en-US" dirty="0"/>
              <a:t>｜ </a:t>
            </a:r>
            <a:r>
              <a:rPr kumimoji="1" lang="en-US" altLang="zh-CN" dirty="0" err="1"/>
              <a:t>www.ruijie.com.cn</a:t>
            </a:r>
            <a:endParaRPr kumimoji="1" lang="zh-CN" altLang="en-US" dirty="0"/>
          </a:p>
        </p:txBody>
      </p:sp>
      <p:sp>
        <p:nvSpPr>
          <p:cNvPr id="15" name="文本占位符 17"/>
          <p:cNvSpPr>
            <a:spLocks noGrp="1"/>
          </p:cNvSpPr>
          <p:nvPr>
            <p:ph type="body" sz="quarter" idx="13" hasCustomPrompt="1"/>
            <p:custDataLst>
              <p:tags r:id="rId9"/>
            </p:custDataLst>
          </p:nvPr>
        </p:nvSpPr>
        <p:spPr>
          <a:xfrm>
            <a:off x="573405" y="274320"/>
            <a:ext cx="4513580" cy="495935"/>
          </a:xfrm>
          <a:prstGeom prst="rect">
            <a:avLst/>
          </a:prstGeom>
        </p:spPr>
        <p:txBody>
          <a:bodyPr>
            <a:noAutofit/>
          </a:bodyPr>
          <a:lstStyle>
            <a:lvl1pPr marL="0" indent="0" algn="l" defTabSz="914400" rtl="0" eaLnBrk="1" latinLnBrk="0" hangingPunct="1">
              <a:buNone/>
              <a:defRPr kumimoji="1" lang="zh-CN" altLang="en-US" sz="2200" b="1" kern="1200" dirty="0" smtClean="0">
                <a:solidFill>
                  <a:schemeClr val="tx1">
                    <a:lumMod val="50000"/>
                    <a:lumOff val="50000"/>
                  </a:schemeClr>
                </a:solidFill>
                <a:latin typeface="微软雅黑" panose="020B0503020204020204" pitchFamily="34" charset="-122"/>
                <a:ea typeface="微软雅黑" panose="020B0503020204020204" pitchFamily="34" charset="-122"/>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kumimoji="1" lang="zh-CN" altLang="en-US" dirty="0"/>
              <a:t>单击此处编辑页眉章节标题</a:t>
            </a:r>
            <a:endParaRPr kumimoji="1"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pic>
        <p:nvPicPr>
          <p:cNvPr id="7" name="图片 6" descr="图片包含 游戏机&#10;&#10;描述已自动生成"/>
          <p:cNvPicPr>
            <a:picLocks noChangeAspect="1"/>
          </p:cNvPicPr>
          <p:nvPr userDrawn="1"/>
        </p:nvPicPr>
        <p:blipFill>
          <a:blip r:embed="rId2" cstate="screen"/>
          <a:stretch>
            <a:fillRect/>
          </a:stretch>
        </p:blipFill>
        <p:spPr>
          <a:xfrm>
            <a:off x="439" y="0"/>
            <a:ext cx="12191124" cy="6858000"/>
          </a:xfrm>
          <a:prstGeom prst="rect">
            <a:avLst/>
          </a:prstGeom>
        </p:spPr>
      </p:pic>
      <p:pic>
        <p:nvPicPr>
          <p:cNvPr id="10" name="图片 9" descr="徽标&#10;&#10;描述已自动生成"/>
          <p:cNvPicPr>
            <a:picLocks noChangeAspect="1"/>
          </p:cNvPicPr>
          <p:nvPr userDrawn="1"/>
        </p:nvPicPr>
        <p:blipFill>
          <a:blip r:embed="rId3" cstate="screen"/>
          <a:stretch>
            <a:fillRect/>
          </a:stretch>
        </p:blipFill>
        <p:spPr>
          <a:xfrm>
            <a:off x="592015" y="503702"/>
            <a:ext cx="2085672" cy="354428"/>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篇章页">
    <p:spTree>
      <p:nvGrpSpPr>
        <p:cNvPr id="1" name=""/>
        <p:cNvGrpSpPr/>
        <p:nvPr/>
      </p:nvGrpSpPr>
      <p:grpSpPr>
        <a:xfrm>
          <a:off x="0" y="0"/>
          <a:ext cx="0" cy="0"/>
          <a:chOff x="0" y="0"/>
          <a:chExt cx="0" cy="0"/>
        </a:xfrm>
      </p:grpSpPr>
      <p:pic>
        <p:nvPicPr>
          <p:cNvPr id="7" name="图片 6" descr="背景图案&#10;&#10;描述已自动生成"/>
          <p:cNvPicPr>
            <a:picLocks noChangeAspect="1"/>
          </p:cNvPicPr>
          <p:nvPr userDrawn="1"/>
        </p:nvPicPr>
        <p:blipFill>
          <a:blip r:embed="rId2" cstate="screen"/>
          <a:stretch>
            <a:fillRect/>
          </a:stretch>
        </p:blipFill>
        <p:spPr>
          <a:xfrm>
            <a:off x="438" y="0"/>
            <a:ext cx="12191561" cy="6858246"/>
          </a:xfrm>
          <a:prstGeom prst="rect">
            <a:avLst/>
          </a:prstGeom>
        </p:spPr>
      </p:pic>
      <p:pic>
        <p:nvPicPr>
          <p:cNvPr id="8" name="图片 7" descr="徽标&#10;&#10;描述已自动生成"/>
          <p:cNvPicPr>
            <a:picLocks noChangeAspect="1"/>
          </p:cNvPicPr>
          <p:nvPr userDrawn="1"/>
        </p:nvPicPr>
        <p:blipFill>
          <a:blip r:embed="rId3" cstate="screen"/>
          <a:stretch>
            <a:fillRect/>
          </a:stretch>
        </p:blipFill>
        <p:spPr>
          <a:xfrm>
            <a:off x="592015" y="503702"/>
            <a:ext cx="2085672" cy="354428"/>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封底">
    <p:spTree>
      <p:nvGrpSpPr>
        <p:cNvPr id="1" name=""/>
        <p:cNvGrpSpPr/>
        <p:nvPr/>
      </p:nvGrpSpPr>
      <p:grpSpPr>
        <a:xfrm>
          <a:off x="0" y="0"/>
          <a:ext cx="0" cy="0"/>
          <a:chOff x="0" y="0"/>
          <a:chExt cx="0" cy="0"/>
        </a:xfrm>
      </p:grpSpPr>
      <p:pic>
        <p:nvPicPr>
          <p:cNvPr id="10" name="图片 9" descr="背景图案&#10;&#10;描述已自动生成"/>
          <p:cNvPicPr>
            <a:picLocks noChangeAspect="1"/>
          </p:cNvPicPr>
          <p:nvPr userDrawn="1"/>
        </p:nvPicPr>
        <p:blipFill>
          <a:blip r:embed="rId2" cstate="screen"/>
          <a:stretch>
            <a:fillRect/>
          </a:stretch>
        </p:blipFill>
        <p:spPr>
          <a:xfrm>
            <a:off x="438" y="0"/>
            <a:ext cx="12191561" cy="6858000"/>
          </a:xfrm>
          <a:prstGeom prst="rect">
            <a:avLst/>
          </a:prstGeom>
        </p:spPr>
      </p:pic>
      <p:sp>
        <p:nvSpPr>
          <p:cNvPr id="11" name="TextBox 6"/>
          <p:cNvSpPr>
            <a:spLocks noChangeArrowheads="1"/>
          </p:cNvSpPr>
          <p:nvPr userDrawn="1"/>
        </p:nvSpPr>
        <p:spPr bwMode="auto">
          <a:xfrm>
            <a:off x="573759" y="1771142"/>
            <a:ext cx="4048125"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90204" pitchFamily="34" charset="0"/>
              <a:buChar char="•"/>
              <a:defRPr sz="3200">
                <a:solidFill>
                  <a:schemeClr val="tx1"/>
                </a:solidFill>
                <a:latin typeface="Calibri" panose="020F0502020204030204" charset="0"/>
                <a:ea typeface="宋体" pitchFamily="2" charset="-122"/>
              </a:defRPr>
            </a:lvl1pPr>
            <a:lvl2pPr marL="742950" indent="-285750">
              <a:spcBef>
                <a:spcPct val="20000"/>
              </a:spcBef>
              <a:buFont typeface="Arial" panose="020B0604020202090204" pitchFamily="34" charset="0"/>
              <a:buChar char="–"/>
              <a:defRPr sz="2800">
                <a:solidFill>
                  <a:schemeClr val="tx1"/>
                </a:solidFill>
                <a:latin typeface="Calibri" panose="020F0502020204030204" charset="0"/>
                <a:ea typeface="宋体" pitchFamily="2" charset="-122"/>
              </a:defRPr>
            </a:lvl2pPr>
            <a:lvl3pPr marL="1143000" indent="-228600">
              <a:spcBef>
                <a:spcPct val="20000"/>
              </a:spcBef>
              <a:buFont typeface="Arial" panose="020B0604020202090204" pitchFamily="34" charset="0"/>
              <a:buChar char="•"/>
              <a:defRPr sz="2400">
                <a:solidFill>
                  <a:schemeClr val="tx1"/>
                </a:solidFill>
                <a:latin typeface="Calibri" panose="020F0502020204030204" charset="0"/>
                <a:ea typeface="宋体" pitchFamily="2" charset="-122"/>
              </a:defRPr>
            </a:lvl3pPr>
            <a:lvl4pPr marL="1600200" indent="-228600">
              <a:spcBef>
                <a:spcPct val="20000"/>
              </a:spcBef>
              <a:buFont typeface="Arial" panose="020B0604020202090204" pitchFamily="34" charset="0"/>
              <a:buChar char="–"/>
              <a:defRPr sz="2000">
                <a:solidFill>
                  <a:schemeClr val="tx1"/>
                </a:solidFill>
                <a:latin typeface="Calibri" panose="020F0502020204030204" charset="0"/>
                <a:ea typeface="宋体" pitchFamily="2" charset="-122"/>
              </a:defRPr>
            </a:lvl4pPr>
            <a:lvl5pPr marL="2057400" indent="-228600">
              <a:spcBef>
                <a:spcPct val="20000"/>
              </a:spcBef>
              <a:buFont typeface="Arial" panose="020B0604020202090204" pitchFamily="34" charset="0"/>
              <a:buChar char="»"/>
              <a:defRPr sz="2000">
                <a:solidFill>
                  <a:schemeClr val="tx1"/>
                </a:solidFill>
                <a:latin typeface="Calibri" panose="020F0502020204030204" charset="0"/>
                <a:ea typeface="宋体" pitchFamily="2" charset="-122"/>
              </a:defRPr>
            </a:lvl5pPr>
            <a:lvl6pPr marL="2514600" indent="-228600" defTabSz="4572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charset="0"/>
                <a:ea typeface="宋体" pitchFamily="2" charset="-122"/>
              </a:defRPr>
            </a:lvl6pPr>
            <a:lvl7pPr marL="2971800" indent="-228600" defTabSz="4572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charset="0"/>
                <a:ea typeface="宋体" pitchFamily="2" charset="-122"/>
              </a:defRPr>
            </a:lvl7pPr>
            <a:lvl8pPr marL="3429000" indent="-228600" defTabSz="4572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charset="0"/>
                <a:ea typeface="宋体" pitchFamily="2" charset="-122"/>
              </a:defRPr>
            </a:lvl8pPr>
            <a:lvl9pPr marL="3886200" indent="-228600" defTabSz="4572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charset="0"/>
                <a:ea typeface="宋体" pitchFamily="2" charset="-122"/>
              </a:defRPr>
            </a:lvl9pPr>
          </a:lstStyle>
          <a:p>
            <a:pPr eaLnBrk="1" hangingPunct="1">
              <a:spcBef>
                <a:spcPct val="0"/>
              </a:spcBef>
              <a:buFont typeface="Arial" panose="020B0604020202090204" pitchFamily="34" charset="0"/>
              <a:buNone/>
            </a:pPr>
            <a:r>
              <a:rPr lang="en-US" altLang="zh-CN" sz="4400" b="1" dirty="0">
                <a:solidFill>
                  <a:schemeClr val="bg1">
                    <a:lumMod val="50000"/>
                  </a:schemeClr>
                </a:solidFill>
                <a:latin typeface="Arial" panose="020B0604020202090204" pitchFamily="34" charset="0"/>
                <a:ea typeface="Arial" panose="020B0604020202090204" pitchFamily="34" charset="0"/>
                <a:cs typeface="Arial" panose="020B0604020202090204" pitchFamily="34" charset="0"/>
                <a:sym typeface="微软雅黑" panose="020B0503020204020204" pitchFamily="34" charset="-122"/>
              </a:rPr>
              <a:t>THANKS.</a:t>
            </a:r>
            <a:endParaRPr lang="en-US" altLang="zh-CN" sz="4400" b="1" dirty="0">
              <a:solidFill>
                <a:schemeClr val="bg1">
                  <a:lumMod val="50000"/>
                </a:schemeClr>
              </a:solidFill>
              <a:latin typeface="Arial" panose="020B0604020202090204" pitchFamily="34" charset="0"/>
              <a:ea typeface="Arial" panose="020B0604020202090204" pitchFamily="34" charset="0"/>
              <a:cs typeface="Arial" panose="020B0604020202090204" pitchFamily="34" charset="0"/>
              <a:sym typeface="微软雅黑" panose="020B0503020204020204" pitchFamily="34" charset="-122"/>
            </a:endParaRPr>
          </a:p>
        </p:txBody>
      </p:sp>
      <p:sp>
        <p:nvSpPr>
          <p:cNvPr id="12" name="TextBox 7"/>
          <p:cNvSpPr>
            <a:spLocks noChangeArrowheads="1"/>
          </p:cNvSpPr>
          <p:nvPr userDrawn="1"/>
        </p:nvSpPr>
        <p:spPr bwMode="auto">
          <a:xfrm>
            <a:off x="573758" y="2502536"/>
            <a:ext cx="5323894" cy="84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90204" pitchFamily="34" charset="0"/>
              <a:buChar char="•"/>
              <a:defRPr sz="3200">
                <a:solidFill>
                  <a:schemeClr val="tx1"/>
                </a:solidFill>
                <a:latin typeface="Calibri" panose="020F0502020204030204" charset="0"/>
                <a:ea typeface="宋体" pitchFamily="2" charset="-122"/>
              </a:defRPr>
            </a:lvl1pPr>
            <a:lvl2pPr marL="742950" indent="-285750">
              <a:spcBef>
                <a:spcPct val="20000"/>
              </a:spcBef>
              <a:buFont typeface="Arial" panose="020B0604020202090204" pitchFamily="34" charset="0"/>
              <a:buChar char="–"/>
              <a:defRPr sz="2800">
                <a:solidFill>
                  <a:schemeClr val="tx1"/>
                </a:solidFill>
                <a:latin typeface="Calibri" panose="020F0502020204030204" charset="0"/>
                <a:ea typeface="宋体" pitchFamily="2" charset="-122"/>
              </a:defRPr>
            </a:lvl2pPr>
            <a:lvl3pPr marL="1143000" indent="-228600">
              <a:spcBef>
                <a:spcPct val="20000"/>
              </a:spcBef>
              <a:buFont typeface="Arial" panose="020B0604020202090204" pitchFamily="34" charset="0"/>
              <a:buChar char="•"/>
              <a:defRPr sz="2400">
                <a:solidFill>
                  <a:schemeClr val="tx1"/>
                </a:solidFill>
                <a:latin typeface="Calibri" panose="020F0502020204030204" charset="0"/>
                <a:ea typeface="宋体" pitchFamily="2" charset="-122"/>
              </a:defRPr>
            </a:lvl3pPr>
            <a:lvl4pPr marL="1600200" indent="-228600">
              <a:spcBef>
                <a:spcPct val="20000"/>
              </a:spcBef>
              <a:buFont typeface="Arial" panose="020B0604020202090204" pitchFamily="34" charset="0"/>
              <a:buChar char="–"/>
              <a:defRPr sz="2000">
                <a:solidFill>
                  <a:schemeClr val="tx1"/>
                </a:solidFill>
                <a:latin typeface="Calibri" panose="020F0502020204030204" charset="0"/>
                <a:ea typeface="宋体" pitchFamily="2" charset="-122"/>
              </a:defRPr>
            </a:lvl4pPr>
            <a:lvl5pPr marL="2057400" indent="-228600">
              <a:spcBef>
                <a:spcPct val="20000"/>
              </a:spcBef>
              <a:buFont typeface="Arial" panose="020B0604020202090204" pitchFamily="34" charset="0"/>
              <a:buChar char="»"/>
              <a:defRPr sz="2000">
                <a:solidFill>
                  <a:schemeClr val="tx1"/>
                </a:solidFill>
                <a:latin typeface="Calibri" panose="020F0502020204030204" charset="0"/>
                <a:ea typeface="宋体" pitchFamily="2" charset="-122"/>
              </a:defRPr>
            </a:lvl5pPr>
            <a:lvl6pPr marL="2514600" indent="-228600" defTabSz="4572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charset="0"/>
                <a:ea typeface="宋体" pitchFamily="2" charset="-122"/>
              </a:defRPr>
            </a:lvl6pPr>
            <a:lvl7pPr marL="2971800" indent="-228600" defTabSz="4572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charset="0"/>
                <a:ea typeface="宋体" pitchFamily="2" charset="-122"/>
              </a:defRPr>
            </a:lvl7pPr>
            <a:lvl8pPr marL="3429000" indent="-228600" defTabSz="4572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charset="0"/>
                <a:ea typeface="宋体" pitchFamily="2" charset="-122"/>
              </a:defRPr>
            </a:lvl8pPr>
            <a:lvl9pPr marL="3886200" indent="-228600" defTabSz="4572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charset="0"/>
                <a:ea typeface="宋体" pitchFamily="2" charset="-122"/>
              </a:defRPr>
            </a:lvl9pPr>
          </a:lstStyle>
          <a:p>
            <a:pPr eaLnBrk="1" hangingPunct="1">
              <a:lnSpc>
                <a:spcPct val="150000"/>
              </a:lnSpc>
              <a:spcBef>
                <a:spcPct val="0"/>
              </a:spcBef>
              <a:buFont typeface="Arial" panose="020B0604020202090204" pitchFamily="34" charset="0"/>
              <a:buNone/>
            </a:pPr>
            <a:r>
              <a:rPr lang="zh-CN" altLang="en-US" sz="1400" b="1"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锐捷网络股份有限公司</a:t>
            </a:r>
            <a:endParaRPr lang="zh-CN" altLang="en-US" sz="1400" b="1"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eaLnBrk="1" hangingPunct="1">
              <a:lnSpc>
                <a:spcPct val="150000"/>
              </a:lnSpc>
              <a:spcBef>
                <a:spcPct val="0"/>
              </a:spcBef>
              <a:buFont typeface="Arial" panose="020B0604020202090204" pitchFamily="34" charset="0"/>
              <a:buNone/>
            </a:pPr>
            <a:r>
              <a:rPr lang="en-US" altLang="en-US" sz="105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欲了解更多信息，欢迎登</a:t>
            </a:r>
            <a:r>
              <a:rPr lang="zh-CN" altLang="en-US" sz="105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录</a:t>
            </a:r>
            <a:r>
              <a:rPr lang="en-US" altLang="zh-CN" sz="105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hlinkClick r:id="rId3"/>
              </a:rPr>
              <a:t>www.ruijie.com.cn</a:t>
            </a:r>
            <a:r>
              <a:rPr lang="en-US" altLang="en-US" sz="105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，咨询电话：400-620-8818</a:t>
            </a:r>
            <a:endParaRPr lang="en-US" altLang="en-US" sz="105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eaLnBrk="1" hangingPunct="1">
              <a:lnSpc>
                <a:spcPct val="150000"/>
              </a:lnSpc>
              <a:spcBef>
                <a:spcPct val="0"/>
              </a:spcBef>
              <a:buFont typeface="Arial" panose="020B0604020202090204" pitchFamily="34" charset="0"/>
              <a:buNone/>
            </a:pPr>
            <a:r>
              <a:rPr lang="en-US" altLang="en-US" sz="90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*本资料产品图片及技术数据仅供参考，如有更新恕不另行通知，具体内容解释权归锐捷网络所有。</a:t>
            </a:r>
            <a:endParaRPr lang="en-US" altLang="zh-CN" sz="90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pic>
        <p:nvPicPr>
          <p:cNvPr id="13" name="图片 12" descr="徽标&#10;&#10;描述已自动生成"/>
          <p:cNvPicPr>
            <a:picLocks noChangeAspect="1"/>
          </p:cNvPicPr>
          <p:nvPr userDrawn="1"/>
        </p:nvPicPr>
        <p:blipFill>
          <a:blip r:embed="rId4" cstate="screen"/>
          <a:stretch>
            <a:fillRect/>
          </a:stretch>
        </p:blipFill>
        <p:spPr>
          <a:xfrm>
            <a:off x="592015" y="503702"/>
            <a:ext cx="2085672" cy="354428"/>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空白页">
    <p:spTree>
      <p:nvGrpSpPr>
        <p:cNvPr id="1" name=""/>
        <p:cNvGrpSpPr/>
        <p:nvPr/>
      </p:nvGrpSpPr>
      <p:grpSpPr>
        <a:xfrm>
          <a:off x="0" y="0"/>
          <a:ext cx="0" cy="0"/>
          <a:chOff x="0" y="0"/>
          <a:chExt cx="0" cy="0"/>
        </a:xfrm>
      </p:grpSpPr>
      <p:pic>
        <p:nvPicPr>
          <p:cNvPr id="7" name="图片 6" descr="蓝色的天空&#10;&#10;描述已自动生成"/>
          <p:cNvPicPr>
            <a:picLocks noChangeAspect="1"/>
          </p:cNvPicPr>
          <p:nvPr userDrawn="1"/>
        </p:nvPicPr>
        <p:blipFill>
          <a:blip r:embed="rId2" cstate="screen">
            <a:alphaModFix amt="35000"/>
          </a:blip>
          <a:stretch>
            <a:fillRect/>
          </a:stretch>
        </p:blipFill>
        <p:spPr>
          <a:xfrm>
            <a:off x="438" y="0"/>
            <a:ext cx="12191562" cy="685800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pic>
        <p:nvPicPr>
          <p:cNvPr id="7" name="图片 6"/>
          <p:cNvPicPr>
            <a:picLocks noChangeAspect="1"/>
          </p:cNvPicPr>
          <p:nvPr userDrawn="1">
            <p:custDataLst>
              <p:tags r:id="rId2"/>
            </p:custDataLst>
          </p:nvPr>
        </p:nvPicPr>
        <p:blipFill>
          <a:blip r:embed="rId3" cstate="screen"/>
          <a:stretch>
            <a:fillRect/>
          </a:stretch>
        </p:blipFill>
        <p:spPr>
          <a:xfrm>
            <a:off x="10144927" y="351797"/>
            <a:ext cx="1492890" cy="253694"/>
          </a:xfrm>
          <a:prstGeom prst="rect">
            <a:avLst/>
          </a:prstGeom>
        </p:spPr>
      </p:pic>
      <p:sp>
        <p:nvSpPr>
          <p:cNvPr id="10" name="矩形 9"/>
          <p:cNvSpPr/>
          <p:nvPr userDrawn="1">
            <p:custDataLst>
              <p:tags r:id="rId4"/>
            </p:custDataLst>
          </p:nvPr>
        </p:nvSpPr>
        <p:spPr>
          <a:xfrm>
            <a:off x="554182" y="763832"/>
            <a:ext cx="11083635" cy="28388"/>
          </a:xfrm>
          <a:prstGeom prst="rect">
            <a:avLst/>
          </a:prstGeom>
          <a:gradFill>
            <a:gsLst>
              <a:gs pos="0">
                <a:srgbClr val="4F98EB"/>
              </a:gs>
              <a:gs pos="100000">
                <a:srgbClr val="4F98EB">
                  <a:alpha val="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灯片编号占位符 1"/>
          <p:cNvSpPr txBox="1"/>
          <p:nvPr userDrawn="1">
            <p:custDataLst>
              <p:tags r:id="rId5"/>
            </p:custDataLst>
          </p:nvPr>
        </p:nvSpPr>
        <p:spPr>
          <a:xfrm>
            <a:off x="331770" y="6356350"/>
            <a:ext cx="517113" cy="365125"/>
          </a:xfrm>
          <a:prstGeom prst="rect">
            <a:avLst/>
          </a:prstGeom>
        </p:spPr>
        <p:txBody>
          <a:bodyPr vert="horz" lIns="91440" tIns="45720" rIns="91440" bIns="45720" rtlCol="0" anchor="ctr"/>
          <a:lstStyle>
            <a:defPPr>
              <a:defRPr lang="zh-CN"/>
            </a:defPPr>
            <a:lvl1pPr marL="0" algn="r" defTabSz="914400" rtl="0" eaLnBrk="1" latinLnBrk="0" hangingPunct="1">
              <a:defRPr sz="1050" b="0" i="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A4EADD4-75EE-B446-88DA-ECFA910E472F}" type="slidenum">
              <a:rPr kumimoji="1" lang="zh-CN" altLang="en-US" smtClean="0"/>
            </a:fld>
            <a:endParaRPr kumimoji="1" lang="zh-CN" altLang="en-US" dirty="0"/>
          </a:p>
        </p:txBody>
      </p:sp>
      <p:sp>
        <p:nvSpPr>
          <p:cNvPr id="14" name="灯片编号占位符 1"/>
          <p:cNvSpPr txBox="1"/>
          <p:nvPr userDrawn="1">
            <p:custDataLst>
              <p:tags r:id="rId6"/>
            </p:custDataLst>
          </p:nvPr>
        </p:nvSpPr>
        <p:spPr>
          <a:xfrm>
            <a:off x="724661" y="6356350"/>
            <a:ext cx="2350470" cy="365125"/>
          </a:xfrm>
          <a:prstGeom prst="rect">
            <a:avLst/>
          </a:prstGeom>
        </p:spPr>
        <p:txBody>
          <a:bodyPr vert="horz" lIns="91440" tIns="45720" rIns="91440" bIns="45720" rtlCol="0" anchor="ctr"/>
          <a:lstStyle>
            <a:defPPr>
              <a:defRPr lang="zh-CN"/>
            </a:defPPr>
            <a:lvl1pPr marL="0" algn="r" defTabSz="914400" rtl="0" eaLnBrk="1" latinLnBrk="0" hangingPunct="1">
              <a:defRPr sz="1050" b="0" i="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zh-CN" altLang="en-US" dirty="0"/>
              <a:t>｜ </a:t>
            </a:r>
            <a:r>
              <a:rPr kumimoji="1" lang="en-US" altLang="zh-CN" dirty="0" err="1"/>
              <a:t>www.ruijie.com.cn</a:t>
            </a:r>
            <a:endParaRPr kumimoji="1" lang="zh-CN" altLang="en-US" dirty="0"/>
          </a:p>
        </p:txBody>
      </p:sp>
      <p:sp>
        <p:nvSpPr>
          <p:cNvPr id="15" name="文本占位符 17"/>
          <p:cNvSpPr>
            <a:spLocks noGrp="1"/>
          </p:cNvSpPr>
          <p:nvPr>
            <p:ph type="body" sz="quarter" idx="13" hasCustomPrompt="1"/>
            <p:custDataLst>
              <p:tags r:id="rId7"/>
            </p:custDataLst>
          </p:nvPr>
        </p:nvSpPr>
        <p:spPr>
          <a:xfrm>
            <a:off x="573405" y="274320"/>
            <a:ext cx="4513580" cy="495935"/>
          </a:xfrm>
          <a:prstGeom prst="rect">
            <a:avLst/>
          </a:prstGeom>
        </p:spPr>
        <p:txBody>
          <a:bodyPr>
            <a:noAutofit/>
          </a:bodyPr>
          <a:lstStyle>
            <a:lvl1pPr marL="0" indent="0" algn="l" defTabSz="914400" rtl="0" eaLnBrk="1" latinLnBrk="0" hangingPunct="1">
              <a:buNone/>
              <a:defRPr kumimoji="1" lang="zh-CN" altLang="en-US" sz="2200" b="1" kern="1200" dirty="0" smtClean="0">
                <a:solidFill>
                  <a:schemeClr val="tx1">
                    <a:lumMod val="50000"/>
                    <a:lumOff val="50000"/>
                  </a:schemeClr>
                </a:solidFill>
                <a:latin typeface="微软雅黑" panose="020B0503020204020204" pitchFamily="34" charset="-122"/>
                <a:ea typeface="微软雅黑" panose="020B0503020204020204" pitchFamily="34" charset="-122"/>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kumimoji="1" lang="zh-CN" altLang="en-US" dirty="0"/>
              <a:t>单击此处编辑页眉章节标题</a:t>
            </a:r>
            <a:endParaRPr kumimoji="1"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5" Type="http://schemas.openxmlformats.org/officeDocument/2006/relationships/theme" Target="../theme/theme2.xml"/><Relationship Id="rId4" Type="http://schemas.openxmlformats.org/officeDocument/2006/relationships/tags" Target="../tags/tag13.xml"/><Relationship Id="rId3" Type="http://schemas.openxmlformats.org/officeDocument/2006/relationships/image" Target="../media/image1.jpeg"/><Relationship Id="rId2" Type="http://schemas.openxmlformats.org/officeDocument/2006/relationships/tags" Target="../tags/tag12.xml"/><Relationship Id="rId1"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endParaRPr kumimoji="1"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E679380-D657-8D4E-9A0F-A362142B5069}" type="datetimeFigureOut">
              <a:rPr kumimoji="1" lang="zh-CN" altLang="en-US" smtClean="0"/>
            </a:fld>
            <a:endParaRPr kumimoji="1"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25A8893-B06F-FA45-8416-383DCFC04A69}"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pic>
        <p:nvPicPr>
          <p:cNvPr id="13" name="图片 12" descr="蓝色的天空&#10;&#10;描述已自动生成"/>
          <p:cNvPicPr>
            <a:picLocks noChangeAspect="1"/>
          </p:cNvPicPr>
          <p:nvPr userDrawn="1">
            <p:custDataLst>
              <p:tags r:id="rId2"/>
            </p:custDataLst>
          </p:nvPr>
        </p:nvPicPr>
        <p:blipFill>
          <a:blip r:embed="rId3" cstate="screen">
            <a:alphaModFix amt="35000"/>
          </a:blip>
          <a:stretch>
            <a:fillRect/>
          </a:stretch>
        </p:blipFill>
        <p:spPr>
          <a:xfrm>
            <a:off x="438" y="0"/>
            <a:ext cx="12191562" cy="6858000"/>
          </a:xfrm>
          <a:prstGeom prst="rect">
            <a:avLst/>
          </a:prstGeom>
        </p:spPr>
      </p:pic>
    </p:spTree>
    <p:custDataLst>
      <p:tags r:id="rId4"/>
    </p:custDataLst>
  </p:cSld>
  <p:clrMap bg1="lt1" tx1="dk1" bg2="lt2" tx2="dk2" accent1="accent1" accent2="accent2" accent3="accent3" accent4="accent4" accent5="accent5" accent6="accent6" hlink="hlink" folHlink="folHlink"/>
  <p:sldLayoutIdLst>
    <p:sldLayoutId id="2147483656" r:id="rId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9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9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9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9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png"/><Relationship Id="rId1" Type="http://schemas.openxmlformats.org/officeDocument/2006/relationships/image" Target="../media/image7.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hyperlink" Target="https://ruijie.feishu.cn/wiki/F78Bwr1PuisHvdkpbMwcO776nwe" TargetMode="External"/><Relationship Id="rId3" Type="http://schemas.openxmlformats.org/officeDocument/2006/relationships/hyperlink" Target="https://ruijie.feishu.cn/wiki/NqbqwswI4ivIyHkj3UDctMxdnAf" TargetMode="External"/><Relationship Id="rId2" Type="http://schemas.openxmlformats.org/officeDocument/2006/relationships/image" Target="../media/image10.png"/><Relationship Id="rId1" Type="http://schemas.openxmlformats.org/officeDocument/2006/relationships/hyperlink" Target="https://ruijie.feishu.cn/wiki/FEHFwfdcBipTvzkEofsc1v8yn4f" TargetMode="External"/></Relationships>
</file>

<file path=ppt/slides/_rels/slide9.xml.rels><?xml version="1.0" encoding="UTF-8" standalone="yes"?>
<Relationships xmlns="http://schemas.openxmlformats.org/package/2006/relationships"><Relationship Id="rId9" Type="http://schemas.openxmlformats.org/officeDocument/2006/relationships/image" Target="../media/image11.png"/><Relationship Id="rId8" Type="http://schemas.openxmlformats.org/officeDocument/2006/relationships/hyperlink" Target="https://ruijie.feishu.cn/wiki/KMduw5ysJiig2HkGOaJcdSLPnuf" TargetMode="External"/><Relationship Id="rId7" Type="http://schemas.openxmlformats.org/officeDocument/2006/relationships/hyperlink" Target="https://ruijie.feishu.cn/wiki/R2ElwwndziQfPWkIA3KcZdq9n1r" TargetMode="External"/><Relationship Id="rId6" Type="http://schemas.openxmlformats.org/officeDocument/2006/relationships/hyperlink" Target="https://ruijie.feishu.cn/sheets/GEqOsdkdfh9YmAtrHYmca7XSnOd" TargetMode="External"/><Relationship Id="rId5" Type="http://schemas.openxmlformats.org/officeDocument/2006/relationships/hyperlink" Target="https://ruijie.feishu.cn/wiki/IKBFwI4jXiwSrlkaD1qc6VG4nme?sheet=2eMFKt" TargetMode="External"/><Relationship Id="rId4" Type="http://schemas.openxmlformats.org/officeDocument/2006/relationships/hyperlink" Target="https://ruijie.feishu.cn/wiki/KeEfweM9yivnMQkzWkCcojtDnwg" TargetMode="External"/><Relationship Id="rId3" Type="http://schemas.openxmlformats.org/officeDocument/2006/relationships/hyperlink" Target="https://ruijie.feishu.cn/sheets/HSRusFT8Qh93XstgrCicL0gynse?sheet=OIIkAn" TargetMode="External"/><Relationship Id="rId2" Type="http://schemas.openxmlformats.org/officeDocument/2006/relationships/hyperlink" Target="https://ruijie.feishu.cn/file/DII8bkuJ1o3eeWxUkL4cWArznIg" TargetMode="External"/><Relationship Id="rId10" Type="http://schemas.openxmlformats.org/officeDocument/2006/relationships/slideLayout" Target="../slideLayouts/slideLayout7.xml"/><Relationship Id="rId1" Type="http://schemas.openxmlformats.org/officeDocument/2006/relationships/hyperlink" Target="https://ruijie.feishu.cn/wiki/VSwIw2RBciydzxkNT2DcnqzAnKg" TargetMode="External"/></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2.png"/><Relationship Id="rId2" Type="http://schemas.openxmlformats.org/officeDocument/2006/relationships/hyperlink" Target="https://ruijie.feishu.cn/wiki/Czafwb6LmioOTJk8N5HcFLkJncg?from=from_copylink" TargetMode="External"/><Relationship Id="rId1" Type="http://schemas.openxmlformats.org/officeDocument/2006/relationships/hyperlink" Target="https://ruijie.feishu.cn/wiki/LLPjwTsVxilKFDkZ3uGcFv7gnpb" TargetMode="External"/></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3.png"/><Relationship Id="rId3" Type="http://schemas.openxmlformats.org/officeDocument/2006/relationships/hyperlink" Target="https://ruijie.feishu.cn/wiki/O56UwXKaAixLOFkZhiNcS9OHn4b" TargetMode="External"/><Relationship Id="rId2" Type="http://schemas.openxmlformats.org/officeDocument/2006/relationships/hyperlink" Target="https://ruijie.feishu.cn/wiki/XVqnwRd93iBLB1ke0aLc8No6nqg" TargetMode="External"/><Relationship Id="rId1" Type="http://schemas.openxmlformats.org/officeDocument/2006/relationships/hyperlink" Target="https://ruijie.feishu.cn/wiki/KCyrw4wtViAalrkgqMUcShBNn9e" TargetMode="Externa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15.png"/></Relationships>
</file>

<file path=ppt/slides/_rels/slide15.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hyperlink" Target="https://ruijie.feishu.cn/wiki/TfVcwj2ALivZlZk8lQRc2bmknzd" TargetMode="External"/><Relationship Id="rId3" Type="http://schemas.openxmlformats.org/officeDocument/2006/relationships/hyperlink" Target="https://ruijie.feishu.cn/wiki/UHdtwXy8ViL8V8k2tTgcPLCinFd" TargetMode="External"/><Relationship Id="rId2" Type="http://schemas.openxmlformats.org/officeDocument/2006/relationships/hyperlink" Target="https://ruijie.feishu.cn/wiki/GhQawgRsaiDeKUk7DJbctvrEn2b?from=from" TargetMode="External"/><Relationship Id="rId1" Type="http://schemas.openxmlformats.org/officeDocument/2006/relationships/image" Target="../media/image18.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9.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3"/>
          </p:nvPr>
        </p:nvSpPr>
        <p:spPr/>
        <p:txBody>
          <a:bodyPr/>
          <a:lstStyle/>
          <a:p>
            <a:endParaRPr lang="zh-CN" altLang="en-US"/>
          </a:p>
        </p:txBody>
      </p:sp>
      <p:pic>
        <p:nvPicPr>
          <p:cNvPr id="9" name="图片 8"/>
          <p:cNvPicPr>
            <a:picLocks noChangeAspect="1"/>
          </p:cNvPicPr>
          <p:nvPr/>
        </p:nvPicPr>
        <p:blipFill>
          <a:blip r:embed="rId1" cstate="screen"/>
          <a:stretch>
            <a:fillRect/>
          </a:stretch>
        </p:blipFill>
        <p:spPr>
          <a:xfrm>
            <a:off x="0" y="864"/>
            <a:ext cx="12193538" cy="6857136"/>
          </a:xfrm>
          <a:prstGeom prst="rect">
            <a:avLst/>
          </a:prstGeom>
        </p:spPr>
      </p:pic>
      <p:pic>
        <p:nvPicPr>
          <p:cNvPr id="11" name="图片 10" descr="徽标&#10;&#10;描述已自动生成"/>
          <p:cNvPicPr>
            <a:picLocks noChangeAspect="1"/>
          </p:cNvPicPr>
          <p:nvPr/>
        </p:nvPicPr>
        <p:blipFill>
          <a:blip r:embed="rId2" cstate="screen"/>
          <a:stretch>
            <a:fillRect/>
          </a:stretch>
        </p:blipFill>
        <p:spPr>
          <a:xfrm>
            <a:off x="592015" y="503702"/>
            <a:ext cx="2085672" cy="354428"/>
          </a:xfrm>
          <a:prstGeom prst="rect">
            <a:avLst/>
          </a:prstGeom>
        </p:spPr>
      </p:pic>
      <p:sp>
        <p:nvSpPr>
          <p:cNvPr id="13" name="文本框 12"/>
          <p:cNvSpPr txBox="1"/>
          <p:nvPr/>
        </p:nvSpPr>
        <p:spPr>
          <a:xfrm>
            <a:off x="518199" y="2670643"/>
            <a:ext cx="3567002" cy="492443"/>
          </a:xfrm>
          <a:prstGeom prst="rect">
            <a:avLst/>
          </a:prstGeom>
          <a:noFill/>
        </p:spPr>
        <p:txBody>
          <a:bodyPr wrap="none" rtlCol="0">
            <a:spAutoFit/>
          </a:bodyPr>
          <a:lstStyle/>
          <a:p>
            <a:r>
              <a:rPr kumimoji="1" lang="en-US" altLang="zh-CN" sz="2600" b="1" dirty="0" smtClean="0">
                <a:solidFill>
                  <a:schemeClr val="bg1">
                    <a:lumMod val="50000"/>
                  </a:schemeClr>
                </a:solidFill>
                <a:latin typeface="微软雅黑" panose="020B0503020204020204" pitchFamily="34" charset="-122"/>
                <a:ea typeface="微软雅黑" panose="020B0503020204020204" pitchFamily="34" charset="-122"/>
              </a:rPr>
              <a:t>MO </a:t>
            </a:r>
            <a:r>
              <a:rPr kumimoji="1" lang="zh-CN" altLang="en-US" sz="2600" b="1" dirty="0" smtClean="0">
                <a:solidFill>
                  <a:schemeClr val="bg1">
                    <a:lumMod val="50000"/>
                  </a:schemeClr>
                </a:solidFill>
                <a:latin typeface="微软雅黑" panose="020B0503020204020204" pitchFamily="34" charset="-122"/>
                <a:ea typeface="微软雅黑" panose="020B0503020204020204" pitchFamily="34" charset="-122"/>
              </a:rPr>
              <a:t>管理商机流程介绍</a:t>
            </a:r>
            <a:endParaRPr kumimoji="1" lang="zh-CN" altLang="en-US" sz="2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4" name="文本框 13"/>
          <p:cNvSpPr txBox="1"/>
          <p:nvPr/>
        </p:nvSpPr>
        <p:spPr>
          <a:xfrm>
            <a:off x="592015" y="5468044"/>
            <a:ext cx="1082348" cy="307777"/>
          </a:xfrm>
          <a:prstGeom prst="rect">
            <a:avLst/>
          </a:prstGeom>
          <a:noFill/>
        </p:spPr>
        <p:txBody>
          <a:bodyPr wrap="none" rtlCol="0">
            <a:spAutoFit/>
          </a:bodyPr>
          <a:lstStyle/>
          <a:p>
            <a:r>
              <a:rPr kumimoji="1" lang="zh-CN" altLang="en-US" sz="1400" dirty="0" smtClean="0">
                <a:solidFill>
                  <a:schemeClr val="bg1">
                    <a:lumMod val="50000"/>
                  </a:schemeClr>
                </a:solidFill>
                <a:latin typeface="微软雅黑" panose="020B0503020204020204" pitchFamily="34" charset="-122"/>
                <a:ea typeface="微软雅黑" panose="020B0503020204020204" pitchFamily="34" charset="-122"/>
              </a:rPr>
              <a:t>流程管理部</a:t>
            </a:r>
            <a:endParaRPr kumimoji="1" lang="zh-CN" altLang="en-US" sz="14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5" name="文本框 14"/>
          <p:cNvSpPr txBox="1"/>
          <p:nvPr/>
        </p:nvSpPr>
        <p:spPr>
          <a:xfrm>
            <a:off x="592015" y="5806598"/>
            <a:ext cx="862737" cy="307777"/>
          </a:xfrm>
          <a:prstGeom prst="rect">
            <a:avLst/>
          </a:prstGeom>
          <a:noFill/>
        </p:spPr>
        <p:txBody>
          <a:bodyPr wrap="none" rtlCol="0">
            <a:spAutoFit/>
          </a:bodyPr>
          <a:lstStyle/>
          <a:p>
            <a:r>
              <a:rPr kumimoji="1" lang="en-US" altLang="zh-CN" sz="1400" dirty="0" smtClean="0">
                <a:solidFill>
                  <a:schemeClr val="bg1">
                    <a:lumMod val="50000"/>
                  </a:schemeClr>
                </a:solidFill>
                <a:latin typeface="微软雅黑" panose="020B0503020204020204" pitchFamily="34" charset="-122"/>
                <a:ea typeface="微软雅黑" panose="020B0503020204020204" pitchFamily="34" charset="-122"/>
              </a:rPr>
              <a:t>2025.07</a:t>
            </a:r>
            <a:endParaRPr kumimoji="1" lang="zh-CN" altLang="en-US" sz="1400" dirty="0">
              <a:solidFill>
                <a:schemeClr val="bg1">
                  <a:lumMod val="50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219915" y="1536634"/>
            <a:ext cx="1005403" cy="584775"/>
          </a:xfrm>
          <a:prstGeom prst="rect">
            <a:avLst/>
          </a:prstGeom>
          <a:noFill/>
        </p:spPr>
        <p:txBody>
          <a:bodyPr wrap="none" rtlCol="0">
            <a:spAutoFit/>
          </a:bodyPr>
          <a:lstStyle/>
          <a:p>
            <a:r>
              <a:rPr kumimoji="1"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rPr>
              <a:t>目录</a:t>
            </a:r>
            <a:endParaRPr kumimoji="1"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6" name="文本占位符 2"/>
          <p:cNvSpPr txBox="1"/>
          <p:nvPr/>
        </p:nvSpPr>
        <p:spPr>
          <a:xfrm>
            <a:off x="1219915" y="2368089"/>
            <a:ext cx="5073794" cy="2406870"/>
          </a:xfrm>
          <a:prstGeom prst="rect">
            <a:avLst/>
          </a:prstGeom>
        </p:spPr>
        <p:txBody>
          <a:bodyPr vert="horz" lIns="91440" tIns="45720" rIns="91440" bIns="45720" rtlCol="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90204" pitchFamily="34" charset="0"/>
              <a:buNone/>
              <a:defRPr kumimoji="1" lang="zh-CN" altLang="en-US"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9pPr>
          </a:lstStyle>
          <a:p>
            <a:pPr marL="342900" indent="-342900">
              <a:lnSpc>
                <a:spcPct val="150000"/>
              </a:lnSpc>
              <a:buFont typeface="Arial" panose="020B0604020202090204" pitchFamily="34" charset="0"/>
              <a:buChar char="•"/>
              <a:defRPr/>
            </a:pPr>
            <a:r>
              <a:rPr lang="en-US" altLang="zh-CN" dirty="0" smtClean="0"/>
              <a:t>MO</a:t>
            </a:r>
            <a:r>
              <a:rPr lang="zh-CN" altLang="en-US" dirty="0" smtClean="0"/>
              <a:t>管理商机流程介绍</a:t>
            </a:r>
            <a:endParaRPr lang="en-US" altLang="zh-CN" dirty="0"/>
          </a:p>
          <a:p>
            <a:pPr marL="342900" indent="-342900">
              <a:lnSpc>
                <a:spcPct val="150000"/>
              </a:lnSpc>
              <a:buFont typeface="Arial" panose="020B0604020202090204" pitchFamily="34" charset="0"/>
              <a:buChar char="•"/>
              <a:defRPr/>
            </a:pPr>
            <a:r>
              <a:rPr lang="en-US" altLang="zh-CN" dirty="0" smtClean="0"/>
              <a:t>L3</a:t>
            </a:r>
            <a:r>
              <a:rPr lang="zh-CN" altLang="en-US" dirty="0" smtClean="0"/>
              <a:t>子流程介绍</a:t>
            </a:r>
            <a:endParaRPr lang="en-US" altLang="zh-CN" dirty="0" smtClean="0"/>
          </a:p>
          <a:p>
            <a:pPr marL="342900" indent="-342900">
              <a:lnSpc>
                <a:spcPct val="150000"/>
              </a:lnSpc>
              <a:buFont typeface="Arial" panose="020B0604020202090204" pitchFamily="34" charset="0"/>
              <a:buChar char="•"/>
              <a:defRPr/>
            </a:pPr>
            <a:r>
              <a:rPr lang="zh-CN" altLang="en-US" dirty="0" smtClean="0"/>
              <a:t>运转机制</a:t>
            </a:r>
            <a:endParaRPr lang="en-US" altLang="zh-CN" dirty="0" smtClean="0"/>
          </a:p>
          <a:p>
            <a:pPr marL="342900" indent="-342900">
              <a:lnSpc>
                <a:spcPct val="150000"/>
              </a:lnSpc>
              <a:buFont typeface="Arial" panose="020B0604020202090204" pitchFamily="34" charset="0"/>
              <a:buChar char="•"/>
              <a:defRPr/>
            </a:pPr>
            <a:r>
              <a:rPr lang="en-US" altLang="zh-CN" dirty="0" smtClean="0"/>
              <a:t>IT</a:t>
            </a:r>
            <a:r>
              <a:rPr lang="zh-CN" altLang="en-US" dirty="0" smtClean="0"/>
              <a:t>优化进度</a:t>
            </a:r>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351453" y="274320"/>
            <a:ext cx="7606768" cy="495935"/>
          </a:xfrm>
        </p:spPr>
        <p:txBody>
          <a:bodyPr/>
          <a:lstStyle/>
          <a:p>
            <a:r>
              <a:rPr lang="en-US" altLang="zh-CN" dirty="0" smtClean="0"/>
              <a:t>MO</a:t>
            </a:r>
            <a:r>
              <a:rPr lang="zh-CN" altLang="en-US" dirty="0" smtClean="0"/>
              <a:t>流程定义</a:t>
            </a:r>
            <a:endParaRPr lang="zh-CN" altLang="en-US" dirty="0"/>
          </a:p>
        </p:txBody>
      </p:sp>
      <p:pic>
        <p:nvPicPr>
          <p:cNvPr id="91" name="图片 90"/>
          <p:cNvPicPr>
            <a:picLocks noChangeAspect="1"/>
          </p:cNvPicPr>
          <p:nvPr/>
        </p:nvPicPr>
        <p:blipFill>
          <a:blip r:embed="rId1"/>
          <a:stretch>
            <a:fillRect/>
          </a:stretch>
        </p:blipFill>
        <p:spPr>
          <a:xfrm>
            <a:off x="225316" y="1931883"/>
            <a:ext cx="11744325" cy="4683760"/>
          </a:xfrm>
          <a:prstGeom prst="rect">
            <a:avLst/>
          </a:prstGeom>
        </p:spPr>
      </p:pic>
      <p:sp>
        <p:nvSpPr>
          <p:cNvPr id="3" name="矩形 2"/>
          <p:cNvSpPr/>
          <p:nvPr/>
        </p:nvSpPr>
        <p:spPr>
          <a:xfrm>
            <a:off x="3079102" y="3786996"/>
            <a:ext cx="4273420" cy="1727396"/>
          </a:xfrm>
          <a:prstGeom prst="rect">
            <a:avLst/>
          </a:prstGeom>
          <a:noFill/>
          <a:ln w="25400">
            <a:solidFill>
              <a:schemeClr val="accent5">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矩形 91"/>
          <p:cNvSpPr/>
          <p:nvPr/>
        </p:nvSpPr>
        <p:spPr>
          <a:xfrm>
            <a:off x="351453" y="812460"/>
            <a:ext cx="11405118" cy="1077218"/>
          </a:xfrm>
          <a:prstGeom prst="rect">
            <a:avLst/>
          </a:prstGeom>
        </p:spPr>
        <p:txBody>
          <a:bodyPr wrap="square">
            <a:spAutoFit/>
          </a:bodyPr>
          <a:lstStyle/>
          <a:p>
            <a:r>
              <a:rPr lang="en-US" altLang="zh-CN" sz="1600" dirty="0">
                <a:latin typeface="Inter"/>
              </a:rPr>
              <a:t>MO </a:t>
            </a:r>
            <a:r>
              <a:rPr lang="zh-CN" altLang="en-US" sz="1600" dirty="0">
                <a:latin typeface="Inter"/>
              </a:rPr>
              <a:t>管理商机流程是企业围绕潜在交易机会从识别到转化为订单的全周期管理机制，核心是通过系统化、标准化的步骤，精准筛选有效</a:t>
            </a:r>
            <a:r>
              <a:rPr lang="zh-CN" altLang="en-US" sz="1600" dirty="0" smtClean="0">
                <a:latin typeface="Inter"/>
              </a:rPr>
              <a:t>商机，按</a:t>
            </a:r>
            <a:r>
              <a:rPr lang="zh-CN" altLang="en-US" sz="1600" dirty="0">
                <a:latin typeface="Inter"/>
              </a:rPr>
              <a:t>需求明确度、成交可能性等进行分级排序，再通过需求深挖、方案匹配、商务谈判等环节推动商机逐步成熟，同时依托 </a:t>
            </a:r>
            <a:r>
              <a:rPr lang="en-US" altLang="zh-CN" sz="1600" dirty="0">
                <a:latin typeface="Inter"/>
              </a:rPr>
              <a:t>CRM </a:t>
            </a:r>
            <a:r>
              <a:rPr lang="zh-CN" altLang="en-US" sz="1600" dirty="0">
                <a:latin typeface="Inter"/>
              </a:rPr>
              <a:t>工具记录过程数据，最终提升成交效率、降低资源浪费，并通过复盘分析优化销售策略，为企业销售决策和资源调配提供支撑。</a:t>
            </a:r>
            <a:endParaRPr lang="zh-CN" alt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en-US" altLang="zh-CN" dirty="0" smtClean="0"/>
              <a:t>MO</a:t>
            </a:r>
            <a:r>
              <a:rPr lang="zh-CN" altLang="en-US" dirty="0" smtClean="0"/>
              <a:t>这个</a:t>
            </a:r>
            <a:r>
              <a:rPr lang="zh-CN" altLang="en-US" dirty="0"/>
              <a:t>业务是在干什么？</a:t>
            </a:r>
            <a:endParaRPr lang="zh-CN" altLang="en-US" dirty="0"/>
          </a:p>
        </p:txBody>
      </p:sp>
      <p:sp>
        <p:nvSpPr>
          <p:cNvPr id="12" name="圆角矩形 11"/>
          <p:cNvSpPr/>
          <p:nvPr/>
        </p:nvSpPr>
        <p:spPr bwMode="auto">
          <a:xfrm>
            <a:off x="6291301" y="3580702"/>
            <a:ext cx="5175895" cy="2832338"/>
          </a:xfrm>
          <a:prstGeom prst="roundRect">
            <a:avLst>
              <a:gd name="adj" fmla="val 6098"/>
            </a:avLst>
          </a:prstGeom>
          <a:solidFill>
            <a:srgbClr val="FBD89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3" name="矩形 12"/>
          <p:cNvSpPr/>
          <p:nvPr/>
        </p:nvSpPr>
        <p:spPr bwMode="auto">
          <a:xfrm>
            <a:off x="6282226" y="3580702"/>
            <a:ext cx="5174253" cy="528389"/>
          </a:xfrm>
          <a:prstGeom prst="rect">
            <a:avLst/>
          </a:prstGeom>
          <a:solidFill>
            <a:srgbClr val="0070C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5" name="圆角矩形 14"/>
          <p:cNvSpPr/>
          <p:nvPr/>
        </p:nvSpPr>
        <p:spPr bwMode="auto">
          <a:xfrm>
            <a:off x="868476" y="3566975"/>
            <a:ext cx="5273121" cy="2846065"/>
          </a:xfrm>
          <a:prstGeom prst="roundRect">
            <a:avLst>
              <a:gd name="adj" fmla="val 7017"/>
            </a:avLst>
          </a:prstGeom>
          <a:solidFill>
            <a:srgbClr val="FBD89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6" name="矩形 15"/>
          <p:cNvSpPr/>
          <p:nvPr/>
        </p:nvSpPr>
        <p:spPr bwMode="auto">
          <a:xfrm>
            <a:off x="859435" y="3580702"/>
            <a:ext cx="5282161" cy="528389"/>
          </a:xfrm>
          <a:prstGeom prst="rect">
            <a:avLst/>
          </a:prstGeom>
          <a:solidFill>
            <a:srgbClr val="0070C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7" name="AutoShape 16"/>
          <p:cNvSpPr>
            <a:spLocks noChangeArrowheads="1"/>
          </p:cNvSpPr>
          <p:nvPr/>
        </p:nvSpPr>
        <p:spPr bwMode="auto">
          <a:xfrm>
            <a:off x="870147" y="1142331"/>
            <a:ext cx="10597176" cy="1298899"/>
          </a:xfrm>
          <a:prstGeom prst="chevron">
            <a:avLst>
              <a:gd name="adj" fmla="val 11465"/>
            </a:avLst>
          </a:prstGeom>
          <a:solidFill>
            <a:srgbClr val="00ACE2">
              <a:alpha val="80000"/>
            </a:srgbClr>
          </a:solidFill>
          <a:ln w="9525" cap="flat" cmpd="sng" algn="ctr">
            <a:noFill/>
            <a:prstDash val="solid"/>
            <a:round/>
            <a:headEnd type="none" w="med" len="med"/>
            <a:tailEnd type="none" w="med" len="med"/>
          </a:ln>
          <a:effectLst/>
        </p:spPr>
        <p:txBody>
          <a:bodyPr lIns="77939" tIns="38970" rIns="77939" bIns="38970"/>
          <a:lstStyle/>
          <a:p>
            <a:pPr algn="ctr" defTabSz="582930">
              <a:defRPr/>
            </a:pPr>
            <a:r>
              <a:rPr lang="en-US" altLang="zh-CN" sz="1600" b="1" dirty="0" smtClean="0">
                <a:solidFill>
                  <a:srgbClr val="FFFFFF"/>
                </a:solidFill>
                <a:latin typeface="微软雅黑" panose="020B0503020204020204" pitchFamily="34" charset="-122"/>
                <a:ea typeface="微软雅黑" panose="020B0503020204020204" pitchFamily="34" charset="-122"/>
                <a:cs typeface="Arial" panose="020B0604020202090204" pitchFamily="34" charset="0"/>
              </a:rPr>
              <a:t>MO</a:t>
            </a:r>
            <a:r>
              <a:rPr lang="zh-CN" altLang="en-US" sz="1600" b="1" dirty="0" smtClean="0">
                <a:solidFill>
                  <a:srgbClr val="FFFFFF"/>
                </a:solidFill>
                <a:latin typeface="微软雅黑" panose="020B0503020204020204" pitchFamily="34" charset="-122"/>
                <a:ea typeface="微软雅黑" panose="020B0503020204020204" pitchFamily="34" charset="-122"/>
                <a:cs typeface="Arial" panose="020B0604020202090204" pitchFamily="34" charset="0"/>
              </a:rPr>
              <a:t>管理</a:t>
            </a:r>
            <a:r>
              <a:rPr lang="zh-CN" altLang="en-US" sz="1600" b="1" dirty="0">
                <a:solidFill>
                  <a:srgbClr val="FFFFFF"/>
                </a:solidFill>
                <a:latin typeface="微软雅黑" panose="020B0503020204020204" pitchFamily="34" charset="-122"/>
                <a:ea typeface="微软雅黑" panose="020B0503020204020204" pitchFamily="34" charset="-122"/>
                <a:cs typeface="Arial" panose="020B0604020202090204" pitchFamily="34" charset="0"/>
              </a:rPr>
              <a:t>机会点</a:t>
            </a:r>
            <a:endParaRPr lang="zh-HK" altLang="en-US" sz="1600" b="1" dirty="0">
              <a:solidFill>
                <a:srgbClr val="FFFFFF"/>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8" name="AutoShape 12"/>
          <p:cNvSpPr>
            <a:spLocks noChangeArrowheads="1"/>
          </p:cNvSpPr>
          <p:nvPr/>
        </p:nvSpPr>
        <p:spPr bwMode="gray">
          <a:xfrm>
            <a:off x="3341557" y="1931895"/>
            <a:ext cx="2586134" cy="437462"/>
          </a:xfrm>
          <a:prstGeom prst="chevron">
            <a:avLst>
              <a:gd name="adj" fmla="val 15486"/>
            </a:avLst>
          </a:prstGeom>
          <a:solidFill>
            <a:schemeClr val="bg1"/>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商机推进</a:t>
            </a:r>
            <a:endParaRPr lang="en-US" altLang="zh-CN"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9" name="AutoShape 13"/>
          <p:cNvSpPr>
            <a:spLocks noChangeArrowheads="1"/>
          </p:cNvSpPr>
          <p:nvPr/>
        </p:nvSpPr>
        <p:spPr bwMode="gray">
          <a:xfrm>
            <a:off x="5903744" y="1931895"/>
            <a:ext cx="2758542" cy="437462"/>
          </a:xfrm>
          <a:prstGeom prst="chevron">
            <a:avLst>
              <a:gd name="adj" fmla="val 16781"/>
            </a:avLst>
          </a:prstGeom>
          <a:solidFill>
            <a:schemeClr val="bg1"/>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制定并执行投标策略</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20" name="AutoShape 10"/>
          <p:cNvSpPr>
            <a:spLocks noChangeArrowheads="1"/>
          </p:cNvSpPr>
          <p:nvPr/>
        </p:nvSpPr>
        <p:spPr bwMode="gray">
          <a:xfrm>
            <a:off x="1016664" y="1931895"/>
            <a:ext cx="2348839" cy="437462"/>
          </a:xfrm>
          <a:prstGeom prst="chevron">
            <a:avLst>
              <a:gd name="adj" fmla="val 15711"/>
            </a:avLst>
          </a:prstGeom>
          <a:solidFill>
            <a:schemeClr val="bg1"/>
          </a:solidFill>
          <a:ln w="12700" algn="ctr">
            <a:noFill/>
            <a:miter lim="800000"/>
          </a:ln>
          <a:effectLst/>
        </p:spPr>
        <p:txBody>
          <a:bodyPr lIns="0" tIns="7793" rIns="0" bIns="7793" anchor="ctr"/>
          <a:lstStyle/>
          <a:p>
            <a:pPr algn="ctr" eaLnBrk="0" hangingPunct="0">
              <a:buSzPct val="100000"/>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验证</a:t>
            </a: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21" name="AutoShape 14"/>
          <p:cNvSpPr>
            <a:spLocks noChangeArrowheads="1"/>
          </p:cNvSpPr>
          <p:nvPr/>
        </p:nvSpPr>
        <p:spPr bwMode="gray">
          <a:xfrm>
            <a:off x="8638339" y="1931895"/>
            <a:ext cx="2658433" cy="437462"/>
          </a:xfrm>
          <a:prstGeom prst="chevron">
            <a:avLst>
              <a:gd name="adj" fmla="val 15684"/>
            </a:avLst>
          </a:prstGeom>
          <a:solidFill>
            <a:schemeClr val="bg1"/>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谈判并签订合同</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22" name="AutoShape 10"/>
          <p:cNvSpPr>
            <a:spLocks noChangeArrowheads="1"/>
          </p:cNvSpPr>
          <p:nvPr/>
        </p:nvSpPr>
        <p:spPr bwMode="gray">
          <a:xfrm>
            <a:off x="1122793" y="1565654"/>
            <a:ext cx="10173980" cy="289837"/>
          </a:xfrm>
          <a:prstGeom prst="chevron">
            <a:avLst>
              <a:gd name="adj" fmla="val 15711"/>
            </a:avLst>
          </a:prstGeom>
          <a:solidFill>
            <a:schemeClr val="bg1">
              <a:lumMod val="85000"/>
            </a:schemeClr>
          </a:solidFill>
          <a:ln w="12700" algn="ctr">
            <a:noFill/>
            <a:miter lim="800000"/>
          </a:ln>
          <a:effectLst/>
        </p:spPr>
        <p:txBody>
          <a:bodyPr lIns="0" tIns="7793" rIns="0" bIns="7793" anchor="ctr"/>
          <a:lstStyle/>
          <a:p>
            <a:pPr algn="ctr" eaLnBrk="0" hangingPunct="0">
              <a:buSzPct val="100000"/>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管理决策链</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24" name="AutoShape 47"/>
          <p:cNvSpPr>
            <a:spLocks noChangeArrowheads="1"/>
          </p:cNvSpPr>
          <p:nvPr/>
        </p:nvSpPr>
        <p:spPr bwMode="auto">
          <a:xfrm>
            <a:off x="7119235" y="1628849"/>
            <a:ext cx="613356" cy="259035"/>
          </a:xfrm>
          <a:prstGeom prst="diamond">
            <a:avLst/>
          </a:prstGeom>
          <a:solidFill>
            <a:srgbClr val="F7B021"/>
          </a:solidFill>
          <a:ln w="9525" algn="ctr">
            <a:noFill/>
            <a:miter lim="800000"/>
          </a:ln>
        </p:spPr>
        <p:txBody>
          <a:bodyPr lIns="0" tIns="0" rIns="0" bIns="0"/>
          <a:lstStyle/>
          <a:p>
            <a:pPr>
              <a:lnSpc>
                <a:spcPct val="80000"/>
              </a:lnSpc>
            </a:pPr>
            <a:endParaRPr lang="zh-CN" altLang="en-US" sz="1000" b="1">
              <a:solidFill>
                <a:srgbClr val="000000"/>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25" name="Rectangle 76"/>
          <p:cNvSpPr>
            <a:spLocks noChangeArrowheads="1"/>
          </p:cNvSpPr>
          <p:nvPr/>
        </p:nvSpPr>
        <p:spPr bwMode="auto">
          <a:xfrm>
            <a:off x="7049580" y="1642254"/>
            <a:ext cx="752667" cy="230832"/>
          </a:xfrm>
          <a:prstGeom prst="rect">
            <a:avLst/>
          </a:prstGeom>
          <a:noFill/>
          <a:ln w="9525" algn="ctr">
            <a:noFill/>
            <a:miter lim="800000"/>
          </a:ln>
        </p:spPr>
        <p:txBody>
          <a:bodyPr anchor="ctr">
            <a:spAutoFit/>
          </a:bodyPr>
          <a:lstStyle/>
          <a:p>
            <a:pPr algn="ctr"/>
            <a:r>
              <a:rPr lang="zh-CN" altLang="en-US" sz="900" b="1" dirty="0" smtClean="0">
                <a:solidFill>
                  <a:srgbClr val="000000"/>
                </a:solidFill>
                <a:latin typeface="微软雅黑" panose="020B0503020204020204" pitchFamily="34" charset="-122"/>
                <a:ea typeface="微软雅黑" panose="020B0503020204020204" pitchFamily="34" charset="-122"/>
                <a:cs typeface="Arial" panose="020B0604020202090204" pitchFamily="34" charset="0"/>
              </a:rPr>
              <a:t>投标决策</a:t>
            </a:r>
            <a:endParaRPr lang="en-US" altLang="zh-CN" sz="900" b="1" dirty="0">
              <a:solidFill>
                <a:srgbClr val="000000"/>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27" name="AutoShape 80"/>
          <p:cNvSpPr>
            <a:spLocks noChangeArrowheads="1"/>
          </p:cNvSpPr>
          <p:nvPr/>
        </p:nvSpPr>
        <p:spPr bwMode="auto">
          <a:xfrm>
            <a:off x="9158198" y="1618743"/>
            <a:ext cx="656559" cy="275837"/>
          </a:xfrm>
          <a:prstGeom prst="diamond">
            <a:avLst/>
          </a:prstGeom>
          <a:solidFill>
            <a:srgbClr val="F7B021"/>
          </a:solidFill>
          <a:ln w="9525" algn="ctr">
            <a:noFill/>
            <a:miter lim="800000"/>
          </a:ln>
        </p:spPr>
        <p:txBody>
          <a:bodyPr lIns="0" tIns="0" rIns="0" bIns="0"/>
          <a:lstStyle/>
          <a:p>
            <a:pPr>
              <a:lnSpc>
                <a:spcPct val="80000"/>
              </a:lnSpc>
            </a:pPr>
            <a:endParaRPr lang="zh-CN" altLang="en-US" sz="1000" b="1">
              <a:solidFill>
                <a:srgbClr val="000000"/>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28" name="Rectangle 81"/>
          <p:cNvSpPr>
            <a:spLocks noChangeArrowheads="1"/>
          </p:cNvSpPr>
          <p:nvPr/>
        </p:nvSpPr>
        <p:spPr bwMode="auto">
          <a:xfrm>
            <a:off x="9109218" y="1640548"/>
            <a:ext cx="754521" cy="230832"/>
          </a:xfrm>
          <a:prstGeom prst="rect">
            <a:avLst/>
          </a:prstGeom>
          <a:noFill/>
          <a:ln w="9525" algn="ctr">
            <a:noFill/>
            <a:miter lim="800000"/>
          </a:ln>
        </p:spPr>
        <p:txBody>
          <a:bodyPr anchor="ctr">
            <a:spAutoFit/>
          </a:bodyPr>
          <a:lstStyle/>
          <a:p>
            <a:pPr algn="ctr"/>
            <a:r>
              <a:rPr lang="zh-CN" altLang="en-US" sz="900" b="1" dirty="0" smtClean="0">
                <a:solidFill>
                  <a:srgbClr val="000000"/>
                </a:solidFill>
                <a:latin typeface="微软雅黑" panose="020B0503020204020204" pitchFamily="34" charset="-122"/>
                <a:ea typeface="微软雅黑" panose="020B0503020204020204" pitchFamily="34" charset="-122"/>
                <a:cs typeface="Arial" panose="020B0604020202090204" pitchFamily="34" charset="0"/>
              </a:rPr>
              <a:t>签约决策</a:t>
            </a:r>
            <a:endParaRPr lang="en-US" altLang="zh-CN" sz="900" b="1" dirty="0">
              <a:solidFill>
                <a:srgbClr val="000000"/>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0" name="AutoShape 47"/>
          <p:cNvSpPr>
            <a:spLocks noChangeArrowheads="1"/>
          </p:cNvSpPr>
          <p:nvPr/>
        </p:nvSpPr>
        <p:spPr bwMode="auto">
          <a:xfrm>
            <a:off x="2293640" y="1642325"/>
            <a:ext cx="613356" cy="259035"/>
          </a:xfrm>
          <a:prstGeom prst="diamond">
            <a:avLst/>
          </a:prstGeom>
          <a:solidFill>
            <a:srgbClr val="F7B021"/>
          </a:solidFill>
          <a:ln w="9525" algn="ctr">
            <a:noFill/>
            <a:miter lim="800000"/>
          </a:ln>
        </p:spPr>
        <p:txBody>
          <a:bodyPr lIns="0" tIns="0" rIns="0" bIns="0"/>
          <a:lstStyle/>
          <a:p>
            <a:pPr>
              <a:lnSpc>
                <a:spcPct val="80000"/>
              </a:lnSpc>
            </a:pPr>
            <a:endParaRPr lang="zh-CN" altLang="en-US" sz="1000" b="1">
              <a:solidFill>
                <a:srgbClr val="000000"/>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1" name="Rectangle 76"/>
          <p:cNvSpPr>
            <a:spLocks noChangeArrowheads="1"/>
          </p:cNvSpPr>
          <p:nvPr/>
        </p:nvSpPr>
        <p:spPr bwMode="auto">
          <a:xfrm>
            <a:off x="2223984" y="1655730"/>
            <a:ext cx="752667" cy="230832"/>
          </a:xfrm>
          <a:prstGeom prst="rect">
            <a:avLst/>
          </a:prstGeom>
          <a:noFill/>
          <a:ln w="9525" algn="ctr">
            <a:noFill/>
            <a:miter lim="800000"/>
          </a:ln>
        </p:spPr>
        <p:txBody>
          <a:bodyPr anchor="ctr">
            <a:spAutoFit/>
          </a:bodyPr>
          <a:lstStyle/>
          <a:p>
            <a:pPr algn="ctr"/>
            <a:r>
              <a:rPr lang="zh-CN" altLang="en-US" sz="900" b="1" dirty="0" smtClean="0">
                <a:solidFill>
                  <a:srgbClr val="000000"/>
                </a:solidFill>
                <a:latin typeface="微软雅黑" panose="020B0503020204020204" pitchFamily="34" charset="-122"/>
                <a:ea typeface="微软雅黑" panose="020B0503020204020204" pitchFamily="34" charset="-122"/>
                <a:cs typeface="Arial" panose="020B0604020202090204" pitchFamily="34" charset="0"/>
              </a:rPr>
              <a:t>立项决策</a:t>
            </a:r>
            <a:endParaRPr lang="en-US" altLang="zh-CN" sz="900" b="1" dirty="0">
              <a:solidFill>
                <a:srgbClr val="000000"/>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2" name="Flowchart: Process 113"/>
          <p:cNvSpPr>
            <a:spLocks noChangeArrowheads="1"/>
          </p:cNvSpPr>
          <p:nvPr/>
        </p:nvSpPr>
        <p:spPr bwMode="auto">
          <a:xfrm>
            <a:off x="3562472" y="2407529"/>
            <a:ext cx="2384063" cy="1105003"/>
          </a:xfrm>
          <a:prstGeom prst="flowChartProcess">
            <a:avLst/>
          </a:prstGeom>
          <a:noFill/>
          <a:ln w="28575" algn="ctr">
            <a:noFill/>
            <a:round/>
          </a:ln>
        </p:spPr>
        <p:txBody>
          <a:bodyPr lIns="77939" tIns="38970" rIns="77939" bIns="38970"/>
          <a:lstStyle/>
          <a:p>
            <a:pPr defTabSz="582930">
              <a:defRPr/>
            </a:pPr>
            <a:endParaRPr lang="en-US" altLang="zh-CN" sz="1400" dirty="0">
              <a:solidFill>
                <a:srgbClr val="080808"/>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3" name="Flowchart: Process 115"/>
          <p:cNvSpPr>
            <a:spLocks noChangeArrowheads="1"/>
          </p:cNvSpPr>
          <p:nvPr/>
        </p:nvSpPr>
        <p:spPr bwMode="auto">
          <a:xfrm>
            <a:off x="6152313" y="2407529"/>
            <a:ext cx="2382209" cy="1105003"/>
          </a:xfrm>
          <a:prstGeom prst="flowChartProcess">
            <a:avLst/>
          </a:prstGeom>
          <a:noFill/>
          <a:ln w="28575" algn="ctr">
            <a:noFill/>
            <a:round/>
          </a:ln>
        </p:spPr>
        <p:txBody>
          <a:bodyPr lIns="77939" tIns="38970" rIns="77939" bIns="38970"/>
          <a:lstStyle/>
          <a:p>
            <a:pPr defTabSz="582930" fontAlgn="ctr">
              <a:defRPr/>
            </a:pPr>
            <a:endParaRPr lang="en-US" altLang="zh-CN" sz="1400" dirty="0">
              <a:solidFill>
                <a:srgbClr val="080808"/>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4" name="Flowchart: Process 117"/>
          <p:cNvSpPr>
            <a:spLocks noChangeArrowheads="1"/>
          </p:cNvSpPr>
          <p:nvPr/>
        </p:nvSpPr>
        <p:spPr bwMode="auto">
          <a:xfrm>
            <a:off x="8740300" y="2517493"/>
            <a:ext cx="2473048" cy="842228"/>
          </a:xfrm>
          <a:prstGeom prst="flowChartProcess">
            <a:avLst/>
          </a:prstGeom>
          <a:noFill/>
          <a:ln w="28575" algn="ctr">
            <a:noFill/>
            <a:round/>
          </a:ln>
        </p:spPr>
        <p:txBody>
          <a:bodyPr lIns="77939" tIns="38970" rIns="77939" bIns="38970"/>
          <a:lstStyle/>
          <a:p>
            <a:pPr defTabSz="582930" fontAlgn="ctr">
              <a:defRPr/>
            </a:pPr>
            <a:endParaRPr lang="en-US" altLang="zh-CN" sz="14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5" name="Flowchart: Process 109"/>
          <p:cNvSpPr>
            <a:spLocks noChangeArrowheads="1"/>
          </p:cNvSpPr>
          <p:nvPr/>
        </p:nvSpPr>
        <p:spPr bwMode="auto">
          <a:xfrm>
            <a:off x="823223" y="2615140"/>
            <a:ext cx="2652872" cy="722368"/>
          </a:xfrm>
          <a:prstGeom prst="flowChartProcess">
            <a:avLst/>
          </a:prstGeom>
          <a:noFill/>
          <a:ln w="28575" algn="ctr">
            <a:noFill/>
            <a:round/>
          </a:ln>
        </p:spPr>
        <p:txBody>
          <a:bodyPr lIns="77939" tIns="38970" rIns="77939" bIns="38970"/>
          <a:lstStyle/>
          <a:p>
            <a:pPr defTabSz="582930" eaLnBrk="0" hangingPunct="0">
              <a:defRPr/>
            </a:pPr>
            <a:endParaRPr lang="en-US" altLang="zh-CN" sz="1400" dirty="0">
              <a:solidFill>
                <a:schemeClr val="bg2">
                  <a:lumMod val="7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6" name="Flowchart: Process 115"/>
          <p:cNvSpPr>
            <a:spLocks noChangeArrowheads="1"/>
          </p:cNvSpPr>
          <p:nvPr/>
        </p:nvSpPr>
        <p:spPr bwMode="auto">
          <a:xfrm>
            <a:off x="5973331" y="2594506"/>
            <a:ext cx="2436055" cy="765216"/>
          </a:xfrm>
          <a:prstGeom prst="flowChartProcess">
            <a:avLst/>
          </a:prstGeom>
          <a:noFill/>
          <a:ln w="28575" algn="ctr">
            <a:noFill/>
            <a:round/>
          </a:ln>
        </p:spPr>
        <p:txBody>
          <a:bodyPr lIns="77939" tIns="38970" rIns="77939" bIns="38970"/>
          <a:lstStyle/>
          <a:p>
            <a:pPr defTabSz="582930" fontAlgn="ctr">
              <a:defRPr/>
            </a:pPr>
            <a:endParaRPr lang="en-US" altLang="zh-CN" sz="1400" dirty="0">
              <a:solidFill>
                <a:srgbClr val="080808"/>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7" name="TextBox 15"/>
          <p:cNvSpPr txBox="1"/>
          <p:nvPr/>
        </p:nvSpPr>
        <p:spPr bwMode="auto">
          <a:xfrm>
            <a:off x="2907257" y="3688976"/>
            <a:ext cx="2009800" cy="294145"/>
          </a:xfrm>
          <a:prstGeom prst="rect">
            <a:avLst/>
          </a:prstGeom>
          <a:noFill/>
          <a:ln w="9525">
            <a:noFill/>
            <a:miter lim="800000"/>
          </a:ln>
        </p:spPr>
        <p:txBody>
          <a:bodyPr wrap="square" lIns="77939" tIns="38970" rIns="77939" bIns="38970" anchor="b">
            <a:spAutoFit/>
          </a:bodyPr>
          <a:lstStyle>
            <a:defPPr>
              <a:defRPr lang="zh-CN"/>
            </a:defPPr>
            <a:lvl1pPr algn="l" rtl="0" fontAlgn="base">
              <a:spcBef>
                <a:spcPct val="0"/>
              </a:spcBef>
              <a:spcAft>
                <a:spcPct val="0"/>
              </a:spcAft>
              <a:defRPr kern="1200">
                <a:solidFill>
                  <a:schemeClr val="tx1"/>
                </a:solidFill>
                <a:latin typeface="Calibri" panose="020F0502020204030204" charset="0"/>
                <a:ea typeface="宋体" pitchFamily="2" charset="-122"/>
                <a:cs typeface="+mn-cs"/>
              </a:defRPr>
            </a:lvl1pPr>
            <a:lvl2pPr marL="457200" algn="l" rtl="0" fontAlgn="base">
              <a:spcBef>
                <a:spcPct val="0"/>
              </a:spcBef>
              <a:spcAft>
                <a:spcPct val="0"/>
              </a:spcAft>
              <a:defRPr kern="1200">
                <a:solidFill>
                  <a:schemeClr val="tx1"/>
                </a:solidFill>
                <a:latin typeface="Calibri" panose="020F0502020204030204" charset="0"/>
                <a:ea typeface="宋体" pitchFamily="2" charset="-122"/>
                <a:cs typeface="+mn-cs"/>
              </a:defRPr>
            </a:lvl2pPr>
            <a:lvl3pPr marL="914400" algn="l" rtl="0" fontAlgn="base">
              <a:spcBef>
                <a:spcPct val="0"/>
              </a:spcBef>
              <a:spcAft>
                <a:spcPct val="0"/>
              </a:spcAft>
              <a:defRPr kern="1200">
                <a:solidFill>
                  <a:schemeClr val="tx1"/>
                </a:solidFill>
                <a:latin typeface="Calibri" panose="020F0502020204030204" charset="0"/>
                <a:ea typeface="宋体" pitchFamily="2" charset="-122"/>
                <a:cs typeface="+mn-cs"/>
              </a:defRPr>
            </a:lvl3pPr>
            <a:lvl4pPr marL="1371600" algn="l" rtl="0" fontAlgn="base">
              <a:spcBef>
                <a:spcPct val="0"/>
              </a:spcBef>
              <a:spcAft>
                <a:spcPct val="0"/>
              </a:spcAft>
              <a:defRPr kern="1200">
                <a:solidFill>
                  <a:schemeClr val="tx1"/>
                </a:solidFill>
                <a:latin typeface="Calibri" panose="020F0502020204030204" charset="0"/>
                <a:ea typeface="宋体" pitchFamily="2" charset="-122"/>
                <a:cs typeface="+mn-cs"/>
              </a:defRPr>
            </a:lvl4pPr>
            <a:lvl5pPr marL="1828800" algn="l" rtl="0" fontAlgn="base">
              <a:spcBef>
                <a:spcPct val="0"/>
              </a:spcBef>
              <a:spcAft>
                <a:spcPct val="0"/>
              </a:spcAft>
              <a:defRPr kern="1200">
                <a:solidFill>
                  <a:schemeClr val="tx1"/>
                </a:solidFill>
                <a:latin typeface="Calibri" panose="020F0502020204030204" charset="0"/>
                <a:ea typeface="宋体" pitchFamily="2" charset="-122"/>
                <a:cs typeface="+mn-cs"/>
              </a:defRPr>
            </a:lvl5pPr>
            <a:lvl6pPr marL="2286000" algn="l" defTabSz="914400" rtl="0" eaLnBrk="1" latinLnBrk="0" hangingPunct="1">
              <a:defRPr kern="1200">
                <a:solidFill>
                  <a:schemeClr val="tx1"/>
                </a:solidFill>
                <a:latin typeface="Calibri" panose="020F0502020204030204" charset="0"/>
                <a:ea typeface="宋体" pitchFamily="2" charset="-122"/>
                <a:cs typeface="+mn-cs"/>
              </a:defRPr>
            </a:lvl6pPr>
            <a:lvl7pPr marL="2743200" algn="l" defTabSz="914400" rtl="0" eaLnBrk="1" latinLnBrk="0" hangingPunct="1">
              <a:defRPr kern="1200">
                <a:solidFill>
                  <a:schemeClr val="tx1"/>
                </a:solidFill>
                <a:latin typeface="Calibri" panose="020F0502020204030204" charset="0"/>
                <a:ea typeface="宋体" pitchFamily="2" charset="-122"/>
                <a:cs typeface="+mn-cs"/>
              </a:defRPr>
            </a:lvl7pPr>
            <a:lvl8pPr marL="3200400" algn="l" defTabSz="914400" rtl="0" eaLnBrk="1" latinLnBrk="0" hangingPunct="1">
              <a:defRPr kern="1200">
                <a:solidFill>
                  <a:schemeClr val="tx1"/>
                </a:solidFill>
                <a:latin typeface="Calibri" panose="020F0502020204030204" charset="0"/>
                <a:ea typeface="宋体" pitchFamily="2" charset="-122"/>
                <a:cs typeface="+mn-cs"/>
              </a:defRPr>
            </a:lvl8pPr>
            <a:lvl9pPr marL="3657600" algn="l" defTabSz="914400" rtl="0" eaLnBrk="1" latinLnBrk="0" hangingPunct="1">
              <a:defRPr kern="1200">
                <a:solidFill>
                  <a:schemeClr val="tx1"/>
                </a:solidFill>
                <a:latin typeface="Calibri" panose="020F0502020204030204" charset="0"/>
                <a:ea typeface="宋体" pitchFamily="2" charset="-122"/>
                <a:cs typeface="+mn-cs"/>
              </a:defRPr>
            </a:lvl9pPr>
          </a:lstStyle>
          <a:p>
            <a:pPr>
              <a:defRPr/>
            </a:pPr>
            <a:r>
              <a:rPr lang="zh-CN" altLang="en-US" sz="1400" b="1" dirty="0" smtClean="0">
                <a:solidFill>
                  <a:schemeClr val="bg1"/>
                </a:solidFill>
                <a:latin typeface="微软雅黑" panose="020B0503020204020204" pitchFamily="34" charset="-122"/>
                <a:ea typeface="微软雅黑" panose="020B0503020204020204" pitchFamily="34" charset="-122"/>
                <a:cs typeface="Arial" panose="020B0604020202090204" pitchFamily="34" charset="0"/>
              </a:rPr>
              <a:t>关键</a:t>
            </a:r>
            <a:r>
              <a:rPr lang="en-US" altLang="zh-CN" sz="1400" b="1" dirty="0" smtClean="0">
                <a:solidFill>
                  <a:schemeClr val="bg1"/>
                </a:solidFill>
                <a:latin typeface="微软雅黑" panose="020B0503020204020204" pitchFamily="34" charset="-122"/>
                <a:ea typeface="微软雅黑" panose="020B0503020204020204" pitchFamily="34" charset="-122"/>
                <a:cs typeface="Arial" panose="020B0604020202090204" pitchFamily="34" charset="0"/>
              </a:rPr>
              <a:t>KCP/KDP</a:t>
            </a:r>
            <a:r>
              <a:rPr lang="zh-CN" altLang="en-US" sz="1400" b="1" dirty="0" smtClean="0">
                <a:solidFill>
                  <a:schemeClr val="bg1"/>
                </a:solidFill>
                <a:latin typeface="微软雅黑" panose="020B0503020204020204" pitchFamily="34" charset="-122"/>
                <a:ea typeface="微软雅黑" panose="020B0503020204020204" pitchFamily="34" charset="-122"/>
                <a:cs typeface="Arial" panose="020B0604020202090204" pitchFamily="34" charset="0"/>
              </a:rPr>
              <a:t>设计</a:t>
            </a:r>
            <a:endParaRPr lang="en-US" altLang="zh-CN" sz="1400" b="1" dirty="0">
              <a:solidFill>
                <a:schemeClr val="bg1"/>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8" name="TextBox 103"/>
          <p:cNvSpPr txBox="1"/>
          <p:nvPr/>
        </p:nvSpPr>
        <p:spPr bwMode="auto">
          <a:xfrm>
            <a:off x="8236622" y="3688976"/>
            <a:ext cx="1711268" cy="294145"/>
          </a:xfrm>
          <a:prstGeom prst="rect">
            <a:avLst/>
          </a:prstGeom>
          <a:noFill/>
          <a:ln w="9525">
            <a:noFill/>
            <a:miter lim="800000"/>
          </a:ln>
        </p:spPr>
        <p:txBody>
          <a:bodyPr wrap="square" lIns="77939" tIns="38970" rIns="77939" bIns="38970" anchor="b">
            <a:spAutoFit/>
          </a:bodyPr>
          <a:lstStyle>
            <a:defPPr>
              <a:defRPr lang="zh-CN"/>
            </a:defPPr>
            <a:lvl1pPr algn="l" rtl="0" fontAlgn="base">
              <a:spcBef>
                <a:spcPct val="0"/>
              </a:spcBef>
              <a:spcAft>
                <a:spcPct val="0"/>
              </a:spcAft>
              <a:defRPr kern="1200">
                <a:solidFill>
                  <a:schemeClr val="tx1"/>
                </a:solidFill>
                <a:latin typeface="Calibri" panose="020F0502020204030204" charset="0"/>
                <a:ea typeface="宋体" pitchFamily="2" charset="-122"/>
                <a:cs typeface="+mn-cs"/>
              </a:defRPr>
            </a:lvl1pPr>
            <a:lvl2pPr marL="457200" algn="l" rtl="0" fontAlgn="base">
              <a:spcBef>
                <a:spcPct val="0"/>
              </a:spcBef>
              <a:spcAft>
                <a:spcPct val="0"/>
              </a:spcAft>
              <a:defRPr kern="1200">
                <a:solidFill>
                  <a:schemeClr val="tx1"/>
                </a:solidFill>
                <a:latin typeface="Calibri" panose="020F0502020204030204" charset="0"/>
                <a:ea typeface="宋体" pitchFamily="2" charset="-122"/>
                <a:cs typeface="+mn-cs"/>
              </a:defRPr>
            </a:lvl2pPr>
            <a:lvl3pPr marL="914400" algn="l" rtl="0" fontAlgn="base">
              <a:spcBef>
                <a:spcPct val="0"/>
              </a:spcBef>
              <a:spcAft>
                <a:spcPct val="0"/>
              </a:spcAft>
              <a:defRPr kern="1200">
                <a:solidFill>
                  <a:schemeClr val="tx1"/>
                </a:solidFill>
                <a:latin typeface="Calibri" panose="020F0502020204030204" charset="0"/>
                <a:ea typeface="宋体" pitchFamily="2" charset="-122"/>
                <a:cs typeface="+mn-cs"/>
              </a:defRPr>
            </a:lvl3pPr>
            <a:lvl4pPr marL="1371600" algn="l" rtl="0" fontAlgn="base">
              <a:spcBef>
                <a:spcPct val="0"/>
              </a:spcBef>
              <a:spcAft>
                <a:spcPct val="0"/>
              </a:spcAft>
              <a:defRPr kern="1200">
                <a:solidFill>
                  <a:schemeClr val="tx1"/>
                </a:solidFill>
                <a:latin typeface="Calibri" panose="020F0502020204030204" charset="0"/>
                <a:ea typeface="宋体" pitchFamily="2" charset="-122"/>
                <a:cs typeface="+mn-cs"/>
              </a:defRPr>
            </a:lvl4pPr>
            <a:lvl5pPr marL="1828800" algn="l" rtl="0" fontAlgn="base">
              <a:spcBef>
                <a:spcPct val="0"/>
              </a:spcBef>
              <a:spcAft>
                <a:spcPct val="0"/>
              </a:spcAft>
              <a:defRPr kern="1200">
                <a:solidFill>
                  <a:schemeClr val="tx1"/>
                </a:solidFill>
                <a:latin typeface="Calibri" panose="020F0502020204030204" charset="0"/>
                <a:ea typeface="宋体" pitchFamily="2" charset="-122"/>
                <a:cs typeface="+mn-cs"/>
              </a:defRPr>
            </a:lvl5pPr>
            <a:lvl6pPr marL="2286000" algn="l" defTabSz="914400" rtl="0" eaLnBrk="1" latinLnBrk="0" hangingPunct="1">
              <a:defRPr kern="1200">
                <a:solidFill>
                  <a:schemeClr val="tx1"/>
                </a:solidFill>
                <a:latin typeface="Calibri" panose="020F0502020204030204" charset="0"/>
                <a:ea typeface="宋体" pitchFamily="2" charset="-122"/>
                <a:cs typeface="+mn-cs"/>
              </a:defRPr>
            </a:lvl6pPr>
            <a:lvl7pPr marL="2743200" algn="l" defTabSz="914400" rtl="0" eaLnBrk="1" latinLnBrk="0" hangingPunct="1">
              <a:defRPr kern="1200">
                <a:solidFill>
                  <a:schemeClr val="tx1"/>
                </a:solidFill>
                <a:latin typeface="Calibri" panose="020F0502020204030204" charset="0"/>
                <a:ea typeface="宋体" pitchFamily="2" charset="-122"/>
                <a:cs typeface="+mn-cs"/>
              </a:defRPr>
            </a:lvl7pPr>
            <a:lvl8pPr marL="3200400" algn="l" defTabSz="914400" rtl="0" eaLnBrk="1" latinLnBrk="0" hangingPunct="1">
              <a:defRPr kern="1200">
                <a:solidFill>
                  <a:schemeClr val="tx1"/>
                </a:solidFill>
                <a:latin typeface="Calibri" panose="020F0502020204030204" charset="0"/>
                <a:ea typeface="宋体" pitchFamily="2" charset="-122"/>
                <a:cs typeface="+mn-cs"/>
              </a:defRPr>
            </a:lvl8pPr>
            <a:lvl9pPr marL="3657600" algn="l" defTabSz="914400" rtl="0" eaLnBrk="1" latinLnBrk="0" hangingPunct="1">
              <a:defRPr kern="1200">
                <a:solidFill>
                  <a:schemeClr val="tx1"/>
                </a:solidFill>
                <a:latin typeface="Calibri" panose="020F0502020204030204" charset="0"/>
                <a:ea typeface="宋体" pitchFamily="2" charset="-122"/>
                <a:cs typeface="+mn-cs"/>
              </a:defRPr>
            </a:lvl9pPr>
          </a:lstStyle>
          <a:p>
            <a:pPr>
              <a:defRPr/>
            </a:pPr>
            <a:r>
              <a:rPr lang="zh-CN" altLang="en-US" sz="1400" b="1" dirty="0" smtClean="0">
                <a:solidFill>
                  <a:schemeClr val="bg1"/>
                </a:solidFill>
                <a:latin typeface="微软雅黑" panose="020B0503020204020204" pitchFamily="34" charset="-122"/>
                <a:ea typeface="微软雅黑" panose="020B0503020204020204" pitchFamily="34" charset="-122"/>
                <a:cs typeface="Arial" panose="020B0604020202090204" pitchFamily="34" charset="0"/>
              </a:rPr>
              <a:t>业务价值</a:t>
            </a:r>
            <a:endParaRPr lang="en-US" altLang="zh-CN" sz="1400" b="1" dirty="0">
              <a:solidFill>
                <a:schemeClr val="bg1"/>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9" name="Rectangle 93"/>
          <p:cNvSpPr>
            <a:spLocks noChangeArrowheads="1"/>
          </p:cNvSpPr>
          <p:nvPr/>
        </p:nvSpPr>
        <p:spPr bwMode="auto">
          <a:xfrm>
            <a:off x="6452754" y="5893711"/>
            <a:ext cx="4058900" cy="347202"/>
          </a:xfrm>
          <a:prstGeom prst="rect">
            <a:avLst/>
          </a:prstGeom>
          <a:noFill/>
          <a:ln>
            <a:noFill/>
          </a:ln>
        </p:spPr>
        <p:txBody>
          <a:bodyPr wrap="square" lIns="77939" tIns="38970" rIns="77939" bIns="38970">
            <a:spAutoFit/>
          </a:bodyPr>
          <a:lstStyle>
            <a:defPPr>
              <a:defRPr lang="zh-CN"/>
            </a:defPPr>
            <a:lvl1pPr algn="l" rtl="0" fontAlgn="base">
              <a:spcBef>
                <a:spcPct val="0"/>
              </a:spcBef>
              <a:spcAft>
                <a:spcPct val="0"/>
              </a:spcAft>
              <a:defRPr kern="1200">
                <a:solidFill>
                  <a:schemeClr val="tx1"/>
                </a:solidFill>
                <a:latin typeface="Calibri" panose="020F0502020204030204" charset="0"/>
                <a:ea typeface="宋体" pitchFamily="2" charset="-122"/>
                <a:cs typeface="+mn-cs"/>
              </a:defRPr>
            </a:lvl1pPr>
            <a:lvl2pPr marL="457200" algn="l" rtl="0" fontAlgn="base">
              <a:spcBef>
                <a:spcPct val="0"/>
              </a:spcBef>
              <a:spcAft>
                <a:spcPct val="0"/>
              </a:spcAft>
              <a:defRPr kern="1200">
                <a:solidFill>
                  <a:schemeClr val="tx1"/>
                </a:solidFill>
                <a:latin typeface="Calibri" panose="020F0502020204030204" charset="0"/>
                <a:ea typeface="宋体" pitchFamily="2" charset="-122"/>
                <a:cs typeface="+mn-cs"/>
              </a:defRPr>
            </a:lvl2pPr>
            <a:lvl3pPr marL="914400" algn="l" rtl="0" fontAlgn="base">
              <a:spcBef>
                <a:spcPct val="0"/>
              </a:spcBef>
              <a:spcAft>
                <a:spcPct val="0"/>
              </a:spcAft>
              <a:defRPr kern="1200">
                <a:solidFill>
                  <a:schemeClr val="tx1"/>
                </a:solidFill>
                <a:latin typeface="Calibri" panose="020F0502020204030204" charset="0"/>
                <a:ea typeface="宋体" pitchFamily="2" charset="-122"/>
                <a:cs typeface="+mn-cs"/>
              </a:defRPr>
            </a:lvl3pPr>
            <a:lvl4pPr marL="1371600" algn="l" rtl="0" fontAlgn="base">
              <a:spcBef>
                <a:spcPct val="0"/>
              </a:spcBef>
              <a:spcAft>
                <a:spcPct val="0"/>
              </a:spcAft>
              <a:defRPr kern="1200">
                <a:solidFill>
                  <a:schemeClr val="tx1"/>
                </a:solidFill>
                <a:latin typeface="Calibri" panose="020F0502020204030204" charset="0"/>
                <a:ea typeface="宋体" pitchFamily="2" charset="-122"/>
                <a:cs typeface="+mn-cs"/>
              </a:defRPr>
            </a:lvl4pPr>
            <a:lvl5pPr marL="1828800" algn="l" rtl="0" fontAlgn="base">
              <a:spcBef>
                <a:spcPct val="0"/>
              </a:spcBef>
              <a:spcAft>
                <a:spcPct val="0"/>
              </a:spcAft>
              <a:defRPr kern="1200">
                <a:solidFill>
                  <a:schemeClr val="tx1"/>
                </a:solidFill>
                <a:latin typeface="Calibri" panose="020F0502020204030204" charset="0"/>
                <a:ea typeface="宋体" pitchFamily="2" charset="-122"/>
                <a:cs typeface="+mn-cs"/>
              </a:defRPr>
            </a:lvl5pPr>
            <a:lvl6pPr marL="2286000" algn="l" defTabSz="914400" rtl="0" eaLnBrk="1" latinLnBrk="0" hangingPunct="1">
              <a:defRPr kern="1200">
                <a:solidFill>
                  <a:schemeClr val="tx1"/>
                </a:solidFill>
                <a:latin typeface="Calibri" panose="020F0502020204030204" charset="0"/>
                <a:ea typeface="宋体" pitchFamily="2" charset="-122"/>
                <a:cs typeface="+mn-cs"/>
              </a:defRPr>
            </a:lvl6pPr>
            <a:lvl7pPr marL="2743200" algn="l" defTabSz="914400" rtl="0" eaLnBrk="1" latinLnBrk="0" hangingPunct="1">
              <a:defRPr kern="1200">
                <a:solidFill>
                  <a:schemeClr val="tx1"/>
                </a:solidFill>
                <a:latin typeface="Calibri" panose="020F0502020204030204" charset="0"/>
                <a:ea typeface="宋体" pitchFamily="2" charset="-122"/>
                <a:cs typeface="+mn-cs"/>
              </a:defRPr>
            </a:lvl7pPr>
            <a:lvl8pPr marL="3200400" algn="l" defTabSz="914400" rtl="0" eaLnBrk="1" latinLnBrk="0" hangingPunct="1">
              <a:defRPr kern="1200">
                <a:solidFill>
                  <a:schemeClr val="tx1"/>
                </a:solidFill>
                <a:latin typeface="Calibri" panose="020F0502020204030204" charset="0"/>
                <a:ea typeface="宋体" pitchFamily="2" charset="-122"/>
                <a:cs typeface="+mn-cs"/>
              </a:defRPr>
            </a:lvl8pPr>
            <a:lvl9pPr marL="3657600" algn="l" defTabSz="914400" rtl="0" eaLnBrk="1" latinLnBrk="0" hangingPunct="1">
              <a:defRPr kern="1200">
                <a:solidFill>
                  <a:schemeClr val="tx1"/>
                </a:solidFill>
                <a:latin typeface="Calibri" panose="020F0502020204030204" charset="0"/>
                <a:ea typeface="宋体" pitchFamily="2" charset="-122"/>
                <a:cs typeface="+mn-cs"/>
              </a:defRPr>
            </a:lvl9p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后续交付、合同</a:t>
            </a:r>
            <a:r>
              <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/PO</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处理效率提升</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0" name="Rectangle 98"/>
          <p:cNvSpPr/>
          <p:nvPr/>
        </p:nvSpPr>
        <p:spPr>
          <a:xfrm>
            <a:off x="6452754" y="4583394"/>
            <a:ext cx="2078640" cy="347202"/>
          </a:xfrm>
          <a:prstGeom prst="rect">
            <a:avLst/>
          </a:prstGeom>
        </p:spPr>
        <p:txBody>
          <a:bodyPr wrap="none" lIns="77939" tIns="38970" rIns="77939" bIns="38970">
            <a:spAutoFit/>
          </a:body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投标赢率得到提升</a:t>
            </a: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1" name="Rectangle 99"/>
          <p:cNvSpPr/>
          <p:nvPr/>
        </p:nvSpPr>
        <p:spPr>
          <a:xfrm>
            <a:off x="6452754" y="5572249"/>
            <a:ext cx="4414851" cy="347202"/>
          </a:xfrm>
          <a:prstGeom prst="rect">
            <a:avLst/>
          </a:prstGeom>
        </p:spPr>
        <p:txBody>
          <a:bodyPr wrap="none" lIns="77939" tIns="38970" rIns="77939" bIns="38970">
            <a:spAutoFit/>
          </a:body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提升可交付性，保障交付质量，降低项目风险</a:t>
            </a: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2" name="Rectangle 100"/>
          <p:cNvSpPr/>
          <p:nvPr/>
        </p:nvSpPr>
        <p:spPr>
          <a:xfrm>
            <a:off x="6452754" y="4236193"/>
            <a:ext cx="2662693" cy="347202"/>
          </a:xfrm>
          <a:prstGeom prst="rect">
            <a:avLst/>
          </a:prstGeom>
        </p:spPr>
        <p:txBody>
          <a:bodyPr wrap="none" lIns="77939" tIns="38970" rIns="77939" bIns="38970">
            <a:spAutoFit/>
          </a:body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提高销售项目成功把握度</a:t>
            </a: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3" name="Rectangle 104"/>
          <p:cNvSpPr>
            <a:spLocks noChangeArrowheads="1"/>
          </p:cNvSpPr>
          <p:nvPr/>
        </p:nvSpPr>
        <p:spPr bwMode="auto">
          <a:xfrm>
            <a:off x="6452754" y="4900435"/>
            <a:ext cx="4058900" cy="347202"/>
          </a:xfrm>
          <a:prstGeom prst="rect">
            <a:avLst/>
          </a:prstGeom>
          <a:noFill/>
          <a:ln>
            <a:noFill/>
          </a:ln>
        </p:spPr>
        <p:txBody>
          <a:bodyPr wrap="square" lIns="77939" tIns="38970" rIns="77939" bIns="38970">
            <a:spAutoFit/>
          </a:bodyPr>
          <a:lstStyle>
            <a:defPPr>
              <a:defRPr lang="zh-CN"/>
            </a:defPPr>
            <a:lvl1pPr algn="l" rtl="0" fontAlgn="base">
              <a:spcBef>
                <a:spcPct val="0"/>
              </a:spcBef>
              <a:spcAft>
                <a:spcPct val="0"/>
              </a:spcAft>
              <a:defRPr kern="1200">
                <a:solidFill>
                  <a:schemeClr val="tx1"/>
                </a:solidFill>
                <a:latin typeface="Calibri" panose="020F0502020204030204" charset="0"/>
                <a:ea typeface="宋体" pitchFamily="2" charset="-122"/>
                <a:cs typeface="+mn-cs"/>
              </a:defRPr>
            </a:lvl1pPr>
            <a:lvl2pPr marL="457200" algn="l" rtl="0" fontAlgn="base">
              <a:spcBef>
                <a:spcPct val="0"/>
              </a:spcBef>
              <a:spcAft>
                <a:spcPct val="0"/>
              </a:spcAft>
              <a:defRPr kern="1200">
                <a:solidFill>
                  <a:schemeClr val="tx1"/>
                </a:solidFill>
                <a:latin typeface="Calibri" panose="020F0502020204030204" charset="0"/>
                <a:ea typeface="宋体" pitchFamily="2" charset="-122"/>
                <a:cs typeface="+mn-cs"/>
              </a:defRPr>
            </a:lvl2pPr>
            <a:lvl3pPr marL="914400" algn="l" rtl="0" fontAlgn="base">
              <a:spcBef>
                <a:spcPct val="0"/>
              </a:spcBef>
              <a:spcAft>
                <a:spcPct val="0"/>
              </a:spcAft>
              <a:defRPr kern="1200">
                <a:solidFill>
                  <a:schemeClr val="tx1"/>
                </a:solidFill>
                <a:latin typeface="Calibri" panose="020F0502020204030204" charset="0"/>
                <a:ea typeface="宋体" pitchFamily="2" charset="-122"/>
                <a:cs typeface="+mn-cs"/>
              </a:defRPr>
            </a:lvl3pPr>
            <a:lvl4pPr marL="1371600" algn="l" rtl="0" fontAlgn="base">
              <a:spcBef>
                <a:spcPct val="0"/>
              </a:spcBef>
              <a:spcAft>
                <a:spcPct val="0"/>
              </a:spcAft>
              <a:defRPr kern="1200">
                <a:solidFill>
                  <a:schemeClr val="tx1"/>
                </a:solidFill>
                <a:latin typeface="Calibri" panose="020F0502020204030204" charset="0"/>
                <a:ea typeface="宋体" pitchFamily="2" charset="-122"/>
                <a:cs typeface="+mn-cs"/>
              </a:defRPr>
            </a:lvl4pPr>
            <a:lvl5pPr marL="1828800" algn="l" rtl="0" fontAlgn="base">
              <a:spcBef>
                <a:spcPct val="0"/>
              </a:spcBef>
              <a:spcAft>
                <a:spcPct val="0"/>
              </a:spcAft>
              <a:defRPr kern="1200">
                <a:solidFill>
                  <a:schemeClr val="tx1"/>
                </a:solidFill>
                <a:latin typeface="Calibri" panose="020F0502020204030204" charset="0"/>
                <a:ea typeface="宋体" pitchFamily="2" charset="-122"/>
                <a:cs typeface="+mn-cs"/>
              </a:defRPr>
            </a:lvl5pPr>
            <a:lvl6pPr marL="2286000" algn="l" defTabSz="914400" rtl="0" eaLnBrk="1" latinLnBrk="0" hangingPunct="1">
              <a:defRPr kern="1200">
                <a:solidFill>
                  <a:schemeClr val="tx1"/>
                </a:solidFill>
                <a:latin typeface="Calibri" panose="020F0502020204030204" charset="0"/>
                <a:ea typeface="宋体" pitchFamily="2" charset="-122"/>
                <a:cs typeface="+mn-cs"/>
              </a:defRPr>
            </a:lvl6pPr>
            <a:lvl7pPr marL="2743200" algn="l" defTabSz="914400" rtl="0" eaLnBrk="1" latinLnBrk="0" hangingPunct="1">
              <a:defRPr kern="1200">
                <a:solidFill>
                  <a:schemeClr val="tx1"/>
                </a:solidFill>
                <a:latin typeface="Calibri" panose="020F0502020204030204" charset="0"/>
                <a:ea typeface="宋体" pitchFamily="2" charset="-122"/>
                <a:cs typeface="+mn-cs"/>
              </a:defRPr>
            </a:lvl7pPr>
            <a:lvl8pPr marL="3200400" algn="l" defTabSz="914400" rtl="0" eaLnBrk="1" latinLnBrk="0" hangingPunct="1">
              <a:defRPr kern="1200">
                <a:solidFill>
                  <a:schemeClr val="tx1"/>
                </a:solidFill>
                <a:latin typeface="Calibri" panose="020F0502020204030204" charset="0"/>
                <a:ea typeface="宋体" pitchFamily="2" charset="-122"/>
                <a:cs typeface="+mn-cs"/>
              </a:defRPr>
            </a:lvl8pPr>
            <a:lvl9pPr marL="3657600" algn="l" defTabSz="914400" rtl="0" eaLnBrk="1" latinLnBrk="0" hangingPunct="1">
              <a:defRPr kern="1200">
                <a:solidFill>
                  <a:schemeClr val="tx1"/>
                </a:solidFill>
                <a:latin typeface="Calibri" panose="020F0502020204030204" charset="0"/>
                <a:ea typeface="宋体" pitchFamily="2" charset="-122"/>
                <a:cs typeface="+mn-cs"/>
              </a:defRPr>
            </a:lvl9p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提升标书制作的效率和质量</a:t>
            </a: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4" name="Rectangle 105"/>
          <p:cNvSpPr>
            <a:spLocks noChangeArrowheads="1"/>
          </p:cNvSpPr>
          <p:nvPr/>
        </p:nvSpPr>
        <p:spPr bwMode="auto">
          <a:xfrm>
            <a:off x="6452754" y="5206058"/>
            <a:ext cx="4058900" cy="347202"/>
          </a:xfrm>
          <a:prstGeom prst="rect">
            <a:avLst/>
          </a:prstGeom>
          <a:noFill/>
          <a:ln>
            <a:noFill/>
          </a:ln>
        </p:spPr>
        <p:txBody>
          <a:bodyPr wrap="square" lIns="77939" tIns="38970" rIns="77939" bIns="38970">
            <a:spAutoFit/>
          </a:bodyPr>
          <a:lstStyle>
            <a:defPPr>
              <a:defRPr lang="zh-CN"/>
            </a:defPPr>
            <a:lvl1pPr algn="l" rtl="0" fontAlgn="base">
              <a:spcBef>
                <a:spcPct val="0"/>
              </a:spcBef>
              <a:spcAft>
                <a:spcPct val="0"/>
              </a:spcAft>
              <a:defRPr kern="1200">
                <a:solidFill>
                  <a:schemeClr val="tx1"/>
                </a:solidFill>
                <a:latin typeface="Calibri" panose="020F0502020204030204" charset="0"/>
                <a:ea typeface="宋体" pitchFamily="2" charset="-122"/>
                <a:cs typeface="+mn-cs"/>
              </a:defRPr>
            </a:lvl1pPr>
            <a:lvl2pPr marL="457200" algn="l" rtl="0" fontAlgn="base">
              <a:spcBef>
                <a:spcPct val="0"/>
              </a:spcBef>
              <a:spcAft>
                <a:spcPct val="0"/>
              </a:spcAft>
              <a:defRPr kern="1200">
                <a:solidFill>
                  <a:schemeClr val="tx1"/>
                </a:solidFill>
                <a:latin typeface="Calibri" panose="020F0502020204030204" charset="0"/>
                <a:ea typeface="宋体" pitchFamily="2" charset="-122"/>
                <a:cs typeface="+mn-cs"/>
              </a:defRPr>
            </a:lvl2pPr>
            <a:lvl3pPr marL="914400" algn="l" rtl="0" fontAlgn="base">
              <a:spcBef>
                <a:spcPct val="0"/>
              </a:spcBef>
              <a:spcAft>
                <a:spcPct val="0"/>
              </a:spcAft>
              <a:defRPr kern="1200">
                <a:solidFill>
                  <a:schemeClr val="tx1"/>
                </a:solidFill>
                <a:latin typeface="Calibri" panose="020F0502020204030204" charset="0"/>
                <a:ea typeface="宋体" pitchFamily="2" charset="-122"/>
                <a:cs typeface="+mn-cs"/>
              </a:defRPr>
            </a:lvl3pPr>
            <a:lvl4pPr marL="1371600" algn="l" rtl="0" fontAlgn="base">
              <a:spcBef>
                <a:spcPct val="0"/>
              </a:spcBef>
              <a:spcAft>
                <a:spcPct val="0"/>
              </a:spcAft>
              <a:defRPr kern="1200">
                <a:solidFill>
                  <a:schemeClr val="tx1"/>
                </a:solidFill>
                <a:latin typeface="Calibri" panose="020F0502020204030204" charset="0"/>
                <a:ea typeface="宋体" pitchFamily="2" charset="-122"/>
                <a:cs typeface="+mn-cs"/>
              </a:defRPr>
            </a:lvl4pPr>
            <a:lvl5pPr marL="1828800" algn="l" rtl="0" fontAlgn="base">
              <a:spcBef>
                <a:spcPct val="0"/>
              </a:spcBef>
              <a:spcAft>
                <a:spcPct val="0"/>
              </a:spcAft>
              <a:defRPr kern="1200">
                <a:solidFill>
                  <a:schemeClr val="tx1"/>
                </a:solidFill>
                <a:latin typeface="Calibri" panose="020F0502020204030204" charset="0"/>
                <a:ea typeface="宋体" pitchFamily="2" charset="-122"/>
                <a:cs typeface="+mn-cs"/>
              </a:defRPr>
            </a:lvl5pPr>
            <a:lvl6pPr marL="2286000" algn="l" defTabSz="914400" rtl="0" eaLnBrk="1" latinLnBrk="0" hangingPunct="1">
              <a:defRPr kern="1200">
                <a:solidFill>
                  <a:schemeClr val="tx1"/>
                </a:solidFill>
                <a:latin typeface="Calibri" panose="020F0502020204030204" charset="0"/>
                <a:ea typeface="宋体" pitchFamily="2" charset="-122"/>
                <a:cs typeface="+mn-cs"/>
              </a:defRPr>
            </a:lvl6pPr>
            <a:lvl7pPr marL="2743200" algn="l" defTabSz="914400" rtl="0" eaLnBrk="1" latinLnBrk="0" hangingPunct="1">
              <a:defRPr kern="1200">
                <a:solidFill>
                  <a:schemeClr val="tx1"/>
                </a:solidFill>
                <a:latin typeface="Calibri" panose="020F0502020204030204" charset="0"/>
                <a:ea typeface="宋体" pitchFamily="2" charset="-122"/>
                <a:cs typeface="+mn-cs"/>
              </a:defRPr>
            </a:lvl7pPr>
            <a:lvl8pPr marL="3200400" algn="l" defTabSz="914400" rtl="0" eaLnBrk="1" latinLnBrk="0" hangingPunct="1">
              <a:defRPr kern="1200">
                <a:solidFill>
                  <a:schemeClr val="tx1"/>
                </a:solidFill>
                <a:latin typeface="Calibri" panose="020F0502020204030204" charset="0"/>
                <a:ea typeface="宋体" pitchFamily="2" charset="-122"/>
                <a:cs typeface="+mn-cs"/>
              </a:defRPr>
            </a:lvl8pPr>
            <a:lvl9pPr marL="3657600" algn="l" defTabSz="914400" rtl="0" eaLnBrk="1" latinLnBrk="0" hangingPunct="1">
              <a:defRPr kern="1200">
                <a:solidFill>
                  <a:schemeClr val="tx1"/>
                </a:solidFill>
                <a:latin typeface="Calibri" panose="020F0502020204030204" charset="0"/>
                <a:ea typeface="宋体" pitchFamily="2" charset="-122"/>
                <a:cs typeface="+mn-cs"/>
              </a:defRPr>
            </a:lvl9p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确保合同的合规性</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6" name="Rectangle 81"/>
          <p:cNvSpPr/>
          <p:nvPr/>
        </p:nvSpPr>
        <p:spPr bwMode="auto">
          <a:xfrm>
            <a:off x="6171745" y="2552813"/>
            <a:ext cx="2459356" cy="957513"/>
          </a:xfrm>
          <a:prstGeom prst="roundRect">
            <a:avLst/>
          </a:prstGeom>
          <a:solidFill>
            <a:schemeClr val="bg1">
              <a:lumMod val="95000"/>
            </a:schemeClr>
          </a:solidFill>
          <a:ln w="9525" cap="flat" cmpd="sng" algn="ctr">
            <a:noFill/>
            <a:prstDash val="solid"/>
            <a:round/>
            <a:headEnd type="none" w="med" len="med"/>
            <a:tailEnd type="none" w="med" len="med"/>
          </a:ln>
          <a:effectLst/>
        </p:spPr>
        <p:txBody>
          <a:bodyPr vert="horz" wrap="square" lIns="77939" tIns="38970" rIns="77939" bIns="38970" numCol="1" rtlCol="0" anchor="t" anchorCtr="0" compatLnSpc="1">
            <a:noAutofit/>
          </a:bodyPr>
          <a:lstStyle/>
          <a:p>
            <a:pPr defTabSz="582930" fontAlgn="ctr">
              <a:defRPr/>
            </a:pP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7" name="矩形 46"/>
          <p:cNvSpPr/>
          <p:nvPr/>
        </p:nvSpPr>
        <p:spPr>
          <a:xfrm>
            <a:off x="6291302" y="2704996"/>
            <a:ext cx="2220243" cy="646331"/>
          </a:xfrm>
          <a:prstGeom prst="rect">
            <a:avLst/>
          </a:prstGeom>
        </p:spPr>
        <p:txBody>
          <a:bodyPr wrap="square">
            <a:spAutoFit/>
          </a:bodyPr>
          <a:lstStyle/>
          <a:p>
            <a:pPr defTabSz="582930" fontAlgn="ctr">
              <a:defRPr/>
            </a:pP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分析客户标书，制定有效投标策略，包括</a:t>
            </a:r>
            <a:r>
              <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 </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价格策略，商务策略等</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9" name="Rectangle 86"/>
          <p:cNvSpPr/>
          <p:nvPr/>
        </p:nvSpPr>
        <p:spPr bwMode="auto">
          <a:xfrm>
            <a:off x="8811057" y="2552813"/>
            <a:ext cx="2459356" cy="957513"/>
          </a:xfrm>
          <a:prstGeom prst="roundRect">
            <a:avLst/>
          </a:prstGeom>
          <a:solidFill>
            <a:schemeClr val="bg1">
              <a:lumMod val="95000"/>
            </a:schemeClr>
          </a:solidFill>
          <a:ln w="9525" cap="flat" cmpd="sng" algn="ctr">
            <a:noFill/>
            <a:prstDash val="solid"/>
            <a:round/>
            <a:headEnd type="none" w="med" len="med"/>
            <a:tailEnd type="none" w="med" len="med"/>
          </a:ln>
          <a:effectLst/>
        </p:spPr>
        <p:txBody>
          <a:bodyPr vert="horz" wrap="square" lIns="77939" tIns="38970" rIns="77939" bIns="38970" numCol="1" rtlCol="0" anchor="t" anchorCtr="0" compatLnSpc="1">
            <a:noAutofit/>
          </a:bodyPr>
          <a:lstStyle/>
          <a:p>
            <a:pPr defTabSz="582930" fontAlgn="ctr">
              <a:defRPr/>
            </a:pP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50" name="矩形 49"/>
          <p:cNvSpPr/>
          <p:nvPr/>
        </p:nvSpPr>
        <p:spPr>
          <a:xfrm>
            <a:off x="8799576" y="2704996"/>
            <a:ext cx="2482317" cy="646331"/>
          </a:xfrm>
          <a:prstGeom prst="rect">
            <a:avLst/>
          </a:prstGeom>
        </p:spPr>
        <p:txBody>
          <a:bodyPr wrap="square">
            <a:spAutoFit/>
          </a:bodyPr>
          <a:lstStyle/>
          <a:p>
            <a:pPr defTabSz="582930" fontAlgn="ctr">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与客户谈判并签约，准备合同交接并关闭机会</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点，同时，启动丢</a:t>
            </a:r>
            <a:r>
              <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赢单复盘</a:t>
            </a: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52" name="Rectangle 83"/>
          <p:cNvSpPr/>
          <p:nvPr/>
        </p:nvSpPr>
        <p:spPr bwMode="auto">
          <a:xfrm>
            <a:off x="868474" y="2552813"/>
            <a:ext cx="2459356" cy="957513"/>
          </a:xfrm>
          <a:prstGeom prst="roundRect">
            <a:avLst/>
          </a:prstGeom>
          <a:solidFill>
            <a:schemeClr val="bg1">
              <a:lumMod val="95000"/>
            </a:schemeClr>
          </a:solidFill>
          <a:ln w="9525" cap="flat" cmpd="sng" algn="ctr">
            <a:noFill/>
            <a:prstDash val="solid"/>
            <a:round/>
            <a:headEnd type="none" w="med" len="med"/>
            <a:tailEnd type="none" w="med" len="med"/>
          </a:ln>
          <a:effectLst/>
        </p:spPr>
        <p:txBody>
          <a:bodyPr vert="horz" wrap="square" lIns="77939" tIns="38970" rIns="77939" bIns="38970" numCol="1" rtlCol="0" anchor="t" anchorCtr="0" compatLnSpc="1">
            <a:noAutofit/>
          </a:bodyPr>
          <a:lstStyle/>
          <a:p>
            <a:pPr defTabSz="582930" eaLnBrk="0" hangingPunct="0">
              <a:defRPr/>
            </a:pP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53" name="矩形 52"/>
          <p:cNvSpPr/>
          <p:nvPr/>
        </p:nvSpPr>
        <p:spPr>
          <a:xfrm>
            <a:off x="923878" y="2704996"/>
            <a:ext cx="2451562" cy="461665"/>
          </a:xfrm>
          <a:prstGeom prst="rect">
            <a:avLst/>
          </a:prstGeom>
        </p:spPr>
        <p:txBody>
          <a:bodyPr wrap="square">
            <a:spAutoFit/>
          </a:bodyPr>
          <a:lstStyle/>
          <a:p>
            <a:pPr defTabSz="582930" eaLnBrk="0" hangingPunct="0">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分析和评估机会点</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，完成商机进漏斗审批，分级分层及立项决策</a:t>
            </a: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55" name="Rectangle 82"/>
          <p:cNvSpPr/>
          <p:nvPr/>
        </p:nvSpPr>
        <p:spPr bwMode="auto">
          <a:xfrm>
            <a:off x="3543915" y="2552813"/>
            <a:ext cx="2459356" cy="957513"/>
          </a:xfrm>
          <a:prstGeom prst="roundRect">
            <a:avLst/>
          </a:prstGeom>
          <a:solidFill>
            <a:schemeClr val="bg1">
              <a:lumMod val="95000"/>
            </a:schemeClr>
          </a:solidFill>
          <a:ln w="9525" cap="flat" cmpd="sng" algn="ctr">
            <a:noFill/>
            <a:prstDash val="solid"/>
            <a:round/>
            <a:headEnd type="none" w="med" len="med"/>
            <a:tailEnd type="none" w="med" len="med"/>
          </a:ln>
          <a:effectLst/>
        </p:spPr>
        <p:txBody>
          <a:bodyPr vert="horz" wrap="square" lIns="77939" tIns="38970" rIns="77939" bIns="38970" numCol="1" rtlCol="0" anchor="t" anchorCtr="0" compatLnSpc="1">
            <a:noAutofit/>
          </a:bodyPr>
          <a:lstStyle/>
          <a:p>
            <a:pPr defTabSz="582930" fontAlgn="ctr">
              <a:defRPr/>
            </a:pP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56" name="矩形 55"/>
          <p:cNvSpPr/>
          <p:nvPr/>
        </p:nvSpPr>
        <p:spPr>
          <a:xfrm>
            <a:off x="3581561" y="2729001"/>
            <a:ext cx="2384063" cy="646331"/>
          </a:xfrm>
          <a:prstGeom prst="rect">
            <a:avLst/>
          </a:prstGeom>
        </p:spPr>
        <p:txBody>
          <a:bodyPr wrap="square">
            <a:spAutoFit/>
          </a:bodyPr>
          <a:lstStyle/>
          <a:p>
            <a:pPr defTabSz="582930" fontAlgn="ctr">
              <a:defRPr/>
            </a:pP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制定解决方案和价值主张，影响</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客户</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的</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购买构想并取得认可，引导客户标书和评标标准</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74" name="Rectangle 100"/>
          <p:cNvSpPr/>
          <p:nvPr/>
        </p:nvSpPr>
        <p:spPr>
          <a:xfrm>
            <a:off x="945048" y="4337981"/>
            <a:ext cx="2874170" cy="245413"/>
          </a:xfrm>
          <a:prstGeom prst="rect">
            <a:avLst/>
          </a:prstGeom>
        </p:spPr>
        <p:txBody>
          <a:bodyPr wrap="none" lIns="77939" tIns="38970" rIns="77939" bIns="38970">
            <a:spAutoFit/>
          </a:body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验证商机：商机审批，立项评审决策</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75" name="Rectangle 100"/>
          <p:cNvSpPr/>
          <p:nvPr/>
        </p:nvSpPr>
        <p:spPr>
          <a:xfrm>
            <a:off x="952043" y="4761957"/>
            <a:ext cx="2104728" cy="245413"/>
          </a:xfrm>
          <a:prstGeom prst="rect">
            <a:avLst/>
          </a:prstGeom>
        </p:spPr>
        <p:txBody>
          <a:bodyPr wrap="none" lIns="77939" tIns="38970" rIns="77939" bIns="38970">
            <a:spAutoFit/>
          </a:body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推进商机：解决方案评审</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76" name="Rectangle 100"/>
          <p:cNvSpPr/>
          <p:nvPr/>
        </p:nvSpPr>
        <p:spPr>
          <a:xfrm>
            <a:off x="952043" y="5226193"/>
            <a:ext cx="3335834" cy="245413"/>
          </a:xfrm>
          <a:prstGeom prst="rect">
            <a:avLst/>
          </a:prstGeom>
        </p:spPr>
        <p:txBody>
          <a:bodyPr wrap="none" lIns="77939" tIns="38970" rIns="77939" bIns="38970">
            <a:spAutoFit/>
          </a:body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制定并执行投标策略：标前评审，特价审批</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77" name="Rectangle 100"/>
          <p:cNvSpPr/>
          <p:nvPr/>
        </p:nvSpPr>
        <p:spPr>
          <a:xfrm>
            <a:off x="962168" y="5709139"/>
            <a:ext cx="3863223" cy="245413"/>
          </a:xfrm>
          <a:prstGeom prst="rect">
            <a:avLst/>
          </a:prstGeom>
        </p:spPr>
        <p:txBody>
          <a:bodyPr wrap="none" lIns="77939" tIns="38970" rIns="77939" bIns="38970">
            <a:spAutoFit/>
          </a:body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谈判并签订合同：直签项目合同评审，丢</a:t>
            </a:r>
            <a:r>
              <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赢单复盘</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8018145" cy="495935"/>
          </a:xfrm>
        </p:spPr>
        <p:txBody>
          <a:bodyPr/>
          <a:lstStyle/>
          <a:p>
            <a:r>
              <a:rPr lang="en-US" altLang="zh-CN" dirty="0" smtClean="0"/>
              <a:t>MO</a:t>
            </a:r>
            <a:r>
              <a:rPr lang="zh-CN" altLang="en-US" dirty="0" smtClean="0"/>
              <a:t>的组织保障（重客</a:t>
            </a:r>
            <a:r>
              <a:rPr lang="en-US" altLang="zh-CN" dirty="0" smtClean="0"/>
              <a:t>+</a:t>
            </a:r>
            <a:r>
              <a:rPr dirty="0" smtClean="0"/>
              <a:t>所有</a:t>
            </a:r>
            <a:r>
              <a:rPr lang="en-US" altLang="zh-CN" dirty="0" smtClean="0"/>
              <a:t>BU</a:t>
            </a:r>
            <a:r>
              <a:rPr dirty="0" smtClean="0"/>
              <a:t>级</a:t>
            </a:r>
            <a:r>
              <a:rPr dirty="0" smtClean="0"/>
              <a:t>以上立项项目）</a:t>
            </a:r>
            <a:endParaRPr dirty="0" smtClean="0"/>
          </a:p>
        </p:txBody>
      </p:sp>
      <p:pic>
        <p:nvPicPr>
          <p:cNvPr id="66" name="图片 65"/>
          <p:cNvPicPr>
            <a:picLocks noChangeAspect="1"/>
          </p:cNvPicPr>
          <p:nvPr/>
        </p:nvPicPr>
        <p:blipFill>
          <a:blip r:embed="rId1"/>
          <a:stretch>
            <a:fillRect/>
          </a:stretch>
        </p:blipFill>
        <p:spPr>
          <a:xfrm>
            <a:off x="0" y="770890"/>
            <a:ext cx="12192000" cy="611314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4" y="274320"/>
            <a:ext cx="5089749" cy="495935"/>
          </a:xfrm>
        </p:spPr>
        <p:txBody>
          <a:bodyPr/>
          <a:lstStyle/>
          <a:p>
            <a:r>
              <a:rPr lang="en-US" altLang="zh-CN" dirty="0" smtClean="0"/>
              <a:t>MO</a:t>
            </a:r>
            <a:r>
              <a:rPr lang="zh-CN" altLang="en-US" dirty="0" smtClean="0"/>
              <a:t>的组织保障及关键评审决策点</a:t>
            </a:r>
            <a:endParaRPr lang="zh-CN" altLang="en-US" dirty="0"/>
          </a:p>
        </p:txBody>
      </p:sp>
      <p:sp>
        <p:nvSpPr>
          <p:cNvPr id="3" name="圆角矩形 2"/>
          <p:cNvSpPr/>
          <p:nvPr/>
        </p:nvSpPr>
        <p:spPr bwMode="auto">
          <a:xfrm>
            <a:off x="378842" y="3209871"/>
            <a:ext cx="342173" cy="3028193"/>
          </a:xfrm>
          <a:prstGeom prst="roundRect">
            <a:avLst/>
          </a:prstGeom>
          <a:solidFill>
            <a:srgbClr val="F7B02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no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a:ln>
                <a:noFill/>
              </a:ln>
              <a:solidFill>
                <a:schemeClr val="bg1"/>
              </a:solidFill>
              <a:effectLst/>
              <a:latin typeface="Arial" panose="020B0604020202090204" pitchFamily="34" charset="0"/>
              <a:cs typeface="Arial" panose="020B0604020202090204" pitchFamily="34" charset="0"/>
            </a:endParaRPr>
          </a:p>
        </p:txBody>
      </p:sp>
      <p:sp>
        <p:nvSpPr>
          <p:cNvPr id="4" name="圆角矩形 3"/>
          <p:cNvSpPr/>
          <p:nvPr/>
        </p:nvSpPr>
        <p:spPr bwMode="auto">
          <a:xfrm>
            <a:off x="381178" y="1061235"/>
            <a:ext cx="342173" cy="2103723"/>
          </a:xfrm>
          <a:prstGeom prst="roundRect">
            <a:avLst/>
          </a:prstGeom>
          <a:solidFill>
            <a:srgbClr val="F7B02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no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grpSp>
        <p:nvGrpSpPr>
          <p:cNvPr id="5" name="组合 4"/>
          <p:cNvGrpSpPr/>
          <p:nvPr/>
        </p:nvGrpSpPr>
        <p:grpSpPr>
          <a:xfrm>
            <a:off x="779999" y="3157772"/>
            <a:ext cx="10578947" cy="1419316"/>
            <a:chOff x="424962" y="2291282"/>
            <a:chExt cx="8565172" cy="1071135"/>
          </a:xfrm>
        </p:grpSpPr>
        <p:grpSp>
          <p:nvGrpSpPr>
            <p:cNvPr id="6" name="组合 5"/>
            <p:cNvGrpSpPr/>
            <p:nvPr/>
          </p:nvGrpSpPr>
          <p:grpSpPr>
            <a:xfrm>
              <a:off x="424962" y="2318278"/>
              <a:ext cx="8565172" cy="1044139"/>
              <a:chOff x="424962" y="2032399"/>
              <a:chExt cx="8565172" cy="1758553"/>
            </a:xfrm>
          </p:grpSpPr>
          <p:sp>
            <p:nvSpPr>
              <p:cNvPr id="10" name="AutoShape 16"/>
              <p:cNvSpPr>
                <a:spLocks noChangeArrowheads="1"/>
              </p:cNvSpPr>
              <p:nvPr/>
            </p:nvSpPr>
            <p:spPr bwMode="auto">
              <a:xfrm>
                <a:off x="2085807" y="2032399"/>
                <a:ext cx="3222877" cy="1758553"/>
              </a:xfrm>
              <a:prstGeom prst="chevron">
                <a:avLst>
                  <a:gd name="adj" fmla="val 11465"/>
                </a:avLst>
              </a:prstGeom>
              <a:solidFill>
                <a:srgbClr val="0070C0"/>
              </a:solidFill>
              <a:ln w="9525" cap="flat" cmpd="sng" algn="ctr">
                <a:noFill/>
                <a:prstDash val="solid"/>
                <a:round/>
                <a:headEnd type="none" w="med" len="med"/>
                <a:tailEnd type="none" w="med" len="med"/>
              </a:ln>
              <a:effectLst/>
            </p:spPr>
            <p:txBody>
              <a:bodyPr lIns="77939" tIns="38970" rIns="77939" bIns="38970"/>
              <a:lstStyle/>
              <a:p>
                <a:pPr algn="ctr" defTabSz="582930">
                  <a:defRPr/>
                </a:pPr>
                <a:endParaRPr lang="zh-HK" altLang="en-US" sz="1000" b="1" dirty="0">
                  <a:solidFill>
                    <a:srgbClr val="FFFFFF"/>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1" name="AutoShape 12"/>
              <p:cNvSpPr>
                <a:spLocks noChangeArrowheads="1"/>
              </p:cNvSpPr>
              <p:nvPr/>
            </p:nvSpPr>
            <p:spPr bwMode="gray">
              <a:xfrm>
                <a:off x="3010145" y="2693194"/>
                <a:ext cx="720000" cy="1028700"/>
              </a:xfrm>
              <a:prstGeom prst="chevron">
                <a:avLst>
                  <a:gd name="adj" fmla="val 15458"/>
                </a:avLst>
              </a:prstGeom>
              <a:solidFill>
                <a:schemeClr val="bg1"/>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0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商机推进</a:t>
                </a:r>
                <a:endParaRPr lang="en-US" altLang="zh-CN"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2" name="Pentagon 57"/>
              <p:cNvSpPr/>
              <p:nvPr/>
            </p:nvSpPr>
            <p:spPr bwMode="auto">
              <a:xfrm>
                <a:off x="436684" y="2032399"/>
                <a:ext cx="1804047" cy="1758553"/>
              </a:xfrm>
              <a:prstGeom prst="homePlate">
                <a:avLst>
                  <a:gd name="adj" fmla="val 12868"/>
                </a:avLst>
              </a:prstGeom>
              <a:solidFill>
                <a:srgbClr val="0070C0"/>
              </a:solidFill>
              <a:ln w="9525" cap="flat" cmpd="sng" algn="ctr">
                <a:noFill/>
                <a:prstDash val="solid"/>
                <a:round/>
                <a:headEnd type="none" w="med" len="med"/>
                <a:tailEnd type="none" w="med" len="med"/>
              </a:ln>
              <a:effectLst/>
            </p:spPr>
            <p:txBody>
              <a:bodyPr lIns="0" tIns="38970" rIns="0" bIns="38970"/>
              <a:lstStyle/>
              <a:p>
                <a:pPr algn="ctr" defTabSz="582930">
                  <a:defRPr/>
                </a:pPr>
                <a:endParaRPr lang="zh-CN" altLang="en-US" sz="1000" b="1" dirty="0">
                  <a:solidFill>
                    <a:srgbClr val="FFFFFF"/>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3" name="AutoShape 12"/>
              <p:cNvSpPr>
                <a:spLocks noChangeArrowheads="1"/>
              </p:cNvSpPr>
              <p:nvPr/>
            </p:nvSpPr>
            <p:spPr bwMode="gray">
              <a:xfrm>
                <a:off x="964589" y="2328865"/>
                <a:ext cx="648000" cy="1393031"/>
              </a:xfrm>
              <a:prstGeom prst="chevron">
                <a:avLst>
                  <a:gd name="adj" fmla="val 22403"/>
                </a:avLst>
              </a:prstGeom>
              <a:solidFill>
                <a:schemeClr val="bg1"/>
              </a:solidFill>
              <a:ln w="12700" algn="ctr">
                <a:noFill/>
                <a:miter lim="800000"/>
              </a:ln>
              <a:effectLst/>
            </p:spPr>
            <p:txBody>
              <a:bodyPr lIns="0" tIns="7793" rIns="0" bIns="7793" anchor="ctr"/>
              <a:lstStyle/>
              <a:p>
                <a:pPr algn="ctr"/>
                <a:r>
                  <a:rPr lang="zh-CN" altLang="en-US"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验证和</a:t>
                </a:r>
                <a:br>
                  <a:rPr lang="en-US" altLang="zh-CN"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br>
                <a:r>
                  <a:rPr lang="zh-CN" altLang="en-US"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分发线索</a:t>
                </a:r>
                <a:endParaRPr lang="zh-CN" altLang="en-US"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4" name="AutoShape 13"/>
              <p:cNvSpPr>
                <a:spLocks noChangeArrowheads="1"/>
              </p:cNvSpPr>
              <p:nvPr/>
            </p:nvSpPr>
            <p:spPr bwMode="gray">
              <a:xfrm>
                <a:off x="1504216" y="2328865"/>
                <a:ext cx="648000" cy="1393031"/>
              </a:xfrm>
              <a:prstGeom prst="chevron">
                <a:avLst>
                  <a:gd name="adj" fmla="val 21940"/>
                </a:avLst>
              </a:prstGeom>
              <a:solidFill>
                <a:schemeClr val="bg1"/>
              </a:solidFill>
              <a:ln w="12700" algn="ctr">
                <a:noFill/>
                <a:miter lim="800000"/>
              </a:ln>
              <a:effectLst/>
            </p:spPr>
            <p:txBody>
              <a:bodyPr lIns="0" tIns="7793" rIns="0" bIns="7793" anchor="ctr"/>
              <a:lstStyle/>
              <a:p>
                <a:pPr algn="ctr"/>
                <a:r>
                  <a:rPr lang="zh-CN" altLang="en-US"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跟踪和</a:t>
                </a:r>
                <a:br>
                  <a:rPr lang="en-US" altLang="zh-CN"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br>
                <a:r>
                  <a:rPr lang="zh-CN" altLang="en-US"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培育线索</a:t>
                </a:r>
                <a:endParaRPr lang="zh-CN" altLang="en-US"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5" name="AutoShape 10"/>
              <p:cNvSpPr>
                <a:spLocks noChangeArrowheads="1"/>
              </p:cNvSpPr>
              <p:nvPr/>
            </p:nvSpPr>
            <p:spPr bwMode="gray">
              <a:xfrm>
                <a:off x="424962" y="2328865"/>
                <a:ext cx="648000" cy="1393031"/>
              </a:xfrm>
              <a:prstGeom prst="chevron">
                <a:avLst>
                  <a:gd name="adj" fmla="val 22630"/>
                </a:avLst>
              </a:prstGeom>
              <a:solidFill>
                <a:schemeClr val="bg1"/>
              </a:solidFill>
              <a:ln w="12700" algn="ctr">
                <a:noFill/>
                <a:miter lim="800000"/>
              </a:ln>
              <a:effectLst/>
            </p:spPr>
            <p:txBody>
              <a:bodyPr lIns="0" tIns="7793" rIns="0" bIns="7793" anchor="ctr"/>
              <a:lstStyle/>
              <a:p>
                <a:pPr algn="ctr"/>
                <a:r>
                  <a:rPr lang="zh-CN" altLang="en-US"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收集和</a:t>
                </a:r>
                <a:br>
                  <a:rPr lang="en-US" altLang="zh-CN"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br>
                <a:r>
                  <a:rPr lang="zh-CN" altLang="en-US"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生成线索</a:t>
                </a:r>
                <a:endParaRPr lang="zh-CN" altLang="en-US"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6" name="AutoShape 10"/>
              <p:cNvSpPr>
                <a:spLocks noChangeArrowheads="1"/>
              </p:cNvSpPr>
              <p:nvPr/>
            </p:nvSpPr>
            <p:spPr bwMode="gray">
              <a:xfrm>
                <a:off x="2258970" y="2333627"/>
                <a:ext cx="2876550" cy="177874"/>
              </a:xfrm>
              <a:prstGeom prst="chevron">
                <a:avLst>
                  <a:gd name="adj" fmla="val 15731"/>
                </a:avLst>
              </a:prstGeom>
              <a:solidFill>
                <a:schemeClr val="bg1"/>
              </a:solidFill>
              <a:ln w="12700" algn="ctr">
                <a:noFill/>
                <a:miter lim="800000"/>
              </a:ln>
              <a:effectLst/>
            </p:spPr>
            <p:txBody>
              <a:bodyPr lIns="0" tIns="7793" rIns="0" bIns="7793" anchor="ctr"/>
              <a:lstStyle/>
              <a:p>
                <a:pPr algn="ctr" eaLnBrk="0" hangingPunct="0">
                  <a:buSzPct val="100000"/>
                </a:pP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管理决策链</a:t>
                </a:r>
                <a:endPar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grpSp>
            <p:nvGrpSpPr>
              <p:cNvPr id="17" name="组合 16"/>
              <p:cNvGrpSpPr/>
              <p:nvPr/>
            </p:nvGrpSpPr>
            <p:grpSpPr>
              <a:xfrm>
                <a:off x="3741617" y="2562574"/>
                <a:ext cx="720000" cy="1159320"/>
                <a:chOff x="3720980" y="2400649"/>
                <a:chExt cx="720000" cy="1159320"/>
              </a:xfrm>
            </p:grpSpPr>
            <p:sp>
              <p:nvSpPr>
                <p:cNvPr id="56" name="AutoShape 13"/>
                <p:cNvSpPr>
                  <a:spLocks noChangeArrowheads="1"/>
                </p:cNvSpPr>
                <p:nvPr/>
              </p:nvSpPr>
              <p:spPr bwMode="gray">
                <a:xfrm>
                  <a:off x="3720980" y="2531269"/>
                  <a:ext cx="720000" cy="1028700"/>
                </a:xfrm>
                <a:prstGeom prst="chevron">
                  <a:avLst>
                    <a:gd name="adj" fmla="val 16731"/>
                  </a:avLst>
                </a:prstGeom>
                <a:solidFill>
                  <a:schemeClr val="bg1"/>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0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制定并执行投标策略</a:t>
                  </a:r>
                  <a:endPar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grpSp>
              <p:nvGrpSpPr>
                <p:cNvPr id="57" name="Group 86"/>
                <p:cNvGrpSpPr/>
                <p:nvPr/>
              </p:nvGrpSpPr>
              <p:grpSpPr bwMode="auto">
                <a:xfrm>
                  <a:off x="3804022" y="2400649"/>
                  <a:ext cx="553916" cy="293399"/>
                  <a:chOff x="3238488" y="2177684"/>
                  <a:chExt cx="617538" cy="335676"/>
                </a:xfrm>
                <a:effectLst/>
              </p:grpSpPr>
              <p:sp>
                <p:nvSpPr>
                  <p:cNvPr id="58" name="AutoShape 47"/>
                  <p:cNvSpPr>
                    <a:spLocks noChangeArrowheads="1"/>
                  </p:cNvSpPr>
                  <p:nvPr/>
                </p:nvSpPr>
                <p:spPr bwMode="auto">
                  <a:xfrm>
                    <a:off x="3295638" y="2222488"/>
                    <a:ext cx="503238" cy="246063"/>
                  </a:xfrm>
                  <a:prstGeom prst="diamond">
                    <a:avLst/>
                  </a:prstGeom>
                  <a:solidFill>
                    <a:srgbClr val="F7B021"/>
                  </a:solidFill>
                  <a:ln w="9525" algn="ctr">
                    <a:noFill/>
                    <a:miter lim="800000"/>
                  </a:ln>
                </p:spPr>
                <p:txBody>
                  <a:bodyPr lIns="0" tIns="0" rIns="0" bIns="0"/>
                  <a:lstStyle/>
                  <a:p>
                    <a:pPr>
                      <a:lnSpc>
                        <a:spcPct val="80000"/>
                      </a:lnSpc>
                    </a:pPr>
                    <a:endParaRPr lang="zh-CN" altLang="en-US"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59" name="Rectangle 76"/>
                  <p:cNvSpPr>
                    <a:spLocks noChangeArrowheads="1"/>
                  </p:cNvSpPr>
                  <p:nvPr/>
                </p:nvSpPr>
                <p:spPr bwMode="auto">
                  <a:xfrm>
                    <a:off x="3238488" y="2177684"/>
                    <a:ext cx="617538" cy="335676"/>
                  </a:xfrm>
                  <a:prstGeom prst="rect">
                    <a:avLst/>
                  </a:prstGeom>
                  <a:noFill/>
                  <a:ln w="9525" algn="ctr">
                    <a:noFill/>
                    <a:miter lim="800000"/>
                  </a:ln>
                </p:spPr>
                <p:txBody>
                  <a:bodyPr anchor="ctr">
                    <a:spAutoFit/>
                  </a:bodyPr>
                  <a:lstStyle/>
                  <a:p>
                    <a:pPr algn="ctr"/>
                    <a:r>
                      <a:rPr lang="zh-CN" altLang="en-US" sz="9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投标决策</a:t>
                    </a:r>
                    <a:endParaRPr lang="en-US" altLang="zh-CN" sz="9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grpSp>
          </p:grpSp>
          <p:grpSp>
            <p:nvGrpSpPr>
              <p:cNvPr id="18" name="组合 17"/>
              <p:cNvGrpSpPr/>
              <p:nvPr/>
            </p:nvGrpSpPr>
            <p:grpSpPr>
              <a:xfrm>
                <a:off x="4473088" y="2562571"/>
                <a:ext cx="720000" cy="1159323"/>
                <a:chOff x="4454038" y="2400646"/>
                <a:chExt cx="720000" cy="1159323"/>
              </a:xfrm>
            </p:grpSpPr>
            <p:sp>
              <p:nvSpPr>
                <p:cNvPr id="52" name="AutoShape 14"/>
                <p:cNvSpPr>
                  <a:spLocks noChangeArrowheads="1"/>
                </p:cNvSpPr>
                <p:nvPr/>
              </p:nvSpPr>
              <p:spPr bwMode="gray">
                <a:xfrm>
                  <a:off x="4454038" y="2531269"/>
                  <a:ext cx="720000" cy="1028700"/>
                </a:xfrm>
                <a:prstGeom prst="chevron">
                  <a:avLst>
                    <a:gd name="adj" fmla="val 15657"/>
                  </a:avLst>
                </a:prstGeom>
                <a:solidFill>
                  <a:schemeClr val="bg1"/>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0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谈判并签订合同</a:t>
                  </a:r>
                  <a:endPar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grpSp>
              <p:nvGrpSpPr>
                <p:cNvPr id="53" name="Group 87"/>
                <p:cNvGrpSpPr/>
                <p:nvPr/>
              </p:nvGrpSpPr>
              <p:grpSpPr bwMode="auto">
                <a:xfrm>
                  <a:off x="4536348" y="2400646"/>
                  <a:ext cx="555381" cy="293399"/>
                  <a:chOff x="4332285" y="2185819"/>
                  <a:chExt cx="574675" cy="319398"/>
                </a:xfrm>
                <a:effectLst/>
              </p:grpSpPr>
              <p:sp>
                <p:nvSpPr>
                  <p:cNvPr id="54" name="AutoShape 80"/>
                  <p:cNvSpPr>
                    <a:spLocks noChangeArrowheads="1"/>
                  </p:cNvSpPr>
                  <p:nvPr/>
                </p:nvSpPr>
                <p:spPr bwMode="auto">
                  <a:xfrm>
                    <a:off x="4369590" y="2220901"/>
                    <a:ext cx="500063" cy="249237"/>
                  </a:xfrm>
                  <a:prstGeom prst="diamond">
                    <a:avLst/>
                  </a:prstGeom>
                  <a:solidFill>
                    <a:srgbClr val="F7B021"/>
                  </a:solidFill>
                  <a:ln w="9525" algn="ctr">
                    <a:noFill/>
                    <a:miter lim="800000"/>
                  </a:ln>
                </p:spPr>
                <p:txBody>
                  <a:bodyPr lIns="0" tIns="0" rIns="0" bIns="0"/>
                  <a:lstStyle/>
                  <a:p>
                    <a:pPr>
                      <a:lnSpc>
                        <a:spcPct val="80000"/>
                      </a:lnSpc>
                    </a:pPr>
                    <a:endParaRPr lang="zh-CN" altLang="en-US"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55" name="Rectangle 81"/>
                  <p:cNvSpPr>
                    <a:spLocks noChangeArrowheads="1"/>
                  </p:cNvSpPr>
                  <p:nvPr/>
                </p:nvSpPr>
                <p:spPr bwMode="auto">
                  <a:xfrm>
                    <a:off x="4332285" y="2185819"/>
                    <a:ext cx="574675" cy="319398"/>
                  </a:xfrm>
                  <a:prstGeom prst="rect">
                    <a:avLst/>
                  </a:prstGeom>
                  <a:noFill/>
                  <a:ln w="9525" algn="ctr">
                    <a:noFill/>
                    <a:miter lim="800000"/>
                  </a:ln>
                </p:spPr>
                <p:txBody>
                  <a:bodyPr anchor="ctr">
                    <a:spAutoFit/>
                  </a:bodyPr>
                  <a:lstStyle/>
                  <a:p>
                    <a:pPr algn="ctr"/>
                    <a:r>
                      <a:rPr lang="zh-CN" altLang="en-US" sz="9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签约决策</a:t>
                    </a:r>
                    <a:endParaRPr lang="en-US" altLang="zh-CN" sz="9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grpSp>
          </p:grpSp>
          <p:grpSp>
            <p:nvGrpSpPr>
              <p:cNvPr id="19" name="组合 18"/>
              <p:cNvGrpSpPr/>
              <p:nvPr/>
            </p:nvGrpSpPr>
            <p:grpSpPr>
              <a:xfrm>
                <a:off x="2278673" y="2562574"/>
                <a:ext cx="720000" cy="1159320"/>
                <a:chOff x="2269148" y="2400649"/>
                <a:chExt cx="720000" cy="1159320"/>
              </a:xfrm>
            </p:grpSpPr>
            <p:sp>
              <p:nvSpPr>
                <p:cNvPr id="48" name="AutoShape 10"/>
                <p:cNvSpPr>
                  <a:spLocks noChangeArrowheads="1"/>
                </p:cNvSpPr>
                <p:nvPr/>
              </p:nvSpPr>
              <p:spPr bwMode="gray">
                <a:xfrm>
                  <a:off x="2269148" y="2531269"/>
                  <a:ext cx="720000" cy="1028700"/>
                </a:xfrm>
                <a:prstGeom prst="chevron">
                  <a:avLst>
                    <a:gd name="adj" fmla="val 15685"/>
                  </a:avLst>
                </a:prstGeom>
                <a:solidFill>
                  <a:schemeClr val="bg1"/>
                </a:solidFill>
                <a:ln w="12700" algn="ctr">
                  <a:noFill/>
                  <a:miter lim="800000"/>
                </a:ln>
                <a:effectLst/>
              </p:spPr>
              <p:txBody>
                <a:bodyPr lIns="0" tIns="7793" rIns="0" bIns="7793" anchor="ctr"/>
                <a:lstStyle/>
                <a:p>
                  <a:pPr algn="ctr" eaLnBrk="0" hangingPunct="0">
                    <a:buSzPct val="100000"/>
                  </a:pPr>
                  <a:r>
                    <a:rPr lang="zh-CN" altLang="en-US" sz="10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验证商机</a:t>
                  </a:r>
                  <a:endPar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grpSp>
              <p:nvGrpSpPr>
                <p:cNvPr id="49" name="Group 86"/>
                <p:cNvGrpSpPr/>
                <p:nvPr/>
              </p:nvGrpSpPr>
              <p:grpSpPr bwMode="auto">
                <a:xfrm>
                  <a:off x="2352923" y="2400649"/>
                  <a:ext cx="552450" cy="293399"/>
                  <a:chOff x="3238488" y="2177684"/>
                  <a:chExt cx="617538" cy="335676"/>
                </a:xfrm>
                <a:effectLst/>
              </p:grpSpPr>
              <p:sp>
                <p:nvSpPr>
                  <p:cNvPr id="50" name="AutoShape 47"/>
                  <p:cNvSpPr>
                    <a:spLocks noChangeArrowheads="1"/>
                  </p:cNvSpPr>
                  <p:nvPr/>
                </p:nvSpPr>
                <p:spPr bwMode="auto">
                  <a:xfrm>
                    <a:off x="3295638" y="2222488"/>
                    <a:ext cx="503238" cy="246063"/>
                  </a:xfrm>
                  <a:prstGeom prst="diamond">
                    <a:avLst/>
                  </a:prstGeom>
                  <a:solidFill>
                    <a:srgbClr val="F7B021"/>
                  </a:solidFill>
                  <a:ln w="9525" algn="ctr">
                    <a:noFill/>
                    <a:miter lim="800000"/>
                  </a:ln>
                </p:spPr>
                <p:txBody>
                  <a:bodyPr lIns="0" tIns="0" rIns="0" bIns="0"/>
                  <a:lstStyle/>
                  <a:p>
                    <a:pPr>
                      <a:lnSpc>
                        <a:spcPct val="80000"/>
                      </a:lnSpc>
                    </a:pPr>
                    <a:endParaRPr lang="zh-CN" altLang="en-US"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51" name="Rectangle 76"/>
                  <p:cNvSpPr>
                    <a:spLocks noChangeArrowheads="1"/>
                  </p:cNvSpPr>
                  <p:nvPr/>
                </p:nvSpPr>
                <p:spPr bwMode="auto">
                  <a:xfrm>
                    <a:off x="3238488" y="2177684"/>
                    <a:ext cx="617538" cy="335676"/>
                  </a:xfrm>
                  <a:prstGeom prst="rect">
                    <a:avLst/>
                  </a:prstGeom>
                  <a:noFill/>
                  <a:ln w="9525" algn="ctr">
                    <a:noFill/>
                    <a:miter lim="800000"/>
                  </a:ln>
                </p:spPr>
                <p:txBody>
                  <a:bodyPr anchor="ctr">
                    <a:spAutoFit/>
                  </a:bodyPr>
                  <a:lstStyle/>
                  <a:p>
                    <a:pPr algn="ctr"/>
                    <a:r>
                      <a:rPr lang="zh-CN" altLang="en-US" sz="9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立项决策</a:t>
                    </a:r>
                    <a:endParaRPr lang="en-US" altLang="zh-CN" sz="9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grpSp>
          </p:grpSp>
          <p:grpSp>
            <p:nvGrpSpPr>
              <p:cNvPr id="20" name="组合 19"/>
              <p:cNvGrpSpPr/>
              <p:nvPr/>
            </p:nvGrpSpPr>
            <p:grpSpPr>
              <a:xfrm>
                <a:off x="5153759" y="2032399"/>
                <a:ext cx="3836375" cy="1758553"/>
                <a:chOff x="5153759" y="2032399"/>
                <a:chExt cx="3836375" cy="1758553"/>
              </a:xfrm>
            </p:grpSpPr>
            <p:sp>
              <p:nvSpPr>
                <p:cNvPr id="21" name="AutoShape 16"/>
                <p:cNvSpPr>
                  <a:spLocks noChangeArrowheads="1"/>
                </p:cNvSpPr>
                <p:nvPr/>
              </p:nvSpPr>
              <p:spPr bwMode="auto">
                <a:xfrm>
                  <a:off x="5153759" y="2032399"/>
                  <a:ext cx="3836375" cy="1758553"/>
                </a:xfrm>
                <a:prstGeom prst="chevron">
                  <a:avLst>
                    <a:gd name="adj" fmla="val 12108"/>
                  </a:avLst>
                </a:prstGeom>
                <a:solidFill>
                  <a:srgbClr val="0070C0"/>
                </a:solidFill>
                <a:ln w="9525" cap="flat" cmpd="sng" algn="ctr">
                  <a:noFill/>
                  <a:prstDash val="solid"/>
                  <a:round/>
                  <a:headEnd type="none" w="med" len="med"/>
                  <a:tailEnd type="none" w="med" len="med"/>
                </a:ln>
                <a:effectLst/>
              </p:spPr>
              <p:txBody>
                <a:bodyPr lIns="77939" tIns="38970" rIns="77939" bIns="38970"/>
                <a:lstStyle/>
                <a:p>
                  <a:pPr algn="ctr" defTabSz="582930">
                    <a:defRPr/>
                  </a:pPr>
                  <a:endParaRPr lang="zh-CN" altLang="en-US" sz="1000" b="1" dirty="0">
                    <a:solidFill>
                      <a:srgbClr val="FFFFFF"/>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22" name="AutoShape 20"/>
                <p:cNvSpPr>
                  <a:spLocks noChangeArrowheads="1"/>
                </p:cNvSpPr>
                <p:nvPr/>
              </p:nvSpPr>
              <p:spPr bwMode="gray">
                <a:xfrm>
                  <a:off x="5242415" y="2330055"/>
                  <a:ext cx="955431" cy="1391840"/>
                </a:xfrm>
                <a:prstGeom prst="chevron">
                  <a:avLst>
                    <a:gd name="adj" fmla="val 22037"/>
                  </a:avLst>
                </a:prstGeom>
                <a:solidFill>
                  <a:schemeClr val="bg1"/>
                </a:solidFill>
                <a:ln w="12700" algn="ctr">
                  <a:noFill/>
                  <a:miter lim="800000"/>
                </a:ln>
                <a:effectLst/>
              </p:spPr>
              <p:txBody>
                <a:bodyPr lIns="0" tIns="38970" rIns="0" bIns="15588" anchor="ctr"/>
                <a:lstStyle/>
                <a:p>
                  <a:pPr algn="ctr" eaLnBrk="0" hangingPunct="0">
                    <a:buSzPct val="100000"/>
                    <a:buFont typeface="Wingdings" panose="05000000000000000000" pitchFamily="2" charset="2"/>
                    <a:buNone/>
                  </a:pP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管理合同 </a:t>
                  </a:r>
                  <a:r>
                    <a:rPr lang="en-US" altLang="zh-CN"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/PO</a:t>
                  </a: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接收和确认</a:t>
                  </a:r>
                  <a:endPar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cxnSp>
              <p:nvCxnSpPr>
                <p:cNvPr id="23" name="AutoShape 33"/>
                <p:cNvCxnSpPr>
                  <a:cxnSpLocks noChangeShapeType="1"/>
                  <a:stCxn id="22" idx="3"/>
                  <a:endCxn id="28" idx="1"/>
                </p:cNvCxnSpPr>
                <p:nvPr/>
              </p:nvCxnSpPr>
              <p:spPr bwMode="auto">
                <a:xfrm flipV="1">
                  <a:off x="6197846" y="2843213"/>
                  <a:ext cx="196064" cy="182762"/>
                </a:xfrm>
                <a:prstGeom prst="bentConnector3">
                  <a:avLst>
                    <a:gd name="adj1" fmla="val 50000"/>
                  </a:avLst>
                </a:prstGeom>
                <a:noFill/>
                <a:ln w="28575">
                  <a:noFill/>
                  <a:miter lim="800000"/>
                  <a:tailEnd type="triangle" w="med" len="med"/>
                </a:ln>
                <a:effectLst/>
              </p:spPr>
            </p:cxnSp>
            <p:sp>
              <p:nvSpPr>
                <p:cNvPr id="24" name="AutoShape 25"/>
                <p:cNvSpPr>
                  <a:spLocks noChangeArrowheads="1"/>
                </p:cNvSpPr>
                <p:nvPr/>
              </p:nvSpPr>
              <p:spPr bwMode="gray">
                <a:xfrm>
                  <a:off x="8109441" y="2364582"/>
                  <a:ext cx="835269" cy="1357313"/>
                </a:xfrm>
                <a:prstGeom prst="chevron">
                  <a:avLst>
                    <a:gd name="adj" fmla="val 24769"/>
                  </a:avLst>
                </a:prstGeom>
                <a:solidFill>
                  <a:schemeClr val="bg1"/>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GB"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关闭和</a:t>
                  </a:r>
                  <a:br>
                    <a:rPr lang="en-US" altLang="zh-CN"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br>
                  <a:r>
                    <a:rPr lang="zh-CN" altLang="en-GB"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评价</a:t>
                  </a:r>
                  <a:br>
                    <a:rPr lang="en-US" altLang="zh-CN"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br>
                  <a:r>
                    <a:rPr lang="zh-CN" altLang="en-GB"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合同</a:t>
                  </a:r>
                  <a:endParaRPr lang="zh-CN" altLang="en-US"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cxnSp>
              <p:nvCxnSpPr>
                <p:cNvPr id="25" name="AutoShape 34"/>
                <p:cNvCxnSpPr>
                  <a:cxnSpLocks noChangeShapeType="1"/>
                  <a:stCxn id="27" idx="3"/>
                  <a:endCxn id="24" idx="1"/>
                </p:cNvCxnSpPr>
                <p:nvPr/>
              </p:nvCxnSpPr>
              <p:spPr bwMode="auto">
                <a:xfrm>
                  <a:off x="7921871" y="2478884"/>
                  <a:ext cx="394458" cy="564355"/>
                </a:xfrm>
                <a:prstGeom prst="bentConnector3">
                  <a:avLst>
                    <a:gd name="adj1" fmla="val 50000"/>
                  </a:avLst>
                </a:prstGeom>
                <a:noFill/>
                <a:ln w="28575">
                  <a:noFill/>
                  <a:miter lim="800000"/>
                  <a:tailEnd type="triangle" w="med" len="med"/>
                </a:ln>
                <a:effectLst/>
              </p:spPr>
            </p:cxnSp>
            <p:grpSp>
              <p:nvGrpSpPr>
                <p:cNvPr id="26" name="Group 138"/>
                <p:cNvGrpSpPr/>
                <p:nvPr/>
              </p:nvGrpSpPr>
              <p:grpSpPr bwMode="auto">
                <a:xfrm>
                  <a:off x="8251583" y="2297975"/>
                  <a:ext cx="580293" cy="230832"/>
                  <a:chOff x="8991340" y="1514983"/>
                  <a:chExt cx="623434" cy="264713"/>
                </a:xfrm>
                <a:effectLst/>
              </p:grpSpPr>
              <p:sp>
                <p:nvSpPr>
                  <p:cNvPr id="46" name="AutoShape 80"/>
                  <p:cNvSpPr>
                    <a:spLocks noChangeArrowheads="1"/>
                  </p:cNvSpPr>
                  <p:nvPr/>
                </p:nvSpPr>
                <p:spPr bwMode="auto">
                  <a:xfrm>
                    <a:off x="9018623" y="1522721"/>
                    <a:ext cx="500062" cy="249237"/>
                  </a:xfrm>
                  <a:prstGeom prst="diamond">
                    <a:avLst/>
                  </a:prstGeom>
                  <a:solidFill>
                    <a:srgbClr val="F7B021"/>
                  </a:solidFill>
                  <a:ln w="9525" algn="ctr">
                    <a:noFill/>
                    <a:miter lim="800000"/>
                  </a:ln>
                </p:spPr>
                <p:txBody>
                  <a:bodyPr lIns="0" tIns="0" rIns="0" bIns="0"/>
                  <a:lstStyle/>
                  <a:p>
                    <a:pPr>
                      <a:lnSpc>
                        <a:spcPct val="80000"/>
                      </a:lnSpc>
                    </a:pPr>
                    <a:endParaRPr lang="zh-CN" altLang="en-US"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7" name="Rectangle 81"/>
                  <p:cNvSpPr>
                    <a:spLocks noChangeArrowheads="1"/>
                  </p:cNvSpPr>
                  <p:nvPr/>
                </p:nvSpPr>
                <p:spPr bwMode="auto">
                  <a:xfrm>
                    <a:off x="8991340" y="1514983"/>
                    <a:ext cx="623434" cy="264713"/>
                  </a:xfrm>
                  <a:prstGeom prst="rect">
                    <a:avLst/>
                  </a:prstGeom>
                  <a:noFill/>
                  <a:ln w="9525" algn="ctr">
                    <a:noFill/>
                    <a:miter lim="800000"/>
                  </a:ln>
                </p:spPr>
                <p:txBody>
                  <a:bodyPr anchor="ctr">
                    <a:spAutoFit/>
                  </a:bodyPr>
                  <a:lstStyle/>
                  <a:p>
                    <a:pPr algn="ctr"/>
                    <a:r>
                      <a:rPr lang="en-US" altLang="zh-CN" sz="9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ATCC</a:t>
                    </a:r>
                    <a:endParaRPr lang="en-US" altLang="zh-CN" sz="9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grpSp>
            <p:sp>
              <p:nvSpPr>
                <p:cNvPr id="27" name="AutoShape 21"/>
                <p:cNvSpPr>
                  <a:spLocks noChangeArrowheads="1"/>
                </p:cNvSpPr>
                <p:nvPr/>
              </p:nvSpPr>
              <p:spPr bwMode="gray">
                <a:xfrm>
                  <a:off x="6337791" y="2330056"/>
                  <a:ext cx="1584080" cy="297656"/>
                </a:xfrm>
                <a:prstGeom prst="chevron">
                  <a:avLst>
                    <a:gd name="adj" fmla="val 18146"/>
                  </a:avLst>
                </a:prstGeom>
                <a:solidFill>
                  <a:schemeClr val="bg1">
                    <a:lumMod val="75000"/>
                  </a:schemeClr>
                </a:solidFill>
                <a:ln w="19050" algn="ctr">
                  <a:noFill/>
                  <a:prstDash val="dash"/>
                  <a:miter lim="800000"/>
                </a:ln>
                <a:effectLst/>
              </p:spPr>
              <p:txBody>
                <a:bodyPr lIns="7793" tIns="38970" rIns="7793" bIns="38970" anchor="ctr"/>
                <a:lstStyle/>
                <a:p>
                  <a:pPr algn="ctr" eaLnBrk="0" hangingPunct="0">
                    <a:buSzPct val="100000"/>
                    <a:defRPr/>
                  </a:pP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管理交付</a:t>
                  </a:r>
                  <a:r>
                    <a:rPr lang="en-US" altLang="zh-CN"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a:t>
                  </a: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验收</a:t>
                  </a:r>
                  <a:r>
                    <a:rPr lang="en-US" altLang="zh-CN"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a:t>
                  </a:r>
                  <a:endParaRPr lang="en-US" altLang="zh-CN"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28" name="AutoShape 22"/>
                <p:cNvSpPr>
                  <a:spLocks noChangeArrowheads="1"/>
                </p:cNvSpPr>
                <p:nvPr/>
              </p:nvSpPr>
              <p:spPr bwMode="gray">
                <a:xfrm>
                  <a:off x="6337791" y="2693194"/>
                  <a:ext cx="1584080" cy="300038"/>
                </a:xfrm>
                <a:prstGeom prst="chevron">
                  <a:avLst>
                    <a:gd name="adj" fmla="val 18704"/>
                  </a:avLst>
                </a:prstGeom>
                <a:solidFill>
                  <a:schemeClr val="bg1"/>
                </a:solidFill>
                <a:ln w="12700" algn="ctr">
                  <a:noFill/>
                  <a:miter lim="800000"/>
                </a:ln>
                <a:effectLst/>
              </p:spPr>
              <p:txBody>
                <a:bodyPr lIns="7793" tIns="38970" rIns="7793" bIns="15588" anchor="ctr"/>
                <a:lstStyle/>
                <a:p>
                  <a:pPr algn="ctr" eaLnBrk="0" hangingPunct="0">
                    <a:buSzPct val="100000"/>
                    <a:buFont typeface="Wingdings" panose="05000000000000000000" pitchFamily="2" charset="2"/>
                    <a:buNone/>
                  </a:pP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管理开票和回款</a:t>
                  </a:r>
                  <a:endParaRPr lang="en-US" altLang="zh-CN"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29" name="AutoShape 23"/>
                <p:cNvSpPr>
                  <a:spLocks noChangeArrowheads="1"/>
                </p:cNvSpPr>
                <p:nvPr/>
              </p:nvSpPr>
              <p:spPr bwMode="gray">
                <a:xfrm>
                  <a:off x="6337791" y="3423048"/>
                  <a:ext cx="1584080" cy="298847"/>
                </a:xfrm>
                <a:prstGeom prst="chevron">
                  <a:avLst>
                    <a:gd name="adj" fmla="val 19002"/>
                  </a:avLst>
                </a:prstGeom>
                <a:solidFill>
                  <a:schemeClr val="bg1"/>
                </a:solidFill>
                <a:ln w="12700" algn="ctr">
                  <a:noFill/>
                  <a:miter lim="800000"/>
                </a:ln>
                <a:effectLst/>
              </p:spPr>
              <p:txBody>
                <a:bodyPr lIns="7793" tIns="38970" rIns="7793" bIns="15588" anchor="ctr"/>
                <a:lstStyle/>
                <a:p>
                  <a:pPr algn="ctr" eaLnBrk="0" hangingPunct="0">
                    <a:buSzPct val="100000"/>
                  </a:pPr>
                  <a:r>
                    <a:rPr lang="zh-CN" altLang="en-US"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管理风险和争议</a:t>
                  </a:r>
                  <a:endParaRPr lang="en-US" altLang="zh-CN"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0" name="AutoShape 21"/>
                <p:cNvSpPr>
                  <a:spLocks noChangeArrowheads="1"/>
                </p:cNvSpPr>
                <p:nvPr/>
              </p:nvSpPr>
              <p:spPr bwMode="gray">
                <a:xfrm>
                  <a:off x="6337791" y="3058716"/>
                  <a:ext cx="1584080" cy="298847"/>
                </a:xfrm>
                <a:prstGeom prst="chevron">
                  <a:avLst>
                    <a:gd name="adj" fmla="val 18084"/>
                  </a:avLst>
                </a:prstGeom>
                <a:solidFill>
                  <a:schemeClr val="bg1"/>
                </a:solidFill>
                <a:ln w="12700" algn="ctr">
                  <a:noFill/>
                  <a:miter lim="800000"/>
                </a:ln>
                <a:effectLst/>
              </p:spPr>
              <p:txBody>
                <a:bodyPr lIns="7793" tIns="38970" rIns="7793" bIns="15588" anchor="ctr"/>
                <a:lstStyle/>
                <a:p>
                  <a:pPr algn="ctr" eaLnBrk="0" hangingPunct="0">
                    <a:buSzPct val="100000"/>
                    <a:buFont typeface="Wingdings" panose="05000000000000000000" pitchFamily="2" charset="2"/>
                    <a:buNone/>
                  </a:pPr>
                  <a:r>
                    <a:rPr lang="en-GB"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管理合同 </a:t>
                  </a:r>
                  <a:r>
                    <a:rPr lang="en-GB" altLang="zh-CN"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 PO</a:t>
                  </a: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变更</a:t>
                  </a:r>
                  <a:endParaRPr lang="en-US" altLang="zh-CN"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cxnSp>
              <p:nvCxnSpPr>
                <p:cNvPr id="31" name="AutoShape 33"/>
                <p:cNvCxnSpPr>
                  <a:cxnSpLocks noChangeShapeType="1"/>
                  <a:stCxn id="22" idx="3"/>
                  <a:endCxn id="30" idx="1"/>
                </p:cNvCxnSpPr>
                <p:nvPr/>
              </p:nvCxnSpPr>
              <p:spPr bwMode="auto">
                <a:xfrm>
                  <a:off x="6197846" y="3025975"/>
                  <a:ext cx="193988" cy="182165"/>
                </a:xfrm>
                <a:prstGeom prst="bentConnector3">
                  <a:avLst>
                    <a:gd name="adj1" fmla="val 50000"/>
                  </a:avLst>
                </a:prstGeom>
                <a:noFill/>
                <a:ln w="28575">
                  <a:noFill/>
                  <a:miter lim="800000"/>
                  <a:tailEnd type="triangle" w="med" len="med"/>
                </a:ln>
                <a:effectLst/>
              </p:spPr>
            </p:cxnSp>
            <p:cxnSp>
              <p:nvCxnSpPr>
                <p:cNvPr id="32" name="AutoShape 33"/>
                <p:cNvCxnSpPr>
                  <a:cxnSpLocks noChangeShapeType="1"/>
                  <a:stCxn id="22" idx="3"/>
                  <a:endCxn id="29" idx="1"/>
                </p:cNvCxnSpPr>
                <p:nvPr/>
              </p:nvCxnSpPr>
              <p:spPr bwMode="auto">
                <a:xfrm>
                  <a:off x="6197846" y="3025975"/>
                  <a:ext cx="196732" cy="546497"/>
                </a:xfrm>
                <a:prstGeom prst="bentConnector3">
                  <a:avLst>
                    <a:gd name="adj1" fmla="val 50000"/>
                  </a:avLst>
                </a:prstGeom>
                <a:noFill/>
                <a:ln w="28575">
                  <a:noFill/>
                  <a:miter lim="800000"/>
                  <a:tailEnd type="triangle" w="med" len="med"/>
                </a:ln>
                <a:effectLst/>
              </p:spPr>
            </p:cxnSp>
            <p:cxnSp>
              <p:nvCxnSpPr>
                <p:cNvPr id="33" name="AutoShape 34"/>
                <p:cNvCxnSpPr>
                  <a:cxnSpLocks noChangeShapeType="1"/>
                  <a:stCxn id="28" idx="3"/>
                  <a:endCxn id="24" idx="1"/>
                </p:cNvCxnSpPr>
                <p:nvPr/>
              </p:nvCxnSpPr>
              <p:spPr bwMode="auto">
                <a:xfrm>
                  <a:off x="7921871" y="2843213"/>
                  <a:ext cx="394458" cy="200026"/>
                </a:xfrm>
                <a:prstGeom prst="bentConnector3">
                  <a:avLst>
                    <a:gd name="adj1" fmla="val 50000"/>
                  </a:avLst>
                </a:prstGeom>
                <a:noFill/>
                <a:ln w="28575">
                  <a:noFill/>
                  <a:miter lim="800000"/>
                  <a:tailEnd type="triangle" w="med" len="med"/>
                </a:ln>
                <a:effectLst/>
              </p:spPr>
            </p:cxnSp>
            <p:cxnSp>
              <p:nvCxnSpPr>
                <p:cNvPr id="34" name="AutoShape 34"/>
                <p:cNvCxnSpPr>
                  <a:cxnSpLocks noChangeShapeType="1"/>
                  <a:stCxn id="30" idx="3"/>
                  <a:endCxn id="24" idx="1"/>
                </p:cNvCxnSpPr>
                <p:nvPr/>
              </p:nvCxnSpPr>
              <p:spPr bwMode="auto">
                <a:xfrm flipV="1">
                  <a:off x="7921871" y="3043239"/>
                  <a:ext cx="394458" cy="164901"/>
                </a:xfrm>
                <a:prstGeom prst="bentConnector3">
                  <a:avLst>
                    <a:gd name="adj1" fmla="val 50000"/>
                  </a:avLst>
                </a:prstGeom>
                <a:noFill/>
                <a:ln w="28575">
                  <a:noFill/>
                  <a:miter lim="800000"/>
                  <a:tailEnd type="triangle" w="med" len="med"/>
                </a:ln>
                <a:effectLst/>
              </p:spPr>
            </p:cxnSp>
            <p:cxnSp>
              <p:nvCxnSpPr>
                <p:cNvPr id="35" name="AutoShape 34"/>
                <p:cNvCxnSpPr>
                  <a:cxnSpLocks noChangeShapeType="1"/>
                  <a:stCxn id="29" idx="3"/>
                  <a:endCxn id="24" idx="1"/>
                </p:cNvCxnSpPr>
                <p:nvPr/>
              </p:nvCxnSpPr>
              <p:spPr bwMode="auto">
                <a:xfrm flipV="1">
                  <a:off x="7921871" y="3043239"/>
                  <a:ext cx="394458" cy="529233"/>
                </a:xfrm>
                <a:prstGeom prst="bentConnector3">
                  <a:avLst>
                    <a:gd name="adj1" fmla="val 50000"/>
                  </a:avLst>
                </a:prstGeom>
                <a:noFill/>
                <a:ln w="28575">
                  <a:noFill/>
                  <a:miter lim="800000"/>
                  <a:tailEnd type="triangle" w="med" len="med"/>
                </a:ln>
                <a:effectLst/>
              </p:spPr>
            </p:cxnSp>
            <p:cxnSp>
              <p:nvCxnSpPr>
                <p:cNvPr id="36" name="AutoShape 33"/>
                <p:cNvCxnSpPr>
                  <a:cxnSpLocks noChangeShapeType="1"/>
                  <a:stCxn id="22" idx="3"/>
                  <a:endCxn id="27" idx="1"/>
                </p:cNvCxnSpPr>
                <p:nvPr/>
              </p:nvCxnSpPr>
              <p:spPr bwMode="auto">
                <a:xfrm flipV="1">
                  <a:off x="6197846" y="2478884"/>
                  <a:ext cx="193958" cy="547091"/>
                </a:xfrm>
                <a:prstGeom prst="bentConnector3">
                  <a:avLst>
                    <a:gd name="adj1" fmla="val 50000"/>
                  </a:avLst>
                </a:prstGeom>
                <a:noFill/>
                <a:ln w="28575">
                  <a:noFill/>
                  <a:miter lim="800000"/>
                  <a:tailEnd type="triangle" w="med" len="med"/>
                </a:ln>
                <a:effectLst/>
              </p:spPr>
            </p:cxnSp>
            <p:sp>
              <p:nvSpPr>
                <p:cNvPr id="37" name="AutoShape 85"/>
                <p:cNvSpPr>
                  <a:spLocks noChangeArrowheads="1"/>
                </p:cNvSpPr>
                <p:nvPr/>
              </p:nvSpPr>
              <p:spPr bwMode="auto">
                <a:xfrm>
                  <a:off x="7356232" y="3257552"/>
                  <a:ext cx="445477" cy="227410"/>
                </a:xfrm>
                <a:prstGeom prst="diamond">
                  <a:avLst/>
                </a:prstGeom>
                <a:solidFill>
                  <a:srgbClr val="FBD893"/>
                </a:solidFill>
                <a:ln w="9525" algn="ctr">
                  <a:solidFill>
                    <a:schemeClr val="tx1">
                      <a:lumMod val="75000"/>
                      <a:lumOff val="25000"/>
                    </a:schemeClr>
                  </a:solidFill>
                  <a:prstDash val="lgDash"/>
                  <a:miter lim="800000"/>
                </a:ln>
                <a:effectLst/>
              </p:spPr>
              <p:txBody>
                <a:bodyPr wrap="none" lIns="0" tIns="0" rIns="0" bIns="0" anchor="ctr" anchorCtr="1"/>
                <a:lstStyle/>
                <a:p>
                  <a:pPr algn="ctr" defTabSz="582930"/>
                  <a:r>
                    <a:rPr lang="en-US" altLang="zh-CN" sz="8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ATAC</a:t>
                  </a:r>
                  <a:endParaRPr lang="en-US" altLang="zh-HK" sz="8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cxnSp>
              <p:nvCxnSpPr>
                <p:cNvPr id="38" name="肘形连接符 37"/>
                <p:cNvCxnSpPr>
                  <a:stCxn id="22" idx="3"/>
                  <a:endCxn id="27" idx="1"/>
                </p:cNvCxnSpPr>
                <p:nvPr/>
              </p:nvCxnSpPr>
              <p:spPr bwMode="auto">
                <a:xfrm flipV="1">
                  <a:off x="6197846" y="2478884"/>
                  <a:ext cx="193958" cy="547091"/>
                </a:xfrm>
                <a:prstGeom prst="bentConnector3">
                  <a:avLst>
                    <a:gd name="adj1" fmla="val 30357"/>
                  </a:avLst>
                </a:prstGeom>
                <a:noFill/>
                <a:ln w="9525" cap="flat" cmpd="sng" algn="ctr">
                  <a:solidFill>
                    <a:schemeClr val="tx1">
                      <a:lumMod val="75000"/>
                      <a:lumOff val="25000"/>
                    </a:schemeClr>
                  </a:solidFill>
                  <a:prstDash val="solid"/>
                  <a:round/>
                  <a:headEnd type="none" w="med" len="med"/>
                  <a:tailEnd type="triangle"/>
                </a:ln>
                <a:effectLst/>
              </p:spPr>
            </p:cxnSp>
            <p:cxnSp>
              <p:nvCxnSpPr>
                <p:cNvPr id="39" name="肘形连接符 38"/>
                <p:cNvCxnSpPr>
                  <a:stCxn id="22" idx="3"/>
                  <a:endCxn id="28" idx="1"/>
                </p:cNvCxnSpPr>
                <p:nvPr/>
              </p:nvCxnSpPr>
              <p:spPr bwMode="auto">
                <a:xfrm flipV="1">
                  <a:off x="6197846" y="2843213"/>
                  <a:ext cx="196064" cy="182762"/>
                </a:xfrm>
                <a:prstGeom prst="bentConnector3">
                  <a:avLst>
                    <a:gd name="adj1" fmla="val 30568"/>
                  </a:avLst>
                </a:prstGeom>
                <a:noFill/>
                <a:ln w="9525" cap="flat" cmpd="sng" algn="ctr">
                  <a:solidFill>
                    <a:schemeClr val="tx1">
                      <a:lumMod val="75000"/>
                      <a:lumOff val="25000"/>
                    </a:schemeClr>
                  </a:solidFill>
                  <a:prstDash val="solid"/>
                  <a:round/>
                  <a:headEnd type="none" w="med" len="med"/>
                  <a:tailEnd type="triangle"/>
                </a:ln>
                <a:effectLst/>
              </p:spPr>
            </p:cxnSp>
            <p:cxnSp>
              <p:nvCxnSpPr>
                <p:cNvPr id="40" name="肘形连接符 39"/>
                <p:cNvCxnSpPr>
                  <a:stCxn id="22" idx="3"/>
                  <a:endCxn id="30" idx="1"/>
                </p:cNvCxnSpPr>
                <p:nvPr/>
              </p:nvCxnSpPr>
              <p:spPr bwMode="auto">
                <a:xfrm>
                  <a:off x="6197846" y="3025975"/>
                  <a:ext cx="193988" cy="182165"/>
                </a:xfrm>
                <a:prstGeom prst="bentConnector3">
                  <a:avLst>
                    <a:gd name="adj1" fmla="val 30360"/>
                  </a:avLst>
                </a:prstGeom>
                <a:noFill/>
                <a:ln w="9525" cap="flat" cmpd="sng" algn="ctr">
                  <a:solidFill>
                    <a:schemeClr val="tx1">
                      <a:lumMod val="75000"/>
                      <a:lumOff val="25000"/>
                    </a:schemeClr>
                  </a:solidFill>
                  <a:prstDash val="solid"/>
                  <a:round/>
                  <a:headEnd type="none" w="med" len="med"/>
                  <a:tailEnd type="triangle"/>
                </a:ln>
                <a:effectLst/>
              </p:spPr>
            </p:cxnSp>
            <p:cxnSp>
              <p:nvCxnSpPr>
                <p:cNvPr id="41" name="肘形连接符 40"/>
                <p:cNvCxnSpPr>
                  <a:stCxn id="22" idx="3"/>
                  <a:endCxn id="29" idx="1"/>
                </p:cNvCxnSpPr>
                <p:nvPr/>
              </p:nvCxnSpPr>
              <p:spPr bwMode="auto">
                <a:xfrm>
                  <a:off x="6197846" y="3025975"/>
                  <a:ext cx="196732" cy="546497"/>
                </a:xfrm>
                <a:prstGeom prst="bentConnector3">
                  <a:avLst>
                    <a:gd name="adj1" fmla="val 30634"/>
                  </a:avLst>
                </a:prstGeom>
                <a:noFill/>
                <a:ln w="9525" cap="flat" cmpd="sng" algn="ctr">
                  <a:solidFill>
                    <a:schemeClr val="tx1">
                      <a:lumMod val="75000"/>
                      <a:lumOff val="25000"/>
                    </a:schemeClr>
                  </a:solidFill>
                  <a:prstDash val="solid"/>
                  <a:round/>
                  <a:headEnd type="none" w="med" len="med"/>
                  <a:tailEnd type="triangle"/>
                </a:ln>
                <a:effectLst/>
              </p:spPr>
            </p:cxnSp>
            <p:cxnSp>
              <p:nvCxnSpPr>
                <p:cNvPr id="42" name="肘形连接符 41"/>
                <p:cNvCxnSpPr>
                  <a:stCxn id="27" idx="3"/>
                  <a:endCxn id="24" idx="1"/>
                </p:cNvCxnSpPr>
                <p:nvPr/>
              </p:nvCxnSpPr>
              <p:spPr bwMode="auto">
                <a:xfrm>
                  <a:off x="7921871" y="2478884"/>
                  <a:ext cx="394458" cy="564355"/>
                </a:xfrm>
                <a:prstGeom prst="bentConnector3">
                  <a:avLst>
                    <a:gd name="adj1" fmla="val 25853"/>
                  </a:avLst>
                </a:prstGeom>
                <a:noFill/>
                <a:ln w="9525" cap="flat" cmpd="sng" algn="ctr">
                  <a:solidFill>
                    <a:schemeClr val="tx1">
                      <a:lumMod val="75000"/>
                      <a:lumOff val="25000"/>
                    </a:schemeClr>
                  </a:solidFill>
                  <a:prstDash val="solid"/>
                  <a:round/>
                  <a:headEnd type="none" w="med" len="med"/>
                  <a:tailEnd type="triangle"/>
                </a:ln>
                <a:effectLst/>
              </p:spPr>
            </p:cxnSp>
            <p:cxnSp>
              <p:nvCxnSpPr>
                <p:cNvPr id="43" name="肘形连接符 42"/>
                <p:cNvCxnSpPr>
                  <a:endCxn id="24" idx="1"/>
                </p:cNvCxnSpPr>
                <p:nvPr/>
              </p:nvCxnSpPr>
              <p:spPr bwMode="auto">
                <a:xfrm>
                  <a:off x="7926924" y="2843213"/>
                  <a:ext cx="389405" cy="200026"/>
                </a:xfrm>
                <a:prstGeom prst="bentConnector3">
                  <a:avLst>
                    <a:gd name="adj1" fmla="val 25540"/>
                  </a:avLst>
                </a:prstGeom>
                <a:noFill/>
                <a:ln w="9525" cap="flat" cmpd="sng" algn="ctr">
                  <a:solidFill>
                    <a:schemeClr val="tx1">
                      <a:lumMod val="75000"/>
                      <a:lumOff val="25000"/>
                    </a:schemeClr>
                  </a:solidFill>
                  <a:prstDash val="solid"/>
                  <a:round/>
                  <a:headEnd type="none" w="med" len="med"/>
                  <a:tailEnd type="triangle"/>
                </a:ln>
                <a:effectLst/>
              </p:spPr>
            </p:cxnSp>
            <p:cxnSp>
              <p:nvCxnSpPr>
                <p:cNvPr id="44" name="肘形连接符 43"/>
                <p:cNvCxnSpPr>
                  <a:stCxn id="30" idx="3"/>
                  <a:endCxn id="24" idx="1"/>
                </p:cNvCxnSpPr>
                <p:nvPr/>
              </p:nvCxnSpPr>
              <p:spPr bwMode="auto">
                <a:xfrm flipV="1">
                  <a:off x="7921871" y="3043239"/>
                  <a:ext cx="394458" cy="164901"/>
                </a:xfrm>
                <a:prstGeom prst="bentConnector3">
                  <a:avLst>
                    <a:gd name="adj1" fmla="val 25853"/>
                  </a:avLst>
                </a:prstGeom>
                <a:noFill/>
                <a:ln w="9525" cap="flat" cmpd="sng" algn="ctr">
                  <a:solidFill>
                    <a:schemeClr val="tx1">
                      <a:lumMod val="75000"/>
                      <a:lumOff val="25000"/>
                    </a:schemeClr>
                  </a:solidFill>
                  <a:prstDash val="solid"/>
                  <a:round/>
                  <a:headEnd type="none" w="med" len="med"/>
                  <a:tailEnd type="triangle"/>
                </a:ln>
                <a:effectLst/>
              </p:spPr>
            </p:cxnSp>
            <p:cxnSp>
              <p:nvCxnSpPr>
                <p:cNvPr id="45" name="肘形连接符 44"/>
                <p:cNvCxnSpPr>
                  <a:stCxn id="29" idx="3"/>
                  <a:endCxn id="24" idx="1"/>
                </p:cNvCxnSpPr>
                <p:nvPr/>
              </p:nvCxnSpPr>
              <p:spPr bwMode="auto">
                <a:xfrm flipV="1">
                  <a:off x="7921871" y="3043239"/>
                  <a:ext cx="394458" cy="529233"/>
                </a:xfrm>
                <a:prstGeom prst="bentConnector3">
                  <a:avLst>
                    <a:gd name="adj1" fmla="val 27060"/>
                  </a:avLst>
                </a:prstGeom>
                <a:noFill/>
                <a:ln w="9525" cap="flat" cmpd="sng" algn="ctr">
                  <a:solidFill>
                    <a:schemeClr val="tx1">
                      <a:lumMod val="75000"/>
                      <a:lumOff val="25000"/>
                    </a:schemeClr>
                  </a:solidFill>
                  <a:prstDash val="solid"/>
                  <a:round/>
                  <a:headEnd type="none" w="med" len="med"/>
                  <a:tailEnd type="triangle"/>
                </a:ln>
                <a:effectLst/>
              </p:spPr>
            </p:cxnSp>
          </p:grpSp>
        </p:grpSp>
        <p:sp>
          <p:nvSpPr>
            <p:cNvPr id="7" name="矩形 6"/>
            <p:cNvSpPr/>
            <p:nvPr/>
          </p:nvSpPr>
          <p:spPr>
            <a:xfrm>
              <a:off x="6532910" y="2298976"/>
              <a:ext cx="1114408" cy="215444"/>
            </a:xfrm>
            <a:prstGeom prst="rect">
              <a:avLst/>
            </a:prstGeom>
          </p:spPr>
          <p:txBody>
            <a:bodyPr wrap="none">
              <a:spAutoFit/>
            </a:bodyPr>
            <a:lstStyle/>
            <a:p>
              <a:pPr algn="ctr" defTabSz="582930">
                <a:defRPr/>
              </a:pPr>
              <a:r>
                <a:rPr lang="zh-CN" altLang="en-US" sz="800" b="1" dirty="0">
                  <a:solidFill>
                    <a:srgbClr val="FFFFFF"/>
                  </a:solidFill>
                  <a:latin typeface="微软雅黑" panose="020B0503020204020204" pitchFamily="34" charset="-122"/>
                  <a:ea typeface="微软雅黑" panose="020B0503020204020204" pitchFamily="34" charset="-122"/>
                  <a:cs typeface="Arial" panose="020B0604020202090204" pitchFamily="34" charset="0"/>
                </a:rPr>
                <a:t>管理合同执行</a:t>
              </a:r>
              <a:r>
                <a:rPr lang="en-US" altLang="zh-CN" sz="800" b="1" dirty="0">
                  <a:solidFill>
                    <a:srgbClr val="FFFFFF"/>
                  </a:solidFill>
                  <a:latin typeface="微软雅黑" panose="020B0503020204020204" pitchFamily="34" charset="-122"/>
                  <a:ea typeface="微软雅黑" panose="020B0503020204020204" pitchFamily="34" charset="-122"/>
                  <a:cs typeface="Arial" panose="020B0604020202090204" pitchFamily="34" charset="0"/>
                </a:rPr>
                <a:t>(MCE)</a:t>
              </a:r>
              <a:endParaRPr lang="zh-CN" altLang="en-US" sz="800" b="1" dirty="0">
                <a:solidFill>
                  <a:srgbClr val="FFFFFF"/>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8" name="矩形 7"/>
            <p:cNvSpPr/>
            <p:nvPr/>
          </p:nvSpPr>
          <p:spPr>
            <a:xfrm>
              <a:off x="3215270" y="2291282"/>
              <a:ext cx="1064714" cy="230832"/>
            </a:xfrm>
            <a:prstGeom prst="rect">
              <a:avLst/>
            </a:prstGeom>
          </p:spPr>
          <p:txBody>
            <a:bodyPr wrap="none">
              <a:spAutoFit/>
            </a:bodyPr>
            <a:lstStyle/>
            <a:p>
              <a:pPr algn="ctr" defTabSz="582930">
                <a:defRPr/>
              </a:pPr>
              <a:r>
                <a:rPr lang="zh-CN" altLang="en-US" sz="900" b="1" dirty="0">
                  <a:solidFill>
                    <a:srgbClr val="FFFFFF"/>
                  </a:solidFill>
                  <a:latin typeface="微软雅黑" panose="020B0503020204020204" pitchFamily="34" charset="-122"/>
                  <a:ea typeface="微软雅黑" panose="020B0503020204020204" pitchFamily="34" charset="-122"/>
                  <a:cs typeface="Arial" panose="020B0604020202090204" pitchFamily="34" charset="0"/>
                </a:rPr>
                <a:t>管理机会点</a:t>
              </a:r>
              <a:r>
                <a:rPr lang="en-US" altLang="zh-CN" sz="900" b="1" dirty="0">
                  <a:solidFill>
                    <a:srgbClr val="FFFFFF"/>
                  </a:solidFill>
                  <a:latin typeface="微软雅黑" panose="020B0503020204020204" pitchFamily="34" charset="-122"/>
                  <a:ea typeface="微软雅黑" panose="020B0503020204020204" pitchFamily="34" charset="-122"/>
                  <a:cs typeface="Arial" panose="020B0604020202090204" pitchFamily="34" charset="0"/>
                </a:rPr>
                <a:t>(MO)</a:t>
              </a:r>
              <a:endParaRPr lang="zh-HK" altLang="en-US" sz="900" b="1" dirty="0">
                <a:solidFill>
                  <a:srgbClr val="FFFFFF"/>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9" name="矩形 8"/>
            <p:cNvSpPr/>
            <p:nvPr/>
          </p:nvSpPr>
          <p:spPr>
            <a:xfrm>
              <a:off x="829969" y="2291282"/>
              <a:ext cx="917239" cy="230832"/>
            </a:xfrm>
            <a:prstGeom prst="rect">
              <a:avLst/>
            </a:prstGeom>
          </p:spPr>
          <p:txBody>
            <a:bodyPr wrap="none">
              <a:spAutoFit/>
            </a:bodyPr>
            <a:lstStyle/>
            <a:p>
              <a:pPr algn="ctr" defTabSz="582930">
                <a:defRPr/>
              </a:pPr>
              <a:r>
                <a:rPr lang="zh-CN" altLang="en-US" sz="900" b="1" dirty="0">
                  <a:solidFill>
                    <a:srgbClr val="FFFFFF"/>
                  </a:solidFill>
                  <a:latin typeface="微软雅黑" panose="020B0503020204020204" pitchFamily="34" charset="-122"/>
                  <a:ea typeface="微软雅黑" panose="020B0503020204020204" pitchFamily="34" charset="-122"/>
                  <a:cs typeface="Arial" panose="020B0604020202090204" pitchFamily="34" charset="0"/>
                </a:rPr>
                <a:t>管理线索</a:t>
              </a:r>
              <a:r>
                <a:rPr lang="en-US" altLang="zh-CN" sz="900" b="1" dirty="0">
                  <a:solidFill>
                    <a:srgbClr val="FFFFFF"/>
                  </a:solidFill>
                  <a:latin typeface="微软雅黑" panose="020B0503020204020204" pitchFamily="34" charset="-122"/>
                  <a:ea typeface="微软雅黑" panose="020B0503020204020204" pitchFamily="34" charset="-122"/>
                  <a:cs typeface="Arial" panose="020B0604020202090204" pitchFamily="34" charset="0"/>
                </a:rPr>
                <a:t>(ML)</a:t>
              </a:r>
              <a:endParaRPr lang="zh-CN" altLang="en-US" sz="900" b="1" dirty="0">
                <a:solidFill>
                  <a:srgbClr val="FFFFFF"/>
                </a:solidFill>
                <a:latin typeface="微软雅黑" panose="020B0503020204020204" pitchFamily="34" charset="-122"/>
                <a:ea typeface="微软雅黑" panose="020B0503020204020204" pitchFamily="34" charset="-122"/>
                <a:cs typeface="Arial" panose="020B0604020202090204" pitchFamily="34" charset="0"/>
              </a:endParaRPr>
            </a:p>
          </p:txBody>
        </p:sp>
      </p:grpSp>
      <p:sp>
        <p:nvSpPr>
          <p:cNvPr id="60" name="矩形 59"/>
          <p:cNvSpPr/>
          <p:nvPr/>
        </p:nvSpPr>
        <p:spPr>
          <a:xfrm>
            <a:off x="377459" y="1908503"/>
            <a:ext cx="330703" cy="461665"/>
          </a:xfrm>
          <a:prstGeom prst="rect">
            <a:avLst/>
          </a:prstGeom>
        </p:spPr>
        <p:txBody>
          <a:bodyPr wrap="square">
            <a:spAutoFit/>
          </a:bodyPr>
          <a:lstStyle/>
          <a:p>
            <a:r>
              <a:rPr lang="zh-CN" altLang="en-US" sz="1200" b="1" dirty="0">
                <a:solidFill>
                  <a:schemeClr val="bg1"/>
                </a:solidFill>
                <a:latin typeface="微软雅黑" panose="020B0503020204020204" pitchFamily="34" charset="-122"/>
                <a:ea typeface="微软雅黑" panose="020B0503020204020204" pitchFamily="34" charset="-122"/>
                <a:cs typeface="Arial" panose="020B0604020202090204" pitchFamily="34" charset="0"/>
              </a:rPr>
              <a:t>组织</a:t>
            </a:r>
            <a:endParaRPr lang="en-US" altLang="zh-CN" sz="1200" b="1" dirty="0">
              <a:solidFill>
                <a:schemeClr val="bg1"/>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61" name="圆角矩形 60"/>
          <p:cNvSpPr/>
          <p:nvPr/>
        </p:nvSpPr>
        <p:spPr bwMode="auto">
          <a:xfrm>
            <a:off x="760703" y="1061583"/>
            <a:ext cx="10601721" cy="2096189"/>
          </a:xfrm>
          <a:prstGeom prst="roundRect">
            <a:avLst>
              <a:gd name="adj" fmla="val 8238"/>
            </a:avLst>
          </a:prstGeom>
          <a:solidFill>
            <a:schemeClr val="bg1">
              <a:lumMod val="95000"/>
            </a:schemeClr>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62" name="圆角矩形 61"/>
          <p:cNvSpPr/>
          <p:nvPr/>
        </p:nvSpPr>
        <p:spPr bwMode="auto">
          <a:xfrm>
            <a:off x="760703" y="1061583"/>
            <a:ext cx="10603151" cy="356195"/>
          </a:xfrm>
          <a:prstGeom prst="roundRect">
            <a:avLst>
              <a:gd name="adj" fmla="val 19788"/>
            </a:avLst>
          </a:prstGeom>
          <a:solidFill>
            <a:srgbClr val="0070C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63" name="Rectangle 43"/>
          <p:cNvSpPr>
            <a:spLocks noChangeArrowheads="1"/>
          </p:cNvSpPr>
          <p:nvPr/>
        </p:nvSpPr>
        <p:spPr bwMode="auto">
          <a:xfrm>
            <a:off x="8650405" y="1083987"/>
            <a:ext cx="1931192" cy="296010"/>
          </a:xfrm>
          <a:prstGeom prst="rect">
            <a:avLst/>
          </a:prstGeom>
          <a:noFill/>
          <a:ln w="9525" algn="ctr">
            <a:noFill/>
            <a:miter lim="800000"/>
          </a:ln>
          <a:effectLst/>
        </p:spPr>
        <p:txBody>
          <a:bodyPr lIns="77939" tIns="38970" rIns="77939" bIns="38970" anchor="ctr"/>
          <a:lstStyle>
            <a:lvl1pPr eaLnBrk="0" hangingPunct="0">
              <a:lnSpc>
                <a:spcPct val="140000"/>
              </a:lnSpc>
              <a:buClr>
                <a:schemeClr val="bg2"/>
              </a:buClr>
              <a:buSzPct val="60000"/>
              <a:buFont typeface="Wingdings" panose="05000000000000000000" pitchFamily="2" charset="2"/>
              <a:buChar char="l"/>
              <a:defRPr>
                <a:solidFill>
                  <a:schemeClr val="tx1"/>
                </a:solidFill>
                <a:latin typeface="Arial" panose="020B0604020202090204" pitchFamily="34" charset="0"/>
                <a:ea typeface="华文细黑" panose="02010600040101010101" pitchFamily="2" charset="-122"/>
                <a:cs typeface="Arial" panose="020B0604020202090204" pitchFamily="34" charset="0"/>
              </a:defRPr>
            </a:lvl1pPr>
            <a:lvl2pPr marL="742950" indent="-285750" eaLnBrk="0" hangingPunct="0">
              <a:lnSpc>
                <a:spcPct val="140000"/>
              </a:lnSpc>
              <a:buClr>
                <a:schemeClr val="tx1"/>
              </a:buClr>
              <a:buSzPct val="50000"/>
              <a:buFont typeface="Wingdings" panose="05000000000000000000" pitchFamily="2" charset="2"/>
              <a:buChar char="p"/>
              <a:defRPr sz="1600">
                <a:solidFill>
                  <a:schemeClr val="tx1"/>
                </a:solidFill>
                <a:latin typeface="Arial" panose="020B0604020202090204" pitchFamily="34" charset="0"/>
                <a:ea typeface="华文细黑" panose="02010600040101010101" pitchFamily="2" charset="-122"/>
                <a:cs typeface="Arial" panose="020B0604020202090204" pitchFamily="34" charset="0"/>
              </a:defRPr>
            </a:lvl2pPr>
            <a:lvl3pPr marL="1143000" indent="-228600" eaLnBrk="0" hangingPunct="0">
              <a:lnSpc>
                <a:spcPct val="140000"/>
              </a:lnSpc>
              <a:buSzPct val="50000"/>
              <a:buFont typeface="Wingdings" panose="05000000000000000000" pitchFamily="2" charset="2"/>
              <a:buChar char="n"/>
              <a:defRPr sz="1400">
                <a:solidFill>
                  <a:schemeClr val="tx1"/>
                </a:solidFill>
                <a:latin typeface="Arial" panose="020B0604020202090204" pitchFamily="34" charset="0"/>
                <a:ea typeface="华文细黑" panose="02010600040101010101" pitchFamily="2" charset="-122"/>
                <a:cs typeface="Arial" panose="020B0604020202090204" pitchFamily="34" charset="0"/>
              </a:defRPr>
            </a:lvl3pPr>
            <a:lvl4pPr marL="1600200" indent="-228600" eaLnBrk="0" hangingPunct="0">
              <a:lnSpc>
                <a:spcPct val="140000"/>
              </a:lnSpc>
              <a:buChar char="–"/>
              <a:defRPr sz="1200">
                <a:solidFill>
                  <a:schemeClr val="tx1"/>
                </a:solidFill>
                <a:latin typeface="Arial" panose="020B0604020202090204" pitchFamily="34" charset="0"/>
                <a:ea typeface="华文细黑" panose="02010600040101010101" pitchFamily="2" charset="-122"/>
                <a:cs typeface="Arial" panose="020B0604020202090204" pitchFamily="34" charset="0"/>
              </a:defRPr>
            </a:lvl4pPr>
            <a:lvl5pPr marL="2057400" indent="-228600" eaLnBrk="0" hangingPunct="0">
              <a:lnSpc>
                <a:spcPct val="140000"/>
              </a:lnSpc>
              <a:buFont typeface="FrutigerNext LT Medium" pitchFamily="34" charset="0"/>
              <a:buChar char="~"/>
              <a:defRPr sz="1200">
                <a:solidFill>
                  <a:schemeClr val="tx1"/>
                </a:solidFill>
                <a:latin typeface="FrutigerNext LT Medium" pitchFamily="34" charset="0"/>
                <a:ea typeface="华文细黑" panose="02010600040101010101" pitchFamily="2" charset="-122"/>
                <a:cs typeface="Arial" panose="020B0604020202090204" pitchFamily="34" charset="0"/>
              </a:defRPr>
            </a:lvl5pPr>
            <a:lvl6pPr marL="2514600" indent="-228600" eaLnBrk="0" fontAlgn="base" hangingPunct="0">
              <a:lnSpc>
                <a:spcPct val="140000"/>
              </a:lnSpc>
              <a:spcBef>
                <a:spcPct val="0"/>
              </a:spcBef>
              <a:spcAft>
                <a:spcPct val="0"/>
              </a:spcAft>
              <a:buFont typeface="FrutigerNext LT Medium" pitchFamily="34" charset="0"/>
              <a:buChar char="~"/>
              <a:defRPr sz="1200">
                <a:solidFill>
                  <a:schemeClr val="tx1"/>
                </a:solidFill>
                <a:latin typeface="FrutigerNext LT Medium" pitchFamily="34" charset="0"/>
                <a:ea typeface="华文细黑" panose="02010600040101010101" pitchFamily="2" charset="-122"/>
                <a:cs typeface="Arial" panose="020B0604020202090204" pitchFamily="34" charset="0"/>
              </a:defRPr>
            </a:lvl6pPr>
            <a:lvl7pPr marL="2971800" indent="-228600" eaLnBrk="0" fontAlgn="base" hangingPunct="0">
              <a:lnSpc>
                <a:spcPct val="140000"/>
              </a:lnSpc>
              <a:spcBef>
                <a:spcPct val="0"/>
              </a:spcBef>
              <a:spcAft>
                <a:spcPct val="0"/>
              </a:spcAft>
              <a:buFont typeface="FrutigerNext LT Medium" pitchFamily="34" charset="0"/>
              <a:buChar char="~"/>
              <a:defRPr sz="1200">
                <a:solidFill>
                  <a:schemeClr val="tx1"/>
                </a:solidFill>
                <a:latin typeface="FrutigerNext LT Medium" pitchFamily="34" charset="0"/>
                <a:ea typeface="华文细黑" panose="02010600040101010101" pitchFamily="2" charset="-122"/>
                <a:cs typeface="Arial" panose="020B0604020202090204" pitchFamily="34" charset="0"/>
              </a:defRPr>
            </a:lvl7pPr>
            <a:lvl8pPr marL="3429000" indent="-228600" eaLnBrk="0" fontAlgn="base" hangingPunct="0">
              <a:lnSpc>
                <a:spcPct val="140000"/>
              </a:lnSpc>
              <a:spcBef>
                <a:spcPct val="0"/>
              </a:spcBef>
              <a:spcAft>
                <a:spcPct val="0"/>
              </a:spcAft>
              <a:buFont typeface="FrutigerNext LT Medium" pitchFamily="34" charset="0"/>
              <a:buChar char="~"/>
              <a:defRPr sz="1200">
                <a:solidFill>
                  <a:schemeClr val="tx1"/>
                </a:solidFill>
                <a:latin typeface="FrutigerNext LT Medium" pitchFamily="34" charset="0"/>
                <a:ea typeface="华文细黑" panose="02010600040101010101" pitchFamily="2" charset="-122"/>
                <a:cs typeface="Arial" panose="020B0604020202090204" pitchFamily="34" charset="0"/>
              </a:defRPr>
            </a:lvl8pPr>
            <a:lvl9pPr marL="3886200" indent="-228600" eaLnBrk="0" fontAlgn="base" hangingPunct="0">
              <a:lnSpc>
                <a:spcPct val="140000"/>
              </a:lnSpc>
              <a:spcBef>
                <a:spcPct val="0"/>
              </a:spcBef>
              <a:spcAft>
                <a:spcPct val="0"/>
              </a:spcAft>
              <a:buFont typeface="FrutigerNext LT Medium" pitchFamily="34" charset="0"/>
              <a:buChar char="~"/>
              <a:defRPr sz="1200">
                <a:solidFill>
                  <a:schemeClr val="tx1"/>
                </a:solidFill>
                <a:latin typeface="FrutigerNext LT Medium" pitchFamily="34" charset="0"/>
                <a:ea typeface="华文细黑" panose="02010600040101010101" pitchFamily="2" charset="-122"/>
                <a:cs typeface="Arial" panose="020B0604020202090204" pitchFamily="34" charset="0"/>
              </a:defRPr>
            </a:lvl9pPr>
          </a:lstStyle>
          <a:p>
            <a:pPr algn="ctr" eaLnBrk="1" hangingPunct="1">
              <a:lnSpc>
                <a:spcPct val="100000"/>
              </a:lnSpc>
              <a:buClrTx/>
              <a:buSzTx/>
              <a:buNone/>
            </a:pPr>
            <a:r>
              <a:rPr lang="zh-CN" altLang="en-US" sz="1400" b="1" dirty="0" smtClean="0">
                <a:solidFill>
                  <a:schemeClr val="bg1"/>
                </a:solidFill>
                <a:latin typeface="微软雅黑" panose="020B0503020204020204" pitchFamily="34" charset="-122"/>
                <a:ea typeface="微软雅黑" panose="020B0503020204020204" pitchFamily="34" charset="-122"/>
              </a:rPr>
              <a:t>重客特殊组织保障</a:t>
            </a:r>
            <a:endParaRPr lang="zh-CN" altLang="en-US" sz="1400" b="1" dirty="0">
              <a:solidFill>
                <a:schemeClr val="bg1"/>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64" name="TextBox 5"/>
          <p:cNvSpPr txBox="1"/>
          <p:nvPr/>
        </p:nvSpPr>
        <p:spPr>
          <a:xfrm>
            <a:off x="5599839" y="1467298"/>
            <a:ext cx="2800709" cy="1556029"/>
          </a:xfrm>
          <a:prstGeom prst="rect">
            <a:avLst/>
          </a:prstGeom>
          <a:noFill/>
          <a:ln>
            <a:noFill/>
          </a:ln>
          <a:effectLst/>
        </p:spPr>
        <p:txBody>
          <a:bodyPr wrap="square" lIns="77939" tIns="38970" rIns="77939" bIns="38970" rtlCol="0">
            <a:spAutoFit/>
          </a:bodyPr>
          <a:lstStyle/>
          <a:p>
            <a:pPr marL="171450" indent="-171450">
              <a:lnSpc>
                <a:spcPct val="200000"/>
              </a:lnSpc>
              <a:buClr>
                <a:srgbClr val="0070C0"/>
              </a:buClr>
              <a:buFont typeface="Wingdings" panose="05000000000000000000" pitchFamily="2" charset="2"/>
              <a:buChar char="u"/>
            </a:pPr>
            <a:r>
              <a:rPr lang="zh-CN" altLang="en-US" sz="1200" dirty="0" smtClean="0">
                <a:solidFill>
                  <a:schemeClr val="tx1">
                    <a:lumMod val="75000"/>
                    <a:lumOff val="25000"/>
                  </a:schemeClr>
                </a:solidFill>
                <a:latin typeface="+mn-lt"/>
                <a:ea typeface="+mn-ea"/>
                <a:cs typeface="Arial" panose="020B0604020202090204" pitchFamily="34" charset="0"/>
              </a:rPr>
              <a:t>项目经理</a:t>
            </a:r>
            <a:endParaRPr lang="en-US" altLang="zh-CN" sz="1200" dirty="0" smtClean="0">
              <a:solidFill>
                <a:schemeClr val="tx1">
                  <a:lumMod val="75000"/>
                  <a:lumOff val="25000"/>
                </a:schemeClr>
              </a:solidFill>
              <a:latin typeface="+mn-lt"/>
              <a:ea typeface="+mn-ea"/>
              <a:cs typeface="Arial" panose="020B0604020202090204" pitchFamily="34" charset="0"/>
            </a:endParaRPr>
          </a:p>
          <a:p>
            <a:pPr marL="171450" indent="-171450">
              <a:lnSpc>
                <a:spcPct val="200000"/>
              </a:lnSpc>
              <a:buClr>
                <a:srgbClr val="0070C0"/>
              </a:buClr>
              <a:buFont typeface="Wingdings" panose="05000000000000000000" pitchFamily="2" charset="2"/>
              <a:buChar char="u"/>
            </a:pPr>
            <a:r>
              <a:rPr lang="zh-CN" altLang="en-US" sz="1200" dirty="0" smtClean="0">
                <a:solidFill>
                  <a:schemeClr val="tx1">
                    <a:lumMod val="75000"/>
                    <a:lumOff val="25000"/>
                  </a:schemeClr>
                </a:solidFill>
                <a:latin typeface="+mn-lt"/>
                <a:ea typeface="+mn-ea"/>
                <a:cs typeface="Arial" panose="020B0604020202090204" pitchFamily="34" charset="0"/>
              </a:rPr>
              <a:t>客户关系负责人</a:t>
            </a:r>
            <a:endParaRPr lang="en-US" altLang="zh-CN" sz="1200" dirty="0" smtClean="0">
              <a:solidFill>
                <a:schemeClr val="tx1">
                  <a:lumMod val="75000"/>
                  <a:lumOff val="25000"/>
                </a:schemeClr>
              </a:solidFill>
              <a:latin typeface="+mn-lt"/>
              <a:ea typeface="+mn-ea"/>
              <a:cs typeface="Arial" panose="020B0604020202090204" pitchFamily="34" charset="0"/>
            </a:endParaRPr>
          </a:p>
          <a:p>
            <a:pPr marL="171450" indent="-171450">
              <a:lnSpc>
                <a:spcPct val="200000"/>
              </a:lnSpc>
              <a:buClr>
                <a:srgbClr val="0070C0"/>
              </a:buClr>
              <a:buFont typeface="Wingdings" panose="05000000000000000000" pitchFamily="2" charset="2"/>
              <a:buChar char="u"/>
            </a:pPr>
            <a:r>
              <a:rPr lang="zh-CN" altLang="en-US" sz="1200" dirty="0" smtClean="0">
                <a:solidFill>
                  <a:schemeClr val="tx1">
                    <a:lumMod val="75000"/>
                    <a:lumOff val="25000"/>
                  </a:schemeClr>
                </a:solidFill>
                <a:latin typeface="+mn-lt"/>
                <a:ea typeface="+mn-ea"/>
                <a:cs typeface="Arial" panose="020B0604020202090204" pitchFamily="34" charset="0"/>
              </a:rPr>
              <a:t>技术负责人</a:t>
            </a:r>
            <a:endParaRPr lang="en-US" altLang="zh-CN" sz="1200" dirty="0" smtClean="0">
              <a:solidFill>
                <a:schemeClr val="tx1">
                  <a:lumMod val="75000"/>
                  <a:lumOff val="25000"/>
                </a:schemeClr>
              </a:solidFill>
              <a:latin typeface="+mn-lt"/>
              <a:ea typeface="+mn-ea"/>
              <a:cs typeface="Arial" panose="020B0604020202090204" pitchFamily="34" charset="0"/>
            </a:endParaRPr>
          </a:p>
          <a:p>
            <a:pPr marL="171450" indent="-171450">
              <a:lnSpc>
                <a:spcPct val="200000"/>
              </a:lnSpc>
              <a:buClr>
                <a:srgbClr val="0070C0"/>
              </a:buClr>
              <a:buFont typeface="Wingdings" panose="05000000000000000000" pitchFamily="2" charset="2"/>
              <a:buChar char="u"/>
            </a:pPr>
            <a:r>
              <a:rPr lang="zh-CN" altLang="en-US" sz="1200" dirty="0" smtClean="0">
                <a:solidFill>
                  <a:schemeClr val="tx1">
                    <a:lumMod val="75000"/>
                    <a:lumOff val="25000"/>
                  </a:schemeClr>
                </a:solidFill>
                <a:latin typeface="+mn-lt"/>
                <a:ea typeface="+mn-ea"/>
                <a:cs typeface="Arial" panose="020B0604020202090204" pitchFamily="34" charset="0"/>
              </a:rPr>
              <a:t>客户体验负责人</a:t>
            </a:r>
            <a:endParaRPr lang="en-US" sz="1200" dirty="0">
              <a:solidFill>
                <a:schemeClr val="tx1">
                  <a:lumMod val="75000"/>
                  <a:lumOff val="25000"/>
                </a:schemeClr>
              </a:solidFill>
              <a:latin typeface="+mn-lt"/>
              <a:ea typeface="+mn-ea"/>
              <a:cs typeface="Arial" panose="020B0604020202090204" pitchFamily="34" charset="0"/>
            </a:endParaRPr>
          </a:p>
        </p:txBody>
      </p:sp>
      <p:sp>
        <p:nvSpPr>
          <p:cNvPr id="68" name="矩形 67"/>
          <p:cNvSpPr/>
          <p:nvPr/>
        </p:nvSpPr>
        <p:spPr>
          <a:xfrm>
            <a:off x="5675597" y="1078104"/>
            <a:ext cx="1441420" cy="307777"/>
          </a:xfrm>
          <a:prstGeom prst="rect">
            <a:avLst/>
          </a:prstGeom>
        </p:spPr>
        <p:txBody>
          <a:bodyPr wrap="none">
            <a:spAutoFit/>
          </a:bodyPr>
          <a:lstStyle/>
          <a:p>
            <a:pPr eaLnBrk="1" hangingPunct="1">
              <a:lnSpc>
                <a:spcPct val="100000"/>
              </a:lnSpc>
              <a:buClrTx/>
              <a:buSzTx/>
              <a:buNone/>
            </a:pPr>
            <a:r>
              <a:rPr lang="zh-CN" altLang="en-US" sz="1400" b="1" dirty="0" smtClean="0">
                <a:solidFill>
                  <a:schemeClr val="bg1"/>
                </a:solidFill>
                <a:latin typeface="微软雅黑" panose="020B0503020204020204" pitchFamily="34" charset="-122"/>
                <a:ea typeface="微软雅黑" panose="020B0503020204020204" pitchFamily="34" charset="-122"/>
                <a:cs typeface="Arial" panose="020B0604020202090204" pitchFamily="34" charset="0"/>
              </a:rPr>
              <a:t>项目组核心角色</a:t>
            </a:r>
            <a:endParaRPr lang="en-US" altLang="zh-CN" sz="1400" b="1" dirty="0">
              <a:solidFill>
                <a:schemeClr val="bg1"/>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69" name="矩形 68"/>
          <p:cNvSpPr/>
          <p:nvPr/>
        </p:nvSpPr>
        <p:spPr>
          <a:xfrm>
            <a:off x="860778" y="1537669"/>
            <a:ext cx="4739061" cy="1477328"/>
          </a:xfrm>
          <a:prstGeom prst="rect">
            <a:avLst/>
          </a:prstGeom>
        </p:spPr>
        <p:txBody>
          <a:bodyPr wrap="square">
            <a:spAutoFit/>
          </a:bodyPr>
          <a:lstStyle/>
          <a:p>
            <a:pPr marL="171450" indent="-171450" eaLnBrk="1" hangingPunct="1">
              <a:lnSpc>
                <a:spcPct val="150000"/>
              </a:lnSpc>
              <a:buClr>
                <a:srgbClr val="0070C0"/>
              </a:buClr>
              <a:buSzTx/>
              <a:buFont typeface="Wingdings" panose="05000000000000000000" pitchFamily="2" charset="2"/>
              <a:buChar char="u"/>
            </a:pP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平台管理部</a:t>
            </a:r>
            <a:endPar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a:p>
            <a:pPr marL="171450" indent="-171450" eaLnBrk="1" hangingPunct="1">
              <a:lnSpc>
                <a:spcPct val="150000"/>
              </a:lnSpc>
              <a:buClr>
                <a:srgbClr val="0070C0"/>
              </a:buClr>
              <a:buSzTx/>
              <a:buFont typeface="Wingdings" panose="05000000000000000000" pitchFamily="2" charset="2"/>
              <a:buChar char="u"/>
            </a:pP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系统部 （解决方案，拓展）</a:t>
            </a: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a:p>
            <a:pPr marL="171450" indent="-171450" eaLnBrk="1" hangingPunct="1">
              <a:lnSpc>
                <a:spcPct val="150000"/>
              </a:lnSpc>
              <a:buClr>
                <a:srgbClr val="0070C0"/>
              </a:buClr>
              <a:buSzTx/>
              <a:buFont typeface="Wingdings" panose="05000000000000000000" pitchFamily="2" charset="2"/>
              <a:buChar char="u"/>
            </a:pP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售前技术部</a:t>
            </a:r>
            <a:endPar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a:p>
            <a:pPr marL="171450" indent="-171450" eaLnBrk="1" hangingPunct="1">
              <a:lnSpc>
                <a:spcPct val="150000"/>
              </a:lnSpc>
              <a:buClr>
                <a:srgbClr val="0070C0"/>
              </a:buClr>
              <a:buSzTx/>
              <a:buFont typeface="Wingdings" panose="05000000000000000000" pitchFamily="2" charset="2"/>
              <a:buChar char="u"/>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产</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研</a:t>
            </a:r>
            <a:r>
              <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BU</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（交换无线，云桌面，睿智，身份管理，</a:t>
            </a:r>
            <a:r>
              <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EDN</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a:t>
            </a:r>
            <a:endPar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a:p>
            <a:pPr marL="171450" indent="-171450" eaLnBrk="1" hangingPunct="1">
              <a:lnSpc>
                <a:spcPct val="150000"/>
              </a:lnSpc>
              <a:buClr>
                <a:srgbClr val="0070C0"/>
              </a:buClr>
              <a:buSzTx/>
              <a:buFont typeface="Wingdings" panose="05000000000000000000" pitchFamily="2" charset="2"/>
              <a:buChar char="u"/>
            </a:pP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职能部门（商务，法务，财务）</a:t>
            </a:r>
            <a:endPar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72" name="矩形 71"/>
          <p:cNvSpPr/>
          <p:nvPr/>
        </p:nvSpPr>
        <p:spPr>
          <a:xfrm>
            <a:off x="2618134" y="1070470"/>
            <a:ext cx="902811" cy="307777"/>
          </a:xfrm>
          <a:prstGeom prst="rect">
            <a:avLst/>
          </a:prstGeom>
        </p:spPr>
        <p:txBody>
          <a:bodyPr wrap="none">
            <a:spAutoFit/>
          </a:bodyPr>
          <a:lstStyle/>
          <a:p>
            <a:pPr algn="ctr">
              <a:defRPr/>
            </a:pPr>
            <a:r>
              <a:rPr lang="zh-CN" altLang="en-US" sz="1400" b="1" dirty="0" smtClean="0">
                <a:solidFill>
                  <a:srgbClr val="FFFFFF"/>
                </a:solidFill>
                <a:latin typeface="微软雅黑" panose="020B0503020204020204" pitchFamily="34" charset="-122"/>
                <a:ea typeface="微软雅黑" panose="020B0503020204020204" pitchFamily="34" charset="-122"/>
                <a:cs typeface="Arial" panose="020B0604020202090204" pitchFamily="34" charset="0"/>
              </a:rPr>
              <a:t>支持部门</a:t>
            </a:r>
            <a:endParaRPr lang="en-US" altLang="en-US" sz="1400" b="1" cap="small" baseline="30000" dirty="0">
              <a:solidFill>
                <a:srgbClr val="FFFFFF"/>
              </a:solidFill>
              <a:latin typeface="微软雅黑" panose="020B0503020204020204" pitchFamily="34" charset="-122"/>
              <a:ea typeface="微软雅黑" panose="020B0503020204020204" pitchFamily="34" charset="-122"/>
              <a:cs typeface="Arial" panose="020B0604020202090204" pitchFamily="34" charset="0"/>
            </a:endParaRPr>
          </a:p>
        </p:txBody>
      </p:sp>
      <p:grpSp>
        <p:nvGrpSpPr>
          <p:cNvPr id="101" name="组合 100"/>
          <p:cNvGrpSpPr/>
          <p:nvPr/>
        </p:nvGrpSpPr>
        <p:grpSpPr>
          <a:xfrm>
            <a:off x="721015" y="4689778"/>
            <a:ext cx="9891776" cy="602320"/>
            <a:chOff x="373117" y="3636917"/>
            <a:chExt cx="8008809" cy="454561"/>
          </a:xfrm>
        </p:grpSpPr>
        <p:sp>
          <p:nvSpPr>
            <p:cNvPr id="102" name="AutoShape 85"/>
            <p:cNvSpPr>
              <a:spLocks noChangeArrowheads="1"/>
            </p:cNvSpPr>
            <p:nvPr/>
          </p:nvSpPr>
          <p:spPr bwMode="auto">
            <a:xfrm>
              <a:off x="897776" y="3825968"/>
              <a:ext cx="664033" cy="265510"/>
            </a:xfrm>
            <a:prstGeom prst="diamond">
              <a:avLst/>
            </a:prstGeom>
            <a:solidFill>
              <a:srgbClr val="F7B021"/>
            </a:solidFill>
            <a:ln w="9525" algn="ctr">
              <a:noFill/>
              <a:miter lim="800000"/>
            </a:ln>
          </p:spPr>
          <p:txBody>
            <a:bodyPr wrap="none" lIns="58314" tIns="29157" rIns="58314" bIns="29157" anchor="ctr"/>
            <a:lstStyle/>
            <a:p>
              <a:pPr algn="ctr" defTabSz="582930"/>
              <a:r>
                <a:rPr lang="zh-CN" altLang="en-US" sz="10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立项决策</a:t>
              </a:r>
              <a:endParaRPr lang="en-US" altLang="zh-HK"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03" name="AutoShape 85"/>
            <p:cNvSpPr>
              <a:spLocks noChangeArrowheads="1"/>
            </p:cNvSpPr>
            <p:nvPr/>
          </p:nvSpPr>
          <p:spPr bwMode="auto">
            <a:xfrm>
              <a:off x="4266170" y="3825968"/>
              <a:ext cx="664032" cy="265510"/>
            </a:xfrm>
            <a:prstGeom prst="diamond">
              <a:avLst/>
            </a:prstGeom>
            <a:solidFill>
              <a:srgbClr val="F7B021"/>
            </a:solidFill>
            <a:ln w="9525" algn="ctr">
              <a:noFill/>
              <a:miter lim="800000"/>
            </a:ln>
          </p:spPr>
          <p:txBody>
            <a:bodyPr wrap="none" lIns="58314" tIns="29157" rIns="58314" bIns="29157" anchor="ctr"/>
            <a:lstStyle/>
            <a:p>
              <a:pPr algn="ctr" defTabSz="582930"/>
              <a:r>
                <a:rPr lang="zh-CN" altLang="en-US" sz="10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签约决策</a:t>
              </a:r>
              <a:endParaRPr lang="en-US" altLang="zh-HK"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04" name="AutoShape 85"/>
            <p:cNvSpPr>
              <a:spLocks noChangeArrowheads="1"/>
            </p:cNvSpPr>
            <p:nvPr/>
          </p:nvSpPr>
          <p:spPr bwMode="auto">
            <a:xfrm>
              <a:off x="2538338" y="3825968"/>
              <a:ext cx="665498" cy="265510"/>
            </a:xfrm>
            <a:prstGeom prst="diamond">
              <a:avLst/>
            </a:prstGeom>
            <a:solidFill>
              <a:srgbClr val="F7B021"/>
            </a:solidFill>
            <a:ln w="9525" algn="ctr">
              <a:noFill/>
              <a:miter lim="800000"/>
            </a:ln>
          </p:spPr>
          <p:txBody>
            <a:bodyPr wrap="none" lIns="58314" tIns="29157" rIns="58314" bIns="29157" anchor="ctr"/>
            <a:lstStyle/>
            <a:p>
              <a:pPr algn="ctr" defTabSz="582930"/>
              <a:r>
                <a:rPr lang="zh-CN" altLang="en-US" sz="10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投标决策</a:t>
              </a:r>
              <a:endParaRPr lang="en-US" altLang="zh-HK"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05" name="AutoShape 85"/>
            <p:cNvSpPr>
              <a:spLocks noChangeArrowheads="1"/>
            </p:cNvSpPr>
            <p:nvPr/>
          </p:nvSpPr>
          <p:spPr bwMode="auto">
            <a:xfrm>
              <a:off x="7716428" y="3825968"/>
              <a:ext cx="665498" cy="265510"/>
            </a:xfrm>
            <a:prstGeom prst="diamond">
              <a:avLst/>
            </a:prstGeom>
            <a:solidFill>
              <a:srgbClr val="F7B021"/>
            </a:solidFill>
            <a:ln w="9525" algn="ctr">
              <a:noFill/>
              <a:miter lim="800000"/>
            </a:ln>
          </p:spPr>
          <p:txBody>
            <a:bodyPr wrap="none" lIns="58314" tIns="29157" rIns="58314" bIns="29157" anchor="ctr"/>
            <a:lstStyle/>
            <a:p>
              <a:pPr algn="ctr" defTabSz="582930"/>
              <a:r>
                <a:rPr lang="zh-CN" altLang="en-US" sz="10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合同关闭决策</a:t>
              </a:r>
              <a:endParaRPr lang="en-US" altLang="zh-HK"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cxnSp>
          <p:nvCxnSpPr>
            <p:cNvPr id="106" name="AutoShape 538"/>
            <p:cNvCxnSpPr>
              <a:cxnSpLocks noChangeShapeType="1"/>
              <a:stCxn id="102" idx="3"/>
              <a:endCxn id="104" idx="1"/>
            </p:cNvCxnSpPr>
            <p:nvPr/>
          </p:nvCxnSpPr>
          <p:spPr bwMode="auto">
            <a:xfrm>
              <a:off x="1561807" y="3958722"/>
              <a:ext cx="976531" cy="0"/>
            </a:xfrm>
            <a:prstGeom prst="straightConnector1">
              <a:avLst/>
            </a:prstGeom>
            <a:noFill/>
            <a:ln w="9525">
              <a:solidFill>
                <a:schemeClr val="tx1">
                  <a:lumMod val="75000"/>
                  <a:lumOff val="25000"/>
                </a:schemeClr>
              </a:solidFill>
              <a:round/>
              <a:tailEnd type="triangle" w="med" len="med"/>
            </a:ln>
          </p:spPr>
        </p:cxnSp>
        <p:cxnSp>
          <p:nvCxnSpPr>
            <p:cNvPr id="107" name="AutoShape 539"/>
            <p:cNvCxnSpPr>
              <a:cxnSpLocks noChangeShapeType="1"/>
              <a:stCxn id="104" idx="3"/>
              <a:endCxn id="103" idx="1"/>
            </p:cNvCxnSpPr>
            <p:nvPr/>
          </p:nvCxnSpPr>
          <p:spPr bwMode="auto">
            <a:xfrm>
              <a:off x="3203836" y="3958722"/>
              <a:ext cx="1062334" cy="0"/>
            </a:xfrm>
            <a:prstGeom prst="straightConnector1">
              <a:avLst/>
            </a:prstGeom>
            <a:noFill/>
            <a:ln w="9525">
              <a:solidFill>
                <a:schemeClr val="tx1">
                  <a:lumMod val="75000"/>
                  <a:lumOff val="25000"/>
                </a:schemeClr>
              </a:solidFill>
              <a:round/>
              <a:tailEnd type="triangle" w="med" len="med"/>
            </a:ln>
          </p:spPr>
        </p:cxnSp>
        <p:cxnSp>
          <p:nvCxnSpPr>
            <p:cNvPr id="108" name="AutoShape 540"/>
            <p:cNvCxnSpPr>
              <a:cxnSpLocks noChangeShapeType="1"/>
              <a:stCxn id="103" idx="3"/>
              <a:endCxn id="111" idx="1"/>
            </p:cNvCxnSpPr>
            <p:nvPr/>
          </p:nvCxnSpPr>
          <p:spPr bwMode="auto">
            <a:xfrm>
              <a:off x="4930201" y="3958722"/>
              <a:ext cx="983636" cy="0"/>
            </a:xfrm>
            <a:prstGeom prst="straightConnector1">
              <a:avLst/>
            </a:prstGeom>
            <a:noFill/>
            <a:ln w="9525">
              <a:solidFill>
                <a:schemeClr val="tx1">
                  <a:lumMod val="75000"/>
                  <a:lumOff val="25000"/>
                </a:schemeClr>
              </a:solidFill>
              <a:round/>
              <a:tailEnd type="triangle" w="med" len="med"/>
            </a:ln>
          </p:spPr>
        </p:cxnSp>
        <p:sp>
          <p:nvSpPr>
            <p:cNvPr id="109" name="AutoShape 4"/>
            <p:cNvSpPr>
              <a:spLocks noChangeAspect="1" noChangeArrowheads="1"/>
            </p:cNvSpPr>
            <p:nvPr/>
          </p:nvSpPr>
          <p:spPr bwMode="auto">
            <a:xfrm flipV="1">
              <a:off x="2036042" y="3848591"/>
              <a:ext cx="193493" cy="135731"/>
            </a:xfrm>
            <a:prstGeom prst="triangle">
              <a:avLst>
                <a:gd name="adj" fmla="val 50000"/>
              </a:avLst>
            </a:prstGeom>
            <a:solidFill>
              <a:srgbClr val="0070C0"/>
            </a:solidFill>
            <a:ln w="9525" algn="ctr">
              <a:noFill/>
              <a:miter lim="800000"/>
            </a:ln>
          </p:spPr>
          <p:txBody>
            <a:bodyPr wrap="none" lIns="58314" tIns="29157" rIns="58314" bIns="29157" anchor="ctr"/>
            <a:lstStyle/>
            <a:p>
              <a:endParaRPr lang="zh-CN" altLang="en-US" sz="800" b="1" dirty="0">
                <a:latin typeface="微软雅黑" panose="020B0503020204020204" pitchFamily="34" charset="-122"/>
                <a:ea typeface="微软雅黑" panose="020B0503020204020204" pitchFamily="34" charset="-122"/>
                <a:cs typeface="Arial" panose="020B0604020202090204" pitchFamily="34" charset="0"/>
              </a:endParaRPr>
            </a:p>
          </p:txBody>
        </p:sp>
        <p:sp>
          <p:nvSpPr>
            <p:cNvPr id="110" name="AutoShape 5"/>
            <p:cNvSpPr>
              <a:spLocks noChangeAspect="1" noChangeArrowheads="1"/>
            </p:cNvSpPr>
            <p:nvPr/>
          </p:nvSpPr>
          <p:spPr bwMode="auto">
            <a:xfrm flipV="1">
              <a:off x="3790321" y="3848591"/>
              <a:ext cx="193493" cy="135731"/>
            </a:xfrm>
            <a:prstGeom prst="triangle">
              <a:avLst>
                <a:gd name="adj" fmla="val 50000"/>
              </a:avLst>
            </a:prstGeom>
            <a:solidFill>
              <a:srgbClr val="0070C0"/>
            </a:solidFill>
            <a:ln w="9525" algn="ctr">
              <a:noFill/>
              <a:miter lim="800000"/>
            </a:ln>
          </p:spPr>
          <p:txBody>
            <a:bodyPr wrap="none" lIns="58314" tIns="29157" rIns="58314" bIns="29157" anchor="ctr"/>
            <a:lstStyle/>
            <a:p>
              <a:endParaRPr lang="zh-CN" altLang="en-US" b="1">
                <a:latin typeface="微软雅黑" panose="020B0503020204020204" pitchFamily="34" charset="-122"/>
                <a:ea typeface="微软雅黑" panose="020B0503020204020204" pitchFamily="34" charset="-122"/>
                <a:cs typeface="Arial" panose="020B0604020202090204" pitchFamily="34" charset="0"/>
              </a:endParaRPr>
            </a:p>
          </p:txBody>
        </p:sp>
        <p:sp>
          <p:nvSpPr>
            <p:cNvPr id="111" name="AutoShape 85"/>
            <p:cNvSpPr>
              <a:spLocks noChangeArrowheads="1"/>
            </p:cNvSpPr>
            <p:nvPr/>
          </p:nvSpPr>
          <p:spPr bwMode="auto">
            <a:xfrm>
              <a:off x="5913838" y="3825968"/>
              <a:ext cx="664033" cy="265510"/>
            </a:xfrm>
            <a:prstGeom prst="diamond">
              <a:avLst/>
            </a:prstGeom>
            <a:solidFill>
              <a:srgbClr val="FBD893"/>
            </a:solidFill>
            <a:ln w="9525" algn="ctr">
              <a:solidFill>
                <a:schemeClr val="tx1"/>
              </a:solidFill>
              <a:prstDash val="dash"/>
              <a:miter lim="800000"/>
            </a:ln>
          </p:spPr>
          <p:txBody>
            <a:bodyPr wrap="none" lIns="0" tIns="0" rIns="0" bIns="0" anchor="ctr" anchorCtr="1"/>
            <a:lstStyle/>
            <a:p>
              <a:pPr algn="ctr" defTabSz="582930"/>
              <a:r>
                <a:rPr lang="zh-CN" altLang="en-US" sz="10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合同变更决策</a:t>
              </a:r>
              <a:endParaRPr lang="en-US" altLang="zh-HK"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cxnSp>
          <p:nvCxnSpPr>
            <p:cNvPr id="112" name="AutoShape 540"/>
            <p:cNvCxnSpPr>
              <a:cxnSpLocks noChangeShapeType="1"/>
              <a:stCxn id="111" idx="3"/>
              <a:endCxn id="105" idx="1"/>
            </p:cNvCxnSpPr>
            <p:nvPr/>
          </p:nvCxnSpPr>
          <p:spPr bwMode="auto">
            <a:xfrm>
              <a:off x="6577871" y="3958722"/>
              <a:ext cx="1138557" cy="0"/>
            </a:xfrm>
            <a:prstGeom prst="straightConnector1">
              <a:avLst/>
            </a:prstGeom>
            <a:noFill/>
            <a:ln w="9525">
              <a:solidFill>
                <a:schemeClr val="tx1">
                  <a:lumMod val="75000"/>
                  <a:lumOff val="25000"/>
                </a:schemeClr>
              </a:solidFill>
              <a:round/>
              <a:tailEnd type="triangle" w="med" len="med"/>
            </a:ln>
          </p:spPr>
        </p:cxnSp>
        <p:sp>
          <p:nvSpPr>
            <p:cNvPr id="113" name="AutoShape 5"/>
            <p:cNvSpPr>
              <a:spLocks noChangeAspect="1" noChangeArrowheads="1"/>
            </p:cNvSpPr>
            <p:nvPr/>
          </p:nvSpPr>
          <p:spPr bwMode="auto">
            <a:xfrm flipV="1">
              <a:off x="5333422" y="3848591"/>
              <a:ext cx="193493" cy="135731"/>
            </a:xfrm>
            <a:prstGeom prst="triangle">
              <a:avLst>
                <a:gd name="adj" fmla="val 50000"/>
              </a:avLst>
            </a:prstGeom>
            <a:solidFill>
              <a:srgbClr val="0070C0"/>
            </a:solidFill>
            <a:ln w="9525" algn="ctr">
              <a:noFill/>
              <a:miter lim="800000"/>
            </a:ln>
          </p:spPr>
          <p:txBody>
            <a:bodyPr wrap="none" lIns="58314" tIns="29157" rIns="58314" bIns="29157" anchor="ctr"/>
            <a:lstStyle/>
            <a:p>
              <a:endParaRPr lang="zh-CN" altLang="en-US" b="1">
                <a:latin typeface="微软雅黑" panose="020B0503020204020204" pitchFamily="34" charset="-122"/>
                <a:ea typeface="微软雅黑" panose="020B0503020204020204" pitchFamily="34" charset="-122"/>
                <a:cs typeface="Arial" panose="020B0604020202090204" pitchFamily="34" charset="0"/>
              </a:endParaRPr>
            </a:p>
          </p:txBody>
        </p:sp>
        <p:sp>
          <p:nvSpPr>
            <p:cNvPr id="114" name="Text Box 34"/>
            <p:cNvSpPr txBox="1">
              <a:spLocks noChangeArrowheads="1"/>
            </p:cNvSpPr>
            <p:nvPr/>
          </p:nvSpPr>
          <p:spPr bwMode="auto">
            <a:xfrm>
              <a:off x="1744878" y="3650187"/>
              <a:ext cx="804755" cy="176933"/>
            </a:xfrm>
            <a:prstGeom prst="rect">
              <a:avLst/>
            </a:prstGeom>
            <a:noFill/>
            <a:ln w="9525" algn="ctr">
              <a:noFill/>
              <a:miter lim="800000"/>
            </a:ln>
          </p:spPr>
          <p:txBody>
            <a:bodyPr lIns="76713" tIns="39890" rIns="76713" bIns="39890">
              <a:spAutoFit/>
            </a:bodyPr>
            <a:lstStyle/>
            <a:p>
              <a:pPr marL="100330" indent="-100330" algn="ctr">
                <a:buClr>
                  <a:schemeClr val="tx2"/>
                </a:buClr>
              </a:pP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投标</a:t>
              </a:r>
              <a:r>
                <a:rPr lang="zh-CN" altLang="en-US" sz="10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评审 </a:t>
              </a:r>
              <a:r>
                <a:rPr lang="en-US" altLang="zh-CN" sz="10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BR</a:t>
              </a:r>
              <a:r>
                <a:rPr lang="zh-CN" altLang="en-US" sz="10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 </a:t>
              </a:r>
              <a:endPar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15" name="Text Box 34"/>
            <p:cNvSpPr txBox="1">
              <a:spLocks noChangeArrowheads="1"/>
            </p:cNvSpPr>
            <p:nvPr/>
          </p:nvSpPr>
          <p:spPr bwMode="auto">
            <a:xfrm>
              <a:off x="3528485" y="3650187"/>
              <a:ext cx="804754" cy="176933"/>
            </a:xfrm>
            <a:prstGeom prst="rect">
              <a:avLst/>
            </a:prstGeom>
            <a:noFill/>
            <a:ln w="9525" algn="ctr">
              <a:noFill/>
              <a:miter lim="800000"/>
            </a:ln>
          </p:spPr>
          <p:txBody>
            <a:bodyPr lIns="76713" tIns="39890" rIns="76713" bIns="39890">
              <a:spAutoFit/>
            </a:bodyPr>
            <a:lstStyle/>
            <a:p>
              <a:pPr marL="100330" indent="-100330" algn="ctr">
                <a:buClr>
                  <a:schemeClr val="tx2"/>
                </a:buClr>
              </a:pP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合同</a:t>
              </a:r>
              <a:r>
                <a:rPr lang="zh-CN" altLang="en-US" sz="10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评审 </a:t>
              </a:r>
              <a:r>
                <a:rPr lang="en-US" altLang="zh-CN" sz="10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CR</a:t>
              </a:r>
              <a:r>
                <a:rPr lang="zh-CN" altLang="en-US" sz="10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 </a:t>
              </a:r>
              <a:endPar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16" name="Text Box 34"/>
            <p:cNvSpPr txBox="1">
              <a:spLocks noChangeArrowheads="1"/>
            </p:cNvSpPr>
            <p:nvPr/>
          </p:nvSpPr>
          <p:spPr bwMode="auto">
            <a:xfrm>
              <a:off x="4824647" y="3650187"/>
              <a:ext cx="1308588" cy="176933"/>
            </a:xfrm>
            <a:prstGeom prst="rect">
              <a:avLst/>
            </a:prstGeom>
            <a:noFill/>
            <a:ln w="9525" algn="ctr">
              <a:noFill/>
              <a:miter lim="800000"/>
            </a:ln>
          </p:spPr>
          <p:txBody>
            <a:bodyPr wrap="square" lIns="76713" tIns="39890" rIns="76713" bIns="39890">
              <a:spAutoFit/>
            </a:bodyPr>
            <a:lstStyle/>
            <a:p>
              <a:pPr marL="100330" indent="-100330" algn="ctr">
                <a:buClr>
                  <a:schemeClr val="tx2"/>
                </a:buClr>
              </a:pP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合同</a:t>
              </a:r>
              <a:r>
                <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PO</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变更评审 </a:t>
              </a:r>
              <a:endPar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18" name="TextBox 229"/>
            <p:cNvSpPr txBox="1"/>
            <p:nvPr/>
          </p:nvSpPr>
          <p:spPr>
            <a:xfrm>
              <a:off x="3775081" y="3792615"/>
              <a:ext cx="218696" cy="163918"/>
            </a:xfrm>
            <a:prstGeom prst="rect">
              <a:avLst/>
            </a:prstGeom>
            <a:noFill/>
          </p:spPr>
          <p:txBody>
            <a:bodyPr wrap="square" lIns="77939" tIns="38970" rIns="77939" bIns="38970" rtlCol="0">
              <a:spAutoFit/>
            </a:bodyPr>
            <a:lstStyle/>
            <a:p>
              <a:endParaRPr lang="en-US" sz="900" dirty="0">
                <a:solidFill>
                  <a:schemeClr val="bg1"/>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19" name="TextBox 230"/>
            <p:cNvSpPr txBox="1"/>
            <p:nvPr/>
          </p:nvSpPr>
          <p:spPr>
            <a:xfrm>
              <a:off x="5321960" y="3792615"/>
              <a:ext cx="218696" cy="163918"/>
            </a:xfrm>
            <a:prstGeom prst="rect">
              <a:avLst/>
            </a:prstGeom>
            <a:noFill/>
          </p:spPr>
          <p:txBody>
            <a:bodyPr wrap="square" lIns="77939" tIns="38970" rIns="77939" bIns="38970" rtlCol="0">
              <a:spAutoFit/>
            </a:bodyPr>
            <a:lstStyle/>
            <a:p>
              <a:endParaRPr lang="en-US" sz="900" dirty="0">
                <a:solidFill>
                  <a:schemeClr val="bg1"/>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46" name="Text Box 34"/>
            <p:cNvSpPr txBox="1">
              <a:spLocks noChangeArrowheads="1"/>
            </p:cNvSpPr>
            <p:nvPr/>
          </p:nvSpPr>
          <p:spPr bwMode="auto">
            <a:xfrm>
              <a:off x="373117" y="3636917"/>
              <a:ext cx="804755" cy="176933"/>
            </a:xfrm>
            <a:prstGeom prst="rect">
              <a:avLst/>
            </a:prstGeom>
            <a:noFill/>
            <a:ln w="9525" algn="ctr">
              <a:noFill/>
              <a:miter lim="800000"/>
            </a:ln>
          </p:spPr>
          <p:txBody>
            <a:bodyPr lIns="76713" tIns="39890" rIns="76713" bIns="39890">
              <a:spAutoFit/>
            </a:bodyPr>
            <a:lstStyle/>
            <a:p>
              <a:pPr marL="100330" indent="-100330" algn="ctr">
                <a:buClr>
                  <a:schemeClr val="tx2"/>
                </a:buClr>
              </a:pPr>
              <a:r>
                <a:rPr lang="zh-CN" altLang="en-US" sz="10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立项评审 </a:t>
              </a:r>
              <a:r>
                <a:rPr lang="en-US" altLang="zh-CN" sz="10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IR</a:t>
              </a:r>
              <a:endPar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48" name="AutoShape 4"/>
            <p:cNvSpPr>
              <a:spLocks noChangeAspect="1" noChangeArrowheads="1"/>
            </p:cNvSpPr>
            <p:nvPr/>
          </p:nvSpPr>
          <p:spPr bwMode="auto">
            <a:xfrm flipV="1">
              <a:off x="638267" y="3829428"/>
              <a:ext cx="193493" cy="135731"/>
            </a:xfrm>
            <a:prstGeom prst="triangle">
              <a:avLst>
                <a:gd name="adj" fmla="val 50000"/>
              </a:avLst>
            </a:prstGeom>
            <a:solidFill>
              <a:srgbClr val="0070C0"/>
            </a:solidFill>
            <a:ln w="9525" algn="ctr">
              <a:noFill/>
              <a:miter lim="800000"/>
            </a:ln>
          </p:spPr>
          <p:txBody>
            <a:bodyPr wrap="none" lIns="58314" tIns="29157" rIns="58314" bIns="29157" anchor="ctr"/>
            <a:lstStyle/>
            <a:p>
              <a:endParaRPr lang="zh-CN" altLang="en-US" sz="800" b="1" dirty="0">
                <a:latin typeface="微软雅黑" panose="020B0503020204020204" pitchFamily="34" charset="-122"/>
                <a:ea typeface="微软雅黑" panose="020B0503020204020204" pitchFamily="34" charset="-122"/>
                <a:cs typeface="Arial" panose="020B0604020202090204" pitchFamily="34" charset="0"/>
              </a:endParaRPr>
            </a:p>
          </p:txBody>
        </p:sp>
        <p:cxnSp>
          <p:nvCxnSpPr>
            <p:cNvPr id="153" name="AutoShape 538"/>
            <p:cNvCxnSpPr>
              <a:cxnSpLocks noChangeShapeType="1"/>
            </p:cNvCxnSpPr>
            <p:nvPr/>
          </p:nvCxnSpPr>
          <p:spPr bwMode="auto">
            <a:xfrm>
              <a:off x="375008" y="3956533"/>
              <a:ext cx="545852" cy="0"/>
            </a:xfrm>
            <a:prstGeom prst="straightConnector1">
              <a:avLst/>
            </a:prstGeom>
            <a:noFill/>
            <a:ln w="9525">
              <a:solidFill>
                <a:schemeClr val="tx1">
                  <a:lumMod val="75000"/>
                  <a:lumOff val="25000"/>
                </a:schemeClr>
              </a:solidFill>
              <a:round/>
              <a:tailEnd type="triangle" w="med" len="med"/>
            </a:ln>
          </p:spPr>
        </p:cxnSp>
      </p:grpSp>
      <p:grpSp>
        <p:nvGrpSpPr>
          <p:cNvPr id="120" name="组合 119"/>
          <p:cNvGrpSpPr/>
          <p:nvPr/>
        </p:nvGrpSpPr>
        <p:grpSpPr>
          <a:xfrm>
            <a:off x="928772" y="5344901"/>
            <a:ext cx="1764260" cy="1049618"/>
            <a:chOff x="401886" y="4131330"/>
            <a:chExt cx="1428421" cy="792130"/>
          </a:xfrm>
        </p:grpSpPr>
        <p:sp>
          <p:nvSpPr>
            <p:cNvPr id="121" name="圆角矩形 120"/>
            <p:cNvSpPr/>
            <p:nvPr/>
          </p:nvSpPr>
          <p:spPr bwMode="auto">
            <a:xfrm>
              <a:off x="408614" y="4131330"/>
              <a:ext cx="1421693" cy="792130"/>
            </a:xfrm>
            <a:prstGeom prst="roundRect">
              <a:avLst/>
            </a:prstGeom>
            <a:solidFill>
              <a:schemeClr val="bg1">
                <a:lumMod val="95000"/>
              </a:schemeClr>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no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panose="020B0604020202090204" pitchFamily="34" charset="0"/>
              </a:endParaRPr>
            </a:p>
          </p:txBody>
        </p:sp>
        <p:sp>
          <p:nvSpPr>
            <p:cNvPr id="122" name="Text Box 34"/>
            <p:cNvSpPr txBox="1">
              <a:spLocks noChangeArrowheads="1"/>
            </p:cNvSpPr>
            <p:nvPr/>
          </p:nvSpPr>
          <p:spPr bwMode="auto">
            <a:xfrm>
              <a:off x="401886" y="4358746"/>
              <a:ext cx="1403254" cy="446641"/>
            </a:xfrm>
            <a:prstGeom prst="rect">
              <a:avLst/>
            </a:prstGeom>
            <a:noFill/>
            <a:ln w="9525" algn="ctr">
              <a:noFill/>
              <a:miter lim="800000"/>
            </a:ln>
          </p:spPr>
          <p:txBody>
            <a:bodyPr wrap="square" lIns="76713" tIns="39890" rIns="76713" bIns="39890">
              <a:noAutofit/>
            </a:bodyPr>
            <a:lstStyle/>
            <a:p>
              <a:pPr marL="171450" indent="-171450">
                <a:buClr>
                  <a:srgbClr val="0070C0"/>
                </a:buClr>
                <a:buFont typeface="Wingdings" panose="05000000000000000000" pitchFamily="2" charset="2"/>
                <a:buChar char="u"/>
              </a:pPr>
              <a:r>
                <a:rPr lang="zh-CN" altLang="en-US" sz="1000" dirty="0">
                  <a:latin typeface="微软雅黑" panose="020B0503020204020204" pitchFamily="34" charset="-122"/>
                  <a:ea typeface="微软雅黑" panose="020B0503020204020204" pitchFamily="34" charset="-122"/>
                  <a:cs typeface="Arial" panose="020B0604020202090204" pitchFamily="34" charset="0"/>
                </a:rPr>
                <a:t>是否投入资源立项，项目组任命是否合适</a:t>
              </a:r>
              <a:endParaRPr lang="zh-CN" altLang="en-US" sz="1000" dirty="0">
                <a:latin typeface="微软雅黑" panose="020B0503020204020204" pitchFamily="34" charset="-122"/>
                <a:ea typeface="微软雅黑" panose="020B0503020204020204" pitchFamily="34" charset="-122"/>
                <a:cs typeface="Arial" panose="020B0604020202090204" pitchFamily="34" charset="0"/>
              </a:endParaRPr>
            </a:p>
            <a:p>
              <a:pPr marL="171450" indent="-171450">
                <a:buClr>
                  <a:srgbClr val="0070C0"/>
                </a:buClr>
                <a:buFont typeface="Wingdings" panose="05000000000000000000" pitchFamily="2" charset="2"/>
                <a:buChar char="u"/>
              </a:pPr>
              <a:r>
                <a:rPr lang="zh-CN" altLang="en-US" sz="1000" dirty="0" smtClean="0">
                  <a:latin typeface="微软雅黑" panose="020B0503020204020204" pitchFamily="34" charset="-122"/>
                  <a:ea typeface="微软雅黑" panose="020B0503020204020204" pitchFamily="34" charset="-122"/>
                  <a:cs typeface="Arial" panose="020B0604020202090204" pitchFamily="34" charset="0"/>
                </a:rPr>
                <a:t>商机分级分层</a:t>
              </a:r>
              <a:endParaRPr lang="zh-CN" altLang="en-US" sz="1400" b="1" dirty="0">
                <a:latin typeface="微软雅黑" panose="020B0503020204020204" pitchFamily="34" charset="-122"/>
                <a:ea typeface="微软雅黑" panose="020B0503020204020204" pitchFamily="34" charset="-122"/>
                <a:cs typeface="Arial" panose="020B0604020202090204" pitchFamily="34" charset="0"/>
              </a:endParaRPr>
            </a:p>
          </p:txBody>
        </p:sp>
        <p:sp>
          <p:nvSpPr>
            <p:cNvPr id="123" name="矩形 122"/>
            <p:cNvSpPr/>
            <p:nvPr/>
          </p:nvSpPr>
          <p:spPr>
            <a:xfrm>
              <a:off x="684506" y="4143245"/>
              <a:ext cx="685531" cy="209047"/>
            </a:xfrm>
            <a:prstGeom prst="rect">
              <a:avLst/>
            </a:prstGeom>
          </p:spPr>
          <p:txBody>
            <a:bodyPr wrap="none">
              <a:spAutoFit/>
            </a:bodyPr>
            <a:lstStyle/>
            <a:p>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 立项决策</a:t>
              </a:r>
              <a:endParaRPr lang="zh-CN" altLang="en-US" sz="1200" dirty="0">
                <a:solidFill>
                  <a:schemeClr val="tx1">
                    <a:lumMod val="75000"/>
                    <a:lumOff val="25000"/>
                  </a:schemeClr>
                </a:solidFill>
              </a:endParaRPr>
            </a:p>
          </p:txBody>
        </p:sp>
      </p:grpSp>
      <p:grpSp>
        <p:nvGrpSpPr>
          <p:cNvPr id="124" name="组合 123"/>
          <p:cNvGrpSpPr/>
          <p:nvPr/>
        </p:nvGrpSpPr>
        <p:grpSpPr>
          <a:xfrm>
            <a:off x="2936416" y="5231942"/>
            <a:ext cx="1905821" cy="1165459"/>
            <a:chOff x="2027361" y="4046082"/>
            <a:chExt cx="1543035" cy="879553"/>
          </a:xfrm>
        </p:grpSpPr>
        <p:sp>
          <p:nvSpPr>
            <p:cNvPr id="125" name="圆角矩形 124"/>
            <p:cNvSpPr/>
            <p:nvPr/>
          </p:nvSpPr>
          <p:spPr bwMode="auto">
            <a:xfrm>
              <a:off x="2046878" y="4150461"/>
              <a:ext cx="1421693" cy="775174"/>
            </a:xfrm>
            <a:prstGeom prst="roundRect">
              <a:avLst/>
            </a:prstGeom>
            <a:solidFill>
              <a:schemeClr val="bg1">
                <a:lumMod val="95000"/>
              </a:schemeClr>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no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panose="020B0604020202090204" pitchFamily="34" charset="0"/>
              </a:endParaRPr>
            </a:p>
          </p:txBody>
        </p:sp>
        <p:sp>
          <p:nvSpPr>
            <p:cNvPr id="126" name="Text Box 34"/>
            <p:cNvSpPr txBox="1">
              <a:spLocks noChangeArrowheads="1"/>
            </p:cNvSpPr>
            <p:nvPr/>
          </p:nvSpPr>
          <p:spPr bwMode="auto">
            <a:xfrm>
              <a:off x="2027361" y="4358746"/>
              <a:ext cx="1543035" cy="293071"/>
            </a:xfrm>
            <a:prstGeom prst="rect">
              <a:avLst/>
            </a:prstGeom>
            <a:noFill/>
            <a:ln w="9525" algn="ctr">
              <a:noFill/>
              <a:miter lim="800000"/>
            </a:ln>
          </p:spPr>
          <p:txBody>
            <a:bodyPr wrap="square" lIns="76713" tIns="39890" rIns="76713" bIns="39890">
              <a:spAutoFit/>
            </a:bodyPr>
            <a:lstStyle/>
            <a:p>
              <a:pPr marL="171450" indent="-171450">
                <a:buClr>
                  <a:srgbClr val="0070C0"/>
                </a:buClr>
                <a:buFont typeface="Wingdings" panose="05000000000000000000" pitchFamily="2" charset="2"/>
                <a:buChar char="u"/>
              </a:pPr>
              <a:r>
                <a:rPr lang="zh-CN" altLang="en-US" sz="1000" dirty="0">
                  <a:latin typeface="微软雅黑" panose="020B0503020204020204" pitchFamily="34" charset="-122"/>
                  <a:ea typeface="微软雅黑" panose="020B0503020204020204" pitchFamily="34" charset="-122"/>
                  <a:cs typeface="Arial" panose="020B0604020202090204" pitchFamily="34" charset="0"/>
                </a:rPr>
                <a:t>是否递交标书</a:t>
              </a:r>
              <a:endParaRPr lang="en-US" altLang="zh-CN" sz="1000" dirty="0">
                <a:latin typeface="微软雅黑" panose="020B0503020204020204" pitchFamily="34" charset="-122"/>
                <a:ea typeface="微软雅黑" panose="020B0503020204020204" pitchFamily="34" charset="-122"/>
                <a:cs typeface="Arial" panose="020B0604020202090204" pitchFamily="34" charset="0"/>
              </a:endParaRPr>
            </a:p>
            <a:p>
              <a:pPr marL="171450" indent="-171450">
                <a:buClr>
                  <a:srgbClr val="0070C0"/>
                </a:buClr>
                <a:buFont typeface="Wingdings" panose="05000000000000000000" pitchFamily="2" charset="2"/>
                <a:buChar char="u"/>
              </a:pPr>
              <a:r>
                <a:rPr lang="zh-CN" altLang="en-US" sz="1000" dirty="0">
                  <a:latin typeface="微软雅黑" panose="020B0503020204020204" pitchFamily="34" charset="-122"/>
                  <a:ea typeface="微软雅黑" panose="020B0503020204020204" pitchFamily="34" charset="-122"/>
                  <a:cs typeface="Arial" panose="020B0604020202090204" pitchFamily="34" charset="0"/>
                </a:rPr>
                <a:t>聚焦战略、风险和财务</a:t>
              </a:r>
              <a:endParaRPr lang="en-US" altLang="zh-CN" sz="1000" dirty="0">
                <a:latin typeface="微软雅黑" panose="020B0503020204020204" pitchFamily="34" charset="-122"/>
                <a:ea typeface="微软雅黑" panose="020B0503020204020204" pitchFamily="34" charset="-122"/>
                <a:cs typeface="Arial" panose="020B0604020202090204" pitchFamily="34" charset="0"/>
              </a:endParaRPr>
            </a:p>
          </p:txBody>
        </p:sp>
        <p:sp>
          <p:nvSpPr>
            <p:cNvPr id="127" name="矩形 126"/>
            <p:cNvSpPr/>
            <p:nvPr/>
          </p:nvSpPr>
          <p:spPr>
            <a:xfrm>
              <a:off x="2348798" y="4046082"/>
              <a:ext cx="817853" cy="340482"/>
            </a:xfrm>
            <a:prstGeom prst="rect">
              <a:avLst/>
            </a:prstGeom>
          </p:spPr>
          <p:txBody>
            <a:bodyPr wrap="none">
              <a:noAutofit/>
            </a:bodyPr>
            <a:lstStyle/>
            <a:p>
              <a:r>
                <a:rPr lang="zh-CN" altLang="en-US" sz="2000" b="1" dirty="0">
                  <a:solidFill>
                    <a:srgbClr val="C00000"/>
                  </a:solidFill>
                  <a:latin typeface="微软雅黑" panose="020B0503020204020204" pitchFamily="34" charset="-122"/>
                  <a:ea typeface="微软雅黑" panose="020B0503020204020204" pitchFamily="34" charset="-122"/>
                  <a:cs typeface="Arial" panose="020B0604020202090204" pitchFamily="34" charset="0"/>
                </a:rPr>
                <a:t> </a:t>
              </a: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投标决策</a:t>
              </a:r>
              <a:endPar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grpSp>
      <p:grpSp>
        <p:nvGrpSpPr>
          <p:cNvPr id="128" name="组合 127"/>
          <p:cNvGrpSpPr/>
          <p:nvPr/>
        </p:nvGrpSpPr>
        <p:grpSpPr>
          <a:xfrm>
            <a:off x="5079514" y="5241607"/>
            <a:ext cx="2199752" cy="1152912"/>
            <a:chOff x="3762506" y="4053376"/>
            <a:chExt cx="1781014" cy="870084"/>
          </a:xfrm>
        </p:grpSpPr>
        <p:sp>
          <p:nvSpPr>
            <p:cNvPr id="129" name="圆角矩形 128"/>
            <p:cNvSpPr/>
            <p:nvPr/>
          </p:nvSpPr>
          <p:spPr bwMode="auto">
            <a:xfrm>
              <a:off x="3791422" y="4131330"/>
              <a:ext cx="1421693" cy="792130"/>
            </a:xfrm>
            <a:prstGeom prst="roundRect">
              <a:avLst/>
            </a:prstGeom>
            <a:solidFill>
              <a:schemeClr val="bg1">
                <a:lumMod val="95000"/>
              </a:schemeClr>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no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panose="020B0604020202090204" pitchFamily="34" charset="0"/>
              </a:endParaRPr>
            </a:p>
          </p:txBody>
        </p:sp>
        <p:sp>
          <p:nvSpPr>
            <p:cNvPr id="130" name="Text Box 34"/>
            <p:cNvSpPr txBox="1">
              <a:spLocks noChangeArrowheads="1"/>
            </p:cNvSpPr>
            <p:nvPr/>
          </p:nvSpPr>
          <p:spPr bwMode="auto">
            <a:xfrm>
              <a:off x="3762506" y="4358746"/>
              <a:ext cx="1781014" cy="293071"/>
            </a:xfrm>
            <a:prstGeom prst="rect">
              <a:avLst/>
            </a:prstGeom>
            <a:noFill/>
            <a:ln w="9525" algn="ctr">
              <a:noFill/>
              <a:miter lim="800000"/>
            </a:ln>
          </p:spPr>
          <p:txBody>
            <a:bodyPr lIns="76713" tIns="39890" rIns="76713" bIns="39890">
              <a:spAutoFit/>
            </a:bodyPr>
            <a:lstStyle/>
            <a:p>
              <a:pPr marL="171450" indent="-171450">
                <a:buClr>
                  <a:srgbClr val="0070C0"/>
                </a:buClr>
                <a:buFont typeface="Wingdings" panose="05000000000000000000" pitchFamily="2" charset="2"/>
                <a:buChar char="u"/>
              </a:pPr>
              <a:r>
                <a:rPr lang="zh-CN" altLang="en-US" sz="1000" dirty="0">
                  <a:latin typeface="微软雅黑" panose="020B0503020204020204" pitchFamily="34" charset="-122"/>
                  <a:ea typeface="微软雅黑" panose="020B0503020204020204" pitchFamily="34" charset="-122"/>
                  <a:cs typeface="Arial" panose="020B0604020202090204" pitchFamily="34" charset="0"/>
                </a:rPr>
                <a:t>是否签约</a:t>
              </a:r>
              <a:endParaRPr lang="en-US" altLang="zh-CN" sz="1000" dirty="0">
                <a:latin typeface="微软雅黑" panose="020B0503020204020204" pitchFamily="34" charset="-122"/>
                <a:ea typeface="微软雅黑" panose="020B0503020204020204" pitchFamily="34" charset="-122"/>
                <a:cs typeface="Arial" panose="020B0604020202090204" pitchFamily="34" charset="0"/>
              </a:endParaRPr>
            </a:p>
            <a:p>
              <a:pPr marL="171450" indent="-171450">
                <a:buClr>
                  <a:srgbClr val="0070C0"/>
                </a:buClr>
                <a:buFont typeface="Wingdings" panose="05000000000000000000" pitchFamily="2" charset="2"/>
                <a:buChar char="u"/>
              </a:pPr>
              <a:r>
                <a:rPr lang="zh-CN" altLang="en-US" sz="1000" dirty="0">
                  <a:latin typeface="微软雅黑" panose="020B0503020204020204" pitchFamily="34" charset="-122"/>
                  <a:ea typeface="微软雅黑" panose="020B0503020204020204" pitchFamily="34" charset="-122"/>
                  <a:cs typeface="Arial" panose="020B0604020202090204" pitchFamily="34" charset="0"/>
                </a:rPr>
                <a:t>聚焦战略、风险和财务</a:t>
              </a:r>
              <a:endParaRPr lang="zh-CN" altLang="en-US" sz="1000" dirty="0">
                <a:latin typeface="微软雅黑" panose="020B0503020204020204" pitchFamily="34" charset="-122"/>
                <a:ea typeface="微软雅黑" panose="020B0503020204020204" pitchFamily="34" charset="-122"/>
                <a:cs typeface="Arial" panose="020B0604020202090204" pitchFamily="34" charset="0"/>
              </a:endParaRPr>
            </a:p>
          </p:txBody>
        </p:sp>
        <p:sp>
          <p:nvSpPr>
            <p:cNvPr id="131" name="矩形 130"/>
            <p:cNvSpPr/>
            <p:nvPr/>
          </p:nvSpPr>
          <p:spPr>
            <a:xfrm>
              <a:off x="4093342" y="4053376"/>
              <a:ext cx="710189" cy="301957"/>
            </a:xfrm>
            <a:prstGeom prst="rect">
              <a:avLst/>
            </a:prstGeom>
          </p:spPr>
          <p:txBody>
            <a:bodyPr wrap="none">
              <a:spAutoFit/>
            </a:bodyPr>
            <a:lstStyle/>
            <a:p>
              <a:r>
                <a:rPr lang="zh-CN" altLang="en-US" sz="2000" b="1" dirty="0">
                  <a:solidFill>
                    <a:srgbClr val="C00000"/>
                  </a:solidFill>
                  <a:latin typeface="微软雅黑" panose="020B0503020204020204" pitchFamily="34" charset="-122"/>
                  <a:ea typeface="微软雅黑" panose="020B0503020204020204" pitchFamily="34" charset="-122"/>
                  <a:cs typeface="Arial" panose="020B0604020202090204" pitchFamily="34" charset="0"/>
                </a:rPr>
                <a:t> </a:t>
              </a: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签约决策</a:t>
              </a:r>
              <a:endPar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grpSp>
      <p:grpSp>
        <p:nvGrpSpPr>
          <p:cNvPr id="132" name="组合 131"/>
          <p:cNvGrpSpPr/>
          <p:nvPr/>
        </p:nvGrpSpPr>
        <p:grpSpPr>
          <a:xfrm>
            <a:off x="7186397" y="5229067"/>
            <a:ext cx="1810705" cy="1165452"/>
            <a:chOff x="5468329" y="4043912"/>
            <a:chExt cx="1466025" cy="879548"/>
          </a:xfrm>
        </p:grpSpPr>
        <p:sp>
          <p:nvSpPr>
            <p:cNvPr id="133" name="圆角矩形 132"/>
            <p:cNvSpPr/>
            <p:nvPr/>
          </p:nvSpPr>
          <p:spPr bwMode="auto">
            <a:xfrm>
              <a:off x="5504250" y="4131330"/>
              <a:ext cx="1421693" cy="792130"/>
            </a:xfrm>
            <a:prstGeom prst="roundRect">
              <a:avLst/>
            </a:prstGeom>
            <a:solidFill>
              <a:schemeClr val="bg1">
                <a:lumMod val="95000"/>
              </a:schemeClr>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no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panose="020B0604020202090204" pitchFamily="34" charset="0"/>
              </a:endParaRPr>
            </a:p>
          </p:txBody>
        </p:sp>
        <p:sp>
          <p:nvSpPr>
            <p:cNvPr id="134" name="Text Box 34"/>
            <p:cNvSpPr txBox="1">
              <a:spLocks noChangeArrowheads="1"/>
            </p:cNvSpPr>
            <p:nvPr/>
          </p:nvSpPr>
          <p:spPr bwMode="auto">
            <a:xfrm>
              <a:off x="5468329" y="4358746"/>
              <a:ext cx="1466025" cy="409208"/>
            </a:xfrm>
            <a:prstGeom prst="rect">
              <a:avLst/>
            </a:prstGeom>
            <a:noFill/>
            <a:ln w="9525" algn="ctr">
              <a:noFill/>
              <a:miter lim="800000"/>
            </a:ln>
          </p:spPr>
          <p:txBody>
            <a:bodyPr wrap="square" lIns="76713" tIns="39890" rIns="76713" bIns="39890">
              <a:spAutoFit/>
            </a:bodyPr>
            <a:lstStyle/>
            <a:p>
              <a:pPr marL="171450" indent="-171450">
                <a:buClr>
                  <a:srgbClr val="0070C0"/>
                </a:buClr>
                <a:buFont typeface="Wingdings" panose="05000000000000000000" pitchFamily="2" charset="2"/>
                <a:buChar char="u"/>
              </a:pPr>
              <a:r>
                <a:rPr lang="zh-CN" altLang="en-US" sz="1000" dirty="0">
                  <a:latin typeface="微软雅黑" panose="020B0503020204020204" pitchFamily="34" charset="-122"/>
                  <a:ea typeface="微软雅黑" panose="020B0503020204020204" pitchFamily="34" charset="-122"/>
                  <a:cs typeface="Arial" panose="020B0604020202090204" pitchFamily="34" charset="0"/>
                </a:rPr>
                <a:t>是否进行合同</a:t>
              </a:r>
              <a:r>
                <a:rPr lang="en-US" altLang="zh-CN" sz="1000" dirty="0">
                  <a:latin typeface="微软雅黑" panose="020B0503020204020204" pitchFamily="34" charset="-122"/>
                  <a:ea typeface="微软雅黑" panose="020B0503020204020204" pitchFamily="34" charset="-122"/>
                  <a:cs typeface="Arial" panose="020B0604020202090204" pitchFamily="34" charset="0"/>
                </a:rPr>
                <a:t>/PO</a:t>
              </a:r>
              <a:r>
                <a:rPr lang="zh-CN" altLang="en-US" sz="1000" dirty="0">
                  <a:latin typeface="微软雅黑" panose="020B0503020204020204" pitchFamily="34" charset="-122"/>
                  <a:ea typeface="微软雅黑" panose="020B0503020204020204" pitchFamily="34" charset="-122"/>
                  <a:cs typeface="Arial" panose="020B0604020202090204" pitchFamily="34" charset="0"/>
                </a:rPr>
                <a:t>变更</a:t>
              </a:r>
              <a:endParaRPr lang="zh-CN" altLang="en-US" sz="1000" dirty="0">
                <a:latin typeface="微软雅黑" panose="020B0503020204020204" pitchFamily="34" charset="-122"/>
                <a:ea typeface="微软雅黑" panose="020B0503020204020204" pitchFamily="34" charset="-122"/>
                <a:cs typeface="Arial" panose="020B0604020202090204" pitchFamily="34" charset="0"/>
              </a:endParaRPr>
            </a:p>
            <a:p>
              <a:pPr marL="171450" indent="-171450">
                <a:buClr>
                  <a:srgbClr val="0070C0"/>
                </a:buClr>
                <a:buFont typeface="Wingdings" panose="05000000000000000000" pitchFamily="2" charset="2"/>
                <a:buChar char="u"/>
              </a:pPr>
              <a:r>
                <a:rPr lang="zh-CN" altLang="en-US" sz="1000" dirty="0">
                  <a:latin typeface="微软雅黑" panose="020B0503020204020204" pitchFamily="34" charset="-122"/>
                  <a:ea typeface="微软雅黑" panose="020B0503020204020204" pitchFamily="34" charset="-122"/>
                  <a:cs typeface="Arial" panose="020B0604020202090204" pitchFamily="34" charset="0"/>
                </a:rPr>
                <a:t>变更条款的风险及对利润的影响</a:t>
              </a:r>
              <a:endParaRPr lang="en-US" altLang="zh-CN" sz="1000" dirty="0">
                <a:latin typeface="微软雅黑" panose="020B0503020204020204" pitchFamily="34" charset="-122"/>
                <a:ea typeface="微软雅黑" panose="020B0503020204020204" pitchFamily="34" charset="-122"/>
                <a:cs typeface="Arial" panose="020B0604020202090204" pitchFamily="34" charset="0"/>
              </a:endParaRPr>
            </a:p>
          </p:txBody>
        </p:sp>
        <p:sp>
          <p:nvSpPr>
            <p:cNvPr id="135" name="矩形 134"/>
            <p:cNvSpPr/>
            <p:nvPr/>
          </p:nvSpPr>
          <p:spPr>
            <a:xfrm>
              <a:off x="5665105" y="4043912"/>
              <a:ext cx="959379" cy="301957"/>
            </a:xfrm>
            <a:prstGeom prst="rect">
              <a:avLst/>
            </a:prstGeom>
          </p:spPr>
          <p:txBody>
            <a:bodyPr wrap="none">
              <a:spAutoFit/>
            </a:bodyPr>
            <a:lstStyle/>
            <a:p>
              <a:r>
                <a:rPr lang="zh-CN" altLang="en-US" sz="2000" b="1" dirty="0">
                  <a:solidFill>
                    <a:srgbClr val="C00000"/>
                  </a:solidFill>
                  <a:latin typeface="微软雅黑" panose="020B0503020204020204" pitchFamily="34" charset="-122"/>
                  <a:ea typeface="微软雅黑" panose="020B0503020204020204" pitchFamily="34" charset="-122"/>
                  <a:cs typeface="Arial" panose="020B0604020202090204" pitchFamily="34" charset="0"/>
                </a:rPr>
                <a:t> </a:t>
              </a: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合同变更决策</a:t>
              </a:r>
              <a:endPar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grpSp>
      <p:grpSp>
        <p:nvGrpSpPr>
          <p:cNvPr id="136" name="组合 135"/>
          <p:cNvGrpSpPr/>
          <p:nvPr/>
        </p:nvGrpSpPr>
        <p:grpSpPr>
          <a:xfrm>
            <a:off x="9454223" y="5233738"/>
            <a:ext cx="1755950" cy="1198491"/>
            <a:chOff x="7304459" y="4047439"/>
            <a:chExt cx="1421693" cy="904482"/>
          </a:xfrm>
        </p:grpSpPr>
        <p:sp>
          <p:nvSpPr>
            <p:cNvPr id="137" name="圆角矩形 136"/>
            <p:cNvSpPr/>
            <p:nvPr/>
          </p:nvSpPr>
          <p:spPr bwMode="auto">
            <a:xfrm>
              <a:off x="7304459" y="4131328"/>
              <a:ext cx="1421693" cy="820593"/>
            </a:xfrm>
            <a:prstGeom prst="roundRect">
              <a:avLst/>
            </a:prstGeom>
            <a:solidFill>
              <a:schemeClr val="bg1">
                <a:lumMod val="95000"/>
              </a:schemeClr>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no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panose="020B0604020202090204" pitchFamily="34" charset="0"/>
              </a:endParaRPr>
            </a:p>
          </p:txBody>
        </p:sp>
        <p:sp>
          <p:nvSpPr>
            <p:cNvPr id="138" name="Text Box 34"/>
            <p:cNvSpPr txBox="1">
              <a:spLocks noChangeArrowheads="1"/>
            </p:cNvSpPr>
            <p:nvPr/>
          </p:nvSpPr>
          <p:spPr bwMode="auto">
            <a:xfrm>
              <a:off x="7358323" y="4358746"/>
              <a:ext cx="1362658" cy="525344"/>
            </a:xfrm>
            <a:prstGeom prst="rect">
              <a:avLst/>
            </a:prstGeom>
            <a:noFill/>
            <a:ln w="9525" algn="ctr">
              <a:noFill/>
              <a:miter lim="800000"/>
            </a:ln>
          </p:spPr>
          <p:txBody>
            <a:bodyPr wrap="square" lIns="76713" tIns="39890" rIns="76713" bIns="39890">
              <a:spAutoFit/>
            </a:bodyPr>
            <a:lstStyle/>
            <a:p>
              <a:pPr marL="171450" indent="-171450">
                <a:buClr>
                  <a:srgbClr val="0070C0"/>
                </a:buClr>
                <a:buFont typeface="Wingdings" panose="05000000000000000000" pitchFamily="2" charset="2"/>
                <a:buChar char="u"/>
              </a:pPr>
              <a:r>
                <a:rPr lang="zh-CN" altLang="en-US" sz="1000" dirty="0">
                  <a:latin typeface="微软雅黑" panose="020B0503020204020204" pitchFamily="34" charset="-122"/>
                  <a:ea typeface="微软雅黑" panose="020B0503020204020204" pitchFamily="34" charset="-122"/>
                  <a:cs typeface="Arial" panose="020B0604020202090204" pitchFamily="34" charset="0"/>
                </a:rPr>
                <a:t>是否关闭合同</a:t>
              </a:r>
              <a:endParaRPr lang="en-US" altLang="zh-CN" sz="1000" dirty="0">
                <a:latin typeface="微软雅黑" panose="020B0503020204020204" pitchFamily="34" charset="-122"/>
                <a:ea typeface="微软雅黑" panose="020B0503020204020204" pitchFamily="34" charset="-122"/>
                <a:cs typeface="Arial" panose="020B0604020202090204" pitchFamily="34" charset="0"/>
              </a:endParaRPr>
            </a:p>
            <a:p>
              <a:pPr marL="171450" indent="-171450">
                <a:buClr>
                  <a:srgbClr val="0070C0"/>
                </a:buClr>
                <a:buFont typeface="Wingdings" panose="05000000000000000000" pitchFamily="2" charset="2"/>
                <a:buChar char="u"/>
              </a:pPr>
              <a:r>
                <a:rPr lang="zh-CN" altLang="en-US" sz="1000" dirty="0">
                  <a:latin typeface="微软雅黑" panose="020B0503020204020204" pitchFamily="34" charset="-122"/>
                  <a:ea typeface="微软雅黑" panose="020B0503020204020204" pitchFamily="34" charset="-122"/>
                  <a:cs typeface="Arial" panose="020B0604020202090204" pitchFamily="34" charset="0"/>
                </a:rPr>
                <a:t>条款的履约情况</a:t>
              </a:r>
              <a:endParaRPr lang="en-US" altLang="zh-CN" sz="1000" dirty="0">
                <a:latin typeface="微软雅黑" panose="020B0503020204020204" pitchFamily="34" charset="-122"/>
                <a:ea typeface="微软雅黑" panose="020B0503020204020204" pitchFamily="34" charset="-122"/>
                <a:cs typeface="Arial" panose="020B0604020202090204" pitchFamily="34" charset="0"/>
              </a:endParaRPr>
            </a:p>
            <a:p>
              <a:pPr marL="171450" indent="-171450">
                <a:buClr>
                  <a:srgbClr val="0070C0"/>
                </a:buClr>
                <a:buFont typeface="Wingdings" panose="05000000000000000000" pitchFamily="2" charset="2"/>
                <a:buChar char="u"/>
              </a:pPr>
              <a:r>
                <a:rPr lang="zh-CN" altLang="en-US" sz="1000" dirty="0">
                  <a:latin typeface="微软雅黑" panose="020B0503020204020204" pitchFamily="34" charset="-122"/>
                  <a:ea typeface="微软雅黑" panose="020B0503020204020204" pitchFamily="34" charset="-122"/>
                  <a:cs typeface="Arial" panose="020B0604020202090204" pitchFamily="34" charset="0"/>
                </a:rPr>
                <a:t>责任转移及风险规避情况</a:t>
              </a:r>
              <a:endParaRPr lang="zh-CN" altLang="en-US" sz="1000" dirty="0">
                <a:latin typeface="微软雅黑" panose="020B0503020204020204" pitchFamily="34" charset="-122"/>
                <a:ea typeface="微软雅黑" panose="020B0503020204020204" pitchFamily="34" charset="-122"/>
                <a:cs typeface="Arial" panose="020B0604020202090204" pitchFamily="34" charset="0"/>
              </a:endParaRPr>
            </a:p>
          </p:txBody>
        </p:sp>
        <p:sp>
          <p:nvSpPr>
            <p:cNvPr id="139" name="矩形 138"/>
            <p:cNvSpPr/>
            <p:nvPr/>
          </p:nvSpPr>
          <p:spPr>
            <a:xfrm>
              <a:off x="7473329" y="4047439"/>
              <a:ext cx="954187" cy="301957"/>
            </a:xfrm>
            <a:prstGeom prst="rect">
              <a:avLst/>
            </a:prstGeom>
          </p:spPr>
          <p:txBody>
            <a:bodyPr wrap="none">
              <a:spAutoFit/>
            </a:bodyPr>
            <a:lstStyle/>
            <a:p>
              <a:r>
                <a:rPr lang="zh-CN" altLang="en-US" sz="2000" b="1" dirty="0">
                  <a:cs typeface="Arial" panose="020B0604020202090204" pitchFamily="34" charset="0"/>
                </a:rPr>
                <a:t> </a:t>
              </a: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合同关闭决策</a:t>
              </a:r>
              <a:endPar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grpSp>
      <p:sp>
        <p:nvSpPr>
          <p:cNvPr id="144" name="矩形 143"/>
          <p:cNvSpPr/>
          <p:nvPr/>
        </p:nvSpPr>
        <p:spPr>
          <a:xfrm>
            <a:off x="226485" y="5184447"/>
            <a:ext cx="620781" cy="489386"/>
          </a:xfrm>
          <a:prstGeom prst="rect">
            <a:avLst/>
          </a:prstGeom>
        </p:spPr>
        <p:txBody>
          <a:bodyPr>
            <a:noAutofit/>
          </a:bodyPr>
          <a:lstStyle/>
          <a:p>
            <a:pPr marL="100330" indent="-100330" algn="ctr">
              <a:buClr>
                <a:schemeClr val="tx2"/>
              </a:buClr>
            </a:pPr>
            <a:endParaRPr lang="en-US" altLang="zh-CN"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50" name="矩形 149"/>
          <p:cNvSpPr/>
          <p:nvPr/>
        </p:nvSpPr>
        <p:spPr>
          <a:xfrm>
            <a:off x="6529058" y="4689778"/>
            <a:ext cx="4598997" cy="1797287"/>
          </a:xfrm>
          <a:prstGeom prst="rect">
            <a:avLst/>
          </a:prstGeom>
          <a:noFill/>
          <a:ln w="25400">
            <a:solidFill>
              <a:schemeClr val="accent5">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1" name="矩形标注 150"/>
          <p:cNvSpPr/>
          <p:nvPr/>
        </p:nvSpPr>
        <p:spPr>
          <a:xfrm>
            <a:off x="11254342" y="4729338"/>
            <a:ext cx="820462" cy="661691"/>
          </a:xfrm>
          <a:prstGeom prst="wedgeRectCallout">
            <a:avLst>
              <a:gd name="adj1" fmla="val -80928"/>
              <a:gd name="adj2" fmla="val 86887"/>
            </a:avLst>
          </a:prstGeom>
          <a:solidFill>
            <a:schemeClr val="bg2">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solidFill>
                  <a:srgbClr val="FF0000"/>
                </a:solidFill>
              </a:rPr>
              <a:t>待迭代优化</a:t>
            </a:r>
            <a:endParaRPr lang="zh-CN" altLang="en-US" sz="1400" dirty="0">
              <a:solidFill>
                <a:srgbClr val="FF0000"/>
              </a:solidFill>
            </a:endParaRPr>
          </a:p>
        </p:txBody>
      </p:sp>
      <p:sp>
        <p:nvSpPr>
          <p:cNvPr id="152" name="矩形 151"/>
          <p:cNvSpPr/>
          <p:nvPr/>
        </p:nvSpPr>
        <p:spPr>
          <a:xfrm>
            <a:off x="394384" y="4044520"/>
            <a:ext cx="330703" cy="1015663"/>
          </a:xfrm>
          <a:prstGeom prst="rect">
            <a:avLst/>
          </a:prstGeom>
        </p:spPr>
        <p:txBody>
          <a:bodyPr wrap="square">
            <a:spAutoFit/>
          </a:bodyPr>
          <a:lstStyle/>
          <a:p>
            <a:r>
              <a:rPr lang="zh-CN" altLang="en-US" sz="1200" b="1" dirty="0" smtClean="0">
                <a:solidFill>
                  <a:schemeClr val="bg1"/>
                </a:solidFill>
                <a:latin typeface="微软雅黑" panose="020B0503020204020204" pitchFamily="34" charset="-122"/>
                <a:ea typeface="微软雅黑" panose="020B0503020204020204" pitchFamily="34" charset="-122"/>
                <a:cs typeface="Arial" panose="020B0604020202090204" pitchFamily="34" charset="0"/>
              </a:rPr>
              <a:t>评审与决策</a:t>
            </a:r>
            <a:endParaRPr lang="en-US" altLang="zh-CN" sz="1200" b="1" dirty="0">
              <a:solidFill>
                <a:schemeClr val="bg1"/>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55" name="TextBox 5"/>
          <p:cNvSpPr txBox="1"/>
          <p:nvPr/>
        </p:nvSpPr>
        <p:spPr>
          <a:xfrm>
            <a:off x="8713770" y="1498264"/>
            <a:ext cx="2062363" cy="1556029"/>
          </a:xfrm>
          <a:prstGeom prst="rect">
            <a:avLst/>
          </a:prstGeom>
          <a:noFill/>
          <a:ln>
            <a:noFill/>
          </a:ln>
          <a:effectLst/>
        </p:spPr>
        <p:txBody>
          <a:bodyPr wrap="square" lIns="77939" tIns="38970" rIns="77939" bIns="38970" rtlCol="0">
            <a:spAutoFit/>
          </a:bodyPr>
          <a:lstStyle/>
          <a:p>
            <a:pPr marL="171450" indent="-171450">
              <a:lnSpc>
                <a:spcPct val="200000"/>
              </a:lnSpc>
              <a:buClr>
                <a:srgbClr val="0070C0"/>
              </a:buClr>
              <a:buFont typeface="Wingdings" panose="05000000000000000000" pitchFamily="2" charset="2"/>
              <a:buChar char="u"/>
            </a:pPr>
            <a:r>
              <a:rPr lang="zh-CN" altLang="en-US" sz="1200" dirty="0" smtClean="0">
                <a:solidFill>
                  <a:schemeClr val="tx1">
                    <a:lumMod val="75000"/>
                    <a:lumOff val="25000"/>
                  </a:schemeClr>
                </a:solidFill>
                <a:latin typeface="+mn-lt"/>
                <a:ea typeface="+mn-ea"/>
                <a:cs typeface="Arial" panose="020B0604020202090204" pitchFamily="34" charset="0"/>
              </a:rPr>
              <a:t>专属项目经理</a:t>
            </a:r>
            <a:endParaRPr lang="en-US" altLang="zh-CN" sz="1200" dirty="0" smtClean="0">
              <a:solidFill>
                <a:schemeClr val="tx1">
                  <a:lumMod val="75000"/>
                  <a:lumOff val="25000"/>
                </a:schemeClr>
              </a:solidFill>
              <a:latin typeface="+mn-lt"/>
              <a:ea typeface="+mn-ea"/>
              <a:cs typeface="Arial" panose="020B0604020202090204" pitchFamily="34" charset="0"/>
            </a:endParaRPr>
          </a:p>
          <a:p>
            <a:pPr marL="171450" indent="-171450">
              <a:lnSpc>
                <a:spcPct val="200000"/>
              </a:lnSpc>
              <a:buClr>
                <a:srgbClr val="0070C0"/>
              </a:buClr>
              <a:buFont typeface="Wingdings" panose="05000000000000000000" pitchFamily="2" charset="2"/>
              <a:buChar char="u"/>
            </a:pPr>
            <a:r>
              <a:rPr lang="zh-CN" altLang="en-US" sz="1200" dirty="0" smtClean="0">
                <a:solidFill>
                  <a:schemeClr val="tx1">
                    <a:lumMod val="75000"/>
                    <a:lumOff val="25000"/>
                  </a:schemeClr>
                </a:solidFill>
                <a:latin typeface="+mn-lt"/>
                <a:ea typeface="+mn-ea"/>
                <a:cs typeface="Arial" panose="020B0604020202090204" pitchFamily="34" charset="0"/>
              </a:rPr>
              <a:t>客户主责人</a:t>
            </a:r>
            <a:endParaRPr lang="en-US" altLang="zh-CN" sz="1200" dirty="0" smtClean="0">
              <a:solidFill>
                <a:schemeClr val="tx1">
                  <a:lumMod val="75000"/>
                  <a:lumOff val="25000"/>
                </a:schemeClr>
              </a:solidFill>
              <a:latin typeface="+mn-lt"/>
              <a:ea typeface="+mn-ea"/>
              <a:cs typeface="Arial" panose="020B0604020202090204" pitchFamily="34" charset="0"/>
            </a:endParaRPr>
          </a:p>
          <a:p>
            <a:pPr marL="171450" indent="-171450">
              <a:lnSpc>
                <a:spcPct val="200000"/>
              </a:lnSpc>
              <a:buClr>
                <a:srgbClr val="0070C0"/>
              </a:buClr>
              <a:buFont typeface="Wingdings" panose="05000000000000000000" pitchFamily="2" charset="2"/>
              <a:buChar char="u"/>
            </a:pPr>
            <a:r>
              <a:rPr lang="zh-CN" altLang="en-US" sz="1200" dirty="0">
                <a:solidFill>
                  <a:schemeClr val="tx1">
                    <a:lumMod val="75000"/>
                    <a:lumOff val="25000"/>
                  </a:schemeClr>
                </a:solidFill>
                <a:cs typeface="Arial" panose="020B0604020202090204" pitchFamily="34" charset="0"/>
              </a:rPr>
              <a:t>专</a:t>
            </a:r>
            <a:r>
              <a:rPr lang="zh-CN" altLang="en-US" sz="1200" dirty="0" smtClean="0">
                <a:solidFill>
                  <a:schemeClr val="tx1">
                    <a:lumMod val="75000"/>
                    <a:lumOff val="25000"/>
                  </a:schemeClr>
                </a:solidFill>
                <a:cs typeface="Arial" panose="020B0604020202090204" pitchFamily="34" charset="0"/>
              </a:rPr>
              <a:t>属客户体验负责人</a:t>
            </a:r>
            <a:endParaRPr lang="en-US" altLang="zh-CN" sz="1200" dirty="0" smtClean="0">
              <a:solidFill>
                <a:schemeClr val="tx1">
                  <a:lumMod val="75000"/>
                  <a:lumOff val="25000"/>
                </a:schemeClr>
              </a:solidFill>
              <a:cs typeface="Arial" panose="020B0604020202090204" pitchFamily="34" charset="0"/>
            </a:endParaRPr>
          </a:p>
          <a:p>
            <a:pPr marL="171450" indent="-171450">
              <a:lnSpc>
                <a:spcPct val="200000"/>
              </a:lnSpc>
              <a:buClr>
                <a:srgbClr val="0070C0"/>
              </a:buClr>
              <a:buFont typeface="Wingdings" panose="05000000000000000000" pitchFamily="2" charset="2"/>
              <a:buChar char="u"/>
            </a:pPr>
            <a:r>
              <a:rPr lang="zh-CN" altLang="en-US" sz="1200" dirty="0" smtClean="0">
                <a:solidFill>
                  <a:schemeClr val="tx1">
                    <a:lumMod val="75000"/>
                    <a:lumOff val="25000"/>
                  </a:schemeClr>
                </a:solidFill>
                <a:latin typeface="+mn-lt"/>
                <a:ea typeface="+mn-ea"/>
                <a:cs typeface="Arial" panose="020B0604020202090204" pitchFamily="34" charset="0"/>
              </a:rPr>
              <a:t>拓展负责人</a:t>
            </a:r>
            <a:endParaRPr lang="en-US" sz="1200" dirty="0">
              <a:solidFill>
                <a:schemeClr val="tx1">
                  <a:lumMod val="75000"/>
                  <a:lumOff val="25000"/>
                </a:schemeClr>
              </a:solidFill>
              <a:latin typeface="+mn-lt"/>
              <a:ea typeface="+mn-ea"/>
              <a:cs typeface="Arial" panose="020B0604020202090204" pitchFamily="34" charset="0"/>
            </a:endParaRPr>
          </a:p>
        </p:txBody>
      </p:sp>
      <p:cxnSp>
        <p:nvCxnSpPr>
          <p:cNvPr id="157" name="直接连接符 156"/>
          <p:cNvCxnSpPr/>
          <p:nvPr/>
        </p:nvCxnSpPr>
        <p:spPr>
          <a:xfrm>
            <a:off x="5180631" y="1609081"/>
            <a:ext cx="0" cy="1272461"/>
          </a:xfrm>
          <a:prstGeom prst="line">
            <a:avLst/>
          </a:prstGeom>
        </p:spPr>
        <p:style>
          <a:lnRef idx="1">
            <a:schemeClr val="accent1"/>
          </a:lnRef>
          <a:fillRef idx="0">
            <a:schemeClr val="accent1"/>
          </a:fillRef>
          <a:effectRef idx="0">
            <a:schemeClr val="accent1"/>
          </a:effectRef>
          <a:fontRef idx="minor">
            <a:schemeClr val="tx1"/>
          </a:fontRef>
        </p:style>
      </p:cxnSp>
      <p:cxnSp>
        <p:nvCxnSpPr>
          <p:cNvPr id="158" name="直接连接符 157"/>
          <p:cNvCxnSpPr/>
          <p:nvPr/>
        </p:nvCxnSpPr>
        <p:spPr>
          <a:xfrm>
            <a:off x="8034719" y="1640047"/>
            <a:ext cx="0" cy="1272461"/>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314613" y="241068"/>
            <a:ext cx="4513580" cy="495935"/>
          </a:xfrm>
        </p:spPr>
        <p:txBody>
          <a:bodyPr/>
          <a:lstStyle/>
          <a:p>
            <a:r>
              <a:rPr lang="zh-CN" altLang="en-US" sz="2400" dirty="0">
                <a:latin typeface="+mn-ea"/>
                <a:cs typeface="Arial" panose="020B0604020202090204" pitchFamily="34" charset="0"/>
              </a:rPr>
              <a:t>铁三角关键职责</a:t>
            </a:r>
            <a:endParaRPr lang="zh-CN" altLang="en-US" sz="2400" dirty="0">
              <a:latin typeface="+mn-ea"/>
              <a:cs typeface="Arial" panose="020B0604020202090204" pitchFamily="34" charset="0"/>
            </a:endParaRPr>
          </a:p>
          <a:p>
            <a:endParaRPr lang="zh-CN" altLang="en-US" dirty="0"/>
          </a:p>
        </p:txBody>
      </p:sp>
      <p:grpSp>
        <p:nvGrpSpPr>
          <p:cNvPr id="23" name="组合 22"/>
          <p:cNvGrpSpPr/>
          <p:nvPr/>
        </p:nvGrpSpPr>
        <p:grpSpPr>
          <a:xfrm>
            <a:off x="653287" y="1423358"/>
            <a:ext cx="10414404" cy="4584809"/>
            <a:chOff x="1502145" y="1664699"/>
            <a:chExt cx="8453328" cy="3678637"/>
          </a:xfrm>
        </p:grpSpPr>
        <p:grpSp>
          <p:nvGrpSpPr>
            <p:cNvPr id="3" name="组合 2"/>
            <p:cNvGrpSpPr/>
            <p:nvPr/>
          </p:nvGrpSpPr>
          <p:grpSpPr>
            <a:xfrm>
              <a:off x="1502145" y="1664699"/>
              <a:ext cx="2700265" cy="3678637"/>
              <a:chOff x="268568" y="1190246"/>
              <a:chExt cx="2700265" cy="3678637"/>
            </a:xfrm>
          </p:grpSpPr>
          <p:sp>
            <p:nvSpPr>
              <p:cNvPr id="4" name="Rectangle 4"/>
              <p:cNvSpPr>
                <a:spLocks noChangeArrowheads="1"/>
              </p:cNvSpPr>
              <p:nvPr/>
            </p:nvSpPr>
            <p:spPr bwMode="auto">
              <a:xfrm>
                <a:off x="307913" y="1190246"/>
                <a:ext cx="2621574" cy="558403"/>
              </a:xfrm>
              <a:prstGeom prst="roundRect">
                <a:avLst/>
              </a:prstGeom>
              <a:solidFill>
                <a:srgbClr val="0070C0"/>
              </a:solidFill>
              <a:ln w="9525" algn="ctr">
                <a:noFill/>
                <a:miter lim="800000"/>
              </a:ln>
              <a:effectLst/>
            </p:spPr>
            <p:txBody>
              <a:bodyPr lIns="77943" tIns="38972" rIns="77943" bIns="38972" anchor="ctr"/>
              <a:lstStyle/>
              <a:p>
                <a:pPr>
                  <a:defRPr/>
                </a:pPr>
                <a:endParaRPr lang="en-US" b="1">
                  <a:solidFill>
                    <a:schemeClr val="bg1"/>
                  </a:solidFill>
                  <a:latin typeface="+mn-ea"/>
                </a:endParaRPr>
              </a:p>
            </p:txBody>
          </p:sp>
          <p:sp>
            <p:nvSpPr>
              <p:cNvPr id="5" name="Rectangle 5"/>
              <p:cNvSpPr>
                <a:spLocks noChangeArrowheads="1"/>
              </p:cNvSpPr>
              <p:nvPr/>
            </p:nvSpPr>
            <p:spPr bwMode="auto">
              <a:xfrm>
                <a:off x="307913" y="1765623"/>
                <a:ext cx="2621574" cy="3103260"/>
              </a:xfrm>
              <a:prstGeom prst="roundRect">
                <a:avLst>
                  <a:gd name="adj" fmla="val 6701"/>
                </a:avLst>
              </a:prstGeom>
              <a:solidFill>
                <a:schemeClr val="bg1">
                  <a:lumMod val="95000"/>
                </a:schemeClr>
              </a:solidFill>
              <a:ln w="12700" algn="ctr">
                <a:noFill/>
                <a:miter lim="800000"/>
              </a:ln>
              <a:effectLst/>
            </p:spPr>
            <p:txBody>
              <a:bodyPr lIns="77943" tIns="38972" rIns="77943" bIns="38972" anchor="ctr"/>
              <a:lstStyle/>
              <a:p>
                <a:pPr>
                  <a:defRPr/>
                </a:pPr>
                <a:endParaRPr lang="zh-CN" altLang="en-US" sz="1400">
                  <a:latin typeface="+mn-ea"/>
                </a:endParaRPr>
              </a:p>
            </p:txBody>
          </p:sp>
          <p:sp>
            <p:nvSpPr>
              <p:cNvPr id="6" name="Text Box 6"/>
              <p:cNvSpPr txBox="1">
                <a:spLocks noChangeArrowheads="1"/>
              </p:cNvSpPr>
              <p:nvPr/>
            </p:nvSpPr>
            <p:spPr bwMode="auto">
              <a:xfrm>
                <a:off x="774032" y="1208588"/>
                <a:ext cx="1882068" cy="328004"/>
              </a:xfrm>
              <a:prstGeom prst="rect">
                <a:avLst/>
              </a:prstGeom>
              <a:noFill/>
              <a:ln w="9525" algn="ctr">
                <a:noFill/>
                <a:miter lim="800000"/>
              </a:ln>
              <a:effectLst/>
            </p:spPr>
            <p:txBody>
              <a:bodyPr wrap="square" lIns="77943" tIns="38972" rIns="77943" bIns="38972">
                <a:spAutoFit/>
              </a:bodyPr>
              <a:lstStyle/>
              <a:p>
                <a:pPr algn="ctr" eaLnBrk="0" hangingPunct="0">
                  <a:lnSpc>
                    <a:spcPct val="90000"/>
                  </a:lnSpc>
                </a:pPr>
                <a:r>
                  <a:rPr lang="zh-CN" altLang="en-US" b="1" dirty="0" smtClean="0">
                    <a:solidFill>
                      <a:srgbClr val="F7B021"/>
                    </a:solidFill>
                    <a:latin typeface="+mn-ea"/>
                  </a:rPr>
                  <a:t>客户关系负责人</a:t>
                </a:r>
                <a:endParaRPr lang="en-US" altLang="zh-CN" b="1" dirty="0">
                  <a:solidFill>
                    <a:srgbClr val="F7B021"/>
                  </a:solidFill>
                  <a:latin typeface="+mn-ea"/>
                </a:endParaRPr>
              </a:p>
            </p:txBody>
          </p:sp>
          <p:sp>
            <p:nvSpPr>
              <p:cNvPr id="7" name="Text Box 7"/>
              <p:cNvSpPr txBox="1">
                <a:spLocks noChangeArrowheads="1"/>
              </p:cNvSpPr>
              <p:nvPr/>
            </p:nvSpPr>
            <p:spPr bwMode="auto">
              <a:xfrm>
                <a:off x="268568" y="1484236"/>
                <a:ext cx="2700265" cy="294805"/>
              </a:xfrm>
              <a:prstGeom prst="rect">
                <a:avLst/>
              </a:prstGeom>
              <a:noFill/>
              <a:ln w="9525" algn="ctr">
                <a:noFill/>
                <a:miter lim="800000"/>
              </a:ln>
              <a:effectLst/>
            </p:spPr>
            <p:txBody>
              <a:bodyPr lIns="15343" tIns="15343" rIns="15343" bIns="15343"/>
              <a:lstStyle/>
              <a:p>
                <a:pPr algn="ctr">
                  <a:spcBef>
                    <a:spcPct val="50000"/>
                  </a:spcBef>
                </a:pPr>
                <a:r>
                  <a:rPr lang="zh-CN" altLang="en-US" sz="1400" dirty="0">
                    <a:solidFill>
                      <a:schemeClr val="bg1"/>
                    </a:solidFill>
                    <a:latin typeface="+mn-ea"/>
                  </a:rPr>
                  <a:t>负责总体客户关系和盈利性销售</a:t>
                </a:r>
                <a:endParaRPr lang="zh-CN" altLang="en-US" sz="1400" dirty="0">
                  <a:solidFill>
                    <a:schemeClr val="bg1"/>
                  </a:solidFill>
                  <a:latin typeface="+mn-ea"/>
                </a:endParaRPr>
              </a:p>
            </p:txBody>
          </p:sp>
          <p:sp>
            <p:nvSpPr>
              <p:cNvPr id="8" name="Text Box 8"/>
              <p:cNvSpPr txBox="1">
                <a:spLocks noChangeArrowheads="1"/>
              </p:cNvSpPr>
              <p:nvPr/>
            </p:nvSpPr>
            <p:spPr bwMode="auto">
              <a:xfrm>
                <a:off x="421134" y="1917529"/>
                <a:ext cx="2508353" cy="2699293"/>
              </a:xfrm>
              <a:prstGeom prst="rect">
                <a:avLst/>
              </a:prstGeom>
              <a:noFill/>
              <a:ln w="9525" algn="ctr">
                <a:noFill/>
                <a:miter lim="800000"/>
              </a:ln>
              <a:effectLst/>
            </p:spPr>
            <p:txBody>
              <a:bodyPr wrap="square" lIns="38972" tIns="38972" rIns="38972" bIns="38972">
                <a:spAutoFit/>
              </a:bodyPr>
              <a:lstStyle/>
              <a:p>
                <a:pPr marL="75565" indent="-75565">
                  <a:lnSpc>
                    <a:spcPct val="90000"/>
                  </a:lnSpc>
                  <a:spcBef>
                    <a:spcPct val="40000"/>
                  </a:spcBef>
                  <a:buClr>
                    <a:srgbClr val="990000"/>
                  </a:buClr>
                  <a:defRPr/>
                </a:pPr>
                <a:r>
                  <a:rPr lang="zh-CN" altLang="en-US" sz="1300" b="1" dirty="0">
                    <a:latin typeface="+mn-ea"/>
                  </a:rPr>
                  <a:t>客户关系</a:t>
                </a:r>
                <a:endParaRPr lang="zh-CN" altLang="en-US" sz="1300" b="1" dirty="0">
                  <a:latin typeface="+mn-ea"/>
                </a:endParaRPr>
              </a:p>
              <a:p>
                <a:pPr marL="179705" indent="-179705">
                  <a:lnSpc>
                    <a:spcPct val="90000"/>
                  </a:lnSpc>
                  <a:spcBef>
                    <a:spcPct val="40000"/>
                  </a:spcBef>
                  <a:buClr>
                    <a:srgbClr val="0070C0"/>
                  </a:buClr>
                  <a:buFont typeface="Wingdings" panose="05000000000000000000" pitchFamily="2" charset="2"/>
                  <a:buChar char="u"/>
                  <a:defRPr/>
                </a:pPr>
                <a:r>
                  <a:rPr lang="zh-CN" altLang="en-US" sz="1200" dirty="0">
                    <a:latin typeface="+mn-ea"/>
                  </a:rPr>
                  <a:t>负责建立并维护客户</a:t>
                </a:r>
                <a:r>
                  <a:rPr lang="zh-CN" altLang="en-US" sz="1200" dirty="0" smtClean="0">
                    <a:latin typeface="+mn-ea"/>
                  </a:rPr>
                  <a:t>关系</a:t>
                </a:r>
                <a:endParaRPr lang="en-US" altLang="zh-CN" sz="1200" dirty="0" smtClean="0">
                  <a:latin typeface="+mn-ea"/>
                </a:endParaRPr>
              </a:p>
              <a:p>
                <a:pPr marL="179705" lvl="0" indent="-179705">
                  <a:lnSpc>
                    <a:spcPct val="90000"/>
                  </a:lnSpc>
                  <a:spcBef>
                    <a:spcPct val="40000"/>
                  </a:spcBef>
                  <a:buClr>
                    <a:srgbClr val="0070C0"/>
                  </a:buClr>
                  <a:buFont typeface="Wingdings" panose="05000000000000000000" pitchFamily="2" charset="2"/>
                  <a:buChar char="u"/>
                  <a:defRPr/>
                </a:pPr>
                <a:r>
                  <a:rPr lang="zh-CN" altLang="en-US" sz="1200" dirty="0"/>
                  <a:t>客户各层级人员组织结构及决策流程</a:t>
                </a:r>
                <a:r>
                  <a:rPr lang="zh-CN" altLang="en-US" sz="1200" dirty="0" smtClean="0"/>
                  <a:t>梳理</a:t>
                </a:r>
                <a:endParaRPr lang="en-US" altLang="zh-CN" sz="1200" dirty="0" smtClean="0"/>
              </a:p>
              <a:p>
                <a:pPr marL="179705" indent="-179705">
                  <a:lnSpc>
                    <a:spcPct val="90000"/>
                  </a:lnSpc>
                  <a:spcBef>
                    <a:spcPct val="40000"/>
                  </a:spcBef>
                  <a:buClr>
                    <a:srgbClr val="0070C0"/>
                  </a:buClr>
                  <a:buFont typeface="Wingdings" panose="05000000000000000000" pitchFamily="2" charset="2"/>
                  <a:buChar char="u"/>
                  <a:defRPr/>
                </a:pPr>
                <a:r>
                  <a:rPr lang="zh-CN" altLang="en-US" sz="1200" dirty="0"/>
                  <a:t>持续获取客户相关信息（钱人需竞渠存</a:t>
                </a:r>
                <a:r>
                  <a:rPr lang="zh-CN" altLang="en-US" sz="1200" dirty="0" smtClean="0"/>
                  <a:t>）</a:t>
                </a:r>
                <a:endParaRPr lang="zh-CN" altLang="en-US" sz="1200" dirty="0">
                  <a:latin typeface="+mn-ea"/>
                </a:endParaRPr>
              </a:p>
              <a:p>
                <a:pPr marL="75565" indent="-75565">
                  <a:lnSpc>
                    <a:spcPct val="90000"/>
                  </a:lnSpc>
                  <a:spcBef>
                    <a:spcPct val="40000"/>
                  </a:spcBef>
                  <a:buClr>
                    <a:srgbClr val="990000"/>
                  </a:buClr>
                  <a:defRPr/>
                </a:pPr>
                <a:endParaRPr lang="en-US" altLang="zh-CN" sz="1200" b="1" dirty="0" smtClean="0">
                  <a:latin typeface="+mn-ea"/>
                </a:endParaRPr>
              </a:p>
              <a:p>
                <a:pPr marL="75565" indent="-75565">
                  <a:lnSpc>
                    <a:spcPct val="90000"/>
                  </a:lnSpc>
                  <a:spcBef>
                    <a:spcPct val="40000"/>
                  </a:spcBef>
                  <a:buClr>
                    <a:srgbClr val="990000"/>
                  </a:buClr>
                  <a:defRPr/>
                </a:pPr>
                <a:r>
                  <a:rPr lang="zh-CN" altLang="en-US" sz="1300" b="1" dirty="0" smtClean="0">
                    <a:latin typeface="+mn-ea"/>
                  </a:rPr>
                  <a:t>盈利</a:t>
                </a:r>
                <a:r>
                  <a:rPr lang="zh-CN" altLang="en-US" sz="1300" b="1" dirty="0">
                    <a:latin typeface="+mn-ea"/>
                  </a:rPr>
                  <a:t>性销售</a:t>
                </a:r>
                <a:endParaRPr lang="zh-CN" altLang="en-US" sz="1300" b="1" dirty="0">
                  <a:latin typeface="+mn-ea"/>
                </a:endParaRPr>
              </a:p>
              <a:p>
                <a:pPr marL="228600" lvl="0" indent="-228600">
                  <a:lnSpc>
                    <a:spcPct val="90000"/>
                  </a:lnSpc>
                  <a:spcBef>
                    <a:spcPct val="40000"/>
                  </a:spcBef>
                  <a:buClr>
                    <a:srgbClr val="0070C0"/>
                  </a:buClr>
                  <a:buFont typeface="+mj-lt"/>
                  <a:buAutoNum type="arabicPeriod"/>
                  <a:defRPr/>
                </a:pPr>
                <a:r>
                  <a:rPr lang="zh-CN" altLang="en-US" sz="1200" dirty="0"/>
                  <a:t>挖掘客户显性及隐性生意机会，跟进并赢得</a:t>
                </a:r>
                <a:r>
                  <a:rPr lang="zh-CN" altLang="en-US" sz="1200" dirty="0" smtClean="0"/>
                  <a:t>项目</a:t>
                </a:r>
                <a:endParaRPr lang="en-US" altLang="zh-CN" sz="1200" dirty="0" smtClean="0">
                  <a:latin typeface="+mn-ea"/>
                </a:endParaRPr>
              </a:p>
              <a:p>
                <a:pPr marL="228600" indent="-228600">
                  <a:lnSpc>
                    <a:spcPct val="90000"/>
                  </a:lnSpc>
                  <a:spcBef>
                    <a:spcPct val="40000"/>
                  </a:spcBef>
                  <a:buClr>
                    <a:srgbClr val="0070C0"/>
                  </a:buClr>
                  <a:buFont typeface="+mj-lt"/>
                  <a:buAutoNum type="arabicPeriod"/>
                  <a:defRPr/>
                </a:pPr>
                <a:r>
                  <a:rPr lang="zh-CN" altLang="en-US" sz="1200" dirty="0" smtClean="0">
                    <a:latin typeface="+mn-ea"/>
                  </a:rPr>
                  <a:t>驱动</a:t>
                </a:r>
                <a:r>
                  <a:rPr lang="zh-CN" altLang="en-US" sz="1200" dirty="0">
                    <a:latin typeface="+mn-ea"/>
                  </a:rPr>
                  <a:t>盈利性销售，确保</a:t>
                </a:r>
                <a:r>
                  <a:rPr lang="zh-CN" altLang="en-US" sz="1200" dirty="0" smtClean="0">
                    <a:latin typeface="+mn-ea"/>
                  </a:rPr>
                  <a:t>合同成功 </a:t>
                </a:r>
                <a:endParaRPr lang="zh-CN" altLang="en-US" sz="1200" dirty="0">
                  <a:latin typeface="+mn-ea"/>
                </a:endParaRPr>
              </a:p>
              <a:p>
                <a:pPr marL="228600" indent="-228600">
                  <a:lnSpc>
                    <a:spcPct val="90000"/>
                  </a:lnSpc>
                  <a:spcBef>
                    <a:spcPct val="40000"/>
                  </a:spcBef>
                  <a:buClr>
                    <a:srgbClr val="0070C0"/>
                  </a:buClr>
                  <a:buFont typeface="+mj-lt"/>
                  <a:buAutoNum type="arabicPeriod"/>
                  <a:defRPr/>
                </a:pPr>
                <a:r>
                  <a:rPr lang="zh-CN" altLang="en-US" sz="1200" dirty="0">
                    <a:latin typeface="+mn-ea"/>
                  </a:rPr>
                  <a:t>负责财务概算和预测、</a:t>
                </a:r>
                <a:r>
                  <a:rPr lang="zh-CN" altLang="en-US" sz="1200" dirty="0" smtClean="0">
                    <a:latin typeface="+mn-ea"/>
                  </a:rPr>
                  <a:t>定价策略</a:t>
                </a:r>
                <a:r>
                  <a:rPr lang="zh-CN" altLang="en-US" sz="1200" dirty="0">
                    <a:latin typeface="+mn-ea"/>
                  </a:rPr>
                  <a:t>、融资策略、条款及</a:t>
                </a:r>
                <a:r>
                  <a:rPr lang="zh-CN" altLang="en-US" sz="1200" dirty="0" smtClean="0">
                    <a:latin typeface="+mn-ea"/>
                  </a:rPr>
                  <a:t>相关风险</a:t>
                </a:r>
                <a:r>
                  <a:rPr lang="zh-CN" altLang="en-US" sz="1200" dirty="0">
                    <a:latin typeface="+mn-ea"/>
                  </a:rPr>
                  <a:t>识别</a:t>
                </a:r>
                <a:endParaRPr lang="zh-CN" altLang="en-US" sz="1200" dirty="0">
                  <a:latin typeface="+mn-ea"/>
                </a:endParaRPr>
              </a:p>
              <a:p>
                <a:pPr marL="179705" indent="-179705">
                  <a:lnSpc>
                    <a:spcPct val="90000"/>
                  </a:lnSpc>
                  <a:spcBef>
                    <a:spcPct val="40000"/>
                  </a:spcBef>
                  <a:buClr>
                    <a:srgbClr val="0070C0"/>
                  </a:buClr>
                  <a:buFont typeface="Arial" panose="020B0604020202090204" pitchFamily="34" charset="0"/>
                  <a:buChar char="•"/>
                  <a:defRPr/>
                </a:pPr>
                <a:r>
                  <a:rPr lang="zh-CN" altLang="en-US" sz="1200" dirty="0">
                    <a:latin typeface="+mn-ea"/>
                  </a:rPr>
                  <a:t>制定合同谈判策略，并主导</a:t>
                </a:r>
                <a:br>
                  <a:rPr lang="en-US" altLang="zh-CN" sz="1200" dirty="0">
                    <a:latin typeface="+mn-ea"/>
                  </a:rPr>
                </a:br>
                <a:r>
                  <a:rPr lang="zh-CN" altLang="en-US" sz="1200" dirty="0">
                    <a:latin typeface="+mn-ea"/>
                  </a:rPr>
                  <a:t>合同谈判</a:t>
                </a:r>
                <a:endParaRPr lang="zh-CN" altLang="en-US" sz="1200" dirty="0">
                  <a:latin typeface="+mn-ea"/>
                </a:endParaRPr>
              </a:p>
              <a:p>
                <a:pPr marL="179705" indent="-179705">
                  <a:lnSpc>
                    <a:spcPct val="90000"/>
                  </a:lnSpc>
                  <a:spcBef>
                    <a:spcPct val="40000"/>
                  </a:spcBef>
                  <a:buClr>
                    <a:srgbClr val="0070C0"/>
                  </a:buClr>
                  <a:buFont typeface="Arial" panose="020B0604020202090204" pitchFamily="34" charset="0"/>
                  <a:buChar char="•"/>
                  <a:defRPr/>
                </a:pPr>
                <a:r>
                  <a:rPr lang="zh-CN" altLang="en-US" sz="1200" dirty="0">
                    <a:latin typeface="+mn-ea"/>
                  </a:rPr>
                  <a:t>确保交易和</a:t>
                </a:r>
                <a:r>
                  <a:rPr lang="en-US" altLang="zh-CN" sz="1200" dirty="0">
                    <a:latin typeface="+mn-ea"/>
                  </a:rPr>
                  <a:t>PO</a:t>
                </a:r>
                <a:r>
                  <a:rPr lang="zh-CN" altLang="en-US" sz="1200" dirty="0">
                    <a:latin typeface="+mn-ea"/>
                  </a:rPr>
                  <a:t>签署、回款以及</a:t>
                </a:r>
                <a:br>
                  <a:rPr lang="en-US" altLang="zh-CN" sz="1200" dirty="0">
                    <a:latin typeface="+mn-ea"/>
                  </a:rPr>
                </a:br>
                <a:r>
                  <a:rPr lang="zh-CN" altLang="en-US" sz="1200" dirty="0">
                    <a:latin typeface="+mn-ea"/>
                  </a:rPr>
                  <a:t>尾款回款</a:t>
                </a:r>
                <a:endParaRPr lang="zh-CN" altLang="en-US" sz="1200" dirty="0">
                  <a:latin typeface="+mn-ea"/>
                </a:endParaRPr>
              </a:p>
            </p:txBody>
          </p:sp>
        </p:grpSp>
        <p:grpSp>
          <p:nvGrpSpPr>
            <p:cNvPr id="9" name="组合 8"/>
            <p:cNvGrpSpPr/>
            <p:nvPr/>
          </p:nvGrpSpPr>
          <p:grpSpPr>
            <a:xfrm>
              <a:off x="4441285" y="1664699"/>
              <a:ext cx="2621574" cy="3678637"/>
              <a:chOff x="3188677" y="1190246"/>
              <a:chExt cx="2621574" cy="3678637"/>
            </a:xfrm>
          </p:grpSpPr>
          <p:sp>
            <p:nvSpPr>
              <p:cNvPr id="10" name="Rectangle 10"/>
              <p:cNvSpPr>
                <a:spLocks noChangeArrowheads="1"/>
              </p:cNvSpPr>
              <p:nvPr/>
            </p:nvSpPr>
            <p:spPr bwMode="auto">
              <a:xfrm>
                <a:off x="3188677" y="1190246"/>
                <a:ext cx="2621574" cy="558403"/>
              </a:xfrm>
              <a:prstGeom prst="roundRect">
                <a:avLst/>
              </a:prstGeom>
              <a:solidFill>
                <a:srgbClr val="0070C0"/>
              </a:solidFill>
              <a:ln w="9525" algn="ctr">
                <a:noFill/>
                <a:miter lim="800000"/>
              </a:ln>
              <a:effectLst/>
            </p:spPr>
            <p:txBody>
              <a:bodyPr lIns="77943" tIns="38972" rIns="77943" bIns="38972" anchor="ctr"/>
              <a:lstStyle/>
              <a:p>
                <a:pPr>
                  <a:defRPr/>
                </a:pPr>
                <a:endParaRPr lang="en-US" b="1">
                  <a:solidFill>
                    <a:schemeClr val="bg1"/>
                  </a:solidFill>
                  <a:latin typeface="+mn-ea"/>
                </a:endParaRPr>
              </a:p>
            </p:txBody>
          </p:sp>
          <p:sp>
            <p:nvSpPr>
              <p:cNvPr id="11" name="Rectangle 11"/>
              <p:cNvSpPr>
                <a:spLocks noChangeArrowheads="1"/>
              </p:cNvSpPr>
              <p:nvPr/>
            </p:nvSpPr>
            <p:spPr bwMode="auto">
              <a:xfrm>
                <a:off x="3188677" y="1765623"/>
                <a:ext cx="2621574" cy="3103260"/>
              </a:xfrm>
              <a:prstGeom prst="roundRect">
                <a:avLst>
                  <a:gd name="adj" fmla="val 5342"/>
                </a:avLst>
              </a:prstGeom>
              <a:solidFill>
                <a:schemeClr val="bg1">
                  <a:lumMod val="95000"/>
                </a:schemeClr>
              </a:solidFill>
              <a:ln w="12700" algn="ctr">
                <a:noFill/>
                <a:miter lim="800000"/>
              </a:ln>
              <a:effectLst/>
            </p:spPr>
            <p:txBody>
              <a:bodyPr lIns="77943" tIns="38972" rIns="77943" bIns="38972" anchor="ctr"/>
              <a:lstStyle/>
              <a:p>
                <a:pPr>
                  <a:defRPr/>
                </a:pPr>
                <a:endParaRPr lang="en-US">
                  <a:latin typeface="+mn-ea"/>
                </a:endParaRPr>
              </a:p>
            </p:txBody>
          </p:sp>
          <p:sp>
            <p:nvSpPr>
              <p:cNvPr id="12" name="Text Box 12"/>
              <p:cNvSpPr txBox="1">
                <a:spLocks noChangeArrowheads="1"/>
              </p:cNvSpPr>
              <p:nvPr/>
            </p:nvSpPr>
            <p:spPr bwMode="auto">
              <a:xfrm>
                <a:off x="3738351" y="1190246"/>
                <a:ext cx="1522226" cy="328004"/>
              </a:xfrm>
              <a:prstGeom prst="rect">
                <a:avLst/>
              </a:prstGeom>
              <a:noFill/>
              <a:ln w="9525" algn="ctr">
                <a:noFill/>
                <a:miter lim="800000"/>
              </a:ln>
              <a:effectLst/>
            </p:spPr>
            <p:txBody>
              <a:bodyPr wrap="square" lIns="77943" tIns="38972" rIns="77943" bIns="38972">
                <a:spAutoFit/>
              </a:bodyPr>
              <a:lstStyle/>
              <a:p>
                <a:pPr algn="ctr" eaLnBrk="0" hangingPunct="0">
                  <a:lnSpc>
                    <a:spcPct val="90000"/>
                  </a:lnSpc>
                </a:pPr>
                <a:r>
                  <a:rPr lang="zh-CN" altLang="en-US" b="1" dirty="0" smtClean="0">
                    <a:solidFill>
                      <a:srgbClr val="F7B021"/>
                    </a:solidFill>
                    <a:latin typeface="+mn-ea"/>
                  </a:rPr>
                  <a:t>技术负责人</a:t>
                </a:r>
                <a:endParaRPr lang="en-US" altLang="zh-CN" b="1" dirty="0">
                  <a:solidFill>
                    <a:srgbClr val="F7B021"/>
                  </a:solidFill>
                  <a:latin typeface="+mn-ea"/>
                </a:endParaRPr>
              </a:p>
            </p:txBody>
          </p:sp>
          <p:sp>
            <p:nvSpPr>
              <p:cNvPr id="13" name="Text Box 13"/>
              <p:cNvSpPr txBox="1">
                <a:spLocks noChangeArrowheads="1"/>
              </p:cNvSpPr>
              <p:nvPr/>
            </p:nvSpPr>
            <p:spPr bwMode="auto">
              <a:xfrm>
                <a:off x="3255353" y="1484235"/>
                <a:ext cx="2488223" cy="197723"/>
              </a:xfrm>
              <a:prstGeom prst="rect">
                <a:avLst/>
              </a:prstGeom>
              <a:noFill/>
              <a:ln w="9525" algn="ctr">
                <a:noFill/>
                <a:miter lim="800000"/>
              </a:ln>
              <a:effectLst/>
            </p:spPr>
            <p:txBody>
              <a:bodyPr lIns="15343" tIns="15343" rIns="15343" bIns="15343">
                <a:spAutoFit/>
              </a:bodyPr>
              <a:lstStyle/>
              <a:p>
                <a:pPr algn="ctr">
                  <a:spcBef>
                    <a:spcPct val="50000"/>
                  </a:spcBef>
                </a:pPr>
                <a:r>
                  <a:rPr lang="zh-CN" altLang="en-US" sz="1400" dirty="0">
                    <a:solidFill>
                      <a:schemeClr val="bg1"/>
                    </a:solidFill>
                    <a:latin typeface="+mn-ea"/>
                  </a:rPr>
                  <a:t>负责技术</a:t>
                </a:r>
                <a:r>
                  <a:rPr lang="zh-CN" altLang="en-US" sz="1400" dirty="0" smtClean="0">
                    <a:solidFill>
                      <a:schemeClr val="bg1"/>
                    </a:solidFill>
                    <a:latin typeface="+mn-ea"/>
                  </a:rPr>
                  <a:t>和解决</a:t>
                </a:r>
                <a:r>
                  <a:rPr lang="zh-CN" altLang="en-US" sz="1400" dirty="0">
                    <a:solidFill>
                      <a:schemeClr val="bg1"/>
                    </a:solidFill>
                    <a:latin typeface="+mn-ea"/>
                  </a:rPr>
                  <a:t>方案</a:t>
                </a:r>
                <a:endParaRPr lang="zh-CN" altLang="en-US" sz="1400" dirty="0">
                  <a:solidFill>
                    <a:schemeClr val="bg1"/>
                  </a:solidFill>
                  <a:latin typeface="+mn-ea"/>
                </a:endParaRPr>
              </a:p>
            </p:txBody>
          </p:sp>
          <p:sp>
            <p:nvSpPr>
              <p:cNvPr id="14" name="Text Box 14"/>
              <p:cNvSpPr txBox="1">
                <a:spLocks noChangeArrowheads="1"/>
              </p:cNvSpPr>
              <p:nvPr/>
            </p:nvSpPr>
            <p:spPr bwMode="auto">
              <a:xfrm>
                <a:off x="3300451" y="1917529"/>
                <a:ext cx="2398026" cy="2201698"/>
              </a:xfrm>
              <a:prstGeom prst="rect">
                <a:avLst/>
              </a:prstGeom>
              <a:noFill/>
              <a:ln w="9525" algn="ctr">
                <a:noFill/>
                <a:miter lim="800000"/>
              </a:ln>
              <a:effectLst/>
            </p:spPr>
            <p:txBody>
              <a:bodyPr wrap="square" lIns="38972" tIns="38972" rIns="38972" bIns="38972">
                <a:spAutoFit/>
              </a:bodyPr>
              <a:lstStyle/>
              <a:p>
                <a:pPr marL="75565" indent="-75565">
                  <a:lnSpc>
                    <a:spcPct val="90000"/>
                  </a:lnSpc>
                  <a:spcBef>
                    <a:spcPct val="40000"/>
                  </a:spcBef>
                  <a:buClr>
                    <a:srgbClr val="990000"/>
                  </a:buClr>
                  <a:defRPr/>
                </a:pPr>
                <a:r>
                  <a:rPr lang="zh-CN" altLang="en-US" sz="1300" b="1" dirty="0">
                    <a:latin typeface="+mn-ea"/>
                  </a:rPr>
                  <a:t>客户技术和服务解决方案</a:t>
                </a:r>
                <a:endParaRPr lang="zh-CN" altLang="en-US" sz="1300" b="1" dirty="0">
                  <a:latin typeface="+mn-ea"/>
                </a:endParaRPr>
              </a:p>
              <a:p>
                <a:pPr>
                  <a:lnSpc>
                    <a:spcPct val="90000"/>
                  </a:lnSpc>
                  <a:spcBef>
                    <a:spcPct val="40000"/>
                  </a:spcBef>
                  <a:buClr>
                    <a:srgbClr val="0070C0"/>
                  </a:buClr>
                  <a:defRPr/>
                </a:pPr>
                <a:r>
                  <a:rPr lang="zh-CN" altLang="en-US" sz="1200" dirty="0">
                    <a:latin typeface="+mn-ea"/>
                  </a:rPr>
                  <a:t>负责解决方案策略、规划</a:t>
                </a:r>
                <a:r>
                  <a:rPr lang="zh-CN" altLang="en-US" sz="1200" dirty="0" smtClean="0">
                    <a:latin typeface="+mn-ea"/>
                  </a:rPr>
                  <a:t>解决方案</a:t>
                </a:r>
                <a:r>
                  <a:rPr lang="zh-CN" altLang="en-US" sz="1200" dirty="0">
                    <a:latin typeface="+mn-ea"/>
                  </a:rPr>
                  <a:t>、保证解决方案质量</a:t>
                </a:r>
                <a:r>
                  <a:rPr lang="zh-CN" altLang="en-US" sz="1200" dirty="0" smtClean="0">
                    <a:latin typeface="+mn-ea"/>
                  </a:rPr>
                  <a:t>、标书</a:t>
                </a:r>
                <a:r>
                  <a:rPr lang="zh-CN" altLang="en-US" sz="1200" dirty="0">
                    <a:latin typeface="+mn-ea"/>
                  </a:rPr>
                  <a:t>总体质量以及提升竞争力</a:t>
                </a:r>
                <a:endParaRPr lang="zh-CN" altLang="en-US" sz="1200" dirty="0">
                  <a:latin typeface="+mn-ea"/>
                </a:endParaRPr>
              </a:p>
              <a:p>
                <a:pPr marL="179705" indent="-179705">
                  <a:lnSpc>
                    <a:spcPct val="90000"/>
                  </a:lnSpc>
                  <a:spcBef>
                    <a:spcPct val="40000"/>
                  </a:spcBef>
                  <a:buClr>
                    <a:srgbClr val="0070C0"/>
                  </a:buClr>
                  <a:buFont typeface="Wingdings" panose="05000000000000000000" pitchFamily="2" charset="2"/>
                  <a:buChar char="u"/>
                  <a:defRPr/>
                </a:pPr>
                <a:r>
                  <a:rPr lang="zh-CN" altLang="en-US" sz="1200" dirty="0">
                    <a:latin typeface="+mn-ea"/>
                  </a:rPr>
                  <a:t>制定满足客户需求的恰当方案，引导客户接受我方方案</a:t>
                </a:r>
                <a:endParaRPr lang="zh-CN" altLang="en-US" sz="1200" dirty="0">
                  <a:latin typeface="+mn-ea"/>
                </a:endParaRPr>
              </a:p>
              <a:p>
                <a:pPr marL="179705" indent="-179705">
                  <a:lnSpc>
                    <a:spcPct val="90000"/>
                  </a:lnSpc>
                  <a:spcBef>
                    <a:spcPct val="40000"/>
                  </a:spcBef>
                  <a:buClr>
                    <a:srgbClr val="0070C0"/>
                  </a:buClr>
                  <a:buFont typeface="Wingdings" panose="05000000000000000000" pitchFamily="2" charset="2"/>
                  <a:buChar char="u"/>
                  <a:defRPr/>
                </a:pPr>
                <a:r>
                  <a:rPr lang="zh-CN" altLang="en-US" sz="1200" dirty="0">
                    <a:latin typeface="+mn-ea"/>
                  </a:rPr>
                  <a:t>确保解决方案与化为产品</a:t>
                </a:r>
                <a:r>
                  <a:rPr lang="en-US" altLang="zh-CN" sz="1200" dirty="0" smtClean="0">
                    <a:latin typeface="+mn-ea"/>
                  </a:rPr>
                  <a:t>/</a:t>
                </a:r>
                <a:r>
                  <a:rPr lang="zh-CN" altLang="en-US" sz="1200" dirty="0" smtClean="0">
                    <a:latin typeface="+mn-ea"/>
                  </a:rPr>
                  <a:t>服务</a:t>
                </a:r>
                <a:r>
                  <a:rPr lang="zh-CN" altLang="en-US" sz="1200" dirty="0">
                    <a:latin typeface="+mn-ea"/>
                  </a:rPr>
                  <a:t>组合和战略保持协同</a:t>
                </a:r>
                <a:endParaRPr lang="zh-CN" altLang="en-US" sz="1200" dirty="0">
                  <a:latin typeface="+mn-ea"/>
                </a:endParaRPr>
              </a:p>
              <a:p>
                <a:pPr marL="179705" indent="-179705">
                  <a:lnSpc>
                    <a:spcPct val="90000"/>
                  </a:lnSpc>
                  <a:spcBef>
                    <a:spcPct val="40000"/>
                  </a:spcBef>
                  <a:buClr>
                    <a:srgbClr val="0070C0"/>
                  </a:buClr>
                  <a:buFont typeface="Wingdings" panose="05000000000000000000" pitchFamily="2" charset="2"/>
                  <a:buChar char="u"/>
                  <a:defRPr/>
                </a:pPr>
                <a:r>
                  <a:rPr lang="zh-CN" altLang="en-US" sz="1200" dirty="0">
                    <a:latin typeface="+mn-ea"/>
                  </a:rPr>
                  <a:t>准备报价清单，识别解决</a:t>
                </a:r>
                <a:r>
                  <a:rPr lang="zh-CN" altLang="en-US" sz="1200" dirty="0" smtClean="0">
                    <a:latin typeface="+mn-ea"/>
                  </a:rPr>
                  <a:t>方案风险</a:t>
                </a:r>
                <a:r>
                  <a:rPr lang="zh-CN" altLang="en-US" sz="1200" dirty="0">
                    <a:latin typeface="+mn-ea"/>
                  </a:rPr>
                  <a:t>以及风险规避措施</a:t>
                </a:r>
                <a:endParaRPr lang="zh-CN" altLang="en-US" sz="1200" dirty="0">
                  <a:latin typeface="+mn-ea"/>
                </a:endParaRPr>
              </a:p>
              <a:p>
                <a:pPr marL="179705" indent="-179705">
                  <a:lnSpc>
                    <a:spcPct val="90000"/>
                  </a:lnSpc>
                  <a:spcBef>
                    <a:spcPct val="40000"/>
                  </a:spcBef>
                  <a:buClr>
                    <a:srgbClr val="0070C0"/>
                  </a:buClr>
                  <a:buFont typeface="Wingdings" panose="05000000000000000000" pitchFamily="2" charset="2"/>
                  <a:buChar char="u"/>
                  <a:defRPr/>
                </a:pPr>
                <a:r>
                  <a:rPr lang="zh-CN" altLang="en-US" sz="1200" dirty="0">
                    <a:latin typeface="+mn-ea"/>
                  </a:rPr>
                  <a:t>负责与客户共同解决有关技术与服务方案的</a:t>
                </a:r>
                <a:r>
                  <a:rPr lang="zh-CN" altLang="en-US" sz="1200" dirty="0" smtClean="0">
                    <a:latin typeface="+mn-ea"/>
                  </a:rPr>
                  <a:t>问题</a:t>
                </a:r>
                <a:endParaRPr lang="zh-CN" altLang="en-US" sz="1200" dirty="0" smtClean="0">
                  <a:latin typeface="+mn-ea"/>
                </a:endParaRPr>
              </a:p>
              <a:p>
                <a:pPr marL="179705" indent="-179705">
                  <a:lnSpc>
                    <a:spcPct val="90000"/>
                  </a:lnSpc>
                  <a:spcBef>
                    <a:spcPct val="40000"/>
                  </a:spcBef>
                  <a:buClr>
                    <a:srgbClr val="0070C0"/>
                  </a:buClr>
                  <a:buFont typeface="Wingdings" panose="05000000000000000000" pitchFamily="2" charset="2"/>
                  <a:buChar char="u"/>
                  <a:defRPr/>
                </a:pPr>
                <a:r>
                  <a:rPr lang="zh-CN" altLang="en-US" sz="1200" dirty="0" smtClean="0">
                    <a:latin typeface="+mn-ea"/>
                  </a:rPr>
                  <a:t>支持客户关系的维护</a:t>
                </a:r>
                <a:endParaRPr lang="zh-CN" altLang="en-US" sz="1200" dirty="0">
                  <a:latin typeface="+mn-ea"/>
                </a:endParaRPr>
              </a:p>
            </p:txBody>
          </p:sp>
        </p:grpSp>
        <p:grpSp>
          <p:nvGrpSpPr>
            <p:cNvPr id="15" name="组合 14"/>
            <p:cNvGrpSpPr/>
            <p:nvPr/>
          </p:nvGrpSpPr>
          <p:grpSpPr>
            <a:xfrm>
              <a:off x="7301735" y="1664699"/>
              <a:ext cx="2653738" cy="3678637"/>
              <a:chOff x="6068158" y="1190246"/>
              <a:chExt cx="2653738" cy="3678637"/>
            </a:xfrm>
          </p:grpSpPr>
          <p:sp>
            <p:nvSpPr>
              <p:cNvPr id="16" name="Rectangle 16"/>
              <p:cNvSpPr>
                <a:spLocks noChangeArrowheads="1"/>
              </p:cNvSpPr>
              <p:nvPr/>
            </p:nvSpPr>
            <p:spPr bwMode="auto">
              <a:xfrm>
                <a:off x="6068158" y="1190246"/>
                <a:ext cx="2620107" cy="558403"/>
              </a:xfrm>
              <a:prstGeom prst="roundRect">
                <a:avLst/>
              </a:prstGeom>
              <a:solidFill>
                <a:srgbClr val="0070C0"/>
              </a:solidFill>
              <a:ln w="9525" algn="ctr">
                <a:noFill/>
                <a:miter lim="800000"/>
              </a:ln>
              <a:effectLst/>
            </p:spPr>
            <p:txBody>
              <a:bodyPr lIns="77943" tIns="38972" rIns="77943" bIns="38972" anchor="ctr"/>
              <a:lstStyle/>
              <a:p>
                <a:pPr>
                  <a:defRPr/>
                </a:pPr>
                <a:endParaRPr lang="en-US" b="1">
                  <a:solidFill>
                    <a:schemeClr val="bg1"/>
                  </a:solidFill>
                  <a:latin typeface="+mn-ea"/>
                </a:endParaRPr>
              </a:p>
            </p:txBody>
          </p:sp>
          <p:sp>
            <p:nvSpPr>
              <p:cNvPr id="17" name="Rectangle 17"/>
              <p:cNvSpPr>
                <a:spLocks noChangeArrowheads="1"/>
              </p:cNvSpPr>
              <p:nvPr/>
            </p:nvSpPr>
            <p:spPr bwMode="auto">
              <a:xfrm>
                <a:off x="6068158" y="1765623"/>
                <a:ext cx="2620107" cy="3103260"/>
              </a:xfrm>
              <a:prstGeom prst="roundRect">
                <a:avLst>
                  <a:gd name="adj" fmla="val 5789"/>
                </a:avLst>
              </a:prstGeom>
              <a:solidFill>
                <a:schemeClr val="bg1">
                  <a:lumMod val="95000"/>
                </a:schemeClr>
              </a:solidFill>
              <a:ln w="12700" algn="ctr">
                <a:noFill/>
                <a:miter lim="800000"/>
              </a:ln>
              <a:effectLst/>
            </p:spPr>
            <p:txBody>
              <a:bodyPr lIns="77943" tIns="38972" rIns="77943" bIns="38972" anchor="ctr"/>
              <a:lstStyle/>
              <a:p>
                <a:pPr>
                  <a:defRPr/>
                </a:pPr>
                <a:endParaRPr lang="en-US">
                  <a:latin typeface="+mn-ea"/>
                </a:endParaRPr>
              </a:p>
            </p:txBody>
          </p:sp>
          <p:sp>
            <p:nvSpPr>
              <p:cNvPr id="18" name="Text Box 18"/>
              <p:cNvSpPr txBox="1">
                <a:spLocks noChangeArrowheads="1"/>
              </p:cNvSpPr>
              <p:nvPr/>
            </p:nvSpPr>
            <p:spPr bwMode="auto">
              <a:xfrm>
                <a:off x="6457216" y="1208588"/>
                <a:ext cx="2010737" cy="328004"/>
              </a:xfrm>
              <a:prstGeom prst="rect">
                <a:avLst/>
              </a:prstGeom>
              <a:noFill/>
              <a:ln w="9525" algn="ctr">
                <a:noFill/>
                <a:miter lim="800000"/>
              </a:ln>
              <a:effectLst/>
            </p:spPr>
            <p:txBody>
              <a:bodyPr wrap="square" lIns="77943" tIns="38972" rIns="77943" bIns="38972">
                <a:spAutoFit/>
              </a:bodyPr>
              <a:lstStyle/>
              <a:p>
                <a:pPr algn="ctr" eaLnBrk="0" hangingPunct="0">
                  <a:lnSpc>
                    <a:spcPct val="90000"/>
                  </a:lnSpc>
                </a:pPr>
                <a:r>
                  <a:rPr lang="zh-CN" altLang="en-US" b="1" dirty="0" smtClean="0">
                    <a:solidFill>
                      <a:srgbClr val="F7B021"/>
                    </a:solidFill>
                    <a:latin typeface="+mn-ea"/>
                  </a:rPr>
                  <a:t>客户体验负责人</a:t>
                </a:r>
                <a:endParaRPr lang="en-US" altLang="zh-CN" b="1" dirty="0">
                  <a:solidFill>
                    <a:srgbClr val="F7B021"/>
                  </a:solidFill>
                  <a:latin typeface="+mn-ea"/>
                </a:endParaRPr>
              </a:p>
            </p:txBody>
          </p:sp>
          <p:sp>
            <p:nvSpPr>
              <p:cNvPr id="19" name="Text Box 19"/>
              <p:cNvSpPr txBox="1">
                <a:spLocks noChangeArrowheads="1"/>
              </p:cNvSpPr>
              <p:nvPr/>
            </p:nvSpPr>
            <p:spPr bwMode="auto">
              <a:xfrm>
                <a:off x="6203275" y="1917529"/>
                <a:ext cx="2518621" cy="2799448"/>
              </a:xfrm>
              <a:prstGeom prst="rect">
                <a:avLst/>
              </a:prstGeom>
              <a:noFill/>
              <a:ln w="9525" algn="ctr">
                <a:noFill/>
                <a:miter lim="800000"/>
              </a:ln>
              <a:effectLst/>
            </p:spPr>
            <p:txBody>
              <a:bodyPr lIns="38972" tIns="38972" rIns="38972" bIns="38972"/>
              <a:lstStyle/>
              <a:p>
                <a:pPr marL="75565" indent="-75565">
                  <a:lnSpc>
                    <a:spcPct val="90000"/>
                  </a:lnSpc>
                  <a:spcBef>
                    <a:spcPct val="40000"/>
                  </a:spcBef>
                  <a:buClr>
                    <a:srgbClr val="990000"/>
                  </a:buClr>
                  <a:defRPr/>
                </a:pPr>
                <a:r>
                  <a:rPr lang="zh-CN" altLang="en-US" sz="1300" b="1" dirty="0">
                    <a:latin typeface="+mn-ea"/>
                  </a:rPr>
                  <a:t>履行和交付</a:t>
                </a:r>
                <a:endParaRPr lang="zh-CN" altLang="en-US" sz="1300" b="1" dirty="0">
                  <a:latin typeface="+mn-ea"/>
                </a:endParaRPr>
              </a:p>
              <a:p>
                <a:pPr>
                  <a:lnSpc>
                    <a:spcPct val="90000"/>
                  </a:lnSpc>
                  <a:spcBef>
                    <a:spcPct val="40000"/>
                  </a:spcBef>
                  <a:buClr>
                    <a:srgbClr val="0070C0"/>
                  </a:buClr>
                  <a:defRPr/>
                </a:pPr>
                <a:r>
                  <a:rPr lang="zh-CN" altLang="en-US" sz="1200" dirty="0">
                    <a:latin typeface="+mn-ea"/>
                  </a:rPr>
                  <a:t>总体负责合同履行、</a:t>
                </a:r>
                <a:r>
                  <a:rPr lang="zh-CN" altLang="en-US" sz="1200" dirty="0" smtClean="0">
                    <a:latin typeface="+mn-ea"/>
                  </a:rPr>
                  <a:t>项目管理和</a:t>
                </a:r>
                <a:r>
                  <a:rPr lang="zh-CN" altLang="en-US" sz="1200" dirty="0">
                    <a:latin typeface="+mn-ea"/>
                  </a:rPr>
                  <a:t>服务交付</a:t>
                </a:r>
                <a:endParaRPr lang="en-US" altLang="zh-CN" sz="1200" dirty="0">
                  <a:latin typeface="+mn-ea"/>
                </a:endParaRPr>
              </a:p>
              <a:p>
                <a:pPr>
                  <a:lnSpc>
                    <a:spcPct val="90000"/>
                  </a:lnSpc>
                  <a:spcBef>
                    <a:spcPct val="40000"/>
                  </a:spcBef>
                  <a:buClr>
                    <a:srgbClr val="0070C0"/>
                  </a:buClr>
                  <a:defRPr/>
                </a:pPr>
                <a:r>
                  <a:rPr lang="zh-CN" altLang="en-US" sz="1200" dirty="0">
                    <a:latin typeface="+mn-ea"/>
                  </a:rPr>
                  <a:t>领导</a:t>
                </a:r>
                <a:r>
                  <a:rPr lang="en-US" altLang="zh-CN" sz="1200" dirty="0">
                    <a:latin typeface="+mn-ea"/>
                  </a:rPr>
                  <a:t>DPM</a:t>
                </a:r>
                <a:r>
                  <a:rPr lang="zh-CN" altLang="en-US" sz="1200" dirty="0">
                    <a:latin typeface="+mn-ea"/>
                  </a:rPr>
                  <a:t>协同履行团队在售</a:t>
                </a:r>
                <a:r>
                  <a:rPr lang="zh-CN" altLang="en-US" sz="1200" dirty="0" smtClean="0">
                    <a:latin typeface="+mn-ea"/>
                  </a:rPr>
                  <a:t>前阶段</a:t>
                </a:r>
                <a:r>
                  <a:rPr lang="zh-CN" altLang="en-US" sz="1200" dirty="0">
                    <a:latin typeface="+mn-ea"/>
                  </a:rPr>
                  <a:t>进行早期介入，</a:t>
                </a:r>
                <a:r>
                  <a:rPr lang="zh-CN" altLang="en-US" sz="1200" dirty="0" smtClean="0">
                    <a:latin typeface="+mn-ea"/>
                  </a:rPr>
                  <a:t>保证合同</a:t>
                </a:r>
                <a:r>
                  <a:rPr lang="zh-CN" altLang="en-US" sz="1200" dirty="0">
                    <a:latin typeface="+mn-ea"/>
                  </a:rPr>
                  <a:t>质量及可交付性</a:t>
                </a:r>
                <a:endParaRPr lang="zh-CN" altLang="en-US" sz="1200" dirty="0">
                  <a:latin typeface="+mn-ea"/>
                </a:endParaRPr>
              </a:p>
              <a:p>
                <a:pPr marL="179705" indent="-179705">
                  <a:lnSpc>
                    <a:spcPct val="90000"/>
                  </a:lnSpc>
                  <a:spcBef>
                    <a:spcPct val="40000"/>
                  </a:spcBef>
                  <a:buClr>
                    <a:srgbClr val="0070C0"/>
                  </a:buClr>
                  <a:buFont typeface="Wingdings" panose="05000000000000000000" pitchFamily="2" charset="2"/>
                  <a:buChar char="u"/>
                  <a:defRPr/>
                </a:pPr>
                <a:r>
                  <a:rPr lang="zh-CN" altLang="en-US" sz="1200" dirty="0">
                    <a:latin typeface="+mn-ea"/>
                  </a:rPr>
                  <a:t>负责合同执行策略以及相关</a:t>
                </a:r>
                <a:br>
                  <a:rPr lang="en-US" altLang="zh-CN" sz="1200" dirty="0">
                    <a:latin typeface="+mn-ea"/>
                  </a:rPr>
                </a:br>
                <a:r>
                  <a:rPr lang="zh-CN" altLang="en-US" sz="1200" dirty="0">
                    <a:latin typeface="+mn-ea"/>
                  </a:rPr>
                  <a:t>风险的识别和规避</a:t>
                </a:r>
                <a:endParaRPr lang="zh-CN" altLang="en-US" sz="1200" dirty="0">
                  <a:latin typeface="+mn-ea"/>
                </a:endParaRPr>
              </a:p>
              <a:p>
                <a:pPr marL="179705" indent="-179705">
                  <a:lnSpc>
                    <a:spcPct val="90000"/>
                  </a:lnSpc>
                  <a:spcBef>
                    <a:spcPct val="40000"/>
                  </a:spcBef>
                  <a:buClr>
                    <a:srgbClr val="0070C0"/>
                  </a:buClr>
                  <a:buFont typeface="Wingdings" panose="05000000000000000000" pitchFamily="2" charset="2"/>
                  <a:buChar char="u"/>
                  <a:defRPr/>
                </a:pPr>
                <a:r>
                  <a:rPr lang="zh-CN" altLang="en-US" sz="1200" dirty="0">
                    <a:latin typeface="+mn-ea"/>
                  </a:rPr>
                  <a:t>保障合同成功履行（包括开票），确保化为和客户双方都完全履行了合同义务</a:t>
                </a:r>
                <a:endParaRPr lang="zh-CN" altLang="en-US" sz="1200" dirty="0">
                  <a:latin typeface="+mn-ea"/>
                </a:endParaRPr>
              </a:p>
              <a:p>
                <a:pPr marL="179705" indent="-179705">
                  <a:lnSpc>
                    <a:spcPct val="90000"/>
                  </a:lnSpc>
                  <a:spcBef>
                    <a:spcPct val="40000"/>
                  </a:spcBef>
                  <a:buClr>
                    <a:srgbClr val="0070C0"/>
                  </a:buClr>
                  <a:buFont typeface="Wingdings" panose="05000000000000000000" pitchFamily="2" charset="2"/>
                  <a:buChar char="u"/>
                  <a:defRPr/>
                </a:pPr>
                <a:r>
                  <a:rPr lang="zh-CN" altLang="en-US" sz="1200" dirty="0">
                    <a:latin typeface="+mn-ea"/>
                  </a:rPr>
                  <a:t>负责与客户之间的履行中的</a:t>
                </a:r>
                <a:br>
                  <a:rPr lang="en-US" altLang="zh-CN" sz="1200" dirty="0">
                    <a:latin typeface="+mn-ea"/>
                  </a:rPr>
                </a:br>
                <a:r>
                  <a:rPr lang="zh-CN" altLang="en-US" sz="1200" dirty="0">
                    <a:latin typeface="+mn-ea"/>
                  </a:rPr>
                  <a:t>争议解决</a:t>
                </a:r>
                <a:endParaRPr lang="zh-CN" altLang="en-US" sz="1200" dirty="0">
                  <a:latin typeface="+mn-ea"/>
                </a:endParaRPr>
              </a:p>
            </p:txBody>
          </p:sp>
          <p:sp>
            <p:nvSpPr>
              <p:cNvPr id="20" name="Text Box 22"/>
              <p:cNvSpPr txBox="1">
                <a:spLocks noChangeArrowheads="1"/>
              </p:cNvSpPr>
              <p:nvPr/>
            </p:nvSpPr>
            <p:spPr bwMode="auto">
              <a:xfrm>
                <a:off x="6068158" y="1484235"/>
                <a:ext cx="2620107" cy="246429"/>
              </a:xfrm>
              <a:prstGeom prst="rect">
                <a:avLst/>
              </a:prstGeom>
              <a:noFill/>
              <a:ln w="9525" algn="ctr">
                <a:noFill/>
                <a:miter lim="800000"/>
              </a:ln>
              <a:effectLst/>
            </p:spPr>
            <p:txBody>
              <a:bodyPr lIns="15343" tIns="15343" rIns="15343" bIns="15343">
                <a:spAutoFit/>
              </a:bodyPr>
              <a:lstStyle/>
              <a:p>
                <a:pPr algn="ctr">
                  <a:spcBef>
                    <a:spcPct val="50000"/>
                  </a:spcBef>
                </a:pPr>
                <a:r>
                  <a:rPr lang="zh-CN" altLang="en-US" sz="1400">
                    <a:solidFill>
                      <a:schemeClr val="bg1"/>
                    </a:solidFill>
                    <a:latin typeface="+mn-ea"/>
                  </a:rPr>
                  <a:t>负责合同履行的客户满意度</a:t>
                </a:r>
                <a:endParaRPr lang="zh-CN" altLang="en-US" sz="1400">
                  <a:solidFill>
                    <a:schemeClr val="bg1"/>
                  </a:solidFill>
                  <a:latin typeface="+mn-ea"/>
                </a:endParaRPr>
              </a:p>
            </p:txBody>
          </p:sp>
        </p:grpSp>
      </p:gr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61975" y="93222"/>
            <a:ext cx="8651062" cy="495935"/>
          </a:xfrm>
        </p:spPr>
        <p:txBody>
          <a:bodyPr/>
          <a:lstStyle/>
          <a:p>
            <a:r>
              <a:rPr lang="en-US" altLang="zh-CN" dirty="0" smtClean="0"/>
              <a:t>M11.1 </a:t>
            </a:r>
            <a:r>
              <a:rPr lang="zh-CN" altLang="en-US" dirty="0" smtClean="0"/>
              <a:t>验证商机</a:t>
            </a:r>
            <a:r>
              <a:rPr lang="en-US" altLang="zh-CN" dirty="0" smtClean="0"/>
              <a:t>-</a:t>
            </a:r>
            <a:r>
              <a:rPr lang="en-US" altLang="zh-CN" sz="1400" dirty="0">
                <a:hlinkClick r:id="rId1"/>
              </a:rPr>
              <a:t>M11.1 </a:t>
            </a:r>
            <a:r>
              <a:rPr lang="zh-CN" altLang="en-US" sz="1400" dirty="0">
                <a:hlinkClick r:id="rId1"/>
              </a:rPr>
              <a:t>验证商机流程说明文件</a:t>
            </a:r>
            <a:r>
              <a:rPr lang="en-US" altLang="zh-CN" sz="1400" dirty="0">
                <a:hlinkClick r:id="rId1"/>
              </a:rPr>
              <a:t>-V1.0</a:t>
            </a:r>
            <a:endParaRPr lang="zh-CN" altLang="en-US" sz="1400" dirty="0"/>
          </a:p>
          <a:p>
            <a:endParaRPr lang="zh-CN" altLang="en-US" dirty="0"/>
          </a:p>
        </p:txBody>
      </p:sp>
      <p:grpSp>
        <p:nvGrpSpPr>
          <p:cNvPr id="10" name="group 162"/>
          <p:cNvGrpSpPr/>
          <p:nvPr/>
        </p:nvGrpSpPr>
        <p:grpSpPr>
          <a:xfrm rot="21600000">
            <a:off x="784436" y="2292157"/>
            <a:ext cx="5935979" cy="4117269"/>
            <a:chOff x="-12700" y="-12700"/>
            <a:chExt cx="5935979" cy="4117269"/>
          </a:xfrm>
        </p:grpSpPr>
        <p:grpSp>
          <p:nvGrpSpPr>
            <p:cNvPr id="11" name="group 164"/>
            <p:cNvGrpSpPr/>
            <p:nvPr/>
          </p:nvGrpSpPr>
          <p:grpSpPr>
            <a:xfrm rot="21600000">
              <a:off x="0" y="0"/>
              <a:ext cx="5910071" cy="4104569"/>
              <a:chOff x="0" y="0"/>
              <a:chExt cx="5910071" cy="4104569"/>
            </a:xfrm>
          </p:grpSpPr>
          <p:sp>
            <p:nvSpPr>
              <p:cNvPr id="13" name="path 1550"/>
              <p:cNvSpPr/>
              <p:nvPr/>
            </p:nvSpPr>
            <p:spPr>
              <a:xfrm>
                <a:off x="0" y="0"/>
                <a:ext cx="5908548" cy="498347"/>
              </a:xfrm>
              <a:custGeom>
                <a:avLst/>
                <a:gdLst/>
                <a:ahLst/>
                <a:cxnLst/>
                <a:rect l="0" t="0" r="0" b="0"/>
                <a:pathLst>
                  <a:path w="9304" h="784">
                    <a:moveTo>
                      <a:pt x="0" y="0"/>
                    </a:moveTo>
                    <a:lnTo>
                      <a:pt x="9304" y="0"/>
                    </a:lnTo>
                    <a:lnTo>
                      <a:pt x="9304"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4" name="path 1552"/>
              <p:cNvSpPr/>
              <p:nvPr/>
            </p:nvSpPr>
            <p:spPr>
              <a:xfrm>
                <a:off x="0" y="478535"/>
                <a:ext cx="5910071" cy="3626034"/>
              </a:xfrm>
              <a:custGeom>
                <a:avLst/>
                <a:gdLst/>
                <a:ahLst/>
                <a:cxnLst/>
                <a:rect l="0" t="0" r="0" b="0"/>
                <a:pathLst>
                  <a:path w="9307" h="3820">
                    <a:moveTo>
                      <a:pt x="0" y="0"/>
                    </a:moveTo>
                    <a:lnTo>
                      <a:pt x="9307" y="0"/>
                    </a:lnTo>
                    <a:lnTo>
                      <a:pt x="9307" y="3820"/>
                    </a:lnTo>
                    <a:lnTo>
                      <a:pt x="0" y="3820"/>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2" name="textbox 1554"/>
            <p:cNvSpPr/>
            <p:nvPr/>
          </p:nvSpPr>
          <p:spPr>
            <a:xfrm>
              <a:off x="-12700" y="-12700"/>
              <a:ext cx="5935979" cy="2930525"/>
            </a:xfrm>
            <a:prstGeom prst="rect">
              <a:avLst/>
            </a:prstGeom>
            <a:noFill/>
            <a:ln w="0" cap="flat">
              <a:noFill/>
              <a:prstDash val="solid"/>
              <a:miter lim="0"/>
            </a:ln>
          </p:spPr>
          <p:txBody>
            <a:bodyPr vert="horz" wrap="square" lIns="0" tIns="0" rIns="0" bIns="0"/>
            <a:lstStyle/>
            <a:p>
              <a:pPr algn="l" rtl="0" eaLnBrk="0">
                <a:lnSpc>
                  <a:spcPct val="106000"/>
                </a:lnSpc>
              </a:pPr>
              <a:endParaRPr sz="900" dirty="0">
                <a:latin typeface="Arial" panose="020B0604020202090204"/>
                <a:ea typeface="Arial" panose="020B0604020202090204"/>
                <a:cs typeface="Arial" panose="020B0604020202090204"/>
              </a:endParaRPr>
            </a:p>
            <a:p>
              <a:pPr marL="2513965" eaLnBrk="0">
                <a:lnSpc>
                  <a:spcPct val="95000"/>
                </a:lnSpc>
              </a:pPr>
              <a:r>
                <a:rPr lang="zh-CN" altLang="en-US" sz="1700" kern="0" spc="8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关键活动</a:t>
              </a:r>
              <a:endParaRPr lang="zh-CN" altLang="en-US" sz="1700"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09000"/>
                </a:lnSpc>
              </a:pPr>
              <a:endParaRPr sz="1000" dirty="0">
                <a:latin typeface="Arial" panose="020B0604020202090204"/>
                <a:ea typeface="Arial" panose="020B0604020202090204"/>
                <a:cs typeface="Arial" panose="020B0604020202090204"/>
              </a:endParaRPr>
            </a:p>
            <a:p>
              <a:pPr algn="l" rtl="0" eaLnBrk="0">
                <a:lnSpc>
                  <a:spcPct val="109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p:txBody>
        </p:sp>
      </p:grpSp>
      <p:grpSp>
        <p:nvGrpSpPr>
          <p:cNvPr id="15" name="group 166"/>
          <p:cNvGrpSpPr/>
          <p:nvPr/>
        </p:nvGrpSpPr>
        <p:grpSpPr>
          <a:xfrm rot="21600000">
            <a:off x="6786456" y="2289869"/>
            <a:ext cx="4167379" cy="4125616"/>
            <a:chOff x="-25909" y="-12700"/>
            <a:chExt cx="4167379" cy="3496157"/>
          </a:xfrm>
        </p:grpSpPr>
        <p:grpSp>
          <p:nvGrpSpPr>
            <p:cNvPr id="16" name="group 168"/>
            <p:cNvGrpSpPr/>
            <p:nvPr/>
          </p:nvGrpSpPr>
          <p:grpSpPr>
            <a:xfrm rot="21600000">
              <a:off x="-25909" y="0"/>
              <a:ext cx="4152900" cy="3483457"/>
              <a:chOff x="-25909" y="0"/>
              <a:chExt cx="4152900" cy="3483457"/>
            </a:xfrm>
          </p:grpSpPr>
          <p:sp>
            <p:nvSpPr>
              <p:cNvPr id="18" name="path 1558"/>
              <p:cNvSpPr/>
              <p:nvPr/>
            </p:nvSpPr>
            <p:spPr>
              <a:xfrm>
                <a:off x="0" y="0"/>
                <a:ext cx="4126991" cy="498347"/>
              </a:xfrm>
              <a:custGeom>
                <a:avLst/>
                <a:gdLst/>
                <a:ahLst/>
                <a:cxnLst/>
                <a:rect l="0" t="0" r="0" b="0"/>
                <a:pathLst>
                  <a:path w="6499" h="784">
                    <a:moveTo>
                      <a:pt x="0" y="0"/>
                    </a:moveTo>
                    <a:lnTo>
                      <a:pt x="6499" y="0"/>
                    </a:lnTo>
                    <a:lnTo>
                      <a:pt x="6499"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9" name="path 1560"/>
              <p:cNvSpPr/>
              <p:nvPr/>
            </p:nvSpPr>
            <p:spPr>
              <a:xfrm>
                <a:off x="0" y="498346"/>
                <a:ext cx="4126991" cy="1385555"/>
              </a:xfrm>
              <a:custGeom>
                <a:avLst/>
                <a:gdLst/>
                <a:ahLst/>
                <a:cxnLst/>
                <a:rect l="0" t="0" r="0" b="0"/>
                <a:pathLst>
                  <a:path w="6499" h="2078">
                    <a:moveTo>
                      <a:pt x="0" y="0"/>
                    </a:moveTo>
                    <a:lnTo>
                      <a:pt x="6499" y="0"/>
                    </a:lnTo>
                    <a:lnTo>
                      <a:pt x="6499" y="2078"/>
                    </a:lnTo>
                    <a:lnTo>
                      <a:pt x="0" y="2078"/>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sp>
            <p:nvSpPr>
              <p:cNvPr id="20" name="path 1562"/>
              <p:cNvSpPr/>
              <p:nvPr/>
            </p:nvSpPr>
            <p:spPr>
              <a:xfrm>
                <a:off x="-25909" y="1948865"/>
                <a:ext cx="4126991" cy="499872"/>
              </a:xfrm>
              <a:custGeom>
                <a:avLst/>
                <a:gdLst/>
                <a:ahLst/>
                <a:cxnLst/>
                <a:rect l="0" t="0" r="0" b="0"/>
                <a:pathLst>
                  <a:path w="6499" h="787">
                    <a:moveTo>
                      <a:pt x="0" y="0"/>
                    </a:moveTo>
                    <a:lnTo>
                      <a:pt x="6499" y="0"/>
                    </a:lnTo>
                    <a:lnTo>
                      <a:pt x="6499" y="787"/>
                    </a:lnTo>
                    <a:lnTo>
                      <a:pt x="0" y="787"/>
                    </a:lnTo>
                    <a:lnTo>
                      <a:pt x="0" y="0"/>
                    </a:lnTo>
                    <a:close/>
                  </a:path>
                </a:pathLst>
              </a:custGeom>
              <a:solidFill>
                <a:srgbClr val="D7A284">
                  <a:alpha val="100000"/>
                </a:srgbClr>
              </a:solidFill>
              <a:ln w="0" cap="flat">
                <a:noFill/>
                <a:prstDash val="solid"/>
                <a:miter lim="0"/>
              </a:ln>
            </p:spPr>
            <p:txBody>
              <a:bodyPr rtlCol="0"/>
              <a:lstStyle/>
              <a:p>
                <a:pPr algn="ctr"/>
                <a:endParaRPr lang="zh-CN" altLang="en-US" dirty="0"/>
              </a:p>
            </p:txBody>
          </p:sp>
          <p:sp>
            <p:nvSpPr>
              <p:cNvPr id="21" name="path 1564"/>
              <p:cNvSpPr/>
              <p:nvPr/>
            </p:nvSpPr>
            <p:spPr>
              <a:xfrm>
                <a:off x="-25908" y="2493003"/>
                <a:ext cx="4128515" cy="990454"/>
              </a:xfrm>
              <a:custGeom>
                <a:avLst/>
                <a:gdLst/>
                <a:ahLst/>
                <a:cxnLst/>
                <a:rect l="0" t="0" r="0" b="0"/>
                <a:pathLst>
                  <a:path w="6501" h="945">
                    <a:moveTo>
                      <a:pt x="0" y="0"/>
                    </a:moveTo>
                    <a:lnTo>
                      <a:pt x="6501" y="0"/>
                    </a:lnTo>
                    <a:lnTo>
                      <a:pt x="6501" y="945"/>
                    </a:lnTo>
                    <a:lnTo>
                      <a:pt x="0" y="945"/>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7" name="textbox 1566"/>
            <p:cNvSpPr/>
            <p:nvPr/>
          </p:nvSpPr>
          <p:spPr>
            <a:xfrm>
              <a:off x="-12700" y="-12700"/>
              <a:ext cx="4154170" cy="2929254"/>
            </a:xfrm>
            <a:prstGeom prst="rect">
              <a:avLst/>
            </a:prstGeom>
            <a:noFill/>
            <a:ln w="0" cap="flat">
              <a:noFill/>
              <a:prstDash val="solid"/>
              <a:miter lim="0"/>
            </a:ln>
          </p:spPr>
          <p:txBody>
            <a:bodyPr vert="horz" wrap="square" lIns="0" tIns="0" rIns="0" bIns="0"/>
            <a:lstStyle/>
            <a:p>
              <a:pPr algn="l" rtl="0" eaLnBrk="0">
                <a:lnSpc>
                  <a:spcPct val="104000"/>
                </a:lnSpc>
              </a:pPr>
              <a:endParaRPr sz="900" dirty="0">
                <a:latin typeface="Arial" panose="020B0604020202090204"/>
                <a:ea typeface="Arial" panose="020B0604020202090204"/>
                <a:cs typeface="Arial" panose="020B0604020202090204"/>
              </a:endParaRPr>
            </a:p>
            <a:p>
              <a:pPr marL="1623060" algn="l" rtl="0" eaLnBrk="0">
                <a:lnSpc>
                  <a:spcPct val="96000"/>
                </a:lnSpc>
                <a:spcBef>
                  <a:spcPts val="5"/>
                </a:spcBef>
              </a:pPr>
              <a:r>
                <a:rPr lang="zh-CN" altLang="en-US" sz="1700" kern="0" spc="80" dirty="0" smtClean="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表证单书</a:t>
              </a:r>
              <a:endParaRPr sz="1700" dirty="0" smtClean="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38000"/>
                </a:lnSpc>
              </a:pPr>
              <a:endParaRPr sz="1000" dirty="0" smtClean="0">
                <a:latin typeface="Arial" panose="020B0604020202090204"/>
                <a:ea typeface="Arial" panose="020B0604020202090204"/>
                <a:cs typeface="Arial" panose="020B0604020202090204"/>
              </a:endParaRPr>
            </a:p>
            <a:p>
              <a:pPr algn="l" rtl="0" eaLnBrk="0">
                <a:lnSpc>
                  <a:spcPct val="119000"/>
                </a:lnSpc>
              </a:pPr>
              <a:endParaRPr sz="300" dirty="0">
                <a:latin typeface="Arial" panose="020B0604020202090204"/>
                <a:ea typeface="Arial" panose="020B0604020202090204"/>
                <a:cs typeface="Arial" panose="020B0604020202090204"/>
              </a:endParaRPr>
            </a:p>
          </p:txBody>
        </p:sp>
      </p:grpSp>
      <p:sp>
        <p:nvSpPr>
          <p:cNvPr id="28" name="矩形 27"/>
          <p:cNvSpPr/>
          <p:nvPr/>
        </p:nvSpPr>
        <p:spPr>
          <a:xfrm>
            <a:off x="448027" y="866134"/>
            <a:ext cx="10705928" cy="830997"/>
          </a:xfrm>
          <a:prstGeom prst="rect">
            <a:avLst/>
          </a:prstGeom>
        </p:spPr>
        <p:txBody>
          <a:bodyPr wrap="square">
            <a:spAutoFit/>
          </a:bodyPr>
          <a:lstStyle/>
          <a:p>
            <a:r>
              <a:rPr lang="zh-CN" altLang="en-US" sz="1600" dirty="0" smtClean="0"/>
              <a:t>本流程专注于优化商机验证环节，其核心旨在确保进入销售漏斗的商机具备真实性和健康性。通过对符合条件的商机进行细致评估与分级分层管理，我们能够更精准地识别出重点商机。重点商机发起立项流程，经过立项评审决策后，一旦立项通过，即投入相应资源全力推进。</a:t>
            </a:r>
            <a:endParaRPr lang="zh-CN" altLang="en-US" sz="1600" dirty="0"/>
          </a:p>
        </p:txBody>
      </p:sp>
      <p:sp>
        <p:nvSpPr>
          <p:cNvPr id="30" name="矩形 29"/>
          <p:cNvSpPr/>
          <p:nvPr/>
        </p:nvSpPr>
        <p:spPr>
          <a:xfrm>
            <a:off x="8140079" y="4676540"/>
            <a:ext cx="1390124" cy="369332"/>
          </a:xfrm>
          <a:prstGeom prst="rect">
            <a:avLst/>
          </a:prstGeom>
        </p:spPr>
        <p:txBody>
          <a:bodyPr wrap="none">
            <a:spAutoFit/>
          </a:bodyPr>
          <a:lstStyle/>
          <a:p>
            <a:r>
              <a:rPr lang="zh-CN" altLang="en-US" kern="0" spc="80" dirty="0" smtClean="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关键输出物</a:t>
            </a:r>
            <a:endParaRPr lang="zh-CN" altLang="en-US" dirty="0"/>
          </a:p>
        </p:txBody>
      </p:sp>
      <p:sp>
        <p:nvSpPr>
          <p:cNvPr id="31" name="矩形 30"/>
          <p:cNvSpPr/>
          <p:nvPr/>
        </p:nvSpPr>
        <p:spPr>
          <a:xfrm>
            <a:off x="4014706" y="2919908"/>
            <a:ext cx="2556550" cy="3603807"/>
          </a:xfrm>
          <a:prstGeom prst="rect">
            <a:avLst/>
          </a:prstGeom>
        </p:spPr>
        <p:txBody>
          <a:bodyPr wrap="square">
            <a:spAutoFit/>
          </a:bodyPr>
          <a:lstStyle/>
          <a:p>
            <a:pPr marL="113665" eaLnBrk="0">
              <a:lnSpc>
                <a:spcPct val="85000"/>
              </a:lnSpc>
              <a:spcBef>
                <a:spcPts val="425"/>
              </a:spcBef>
            </a:pP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重点注意事项</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、商机填报一定要严格按照</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EBG</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发布的商机质量要求进行填报，严禁弄虚作假，敷衍了事，凡通过商机抽查流程发现的不质量商机都会对相关人员进行严肃处理。</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、销售经理对商机审批时必须按照指导书要求严格把关，对销售填报数据真实性，准确性负责。</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、商机分级分层标准参见商机分类表。</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、不立项项目，进入一般项目池常态化管理。</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zh-CN" altLang="en-US" sz="300" dirty="0">
              <a:ea typeface="Arial" panose="020B0604020202090204"/>
              <a:cs typeface="Arial" panose="020B0604020202090204"/>
            </a:endParaRPr>
          </a:p>
        </p:txBody>
      </p:sp>
      <p:sp>
        <p:nvSpPr>
          <p:cNvPr id="38" name="AutoShape 12"/>
          <p:cNvSpPr>
            <a:spLocks noChangeArrowheads="1"/>
          </p:cNvSpPr>
          <p:nvPr/>
        </p:nvSpPr>
        <p:spPr bwMode="gray">
          <a:xfrm>
            <a:off x="3109329" y="1852407"/>
            <a:ext cx="2586134" cy="437462"/>
          </a:xfrm>
          <a:prstGeom prst="chevron">
            <a:avLst>
              <a:gd name="adj" fmla="val 15486"/>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商机推进</a:t>
            </a:r>
            <a:endParaRPr lang="en-US" altLang="zh-CN"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9" name="AutoShape 13"/>
          <p:cNvSpPr>
            <a:spLocks noChangeArrowheads="1"/>
          </p:cNvSpPr>
          <p:nvPr/>
        </p:nvSpPr>
        <p:spPr bwMode="gray">
          <a:xfrm>
            <a:off x="5671516" y="1852407"/>
            <a:ext cx="2758542" cy="437462"/>
          </a:xfrm>
          <a:prstGeom prst="chevron">
            <a:avLst>
              <a:gd name="adj" fmla="val 16781"/>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制定并执行投标策略</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0" name="AutoShape 10"/>
          <p:cNvSpPr>
            <a:spLocks noChangeArrowheads="1"/>
          </p:cNvSpPr>
          <p:nvPr/>
        </p:nvSpPr>
        <p:spPr bwMode="gray">
          <a:xfrm>
            <a:off x="784436" y="1852407"/>
            <a:ext cx="2348839" cy="437462"/>
          </a:xfrm>
          <a:prstGeom prst="chevron">
            <a:avLst>
              <a:gd name="adj" fmla="val 15711"/>
            </a:avLst>
          </a:prstGeom>
          <a:solidFill>
            <a:schemeClr val="accent4">
              <a:lumMod val="75000"/>
            </a:schemeClr>
          </a:solidFill>
          <a:ln w="12700" algn="ctr">
            <a:noFill/>
            <a:miter lim="800000"/>
          </a:ln>
          <a:effectLst/>
        </p:spPr>
        <p:txBody>
          <a:bodyPr lIns="0" tIns="7793" rIns="0" bIns="7793" anchor="ctr"/>
          <a:lstStyle/>
          <a:p>
            <a:pPr algn="ctr" eaLnBrk="0" hangingPunct="0">
              <a:buSzPct val="100000"/>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验证</a:t>
            </a: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1" name="AutoShape 14"/>
          <p:cNvSpPr>
            <a:spLocks noChangeArrowheads="1"/>
          </p:cNvSpPr>
          <p:nvPr/>
        </p:nvSpPr>
        <p:spPr bwMode="gray">
          <a:xfrm>
            <a:off x="8406112" y="1852407"/>
            <a:ext cx="2547724" cy="437462"/>
          </a:xfrm>
          <a:prstGeom prst="chevron">
            <a:avLst>
              <a:gd name="adj" fmla="val 15684"/>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谈判并签订合同</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pic>
        <p:nvPicPr>
          <p:cNvPr id="44" name="图片 43"/>
          <p:cNvPicPr>
            <a:picLocks noChangeAspect="1"/>
          </p:cNvPicPr>
          <p:nvPr/>
        </p:nvPicPr>
        <p:blipFill>
          <a:blip r:embed="rId2"/>
          <a:stretch>
            <a:fillRect/>
          </a:stretch>
        </p:blipFill>
        <p:spPr>
          <a:xfrm>
            <a:off x="797136" y="2835172"/>
            <a:ext cx="3217569" cy="3417706"/>
          </a:xfrm>
          <a:prstGeom prst="rect">
            <a:avLst/>
          </a:prstGeom>
        </p:spPr>
      </p:pic>
      <p:sp>
        <p:nvSpPr>
          <p:cNvPr id="51" name="矩形 50"/>
          <p:cNvSpPr/>
          <p:nvPr/>
        </p:nvSpPr>
        <p:spPr>
          <a:xfrm>
            <a:off x="6792486" y="2962370"/>
            <a:ext cx="3964654" cy="1955664"/>
          </a:xfrm>
          <a:prstGeom prst="rect">
            <a:avLst/>
          </a:prstGeom>
        </p:spPr>
        <p:txBody>
          <a:bodyPr wrap="square">
            <a:spAutoFit/>
          </a:bodyPr>
          <a:lstStyle/>
          <a:p>
            <a:pPr marL="399415" indent="-285750" eaLnBrk="0">
              <a:lnSpc>
                <a:spcPct val="85000"/>
              </a:lnSpc>
              <a:spcBef>
                <a:spcPts val="425"/>
              </a:spcBef>
              <a:buFont typeface="Arial" panose="020B0604020202090204" pitchFamily="34" charset="0"/>
              <a:buChar char="•"/>
            </a:pPr>
            <a:r>
              <a:rPr lang="zh-CN" altLang="en-US" sz="1400" dirty="0" smtClean="0"/>
              <a:t>（</a:t>
            </a:r>
            <a:r>
              <a:rPr lang="zh-CN" altLang="en-US" sz="1400" dirty="0"/>
              <a:t>第</a:t>
            </a:r>
            <a:r>
              <a:rPr lang="en-US" altLang="zh-CN" sz="1400" dirty="0"/>
              <a:t>001</a:t>
            </a:r>
            <a:r>
              <a:rPr lang="zh-CN" altLang="en-US" sz="1400" dirty="0"/>
              <a:t>号）企业网事业部销售漏斗质量管理标准</a:t>
            </a:r>
            <a:r>
              <a:rPr lang="en-US" altLang="zh-CN" sz="1400" dirty="0" smtClean="0"/>
              <a:t>V9.0.pdf</a:t>
            </a:r>
            <a:endParaRPr lang="en-US" altLang="zh-CN" sz="1400" dirty="0" smtClean="0"/>
          </a:p>
          <a:p>
            <a:pPr marL="399415" indent="-285750" eaLnBrk="0">
              <a:lnSpc>
                <a:spcPct val="85000"/>
              </a:lnSpc>
              <a:spcBef>
                <a:spcPts val="425"/>
              </a:spcBef>
              <a:buFont typeface="Arial" panose="020B0604020202090204" pitchFamily="34" charset="0"/>
              <a:buChar char="•"/>
            </a:pPr>
            <a:r>
              <a:rPr lang="zh-CN" altLang="en-US" sz="1400" dirty="0">
                <a:hlinkClick r:id="rId3"/>
              </a:rPr>
              <a:t>商机审批销售经理审批指导</a:t>
            </a:r>
            <a:r>
              <a:rPr lang="zh-CN" altLang="en-US" sz="1400" dirty="0" smtClean="0">
                <a:hlinkClick r:id="rId3"/>
              </a:rPr>
              <a:t>书</a:t>
            </a:r>
            <a:endParaRPr lang="en-US" altLang="zh-CN" sz="1400" dirty="0" smtClean="0"/>
          </a:p>
          <a:p>
            <a:pPr marL="399415" indent="-285750" eaLnBrk="0">
              <a:lnSpc>
                <a:spcPct val="85000"/>
              </a:lnSpc>
              <a:spcBef>
                <a:spcPts val="425"/>
              </a:spcBef>
              <a:buFont typeface="Arial" panose="020B0604020202090204" pitchFamily="34" charset="0"/>
              <a:buChar char="•"/>
            </a:pPr>
            <a:r>
              <a:rPr lang="en-US" altLang="zh-CN" sz="1400" dirty="0">
                <a:hlinkClick r:id="rId4"/>
              </a:rPr>
              <a:t>MTCV-MO-MO11.1-S-</a:t>
            </a:r>
            <a:r>
              <a:rPr lang="zh-CN" altLang="en-US" sz="1400" dirty="0">
                <a:hlinkClick r:id="rId4"/>
              </a:rPr>
              <a:t>商机分级表</a:t>
            </a:r>
            <a:r>
              <a:rPr lang="en-US" altLang="zh-CN" sz="1400" dirty="0">
                <a:hlinkClick r:id="rId4"/>
              </a:rPr>
              <a:t>-V0.9</a:t>
            </a:r>
            <a:endParaRPr lang="en-US" altLang="zh-CN" sz="1400" dirty="0"/>
          </a:p>
          <a:p>
            <a:pPr marL="399415" indent="-285750" eaLnBrk="0">
              <a:lnSpc>
                <a:spcPct val="85000"/>
              </a:lnSpc>
              <a:spcBef>
                <a:spcPts val="425"/>
              </a:spcBef>
              <a:buFont typeface="Arial" panose="020B0604020202090204" pitchFamily="34" charset="0"/>
              <a:buChar char="•"/>
            </a:pPr>
            <a:endParaRPr lang="zh-CN" altLang="en-US" sz="1400" dirty="0" smtClean="0"/>
          </a:p>
          <a:p>
            <a:pPr marL="399415" indent="-285750" eaLnBrk="0">
              <a:lnSpc>
                <a:spcPct val="85000"/>
              </a:lnSpc>
              <a:spcBef>
                <a:spcPts val="425"/>
              </a:spcBef>
              <a:buFont typeface="Arial" panose="020B0604020202090204" pitchFamily="34" charset="0"/>
              <a:buChar char="•"/>
            </a:pPr>
            <a:endParaRPr lang="en-US" altLang="zh-CN" sz="1400" dirty="0" smtClean="0"/>
          </a:p>
          <a:p>
            <a:pPr marL="399415" indent="-285750" eaLnBrk="0">
              <a:lnSpc>
                <a:spcPct val="85000"/>
              </a:lnSpc>
              <a:spcBef>
                <a:spcPts val="425"/>
              </a:spcBef>
              <a:buFont typeface="Arial" panose="020B0604020202090204" pitchFamily="34" charset="0"/>
              <a:buChar char="•"/>
            </a:pPr>
            <a:endParaRPr lang="en-US" altLang="zh-CN" sz="1400" dirty="0"/>
          </a:p>
          <a:p>
            <a:pPr marL="399415" indent="-285750" eaLnBrk="0">
              <a:lnSpc>
                <a:spcPct val="85000"/>
              </a:lnSpc>
              <a:spcBef>
                <a:spcPts val="425"/>
              </a:spcBef>
              <a:buFont typeface="Arial" panose="020B0604020202090204" pitchFamily="34" charset="0"/>
              <a:buChar char="•"/>
            </a:pP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zh-CN" altLang="en-US" sz="300" dirty="0">
              <a:ea typeface="Arial" panose="020B0604020202090204"/>
              <a:cs typeface="Arial" panose="020B0604020202090204"/>
            </a:endParaRPr>
          </a:p>
        </p:txBody>
      </p:sp>
      <p:sp>
        <p:nvSpPr>
          <p:cNvPr id="52" name="矩形 51"/>
          <p:cNvSpPr/>
          <p:nvPr/>
        </p:nvSpPr>
        <p:spPr>
          <a:xfrm>
            <a:off x="6786456" y="5388761"/>
            <a:ext cx="2743747" cy="600421"/>
          </a:xfrm>
          <a:prstGeom prst="rect">
            <a:avLst/>
          </a:prstGeom>
        </p:spPr>
        <p:txBody>
          <a:bodyPr wrap="square">
            <a:spAutoFit/>
          </a:bodyPr>
          <a:lstStyle/>
          <a:p>
            <a:pPr marL="399415" indent="-285750" eaLnBrk="0">
              <a:lnSpc>
                <a:spcPct val="85000"/>
              </a:lnSpc>
              <a:spcBef>
                <a:spcPts val="425"/>
              </a:spcBef>
              <a:buFont typeface="Arial" panose="020B0604020202090204" pitchFamily="34" charset="0"/>
              <a:buChar char="•"/>
            </a:pPr>
            <a:r>
              <a:rPr lang="zh-CN" altLang="en-US"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立项决策</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结果</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399415" indent="-285750" eaLnBrk="0">
              <a:lnSpc>
                <a:spcPct val="85000"/>
              </a:lnSpc>
              <a:spcBef>
                <a:spcPts val="425"/>
              </a:spcBef>
              <a:buFont typeface="Arial" panose="020B0604020202090204" pitchFamily="34" charset="0"/>
              <a:buChar char="•"/>
            </a:pP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项目</a:t>
            </a:r>
            <a:r>
              <a:rPr lang="zh-CN" altLang="en-US"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组信息</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zh-CN" altLang="en-US" sz="300" dirty="0">
              <a:ea typeface="Arial" panose="020B0604020202090204"/>
              <a:cs typeface="Arial" panose="020B0604020202090204"/>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61975" y="93222"/>
            <a:ext cx="8651062" cy="495935"/>
          </a:xfrm>
        </p:spPr>
        <p:txBody>
          <a:bodyPr/>
          <a:lstStyle/>
          <a:p>
            <a:r>
              <a:rPr lang="en-US" altLang="zh-CN" dirty="0" smtClean="0"/>
              <a:t>M11.2 </a:t>
            </a:r>
            <a:r>
              <a:rPr lang="zh-CN" altLang="en-US" dirty="0" smtClean="0"/>
              <a:t>推进商机</a:t>
            </a:r>
            <a:r>
              <a:rPr lang="en-US" altLang="zh-CN" dirty="0" smtClean="0"/>
              <a:t>-</a:t>
            </a:r>
            <a:r>
              <a:rPr lang="en-US" altLang="zh-CN" sz="1400" dirty="0">
                <a:hlinkClick r:id="rId1"/>
              </a:rPr>
              <a:t>M11.2 </a:t>
            </a:r>
            <a:r>
              <a:rPr lang="zh-CN" altLang="en-US" sz="1400" dirty="0">
                <a:hlinkClick r:id="rId1"/>
              </a:rPr>
              <a:t>推进商机流程说明文件</a:t>
            </a:r>
            <a:r>
              <a:rPr lang="en-US" altLang="zh-CN" sz="1400" dirty="0">
                <a:hlinkClick r:id="rId1"/>
              </a:rPr>
              <a:t>-V1.0</a:t>
            </a:r>
            <a:endParaRPr lang="zh-CN" altLang="en-US" sz="1400" dirty="0"/>
          </a:p>
          <a:p>
            <a:endParaRPr lang="zh-CN" altLang="en-US" dirty="0"/>
          </a:p>
        </p:txBody>
      </p:sp>
      <p:grpSp>
        <p:nvGrpSpPr>
          <p:cNvPr id="10" name="group 162"/>
          <p:cNvGrpSpPr/>
          <p:nvPr/>
        </p:nvGrpSpPr>
        <p:grpSpPr>
          <a:xfrm rot="21600000">
            <a:off x="784436" y="2136881"/>
            <a:ext cx="5935979" cy="4539963"/>
            <a:chOff x="-12700" y="-12700"/>
            <a:chExt cx="5935979" cy="4539963"/>
          </a:xfrm>
        </p:grpSpPr>
        <p:grpSp>
          <p:nvGrpSpPr>
            <p:cNvPr id="11" name="group 164"/>
            <p:cNvGrpSpPr/>
            <p:nvPr/>
          </p:nvGrpSpPr>
          <p:grpSpPr>
            <a:xfrm rot="21600000">
              <a:off x="0" y="0"/>
              <a:ext cx="5910071" cy="4527263"/>
              <a:chOff x="0" y="0"/>
              <a:chExt cx="5910071" cy="4527263"/>
            </a:xfrm>
          </p:grpSpPr>
          <p:sp>
            <p:nvSpPr>
              <p:cNvPr id="13" name="path 1550"/>
              <p:cNvSpPr/>
              <p:nvPr/>
            </p:nvSpPr>
            <p:spPr>
              <a:xfrm>
                <a:off x="0" y="0"/>
                <a:ext cx="5908548" cy="498347"/>
              </a:xfrm>
              <a:custGeom>
                <a:avLst/>
                <a:gdLst/>
                <a:ahLst/>
                <a:cxnLst/>
                <a:rect l="0" t="0" r="0" b="0"/>
                <a:pathLst>
                  <a:path w="9304" h="784">
                    <a:moveTo>
                      <a:pt x="0" y="0"/>
                    </a:moveTo>
                    <a:lnTo>
                      <a:pt x="9304" y="0"/>
                    </a:lnTo>
                    <a:lnTo>
                      <a:pt x="9304"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4" name="path 1552"/>
              <p:cNvSpPr/>
              <p:nvPr/>
            </p:nvSpPr>
            <p:spPr>
              <a:xfrm>
                <a:off x="0" y="478534"/>
                <a:ext cx="5910071" cy="4048729"/>
              </a:xfrm>
              <a:custGeom>
                <a:avLst/>
                <a:gdLst/>
                <a:ahLst/>
                <a:cxnLst/>
                <a:rect l="0" t="0" r="0" b="0"/>
                <a:pathLst>
                  <a:path w="9307" h="3820">
                    <a:moveTo>
                      <a:pt x="0" y="0"/>
                    </a:moveTo>
                    <a:lnTo>
                      <a:pt x="9307" y="0"/>
                    </a:lnTo>
                    <a:lnTo>
                      <a:pt x="9307" y="3820"/>
                    </a:lnTo>
                    <a:lnTo>
                      <a:pt x="0" y="3820"/>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2" name="textbox 1554"/>
            <p:cNvSpPr/>
            <p:nvPr/>
          </p:nvSpPr>
          <p:spPr>
            <a:xfrm>
              <a:off x="-12700" y="-12700"/>
              <a:ext cx="5935979" cy="2930525"/>
            </a:xfrm>
            <a:prstGeom prst="rect">
              <a:avLst/>
            </a:prstGeom>
            <a:noFill/>
            <a:ln w="0" cap="flat">
              <a:noFill/>
              <a:prstDash val="solid"/>
              <a:miter lim="0"/>
            </a:ln>
          </p:spPr>
          <p:txBody>
            <a:bodyPr vert="horz" wrap="square" lIns="0" tIns="0" rIns="0" bIns="0"/>
            <a:lstStyle/>
            <a:p>
              <a:pPr algn="l" rtl="0" eaLnBrk="0">
                <a:lnSpc>
                  <a:spcPct val="106000"/>
                </a:lnSpc>
              </a:pPr>
              <a:endParaRPr sz="900" dirty="0">
                <a:latin typeface="Arial" panose="020B0604020202090204"/>
                <a:ea typeface="Arial" panose="020B0604020202090204"/>
                <a:cs typeface="Arial" panose="020B0604020202090204"/>
              </a:endParaRPr>
            </a:p>
            <a:p>
              <a:pPr marL="2513965" eaLnBrk="0">
                <a:lnSpc>
                  <a:spcPct val="95000"/>
                </a:lnSpc>
              </a:pPr>
              <a:r>
                <a:rPr lang="zh-CN" altLang="en-US" sz="1700" kern="0" spc="8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关键活动</a:t>
              </a:r>
              <a:endParaRPr lang="zh-CN" altLang="en-US" sz="1700"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09000"/>
                </a:lnSpc>
              </a:pPr>
              <a:endParaRPr sz="1000" dirty="0">
                <a:latin typeface="Arial" panose="020B0604020202090204"/>
                <a:ea typeface="Arial" panose="020B0604020202090204"/>
                <a:cs typeface="Arial" panose="020B0604020202090204"/>
              </a:endParaRPr>
            </a:p>
            <a:p>
              <a:pPr algn="l" rtl="0" eaLnBrk="0">
                <a:lnSpc>
                  <a:spcPct val="109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p:txBody>
        </p:sp>
      </p:grpSp>
      <p:grpSp>
        <p:nvGrpSpPr>
          <p:cNvPr id="15" name="group 166"/>
          <p:cNvGrpSpPr/>
          <p:nvPr/>
        </p:nvGrpSpPr>
        <p:grpSpPr>
          <a:xfrm rot="21600000">
            <a:off x="6771645" y="2134593"/>
            <a:ext cx="4182190" cy="4542249"/>
            <a:chOff x="-40720" y="-12700"/>
            <a:chExt cx="4182190" cy="3849223"/>
          </a:xfrm>
        </p:grpSpPr>
        <p:grpSp>
          <p:nvGrpSpPr>
            <p:cNvPr id="16" name="group 168"/>
            <p:cNvGrpSpPr/>
            <p:nvPr/>
          </p:nvGrpSpPr>
          <p:grpSpPr>
            <a:xfrm rot="21600000">
              <a:off x="-40720" y="0"/>
              <a:ext cx="4167711" cy="3836523"/>
              <a:chOff x="-40720" y="0"/>
              <a:chExt cx="4167711" cy="3836523"/>
            </a:xfrm>
          </p:grpSpPr>
          <p:sp>
            <p:nvSpPr>
              <p:cNvPr id="18" name="path 1558"/>
              <p:cNvSpPr/>
              <p:nvPr/>
            </p:nvSpPr>
            <p:spPr>
              <a:xfrm>
                <a:off x="0" y="0"/>
                <a:ext cx="4126991" cy="498347"/>
              </a:xfrm>
              <a:custGeom>
                <a:avLst/>
                <a:gdLst/>
                <a:ahLst/>
                <a:cxnLst/>
                <a:rect l="0" t="0" r="0" b="0"/>
                <a:pathLst>
                  <a:path w="6499" h="784">
                    <a:moveTo>
                      <a:pt x="0" y="0"/>
                    </a:moveTo>
                    <a:lnTo>
                      <a:pt x="6499" y="0"/>
                    </a:lnTo>
                    <a:lnTo>
                      <a:pt x="6499"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9" name="path 1560"/>
              <p:cNvSpPr/>
              <p:nvPr/>
            </p:nvSpPr>
            <p:spPr>
              <a:xfrm>
                <a:off x="0" y="498345"/>
                <a:ext cx="4126991" cy="1854425"/>
              </a:xfrm>
              <a:custGeom>
                <a:avLst/>
                <a:gdLst/>
                <a:ahLst/>
                <a:cxnLst/>
                <a:rect l="0" t="0" r="0" b="0"/>
                <a:pathLst>
                  <a:path w="6499" h="2078">
                    <a:moveTo>
                      <a:pt x="0" y="0"/>
                    </a:moveTo>
                    <a:lnTo>
                      <a:pt x="6499" y="0"/>
                    </a:lnTo>
                    <a:lnTo>
                      <a:pt x="6499" y="2078"/>
                    </a:lnTo>
                    <a:lnTo>
                      <a:pt x="0" y="2078"/>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sp>
            <p:nvSpPr>
              <p:cNvPr id="20" name="path 1562"/>
              <p:cNvSpPr/>
              <p:nvPr/>
            </p:nvSpPr>
            <p:spPr>
              <a:xfrm>
                <a:off x="-40720" y="2439687"/>
                <a:ext cx="4126991" cy="499872"/>
              </a:xfrm>
              <a:custGeom>
                <a:avLst/>
                <a:gdLst/>
                <a:ahLst/>
                <a:cxnLst/>
                <a:rect l="0" t="0" r="0" b="0"/>
                <a:pathLst>
                  <a:path w="6499" h="787">
                    <a:moveTo>
                      <a:pt x="0" y="0"/>
                    </a:moveTo>
                    <a:lnTo>
                      <a:pt x="6499" y="0"/>
                    </a:lnTo>
                    <a:lnTo>
                      <a:pt x="6499" y="787"/>
                    </a:lnTo>
                    <a:lnTo>
                      <a:pt x="0" y="787"/>
                    </a:lnTo>
                    <a:lnTo>
                      <a:pt x="0" y="0"/>
                    </a:lnTo>
                    <a:close/>
                  </a:path>
                </a:pathLst>
              </a:custGeom>
              <a:solidFill>
                <a:srgbClr val="D7A284">
                  <a:alpha val="100000"/>
                </a:srgbClr>
              </a:solidFill>
              <a:ln w="0" cap="flat">
                <a:noFill/>
                <a:prstDash val="solid"/>
                <a:miter lim="0"/>
              </a:ln>
            </p:spPr>
            <p:txBody>
              <a:bodyPr rtlCol="0"/>
              <a:lstStyle/>
              <a:p>
                <a:pPr algn="ctr"/>
                <a:endParaRPr lang="zh-CN" altLang="en-US" dirty="0"/>
              </a:p>
            </p:txBody>
          </p:sp>
          <p:sp>
            <p:nvSpPr>
              <p:cNvPr id="21" name="path 1564"/>
              <p:cNvSpPr/>
              <p:nvPr/>
            </p:nvSpPr>
            <p:spPr>
              <a:xfrm>
                <a:off x="-25908" y="2975402"/>
                <a:ext cx="4128515" cy="861121"/>
              </a:xfrm>
              <a:custGeom>
                <a:avLst/>
                <a:gdLst/>
                <a:ahLst/>
                <a:cxnLst/>
                <a:rect l="0" t="0" r="0" b="0"/>
                <a:pathLst>
                  <a:path w="6501" h="945">
                    <a:moveTo>
                      <a:pt x="0" y="0"/>
                    </a:moveTo>
                    <a:lnTo>
                      <a:pt x="6501" y="0"/>
                    </a:lnTo>
                    <a:lnTo>
                      <a:pt x="6501" y="945"/>
                    </a:lnTo>
                    <a:lnTo>
                      <a:pt x="0" y="945"/>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7" name="textbox 1566"/>
            <p:cNvSpPr/>
            <p:nvPr/>
          </p:nvSpPr>
          <p:spPr>
            <a:xfrm>
              <a:off x="-12700" y="-12700"/>
              <a:ext cx="4154170" cy="2929254"/>
            </a:xfrm>
            <a:prstGeom prst="rect">
              <a:avLst/>
            </a:prstGeom>
            <a:noFill/>
            <a:ln w="0" cap="flat">
              <a:noFill/>
              <a:prstDash val="solid"/>
              <a:miter lim="0"/>
            </a:ln>
          </p:spPr>
          <p:txBody>
            <a:bodyPr vert="horz" wrap="square" lIns="0" tIns="0" rIns="0" bIns="0"/>
            <a:lstStyle/>
            <a:p>
              <a:pPr algn="l" rtl="0" eaLnBrk="0">
                <a:lnSpc>
                  <a:spcPct val="104000"/>
                </a:lnSpc>
              </a:pPr>
              <a:endParaRPr sz="900" dirty="0">
                <a:latin typeface="Arial" panose="020B0604020202090204"/>
                <a:ea typeface="Arial" panose="020B0604020202090204"/>
                <a:cs typeface="Arial" panose="020B0604020202090204"/>
              </a:endParaRPr>
            </a:p>
            <a:p>
              <a:pPr marL="1623060" algn="l" rtl="0" eaLnBrk="0">
                <a:lnSpc>
                  <a:spcPct val="96000"/>
                </a:lnSpc>
                <a:spcBef>
                  <a:spcPts val="5"/>
                </a:spcBef>
              </a:pPr>
              <a:r>
                <a:rPr lang="zh-CN" altLang="en-US" sz="1700" kern="0" spc="80" dirty="0" smtClean="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表证单书</a:t>
              </a:r>
              <a:endParaRPr sz="1700"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38000"/>
                </a:lnSpc>
              </a:pPr>
              <a:endParaRPr sz="1000" dirty="0">
                <a:latin typeface="Arial" panose="020B0604020202090204"/>
                <a:ea typeface="Arial" panose="020B0604020202090204"/>
                <a:cs typeface="Arial" panose="020B0604020202090204"/>
              </a:endParaRPr>
            </a:p>
            <a:p>
              <a:pPr algn="l" rtl="0" eaLnBrk="0">
                <a:lnSpc>
                  <a:spcPct val="119000"/>
                </a:lnSpc>
              </a:pPr>
              <a:endParaRPr sz="300" dirty="0">
                <a:latin typeface="Arial" panose="020B0604020202090204"/>
                <a:ea typeface="Arial" panose="020B0604020202090204"/>
                <a:cs typeface="Arial" panose="020B0604020202090204"/>
              </a:endParaRPr>
            </a:p>
          </p:txBody>
        </p:sp>
      </p:grpSp>
      <p:sp>
        <p:nvSpPr>
          <p:cNvPr id="28" name="矩形 27"/>
          <p:cNvSpPr/>
          <p:nvPr/>
        </p:nvSpPr>
        <p:spPr>
          <a:xfrm>
            <a:off x="448027" y="866134"/>
            <a:ext cx="10705928" cy="830997"/>
          </a:xfrm>
          <a:prstGeom prst="rect">
            <a:avLst/>
          </a:prstGeom>
        </p:spPr>
        <p:txBody>
          <a:bodyPr wrap="square">
            <a:spAutoFit/>
          </a:bodyPr>
          <a:lstStyle/>
          <a:p>
            <a:r>
              <a:rPr lang="zh-CN" altLang="en-US" sz="1600" dirty="0"/>
              <a:t>推进商机流程是指一系列有计划、有组织的步骤和活动，旨在识别、评估、推进并最终转化销售机会为实际销售成果的过程。它涵盖了从初步接触客户到成功赢得订单的整个销售周期，包括制定价值主张、提供解决方案、引导客户决策以及执行相关销售策略等关键环节。</a:t>
            </a:r>
            <a:endParaRPr lang="zh-CN" altLang="en-US" sz="1600" dirty="0"/>
          </a:p>
        </p:txBody>
      </p:sp>
      <p:sp>
        <p:nvSpPr>
          <p:cNvPr id="30" name="矩形 29"/>
          <p:cNvSpPr/>
          <p:nvPr/>
        </p:nvSpPr>
        <p:spPr>
          <a:xfrm>
            <a:off x="8010683" y="5119343"/>
            <a:ext cx="1390124" cy="369332"/>
          </a:xfrm>
          <a:prstGeom prst="rect">
            <a:avLst/>
          </a:prstGeom>
        </p:spPr>
        <p:txBody>
          <a:bodyPr wrap="none">
            <a:spAutoFit/>
          </a:bodyPr>
          <a:lstStyle/>
          <a:p>
            <a:r>
              <a:rPr lang="zh-CN" altLang="en-US" kern="0" spc="80" dirty="0" smtClean="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关键输出物</a:t>
            </a:r>
            <a:endParaRPr lang="zh-CN" altLang="en-US" dirty="0"/>
          </a:p>
        </p:txBody>
      </p:sp>
      <p:sp>
        <p:nvSpPr>
          <p:cNvPr id="31" name="矩形 30"/>
          <p:cNvSpPr/>
          <p:nvPr/>
        </p:nvSpPr>
        <p:spPr>
          <a:xfrm>
            <a:off x="643760" y="5510246"/>
            <a:ext cx="5937250" cy="978729"/>
          </a:xfrm>
          <a:prstGeom prst="rect">
            <a:avLst/>
          </a:prstGeom>
        </p:spPr>
        <p:txBody>
          <a:bodyPr wrap="square">
            <a:spAutoFit/>
          </a:bodyPr>
          <a:lstStyle/>
          <a:p>
            <a:pPr marL="113665" eaLnBrk="0">
              <a:lnSpc>
                <a:spcPct val="85000"/>
              </a:lnSpc>
              <a:spcBef>
                <a:spcPts val="425"/>
              </a:spcBef>
            </a:pP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重点注意事项</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、项目启动会及后续的项目分析会为商机推进工作稳步推进做保障。</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、售后部门前置参与解决方案评审，确保方案交付落地可行性。</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Arial" panose="020B0604020202090204"/>
              </a:rPr>
              <a:t>3</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Arial" panose="020B0604020202090204"/>
              </a:rPr>
              <a:t>、同时对需要安排客户测试的项目进行</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Arial" panose="020B0604020202090204"/>
              </a:rPr>
              <a:t>POC</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Arial" panose="020B0604020202090204"/>
              </a:rPr>
              <a:t>流程调用</a:t>
            </a:r>
            <a:endParaRPr lang="zh-CN" altLang="en-US" sz="300" dirty="0">
              <a:ea typeface="Arial" panose="020B0604020202090204"/>
              <a:cs typeface="Arial" panose="020B0604020202090204"/>
            </a:endParaRPr>
          </a:p>
        </p:txBody>
      </p:sp>
      <p:sp>
        <p:nvSpPr>
          <p:cNvPr id="38" name="AutoShape 12"/>
          <p:cNvSpPr>
            <a:spLocks noChangeArrowheads="1"/>
          </p:cNvSpPr>
          <p:nvPr/>
        </p:nvSpPr>
        <p:spPr bwMode="gray">
          <a:xfrm>
            <a:off x="3109329" y="1697131"/>
            <a:ext cx="2586134" cy="437462"/>
          </a:xfrm>
          <a:prstGeom prst="chevron">
            <a:avLst>
              <a:gd name="adj" fmla="val 15486"/>
            </a:avLst>
          </a:prstGeom>
          <a:solidFill>
            <a:srgbClr val="FF9700"/>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商机推进</a:t>
            </a:r>
            <a:endParaRPr lang="en-US" altLang="zh-CN"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9" name="AutoShape 13"/>
          <p:cNvSpPr>
            <a:spLocks noChangeArrowheads="1"/>
          </p:cNvSpPr>
          <p:nvPr/>
        </p:nvSpPr>
        <p:spPr bwMode="gray">
          <a:xfrm>
            <a:off x="5671516" y="1697131"/>
            <a:ext cx="2758542" cy="437462"/>
          </a:xfrm>
          <a:prstGeom prst="chevron">
            <a:avLst>
              <a:gd name="adj" fmla="val 16781"/>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制定并执行投标策略</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0" name="AutoShape 10"/>
          <p:cNvSpPr>
            <a:spLocks noChangeArrowheads="1"/>
          </p:cNvSpPr>
          <p:nvPr/>
        </p:nvSpPr>
        <p:spPr bwMode="gray">
          <a:xfrm>
            <a:off x="784436" y="1697131"/>
            <a:ext cx="2348839" cy="437462"/>
          </a:xfrm>
          <a:prstGeom prst="chevron">
            <a:avLst>
              <a:gd name="adj" fmla="val 15711"/>
            </a:avLst>
          </a:prstGeom>
          <a:solidFill>
            <a:srgbClr val="FFE3BB"/>
          </a:solidFill>
          <a:ln w="12700" algn="ctr">
            <a:noFill/>
            <a:miter lim="800000"/>
          </a:ln>
          <a:effectLst/>
        </p:spPr>
        <p:txBody>
          <a:bodyPr lIns="0" tIns="7793" rIns="0" bIns="7793" anchor="ctr"/>
          <a:lstStyle/>
          <a:p>
            <a:pPr algn="ctr" eaLnBrk="0" hangingPunct="0">
              <a:buSzPct val="100000"/>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验证</a:t>
            </a: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1" name="AutoShape 14"/>
          <p:cNvSpPr>
            <a:spLocks noChangeArrowheads="1"/>
          </p:cNvSpPr>
          <p:nvPr/>
        </p:nvSpPr>
        <p:spPr bwMode="gray">
          <a:xfrm>
            <a:off x="8406112" y="1697131"/>
            <a:ext cx="2547724" cy="437462"/>
          </a:xfrm>
          <a:prstGeom prst="chevron">
            <a:avLst>
              <a:gd name="adj" fmla="val 15684"/>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谈判并签订合同</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51" name="矩形 50"/>
          <p:cNvSpPr/>
          <p:nvPr/>
        </p:nvSpPr>
        <p:spPr>
          <a:xfrm>
            <a:off x="6792486" y="2807094"/>
            <a:ext cx="3999159" cy="2321918"/>
          </a:xfrm>
          <a:prstGeom prst="rect">
            <a:avLst/>
          </a:prstGeom>
        </p:spPr>
        <p:txBody>
          <a:bodyPr wrap="square">
            <a:spAutoFit/>
          </a:bodyPr>
          <a:lstStyle/>
          <a:p>
            <a:pPr marL="456565" indent="-342900" eaLnBrk="0">
              <a:lnSpc>
                <a:spcPct val="85000"/>
              </a:lnSpc>
              <a:spcBef>
                <a:spcPts val="425"/>
              </a:spcBef>
              <a:buFont typeface="Arial" panose="020B0604020202090204" pitchFamily="34" charset="0"/>
              <a:buChar char="•"/>
            </a:pPr>
            <a:r>
              <a:rPr lang="zh-CN" altLang="en-US" sz="1400" dirty="0">
                <a:hlinkClick r:id="rId2"/>
              </a:rPr>
              <a:t>降龙十八掌</a:t>
            </a:r>
            <a:r>
              <a:rPr lang="en-US" altLang="zh-CN" sz="1400" dirty="0">
                <a:hlinkClick r:id="rId2"/>
              </a:rPr>
              <a:t>v1.0-</a:t>
            </a:r>
            <a:r>
              <a:rPr lang="zh-CN" altLang="en-US" sz="1400" dirty="0">
                <a:hlinkClick r:id="rId2"/>
              </a:rPr>
              <a:t>梗概版</a:t>
            </a:r>
            <a:r>
              <a:rPr lang="en-US" altLang="zh-CN" sz="1400" dirty="0">
                <a:hlinkClick r:id="rId2"/>
              </a:rPr>
              <a:t>.</a:t>
            </a:r>
            <a:r>
              <a:rPr lang="en-US" altLang="zh-CN" sz="1400" dirty="0" err="1">
                <a:hlinkClick r:id="rId2"/>
              </a:rPr>
              <a:t>xlsx</a:t>
            </a:r>
            <a:endParaRPr lang="en-US" altLang="zh-CN" sz="1400" dirty="0"/>
          </a:p>
          <a:p>
            <a:pPr marL="456565" indent="-342900" eaLnBrk="0">
              <a:lnSpc>
                <a:spcPct val="85000"/>
              </a:lnSpc>
              <a:spcBef>
                <a:spcPts val="425"/>
              </a:spcBef>
              <a:buFont typeface="Arial" panose="020B0604020202090204" pitchFamily="34" charset="0"/>
              <a:buChar char="•"/>
            </a:pPr>
            <a:r>
              <a:rPr lang="zh-CN" altLang="en-US" sz="1400" dirty="0">
                <a:hlinkClick r:id="rId3"/>
              </a:rPr>
              <a:t>岗位工作标准化</a:t>
            </a:r>
            <a:r>
              <a:rPr lang="en-US" altLang="zh-CN" sz="1400" dirty="0">
                <a:hlinkClick r:id="rId3"/>
              </a:rPr>
              <a:t>-EBG</a:t>
            </a:r>
            <a:r>
              <a:rPr lang="zh-CN" altLang="en-US" sz="1400" dirty="0">
                <a:hlinkClick r:id="rId3"/>
              </a:rPr>
              <a:t>售前工程师</a:t>
            </a:r>
            <a:r>
              <a:rPr lang="en-US" altLang="zh-CN" sz="1400" dirty="0">
                <a:hlinkClick r:id="rId3"/>
              </a:rPr>
              <a:t>(</a:t>
            </a:r>
            <a:r>
              <a:rPr lang="zh-CN" altLang="en-US" sz="1400" dirty="0">
                <a:hlinkClick r:id="rId3"/>
              </a:rPr>
              <a:t>汇总版</a:t>
            </a:r>
            <a:r>
              <a:rPr lang="en-US" altLang="zh-CN" sz="1400" dirty="0">
                <a:hlinkClick r:id="rId3"/>
              </a:rPr>
              <a:t>) -</a:t>
            </a:r>
            <a:r>
              <a:rPr lang="en-US" altLang="zh-CN" sz="1400" dirty="0" smtClean="0">
                <a:hlinkClick r:id="rId3"/>
              </a:rPr>
              <a:t>20240612</a:t>
            </a:r>
            <a:endParaRPr lang="en-US" altLang="zh-CN" sz="1400" dirty="0" smtClean="0"/>
          </a:p>
          <a:p>
            <a:pPr marL="456565" indent="-342900" eaLnBrk="0">
              <a:lnSpc>
                <a:spcPct val="85000"/>
              </a:lnSpc>
              <a:spcBef>
                <a:spcPts val="425"/>
              </a:spcBef>
              <a:buFont typeface="Arial" panose="020B0604020202090204" pitchFamily="34" charset="0"/>
              <a:buChar char="•"/>
            </a:pPr>
            <a:r>
              <a:rPr lang="zh-CN" altLang="en-US" sz="1400" dirty="0">
                <a:hlinkClick r:id="rId4"/>
              </a:rPr>
              <a:t>售前方案可行性评审指导书</a:t>
            </a:r>
            <a:r>
              <a:rPr lang="en-US" altLang="zh-CN" sz="1400" dirty="0">
                <a:hlinkClick r:id="rId4"/>
              </a:rPr>
              <a:t>-</a:t>
            </a:r>
            <a:r>
              <a:rPr lang="zh-CN" altLang="en-US" sz="1400" dirty="0">
                <a:hlinkClick r:id="rId4"/>
              </a:rPr>
              <a:t>试运行（待评审）</a:t>
            </a:r>
            <a:endParaRPr lang="zh-CN" altLang="en-US" sz="1400" dirty="0"/>
          </a:p>
          <a:p>
            <a:pPr marL="456565" indent="-342900" eaLnBrk="0">
              <a:lnSpc>
                <a:spcPct val="85000"/>
              </a:lnSpc>
              <a:spcBef>
                <a:spcPts val="425"/>
              </a:spcBef>
              <a:buFont typeface="Arial" panose="020B0604020202090204" pitchFamily="34" charset="0"/>
              <a:buChar char="•"/>
            </a:pPr>
            <a:r>
              <a:rPr lang="zh-CN" altLang="en-US" sz="1400" dirty="0">
                <a:hlinkClick r:id="rId5"/>
              </a:rPr>
              <a:t>高质量技术交流材料工具一表通</a:t>
            </a:r>
            <a:endParaRPr lang="zh-CN" altLang="en-US" sz="1400" dirty="0"/>
          </a:p>
          <a:p>
            <a:pPr marL="456565" indent="-342900" eaLnBrk="0">
              <a:lnSpc>
                <a:spcPct val="85000"/>
              </a:lnSpc>
              <a:spcBef>
                <a:spcPts val="425"/>
              </a:spcBef>
              <a:buFont typeface="Arial" panose="020B0604020202090204" pitchFamily="34" charset="0"/>
              <a:buChar char="•"/>
            </a:pPr>
            <a:r>
              <a:rPr lang="en-US" altLang="zh-CN" sz="1400" dirty="0">
                <a:hlinkClick r:id="rId6"/>
              </a:rPr>
              <a:t>EBG</a:t>
            </a:r>
            <a:r>
              <a:rPr lang="zh-CN" altLang="en-US" sz="1400" dirty="0">
                <a:hlinkClick r:id="rId6"/>
              </a:rPr>
              <a:t>立项项目解决方案评审模板</a:t>
            </a:r>
            <a:r>
              <a:rPr lang="en-US" altLang="zh-CN" sz="1400" dirty="0">
                <a:hlinkClick r:id="rId6"/>
              </a:rPr>
              <a:t>-v1.0</a:t>
            </a:r>
            <a:endParaRPr lang="zh-CN" altLang="en-US" sz="1400" dirty="0"/>
          </a:p>
          <a:p>
            <a:pPr marL="456565" indent="-342900" eaLnBrk="0">
              <a:lnSpc>
                <a:spcPct val="85000"/>
              </a:lnSpc>
              <a:spcBef>
                <a:spcPts val="425"/>
              </a:spcBef>
              <a:buFont typeface="Arial" panose="020B0604020202090204" pitchFamily="34" charset="0"/>
              <a:buChar char="•"/>
            </a:pPr>
            <a:r>
              <a:rPr lang="en-US" altLang="zh-CN" sz="1400" dirty="0">
                <a:hlinkClick r:id="rId7"/>
              </a:rPr>
              <a:t>PM05PST02-V3.0 </a:t>
            </a:r>
            <a:r>
              <a:rPr lang="zh-CN" altLang="en-US" sz="1400" dirty="0">
                <a:hlinkClick r:id="rId7"/>
              </a:rPr>
              <a:t>售前测试管理程序</a:t>
            </a:r>
            <a:r>
              <a:rPr lang="en-US" altLang="zh-CN" sz="1400" dirty="0">
                <a:hlinkClick r:id="rId7"/>
              </a:rPr>
              <a:t>.</a:t>
            </a:r>
            <a:r>
              <a:rPr lang="en-US" altLang="zh-CN" sz="1400" dirty="0" err="1">
                <a:hlinkClick r:id="rId7"/>
              </a:rPr>
              <a:t>docx</a:t>
            </a:r>
            <a:endParaRPr lang="en-US" altLang="zh-CN" sz="1400" dirty="0"/>
          </a:p>
          <a:p>
            <a:pPr marL="456565" indent="-342900" eaLnBrk="0">
              <a:lnSpc>
                <a:spcPct val="85000"/>
              </a:lnSpc>
              <a:spcBef>
                <a:spcPts val="425"/>
              </a:spcBef>
              <a:buFont typeface="Arial" panose="020B0604020202090204" pitchFamily="34" charset="0"/>
              <a:buChar char="•"/>
            </a:pPr>
            <a:r>
              <a:rPr lang="zh-CN" altLang="en-US" sz="1400" dirty="0">
                <a:hlinkClick r:id="rId8"/>
              </a:rPr>
              <a:t>‍‌​​​‌‍​​﻿​​​​⁠﻿​‬‍​​​​​⁠​​​​​​​​​​​﻿⁠​​‍​‍‬​‍​​‬​项目分析会模板</a:t>
            </a:r>
            <a:r>
              <a:rPr lang="en-US" altLang="zh-CN" sz="1400" dirty="0">
                <a:hlinkClick r:id="rId8"/>
              </a:rPr>
              <a:t>-2023</a:t>
            </a:r>
            <a:r>
              <a:rPr lang="zh-CN" altLang="en-US" sz="1400" dirty="0">
                <a:hlinkClick r:id="rId8"/>
              </a:rPr>
              <a:t>年版</a:t>
            </a:r>
            <a:r>
              <a:rPr lang="en-US" altLang="zh-CN" sz="1400" dirty="0">
                <a:hlinkClick r:id="rId8"/>
              </a:rPr>
              <a:t>.</a:t>
            </a:r>
            <a:r>
              <a:rPr lang="en-US" altLang="zh-CN" sz="1400" dirty="0" err="1">
                <a:hlinkClick r:id="rId8"/>
              </a:rPr>
              <a:t>pptx</a:t>
            </a:r>
            <a:r>
              <a:rPr lang="en-US" altLang="zh-CN" sz="1400" dirty="0">
                <a:hlinkClick r:id="rId8"/>
              </a:rPr>
              <a:t> </a:t>
            </a:r>
            <a:r>
              <a:rPr lang="en-US" altLang="zh-CN" sz="1400" dirty="0" smtClean="0">
                <a:hlinkClick r:id="rId8"/>
              </a:rPr>
              <a:t>- </a:t>
            </a:r>
            <a:r>
              <a:rPr lang="zh-CN" altLang="en-US" sz="1400" dirty="0" smtClean="0">
                <a:hlinkClick r:id="rId8"/>
              </a:rPr>
              <a:t>飞书云文档</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zh-CN" altLang="en-US" sz="300" dirty="0">
              <a:ea typeface="Arial" panose="020B0604020202090204"/>
              <a:cs typeface="Arial" panose="020B0604020202090204"/>
            </a:endParaRPr>
          </a:p>
        </p:txBody>
      </p:sp>
      <p:sp>
        <p:nvSpPr>
          <p:cNvPr id="52" name="矩形 51"/>
          <p:cNvSpPr/>
          <p:nvPr/>
        </p:nvSpPr>
        <p:spPr>
          <a:xfrm>
            <a:off x="6886488" y="5780994"/>
            <a:ext cx="2743747" cy="829201"/>
          </a:xfrm>
          <a:prstGeom prst="rect">
            <a:avLst/>
          </a:prstGeom>
        </p:spPr>
        <p:txBody>
          <a:bodyPr wrap="square">
            <a:spAutoFit/>
          </a:bodyPr>
          <a:lstStyle/>
          <a:p>
            <a:pPr marL="285750" indent="-285750">
              <a:buFont typeface="Arial" panose="020B0604020202090204" pitchFamily="34" charset="0"/>
              <a:buChar char="•"/>
            </a:pPr>
            <a:r>
              <a:rPr lang="zh-CN" altLang="en-US" sz="1400" dirty="0" smtClean="0"/>
              <a:t>解决方案</a:t>
            </a:r>
            <a:endParaRPr lang="en-US" altLang="zh-CN" sz="1400" dirty="0" smtClean="0"/>
          </a:p>
          <a:p>
            <a:pPr marL="285750" indent="-285750">
              <a:buFont typeface="Arial" panose="020B0604020202090204" pitchFamily="34" charset="0"/>
              <a:buChar char="•"/>
            </a:pPr>
            <a:r>
              <a:rPr lang="zh-CN" altLang="en-US" sz="1400" dirty="0"/>
              <a:t>价值</a:t>
            </a:r>
            <a:r>
              <a:rPr lang="zh-CN" altLang="en-US" sz="1400" dirty="0" smtClean="0"/>
              <a:t>主张及招标策略</a:t>
            </a:r>
            <a:endParaRPr lang="en-US" altLang="zh-CN" sz="1400" dirty="0" smtClean="0"/>
          </a:p>
          <a:p>
            <a:pPr marL="285750" indent="-285750">
              <a:buFont typeface="Arial" panose="020B0604020202090204" pitchFamily="34" charset="0"/>
              <a:buChar char="•"/>
            </a:pPr>
            <a:r>
              <a:rPr lang="zh-CN" altLang="en-US" sz="1400" dirty="0" smtClean="0"/>
              <a:t>招标文件</a:t>
            </a:r>
            <a:endParaRPr lang="zh-CN" altLang="en-US" sz="1400" dirty="0"/>
          </a:p>
          <a:p>
            <a:pPr marL="113665" eaLnBrk="0">
              <a:lnSpc>
                <a:spcPct val="85000"/>
              </a:lnSpc>
              <a:spcBef>
                <a:spcPts val="425"/>
              </a:spcBef>
            </a:pPr>
            <a:endParaRPr lang="zh-CN" altLang="en-US" sz="300" dirty="0">
              <a:ea typeface="Arial" panose="020B0604020202090204"/>
              <a:cs typeface="Arial" panose="020B0604020202090204"/>
            </a:endParaRPr>
          </a:p>
        </p:txBody>
      </p:sp>
      <p:pic>
        <p:nvPicPr>
          <p:cNvPr id="4" name="图片 3"/>
          <p:cNvPicPr>
            <a:picLocks noChangeAspect="1"/>
          </p:cNvPicPr>
          <p:nvPr/>
        </p:nvPicPr>
        <p:blipFill>
          <a:blip r:embed="rId9"/>
          <a:stretch>
            <a:fillRect/>
          </a:stretch>
        </p:blipFill>
        <p:spPr>
          <a:xfrm>
            <a:off x="769957" y="2647928"/>
            <a:ext cx="5906012" cy="2842506"/>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61975" y="93222"/>
            <a:ext cx="8651062" cy="495935"/>
          </a:xfrm>
        </p:spPr>
        <p:txBody>
          <a:bodyPr/>
          <a:lstStyle/>
          <a:p>
            <a:r>
              <a:rPr lang="en-US" altLang="zh-CN" dirty="0" smtClean="0"/>
              <a:t>M11.3 </a:t>
            </a:r>
            <a:r>
              <a:rPr lang="zh-CN" altLang="en-US" dirty="0" smtClean="0"/>
              <a:t>制定并执行投标策略</a:t>
            </a:r>
            <a:r>
              <a:rPr lang="en-US" altLang="zh-CN" dirty="0" smtClean="0"/>
              <a:t>-</a:t>
            </a:r>
            <a:r>
              <a:rPr lang="en-US" altLang="zh-CN" sz="1400" dirty="0">
                <a:hlinkClick r:id="rId1"/>
              </a:rPr>
              <a:t>M11.3 </a:t>
            </a:r>
            <a:r>
              <a:rPr lang="zh-CN" altLang="en-US" sz="1400" dirty="0">
                <a:hlinkClick r:id="rId1"/>
              </a:rPr>
              <a:t>制定并执行投标策略流程说明文件</a:t>
            </a:r>
            <a:r>
              <a:rPr lang="en-US" altLang="zh-CN" sz="1400" dirty="0">
                <a:hlinkClick r:id="rId1"/>
              </a:rPr>
              <a:t>-V1.0</a:t>
            </a:r>
            <a:endParaRPr lang="zh-CN" altLang="en-US" sz="1400" dirty="0"/>
          </a:p>
          <a:p>
            <a:endParaRPr lang="zh-CN" altLang="en-US" dirty="0"/>
          </a:p>
        </p:txBody>
      </p:sp>
      <p:grpSp>
        <p:nvGrpSpPr>
          <p:cNvPr id="10" name="group 162"/>
          <p:cNvGrpSpPr/>
          <p:nvPr/>
        </p:nvGrpSpPr>
        <p:grpSpPr>
          <a:xfrm rot="21600000">
            <a:off x="784436" y="2292157"/>
            <a:ext cx="5935979" cy="4117269"/>
            <a:chOff x="-12700" y="-12700"/>
            <a:chExt cx="5935979" cy="4117269"/>
          </a:xfrm>
        </p:grpSpPr>
        <p:grpSp>
          <p:nvGrpSpPr>
            <p:cNvPr id="11" name="group 164"/>
            <p:cNvGrpSpPr/>
            <p:nvPr/>
          </p:nvGrpSpPr>
          <p:grpSpPr>
            <a:xfrm rot="21600000">
              <a:off x="0" y="0"/>
              <a:ext cx="5910071" cy="4104569"/>
              <a:chOff x="0" y="0"/>
              <a:chExt cx="5910071" cy="4104569"/>
            </a:xfrm>
          </p:grpSpPr>
          <p:sp>
            <p:nvSpPr>
              <p:cNvPr id="13" name="path 1550"/>
              <p:cNvSpPr/>
              <p:nvPr/>
            </p:nvSpPr>
            <p:spPr>
              <a:xfrm>
                <a:off x="0" y="0"/>
                <a:ext cx="5908548" cy="498347"/>
              </a:xfrm>
              <a:custGeom>
                <a:avLst/>
                <a:gdLst/>
                <a:ahLst/>
                <a:cxnLst/>
                <a:rect l="0" t="0" r="0" b="0"/>
                <a:pathLst>
                  <a:path w="9304" h="784">
                    <a:moveTo>
                      <a:pt x="0" y="0"/>
                    </a:moveTo>
                    <a:lnTo>
                      <a:pt x="9304" y="0"/>
                    </a:lnTo>
                    <a:lnTo>
                      <a:pt x="9304"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4" name="path 1552"/>
              <p:cNvSpPr/>
              <p:nvPr/>
            </p:nvSpPr>
            <p:spPr>
              <a:xfrm>
                <a:off x="0" y="478535"/>
                <a:ext cx="5910071" cy="3626034"/>
              </a:xfrm>
              <a:custGeom>
                <a:avLst/>
                <a:gdLst/>
                <a:ahLst/>
                <a:cxnLst/>
                <a:rect l="0" t="0" r="0" b="0"/>
                <a:pathLst>
                  <a:path w="9307" h="3820">
                    <a:moveTo>
                      <a:pt x="0" y="0"/>
                    </a:moveTo>
                    <a:lnTo>
                      <a:pt x="9307" y="0"/>
                    </a:lnTo>
                    <a:lnTo>
                      <a:pt x="9307" y="3820"/>
                    </a:lnTo>
                    <a:lnTo>
                      <a:pt x="0" y="3820"/>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2" name="textbox 1554"/>
            <p:cNvSpPr/>
            <p:nvPr/>
          </p:nvSpPr>
          <p:spPr>
            <a:xfrm>
              <a:off x="-12700" y="-12700"/>
              <a:ext cx="5935979" cy="2930525"/>
            </a:xfrm>
            <a:prstGeom prst="rect">
              <a:avLst/>
            </a:prstGeom>
            <a:noFill/>
            <a:ln w="0" cap="flat">
              <a:noFill/>
              <a:prstDash val="solid"/>
              <a:miter lim="0"/>
            </a:ln>
          </p:spPr>
          <p:txBody>
            <a:bodyPr vert="horz" wrap="square" lIns="0" tIns="0" rIns="0" bIns="0"/>
            <a:lstStyle/>
            <a:p>
              <a:pPr algn="l" rtl="0" eaLnBrk="0">
                <a:lnSpc>
                  <a:spcPct val="106000"/>
                </a:lnSpc>
              </a:pPr>
              <a:endParaRPr sz="900" dirty="0">
                <a:latin typeface="Arial" panose="020B0604020202090204"/>
                <a:ea typeface="Arial" panose="020B0604020202090204"/>
                <a:cs typeface="Arial" panose="020B0604020202090204"/>
              </a:endParaRPr>
            </a:p>
            <a:p>
              <a:pPr marL="2513965" eaLnBrk="0">
                <a:lnSpc>
                  <a:spcPct val="95000"/>
                </a:lnSpc>
              </a:pPr>
              <a:r>
                <a:rPr lang="zh-CN" altLang="en-US" sz="1700" kern="0" spc="8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关键活动</a:t>
              </a:r>
              <a:endParaRPr lang="zh-CN" altLang="en-US" sz="1700"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09000"/>
                </a:lnSpc>
              </a:pPr>
              <a:endParaRPr sz="1000" dirty="0">
                <a:latin typeface="Arial" panose="020B0604020202090204"/>
                <a:ea typeface="Arial" panose="020B0604020202090204"/>
                <a:cs typeface="Arial" panose="020B0604020202090204"/>
              </a:endParaRPr>
            </a:p>
            <a:p>
              <a:pPr algn="l" rtl="0" eaLnBrk="0">
                <a:lnSpc>
                  <a:spcPct val="109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p:txBody>
        </p:sp>
      </p:grpSp>
      <p:grpSp>
        <p:nvGrpSpPr>
          <p:cNvPr id="15" name="group 166"/>
          <p:cNvGrpSpPr/>
          <p:nvPr/>
        </p:nvGrpSpPr>
        <p:grpSpPr>
          <a:xfrm rot="21600000">
            <a:off x="6786456" y="2289869"/>
            <a:ext cx="4167379" cy="4125616"/>
            <a:chOff x="-25909" y="-12700"/>
            <a:chExt cx="4167379" cy="3496157"/>
          </a:xfrm>
        </p:grpSpPr>
        <p:grpSp>
          <p:nvGrpSpPr>
            <p:cNvPr id="16" name="group 168"/>
            <p:cNvGrpSpPr/>
            <p:nvPr/>
          </p:nvGrpSpPr>
          <p:grpSpPr>
            <a:xfrm rot="21600000">
              <a:off x="-25909" y="0"/>
              <a:ext cx="4152900" cy="3483457"/>
              <a:chOff x="-25909" y="0"/>
              <a:chExt cx="4152900" cy="3483457"/>
            </a:xfrm>
          </p:grpSpPr>
          <p:sp>
            <p:nvSpPr>
              <p:cNvPr id="18" name="path 1558"/>
              <p:cNvSpPr/>
              <p:nvPr/>
            </p:nvSpPr>
            <p:spPr>
              <a:xfrm>
                <a:off x="0" y="0"/>
                <a:ext cx="4126991" cy="498347"/>
              </a:xfrm>
              <a:custGeom>
                <a:avLst/>
                <a:gdLst/>
                <a:ahLst/>
                <a:cxnLst/>
                <a:rect l="0" t="0" r="0" b="0"/>
                <a:pathLst>
                  <a:path w="6499" h="784">
                    <a:moveTo>
                      <a:pt x="0" y="0"/>
                    </a:moveTo>
                    <a:lnTo>
                      <a:pt x="6499" y="0"/>
                    </a:lnTo>
                    <a:lnTo>
                      <a:pt x="6499"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9" name="path 1560"/>
              <p:cNvSpPr/>
              <p:nvPr/>
            </p:nvSpPr>
            <p:spPr>
              <a:xfrm>
                <a:off x="0" y="498346"/>
                <a:ext cx="4126991" cy="1385555"/>
              </a:xfrm>
              <a:custGeom>
                <a:avLst/>
                <a:gdLst/>
                <a:ahLst/>
                <a:cxnLst/>
                <a:rect l="0" t="0" r="0" b="0"/>
                <a:pathLst>
                  <a:path w="6499" h="2078">
                    <a:moveTo>
                      <a:pt x="0" y="0"/>
                    </a:moveTo>
                    <a:lnTo>
                      <a:pt x="6499" y="0"/>
                    </a:lnTo>
                    <a:lnTo>
                      <a:pt x="6499" y="2078"/>
                    </a:lnTo>
                    <a:lnTo>
                      <a:pt x="0" y="2078"/>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sp>
            <p:nvSpPr>
              <p:cNvPr id="20" name="path 1562"/>
              <p:cNvSpPr/>
              <p:nvPr/>
            </p:nvSpPr>
            <p:spPr>
              <a:xfrm>
                <a:off x="-25909" y="1948865"/>
                <a:ext cx="4126991" cy="499872"/>
              </a:xfrm>
              <a:custGeom>
                <a:avLst/>
                <a:gdLst/>
                <a:ahLst/>
                <a:cxnLst/>
                <a:rect l="0" t="0" r="0" b="0"/>
                <a:pathLst>
                  <a:path w="6499" h="787">
                    <a:moveTo>
                      <a:pt x="0" y="0"/>
                    </a:moveTo>
                    <a:lnTo>
                      <a:pt x="6499" y="0"/>
                    </a:lnTo>
                    <a:lnTo>
                      <a:pt x="6499" y="787"/>
                    </a:lnTo>
                    <a:lnTo>
                      <a:pt x="0" y="787"/>
                    </a:lnTo>
                    <a:lnTo>
                      <a:pt x="0" y="0"/>
                    </a:lnTo>
                    <a:close/>
                  </a:path>
                </a:pathLst>
              </a:custGeom>
              <a:solidFill>
                <a:srgbClr val="D7A284">
                  <a:alpha val="100000"/>
                </a:srgbClr>
              </a:solidFill>
              <a:ln w="0" cap="flat">
                <a:noFill/>
                <a:prstDash val="solid"/>
                <a:miter lim="0"/>
              </a:ln>
            </p:spPr>
            <p:txBody>
              <a:bodyPr rtlCol="0"/>
              <a:lstStyle/>
              <a:p>
                <a:pPr algn="ctr"/>
                <a:endParaRPr lang="zh-CN" altLang="en-US" dirty="0"/>
              </a:p>
            </p:txBody>
          </p:sp>
          <p:sp>
            <p:nvSpPr>
              <p:cNvPr id="21" name="path 1564"/>
              <p:cNvSpPr/>
              <p:nvPr/>
            </p:nvSpPr>
            <p:spPr>
              <a:xfrm>
                <a:off x="-25908" y="2493003"/>
                <a:ext cx="4128515" cy="990454"/>
              </a:xfrm>
              <a:custGeom>
                <a:avLst/>
                <a:gdLst/>
                <a:ahLst/>
                <a:cxnLst/>
                <a:rect l="0" t="0" r="0" b="0"/>
                <a:pathLst>
                  <a:path w="6501" h="945">
                    <a:moveTo>
                      <a:pt x="0" y="0"/>
                    </a:moveTo>
                    <a:lnTo>
                      <a:pt x="6501" y="0"/>
                    </a:lnTo>
                    <a:lnTo>
                      <a:pt x="6501" y="945"/>
                    </a:lnTo>
                    <a:lnTo>
                      <a:pt x="0" y="945"/>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7" name="textbox 1566"/>
            <p:cNvSpPr/>
            <p:nvPr/>
          </p:nvSpPr>
          <p:spPr>
            <a:xfrm>
              <a:off x="-12700" y="-12700"/>
              <a:ext cx="4154170" cy="2929254"/>
            </a:xfrm>
            <a:prstGeom prst="rect">
              <a:avLst/>
            </a:prstGeom>
            <a:noFill/>
            <a:ln w="0" cap="flat">
              <a:noFill/>
              <a:prstDash val="solid"/>
              <a:miter lim="0"/>
            </a:ln>
          </p:spPr>
          <p:txBody>
            <a:bodyPr vert="horz" wrap="square" lIns="0" tIns="0" rIns="0" bIns="0"/>
            <a:lstStyle/>
            <a:p>
              <a:pPr algn="l" rtl="0" eaLnBrk="0">
                <a:lnSpc>
                  <a:spcPct val="104000"/>
                </a:lnSpc>
              </a:pPr>
              <a:endParaRPr sz="900" dirty="0">
                <a:latin typeface="Arial" panose="020B0604020202090204"/>
                <a:ea typeface="Arial" panose="020B0604020202090204"/>
                <a:cs typeface="Arial" panose="020B0604020202090204"/>
              </a:endParaRPr>
            </a:p>
            <a:p>
              <a:pPr marL="1623060" algn="l" rtl="0" eaLnBrk="0">
                <a:lnSpc>
                  <a:spcPct val="96000"/>
                </a:lnSpc>
                <a:spcBef>
                  <a:spcPts val="5"/>
                </a:spcBef>
              </a:pPr>
              <a:r>
                <a:rPr lang="zh-CN" altLang="en-US" sz="1700" kern="0" spc="80" dirty="0" smtClean="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表证单书</a:t>
              </a:r>
              <a:endParaRPr sz="1700" dirty="0" smtClean="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38000"/>
                </a:lnSpc>
              </a:pPr>
              <a:endParaRPr sz="1000" dirty="0" smtClean="0">
                <a:latin typeface="Arial" panose="020B0604020202090204"/>
                <a:ea typeface="Arial" panose="020B0604020202090204"/>
                <a:cs typeface="Arial" panose="020B0604020202090204"/>
              </a:endParaRPr>
            </a:p>
            <a:p>
              <a:pPr algn="l" rtl="0" eaLnBrk="0">
                <a:lnSpc>
                  <a:spcPct val="119000"/>
                </a:lnSpc>
              </a:pPr>
              <a:endParaRPr sz="300" dirty="0">
                <a:latin typeface="Arial" panose="020B0604020202090204"/>
                <a:ea typeface="Arial" panose="020B0604020202090204"/>
                <a:cs typeface="Arial" panose="020B0604020202090204"/>
              </a:endParaRPr>
            </a:p>
          </p:txBody>
        </p:sp>
      </p:grpSp>
      <p:sp>
        <p:nvSpPr>
          <p:cNvPr id="28" name="矩形 27"/>
          <p:cNvSpPr/>
          <p:nvPr/>
        </p:nvSpPr>
        <p:spPr>
          <a:xfrm>
            <a:off x="439400" y="786348"/>
            <a:ext cx="10705928" cy="1077218"/>
          </a:xfrm>
          <a:prstGeom prst="rect">
            <a:avLst/>
          </a:prstGeom>
        </p:spPr>
        <p:txBody>
          <a:bodyPr wrap="square">
            <a:spAutoFit/>
          </a:bodyPr>
          <a:lstStyle/>
          <a:p>
            <a:r>
              <a:rPr lang="zh-CN" altLang="en-US" sz="1600" dirty="0"/>
              <a:t>制定并执行投标策略是参与市场竞争、提升中标率的重要手段。通过深入的市场调研与分析、明确投标目标、制定投标方案、建立投标团队等步骤，可以制定出一套科学、合理的投标策略。在执行投标策略的过程中，要密切关注市场动态和竞争对手的动向，及时调整策略，确保投标工作的顺利进行。同时，要对每次投标活动进行总结和反思，不断优化投标策略，提升我们的投标能力和水平。</a:t>
            </a:r>
            <a:endParaRPr lang="zh-CN" altLang="en-US" sz="1600" dirty="0"/>
          </a:p>
        </p:txBody>
      </p:sp>
      <p:sp>
        <p:nvSpPr>
          <p:cNvPr id="30" name="矩形 29"/>
          <p:cNvSpPr/>
          <p:nvPr/>
        </p:nvSpPr>
        <p:spPr>
          <a:xfrm>
            <a:off x="8140079" y="4676540"/>
            <a:ext cx="1390124" cy="369332"/>
          </a:xfrm>
          <a:prstGeom prst="rect">
            <a:avLst/>
          </a:prstGeom>
        </p:spPr>
        <p:txBody>
          <a:bodyPr wrap="none">
            <a:spAutoFit/>
          </a:bodyPr>
          <a:lstStyle/>
          <a:p>
            <a:r>
              <a:rPr lang="zh-CN" altLang="en-US" kern="0" spc="80" dirty="0" smtClean="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关键输出物</a:t>
            </a:r>
            <a:endParaRPr lang="zh-CN" altLang="en-US" dirty="0"/>
          </a:p>
        </p:txBody>
      </p:sp>
      <p:sp>
        <p:nvSpPr>
          <p:cNvPr id="31" name="矩形 30"/>
          <p:cNvSpPr/>
          <p:nvPr/>
        </p:nvSpPr>
        <p:spPr>
          <a:xfrm>
            <a:off x="4014706" y="2919908"/>
            <a:ext cx="2556550" cy="2951834"/>
          </a:xfrm>
          <a:prstGeom prst="rect">
            <a:avLst/>
          </a:prstGeom>
        </p:spPr>
        <p:txBody>
          <a:bodyPr wrap="square">
            <a:spAutoFit/>
          </a:bodyPr>
          <a:lstStyle/>
          <a:p>
            <a:pPr marL="113665" eaLnBrk="0">
              <a:lnSpc>
                <a:spcPct val="85000"/>
              </a:lnSpc>
              <a:spcBef>
                <a:spcPts val="425"/>
              </a:spcBef>
            </a:pP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重点注意事项</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、分析</a:t>
            </a:r>
            <a:r>
              <a:rPr lang="zh-CN" altLang="en-US"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标书环节要吃透招标</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需求，充分进行竞争对手与我司优劣势分析，同时要进行合规性自查与风险预判评估等工作。</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、制定投标策略要锚定招标核心需求，进行差异化分析，价格策略，商务策略，风险兜底以及备选方案都必须充分关注与考虑。</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、特价申请与审批严格执行</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EBG</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现有流程</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zh-CN" altLang="en-US" sz="300" dirty="0">
              <a:ea typeface="Arial" panose="020B0604020202090204"/>
              <a:cs typeface="Arial" panose="020B0604020202090204"/>
            </a:endParaRPr>
          </a:p>
        </p:txBody>
      </p:sp>
      <p:sp>
        <p:nvSpPr>
          <p:cNvPr id="38" name="AutoShape 12"/>
          <p:cNvSpPr>
            <a:spLocks noChangeArrowheads="1"/>
          </p:cNvSpPr>
          <p:nvPr/>
        </p:nvSpPr>
        <p:spPr bwMode="gray">
          <a:xfrm>
            <a:off x="3109329" y="1852407"/>
            <a:ext cx="2586134" cy="437462"/>
          </a:xfrm>
          <a:prstGeom prst="chevron">
            <a:avLst>
              <a:gd name="adj" fmla="val 15486"/>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商机推进</a:t>
            </a:r>
            <a:endParaRPr lang="en-US" altLang="zh-CN"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9" name="AutoShape 13"/>
          <p:cNvSpPr>
            <a:spLocks noChangeArrowheads="1"/>
          </p:cNvSpPr>
          <p:nvPr/>
        </p:nvSpPr>
        <p:spPr bwMode="gray">
          <a:xfrm>
            <a:off x="5671516" y="1852407"/>
            <a:ext cx="2758542" cy="437462"/>
          </a:xfrm>
          <a:prstGeom prst="chevron">
            <a:avLst>
              <a:gd name="adj" fmla="val 16781"/>
            </a:avLst>
          </a:prstGeom>
          <a:solidFill>
            <a:srgbClr val="FF9700"/>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制定并执行投标策略</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0" name="AutoShape 10"/>
          <p:cNvSpPr>
            <a:spLocks noChangeArrowheads="1"/>
          </p:cNvSpPr>
          <p:nvPr/>
        </p:nvSpPr>
        <p:spPr bwMode="gray">
          <a:xfrm>
            <a:off x="784436" y="1852407"/>
            <a:ext cx="2348839" cy="437462"/>
          </a:xfrm>
          <a:prstGeom prst="chevron">
            <a:avLst>
              <a:gd name="adj" fmla="val 15711"/>
            </a:avLst>
          </a:prstGeom>
          <a:solidFill>
            <a:srgbClr val="FFE3BB"/>
          </a:solidFill>
          <a:ln w="12700" algn="ctr">
            <a:noFill/>
            <a:miter lim="800000"/>
          </a:ln>
          <a:effectLst/>
        </p:spPr>
        <p:txBody>
          <a:bodyPr lIns="0" tIns="7793" rIns="0" bIns="7793" anchor="ctr"/>
          <a:lstStyle/>
          <a:p>
            <a:pPr algn="ctr" eaLnBrk="0" hangingPunct="0">
              <a:buSzPct val="100000"/>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验证</a:t>
            </a: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1" name="AutoShape 14"/>
          <p:cNvSpPr>
            <a:spLocks noChangeArrowheads="1"/>
          </p:cNvSpPr>
          <p:nvPr/>
        </p:nvSpPr>
        <p:spPr bwMode="gray">
          <a:xfrm>
            <a:off x="8406112" y="1852407"/>
            <a:ext cx="2547724" cy="437462"/>
          </a:xfrm>
          <a:prstGeom prst="chevron">
            <a:avLst>
              <a:gd name="adj" fmla="val 15684"/>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谈判并签订合同</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51" name="矩形 50"/>
          <p:cNvSpPr/>
          <p:nvPr/>
        </p:nvSpPr>
        <p:spPr>
          <a:xfrm>
            <a:off x="6792486" y="2962370"/>
            <a:ext cx="3964654" cy="1955664"/>
          </a:xfrm>
          <a:prstGeom prst="rect">
            <a:avLst/>
          </a:prstGeom>
        </p:spPr>
        <p:txBody>
          <a:bodyPr wrap="square">
            <a:spAutoFit/>
          </a:bodyPr>
          <a:lstStyle/>
          <a:p>
            <a:pPr marL="399415" indent="-285750" eaLnBrk="0">
              <a:lnSpc>
                <a:spcPct val="85000"/>
              </a:lnSpc>
              <a:spcBef>
                <a:spcPts val="425"/>
              </a:spcBef>
              <a:buFont typeface="Arial" panose="020B0604020202090204" pitchFamily="34" charset="0"/>
              <a:buChar char="•"/>
            </a:pPr>
            <a:r>
              <a:rPr lang="en-US" altLang="zh-CN" sz="1400" dirty="0"/>
              <a:t>EBG</a:t>
            </a:r>
            <a:r>
              <a:rPr lang="zh-CN" altLang="en-US" sz="1400" dirty="0"/>
              <a:t>直签项目风险授权清单</a:t>
            </a:r>
            <a:r>
              <a:rPr lang="en-US" altLang="zh-CN" sz="1400" dirty="0"/>
              <a:t>V1.0</a:t>
            </a:r>
            <a:r>
              <a:rPr lang="zh-CN" altLang="en-US" sz="1400" dirty="0"/>
              <a:t>（禁止类） </a:t>
            </a:r>
            <a:r>
              <a:rPr lang="en-US" altLang="zh-CN" sz="1400" dirty="0"/>
              <a:t>(1).</a:t>
            </a:r>
            <a:r>
              <a:rPr lang="en-US" altLang="zh-CN" sz="1400" dirty="0" smtClean="0"/>
              <a:t>xlsx</a:t>
            </a:r>
            <a:endParaRPr lang="en-US" altLang="zh-CN" sz="1400" dirty="0" smtClean="0"/>
          </a:p>
          <a:p>
            <a:pPr marL="399415" indent="-285750" eaLnBrk="0">
              <a:lnSpc>
                <a:spcPct val="85000"/>
              </a:lnSpc>
              <a:spcBef>
                <a:spcPts val="425"/>
              </a:spcBef>
              <a:buFont typeface="Arial" panose="020B0604020202090204" pitchFamily="34" charset="0"/>
              <a:buChar char="•"/>
            </a:pPr>
            <a:r>
              <a:rPr lang="zh-CN" altLang="en-US" sz="1400" dirty="0">
                <a:hlinkClick r:id="rId2"/>
              </a:rPr>
              <a:t>投标策略规划书</a:t>
            </a:r>
            <a:endParaRPr lang="zh-CN" altLang="en-US" sz="1400" dirty="0"/>
          </a:p>
          <a:p>
            <a:pPr marL="399415" indent="-285750" eaLnBrk="0">
              <a:lnSpc>
                <a:spcPct val="85000"/>
              </a:lnSpc>
              <a:spcBef>
                <a:spcPts val="425"/>
              </a:spcBef>
              <a:buFont typeface="Arial" panose="020B0604020202090204" pitchFamily="34" charset="0"/>
              <a:buChar char="•"/>
            </a:pPr>
            <a:r>
              <a:rPr lang="en-US" altLang="zh-CN" sz="1400" dirty="0"/>
              <a:t>《</a:t>
            </a:r>
            <a:r>
              <a:rPr lang="zh-CN" altLang="en-US" sz="1400" dirty="0"/>
              <a:t>步步为赢</a:t>
            </a:r>
            <a:r>
              <a:rPr lang="en-US" altLang="zh-CN" sz="1400" dirty="0"/>
              <a:t>-</a:t>
            </a:r>
            <a:r>
              <a:rPr lang="zh-CN" altLang="en-US" sz="1400" dirty="0"/>
              <a:t>项目全流程价格管理策略指南</a:t>
            </a:r>
            <a:r>
              <a:rPr lang="en-US" altLang="zh-CN" sz="1400" dirty="0"/>
              <a:t>》</a:t>
            </a:r>
            <a:endParaRPr lang="en-US" altLang="zh-CN" sz="1400" dirty="0"/>
          </a:p>
          <a:p>
            <a:pPr marL="399415" indent="-285750" eaLnBrk="0">
              <a:lnSpc>
                <a:spcPct val="85000"/>
              </a:lnSpc>
              <a:spcBef>
                <a:spcPts val="425"/>
              </a:spcBef>
              <a:buFont typeface="Arial" panose="020B0604020202090204" pitchFamily="34" charset="0"/>
              <a:buChar char="•"/>
            </a:pPr>
            <a:endParaRPr lang="zh-CN" altLang="en-US" sz="1400" dirty="0" smtClean="0"/>
          </a:p>
          <a:p>
            <a:pPr marL="399415" indent="-285750" eaLnBrk="0">
              <a:lnSpc>
                <a:spcPct val="85000"/>
              </a:lnSpc>
              <a:spcBef>
                <a:spcPts val="425"/>
              </a:spcBef>
              <a:buFont typeface="Arial" panose="020B0604020202090204" pitchFamily="34" charset="0"/>
              <a:buChar char="•"/>
            </a:pPr>
            <a:endParaRPr lang="en-US" altLang="zh-CN" sz="1400" dirty="0" smtClean="0"/>
          </a:p>
          <a:p>
            <a:pPr marL="399415" indent="-285750" eaLnBrk="0">
              <a:lnSpc>
                <a:spcPct val="85000"/>
              </a:lnSpc>
              <a:spcBef>
                <a:spcPts val="425"/>
              </a:spcBef>
              <a:buFont typeface="Arial" panose="020B0604020202090204" pitchFamily="34" charset="0"/>
              <a:buChar char="•"/>
            </a:pPr>
            <a:endParaRPr lang="en-US" altLang="zh-CN" sz="1400" dirty="0"/>
          </a:p>
          <a:p>
            <a:pPr marL="399415" indent="-285750" eaLnBrk="0">
              <a:lnSpc>
                <a:spcPct val="85000"/>
              </a:lnSpc>
              <a:spcBef>
                <a:spcPts val="425"/>
              </a:spcBef>
              <a:buFont typeface="Arial" panose="020B0604020202090204" pitchFamily="34" charset="0"/>
              <a:buChar char="•"/>
            </a:pP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zh-CN" altLang="en-US" sz="300" dirty="0">
              <a:ea typeface="Arial" panose="020B0604020202090204"/>
              <a:cs typeface="Arial" panose="020B0604020202090204"/>
            </a:endParaRPr>
          </a:p>
        </p:txBody>
      </p:sp>
      <p:sp>
        <p:nvSpPr>
          <p:cNvPr id="52" name="矩形 51"/>
          <p:cNvSpPr/>
          <p:nvPr/>
        </p:nvSpPr>
        <p:spPr>
          <a:xfrm>
            <a:off x="6786456" y="5388761"/>
            <a:ext cx="2743747" cy="275460"/>
          </a:xfrm>
          <a:prstGeom prst="rect">
            <a:avLst/>
          </a:prstGeom>
        </p:spPr>
        <p:txBody>
          <a:bodyPr wrap="square">
            <a:spAutoFit/>
          </a:bodyPr>
          <a:lstStyle/>
          <a:p>
            <a:pPr marL="399415" indent="-285750" eaLnBrk="0">
              <a:lnSpc>
                <a:spcPct val="85000"/>
              </a:lnSpc>
              <a:spcBef>
                <a:spcPts val="425"/>
              </a:spcBef>
              <a:buFont typeface="Arial" panose="020B0604020202090204" pitchFamily="34" charset="0"/>
              <a:buChar char="•"/>
            </a:pP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Arial" panose="020B0604020202090204"/>
              </a:rPr>
              <a:t>投标书终稿</a:t>
            </a:r>
            <a:endParaRPr lang="zh-CN" altLang="en-US" sz="300" dirty="0">
              <a:ea typeface="Arial" panose="020B0604020202090204"/>
              <a:cs typeface="Arial" panose="020B0604020202090204"/>
            </a:endParaRPr>
          </a:p>
        </p:txBody>
      </p:sp>
      <p:pic>
        <p:nvPicPr>
          <p:cNvPr id="3" name="图片 2"/>
          <p:cNvPicPr>
            <a:picLocks noChangeAspect="1"/>
          </p:cNvPicPr>
          <p:nvPr/>
        </p:nvPicPr>
        <p:blipFill>
          <a:blip r:embed="rId3"/>
          <a:stretch>
            <a:fillRect/>
          </a:stretch>
        </p:blipFill>
        <p:spPr>
          <a:xfrm>
            <a:off x="912087" y="3065123"/>
            <a:ext cx="3010161" cy="2918713"/>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61975" y="93222"/>
            <a:ext cx="8651062" cy="495935"/>
          </a:xfrm>
        </p:spPr>
        <p:txBody>
          <a:bodyPr/>
          <a:lstStyle/>
          <a:p>
            <a:r>
              <a:rPr lang="en-US" altLang="zh-CN" dirty="0" smtClean="0"/>
              <a:t>M11.4 </a:t>
            </a:r>
            <a:r>
              <a:rPr lang="zh-CN" altLang="en-US" dirty="0" smtClean="0"/>
              <a:t>谈判并签订合同</a:t>
            </a:r>
            <a:r>
              <a:rPr lang="en-US" altLang="zh-CN" dirty="0" smtClean="0"/>
              <a:t>-</a:t>
            </a:r>
            <a:r>
              <a:rPr lang="en-US" altLang="zh-CN" sz="1400" dirty="0">
                <a:hlinkClick r:id="rId1"/>
              </a:rPr>
              <a:t>M11.4 </a:t>
            </a:r>
            <a:r>
              <a:rPr lang="zh-CN" altLang="en-US" sz="1400" dirty="0">
                <a:hlinkClick r:id="rId1"/>
              </a:rPr>
              <a:t>谈判并签订合同流程说明文件</a:t>
            </a:r>
            <a:r>
              <a:rPr lang="en-US" altLang="zh-CN" sz="1400" dirty="0">
                <a:hlinkClick r:id="rId1"/>
              </a:rPr>
              <a:t>-V1.0</a:t>
            </a:r>
            <a:endParaRPr lang="zh-CN" altLang="en-US" sz="1400" dirty="0"/>
          </a:p>
          <a:p>
            <a:endParaRPr lang="zh-CN" altLang="en-US" dirty="0"/>
          </a:p>
        </p:txBody>
      </p:sp>
      <p:grpSp>
        <p:nvGrpSpPr>
          <p:cNvPr id="10" name="group 162"/>
          <p:cNvGrpSpPr/>
          <p:nvPr/>
        </p:nvGrpSpPr>
        <p:grpSpPr>
          <a:xfrm rot="21600000">
            <a:off x="784436" y="2292157"/>
            <a:ext cx="5935979" cy="4445073"/>
            <a:chOff x="-12700" y="-12700"/>
            <a:chExt cx="5935979" cy="4380823"/>
          </a:xfrm>
        </p:grpSpPr>
        <p:grpSp>
          <p:nvGrpSpPr>
            <p:cNvPr id="11" name="group 164"/>
            <p:cNvGrpSpPr/>
            <p:nvPr/>
          </p:nvGrpSpPr>
          <p:grpSpPr>
            <a:xfrm rot="21600000">
              <a:off x="0" y="0"/>
              <a:ext cx="5910071" cy="4368123"/>
              <a:chOff x="0" y="0"/>
              <a:chExt cx="5910071" cy="4368123"/>
            </a:xfrm>
          </p:grpSpPr>
          <p:sp>
            <p:nvSpPr>
              <p:cNvPr id="13" name="path 1550"/>
              <p:cNvSpPr/>
              <p:nvPr/>
            </p:nvSpPr>
            <p:spPr>
              <a:xfrm>
                <a:off x="0" y="0"/>
                <a:ext cx="5908548" cy="498347"/>
              </a:xfrm>
              <a:custGeom>
                <a:avLst/>
                <a:gdLst/>
                <a:ahLst/>
                <a:cxnLst/>
                <a:rect l="0" t="0" r="0" b="0"/>
                <a:pathLst>
                  <a:path w="9304" h="784">
                    <a:moveTo>
                      <a:pt x="0" y="0"/>
                    </a:moveTo>
                    <a:lnTo>
                      <a:pt x="9304" y="0"/>
                    </a:lnTo>
                    <a:lnTo>
                      <a:pt x="9304"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4" name="path 1552"/>
              <p:cNvSpPr/>
              <p:nvPr/>
            </p:nvSpPr>
            <p:spPr>
              <a:xfrm>
                <a:off x="0" y="478535"/>
                <a:ext cx="5910071" cy="3889588"/>
              </a:xfrm>
              <a:custGeom>
                <a:avLst/>
                <a:gdLst/>
                <a:ahLst/>
                <a:cxnLst/>
                <a:rect l="0" t="0" r="0" b="0"/>
                <a:pathLst>
                  <a:path w="9307" h="3820">
                    <a:moveTo>
                      <a:pt x="0" y="0"/>
                    </a:moveTo>
                    <a:lnTo>
                      <a:pt x="9307" y="0"/>
                    </a:lnTo>
                    <a:lnTo>
                      <a:pt x="9307" y="3820"/>
                    </a:lnTo>
                    <a:lnTo>
                      <a:pt x="0" y="3820"/>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2" name="textbox 1554"/>
            <p:cNvSpPr/>
            <p:nvPr/>
          </p:nvSpPr>
          <p:spPr>
            <a:xfrm>
              <a:off x="-12700" y="-12700"/>
              <a:ext cx="5935979" cy="2930525"/>
            </a:xfrm>
            <a:prstGeom prst="rect">
              <a:avLst/>
            </a:prstGeom>
            <a:noFill/>
            <a:ln w="0" cap="flat">
              <a:noFill/>
              <a:prstDash val="solid"/>
              <a:miter lim="0"/>
            </a:ln>
          </p:spPr>
          <p:txBody>
            <a:bodyPr vert="horz" wrap="square" lIns="0" tIns="0" rIns="0" bIns="0"/>
            <a:lstStyle/>
            <a:p>
              <a:pPr algn="l" rtl="0" eaLnBrk="0">
                <a:lnSpc>
                  <a:spcPct val="106000"/>
                </a:lnSpc>
              </a:pPr>
              <a:endParaRPr sz="900" dirty="0">
                <a:latin typeface="Arial" panose="020B0604020202090204"/>
                <a:ea typeface="Arial" panose="020B0604020202090204"/>
                <a:cs typeface="Arial" panose="020B0604020202090204"/>
              </a:endParaRPr>
            </a:p>
            <a:p>
              <a:pPr marL="2513965" eaLnBrk="0">
                <a:lnSpc>
                  <a:spcPct val="95000"/>
                </a:lnSpc>
              </a:pPr>
              <a:r>
                <a:rPr lang="zh-CN" altLang="en-US" sz="1700" kern="0" spc="8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关键活动</a:t>
              </a:r>
              <a:endParaRPr lang="zh-CN" altLang="en-US" sz="1700"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09000"/>
                </a:lnSpc>
              </a:pPr>
              <a:endParaRPr sz="1000" dirty="0">
                <a:latin typeface="Arial" panose="020B0604020202090204"/>
                <a:ea typeface="Arial" panose="020B0604020202090204"/>
                <a:cs typeface="Arial" panose="020B0604020202090204"/>
              </a:endParaRPr>
            </a:p>
            <a:p>
              <a:pPr algn="l" rtl="0" eaLnBrk="0">
                <a:lnSpc>
                  <a:spcPct val="109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p:txBody>
        </p:sp>
      </p:grpSp>
      <p:grpSp>
        <p:nvGrpSpPr>
          <p:cNvPr id="15" name="group 166"/>
          <p:cNvGrpSpPr/>
          <p:nvPr/>
        </p:nvGrpSpPr>
        <p:grpSpPr>
          <a:xfrm rot="21600000">
            <a:off x="6800921" y="2289869"/>
            <a:ext cx="4167378" cy="4447359"/>
            <a:chOff x="-25908" y="-12700"/>
            <a:chExt cx="4167378" cy="3768811"/>
          </a:xfrm>
        </p:grpSpPr>
        <p:grpSp>
          <p:nvGrpSpPr>
            <p:cNvPr id="16" name="group 168"/>
            <p:cNvGrpSpPr/>
            <p:nvPr/>
          </p:nvGrpSpPr>
          <p:grpSpPr>
            <a:xfrm rot="21600000">
              <a:off x="-25908" y="0"/>
              <a:ext cx="4152899" cy="3756111"/>
              <a:chOff x="-25908" y="0"/>
              <a:chExt cx="4152899" cy="3756111"/>
            </a:xfrm>
          </p:grpSpPr>
          <p:sp>
            <p:nvSpPr>
              <p:cNvPr id="18" name="path 1558"/>
              <p:cNvSpPr/>
              <p:nvPr/>
            </p:nvSpPr>
            <p:spPr>
              <a:xfrm>
                <a:off x="0" y="0"/>
                <a:ext cx="4126991" cy="498347"/>
              </a:xfrm>
              <a:custGeom>
                <a:avLst/>
                <a:gdLst/>
                <a:ahLst/>
                <a:cxnLst/>
                <a:rect l="0" t="0" r="0" b="0"/>
                <a:pathLst>
                  <a:path w="6499" h="784">
                    <a:moveTo>
                      <a:pt x="0" y="0"/>
                    </a:moveTo>
                    <a:lnTo>
                      <a:pt x="6499" y="0"/>
                    </a:lnTo>
                    <a:lnTo>
                      <a:pt x="6499"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9" name="path 1560"/>
              <p:cNvSpPr/>
              <p:nvPr/>
            </p:nvSpPr>
            <p:spPr>
              <a:xfrm>
                <a:off x="0" y="498345"/>
                <a:ext cx="4126991" cy="1650773"/>
              </a:xfrm>
              <a:custGeom>
                <a:avLst/>
                <a:gdLst/>
                <a:ahLst/>
                <a:cxnLst/>
                <a:rect l="0" t="0" r="0" b="0"/>
                <a:pathLst>
                  <a:path w="6499" h="2078">
                    <a:moveTo>
                      <a:pt x="0" y="0"/>
                    </a:moveTo>
                    <a:lnTo>
                      <a:pt x="6499" y="0"/>
                    </a:lnTo>
                    <a:lnTo>
                      <a:pt x="6499" y="2078"/>
                    </a:lnTo>
                    <a:lnTo>
                      <a:pt x="0" y="2078"/>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sp>
            <p:nvSpPr>
              <p:cNvPr id="20" name="path 1562"/>
              <p:cNvSpPr/>
              <p:nvPr/>
            </p:nvSpPr>
            <p:spPr>
              <a:xfrm>
                <a:off x="-25908" y="2224976"/>
                <a:ext cx="4126991" cy="499872"/>
              </a:xfrm>
              <a:custGeom>
                <a:avLst/>
                <a:gdLst/>
                <a:ahLst/>
                <a:cxnLst/>
                <a:rect l="0" t="0" r="0" b="0"/>
                <a:pathLst>
                  <a:path w="6499" h="787">
                    <a:moveTo>
                      <a:pt x="0" y="0"/>
                    </a:moveTo>
                    <a:lnTo>
                      <a:pt x="6499" y="0"/>
                    </a:lnTo>
                    <a:lnTo>
                      <a:pt x="6499" y="787"/>
                    </a:lnTo>
                    <a:lnTo>
                      <a:pt x="0" y="787"/>
                    </a:lnTo>
                    <a:lnTo>
                      <a:pt x="0" y="0"/>
                    </a:lnTo>
                    <a:close/>
                  </a:path>
                </a:pathLst>
              </a:custGeom>
              <a:solidFill>
                <a:srgbClr val="D7A284">
                  <a:alpha val="100000"/>
                </a:srgbClr>
              </a:solidFill>
              <a:ln w="0" cap="flat">
                <a:noFill/>
                <a:prstDash val="solid"/>
                <a:miter lim="0"/>
              </a:ln>
            </p:spPr>
            <p:txBody>
              <a:bodyPr rtlCol="0"/>
              <a:lstStyle/>
              <a:p>
                <a:pPr algn="ctr"/>
                <a:endParaRPr lang="zh-CN" altLang="en-US" dirty="0"/>
              </a:p>
            </p:txBody>
          </p:sp>
          <p:sp>
            <p:nvSpPr>
              <p:cNvPr id="21" name="path 1564"/>
              <p:cNvSpPr/>
              <p:nvPr/>
            </p:nvSpPr>
            <p:spPr>
              <a:xfrm>
                <a:off x="-25908" y="2739987"/>
                <a:ext cx="4128515" cy="1016124"/>
              </a:xfrm>
              <a:custGeom>
                <a:avLst/>
                <a:gdLst/>
                <a:ahLst/>
                <a:cxnLst/>
                <a:rect l="0" t="0" r="0" b="0"/>
                <a:pathLst>
                  <a:path w="6501" h="945">
                    <a:moveTo>
                      <a:pt x="0" y="0"/>
                    </a:moveTo>
                    <a:lnTo>
                      <a:pt x="6501" y="0"/>
                    </a:lnTo>
                    <a:lnTo>
                      <a:pt x="6501" y="945"/>
                    </a:lnTo>
                    <a:lnTo>
                      <a:pt x="0" y="945"/>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7" name="textbox 1566"/>
            <p:cNvSpPr/>
            <p:nvPr/>
          </p:nvSpPr>
          <p:spPr>
            <a:xfrm>
              <a:off x="-12700" y="-12700"/>
              <a:ext cx="4154170" cy="2929254"/>
            </a:xfrm>
            <a:prstGeom prst="rect">
              <a:avLst/>
            </a:prstGeom>
            <a:noFill/>
            <a:ln w="0" cap="flat">
              <a:noFill/>
              <a:prstDash val="solid"/>
              <a:miter lim="0"/>
            </a:ln>
          </p:spPr>
          <p:txBody>
            <a:bodyPr vert="horz" wrap="square" lIns="0" tIns="0" rIns="0" bIns="0"/>
            <a:lstStyle/>
            <a:p>
              <a:pPr algn="l" rtl="0" eaLnBrk="0">
                <a:lnSpc>
                  <a:spcPct val="104000"/>
                </a:lnSpc>
              </a:pPr>
              <a:endParaRPr sz="900" dirty="0">
                <a:latin typeface="Arial" panose="020B0604020202090204"/>
                <a:ea typeface="Arial" panose="020B0604020202090204"/>
                <a:cs typeface="Arial" panose="020B0604020202090204"/>
              </a:endParaRPr>
            </a:p>
            <a:p>
              <a:pPr marL="1623060" algn="l" rtl="0" eaLnBrk="0">
                <a:lnSpc>
                  <a:spcPct val="96000"/>
                </a:lnSpc>
                <a:spcBef>
                  <a:spcPts val="5"/>
                </a:spcBef>
              </a:pPr>
              <a:r>
                <a:rPr lang="zh-CN" altLang="en-US" sz="1700" kern="0" spc="80" dirty="0" smtClean="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表证单书</a:t>
              </a:r>
              <a:endParaRPr sz="1700" dirty="0" smtClean="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38000"/>
                </a:lnSpc>
              </a:pPr>
              <a:endParaRPr sz="1000" dirty="0" smtClean="0">
                <a:latin typeface="Arial" panose="020B0604020202090204"/>
                <a:ea typeface="Arial" panose="020B0604020202090204"/>
                <a:cs typeface="Arial" panose="020B0604020202090204"/>
              </a:endParaRPr>
            </a:p>
            <a:p>
              <a:pPr algn="l" rtl="0" eaLnBrk="0">
                <a:lnSpc>
                  <a:spcPct val="119000"/>
                </a:lnSpc>
              </a:pPr>
              <a:endParaRPr sz="300" dirty="0">
                <a:latin typeface="Arial" panose="020B0604020202090204"/>
                <a:ea typeface="Arial" panose="020B0604020202090204"/>
                <a:cs typeface="Arial" panose="020B0604020202090204"/>
              </a:endParaRPr>
            </a:p>
          </p:txBody>
        </p:sp>
      </p:grpSp>
      <p:sp>
        <p:nvSpPr>
          <p:cNvPr id="28" name="矩形 27"/>
          <p:cNvSpPr/>
          <p:nvPr/>
        </p:nvSpPr>
        <p:spPr>
          <a:xfrm>
            <a:off x="439400" y="786348"/>
            <a:ext cx="10705928" cy="1077218"/>
          </a:xfrm>
          <a:prstGeom prst="rect">
            <a:avLst/>
          </a:prstGeom>
        </p:spPr>
        <p:txBody>
          <a:bodyPr wrap="square">
            <a:spAutoFit/>
          </a:bodyPr>
          <a:lstStyle/>
          <a:p>
            <a:r>
              <a:rPr lang="zh-CN" altLang="en-US" sz="1600" dirty="0"/>
              <a:t>谈判并签订合同流程是一个复杂而细致的过程，其中包括：</a:t>
            </a:r>
            <a:r>
              <a:rPr lang="zh-CN" altLang="en-US" sz="1600" b="1" dirty="0"/>
              <a:t>非直签项目中标后与下级渠道确认合同条款及二次谈判，</a:t>
            </a:r>
            <a:r>
              <a:rPr lang="zh-CN" altLang="en-US" sz="1600" dirty="0"/>
              <a:t>促成一级渠道与下级渠道签订合同；</a:t>
            </a:r>
            <a:r>
              <a:rPr lang="zh-CN" altLang="en-US" sz="1600" b="1" dirty="0"/>
              <a:t>直签项目中标后与最终用户确认合同条款及二次谈判；赢单</a:t>
            </a:r>
            <a:r>
              <a:rPr lang="en-US" altLang="zh-CN" sz="1600" b="1" dirty="0"/>
              <a:t>/</a:t>
            </a:r>
            <a:r>
              <a:rPr lang="zh-CN" altLang="en-US" sz="1600" b="1" dirty="0"/>
              <a:t>丢单总结复盘分析</a:t>
            </a:r>
            <a:r>
              <a:rPr lang="zh-CN" altLang="en-US" sz="1600" dirty="0"/>
              <a:t>等关键过程，特别是在</a:t>
            </a:r>
            <a:r>
              <a:rPr lang="zh-CN" altLang="en-US" sz="1600" b="1" dirty="0"/>
              <a:t>立项的大项目</a:t>
            </a:r>
            <a:r>
              <a:rPr lang="zh-CN" altLang="en-US" sz="1600" dirty="0"/>
              <a:t>中，它要求我司业务人员具备高度的专业素养、良好的沟通谈判能力以及持续学习的态度。通过不断优化与合作，我司将与各级渠道合作伙伴建立稳定而长久的合作关系，共同实现商业目标。</a:t>
            </a:r>
            <a:endParaRPr lang="zh-CN" altLang="en-US" sz="1600" dirty="0">
              <a:effectLst/>
            </a:endParaRPr>
          </a:p>
        </p:txBody>
      </p:sp>
      <p:sp>
        <p:nvSpPr>
          <p:cNvPr id="30" name="矩形 29"/>
          <p:cNvSpPr/>
          <p:nvPr/>
        </p:nvSpPr>
        <p:spPr>
          <a:xfrm>
            <a:off x="8114919" y="4995935"/>
            <a:ext cx="1390124" cy="369332"/>
          </a:xfrm>
          <a:prstGeom prst="rect">
            <a:avLst/>
          </a:prstGeom>
        </p:spPr>
        <p:txBody>
          <a:bodyPr wrap="none">
            <a:spAutoFit/>
          </a:bodyPr>
          <a:lstStyle/>
          <a:p>
            <a:r>
              <a:rPr lang="zh-CN" altLang="en-US" kern="0" spc="80" dirty="0" smtClean="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关键输出物</a:t>
            </a:r>
            <a:endParaRPr lang="zh-CN" altLang="en-US" dirty="0"/>
          </a:p>
        </p:txBody>
      </p:sp>
      <p:sp>
        <p:nvSpPr>
          <p:cNvPr id="31" name="矩形 30"/>
          <p:cNvSpPr/>
          <p:nvPr/>
        </p:nvSpPr>
        <p:spPr>
          <a:xfrm>
            <a:off x="652353" y="5840029"/>
            <a:ext cx="6094479" cy="834844"/>
          </a:xfrm>
          <a:prstGeom prst="rect">
            <a:avLst/>
          </a:prstGeom>
        </p:spPr>
        <p:txBody>
          <a:bodyPr wrap="square">
            <a:spAutoFit/>
          </a:bodyPr>
          <a:lstStyle/>
          <a:p>
            <a:pPr marL="113665" eaLnBrk="0">
              <a:lnSpc>
                <a:spcPct val="85000"/>
              </a:lnSpc>
              <a:spcBef>
                <a:spcPts val="425"/>
              </a:spcBef>
            </a:pP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重点注意事项</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、通过合同评审环节严控直签类合同签署，确保核心条款明确，合规合法。</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、确保每一个项目都做到丢</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赢单复盘，通过经验总结为后续工作提供指导。</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zh-CN" altLang="en-US" sz="300" dirty="0">
              <a:ea typeface="Arial" panose="020B0604020202090204"/>
              <a:cs typeface="Arial" panose="020B0604020202090204"/>
            </a:endParaRPr>
          </a:p>
        </p:txBody>
      </p:sp>
      <p:sp>
        <p:nvSpPr>
          <p:cNvPr id="38" name="AutoShape 12"/>
          <p:cNvSpPr>
            <a:spLocks noChangeArrowheads="1"/>
          </p:cNvSpPr>
          <p:nvPr/>
        </p:nvSpPr>
        <p:spPr bwMode="gray">
          <a:xfrm>
            <a:off x="3109329" y="1852407"/>
            <a:ext cx="2586134" cy="437462"/>
          </a:xfrm>
          <a:prstGeom prst="chevron">
            <a:avLst>
              <a:gd name="adj" fmla="val 15486"/>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商机推进</a:t>
            </a:r>
            <a:endParaRPr lang="en-US" altLang="zh-CN"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9" name="AutoShape 13"/>
          <p:cNvSpPr>
            <a:spLocks noChangeArrowheads="1"/>
          </p:cNvSpPr>
          <p:nvPr/>
        </p:nvSpPr>
        <p:spPr bwMode="gray">
          <a:xfrm>
            <a:off x="5671516" y="1852407"/>
            <a:ext cx="2758542" cy="437462"/>
          </a:xfrm>
          <a:prstGeom prst="chevron">
            <a:avLst>
              <a:gd name="adj" fmla="val 16781"/>
            </a:avLst>
          </a:prstGeom>
          <a:solidFill>
            <a:srgbClr val="FFE3BB"/>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制定并执行投标策略</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0" name="AutoShape 10"/>
          <p:cNvSpPr>
            <a:spLocks noChangeArrowheads="1"/>
          </p:cNvSpPr>
          <p:nvPr/>
        </p:nvSpPr>
        <p:spPr bwMode="gray">
          <a:xfrm>
            <a:off x="784436" y="1852407"/>
            <a:ext cx="2348839" cy="437462"/>
          </a:xfrm>
          <a:prstGeom prst="chevron">
            <a:avLst>
              <a:gd name="adj" fmla="val 15711"/>
            </a:avLst>
          </a:prstGeom>
          <a:solidFill>
            <a:srgbClr val="FFE3BB"/>
          </a:solidFill>
          <a:ln w="12700" algn="ctr">
            <a:noFill/>
            <a:miter lim="800000"/>
          </a:ln>
          <a:effectLst/>
        </p:spPr>
        <p:txBody>
          <a:bodyPr lIns="0" tIns="7793" rIns="0" bIns="7793" anchor="ctr"/>
          <a:lstStyle/>
          <a:p>
            <a:pPr algn="ctr" eaLnBrk="0" hangingPunct="0">
              <a:buSzPct val="100000"/>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验证</a:t>
            </a: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1" name="AutoShape 14"/>
          <p:cNvSpPr>
            <a:spLocks noChangeArrowheads="1"/>
          </p:cNvSpPr>
          <p:nvPr/>
        </p:nvSpPr>
        <p:spPr bwMode="gray">
          <a:xfrm>
            <a:off x="8406112" y="1852407"/>
            <a:ext cx="2547724" cy="437462"/>
          </a:xfrm>
          <a:prstGeom prst="chevron">
            <a:avLst>
              <a:gd name="adj" fmla="val 15684"/>
            </a:avLst>
          </a:prstGeom>
          <a:solidFill>
            <a:srgbClr val="FF9700"/>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谈判并签订合同</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51" name="矩形 50"/>
          <p:cNvSpPr/>
          <p:nvPr/>
        </p:nvSpPr>
        <p:spPr>
          <a:xfrm>
            <a:off x="6705684" y="2975434"/>
            <a:ext cx="3964654" cy="2556341"/>
          </a:xfrm>
          <a:prstGeom prst="rect">
            <a:avLst/>
          </a:prstGeom>
        </p:spPr>
        <p:txBody>
          <a:bodyPr wrap="square">
            <a:spAutoFit/>
          </a:bodyPr>
          <a:lstStyle/>
          <a:p>
            <a:pPr marL="399415" indent="-285750" eaLnBrk="0">
              <a:lnSpc>
                <a:spcPct val="85000"/>
              </a:lnSpc>
              <a:spcBef>
                <a:spcPts val="425"/>
              </a:spcBef>
              <a:buFont typeface="Arial" panose="020B0604020202090204" pitchFamily="34" charset="0"/>
              <a:buChar char="•"/>
            </a:pPr>
            <a:r>
              <a:rPr lang="zh-CN" altLang="en-US" sz="1400" dirty="0"/>
              <a:t>业务合同三审流程初审模板</a:t>
            </a:r>
            <a:r>
              <a:rPr lang="en-US" altLang="zh-CN" sz="1400" dirty="0"/>
              <a:t>.</a:t>
            </a:r>
            <a:r>
              <a:rPr lang="en-US" altLang="zh-CN" sz="1400" dirty="0" err="1"/>
              <a:t>xlsx</a:t>
            </a:r>
            <a:endParaRPr lang="en-US" altLang="zh-CN" sz="1400" dirty="0"/>
          </a:p>
          <a:p>
            <a:pPr marL="399415" indent="-285750" eaLnBrk="0">
              <a:lnSpc>
                <a:spcPct val="85000"/>
              </a:lnSpc>
              <a:spcBef>
                <a:spcPts val="425"/>
              </a:spcBef>
              <a:buFont typeface="Arial" panose="020B0604020202090204" pitchFamily="34" charset="0"/>
              <a:buChar char="•"/>
            </a:pPr>
            <a:r>
              <a:rPr lang="zh-CN" altLang="en-US" sz="1400" dirty="0">
                <a:hlinkClick r:id="rId2"/>
              </a:rPr>
              <a:t>重点项目售前售后移交指导书</a:t>
            </a:r>
            <a:r>
              <a:rPr lang="en-US" altLang="zh-CN" sz="1400" dirty="0">
                <a:hlinkClick r:id="rId2"/>
              </a:rPr>
              <a:t>-</a:t>
            </a:r>
            <a:r>
              <a:rPr lang="zh-CN" altLang="en-US" sz="1400" dirty="0">
                <a:hlinkClick r:id="rId2"/>
              </a:rPr>
              <a:t>试运行（待评审）</a:t>
            </a:r>
            <a:endParaRPr lang="zh-CN" altLang="en-US" sz="1400" dirty="0"/>
          </a:p>
          <a:p>
            <a:pPr marL="399415" indent="-285750" eaLnBrk="0">
              <a:lnSpc>
                <a:spcPct val="85000"/>
              </a:lnSpc>
              <a:spcBef>
                <a:spcPts val="425"/>
              </a:spcBef>
              <a:buFont typeface="Arial" panose="020B0604020202090204" pitchFamily="34" charset="0"/>
              <a:buChar char="•"/>
            </a:pPr>
            <a:r>
              <a:rPr lang="zh-CN" altLang="en-US" sz="1400" dirty="0">
                <a:hlinkClick r:id="rId3"/>
              </a:rPr>
              <a:t>项目售前移交售后表单</a:t>
            </a:r>
            <a:r>
              <a:rPr lang="en-US" altLang="zh-CN" sz="1400" dirty="0">
                <a:hlinkClick r:id="rId3"/>
              </a:rPr>
              <a:t>v2.0</a:t>
            </a:r>
            <a:r>
              <a:rPr lang="zh-CN" altLang="en-US" sz="1400" dirty="0">
                <a:hlinkClick r:id="rId3"/>
              </a:rPr>
              <a:t>模版 </a:t>
            </a:r>
            <a:endParaRPr lang="zh-CN" altLang="en-US" sz="1400" dirty="0"/>
          </a:p>
          <a:p>
            <a:pPr marL="399415" indent="-285750" eaLnBrk="0">
              <a:lnSpc>
                <a:spcPct val="85000"/>
              </a:lnSpc>
              <a:spcBef>
                <a:spcPts val="425"/>
              </a:spcBef>
              <a:buFont typeface="Arial" panose="020B0604020202090204" pitchFamily="34" charset="0"/>
              <a:buChar char="•"/>
            </a:pPr>
            <a:r>
              <a:rPr lang="zh-CN" altLang="en-US" sz="1400" dirty="0"/>
              <a:t>赢单复盘模板</a:t>
            </a:r>
            <a:r>
              <a:rPr lang="en-US" altLang="zh-CN" sz="1400" dirty="0"/>
              <a:t>——</a:t>
            </a:r>
            <a:r>
              <a:rPr lang="zh-CN" altLang="en-US" sz="1400" dirty="0"/>
              <a:t>某某区域某某销售</a:t>
            </a:r>
            <a:r>
              <a:rPr lang="en-US" altLang="zh-CN" sz="1400" dirty="0"/>
              <a:t>-2025</a:t>
            </a:r>
            <a:r>
              <a:rPr lang="zh-CN" altLang="en-US" sz="1400" dirty="0"/>
              <a:t>年版</a:t>
            </a:r>
            <a:r>
              <a:rPr lang="en-US" altLang="zh-CN" sz="1400" dirty="0"/>
              <a:t>.</a:t>
            </a:r>
            <a:r>
              <a:rPr lang="en-US" altLang="zh-CN" sz="1400" dirty="0" err="1"/>
              <a:t>pptx</a:t>
            </a:r>
            <a:endParaRPr lang="en-US" altLang="zh-CN" sz="1400" dirty="0"/>
          </a:p>
          <a:p>
            <a:pPr marL="399415" indent="-285750" eaLnBrk="0">
              <a:lnSpc>
                <a:spcPct val="85000"/>
              </a:lnSpc>
              <a:spcBef>
                <a:spcPts val="425"/>
              </a:spcBef>
              <a:buFont typeface="Arial" panose="020B0604020202090204" pitchFamily="34" charset="0"/>
              <a:buChar char="•"/>
            </a:pPr>
            <a:r>
              <a:rPr lang="zh-CN" altLang="en-US" sz="1400" dirty="0"/>
              <a:t>丢单复盘模板</a:t>
            </a:r>
            <a:r>
              <a:rPr lang="en-US" altLang="zh-CN" sz="1400" dirty="0"/>
              <a:t>——</a:t>
            </a:r>
            <a:r>
              <a:rPr lang="zh-CN" altLang="en-US" sz="1400" dirty="0"/>
              <a:t>某某区域某某销售</a:t>
            </a:r>
            <a:r>
              <a:rPr lang="en-US" altLang="zh-CN" sz="1400" dirty="0"/>
              <a:t>-2025</a:t>
            </a:r>
            <a:r>
              <a:rPr lang="zh-CN" altLang="en-US" sz="1400" dirty="0"/>
              <a:t>年版</a:t>
            </a:r>
            <a:r>
              <a:rPr lang="en-US" altLang="zh-CN" sz="1400" dirty="0"/>
              <a:t>.</a:t>
            </a:r>
            <a:r>
              <a:rPr lang="en-US" altLang="zh-CN" sz="1400" dirty="0" err="1" smtClean="0"/>
              <a:t>pptx</a:t>
            </a:r>
            <a:endParaRPr lang="zh-CN" altLang="en-US" sz="1400" dirty="0" smtClean="0"/>
          </a:p>
          <a:p>
            <a:pPr marL="399415" indent="-285750" eaLnBrk="0">
              <a:lnSpc>
                <a:spcPct val="85000"/>
              </a:lnSpc>
              <a:spcBef>
                <a:spcPts val="425"/>
              </a:spcBef>
              <a:buFont typeface="Arial" panose="020B0604020202090204" pitchFamily="34" charset="0"/>
              <a:buChar char="•"/>
            </a:pPr>
            <a:endParaRPr lang="en-US" altLang="zh-CN" sz="1400" dirty="0" smtClean="0"/>
          </a:p>
          <a:p>
            <a:pPr marL="399415" indent="-285750" eaLnBrk="0">
              <a:lnSpc>
                <a:spcPct val="85000"/>
              </a:lnSpc>
              <a:spcBef>
                <a:spcPts val="425"/>
              </a:spcBef>
              <a:buFont typeface="Arial" panose="020B0604020202090204" pitchFamily="34" charset="0"/>
              <a:buChar char="•"/>
            </a:pPr>
            <a:endParaRPr lang="en-US" altLang="zh-CN" sz="1400" dirty="0"/>
          </a:p>
          <a:p>
            <a:pPr marL="399415" indent="-285750" eaLnBrk="0">
              <a:lnSpc>
                <a:spcPct val="85000"/>
              </a:lnSpc>
              <a:spcBef>
                <a:spcPts val="425"/>
              </a:spcBef>
              <a:buFont typeface="Arial" panose="020B0604020202090204" pitchFamily="34" charset="0"/>
              <a:buChar char="•"/>
            </a:pP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zh-CN" altLang="en-US" sz="300" dirty="0">
              <a:ea typeface="Arial" panose="020B0604020202090204"/>
              <a:cs typeface="Arial" panose="020B0604020202090204"/>
            </a:endParaRPr>
          </a:p>
        </p:txBody>
      </p:sp>
      <p:sp>
        <p:nvSpPr>
          <p:cNvPr id="52" name="矩形 51"/>
          <p:cNvSpPr/>
          <p:nvPr/>
        </p:nvSpPr>
        <p:spPr>
          <a:xfrm>
            <a:off x="6746832" y="5669272"/>
            <a:ext cx="2743747" cy="509883"/>
          </a:xfrm>
          <a:prstGeom prst="rect">
            <a:avLst/>
          </a:prstGeom>
        </p:spPr>
        <p:txBody>
          <a:bodyPr wrap="square">
            <a:spAutoFit/>
          </a:bodyPr>
          <a:lstStyle/>
          <a:p>
            <a:pPr marL="399415" indent="-285750" eaLnBrk="0">
              <a:lnSpc>
                <a:spcPct val="85000"/>
              </a:lnSpc>
              <a:spcBef>
                <a:spcPts val="425"/>
              </a:spcBef>
              <a:buFont typeface="Arial" panose="020B0604020202090204" pitchFamily="34" charset="0"/>
              <a:buChar char="•"/>
            </a:pP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Arial" panose="020B0604020202090204"/>
              </a:rPr>
              <a:t>签署的合同</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Arial" panose="020B0604020202090204"/>
            </a:endParaRPr>
          </a:p>
          <a:p>
            <a:pPr marL="399415" indent="-285750" eaLnBrk="0">
              <a:lnSpc>
                <a:spcPct val="85000"/>
              </a:lnSpc>
              <a:spcBef>
                <a:spcPts val="425"/>
              </a:spcBef>
              <a:buFont typeface="Arial" panose="020B0604020202090204" pitchFamily="34" charset="0"/>
              <a:buChar char="•"/>
            </a:pP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Arial" panose="020B0604020202090204"/>
              </a:rPr>
              <a:t>丢</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Arial" panose="020B0604020202090204"/>
              </a:rPr>
              <a:t>/</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Arial" panose="020B0604020202090204"/>
              </a:rPr>
              <a:t>赢单复盘报告</a:t>
            </a:r>
            <a:endParaRPr lang="zh-CN" altLang="en-US" sz="300" dirty="0">
              <a:ea typeface="Arial" panose="020B0604020202090204"/>
              <a:cs typeface="Arial" panose="020B0604020202090204"/>
            </a:endParaRPr>
          </a:p>
        </p:txBody>
      </p:sp>
      <p:pic>
        <p:nvPicPr>
          <p:cNvPr id="4" name="图片 3"/>
          <p:cNvPicPr>
            <a:picLocks noChangeAspect="1"/>
          </p:cNvPicPr>
          <p:nvPr/>
        </p:nvPicPr>
        <p:blipFill>
          <a:blip r:embed="rId4"/>
          <a:stretch>
            <a:fillRect/>
          </a:stretch>
        </p:blipFill>
        <p:spPr>
          <a:xfrm>
            <a:off x="1226708" y="2835451"/>
            <a:ext cx="5209934" cy="2978151"/>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smtClean="0"/>
              <a:t>流程执行运转机制</a:t>
            </a:r>
            <a:endParaRPr lang="zh-CN" altLang="en-US" dirty="0"/>
          </a:p>
        </p:txBody>
      </p:sp>
      <p:pic>
        <p:nvPicPr>
          <p:cNvPr id="3" name="图片 2"/>
          <p:cNvPicPr>
            <a:picLocks noChangeAspect="1"/>
          </p:cNvPicPr>
          <p:nvPr/>
        </p:nvPicPr>
        <p:blipFill>
          <a:blip r:embed="rId1"/>
          <a:stretch>
            <a:fillRect/>
          </a:stretch>
        </p:blipFill>
        <p:spPr>
          <a:xfrm>
            <a:off x="48317" y="1273630"/>
            <a:ext cx="4732430" cy="4724809"/>
          </a:xfrm>
          <a:prstGeom prst="rect">
            <a:avLst/>
          </a:prstGeom>
        </p:spPr>
      </p:pic>
      <p:sp>
        <p:nvSpPr>
          <p:cNvPr id="5" name="燕尾形 4"/>
          <p:cNvSpPr/>
          <p:nvPr/>
        </p:nvSpPr>
        <p:spPr>
          <a:xfrm>
            <a:off x="4780747" y="2838090"/>
            <a:ext cx="612476" cy="1216324"/>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 name="矩形 5"/>
          <p:cNvSpPr/>
          <p:nvPr/>
        </p:nvSpPr>
        <p:spPr>
          <a:xfrm>
            <a:off x="5641675" y="1070648"/>
            <a:ext cx="6271404" cy="6400165"/>
          </a:xfrm>
          <a:prstGeom prst="rect">
            <a:avLst/>
          </a:prstGeom>
        </p:spPr>
        <p:txBody>
          <a:bodyPr wrap="square">
            <a:spAutoFit/>
          </a:bodyPr>
          <a:lstStyle/>
          <a:p>
            <a:pPr marL="113665" eaLnBrk="0">
              <a:lnSpc>
                <a:spcPct val="85000"/>
              </a:lnSpc>
              <a:spcBef>
                <a:spcPts val="425"/>
              </a:spcBef>
            </a:pP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运转机制：</a:t>
            </a:r>
            <a:endParaRPr lang="en-US" altLang="zh-CN" sz="1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buFont typeface="+mj-lt"/>
              <a:buAutoNum type="arabicPeriod"/>
            </a:pPr>
            <a:r>
              <a:rPr lang="en-US" altLang="zh-CN" sz="1400" dirty="0" smtClean="0"/>
              <a:t>MO</a:t>
            </a:r>
            <a:r>
              <a:rPr lang="zh-CN" altLang="en-US" sz="1400" dirty="0"/>
              <a:t>流程立项项目关键卡点及数据看板机制：</a:t>
            </a:r>
            <a:endParaRPr lang="en-US" altLang="zh-CN" sz="1400" dirty="0"/>
          </a:p>
          <a:p>
            <a:pPr lvl="1"/>
            <a:r>
              <a:rPr lang="zh-CN" altLang="en-US" sz="1400" b="1" dirty="0" smtClean="0"/>
              <a:t>流程被执行（双</a:t>
            </a:r>
            <a:r>
              <a:rPr lang="en-US" altLang="zh-CN" sz="1400" b="1" dirty="0" smtClean="0"/>
              <a:t>60</a:t>
            </a:r>
            <a:r>
              <a:rPr lang="zh-CN" altLang="en-US" sz="1400" b="1" dirty="0" smtClean="0"/>
              <a:t>）：</a:t>
            </a:r>
            <a:r>
              <a:rPr lang="zh-CN" altLang="en-US" sz="1400" dirty="0" smtClean="0"/>
              <a:t>对</a:t>
            </a:r>
            <a:r>
              <a:rPr lang="zh-CN" altLang="en-US" sz="1400" dirty="0"/>
              <a:t>关键活动设计卡点，包括：立项评审会、立项启动会、解决方案评审会、标前评审会、丢</a:t>
            </a:r>
            <a:r>
              <a:rPr lang="en-US" altLang="zh-CN" sz="1400" dirty="0"/>
              <a:t>/</a:t>
            </a:r>
            <a:r>
              <a:rPr lang="zh-CN" altLang="en-US" sz="1400" dirty="0"/>
              <a:t>赢单复盘</a:t>
            </a:r>
            <a:r>
              <a:rPr lang="zh-CN" altLang="en-US" sz="1400" dirty="0" smtClean="0"/>
              <a:t>。</a:t>
            </a:r>
            <a:endParaRPr lang="en-US" altLang="zh-CN" sz="1400" dirty="0" smtClean="0"/>
          </a:p>
          <a:p>
            <a:pPr lvl="1"/>
            <a:r>
              <a:rPr lang="zh-CN" altLang="en-US" sz="1400" b="1" dirty="0" smtClean="0"/>
              <a:t>业务被改善（两个</a:t>
            </a:r>
            <a:r>
              <a:rPr lang="en-US" altLang="zh-CN" sz="1400" b="1" dirty="0" smtClean="0"/>
              <a:t>1</a:t>
            </a:r>
            <a:r>
              <a:rPr lang="zh-CN" altLang="en-US" sz="1400" b="1" dirty="0" smtClean="0"/>
              <a:t>）：</a:t>
            </a:r>
            <a:r>
              <a:rPr lang="zh-CN" altLang="en-US" sz="1400" dirty="0" smtClean="0"/>
              <a:t>设定流程监控业务指标，包括：立项启动率、解决方案评审率、标前评审执行率、丢</a:t>
            </a:r>
            <a:r>
              <a:rPr lang="en-US" altLang="zh-CN" sz="1400" dirty="0" smtClean="0"/>
              <a:t>/</a:t>
            </a:r>
            <a:r>
              <a:rPr lang="zh-CN" altLang="en-US" sz="1400" dirty="0" smtClean="0"/>
              <a:t>赢单复盘率、商机核查结果（季度承诺项目的金额兑现率、季度</a:t>
            </a:r>
            <a:r>
              <a:rPr lang="en-US" altLang="zh-CN" sz="1400" dirty="0" smtClean="0"/>
              <a:t>30W+</a:t>
            </a:r>
            <a:r>
              <a:rPr lang="zh-CN" altLang="en-US" sz="1400" dirty="0" smtClean="0"/>
              <a:t>特价项目个数兑现率、下单时间偏差占比）</a:t>
            </a:r>
            <a:endParaRPr lang="en-US" altLang="zh-CN" sz="1400" dirty="0"/>
          </a:p>
          <a:p>
            <a:pPr lvl="1"/>
            <a:r>
              <a:rPr lang="zh-CN" altLang="en-US" sz="1400" b="1" dirty="0" smtClean="0"/>
              <a:t>销售周会</a:t>
            </a:r>
            <a:r>
              <a:rPr lang="zh-CN" altLang="en-US" sz="1400" dirty="0" smtClean="0"/>
              <a:t>：就立项项目周关键活动执行进行提醒，并就上周关键活动执行情况进行看板反馈；月度</a:t>
            </a:r>
            <a:r>
              <a:rPr lang="zh-CN" altLang="en-US" sz="1400" dirty="0"/>
              <a:t>、季度关键任务执行看板结果，应用至</a:t>
            </a:r>
            <a:r>
              <a:rPr lang="en-US" altLang="zh-CN" sz="1400" dirty="0"/>
              <a:t>QBC</a:t>
            </a:r>
            <a:r>
              <a:rPr lang="zh-CN" altLang="en-US" sz="1400" dirty="0"/>
              <a:t>季度考核打分，每个未</a:t>
            </a:r>
            <a:r>
              <a:rPr lang="zh-CN" altLang="en-US" sz="1400" dirty="0" smtClean="0"/>
              <a:t>执行关键</a:t>
            </a:r>
            <a:r>
              <a:rPr lang="zh-CN" altLang="en-US" sz="1400" dirty="0"/>
              <a:t>任务次数，</a:t>
            </a:r>
            <a:r>
              <a:rPr lang="zh-CN" altLang="en-US" sz="1400" dirty="0"/>
              <a:t>拟扣减</a:t>
            </a:r>
            <a:r>
              <a:rPr lang="en-US" altLang="zh-CN" sz="1400" dirty="0"/>
              <a:t>0.5</a:t>
            </a:r>
            <a:r>
              <a:rPr lang="zh-CN" altLang="en-US" sz="1400" dirty="0"/>
              <a:t>分</a:t>
            </a:r>
            <a:r>
              <a:rPr lang="en-US" altLang="zh-CN" sz="1400" dirty="0"/>
              <a:t>QBC</a:t>
            </a:r>
            <a:r>
              <a:rPr lang="zh-CN" altLang="en-US" sz="1400" dirty="0"/>
              <a:t>分值，直接应用</a:t>
            </a:r>
            <a:r>
              <a:rPr lang="zh-CN" altLang="en-US" sz="1400" dirty="0" smtClean="0"/>
              <a:t>。</a:t>
            </a:r>
            <a:endParaRPr lang="en-US" altLang="zh-CN" sz="1400" dirty="0" smtClean="0"/>
          </a:p>
          <a:p>
            <a:pPr lvl="1"/>
            <a:endParaRPr lang="en-US" altLang="zh-CN" sz="1400" dirty="0" smtClean="0"/>
          </a:p>
          <a:p>
            <a:pPr marL="342900" indent="-342900">
              <a:buFont typeface="+mj-lt"/>
              <a:buAutoNum type="arabicPeriod"/>
            </a:pPr>
            <a:r>
              <a:rPr lang="zh-CN" altLang="en-US" sz="1400" dirty="0" smtClean="0"/>
              <a:t>异常</a:t>
            </a:r>
            <a:r>
              <a:rPr lang="zh-CN" altLang="en-US" sz="1400" dirty="0"/>
              <a:t>商机</a:t>
            </a:r>
            <a:r>
              <a:rPr lang="zh-CN" altLang="en-US" sz="1400" dirty="0" smtClean="0"/>
              <a:t>抽查机制：</a:t>
            </a:r>
            <a:endParaRPr lang="en-US" altLang="zh-CN" sz="1400" dirty="0" smtClean="0"/>
          </a:p>
          <a:p>
            <a:pPr lvl="1"/>
            <a:r>
              <a:rPr lang="zh-CN" altLang="en-US" sz="1400" dirty="0"/>
              <a:t>异常商机抽查（销管运营</a:t>
            </a:r>
            <a:r>
              <a:rPr lang="en-US" altLang="zh-CN" sz="1400" dirty="0"/>
              <a:t>BP</a:t>
            </a:r>
            <a:r>
              <a:rPr lang="zh-CN" altLang="en-US" sz="1400" dirty="0"/>
              <a:t>推动指定项目）</a:t>
            </a:r>
            <a:endParaRPr lang="zh-CN" altLang="en-US" sz="1400" dirty="0"/>
          </a:p>
          <a:p>
            <a:pPr lvl="1"/>
            <a:r>
              <a:rPr lang="zh-CN" altLang="en-US" sz="1400" dirty="0"/>
              <a:t>筛选范围：漏斗内</a:t>
            </a:r>
            <a:r>
              <a:rPr lang="en-US" altLang="zh-CN" sz="1400" dirty="0"/>
              <a:t>/</a:t>
            </a:r>
            <a:r>
              <a:rPr lang="zh-CN" altLang="en-US" sz="1400" dirty="0"/>
              <a:t>预计下单日期在</a:t>
            </a:r>
            <a:r>
              <a:rPr lang="en-US" altLang="zh-CN" sz="1400" dirty="0"/>
              <a:t>90</a:t>
            </a:r>
            <a:r>
              <a:rPr lang="zh-CN" altLang="en-US" sz="1400" dirty="0"/>
              <a:t>天内</a:t>
            </a:r>
            <a:r>
              <a:rPr lang="en-US" altLang="zh-CN" sz="1400" dirty="0"/>
              <a:t>/30</a:t>
            </a:r>
            <a:r>
              <a:rPr lang="zh-CN" altLang="en-US" sz="1400" dirty="0"/>
              <a:t>天内未跟进项目（详见备注）</a:t>
            </a:r>
            <a:endParaRPr lang="zh-CN" altLang="en-US" sz="1400" dirty="0"/>
          </a:p>
          <a:p>
            <a:pPr lvl="1"/>
            <a:r>
              <a:rPr lang="zh-CN" altLang="en-US" sz="1400" dirty="0"/>
              <a:t>抽查留痕：</a:t>
            </a:r>
            <a:r>
              <a:rPr lang="en-US" altLang="zh-CN" sz="1400" dirty="0"/>
              <a:t>CRM-</a:t>
            </a:r>
            <a:r>
              <a:rPr lang="zh-CN" altLang="en-US" sz="1400" dirty="0"/>
              <a:t>项目盘点信息</a:t>
            </a:r>
            <a:r>
              <a:rPr lang="en-US" altLang="zh-CN" sz="1400" dirty="0"/>
              <a:t>-【</a:t>
            </a:r>
            <a:r>
              <a:rPr lang="zh-CN" altLang="en-US" sz="1400" dirty="0"/>
              <a:t>本次主管盘点记录</a:t>
            </a:r>
            <a:r>
              <a:rPr lang="en-US" altLang="zh-CN" sz="1400" dirty="0"/>
              <a:t>】</a:t>
            </a:r>
            <a:endParaRPr lang="en-US" altLang="zh-CN" sz="1400" dirty="0"/>
          </a:p>
          <a:p>
            <a:pPr lvl="1"/>
            <a:r>
              <a:rPr lang="zh-CN" altLang="en-US" sz="1400" dirty="0"/>
              <a:t>要求：</a:t>
            </a:r>
            <a:r>
              <a:rPr lang="en-US" altLang="zh-CN" sz="1400" dirty="0"/>
              <a:t>•</a:t>
            </a:r>
            <a:r>
              <a:rPr lang="zh-CN" altLang="en-US" sz="1400" dirty="0"/>
              <a:t>盘点项目</a:t>
            </a:r>
            <a:r>
              <a:rPr lang="en-US" altLang="zh-CN" sz="1400" dirty="0"/>
              <a:t>MANT</a:t>
            </a:r>
            <a:r>
              <a:rPr lang="zh-CN" altLang="en-US" sz="1400" dirty="0"/>
              <a:t>，判断是否符合漏斗内标准</a:t>
            </a:r>
            <a:r>
              <a:rPr lang="en-US" altLang="zh-CN" sz="1400" dirty="0"/>
              <a:t>•</a:t>
            </a:r>
            <a:r>
              <a:rPr lang="zh-CN" altLang="en-US" sz="1400" dirty="0"/>
              <a:t>对照销售自盘记录及主动联系验证，核对销售反馈的</a:t>
            </a:r>
            <a:r>
              <a:rPr lang="en-US" altLang="zh-CN" sz="1400" dirty="0"/>
              <a:t>MANT</a:t>
            </a:r>
            <a:r>
              <a:rPr lang="zh-CN" altLang="en-US" sz="1400" dirty="0"/>
              <a:t>信息前后是否一致</a:t>
            </a:r>
            <a:r>
              <a:rPr lang="en-US" altLang="zh-CN" sz="1400" dirty="0"/>
              <a:t>•</a:t>
            </a:r>
            <a:r>
              <a:rPr lang="zh-CN" altLang="en-US" sz="1400" dirty="0"/>
              <a:t>如果不一致或没有自盘记录，盘点后要求销售补填自盘记录</a:t>
            </a:r>
            <a:endParaRPr lang="en-US" altLang="zh-CN" sz="1400" dirty="0"/>
          </a:p>
          <a:p>
            <a:pPr lvl="1"/>
            <a:endParaRPr lang="en-US" altLang="zh-CN" sz="1400" dirty="0"/>
          </a:p>
          <a:p>
            <a:pPr lvl="1"/>
            <a:r>
              <a:rPr lang="zh-CN" altLang="en-US" sz="1400" b="1" dirty="0"/>
              <a:t>联合</a:t>
            </a:r>
            <a:r>
              <a:rPr lang="en-US" altLang="zh-CN" sz="1400" b="1" dirty="0"/>
              <a:t>BP</a:t>
            </a:r>
            <a:r>
              <a:rPr lang="zh-CN" altLang="en-US" sz="1400" b="1" dirty="0"/>
              <a:t>运营推动逐级抽查机制运转</a:t>
            </a:r>
            <a:r>
              <a:rPr lang="zh-CN" altLang="en-US" sz="1400" dirty="0"/>
              <a:t>：固化平台总，系统总，销售管理部</a:t>
            </a:r>
            <a:r>
              <a:rPr lang="en-US" altLang="zh-CN" sz="1400" dirty="0"/>
              <a:t>BP</a:t>
            </a:r>
            <a:r>
              <a:rPr lang="zh-CN" altLang="en-US" sz="1400" dirty="0"/>
              <a:t>每月</a:t>
            </a:r>
            <a:r>
              <a:rPr lang="en-US" altLang="zh-CN" sz="1400" dirty="0"/>
              <a:t>5-10</a:t>
            </a:r>
            <a:r>
              <a:rPr lang="zh-CN" altLang="en-US" sz="1400" dirty="0"/>
              <a:t>号随机抽取不少于</a:t>
            </a:r>
            <a:r>
              <a:rPr lang="en-US" altLang="zh-CN" sz="1400" dirty="0"/>
              <a:t>10</a:t>
            </a:r>
            <a:r>
              <a:rPr lang="zh-CN" altLang="en-US" sz="1400" dirty="0"/>
              <a:t>个异常项目进行核查（立项项目检查立项记录，一般项目检查审批记录，立项项目占比</a:t>
            </a:r>
            <a:r>
              <a:rPr lang="en-US" altLang="zh-CN" sz="1400" dirty="0"/>
              <a:t>50%</a:t>
            </a:r>
            <a:r>
              <a:rPr lang="zh-CN" altLang="en-US" sz="1400" dirty="0"/>
              <a:t>以上），收到推动异常项目后，</a:t>
            </a:r>
            <a:r>
              <a:rPr lang="en-US" altLang="zh-CN" sz="1400" dirty="0"/>
              <a:t>2</a:t>
            </a:r>
            <a:r>
              <a:rPr lang="zh-CN" altLang="en-US" sz="1400" dirty="0"/>
              <a:t>日内输出抽查结果并写入主管批注。对于违规项目在部门例会上进行通报并自动应用信用评分规则</a:t>
            </a:r>
            <a:r>
              <a:rPr lang="zh-CN" altLang="en-US" sz="1400" dirty="0" smtClean="0"/>
              <a:t>；</a:t>
            </a:r>
            <a:endParaRPr lang="en-US" altLang="zh-CN" sz="1400" dirty="0" smtClean="0"/>
          </a:p>
          <a:p>
            <a:pPr lvl="1"/>
            <a:endParaRPr lang="en-US" altLang="zh-CN" sz="1400" dirty="0" smtClean="0"/>
          </a:p>
          <a:p>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zh-CN" altLang="en-US" sz="300" dirty="0">
              <a:ea typeface="Arial" panose="020B0604020202090204"/>
              <a:cs typeface="Arial" panose="020B0604020202090204"/>
            </a:endParaRPr>
          </a:p>
        </p:txBody>
      </p:sp>
      <p:sp>
        <p:nvSpPr>
          <p:cNvPr id="7" name="矩形 6"/>
          <p:cNvSpPr/>
          <p:nvPr/>
        </p:nvSpPr>
        <p:spPr>
          <a:xfrm>
            <a:off x="5561439" y="905773"/>
            <a:ext cx="6481036" cy="579695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smtClean="0"/>
              <a:t>流程执行情况呈现</a:t>
            </a:r>
            <a:r>
              <a:rPr lang="en-US" altLang="zh-CN" dirty="0" smtClean="0"/>
              <a:t>-</a:t>
            </a:r>
            <a:r>
              <a:rPr dirty="0" smtClean="0"/>
              <a:t>销售</a:t>
            </a:r>
            <a:r>
              <a:rPr lang="zh-CN" altLang="en-US" dirty="0" smtClean="0"/>
              <a:t>周例会</a:t>
            </a:r>
            <a:endParaRPr lang="zh-CN" altLang="en-US" dirty="0"/>
          </a:p>
        </p:txBody>
      </p:sp>
      <p:sp>
        <p:nvSpPr>
          <p:cNvPr id="3" name="矩形 2"/>
          <p:cNvSpPr/>
          <p:nvPr/>
        </p:nvSpPr>
        <p:spPr>
          <a:xfrm>
            <a:off x="254231" y="879894"/>
            <a:ext cx="3558648" cy="98341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文本框 3"/>
          <p:cNvSpPr txBox="1"/>
          <p:nvPr/>
        </p:nvSpPr>
        <p:spPr>
          <a:xfrm>
            <a:off x="1415465" y="810883"/>
            <a:ext cx="1811548" cy="338554"/>
          </a:xfrm>
          <a:prstGeom prst="rect">
            <a:avLst/>
          </a:prstGeom>
          <a:noFill/>
        </p:spPr>
        <p:txBody>
          <a:bodyPr wrap="square" rtlCol="0">
            <a:spAutoFit/>
          </a:bodyPr>
          <a:lstStyle/>
          <a:p>
            <a:r>
              <a:rPr lang="zh-CN" altLang="en-US" sz="1600" b="1" dirty="0" smtClean="0"/>
              <a:t>关键卡点设计</a:t>
            </a:r>
            <a:endParaRPr lang="zh-CN" altLang="en-US" sz="1600" b="1" dirty="0"/>
          </a:p>
        </p:txBody>
      </p:sp>
      <p:sp>
        <p:nvSpPr>
          <p:cNvPr id="5" name="文本框 4"/>
          <p:cNvSpPr txBox="1"/>
          <p:nvPr/>
        </p:nvSpPr>
        <p:spPr>
          <a:xfrm>
            <a:off x="254231" y="1149437"/>
            <a:ext cx="1811548" cy="646331"/>
          </a:xfrm>
          <a:prstGeom prst="rect">
            <a:avLst/>
          </a:prstGeom>
          <a:noFill/>
        </p:spPr>
        <p:txBody>
          <a:bodyPr wrap="square" rtlCol="0">
            <a:spAutoFit/>
          </a:bodyPr>
          <a:lstStyle/>
          <a:p>
            <a:r>
              <a:rPr lang="en-US" altLang="zh-CN" sz="1200" dirty="0" smtClean="0"/>
              <a:t>KCP</a:t>
            </a:r>
            <a:r>
              <a:rPr lang="zh-CN" altLang="en-US" sz="1200" dirty="0" smtClean="0"/>
              <a:t>：商机审批</a:t>
            </a:r>
            <a:endParaRPr lang="en-US" altLang="zh-CN" sz="1200" dirty="0" smtClean="0"/>
          </a:p>
          <a:p>
            <a:r>
              <a:rPr lang="en-US" altLang="zh-CN" sz="1200" dirty="0" smtClean="0"/>
              <a:t>KDP</a:t>
            </a:r>
            <a:r>
              <a:rPr lang="zh-CN" altLang="en-US" sz="1200" dirty="0" smtClean="0"/>
              <a:t>：商机立项</a:t>
            </a:r>
            <a:endParaRPr lang="en-US" altLang="zh-CN" sz="1200" dirty="0" smtClean="0"/>
          </a:p>
          <a:p>
            <a:r>
              <a:rPr lang="en-US" altLang="zh-CN" sz="1200" dirty="0" smtClean="0"/>
              <a:t>KCP</a:t>
            </a:r>
            <a:r>
              <a:rPr lang="zh-CN" altLang="en-US" sz="1200" dirty="0" smtClean="0"/>
              <a:t>：解决方案评审</a:t>
            </a:r>
            <a:endParaRPr lang="zh-CN" altLang="en-US" sz="1200" dirty="0"/>
          </a:p>
        </p:txBody>
      </p:sp>
      <p:sp>
        <p:nvSpPr>
          <p:cNvPr id="6" name="文本框 5"/>
          <p:cNvSpPr txBox="1"/>
          <p:nvPr/>
        </p:nvSpPr>
        <p:spPr>
          <a:xfrm>
            <a:off x="2199373" y="1149437"/>
            <a:ext cx="1811548" cy="646331"/>
          </a:xfrm>
          <a:prstGeom prst="rect">
            <a:avLst/>
          </a:prstGeom>
          <a:noFill/>
        </p:spPr>
        <p:txBody>
          <a:bodyPr wrap="square" rtlCol="0">
            <a:spAutoFit/>
          </a:bodyPr>
          <a:lstStyle/>
          <a:p>
            <a:r>
              <a:rPr lang="en-US" altLang="zh-CN" sz="1200" dirty="0" smtClean="0"/>
              <a:t>KCP</a:t>
            </a:r>
            <a:r>
              <a:rPr lang="zh-CN" altLang="en-US" sz="1200" dirty="0" smtClean="0"/>
              <a:t>：项目启动会</a:t>
            </a:r>
            <a:endParaRPr lang="en-US" altLang="zh-CN" sz="1200" dirty="0" smtClean="0"/>
          </a:p>
          <a:p>
            <a:r>
              <a:rPr lang="en-US" altLang="zh-CN" sz="1200" dirty="0" smtClean="0"/>
              <a:t>KDP</a:t>
            </a:r>
            <a:r>
              <a:rPr lang="zh-CN" altLang="en-US" sz="1200" dirty="0" smtClean="0"/>
              <a:t>：标前评审</a:t>
            </a:r>
            <a:endParaRPr lang="en-US" altLang="zh-CN" sz="1200" dirty="0" smtClean="0"/>
          </a:p>
          <a:p>
            <a:r>
              <a:rPr lang="en-US" altLang="zh-CN" sz="1200" dirty="0" smtClean="0"/>
              <a:t>KDP</a:t>
            </a:r>
            <a:r>
              <a:rPr lang="zh-CN" altLang="en-US" sz="1200" dirty="0" smtClean="0"/>
              <a:t>：合同评审</a:t>
            </a:r>
            <a:endParaRPr lang="zh-CN" altLang="en-US" sz="1200" dirty="0"/>
          </a:p>
        </p:txBody>
      </p:sp>
      <p:sp>
        <p:nvSpPr>
          <p:cNvPr id="7" name="矩形 6"/>
          <p:cNvSpPr/>
          <p:nvPr/>
        </p:nvSpPr>
        <p:spPr>
          <a:xfrm>
            <a:off x="3946471" y="864765"/>
            <a:ext cx="7863095" cy="98341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文本框 7"/>
          <p:cNvSpPr txBox="1"/>
          <p:nvPr/>
        </p:nvSpPr>
        <p:spPr>
          <a:xfrm>
            <a:off x="7291418" y="810883"/>
            <a:ext cx="1811548" cy="338554"/>
          </a:xfrm>
          <a:prstGeom prst="rect">
            <a:avLst/>
          </a:prstGeom>
          <a:noFill/>
        </p:spPr>
        <p:txBody>
          <a:bodyPr wrap="square" rtlCol="0">
            <a:spAutoFit/>
          </a:bodyPr>
          <a:lstStyle/>
          <a:p>
            <a:r>
              <a:rPr lang="zh-CN" altLang="en-US" sz="1600" b="1" dirty="0" smtClean="0"/>
              <a:t>观测业务指标</a:t>
            </a:r>
            <a:endParaRPr lang="zh-CN" altLang="en-US" sz="1600" b="1" dirty="0"/>
          </a:p>
        </p:txBody>
      </p:sp>
      <p:sp>
        <p:nvSpPr>
          <p:cNvPr id="9" name="文本框 8"/>
          <p:cNvSpPr txBox="1"/>
          <p:nvPr/>
        </p:nvSpPr>
        <p:spPr>
          <a:xfrm>
            <a:off x="3952499" y="1216975"/>
            <a:ext cx="2135153" cy="646331"/>
          </a:xfrm>
          <a:prstGeom prst="rect">
            <a:avLst/>
          </a:prstGeom>
          <a:noFill/>
        </p:spPr>
        <p:txBody>
          <a:bodyPr wrap="square" rtlCol="0">
            <a:spAutoFit/>
          </a:bodyPr>
          <a:lstStyle/>
          <a:p>
            <a:r>
              <a:rPr lang="en-US" altLang="zh-CN" sz="1200" dirty="0" smtClean="0"/>
              <a:t>1</a:t>
            </a:r>
            <a:r>
              <a:rPr lang="zh-CN" altLang="en-US" sz="1200" dirty="0" smtClean="0"/>
              <a:t>、立项</a:t>
            </a:r>
            <a:r>
              <a:rPr lang="zh-CN" altLang="en-US" sz="1200" dirty="0"/>
              <a:t>启动</a:t>
            </a:r>
            <a:r>
              <a:rPr lang="zh-CN" altLang="en-US" sz="1200" dirty="0" smtClean="0"/>
              <a:t>率：</a:t>
            </a:r>
            <a:r>
              <a:rPr lang="en-US" altLang="zh-CN" sz="1200" dirty="0" smtClean="0"/>
              <a:t>80%</a:t>
            </a:r>
            <a:endParaRPr lang="en-US" altLang="zh-CN" sz="1200" dirty="0" smtClean="0"/>
          </a:p>
          <a:p>
            <a:r>
              <a:rPr lang="en-US" altLang="zh-CN" sz="1200" dirty="0" smtClean="0"/>
              <a:t>2</a:t>
            </a:r>
            <a:r>
              <a:rPr lang="zh-CN" altLang="en-US" sz="1200" dirty="0" smtClean="0"/>
              <a:t>、解决方案评审率：</a:t>
            </a:r>
            <a:r>
              <a:rPr lang="en-US" altLang="zh-CN" sz="1200" dirty="0" smtClean="0"/>
              <a:t>100%</a:t>
            </a:r>
            <a:endParaRPr lang="en-US" altLang="zh-CN" sz="1200" dirty="0" smtClean="0"/>
          </a:p>
          <a:p>
            <a:r>
              <a:rPr lang="en-US" altLang="zh-CN" sz="1200" dirty="0" smtClean="0"/>
              <a:t>3</a:t>
            </a:r>
            <a:r>
              <a:rPr lang="zh-CN" altLang="en-US" sz="1200" dirty="0" smtClean="0"/>
              <a:t>、标前评审：</a:t>
            </a:r>
            <a:r>
              <a:rPr lang="en-US" altLang="zh-CN" sz="1200" dirty="0" smtClean="0"/>
              <a:t>80%</a:t>
            </a:r>
            <a:endParaRPr lang="zh-CN" altLang="en-US" sz="1200" dirty="0"/>
          </a:p>
        </p:txBody>
      </p:sp>
      <p:sp>
        <p:nvSpPr>
          <p:cNvPr id="10" name="文本框 9"/>
          <p:cNvSpPr txBox="1"/>
          <p:nvPr/>
        </p:nvSpPr>
        <p:spPr>
          <a:xfrm>
            <a:off x="6067800" y="1183943"/>
            <a:ext cx="3769783" cy="646331"/>
          </a:xfrm>
          <a:prstGeom prst="rect">
            <a:avLst/>
          </a:prstGeom>
          <a:noFill/>
        </p:spPr>
        <p:txBody>
          <a:bodyPr wrap="square" rtlCol="0">
            <a:spAutoFit/>
          </a:bodyPr>
          <a:lstStyle/>
          <a:p>
            <a:r>
              <a:rPr lang="en-US" altLang="zh-CN" sz="1200" dirty="0" smtClean="0"/>
              <a:t>4</a:t>
            </a:r>
            <a:r>
              <a:rPr lang="zh-CN" altLang="en-US" sz="1200" dirty="0" smtClean="0"/>
              <a:t>、丢</a:t>
            </a:r>
            <a:r>
              <a:rPr lang="en-US" altLang="zh-CN" sz="1200" dirty="0" smtClean="0"/>
              <a:t>/</a:t>
            </a:r>
            <a:r>
              <a:rPr lang="zh-CN" altLang="en-US" sz="1200" dirty="0" smtClean="0"/>
              <a:t>赢单复盘率：</a:t>
            </a:r>
            <a:r>
              <a:rPr lang="en-US" altLang="zh-CN" sz="1200" dirty="0" smtClean="0"/>
              <a:t>100%</a:t>
            </a:r>
            <a:endParaRPr lang="en-US" altLang="zh-CN" sz="1200" dirty="0" smtClean="0"/>
          </a:p>
          <a:p>
            <a:r>
              <a:rPr lang="en-US" altLang="zh-CN" sz="1200" dirty="0" smtClean="0"/>
              <a:t>5</a:t>
            </a:r>
            <a:r>
              <a:rPr lang="zh-CN" altLang="en-US" sz="1200" dirty="0" smtClean="0"/>
              <a:t>、季度承诺项目金额兑现率：</a:t>
            </a:r>
            <a:r>
              <a:rPr lang="en-US" altLang="zh-CN" sz="1200" dirty="0" smtClean="0"/>
              <a:t>90-120%</a:t>
            </a:r>
            <a:endParaRPr lang="en-US" altLang="zh-CN" sz="1200" dirty="0" smtClean="0"/>
          </a:p>
          <a:p>
            <a:r>
              <a:rPr lang="en-US" altLang="zh-CN" sz="1200" dirty="0" smtClean="0"/>
              <a:t>6</a:t>
            </a:r>
            <a:r>
              <a:rPr lang="zh-CN" altLang="en-US" sz="1200" dirty="0" smtClean="0"/>
              <a:t>、季度</a:t>
            </a:r>
            <a:r>
              <a:rPr lang="en-US" altLang="zh-CN" sz="1200" dirty="0" smtClean="0"/>
              <a:t>30W+</a:t>
            </a:r>
            <a:r>
              <a:rPr lang="zh-CN" altLang="en-US" sz="1200" dirty="0" smtClean="0"/>
              <a:t>特价项目个数兑现率：</a:t>
            </a:r>
            <a:r>
              <a:rPr lang="en-US" altLang="zh-CN" sz="1200" dirty="0" smtClean="0"/>
              <a:t>&gt;=60%</a:t>
            </a:r>
            <a:endParaRPr lang="zh-CN" altLang="en-US" sz="1200" dirty="0"/>
          </a:p>
        </p:txBody>
      </p:sp>
      <p:sp>
        <p:nvSpPr>
          <p:cNvPr id="11" name="文本框 10"/>
          <p:cNvSpPr txBox="1"/>
          <p:nvPr/>
        </p:nvSpPr>
        <p:spPr>
          <a:xfrm>
            <a:off x="9411189" y="1162312"/>
            <a:ext cx="2398377" cy="461665"/>
          </a:xfrm>
          <a:prstGeom prst="rect">
            <a:avLst/>
          </a:prstGeom>
          <a:noFill/>
        </p:spPr>
        <p:txBody>
          <a:bodyPr wrap="square" rtlCol="0">
            <a:spAutoFit/>
          </a:bodyPr>
          <a:lstStyle/>
          <a:p>
            <a:r>
              <a:rPr lang="en-US" altLang="zh-CN" sz="1200" dirty="0" smtClean="0"/>
              <a:t>7</a:t>
            </a:r>
            <a:r>
              <a:rPr lang="zh-CN" altLang="en-US" sz="1200" dirty="0" smtClean="0"/>
              <a:t>、下单时间偏差占比：</a:t>
            </a:r>
            <a:r>
              <a:rPr lang="en-US" altLang="zh-CN" sz="1200" dirty="0" smtClean="0"/>
              <a:t>&lt;=40%</a:t>
            </a:r>
            <a:endParaRPr lang="en-US" altLang="zh-CN" sz="1200" dirty="0" smtClean="0"/>
          </a:p>
          <a:p>
            <a:r>
              <a:rPr lang="en-US" altLang="zh-CN" sz="1200" dirty="0" smtClean="0"/>
              <a:t>8</a:t>
            </a:r>
            <a:r>
              <a:rPr lang="zh-CN" altLang="en-US" sz="1200" dirty="0" smtClean="0"/>
              <a:t>、订单真实性指标：待定</a:t>
            </a:r>
            <a:endParaRPr lang="zh-CN" altLang="en-US" sz="1200" dirty="0"/>
          </a:p>
        </p:txBody>
      </p:sp>
      <p:graphicFrame>
        <p:nvGraphicFramePr>
          <p:cNvPr id="12" name="表格 11"/>
          <p:cNvGraphicFramePr>
            <a:graphicFrameLocks noGrp="1"/>
          </p:cNvGraphicFramePr>
          <p:nvPr/>
        </p:nvGraphicFramePr>
        <p:xfrm>
          <a:off x="254234" y="2030882"/>
          <a:ext cx="5510072" cy="2123440"/>
        </p:xfrm>
        <a:graphic>
          <a:graphicData uri="http://schemas.openxmlformats.org/drawingml/2006/table">
            <a:tbl>
              <a:tblPr firstRow="1" bandRow="1">
                <a:tableStyleId>{5C22544A-7EE6-4342-B048-85BDC9FD1C3A}</a:tableStyleId>
              </a:tblPr>
              <a:tblGrid>
                <a:gridCol w="497657"/>
                <a:gridCol w="866919"/>
                <a:gridCol w="853592"/>
                <a:gridCol w="698315"/>
                <a:gridCol w="786835"/>
                <a:gridCol w="924530"/>
                <a:gridCol w="882224"/>
              </a:tblGrid>
              <a:tr h="370840">
                <a:tc gridSpan="7">
                  <a:txBody>
                    <a:bodyPr/>
                    <a:lstStyle/>
                    <a:p>
                      <a:r>
                        <a:rPr lang="zh-CN" altLang="en-US" sz="1300" dirty="0" smtClean="0"/>
                        <a:t>项目立项情况汇总</a:t>
                      </a:r>
                      <a:r>
                        <a:rPr lang="zh-CN" altLang="en-US" sz="1200" b="0" dirty="0" smtClean="0"/>
                        <a:t>（确保重点项目通过立项匹配资源推进）</a:t>
                      </a:r>
                      <a:endParaRPr lang="zh-CN" altLang="en-US" sz="1200" b="0" dirty="0"/>
                    </a:p>
                  </a:txBody>
                  <a:tcPr/>
                </a:tc>
                <a:tc hMerge="1">
                  <a:tcPr/>
                </a:tc>
                <a:tc hMerge="1">
                  <a:tcPr/>
                </a:tc>
                <a:tc hMerge="1">
                  <a:tcPr/>
                </a:tc>
                <a:tc hMerge="1">
                  <a:tcPr/>
                </a:tc>
                <a:tc hMerge="1">
                  <a:tcPr/>
                </a:tc>
                <a:tc hMerge="1">
                  <a:tcPr/>
                </a:tc>
              </a:tr>
              <a:tr h="370840">
                <a:tc>
                  <a:txBody>
                    <a:bodyPr/>
                    <a:lstStyle/>
                    <a:p>
                      <a:endParaRPr lang="zh-CN" altLang="en-US" sz="1200" dirty="0"/>
                    </a:p>
                  </a:txBody>
                  <a:tcPr/>
                </a:tc>
                <a:tc>
                  <a:txBody>
                    <a:bodyPr/>
                    <a:lstStyle/>
                    <a:p>
                      <a:r>
                        <a:rPr lang="zh-CN" altLang="en-US" sz="1200" dirty="0" smtClean="0"/>
                        <a:t>商机创建总数</a:t>
                      </a:r>
                      <a:endParaRPr lang="zh-CN" altLang="en-US" sz="1200" dirty="0"/>
                    </a:p>
                  </a:txBody>
                  <a:tcPr/>
                </a:tc>
                <a:tc>
                  <a:txBody>
                    <a:bodyPr/>
                    <a:lstStyle/>
                    <a:p>
                      <a:r>
                        <a:rPr lang="zh-CN" altLang="en-US" sz="1200" dirty="0" smtClean="0"/>
                        <a:t>审批进漏斗数</a:t>
                      </a:r>
                      <a:endParaRPr lang="zh-CN" altLang="en-US" sz="1200" dirty="0"/>
                    </a:p>
                  </a:txBody>
                  <a:tcPr/>
                </a:tc>
                <a:tc>
                  <a:txBody>
                    <a:bodyPr/>
                    <a:lstStyle/>
                    <a:p>
                      <a:r>
                        <a:rPr lang="zh-CN" altLang="en-US" sz="1200" dirty="0" smtClean="0"/>
                        <a:t>需要立项数</a:t>
                      </a:r>
                      <a:endParaRPr lang="zh-CN" altLang="en-US" sz="1200" dirty="0"/>
                    </a:p>
                  </a:txBody>
                  <a:tcPr/>
                </a:tc>
                <a:tc>
                  <a:txBody>
                    <a:bodyPr/>
                    <a:lstStyle/>
                    <a:p>
                      <a:r>
                        <a:rPr lang="zh-CN" altLang="en-US" sz="1200" dirty="0" smtClean="0"/>
                        <a:t>立项决策会场次</a:t>
                      </a:r>
                      <a:endParaRPr lang="zh-CN" altLang="en-US" sz="1200" dirty="0"/>
                    </a:p>
                  </a:txBody>
                  <a:tcPr/>
                </a:tc>
                <a:tc>
                  <a:txBody>
                    <a:bodyPr/>
                    <a:lstStyle/>
                    <a:p>
                      <a:r>
                        <a:rPr lang="zh-CN" altLang="en-US" sz="1200" dirty="0" smtClean="0"/>
                        <a:t>立项项目数</a:t>
                      </a:r>
                      <a:endParaRPr lang="zh-CN" altLang="en-US" sz="1200" dirty="0"/>
                    </a:p>
                  </a:txBody>
                  <a:tcPr/>
                </a:tc>
                <a:tc>
                  <a:txBody>
                    <a:bodyPr/>
                    <a:lstStyle/>
                    <a:p>
                      <a:r>
                        <a:rPr lang="zh-CN" altLang="en-US" sz="1200" dirty="0" smtClean="0"/>
                        <a:t>一般项目数</a:t>
                      </a:r>
                      <a:endParaRPr lang="zh-CN" altLang="en-US" sz="1200" dirty="0"/>
                    </a:p>
                  </a:txBody>
                  <a:tcPr/>
                </a:tc>
              </a:tr>
              <a:tr h="370840">
                <a:tc>
                  <a:txBody>
                    <a:bodyPr/>
                    <a:lstStyle/>
                    <a:p>
                      <a:r>
                        <a:rPr lang="en-US" altLang="zh-CN" sz="1200" dirty="0" smtClean="0"/>
                        <a:t>7</a:t>
                      </a:r>
                      <a:r>
                        <a:rPr lang="zh-CN" altLang="en-US" sz="1200" dirty="0" smtClean="0"/>
                        <a:t>月</a:t>
                      </a:r>
                      <a:endParaRPr lang="zh-CN" altLang="en-US" sz="1200" dirty="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dirty="0"/>
                    </a:p>
                  </a:txBody>
                  <a:tcPr/>
                </a:tc>
              </a:tr>
              <a:tr h="370840">
                <a:tc>
                  <a:txBody>
                    <a:bodyPr/>
                    <a:lstStyle/>
                    <a:p>
                      <a:r>
                        <a:rPr lang="en-US" altLang="zh-CN" sz="1200" dirty="0" smtClean="0"/>
                        <a:t>8</a:t>
                      </a:r>
                      <a:r>
                        <a:rPr lang="zh-CN" altLang="en-US" sz="1200" dirty="0" smtClean="0"/>
                        <a:t>月</a:t>
                      </a:r>
                      <a:endParaRPr lang="zh-CN" altLang="en-US" sz="1200" dirty="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dirty="0"/>
                    </a:p>
                  </a:txBody>
                  <a:tcPr/>
                </a:tc>
              </a:tr>
              <a:tr h="370840">
                <a:tc>
                  <a:txBody>
                    <a:bodyPr/>
                    <a:lstStyle/>
                    <a:p>
                      <a:r>
                        <a:rPr lang="en-US" altLang="zh-CN" sz="1200" dirty="0" smtClean="0"/>
                        <a:t>9</a:t>
                      </a:r>
                      <a:r>
                        <a:rPr lang="zh-CN" altLang="en-US" sz="1200" dirty="0" smtClean="0"/>
                        <a:t>月</a:t>
                      </a:r>
                      <a:endParaRPr lang="zh-CN" altLang="en-US" sz="1200" dirty="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dirty="0"/>
                    </a:p>
                  </a:txBody>
                  <a:tcPr/>
                </a:tc>
              </a:tr>
            </a:tbl>
          </a:graphicData>
        </a:graphic>
      </p:graphicFrame>
      <p:graphicFrame>
        <p:nvGraphicFramePr>
          <p:cNvPr id="13" name="表格 12"/>
          <p:cNvGraphicFramePr>
            <a:graphicFrameLocks noGrp="1"/>
          </p:cNvGraphicFramePr>
          <p:nvPr/>
        </p:nvGraphicFramePr>
        <p:xfrm>
          <a:off x="5906035" y="2030882"/>
          <a:ext cx="5756877" cy="2123440"/>
        </p:xfrm>
        <a:graphic>
          <a:graphicData uri="http://schemas.openxmlformats.org/drawingml/2006/table">
            <a:tbl>
              <a:tblPr firstRow="1" bandRow="1">
                <a:tableStyleId>{5C22544A-7EE6-4342-B048-85BDC9FD1C3A}</a:tableStyleId>
              </a:tblPr>
              <a:tblGrid>
                <a:gridCol w="519948"/>
                <a:gridCol w="511793"/>
                <a:gridCol w="511793"/>
                <a:gridCol w="595105"/>
                <a:gridCol w="714126"/>
                <a:gridCol w="952168"/>
                <a:gridCol w="1071189"/>
                <a:gridCol w="880755"/>
              </a:tblGrid>
              <a:tr h="370840">
                <a:tc gridSpan="8">
                  <a:txBody>
                    <a:bodyPr/>
                    <a:lstStyle/>
                    <a:p>
                      <a:r>
                        <a:rPr lang="zh-CN" altLang="en-US" sz="1300" dirty="0" smtClean="0"/>
                        <a:t>结项项目推进情况汇总</a:t>
                      </a:r>
                      <a:r>
                        <a:rPr lang="zh-CN" altLang="en-US" sz="1200" b="0" dirty="0" smtClean="0"/>
                        <a:t>（只统计结束的项目，确保项目关键活动被执行，可追溯）</a:t>
                      </a:r>
                      <a:endParaRPr lang="zh-CN" altLang="en-US" sz="1200" b="0" dirty="0"/>
                    </a:p>
                  </a:txBody>
                  <a:tcPr/>
                </a:tc>
                <a:tc hMerge="1">
                  <a:tcPr/>
                </a:tc>
                <a:tc hMerge="1">
                  <a:tcPr/>
                </a:tc>
                <a:tc hMerge="1">
                  <a:tcPr/>
                </a:tc>
                <a:tc hMerge="1">
                  <a:tcPr/>
                </a:tc>
                <a:tc hMerge="1">
                  <a:tcPr/>
                </a:tc>
                <a:tc hMerge="1">
                  <a:tcPr/>
                </a:tc>
                <a:tc hMerge="1">
                  <a:tcPr/>
                </a:tc>
              </a:tr>
              <a:tr h="370840">
                <a:tc>
                  <a:txBody>
                    <a:bodyPr/>
                    <a:lstStyle/>
                    <a:p>
                      <a:endParaRPr lang="zh-CN" altLang="en-US" sz="1200" dirty="0"/>
                    </a:p>
                  </a:txBody>
                  <a:tcPr/>
                </a:tc>
                <a:tc>
                  <a:txBody>
                    <a:bodyPr/>
                    <a:lstStyle/>
                    <a:p>
                      <a:r>
                        <a:rPr lang="zh-CN" altLang="en-US" sz="1200" dirty="0" smtClean="0"/>
                        <a:t>结项总数</a:t>
                      </a:r>
                      <a:endParaRPr lang="zh-CN" altLang="en-US"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200" dirty="0" smtClean="0"/>
                        <a:t>赢单数</a:t>
                      </a:r>
                      <a:endParaRPr lang="zh-CN" altLang="en-US" sz="1200" dirty="0" smtClean="0"/>
                    </a:p>
                    <a:p>
                      <a:endParaRPr lang="zh-CN" altLang="en-US" sz="1200" dirty="0"/>
                    </a:p>
                  </a:txBody>
                  <a:tcPr/>
                </a:tc>
                <a:tc>
                  <a:txBody>
                    <a:bodyPr/>
                    <a:lstStyle/>
                    <a:p>
                      <a:r>
                        <a:rPr lang="zh-CN" altLang="en-US" sz="1200" dirty="0" smtClean="0"/>
                        <a:t>丢单数</a:t>
                      </a:r>
                      <a:endParaRPr lang="zh-CN" altLang="en-US" sz="1200" dirty="0"/>
                    </a:p>
                  </a:txBody>
                  <a:tcPr/>
                </a:tc>
                <a:tc>
                  <a:txBody>
                    <a:bodyPr/>
                    <a:lstStyle/>
                    <a:p>
                      <a:r>
                        <a:rPr lang="zh-CN" altLang="en-US" sz="1200" dirty="0" smtClean="0"/>
                        <a:t>项目启动会场次</a:t>
                      </a:r>
                      <a:endParaRPr lang="zh-CN" altLang="en-US"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200" dirty="0" smtClean="0"/>
                        <a:t>解决方案评审会场次</a:t>
                      </a:r>
                      <a:endParaRPr lang="zh-CN" altLang="en-US" sz="1200" dirty="0" smtClean="0"/>
                    </a:p>
                  </a:txBody>
                  <a:tcPr/>
                </a:tc>
                <a:tc>
                  <a:txBody>
                    <a:bodyPr/>
                    <a:lstStyle/>
                    <a:p>
                      <a:r>
                        <a:rPr lang="zh-CN" altLang="en-US" sz="1200" dirty="0" smtClean="0"/>
                        <a:t>标前评审会场次</a:t>
                      </a:r>
                      <a:endParaRPr lang="zh-CN" altLang="en-US" sz="1200" dirty="0"/>
                    </a:p>
                  </a:txBody>
                  <a:tcPr/>
                </a:tc>
                <a:tc>
                  <a:txBody>
                    <a:bodyPr/>
                    <a:lstStyle/>
                    <a:p>
                      <a:r>
                        <a:rPr lang="zh-CN" altLang="en-US" sz="1200" dirty="0" smtClean="0"/>
                        <a:t>丢</a:t>
                      </a:r>
                      <a:r>
                        <a:rPr lang="en-US" altLang="zh-CN" sz="1200" dirty="0" smtClean="0"/>
                        <a:t>/</a:t>
                      </a:r>
                      <a:r>
                        <a:rPr lang="zh-CN" altLang="en-US" sz="1200" dirty="0" smtClean="0"/>
                        <a:t>赢单复盘数</a:t>
                      </a:r>
                      <a:endParaRPr lang="zh-CN" altLang="en-US" sz="1200" dirty="0"/>
                    </a:p>
                  </a:txBody>
                  <a:tcPr/>
                </a:tc>
              </a:tr>
              <a:tr h="370840">
                <a:tc>
                  <a:txBody>
                    <a:bodyPr/>
                    <a:lstStyle/>
                    <a:p>
                      <a:r>
                        <a:rPr lang="en-US" altLang="zh-CN" sz="1200" dirty="0" smtClean="0"/>
                        <a:t>7</a:t>
                      </a:r>
                      <a:r>
                        <a:rPr lang="zh-CN" altLang="en-US" sz="1200" dirty="0" smtClean="0"/>
                        <a:t>月</a:t>
                      </a:r>
                      <a:endParaRPr lang="zh-CN" altLang="en-US" sz="1200" dirty="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dirty="0"/>
                    </a:p>
                  </a:txBody>
                  <a:tcPr/>
                </a:tc>
              </a:tr>
              <a:tr h="370840">
                <a:tc>
                  <a:txBody>
                    <a:bodyPr/>
                    <a:lstStyle/>
                    <a:p>
                      <a:r>
                        <a:rPr lang="en-US" altLang="zh-CN" sz="1200" dirty="0" smtClean="0"/>
                        <a:t>8</a:t>
                      </a:r>
                      <a:r>
                        <a:rPr lang="zh-CN" altLang="en-US" sz="1200" dirty="0" smtClean="0"/>
                        <a:t>月</a:t>
                      </a:r>
                      <a:endParaRPr lang="zh-CN" altLang="en-US" sz="1200" dirty="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dirty="0"/>
                    </a:p>
                  </a:txBody>
                  <a:tcPr/>
                </a:tc>
              </a:tr>
              <a:tr h="370840">
                <a:tc>
                  <a:txBody>
                    <a:bodyPr/>
                    <a:lstStyle/>
                    <a:p>
                      <a:r>
                        <a:rPr lang="en-US" altLang="zh-CN" sz="1200" dirty="0" smtClean="0"/>
                        <a:t>9</a:t>
                      </a:r>
                      <a:r>
                        <a:rPr lang="zh-CN" altLang="en-US" sz="1200" dirty="0" smtClean="0"/>
                        <a:t>月</a:t>
                      </a:r>
                      <a:endParaRPr lang="zh-CN" altLang="en-US" sz="1200" dirty="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dirty="0"/>
                    </a:p>
                  </a:txBody>
                  <a:tcPr/>
                </a:tc>
              </a:tr>
            </a:tbl>
          </a:graphicData>
        </a:graphic>
      </p:graphicFrame>
      <p:graphicFrame>
        <p:nvGraphicFramePr>
          <p:cNvPr id="14" name="表格 13"/>
          <p:cNvGraphicFramePr>
            <a:graphicFrameLocks noGrp="1"/>
          </p:cNvGraphicFramePr>
          <p:nvPr/>
        </p:nvGraphicFramePr>
        <p:xfrm>
          <a:off x="254234" y="4308256"/>
          <a:ext cx="5559970" cy="2301240"/>
        </p:xfrm>
        <a:graphic>
          <a:graphicData uri="http://schemas.openxmlformats.org/drawingml/2006/table">
            <a:tbl>
              <a:tblPr firstRow="1" bandRow="1">
                <a:tableStyleId>{5C22544A-7EE6-4342-B048-85BDC9FD1C3A}</a:tableStyleId>
              </a:tblPr>
              <a:tblGrid>
                <a:gridCol w="591155"/>
                <a:gridCol w="595222"/>
                <a:gridCol w="759125"/>
                <a:gridCol w="612475"/>
                <a:gridCol w="690114"/>
                <a:gridCol w="810883"/>
                <a:gridCol w="828135"/>
                <a:gridCol w="672861"/>
              </a:tblGrid>
              <a:tr h="370840">
                <a:tc gridSpan="8">
                  <a:txBody>
                    <a:bodyPr/>
                    <a:lstStyle/>
                    <a:p>
                      <a:r>
                        <a:rPr lang="zh-CN" altLang="en-US" sz="1300" b="1" dirty="0" smtClean="0"/>
                        <a:t>业务检测指标</a:t>
                      </a:r>
                      <a:endParaRPr lang="zh-CN" altLang="en-US" sz="1200" b="0" dirty="0"/>
                    </a:p>
                  </a:txBody>
                  <a:tcPr/>
                </a:tc>
                <a:tc hMerge="1">
                  <a:tcPr/>
                </a:tc>
                <a:tc hMerge="1">
                  <a:tcPr/>
                </a:tc>
                <a:tc hMerge="1">
                  <a:tcPr/>
                </a:tc>
                <a:tc hMerge="1">
                  <a:tcPr/>
                </a:tc>
                <a:tc hMerge="1">
                  <a:tcPr/>
                </a:tc>
                <a:tc hMerge="1">
                  <a:tcPr/>
                </a:tc>
                <a:tc hMerge="1">
                  <a:tcPr/>
                </a:tc>
              </a:tr>
              <a:tr h="370840">
                <a:tc>
                  <a:txBody>
                    <a:bodyPr/>
                    <a:lstStyle/>
                    <a:p>
                      <a:endParaRPr lang="zh-CN" altLang="en-US" sz="1200" dirty="0"/>
                    </a:p>
                  </a:txBody>
                  <a:tcPr/>
                </a:tc>
                <a:tc>
                  <a:txBody>
                    <a:bodyPr/>
                    <a:lstStyle/>
                    <a:p>
                      <a:r>
                        <a:rPr lang="zh-CN" altLang="en-US" sz="1200" dirty="0" smtClean="0"/>
                        <a:t>立项启动率</a:t>
                      </a:r>
                      <a:endParaRPr lang="zh-CN" altLang="en-US" sz="1200" dirty="0"/>
                    </a:p>
                  </a:txBody>
                  <a:tcPr/>
                </a:tc>
                <a:tc>
                  <a:txBody>
                    <a:bodyPr/>
                    <a:lstStyle/>
                    <a:p>
                      <a:r>
                        <a:rPr lang="zh-CN" altLang="en-US" sz="1200" dirty="0" smtClean="0"/>
                        <a:t>解决方案评审率</a:t>
                      </a:r>
                      <a:endParaRPr lang="zh-CN" altLang="en-US" sz="1200" dirty="0"/>
                    </a:p>
                  </a:txBody>
                  <a:tcPr/>
                </a:tc>
                <a:tc>
                  <a:txBody>
                    <a:bodyPr/>
                    <a:lstStyle/>
                    <a:p>
                      <a:r>
                        <a:rPr lang="zh-CN" altLang="en-US" sz="1200" dirty="0" smtClean="0"/>
                        <a:t>标前评审率</a:t>
                      </a:r>
                      <a:endParaRPr lang="zh-CN" altLang="en-US" sz="1200" dirty="0"/>
                    </a:p>
                  </a:txBody>
                  <a:tcPr/>
                </a:tc>
                <a:tc>
                  <a:txBody>
                    <a:bodyPr/>
                    <a:lstStyle/>
                    <a:p>
                      <a:r>
                        <a:rPr lang="zh-CN" altLang="en-US" sz="1200" dirty="0" smtClean="0"/>
                        <a:t>丢</a:t>
                      </a:r>
                      <a:r>
                        <a:rPr lang="en-US" altLang="zh-CN" sz="1200" dirty="0" smtClean="0"/>
                        <a:t>/</a:t>
                      </a:r>
                      <a:r>
                        <a:rPr lang="zh-CN" altLang="en-US" sz="1200" dirty="0" smtClean="0"/>
                        <a:t>赢单复盘率</a:t>
                      </a:r>
                      <a:endParaRPr lang="zh-CN" altLang="en-US" sz="1200" dirty="0"/>
                    </a:p>
                  </a:txBody>
                  <a:tcPr/>
                </a:tc>
                <a:tc>
                  <a:txBody>
                    <a:bodyPr/>
                    <a:lstStyle/>
                    <a:p>
                      <a:r>
                        <a:rPr lang="zh-CN" altLang="en-US" sz="1200" dirty="0" smtClean="0"/>
                        <a:t>季度金额兑现率</a:t>
                      </a:r>
                      <a:endParaRPr lang="zh-CN" altLang="en-US" sz="1200" dirty="0"/>
                    </a:p>
                  </a:txBody>
                  <a:tcPr/>
                </a:tc>
                <a:tc>
                  <a:txBody>
                    <a:bodyPr/>
                    <a:lstStyle/>
                    <a:p>
                      <a:r>
                        <a:rPr lang="en-US" altLang="zh-CN" sz="1200" dirty="0" smtClean="0"/>
                        <a:t>30W+</a:t>
                      </a:r>
                      <a:r>
                        <a:rPr lang="zh-CN" altLang="en-US" sz="1200" dirty="0" smtClean="0"/>
                        <a:t>项目个数兑现率</a:t>
                      </a:r>
                      <a:endParaRPr lang="zh-CN" altLang="en-US" sz="1200" dirty="0"/>
                    </a:p>
                  </a:txBody>
                  <a:tcPr/>
                </a:tc>
                <a:tc>
                  <a:txBody>
                    <a:bodyPr/>
                    <a:lstStyle/>
                    <a:p>
                      <a:r>
                        <a:rPr lang="zh-CN" altLang="en-US" sz="1200" dirty="0" smtClean="0"/>
                        <a:t>下单时间偏差占比</a:t>
                      </a:r>
                      <a:endParaRPr lang="zh-CN" altLang="en-US" sz="1200" dirty="0"/>
                    </a:p>
                  </a:txBody>
                  <a:tcPr/>
                </a:tc>
              </a:tr>
              <a:tr h="185420">
                <a:tc>
                  <a:txBody>
                    <a:bodyPr/>
                    <a:lstStyle/>
                    <a:p>
                      <a:r>
                        <a:rPr lang="zh-CN" altLang="en-US" sz="1200" dirty="0" smtClean="0"/>
                        <a:t>目标</a:t>
                      </a:r>
                      <a:endParaRPr lang="zh-CN" altLang="en-US" sz="1200" dirty="0"/>
                    </a:p>
                  </a:txBody>
                  <a:tcPr/>
                </a:tc>
                <a:tc>
                  <a:txBody>
                    <a:bodyPr/>
                    <a:lstStyle/>
                    <a:p>
                      <a:r>
                        <a:rPr lang="en-US" altLang="zh-CN" sz="1200" dirty="0" smtClean="0"/>
                        <a:t>80%</a:t>
                      </a:r>
                      <a:endParaRPr lang="zh-CN" altLang="en-US" sz="1200" dirty="0"/>
                    </a:p>
                  </a:txBody>
                  <a:tcPr/>
                </a:tc>
                <a:tc>
                  <a:txBody>
                    <a:bodyPr/>
                    <a:lstStyle/>
                    <a:p>
                      <a:r>
                        <a:rPr lang="en-US" altLang="zh-CN" sz="1200" dirty="0" smtClean="0"/>
                        <a:t>100%</a:t>
                      </a:r>
                      <a:endParaRPr lang="zh-CN" altLang="en-US" sz="1200" dirty="0"/>
                    </a:p>
                  </a:txBody>
                  <a:tcPr/>
                </a:tc>
                <a:tc>
                  <a:txBody>
                    <a:bodyPr/>
                    <a:lstStyle/>
                    <a:p>
                      <a:r>
                        <a:rPr lang="en-US" altLang="zh-CN" sz="1200" dirty="0" smtClean="0"/>
                        <a:t>80%</a:t>
                      </a:r>
                      <a:endParaRPr lang="zh-CN" altLang="en-US" sz="1200" dirty="0"/>
                    </a:p>
                  </a:txBody>
                  <a:tcPr/>
                </a:tc>
                <a:tc>
                  <a:txBody>
                    <a:bodyPr/>
                    <a:lstStyle/>
                    <a:p>
                      <a:r>
                        <a:rPr lang="en-US" altLang="zh-CN" sz="1200" dirty="0" smtClean="0"/>
                        <a:t>100%</a:t>
                      </a:r>
                      <a:endParaRPr lang="zh-CN" altLang="en-US" sz="1200" dirty="0"/>
                    </a:p>
                  </a:txBody>
                  <a:tcPr/>
                </a:tc>
                <a:tc>
                  <a:txBody>
                    <a:bodyPr/>
                    <a:lstStyle/>
                    <a:p>
                      <a:r>
                        <a:rPr lang="en-US" altLang="zh-CN" sz="1200" dirty="0" smtClean="0"/>
                        <a:t>90-120%</a:t>
                      </a:r>
                      <a:endParaRPr lang="zh-CN" altLang="en-US" sz="1200" dirty="0"/>
                    </a:p>
                  </a:txBody>
                  <a:tcPr/>
                </a:tc>
                <a:tc>
                  <a:txBody>
                    <a:bodyPr/>
                    <a:lstStyle/>
                    <a:p>
                      <a:r>
                        <a:rPr lang="en-US" altLang="zh-CN" sz="1200" dirty="0" smtClean="0"/>
                        <a:t>&gt;=60%</a:t>
                      </a:r>
                      <a:endParaRPr lang="zh-CN" altLang="en-US" sz="1200" dirty="0"/>
                    </a:p>
                  </a:txBody>
                  <a:tcPr/>
                </a:tc>
                <a:tc>
                  <a:txBody>
                    <a:bodyPr/>
                    <a:lstStyle/>
                    <a:p>
                      <a:r>
                        <a:rPr lang="en-US" altLang="zh-CN" sz="1200" dirty="0" smtClean="0"/>
                        <a:t>&lt;=40%</a:t>
                      </a:r>
                      <a:endParaRPr lang="zh-CN" altLang="en-US" sz="1200" dirty="0"/>
                    </a:p>
                  </a:txBody>
                  <a:tcPr/>
                </a:tc>
              </a:tr>
              <a:tr h="185420">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200" dirty="0" smtClean="0"/>
                        <a:t>7</a:t>
                      </a:r>
                      <a:r>
                        <a:rPr lang="zh-CN" altLang="en-US" sz="1200" dirty="0" smtClean="0"/>
                        <a:t>月</a:t>
                      </a:r>
                      <a:endParaRPr lang="zh-CN" altLang="en-US" sz="1200" dirty="0" smtClean="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dirty="0"/>
                    </a:p>
                  </a:txBody>
                  <a:tcPr/>
                </a:tc>
              </a:tr>
              <a:tr h="370840">
                <a:tc>
                  <a:txBody>
                    <a:bodyPr/>
                    <a:lstStyle/>
                    <a:p>
                      <a:r>
                        <a:rPr lang="en-US" altLang="zh-CN" sz="1200" dirty="0" smtClean="0"/>
                        <a:t>8</a:t>
                      </a:r>
                      <a:r>
                        <a:rPr lang="zh-CN" altLang="en-US" sz="1200" dirty="0" smtClean="0"/>
                        <a:t>月</a:t>
                      </a:r>
                      <a:endParaRPr lang="zh-CN" altLang="en-US" sz="1200" dirty="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dirty="0"/>
                    </a:p>
                  </a:txBody>
                  <a:tcPr/>
                </a:tc>
              </a:tr>
              <a:tr h="370840">
                <a:tc>
                  <a:txBody>
                    <a:bodyPr/>
                    <a:lstStyle/>
                    <a:p>
                      <a:r>
                        <a:rPr lang="en-US" altLang="zh-CN" sz="1200" dirty="0" smtClean="0"/>
                        <a:t>9</a:t>
                      </a:r>
                      <a:r>
                        <a:rPr lang="zh-CN" altLang="en-US" sz="1200" dirty="0" smtClean="0"/>
                        <a:t>月</a:t>
                      </a:r>
                      <a:endParaRPr lang="zh-CN" altLang="en-US" sz="1200" dirty="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dirty="0"/>
                    </a:p>
                  </a:txBody>
                  <a:tcPr/>
                </a:tc>
              </a:tr>
            </a:tbl>
          </a:graphicData>
        </a:graphic>
      </p:graphicFrame>
      <p:sp>
        <p:nvSpPr>
          <p:cNvPr id="20" name="矩形 19"/>
          <p:cNvSpPr/>
          <p:nvPr/>
        </p:nvSpPr>
        <p:spPr>
          <a:xfrm>
            <a:off x="5923289" y="4346962"/>
            <a:ext cx="5766012" cy="229453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文本框 20"/>
          <p:cNvSpPr txBox="1"/>
          <p:nvPr/>
        </p:nvSpPr>
        <p:spPr>
          <a:xfrm>
            <a:off x="5990698" y="4362031"/>
            <a:ext cx="2135505" cy="337185"/>
          </a:xfrm>
          <a:prstGeom prst="rect">
            <a:avLst/>
          </a:prstGeom>
          <a:noFill/>
        </p:spPr>
        <p:txBody>
          <a:bodyPr wrap="square" rtlCol="0">
            <a:spAutoFit/>
          </a:bodyPr>
          <a:lstStyle/>
          <a:p>
            <a:r>
              <a:rPr lang="zh-CN" altLang="en-US" sz="1600" b="1" dirty="0" smtClean="0"/>
              <a:t>执行情况总结分析：</a:t>
            </a:r>
            <a:endParaRPr lang="zh-CN" altLang="en-US" sz="1600" b="1" dirty="0"/>
          </a:p>
        </p:txBody>
      </p:sp>
      <p:sp>
        <p:nvSpPr>
          <p:cNvPr id="22" name="文本框 21"/>
          <p:cNvSpPr txBox="1"/>
          <p:nvPr/>
        </p:nvSpPr>
        <p:spPr>
          <a:xfrm>
            <a:off x="6104905" y="4744060"/>
            <a:ext cx="5387172" cy="830997"/>
          </a:xfrm>
          <a:prstGeom prst="rect">
            <a:avLst/>
          </a:prstGeom>
          <a:noFill/>
        </p:spPr>
        <p:txBody>
          <a:bodyPr wrap="square" rtlCol="0">
            <a:spAutoFit/>
          </a:bodyPr>
          <a:lstStyle/>
          <a:p>
            <a:r>
              <a:rPr lang="zh-CN" altLang="en-US" sz="1200" b="1" dirty="0" smtClean="0"/>
              <a:t>流程被执行：</a:t>
            </a:r>
            <a:r>
              <a:rPr lang="zh-CN" altLang="en-US" sz="1200" dirty="0" smtClean="0"/>
              <a:t>根据执行双</a:t>
            </a:r>
            <a:r>
              <a:rPr lang="en-US" altLang="zh-CN" sz="1200" dirty="0" smtClean="0"/>
              <a:t>60</a:t>
            </a:r>
            <a:r>
              <a:rPr lang="zh-CN" altLang="en-US" sz="1200" dirty="0" smtClean="0"/>
              <a:t>，简单分析，区域及各部门及末端用户对流程执行的情况；哪些部门和区域做的好，怎么做的，哪些区域做的不好，什么原因，流程推行的下一步计划和举措。附上具体的项目执行情况看板明细数据链接（参见下一页看板设计）</a:t>
            </a:r>
            <a:endParaRPr lang="zh-CN" altLang="en-US" sz="1200" dirty="0"/>
          </a:p>
        </p:txBody>
      </p:sp>
      <p:sp>
        <p:nvSpPr>
          <p:cNvPr id="23" name="文本框 22"/>
          <p:cNvSpPr txBox="1"/>
          <p:nvPr/>
        </p:nvSpPr>
        <p:spPr>
          <a:xfrm>
            <a:off x="6112709" y="5710874"/>
            <a:ext cx="5387172" cy="646331"/>
          </a:xfrm>
          <a:prstGeom prst="rect">
            <a:avLst/>
          </a:prstGeom>
          <a:noFill/>
        </p:spPr>
        <p:txBody>
          <a:bodyPr wrap="square" rtlCol="0">
            <a:spAutoFit/>
          </a:bodyPr>
          <a:lstStyle/>
          <a:p>
            <a:r>
              <a:rPr lang="zh-CN" altLang="en-US" sz="1200" b="1" dirty="0" smtClean="0"/>
              <a:t>业务有改善：</a:t>
            </a:r>
            <a:r>
              <a:rPr lang="zh-CN" altLang="en-US" sz="1200" dirty="0" smtClean="0"/>
              <a:t>根据改善两个</a:t>
            </a:r>
            <a:r>
              <a:rPr lang="en-US" altLang="zh-CN" sz="1200" dirty="0" smtClean="0"/>
              <a:t>1</a:t>
            </a:r>
            <a:r>
              <a:rPr lang="zh-CN" altLang="en-US" sz="1200" dirty="0" smtClean="0"/>
              <a:t>的要求。至少监控一个关键的业务指标情况和数据的变化做业务分析，改善和没有改善的原因，产生至少一个具体的实践案例说明；业务指标改善的下一步改善计划和举措。</a:t>
            </a:r>
            <a:endParaRPr lang="zh-CN" altLang="en-US" sz="12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smtClean="0"/>
              <a:t>看板设计</a:t>
            </a:r>
            <a:endParaRPr lang="zh-CN" altLang="en-US" dirty="0"/>
          </a:p>
        </p:txBody>
      </p:sp>
      <p:pic>
        <p:nvPicPr>
          <p:cNvPr id="7" name="图片 6"/>
          <p:cNvPicPr>
            <a:picLocks noChangeAspect="1"/>
          </p:cNvPicPr>
          <p:nvPr/>
        </p:nvPicPr>
        <p:blipFill>
          <a:blip r:embed="rId1"/>
          <a:stretch>
            <a:fillRect/>
          </a:stretch>
        </p:blipFill>
        <p:spPr>
          <a:xfrm>
            <a:off x="251760" y="1284763"/>
            <a:ext cx="11598645" cy="3254022"/>
          </a:xfrm>
          <a:prstGeom prst="rect">
            <a:avLst/>
          </a:prstGeom>
        </p:spPr>
      </p:pic>
      <p:sp>
        <p:nvSpPr>
          <p:cNvPr id="8" name="文本框 7"/>
          <p:cNvSpPr txBox="1"/>
          <p:nvPr/>
        </p:nvSpPr>
        <p:spPr>
          <a:xfrm>
            <a:off x="251759" y="947578"/>
            <a:ext cx="5295025" cy="584775"/>
          </a:xfrm>
          <a:prstGeom prst="rect">
            <a:avLst/>
          </a:prstGeom>
          <a:noFill/>
        </p:spPr>
        <p:txBody>
          <a:bodyPr wrap="square" rtlCol="0">
            <a:spAutoFit/>
          </a:bodyPr>
          <a:lstStyle/>
          <a:p>
            <a:r>
              <a:rPr lang="en-US" altLang="zh-CN" sz="1600" b="1" dirty="0" smtClean="0"/>
              <a:t>1</a:t>
            </a:r>
            <a:r>
              <a:rPr lang="zh-CN" altLang="en-US" sz="1600" b="1" dirty="0" smtClean="0"/>
              <a:t>、项目执行情况明细：</a:t>
            </a:r>
            <a:r>
              <a:rPr lang="zh-CN" altLang="en-US" sz="1600" dirty="0"/>
              <a:t>各项关键活动完成率</a:t>
            </a:r>
            <a:r>
              <a:rPr lang="en-US" altLang="zh-CN" sz="1600" dirty="0"/>
              <a:t>&gt;=60%</a:t>
            </a:r>
            <a:endParaRPr lang="en-US" altLang="zh-CN" sz="1600" dirty="0"/>
          </a:p>
          <a:p>
            <a:endParaRPr lang="zh-CN" altLang="en-US" sz="1600" b="1" dirty="0"/>
          </a:p>
        </p:txBody>
      </p:sp>
      <p:sp>
        <p:nvSpPr>
          <p:cNvPr id="10" name="文本框 9"/>
          <p:cNvSpPr txBox="1"/>
          <p:nvPr/>
        </p:nvSpPr>
        <p:spPr>
          <a:xfrm>
            <a:off x="153993" y="4583582"/>
            <a:ext cx="4648044" cy="338554"/>
          </a:xfrm>
          <a:prstGeom prst="rect">
            <a:avLst/>
          </a:prstGeom>
          <a:noFill/>
        </p:spPr>
        <p:txBody>
          <a:bodyPr wrap="square" rtlCol="0">
            <a:spAutoFit/>
          </a:bodyPr>
          <a:lstStyle/>
          <a:p>
            <a:r>
              <a:rPr lang="zh-CN" altLang="en-US" sz="1600" b="1" dirty="0"/>
              <a:t> </a:t>
            </a:r>
            <a:r>
              <a:rPr lang="en-US" altLang="zh-CN" sz="1600" b="1" dirty="0" smtClean="0"/>
              <a:t> 2</a:t>
            </a:r>
            <a:r>
              <a:rPr lang="zh-CN" altLang="en-US" sz="1600" b="1" dirty="0" smtClean="0"/>
              <a:t>、漏斗</a:t>
            </a:r>
            <a:r>
              <a:rPr lang="zh-CN" altLang="en-US" sz="1600" b="1" dirty="0"/>
              <a:t>质量及商机抽查数据看板：</a:t>
            </a:r>
            <a:endParaRPr lang="zh-CN" altLang="en-US" sz="1600" b="1" dirty="0"/>
          </a:p>
        </p:txBody>
      </p:sp>
      <p:pic>
        <p:nvPicPr>
          <p:cNvPr id="12" name="图片 11"/>
          <p:cNvPicPr>
            <a:picLocks noChangeAspect="1"/>
          </p:cNvPicPr>
          <p:nvPr/>
        </p:nvPicPr>
        <p:blipFill>
          <a:blip r:embed="rId2"/>
          <a:stretch>
            <a:fillRect/>
          </a:stretch>
        </p:blipFill>
        <p:spPr>
          <a:xfrm>
            <a:off x="142273" y="5106838"/>
            <a:ext cx="5756396" cy="1507318"/>
          </a:xfrm>
          <a:prstGeom prst="rect">
            <a:avLst/>
          </a:prstGeom>
        </p:spPr>
      </p:pic>
      <p:pic>
        <p:nvPicPr>
          <p:cNvPr id="13" name="图片 12"/>
          <p:cNvPicPr>
            <a:picLocks noChangeAspect="1"/>
          </p:cNvPicPr>
          <p:nvPr/>
        </p:nvPicPr>
        <p:blipFill>
          <a:blip r:embed="rId3"/>
          <a:stretch>
            <a:fillRect/>
          </a:stretch>
        </p:blipFill>
        <p:spPr>
          <a:xfrm>
            <a:off x="6200594" y="5106838"/>
            <a:ext cx="5013746" cy="1527876"/>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en-US" altLang="zh-CN" dirty="0" smtClean="0"/>
              <a:t>IT</a:t>
            </a:r>
            <a:r>
              <a:rPr lang="zh-CN" altLang="en-US" dirty="0" smtClean="0"/>
              <a:t>迭代优化内容及进度</a:t>
            </a:r>
            <a:endParaRPr lang="zh-CN" altLang="en-US" dirty="0"/>
          </a:p>
        </p:txBody>
      </p:sp>
      <p:pic>
        <p:nvPicPr>
          <p:cNvPr id="3" name="图片 2"/>
          <p:cNvPicPr>
            <a:picLocks noChangeAspect="1"/>
          </p:cNvPicPr>
          <p:nvPr/>
        </p:nvPicPr>
        <p:blipFill>
          <a:blip r:embed="rId1"/>
          <a:stretch>
            <a:fillRect/>
          </a:stretch>
        </p:blipFill>
        <p:spPr>
          <a:xfrm>
            <a:off x="144212" y="860540"/>
            <a:ext cx="9563929" cy="5997460"/>
          </a:xfrm>
          <a:prstGeom prst="rect">
            <a:avLst/>
          </a:prstGeom>
        </p:spPr>
      </p:pic>
      <p:sp>
        <p:nvSpPr>
          <p:cNvPr id="4" name="矩形 3"/>
          <p:cNvSpPr/>
          <p:nvPr/>
        </p:nvSpPr>
        <p:spPr>
          <a:xfrm>
            <a:off x="9595997" y="987971"/>
            <a:ext cx="2368841" cy="4438907"/>
          </a:xfrm>
          <a:prstGeom prst="rect">
            <a:avLst/>
          </a:prstGeom>
        </p:spPr>
        <p:txBody>
          <a:bodyPr wrap="square">
            <a:spAutoFit/>
          </a:bodyPr>
          <a:lstStyle/>
          <a:p>
            <a:pPr marL="113665" eaLnBrk="0">
              <a:lnSpc>
                <a:spcPct val="85000"/>
              </a:lnSpc>
              <a:spcBef>
                <a:spcPts val="425"/>
              </a:spcBef>
            </a:pP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重点注意事项</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对于</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V1.0</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流程推行需要的</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IT</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支持进行了稳步推进，下一步在进行流程培训和宣贯的过程中也会针对系统的变化和重要功能的使用方法进行培训。</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en-US" altLang="zh-CN"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培训文档：</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dirty="0">
                <a:hlinkClick r:id="rId2"/>
              </a:rPr>
              <a:t>MO</a:t>
            </a:r>
            <a:r>
              <a:rPr lang="zh-CN" altLang="en-US" sz="1400" dirty="0">
                <a:hlinkClick r:id="rId2"/>
              </a:rPr>
              <a:t>流程</a:t>
            </a:r>
            <a:r>
              <a:rPr lang="en-US" altLang="zh-CN" sz="1400" dirty="0">
                <a:hlinkClick r:id="rId2"/>
              </a:rPr>
              <a:t>-</a:t>
            </a:r>
            <a:r>
              <a:rPr lang="zh-CN" altLang="en-US" sz="1400" dirty="0">
                <a:hlinkClick r:id="rId2"/>
              </a:rPr>
              <a:t>功能操作说明文档</a:t>
            </a:r>
            <a:r>
              <a:rPr lang="zh-CN" altLang="en-US" sz="1400" dirty="0"/>
              <a:t> </a:t>
            </a:r>
            <a:endParaRPr lang="en-US" altLang="zh-CN" sz="1400" dirty="0" smtClean="0"/>
          </a:p>
          <a:p>
            <a:pPr marL="113665" eaLnBrk="0">
              <a:lnSpc>
                <a:spcPct val="85000"/>
              </a:lnSpc>
              <a:spcBef>
                <a:spcPts val="425"/>
              </a:spcBef>
            </a:pPr>
            <a:endParaRPr lang="en-US" altLang="zh-CN"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为了保证流程效率，减少过多的附件和交付物在各阶段重复上传，设计了专属的</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hlinkClick r:id="rId3"/>
              </a:rPr>
              <a:t>MO</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hlinkClick r:id="rId3"/>
              </a:rPr>
              <a:t>项目文档</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，每个项目参考</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hlinkClick r:id="rId4"/>
              </a:rPr>
              <a:t>《MO</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hlinkClick r:id="rId4"/>
              </a:rPr>
              <a:t>信息跟踪与管理模板</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hlinkClick r:id="rId4"/>
              </a:rPr>
              <a:t>》</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单独管理自己的项目交付物清单。</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zh-CN" altLang="en-US" sz="300" dirty="0">
              <a:ea typeface="Arial" panose="020B0604020202090204"/>
              <a:cs typeface="Arial" panose="020B0604020202090204"/>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文本框 23"/>
          <p:cNvSpPr txBox="1"/>
          <p:nvPr/>
        </p:nvSpPr>
        <p:spPr>
          <a:xfrm>
            <a:off x="2012293" y="5947150"/>
            <a:ext cx="1223412" cy="275588"/>
          </a:xfrm>
          <a:prstGeom prst="rect">
            <a:avLst/>
          </a:prstGeom>
          <a:noFill/>
        </p:spPr>
        <p:txBody>
          <a:bodyPr wrap="none" rtlCol="0">
            <a:spAutoFit/>
          </a:bodyPr>
          <a:lstStyle/>
          <a:p>
            <a:pPr>
              <a:lnSpc>
                <a:spcPct val="150000"/>
              </a:lnSpc>
            </a:pPr>
            <a:r>
              <a:rPr kumimoji="1" lang="zh-CN" altLang="en-US" sz="90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扫一扫了解更多资讯</a:t>
            </a:r>
            <a:endParaRPr kumimoji="1" lang="zh-CN" altLang="en-US" sz="90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7" name="图片 26"/>
          <p:cNvPicPr>
            <a:picLocks noChangeAspect="1"/>
          </p:cNvPicPr>
          <p:nvPr/>
        </p:nvPicPr>
        <p:blipFill>
          <a:blip r:embed="rId1" cstate="screen"/>
          <a:stretch>
            <a:fillRect/>
          </a:stretch>
        </p:blipFill>
        <p:spPr>
          <a:xfrm>
            <a:off x="764301" y="5154553"/>
            <a:ext cx="1082787" cy="1082787"/>
          </a:xfrm>
          <a:prstGeom prst="rect">
            <a:avLst/>
          </a:prstGeom>
        </p:spPr>
      </p:pic>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UNIT_PLACING_PICTURE_USER_VIEWPORT" val="{&quot;height&quot;:10800,&quot;width&quot;:19199.310236220474}"/>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UNIT_PLACING_PICTURE_USER_VIEWPORT" val="{&quot;height&quot;:10800,&quot;width&quot;:19199.310236220474}"/>
  <p:tag name="KSO_WM_BEAUTIFY_FLAG" val=""/>
</p:tagLst>
</file>

<file path=ppt/tags/tag13.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14.xml><?xml version="1.0" encoding="utf-8"?>
<p:tagLst xmlns:p="http://schemas.openxmlformats.org/presentationml/2006/main">
  <p:tag name="KSO_WPP_MARK_KEY" val="5a5b54e7-09c9-4e3b-8074-73364de01119"/>
  <p:tag name="COMMONDATA" val="eyJoZGlkIjoiYTg1ODA4OWVjMjRhODZlMDEyMmFhZDlhODFjYTBiYzU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5437</Words>
  <Application>WPS 表格</Application>
  <PresentationFormat>宽屏</PresentationFormat>
  <Paragraphs>605</Paragraphs>
  <Slides>16</Slides>
  <Notes>0</Notes>
  <HiddenSlides>0</HiddenSlides>
  <MMClips>0</MMClips>
  <ScaleCrop>false</ScaleCrop>
  <HeadingPairs>
    <vt:vector size="6" baseType="variant">
      <vt:variant>
        <vt:lpstr>已用的字体</vt:lpstr>
      </vt:variant>
      <vt:variant>
        <vt:i4>24</vt:i4>
      </vt:variant>
      <vt:variant>
        <vt:lpstr>主题</vt:lpstr>
      </vt:variant>
      <vt:variant>
        <vt:i4>2</vt:i4>
      </vt:variant>
      <vt:variant>
        <vt:lpstr>幻灯片标题</vt:lpstr>
      </vt:variant>
      <vt:variant>
        <vt:i4>16</vt:i4>
      </vt:variant>
    </vt:vector>
  </HeadingPairs>
  <TitlesOfParts>
    <vt:vector size="42" baseType="lpstr">
      <vt:lpstr>Arial</vt:lpstr>
      <vt:lpstr>宋体</vt:lpstr>
      <vt:lpstr>Wingdings</vt:lpstr>
      <vt:lpstr>微软雅黑</vt:lpstr>
      <vt:lpstr>汉仪旗黑</vt:lpstr>
      <vt:lpstr>Calibri</vt:lpstr>
      <vt:lpstr>Helvetica Neue</vt:lpstr>
      <vt:lpstr>汉仪书宋二KW</vt:lpstr>
      <vt:lpstr>Wingdings</vt:lpstr>
      <vt:lpstr>Inter</vt:lpstr>
      <vt:lpstr>Thonburi</vt:lpstr>
      <vt:lpstr>华文细黑</vt:lpstr>
      <vt:lpstr>FrutigerNext LT Medium</vt:lpstr>
      <vt:lpstr>Arial</vt:lpstr>
      <vt:lpstr>宋体</vt:lpstr>
      <vt:lpstr>Arial Unicode MS</vt:lpstr>
      <vt:lpstr>等线 Light</vt:lpstr>
      <vt:lpstr>汉仪中等线KW</vt:lpstr>
      <vt:lpstr>等线</vt:lpstr>
      <vt:lpstr>Inter</vt:lpstr>
      <vt:lpstr>微软雅黑</vt:lpstr>
      <vt:lpstr>黑体-简</vt:lpstr>
      <vt:lpstr>苹方-简</vt:lpstr>
      <vt:lpstr>儷宋 Pro</vt:lpstr>
      <vt:lpstr>Office 主题​​</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1405</dc:creator>
  <cp:lastModifiedBy>a13609</cp:lastModifiedBy>
  <cp:revision>238</cp:revision>
  <dcterms:created xsi:type="dcterms:W3CDTF">2025-07-28T02:11:23Z</dcterms:created>
  <dcterms:modified xsi:type="dcterms:W3CDTF">2025-07-28T02:11:23Z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FC3DAD5E4268449992511FCE7F88E9A6</vt:lpwstr>
  </property>
  <property fmtid="{D5CDD505-2E9C-101B-9397-08002B2CF9AE}" pid="3" name="KSOProductBuildVer">
    <vt:lpwstr>2052-7.5.1.8994</vt:lpwstr>
  </property>
</Properties>
</file>