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75" r:id="rId4"/>
    <p:sldId id="259" r:id="rId5"/>
    <p:sldId id="260" r:id="rId6"/>
    <p:sldId id="261" r:id="rId7"/>
    <p:sldId id="262" r:id="rId8"/>
    <p:sldId id="2576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38"/>
    <p:restoredTop sz="94617"/>
  </p:normalViewPr>
  <p:slideViewPr>
    <p:cSldViewPr snapToGrid="0" snapToObjects="1">
      <p:cViewPr varScale="1">
        <p:scale>
          <a:sx n="128" d="100"/>
          <a:sy n="128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3EEFF-A403-2F41-B66F-DECDD11A0EBA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2D945-3B9B-5E4E-9910-CBCFDE1412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33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AE2C8E-0C21-435F-92AD-0357010659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507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340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650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5032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384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44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964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787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234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13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959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099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9CFCF-38FA-6A4F-8ADB-A4A796C6EBC8}" type="datetimeFigureOut">
              <a:rPr kumimoji="1" lang="zh-CN" altLang="en-US" smtClean="0"/>
              <a:t>2025/5/14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C506-5FFE-184B-9AB2-877A368E844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F2C1CD-20DC-7243-A6E2-0516F4ADFD4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0" y="6538912"/>
            <a:ext cx="289820" cy="28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5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建筑物, 户外, 天空, 城市&#10;&#10;已生成极高可信度的说明">
            <a:extLst>
              <a:ext uri="{FF2B5EF4-FFF2-40B4-BE49-F238E27FC236}">
                <a16:creationId xmlns:a16="http://schemas.microsoft.com/office/drawing/2014/main" id="{FB4936AA-48CF-4457-BEC0-0C6794980F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3"/>
          <a:stretch/>
        </p:blipFill>
        <p:spPr>
          <a:xfrm>
            <a:off x="0" y="-35595"/>
            <a:ext cx="12192000" cy="330257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69784C5-39F2-4F9F-B236-03E92CA0D172}"/>
              </a:ext>
            </a:extLst>
          </p:cNvPr>
          <p:cNvSpPr txBox="1"/>
          <p:nvPr/>
        </p:nvSpPr>
        <p:spPr>
          <a:xfrm>
            <a:off x="1534886" y="4138122"/>
            <a:ext cx="5969000" cy="5210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***项目分析会模板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C7FCA14-C948-41AA-B900-2800FAAE0DBD}"/>
              </a:ext>
            </a:extLst>
          </p:cNvPr>
          <p:cNvCxnSpPr>
            <a:cxnSpLocks/>
          </p:cNvCxnSpPr>
          <p:nvPr/>
        </p:nvCxnSpPr>
        <p:spPr>
          <a:xfrm>
            <a:off x="1534886" y="4599563"/>
            <a:ext cx="666205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516FDC1E-2FC7-43F7-A12F-458171B03263}"/>
              </a:ext>
            </a:extLst>
          </p:cNvPr>
          <p:cNvSpPr/>
          <p:nvPr/>
        </p:nvSpPr>
        <p:spPr>
          <a:xfrm>
            <a:off x="7503886" y="5470703"/>
            <a:ext cx="3718296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销售姓名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：*****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项目分析会召开时间：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2023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B2B3AA-F0FC-42D9-9AFB-029EF950710C}"/>
              </a:ext>
            </a:extLst>
          </p:cNvPr>
          <p:cNvSpPr/>
          <p:nvPr/>
        </p:nvSpPr>
        <p:spPr>
          <a:xfrm>
            <a:off x="0" y="3266983"/>
            <a:ext cx="12192000" cy="11540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 descr="场景无限 智享物联 锐捷网络移动医疗解决方案2018-03">
            <a:extLst>
              <a:ext uri="{FF2B5EF4-FFF2-40B4-BE49-F238E27FC236}">
                <a16:creationId xmlns:a16="http://schemas.microsoft.com/office/drawing/2014/main" id="{9D5AE2A2-E8B9-E745-9479-225E90F1B717}"/>
              </a:ext>
            </a:extLst>
          </p:cNvPr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179882" y="179882"/>
            <a:ext cx="1903404" cy="32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4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966" y="365125"/>
            <a:ext cx="10515600" cy="49672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一、项目基本信息汇总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72966" y="1146628"/>
            <a:ext cx="10515600" cy="34108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此部分由销售人员，把项目前期跟进所了解的基本信息进行汇总梳理。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先写清楚，项目名称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再写明项目在客户采购流程的哪个阶段。阶段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“评估方案圈定供应商”还是阶段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“制定规则落实采购”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最后聚焦把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信息写清楚即可。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FAF816-7D80-0A31-254C-9ED355DC0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824"/>
            <a:ext cx="12192000" cy="607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6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966" y="365125"/>
            <a:ext cx="10515600" cy="49672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一、项目基本信息汇总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87A7D2-F3DE-6E34-F50C-A51555675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353"/>
            <a:ext cx="12192000" cy="644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2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966" y="365125"/>
            <a:ext cx="10515600" cy="49672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二、分析客户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与我司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UBV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72966" y="1146628"/>
            <a:ext cx="10515600" cy="34108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客户的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客户不得不做这个项目的理由。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我司的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UBV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在项目中，对于客户明确的业务需求 ，我们比其他竞争对手更好地满足（带来更多、高可衡量的价值）的，且被客户认可的那项。注意，必须是被客户认可的价值才算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UBV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，否则只是我们自认为的价值只能是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1AE1DE-797C-4A3E-EA8F-98D01771C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61" y="1663340"/>
            <a:ext cx="5356487" cy="11215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50DDA69-E3A8-0B91-62DC-930A2527A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" y="3301595"/>
            <a:ext cx="12192000" cy="160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9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966" y="365125"/>
            <a:ext cx="10515600" cy="49672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三、画出组织结构图</a:t>
            </a:r>
          </a:p>
        </p:txBody>
      </p:sp>
      <p:grpSp>
        <p:nvGrpSpPr>
          <p:cNvPr id="154" name="Group 5"/>
          <p:cNvGrpSpPr>
            <a:grpSpLocks/>
          </p:cNvGrpSpPr>
          <p:nvPr/>
        </p:nvGrpSpPr>
        <p:grpSpPr bwMode="auto">
          <a:xfrm>
            <a:off x="2734639" y="2000366"/>
            <a:ext cx="1255712" cy="627063"/>
            <a:chOff x="2146" y="904"/>
            <a:chExt cx="791" cy="395"/>
          </a:xfrm>
        </p:grpSpPr>
        <p:grpSp>
          <p:nvGrpSpPr>
            <p:cNvPr id="155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162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6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分管副局长</a:t>
              </a:r>
            </a:p>
          </p:txBody>
        </p:sp>
        <p:sp>
          <p:nvSpPr>
            <p:cNvPr id="158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7" name="Group 18"/>
          <p:cNvGrpSpPr>
            <a:grpSpLocks/>
          </p:cNvGrpSpPr>
          <p:nvPr/>
        </p:nvGrpSpPr>
        <p:grpSpPr bwMode="auto">
          <a:xfrm>
            <a:off x="5225914" y="3062052"/>
            <a:ext cx="1255713" cy="936625"/>
            <a:chOff x="703" y="1525"/>
            <a:chExt cx="791" cy="590"/>
          </a:xfrm>
        </p:grpSpPr>
        <p:sp>
          <p:nvSpPr>
            <p:cNvPr id="168" name="Text Box 1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9" name="Group 2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176" name="Rectangle 2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Rectangle 2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2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2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2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0" name="Text Box 2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Text Box 27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科技处处长</a:t>
              </a:r>
            </a:p>
          </p:txBody>
        </p:sp>
        <p:sp>
          <p:nvSpPr>
            <p:cNvPr id="172" name="Text Box 2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决</a:t>
              </a:r>
            </a:p>
          </p:txBody>
        </p:sp>
        <p:sp>
          <p:nvSpPr>
            <p:cNvPr id="173" name="Text Box 2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174" name="Text Box 3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175" name="Text Box 3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1" name="Group 32"/>
          <p:cNvGrpSpPr>
            <a:grpSpLocks/>
          </p:cNvGrpSpPr>
          <p:nvPr/>
        </p:nvGrpSpPr>
        <p:grpSpPr bwMode="auto">
          <a:xfrm>
            <a:off x="5152889" y="3925652"/>
            <a:ext cx="1425575" cy="936625"/>
            <a:chOff x="657" y="2069"/>
            <a:chExt cx="898" cy="590"/>
          </a:xfrm>
        </p:grpSpPr>
        <p:sp>
          <p:nvSpPr>
            <p:cNvPr id="182" name="Text Box 33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3" name="Group 34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190" name="Rectangle 35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Rectangle 36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37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Line 38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39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4" name="Text Box 40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Text Box 41"/>
            <p:cNvSpPr txBox="1">
              <a:spLocks noChangeArrowheads="1"/>
            </p:cNvSpPr>
            <p:nvPr/>
          </p:nvSpPr>
          <p:spPr bwMode="auto">
            <a:xfrm>
              <a:off x="657" y="2069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科技处副处长</a:t>
              </a:r>
            </a:p>
          </p:txBody>
        </p:sp>
        <p:sp>
          <p:nvSpPr>
            <p:cNvPr id="186" name="Text Box 42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187" name="Text Box 43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保</a:t>
              </a:r>
            </a:p>
          </p:txBody>
        </p:sp>
        <p:sp>
          <p:nvSpPr>
            <p:cNvPr id="188" name="Text Box 44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不</a:t>
              </a:r>
            </a:p>
          </p:txBody>
        </p:sp>
        <p:sp>
          <p:nvSpPr>
            <p:cNvPr id="189" name="Text Box 45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5" name="Group 46"/>
          <p:cNvGrpSpPr>
            <a:grpSpLocks/>
          </p:cNvGrpSpPr>
          <p:nvPr/>
        </p:nvGrpSpPr>
        <p:grpSpPr bwMode="auto">
          <a:xfrm>
            <a:off x="5152889" y="4741627"/>
            <a:ext cx="1284288" cy="936625"/>
            <a:chOff x="657" y="2069"/>
            <a:chExt cx="809" cy="590"/>
          </a:xfrm>
        </p:grpSpPr>
        <p:sp>
          <p:nvSpPr>
            <p:cNvPr id="196" name="Text Box 47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7" name="Group 48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204" name="Rectangle 49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Rectangle 50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Line 51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Line 52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Line 53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8" name="Text Box 54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Text Box 55"/>
            <p:cNvSpPr txBox="1">
              <a:spLocks noChangeArrowheads="1"/>
            </p:cNvSpPr>
            <p:nvPr/>
          </p:nvSpPr>
          <p:spPr bwMode="auto">
            <a:xfrm>
              <a:off x="657" y="2069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网络科科长</a:t>
              </a:r>
            </a:p>
          </p:txBody>
        </p:sp>
        <p:sp>
          <p:nvSpPr>
            <p:cNvPr id="200" name="Text Box 56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01" name="Text Box 57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202" name="Text Box 58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导</a:t>
              </a:r>
            </a:p>
          </p:txBody>
        </p:sp>
        <p:sp>
          <p:nvSpPr>
            <p:cNvPr id="203" name="Text Box 59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grpSp>
        <p:nvGrpSpPr>
          <p:cNvPr id="209" name="Group 60"/>
          <p:cNvGrpSpPr>
            <a:grpSpLocks/>
          </p:cNvGrpSpPr>
          <p:nvPr/>
        </p:nvGrpSpPr>
        <p:grpSpPr bwMode="auto">
          <a:xfrm>
            <a:off x="2761016" y="2904446"/>
            <a:ext cx="1255712" cy="936626"/>
            <a:chOff x="703" y="1525"/>
            <a:chExt cx="791" cy="590"/>
          </a:xfrm>
        </p:grpSpPr>
        <p:sp>
          <p:nvSpPr>
            <p:cNvPr id="210" name="Text Box 61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1" name="Group 62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18" name="Rectangle 63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Rectangle 64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Line 65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Line 66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Line 67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2" name="Text Box 68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Text Box 69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设备处处长</a:t>
              </a:r>
            </a:p>
          </p:txBody>
        </p:sp>
        <p:sp>
          <p:nvSpPr>
            <p:cNvPr id="214" name="Text Box 70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15" name="Text Box 71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Text Box 72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反</a:t>
              </a:r>
            </a:p>
          </p:txBody>
        </p:sp>
        <p:sp>
          <p:nvSpPr>
            <p:cNvPr id="217" name="Text Box 73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少</a:t>
              </a:r>
            </a:p>
          </p:txBody>
        </p:sp>
      </p:grpSp>
      <p:grpSp>
        <p:nvGrpSpPr>
          <p:cNvPr id="223" name="Group 74"/>
          <p:cNvGrpSpPr>
            <a:grpSpLocks/>
          </p:cNvGrpSpPr>
          <p:nvPr/>
        </p:nvGrpSpPr>
        <p:grpSpPr bwMode="auto">
          <a:xfrm>
            <a:off x="2761016" y="5624517"/>
            <a:ext cx="1236662" cy="936625"/>
            <a:chOff x="703" y="1525"/>
            <a:chExt cx="779" cy="590"/>
          </a:xfrm>
        </p:grpSpPr>
        <p:sp>
          <p:nvSpPr>
            <p:cNvPr id="224" name="Text Box 75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5" name="Group 76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32" name="Rectangle 7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Rectangle 7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4" name="Line 7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Line 8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Line 8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6" name="Text Box 82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Text Box 83"/>
            <p:cNvSpPr txBox="1">
              <a:spLocks noChangeArrowheads="1"/>
            </p:cNvSpPr>
            <p:nvPr/>
          </p:nvSpPr>
          <p:spPr bwMode="auto">
            <a:xfrm>
              <a:off x="726" y="1525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设备处科员</a:t>
              </a:r>
            </a:p>
          </p:txBody>
        </p:sp>
        <p:sp>
          <p:nvSpPr>
            <p:cNvPr id="228" name="Text Box 84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29" name="Text Box 85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230" name="Text Box 86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不</a:t>
              </a:r>
            </a:p>
          </p:txBody>
        </p:sp>
        <p:sp>
          <p:nvSpPr>
            <p:cNvPr id="231" name="Text Box 87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7" name="Group 88"/>
          <p:cNvGrpSpPr>
            <a:grpSpLocks/>
          </p:cNvGrpSpPr>
          <p:nvPr/>
        </p:nvGrpSpPr>
        <p:grpSpPr bwMode="auto">
          <a:xfrm>
            <a:off x="321026" y="2894418"/>
            <a:ext cx="1247776" cy="936626"/>
            <a:chOff x="703" y="1525"/>
            <a:chExt cx="786" cy="590"/>
          </a:xfrm>
        </p:grpSpPr>
        <p:sp>
          <p:nvSpPr>
            <p:cNvPr id="238" name="Text Box 8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9" name="Group 9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46" name="Rectangle 9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Rectangle 9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Line 9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9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9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0" name="Text Box 9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Text Box 97"/>
            <p:cNvSpPr txBox="1">
              <a:spLocks noChangeArrowheads="1"/>
            </p:cNvSpPr>
            <p:nvPr/>
          </p:nvSpPr>
          <p:spPr bwMode="auto">
            <a:xfrm>
              <a:off x="726" y="1525"/>
              <a:ext cx="76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设计院总工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Text Box 9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43" name="Text Box 9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Text Box 10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245" name="Text Box 10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1" name="Group 102"/>
          <p:cNvGrpSpPr>
            <a:grpSpLocks/>
          </p:cNvGrpSpPr>
          <p:nvPr/>
        </p:nvGrpSpPr>
        <p:grpSpPr bwMode="auto">
          <a:xfrm>
            <a:off x="5182107" y="5624516"/>
            <a:ext cx="1284288" cy="936625"/>
            <a:chOff x="657" y="2069"/>
            <a:chExt cx="809" cy="590"/>
          </a:xfrm>
        </p:grpSpPr>
        <p:sp>
          <p:nvSpPr>
            <p:cNvPr id="252" name="Text Box 103"/>
            <p:cNvSpPr txBox="1">
              <a:spLocks noChangeArrowheads="1"/>
            </p:cNvSpPr>
            <p:nvPr/>
          </p:nvSpPr>
          <p:spPr bwMode="auto">
            <a:xfrm>
              <a:off x="1091" y="24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3" name="Group 104"/>
            <p:cNvGrpSpPr>
              <a:grpSpLocks/>
            </p:cNvGrpSpPr>
            <p:nvPr/>
          </p:nvGrpSpPr>
          <p:grpSpPr bwMode="auto">
            <a:xfrm>
              <a:off x="718" y="2069"/>
              <a:ext cx="748" cy="363"/>
              <a:chOff x="2404" y="1071"/>
              <a:chExt cx="862" cy="454"/>
            </a:xfrm>
          </p:grpSpPr>
          <p:sp>
            <p:nvSpPr>
              <p:cNvPr id="260" name="Rectangle 105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Rectangle 106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107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108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109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4" name="Text Box 110"/>
            <p:cNvSpPr txBox="1">
              <a:spLocks noChangeArrowheads="1"/>
            </p:cNvSpPr>
            <p:nvPr/>
          </p:nvSpPr>
          <p:spPr bwMode="auto">
            <a:xfrm>
              <a:off x="718" y="2069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Text Box 111"/>
            <p:cNvSpPr txBox="1">
              <a:spLocks noChangeArrowheads="1"/>
            </p:cNvSpPr>
            <p:nvPr/>
          </p:nvSpPr>
          <p:spPr bwMode="auto">
            <a:xfrm>
              <a:off x="657" y="2069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网络科科员</a:t>
              </a:r>
            </a:p>
          </p:txBody>
        </p:sp>
        <p:sp>
          <p:nvSpPr>
            <p:cNvPr id="256" name="Text Box 112"/>
            <p:cNvSpPr txBox="1">
              <a:spLocks noChangeArrowheads="1"/>
            </p:cNvSpPr>
            <p:nvPr/>
          </p:nvSpPr>
          <p:spPr bwMode="auto">
            <a:xfrm>
              <a:off x="695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57" name="Text Box 113"/>
            <p:cNvSpPr txBox="1">
              <a:spLocks noChangeArrowheads="1"/>
            </p:cNvSpPr>
            <p:nvPr/>
          </p:nvSpPr>
          <p:spPr bwMode="auto">
            <a:xfrm>
              <a:off x="876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前</a:t>
              </a:r>
            </a:p>
          </p:txBody>
        </p:sp>
        <p:sp>
          <p:nvSpPr>
            <p:cNvPr id="258" name="Text Box 114"/>
            <p:cNvSpPr txBox="1">
              <a:spLocks noChangeArrowheads="1"/>
            </p:cNvSpPr>
            <p:nvPr/>
          </p:nvSpPr>
          <p:spPr bwMode="auto">
            <a:xfrm>
              <a:off x="1058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259" name="Text Box 115"/>
            <p:cNvSpPr txBox="1">
              <a:spLocks noChangeArrowheads="1"/>
            </p:cNvSpPr>
            <p:nvPr/>
          </p:nvSpPr>
          <p:spPr bwMode="auto">
            <a:xfrm>
              <a:off x="1239" y="2251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sp>
        <p:nvSpPr>
          <p:cNvPr id="265" name="Rectangle 116"/>
          <p:cNvSpPr>
            <a:spLocks noChangeArrowheads="1"/>
          </p:cNvSpPr>
          <p:nvPr/>
        </p:nvSpPr>
        <p:spPr bwMode="auto">
          <a:xfrm>
            <a:off x="9121455" y="2767922"/>
            <a:ext cx="1187450" cy="346075"/>
          </a:xfrm>
          <a:prstGeom prst="rect">
            <a:avLst/>
          </a:prstGeom>
          <a:solidFill>
            <a:srgbClr val="9A9180"/>
          </a:solidFill>
          <a:ln w="9525">
            <a:solidFill>
              <a:srgbClr val="BCB5A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Text Box 117"/>
          <p:cNvSpPr txBox="1">
            <a:spLocks noChangeArrowheads="1"/>
          </p:cNvSpPr>
          <p:nvPr/>
        </p:nvSpPr>
        <p:spPr bwMode="auto">
          <a:xfrm>
            <a:off x="9121455" y="2767922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kumimoji="0" lang="zh-CN" altLang="en-US" sz="18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Text Box 118"/>
          <p:cNvSpPr txBox="1">
            <a:spLocks noChangeArrowheads="1"/>
          </p:cNvSpPr>
          <p:nvPr/>
        </p:nvSpPr>
        <p:spPr bwMode="auto">
          <a:xfrm>
            <a:off x="9121455" y="2767922"/>
            <a:ext cx="1011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集成商甲</a:t>
            </a:r>
          </a:p>
        </p:txBody>
      </p:sp>
      <p:grpSp>
        <p:nvGrpSpPr>
          <p:cNvPr id="268" name="Group 119"/>
          <p:cNvGrpSpPr>
            <a:grpSpLocks/>
          </p:cNvGrpSpPr>
          <p:nvPr/>
        </p:nvGrpSpPr>
        <p:grpSpPr bwMode="auto">
          <a:xfrm>
            <a:off x="6997380" y="5360309"/>
            <a:ext cx="1236663" cy="936625"/>
            <a:chOff x="703" y="1525"/>
            <a:chExt cx="779" cy="590"/>
          </a:xfrm>
        </p:grpSpPr>
        <p:sp>
          <p:nvSpPr>
            <p:cNvPr id="269" name="Text Box 120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0" name="Group 121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277" name="Rectangle 122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8" name="Rectangle 123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9" name="Line 124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Line 125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Line 126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1" name="Text Box 127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Text Box 128"/>
            <p:cNvSpPr txBox="1">
              <a:spLocks noChangeArrowheads="1"/>
            </p:cNvSpPr>
            <p:nvPr/>
          </p:nvSpPr>
          <p:spPr bwMode="auto">
            <a:xfrm>
              <a:off x="726" y="1525"/>
              <a:ext cx="7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财务处科员</a:t>
              </a:r>
            </a:p>
          </p:txBody>
        </p:sp>
        <p:sp>
          <p:nvSpPr>
            <p:cNvPr id="273" name="Text Box 129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74" name="Text Box 130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创</a:t>
              </a:r>
            </a:p>
          </p:txBody>
        </p:sp>
        <p:sp>
          <p:nvSpPr>
            <p:cNvPr id="275" name="Text Box 131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导</a:t>
              </a:r>
            </a:p>
          </p:txBody>
        </p:sp>
        <p:sp>
          <p:nvSpPr>
            <p:cNvPr id="276" name="Text Box 132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深</a:t>
              </a:r>
            </a:p>
          </p:txBody>
        </p:sp>
      </p:grpSp>
      <p:sp>
        <p:nvSpPr>
          <p:cNvPr id="282" name="Line 133"/>
          <p:cNvSpPr>
            <a:spLocks noChangeShapeType="1"/>
          </p:cNvSpPr>
          <p:nvPr/>
        </p:nvSpPr>
        <p:spPr bwMode="auto">
          <a:xfrm>
            <a:off x="3388078" y="2537735"/>
            <a:ext cx="0" cy="395288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3" name="Line 134"/>
          <p:cNvSpPr>
            <a:spLocks noChangeShapeType="1"/>
          </p:cNvSpPr>
          <p:nvPr/>
        </p:nvSpPr>
        <p:spPr bwMode="auto">
          <a:xfrm>
            <a:off x="5884727" y="2767922"/>
            <a:ext cx="1796255" cy="0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Line 135"/>
          <p:cNvSpPr>
            <a:spLocks noChangeShapeType="1"/>
          </p:cNvSpPr>
          <p:nvPr/>
        </p:nvSpPr>
        <p:spPr bwMode="auto">
          <a:xfrm flipH="1">
            <a:off x="5884727" y="2472683"/>
            <a:ext cx="9342" cy="576669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Line 136"/>
          <p:cNvSpPr>
            <a:spLocks noChangeShapeType="1"/>
          </p:cNvSpPr>
          <p:nvPr/>
        </p:nvSpPr>
        <p:spPr bwMode="auto">
          <a:xfrm>
            <a:off x="7659308" y="2796940"/>
            <a:ext cx="0" cy="2524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Line 137"/>
          <p:cNvSpPr>
            <a:spLocks noChangeShapeType="1"/>
          </p:cNvSpPr>
          <p:nvPr/>
        </p:nvSpPr>
        <p:spPr bwMode="auto">
          <a:xfrm>
            <a:off x="5848214" y="3625615"/>
            <a:ext cx="0" cy="28733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" name="Line 138"/>
          <p:cNvSpPr>
            <a:spLocks noChangeShapeType="1"/>
          </p:cNvSpPr>
          <p:nvPr/>
        </p:nvSpPr>
        <p:spPr bwMode="auto">
          <a:xfrm>
            <a:off x="5848214" y="4489215"/>
            <a:ext cx="0" cy="2524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8" name="Line 139"/>
          <p:cNvSpPr>
            <a:spLocks noChangeShapeType="1"/>
          </p:cNvSpPr>
          <p:nvPr/>
        </p:nvSpPr>
        <p:spPr bwMode="auto">
          <a:xfrm>
            <a:off x="5848214" y="5316302"/>
            <a:ext cx="0" cy="252413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" name="Line 140"/>
          <p:cNvSpPr>
            <a:spLocks noChangeShapeType="1"/>
          </p:cNvSpPr>
          <p:nvPr/>
        </p:nvSpPr>
        <p:spPr bwMode="auto">
          <a:xfrm flipH="1">
            <a:off x="3364877" y="3468005"/>
            <a:ext cx="23202" cy="214266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0" name="Line 141"/>
          <p:cNvSpPr>
            <a:spLocks noChangeShapeType="1"/>
          </p:cNvSpPr>
          <p:nvPr/>
        </p:nvSpPr>
        <p:spPr bwMode="auto">
          <a:xfrm>
            <a:off x="7638730" y="3380697"/>
            <a:ext cx="3175" cy="1979612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" name="Rectangle 146"/>
          <p:cNvSpPr>
            <a:spLocks noChangeArrowheads="1"/>
          </p:cNvSpPr>
          <p:nvPr/>
        </p:nvSpPr>
        <p:spPr bwMode="auto">
          <a:xfrm>
            <a:off x="9146855" y="3625172"/>
            <a:ext cx="1187450" cy="346075"/>
          </a:xfrm>
          <a:prstGeom prst="rect">
            <a:avLst/>
          </a:prstGeom>
          <a:solidFill>
            <a:srgbClr val="9A9180"/>
          </a:solidFill>
          <a:ln w="9525">
            <a:solidFill>
              <a:srgbClr val="BCB5A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2" name="Text Box 147"/>
          <p:cNvSpPr txBox="1">
            <a:spLocks noChangeArrowheads="1"/>
          </p:cNvSpPr>
          <p:nvPr/>
        </p:nvSpPr>
        <p:spPr bwMode="auto">
          <a:xfrm>
            <a:off x="9146855" y="3625172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kumimoji="0" lang="zh-CN" altLang="en-US" sz="18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3" name="Text Box 148"/>
          <p:cNvSpPr txBox="1">
            <a:spLocks noChangeArrowheads="1"/>
          </p:cNvSpPr>
          <p:nvPr/>
        </p:nvSpPr>
        <p:spPr bwMode="auto">
          <a:xfrm>
            <a:off x="9146855" y="3625172"/>
            <a:ext cx="10112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集成商乙</a:t>
            </a:r>
          </a:p>
        </p:txBody>
      </p:sp>
      <p:cxnSp>
        <p:nvCxnSpPr>
          <p:cNvPr id="294" name="曲线连接符 293"/>
          <p:cNvCxnSpPr>
            <a:endCxn id="332" idx="3"/>
          </p:cNvCxnSpPr>
          <p:nvPr/>
        </p:nvCxnSpPr>
        <p:spPr>
          <a:xfrm rot="16200000" flipV="1">
            <a:off x="5658664" y="3377066"/>
            <a:ext cx="2874287" cy="1092201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5" name="曲线连接符 294"/>
          <p:cNvCxnSpPr>
            <a:endCxn id="177" idx="3"/>
          </p:cNvCxnSpPr>
          <p:nvPr/>
        </p:nvCxnSpPr>
        <p:spPr>
          <a:xfrm rot="10800000">
            <a:off x="6449878" y="3523444"/>
            <a:ext cx="2696979" cy="304487"/>
          </a:xfrm>
          <a:prstGeom prst="curvedConnector3">
            <a:avLst>
              <a:gd name="adj1" fmla="val 97244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6" name="曲线连接符 295"/>
          <p:cNvCxnSpPr>
            <a:endCxn id="331" idx="3"/>
          </p:cNvCxnSpPr>
          <p:nvPr/>
        </p:nvCxnSpPr>
        <p:spPr>
          <a:xfrm rot="10800000">
            <a:off x="6549707" y="2197892"/>
            <a:ext cx="2571753" cy="743072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7" name="曲线连接符 296"/>
          <p:cNvCxnSpPr/>
          <p:nvPr/>
        </p:nvCxnSpPr>
        <p:spPr>
          <a:xfrm rot="16200000" flipV="1">
            <a:off x="4392081" y="4101468"/>
            <a:ext cx="1799431" cy="58737"/>
          </a:xfrm>
          <a:prstGeom prst="curvedConnector4">
            <a:avLst>
              <a:gd name="adj1" fmla="val 16718"/>
              <a:gd name="adj2" fmla="val 1594608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cxnSp>
        <p:nvCxnSpPr>
          <p:cNvPr id="298" name="曲线连接符 297"/>
          <p:cNvCxnSpPr>
            <a:endCxn id="311" idx="1"/>
          </p:cNvCxnSpPr>
          <p:nvPr/>
        </p:nvCxnSpPr>
        <p:spPr>
          <a:xfrm rot="5400000" flipH="1" flipV="1">
            <a:off x="3204740" y="1948097"/>
            <a:ext cx="2057124" cy="460858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  <p:grpSp>
        <p:nvGrpSpPr>
          <p:cNvPr id="148" name="Group 88"/>
          <p:cNvGrpSpPr>
            <a:grpSpLocks/>
          </p:cNvGrpSpPr>
          <p:nvPr/>
        </p:nvGrpSpPr>
        <p:grpSpPr bwMode="auto">
          <a:xfrm>
            <a:off x="7165654" y="3026684"/>
            <a:ext cx="1255713" cy="936625"/>
            <a:chOff x="703" y="1525"/>
            <a:chExt cx="791" cy="590"/>
          </a:xfrm>
        </p:grpSpPr>
        <p:sp>
          <p:nvSpPr>
            <p:cNvPr id="149" name="Text Box 89"/>
            <p:cNvSpPr txBox="1">
              <a:spLocks noChangeArrowheads="1"/>
            </p:cNvSpPr>
            <p:nvPr/>
          </p:nvSpPr>
          <p:spPr bwMode="auto">
            <a:xfrm>
              <a:off x="1099" y="188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0" name="Group 90"/>
            <p:cNvGrpSpPr>
              <a:grpSpLocks/>
            </p:cNvGrpSpPr>
            <p:nvPr/>
          </p:nvGrpSpPr>
          <p:grpSpPr bwMode="auto">
            <a:xfrm>
              <a:off x="726" y="1525"/>
              <a:ext cx="748" cy="363"/>
              <a:chOff x="2404" y="1071"/>
              <a:chExt cx="862" cy="454"/>
            </a:xfrm>
          </p:grpSpPr>
          <p:sp>
            <p:nvSpPr>
              <p:cNvPr id="302" name="Rectangle 91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Rectangle 92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93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Line 94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Line 95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51" name="Text Box 96"/>
            <p:cNvSpPr txBox="1">
              <a:spLocks noChangeArrowheads="1"/>
            </p:cNvSpPr>
            <p:nvPr/>
          </p:nvSpPr>
          <p:spPr bwMode="auto">
            <a:xfrm>
              <a:off x="726" y="1525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Text Box 97"/>
            <p:cNvSpPr txBox="1">
              <a:spLocks noChangeArrowheads="1"/>
            </p:cNvSpPr>
            <p:nvPr/>
          </p:nvSpPr>
          <p:spPr bwMode="auto">
            <a:xfrm>
              <a:off x="726" y="1525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财务处处长</a:t>
              </a:r>
            </a:p>
          </p:txBody>
        </p:sp>
        <p:sp>
          <p:nvSpPr>
            <p:cNvPr id="153" name="Text Box 98"/>
            <p:cNvSpPr txBox="1">
              <a:spLocks noChangeArrowheads="1"/>
            </p:cNvSpPr>
            <p:nvPr/>
          </p:nvSpPr>
          <p:spPr bwMode="auto">
            <a:xfrm>
              <a:off x="703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评</a:t>
              </a:r>
            </a:p>
          </p:txBody>
        </p:sp>
        <p:sp>
          <p:nvSpPr>
            <p:cNvPr id="299" name="Text Box 99"/>
            <p:cNvSpPr txBox="1">
              <a:spLocks noChangeArrowheads="1"/>
            </p:cNvSpPr>
            <p:nvPr/>
          </p:nvSpPr>
          <p:spPr bwMode="auto">
            <a:xfrm>
              <a:off x="884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300" name="Text Box 100"/>
            <p:cNvSpPr txBox="1">
              <a:spLocks noChangeArrowheads="1"/>
            </p:cNvSpPr>
            <p:nvPr/>
          </p:nvSpPr>
          <p:spPr bwMode="auto">
            <a:xfrm>
              <a:off x="1066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支</a:t>
              </a:r>
            </a:p>
          </p:txBody>
        </p:sp>
        <p:sp>
          <p:nvSpPr>
            <p:cNvPr id="301" name="Text Box 101"/>
            <p:cNvSpPr txBox="1">
              <a:spLocks noChangeArrowheads="1"/>
            </p:cNvSpPr>
            <p:nvPr/>
          </p:nvSpPr>
          <p:spPr bwMode="auto">
            <a:xfrm>
              <a:off x="1247" y="1707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" name="Group 5"/>
          <p:cNvGrpSpPr>
            <a:grpSpLocks/>
          </p:cNvGrpSpPr>
          <p:nvPr/>
        </p:nvGrpSpPr>
        <p:grpSpPr bwMode="auto">
          <a:xfrm>
            <a:off x="4463731" y="692764"/>
            <a:ext cx="1223962" cy="627063"/>
            <a:chOff x="2146" y="904"/>
            <a:chExt cx="771" cy="395"/>
          </a:xfrm>
        </p:grpSpPr>
        <p:grpSp>
          <p:nvGrpSpPr>
            <p:cNvPr id="308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315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9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63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一把局长</a:t>
              </a:r>
            </a:p>
          </p:txBody>
        </p:sp>
        <p:sp>
          <p:nvSpPr>
            <p:cNvPr id="311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0" name="Line 133"/>
          <p:cNvSpPr>
            <a:spLocks noChangeShapeType="1"/>
          </p:cNvSpPr>
          <p:nvPr/>
        </p:nvSpPr>
        <p:spPr bwMode="auto">
          <a:xfrm>
            <a:off x="5089207" y="1269027"/>
            <a:ext cx="4761" cy="304653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1" name="Line 134"/>
          <p:cNvSpPr>
            <a:spLocks noChangeShapeType="1"/>
          </p:cNvSpPr>
          <p:nvPr/>
        </p:nvSpPr>
        <p:spPr bwMode="auto">
          <a:xfrm flipV="1">
            <a:off x="3388077" y="1575652"/>
            <a:ext cx="2629999" cy="27807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2" name="Line 133"/>
          <p:cNvSpPr>
            <a:spLocks noChangeShapeType="1"/>
          </p:cNvSpPr>
          <p:nvPr/>
        </p:nvSpPr>
        <p:spPr bwMode="auto">
          <a:xfrm flipH="1">
            <a:off x="5955980" y="1596892"/>
            <a:ext cx="1" cy="412484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3" name="Group 5"/>
          <p:cNvGrpSpPr>
            <a:grpSpLocks/>
          </p:cNvGrpSpPr>
          <p:nvPr/>
        </p:nvGrpSpPr>
        <p:grpSpPr bwMode="auto">
          <a:xfrm>
            <a:off x="5325744" y="2024632"/>
            <a:ext cx="1255712" cy="627063"/>
            <a:chOff x="2146" y="904"/>
            <a:chExt cx="791" cy="395"/>
          </a:xfrm>
        </p:grpSpPr>
        <p:grpSp>
          <p:nvGrpSpPr>
            <p:cNvPr id="324" name="Group 6"/>
            <p:cNvGrpSpPr>
              <a:grpSpLocks/>
            </p:cNvGrpSpPr>
            <p:nvPr/>
          </p:nvGrpSpPr>
          <p:grpSpPr bwMode="auto">
            <a:xfrm>
              <a:off x="2169" y="904"/>
              <a:ext cx="748" cy="363"/>
              <a:chOff x="2404" y="1071"/>
              <a:chExt cx="862" cy="454"/>
            </a:xfrm>
          </p:grpSpPr>
          <p:sp>
            <p:nvSpPr>
              <p:cNvPr id="331" name="Rectangle 7"/>
              <p:cNvSpPr>
                <a:spLocks noChangeArrowheads="1"/>
              </p:cNvSpPr>
              <p:nvPr/>
            </p:nvSpPr>
            <p:spPr bwMode="auto">
              <a:xfrm>
                <a:off x="2404" y="1071"/>
                <a:ext cx="862" cy="273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Rectangle 8"/>
              <p:cNvSpPr>
                <a:spLocks noChangeArrowheads="1"/>
              </p:cNvSpPr>
              <p:nvPr/>
            </p:nvSpPr>
            <p:spPr bwMode="auto">
              <a:xfrm>
                <a:off x="2404" y="1344"/>
                <a:ext cx="862" cy="181"/>
              </a:xfrm>
              <a:prstGeom prst="rect">
                <a:avLst/>
              </a:prstGeom>
              <a:solidFill>
                <a:srgbClr val="9A9180"/>
              </a:solidFill>
              <a:ln w="9525">
                <a:solidFill>
                  <a:srgbClr val="BCB5A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rgbClr val="000000"/>
                    </a:solidFill>
                    <a:latin typeface="Rockwell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9"/>
              <p:cNvSpPr>
                <a:spLocks noChangeShapeType="1"/>
              </p:cNvSpPr>
              <p:nvPr/>
            </p:nvSpPr>
            <p:spPr bwMode="auto">
              <a:xfrm>
                <a:off x="2608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10"/>
              <p:cNvSpPr>
                <a:spLocks noChangeShapeType="1"/>
              </p:cNvSpPr>
              <p:nvPr/>
            </p:nvSpPr>
            <p:spPr bwMode="auto">
              <a:xfrm>
                <a:off x="2835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11"/>
              <p:cNvSpPr>
                <a:spLocks noChangeShapeType="1"/>
              </p:cNvSpPr>
              <p:nvPr/>
            </p:nvSpPr>
            <p:spPr bwMode="auto">
              <a:xfrm>
                <a:off x="3061" y="1344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BCB5A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BCB5A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5" name="Text Box 12"/>
            <p:cNvSpPr txBox="1">
              <a:spLocks noChangeArrowheads="1"/>
            </p:cNvSpPr>
            <p:nvPr/>
          </p:nvSpPr>
          <p:spPr bwMode="auto">
            <a:xfrm>
              <a:off x="2169" y="904"/>
              <a:ext cx="7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6" name="Text Box 13"/>
            <p:cNvSpPr txBox="1">
              <a:spLocks noChangeArrowheads="1"/>
            </p:cNvSpPr>
            <p:nvPr/>
          </p:nvSpPr>
          <p:spPr bwMode="auto">
            <a:xfrm>
              <a:off x="2169" y="904"/>
              <a:ext cx="7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分管副局长</a:t>
              </a:r>
            </a:p>
          </p:txBody>
        </p:sp>
        <p:sp>
          <p:nvSpPr>
            <p:cNvPr id="327" name="Text Box 14"/>
            <p:cNvSpPr txBox="1">
              <a:spLocks noChangeArrowheads="1"/>
            </p:cNvSpPr>
            <p:nvPr/>
          </p:nvSpPr>
          <p:spPr bwMode="auto">
            <a:xfrm>
              <a:off x="2146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拍</a:t>
              </a:r>
            </a:p>
          </p:txBody>
        </p:sp>
        <p:sp>
          <p:nvSpPr>
            <p:cNvPr id="328" name="Text Box 15"/>
            <p:cNvSpPr txBox="1">
              <a:spLocks noChangeArrowheads="1"/>
            </p:cNvSpPr>
            <p:nvPr/>
          </p:nvSpPr>
          <p:spPr bwMode="auto">
            <a:xfrm>
              <a:off x="2327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</a:p>
          </p:txBody>
        </p:sp>
        <p:sp>
          <p:nvSpPr>
            <p:cNvPr id="329" name="Text Box 16"/>
            <p:cNvSpPr txBox="1">
              <a:spLocks noChangeArrowheads="1"/>
            </p:cNvSpPr>
            <p:nvPr/>
          </p:nvSpPr>
          <p:spPr bwMode="auto">
            <a:xfrm>
              <a:off x="2509" y="1086"/>
              <a:ext cx="1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Text Box 17"/>
            <p:cNvSpPr txBox="1">
              <a:spLocks noChangeArrowheads="1"/>
            </p:cNvSpPr>
            <p:nvPr/>
          </p:nvSpPr>
          <p:spPr bwMode="auto">
            <a:xfrm>
              <a:off x="2699" y="1086"/>
              <a:ext cx="1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rgbClr val="000000"/>
                  </a:solidFill>
                  <a:latin typeface="Rockwell" charset="0"/>
                  <a:ea typeface="宋体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kern="0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6" name="Line 133"/>
          <p:cNvSpPr>
            <a:spLocks noChangeShapeType="1"/>
          </p:cNvSpPr>
          <p:nvPr/>
        </p:nvSpPr>
        <p:spPr bwMode="auto">
          <a:xfrm>
            <a:off x="3388077" y="1609813"/>
            <a:ext cx="2211" cy="362054"/>
          </a:xfrm>
          <a:prstGeom prst="line">
            <a:avLst/>
          </a:prstGeom>
          <a:noFill/>
          <a:ln w="19050">
            <a:solidFill>
              <a:srgbClr val="BCB5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116">
            <a:extLst>
              <a:ext uri="{FF2B5EF4-FFF2-40B4-BE49-F238E27FC236}">
                <a16:creationId xmlns:a16="http://schemas.microsoft.com/office/drawing/2014/main" id="{C09EA7AE-EE37-9C0B-2B49-4C100DA52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530" y="2034615"/>
            <a:ext cx="1187450" cy="346075"/>
          </a:xfrm>
          <a:prstGeom prst="rect">
            <a:avLst/>
          </a:prstGeom>
          <a:solidFill>
            <a:srgbClr val="9A9180"/>
          </a:solidFill>
          <a:ln w="9525">
            <a:solidFill>
              <a:srgbClr val="BCB5A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BCB5A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17">
            <a:extLst>
              <a:ext uri="{FF2B5EF4-FFF2-40B4-BE49-F238E27FC236}">
                <a16:creationId xmlns:a16="http://schemas.microsoft.com/office/drawing/2014/main" id="{35CF4A59-0B70-4AF7-30C2-BF2757CD6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30" y="2034615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endParaRPr kumimoji="0" lang="zh-CN" altLang="en-US" sz="1800" b="1" i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8">
            <a:extLst>
              <a:ext uri="{FF2B5EF4-FFF2-40B4-BE49-F238E27FC236}">
                <a16:creationId xmlns:a16="http://schemas.microsoft.com/office/drawing/2014/main" id="{9E5BDC09-F770-98D1-1E79-E3550D205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30" y="2034615"/>
            <a:ext cx="5950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000000"/>
                </a:solidFill>
                <a:latin typeface="Rockwell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000000"/>
                </a:solidFill>
                <a:latin typeface="Rockwell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000000"/>
                </a:solidFill>
                <a:latin typeface="Rockwell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000000"/>
                </a:solidFill>
                <a:latin typeface="Rockwell" charset="0"/>
                <a:ea typeface="宋体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</a:t>
            </a:r>
          </a:p>
        </p:txBody>
      </p:sp>
      <p:cxnSp>
        <p:nvCxnSpPr>
          <p:cNvPr id="9" name="曲线连接符 297">
            <a:extLst>
              <a:ext uri="{FF2B5EF4-FFF2-40B4-BE49-F238E27FC236}">
                <a16:creationId xmlns:a16="http://schemas.microsoft.com/office/drawing/2014/main" id="{FF1B9B9C-2C73-374A-5D8F-D8E1A7D3EF55}"/>
              </a:ext>
            </a:extLst>
          </p:cNvPr>
          <p:cNvCxnSpPr>
            <a:cxnSpLocks/>
          </p:cNvCxnSpPr>
          <p:nvPr/>
        </p:nvCxnSpPr>
        <p:spPr>
          <a:xfrm flipV="1">
            <a:off x="1226453" y="1009120"/>
            <a:ext cx="3164253" cy="991246"/>
          </a:xfrm>
          <a:prstGeom prst="curvedConnector3">
            <a:avLst>
              <a:gd name="adj1" fmla="val 50000"/>
            </a:avLst>
          </a:prstGeom>
          <a:noFill/>
          <a:ln w="25400" cap="flat" cmpd="sng" algn="ctr">
            <a:solidFill>
              <a:srgbClr val="FF0000"/>
            </a:solidFill>
            <a:prstDash val="dash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810246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966" y="365125"/>
            <a:ext cx="10515600" cy="49672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画组织结构图的要点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342338" y="861848"/>
            <a:ext cx="11517566" cy="50654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要把各种角色画全：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把所有已经参与、或可能参与项目的人，包括客户外部的人，渠道都要画上，不要先入为主自行过滤。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如何画标准：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树形结构实线体现直属上下级隶属关系，非上下级关系的人员单独并列来画。虚线代表影响力，指代谁与谁的关系好，谁能影响谁。统一行政级别的画在同一高度，比如副处级都是一个层级，科级都是一个层级。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信息保证客观真实：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采购角色：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拍板、决策、评估、使用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；对我司态度：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导师、支持、中立、不支持、反对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；面对变化适应性：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前卫、创新、务实、保守、顽固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。这些判断要客观真实，不清楚，就打上问号“？”，有待验证。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拍板者说明：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拥有采购和项目的最终决定权，拥有审核、批准或否决低级别决定的权力。通常是组织内项目相关业务的分管领导，甚至是一把手。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判定标准：</a:t>
            </a:r>
            <a:r>
              <a:rPr lang="zh-CN" altLang="en-US" sz="1800" dirty="0">
                <a:latin typeface="Microsoft YaHei" charset="-122"/>
                <a:ea typeface="Microsoft YaHei" charset="-122"/>
                <a:cs typeface="Microsoft YaHei" charset="-122"/>
              </a:rPr>
              <a:t>如果某个人在做完决策之后还要征求其他人的意见，那么这个人就不是拍板者。拍板者就是做完决定，不再需要请示其他人（但并不代表其不会听更高级别领导的招呼和请托，但最终决定是他来做，不是别人来做）。注意，往往项目金额和影响力越大，拍板者的层级会越高。在一个项目里，拍板者有且只能有</a:t>
            </a:r>
            <a:r>
              <a:rPr lang="en-US" altLang="zh-CN" sz="1800" dirty="0">
                <a:latin typeface="Microsoft YaHei" charset="-122"/>
                <a:ea typeface="Microsoft YaHei" charset="-122"/>
                <a:cs typeface="Microsoft YaHei" charset="-122"/>
              </a:rPr>
              <a:t>1</a:t>
            </a:r>
            <a:r>
              <a:rPr lang="zh-CN" altLang="en-US" sz="1800" dirty="0">
                <a:latin typeface="Microsoft YaHei" charset="-122"/>
                <a:ea typeface="Microsoft YaHei" charset="-122"/>
                <a:cs typeface="Microsoft YaHei" charset="-122"/>
              </a:rPr>
              <a:t>个。</a:t>
            </a:r>
            <a:endParaRPr lang="en-US" altLang="zh-CN" sz="1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23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966" y="365125"/>
            <a:ext cx="10515600" cy="49672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画组织结构图的要点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342338" y="861848"/>
            <a:ext cx="11182005" cy="50654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b="1" dirty="0">
                <a:latin typeface="Microsoft YaHei" charset="-122"/>
                <a:ea typeface="Microsoft YaHei" charset="-122"/>
                <a:cs typeface="Microsoft YaHei" charset="-122"/>
              </a:rPr>
              <a:t>决策者说明：</a:t>
            </a:r>
            <a:endParaRPr lang="en-US" altLang="zh-CN" sz="1800" b="1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被组织内部授予完成本项目的责任人，通常是组织内部与这个项目涉及业务强相关的部门主管。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判定标准：很多组织内部，拍板者都分管很多部门，信息口可能只是其中的一个部门，他不可能，也通常不会深度参与到项目中。当项目出来之后，在很多组织内部，从职责来说，往往要找一个人为此工作负责，这个人有很大的权利，可以对厂商、品牌说“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Yes”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。最终的拍板者会听取或者尊重这个人的意见，因为项目的调研、组织、采购、实施、评估都需要这个人负责和承担。这个人会汇总其他人的评估意见和建议，最终来做决定。这个被组织内部授予完成本项目的责任的人就是决策者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当发现有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个或多个人都能够做决策，或都想做决策而在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PK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的，那就统一降低为评估者。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在一个项目里，决策者有且只能有一个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关于客户对我司的态度说明：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Microsoft YaHei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不论是导师还是支持者，关键评判标准是，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其帮我们做了什么支持我们的工作和动作，而不是说了哪些支持我们的话。</a:t>
            </a:r>
            <a:endParaRPr lang="en-US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rPr>
              <a:t>切记，不要把喜欢你当作支持你，客户喜欢你这个人，可能并不代表他支持你的品牌赢得这个项目！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endParaRPr lang="en-US" altLang="zh-CN" sz="18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8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B1370C0-8F73-1B25-BC38-44F263795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25"/>
            <a:ext cx="12192000" cy="632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71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966" y="365125"/>
            <a:ext cx="10515600" cy="496723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五、下一步行动计划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72966" y="1146628"/>
            <a:ext cx="10515600" cy="34108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这里销售自己思考后，写出下一阶段的推进目标。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写出下一阶段的推进计划，包括但不限于：遗漏信息搜集、价值传递计划、客户关系推进计划、竞争对手屏蔽计划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charset="0"/>
              <a:buChar char="•"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行动计划，要符合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原则，每个动作有责任人，有可衡量指标，有截止时间点。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7413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11412</TotalTime>
  <Words>977</Words>
  <Application>Microsoft Macintosh PowerPoint</Application>
  <PresentationFormat>宽屏</PresentationFormat>
  <Paragraphs>105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DengXian</vt:lpstr>
      <vt:lpstr>DengXian Light</vt:lpstr>
      <vt:lpstr>Microsoft YaHei</vt:lpstr>
      <vt:lpstr>Microsoft YaHei</vt:lpstr>
      <vt:lpstr>Arial</vt:lpstr>
      <vt:lpstr>Calibri</vt:lpstr>
      <vt:lpstr>Office 主题</vt:lpstr>
      <vt:lpstr>PowerPoint 演示文稿</vt:lpstr>
      <vt:lpstr>一、项目基本信息汇总</vt:lpstr>
      <vt:lpstr>一、项目基本信息汇总</vt:lpstr>
      <vt:lpstr>二、分析客户CE与我司UBV</vt:lpstr>
      <vt:lpstr>三、画出组织结构图</vt:lpstr>
      <vt:lpstr>画组织结构图的要点</vt:lpstr>
      <vt:lpstr>画组织结构图的要点</vt:lpstr>
      <vt:lpstr>PowerPoint 演示文稿</vt:lpstr>
      <vt:lpstr>五、下一步行动计划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zc</cp:lastModifiedBy>
  <cp:revision>495</cp:revision>
  <dcterms:created xsi:type="dcterms:W3CDTF">2021-06-11T06:18:06Z</dcterms:created>
  <dcterms:modified xsi:type="dcterms:W3CDTF">2025-05-14T10:15:34Z</dcterms:modified>
</cp:coreProperties>
</file>