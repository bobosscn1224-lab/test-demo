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18"/>
  </p:notesMasterIdLst>
  <p:sldIdLst>
    <p:sldId id="256" r:id="rId3"/>
    <p:sldId id="259" r:id="rId4"/>
    <p:sldId id="267" r:id="rId5"/>
    <p:sldId id="282" r:id="rId6"/>
    <p:sldId id="296" r:id="rId7"/>
    <p:sldId id="297" r:id="rId8"/>
    <p:sldId id="271" r:id="rId9"/>
    <p:sldId id="298" r:id="rId10"/>
    <p:sldId id="299" r:id="rId11"/>
    <p:sldId id="300" r:id="rId12"/>
    <p:sldId id="301" r:id="rId13"/>
    <p:sldId id="303" r:id="rId14"/>
    <p:sldId id="304" r:id="rId15"/>
    <p:sldId id="302" r:id="rId16"/>
    <p:sldId id="266" r:id="rId17"/>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2" autoAdjust="0"/>
    <p:restoredTop sz="90196" autoAdjust="0"/>
  </p:normalViewPr>
  <p:slideViewPr>
    <p:cSldViewPr snapToGrid="0">
      <p:cViewPr varScale="1">
        <p:scale>
          <a:sx n="88" d="100"/>
          <a:sy n="88" d="100"/>
        </p:scale>
        <p:origin x="418" y="48"/>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2025/7/28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281653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2025/7/28</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ruijie.feishu.cn/wiki/FEHFwfdcBipTvzkEofsc1v8yn4f" TargetMode="External"/><Relationship Id="rId1" Type="http://schemas.openxmlformats.org/officeDocument/2006/relationships/slideLayout" Target="../slideLayouts/slideLayout7.xml"/><Relationship Id="rId5" Type="http://schemas.openxmlformats.org/officeDocument/2006/relationships/hyperlink" Target="https://ruijie.feishu.cn/wiki/F78Bwr1PuisHvdkpbMwcO776nwe" TargetMode="External"/><Relationship Id="rId4" Type="http://schemas.openxmlformats.org/officeDocument/2006/relationships/hyperlink" Target="https://ruijie.feishu.cn/wiki/NqbqwswI4ivIyHkj3UDctMxdnAf"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ruijie.feishu.cn/wiki/R2ElwwndziQfPWkIA3KcZdq9n1r" TargetMode="External"/><Relationship Id="rId3" Type="http://schemas.openxmlformats.org/officeDocument/2006/relationships/hyperlink" Target="https://ruijie.feishu.cn/file/DII8bkuJ1o3eeWxUkL4cWArznIg" TargetMode="External"/><Relationship Id="rId7" Type="http://schemas.openxmlformats.org/officeDocument/2006/relationships/hyperlink" Target="https://ruijie.feishu.cn/sheets/GEqOsdkdfh9YmAtrHYmca7XSnOd" TargetMode="External"/><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 Id="rId6" Type="http://schemas.openxmlformats.org/officeDocument/2006/relationships/hyperlink" Target="https://ruijie.feishu.cn/wiki/IKBFwI4jXiwSrlkaD1qc6VG4nme?sheet=2eMFKt" TargetMode="External"/><Relationship Id="rId5" Type="http://schemas.openxmlformats.org/officeDocument/2006/relationships/hyperlink" Target="https://ruijie.feishu.cn/wiki/KeEfweM9yivnMQkzWkCcojtDnwg" TargetMode="External"/><Relationship Id="rId10" Type="http://schemas.openxmlformats.org/officeDocument/2006/relationships/image" Target="../media/image10.png"/><Relationship Id="rId4" Type="http://schemas.openxmlformats.org/officeDocument/2006/relationships/hyperlink" Target="https://ruijie.feishu.cn/sheets/HSRusFT8Qh93XstgrCicL0gynse?sheet=OIIkAn" TargetMode="External"/><Relationship Id="rId9" Type="http://schemas.openxmlformats.org/officeDocument/2006/relationships/hyperlink" Target="https://ruijie.feishu.cn/wiki/KMduw5ysJiig2HkGOaJcdSLPnuf"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ruijie.feishu.cn/wiki/Czafwb6LmioOTJk8N5HcFLkJncg?from=from_copylink" TargetMode="External"/><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XVqnwRd93iBLB1ke0aLc8No6nqg" TargetMode="External"/><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hyperlink" Target="https://ruijie.feishu.cn/wiki/O56UwXKaAixLOFkZhiNcS9OHn4b"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hyperlink" Target="https://ruijie.feishu.cn/wiki/GhQawgRsaiDeKUk7DJbctvrEn2b?from=from" TargetMode="External"/><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hyperlink" Target="https://ruijie.feishu.cn/wiki/TfVcwj2ALivZlZk8lQRc2bmknzd" TargetMode="External"/><Relationship Id="rId4" Type="http://schemas.openxmlformats.org/officeDocument/2006/relationships/hyperlink" Target="https://ruijie.feishu.cn/wiki/UHdtwXy8ViL8V8k2tTgcPLCinFd"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9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9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9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2"/>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业务价值</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后续交付、合同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处理效率提升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投标赢率得到提升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提高销售项目成功把握度</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提升标书制作的效率和质量</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确保合同的合规性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点，同时，启动丢</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制定解决方案和价值主张，影响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90204" pitchFamily="34" charset="0"/>
              <a:cs typeface="Arial" panose="020B060402020209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分发线索</a:t>
                </a: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跟踪和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培育线索</a:t>
                </a: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收集和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生成线索</a:t>
                </a: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接收和确认</a:t>
                  </a: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关闭和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评价</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ATCC</a:t>
                    </a: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管理交付</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验收</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管理开票和回款</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管理风险和争议</a:t>
                  </a:r>
                  <a:endPar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ATAC</a:t>
                  </a:r>
                  <a:endParaRPr lang="en-US" altLang="zh-HK"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管理合同执行</a:t>
              </a:r>
              <a:r>
                <a:rPr lang="en-US" altLang="zh-CN"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(MCE)</a:t>
              </a:r>
              <a:endPar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管理机会点</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endParaRPr lang="zh-HK"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管理线索</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(ML)</a:t>
              </a:r>
              <a:endPar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rPr>
              <a:t>组织</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90204" pitchFamily="34" charset="0"/>
                <a:ea typeface="华文细黑" panose="02010600040101010101" pitchFamily="2" charset="-122"/>
                <a:cs typeface="Arial" panose="020B060402020209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90204" pitchFamily="34" charset="0"/>
                <a:ea typeface="华文细黑" panose="02010600040101010101" pitchFamily="2" charset="-122"/>
                <a:cs typeface="Arial" panose="020B060402020209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90204" pitchFamily="34" charset="0"/>
                <a:ea typeface="华文细黑" panose="02010600040101010101" pitchFamily="2" charset="-122"/>
                <a:cs typeface="Arial" panose="020B0604020202090204" pitchFamily="34" charset="0"/>
              </a:defRPr>
            </a:lvl3pPr>
            <a:lvl4pPr marL="1600200" indent="-228600" eaLnBrk="0" hangingPunct="0">
              <a:lnSpc>
                <a:spcPct val="140000"/>
              </a:lnSpc>
              <a:buChar char="–"/>
              <a:defRPr sz="1200">
                <a:solidFill>
                  <a:schemeClr val="tx1"/>
                </a:solidFill>
                <a:latin typeface="Arial" panose="020B0604020202090204" pitchFamily="34" charset="0"/>
                <a:ea typeface="华文细黑" panose="02010600040101010101" pitchFamily="2" charset="-122"/>
                <a:cs typeface="Arial" panose="020B060402020209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rPr>
              <a:t>重客特殊组织保障</a:t>
            </a:r>
            <a:endParaRPr lang="zh-CN" altLang="en-US"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技术负责人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客户体验负责人</a:t>
            </a:r>
            <a:endParaRPr lang="en-US" sz="1200" dirty="0">
              <a:solidFill>
                <a:schemeClr val="tx1">
                  <a:lumMod val="75000"/>
                  <a:lumOff val="25000"/>
                </a:schemeClr>
              </a:solidFill>
              <a:latin typeface="+mn-lt"/>
              <a:ea typeface="+mn-ea"/>
              <a:cs typeface="Arial" panose="020B060402020209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项目组核心角色</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平台管理部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系统部 （解决方案，拓展）</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售前技术部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产</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研</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BU</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（交换无线，云桌面，睿智，身份管理，</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EDN</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职能部门（商务，法务，财务）</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支持部门</a:t>
            </a:r>
            <a:endParaRPr lang="en-US" altLang="en-US" sz="1400" b="1" cap="small" baseline="30000"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CR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变更评审 </a:t>
              </a: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IR</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是否投入资源立项，项目组任命是否合适</a:t>
              </a:r>
            </a:p>
            <a:p>
              <a:pPr marL="171450" indent="-171450">
                <a:buClr>
                  <a:srgbClr val="0070C0"/>
                </a:buClr>
                <a:buFont typeface="Wingdings" panose="05000000000000000000" pitchFamily="2" charset="2"/>
                <a:buChar char="u"/>
              </a:pPr>
              <a:r>
                <a:rPr lang="zh-CN" altLang="en-US" sz="1000" dirty="0" smtClean="0">
                  <a:latin typeface="微软雅黑" panose="020B0503020204020204" pitchFamily="34" charset="-122"/>
                  <a:ea typeface="微软雅黑" panose="020B0503020204020204" pitchFamily="34" charset="-122"/>
                  <a:cs typeface="Arial" panose="020B0604020202090204" pitchFamily="34" charset="0"/>
                </a:rPr>
                <a:t>商机分级分层</a:t>
              </a:r>
              <a:endParaRPr lang="zh-CN" altLang="en-US" sz="14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是否递交标书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是否签约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是否进行合同</a:t>
              </a:r>
              <a:r>
                <a:rPr lang="en-US" altLang="zh-CN" sz="1000" dirty="0">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a:t>
              </a: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变更条款的风险及对利润的影响</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是否关闭合同</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条款的履约情况</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责任转移及风险规避情况</a:t>
              </a: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评审与决策</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专属项目经理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客户主责人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90204" pitchFamily="34" charset="0"/>
              </a:rPr>
              <a:t>专</a:t>
            </a:r>
            <a:r>
              <a:rPr lang="zh-CN" altLang="en-US" sz="1200" dirty="0" smtClean="0">
                <a:solidFill>
                  <a:schemeClr val="tx1">
                    <a:lumMod val="75000"/>
                    <a:lumOff val="25000"/>
                  </a:schemeClr>
                </a:solidFill>
                <a:cs typeface="Arial" panose="020B0604020202090204" pitchFamily="34" charset="0"/>
              </a:rPr>
              <a:t>属客户体验负责人</a:t>
            </a:r>
            <a:endParaRPr lang="en-US" altLang="zh-CN" sz="1200" dirty="0" smtClean="0">
              <a:solidFill>
                <a:schemeClr val="tx1">
                  <a:lumMod val="75000"/>
                  <a:lumOff val="25000"/>
                </a:schemeClr>
              </a:solidFill>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拓展负责人</a:t>
            </a:r>
            <a:endParaRPr lang="en-US" sz="1200" dirty="0">
              <a:solidFill>
                <a:schemeClr val="tx1">
                  <a:lumMod val="75000"/>
                  <a:lumOff val="25000"/>
                </a:schemeClr>
              </a:solidFill>
              <a:latin typeface="+mn-lt"/>
              <a:ea typeface="+mn-ea"/>
              <a:cs typeface="Arial" panose="020B060402020209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90204" pitchFamily="34" charset="0"/>
              </a:rPr>
              <a:t>铁三角关键职责</a:t>
            </a: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制定合同谈判策略，并主导</a:t>
                </a:r>
                <a:r>
                  <a:rPr lang="en-US" altLang="zh-CN" sz="1200" dirty="0">
                    <a:latin typeface="+mn-ea"/>
                  </a:rPr>
                  <a:t/>
                </a:r>
                <a:br>
                  <a:rPr lang="en-US" altLang="zh-CN" sz="1200" dirty="0">
                    <a:latin typeface="+mn-ea"/>
                  </a:rPr>
                </a:br>
                <a:r>
                  <a:rPr lang="zh-CN" altLang="en-US" sz="1200" dirty="0">
                    <a:latin typeface="+mn-ea"/>
                  </a:rPr>
                  <a:t>合同谈判</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r>
                  <a:rPr lang="en-US" altLang="zh-CN" sz="1200" dirty="0">
                    <a:latin typeface="+mn-ea"/>
                  </a:rPr>
                  <a:t/>
                </a:r>
                <a:br>
                  <a:rPr lang="en-US" altLang="zh-CN" sz="1200" dirty="0">
                    <a:latin typeface="+mn-ea"/>
                  </a:rPr>
                </a:br>
                <a:r>
                  <a:rPr lang="zh-CN" altLang="en-US" sz="1200" dirty="0">
                    <a:latin typeface="+mn-ea"/>
                  </a:rPr>
                  <a:t>尾款回款</a:t>
                </a: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r>
                  <a:rPr lang="en-US" altLang="zh-CN" sz="1200" dirty="0">
                    <a:latin typeface="+mn-ea"/>
                  </a:rPr>
                  <a:t/>
                </a:r>
                <a:br>
                  <a:rPr lang="en-US" altLang="zh-CN" sz="1200" dirty="0">
                    <a:latin typeface="+mn-ea"/>
                  </a:rPr>
                </a:br>
                <a:r>
                  <a:rPr lang="zh-CN" altLang="en-US" sz="1200" dirty="0">
                    <a:latin typeface="+mn-ea"/>
                  </a:rPr>
                  <a:t>风险的识别和规避</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r>
                  <a:rPr lang="en-US" altLang="zh-CN" sz="1200" dirty="0">
                    <a:latin typeface="+mn-ea"/>
                  </a:rPr>
                  <a:t/>
                </a:r>
                <a:br>
                  <a:rPr lang="en-US" altLang="zh-CN" sz="1200" dirty="0">
                    <a:latin typeface="+mn-ea"/>
                  </a:rPr>
                </a:br>
                <a:r>
                  <a:rPr lang="zh-CN" altLang="en-US" sz="1200" dirty="0">
                    <a:latin typeface="+mn-ea"/>
                  </a:rPr>
                  <a:t>争议解决</a:t>
                </a: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p>
            </p:txBody>
          </p:sp>
        </p:gr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2"/>
              </a:rPr>
              <a:t>M11.1 </a:t>
            </a:r>
            <a:r>
              <a:rPr lang="zh-CN" altLang="en-US" sz="1400" dirty="0">
                <a:hlinkClick r:id="rId2"/>
              </a:rPr>
              <a:t>验证商机流程说明文件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、商机填报一定要严格按照</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、商机分级分层标准参见商机分类表。</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、不立项项目，进入一般项目池常态化管理。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4" name="图片 43"/>
          <p:cNvPicPr>
            <a:picLocks noChangeAspect="1"/>
          </p:cNvPicPr>
          <p:nvPr/>
        </p:nvPicPr>
        <p:blipFill>
          <a:blip r:embed="rId3"/>
          <a:stretch>
            <a:fillRect/>
          </a:stretch>
        </p:blipFill>
        <p:spPr>
          <a:xfrm>
            <a:off x="797136" y="2835172"/>
            <a:ext cx="3217569" cy="3417706"/>
          </a:xfrm>
          <a:prstGeom prst="rect">
            <a:avLst/>
          </a:prstGeom>
        </p:spPr>
      </p:pic>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p>
          <a:p>
            <a:pPr marL="399415" indent="-285750" eaLnBrk="0">
              <a:lnSpc>
                <a:spcPct val="85000"/>
              </a:lnSpc>
              <a:spcBef>
                <a:spcPts val="425"/>
              </a:spcBef>
              <a:buFont typeface="Arial" panose="020B0604020202090204" pitchFamily="34" charset="0"/>
              <a:buChar char="•"/>
            </a:pPr>
            <a:r>
              <a:rPr lang="zh-CN" altLang="en-US" sz="1400" dirty="0">
                <a:hlinkClick r:id="rId4"/>
              </a:rPr>
              <a:t>商机审批销售经理审批指导</a:t>
            </a:r>
            <a:r>
              <a:rPr lang="zh-CN" altLang="en-US" sz="1400" dirty="0" smtClean="0">
                <a:hlinkClick r:id="rId4"/>
              </a:rPr>
              <a:t>书</a:t>
            </a:r>
            <a:endParaRPr lang="en-US" altLang="zh-CN" sz="1400" dirty="0" smtClean="0"/>
          </a:p>
          <a:p>
            <a:pPr marL="399415" indent="-285750" eaLnBrk="0">
              <a:lnSpc>
                <a:spcPct val="85000"/>
              </a:lnSpc>
              <a:spcBef>
                <a:spcPts val="425"/>
              </a:spcBef>
              <a:buFont typeface="Arial" panose="020B0604020202090204" pitchFamily="34" charset="0"/>
              <a:buChar char="•"/>
            </a:pPr>
            <a:r>
              <a:rPr lang="en-US" altLang="zh-CN" sz="1400" dirty="0">
                <a:hlinkClick r:id="rId5"/>
              </a:rPr>
              <a:t>MTCV-MO-MO11.1-S-</a:t>
            </a:r>
            <a:r>
              <a:rPr lang="zh-CN" altLang="en-US" sz="1400" dirty="0">
                <a:hlinkClick r:id="rId5"/>
              </a:rPr>
              <a:t>商机分级表</a:t>
            </a:r>
            <a:r>
              <a:rPr lang="en-US" altLang="zh-CN" sz="1400" dirty="0">
                <a:hlinkClick r:id="rId5"/>
              </a:rPr>
              <a:t>-V0.9</a:t>
            </a:r>
            <a:endParaRPr lang="en-US" altLang="zh-CN" sz="1400" dirty="0"/>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立项决策</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组信息</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、同时对需要安排客户测试的项目进行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POC</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流程调用</a:t>
            </a: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807094"/>
            <a:ext cx="3999159" cy="2321918"/>
          </a:xfrm>
          <a:prstGeom prst="rect">
            <a:avLst/>
          </a:prstGeom>
        </p:spPr>
        <p:txBody>
          <a:bodyPr wrap="square">
            <a:spAutoFit/>
          </a:bodyPr>
          <a:lstStyle/>
          <a:p>
            <a:pPr marL="456565" indent="-342900" eaLnBrk="0">
              <a:lnSpc>
                <a:spcPct val="85000"/>
              </a:lnSpc>
              <a:spcBef>
                <a:spcPts val="425"/>
              </a:spcBef>
              <a:buFont typeface="Arial" panose="020B0604020202090204" pitchFamily="34" charset="0"/>
              <a:buChar char="•"/>
            </a:pPr>
            <a:r>
              <a:rPr lang="zh-CN" altLang="en-US" sz="1400" dirty="0">
                <a:hlinkClick r:id="rId3"/>
              </a:rPr>
              <a:t>降龙十八掌</a:t>
            </a:r>
            <a:r>
              <a:rPr lang="en-US" altLang="zh-CN" sz="1400" dirty="0">
                <a:hlinkClick r:id="rId3"/>
              </a:rPr>
              <a:t>v1.0-</a:t>
            </a:r>
            <a:r>
              <a:rPr lang="zh-CN" altLang="en-US" sz="1400" dirty="0">
                <a:hlinkClick r:id="rId3"/>
              </a:rPr>
              <a:t>梗概版</a:t>
            </a:r>
            <a:r>
              <a:rPr lang="en-US" altLang="zh-CN" sz="1400" dirty="0">
                <a:hlinkClick r:id="rId3"/>
              </a:rPr>
              <a:t>.</a:t>
            </a:r>
            <a:r>
              <a:rPr lang="en-US" altLang="zh-CN" sz="1400" dirty="0" err="1">
                <a:hlinkClick r:id="rId3"/>
              </a:rPr>
              <a:t>xlsx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4"/>
              </a:rPr>
              <a:t>岗位工作标准化</a:t>
            </a:r>
            <a:r>
              <a:rPr lang="en-US" altLang="zh-CN" sz="1400" dirty="0">
                <a:hlinkClick r:id="rId4"/>
              </a:rPr>
              <a:t>-EBG</a:t>
            </a:r>
            <a:r>
              <a:rPr lang="zh-CN" altLang="en-US" sz="1400" dirty="0">
                <a:hlinkClick r:id="rId4"/>
              </a:rPr>
              <a:t>售前工程师</a:t>
            </a:r>
            <a:r>
              <a:rPr lang="en-US" altLang="zh-CN" sz="1400" dirty="0">
                <a:hlinkClick r:id="rId4"/>
              </a:rPr>
              <a:t>(</a:t>
            </a:r>
            <a:r>
              <a:rPr lang="zh-CN" altLang="en-US" sz="1400" dirty="0">
                <a:hlinkClick r:id="rId4"/>
              </a:rPr>
              <a:t>汇总版</a:t>
            </a:r>
            <a:r>
              <a:rPr lang="en-US" altLang="zh-CN" sz="1400" dirty="0">
                <a:hlinkClick r:id="rId4"/>
              </a:rPr>
              <a:t>) -</a:t>
            </a:r>
            <a:r>
              <a:rPr lang="en-US" altLang="zh-CN" sz="1400" dirty="0" smtClean="0">
                <a:hlinkClick r:id="rId4"/>
              </a:rPr>
              <a:t>20240612</a:t>
            </a:r>
            <a:endParaRPr lang="en-US" altLang="zh-CN" sz="1400" dirty="0" smtClean="0"/>
          </a:p>
          <a:p>
            <a:pPr marL="456565" indent="-342900" eaLnBrk="0">
              <a:lnSpc>
                <a:spcPct val="85000"/>
              </a:lnSpc>
              <a:spcBef>
                <a:spcPts val="425"/>
              </a:spcBef>
              <a:buFont typeface="Arial" panose="020B0604020202090204" pitchFamily="34" charset="0"/>
              <a:buChar char="•"/>
            </a:pPr>
            <a:r>
              <a:rPr lang="zh-CN" altLang="en-US" sz="1400" dirty="0">
                <a:hlinkClick r:id="rId5"/>
              </a:rPr>
              <a:t>售前方案可行性评审指导书</a:t>
            </a:r>
            <a:r>
              <a:rPr lang="en-US" altLang="zh-CN" sz="1400" dirty="0">
                <a:hlinkClick r:id="rId5"/>
              </a:rPr>
              <a:t>-</a:t>
            </a:r>
            <a:r>
              <a:rPr lang="zh-CN" altLang="en-US" sz="1400" dirty="0">
                <a:hlinkClick r:id="rId5"/>
              </a:rPr>
              <a:t>试运行（待评审）</a:t>
            </a:r>
            <a:endParaRPr lang="zh-CN" altLang="en-US" sz="1400" dirty="0"/>
          </a:p>
          <a:p>
            <a:pPr marL="456565" indent="-342900" eaLnBrk="0">
              <a:lnSpc>
                <a:spcPct val="85000"/>
              </a:lnSpc>
              <a:spcBef>
                <a:spcPts val="425"/>
              </a:spcBef>
              <a:buFont typeface="Arial" panose="020B0604020202090204" pitchFamily="34" charset="0"/>
              <a:buChar char="•"/>
            </a:pPr>
            <a:r>
              <a:rPr lang="zh-CN" altLang="en-US" sz="1400" dirty="0">
                <a:hlinkClick r:id="rId6"/>
              </a:rPr>
              <a:t>高质量技术交流材料工具一表通</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7"/>
              </a:rPr>
              <a:t>EBG</a:t>
            </a:r>
            <a:r>
              <a:rPr lang="zh-CN" altLang="en-US" sz="1400" dirty="0">
                <a:hlinkClick r:id="rId7"/>
              </a:rPr>
              <a:t>立项项目解决方案评审模板</a:t>
            </a:r>
            <a:r>
              <a:rPr lang="en-US" altLang="zh-CN" sz="1400" dirty="0">
                <a:hlinkClick r:id="rId7"/>
              </a:rPr>
              <a:t>-v1.0</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8"/>
              </a:rPr>
              <a:t>PM05PST02-V3.0 </a:t>
            </a:r>
            <a:r>
              <a:rPr lang="zh-CN" altLang="en-US" sz="1400" dirty="0">
                <a:hlinkClick r:id="rId8"/>
              </a:rPr>
              <a:t>售前测试管理程序</a:t>
            </a:r>
            <a:r>
              <a:rPr lang="en-US" altLang="zh-CN" sz="1400" dirty="0">
                <a:hlinkClick r:id="rId8"/>
              </a:rPr>
              <a:t>.</a:t>
            </a:r>
            <a:r>
              <a:rPr lang="en-US" altLang="zh-CN" sz="1400" dirty="0" err="1">
                <a:hlinkClick r:id="rId8"/>
              </a:rPr>
              <a:t>docx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9"/>
              </a:rPr>
              <a:t>‍‌​​​‌‍​​﻿​​​​⁠﻿​‬‍​​​​​⁠​​​​​​​​​​​﻿⁠​​‍​‍‬​‍​​‬​项目分析会模板</a:t>
            </a:r>
            <a:r>
              <a:rPr lang="en-US" altLang="zh-CN" sz="1400" dirty="0">
                <a:hlinkClick r:id="rId9"/>
              </a:rPr>
              <a:t>-2023</a:t>
            </a:r>
            <a:r>
              <a:rPr lang="zh-CN" altLang="en-US" sz="1400" dirty="0">
                <a:hlinkClick r:id="rId9"/>
              </a:rPr>
              <a:t>年版</a:t>
            </a:r>
            <a:r>
              <a:rPr lang="en-US" altLang="zh-CN" sz="1400" dirty="0">
                <a:hlinkClick r:id="rId9"/>
              </a:rPr>
              <a:t>.</a:t>
            </a:r>
            <a:r>
              <a:rPr lang="en-US" altLang="zh-CN" sz="1400" dirty="0" err="1">
                <a:hlinkClick r:id="rId9"/>
              </a:rPr>
              <a:t>pptx</a:t>
            </a:r>
            <a:r>
              <a:rPr lang="en-US" altLang="zh-CN" sz="1400" dirty="0">
                <a:hlinkClick r:id="rId9"/>
              </a:rPr>
              <a:t> </a:t>
            </a:r>
            <a:r>
              <a:rPr lang="en-US" altLang="zh-CN" sz="1400" dirty="0" smtClean="0">
                <a:hlinkClick r:id="rId9"/>
              </a:rPr>
              <a:t>- </a:t>
            </a:r>
            <a:r>
              <a:rPr lang="zh-CN" altLang="en-US" sz="1400" dirty="0" smtClean="0">
                <a:hlinkClick r:id="rId9"/>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90204" pitchFamily="34" charset="0"/>
              <a:buChar char="•"/>
            </a:pPr>
            <a:r>
              <a:rPr lang="zh-CN" altLang="en-US" sz="1400" dirty="0" smtClean="0"/>
              <a:t>解决方案</a:t>
            </a:r>
            <a:endParaRPr lang="en-US" altLang="zh-CN" sz="1400" dirty="0" smtClean="0"/>
          </a:p>
          <a:p>
            <a:pPr marL="285750" indent="-285750">
              <a:buFont typeface="Arial" panose="020B060402020209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9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10"/>
          <a:stretch>
            <a:fillRect/>
          </a:stretch>
        </p:blipFill>
        <p:spPr>
          <a:xfrm>
            <a:off x="769957" y="2647928"/>
            <a:ext cx="5906012" cy="284250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p>
          <a:p>
            <a:pPr marL="399415" indent="-285750" eaLnBrk="0">
              <a:lnSpc>
                <a:spcPct val="85000"/>
              </a:lnSpc>
              <a:spcBef>
                <a:spcPts val="425"/>
              </a:spcBef>
              <a:buFont typeface="Arial" panose="020B0604020202090204" pitchFamily="34" charset="0"/>
              <a:buChar char="•"/>
            </a:pPr>
            <a:r>
              <a:rPr lang="zh-CN" altLang="en-US" sz="1400" dirty="0">
                <a:hlinkClick r:id="rId3"/>
              </a:rPr>
              <a:t>投标策略规划书</a:t>
            </a:r>
            <a:endParaRPr lang="zh-CN" altLang="en-US" sz="1400" dirty="0"/>
          </a:p>
          <a:p>
            <a:pPr marL="399415" indent="-285750" eaLnBrk="0">
              <a:lnSpc>
                <a:spcPct val="85000"/>
              </a:lnSpc>
              <a:spcBef>
                <a:spcPts val="425"/>
              </a:spcBef>
              <a:buFont typeface="Arial" panose="020B060402020209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a:t>》</a:t>
            </a:r>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投标书终稿</a:t>
            </a: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912087" y="3065123"/>
            <a:ext cx="3010161" cy="2918713"/>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255634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a:t>业务合同三审流程初审模板</a:t>
            </a:r>
            <a:r>
              <a:rPr lang="en-US" altLang="zh-CN" sz="1400" dirty="0"/>
              <a:t>.</a:t>
            </a:r>
            <a:r>
              <a:rPr lang="en-US" altLang="zh-CN" sz="1400" dirty="0" err="1"/>
              <a:t>xlsx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hlinkClick r:id="rId3"/>
              </a:rPr>
              <a:t>重点项目售前售后移交指导书</a:t>
            </a:r>
            <a:r>
              <a:rPr lang="en-US" altLang="zh-CN" sz="1400" dirty="0">
                <a:hlinkClick r:id="rId3"/>
              </a:rPr>
              <a:t>-</a:t>
            </a:r>
            <a:r>
              <a:rPr lang="zh-CN" altLang="en-US" sz="1400" dirty="0">
                <a:hlinkClick r:id="rId3"/>
              </a:rPr>
              <a:t>试运行（待评审）</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hlinkClick r:id="rId4"/>
              </a:rPr>
              <a:t>项目售前移交售后表单</a:t>
            </a:r>
            <a:r>
              <a:rPr lang="en-US" altLang="zh-CN" sz="1400" dirty="0">
                <a:hlinkClick r:id="rId4"/>
              </a:rPr>
              <a:t>v2.0</a:t>
            </a:r>
            <a:r>
              <a:rPr lang="zh-CN" altLang="en-US" sz="1400" dirty="0">
                <a:hlinkClick r:id="rId4"/>
              </a:rPr>
              <a:t>模版 </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a:t>pptx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签署的合同</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赢单复盘报告</a:t>
            </a: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5"/>
          <a:stretch>
            <a:fillRect/>
          </a:stretch>
        </p:blipFill>
        <p:spPr>
          <a:xfrm>
            <a:off x="1226708" y="2835451"/>
            <a:ext cx="5209934" cy="297815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2"/>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641675" y="1070648"/>
            <a:ext cx="6271404" cy="6182975"/>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运转机制：</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endParaRPr lang="en-US" altLang="zh-CN" sz="1400" dirty="0" smtClean="0"/>
          </a:p>
          <a:p>
            <a:pPr lvl="1"/>
            <a:r>
              <a:rPr lang="zh-CN" altLang="en-US" sz="1400" dirty="0" smtClean="0"/>
              <a:t>月度</a:t>
            </a:r>
            <a:r>
              <a:rPr lang="zh-CN" altLang="en-US" sz="1400" dirty="0"/>
              <a:t>、季度进行以上关键任务执行看板，应用至</a:t>
            </a:r>
            <a:r>
              <a:rPr lang="en-US" altLang="zh-CN" sz="1400" dirty="0"/>
              <a:t>QBC</a:t>
            </a:r>
            <a:r>
              <a:rPr lang="zh-CN" altLang="en-US" sz="1400" dirty="0"/>
              <a:t>季度考核打分，每个未</a:t>
            </a:r>
            <a:r>
              <a:rPr lang="zh-CN" altLang="en-US" sz="1400" dirty="0" smtClean="0"/>
              <a:t>执行关键</a:t>
            </a:r>
            <a:r>
              <a:rPr lang="zh-CN" altLang="en-US" sz="1400" dirty="0"/>
              <a:t>任务次数，扣减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流程执行情况呈现</a:t>
            </a:r>
            <a:r>
              <a:rPr lang="en-US" altLang="zh-CN" dirty="0" smtClean="0"/>
              <a:t>-</a:t>
            </a:r>
            <a:r>
              <a:rPr dirty="0" smtClean="0"/>
              <a:t>销售</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15465" y="810883"/>
            <a:ext cx="1811548" cy="338554"/>
          </a:xfrm>
          <a:prstGeom prst="rect">
            <a:avLst/>
          </a:prstGeom>
          <a:noFill/>
        </p:spPr>
        <p:txBody>
          <a:bodyPr wrap="square" rtlCol="0">
            <a:spAutoFit/>
          </a:bodyPr>
          <a:lstStyle/>
          <a:p>
            <a:r>
              <a:rPr lang="zh-CN" altLang="en-US" sz="1600" b="1" dirty="0" smtClean="0"/>
              <a:t>关键卡点设计</a:t>
            </a:r>
            <a:endParaRPr lang="zh-CN" altLang="en-US" sz="16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91418" y="810883"/>
            <a:ext cx="1811548" cy="338554"/>
          </a:xfrm>
          <a:prstGeom prst="rect">
            <a:avLst/>
          </a:prstGeom>
          <a:noFill/>
        </p:spPr>
        <p:txBody>
          <a:bodyPr wrap="square" rtlCol="0">
            <a:spAutoFit/>
          </a:bodyPr>
          <a:lstStyle/>
          <a:p>
            <a:r>
              <a:rPr lang="zh-CN" altLang="en-US" sz="1600" b="1" dirty="0" smtClean="0"/>
              <a:t>观测业务指标</a:t>
            </a:r>
            <a:endParaRPr lang="zh-CN" altLang="en-US" sz="16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p>
          <a:p>
            <a:r>
              <a:rPr lang="en-US" altLang="zh-CN" sz="1200" dirty="0" smtClean="0"/>
              <a:t>2</a:t>
            </a:r>
            <a:r>
              <a:rPr lang="zh-CN" altLang="en-US" sz="1200" dirty="0" smtClean="0"/>
              <a:t>、解决方案评审率：</a:t>
            </a:r>
            <a:r>
              <a:rPr lang="en-US" altLang="zh-CN" sz="1200" dirty="0" smtClean="0"/>
              <a:t>100%</a:t>
            </a:r>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p>
          <a:p>
            <a:r>
              <a:rPr lang="en-US" altLang="zh-CN" sz="1200" dirty="0" smtClean="0"/>
              <a:t>5</a:t>
            </a:r>
            <a:r>
              <a:rPr lang="zh-CN" altLang="en-US" sz="1200" dirty="0" smtClean="0"/>
              <a:t>、季度承诺项目金额兑现率：</a:t>
            </a:r>
            <a:r>
              <a:rPr lang="en-US" altLang="zh-CN" sz="1200" dirty="0" smtClean="0"/>
              <a:t>90-120%</a:t>
            </a:r>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商机创建总数</a:t>
                      </a:r>
                      <a:endParaRPr lang="zh-CN" altLang="en-US" sz="1200" dirty="0"/>
                    </a:p>
                  </a:txBody>
                  <a:tcPr/>
                </a:tc>
                <a:tc>
                  <a:txBody>
                    <a:bodyPr/>
                    <a:lstStyle/>
                    <a:p>
                      <a:r>
                        <a:rPr lang="zh-CN" altLang="en-US" sz="1200" dirty="0" smtClean="0"/>
                        <a:t>审批进漏斗数</a:t>
                      </a:r>
                      <a:endParaRPr lang="zh-CN" altLang="en-US" sz="1200" dirty="0"/>
                    </a:p>
                  </a:txBody>
                  <a:tcPr/>
                </a:tc>
                <a:tc>
                  <a:txBody>
                    <a:bodyPr/>
                    <a:lstStyle/>
                    <a:p>
                      <a:r>
                        <a:rPr lang="zh-CN" altLang="en-US" sz="1200" dirty="0" smtClean="0"/>
                        <a:t>需要立项数</a:t>
                      </a:r>
                      <a:endParaRPr lang="zh-CN" altLang="en-US" sz="1200" dirty="0"/>
                    </a:p>
                  </a:txBody>
                  <a:tcPr/>
                </a:tc>
                <a:tc>
                  <a:txBody>
                    <a:bodyPr/>
                    <a:lstStyle/>
                    <a:p>
                      <a:r>
                        <a:rPr lang="zh-CN" altLang="en-US" sz="1200" dirty="0" smtClean="0"/>
                        <a:t>立项决策会场次</a:t>
                      </a:r>
                      <a:endParaRPr lang="zh-CN" altLang="en-US" sz="1200" dirty="0"/>
                    </a:p>
                  </a:txBody>
                  <a:tcPr/>
                </a:tc>
                <a:tc>
                  <a:txBody>
                    <a:bodyPr/>
                    <a:lstStyle/>
                    <a:p>
                      <a:r>
                        <a:rPr lang="zh-CN" altLang="en-US" sz="1200" dirty="0" smtClean="0"/>
                        <a:t>立项项目数</a:t>
                      </a:r>
                      <a:endParaRPr lang="zh-CN" altLang="en-US" sz="1200" dirty="0"/>
                    </a:p>
                  </a:txBody>
                  <a:tcPr/>
                </a:tc>
                <a:tc>
                  <a:txBody>
                    <a:bodyPr/>
                    <a:lstStyle/>
                    <a:p>
                      <a:r>
                        <a:rPr lang="zh-CN" altLang="en-US" sz="1200" dirty="0" smtClean="0"/>
                        <a:t>一般项目数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extLst>
              <p:ext uri="{D42A27DB-BD31-4B8C-83A1-F6EECF244321}">
                <p14:modId xmlns:p14="http://schemas.microsoft.com/office/powerpoint/2010/main" val="529090295"/>
              </p:ext>
            </p:extLst>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结项项目推进情况汇总</a:t>
                      </a:r>
                      <a:r>
                        <a:rPr lang="zh-CN" altLang="en-US" sz="1200" b="0" dirty="0" smtClean="0"/>
                        <a:t>（只统计结束的项目，确保项目关键活动被执行，可追溯）</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结项总数</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赢单数</a:t>
                      </a:r>
                    </a:p>
                    <a:p>
                      <a:endParaRPr lang="zh-CN" altLang="en-US" sz="1200" dirty="0"/>
                    </a:p>
                  </a:txBody>
                  <a:tcPr/>
                </a:tc>
                <a:tc>
                  <a:txBody>
                    <a:bodyPr/>
                    <a:lstStyle/>
                    <a:p>
                      <a:r>
                        <a:rPr lang="zh-CN" altLang="en-US" sz="1200" dirty="0" smtClean="0"/>
                        <a:t>丢单数</a:t>
                      </a:r>
                      <a:endParaRPr lang="zh-CN" altLang="en-US" sz="1200" dirty="0"/>
                    </a:p>
                  </a:txBody>
                  <a:tcPr/>
                </a:tc>
                <a:tc>
                  <a:txBody>
                    <a:bodyPr/>
                    <a:lstStyle/>
                    <a:p>
                      <a:r>
                        <a:rPr lang="zh-CN" altLang="en-US" sz="1200" dirty="0" smtClean="0"/>
                        <a:t>项目启动会场次</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解决方案评审会场次</a:t>
                      </a:r>
                    </a:p>
                  </a:txBody>
                  <a:tcPr/>
                </a:tc>
                <a:tc>
                  <a:txBody>
                    <a:bodyPr/>
                    <a:lstStyle/>
                    <a:p>
                      <a:r>
                        <a:rPr lang="zh-CN" altLang="en-US" sz="1200" dirty="0" smtClean="0"/>
                        <a:t>标前评审会场次</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业务检测指标</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立项启动率</a:t>
                      </a:r>
                      <a:endParaRPr lang="zh-CN" altLang="en-US" sz="1200" dirty="0"/>
                    </a:p>
                  </a:txBody>
                  <a:tcPr/>
                </a:tc>
                <a:tc>
                  <a:txBody>
                    <a:bodyPr/>
                    <a:lstStyle/>
                    <a:p>
                      <a:r>
                        <a:rPr lang="zh-CN" altLang="en-US" sz="1200" dirty="0" smtClean="0"/>
                        <a:t>解决方案评审率</a:t>
                      </a:r>
                      <a:endParaRPr lang="zh-CN" altLang="en-US" sz="1200" dirty="0"/>
                    </a:p>
                  </a:txBody>
                  <a:tcPr/>
                </a:tc>
                <a:tc>
                  <a:txBody>
                    <a:bodyPr/>
                    <a:lstStyle/>
                    <a:p>
                      <a:r>
                        <a:rPr lang="zh-CN" altLang="en-US" sz="1200" dirty="0" smtClean="0"/>
                        <a:t>标前评审率</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赢单复盘率</a:t>
                      </a:r>
                      <a:endParaRPr lang="zh-CN" altLang="en-US" sz="1200" dirty="0"/>
                    </a:p>
                  </a:txBody>
                  <a:tcPr/>
                </a:tc>
                <a:tc>
                  <a:txBody>
                    <a:bodyPr/>
                    <a:lstStyle/>
                    <a:p>
                      <a:r>
                        <a:rPr lang="zh-CN" altLang="en-US" sz="1200" dirty="0" smtClean="0"/>
                        <a:t>季度金额兑现率</a:t>
                      </a:r>
                      <a:endParaRPr lang="zh-CN" altLang="en-US" sz="1200" dirty="0"/>
                    </a:p>
                  </a:txBody>
                  <a:tcPr/>
                </a:tc>
                <a:tc>
                  <a:txBody>
                    <a:bodyPr/>
                    <a:lstStyle/>
                    <a:p>
                      <a:r>
                        <a:rPr lang="en-US" altLang="zh-CN" sz="1200" dirty="0" smtClean="0"/>
                        <a:t>30W+</a:t>
                      </a:r>
                      <a:r>
                        <a:rPr lang="zh-CN" altLang="en-US" sz="1200" dirty="0" smtClean="0"/>
                        <a:t>项目个数兑现率</a:t>
                      </a:r>
                      <a:endParaRPr lang="zh-CN" altLang="en-US" sz="1200" dirty="0"/>
                    </a:p>
                  </a:txBody>
                  <a:tcPr/>
                </a:tc>
                <a:tc>
                  <a:txBody>
                    <a:bodyPr/>
                    <a:lstStyle/>
                    <a:p>
                      <a:r>
                        <a:rPr lang="zh-CN" altLang="en-US" sz="1200" dirty="0" smtClean="0"/>
                        <a:t>下单时间偏差占比</a:t>
                      </a:r>
                      <a:endParaRPr lang="zh-CN" altLang="en-US" sz="1200"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t>7</a:t>
                      </a:r>
                      <a:r>
                        <a:rPr lang="zh-CN" altLang="en-US" sz="1200" dirty="0" smtClean="0"/>
                        <a:t>月</a:t>
                      </a:r>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20" name="矩形 19"/>
          <p:cNvSpPr/>
          <p:nvPr/>
        </p:nvSpPr>
        <p:spPr>
          <a:xfrm>
            <a:off x="5923289" y="4346962"/>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5990698" y="4362031"/>
            <a:ext cx="2135505" cy="337185"/>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22" name="文本框 21"/>
          <p:cNvSpPr txBox="1"/>
          <p:nvPr/>
        </p:nvSpPr>
        <p:spPr>
          <a:xfrm>
            <a:off x="6104905" y="4744060"/>
            <a:ext cx="5387172" cy="830997"/>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附上具体的项目执行情况看板明细数据链接（参见下一页看板设计）</a:t>
            </a:r>
            <a:endParaRPr lang="zh-CN" altLang="en-US" sz="1200" dirty="0"/>
          </a:p>
        </p:txBody>
      </p:sp>
      <p:sp>
        <p:nvSpPr>
          <p:cNvPr id="23" name="文本框 22"/>
          <p:cNvSpPr txBox="1"/>
          <p:nvPr/>
        </p:nvSpPr>
        <p:spPr>
          <a:xfrm>
            <a:off x="6112709" y="5710874"/>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看板设计</a:t>
            </a:r>
            <a:endParaRPr lang="zh-CN" altLang="en-US" dirty="0"/>
          </a:p>
        </p:txBody>
      </p:sp>
      <p:pic>
        <p:nvPicPr>
          <p:cNvPr id="7" name="图片 6"/>
          <p:cNvPicPr>
            <a:picLocks noChangeAspect="1"/>
          </p:cNvPicPr>
          <p:nvPr/>
        </p:nvPicPr>
        <p:blipFill>
          <a:blip r:embed="rId2"/>
          <a:stretch>
            <a:fillRect/>
          </a:stretch>
        </p:blipFill>
        <p:spPr>
          <a:xfrm>
            <a:off x="251760" y="1284763"/>
            <a:ext cx="11598645" cy="3254022"/>
          </a:xfrm>
          <a:prstGeom prst="rect">
            <a:avLst/>
          </a:prstGeom>
        </p:spPr>
      </p:pic>
      <p:sp>
        <p:nvSpPr>
          <p:cNvPr id="8" name="文本框 7"/>
          <p:cNvSpPr txBox="1"/>
          <p:nvPr/>
        </p:nvSpPr>
        <p:spPr>
          <a:xfrm>
            <a:off x="251759" y="947578"/>
            <a:ext cx="5295025" cy="584775"/>
          </a:xfrm>
          <a:prstGeom prst="rect">
            <a:avLst/>
          </a:prstGeom>
          <a:noFill/>
        </p:spPr>
        <p:txBody>
          <a:bodyPr wrap="square" rtlCol="0">
            <a:spAutoFit/>
          </a:bodyPr>
          <a:lstStyle/>
          <a:p>
            <a:r>
              <a:rPr lang="en-US" altLang="zh-CN" sz="1600" b="1" dirty="0" smtClean="0"/>
              <a:t>1</a:t>
            </a:r>
            <a:r>
              <a:rPr lang="zh-CN" altLang="en-US" sz="1600" b="1" dirty="0" smtClean="0"/>
              <a:t>、项目执行情况明细：</a:t>
            </a:r>
            <a:r>
              <a:rPr lang="zh-CN" altLang="en-US" sz="1600" dirty="0"/>
              <a:t>各项关键活动完成率</a:t>
            </a:r>
            <a:r>
              <a:rPr lang="en-US" altLang="zh-CN" sz="1600" dirty="0"/>
              <a:t>&gt;=60%</a:t>
            </a:r>
          </a:p>
          <a:p>
            <a:endParaRPr lang="zh-CN" altLang="en-US" sz="1600" b="1" dirty="0"/>
          </a:p>
        </p:txBody>
      </p:sp>
      <p:sp>
        <p:nvSpPr>
          <p:cNvPr id="10" name="文本框 9"/>
          <p:cNvSpPr txBox="1"/>
          <p:nvPr/>
        </p:nvSpPr>
        <p:spPr>
          <a:xfrm>
            <a:off x="153993" y="4583582"/>
            <a:ext cx="4648044" cy="338554"/>
          </a:xfrm>
          <a:prstGeom prst="rect">
            <a:avLst/>
          </a:prstGeom>
          <a:noFill/>
        </p:spPr>
        <p:txBody>
          <a:bodyPr wrap="square" rtlCol="0">
            <a:spAutoFit/>
          </a:bodyPr>
          <a:lstStyle/>
          <a:p>
            <a:r>
              <a:rPr lang="zh-CN" altLang="en-US" sz="1600" b="1" dirty="0"/>
              <a:t> </a:t>
            </a:r>
            <a:r>
              <a:rPr lang="en-US" altLang="zh-CN" sz="1600" b="1" dirty="0" smtClean="0"/>
              <a:t> 2</a:t>
            </a:r>
            <a:r>
              <a:rPr lang="zh-CN" altLang="en-US" sz="1600" b="1" dirty="0" smtClean="0"/>
              <a:t>、漏斗</a:t>
            </a:r>
            <a:r>
              <a:rPr lang="zh-CN" altLang="en-US" sz="1600" b="1" dirty="0"/>
              <a:t>质量及商机抽查数据看板：</a:t>
            </a:r>
          </a:p>
        </p:txBody>
      </p:sp>
      <p:pic>
        <p:nvPicPr>
          <p:cNvPr id="12" name="图片 11"/>
          <p:cNvPicPr>
            <a:picLocks noChangeAspect="1"/>
          </p:cNvPicPr>
          <p:nvPr/>
        </p:nvPicPr>
        <p:blipFill>
          <a:blip r:embed="rId3"/>
          <a:stretch>
            <a:fillRect/>
          </a:stretch>
        </p:blipFill>
        <p:spPr>
          <a:xfrm>
            <a:off x="142273" y="5106838"/>
            <a:ext cx="5756396" cy="1507318"/>
          </a:xfrm>
          <a:prstGeom prst="rect">
            <a:avLst/>
          </a:prstGeom>
        </p:spPr>
      </p:pic>
      <p:pic>
        <p:nvPicPr>
          <p:cNvPr id="13" name="图片 12"/>
          <p:cNvPicPr>
            <a:picLocks noChangeAspect="1"/>
          </p:cNvPicPr>
          <p:nvPr/>
        </p:nvPicPr>
        <p:blipFill>
          <a:blip r:embed="rId4"/>
          <a:stretch>
            <a:fillRect/>
          </a:stretch>
        </p:blipFill>
        <p:spPr>
          <a:xfrm>
            <a:off x="6200594" y="5106838"/>
            <a:ext cx="5013746" cy="1527876"/>
          </a:xfrm>
          <a:prstGeom prst="rect">
            <a:avLst/>
          </a:prstGeom>
        </p:spPr>
      </p:pic>
    </p:spTree>
    <p:extLst>
      <p:ext uri="{BB962C8B-B14F-4D97-AF65-F5344CB8AC3E}">
        <p14:creationId xmlns:p14="http://schemas.microsoft.com/office/powerpoint/2010/main" val="37410875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2"/>
          <a:stretch>
            <a:fillRect/>
          </a:stretch>
        </p:blipFill>
        <p:spPr>
          <a:xfrm>
            <a:off x="144212" y="860540"/>
            <a:ext cx="9563929" cy="5997460"/>
          </a:xfrm>
          <a:prstGeom prst="rect">
            <a:avLst/>
          </a:prstGeom>
        </p:spPr>
      </p:pic>
      <p:sp>
        <p:nvSpPr>
          <p:cNvPr id="4" name="矩形 3"/>
          <p:cNvSpPr/>
          <p:nvPr/>
        </p:nvSpPr>
        <p:spPr>
          <a:xfrm>
            <a:off x="9595997" y="987971"/>
            <a:ext cx="2368841" cy="44389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V1.0</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流程推行需要的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培训文档：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3"/>
              </a:rPr>
              <a:t>MO</a:t>
            </a:r>
            <a:r>
              <a:rPr lang="zh-CN" altLang="en-US" sz="1400" dirty="0">
                <a:hlinkClick r:id="rId3"/>
              </a:rPr>
              <a:t>流程</a:t>
            </a:r>
            <a:r>
              <a:rPr lang="en-US" altLang="zh-CN" sz="1400" dirty="0">
                <a:hlinkClick r:id="rId3"/>
              </a:rPr>
              <a:t>-</a:t>
            </a:r>
            <a:r>
              <a:rPr lang="zh-CN" altLang="en-US" sz="1400" dirty="0">
                <a:hlinkClick r:id="rId3"/>
              </a:rPr>
              <a:t>功能操作说明文档</a:t>
            </a:r>
            <a:r>
              <a:rPr lang="zh-CN" altLang="en-US" sz="1400" dirty="0"/>
              <a:t> </a:t>
            </a:r>
            <a:endParaRPr lang="en-US" altLang="zh-CN" sz="1400" dirty="0" smtClean="0"/>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为了保证流程效率，减少过多的附件和交付物在各阶段重复上传，设计了专属的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项目文档</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，每个项目参考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信息跟踪与管理模板</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单独管理自己的项目交付物清单。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2735</Words>
  <Application>Microsoft Office PowerPoint</Application>
  <PresentationFormat>宽屏</PresentationFormat>
  <Paragraphs>330</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15</vt:i4>
      </vt:variant>
    </vt:vector>
  </HeadingPairs>
  <TitlesOfParts>
    <vt:vector size="25" baseType="lpstr">
      <vt:lpstr>Inter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236</cp:revision>
  <dcterms:created xsi:type="dcterms:W3CDTF">2025-07-15T09:17:46Z</dcterms:created>
  <dcterms:modified xsi:type="dcterms:W3CDTF">2025-07-28T02:16:32Z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