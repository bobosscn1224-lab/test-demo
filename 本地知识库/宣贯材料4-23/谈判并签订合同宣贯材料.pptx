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3"/>
  </p:notesMasterIdLst>
  <p:sldIdLst>
    <p:sldId id="256" r:id="rId3"/>
    <p:sldId id="259" r:id="rId4"/>
    <p:sldId id="267" r:id="rId5"/>
    <p:sldId id="2007578710" r:id="rId6"/>
    <p:sldId id="276" r:id="rId7"/>
    <p:sldId id="2007578712" r:id="rId8"/>
    <p:sldId id="278" r:id="rId9"/>
    <p:sldId id="2007578711" r:id="rId10"/>
    <p:sldId id="279" r:id="rId11"/>
    <p:sldId id="266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424" autoAdjust="0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7291" y="2459591"/>
            <a:ext cx="4926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M11.4 </a:t>
            </a:r>
            <a:r>
              <a:rPr kumimoji="1" lang="zh-CN" altLang="en-US" sz="36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谈判并签订合同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3405" y="1865546"/>
            <a:ext cx="28825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 </a:t>
            </a:r>
            <a:r>
              <a:rPr kumimoji="1" lang="zh-CN" altLang="en-US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管理商机流程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2025.04.23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605FDA-BCC5-3846-A1AB-B8208847183D}"/>
              </a:ext>
            </a:extLst>
          </p:cNvPr>
          <p:cNvSpPr txBox="1"/>
          <p:nvPr/>
        </p:nvSpPr>
        <p:spPr>
          <a:xfrm>
            <a:off x="989720" y="4049587"/>
            <a:ext cx="1439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L3 PO </a:t>
            </a:r>
            <a:r>
              <a:rPr kumimoji="1"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赵鑫旸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4" y="2469930"/>
            <a:ext cx="5073794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dirty="0"/>
              <a:t>M11.4 </a:t>
            </a:r>
            <a:r>
              <a:rPr lang="zh-CN" altLang="en-US" dirty="0"/>
              <a:t>这个流程主要是做什么的？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Why</a:t>
            </a:r>
            <a:r>
              <a:rPr lang="zh-CN" altLang="en-US" dirty="0"/>
              <a:t>：为什么要设计这个流程</a:t>
            </a:r>
            <a:r>
              <a:rPr lang="en-US" altLang="zh-CN" dirty="0"/>
              <a:t>-</a:t>
            </a:r>
            <a:r>
              <a:rPr lang="zh-CN" altLang="en-US" dirty="0"/>
              <a:t>业务价值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What</a:t>
            </a:r>
            <a:r>
              <a:rPr lang="zh-CN" altLang="en-US" dirty="0"/>
              <a:t>：需要各位做什么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How</a:t>
            </a:r>
            <a:r>
              <a:rPr lang="zh-CN" altLang="en-US" dirty="0"/>
              <a:t>：具体怎么做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/>
              <a:t>M11.4 </a:t>
            </a:r>
            <a:r>
              <a:rPr lang="zh-CN" altLang="en-US" dirty="0"/>
              <a:t>这个流程主要是做什么的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0327" y="1380870"/>
            <a:ext cx="59291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zh-CN" altLang="en-US" dirty="0">
                <a:latin typeface="+mn-ea"/>
              </a:rPr>
              <a:t>谈判并签订合同流程是一个复杂而细致的过程，其中包括：</a:t>
            </a:r>
            <a:r>
              <a:rPr lang="zh-CN" altLang="en-US" b="1" dirty="0">
                <a:latin typeface="+mn-ea"/>
              </a:rPr>
              <a:t>非直签项目中标后与下级渠道确认合同条款及二次谈判，</a:t>
            </a:r>
            <a:r>
              <a:rPr lang="zh-CN" altLang="en-US" dirty="0">
                <a:latin typeface="+mn-ea"/>
              </a:rPr>
              <a:t>促成一级渠道与下级渠道签订合同；</a:t>
            </a:r>
            <a:r>
              <a:rPr lang="zh-CN" altLang="en-US" b="1" dirty="0">
                <a:latin typeface="+mn-ea"/>
              </a:rPr>
              <a:t>直签项目中标后与最终用户确认合同条款及二次谈判；赢单</a:t>
            </a:r>
            <a:r>
              <a:rPr lang="en-US" altLang="zh-CN" b="1" dirty="0">
                <a:latin typeface="+mn-ea"/>
              </a:rPr>
              <a:t>/</a:t>
            </a:r>
            <a:r>
              <a:rPr lang="zh-CN" altLang="en-US" b="1" dirty="0">
                <a:latin typeface="+mn-ea"/>
              </a:rPr>
              <a:t>丢单总结复盘分析</a:t>
            </a:r>
            <a:r>
              <a:rPr lang="zh-CN" altLang="en-US" dirty="0">
                <a:latin typeface="+mn-ea"/>
              </a:rPr>
              <a:t>等关键过程，特别是在</a:t>
            </a:r>
            <a:r>
              <a:rPr lang="zh-CN" altLang="en-US" b="1" dirty="0">
                <a:latin typeface="+mn-ea"/>
              </a:rPr>
              <a:t>立项的大项目</a:t>
            </a:r>
            <a:r>
              <a:rPr lang="zh-CN" altLang="en-US" dirty="0">
                <a:latin typeface="+mn-ea"/>
              </a:rPr>
              <a:t>中，它要求我司业务人员具备高度的专业素养、良好的沟通谈判能力以及持续学习的态度。通过不断优化与合作，我司将与各级渠道合作伙伴建立稳定而长久的合作关系，共同实现商业目标。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0328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617677" y="1384501"/>
            <a:ext cx="5320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本流程适用于 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EBG 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所有需要签署合同的业务场景。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17677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81" y="2370280"/>
            <a:ext cx="8781073" cy="39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/>
              <a:t>M11.4 </a:t>
            </a:r>
            <a:r>
              <a:rPr lang="zh-CN" altLang="en-US" dirty="0"/>
              <a:t>谈判并签订合同流程图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8395421-BB68-F8D7-D6EA-65F9503C3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95" y="910406"/>
            <a:ext cx="7772400" cy="55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8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3" y="274320"/>
            <a:ext cx="6548365" cy="495935"/>
          </a:xfrm>
        </p:spPr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：为什么要设计这个流程？</a:t>
            </a:r>
            <a:r>
              <a:rPr lang="en-US" altLang="zh-CN" dirty="0"/>
              <a:t>-</a:t>
            </a:r>
            <a:r>
              <a:rPr lang="zh-CN" altLang="en-US" dirty="0"/>
              <a:t>业务价值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983711" y="1473181"/>
            <a:ext cx="111262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风险防控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过滤主体资质缺陷、信用风险，避免无效合同或履约纠纷。</a:t>
            </a:r>
          </a:p>
          <a:p>
            <a:pPr lvl="1"/>
            <a:r>
              <a:rPr lang="zh-CN" altLang="en-US" dirty="0"/>
              <a:t>通过法律审查和条款预设（如违约责任），降低争议损失。</a:t>
            </a:r>
          </a:p>
          <a:p>
            <a:r>
              <a:rPr lang="zh-CN" altLang="en-US" b="1" dirty="0"/>
              <a:t>效率提升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标准化流程减少沟通成本，避免重复协商，加速合作落地。</a:t>
            </a:r>
          </a:p>
          <a:p>
            <a:pPr lvl="1"/>
            <a:r>
              <a:rPr lang="zh-CN" altLang="en-US" dirty="0"/>
              <a:t>明确履约责任与流程，减少执行中的推诿与无序。</a:t>
            </a:r>
          </a:p>
          <a:p>
            <a:r>
              <a:rPr lang="zh-CN" altLang="en-US" b="1" dirty="0"/>
              <a:t>权益保障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条款细节量化（如交付时间、质量标准），避免模糊约定导致的权益争议。</a:t>
            </a:r>
          </a:p>
          <a:p>
            <a:pPr lvl="1"/>
            <a:r>
              <a:rPr lang="zh-CN" altLang="en-US" dirty="0"/>
              <a:t>法律文件固化合作共识，为争议解决提供明确依据。</a:t>
            </a:r>
          </a:p>
          <a:p>
            <a:r>
              <a:rPr lang="zh-CN" altLang="en-US" b="1" dirty="0"/>
              <a:t>合规管理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确保合同符合法律法规及行业规范，避免行政处罚或合规风险。</a:t>
            </a:r>
          </a:p>
          <a:p>
            <a:pPr lvl="1"/>
            <a:r>
              <a:rPr lang="zh-CN" altLang="en-US" dirty="0"/>
              <a:t>留痕管理（如谈判记录、签约文件）满足监管要求。</a:t>
            </a:r>
          </a:p>
          <a:p>
            <a:r>
              <a:rPr lang="zh-CN" altLang="en-US" b="1" dirty="0"/>
              <a:t>商业关系维护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公平协商机制增强双方信任，降低合作对抗性。</a:t>
            </a:r>
          </a:p>
          <a:p>
            <a:pPr lvl="1"/>
            <a:r>
              <a:rPr lang="zh-CN" altLang="en-US" dirty="0"/>
              <a:t>规范流程为长期合作奠定基础，提升商业关系稳定性。</a:t>
            </a:r>
          </a:p>
        </p:txBody>
      </p:sp>
    </p:spTree>
    <p:extLst>
      <p:ext uri="{BB962C8B-B14F-4D97-AF65-F5344CB8AC3E}">
        <p14:creationId xmlns:p14="http://schemas.microsoft.com/office/powerpoint/2010/main" val="134376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zh-CN" altLang="en-US" dirty="0"/>
              <a:t>职责分工和角色说明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DA5FAF-D7B9-E8A1-2A20-567888207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306" y="924344"/>
            <a:ext cx="9135978" cy="549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6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68174"/>
            <a:ext cx="9729946" cy="495935"/>
          </a:xfrm>
        </p:spPr>
        <p:txBody>
          <a:bodyPr/>
          <a:lstStyle/>
          <a:p>
            <a:r>
              <a:rPr lang="en-US" altLang="zh-CN" sz="2000" dirty="0"/>
              <a:t>WHAT:</a:t>
            </a:r>
            <a:r>
              <a:rPr lang="zh-CN" altLang="en-US" sz="2000" dirty="0"/>
              <a:t>需要各位做什么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2D339A-9133-E57E-3508-E666EF076148}"/>
              </a:ext>
            </a:extLst>
          </p:cNvPr>
          <p:cNvSpPr txBox="1"/>
          <p:nvPr/>
        </p:nvSpPr>
        <p:spPr>
          <a:xfrm>
            <a:off x="573404" y="1189989"/>
            <a:ext cx="6513196" cy="4478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KCP1—</a:t>
            </a:r>
            <a:r>
              <a:rPr lang="zh-CN" altLang="en-US" sz="1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直签项目：合同评审（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拿到客户同步的合同模版）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sz="1100" b="0" i="0" u="none" strike="noStrike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活动流操作要求：</a:t>
            </a:r>
            <a:endParaRPr lang="en" altLang="zh-CN" sz="1100" b="0" i="0" u="none" strike="noStrike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客户关系负责人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拿到客户同步的合同模版，同步商务助理，由商务助理在</a:t>
            </a:r>
            <a:r>
              <a:rPr lang="en" altLang="zh-CN" sz="1100" b="0" i="0" u="none" strike="noStrike" dirty="0" err="1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bpms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上发起合同评审流程；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客户体验负责人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评估合同文件提出的服务需求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如：交付界面、验收周期、交付验收标准、技术规范考核条款、维修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备件上门时效、备件量、硬件最长保修年限、技术人员上门时效、故障排除期限、维保、续保、尤其是关于非标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超标服务部分，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年保还是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年保？需不需要驻场？响应时间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SLA</a:t>
            </a:r>
            <a:r>
              <a:rPr lang="zh-CN" altLang="e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是否有额外特殊服务条款等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，当前是否能够满足和响应；评估交付能力是否具备，是否选择了无战略产品专项认证的渠道；服务费率、服务产品合理性评估；解决方案落地可行性评估、评估客户需求当前是否有对应的服务产品支撑。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、由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商务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信控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法务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销管在</a:t>
            </a:r>
            <a:r>
              <a:rPr lang="en" altLang="zh-CN" sz="1100" b="1" i="0" u="none" strike="noStrike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bpms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上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做并行审批；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、各审批人确认通过后，法务在合同模版上盖章输出给销售。</a:t>
            </a:r>
          </a:p>
          <a:p>
            <a:pPr algn="l">
              <a:lnSpc>
                <a:spcPct val="125000"/>
              </a:lnSpc>
            </a:pPr>
            <a:endParaRPr lang="en-US" altLang="zh-CN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100" b="0" i="0" u="none" strike="noStrike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关键点及标准：</a:t>
            </a:r>
            <a:endParaRPr lang="en-US" altLang="zh-CN" sz="1100" b="1" i="0" u="none" strike="noStrike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、客户合同模版上的关于金额、付款方式、交货方式、交货周期、验收标准、服务内容、服务标准、服务价格清晰；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、客户直签项目往往客户侧较为强势；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、解决方案落地可行性评估，如：①云桌面超分比是否满足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XX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行业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场景实际用户体验、极简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方案终端管控要求（非常容易忽视，导致口碑事件）；②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en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星空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极光方案中关于光纤、光电混合缆、光模块外采导致网络体验不质量的把控和评估。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0000EA6-DFEB-5F68-1FA2-B62C69934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197" y="1202351"/>
            <a:ext cx="4602678" cy="132914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D5F36E-9284-DC7C-1B12-A544F285D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709" y="2825055"/>
            <a:ext cx="4568166" cy="300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2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68174"/>
            <a:ext cx="9729946" cy="495935"/>
          </a:xfrm>
        </p:spPr>
        <p:txBody>
          <a:bodyPr/>
          <a:lstStyle/>
          <a:p>
            <a:r>
              <a:rPr lang="en-US" altLang="zh-CN" sz="2000" dirty="0"/>
              <a:t>WHAT:</a:t>
            </a:r>
            <a:r>
              <a:rPr lang="zh-CN" altLang="en-US" sz="2000" dirty="0"/>
              <a:t>需要各位做什么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2D339A-9133-E57E-3508-E666EF076148}"/>
              </a:ext>
            </a:extLst>
          </p:cNvPr>
          <p:cNvSpPr txBox="1"/>
          <p:nvPr/>
        </p:nvSpPr>
        <p:spPr>
          <a:xfrm>
            <a:off x="573404" y="1460657"/>
            <a:ext cx="6513196" cy="363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KCP2--</a:t>
            </a:r>
            <a:r>
              <a:rPr lang="zh-CN" altLang="en-US" sz="1400" b="1" dirty="0">
                <a:solidFill>
                  <a:srgbClr val="000000"/>
                </a:solidFill>
                <a:latin typeface="+mn-ea"/>
              </a:rPr>
              <a:t>赢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/</a:t>
            </a:r>
            <a:r>
              <a:rPr lang="zh-CN" altLang="en-US" sz="1400" b="1" dirty="0">
                <a:solidFill>
                  <a:srgbClr val="000000"/>
                </a:solidFill>
                <a:latin typeface="+mn-ea"/>
              </a:rPr>
              <a:t>丢单复盘会议（</a:t>
            </a:r>
            <a:r>
              <a:rPr lang="en" altLang="zh-CN" sz="1400" b="1" i="0" u="none" strike="noStrike" dirty="0" err="1">
                <a:solidFill>
                  <a:srgbClr val="000000"/>
                </a:solidFill>
                <a:effectLst/>
                <a:latin typeface="+mn-ea"/>
              </a:rPr>
              <a:t>crm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+mn-ea"/>
              </a:rPr>
              <a:t>上的“立项项目”因业务机会因丢单或中标下单后自动关单后）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endParaRPr lang="en-US" altLang="zh-CN" sz="1400" b="1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endParaRPr lang="zh-CN" altLang="en-US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100" b="1" dirty="0">
                <a:latin typeface="+mn-ea"/>
              </a:rPr>
              <a:t>活动流操作要求：</a:t>
            </a:r>
            <a:endParaRPr lang="en" altLang="zh-CN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、由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项目经理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组织，在丢单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中标下单后的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两周内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，安排相关人员（项目经理、客户关系负责人、技术负责人、客户体验负责人、项目组成员）做赢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丢单复盘会议，明确会议的时间安排、参与人员、讨论的议题，以及如何记录会议内容，协调各方时间，确保会议高效有成果；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、结合会议反馈和共识，输出赢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丢单总结报告。</a:t>
            </a:r>
          </a:p>
          <a:p>
            <a:pPr algn="l">
              <a:lnSpc>
                <a:spcPct val="125000"/>
              </a:lnSpc>
            </a:pP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latin typeface="+mn-ea"/>
              </a:rPr>
              <a:t>关键点及标准：</a:t>
            </a:r>
            <a:endParaRPr lang="en-US" altLang="zh-CN" sz="1100" b="1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、需提前明确项目组相关成员时间，能够按时参会；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、各个角色都要有参与和总结反馈，包括项目经理、客户关系负责人、技术负责人、客户体验负责人、项目组成员；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3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、对于复盘不合格的予以打回；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4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、按照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《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丢单复盘模板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》《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赢单复盘模版</a:t>
            </a:r>
            <a:r>
              <a:rPr lang="en-US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》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输出复盘内容。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368806-47A7-A532-5156-BE127CBD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79" y="2396822"/>
            <a:ext cx="35052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5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68174"/>
            <a:ext cx="9729946" cy="495935"/>
          </a:xfrm>
        </p:spPr>
        <p:txBody>
          <a:bodyPr/>
          <a:lstStyle/>
          <a:p>
            <a:r>
              <a:rPr lang="en-US" altLang="zh-CN" sz="2000" dirty="0"/>
              <a:t>WHAT:</a:t>
            </a:r>
            <a:r>
              <a:rPr lang="zh-CN" altLang="en-US" sz="2000" dirty="0"/>
              <a:t>需要各位做什么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906687-C144-0A62-BA28-161BE232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988" y="2072023"/>
            <a:ext cx="4720390" cy="17156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F94B9AE-09F3-38CB-ED20-FB1767CFE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871" y="3787720"/>
            <a:ext cx="4720390" cy="20140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2B93F30-A06D-3751-AB55-0872F5C05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261" y="997824"/>
            <a:ext cx="3074178" cy="30836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1D530AD-D7D8-915B-1A77-A8DA5CE80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6261" y="4081461"/>
            <a:ext cx="3082061" cy="185522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C2D339A-9133-E57E-3508-E666EF076148}"/>
              </a:ext>
            </a:extLst>
          </p:cNvPr>
          <p:cNvSpPr txBox="1"/>
          <p:nvPr/>
        </p:nvSpPr>
        <p:spPr>
          <a:xfrm>
            <a:off x="573404" y="885484"/>
            <a:ext cx="5320141" cy="2034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+mn-ea"/>
              </a:rPr>
              <a:t>复盘报告上传</a:t>
            </a:r>
            <a:endParaRPr lang="en-US" altLang="zh-CN" sz="14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100" b="1" dirty="0">
                <a:latin typeface="+mn-ea"/>
              </a:rPr>
              <a:t>活动流操作要求：</a:t>
            </a:r>
            <a:endParaRPr lang="en" altLang="zh-CN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、由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项目经理 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将赢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丢单总结报告，及时并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上传到</a:t>
            </a:r>
            <a:r>
              <a:rPr lang="en" altLang="zh-CN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CRM</a:t>
            </a: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ea"/>
              </a:rPr>
              <a:t>留痕记录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；</a:t>
            </a:r>
          </a:p>
          <a:p>
            <a:pPr algn="l"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2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、萃取到的优秀经验在团队内部做分享拉通。</a:t>
            </a:r>
          </a:p>
          <a:p>
            <a:pPr>
              <a:lnSpc>
                <a:spcPct val="125000"/>
              </a:lnSpc>
            </a:pP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100" b="1" i="0" u="none" strike="noStrike" dirty="0">
                <a:solidFill>
                  <a:srgbClr val="000000"/>
                </a:solidFill>
                <a:effectLst/>
                <a:latin typeface="+mn-ea"/>
              </a:rPr>
              <a:t>关键点及标准：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、要结合各方角色的会议纪要输出赢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/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+mn-ea"/>
              </a:rPr>
              <a:t>丢单总结报告；</a:t>
            </a:r>
            <a:endParaRPr lang="en-US" altLang="zh-CN" sz="1100" b="0" i="0" u="none" strike="noStrike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、在</a:t>
            </a:r>
            <a:r>
              <a:rPr lang="en-US" altLang="zh-CN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crm</a:t>
            </a:r>
            <a:r>
              <a:rPr lang="zh-CN" alt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</a:rPr>
              <a:t>上完成相关字段填写并保存。</a:t>
            </a:r>
            <a:endParaRPr lang="zh-CN" altLang="en-US" sz="1100" b="1" i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B61D58-9779-660E-30E0-BF5236CF6576}"/>
              </a:ext>
            </a:extLst>
          </p:cNvPr>
          <p:cNvSpPr txBox="1"/>
          <p:nvPr/>
        </p:nvSpPr>
        <p:spPr>
          <a:xfrm>
            <a:off x="537446" y="5972516"/>
            <a:ext cx="7919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当下阶段由运营</a:t>
            </a:r>
            <a:r>
              <a:rPr kumimoji="1" lang="en-US" altLang="zh-CN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</a:t>
            </a:r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建立立项项目丢单赢单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crm</a:t>
            </a:r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看板，每天会自动刷新看板内业务机会，及时同步到项目经理提醒。</a:t>
            </a:r>
            <a:endParaRPr kumimoji="1" lang="en-US" altLang="zh-CN" sz="1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（后续在</a:t>
            </a:r>
            <a:r>
              <a:rPr kumimoji="1" lang="en-US" altLang="zh-CN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</a:t>
            </a:r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开发后，在下单后、关单时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crm</a:t>
            </a:r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不会直接关闭，需完成复盘报告上传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crm</a:t>
            </a:r>
            <a:r>
              <a:rPr kumimoji="1" lang="zh-CN" altLang="en-US" sz="1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才会关闭闭环）</a:t>
            </a:r>
          </a:p>
        </p:txBody>
      </p:sp>
    </p:spTree>
    <p:extLst>
      <p:ext uri="{BB962C8B-B14F-4D97-AF65-F5344CB8AC3E}">
        <p14:creationId xmlns:p14="http://schemas.microsoft.com/office/powerpoint/2010/main" val="2976223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1109</Words>
  <Application>Microsoft Macintosh PowerPoint</Application>
  <PresentationFormat>宽屏</PresentationFormat>
  <Paragraphs>73</Paragraphs>
  <Slides>10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等线 Light</vt:lpstr>
      <vt:lpstr>Microsoft YaHei</vt:lpstr>
      <vt:lpstr>Microsoft YaHei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鑫旸 赵</cp:lastModifiedBy>
  <cp:revision>178</cp:revision>
  <dcterms:created xsi:type="dcterms:W3CDTF">2023-01-31T08:37:00Z</dcterms:created>
  <dcterms:modified xsi:type="dcterms:W3CDTF">2025-04-23T12:35:23Z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