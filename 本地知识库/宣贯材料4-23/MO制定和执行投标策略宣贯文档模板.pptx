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5" r:id="rId2"/>
  </p:sldMasterIdLst>
  <p:notesMasterIdLst>
    <p:notesMasterId r:id="rId12"/>
  </p:notesMasterIdLst>
  <p:sldIdLst>
    <p:sldId id="256" r:id="rId3"/>
    <p:sldId id="259" r:id="rId4"/>
    <p:sldId id="2007578733" r:id="rId5"/>
    <p:sldId id="267" r:id="rId6"/>
    <p:sldId id="2007578734" r:id="rId7"/>
    <p:sldId id="2007578735" r:id="rId8"/>
    <p:sldId id="2007578736" r:id="rId9"/>
    <p:sldId id="2007578715" r:id="rId10"/>
    <p:sldId id="266" r:id="rId11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79C1"/>
    <a:srgbClr val="4F98EB"/>
    <a:srgbClr val="D0E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776"/>
    <p:restoredTop sz="96424" autoAdjust="0"/>
  </p:normalViewPr>
  <p:slideViewPr>
    <p:cSldViewPr snapToGrid="0">
      <p:cViewPr varScale="1">
        <p:scale>
          <a:sx n="70" d="100"/>
          <a:sy n="70" d="100"/>
        </p:scale>
        <p:origin x="208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gs" Target="tags/tag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7231FC-8C4E-F84C-8FE1-14B0EBC1857A}" type="doc">
      <dgm:prSet loTypeId="urn:microsoft.com/office/officeart/2005/8/layout/vList6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40B30E35-473E-F744-90BF-F88E904F92B4}">
      <dgm:prSet custT="1"/>
      <dgm:spPr/>
      <dgm:t>
        <a:bodyPr/>
        <a:lstStyle/>
        <a:p>
          <a:r>
            <a:rPr lang="zh-CN" altLang="en-US" sz="2800" b="1" i="0" dirty="0">
              <a:latin typeface="Microsoft YaHei" panose="020B0503020204020204" pitchFamily="34" charset="-122"/>
              <a:ea typeface="Microsoft YaHei" panose="020B0503020204020204" pitchFamily="34" charset="-122"/>
            </a:rPr>
            <a:t>评审投标策略</a:t>
          </a:r>
          <a:endParaRPr lang="zh-CN" altLang="en-US" sz="2800" dirty="0">
            <a:latin typeface="Microsoft YaHei" panose="020B0503020204020204" pitchFamily="34" charset="-122"/>
            <a:ea typeface="Microsoft YaHei" panose="020B0503020204020204" pitchFamily="34" charset="-122"/>
          </a:endParaRPr>
        </a:p>
      </dgm:t>
    </dgm:pt>
    <dgm:pt modelId="{BF31DB77-113E-2C48-A51F-9D6D93237176}" type="parTrans" cxnId="{DA7F4952-C105-B94B-B5E0-83DB7E791615}">
      <dgm:prSet/>
      <dgm:spPr/>
      <dgm:t>
        <a:bodyPr/>
        <a:lstStyle/>
        <a:p>
          <a:endParaRPr lang="zh-CN" altLang="en-US" sz="1200">
            <a:latin typeface="Microsoft YaHei" panose="020B0503020204020204" pitchFamily="34" charset="-122"/>
            <a:ea typeface="Microsoft YaHei" panose="020B0503020204020204" pitchFamily="34" charset="-122"/>
          </a:endParaRPr>
        </a:p>
      </dgm:t>
    </dgm:pt>
    <dgm:pt modelId="{D1743613-C56E-DE43-ADF8-B84041B3A46C}" type="sibTrans" cxnId="{DA7F4952-C105-B94B-B5E0-83DB7E791615}">
      <dgm:prSet/>
      <dgm:spPr/>
      <dgm:t>
        <a:bodyPr/>
        <a:lstStyle/>
        <a:p>
          <a:endParaRPr lang="zh-CN" altLang="en-US" sz="1200">
            <a:latin typeface="Microsoft YaHei" panose="020B0503020204020204" pitchFamily="34" charset="-122"/>
            <a:ea typeface="Microsoft YaHei" panose="020B0503020204020204" pitchFamily="34" charset="-122"/>
          </a:endParaRPr>
        </a:p>
      </dgm:t>
    </dgm:pt>
    <dgm:pt modelId="{A33CC437-6929-C048-A6CC-12E63AFD3A43}">
      <dgm:prSet custT="1"/>
      <dgm:spPr/>
      <dgm:t>
        <a:bodyPr anchor="ctr"/>
        <a:lstStyle/>
        <a:p>
          <a:r>
            <a:rPr lang="zh-CN" altLang="en-US" sz="1600" b="0" i="0" dirty="0">
              <a:latin typeface="Microsoft YaHei" panose="020B0503020204020204" pitchFamily="34" charset="-122"/>
              <a:ea typeface="Microsoft YaHei" panose="020B0503020204020204" pitchFamily="34" charset="-122"/>
            </a:rPr>
            <a:t>通过前期通过搜集到的信息的分析，整合销售、售前及售后团队的铁三角意见，输出针对项目的投标策略规划书，项目组成员对投标策略进行评审，输出最终的投标策略</a:t>
          </a:r>
          <a:endParaRPr lang="zh-CN" altLang="en-US" sz="1600" dirty="0">
            <a:latin typeface="Microsoft YaHei" panose="020B0503020204020204" pitchFamily="34" charset="-122"/>
            <a:ea typeface="Microsoft YaHei" panose="020B0503020204020204" pitchFamily="34" charset="-122"/>
          </a:endParaRPr>
        </a:p>
      </dgm:t>
    </dgm:pt>
    <dgm:pt modelId="{1F0C9C1D-E12A-FA47-BBCB-E30FDB58F205}" type="parTrans" cxnId="{43BCF6AA-C65D-9C44-B29F-5E4F16DA03A5}">
      <dgm:prSet/>
      <dgm:spPr/>
      <dgm:t>
        <a:bodyPr/>
        <a:lstStyle/>
        <a:p>
          <a:endParaRPr lang="zh-CN" altLang="en-US" sz="1200">
            <a:latin typeface="Microsoft YaHei" panose="020B0503020204020204" pitchFamily="34" charset="-122"/>
            <a:ea typeface="Microsoft YaHei" panose="020B0503020204020204" pitchFamily="34" charset="-122"/>
          </a:endParaRPr>
        </a:p>
      </dgm:t>
    </dgm:pt>
    <dgm:pt modelId="{6B81123E-DBF8-EA46-A453-46DF4191955C}" type="sibTrans" cxnId="{43BCF6AA-C65D-9C44-B29F-5E4F16DA03A5}">
      <dgm:prSet/>
      <dgm:spPr/>
      <dgm:t>
        <a:bodyPr/>
        <a:lstStyle/>
        <a:p>
          <a:endParaRPr lang="zh-CN" altLang="en-US" sz="1200">
            <a:latin typeface="Microsoft YaHei" panose="020B0503020204020204" pitchFamily="34" charset="-122"/>
            <a:ea typeface="Microsoft YaHei" panose="020B0503020204020204" pitchFamily="34" charset="-122"/>
          </a:endParaRPr>
        </a:p>
      </dgm:t>
    </dgm:pt>
    <dgm:pt modelId="{EE79501F-C2D2-D542-8FD4-BE7F1E3CDE3C}">
      <dgm:prSet custT="1"/>
      <dgm:spPr/>
      <dgm:t>
        <a:bodyPr/>
        <a:lstStyle/>
        <a:p>
          <a:r>
            <a:rPr lang="zh-CN" altLang="en-US" sz="2800" dirty="0">
              <a:latin typeface="Microsoft YaHei" panose="020B0503020204020204" pitchFamily="34" charset="-122"/>
              <a:ea typeface="Microsoft YaHei" panose="020B0503020204020204" pitchFamily="34" charset="-122"/>
            </a:rPr>
            <a:t>特价申请与审批</a:t>
          </a:r>
        </a:p>
      </dgm:t>
    </dgm:pt>
    <dgm:pt modelId="{05C7850C-104D-4742-B04A-3D28FEAA65B9}" type="parTrans" cxnId="{86A0B852-0A05-4F44-A1B1-458EFEDDFBB8}">
      <dgm:prSet/>
      <dgm:spPr/>
      <dgm:t>
        <a:bodyPr/>
        <a:lstStyle/>
        <a:p>
          <a:endParaRPr lang="zh-CN" altLang="en-US" sz="1200">
            <a:latin typeface="Microsoft YaHei" panose="020B0503020204020204" pitchFamily="34" charset="-122"/>
            <a:ea typeface="Microsoft YaHei" panose="020B0503020204020204" pitchFamily="34" charset="-122"/>
          </a:endParaRPr>
        </a:p>
      </dgm:t>
    </dgm:pt>
    <dgm:pt modelId="{4E14A59E-6B12-8D49-B866-C4D111FC8ED1}" type="sibTrans" cxnId="{86A0B852-0A05-4F44-A1B1-458EFEDDFBB8}">
      <dgm:prSet/>
      <dgm:spPr/>
      <dgm:t>
        <a:bodyPr/>
        <a:lstStyle/>
        <a:p>
          <a:endParaRPr lang="zh-CN" altLang="en-US" sz="1200">
            <a:latin typeface="Microsoft YaHei" panose="020B0503020204020204" pitchFamily="34" charset="-122"/>
            <a:ea typeface="Microsoft YaHei" panose="020B0503020204020204" pitchFamily="34" charset="-122"/>
          </a:endParaRPr>
        </a:p>
      </dgm:t>
    </dgm:pt>
    <dgm:pt modelId="{E0F2F7AB-5CA9-D248-8D3C-0B63C858DA55}">
      <dgm:prSet custT="1"/>
      <dgm:spPr/>
      <dgm:t>
        <a:bodyPr anchor="ctr"/>
        <a:lstStyle/>
        <a:p>
          <a:r>
            <a:rPr lang="zh-CN" altLang="en-US" sz="1600" b="0" i="0" dirty="0">
              <a:latin typeface="Microsoft YaHei" panose="020B0503020204020204" pitchFamily="34" charset="-122"/>
              <a:ea typeface="Microsoft YaHei" panose="020B0503020204020204" pitchFamily="34" charset="-122"/>
            </a:rPr>
            <a:t>通过制定好的投标价格策略，内部进行价格的申请和审批，在项目出现变化时，及时反馈竞争信息，最终能够以最优的价格方案完成审批流程</a:t>
          </a:r>
          <a:endParaRPr lang="zh-CN" altLang="en-US" sz="1600" dirty="0">
            <a:latin typeface="Microsoft YaHei" panose="020B0503020204020204" pitchFamily="34" charset="-122"/>
            <a:ea typeface="Microsoft YaHei" panose="020B0503020204020204" pitchFamily="34" charset="-122"/>
          </a:endParaRPr>
        </a:p>
      </dgm:t>
    </dgm:pt>
    <dgm:pt modelId="{EB287FC1-19C5-8941-9C93-CBE02ED311FA}" type="parTrans" cxnId="{0BC1994A-7944-6C46-9EA9-AD25EE9CBE3F}">
      <dgm:prSet/>
      <dgm:spPr/>
      <dgm:t>
        <a:bodyPr/>
        <a:lstStyle/>
        <a:p>
          <a:endParaRPr lang="zh-CN" altLang="en-US" sz="1200">
            <a:latin typeface="Microsoft YaHei" panose="020B0503020204020204" pitchFamily="34" charset="-122"/>
            <a:ea typeface="Microsoft YaHei" panose="020B0503020204020204" pitchFamily="34" charset="-122"/>
          </a:endParaRPr>
        </a:p>
      </dgm:t>
    </dgm:pt>
    <dgm:pt modelId="{7206ED0F-281A-504F-A50D-79615A54B315}" type="sibTrans" cxnId="{0BC1994A-7944-6C46-9EA9-AD25EE9CBE3F}">
      <dgm:prSet/>
      <dgm:spPr/>
      <dgm:t>
        <a:bodyPr/>
        <a:lstStyle/>
        <a:p>
          <a:endParaRPr lang="zh-CN" altLang="en-US" sz="1200">
            <a:latin typeface="Microsoft YaHei" panose="020B0503020204020204" pitchFamily="34" charset="-122"/>
            <a:ea typeface="Microsoft YaHei" panose="020B0503020204020204" pitchFamily="34" charset="-122"/>
          </a:endParaRPr>
        </a:p>
      </dgm:t>
    </dgm:pt>
    <dgm:pt modelId="{B6733161-13A6-5242-9E00-4911624B6C20}" type="pres">
      <dgm:prSet presAssocID="{167231FC-8C4E-F84C-8FE1-14B0EBC1857A}" presName="Name0" presStyleCnt="0">
        <dgm:presLayoutVars>
          <dgm:dir/>
          <dgm:animLvl val="lvl"/>
          <dgm:resizeHandles/>
        </dgm:presLayoutVars>
      </dgm:prSet>
      <dgm:spPr/>
    </dgm:pt>
    <dgm:pt modelId="{6814D190-C315-A94F-977F-6B8AE0D249EA}" type="pres">
      <dgm:prSet presAssocID="{40B30E35-473E-F744-90BF-F88E904F92B4}" presName="linNode" presStyleCnt="0"/>
      <dgm:spPr/>
    </dgm:pt>
    <dgm:pt modelId="{BD80C554-C1D4-9645-A326-997EE2FF1F5A}" type="pres">
      <dgm:prSet presAssocID="{40B30E35-473E-F744-90BF-F88E904F92B4}" presName="parentShp" presStyleLbl="node1" presStyleIdx="0" presStyleCnt="2" custScaleX="71217">
        <dgm:presLayoutVars>
          <dgm:bulletEnabled val="1"/>
        </dgm:presLayoutVars>
      </dgm:prSet>
      <dgm:spPr/>
    </dgm:pt>
    <dgm:pt modelId="{BA102C84-1AAA-474D-9164-E6EBD43556AF}" type="pres">
      <dgm:prSet presAssocID="{40B30E35-473E-F744-90BF-F88E904F92B4}" presName="childShp" presStyleLbl="bgAccFollowNode1" presStyleIdx="0" presStyleCnt="2">
        <dgm:presLayoutVars>
          <dgm:bulletEnabled val="1"/>
        </dgm:presLayoutVars>
      </dgm:prSet>
      <dgm:spPr/>
    </dgm:pt>
    <dgm:pt modelId="{A72C4F56-F15A-D24D-9FBE-9D0B57943876}" type="pres">
      <dgm:prSet presAssocID="{D1743613-C56E-DE43-ADF8-B84041B3A46C}" presName="spacing" presStyleCnt="0"/>
      <dgm:spPr/>
    </dgm:pt>
    <dgm:pt modelId="{28F1B083-70C4-394A-BC6B-B18FEBF5D00C}" type="pres">
      <dgm:prSet presAssocID="{EE79501F-C2D2-D542-8FD4-BE7F1E3CDE3C}" presName="linNode" presStyleCnt="0"/>
      <dgm:spPr/>
    </dgm:pt>
    <dgm:pt modelId="{15EA4691-A437-C34E-97A4-B5A38519E1C9}" type="pres">
      <dgm:prSet presAssocID="{EE79501F-C2D2-D542-8FD4-BE7F1E3CDE3C}" presName="parentShp" presStyleLbl="node1" presStyleIdx="1" presStyleCnt="2" custScaleX="71747">
        <dgm:presLayoutVars>
          <dgm:bulletEnabled val="1"/>
        </dgm:presLayoutVars>
      </dgm:prSet>
      <dgm:spPr/>
    </dgm:pt>
    <dgm:pt modelId="{605186F6-33EB-E44B-9CAE-405C257F1334}" type="pres">
      <dgm:prSet presAssocID="{EE79501F-C2D2-D542-8FD4-BE7F1E3CDE3C}" presName="childShp" presStyleLbl="bgAccFollowNode1" presStyleIdx="1" presStyleCnt="2">
        <dgm:presLayoutVars>
          <dgm:bulletEnabled val="1"/>
        </dgm:presLayoutVars>
      </dgm:prSet>
      <dgm:spPr/>
    </dgm:pt>
  </dgm:ptLst>
  <dgm:cxnLst>
    <dgm:cxn modelId="{59289F28-76F3-554F-BB48-20C153E24635}" type="presOf" srcId="{EE79501F-C2D2-D542-8FD4-BE7F1E3CDE3C}" destId="{15EA4691-A437-C34E-97A4-B5A38519E1C9}" srcOrd="0" destOrd="0" presId="urn:microsoft.com/office/officeart/2005/8/layout/vList6"/>
    <dgm:cxn modelId="{82EDB339-4C31-C54B-A62A-AB9A66D31D22}" type="presOf" srcId="{40B30E35-473E-F744-90BF-F88E904F92B4}" destId="{BD80C554-C1D4-9645-A326-997EE2FF1F5A}" srcOrd="0" destOrd="0" presId="urn:microsoft.com/office/officeart/2005/8/layout/vList6"/>
    <dgm:cxn modelId="{0BC1994A-7944-6C46-9EA9-AD25EE9CBE3F}" srcId="{EE79501F-C2D2-D542-8FD4-BE7F1E3CDE3C}" destId="{E0F2F7AB-5CA9-D248-8D3C-0B63C858DA55}" srcOrd="0" destOrd="0" parTransId="{EB287FC1-19C5-8941-9C93-CBE02ED311FA}" sibTransId="{7206ED0F-281A-504F-A50D-79615A54B315}"/>
    <dgm:cxn modelId="{DA7F4952-C105-B94B-B5E0-83DB7E791615}" srcId="{167231FC-8C4E-F84C-8FE1-14B0EBC1857A}" destId="{40B30E35-473E-F744-90BF-F88E904F92B4}" srcOrd="0" destOrd="0" parTransId="{BF31DB77-113E-2C48-A51F-9D6D93237176}" sibTransId="{D1743613-C56E-DE43-ADF8-B84041B3A46C}"/>
    <dgm:cxn modelId="{86A0B852-0A05-4F44-A1B1-458EFEDDFBB8}" srcId="{167231FC-8C4E-F84C-8FE1-14B0EBC1857A}" destId="{EE79501F-C2D2-D542-8FD4-BE7F1E3CDE3C}" srcOrd="1" destOrd="0" parTransId="{05C7850C-104D-4742-B04A-3D28FEAA65B9}" sibTransId="{4E14A59E-6B12-8D49-B866-C4D111FC8ED1}"/>
    <dgm:cxn modelId="{8E175089-581A-B64A-A695-5DCFEB270651}" type="presOf" srcId="{167231FC-8C4E-F84C-8FE1-14B0EBC1857A}" destId="{B6733161-13A6-5242-9E00-4911624B6C20}" srcOrd="0" destOrd="0" presId="urn:microsoft.com/office/officeart/2005/8/layout/vList6"/>
    <dgm:cxn modelId="{337FB9A1-0E22-4240-B228-5A5849539328}" type="presOf" srcId="{A33CC437-6929-C048-A6CC-12E63AFD3A43}" destId="{BA102C84-1AAA-474D-9164-E6EBD43556AF}" srcOrd="0" destOrd="0" presId="urn:microsoft.com/office/officeart/2005/8/layout/vList6"/>
    <dgm:cxn modelId="{43BCF6AA-C65D-9C44-B29F-5E4F16DA03A5}" srcId="{40B30E35-473E-F744-90BF-F88E904F92B4}" destId="{A33CC437-6929-C048-A6CC-12E63AFD3A43}" srcOrd="0" destOrd="0" parTransId="{1F0C9C1D-E12A-FA47-BBCB-E30FDB58F205}" sibTransId="{6B81123E-DBF8-EA46-A453-46DF4191955C}"/>
    <dgm:cxn modelId="{9A7C3ADC-0DF3-3F44-9B13-B289671FCCB6}" type="presOf" srcId="{E0F2F7AB-5CA9-D248-8D3C-0B63C858DA55}" destId="{605186F6-33EB-E44B-9CAE-405C257F1334}" srcOrd="0" destOrd="0" presId="urn:microsoft.com/office/officeart/2005/8/layout/vList6"/>
    <dgm:cxn modelId="{A04F0896-18CA-514F-B944-86F6FC35F995}" type="presParOf" srcId="{B6733161-13A6-5242-9E00-4911624B6C20}" destId="{6814D190-C315-A94F-977F-6B8AE0D249EA}" srcOrd="0" destOrd="0" presId="urn:microsoft.com/office/officeart/2005/8/layout/vList6"/>
    <dgm:cxn modelId="{AC21BABB-09E9-E448-B9AB-9EB604A990D6}" type="presParOf" srcId="{6814D190-C315-A94F-977F-6B8AE0D249EA}" destId="{BD80C554-C1D4-9645-A326-997EE2FF1F5A}" srcOrd="0" destOrd="0" presId="urn:microsoft.com/office/officeart/2005/8/layout/vList6"/>
    <dgm:cxn modelId="{E43A0A85-B67F-7D47-840F-41441E2F1C53}" type="presParOf" srcId="{6814D190-C315-A94F-977F-6B8AE0D249EA}" destId="{BA102C84-1AAA-474D-9164-E6EBD43556AF}" srcOrd="1" destOrd="0" presId="urn:microsoft.com/office/officeart/2005/8/layout/vList6"/>
    <dgm:cxn modelId="{39678E0C-D25D-3F49-9E0E-7C1D0BB131BB}" type="presParOf" srcId="{B6733161-13A6-5242-9E00-4911624B6C20}" destId="{A72C4F56-F15A-D24D-9FBE-9D0B57943876}" srcOrd="1" destOrd="0" presId="urn:microsoft.com/office/officeart/2005/8/layout/vList6"/>
    <dgm:cxn modelId="{D3865A2E-CAD9-BC4E-AC58-626DC86A6D2B}" type="presParOf" srcId="{B6733161-13A6-5242-9E00-4911624B6C20}" destId="{28F1B083-70C4-394A-BC6B-B18FEBF5D00C}" srcOrd="2" destOrd="0" presId="urn:microsoft.com/office/officeart/2005/8/layout/vList6"/>
    <dgm:cxn modelId="{5237FD4E-3CF7-8742-BFC5-7808AC846B08}" type="presParOf" srcId="{28F1B083-70C4-394A-BC6B-B18FEBF5D00C}" destId="{15EA4691-A437-C34E-97A4-B5A38519E1C9}" srcOrd="0" destOrd="0" presId="urn:microsoft.com/office/officeart/2005/8/layout/vList6"/>
    <dgm:cxn modelId="{A863BAA1-1E2B-5E45-A131-73EFE765614D}" type="presParOf" srcId="{28F1B083-70C4-394A-BC6B-B18FEBF5D00C}" destId="{605186F6-33EB-E44B-9CAE-405C257F133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102C84-1AAA-474D-9164-E6EBD43556AF}">
      <dsp:nvSpPr>
        <dsp:cNvPr id="0" name=""/>
        <dsp:cNvSpPr/>
      </dsp:nvSpPr>
      <dsp:spPr>
        <a:xfrm>
          <a:off x="3975526" y="499"/>
          <a:ext cx="6965768" cy="1946701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0" i="0" kern="1200" dirty="0">
              <a:latin typeface="Microsoft YaHei" panose="020B0503020204020204" pitchFamily="34" charset="-122"/>
              <a:ea typeface="Microsoft YaHei" panose="020B0503020204020204" pitchFamily="34" charset="-122"/>
            </a:rPr>
            <a:t>通过前期通过搜集到的信息的分析，整合销售、售前及售后团队的铁三角意见，输出针对项目的投标策略规划书，项目组成员对投标策略进行评审，输出最终的投标策略</a:t>
          </a:r>
          <a:endParaRPr lang="zh-CN" altLang="en-US" sz="1600" kern="1200" dirty="0">
            <a:latin typeface="Microsoft YaHei" panose="020B0503020204020204" pitchFamily="34" charset="-122"/>
            <a:ea typeface="Microsoft YaHei" panose="020B0503020204020204" pitchFamily="34" charset="-122"/>
          </a:endParaRPr>
        </a:p>
      </dsp:txBody>
      <dsp:txXfrm>
        <a:off x="3975526" y="243837"/>
        <a:ext cx="6235755" cy="1460025"/>
      </dsp:txXfrm>
    </dsp:sp>
    <dsp:sp modelId="{BD80C554-C1D4-9645-A326-997EE2FF1F5A}">
      <dsp:nvSpPr>
        <dsp:cNvPr id="0" name=""/>
        <dsp:cNvSpPr/>
      </dsp:nvSpPr>
      <dsp:spPr>
        <a:xfrm>
          <a:off x="668319" y="499"/>
          <a:ext cx="3307207" cy="194670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b="1" i="0" kern="1200" dirty="0">
              <a:latin typeface="Microsoft YaHei" panose="020B0503020204020204" pitchFamily="34" charset="-122"/>
              <a:ea typeface="Microsoft YaHei" panose="020B0503020204020204" pitchFamily="34" charset="-122"/>
            </a:rPr>
            <a:t>评审投标策略</a:t>
          </a:r>
          <a:endParaRPr lang="zh-CN" altLang="en-US" sz="2800" kern="1200" dirty="0">
            <a:latin typeface="Microsoft YaHei" panose="020B0503020204020204" pitchFamily="34" charset="-122"/>
            <a:ea typeface="Microsoft YaHei" panose="020B0503020204020204" pitchFamily="34" charset="-122"/>
          </a:endParaRPr>
        </a:p>
      </dsp:txBody>
      <dsp:txXfrm>
        <a:off x="763349" y="95529"/>
        <a:ext cx="3117147" cy="1756641"/>
      </dsp:txXfrm>
    </dsp:sp>
    <dsp:sp modelId="{605186F6-33EB-E44B-9CAE-405C257F1334}">
      <dsp:nvSpPr>
        <dsp:cNvPr id="0" name=""/>
        <dsp:cNvSpPr/>
      </dsp:nvSpPr>
      <dsp:spPr>
        <a:xfrm>
          <a:off x="3987832" y="2141871"/>
          <a:ext cx="6965768" cy="1946701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20804456"/>
            <a:satOff val="-5218"/>
            <a:lumOff val="-906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20804456"/>
              <a:satOff val="-5218"/>
              <a:lumOff val="-9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0" i="0" kern="1200" dirty="0">
              <a:latin typeface="Microsoft YaHei" panose="020B0503020204020204" pitchFamily="34" charset="-122"/>
              <a:ea typeface="Microsoft YaHei" panose="020B0503020204020204" pitchFamily="34" charset="-122"/>
            </a:rPr>
            <a:t>通过制定好的投标价格策略，内部进行价格的申请和审批，在项目出现变化时，及时反馈竞争信息，最终能够以最优的价格方案完成审批流程</a:t>
          </a:r>
          <a:endParaRPr lang="zh-CN" altLang="en-US" sz="1600" kern="1200" dirty="0">
            <a:latin typeface="Microsoft YaHei" panose="020B0503020204020204" pitchFamily="34" charset="-122"/>
            <a:ea typeface="Microsoft YaHei" panose="020B0503020204020204" pitchFamily="34" charset="-122"/>
          </a:endParaRPr>
        </a:p>
      </dsp:txBody>
      <dsp:txXfrm>
        <a:off x="3987832" y="2385209"/>
        <a:ext cx="6235755" cy="1460025"/>
      </dsp:txXfrm>
    </dsp:sp>
    <dsp:sp modelId="{15EA4691-A437-C34E-97A4-B5A38519E1C9}">
      <dsp:nvSpPr>
        <dsp:cNvPr id="0" name=""/>
        <dsp:cNvSpPr/>
      </dsp:nvSpPr>
      <dsp:spPr>
        <a:xfrm>
          <a:off x="656012" y="2141871"/>
          <a:ext cx="3331819" cy="1946701"/>
        </a:xfrm>
        <a:prstGeom prst="roundRect">
          <a:avLst/>
        </a:prstGeom>
        <a:solidFill>
          <a:schemeClr val="accent5">
            <a:hueOff val="20394095"/>
            <a:satOff val="-3394"/>
            <a:lumOff val="-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Microsoft YaHei" panose="020B0503020204020204" pitchFamily="34" charset="-122"/>
              <a:ea typeface="Microsoft YaHei" panose="020B0503020204020204" pitchFamily="34" charset="-122"/>
            </a:rPr>
            <a:t>特价申请与审批</a:t>
          </a:r>
        </a:p>
      </dsp:txBody>
      <dsp:txXfrm>
        <a:off x="751042" y="2236901"/>
        <a:ext cx="3141759" cy="17566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050FCB-07F6-4B22-B162-6C5FE8368D04}" type="datetimeFigureOut">
              <a:rPr lang="zh-CN" altLang="en-US" smtClean="0"/>
              <a:t>2025/4/23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E951AD-B4A1-46FE-A52F-08C91A0806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783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2</a:t>
            </a:r>
            <a:r>
              <a:rPr lang="zh-CN" altLang="en-US" dirty="0"/>
              <a:t>月</a:t>
            </a:r>
            <a:r>
              <a:rPr lang="en-US" altLang="zh-CN" dirty="0"/>
              <a:t>5</a:t>
            </a:r>
            <a:r>
              <a:rPr lang="zh-CN" altLang="en-US" dirty="0"/>
              <a:t>日取值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D077CC-FB9E-B64F-8E5D-9AAAFFC6134C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7103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D077CC-FB9E-B64F-8E5D-9AAAFFC6134C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0415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uijie.com.cn/" TargetMode="External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image" Target="../media/image2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4.xml"/><Relationship Id="rId4" Type="http://schemas.openxmlformats.org/officeDocument/2006/relationships/tags" Target="../tags/tag1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蓝色的天空&#10;&#10;描述已自动生成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灯片编号占位符 1"/>
          <p:cNvSpPr txBox="1"/>
          <p:nvPr userDrawn="1">
            <p:custDataLst>
              <p:tags r:id="rId4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sp>
        <p:nvSpPr>
          <p:cNvPr id="14" name="灯片编号占位符 1"/>
          <p:cNvSpPr txBox="1"/>
          <p:nvPr userDrawn="1">
            <p:custDataLst>
              <p:tags r:id="rId5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dirty="0"/>
              <a:t>｜ </a:t>
            </a:r>
            <a:r>
              <a:rPr kumimoji="1" lang="en-US" altLang="zh-CN" dirty="0" err="1"/>
              <a:t>www.ruijie.com.cn</a:t>
            </a:r>
            <a:endParaRPr kumimoji="1" lang="zh-CN" altLang="en-US" dirty="0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游戏机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9" y="0"/>
            <a:ext cx="12191124" cy="6858000"/>
          </a:xfrm>
          <a:prstGeom prst="rect">
            <a:avLst/>
          </a:prstGeom>
        </p:spPr>
      </p:pic>
      <p:pic>
        <p:nvPicPr>
          <p:cNvPr id="10" name="图片 9" descr="徽标&#10;&#10;描述已自动生成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篇章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246"/>
          </a:xfrm>
          <a:prstGeom prst="rect">
            <a:avLst/>
          </a:prstGeom>
        </p:spPr>
      </p:pic>
      <p:pic>
        <p:nvPicPr>
          <p:cNvPr id="8" name="图片 7" descr="徽标&#10;&#10;描述已自动生成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背景图案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000"/>
          </a:xfrm>
          <a:prstGeom prst="rect">
            <a:avLst/>
          </a:prstGeom>
        </p:spPr>
      </p:pic>
      <p:sp>
        <p:nvSpPr>
          <p:cNvPr id="11" name="TextBox 6"/>
          <p:cNvSpPr>
            <a:spLocks noChangeArrowheads="1"/>
          </p:cNvSpPr>
          <p:nvPr userDrawn="1"/>
        </p:nvSpPr>
        <p:spPr bwMode="auto">
          <a:xfrm>
            <a:off x="573759" y="1771142"/>
            <a:ext cx="404812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4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微软雅黑" panose="020B0503020204020204" pitchFamily="34" charset="-122"/>
              </a:rPr>
              <a:t>THANKS.</a:t>
            </a:r>
          </a:p>
        </p:txBody>
      </p:sp>
      <p:sp>
        <p:nvSpPr>
          <p:cNvPr id="12" name="TextBox 7"/>
          <p:cNvSpPr>
            <a:spLocks noChangeArrowheads="1"/>
          </p:cNvSpPr>
          <p:nvPr userDrawn="1"/>
        </p:nvSpPr>
        <p:spPr bwMode="auto">
          <a:xfrm>
            <a:off x="573758" y="2502536"/>
            <a:ext cx="5323894" cy="84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锐捷网络股份有限公司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欲了解更多信息，欢迎登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录</a:t>
            </a:r>
            <a:r>
              <a:rPr lang="en-US" altLang="zh-CN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  <a:hlinkClick r:id="rId3"/>
              </a:rPr>
              <a:t>www.ruijie.com.cn</a:t>
            </a:r>
            <a:r>
              <a:rPr lang="en-US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，咨询电话：400-620-8818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*本资料产品图片及技术数据仅供参考，如有更新恕不另行通知，具体内容解释权归锐捷网络所有。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3" name="图片 12" descr="徽标&#10;&#10;描述已自动生成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蓝色的天空&#10;&#10;描述已自动生成"/>
          <p:cNvPicPr>
            <a:picLocks noChangeAspect="1"/>
          </p:cNvPicPr>
          <p:nvPr userDrawn="1"/>
        </p:nvPicPr>
        <p:blipFill>
          <a:blip r:embed="rId2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2853453-A954-0142-B0C2-FCB80B60730E}"/>
              </a:ext>
            </a:extLst>
          </p:cNvPr>
          <p:cNvSpPr/>
          <p:nvPr userDrawn="1"/>
        </p:nvSpPr>
        <p:spPr>
          <a:xfrm>
            <a:off x="0" y="755167"/>
            <a:ext cx="12191999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17">
            <a:extLst>
              <a:ext uri="{FF2B5EF4-FFF2-40B4-BE49-F238E27FC236}">
                <a16:creationId xmlns:a16="http://schemas.microsoft.com/office/drawing/2014/main" id="{30ABD73E-8DFF-B24B-8922-54A2891620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538" y="274444"/>
            <a:ext cx="4513632" cy="3032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400" b="1" kern="1200" dirty="0" smtClean="0">
                <a:solidFill>
                  <a:srgbClr val="4E586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</a:p>
        </p:txBody>
      </p:sp>
      <p:sp>
        <p:nvSpPr>
          <p:cNvPr id="6" name="文本占位符 17">
            <a:extLst>
              <a:ext uri="{FF2B5EF4-FFF2-40B4-BE49-F238E27FC236}">
                <a16:creationId xmlns:a16="http://schemas.microsoft.com/office/drawing/2014/main" id="{0589C2B7-82E4-5F43-B9F6-2EE8762E39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6167" y="1112124"/>
            <a:ext cx="4513632" cy="42296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400" b="0" kern="1200" dirty="0" smtClean="0">
                <a:solidFill>
                  <a:srgbClr val="4E586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</a:p>
        </p:txBody>
      </p:sp>
      <p:sp>
        <p:nvSpPr>
          <p:cNvPr id="12" name="文本占位符 17">
            <a:extLst>
              <a:ext uri="{FF2B5EF4-FFF2-40B4-BE49-F238E27FC236}">
                <a16:creationId xmlns:a16="http://schemas.microsoft.com/office/drawing/2014/main" id="{F42F9344-5ABF-5844-8117-CF42998CD2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6167" y="1594920"/>
            <a:ext cx="9579288" cy="239638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buNone/>
              <a:defRPr kumimoji="1" lang="zh-CN" altLang="en-US" sz="1200" b="0" kern="1200" dirty="0" smtClean="0">
                <a:solidFill>
                  <a:srgbClr val="4E586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单击此处编辑页眉章节标题，此处为一段描述文字，自</a:t>
            </a:r>
            <a:r>
              <a:rPr kumimoji="1" lang="en-US" altLang="zh-CN" dirty="0"/>
              <a:t>2000</a:t>
            </a:r>
            <a:r>
              <a:rPr kumimoji="1" lang="zh-CN" altLang="en-US" dirty="0"/>
              <a:t>年成立以来，一直扎根行业、深入场景进行解决方案设计和创新，助力全行业数字化转型升级。</a:t>
            </a:r>
          </a:p>
        </p:txBody>
      </p:sp>
    </p:spTree>
    <p:extLst>
      <p:ext uri="{BB962C8B-B14F-4D97-AF65-F5344CB8AC3E}">
        <p14:creationId xmlns:p14="http://schemas.microsoft.com/office/powerpoint/2010/main" val="2861283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灯片编号占位符 1"/>
          <p:cNvSpPr txBox="1"/>
          <p:nvPr userDrawn="1">
            <p:custDataLst>
              <p:tags r:id="rId3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sp>
        <p:nvSpPr>
          <p:cNvPr id="14" name="灯片编号占位符 1"/>
          <p:cNvSpPr txBox="1"/>
          <p:nvPr userDrawn="1">
            <p:custDataLst>
              <p:tags r:id="rId4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dirty="0"/>
              <a:t>｜ </a:t>
            </a:r>
            <a:r>
              <a:rPr kumimoji="1" lang="en-US" altLang="zh-CN" dirty="0" err="1"/>
              <a:t>www.ruijie.com.cn</a:t>
            </a:r>
            <a:endParaRPr kumimoji="1" lang="zh-CN" altLang="en-US" dirty="0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2853453-A954-0142-B0C2-FCB80B60730E}"/>
              </a:ext>
            </a:extLst>
          </p:cNvPr>
          <p:cNvSpPr/>
          <p:nvPr userDrawn="1"/>
        </p:nvSpPr>
        <p:spPr>
          <a:xfrm>
            <a:off x="0" y="755167"/>
            <a:ext cx="12191999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17">
            <a:extLst>
              <a:ext uri="{FF2B5EF4-FFF2-40B4-BE49-F238E27FC236}">
                <a16:creationId xmlns:a16="http://schemas.microsoft.com/office/drawing/2014/main" id="{30ABD73E-8DFF-B24B-8922-54A2891620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538" y="274444"/>
            <a:ext cx="4513632" cy="3032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400" b="1" kern="1200" dirty="0" smtClean="0">
                <a:solidFill>
                  <a:srgbClr val="4E586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</a:p>
        </p:txBody>
      </p:sp>
      <p:sp>
        <p:nvSpPr>
          <p:cNvPr id="6" name="文本占位符 17">
            <a:extLst>
              <a:ext uri="{FF2B5EF4-FFF2-40B4-BE49-F238E27FC236}">
                <a16:creationId xmlns:a16="http://schemas.microsoft.com/office/drawing/2014/main" id="{0589C2B7-82E4-5F43-B9F6-2EE8762E39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6167" y="1112124"/>
            <a:ext cx="4513632" cy="42296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400" b="0" kern="1200" dirty="0" smtClean="0">
                <a:solidFill>
                  <a:srgbClr val="4E586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</a:p>
        </p:txBody>
      </p:sp>
      <p:sp>
        <p:nvSpPr>
          <p:cNvPr id="12" name="文本占位符 17">
            <a:extLst>
              <a:ext uri="{FF2B5EF4-FFF2-40B4-BE49-F238E27FC236}">
                <a16:creationId xmlns:a16="http://schemas.microsoft.com/office/drawing/2014/main" id="{F42F9344-5ABF-5844-8117-CF42998CD2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6167" y="1594920"/>
            <a:ext cx="9579288" cy="239638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buNone/>
              <a:defRPr kumimoji="1" lang="zh-CN" altLang="en-US" sz="1200" b="0" kern="1200" dirty="0" smtClean="0">
                <a:solidFill>
                  <a:srgbClr val="4E586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单击此处编辑页眉章节标题，此处为一段描述文字，自</a:t>
            </a:r>
            <a:r>
              <a:rPr kumimoji="1" lang="en-US" altLang="zh-CN" dirty="0"/>
              <a:t>2000</a:t>
            </a:r>
            <a:r>
              <a:rPr kumimoji="1" lang="zh-CN" altLang="en-US" dirty="0"/>
              <a:t>年成立以来，一直扎根行业、深入场景进行解决方案设计和创新，助力全行业数字化转型升级。</a:t>
            </a:r>
          </a:p>
        </p:txBody>
      </p:sp>
    </p:spTree>
    <p:extLst>
      <p:ext uri="{BB962C8B-B14F-4D97-AF65-F5344CB8AC3E}">
        <p14:creationId xmlns:p14="http://schemas.microsoft.com/office/powerpoint/2010/main" val="628285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.jpeg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79380-D657-8D4E-9A0F-A362142B5069}" type="datetimeFigureOut">
              <a:rPr kumimoji="1" lang="zh-CN" altLang="en-US" smtClean="0"/>
              <a:t>2025/4/23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A8893-B06F-FA45-8416-383DCFC04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蓝色的天空&#10;&#10;描述已自动生成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8" r:id="rId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0" y="864"/>
            <a:ext cx="12193538" cy="6857136"/>
          </a:xfrm>
          <a:prstGeom prst="rect">
            <a:avLst/>
          </a:prstGeom>
        </p:spPr>
      </p:pic>
      <p:pic>
        <p:nvPicPr>
          <p:cNvPr id="11" name="图片 10" descr="徽标&#10;&#10;描述已自动生成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901043" y="2697095"/>
            <a:ext cx="69092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dirty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M11. 3 </a:t>
            </a:r>
            <a:r>
              <a:rPr kumimoji="1" lang="zh-CN" altLang="en-US" sz="3600" dirty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制定并执行投标策略流程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73405" y="1865546"/>
            <a:ext cx="288252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 </a:t>
            </a:r>
            <a:r>
              <a:rPr kumimoji="1" lang="zh-CN" altLang="en-US" sz="2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管理商机流程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92015" y="5806598"/>
            <a:ext cx="1117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2025.04.23</a:t>
            </a:r>
            <a:endParaRPr kumimoji="1"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9915" y="153663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6" name="文本占位符 2"/>
          <p:cNvSpPr txBox="1"/>
          <p:nvPr/>
        </p:nvSpPr>
        <p:spPr>
          <a:xfrm>
            <a:off x="1219914" y="2469930"/>
            <a:ext cx="8903800" cy="2406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2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dirty="0"/>
              <a:t>M11.</a:t>
            </a:r>
            <a:r>
              <a:rPr lang="zh-CN" altLang="en-US" dirty="0"/>
              <a:t> </a:t>
            </a:r>
            <a:r>
              <a:rPr lang="en-US" altLang="zh-CN" dirty="0"/>
              <a:t>3 </a:t>
            </a:r>
            <a:r>
              <a:rPr lang="zh-CN" altLang="en-US" dirty="0"/>
              <a:t>制定并执行投标策略流程这个流程主要是做什么的？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Why</a:t>
            </a:r>
            <a:r>
              <a:rPr lang="zh-CN" altLang="en-US" dirty="0"/>
              <a:t>：为什么要设计这个流程</a:t>
            </a:r>
            <a:r>
              <a:rPr lang="en-US" altLang="zh-CN" dirty="0"/>
              <a:t>-</a:t>
            </a:r>
            <a:r>
              <a:rPr lang="zh-CN" altLang="en-US" dirty="0"/>
              <a:t>业务价值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What</a:t>
            </a:r>
            <a:r>
              <a:rPr lang="zh-CN" altLang="en-US" dirty="0"/>
              <a:t>：需要各位做什么</a:t>
            </a:r>
            <a:endParaRPr lang="en-US" altLang="zh-CN" dirty="0"/>
          </a:p>
          <a:p>
            <a:pPr>
              <a:lnSpc>
                <a:spcPct val="150000"/>
              </a:lnSpc>
              <a:defRPr/>
            </a:pPr>
            <a:r>
              <a:rPr lang="en-US" altLang="zh-CN" dirty="0"/>
              <a:t>How</a:t>
            </a:r>
            <a:r>
              <a:rPr lang="zh-CN" altLang="en-US" dirty="0"/>
              <a:t>：具体怎么做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49193" y="296581"/>
            <a:ext cx="7109236" cy="426596"/>
          </a:xfrm>
        </p:spPr>
        <p:txBody>
          <a:bodyPr/>
          <a:lstStyle/>
          <a:p>
            <a:r>
              <a:rPr lang="zh-CN" altLang="en-US" dirty="0"/>
              <a:t>制定并执行投标策略 </a:t>
            </a:r>
            <a:r>
              <a:rPr lang="en-US" altLang="zh-CN" dirty="0"/>
              <a:t>_</a:t>
            </a:r>
            <a:r>
              <a:rPr lang="zh-CN" altLang="en-US" dirty="0"/>
              <a:t>在</a:t>
            </a:r>
            <a:r>
              <a:rPr lang="en-US" altLang="zh-CN" dirty="0"/>
              <a:t>MO</a:t>
            </a:r>
            <a:r>
              <a:rPr lang="zh-CN" altLang="en-US" dirty="0"/>
              <a:t>流程中的位置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674688" y="1078787"/>
            <a:ext cx="1787703" cy="5044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5BF8198-61EC-88B8-6454-7611B9E1F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44" y="783101"/>
            <a:ext cx="11872111" cy="5340296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149449" y="1694255"/>
            <a:ext cx="1415944" cy="376517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1294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4" y="274320"/>
            <a:ext cx="8662035" cy="495935"/>
          </a:xfrm>
        </p:spPr>
        <p:txBody>
          <a:bodyPr/>
          <a:lstStyle/>
          <a:p>
            <a:r>
              <a:rPr lang="en-US" altLang="zh-CN" dirty="0"/>
              <a:t>M11.</a:t>
            </a:r>
            <a:r>
              <a:rPr lang="zh-CN" altLang="en-US" dirty="0"/>
              <a:t> </a:t>
            </a:r>
            <a:r>
              <a:rPr lang="en-US" altLang="zh-CN" dirty="0"/>
              <a:t>3 </a:t>
            </a:r>
            <a:r>
              <a:rPr lang="zh-CN" altLang="en-US" dirty="0"/>
              <a:t>制定并执行投标策略流程这个流程主要是做什么的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90327" y="1380870"/>
            <a:ext cx="592915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/>
            </a:lvl1pPr>
          </a:lstStyle>
          <a:p>
            <a:r>
              <a:rPr lang="zh-CN" altLang="en-US" dirty="0">
                <a:effectLst/>
              </a:rPr>
              <a:t>制定并执行投标策略是参与市场竞争、提升中标率的重要手段。通过深入的市场调研与分析、明确投标目标、制定投标方案、建立投标团队等步骤，可以制定出一套科学、合理的投标策略。在执行投标策略的过程中，要密切关注市场动态和竞争对手的动向，及时调整策略，确保投标工作的顺利进行。同时，要对每次投标活动进行总结和反思，不断优化投标策略，提升我们的投标能力和水平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90328" y="9845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流程目的：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617677" y="1384501"/>
            <a:ext cx="5320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本流程适用于 </a:t>
            </a:r>
            <a:r>
              <a:rPr lang="en-US" altLang="zh-CN" sz="1100" dirty="0"/>
              <a:t>EBG </a:t>
            </a:r>
            <a:r>
              <a:rPr lang="zh-CN" altLang="en-US" sz="1100" dirty="0"/>
              <a:t>所有需要投标的业务场景。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617677" y="9845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适用范围：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EC023E2-F96C-C442-D751-8BDA050FF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260357"/>
            <a:ext cx="7772400" cy="422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385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445388" y="285433"/>
            <a:ext cx="9729946" cy="495935"/>
          </a:xfrm>
        </p:spPr>
        <p:txBody>
          <a:bodyPr>
            <a:noAutofit/>
          </a:bodyPr>
          <a:lstStyle/>
          <a:p>
            <a:r>
              <a:rPr lang="en-US" altLang="zh-CN" sz="2400" dirty="0">
                <a:solidFill>
                  <a:srgbClr val="4E586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WHAT:</a:t>
            </a:r>
            <a:r>
              <a:rPr lang="zh-CN" altLang="en-US" sz="2400" dirty="0">
                <a:solidFill>
                  <a:srgbClr val="4E586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需要各位做什么</a:t>
            </a:r>
          </a:p>
        </p:txBody>
      </p:sp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48AE2C9C-5902-CED6-0B14-C2E6DA4980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2951927"/>
              </p:ext>
            </p:extLst>
          </p:nvPr>
        </p:nvGraphicFramePr>
        <p:xfrm>
          <a:off x="87086" y="2235527"/>
          <a:ext cx="11609614" cy="40890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4EBF374C-36EE-F529-9593-7ACFF79D3F11}"/>
              </a:ext>
            </a:extLst>
          </p:cNvPr>
          <p:cNvSpPr txBox="1"/>
          <p:nvPr/>
        </p:nvSpPr>
        <p:spPr>
          <a:xfrm>
            <a:off x="685799" y="1070224"/>
            <a:ext cx="102325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所有进入招投标环节的的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已立项商机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，需要按照</a:t>
            </a:r>
            <a:r>
              <a:rPr lang="en-US" altLang="zh-CN" dirty="0"/>
              <a:t>M11.</a:t>
            </a:r>
            <a:r>
              <a:rPr lang="zh-CN" altLang="en-US" dirty="0"/>
              <a:t> </a:t>
            </a:r>
            <a:r>
              <a:rPr lang="en-US" altLang="zh-CN" dirty="0"/>
              <a:t>3 </a:t>
            </a:r>
            <a:r>
              <a:rPr lang="zh-CN" altLang="en-US" dirty="0"/>
              <a:t>制定并执行投标策略流程开展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，其中最关键的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个工作，需要各位高质量完成。</a:t>
            </a:r>
          </a:p>
        </p:txBody>
      </p:sp>
    </p:spTree>
    <p:extLst>
      <p:ext uri="{BB962C8B-B14F-4D97-AF65-F5344CB8AC3E}">
        <p14:creationId xmlns:p14="http://schemas.microsoft.com/office/powerpoint/2010/main" val="1345509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712860" y="280531"/>
            <a:ext cx="7109236" cy="426596"/>
          </a:xfrm>
        </p:spPr>
        <p:txBody>
          <a:bodyPr/>
          <a:lstStyle/>
          <a:p>
            <a:r>
              <a:rPr lang="en-US" altLang="zh-CN" dirty="0"/>
              <a:t>How</a:t>
            </a:r>
            <a:r>
              <a:rPr lang="zh-CN" altLang="en-US" dirty="0"/>
              <a:t>：职责分工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r>
              <a:rPr kumimoji="1" lang="en-US" altLang="zh-CN" dirty="0"/>
              <a:t>  </a:t>
            </a:r>
            <a:endParaRPr kumimoji="1" lang="zh-CN" alt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37EFCAE-2D60-50A6-97F0-CB12F3AB0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936617" y="1739900"/>
            <a:ext cx="3076563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DEDEABE-2D5C-3087-09C5-41113F8B5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992" y="1038836"/>
            <a:ext cx="9619112" cy="5538633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804804D5-AE72-C0F7-0B0A-01E622C0BC35}"/>
              </a:ext>
            </a:extLst>
          </p:cNvPr>
          <p:cNvSpPr txBox="1"/>
          <p:nvPr/>
        </p:nvSpPr>
        <p:spPr>
          <a:xfrm>
            <a:off x="6096000" y="3603517"/>
            <a:ext cx="1846160" cy="55516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7F9B637-9D02-BB8A-9065-3F69DF5C3583}"/>
              </a:ext>
            </a:extLst>
          </p:cNvPr>
          <p:cNvSpPr txBox="1"/>
          <p:nvPr/>
        </p:nvSpPr>
        <p:spPr>
          <a:xfrm>
            <a:off x="1459992" y="4294010"/>
            <a:ext cx="1136528" cy="31455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C893EA2-76D3-F015-D8D6-165693068090}"/>
              </a:ext>
            </a:extLst>
          </p:cNvPr>
          <p:cNvSpPr txBox="1"/>
          <p:nvPr/>
        </p:nvSpPr>
        <p:spPr>
          <a:xfrm>
            <a:off x="1459992" y="5435739"/>
            <a:ext cx="1136528" cy="31455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9679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712860" y="280531"/>
            <a:ext cx="7109236" cy="426596"/>
          </a:xfrm>
        </p:spPr>
        <p:txBody>
          <a:bodyPr/>
          <a:lstStyle/>
          <a:p>
            <a:r>
              <a:rPr lang="en-US" altLang="zh-CN" dirty="0"/>
              <a:t>How</a:t>
            </a:r>
            <a:r>
              <a:rPr lang="zh-CN" altLang="en-US" dirty="0"/>
              <a:t>：职责分工流程图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D5065F8-C181-7D60-E329-0BA9DEA5F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382" y="785831"/>
            <a:ext cx="7109236" cy="57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377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540838"/>
              </p:ext>
            </p:extLst>
          </p:nvPr>
        </p:nvGraphicFramePr>
        <p:xfrm>
          <a:off x="673102" y="1006794"/>
          <a:ext cx="9976141" cy="5207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1301">
                  <a:extLst>
                    <a:ext uri="{9D8B030D-6E8A-4147-A177-3AD203B41FA5}">
                      <a16:colId xmlns:a16="http://schemas.microsoft.com/office/drawing/2014/main" val="883537005"/>
                    </a:ext>
                  </a:extLst>
                </a:gridCol>
                <a:gridCol w="7214840">
                  <a:extLst>
                    <a:ext uri="{9D8B030D-6E8A-4147-A177-3AD203B41FA5}">
                      <a16:colId xmlns:a16="http://schemas.microsoft.com/office/drawing/2014/main" val="3411840121"/>
                    </a:ext>
                  </a:extLst>
                </a:gridCol>
              </a:tblGrid>
              <a:tr h="624303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2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文件名称</a:t>
                      </a:r>
                    </a:p>
                  </a:txBody>
                  <a:tcPr marL="50800" marR="50800" marT="50800" marB="508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制定和执行投标策略流程说明文件</a:t>
                      </a:r>
                    </a:p>
                  </a:txBody>
                  <a:tcPr marL="50800" marR="50800" marT="50800" marB="50800" anchor="ctr">
                    <a:solidFill>
                      <a:srgbClr val="E9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669315"/>
                  </a:ext>
                </a:extLst>
              </a:tr>
              <a:tr h="624303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50000"/>
                        </a:lnSpc>
                      </a:pPr>
                      <a:r>
                        <a:rPr lang="zh-CN" altLang="en-US" sz="1200" b="1" kern="1200" dirty="0">
                          <a:solidFill>
                            <a:schemeClr val="lt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文件编号</a:t>
                      </a:r>
                    </a:p>
                  </a:txBody>
                  <a:tcPr marL="50800" marR="50800" marT="50800" marB="508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2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MTCV-MO-M11.</a:t>
                      </a:r>
                      <a:r>
                        <a:rPr lang="en-US" altLang="zh-CN" sz="12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r>
                        <a:rPr lang="en" altLang="zh-CN" sz="12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-P-</a:t>
                      </a:r>
                      <a:r>
                        <a:rPr lang="zh-CN" altLang="en-US" sz="12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制定和执行投标策略</a:t>
                      </a:r>
                      <a:r>
                        <a:rPr lang="en-US" altLang="zh-CN" sz="12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</a:t>
                      </a:r>
                      <a:r>
                        <a:rPr lang="en" altLang="zh-CN" sz="12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V0.9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4115435319"/>
                  </a:ext>
                </a:extLst>
              </a:tr>
              <a:tr h="624303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版本</a:t>
                      </a:r>
                    </a:p>
                  </a:txBody>
                  <a:tcPr marL="50800" marR="50800" marT="50800" marB="508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en" altLang="zh-CN" sz="12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V0.9</a:t>
                      </a:r>
                      <a:endParaRPr lang="zh-CN" altLang="en-US" sz="1200" b="1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2368395632"/>
                  </a:ext>
                </a:extLst>
              </a:tr>
              <a:tr h="624303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50000"/>
                        </a:lnSpc>
                      </a:pPr>
                      <a:r>
                        <a:rPr lang="zh-CN" altLang="en-US" sz="1200" b="1" kern="12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生效日期</a:t>
                      </a:r>
                    </a:p>
                  </a:txBody>
                  <a:tcPr marL="50800" marR="50800" marT="50800" marB="508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2025/4/23</a:t>
                      </a:r>
                      <a:endParaRPr lang="zh-CN" altLang="en-US" sz="1200" b="1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114695405"/>
                  </a:ext>
                </a:extLst>
              </a:tr>
              <a:tr h="624303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ct val="150000"/>
                        </a:lnSpc>
                      </a:pPr>
                      <a:r>
                        <a:rPr lang="zh-CN" altLang="en-US" sz="1200" b="1" kern="1200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适用范围</a:t>
                      </a:r>
                    </a:p>
                  </a:txBody>
                  <a:tcPr marL="50800" marR="50800" marT="50800" marB="508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EBG</a:t>
                      </a:r>
                      <a:endParaRPr lang="zh-CN" altLang="en-US" sz="1200" b="1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2995353675"/>
                  </a:ext>
                </a:extLst>
              </a:tr>
              <a:tr h="624303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重点反馈部门</a:t>
                      </a: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区域</a:t>
                      </a:r>
                    </a:p>
                  </a:txBody>
                  <a:tcPr marL="50800" marR="50800" marT="50800" marB="508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教育系统部、政府交通系统部、江西区域、北京区域、辽宁区域，请严格遵照本流程开展业务实践，配合流程工作组要求，共创优秀实践。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651538319"/>
                  </a:ext>
                </a:extLst>
              </a:tr>
              <a:tr h="971838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重点反馈部门</a:t>
                      </a:r>
                      <a:r>
                        <a:rPr lang="en-US" altLang="zh-CN" sz="1200" b="1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区域</a:t>
                      </a:r>
                      <a:endParaRPr lang="en-US" altLang="zh-CN" sz="1200" b="1" dirty="0">
                        <a:solidFill>
                          <a:schemeClr val="bg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试点拉通时间</a:t>
                      </a:r>
                    </a:p>
                  </a:txBody>
                  <a:tcPr marL="50800" marR="50800" marT="50800" marB="508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后续通知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440568522"/>
                  </a:ext>
                </a:extLst>
              </a:tr>
              <a:tr h="463408">
                <a:tc>
                  <a:txBody>
                    <a:bodyPr/>
                    <a:lstStyle/>
                    <a:p>
                      <a:pPr algn="ctr" fontAlgn="t">
                        <a:lnSpc>
                          <a:spcPct val="150000"/>
                        </a:lnSpc>
                      </a:pPr>
                      <a:r>
                        <a:rPr lang="zh-CN" altLang="en-US" sz="1200" b="1" dirty="0">
                          <a:solidFill>
                            <a:schemeClr val="bg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试点区域拉通机制</a:t>
                      </a:r>
                    </a:p>
                  </a:txBody>
                  <a:tcPr marL="50800" marR="50800" marT="50800" marB="508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每周一下午</a:t>
                      </a:r>
                      <a:r>
                        <a:rPr lang="en-US" altLang="zh-CN" sz="12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17</a:t>
                      </a:r>
                      <a:r>
                        <a:rPr lang="zh-CN" altLang="en-US" sz="12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</a:t>
                      </a:r>
                      <a:r>
                        <a:rPr lang="en-US" altLang="zh-CN" sz="12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-18</a:t>
                      </a:r>
                      <a:r>
                        <a:rPr lang="zh-CN" altLang="en-US" sz="1200" b="1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点，拉通运转中发现的问题和建议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3566781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5669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2012293" y="5947150"/>
            <a:ext cx="1223412" cy="2755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扫一扫了解更多资讯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764301" y="5154553"/>
            <a:ext cx="1082787" cy="108278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a5b54e7-09c9-4e3b-8074-73364de01119"/>
  <p:tag name="COMMONDATA" val="eyJoZGlkIjoiYTg1ODA4OWVjMjRhODZlMDEyMmFhZDlhODFjYTBiYz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199.31023622047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199.310236220474}"/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1327</TotalTime>
  <Words>464</Words>
  <Application>Microsoft Macintosh PowerPoint</Application>
  <PresentationFormat>宽屏</PresentationFormat>
  <Paragraphs>44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等线</vt:lpstr>
      <vt:lpstr>等线 Light</vt:lpstr>
      <vt:lpstr>Microsoft YaHei</vt:lpstr>
      <vt:lpstr>Microsoft YaHei</vt:lpstr>
      <vt:lpstr>Arial</vt:lpstr>
      <vt:lpstr>Calibri</vt:lpstr>
      <vt:lpstr>Wingdings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1405</dc:creator>
  <cp:lastModifiedBy>刘军</cp:lastModifiedBy>
  <cp:revision>171</cp:revision>
  <dcterms:created xsi:type="dcterms:W3CDTF">2023-01-31T08:37:00Z</dcterms:created>
  <dcterms:modified xsi:type="dcterms:W3CDTF">2025-04-23T11:56:17Z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FC3DAD5E4268449992511FCE7F88E9A6</vt:lpwstr>
  </property>
  <property fmtid="{D5CDD505-2E9C-101B-9397-08002B2CF9AE}" pid="3" name="KSOProductBuildVer">
    <vt:lpwstr>2052-11.1.0.14309</vt:lpwstr>
  </property>
</Properties>
</file>