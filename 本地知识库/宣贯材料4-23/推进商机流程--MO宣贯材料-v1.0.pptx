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6" r:id="rId3"/>
  </p:sldMasterIdLst>
  <p:notesMasterIdLst>
    <p:notesMasterId r:id="rId8"/>
  </p:notesMasterIdLst>
  <p:sldIdLst>
    <p:sldId id="256" r:id="rId4"/>
    <p:sldId id="259" r:id="rId5"/>
    <p:sldId id="11090029" r:id="rId6"/>
    <p:sldId id="11090027" r:id="rId7"/>
    <p:sldId id="11090028" r:id="rId9"/>
    <p:sldId id="11090054" r:id="rId10"/>
    <p:sldId id="278" r:id="rId11"/>
    <p:sldId id="11090030" r:id="rId12"/>
    <p:sldId id="11090031" r:id="rId13"/>
    <p:sldId id="11089999" r:id="rId14"/>
    <p:sldId id="11090001" r:id="rId15"/>
    <p:sldId id="11090000" r:id="rId16"/>
    <p:sldId id="11090015" r:id="rId17"/>
    <p:sldId id="11090016" r:id="rId18"/>
    <p:sldId id="11090017" r:id="rId19"/>
    <p:sldId id="11090018" r:id="rId20"/>
    <p:sldId id="11090020" r:id="rId21"/>
    <p:sldId id="11090013" r:id="rId22"/>
    <p:sldId id="11090021" r:id="rId23"/>
    <p:sldId id="11090022" r:id="rId24"/>
    <p:sldId id="11090023" r:id="rId25"/>
    <p:sldId id="11090024" r:id="rId26"/>
    <p:sldId id="11090025" r:id="rId27"/>
    <p:sldId id="11090026" r:id="rId28"/>
    <p:sldId id="11090053" r:id="rId29"/>
    <p:sldId id="11090011" r:id="rId30"/>
    <p:sldId id="266"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CF5"/>
    <a:srgbClr val="859CC2"/>
    <a:srgbClr val="4472C4"/>
    <a:srgbClr val="4F81BC"/>
    <a:srgbClr val="00FF00"/>
    <a:srgbClr val="375F92"/>
    <a:srgbClr val="9DB2CA"/>
    <a:srgbClr val="EBF0DE"/>
    <a:srgbClr val="94B3D6"/>
    <a:srgbClr val="4453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5" autoAdjust="0"/>
    <p:restoredTop sz="91413" autoAdjust="0"/>
  </p:normalViewPr>
  <p:slideViewPr>
    <p:cSldViewPr snapToGrid="0" snapToObjects="1" showGuides="1">
      <p:cViewPr varScale="1">
        <p:scale>
          <a:sx n="131" d="100"/>
          <a:sy n="131" d="100"/>
        </p:scale>
        <p:origin x="912" y="184"/>
      </p:cViewPr>
      <p:guideLst>
        <p:guide orient="horz" pos="618"/>
        <p:guide pos="3840"/>
      </p:guideLst>
    </p:cSldViewPr>
  </p:slideViewPr>
  <p:notesTextViewPr>
    <p:cViewPr>
      <p:scale>
        <a:sx n="1" d="1"/>
        <a:sy n="1" d="1"/>
      </p:scale>
      <p:origin x="0" y="0"/>
    </p:cViewPr>
  </p:notesTextViewPr>
  <p:notesViewPr>
    <p:cSldViewPr snapToGrid="0" snapToObjects="1">
      <p:cViewPr varScale="1">
        <p:scale>
          <a:sx n="53" d="100"/>
          <a:sy n="53" d="100"/>
        </p:scale>
        <p:origin x="2648"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notesMaster" Target="notesMasters/notes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5" Type="http://schemas.openxmlformats.org/officeDocument/2006/relationships/tags" Target="tags/tag1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67231FC-8C4E-F84C-8FE1-14B0EBC1857A}" type="doc">
      <dgm:prSet loTypeId="urn:microsoft.com/office/officeart/2005/8/layout/vList6" loCatId="list" qsTypeId="urn:microsoft.com/office/officeart/2005/8/quickstyle/simple1" qsCatId="simple" csTypeId="urn:microsoft.com/office/officeart/2005/8/colors/colorful5" csCatId="colorful" phldr="1"/>
      <dgm:spPr/>
      <dgm:t>
        <a:bodyPr/>
        <a:lstStyle/>
        <a:p>
          <a:endParaRPr lang="zh-CN" altLang="en-US"/>
        </a:p>
      </dgm:t>
    </dgm:pt>
    <dgm:pt modelId="{40B30E35-473E-F744-90BF-F88E904F92B4}">
      <dgm:prSet custT="1"/>
      <dgm:spPr/>
      <dgm:t>
        <a:bodyPr/>
        <a:lstStyle/>
        <a:p>
          <a:r>
            <a:rPr lang="zh-CN" altLang="en-US" sz="2800" b="1" i="0" dirty="0">
              <a:latin typeface="微软雅黑" panose="020B0503020204020204" pitchFamily="34" charset="-122"/>
              <a:ea typeface="微软雅黑" panose="020B0503020204020204" pitchFamily="34" charset="-122"/>
            </a:rPr>
            <a:t>解决方案评审</a:t>
          </a:r>
          <a:endParaRPr lang="zh-CN" altLang="en-US" sz="2800" dirty="0">
            <a:latin typeface="微软雅黑" panose="020B0503020204020204" pitchFamily="34" charset="-122"/>
            <a:ea typeface="微软雅黑" panose="020B0503020204020204" pitchFamily="34" charset="-122"/>
          </a:endParaRPr>
        </a:p>
      </dgm:t>
    </dgm:pt>
    <dgm:pt modelId="{BF31DB77-113E-2C48-A51F-9D6D93237176}" cxnId="{DA7F4952-C105-B94B-B5E0-83DB7E791615}"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D1743613-C56E-DE43-ADF8-B84041B3A46C}" cxnId="{DA7F4952-C105-B94B-B5E0-83DB7E791615}"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33CC437-6929-C048-A6CC-12E63AFD3A43}">
      <dgm:prSet custT="1"/>
      <dgm:spPr/>
      <dgm:t>
        <a:bodyPr anchor="ctr"/>
        <a:lstStyle/>
        <a:p>
          <a:r>
            <a:rPr lang="zh-CN" altLang="en-US" sz="1600" b="0" i="0" dirty="0">
              <a:latin typeface="微软雅黑" panose="020B0503020204020204" pitchFamily="34" charset="-122"/>
              <a:ea typeface="微软雅黑" panose="020B0503020204020204" pitchFamily="34" charset="-122"/>
            </a:rPr>
            <a:t>通过前置解决方案评审环节，整合销售、售前及售后团队的铁三角意见，以严谨的评审机制，提升面向客户的解决方案质量与可行性。</a:t>
          </a:r>
          <a:endParaRPr lang="zh-CN" altLang="en-US" sz="1600" dirty="0">
            <a:latin typeface="微软雅黑" panose="020B0503020204020204" pitchFamily="34" charset="-122"/>
            <a:ea typeface="微软雅黑" panose="020B0503020204020204" pitchFamily="34" charset="-122"/>
          </a:endParaRPr>
        </a:p>
      </dgm:t>
    </dgm:pt>
    <dgm:pt modelId="{1F0C9C1D-E12A-FA47-BBCB-E30FDB58F205}" cxnId="{43BCF6AA-C65D-9C44-B29F-5E4F16DA03A5}"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6B81123E-DBF8-EA46-A453-46DF4191955C}" cxnId="{43BCF6AA-C65D-9C44-B29F-5E4F16DA03A5}"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EE79501F-C2D2-D542-8FD4-BE7F1E3CDE3C}">
      <dgm:prSet custT="1"/>
      <dgm:spPr/>
      <dgm:t>
        <a:bodyPr/>
        <a:lstStyle/>
        <a:p>
          <a:r>
            <a:rPr lang="zh-CN" altLang="en-US" sz="2800" b="1" i="0">
              <a:latin typeface="微软雅黑" panose="020B0503020204020204" pitchFamily="34" charset="-122"/>
              <a:ea typeface="微软雅黑" panose="020B0503020204020204" pitchFamily="34" charset="-122"/>
            </a:rPr>
            <a:t>项目分析会</a:t>
          </a:r>
          <a:endParaRPr lang="zh-CN" altLang="en-US" sz="2800">
            <a:latin typeface="微软雅黑" panose="020B0503020204020204" pitchFamily="34" charset="-122"/>
            <a:ea typeface="微软雅黑" panose="020B0503020204020204" pitchFamily="34" charset="-122"/>
          </a:endParaRPr>
        </a:p>
      </dgm:t>
    </dgm:pt>
    <dgm:pt modelId="{05C7850C-104D-4742-B04A-3D28FEAA65B9}" cxnId="{86A0B852-0A05-4F44-A1B1-458EFEDDFBB8}"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4E14A59E-6B12-8D49-B866-C4D111FC8ED1}" cxnId="{86A0B852-0A05-4F44-A1B1-458EFEDDFBB8}"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E0F2F7AB-5CA9-D248-8D3C-0B63C858DA55}">
      <dgm:prSet custT="1"/>
      <dgm:spPr/>
      <dgm:t>
        <a:bodyPr anchor="ctr"/>
        <a:lstStyle/>
        <a:p>
          <a:r>
            <a:rPr lang="zh-CN" altLang="en-US" sz="1600" b="0" i="0" dirty="0">
              <a:latin typeface="微软雅黑" panose="020B0503020204020204" pitchFamily="34" charset="-122"/>
              <a:ea typeface="微软雅黑" panose="020B0503020204020204" pitchFamily="34" charset="-122"/>
            </a:rPr>
            <a:t>通过组织多轮项目分析会，项目组内的各专业团队充分交流、深入沟通，共同制定出具有针对性的价值主张及有效的招标策略。</a:t>
          </a:r>
          <a:endParaRPr lang="zh-CN" altLang="en-US" sz="1600" dirty="0">
            <a:latin typeface="微软雅黑" panose="020B0503020204020204" pitchFamily="34" charset="-122"/>
            <a:ea typeface="微软雅黑" panose="020B0503020204020204" pitchFamily="34" charset="-122"/>
          </a:endParaRPr>
        </a:p>
      </dgm:t>
    </dgm:pt>
    <dgm:pt modelId="{EB287FC1-19C5-8941-9C93-CBE02ED311FA}" cxnId="{0BC1994A-7944-6C46-9EA9-AD25EE9CBE3F}"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7206ED0F-281A-504F-A50D-79615A54B315}" cxnId="{0BC1994A-7944-6C46-9EA9-AD25EE9CBE3F}"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B6733161-13A6-5242-9E00-4911624B6C20}" type="pres">
      <dgm:prSet presAssocID="{167231FC-8C4E-F84C-8FE1-14B0EBC1857A}" presName="Name0" presStyleCnt="0">
        <dgm:presLayoutVars>
          <dgm:dir/>
          <dgm:animLvl val="lvl"/>
          <dgm:resizeHandles/>
        </dgm:presLayoutVars>
      </dgm:prSet>
      <dgm:spPr/>
    </dgm:pt>
    <dgm:pt modelId="{6814D190-C315-A94F-977F-6B8AE0D249EA}" type="pres">
      <dgm:prSet presAssocID="{40B30E35-473E-F744-90BF-F88E904F92B4}" presName="linNode" presStyleCnt="0"/>
      <dgm:spPr/>
    </dgm:pt>
    <dgm:pt modelId="{BD80C554-C1D4-9645-A326-997EE2FF1F5A}" type="pres">
      <dgm:prSet presAssocID="{40B30E35-473E-F744-90BF-F88E904F92B4}" presName="parentShp" presStyleLbl="node1" presStyleIdx="0" presStyleCnt="2" custScaleX="71217">
        <dgm:presLayoutVars>
          <dgm:bulletEnabled val="1"/>
        </dgm:presLayoutVars>
      </dgm:prSet>
      <dgm:spPr/>
    </dgm:pt>
    <dgm:pt modelId="{BA102C84-1AAA-474D-9164-E6EBD43556AF}" type="pres">
      <dgm:prSet presAssocID="{40B30E35-473E-F744-90BF-F88E904F92B4}" presName="childShp" presStyleLbl="bgAccFollowNode1" presStyleIdx="0" presStyleCnt="2">
        <dgm:presLayoutVars>
          <dgm:bulletEnabled val="1"/>
        </dgm:presLayoutVars>
      </dgm:prSet>
      <dgm:spPr/>
    </dgm:pt>
    <dgm:pt modelId="{A72C4F56-F15A-D24D-9FBE-9D0B57943876}" type="pres">
      <dgm:prSet presAssocID="{D1743613-C56E-DE43-ADF8-B84041B3A46C}" presName="spacing" presStyleCnt="0"/>
      <dgm:spPr/>
    </dgm:pt>
    <dgm:pt modelId="{28F1B083-70C4-394A-BC6B-B18FEBF5D00C}" type="pres">
      <dgm:prSet presAssocID="{EE79501F-C2D2-D542-8FD4-BE7F1E3CDE3C}" presName="linNode" presStyleCnt="0"/>
      <dgm:spPr/>
    </dgm:pt>
    <dgm:pt modelId="{15EA4691-A437-C34E-97A4-B5A38519E1C9}" type="pres">
      <dgm:prSet presAssocID="{EE79501F-C2D2-D542-8FD4-BE7F1E3CDE3C}" presName="parentShp" presStyleLbl="node1" presStyleIdx="1" presStyleCnt="2" custScaleX="71747">
        <dgm:presLayoutVars>
          <dgm:bulletEnabled val="1"/>
        </dgm:presLayoutVars>
      </dgm:prSet>
      <dgm:spPr/>
    </dgm:pt>
    <dgm:pt modelId="{605186F6-33EB-E44B-9CAE-405C257F1334}" type="pres">
      <dgm:prSet presAssocID="{EE79501F-C2D2-D542-8FD4-BE7F1E3CDE3C}" presName="childShp" presStyleLbl="bgAccFollowNode1" presStyleIdx="1" presStyleCnt="2">
        <dgm:presLayoutVars>
          <dgm:bulletEnabled val="1"/>
        </dgm:presLayoutVars>
      </dgm:prSet>
      <dgm:spPr/>
    </dgm:pt>
  </dgm:ptLst>
  <dgm:cxnLst>
    <dgm:cxn modelId="{59289F28-76F3-554F-BB48-20C153E24635}" type="presOf" srcId="{EE79501F-C2D2-D542-8FD4-BE7F1E3CDE3C}" destId="{15EA4691-A437-C34E-97A4-B5A38519E1C9}" srcOrd="0" destOrd="0" presId="urn:microsoft.com/office/officeart/2005/8/layout/vList6"/>
    <dgm:cxn modelId="{82EDB339-4C31-C54B-A62A-AB9A66D31D22}" type="presOf" srcId="{40B30E35-473E-F744-90BF-F88E904F92B4}" destId="{BD80C554-C1D4-9645-A326-997EE2FF1F5A}" srcOrd="0" destOrd="0" presId="urn:microsoft.com/office/officeart/2005/8/layout/vList6"/>
    <dgm:cxn modelId="{0BC1994A-7944-6C46-9EA9-AD25EE9CBE3F}" srcId="{EE79501F-C2D2-D542-8FD4-BE7F1E3CDE3C}" destId="{E0F2F7AB-5CA9-D248-8D3C-0B63C858DA55}" srcOrd="0" destOrd="0" parTransId="{EB287FC1-19C5-8941-9C93-CBE02ED311FA}" sibTransId="{7206ED0F-281A-504F-A50D-79615A54B315}"/>
    <dgm:cxn modelId="{DA7F4952-C105-B94B-B5E0-83DB7E791615}" srcId="{167231FC-8C4E-F84C-8FE1-14B0EBC1857A}" destId="{40B30E35-473E-F744-90BF-F88E904F92B4}" srcOrd="0" destOrd="0" parTransId="{BF31DB77-113E-2C48-A51F-9D6D93237176}" sibTransId="{D1743613-C56E-DE43-ADF8-B84041B3A46C}"/>
    <dgm:cxn modelId="{86A0B852-0A05-4F44-A1B1-458EFEDDFBB8}" srcId="{167231FC-8C4E-F84C-8FE1-14B0EBC1857A}" destId="{EE79501F-C2D2-D542-8FD4-BE7F1E3CDE3C}" srcOrd="1" destOrd="0" parTransId="{05C7850C-104D-4742-B04A-3D28FEAA65B9}" sibTransId="{4E14A59E-6B12-8D49-B866-C4D111FC8ED1}"/>
    <dgm:cxn modelId="{8E175089-581A-B64A-A695-5DCFEB270651}" type="presOf" srcId="{167231FC-8C4E-F84C-8FE1-14B0EBC1857A}" destId="{B6733161-13A6-5242-9E00-4911624B6C20}" srcOrd="0" destOrd="0" presId="urn:microsoft.com/office/officeart/2005/8/layout/vList6"/>
    <dgm:cxn modelId="{337FB9A1-0E22-4240-B228-5A5849539328}" type="presOf" srcId="{A33CC437-6929-C048-A6CC-12E63AFD3A43}" destId="{BA102C84-1AAA-474D-9164-E6EBD43556AF}" srcOrd="0" destOrd="0" presId="urn:microsoft.com/office/officeart/2005/8/layout/vList6"/>
    <dgm:cxn modelId="{43BCF6AA-C65D-9C44-B29F-5E4F16DA03A5}" srcId="{40B30E35-473E-F744-90BF-F88E904F92B4}" destId="{A33CC437-6929-C048-A6CC-12E63AFD3A43}" srcOrd="0" destOrd="0" parTransId="{1F0C9C1D-E12A-FA47-BBCB-E30FDB58F205}" sibTransId="{6B81123E-DBF8-EA46-A453-46DF4191955C}"/>
    <dgm:cxn modelId="{9A7C3ADC-0DF3-3F44-9B13-B289671FCCB6}" type="presOf" srcId="{E0F2F7AB-5CA9-D248-8D3C-0B63C858DA55}" destId="{605186F6-33EB-E44B-9CAE-405C257F1334}" srcOrd="0" destOrd="0" presId="urn:microsoft.com/office/officeart/2005/8/layout/vList6"/>
    <dgm:cxn modelId="{A04F0896-18CA-514F-B944-86F6FC35F995}" type="presParOf" srcId="{B6733161-13A6-5242-9E00-4911624B6C20}" destId="{6814D190-C315-A94F-977F-6B8AE0D249EA}" srcOrd="0" destOrd="0" presId="urn:microsoft.com/office/officeart/2005/8/layout/vList6"/>
    <dgm:cxn modelId="{AC21BABB-09E9-E448-B9AB-9EB604A990D6}" type="presParOf" srcId="{6814D190-C315-A94F-977F-6B8AE0D249EA}" destId="{BD80C554-C1D4-9645-A326-997EE2FF1F5A}" srcOrd="0" destOrd="0" presId="urn:microsoft.com/office/officeart/2005/8/layout/vList6"/>
    <dgm:cxn modelId="{E43A0A85-B67F-7D47-840F-41441E2F1C53}" type="presParOf" srcId="{6814D190-C315-A94F-977F-6B8AE0D249EA}" destId="{BA102C84-1AAA-474D-9164-E6EBD43556AF}" srcOrd="1" destOrd="0" presId="urn:microsoft.com/office/officeart/2005/8/layout/vList6"/>
    <dgm:cxn modelId="{39678E0C-D25D-3F49-9E0E-7C1D0BB131BB}" type="presParOf" srcId="{B6733161-13A6-5242-9E00-4911624B6C20}" destId="{A72C4F56-F15A-D24D-9FBE-9D0B57943876}" srcOrd="1" destOrd="0" presId="urn:microsoft.com/office/officeart/2005/8/layout/vList6"/>
    <dgm:cxn modelId="{D3865A2E-CAD9-BC4E-AC58-626DC86A6D2B}" type="presParOf" srcId="{B6733161-13A6-5242-9E00-4911624B6C20}" destId="{28F1B083-70C4-394A-BC6B-B18FEBF5D00C}" srcOrd="2" destOrd="0" presId="urn:microsoft.com/office/officeart/2005/8/layout/vList6"/>
    <dgm:cxn modelId="{5237FD4E-3CF7-8742-BFC5-7808AC846B08}" type="presParOf" srcId="{28F1B083-70C4-394A-BC6B-B18FEBF5D00C}" destId="{15EA4691-A437-C34E-97A4-B5A38519E1C9}" srcOrd="0" destOrd="0" presId="urn:microsoft.com/office/officeart/2005/8/layout/vList6"/>
    <dgm:cxn modelId="{A863BAA1-1E2B-5E45-A131-73EFE765614D}" type="presParOf" srcId="{28F1B083-70C4-394A-BC6B-B18FEBF5D00C}" destId="{605186F6-33EB-E44B-9CAE-405C257F1334}"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609614" cy="4089072"/>
        <a:chOff x="0" y="0"/>
        <a:chExt cx="11609614" cy="4089072"/>
      </a:xfrm>
    </dsp:grpSpPr>
    <dsp:sp modelId="{BA102C84-1AAA-474D-9164-E6EBD43556AF}">
      <dsp:nvSpPr>
        <dsp:cNvPr id="4" name="右箭头 3"/>
        <dsp:cNvSpPr/>
      </dsp:nvSpPr>
      <dsp:spPr bwMode="white">
        <a:xfrm>
          <a:off x="3975527" y="0"/>
          <a:ext cx="6965768" cy="1947177"/>
        </a:xfrm>
        <a:prstGeom prst="rightArrow">
          <a:avLst>
            <a:gd name="adj1" fmla="val 75000"/>
            <a:gd name="adj2" fmla="val 50000"/>
          </a:avLst>
        </a:prstGeom>
      </dsp:spPr>
      <dsp:style>
        <a:lnRef idx="2">
          <a:schemeClr val="accent5">
            <a:tint val="40000"/>
            <a:alpha val="90000"/>
            <a:hueOff val="0"/>
            <a:satOff val="0"/>
            <a:lumOff val="0"/>
            <a:alpha val="90196"/>
          </a:schemeClr>
        </a:lnRef>
        <a:fillRef idx="1">
          <a:schemeClr val="accent5">
            <a:tint val="40000"/>
            <a:alpha val="90000"/>
            <a:hueOff val="0"/>
            <a:satOff val="0"/>
            <a:lumOff val="0"/>
            <a:alpha val="90196"/>
          </a:schemeClr>
        </a:fillRef>
        <a:effectRef idx="0">
          <a:scrgbClr r="0" g="0" b="0"/>
        </a:effectRef>
        <a:fontRef idx="minor"/>
      </dsp:style>
      <dsp:txBody>
        <a:bodyPr lIns="10160" tIns="10160" rIns="10160" bIns="101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b="0" i="0" dirty="0">
              <a:solidFill>
                <a:schemeClr val="dk1"/>
              </a:solidFill>
              <a:latin typeface="微软雅黑" panose="020B0503020204020204" pitchFamily="34" charset="-122"/>
              <a:ea typeface="微软雅黑" panose="020B0503020204020204" pitchFamily="34" charset="-122"/>
            </a:rPr>
            <a:t>通过前置解决方案评审环节，整合销售、售前及售后团队的铁三角意见，以严谨的评审机制，提升面向客户的解决方案质量与可行性。</a:t>
          </a:r>
          <a:endParaRPr lang="zh-CN" altLang="en-US" sz="1600" dirty="0">
            <a:solidFill>
              <a:schemeClr val="dk1"/>
            </a:solidFill>
            <a:latin typeface="微软雅黑" panose="020B0503020204020204" pitchFamily="34" charset="-122"/>
            <a:ea typeface="微软雅黑" panose="020B0503020204020204" pitchFamily="34" charset="-122"/>
          </a:endParaRPr>
        </a:p>
      </dsp:txBody>
      <dsp:txXfrm>
        <a:off x="3975527" y="0"/>
        <a:ext cx="6965768" cy="1947177"/>
      </dsp:txXfrm>
    </dsp:sp>
    <dsp:sp modelId="{BD80C554-C1D4-9645-A326-997EE2FF1F5A}">
      <dsp:nvSpPr>
        <dsp:cNvPr id="3" name="圆角矩形 2"/>
        <dsp:cNvSpPr/>
      </dsp:nvSpPr>
      <dsp:spPr bwMode="white">
        <a:xfrm>
          <a:off x="668319" y="0"/>
          <a:ext cx="3307208" cy="1947177"/>
        </a:xfrm>
        <a:prstGeom prst="roundRect">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i="0" dirty="0">
              <a:latin typeface="微软雅黑" panose="020B0503020204020204" pitchFamily="34" charset="-122"/>
              <a:ea typeface="微软雅黑" panose="020B0503020204020204" pitchFamily="34" charset="-122"/>
            </a:rPr>
            <a:t>解决方案评审</a:t>
          </a:r>
          <a:endParaRPr lang="zh-CN" altLang="en-US" sz="2800" dirty="0">
            <a:latin typeface="微软雅黑" panose="020B0503020204020204" pitchFamily="34" charset="-122"/>
            <a:ea typeface="微软雅黑" panose="020B0503020204020204" pitchFamily="34" charset="-122"/>
          </a:endParaRPr>
        </a:p>
      </dsp:txBody>
      <dsp:txXfrm>
        <a:off x="668319" y="0"/>
        <a:ext cx="3307208" cy="1947177"/>
      </dsp:txXfrm>
    </dsp:sp>
    <dsp:sp modelId="{605186F6-33EB-E44B-9CAE-405C257F1334}">
      <dsp:nvSpPr>
        <dsp:cNvPr id="6" name="右箭头 5"/>
        <dsp:cNvSpPr/>
      </dsp:nvSpPr>
      <dsp:spPr bwMode="white">
        <a:xfrm>
          <a:off x="3987833" y="2141895"/>
          <a:ext cx="6965768" cy="1947177"/>
        </a:xfrm>
        <a:prstGeom prst="rightArrow">
          <a:avLst>
            <a:gd name="adj1" fmla="val 75000"/>
            <a:gd name="adj2" fmla="val 50000"/>
          </a:avLst>
        </a:prstGeom>
      </dsp:spPr>
      <dsp:style>
        <a:lnRef idx="2">
          <a:schemeClr val="accent5">
            <a:tint val="40000"/>
            <a:alpha val="90000"/>
            <a:hueOff val="-6780000"/>
            <a:satOff val="-21175"/>
            <a:lumOff val="-3136"/>
            <a:alpha val="90196"/>
          </a:schemeClr>
        </a:lnRef>
        <a:fillRef idx="1">
          <a:schemeClr val="accent5">
            <a:tint val="40000"/>
            <a:alpha val="90000"/>
            <a:hueOff val="-6780000"/>
            <a:satOff val="-21175"/>
            <a:lumOff val="-3136"/>
            <a:alpha val="90196"/>
          </a:schemeClr>
        </a:fillRef>
        <a:effectRef idx="0">
          <a:scrgbClr r="0" g="0" b="0"/>
        </a:effectRef>
        <a:fontRef idx="minor"/>
      </dsp:style>
      <dsp:txBody>
        <a:bodyPr lIns="10160" tIns="10160" rIns="10160" bIns="1016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b="0" i="0" dirty="0">
              <a:solidFill>
                <a:schemeClr val="dk1"/>
              </a:solidFill>
              <a:latin typeface="微软雅黑" panose="020B0503020204020204" pitchFamily="34" charset="-122"/>
              <a:ea typeface="微软雅黑" panose="020B0503020204020204" pitchFamily="34" charset="-122"/>
            </a:rPr>
            <a:t>通过组织多轮项目分析会，项目组内的各专业团队充分交流、深入沟通，共同制定出具有针对性的价值主张及有效的招标策略。</a:t>
          </a:r>
          <a:endParaRPr lang="zh-CN" altLang="en-US" sz="1600" dirty="0">
            <a:solidFill>
              <a:schemeClr val="dk1"/>
            </a:solidFill>
            <a:latin typeface="微软雅黑" panose="020B0503020204020204" pitchFamily="34" charset="-122"/>
            <a:ea typeface="微软雅黑" panose="020B0503020204020204" pitchFamily="34" charset="-122"/>
          </a:endParaRPr>
        </a:p>
      </dsp:txBody>
      <dsp:txXfrm>
        <a:off x="3987833" y="2141895"/>
        <a:ext cx="6965768" cy="1947177"/>
      </dsp:txXfrm>
    </dsp:sp>
    <dsp:sp modelId="{15EA4691-A437-C34E-97A4-B5A38519E1C9}">
      <dsp:nvSpPr>
        <dsp:cNvPr id="5" name="圆角矩形 4"/>
        <dsp:cNvSpPr/>
      </dsp:nvSpPr>
      <dsp:spPr bwMode="white">
        <a:xfrm>
          <a:off x="656013" y="2141895"/>
          <a:ext cx="3331820" cy="1947177"/>
        </a:xfrm>
        <a:prstGeom prst="roundRect">
          <a:avLst/>
        </a:prstGeom>
      </dsp:spPr>
      <dsp:style>
        <a:lnRef idx="2">
          <a:schemeClr val="lt1"/>
        </a:lnRef>
        <a:fillRef idx="1">
          <a:schemeClr val="accent5">
            <a:hueOff val="-6780000"/>
            <a:satOff val="-17254"/>
            <a:lumOff val="-11764"/>
            <a:alpha val="100000"/>
          </a:schemeClr>
        </a:fillRef>
        <a:effectRef idx="0">
          <a:scrgbClr r="0" g="0" b="0"/>
        </a:effectRef>
        <a:fontRef idx="minor">
          <a:schemeClr val="lt1"/>
        </a:fontRef>
      </dsp:style>
      <dsp:txBody>
        <a:bodyPr lIns="106680" tIns="53340" rIns="106680" bIns="533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800" b="1" i="0">
              <a:latin typeface="微软雅黑" panose="020B0503020204020204" pitchFamily="34" charset="-122"/>
              <a:ea typeface="微软雅黑" panose="020B0503020204020204" pitchFamily="34" charset="-122"/>
            </a:rPr>
            <a:t>项目分析会</a:t>
          </a:r>
          <a:endParaRPr lang="zh-CN" altLang="en-US" sz="2800">
            <a:latin typeface="微软雅黑" panose="020B0503020204020204" pitchFamily="34" charset="-122"/>
            <a:ea typeface="微软雅黑" panose="020B0503020204020204" pitchFamily="34" charset="-122"/>
          </a:endParaRPr>
        </a:p>
      </dsp:txBody>
      <dsp:txXfrm>
        <a:off x="656013" y="2141895"/>
        <a:ext cx="3331820" cy="1947177"/>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952C77-7FED-BD46-9044-C8969F277611}"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077CC-FB9E-B64F-8E5D-9AAAFFC6134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FD077CC-FB9E-B64F-8E5D-9AAAFFC6134C}"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FD077CC-FB9E-B64F-8E5D-9AAAFFC6134C}"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a:t>
            </a:r>
            <a:r>
              <a:rPr lang="zh-CN" altLang="en-US" dirty="0"/>
              <a:t>月</a:t>
            </a:r>
            <a:r>
              <a:rPr lang="en-US" altLang="zh-CN" dirty="0"/>
              <a:t>5</a:t>
            </a:r>
            <a:r>
              <a:rPr lang="zh-CN" altLang="en-US" dirty="0"/>
              <a:t>日取值</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0FD077CC-FB9E-B64F-8E5D-9AAAFFC6134C}"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0FD077CC-FB9E-B64F-8E5D-9AAAFFC6134C}"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6.jpeg"/><Relationship Id="rId4" Type="http://schemas.openxmlformats.org/officeDocument/2006/relationships/hyperlink" Target="http://www.ruijie.com.cn/" TargetMode="External"/><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5" Type="http://schemas.openxmlformats.org/officeDocument/2006/relationships/image" Target="../media/image6.jpeg"/><Relationship Id="rId4" Type="http://schemas.openxmlformats.org/officeDocument/2006/relationships/hyperlink" Target="http://www.ruijie.com.cn/" TargetMode="External"/><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image" Target="../media/image2.png"/><Relationship Id="rId2" Type="http://schemas.openxmlformats.org/officeDocument/2006/relationships/tags" Target="../tags/tag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12192000" cy="6858000"/>
          </a:xfrm>
          <a:prstGeom prst="rect">
            <a:avLst/>
          </a:prstGeom>
        </p:spPr>
      </p:pic>
      <p:pic>
        <p:nvPicPr>
          <p:cNvPr id="8" name="图片 7"/>
          <p:cNvPicPr>
            <a:picLocks noChangeAspect="1"/>
          </p:cNvPicPr>
          <p:nvPr userDrawn="1"/>
        </p:nvPicPr>
        <p:blipFill>
          <a:blip r:embed="rId3" cstate="screen"/>
          <a:stretch>
            <a:fillRect/>
          </a:stretch>
        </p:blipFill>
        <p:spPr>
          <a:xfrm>
            <a:off x="10415455" y="320163"/>
            <a:ext cx="1357173" cy="23063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篇章">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stretch>
            <a:fillRect/>
          </a:stretch>
        </p:blipFill>
        <p:spPr>
          <a:xfrm>
            <a:off x="0" y="0"/>
            <a:ext cx="12192000" cy="6858000"/>
          </a:xfrm>
          <a:prstGeom prst="rect">
            <a:avLst/>
          </a:prstGeom>
        </p:spPr>
      </p:pic>
      <p:pic>
        <p:nvPicPr>
          <p:cNvPr id="4" name="图片 3"/>
          <p:cNvPicPr>
            <a:picLocks noChangeAspect="1"/>
          </p:cNvPicPr>
          <p:nvPr userDrawn="1"/>
        </p:nvPicPr>
        <p:blipFill>
          <a:blip r:embed="rId3" cstate="screen"/>
          <a:stretch>
            <a:fillRect/>
          </a:stretch>
        </p:blipFill>
        <p:spPr>
          <a:xfrm>
            <a:off x="10415454" y="320163"/>
            <a:ext cx="1357173" cy="230719"/>
          </a:xfrm>
          <a:prstGeom prst="rect">
            <a:avLst/>
          </a:prstGeom>
        </p:spPr>
      </p:pic>
      <p:sp>
        <p:nvSpPr>
          <p:cNvPr id="9" name="文本占位符 17"/>
          <p:cNvSpPr>
            <a:spLocks noGrp="1"/>
          </p:cNvSpPr>
          <p:nvPr>
            <p:ph type="body" sz="quarter" idx="13" hasCustomPrompt="1"/>
          </p:nvPr>
        </p:nvSpPr>
        <p:spPr>
          <a:xfrm>
            <a:off x="875802" y="2482765"/>
            <a:ext cx="5220198" cy="584775"/>
          </a:xfrm>
          <a:prstGeom prst="rect">
            <a:avLst/>
          </a:prstGeom>
        </p:spPr>
        <p:txBody>
          <a:bodyPr/>
          <a:lstStyle>
            <a:lvl1pPr marL="0" indent="0" algn="l" defTabSz="914400" rtl="0" eaLnBrk="1" latinLnBrk="0" hangingPunct="1">
              <a:buNone/>
              <a:defRPr kumimoji="1" lang="zh-CN" altLang="en-US" sz="3200" kern="1200" dirty="0" smtClean="0">
                <a:solidFill>
                  <a:schemeClr val="bg1"/>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单击此处编辑章节标题</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8" name="矩形 7"/>
          <p:cNvSpPr/>
          <p:nvPr userDrawn="1"/>
        </p:nvSpPr>
        <p:spPr>
          <a:xfrm>
            <a:off x="0" y="755167"/>
            <a:ext cx="12191999"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17"/>
          <p:cNvSpPr>
            <a:spLocks noGrp="1"/>
          </p:cNvSpPr>
          <p:nvPr>
            <p:ph type="body" sz="quarter" idx="13" hasCustomPrompt="1"/>
          </p:nvPr>
        </p:nvSpPr>
        <p:spPr>
          <a:xfrm>
            <a:off x="275538" y="274444"/>
            <a:ext cx="4513632" cy="303299"/>
          </a:xfrm>
          <a:prstGeom prst="rect">
            <a:avLst/>
          </a:prstGeom>
        </p:spPr>
        <p:txBody>
          <a:bodyPr>
            <a:noAutofit/>
          </a:bodyPr>
          <a:lstStyle>
            <a:lvl1pPr marL="0" indent="0" algn="l" defTabSz="914400" rtl="0" eaLnBrk="1" latinLnBrk="0" hangingPunct="1">
              <a:buNone/>
              <a:defRPr kumimoji="1" lang="zh-CN" altLang="en-US" sz="2400" b="1"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
        <p:nvSpPr>
          <p:cNvPr id="6" name="文本占位符 17"/>
          <p:cNvSpPr>
            <a:spLocks noGrp="1"/>
          </p:cNvSpPr>
          <p:nvPr>
            <p:ph type="body" sz="quarter" idx="14" hasCustomPrompt="1"/>
          </p:nvPr>
        </p:nvSpPr>
        <p:spPr>
          <a:xfrm>
            <a:off x="836167" y="1112124"/>
            <a:ext cx="4513632" cy="422964"/>
          </a:xfrm>
          <a:prstGeom prst="rect">
            <a:avLst/>
          </a:prstGeom>
        </p:spPr>
        <p:txBody>
          <a:bodyPr>
            <a:noAutofit/>
          </a:bodyPr>
          <a:lstStyle>
            <a:lvl1pPr marL="0" indent="0" algn="l" defTabSz="914400" rtl="0" eaLnBrk="1" latinLnBrk="0" hangingPunct="1">
              <a:buNone/>
              <a:defRPr kumimoji="1" lang="zh-CN" altLang="en-US" sz="2400" b="0"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
        <p:nvSpPr>
          <p:cNvPr id="12" name="文本占位符 17"/>
          <p:cNvSpPr>
            <a:spLocks noGrp="1"/>
          </p:cNvSpPr>
          <p:nvPr>
            <p:ph type="body" sz="quarter" idx="15" hasCustomPrompt="1"/>
          </p:nvPr>
        </p:nvSpPr>
        <p:spPr>
          <a:xfrm>
            <a:off x="836167" y="1594920"/>
            <a:ext cx="9579288" cy="2396382"/>
          </a:xfrm>
          <a:prstGeom prst="rect">
            <a:avLst/>
          </a:prstGeom>
        </p:spPr>
        <p:txBody>
          <a:bodyPr>
            <a:noAutofit/>
          </a:bodyPr>
          <a:lstStyle>
            <a:lvl1pPr marL="0" indent="0" algn="l" defTabSz="914400" rtl="0" eaLnBrk="1" latinLnBrk="0" hangingPunct="1">
              <a:lnSpc>
                <a:spcPct val="150000"/>
              </a:lnSpc>
              <a:buNone/>
              <a:defRPr kumimoji="1" lang="zh-CN" altLang="en-US" sz="1200" b="0"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单击此处编辑页眉章节标题，此处为一段描述文字，自</a:t>
            </a:r>
            <a:r>
              <a:rPr kumimoji="1" lang="en-US" altLang="zh-CN" dirty="0"/>
              <a:t>2000</a:t>
            </a:r>
            <a:r>
              <a:rPr kumimoji="1" lang="zh-CN" altLang="en-US" dirty="0"/>
              <a:t>年成立以来，一直扎根行业、深入场景进行解决方案设计和创新，助力全行业数字化转型升级。</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screen"/>
          <a:srcRect/>
          <a:stretch>
            <a:fillRect/>
          </a:stretch>
        </p:blipFill>
        <p:spPr>
          <a:xfrm>
            <a:off x="0" y="0"/>
            <a:ext cx="12192000" cy="6858000"/>
          </a:xfrm>
          <a:prstGeom prst="rect">
            <a:avLst/>
          </a:prstGeom>
        </p:spPr>
      </p:pic>
      <p:pic>
        <p:nvPicPr>
          <p:cNvPr id="14" name="图片 13"/>
          <p:cNvPicPr>
            <a:picLocks noChangeAspect="1"/>
          </p:cNvPicPr>
          <p:nvPr userDrawn="1"/>
        </p:nvPicPr>
        <p:blipFill>
          <a:blip r:embed="rId3" cstate="screen"/>
          <a:stretch>
            <a:fillRect/>
          </a:stretch>
        </p:blipFill>
        <p:spPr>
          <a:xfrm>
            <a:off x="10415455" y="320163"/>
            <a:ext cx="1357173" cy="230631"/>
          </a:xfrm>
          <a:prstGeom prst="rect">
            <a:avLst/>
          </a:prstGeom>
        </p:spPr>
      </p:pic>
      <p:sp>
        <p:nvSpPr>
          <p:cNvPr id="10" name="文本框 9"/>
          <p:cNvSpPr txBox="1"/>
          <p:nvPr userDrawn="1"/>
        </p:nvSpPr>
        <p:spPr>
          <a:xfrm>
            <a:off x="2122021" y="5898177"/>
            <a:ext cx="1454244" cy="316305"/>
          </a:xfrm>
          <a:prstGeom prst="rect">
            <a:avLst/>
          </a:prstGeom>
          <a:noFill/>
        </p:spPr>
        <p:txBody>
          <a:bodyPr wrap="none" rtlCol="0">
            <a:spAutoFit/>
          </a:bodyPr>
          <a:lstStyle/>
          <a:p>
            <a:pPr>
              <a:lnSpc>
                <a:spcPct val="150000"/>
              </a:lnSpc>
            </a:pPr>
            <a:r>
              <a:rPr kumimoji="1" lang="zh-CN" altLang="en-US" sz="1100" dirty="0">
                <a:solidFill>
                  <a:srgbClr val="4E5865"/>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endParaRPr kumimoji="1" lang="zh-CN" altLang="en-US" sz="1100" dirty="0">
              <a:solidFill>
                <a:srgbClr val="4E586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TextBox 6"/>
          <p:cNvSpPr>
            <a:spLocks noChangeArrowheads="1"/>
          </p:cNvSpPr>
          <p:nvPr userDrawn="1"/>
        </p:nvSpPr>
        <p:spPr bwMode="auto">
          <a:xfrm>
            <a:off x="772107"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704020202020204" pitchFamily="34" charset="0"/>
              <a:buNone/>
            </a:pPr>
            <a:r>
              <a:rPr lang="en-US" altLang="zh-CN" sz="4400" b="1" dirty="0">
                <a:solidFill>
                  <a:srgbClr val="D91E43"/>
                </a:solidFill>
                <a:latin typeface="Arial" panose="020B0704020202020204" pitchFamily="34" charset="0"/>
                <a:ea typeface="Arial" panose="020B0704020202020204" pitchFamily="34" charset="0"/>
                <a:cs typeface="Arial" panose="020B0704020202020204" pitchFamily="34" charset="0"/>
                <a:sym typeface="微软雅黑" panose="020B0503020204020204" pitchFamily="34" charset="-122"/>
              </a:rPr>
              <a:t>THANKS.</a:t>
            </a:r>
            <a:endParaRPr lang="en-US" altLang="zh-CN" sz="4400" b="1" dirty="0">
              <a:solidFill>
                <a:srgbClr val="D91E43"/>
              </a:solidFill>
              <a:latin typeface="Arial" panose="020B0704020202020204" pitchFamily="34" charset="0"/>
              <a:ea typeface="Arial" panose="020B0704020202020204" pitchFamily="34" charset="0"/>
              <a:cs typeface="Arial" panose="020B0704020202020204" pitchFamily="34" charset="0"/>
              <a:sym typeface="微软雅黑" panose="020B0503020204020204" pitchFamily="34" charset="-122"/>
            </a:endParaRPr>
          </a:p>
        </p:txBody>
      </p:sp>
      <p:sp>
        <p:nvSpPr>
          <p:cNvPr id="18" name="TextBox 7"/>
          <p:cNvSpPr>
            <a:spLocks noChangeArrowheads="1"/>
          </p:cNvSpPr>
          <p:nvPr userDrawn="1"/>
        </p:nvSpPr>
        <p:spPr bwMode="auto">
          <a:xfrm>
            <a:off x="772106" y="2502536"/>
            <a:ext cx="4827897"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70402020202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704020202020204" pitchFamily="34" charset="0"/>
              <a:buNone/>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endPar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704020202020204" pitchFamily="34" charset="0"/>
              <a:buNone/>
            </a:pPr>
            <a:r>
              <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4"/>
              </a:rPr>
              <a:t>www.ruijie.com.cn</a:t>
            </a:r>
            <a:r>
              <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endPar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704020202020204" pitchFamily="34" charset="0"/>
              <a:buNone/>
            </a:pPr>
            <a:r>
              <a:rPr lang="en-US" altLang="en-US" sz="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3" name="图片 2"/>
          <p:cNvPicPr>
            <a:picLocks noChangeAspect="1"/>
          </p:cNvPicPr>
          <p:nvPr userDrawn="1"/>
        </p:nvPicPr>
        <p:blipFill>
          <a:blip r:embed="rId5" cstate="screen"/>
          <a:stretch>
            <a:fillRect/>
          </a:stretch>
        </p:blipFill>
        <p:spPr>
          <a:xfrm>
            <a:off x="764301" y="4978531"/>
            <a:ext cx="1258810" cy="125881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114257" y="6653134"/>
            <a:ext cx="289004" cy="179059"/>
          </a:xfrm>
          <a:prstGeom prst="rect">
            <a:avLst/>
          </a:prstGeom>
        </p:spPr>
        <p:txBody>
          <a:bodyPr/>
          <a:lstStyle>
            <a:lvl1pPr>
              <a:defRPr sz="1165">
                <a:latin typeface="微软雅黑" panose="020B0503020204020204" pitchFamily="34" charset="-122"/>
                <a:ea typeface="微软雅黑" panose="020B0503020204020204" pitchFamily="34" charset="-122"/>
              </a:defRPr>
            </a:lvl1pPr>
          </a:lstStyle>
          <a:p>
            <a:pPr eaLnBrk="0" fontAlgn="base" hangingPunct="0">
              <a:spcBef>
                <a:spcPct val="0"/>
              </a:spcBef>
              <a:spcAft>
                <a:spcPct val="0"/>
              </a:spcAft>
              <a:defRPr/>
            </a:pPr>
            <a:fld id="{C6D40106-F6D2-4DE4-B72E-18FC2EDB7E8C}"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7" name="标题 1"/>
          <p:cNvSpPr>
            <a:spLocks noGrp="1"/>
          </p:cNvSpPr>
          <p:nvPr>
            <p:ph type="title"/>
          </p:nvPr>
        </p:nvSpPr>
        <p:spPr>
          <a:xfrm>
            <a:off x="609658" y="274630"/>
            <a:ext cx="10973848" cy="634065"/>
          </a:xfrm>
        </p:spPr>
        <p:txBody>
          <a:bodyPr>
            <a:normAutofit/>
          </a:bodyPr>
          <a:lstStyle>
            <a:lvl1pPr algn="l">
              <a:defRPr sz="3200" b="1">
                <a:solidFill>
                  <a:srgbClr val="E60039"/>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灯片编号占位符 12"/>
          <p:cNvSpPr>
            <a:spLocks noGrp="1"/>
          </p:cNvSpPr>
          <p:nvPr>
            <p:ph type="sldNum" sz="quarter" idx="11"/>
          </p:nvPr>
        </p:nvSpPr>
        <p:spPr>
          <a:xfrm>
            <a:off x="343311" y="6237910"/>
            <a:ext cx="636615" cy="240995"/>
          </a:xfrm>
          <a:prstGeom prst="rect">
            <a:avLst/>
          </a:prstGeom>
        </p:spPr>
        <p:txBody>
          <a:bodyPr anchor="ctr"/>
          <a:lstStyle>
            <a:lvl1pPr algn="r">
              <a:defRPr sz="1400" b="1">
                <a:solidFill>
                  <a:schemeClr val="tx1">
                    <a:lumMod val="75000"/>
                    <a:lumOff val="25000"/>
                  </a:schemeClr>
                </a:solidFill>
                <a:latin typeface="Arial" panose="020B0704020202020204" pitchFamily="34" charset="0"/>
                <a:cs typeface="Arial" panose="020B0704020202020204" pitchFamily="34" charset="0"/>
              </a:defRPr>
            </a:lvl1pPr>
          </a:lstStyle>
          <a:p>
            <a:fld id="{E1C1B161-4EA0-4354-A154-2430C001F00B}"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2"/>
            </p:custDataLst>
          </p:nvPr>
        </p:nvPicPr>
        <p:blipFill>
          <a:blip r:embed="rId3" cstate="screen"/>
          <a:stretch>
            <a:fillRect/>
          </a:stretch>
        </p:blipFill>
        <p:spPr>
          <a:xfrm>
            <a:off x="10144927" y="351797"/>
            <a:ext cx="1492890" cy="253694"/>
          </a:xfrm>
          <a:prstGeom prst="rect">
            <a:avLst/>
          </a:prstGeom>
        </p:spPr>
      </p:pic>
      <p:sp>
        <p:nvSpPr>
          <p:cNvPr id="10" name="矩形 9"/>
          <p:cNvSpPr/>
          <p:nvPr userDrawn="1">
            <p:custDataLst>
              <p:tags r:id="rId4"/>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5"/>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fld>
            <a:endParaRPr kumimoji="1" lang="zh-CN" altLang="en-US" dirty="0"/>
          </a:p>
        </p:txBody>
      </p:sp>
      <p:sp>
        <p:nvSpPr>
          <p:cNvPr id="14" name="灯片编号占位符 1"/>
          <p:cNvSpPr txBox="1"/>
          <p:nvPr userDrawn="1">
            <p:custDataLst>
              <p:tags r:id="rId6"/>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7"/>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screen"/>
          <a:srcRect/>
          <a:stretch>
            <a:fillRect/>
          </a:stretch>
        </p:blipFill>
        <p:spPr>
          <a:xfrm>
            <a:off x="0" y="0"/>
            <a:ext cx="12192000" cy="6858000"/>
          </a:xfrm>
          <a:prstGeom prst="rect">
            <a:avLst/>
          </a:prstGeom>
        </p:spPr>
      </p:pic>
      <p:pic>
        <p:nvPicPr>
          <p:cNvPr id="8" name="图片 7"/>
          <p:cNvPicPr>
            <a:picLocks noChangeAspect="1"/>
          </p:cNvPicPr>
          <p:nvPr userDrawn="1"/>
        </p:nvPicPr>
        <p:blipFill>
          <a:blip r:embed="rId3" cstate="screen"/>
          <a:stretch>
            <a:fillRect/>
          </a:stretch>
        </p:blipFill>
        <p:spPr>
          <a:xfrm>
            <a:off x="10415455" y="320163"/>
            <a:ext cx="1357173" cy="230631"/>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篇章">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stretch>
            <a:fillRect/>
          </a:stretch>
        </p:blipFill>
        <p:spPr>
          <a:xfrm>
            <a:off x="0" y="0"/>
            <a:ext cx="12192000" cy="6858000"/>
          </a:xfrm>
          <a:prstGeom prst="rect">
            <a:avLst/>
          </a:prstGeom>
        </p:spPr>
      </p:pic>
      <p:pic>
        <p:nvPicPr>
          <p:cNvPr id="4" name="图片 3"/>
          <p:cNvPicPr>
            <a:picLocks noChangeAspect="1"/>
          </p:cNvPicPr>
          <p:nvPr userDrawn="1"/>
        </p:nvPicPr>
        <p:blipFill>
          <a:blip r:embed="rId3" cstate="screen"/>
          <a:stretch>
            <a:fillRect/>
          </a:stretch>
        </p:blipFill>
        <p:spPr>
          <a:xfrm>
            <a:off x="10415454" y="320163"/>
            <a:ext cx="1357173" cy="230719"/>
          </a:xfrm>
          <a:prstGeom prst="rect">
            <a:avLst/>
          </a:prstGeom>
        </p:spPr>
      </p:pic>
      <p:sp>
        <p:nvSpPr>
          <p:cNvPr id="9" name="文本占位符 17"/>
          <p:cNvSpPr>
            <a:spLocks noGrp="1"/>
          </p:cNvSpPr>
          <p:nvPr>
            <p:ph type="body" sz="quarter" idx="13" hasCustomPrompt="1"/>
          </p:nvPr>
        </p:nvSpPr>
        <p:spPr>
          <a:xfrm>
            <a:off x="875802" y="2482765"/>
            <a:ext cx="5220198" cy="584775"/>
          </a:xfrm>
          <a:prstGeom prst="rect">
            <a:avLst/>
          </a:prstGeom>
        </p:spPr>
        <p:txBody>
          <a:bodyPr/>
          <a:lstStyle>
            <a:lvl1pPr marL="0" indent="0" algn="l" defTabSz="914400" rtl="0" eaLnBrk="1" latinLnBrk="0" hangingPunct="1">
              <a:buNone/>
              <a:defRPr kumimoji="1" lang="zh-CN" altLang="en-US" sz="3200" kern="1200" dirty="0" smtClean="0">
                <a:solidFill>
                  <a:schemeClr val="bg1"/>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单击此处编辑章节标题</a:t>
            </a:r>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8" name="矩形 7"/>
          <p:cNvSpPr/>
          <p:nvPr userDrawn="1"/>
        </p:nvSpPr>
        <p:spPr>
          <a:xfrm>
            <a:off x="0" y="755167"/>
            <a:ext cx="12191999"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17"/>
          <p:cNvSpPr>
            <a:spLocks noGrp="1"/>
          </p:cNvSpPr>
          <p:nvPr>
            <p:ph type="body" sz="quarter" idx="13" hasCustomPrompt="1"/>
          </p:nvPr>
        </p:nvSpPr>
        <p:spPr>
          <a:xfrm>
            <a:off x="275538" y="274444"/>
            <a:ext cx="4513632" cy="303299"/>
          </a:xfrm>
          <a:prstGeom prst="rect">
            <a:avLst/>
          </a:prstGeom>
        </p:spPr>
        <p:txBody>
          <a:bodyPr>
            <a:noAutofit/>
          </a:bodyPr>
          <a:lstStyle>
            <a:lvl1pPr marL="0" indent="0" algn="l" defTabSz="914400" rtl="0" eaLnBrk="1" latinLnBrk="0" hangingPunct="1">
              <a:buNone/>
              <a:defRPr kumimoji="1" lang="zh-CN" altLang="en-US" sz="2400" b="1"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
        <p:nvSpPr>
          <p:cNvPr id="6" name="文本占位符 17"/>
          <p:cNvSpPr>
            <a:spLocks noGrp="1"/>
          </p:cNvSpPr>
          <p:nvPr>
            <p:ph type="body" sz="quarter" idx="14" hasCustomPrompt="1"/>
          </p:nvPr>
        </p:nvSpPr>
        <p:spPr>
          <a:xfrm>
            <a:off x="836167" y="1112124"/>
            <a:ext cx="4513632" cy="422964"/>
          </a:xfrm>
          <a:prstGeom prst="rect">
            <a:avLst/>
          </a:prstGeom>
        </p:spPr>
        <p:txBody>
          <a:bodyPr>
            <a:noAutofit/>
          </a:bodyPr>
          <a:lstStyle>
            <a:lvl1pPr marL="0" indent="0" algn="l" defTabSz="914400" rtl="0" eaLnBrk="1" latinLnBrk="0" hangingPunct="1">
              <a:buNone/>
              <a:defRPr kumimoji="1" lang="zh-CN" altLang="en-US" sz="2400" b="0"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
        <p:nvSpPr>
          <p:cNvPr id="12" name="文本占位符 17"/>
          <p:cNvSpPr>
            <a:spLocks noGrp="1"/>
          </p:cNvSpPr>
          <p:nvPr>
            <p:ph type="body" sz="quarter" idx="15" hasCustomPrompt="1"/>
          </p:nvPr>
        </p:nvSpPr>
        <p:spPr>
          <a:xfrm>
            <a:off x="836167" y="1594920"/>
            <a:ext cx="9579288" cy="2396382"/>
          </a:xfrm>
          <a:prstGeom prst="rect">
            <a:avLst/>
          </a:prstGeom>
        </p:spPr>
        <p:txBody>
          <a:bodyPr>
            <a:noAutofit/>
          </a:bodyPr>
          <a:lstStyle>
            <a:lvl1pPr marL="0" indent="0" algn="l" defTabSz="914400" rtl="0" eaLnBrk="1" latinLnBrk="0" hangingPunct="1">
              <a:lnSpc>
                <a:spcPct val="150000"/>
              </a:lnSpc>
              <a:buNone/>
              <a:defRPr kumimoji="1" lang="zh-CN" altLang="en-US" sz="1200" b="0" kern="1200" dirty="0" smtClean="0">
                <a:solidFill>
                  <a:srgbClr val="4E5865"/>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单击此处编辑页眉章节标题，此处为一段描述文字，自</a:t>
            </a:r>
            <a:r>
              <a:rPr kumimoji="1" lang="en-US" altLang="zh-CN" dirty="0"/>
              <a:t>2000</a:t>
            </a:r>
            <a:r>
              <a:rPr kumimoji="1" lang="zh-CN" altLang="en-US" dirty="0"/>
              <a:t>年成立以来，一直扎根行业、深入场景进行解决方案设计和创新，助力全行业数字化转型升级。</a:t>
            </a:r>
            <a:endParaRPr kumimoji="1"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cstate="screen"/>
          <a:srcRect/>
          <a:stretch>
            <a:fillRect/>
          </a:stretch>
        </p:blipFill>
        <p:spPr>
          <a:xfrm>
            <a:off x="0" y="0"/>
            <a:ext cx="12192000" cy="6858000"/>
          </a:xfrm>
          <a:prstGeom prst="rect">
            <a:avLst/>
          </a:prstGeom>
        </p:spPr>
      </p:pic>
      <p:pic>
        <p:nvPicPr>
          <p:cNvPr id="14" name="图片 13"/>
          <p:cNvPicPr>
            <a:picLocks noChangeAspect="1"/>
          </p:cNvPicPr>
          <p:nvPr userDrawn="1"/>
        </p:nvPicPr>
        <p:blipFill>
          <a:blip r:embed="rId3" cstate="screen"/>
          <a:stretch>
            <a:fillRect/>
          </a:stretch>
        </p:blipFill>
        <p:spPr>
          <a:xfrm>
            <a:off x="10415455" y="320163"/>
            <a:ext cx="1357173" cy="230631"/>
          </a:xfrm>
          <a:prstGeom prst="rect">
            <a:avLst/>
          </a:prstGeom>
        </p:spPr>
      </p:pic>
      <p:sp>
        <p:nvSpPr>
          <p:cNvPr id="10" name="文本框 9"/>
          <p:cNvSpPr txBox="1"/>
          <p:nvPr userDrawn="1"/>
        </p:nvSpPr>
        <p:spPr>
          <a:xfrm>
            <a:off x="2122021" y="5898177"/>
            <a:ext cx="1454244" cy="316305"/>
          </a:xfrm>
          <a:prstGeom prst="rect">
            <a:avLst/>
          </a:prstGeom>
          <a:noFill/>
        </p:spPr>
        <p:txBody>
          <a:bodyPr wrap="none" rtlCol="0">
            <a:spAutoFit/>
          </a:bodyPr>
          <a:lstStyle/>
          <a:p>
            <a:pPr>
              <a:lnSpc>
                <a:spcPct val="150000"/>
              </a:lnSpc>
            </a:pPr>
            <a:r>
              <a:rPr kumimoji="1" lang="zh-CN" altLang="en-US" sz="1100" dirty="0">
                <a:solidFill>
                  <a:srgbClr val="4E5865"/>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endParaRPr kumimoji="1" lang="zh-CN" altLang="en-US" sz="1100" dirty="0">
              <a:solidFill>
                <a:srgbClr val="4E586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TextBox 6"/>
          <p:cNvSpPr>
            <a:spLocks noChangeArrowheads="1"/>
          </p:cNvSpPr>
          <p:nvPr userDrawn="1"/>
        </p:nvSpPr>
        <p:spPr bwMode="auto">
          <a:xfrm>
            <a:off x="772107"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70402020202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704020202020204" pitchFamily="34" charset="0"/>
              <a:buNone/>
            </a:pPr>
            <a:r>
              <a:rPr lang="en-US" altLang="zh-CN" sz="4400" b="1" dirty="0">
                <a:solidFill>
                  <a:srgbClr val="D91E43"/>
                </a:solidFill>
                <a:latin typeface="Arial" panose="020B0704020202020204" pitchFamily="34" charset="0"/>
                <a:ea typeface="Arial" panose="020B0704020202020204" pitchFamily="34" charset="0"/>
                <a:cs typeface="Arial" panose="020B0704020202020204" pitchFamily="34" charset="0"/>
                <a:sym typeface="微软雅黑" panose="020B0503020204020204" pitchFamily="34" charset="-122"/>
              </a:rPr>
              <a:t>THANKS.</a:t>
            </a:r>
            <a:endParaRPr lang="en-US" altLang="zh-CN" sz="4400" b="1" dirty="0">
              <a:solidFill>
                <a:srgbClr val="D91E43"/>
              </a:solidFill>
              <a:latin typeface="Arial" panose="020B0704020202020204" pitchFamily="34" charset="0"/>
              <a:ea typeface="Arial" panose="020B0704020202020204" pitchFamily="34" charset="0"/>
              <a:cs typeface="Arial" panose="020B0704020202020204" pitchFamily="34" charset="0"/>
              <a:sym typeface="微软雅黑" panose="020B0503020204020204" pitchFamily="34" charset="-122"/>
            </a:endParaRPr>
          </a:p>
        </p:txBody>
      </p:sp>
      <p:sp>
        <p:nvSpPr>
          <p:cNvPr id="18" name="TextBox 7"/>
          <p:cNvSpPr>
            <a:spLocks noChangeArrowheads="1"/>
          </p:cNvSpPr>
          <p:nvPr userDrawn="1"/>
        </p:nvSpPr>
        <p:spPr bwMode="auto">
          <a:xfrm>
            <a:off x="772106" y="2502536"/>
            <a:ext cx="4827897"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70402020202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70402020202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70402020202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70402020202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70402020202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704020202020204" pitchFamily="34" charset="0"/>
              <a:buNone/>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endPar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704020202020204" pitchFamily="34" charset="0"/>
              <a:buNone/>
            </a:pPr>
            <a:r>
              <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4"/>
              </a:rPr>
              <a:t>www.ruijie.com.cn</a:t>
            </a:r>
            <a:r>
              <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endParaRPr lang="en-US"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eaLnBrk="1" hangingPunct="1">
              <a:lnSpc>
                <a:spcPct val="150000"/>
              </a:lnSpc>
              <a:spcBef>
                <a:spcPct val="0"/>
              </a:spcBef>
              <a:buFont typeface="Arial" panose="020B0704020202020204" pitchFamily="34" charset="0"/>
              <a:buNone/>
            </a:pPr>
            <a:r>
              <a:rPr lang="en-US" altLang="en-US" sz="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8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3" name="图片 2"/>
          <p:cNvPicPr>
            <a:picLocks noChangeAspect="1"/>
          </p:cNvPicPr>
          <p:nvPr userDrawn="1"/>
        </p:nvPicPr>
        <p:blipFill>
          <a:blip r:embed="rId5" cstate="screen"/>
          <a:stretch>
            <a:fillRect/>
          </a:stretch>
        </p:blipFill>
        <p:spPr>
          <a:xfrm>
            <a:off x="764301" y="4978531"/>
            <a:ext cx="1258810" cy="125881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114257" y="6653134"/>
            <a:ext cx="289004" cy="179059"/>
          </a:xfrm>
          <a:prstGeom prst="rect">
            <a:avLst/>
          </a:prstGeom>
        </p:spPr>
        <p:txBody>
          <a:bodyPr/>
          <a:lstStyle>
            <a:lvl1pPr>
              <a:defRPr sz="1165">
                <a:latin typeface="微软雅黑" panose="020B0503020204020204" pitchFamily="34" charset="-122"/>
                <a:ea typeface="微软雅黑" panose="020B0503020204020204" pitchFamily="34" charset="-122"/>
              </a:defRPr>
            </a:lvl1pPr>
          </a:lstStyle>
          <a:p>
            <a:pPr eaLnBrk="0" fontAlgn="base" hangingPunct="0">
              <a:spcBef>
                <a:spcPct val="0"/>
              </a:spcBef>
              <a:spcAft>
                <a:spcPct val="0"/>
              </a:spcAft>
              <a:defRPr/>
            </a:pPr>
            <a:fld id="{C6D40106-F6D2-4DE4-B72E-18FC2EDB7E8C}"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7" name="标题 1"/>
          <p:cNvSpPr>
            <a:spLocks noGrp="1"/>
          </p:cNvSpPr>
          <p:nvPr>
            <p:ph type="title"/>
          </p:nvPr>
        </p:nvSpPr>
        <p:spPr>
          <a:xfrm>
            <a:off x="609658" y="274630"/>
            <a:ext cx="10973848" cy="634065"/>
          </a:xfrm>
        </p:spPr>
        <p:txBody>
          <a:bodyPr>
            <a:normAutofit/>
          </a:bodyPr>
          <a:lstStyle>
            <a:lvl1pPr algn="l">
              <a:defRPr sz="3200" b="1">
                <a:solidFill>
                  <a:srgbClr val="E60039"/>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8" name="矩形 7"/>
          <p:cNvSpPr/>
          <p:nvPr/>
        </p:nvSpPr>
        <p:spPr>
          <a:xfrm>
            <a:off x="-10754" y="364237"/>
            <a:ext cx="621026" cy="504018"/>
          </a:xfrm>
          <a:prstGeom prst="rect">
            <a:avLst/>
          </a:prstGeom>
          <a:solidFill>
            <a:srgbClr val="E600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灯片编号占位符 12"/>
          <p:cNvSpPr>
            <a:spLocks noGrp="1"/>
          </p:cNvSpPr>
          <p:nvPr>
            <p:ph type="sldNum" sz="quarter" idx="11"/>
          </p:nvPr>
        </p:nvSpPr>
        <p:spPr>
          <a:xfrm>
            <a:off x="343311" y="6237910"/>
            <a:ext cx="636615" cy="240995"/>
          </a:xfrm>
          <a:prstGeom prst="rect">
            <a:avLst/>
          </a:prstGeom>
        </p:spPr>
        <p:txBody>
          <a:bodyPr anchor="ctr"/>
          <a:lstStyle>
            <a:lvl1pPr algn="r">
              <a:defRPr sz="1400" b="1">
                <a:solidFill>
                  <a:schemeClr val="tx1">
                    <a:lumMod val="75000"/>
                    <a:lumOff val="25000"/>
                  </a:schemeClr>
                </a:solidFill>
                <a:latin typeface="Arial" panose="020B0704020202020204" pitchFamily="34" charset="0"/>
                <a:cs typeface="Arial" panose="020B0704020202020204" pitchFamily="34" charset="0"/>
              </a:defRPr>
            </a:lvl1pPr>
          </a:lstStyle>
          <a:p>
            <a:fld id="{E1C1B161-4EA0-4354-A154-2430C001F00B}" type="slidenum">
              <a:rPr lang="zh-CN" altLang="en-US" smtClean="0"/>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2"/>
            </p:custDataLst>
          </p:nvPr>
        </p:nvPicPr>
        <p:blipFill>
          <a:blip r:embed="rId3" cstate="screen"/>
          <a:stretch>
            <a:fillRect/>
          </a:stretch>
        </p:blipFill>
        <p:spPr>
          <a:xfrm>
            <a:off x="10144927" y="351797"/>
            <a:ext cx="1492890" cy="253694"/>
          </a:xfrm>
          <a:prstGeom prst="rect">
            <a:avLst/>
          </a:prstGeom>
        </p:spPr>
      </p:pic>
      <p:sp>
        <p:nvSpPr>
          <p:cNvPr id="10" name="矩形 9"/>
          <p:cNvSpPr/>
          <p:nvPr userDrawn="1">
            <p:custDataLst>
              <p:tags r:id="rId4"/>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5"/>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fld>
            <a:endParaRPr kumimoji="1" lang="zh-CN" altLang="en-US" dirty="0"/>
          </a:p>
        </p:txBody>
      </p:sp>
      <p:sp>
        <p:nvSpPr>
          <p:cNvPr id="14" name="灯片编号占位符 1"/>
          <p:cNvSpPr txBox="1"/>
          <p:nvPr userDrawn="1">
            <p:custDataLst>
              <p:tags r:id="rId6"/>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7"/>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oleObject" Target="../embeddings/oleObject1.bin"/><Relationship Id="rId8" Type="http://schemas.openxmlformats.org/officeDocument/2006/relationships/tags" Target="../tags/tag6.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vmlDrawing" Target="../drawings/vmlDrawing1.vml"/><Relationship Id="rId10" Type="http://schemas.openxmlformats.org/officeDocument/2006/relationships/image" Target="../media/image7.emf"/><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oleObject" Target="../embeddings/oleObject2.bin"/><Relationship Id="rId8" Type="http://schemas.openxmlformats.org/officeDocument/2006/relationships/tags" Target="../tags/tag12.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2" Type="http://schemas.openxmlformats.org/officeDocument/2006/relationships/theme" Target="../theme/theme2.xml"/><Relationship Id="rId11" Type="http://schemas.openxmlformats.org/officeDocument/2006/relationships/vmlDrawing" Target="../drawings/vmlDrawing2.vml"/><Relationship Id="rId10" Type="http://schemas.openxmlformats.org/officeDocument/2006/relationships/image" Target="../media/image7.emf"/><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userDrawn="1">
            <p:custDataLst>
              <p:tags r:id="rId8"/>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 name="think-cell 幻灯片" r:id="rId9" imgW="7763510" imgH="10049510" progId="TCLayout.ActiveDocument.1">
                  <p:embed/>
                </p:oleObj>
              </mc:Choice>
              <mc:Fallback>
                <p:oleObj name="think-cell 幻灯片" r:id="rId9" imgW="7763510" imgH="10049510" progId="TCLayout.ActiveDocument.1">
                  <p:embed/>
                  <p:pic>
                    <p:nvPicPr>
                      <p:cNvPr id="0" name="图片 2"/>
                      <p:cNvPicPr/>
                      <p:nvPr/>
                    </p:nvPicPr>
                    <p:blipFill>
                      <a:blip r:embed="rId10"/>
                      <a:stretch>
                        <a:fillRect/>
                      </a:stretch>
                    </p:blipFill>
                    <p:spPr>
                      <a:xfrm>
                        <a:off x="1588" y="1588"/>
                        <a:ext cx="1227"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userDrawn="1">
            <p:custDataLst>
              <p:tags r:id="rId8"/>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 name="think-cell 幻灯片" r:id="rId9" imgW="7763510" imgH="10049510" progId="TCLayout.ActiveDocument.1">
                  <p:embed/>
                </p:oleObj>
              </mc:Choice>
              <mc:Fallback>
                <p:oleObj name="think-cell 幻灯片" r:id="rId9" imgW="7763510" imgH="10049510" progId="TCLayout.ActiveDocument.1">
                  <p:embed/>
                  <p:pic>
                    <p:nvPicPr>
                      <p:cNvPr id="0" name="图片 2"/>
                      <p:cNvPicPr/>
                      <p:nvPr/>
                    </p:nvPicPr>
                    <p:blipFill>
                      <a:blip r:embed="rId10"/>
                      <a:stretch>
                        <a:fillRect/>
                      </a:stretch>
                    </p:blipFill>
                    <p:spPr>
                      <a:xfrm>
                        <a:off x="1588" y="1588"/>
                        <a:ext cx="1227"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https://ruijie.feishu.cn/sheets/HSRusFT8Qh93XstgrCicL0gynse?sheet=OIIkA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1"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2" cstate="screen"/>
          <a:stretch>
            <a:fillRect/>
          </a:stretch>
        </p:blipFill>
        <p:spPr>
          <a:xfrm>
            <a:off x="592015" y="503702"/>
            <a:ext cx="2085672" cy="354428"/>
          </a:xfrm>
          <a:prstGeom prst="rect">
            <a:avLst/>
          </a:prstGeom>
        </p:spPr>
      </p:pic>
      <p:sp>
        <p:nvSpPr>
          <p:cNvPr id="12" name="文本框 11"/>
          <p:cNvSpPr txBox="1"/>
          <p:nvPr/>
        </p:nvSpPr>
        <p:spPr>
          <a:xfrm>
            <a:off x="3247291" y="2459591"/>
            <a:ext cx="3541354" cy="646331"/>
          </a:xfrm>
          <a:prstGeom prst="rect">
            <a:avLst/>
          </a:prstGeom>
          <a:noFill/>
        </p:spPr>
        <p:txBody>
          <a:bodyPr wrap="none" rtlCol="0">
            <a:spAutoFit/>
          </a:bodyPr>
          <a:lstStyle/>
          <a:p>
            <a:r>
              <a:rPr kumimoji="1" lang="en-US" altLang="zh-CN" sz="3600" dirty="0">
                <a:solidFill>
                  <a:srgbClr val="3979C1"/>
                </a:solidFill>
                <a:latin typeface="微软雅黑" panose="020B0503020204020204" pitchFamily="34" charset="-122"/>
                <a:ea typeface="微软雅黑" panose="020B0503020204020204" pitchFamily="34" charset="-122"/>
              </a:rPr>
              <a:t>M11.2</a:t>
            </a:r>
            <a:r>
              <a:rPr kumimoji="1" lang="zh-CN" altLang="en-US" sz="3600" dirty="0">
                <a:solidFill>
                  <a:srgbClr val="3979C1"/>
                </a:solidFill>
                <a:latin typeface="微软雅黑" panose="020B0503020204020204" pitchFamily="34" charset="-122"/>
                <a:ea typeface="微软雅黑" panose="020B0503020204020204" pitchFamily="34" charset="-122"/>
              </a:rPr>
              <a:t> 推进商机</a:t>
            </a:r>
            <a:endParaRPr kumimoji="1" lang="zh-CN" altLang="en-US" sz="3600" dirty="0">
              <a:solidFill>
                <a:srgbClr val="3979C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573405" y="1865546"/>
            <a:ext cx="2882520" cy="492443"/>
          </a:xfrm>
          <a:prstGeom prst="rect">
            <a:avLst/>
          </a:prstGeom>
          <a:noFill/>
        </p:spPr>
        <p:txBody>
          <a:bodyPr wrap="none" rtlCol="0">
            <a:spAutoFit/>
          </a:bodyPr>
          <a:lstStyle/>
          <a:p>
            <a:r>
              <a:rPr kumimoji="1" lang="en-US" altLang="zh-CN" sz="2600" dirty="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dirty="0">
                <a:solidFill>
                  <a:schemeClr val="bg1">
                    <a:lumMod val="50000"/>
                  </a:schemeClr>
                </a:solidFill>
                <a:latin typeface="微软雅黑" panose="020B0503020204020204" pitchFamily="34" charset="-122"/>
                <a:ea typeface="微软雅黑" panose="020B0503020204020204" pitchFamily="34" charset="-122"/>
              </a:rPr>
              <a:t>管理商机流程</a:t>
            </a:r>
            <a:endParaRPr kumimoji="1" lang="zh-CN" altLang="en-US" sz="2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1117614" cy="307777"/>
          </a:xfrm>
          <a:prstGeom prst="rect">
            <a:avLst/>
          </a:prstGeom>
          <a:noFill/>
        </p:spPr>
        <p:txBody>
          <a:bodyPr wrap="none" rtlCol="0">
            <a:spAutoFit/>
          </a:bodyPr>
          <a:lstStyle/>
          <a:p>
            <a:r>
              <a:rPr kumimoji="1" lang="en-US" altLang="zh-CN" sz="1400" dirty="0">
                <a:solidFill>
                  <a:schemeClr val="bg1">
                    <a:lumMod val="50000"/>
                  </a:schemeClr>
                </a:solidFill>
                <a:latin typeface="微软雅黑" panose="020B0503020204020204" pitchFamily="34" charset="-122"/>
                <a:ea typeface="微软雅黑" panose="020B0503020204020204" pitchFamily="34" charset="-122"/>
              </a:rPr>
              <a:t>2025.04.23</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39302" y="3968885"/>
            <a:ext cx="1938385" cy="369332"/>
          </a:xfrm>
          <a:prstGeom prst="rect">
            <a:avLst/>
          </a:prstGeom>
          <a:noFill/>
        </p:spPr>
        <p:txBody>
          <a:bodyPr wrap="square" rtlCol="0">
            <a:spAutoFit/>
          </a:bodyPr>
          <a:lstStyle/>
          <a:p>
            <a:r>
              <a:rPr kumimoji="1" lang="en-US" altLang="zh-CN" dirty="0">
                <a:solidFill>
                  <a:schemeClr val="bg1">
                    <a:lumMod val="50000"/>
                  </a:schemeClr>
                </a:solidFill>
                <a:latin typeface="微软雅黑" panose="020B0503020204020204" pitchFamily="34" charset="-122"/>
                <a:ea typeface="微软雅黑" panose="020B0503020204020204" pitchFamily="34" charset="-122"/>
              </a:rPr>
              <a:t>L3</a:t>
            </a:r>
            <a:r>
              <a:rPr kumimoji="1" lang="zh-CN" altLang="en-US" dirty="0">
                <a:solidFill>
                  <a:schemeClr val="bg1">
                    <a:lumMod val="50000"/>
                  </a:schemeClr>
                </a:solidFill>
                <a:latin typeface="微软雅黑" panose="020B0503020204020204" pitchFamily="34" charset="-122"/>
                <a:ea typeface="微软雅黑" panose="020B0503020204020204" pitchFamily="34" charset="-122"/>
              </a:rPr>
              <a:t> </a:t>
            </a:r>
            <a:r>
              <a:rPr kumimoji="1" lang="en-US" altLang="zh-CN" dirty="0">
                <a:solidFill>
                  <a:schemeClr val="bg1">
                    <a:lumMod val="50000"/>
                  </a:schemeClr>
                </a:solidFill>
                <a:latin typeface="微软雅黑" panose="020B0503020204020204" pitchFamily="34" charset="-122"/>
                <a:ea typeface="微软雅黑" panose="020B0503020204020204" pitchFamily="34" charset="-122"/>
              </a:rPr>
              <a:t>PO</a:t>
            </a:r>
            <a:r>
              <a:rPr kumimoji="1" lang="zh-CN" altLang="en-US" dirty="0">
                <a:solidFill>
                  <a:schemeClr val="bg1">
                    <a:lumMod val="50000"/>
                  </a:schemeClr>
                </a:solidFill>
                <a:latin typeface="微软雅黑" panose="020B0503020204020204" pitchFamily="34" charset="-122"/>
                <a:ea typeface="微软雅黑" panose="020B0503020204020204" pitchFamily="34" charset="-122"/>
              </a:rPr>
              <a:t>：张宏涛</a:t>
            </a:r>
            <a:endParaRPr kumimoji="1" lang="zh-CN" altLang="en-US"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endPar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文本占位符 2"/>
          <p:cNvSpPr txBox="1"/>
          <p:nvPr/>
        </p:nvSpPr>
        <p:spPr>
          <a:xfrm>
            <a:off x="1219914" y="2469930"/>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7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tint val="75000"/>
                  </a:schemeClr>
                </a:solidFill>
                <a:latin typeface="+mn-lt"/>
                <a:ea typeface="+mn-ea"/>
                <a:cs typeface="+mn-cs"/>
              </a:defRPr>
            </a:lvl9pPr>
          </a:lstStyle>
          <a:p>
            <a:pPr>
              <a:lnSpc>
                <a:spcPct val="150000"/>
              </a:lnSpc>
              <a:defRPr/>
            </a:pPr>
            <a:r>
              <a:rPr lang="en-US" altLang="zh-CN" dirty="0"/>
              <a:t>M11.2 </a:t>
            </a:r>
            <a:r>
              <a:rPr lang="zh-CN" altLang="en-US" dirty="0"/>
              <a:t>这个流程主要是做什么的？</a:t>
            </a:r>
            <a:endParaRPr lang="en-US" altLang="zh-CN" dirty="0"/>
          </a:p>
          <a:p>
            <a:pPr>
              <a:lnSpc>
                <a:spcPct val="150000"/>
              </a:lnSpc>
              <a:defRPr/>
            </a:pPr>
            <a:r>
              <a:rPr lang="en-US" altLang="zh-CN" dirty="0"/>
              <a:t>Why</a:t>
            </a:r>
            <a:r>
              <a:rPr lang="zh-CN" altLang="en-US" dirty="0"/>
              <a:t>：为什么要设计这个流程</a:t>
            </a:r>
            <a:r>
              <a:rPr lang="en-US" altLang="zh-CN" dirty="0"/>
              <a:t>-</a:t>
            </a:r>
            <a:r>
              <a:rPr lang="zh-CN" altLang="en-US" dirty="0"/>
              <a:t>业务价值</a:t>
            </a:r>
            <a:endParaRPr lang="en-US" altLang="zh-CN" dirty="0"/>
          </a:p>
          <a:p>
            <a:pPr>
              <a:lnSpc>
                <a:spcPct val="150000"/>
              </a:lnSpc>
              <a:defRPr/>
            </a:pPr>
            <a:r>
              <a:rPr lang="en-US" altLang="zh-CN" dirty="0"/>
              <a:t>What</a:t>
            </a:r>
            <a:r>
              <a:rPr lang="zh-CN" altLang="en-US" dirty="0"/>
              <a:t>：需要各位做什么</a:t>
            </a:r>
            <a:endParaRPr lang="en-US" altLang="zh-CN" dirty="0"/>
          </a:p>
          <a:p>
            <a:pPr>
              <a:lnSpc>
                <a:spcPct val="150000"/>
              </a:lnSpc>
              <a:defRPr/>
            </a:pPr>
            <a:r>
              <a:rPr lang="en-US" altLang="zh-CN" dirty="0"/>
              <a:t>How</a:t>
            </a:r>
            <a:r>
              <a:rPr lang="zh-CN" altLang="en-US" dirty="0"/>
              <a:t>：具体怎么做</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9871" y="1127285"/>
            <a:ext cx="11869812" cy="5356412"/>
          </a:xfrm>
          <a:prstGeom prst="rect">
            <a:avLst/>
          </a:prstGeom>
        </p:spPr>
      </p:pic>
      <p:sp>
        <p:nvSpPr>
          <p:cNvPr id="7" name="文本占位符 1"/>
          <p:cNvSpPr>
            <a:spLocks noGrp="1"/>
          </p:cNvSpPr>
          <p:nvPr>
            <p:ph type="body" sz="quarter" idx="13"/>
          </p:nvPr>
        </p:nvSpPr>
        <p:spPr>
          <a:xfrm>
            <a:off x="712860" y="280531"/>
            <a:ext cx="7109236" cy="426596"/>
          </a:xfrm>
        </p:spPr>
        <p:txBody>
          <a:bodyPr/>
          <a:lstStyle/>
          <a:p>
            <a:r>
              <a:rPr lang="zh-CN" altLang="en-US" dirty="0"/>
              <a:t>推进商机</a:t>
            </a:r>
            <a:r>
              <a:rPr lang="en-US" altLang="zh-CN" dirty="0"/>
              <a:t>_</a:t>
            </a:r>
            <a:r>
              <a:rPr lang="zh-CN" altLang="en-US" dirty="0"/>
              <a:t>在</a:t>
            </a:r>
            <a:r>
              <a:rPr lang="en-US" altLang="zh-CN" dirty="0"/>
              <a:t>MO</a:t>
            </a:r>
            <a:r>
              <a:rPr lang="zh-CN" altLang="en-US" dirty="0"/>
              <a:t>流程中的位置</a:t>
            </a:r>
            <a:endParaRPr lang="zh-CN" altLang="en-US" dirty="0"/>
          </a:p>
        </p:txBody>
      </p:sp>
      <p:sp>
        <p:nvSpPr>
          <p:cNvPr id="9" name="文本框 8"/>
          <p:cNvSpPr txBox="1"/>
          <p:nvPr/>
        </p:nvSpPr>
        <p:spPr>
          <a:xfrm>
            <a:off x="1674688" y="1078787"/>
            <a:ext cx="1787703" cy="5044610"/>
          </a:xfrm>
          <a:prstGeom prst="rect">
            <a:avLst/>
          </a:prstGeom>
          <a:noFill/>
        </p:spPr>
        <p:txBody>
          <a:bodyPr wrap="square" rtlCol="0">
            <a:spAutoFit/>
          </a:bodyPr>
          <a:lstStyle/>
          <a:p>
            <a:endParaRPr lang="zh-CN" altLang="en-US" dirty="0"/>
          </a:p>
        </p:txBody>
      </p:sp>
      <p:sp>
        <p:nvSpPr>
          <p:cNvPr id="11" name="文本框 10"/>
          <p:cNvSpPr txBox="1"/>
          <p:nvPr/>
        </p:nvSpPr>
        <p:spPr>
          <a:xfrm>
            <a:off x="3603811" y="1965539"/>
            <a:ext cx="1592131" cy="3765176"/>
          </a:xfrm>
          <a:prstGeom prst="rect">
            <a:avLst/>
          </a:prstGeom>
          <a:noFill/>
          <a:ln w="76200">
            <a:solidFill>
              <a:srgbClr val="FF0000"/>
            </a:solidFill>
          </a:ln>
        </p:spPr>
        <p:txBody>
          <a:bodyPr wrap="square" rtlCol="0">
            <a:spAutoFit/>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
          <p:cNvSpPr>
            <a:spLocks noGrp="1"/>
          </p:cNvSpPr>
          <p:nvPr>
            <p:ph type="body" sz="quarter" idx="13"/>
          </p:nvPr>
        </p:nvSpPr>
        <p:spPr>
          <a:xfrm>
            <a:off x="712860" y="280531"/>
            <a:ext cx="7109236" cy="426596"/>
          </a:xfrm>
        </p:spPr>
        <p:txBody>
          <a:bodyPr/>
          <a:lstStyle/>
          <a:p>
            <a:r>
              <a:rPr lang="en-GB" altLang="zh-CN" dirty="0"/>
              <a:t>M11.</a:t>
            </a:r>
            <a:r>
              <a:rPr lang="en-US" altLang="zh-CN" dirty="0"/>
              <a:t>2</a:t>
            </a:r>
            <a:r>
              <a:rPr lang="en-GB" altLang="zh-CN" dirty="0"/>
              <a:t> </a:t>
            </a:r>
            <a:r>
              <a:rPr lang="zh-CN" altLang="en-US" dirty="0"/>
              <a:t>这个流程主要是做什么的</a:t>
            </a:r>
            <a:endParaRPr lang="zh-CN" altLang="en-US" dirty="0"/>
          </a:p>
        </p:txBody>
      </p:sp>
      <p:sp>
        <p:nvSpPr>
          <p:cNvPr id="3" name="文本框 2"/>
          <p:cNvSpPr txBox="1"/>
          <p:nvPr/>
        </p:nvSpPr>
        <p:spPr>
          <a:xfrm>
            <a:off x="590328" y="984516"/>
            <a:ext cx="1338828" cy="369332"/>
          </a:xfrm>
          <a:prstGeom prst="rect">
            <a:avLst/>
          </a:prstGeom>
          <a:noFill/>
        </p:spPr>
        <p:txBody>
          <a:bodyPr wrap="none" rtlCol="0">
            <a:spAutoFit/>
          </a:bodyPr>
          <a:lstStyle/>
          <a:p>
            <a:r>
              <a:rPr kumimoji="1" lang="zh-CN" altLang="en-US" b="1" dirty="0">
                <a:solidFill>
                  <a:srgbClr val="3979C1"/>
                </a:solidFill>
                <a:latin typeface="微软雅黑" panose="020B0503020204020204" pitchFamily="34" charset="-122"/>
                <a:ea typeface="微软雅黑" panose="020B0503020204020204" pitchFamily="34" charset="-122"/>
              </a:rPr>
              <a:t>流程目的：</a:t>
            </a:r>
            <a:endParaRPr kumimoji="1" lang="zh-CN" altLang="en-US" b="1" dirty="0">
              <a:solidFill>
                <a:srgbClr val="3979C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17677" y="984516"/>
            <a:ext cx="1338828" cy="369332"/>
          </a:xfrm>
          <a:prstGeom prst="rect">
            <a:avLst/>
          </a:prstGeom>
          <a:noFill/>
        </p:spPr>
        <p:txBody>
          <a:bodyPr wrap="none" rtlCol="0">
            <a:spAutoFit/>
          </a:bodyPr>
          <a:lstStyle/>
          <a:p>
            <a:r>
              <a:rPr kumimoji="1" lang="zh-CN" altLang="en-US" b="1" dirty="0">
                <a:solidFill>
                  <a:srgbClr val="3979C1"/>
                </a:solidFill>
                <a:latin typeface="微软雅黑" panose="020B0503020204020204" pitchFamily="34" charset="-122"/>
                <a:ea typeface="微软雅黑" panose="020B0503020204020204" pitchFamily="34" charset="-122"/>
              </a:rPr>
              <a:t>适用范围：</a:t>
            </a:r>
            <a:endParaRPr kumimoji="1" lang="zh-CN" altLang="en-US" b="1" dirty="0">
              <a:solidFill>
                <a:srgbClr val="3979C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90328" y="1747968"/>
            <a:ext cx="5236540" cy="769441"/>
          </a:xfrm>
          <a:prstGeom prst="rect">
            <a:avLst/>
          </a:prstGeom>
          <a:noFill/>
        </p:spPr>
        <p:txBody>
          <a:bodyPr wrap="square" rtlCol="0">
            <a:spAutoFit/>
          </a:bodyPr>
          <a:lstStyle>
            <a:defPPr>
              <a:defRPr lang="zh-CN"/>
            </a:defPPr>
            <a:lvl1pPr>
              <a:defRPr sz="1100"/>
            </a:lvl1pPr>
          </a:lstStyle>
          <a:p>
            <a:r>
              <a:rPr lang="zh-CN" altLang="en-US" dirty="0">
                <a:latin typeface="微软雅黑" panose="020B0503020204020204" pitchFamily="34" charset="-122"/>
                <a:ea typeface="微软雅黑" panose="020B0503020204020204" pitchFamily="34" charset="-122"/>
              </a:rPr>
              <a:t>推进商机流程是“</a:t>
            </a:r>
            <a:r>
              <a:rPr lang="en-GB" altLang="zh-CN" dirty="0">
                <a:latin typeface="微软雅黑" panose="020B0503020204020204" pitchFamily="34" charset="-122"/>
                <a:ea typeface="微软雅黑" panose="020B0503020204020204" pitchFamily="34" charset="-122"/>
              </a:rPr>
              <a:t>MO</a:t>
            </a:r>
            <a:r>
              <a:rPr lang="zh-CN" altLang="en-US" dirty="0">
                <a:latin typeface="微软雅黑" panose="020B0503020204020204" pitchFamily="34" charset="-122"/>
                <a:ea typeface="微软雅黑" panose="020B0503020204020204" pitchFamily="34" charset="-122"/>
              </a:rPr>
              <a:t>商机管理”的关键环节，本流程旨在通过一系列精心设计的环节来确保商机的顺利推进。通过对重点环节的策略设计，能够更有效地管理立项商机，提高赢单率。同时，该流程也有助于提升一线团队自主推进商机、明确价值主张、重构客户愿景的销售能力。</a:t>
            </a:r>
            <a:endParaRPr lang="en-US" altLang="zh-CN"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6592986" y="1962486"/>
            <a:ext cx="5008686" cy="261610"/>
          </a:xfrm>
          <a:prstGeom prst="rect">
            <a:avLst/>
          </a:prstGeom>
          <a:noFill/>
        </p:spPr>
        <p:txBody>
          <a:bodyPr wrap="square" rtlCol="0">
            <a:spAutoFit/>
          </a:bodyPr>
          <a:lstStyle>
            <a:defPPr>
              <a:defRPr lang="zh-CN"/>
            </a:defPPr>
            <a:lvl1pPr>
              <a:defRPr sz="1100">
                <a:latin typeface="微软雅黑" panose="020B0503020204020204" pitchFamily="34" charset="-122"/>
                <a:ea typeface="微软雅黑" panose="020B0503020204020204" pitchFamily="34" charset="-122"/>
              </a:defRPr>
            </a:lvl1pPr>
          </a:lstStyle>
          <a:p>
            <a:r>
              <a:rPr lang="zh-CN" altLang="en-US" dirty="0"/>
              <a:t>本流程适用于 </a:t>
            </a:r>
            <a:r>
              <a:rPr lang="en-GB" altLang="zh-CN" dirty="0"/>
              <a:t>EBG</a:t>
            </a:r>
            <a:r>
              <a:rPr lang="zh-CN" altLang="en-US" dirty="0"/>
              <a:t>全员，商机包括所有进入推进阶段的已立项商机。</a:t>
            </a:r>
            <a:endParaRPr lang="zh-CN" altLang="en-US" dirty="0"/>
          </a:p>
        </p:txBody>
      </p:sp>
      <p:sp>
        <p:nvSpPr>
          <p:cNvPr id="13" name="矩形 12"/>
          <p:cNvSpPr/>
          <p:nvPr/>
        </p:nvSpPr>
        <p:spPr>
          <a:xfrm>
            <a:off x="590328" y="984516"/>
            <a:ext cx="2220966" cy="3693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565636" y="1577375"/>
            <a:ext cx="5530363" cy="10782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p:cNvSpPr/>
          <p:nvPr/>
        </p:nvSpPr>
        <p:spPr>
          <a:xfrm>
            <a:off x="6491775" y="984516"/>
            <a:ext cx="2220966" cy="3693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p:cNvSpPr/>
          <p:nvPr/>
        </p:nvSpPr>
        <p:spPr>
          <a:xfrm>
            <a:off x="6467083" y="1577375"/>
            <a:ext cx="5530363" cy="10782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0" name="图片 19"/>
          <p:cNvPicPr>
            <a:picLocks noChangeAspect="1"/>
          </p:cNvPicPr>
          <p:nvPr/>
        </p:nvPicPr>
        <p:blipFill rotWithShape="1">
          <a:blip r:embed="rId1"/>
          <a:srcRect l="3300" t="13499" r="3331" b="12963"/>
          <a:stretch>
            <a:fillRect/>
          </a:stretch>
        </p:blipFill>
        <p:spPr>
          <a:xfrm>
            <a:off x="219760" y="2826243"/>
            <a:ext cx="11972240" cy="4023359"/>
          </a:xfrm>
          <a:prstGeom prst="rect">
            <a:avLst/>
          </a:prstGeom>
          <a:ln w="57150">
            <a:solidFill>
              <a:srgbClr val="FF0000"/>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
          <p:cNvSpPr>
            <a:spLocks noGrp="1"/>
          </p:cNvSpPr>
          <p:nvPr>
            <p:ph type="body" sz="quarter" idx="13"/>
          </p:nvPr>
        </p:nvSpPr>
        <p:spPr>
          <a:xfrm>
            <a:off x="712860" y="280531"/>
            <a:ext cx="7109236" cy="426596"/>
          </a:xfrm>
        </p:spPr>
        <p:txBody>
          <a:bodyPr/>
          <a:lstStyle/>
          <a:p>
            <a:r>
              <a:rPr lang="en-US" altLang="zh-CN" dirty="0"/>
              <a:t>WHY</a:t>
            </a:r>
            <a:r>
              <a:rPr lang="zh-CN" altLang="en-US" dirty="0"/>
              <a:t>：为什么要设计这个流程？</a:t>
            </a:r>
            <a:r>
              <a:rPr lang="en-US" altLang="zh-CN" dirty="0"/>
              <a:t>-</a:t>
            </a:r>
            <a:r>
              <a:rPr lang="zh-CN" altLang="en-US" dirty="0"/>
              <a:t>业务价值</a:t>
            </a:r>
            <a:endParaRPr lang="en-US" altLang="zh-CN" dirty="0"/>
          </a:p>
        </p:txBody>
      </p:sp>
      <p:sp>
        <p:nvSpPr>
          <p:cNvPr id="6" name="文本框 5"/>
          <p:cNvSpPr txBox="1"/>
          <p:nvPr/>
        </p:nvSpPr>
        <p:spPr>
          <a:xfrm>
            <a:off x="527725" y="1299104"/>
            <a:ext cx="11136549" cy="830997"/>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       推进商机流程，能够更有效地管理立项商机，</a:t>
            </a:r>
            <a:r>
              <a:rPr lang="zh-CN" altLang="en-US" sz="1600" dirty="0">
                <a:solidFill>
                  <a:srgbClr val="FF0000"/>
                </a:solidFill>
                <a:latin typeface="微软雅黑" panose="020B0503020204020204" pitchFamily="34" charset="-122"/>
                <a:ea typeface="微软雅黑" panose="020B0503020204020204" pitchFamily="34" charset="-122"/>
              </a:rPr>
              <a:t>提高赢单率，</a:t>
            </a:r>
            <a:r>
              <a:rPr lang="zh-CN" altLang="en-US" sz="1600" dirty="0">
                <a:latin typeface="微软雅黑" panose="020B0503020204020204" pitchFamily="34" charset="-122"/>
                <a:ea typeface="微软雅黑" panose="020B0503020204020204" pitchFamily="34" charset="-122"/>
              </a:rPr>
              <a:t>并最终实现业务增长。同时，这一过程也有助于加强销售团队与客户之间的关系，为未来的合作奠定坚实基础。提升一线团队具备自主推进商机，</a:t>
            </a:r>
            <a:r>
              <a:rPr lang="zh-CN" altLang="en-US" sz="1600" dirty="0">
                <a:solidFill>
                  <a:srgbClr val="FF0000"/>
                </a:solidFill>
                <a:latin typeface="微软雅黑" panose="020B0503020204020204" pitchFamily="34" charset="-122"/>
                <a:ea typeface="微软雅黑" panose="020B0503020204020204" pitchFamily="34" charset="-122"/>
              </a:rPr>
              <a:t>明确价值主张，重构客户愿景的能力。</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507460" y="2722079"/>
            <a:ext cx="10998740" cy="3046095"/>
          </a:xfrm>
          <a:prstGeom prst="rect">
            <a:avLst/>
          </a:prstGeom>
          <a:noFill/>
        </p:spPr>
        <p:txBody>
          <a:bodyPr wrap="square">
            <a:spAutoFit/>
          </a:bodyPr>
          <a:lstStyle/>
          <a:p>
            <a:pPr marL="342900" indent="-342900">
              <a:buFont typeface="+mj-lt"/>
              <a:buAutoNum type="arabicPeriod"/>
            </a:pPr>
            <a:r>
              <a:rPr lang="zh-CN" altLang="en-US" sz="1600" dirty="0">
                <a:solidFill>
                  <a:srgbClr val="FF0000"/>
                </a:solidFill>
                <a:latin typeface="微软雅黑" panose="020B0503020204020204" pitchFamily="34" charset="-122"/>
                <a:ea typeface="微软雅黑" panose="020B0503020204020204" pitchFamily="34" charset="-122"/>
              </a:rPr>
              <a:t>制定价值主张及赢单策略：</a:t>
            </a:r>
            <a:r>
              <a:rPr lang="zh-CN" altLang="en-US" sz="1600" dirty="0">
                <a:latin typeface="微软雅黑" panose="020B0503020204020204" pitchFamily="34" charset="-122"/>
                <a:ea typeface="微软雅黑" panose="020B0503020204020204" pitchFamily="34" charset="-122"/>
              </a:rPr>
              <a:t>这是推进商机流程的起点，</a:t>
            </a:r>
            <a:r>
              <a:rPr lang="zh-CN" altLang="en-US" sz="1600" dirty="0">
                <a:solidFill>
                  <a:srgbClr val="FF0000"/>
                </a:solidFill>
                <a:latin typeface="微软雅黑" panose="020B0503020204020204" pitchFamily="34" charset="-122"/>
                <a:ea typeface="微软雅黑" panose="020B0503020204020204" pitchFamily="34" charset="-122"/>
              </a:rPr>
              <a:t>其核心在于深入理解客户需求</a:t>
            </a:r>
            <a:r>
              <a:rPr lang="zh-CN" altLang="en-US" sz="1600" dirty="0">
                <a:latin typeface="微软雅黑" panose="020B0503020204020204" pitchFamily="34" charset="-122"/>
                <a:ea typeface="微软雅黑" panose="020B0503020204020204" pitchFamily="34" charset="-122"/>
              </a:rPr>
              <a:t>，</a:t>
            </a:r>
            <a:r>
              <a:rPr lang="zh-CN" altLang="en-US" sz="1600" dirty="0">
                <a:solidFill>
                  <a:srgbClr val="FF0000"/>
                </a:solidFill>
                <a:latin typeface="微软雅黑" panose="020B0503020204020204" pitchFamily="34" charset="-122"/>
                <a:ea typeface="微软雅黑" panose="020B0503020204020204" pitchFamily="34" charset="-122"/>
              </a:rPr>
              <a:t>明确我们如何能够满足这些需求，并突出我们相对于竞争对手的独特价值</a:t>
            </a:r>
            <a:r>
              <a:rPr lang="zh-CN" altLang="en-US" sz="1600" dirty="0">
                <a:latin typeface="微软雅黑" panose="020B0503020204020204" pitchFamily="34" charset="-122"/>
                <a:ea typeface="微软雅黑" panose="020B0503020204020204" pitchFamily="34" charset="-122"/>
              </a:rPr>
              <a:t>。在这一阶段，销售团队会与客户进行深入沟通，</a:t>
            </a:r>
            <a:r>
              <a:rPr lang="zh-CN" altLang="en-US" sz="1600" dirty="0">
                <a:solidFill>
                  <a:srgbClr val="FF0000"/>
                </a:solidFill>
                <a:latin typeface="微软雅黑" panose="020B0503020204020204" pitchFamily="34" charset="-122"/>
                <a:ea typeface="微软雅黑" panose="020B0503020204020204" pitchFamily="34" charset="-122"/>
              </a:rPr>
              <a:t>了解他们的业务目标、痛点以及期望的解决方案</a:t>
            </a:r>
            <a:r>
              <a:rPr lang="zh-CN" altLang="en-US" sz="1600" dirty="0">
                <a:latin typeface="微软雅黑" panose="020B0503020204020204" pitchFamily="34" charset="-122"/>
                <a:ea typeface="微软雅黑" panose="020B0503020204020204" pitchFamily="34" charset="-122"/>
              </a:rPr>
              <a:t>。基于这些信息，我们会制定一个具有吸引力的价值主张，并规划出具体的赢单策略。</a:t>
            </a:r>
            <a:endParaRPr lang="zh-CN" altLang="en-US"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solidFill>
                  <a:srgbClr val="FF0000"/>
                </a:solidFill>
                <a:latin typeface="微软雅黑" panose="020B0503020204020204" pitchFamily="34" charset="-122"/>
                <a:ea typeface="微软雅黑" panose="020B0503020204020204" pitchFamily="34" charset="-122"/>
              </a:rPr>
              <a:t>制定客户解决方案：</a:t>
            </a:r>
            <a:r>
              <a:rPr lang="zh-CN" altLang="en-US" sz="1600" dirty="0">
                <a:latin typeface="微软雅黑" panose="020B0503020204020204" pitchFamily="34" charset="-122"/>
                <a:ea typeface="微软雅黑" panose="020B0503020204020204" pitchFamily="34" charset="-122"/>
              </a:rPr>
              <a:t>一旦价值主张得到确认，接下来就是根据客户需求定制具体的解决方案。这个环节涉及到与技术团队及其他部门的紧密合作，以</a:t>
            </a:r>
            <a:r>
              <a:rPr lang="zh-CN" altLang="en-US" sz="1600" dirty="0">
                <a:solidFill>
                  <a:srgbClr val="FF0000"/>
                </a:solidFill>
                <a:latin typeface="微软雅黑" panose="020B0503020204020204" pitchFamily="34" charset="-122"/>
                <a:ea typeface="微软雅黑" panose="020B0503020204020204" pitchFamily="34" charset="-122"/>
              </a:rPr>
              <a:t>确保解决方案的技术可行性，创新性和可交付性</a:t>
            </a:r>
            <a:r>
              <a:rPr lang="zh-CN" altLang="en-US" sz="1600" dirty="0">
                <a:latin typeface="微软雅黑" panose="020B0503020204020204" pitchFamily="34" charset="-122"/>
                <a:ea typeface="微软雅黑" panose="020B0503020204020204" pitchFamily="34" charset="-122"/>
              </a:rPr>
              <a:t>。同时，我们还会考虑解决方案的</a:t>
            </a:r>
            <a:r>
              <a:rPr lang="zh-CN" altLang="en-US" sz="1600" dirty="0">
                <a:solidFill>
                  <a:srgbClr val="FF0000"/>
                </a:solidFill>
                <a:latin typeface="微软雅黑" panose="020B0503020204020204" pitchFamily="34" charset="-122"/>
                <a:ea typeface="微软雅黑" panose="020B0503020204020204" pitchFamily="34" charset="-122"/>
              </a:rPr>
              <a:t>成本效益</a:t>
            </a:r>
            <a:r>
              <a:rPr lang="zh-CN" altLang="en-US" sz="1600" dirty="0">
                <a:latin typeface="微软雅黑" panose="020B0503020204020204" pitchFamily="34" charset="-122"/>
                <a:ea typeface="微软雅黑" panose="020B0503020204020204" pitchFamily="34" charset="-122"/>
              </a:rPr>
              <a:t>，以确保它符合客户的预算要求。</a:t>
            </a:r>
            <a:endParaRPr lang="zh-CN" altLang="en-US"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solidFill>
                  <a:srgbClr val="FF0000"/>
                </a:solidFill>
                <a:latin typeface="微软雅黑" panose="020B0503020204020204" pitchFamily="34" charset="-122"/>
                <a:ea typeface="微软雅黑" panose="020B0503020204020204" pitchFamily="34" charset="-122"/>
              </a:rPr>
              <a:t>引导客户决策标准倾向我司：</a:t>
            </a:r>
            <a:r>
              <a:rPr lang="zh-CN" altLang="en-US" sz="1600" dirty="0">
                <a:latin typeface="微软雅黑" panose="020B0503020204020204" pitchFamily="34" charset="-122"/>
                <a:ea typeface="微软雅黑" panose="020B0503020204020204" pitchFamily="34" charset="-122"/>
              </a:rPr>
              <a:t>在销售过程中，客户的决策标准往往对最终结果产生重要影响。因此，我们需要通过有效的沟通和演示，</a:t>
            </a:r>
            <a:r>
              <a:rPr lang="zh-CN" altLang="en-US" sz="1600" dirty="0">
                <a:solidFill>
                  <a:srgbClr val="FF0000"/>
                </a:solidFill>
                <a:latin typeface="微软雅黑" panose="020B0503020204020204" pitchFamily="34" charset="-122"/>
                <a:ea typeface="微软雅黑" panose="020B0503020204020204" pitchFamily="34" charset="-122"/>
              </a:rPr>
              <a:t>引导客户将我们的价值主张和解决方案纳入他们的决策标准中</a:t>
            </a:r>
            <a:r>
              <a:rPr lang="zh-CN" altLang="en-US" sz="1600" dirty="0">
                <a:latin typeface="微软雅黑" panose="020B0503020204020204" pitchFamily="34" charset="-122"/>
                <a:ea typeface="微软雅黑" panose="020B0503020204020204" pitchFamily="34" charset="-122"/>
              </a:rPr>
              <a:t>。这可能需要我们提供案例研究、客户推荐或其他形式的证据来支持我们的论点。</a:t>
            </a:r>
            <a:endParaRPr lang="zh-CN" altLang="en-US" sz="1600" dirty="0">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1600" dirty="0">
                <a:solidFill>
                  <a:srgbClr val="FF0000"/>
                </a:solidFill>
                <a:latin typeface="微软雅黑" panose="020B0503020204020204" pitchFamily="34" charset="-122"/>
                <a:ea typeface="微软雅黑" panose="020B0503020204020204" pitchFamily="34" charset="-122"/>
              </a:rPr>
              <a:t>制定并执行招标策略：</a:t>
            </a:r>
            <a:r>
              <a:rPr lang="zh-CN" altLang="en-US" sz="1600" dirty="0">
                <a:latin typeface="微软雅黑" panose="020B0503020204020204" pitchFamily="34" charset="-122"/>
                <a:ea typeface="微软雅黑" panose="020B0503020204020204" pitchFamily="34" charset="-122"/>
              </a:rPr>
              <a:t>如果销售机会涉及到招标过程，那么制定并执行一个有效的招标策略就显得尤为重要。这包括准备详细的投标文件、确保符合招标要求、以及在投标过程中展示我们的独特价值和优势</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以此</a:t>
            </a:r>
            <a:r>
              <a:rPr lang="zh-CN" altLang="en-US" sz="1600" dirty="0">
                <a:solidFill>
                  <a:srgbClr val="FF0000"/>
                </a:solidFill>
                <a:latin typeface="微软雅黑" panose="020B0503020204020204" pitchFamily="34" charset="-122"/>
                <a:ea typeface="微软雅黑" panose="020B0503020204020204" pitchFamily="34" charset="-122"/>
              </a:rPr>
              <a:t>抬高或屏蔽对手</a:t>
            </a:r>
            <a:r>
              <a:rPr lang="zh-CN" altLang="en-US" sz="1600" dirty="0">
                <a:latin typeface="微软雅黑" panose="020B0503020204020204" pitchFamily="34" charset="-122"/>
                <a:ea typeface="微软雅黑" panose="020B0503020204020204" pitchFamily="34" charset="-122"/>
              </a:rPr>
              <a:t>。此外，我们还需要密切关注招标进度，以确保在关键时刻能够及时响应并提供必要的支持。</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商机分级表</a:t>
            </a:r>
            <a:r>
              <a:rPr lang="en-US" altLang="zh-CN" dirty="0">
                <a:latin typeface="微软雅黑" panose="020B0503020204020204" pitchFamily="34" charset="-122"/>
                <a:ea typeface="微软雅黑" panose="020B0503020204020204" pitchFamily="34" charset="-122"/>
              </a:rPr>
              <a:t>》</a:t>
            </a:r>
            <a:endParaRPr lang="zh-CN" altLang="en-US" dirty="0"/>
          </a:p>
        </p:txBody>
      </p:sp>
      <p:graphicFrame>
        <p:nvGraphicFramePr>
          <p:cNvPr id="7" name="表格 6"/>
          <p:cNvGraphicFramePr>
            <a:graphicFrameLocks noGrp="1"/>
          </p:cNvGraphicFramePr>
          <p:nvPr/>
        </p:nvGraphicFramePr>
        <p:xfrm>
          <a:off x="427382" y="944219"/>
          <a:ext cx="11509513" cy="5427271"/>
        </p:xfrm>
        <a:graphic>
          <a:graphicData uri="http://schemas.openxmlformats.org/drawingml/2006/table">
            <a:tbl>
              <a:tblPr firstRow="1" bandRow="1">
                <a:tableStyleId>{5C22544A-7EE6-4342-B048-85BDC9FD1C3A}</a:tableStyleId>
              </a:tblPr>
              <a:tblGrid>
                <a:gridCol w="944123"/>
                <a:gridCol w="4038695"/>
                <a:gridCol w="3233057"/>
                <a:gridCol w="3293638"/>
              </a:tblGrid>
              <a:tr h="425213">
                <a:tc>
                  <a:txBody>
                    <a:bodyPr/>
                    <a:lstStyle/>
                    <a:p>
                      <a:pPr algn="ctr" fontAlgn="t"/>
                      <a:r>
                        <a:rPr lang="zh-CN" altLang="en-US" sz="1400" b="1" dirty="0">
                          <a:effectLst/>
                          <a:latin typeface="微软雅黑" panose="020B0503020204020204" pitchFamily="34" charset="-122"/>
                          <a:ea typeface="微软雅黑" panose="020B0503020204020204" pitchFamily="34" charset="-122"/>
                        </a:rPr>
                        <a:t>级别</a:t>
                      </a:r>
                      <a:endParaRPr lang="zh-CN" altLang="en-US" sz="14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ctr" fontAlgn="t"/>
                      <a:r>
                        <a:rPr lang="zh-CN" altLang="en-US" sz="1400" b="1" dirty="0">
                          <a:effectLst/>
                          <a:latin typeface="微软雅黑" panose="020B0503020204020204" pitchFamily="34" charset="-122"/>
                          <a:ea typeface="微软雅黑" panose="020B0503020204020204" pitchFamily="34" charset="-122"/>
                        </a:rPr>
                        <a:t>定义</a:t>
                      </a:r>
                      <a:endParaRPr lang="zh-CN" altLang="en-US" sz="14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ctr" fontAlgn="t"/>
                      <a:r>
                        <a:rPr lang="zh-CN" altLang="en-US" sz="1400" b="1" dirty="0">
                          <a:effectLst/>
                          <a:latin typeface="微软雅黑" panose="020B0503020204020204" pitchFamily="34" charset="-122"/>
                          <a:ea typeface="微软雅黑" panose="020B0503020204020204" pitchFamily="34" charset="-122"/>
                        </a:rPr>
                        <a:t>介入的层级</a:t>
                      </a:r>
                      <a:endParaRPr lang="zh-CN" altLang="en-US" sz="14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ctr" fontAlgn="t"/>
                      <a:r>
                        <a:rPr lang="zh-CN" altLang="en-US" sz="1400" b="1" dirty="0">
                          <a:effectLst/>
                          <a:latin typeface="微软雅黑" panose="020B0503020204020204" pitchFamily="34" charset="-122"/>
                          <a:ea typeface="微软雅黑" panose="020B0503020204020204" pitchFamily="34" charset="-122"/>
                        </a:rPr>
                        <a:t>必须的</a:t>
                      </a:r>
                      <a:r>
                        <a:rPr lang="en-US" sz="1400" b="1" dirty="0">
                          <a:effectLst/>
                          <a:latin typeface="微软雅黑" panose="020B0503020204020204" pitchFamily="34" charset="-122"/>
                          <a:ea typeface="微软雅黑" panose="020B0503020204020204" pitchFamily="34" charset="-122"/>
                        </a:rPr>
                        <a:t>KCP</a:t>
                      </a:r>
                      <a:endParaRPr lang="en-US" sz="1400" b="1" dirty="0">
                        <a:effectLst/>
                        <a:latin typeface="微软雅黑" panose="020B0503020204020204" pitchFamily="34" charset="-122"/>
                        <a:ea typeface="微软雅黑" panose="020B0503020204020204" pitchFamily="34" charset="-122"/>
                      </a:endParaRPr>
                    </a:p>
                  </a:txBody>
                  <a:tcPr marL="50800" marR="50800" marT="50800" marB="50800" anchor="ctr"/>
                </a:tc>
              </a:tr>
              <a:tr h="996297">
                <a:tc>
                  <a:txBody>
                    <a:bodyPr/>
                    <a:lstStyle/>
                    <a:p>
                      <a:pPr algn="ctr" fontAlgn="t">
                        <a:lnSpc>
                          <a:spcPct val="150000"/>
                        </a:lnSpc>
                      </a:pPr>
                      <a:r>
                        <a:rPr lang="en-US" sz="1200" b="1" dirty="0">
                          <a:effectLst/>
                          <a:latin typeface="微软雅黑" panose="020B0503020204020204" pitchFamily="34" charset="-122"/>
                          <a:ea typeface="微软雅黑" panose="020B0503020204020204" pitchFamily="34" charset="-122"/>
                        </a:rPr>
                        <a:t>BG</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满足下列条件之一：非优势重客首单</a:t>
                      </a:r>
                      <a:r>
                        <a:rPr lang="en-US" altLang="zh-CN" sz="1200" dirty="0">
                          <a:effectLst/>
                          <a:latin typeface="微软雅黑" panose="020B0503020204020204" pitchFamily="34" charset="-122"/>
                          <a:ea typeface="微软雅黑" panose="020B0503020204020204" pitchFamily="34" charset="-122"/>
                        </a:rPr>
                        <a:t>(</a:t>
                      </a:r>
                      <a:r>
                        <a:rPr lang="en-US" altLang="zh-CN" sz="1200" dirty="0">
                          <a:solidFill>
                            <a:srgbClr val="FF0000"/>
                          </a:solidFill>
                          <a:effectLst/>
                          <a:latin typeface="微软雅黑" panose="020B0503020204020204" pitchFamily="34" charset="-122"/>
                          <a:ea typeface="微软雅黑" panose="020B0503020204020204" pitchFamily="34" charset="-122"/>
                        </a:rPr>
                        <a:t>200w</a:t>
                      </a:r>
                      <a:endParaRPr lang="en-US" altLang="zh-CN" sz="1200" dirty="0">
                        <a:solidFill>
                          <a:srgbClr val="FF0000"/>
                        </a:solidFill>
                        <a:effectLst/>
                        <a:latin typeface="微软雅黑" panose="020B0503020204020204" pitchFamily="34" charset="-122"/>
                        <a:ea typeface="微软雅黑" panose="020B0503020204020204" pitchFamily="34" charset="-122"/>
                      </a:endParaRPr>
                    </a:p>
                    <a:p>
                      <a:pPr fontAlgn="t">
                        <a:lnSpc>
                          <a:spcPct val="150000"/>
                        </a:lnSpc>
                      </a:pPr>
                      <a:r>
                        <a:rPr lang="en-US" altLang="zh-CN" sz="1200" dirty="0">
                          <a:solidFill>
                            <a:srgbClr val="FF0000"/>
                          </a:solidFill>
                          <a:effectLst/>
                          <a:latin typeface="微软雅黑" panose="020B0503020204020204" pitchFamily="34" charset="-122"/>
                          <a:ea typeface="微软雅黑" panose="020B0503020204020204" pitchFamily="34" charset="-122"/>
                        </a:rPr>
                        <a:t>+</a:t>
                      </a:r>
                      <a:r>
                        <a:rPr lang="en-US" altLang="zh-CN" sz="1200" dirty="0">
                          <a:effectLst/>
                          <a:latin typeface="微软雅黑" panose="020B0503020204020204" pitchFamily="34" charset="-122"/>
                          <a:ea typeface="微软雅黑" panose="020B0503020204020204" pitchFamily="34" charset="-122"/>
                        </a:rPr>
                        <a:t>)</a:t>
                      </a:r>
                      <a:r>
                        <a:rPr lang="zh-CN" altLang="en-US" sz="1200" dirty="0">
                          <a:effectLst/>
                          <a:latin typeface="微软雅黑" panose="020B0503020204020204" pitchFamily="34" charset="-122"/>
                          <a:ea typeface="微软雅黑" panose="020B0503020204020204" pitchFamily="34" charset="-122"/>
                        </a:rPr>
                        <a:t>、</a:t>
                      </a:r>
                      <a:r>
                        <a:rPr lang="en-US" altLang="zh-CN" sz="1200" dirty="0">
                          <a:effectLst/>
                          <a:latin typeface="微软雅黑" panose="020B0503020204020204" pitchFamily="34" charset="-122"/>
                          <a:ea typeface="微软雅黑" panose="020B0503020204020204" pitchFamily="34" charset="-122"/>
                        </a:rPr>
                        <a:t>BG</a:t>
                      </a:r>
                      <a:r>
                        <a:rPr lang="zh-CN" altLang="en-US" sz="1200" dirty="0">
                          <a:effectLst/>
                          <a:latin typeface="微软雅黑" panose="020B0503020204020204" pitchFamily="34" charset="-122"/>
                          <a:ea typeface="微软雅黑" panose="020B0503020204020204" pitchFamily="34" charset="-122"/>
                        </a:rPr>
                        <a:t>必赢之战、非优势预估下单金额</a:t>
                      </a:r>
                      <a:r>
                        <a:rPr lang="en-US" altLang="zh-CN" sz="1200" dirty="0">
                          <a:solidFill>
                            <a:srgbClr val="FF0000"/>
                          </a:solidFill>
                          <a:effectLst/>
                          <a:latin typeface="微软雅黑" panose="020B0503020204020204" pitchFamily="34" charset="-122"/>
                          <a:ea typeface="微软雅黑" panose="020B0503020204020204" pitchFamily="34" charset="-122"/>
                        </a:rPr>
                        <a:t>800w+</a:t>
                      </a:r>
                      <a:r>
                        <a:rPr lang="zh-CN" altLang="en-US" sz="1200" dirty="0">
                          <a:effectLst/>
                          <a:latin typeface="微软雅黑" panose="020B0503020204020204" pitchFamily="34" charset="-122"/>
                          <a:ea typeface="微软雅黑" panose="020B0503020204020204" pitchFamily="34" charset="-122"/>
                        </a:rPr>
                        <a:t>、部门级解决方案</a:t>
                      </a:r>
                      <a:r>
                        <a:rPr lang="zh-CN" altLang="en-US" sz="1200" dirty="0">
                          <a:solidFill>
                            <a:srgbClr val="FF0000"/>
                          </a:solidFill>
                          <a:effectLst/>
                          <a:latin typeface="微软雅黑" panose="020B0503020204020204" pitchFamily="34" charset="-122"/>
                          <a:ea typeface="微软雅黑" panose="020B0503020204020204" pitchFamily="34" charset="-122"/>
                        </a:rPr>
                        <a:t>前三单</a:t>
                      </a:r>
                      <a:endParaRPr lang="zh-CN" altLang="en-US" sz="1200" dirty="0">
                        <a:solidFill>
                          <a:srgbClr val="FF0000"/>
                        </a:solidFill>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平台管理部总经理、系统总、产品部</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总、客户体验部</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总、解决方案</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总、销售管理部价格组经理、供应链</a:t>
                      </a:r>
                      <a:r>
                        <a:rPr lang="en-US" altLang="zh-CN" sz="1200" dirty="0">
                          <a:effectLst/>
                          <a:latin typeface="微软雅黑" panose="020B0503020204020204" pitchFamily="34" charset="-122"/>
                          <a:ea typeface="微软雅黑" panose="020B0503020204020204" pitchFamily="34" charset="-122"/>
                        </a:rPr>
                        <a:t>BP</a:t>
                      </a:r>
                      <a:endParaRPr lang="en-US" altLang="zh-CN"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a:effectLst/>
                          <a:latin typeface="微软雅黑" panose="020B0503020204020204" pitchFamily="34" charset="-122"/>
                          <a:ea typeface="微软雅黑" panose="020B0503020204020204" pitchFamily="34" charset="-122"/>
                        </a:rPr>
                        <a:t>立项、解决方案评审、标前评审、复盘总结</a:t>
                      </a:r>
                      <a:endParaRPr lang="zh-CN" altLang="en-US" sz="1200">
                        <a:effectLst/>
                        <a:latin typeface="微软雅黑" panose="020B0503020204020204" pitchFamily="34" charset="-122"/>
                        <a:ea typeface="微软雅黑" panose="020B0503020204020204" pitchFamily="34" charset="-122"/>
                      </a:endParaRPr>
                    </a:p>
                    <a:p>
                      <a:pPr fontAlgn="t">
                        <a:lnSpc>
                          <a:spcPct val="150000"/>
                        </a:lnSpc>
                      </a:pPr>
                      <a:br>
                        <a:rPr lang="zh-CN" altLang="en-US" sz="1200">
                          <a:effectLst/>
                          <a:latin typeface="微软雅黑" panose="020B0503020204020204" pitchFamily="34" charset="-122"/>
                          <a:ea typeface="微软雅黑" panose="020B0503020204020204" pitchFamily="34" charset="-122"/>
                        </a:rPr>
                      </a:br>
                      <a:endParaRPr lang="zh-CN" altLang="en-US" sz="1200">
                        <a:effectLst/>
                        <a:latin typeface="微软雅黑" panose="020B0503020204020204" pitchFamily="34" charset="-122"/>
                        <a:ea typeface="微软雅黑" panose="020B0503020204020204" pitchFamily="34" charset="-122"/>
                      </a:endParaRPr>
                    </a:p>
                  </a:txBody>
                  <a:tcPr marL="50800" marR="50800" marT="50800" marB="50800" anchor="ctr"/>
                </a:tc>
              </a:tr>
              <a:tr h="1017551">
                <a:tc>
                  <a:txBody>
                    <a:bodyPr/>
                    <a:lstStyle/>
                    <a:p>
                      <a:pPr algn="ctr" fontAlgn="t">
                        <a:lnSpc>
                          <a:spcPct val="150000"/>
                        </a:lnSpc>
                      </a:pPr>
                      <a:r>
                        <a:rPr lang="en-US" sz="1200" b="1" dirty="0">
                          <a:effectLst/>
                          <a:latin typeface="微软雅黑" panose="020B0503020204020204" pitchFamily="34" charset="-122"/>
                          <a:ea typeface="微软雅黑" panose="020B0503020204020204" pitchFamily="34" charset="-122"/>
                        </a:rPr>
                        <a:t>BU</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满足下列条件之一：非优势重客首单、非优势预估下单金额</a:t>
                      </a:r>
                      <a:r>
                        <a:rPr lang="en-US" altLang="zh-CN" sz="1200" dirty="0">
                          <a:solidFill>
                            <a:srgbClr val="FF0000"/>
                          </a:solidFill>
                          <a:effectLst/>
                          <a:latin typeface="微软雅黑" panose="020B0503020204020204" pitchFamily="34" charset="-122"/>
                          <a:ea typeface="微软雅黑" panose="020B0503020204020204" pitchFamily="34" charset="-122"/>
                        </a:rPr>
                        <a:t>500w+</a:t>
                      </a:r>
                      <a:r>
                        <a:rPr lang="zh-CN" altLang="en-US" sz="1200" dirty="0">
                          <a:effectLst/>
                          <a:latin typeface="微软雅黑" panose="020B0503020204020204" pitchFamily="34" charset="-122"/>
                          <a:ea typeface="微软雅黑" panose="020B0503020204020204" pitchFamily="34" charset="-122"/>
                        </a:rPr>
                        <a:t>商机、</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必赢之战（</a:t>
                      </a:r>
                      <a:r>
                        <a:rPr lang="en-US" altLang="zh-CN" sz="1200" dirty="0">
                          <a:effectLst/>
                          <a:latin typeface="微软雅黑" panose="020B0503020204020204" pitchFamily="34" charset="-122"/>
                          <a:ea typeface="微软雅黑" panose="020B0503020204020204" pitchFamily="34" charset="-122"/>
                        </a:rPr>
                        <a:t>BG</a:t>
                      </a:r>
                      <a:r>
                        <a:rPr lang="zh-CN" altLang="en-US" sz="1200" dirty="0">
                          <a:effectLst/>
                          <a:latin typeface="微软雅黑" panose="020B0503020204020204" pitchFamily="34" charset="-122"/>
                          <a:ea typeface="微软雅黑" panose="020B0503020204020204" pitchFamily="34" charset="-122"/>
                        </a:rPr>
                        <a:t>未认领）、系统部解决方案前三单，行业类大金额的框采，行业</a:t>
                      </a:r>
                      <a:r>
                        <a:rPr lang="en-US" altLang="zh-CN" sz="1200" dirty="0">
                          <a:effectLst/>
                          <a:latin typeface="微软雅黑" panose="020B0503020204020204" pitchFamily="34" charset="-122"/>
                          <a:ea typeface="微软雅黑" panose="020B0503020204020204" pitchFamily="34" charset="-122"/>
                        </a:rPr>
                        <a:t>EC&amp;DC</a:t>
                      </a:r>
                      <a:r>
                        <a:rPr lang="zh-CN" altLang="en-US" sz="1200" dirty="0">
                          <a:effectLst/>
                          <a:latin typeface="微软雅黑" panose="020B0503020204020204" pitchFamily="34" charset="-122"/>
                          <a:ea typeface="微软雅黑" panose="020B0503020204020204" pitchFamily="34" charset="-122"/>
                        </a:rPr>
                        <a:t>类项目</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系统总、行业总监、产品部</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指定人、解决方案</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行业负责人、客户体验部</a:t>
                      </a:r>
                      <a:r>
                        <a:rPr lang="en-US" altLang="zh-CN"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行业负责人、销售管理部价格组经理、供应链</a:t>
                      </a:r>
                      <a:r>
                        <a:rPr lang="en-US" altLang="zh-CN" sz="1200" dirty="0">
                          <a:effectLst/>
                          <a:latin typeface="微软雅黑" panose="020B0503020204020204" pitchFamily="34" charset="-122"/>
                          <a:ea typeface="微软雅黑" panose="020B0503020204020204" pitchFamily="34" charset="-122"/>
                        </a:rPr>
                        <a:t>BP</a:t>
                      </a:r>
                      <a:endParaRPr lang="en-US" altLang="zh-CN"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立项、解决方案评审、标前评审、复盘总结</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r>
              <a:tr h="815477">
                <a:tc>
                  <a:txBody>
                    <a:bodyPr/>
                    <a:lstStyle/>
                    <a:p>
                      <a:pPr algn="ctr" fontAlgn="t">
                        <a:lnSpc>
                          <a:spcPct val="150000"/>
                        </a:lnSpc>
                      </a:pPr>
                      <a:r>
                        <a:rPr lang="zh-CN" altLang="en-US" sz="1200" b="1" dirty="0">
                          <a:effectLst/>
                          <a:latin typeface="微软雅黑" panose="020B0503020204020204" pitchFamily="34" charset="-122"/>
                          <a:ea typeface="微软雅黑" panose="020B0503020204020204" pitchFamily="34" charset="-122"/>
                        </a:rPr>
                        <a:t>区域级</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满足下列条件之一：非优势预估下单金额</a:t>
                      </a:r>
                      <a:r>
                        <a:rPr lang="en-US" altLang="zh-CN" sz="1200" dirty="0">
                          <a:solidFill>
                            <a:srgbClr val="FF0000"/>
                          </a:solidFill>
                          <a:effectLst/>
                          <a:latin typeface="微软雅黑" panose="020B0503020204020204" pitchFamily="34" charset="-122"/>
                          <a:ea typeface="微软雅黑" panose="020B0503020204020204" pitchFamily="34" charset="-122"/>
                        </a:rPr>
                        <a:t>200w+</a:t>
                      </a:r>
                      <a:r>
                        <a:rPr lang="zh-CN" altLang="en-US" sz="1200" dirty="0">
                          <a:effectLst/>
                          <a:latin typeface="微软雅黑" panose="020B0503020204020204" pitchFamily="34" charset="-122"/>
                          <a:ea typeface="微软雅黑" panose="020B0503020204020204" pitchFamily="34" charset="-122"/>
                        </a:rPr>
                        <a:t>商机、区域必赢之战（</a:t>
                      </a:r>
                      <a:r>
                        <a:rPr lang="en-US" altLang="zh-CN" sz="1200" dirty="0">
                          <a:effectLst/>
                          <a:latin typeface="微软雅黑" panose="020B0503020204020204" pitchFamily="34" charset="-122"/>
                          <a:ea typeface="微软雅黑" panose="020B0503020204020204" pitchFamily="34" charset="-122"/>
                        </a:rPr>
                        <a:t>BG\BU</a:t>
                      </a:r>
                      <a:r>
                        <a:rPr lang="zh-CN" altLang="en-US" sz="1200" dirty="0">
                          <a:effectLst/>
                          <a:latin typeface="微软雅黑" panose="020B0503020204020204" pitchFamily="34" charset="-122"/>
                          <a:ea typeface="微软雅黑" panose="020B0503020204020204" pitchFamily="34" charset="-122"/>
                        </a:rPr>
                        <a:t>未认领），直签类项目</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a:effectLst/>
                          <a:latin typeface="微软雅黑" panose="020B0503020204020204" pitchFamily="34" charset="-122"/>
                          <a:ea typeface="微软雅黑" panose="020B0503020204020204" pitchFamily="34" charset="-122"/>
                        </a:rPr>
                        <a:t>区域铁三角、行业经理、对应销管</a:t>
                      </a:r>
                      <a:endParaRPr lang="zh-CN" altLang="en-US" sz="120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立项、解决方案评审、标前评审、复盘总结</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r>
              <a:tr h="425213">
                <a:tc>
                  <a:txBody>
                    <a:bodyPr/>
                    <a:lstStyle/>
                    <a:p>
                      <a:pPr algn="l" fontAlgn="t">
                        <a:lnSpc>
                          <a:spcPct val="150000"/>
                        </a:lnSpc>
                      </a:pPr>
                      <a:r>
                        <a:rPr lang="zh-CN" altLang="en-US" sz="1200" b="1" dirty="0">
                          <a:effectLst/>
                          <a:latin typeface="微软雅黑" panose="020B0503020204020204" pitchFamily="34" charset="-122"/>
                          <a:ea typeface="微软雅黑" panose="020B0503020204020204" pitchFamily="34" charset="-122"/>
                        </a:rPr>
                        <a:t> 管制级</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一般项目</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无</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c>
                  <a:txBody>
                    <a:bodyPr/>
                    <a:lstStyle/>
                    <a:p>
                      <a:pPr algn="l" fontAlgn="t">
                        <a:lnSpc>
                          <a:spcPct val="150000"/>
                        </a:lnSpc>
                      </a:pPr>
                      <a:r>
                        <a:rPr lang="zh-CN" altLang="en-US" sz="1200" dirty="0">
                          <a:effectLst/>
                          <a:latin typeface="微软雅黑" panose="020B0503020204020204" pitchFamily="34" charset="-122"/>
                          <a:ea typeface="微软雅黑" panose="020B0503020204020204" pitchFamily="34" charset="-122"/>
                        </a:rPr>
                        <a:t>标前评审</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r>
              <a:tr h="1441451">
                <a:tc gridSpan="4">
                  <a:txBody>
                    <a:bodyPr/>
                    <a:lstStyle/>
                    <a:p>
                      <a:pPr fontAlgn="t">
                        <a:lnSpc>
                          <a:spcPct val="150000"/>
                        </a:lnSpc>
                      </a:pPr>
                      <a:r>
                        <a:rPr lang="zh-CN" altLang="en-US" sz="1200" b="1" dirty="0">
                          <a:effectLst/>
                          <a:latin typeface="微软雅黑" panose="020B0503020204020204" pitchFamily="34" charset="-122"/>
                          <a:ea typeface="微软雅黑" panose="020B0503020204020204" pitchFamily="34" charset="-122"/>
                        </a:rPr>
                        <a:t>关键点：</a:t>
                      </a:r>
                      <a:endParaRPr lang="zh-CN" altLang="en-US" sz="1200" b="1" dirty="0">
                        <a:effectLst/>
                        <a:latin typeface="微软雅黑" panose="020B0503020204020204" pitchFamily="34" charset="-122"/>
                        <a:ea typeface="微软雅黑" panose="020B0503020204020204" pitchFamily="34" charset="-122"/>
                      </a:endParaRPr>
                    </a:p>
                    <a:p>
                      <a:pPr fontAlgn="t">
                        <a:lnSpc>
                          <a:spcPct val="150000"/>
                        </a:lnSpc>
                      </a:pPr>
                      <a:r>
                        <a:rPr lang="zh-CN" altLang="en-US" sz="1200" dirty="0">
                          <a:effectLst/>
                          <a:latin typeface="微软雅黑" panose="020B0503020204020204" pitchFamily="34" charset="-122"/>
                          <a:ea typeface="微软雅黑" panose="020B0503020204020204" pitchFamily="34" charset="-122"/>
                        </a:rPr>
                        <a:t>客户维度：</a:t>
                      </a:r>
                      <a:r>
                        <a:rPr lang="zh-CN" altLang="en-US" sz="1200" b="1" dirty="0">
                          <a:solidFill>
                            <a:srgbClr val="FF0000"/>
                          </a:solidFill>
                          <a:effectLst/>
                          <a:latin typeface="微软雅黑" panose="020B0503020204020204" pitchFamily="34" charset="-122"/>
                          <a:ea typeface="微软雅黑" panose="020B0503020204020204" pitchFamily="34" charset="-122"/>
                        </a:rPr>
                        <a:t>重客首单必须立项；</a:t>
                      </a:r>
                      <a:endParaRPr lang="zh-CN" altLang="en-US" sz="1200" b="1" dirty="0">
                        <a:solidFill>
                          <a:srgbClr val="FF0000"/>
                        </a:solidFill>
                        <a:effectLst/>
                        <a:latin typeface="微软雅黑" panose="020B0503020204020204" pitchFamily="34" charset="-122"/>
                        <a:ea typeface="微软雅黑" panose="020B0503020204020204" pitchFamily="34" charset="-122"/>
                      </a:endParaRPr>
                    </a:p>
                    <a:p>
                      <a:pPr fontAlgn="t">
                        <a:lnSpc>
                          <a:spcPct val="150000"/>
                        </a:lnSpc>
                      </a:pPr>
                      <a:r>
                        <a:rPr lang="zh-CN" altLang="en-US" sz="1200" dirty="0">
                          <a:effectLst/>
                          <a:latin typeface="微软雅黑" panose="020B0503020204020204" pitchFamily="34" charset="-122"/>
                          <a:ea typeface="微软雅黑" panose="020B0503020204020204" pitchFamily="34" charset="-122"/>
                        </a:rPr>
                        <a:t>竞争程度：预测类别优势确保项目</a:t>
                      </a:r>
                      <a:r>
                        <a:rPr lang="zh-CN" altLang="en-US" sz="1200" b="1" dirty="0">
                          <a:effectLst/>
                          <a:latin typeface="微软雅黑" panose="020B0503020204020204" pitchFamily="34" charset="-122"/>
                          <a:ea typeface="微软雅黑" panose="020B0503020204020204" pitchFamily="34" charset="-122"/>
                        </a:rPr>
                        <a:t>不立项</a:t>
                      </a:r>
                      <a:r>
                        <a:rPr lang="zh-CN" altLang="en-US" sz="1200" dirty="0">
                          <a:effectLst/>
                          <a:latin typeface="微软雅黑" panose="020B0503020204020204" pitchFamily="34" charset="-122"/>
                          <a:ea typeface="微软雅黑" panose="020B0503020204020204" pitchFamily="34" charset="-122"/>
                        </a:rPr>
                        <a:t>；</a:t>
                      </a:r>
                      <a:endParaRPr lang="zh-CN" altLang="en-US" sz="1200" dirty="0">
                        <a:effectLst/>
                        <a:latin typeface="微软雅黑" panose="020B0503020204020204" pitchFamily="34" charset="-122"/>
                        <a:ea typeface="微软雅黑" panose="020B0503020204020204" pitchFamily="34" charset="-122"/>
                      </a:endParaRPr>
                    </a:p>
                    <a:p>
                      <a:pPr fontAlgn="t">
                        <a:lnSpc>
                          <a:spcPct val="150000"/>
                        </a:lnSpc>
                      </a:pPr>
                      <a:r>
                        <a:rPr lang="zh-CN" altLang="en-US" sz="1200" dirty="0">
                          <a:effectLst/>
                          <a:latin typeface="微软雅黑" panose="020B0503020204020204" pitchFamily="34" charset="-122"/>
                          <a:ea typeface="微软雅黑" panose="020B0503020204020204" pitchFamily="34" charset="-122"/>
                        </a:rPr>
                        <a:t>金额维度：</a:t>
                      </a:r>
                      <a:r>
                        <a:rPr lang="zh-CN" altLang="en-US" sz="1200" b="1" dirty="0">
                          <a:solidFill>
                            <a:srgbClr val="FF0000"/>
                          </a:solidFill>
                          <a:effectLst/>
                          <a:latin typeface="微软雅黑" panose="020B0503020204020204" pitchFamily="34" charset="-122"/>
                          <a:ea typeface="微软雅黑" panose="020B0503020204020204" pitchFamily="34" charset="-122"/>
                        </a:rPr>
                        <a:t>触发标准是</a:t>
                      </a:r>
                      <a:r>
                        <a:rPr lang="en-US" altLang="zh-CN" sz="1200" b="1" dirty="0">
                          <a:solidFill>
                            <a:srgbClr val="FF0000"/>
                          </a:solidFill>
                          <a:effectLst/>
                          <a:latin typeface="微软雅黑" panose="020B0503020204020204" pitchFamily="34" charset="-122"/>
                          <a:ea typeface="微软雅黑" panose="020B0503020204020204" pitchFamily="34" charset="-122"/>
                        </a:rPr>
                        <a:t>200w+</a:t>
                      </a:r>
                      <a:r>
                        <a:rPr lang="zh-CN" altLang="en-US" sz="1200" b="1" dirty="0">
                          <a:solidFill>
                            <a:srgbClr val="FF0000"/>
                          </a:solidFill>
                          <a:effectLst/>
                          <a:latin typeface="微软雅黑" panose="020B0503020204020204" pitchFamily="34" charset="-122"/>
                          <a:ea typeface="微软雅黑" panose="020B0503020204020204" pitchFamily="34" charset="-122"/>
                        </a:rPr>
                        <a:t>以上项目进入区域级</a:t>
                      </a:r>
                      <a:r>
                        <a:rPr lang="zh-CN" altLang="en-US" sz="1200" dirty="0">
                          <a:solidFill>
                            <a:srgbClr val="FF0000"/>
                          </a:solidFill>
                          <a:effectLst/>
                          <a:latin typeface="微软雅黑" panose="020B0503020204020204" pitchFamily="34" charset="-122"/>
                          <a:ea typeface="微软雅黑" panose="020B0503020204020204" pitchFamily="34" charset="-122"/>
                        </a:rPr>
                        <a:t>，</a:t>
                      </a:r>
                      <a:r>
                        <a:rPr lang="en-US" altLang="zh-CN" sz="1200" b="1" dirty="0">
                          <a:solidFill>
                            <a:srgbClr val="FF0000"/>
                          </a:solidFill>
                          <a:effectLst/>
                          <a:latin typeface="微软雅黑" panose="020B0503020204020204" pitchFamily="34" charset="-122"/>
                          <a:ea typeface="微软雅黑" panose="020B0503020204020204" pitchFamily="34" charset="-122"/>
                        </a:rPr>
                        <a:t>500w+</a:t>
                      </a:r>
                      <a:r>
                        <a:rPr lang="zh-CN" altLang="en-US" sz="1200" b="1" dirty="0">
                          <a:solidFill>
                            <a:srgbClr val="FF0000"/>
                          </a:solidFill>
                          <a:effectLst/>
                          <a:latin typeface="微软雅黑" panose="020B0503020204020204" pitchFamily="34" charset="-122"/>
                          <a:ea typeface="微软雅黑" panose="020B0503020204020204" pitchFamily="34" charset="-122"/>
                        </a:rPr>
                        <a:t>以上进入</a:t>
                      </a:r>
                      <a:r>
                        <a:rPr lang="en-US" altLang="zh-CN" sz="1200" b="1" dirty="0">
                          <a:solidFill>
                            <a:srgbClr val="FF0000"/>
                          </a:solidFill>
                          <a:effectLst/>
                          <a:latin typeface="微软雅黑" panose="020B0503020204020204" pitchFamily="34" charset="-122"/>
                          <a:ea typeface="微软雅黑" panose="020B0503020204020204" pitchFamily="34" charset="-122"/>
                        </a:rPr>
                        <a:t>BU</a:t>
                      </a:r>
                      <a:r>
                        <a:rPr lang="zh-CN" altLang="en-US" sz="1200" b="1" dirty="0">
                          <a:solidFill>
                            <a:srgbClr val="FF0000"/>
                          </a:solidFill>
                          <a:effectLst/>
                          <a:latin typeface="微软雅黑" panose="020B0503020204020204" pitchFamily="34" charset="-122"/>
                          <a:ea typeface="微软雅黑" panose="020B0503020204020204" pitchFamily="34" charset="-122"/>
                        </a:rPr>
                        <a:t>级，</a:t>
                      </a:r>
                      <a:r>
                        <a:rPr lang="en-US" altLang="zh-CN" sz="1200" b="1" dirty="0">
                          <a:solidFill>
                            <a:srgbClr val="FF0000"/>
                          </a:solidFill>
                          <a:effectLst/>
                          <a:latin typeface="微软雅黑" panose="020B0503020204020204" pitchFamily="34" charset="-122"/>
                          <a:ea typeface="微软雅黑" panose="020B0503020204020204" pitchFamily="34" charset="-122"/>
                        </a:rPr>
                        <a:t>800w+</a:t>
                      </a:r>
                      <a:r>
                        <a:rPr lang="zh-CN" altLang="en-US" sz="1200" b="1" dirty="0">
                          <a:solidFill>
                            <a:srgbClr val="FF0000"/>
                          </a:solidFill>
                          <a:effectLst/>
                          <a:latin typeface="微软雅黑" panose="020B0503020204020204" pitchFamily="34" charset="-122"/>
                          <a:ea typeface="微软雅黑" panose="020B0503020204020204" pitchFamily="34" charset="-122"/>
                        </a:rPr>
                        <a:t>以上进入</a:t>
                      </a:r>
                      <a:r>
                        <a:rPr lang="en-US" altLang="zh-CN" sz="1200" b="1" dirty="0">
                          <a:solidFill>
                            <a:srgbClr val="FF0000"/>
                          </a:solidFill>
                          <a:effectLst/>
                          <a:latin typeface="微软雅黑" panose="020B0503020204020204" pitchFamily="34" charset="-122"/>
                          <a:ea typeface="微软雅黑" panose="020B0503020204020204" pitchFamily="34" charset="-122"/>
                        </a:rPr>
                        <a:t>BG</a:t>
                      </a:r>
                      <a:r>
                        <a:rPr lang="zh-CN" altLang="en-US" sz="1200" b="1" dirty="0">
                          <a:solidFill>
                            <a:srgbClr val="FF0000"/>
                          </a:solidFill>
                          <a:effectLst/>
                          <a:latin typeface="微软雅黑" panose="020B0503020204020204" pitchFamily="34" charset="-122"/>
                          <a:ea typeface="微软雅黑" panose="020B0503020204020204" pitchFamily="34" charset="-122"/>
                        </a:rPr>
                        <a:t>级；</a:t>
                      </a:r>
                      <a:endParaRPr lang="zh-CN" altLang="en-US" sz="1200" b="1" dirty="0">
                        <a:solidFill>
                          <a:srgbClr val="FF0000"/>
                        </a:solidFill>
                        <a:effectLst/>
                        <a:latin typeface="微软雅黑" panose="020B0503020204020204" pitchFamily="34" charset="-122"/>
                        <a:ea typeface="微软雅黑" panose="020B0503020204020204" pitchFamily="34" charset="-122"/>
                      </a:endParaRPr>
                    </a:p>
                    <a:p>
                      <a:pPr fontAlgn="t">
                        <a:lnSpc>
                          <a:spcPct val="150000"/>
                        </a:lnSpc>
                      </a:pPr>
                      <a:r>
                        <a:rPr lang="zh-CN" altLang="en-US" sz="1200" dirty="0">
                          <a:effectLst/>
                          <a:latin typeface="微软雅黑" panose="020B0503020204020204" pitchFamily="34" charset="-122"/>
                          <a:ea typeface="微软雅黑" panose="020B0503020204020204" pitchFamily="34" charset="-122"/>
                        </a:rPr>
                        <a:t>区域维度：区域级金额立项标准可根据区域情况自定义降低，但不允许提高立项起始金额，如非优势</a:t>
                      </a:r>
                      <a:r>
                        <a:rPr lang="en-US" altLang="zh-CN" sz="1200" dirty="0">
                          <a:effectLst/>
                          <a:latin typeface="微软雅黑" panose="020B0503020204020204" pitchFamily="34" charset="-122"/>
                          <a:ea typeface="微软雅黑" panose="020B0503020204020204" pitchFamily="34" charset="-122"/>
                        </a:rPr>
                        <a:t>80w+</a:t>
                      </a:r>
                      <a:r>
                        <a:rPr lang="zh-CN" altLang="en-US" sz="1200" dirty="0">
                          <a:effectLst/>
                          <a:latin typeface="微软雅黑" panose="020B0503020204020204" pitchFamily="34" charset="-122"/>
                          <a:ea typeface="微软雅黑" panose="020B0503020204020204" pitchFamily="34" charset="-122"/>
                        </a:rPr>
                        <a:t>；</a:t>
                      </a:r>
                      <a:endParaRPr lang="en-US" altLang="zh-CN" sz="1200" dirty="0">
                        <a:effectLst/>
                        <a:latin typeface="微软雅黑" panose="020B0503020204020204" pitchFamily="34" charset="-122"/>
                        <a:ea typeface="微软雅黑" panose="020B0503020204020204" pitchFamily="34" charset="-122"/>
                      </a:endParaRPr>
                    </a:p>
                    <a:p>
                      <a:pPr fontAlgn="t">
                        <a:lnSpc>
                          <a:spcPct val="150000"/>
                        </a:lnSpc>
                      </a:pPr>
                      <a:r>
                        <a:rPr lang="zh-CN" altLang="en-US" sz="1200" dirty="0">
                          <a:effectLst/>
                          <a:latin typeface="微软雅黑" panose="020B0503020204020204" pitchFamily="34" charset="-122"/>
                          <a:ea typeface="微软雅黑" panose="020B0503020204020204" pitchFamily="34" charset="-122"/>
                        </a:rPr>
                        <a:t>产品维度：</a:t>
                      </a:r>
                      <a:r>
                        <a:rPr lang="en-US" altLang="zh-CN" sz="1200" dirty="0">
                          <a:effectLst/>
                          <a:latin typeface="微软雅黑" panose="020B0503020204020204" pitchFamily="34" charset="-122"/>
                          <a:ea typeface="微软雅黑" panose="020B0503020204020204" pitchFamily="34" charset="-122"/>
                        </a:rPr>
                        <a:t>EDN-</a:t>
                      </a:r>
                      <a:r>
                        <a:rPr lang="zh-CN" altLang="en-US" sz="1200" dirty="0">
                          <a:effectLst/>
                          <a:latin typeface="微软雅黑" panose="020B0503020204020204" pitchFamily="34" charset="-122"/>
                          <a:ea typeface="微软雅黑" panose="020B0503020204020204" pitchFamily="34" charset="-122"/>
                        </a:rPr>
                        <a:t>全部</a:t>
                      </a:r>
                      <a:endParaRPr lang="zh-CN" altLang="en-US" sz="1200" dirty="0">
                        <a:effectLst/>
                        <a:latin typeface="微软雅黑" panose="020B0503020204020204" pitchFamily="34" charset="-122"/>
                        <a:ea typeface="微软雅黑" panose="020B0503020204020204" pitchFamily="34" charset="-122"/>
                      </a:endParaRPr>
                    </a:p>
                  </a:txBody>
                  <a:tcPr marL="50800" marR="50800" marT="50800" marB="50800" anchor="ctr"/>
                </a:tc>
                <a:tc hMerge="1">
                  <a:tcPr/>
                </a:tc>
                <a:tc hMerge="1">
                  <a:tcPr/>
                </a:tc>
                <a:tc hMerge="1">
                  <a:tcPr/>
                </a:tc>
              </a:tr>
            </a:tbl>
          </a:graphicData>
        </a:graphic>
      </p:graphicFrame>
      <p:graphicFrame>
        <p:nvGraphicFramePr>
          <p:cNvPr id="3" name="表格 2"/>
          <p:cNvGraphicFramePr>
            <a:graphicFrameLocks noGrp="1"/>
          </p:cNvGraphicFramePr>
          <p:nvPr/>
        </p:nvGraphicFramePr>
        <p:xfrm>
          <a:off x="8249479" y="158633"/>
          <a:ext cx="3260036" cy="548494"/>
        </p:xfrm>
        <a:graphic>
          <a:graphicData uri="http://schemas.openxmlformats.org/drawingml/2006/table">
            <a:tbl>
              <a:tblPr/>
              <a:tblGrid>
                <a:gridCol w="2405270"/>
                <a:gridCol w="854766"/>
              </a:tblGrid>
              <a:tr h="270853">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文件编号</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更新日期</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77641">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dirty="0">
                          <a:latin typeface="微软雅黑" panose="020B0503020204020204" pitchFamily="34" charset="-122"/>
                          <a:ea typeface="微软雅黑" panose="020B0503020204020204" pitchFamily="34" charset="-122"/>
                        </a:rPr>
                        <a:t>MTCV-MO-M11.2-P-</a:t>
                      </a:r>
                      <a:r>
                        <a:rPr lang="zh-CN" altLang="en-US" sz="1000" b="0" dirty="0">
                          <a:latin typeface="微软雅黑" panose="020B0503020204020204" pitchFamily="34" charset="-122"/>
                          <a:ea typeface="微软雅黑" panose="020B0503020204020204" pitchFamily="34" charset="-122"/>
                        </a:rPr>
                        <a:t>推进商机</a:t>
                      </a:r>
                      <a:r>
                        <a:rPr lang="en-US" altLang="zh-CN" sz="1000" b="0" dirty="0">
                          <a:latin typeface="微软雅黑" panose="020B0503020204020204" pitchFamily="34" charset="-122"/>
                          <a:ea typeface="微软雅黑" panose="020B0503020204020204" pitchFamily="34" charset="-122"/>
                        </a:rPr>
                        <a:t>-V0.9</a:t>
                      </a:r>
                      <a:endParaRPr lang="en-US" altLang="zh-CN" sz="1000" b="0" dirty="0">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dirty="0">
                          <a:latin typeface="微软雅黑" panose="020B0503020204020204" pitchFamily="34" charset="-122"/>
                          <a:ea typeface="微软雅黑" panose="020B0503020204020204" pitchFamily="34" charset="-122"/>
                        </a:rPr>
                        <a:t>2025.4.23</a:t>
                      </a:r>
                      <a:endParaRPr lang="en-US" altLang="zh-CN" sz="1000" b="0" dirty="0">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68174"/>
            <a:ext cx="9729946" cy="495935"/>
          </a:xfrm>
        </p:spPr>
        <p:txBody>
          <a:bodyPr>
            <a:noAutofit/>
          </a:bodyPr>
          <a:lstStyle/>
          <a:p>
            <a:r>
              <a:rPr lang="en-US" altLang="zh-CN" sz="2400" dirty="0">
                <a:solidFill>
                  <a:srgbClr val="4E5865"/>
                </a:solidFill>
                <a:latin typeface="微软雅黑" panose="020B0503020204020204" pitchFamily="34" charset="-122"/>
                <a:ea typeface="微软雅黑" panose="020B0503020204020204" pitchFamily="34" charset="-122"/>
              </a:rPr>
              <a:t>WHAT:</a:t>
            </a:r>
            <a:r>
              <a:rPr lang="zh-CN" altLang="en-US" sz="2400" dirty="0">
                <a:solidFill>
                  <a:srgbClr val="4E5865"/>
                </a:solidFill>
                <a:latin typeface="微软雅黑" panose="020B0503020204020204" pitchFamily="34" charset="-122"/>
                <a:ea typeface="微软雅黑" panose="020B0503020204020204" pitchFamily="34" charset="-122"/>
              </a:rPr>
              <a:t>需要各位做什么</a:t>
            </a:r>
            <a:endParaRPr lang="zh-CN" altLang="en-US" sz="2400" dirty="0">
              <a:solidFill>
                <a:srgbClr val="4E5865"/>
              </a:solidFill>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87086" y="2235527"/>
          <a:ext cx="11609614" cy="408907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文本框 6"/>
          <p:cNvSpPr txBox="1"/>
          <p:nvPr/>
        </p:nvSpPr>
        <p:spPr>
          <a:xfrm>
            <a:off x="685799" y="1070224"/>
            <a:ext cx="10232571" cy="64633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所有进入推进阶段的已立项商机，需要按照</a:t>
            </a:r>
            <a:r>
              <a:rPr lang="en-US" altLang="zh-CN" dirty="0">
                <a:latin typeface="微软雅黑" panose="020B0503020204020204" pitchFamily="34" charset="-122"/>
                <a:ea typeface="微软雅黑" panose="020B0503020204020204" pitchFamily="34" charset="-122"/>
              </a:rPr>
              <a:t>M11.2</a:t>
            </a:r>
            <a:r>
              <a:rPr lang="zh-CN" altLang="en-US" dirty="0">
                <a:latin typeface="微软雅黑" panose="020B0503020204020204" pitchFamily="34" charset="-122"/>
                <a:ea typeface="微软雅黑" panose="020B0503020204020204" pitchFamily="34" charset="-122"/>
              </a:rPr>
              <a:t> 推进商机流程开展，其中最关键的</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个工作，需要各位高质量完成。</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12860" y="280531"/>
            <a:ext cx="7109236" cy="426596"/>
          </a:xfrm>
        </p:spPr>
        <p:txBody>
          <a:bodyPr/>
          <a:lstStyle/>
          <a:p>
            <a:r>
              <a:rPr lang="en-US" altLang="zh-CN" dirty="0"/>
              <a:t>How</a:t>
            </a:r>
            <a:r>
              <a:rPr lang="zh-CN" altLang="en-US" dirty="0"/>
              <a:t>：推进商机</a:t>
            </a:r>
            <a:r>
              <a:rPr lang="en-US" altLang="zh-CN" dirty="0"/>
              <a:t>_</a:t>
            </a:r>
            <a:r>
              <a:rPr lang="zh-CN" altLang="en-US" dirty="0"/>
              <a:t>职责分工</a:t>
            </a:r>
            <a:endParaRPr lang="zh-CN" altLang="en-US" dirty="0"/>
          </a:p>
        </p:txBody>
      </p:sp>
      <p:sp>
        <p:nvSpPr>
          <p:cNvPr id="3" name="灯片编号占位符 2"/>
          <p:cNvSpPr>
            <a:spLocks noGrp="1"/>
          </p:cNvSpPr>
          <p:nvPr>
            <p:ph type="sldNum" sz="quarter" idx="4294967295"/>
          </p:nvPr>
        </p:nvSpPr>
        <p:spPr/>
        <p:txBody>
          <a:bodyPr/>
          <a:lstStyle/>
          <a:p>
            <a:r>
              <a:rPr kumimoji="1" lang="en-US" altLang="zh-CN" dirty="0"/>
              <a:t>  </a:t>
            </a:r>
            <a:endParaRPr kumimoji="1" lang="zh-CN" altLang="en-US" dirty="0"/>
          </a:p>
        </p:txBody>
      </p:sp>
      <p:graphicFrame>
        <p:nvGraphicFramePr>
          <p:cNvPr id="5" name="表格 4"/>
          <p:cNvGraphicFramePr>
            <a:graphicFrameLocks noGrp="1"/>
          </p:cNvGraphicFramePr>
          <p:nvPr/>
        </p:nvGraphicFramePr>
        <p:xfrm>
          <a:off x="712860" y="1151069"/>
          <a:ext cx="10582669" cy="5089638"/>
        </p:xfrm>
        <a:graphic>
          <a:graphicData uri="http://schemas.openxmlformats.org/drawingml/2006/table">
            <a:tbl>
              <a:tblPr/>
              <a:tblGrid>
                <a:gridCol w="1608817"/>
                <a:gridCol w="2347142"/>
                <a:gridCol w="6626710"/>
              </a:tblGrid>
              <a:tr h="338269">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角色</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描述</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职责</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1051569">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技术负责人</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a:effectLst/>
                          <a:latin typeface="微软雅黑" panose="020B0503020204020204" pitchFamily="34" charset="-122"/>
                          <a:ea typeface="微软雅黑" panose="020B0503020204020204" pitchFamily="34" charset="-122"/>
                        </a:rPr>
                        <a:t>售前工程师、技术经理、售前大区节点经理、售前技术部总经理</a:t>
                      </a:r>
                      <a:endParaRPr lang="zh-CN" altLang="en-US" sz="140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dirty="0">
                          <a:effectLst/>
                          <a:latin typeface="微软雅黑" panose="020B0503020204020204" pitchFamily="34" charset="-122"/>
                          <a:ea typeface="微软雅黑" panose="020B0503020204020204" pitchFamily="34" charset="-122"/>
                        </a:rPr>
                        <a:t>分析客户需求及竞争态势；匹配我司</a:t>
                      </a:r>
                      <a:r>
                        <a:rPr lang="en-GB" sz="1400" dirty="0">
                          <a:effectLst/>
                          <a:latin typeface="微软雅黑" panose="020B0503020204020204" pitchFamily="34" charset="-122"/>
                          <a:ea typeface="微软雅黑" panose="020B0503020204020204" pitchFamily="34" charset="-122"/>
                        </a:rPr>
                        <a:t>USP，</a:t>
                      </a:r>
                      <a:r>
                        <a:rPr lang="zh-CN" altLang="en-US" sz="1400" dirty="0">
                          <a:effectLst/>
                          <a:latin typeface="微软雅黑" panose="020B0503020204020204" pitchFamily="34" charset="-122"/>
                          <a:ea typeface="微软雅黑" panose="020B0503020204020204" pitchFamily="34" charset="-122"/>
                        </a:rPr>
                        <a:t>拿</a:t>
                      </a:r>
                      <a:r>
                        <a:rPr lang="en-GB" sz="1400" dirty="0">
                          <a:effectLst/>
                          <a:latin typeface="微软雅黑" panose="020B0503020204020204" pitchFamily="34" charset="-122"/>
                          <a:ea typeface="微软雅黑" panose="020B0503020204020204" pitchFamily="34" charset="-122"/>
                        </a:rPr>
                        <a:t>USP</a:t>
                      </a:r>
                      <a:r>
                        <a:rPr lang="zh-CN" altLang="en-US" sz="1400" dirty="0">
                          <a:effectLst/>
                          <a:latin typeface="微软雅黑" panose="020B0503020204020204" pitchFamily="34" charset="-122"/>
                          <a:ea typeface="微软雅黑" panose="020B0503020204020204" pitchFamily="34" charset="-122"/>
                        </a:rPr>
                        <a:t>跟客户决策人逐一沟通；结合客户期望确定</a:t>
                      </a:r>
                      <a:r>
                        <a:rPr lang="en-GB" sz="1400" dirty="0">
                          <a:effectLst/>
                          <a:latin typeface="微软雅黑" panose="020B0503020204020204" pitchFamily="34" charset="-122"/>
                          <a:ea typeface="微软雅黑" panose="020B0503020204020204" pitchFamily="34" charset="-122"/>
                        </a:rPr>
                        <a:t>UBV，</a:t>
                      </a:r>
                      <a:r>
                        <a:rPr lang="zh-CN" altLang="en-US" sz="1400" dirty="0">
                          <a:effectLst/>
                          <a:latin typeface="微软雅黑" panose="020B0503020204020204" pitchFamily="34" charset="-122"/>
                          <a:ea typeface="微软雅黑" panose="020B0503020204020204" pitchFamily="34" charset="-122"/>
                        </a:rPr>
                        <a:t>制定价值主张和赢单策略；确定方案制作思路，解决方案制作，产品与需求匹配检查，确定最终解决方案；解决方案介绍，进行测试引导，确认客户是否认可。</a:t>
                      </a: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577354">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客户关系负责人</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a:effectLst/>
                          <a:latin typeface="微软雅黑" panose="020B0503020204020204" pitchFamily="34" charset="-122"/>
                          <a:ea typeface="微软雅黑" panose="020B0503020204020204" pitchFamily="34" charset="-122"/>
                        </a:rPr>
                        <a:t>行业客户代表、行业经理、城市客户代表、城市经理、渠道经理、服务产品销售、区域副经理、区域经理</a:t>
                      </a:r>
                      <a:endParaRPr lang="zh-CN" altLang="en-US" sz="140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dirty="0">
                          <a:effectLst/>
                          <a:latin typeface="微软雅黑" panose="020B0503020204020204" pitchFamily="34" charset="-122"/>
                          <a:ea typeface="微软雅黑" panose="020B0503020204020204" pitchFamily="34" charset="-122"/>
                        </a:rPr>
                        <a:t>负责客户关系维护，联合售前进行策略制定；确定方案制作思路、产品与需求匹配检查；邀约客户关键人、开展</a:t>
                      </a:r>
                      <a:r>
                        <a:rPr lang="en-US" altLang="zh-CN" sz="1400" dirty="0">
                          <a:effectLst/>
                          <a:latin typeface="微软雅黑" panose="020B0503020204020204" pitchFamily="34" charset="-122"/>
                          <a:ea typeface="微软雅黑" panose="020B0503020204020204" pitchFamily="34" charset="-122"/>
                        </a:rPr>
                        <a:t>11</a:t>
                      </a:r>
                      <a:r>
                        <a:rPr lang="en-GB" sz="1400" dirty="0">
                          <a:effectLst/>
                          <a:latin typeface="微软雅黑" panose="020B0503020204020204" pitchFamily="34" charset="-122"/>
                          <a:ea typeface="微软雅黑" panose="020B0503020204020204" pitchFamily="34" charset="-122"/>
                        </a:rPr>
                        <a:t>N</a:t>
                      </a:r>
                      <a:r>
                        <a:rPr lang="zh-CN" altLang="en-US" sz="1400" dirty="0">
                          <a:effectLst/>
                          <a:latin typeface="微软雅黑" panose="020B0503020204020204" pitchFamily="34" charset="-122"/>
                          <a:ea typeface="微软雅黑" panose="020B0503020204020204" pitchFamily="34" charset="-122"/>
                        </a:rPr>
                        <a:t>活动，重客组织开展高质量客户交流。</a:t>
                      </a:r>
                      <a:endParaRPr lang="zh-CN" altLang="en-US" sz="1400" dirty="0">
                        <a:effectLst/>
                        <a:latin typeface="微软雅黑" panose="020B0503020204020204" pitchFamily="34" charset="-122"/>
                        <a:ea typeface="微软雅黑" panose="020B0503020204020204" pitchFamily="34" charset="-122"/>
                      </a:endParaRPr>
                    </a:p>
                    <a:p>
                      <a:pPr fontAlgn="ctr"/>
                      <a:br>
                        <a:rPr lang="zh-CN" altLang="en-US" sz="1400" dirty="0">
                          <a:effectLst/>
                          <a:latin typeface="微软雅黑" panose="020B0503020204020204" pitchFamily="34" charset="-122"/>
                          <a:ea typeface="微软雅黑" panose="020B0503020204020204" pitchFamily="34" charset="-122"/>
                        </a:rPr>
                      </a:b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5785">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客户体验负责人</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a:effectLst/>
                          <a:latin typeface="微软雅黑" panose="020B0503020204020204" pitchFamily="34" charset="-122"/>
                          <a:ea typeface="微软雅黑" panose="020B0503020204020204" pitchFamily="34" charset="-122"/>
                        </a:rPr>
                        <a:t>客户体验部区域经理、售后</a:t>
                      </a:r>
                      <a:endParaRPr lang="zh-CN" altLang="en-US" sz="140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dirty="0">
                          <a:effectLst/>
                          <a:latin typeface="微软雅黑" panose="020B0503020204020204" pitchFamily="34" charset="-122"/>
                          <a:ea typeface="微软雅黑" panose="020B0503020204020204" pitchFamily="34" charset="-122"/>
                        </a:rPr>
                        <a:t>评估实施交付方案；组织测试；</a:t>
                      </a: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51569">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项目经理</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a:effectLst/>
                          <a:latin typeface="微软雅黑" panose="020B0503020204020204" pitchFamily="34" charset="-122"/>
                          <a:ea typeface="微软雅黑" panose="020B0503020204020204" pitchFamily="34" charset="-122"/>
                        </a:rPr>
                        <a:t>行业经理、城市经理、区域副经理、区域经理、系统部总经理</a:t>
                      </a:r>
                      <a:endParaRPr lang="zh-CN" altLang="en-US" sz="140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dirty="0">
                          <a:effectLst/>
                          <a:latin typeface="微软雅黑" panose="020B0503020204020204" pitchFamily="34" charset="-122"/>
                          <a:ea typeface="微软雅黑" panose="020B0503020204020204" pitchFamily="34" charset="-122"/>
                        </a:rPr>
                        <a:t>项目第一责任人，负责项目组成员协同；审核及指导项目价值主张及赢单策略；负责客户拍板者者的关系维护；</a:t>
                      </a: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45092">
                <a:tc>
                  <a:txBody>
                    <a:bodyPr/>
                    <a:lstStyle/>
                    <a:p>
                      <a:pPr algn="ctr" fontAlgn="ctr"/>
                      <a:r>
                        <a:rPr lang="zh-CN" altLang="en-US" sz="1400" b="1" dirty="0">
                          <a:effectLst/>
                          <a:latin typeface="微软雅黑" panose="020B0503020204020204" pitchFamily="34" charset="-122"/>
                          <a:ea typeface="微软雅黑" panose="020B0503020204020204" pitchFamily="34" charset="-122"/>
                        </a:rPr>
                        <a:t>评审委员会</a:t>
                      </a:r>
                      <a:endParaRPr lang="zh-CN" altLang="en-US" sz="1400" b="1"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400" dirty="0">
                          <a:effectLst/>
                          <a:latin typeface="微软雅黑" panose="020B0503020204020204" pitchFamily="34" charset="-122"/>
                          <a:ea typeface="微软雅黑" panose="020B0503020204020204" pitchFamily="34" charset="-122"/>
                        </a:rPr>
                        <a:t>负责对最终技术方案进行评审确认。</a:t>
                      </a:r>
                      <a:endParaRPr lang="zh-CN" altLang="en-US" sz="1400" dirty="0">
                        <a:effectLst/>
                        <a:latin typeface="微软雅黑" panose="020B0503020204020204" pitchFamily="34" charset="-122"/>
                        <a:ea typeface="微软雅黑" panose="020B0503020204020204" pitchFamily="34" charset="-122"/>
                      </a:endParaRPr>
                    </a:p>
                  </a:txBody>
                  <a:tcPr marL="58115" marR="58115" marT="58115" marB="581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Rectangle 1"/>
          <p:cNvSpPr>
            <a:spLocks noChangeArrowheads="1"/>
          </p:cNvSpPr>
          <p:nvPr/>
        </p:nvSpPr>
        <p:spPr bwMode="auto">
          <a:xfrm>
            <a:off x="-2936617" y="1739900"/>
            <a:ext cx="3076563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7109236" cy="426596"/>
          </a:xfrm>
        </p:spPr>
        <p:txBody>
          <a:bodyPr/>
          <a:lstStyle/>
          <a:p>
            <a:r>
              <a:rPr lang="en-US" altLang="zh-CN" dirty="0"/>
              <a:t>How</a:t>
            </a:r>
            <a:r>
              <a:rPr lang="zh-CN" altLang="en-US" dirty="0"/>
              <a:t>：推进商机</a:t>
            </a:r>
            <a:r>
              <a:rPr lang="en-US" altLang="zh-CN" dirty="0"/>
              <a:t>_</a:t>
            </a:r>
            <a:r>
              <a:rPr lang="zh-CN" altLang="en-US" dirty="0"/>
              <a:t>职责分工流程图</a:t>
            </a:r>
            <a:endParaRPr lang="zh-CN" altLang="en-US" dirty="0"/>
          </a:p>
        </p:txBody>
      </p:sp>
      <p:pic>
        <p:nvPicPr>
          <p:cNvPr id="3" name="图片 2"/>
          <p:cNvPicPr>
            <a:picLocks noChangeAspect="1"/>
          </p:cNvPicPr>
          <p:nvPr/>
        </p:nvPicPr>
        <p:blipFill rotWithShape="1">
          <a:blip r:embed="rId1"/>
          <a:srcRect l="3100" t="8986" r="3970" b="8756"/>
          <a:stretch>
            <a:fillRect/>
          </a:stretch>
        </p:blipFill>
        <p:spPr>
          <a:xfrm>
            <a:off x="177305" y="1764255"/>
            <a:ext cx="11837390" cy="4001845"/>
          </a:xfrm>
          <a:prstGeom prst="rect">
            <a:avLst/>
          </a:prstGeom>
          <a:ln w="57150">
            <a:solidFill>
              <a:srgbClr val="FF000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59" y="280531"/>
            <a:ext cx="10521197" cy="426596"/>
          </a:xfrm>
        </p:spPr>
        <p:txBody>
          <a:bodyPr/>
          <a:lstStyle/>
          <a:p>
            <a:r>
              <a:rPr lang="en-US" altLang="zh-CN" dirty="0"/>
              <a:t>How</a:t>
            </a:r>
            <a:r>
              <a:rPr lang="zh-CN" altLang="en-US" dirty="0"/>
              <a:t>： </a:t>
            </a:r>
            <a:r>
              <a:rPr lang="en-US" altLang="zh-CN" dirty="0"/>
              <a:t>001</a:t>
            </a:r>
            <a:r>
              <a:rPr lang="zh-CN" altLang="en-US" dirty="0">
                <a:solidFill>
                  <a:srgbClr val="FF0000"/>
                </a:solidFill>
              </a:rPr>
              <a:t>项目经理</a:t>
            </a:r>
            <a:r>
              <a:rPr lang="zh-CN" altLang="en-US" dirty="0"/>
              <a:t>立项项目启动会</a:t>
            </a:r>
            <a:r>
              <a:rPr lang="en-US" altLang="zh-CN" dirty="0"/>
              <a:t>-</a:t>
            </a:r>
            <a:r>
              <a:rPr lang="zh-CN" altLang="en-US" dirty="0"/>
              <a:t>操作及主要变化点</a:t>
            </a:r>
            <a:endParaRPr lang="zh-CN" altLang="en-US" dirty="0"/>
          </a:p>
        </p:txBody>
      </p:sp>
      <p:sp>
        <p:nvSpPr>
          <p:cNvPr id="2" name="矩形 1"/>
          <p:cNvSpPr/>
          <p:nvPr/>
        </p:nvSpPr>
        <p:spPr>
          <a:xfrm>
            <a:off x="831574" y="937992"/>
            <a:ext cx="10916478" cy="422873"/>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商机审批通过进入漏斗的立项商机，首要工作是开立项项目启动会</a:t>
            </a:r>
            <a:r>
              <a:rPr lang="zh-CN" altLang="en-US" sz="1600" b="1" dirty="0">
                <a:latin typeface="微软雅黑" panose="020B0503020204020204" pitchFamily="34" charset="-122"/>
                <a:ea typeface="微软雅黑" panose="020B0503020204020204" pitchFamily="34" charset="-122"/>
              </a:rPr>
              <a:t>。</a:t>
            </a:r>
            <a:endParaRPr lang="zh-CN" altLang="en-US" sz="1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421295"/>
            <a:ext cx="10916478" cy="1670073"/>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活动流操作要求：</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项目经理，</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发起立项项目的启动会，建立立项项目飞书群组，根据项目的不同分级，邀约项目组成员进群，并同步项目</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MANT+P</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信息，保证项目组成员对项目信息一致性和准确性；</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项目经理，</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根据项目采购阶段，明确项目目标，并完成项目组成员分工；</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dirty="0">
                <a:solidFill>
                  <a:srgbClr val="000000"/>
                </a:solidFill>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梳理需求及客户痛点并与会同步；</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831574" y="3545002"/>
            <a:ext cx="10916478" cy="1670073"/>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关键点及标准：</a:t>
            </a:r>
            <a:endParaRPr lang="en-US" altLang="zh-CN" sz="1400" b="1"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dirty="0">
                <a:latin typeface="微软雅黑" panose="020B0503020204020204" pitchFamily="34" charset="-122"/>
                <a:ea typeface="微软雅黑" panose="020B0503020204020204" pitchFamily="34" charset="-122"/>
              </a:rPr>
              <a:t>输入：立项商机的</a:t>
            </a:r>
            <a:r>
              <a:rPr lang="en-US" altLang="zh-CN" sz="1400" dirty="0">
                <a:latin typeface="微软雅黑" panose="020B0503020204020204" pitchFamily="34" charset="-122"/>
                <a:ea typeface="微软雅黑" panose="020B0503020204020204" pitchFamily="34" charset="-122"/>
              </a:rPr>
              <a:t>MANT+P</a:t>
            </a:r>
            <a:r>
              <a:rPr lang="zh-CN" altLang="en-US" sz="1400" dirty="0">
                <a:latin typeface="微软雅黑" panose="020B0503020204020204" pitchFamily="34" charset="-122"/>
                <a:ea typeface="微软雅黑" panose="020B0503020204020204" pitchFamily="34" charset="-122"/>
              </a:rPr>
              <a:t>信息；</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dirty="0">
                <a:latin typeface="微软雅黑" panose="020B0503020204020204" pitchFamily="34" charset="-122"/>
                <a:ea typeface="微软雅黑" panose="020B0503020204020204" pitchFamily="34" charset="-122"/>
              </a:rPr>
              <a:t>输出：立项项目飞书群，立项项目信息、目标及组员分工</a:t>
            </a:r>
            <a:endParaRPr lang="zh-CN" altLang="en-US"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dirty="0">
                <a:latin typeface="微软雅黑" panose="020B0503020204020204" pitchFamily="34" charset="-122"/>
                <a:ea typeface="微软雅黑" panose="020B0503020204020204" pitchFamily="34" charset="-122"/>
              </a:rPr>
              <a:t>标准：飞书群建立，项目组成员清晰项目信息，目标明确分工明确，下一步行动计划明确。可参考”</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降龙十八掌</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大项目推进策略“和”项目立项分析会模板“作为指导。</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59" y="280531"/>
            <a:ext cx="11479141" cy="426596"/>
          </a:xfrm>
        </p:spPr>
        <p:txBody>
          <a:bodyPr/>
          <a:lstStyle/>
          <a:p>
            <a:r>
              <a:rPr lang="en-US" altLang="zh-CN" dirty="0"/>
              <a:t>How</a:t>
            </a:r>
            <a:r>
              <a:rPr lang="zh-CN" altLang="en-US" dirty="0"/>
              <a:t>： </a:t>
            </a:r>
            <a:r>
              <a:rPr lang="en-US" altLang="zh-CN" dirty="0"/>
              <a:t>002</a:t>
            </a:r>
            <a:r>
              <a:rPr lang="zh-CN" altLang="en-US" dirty="0">
                <a:solidFill>
                  <a:srgbClr val="FF0000"/>
                </a:solidFill>
              </a:rPr>
              <a:t>技术负责人</a:t>
            </a:r>
            <a:r>
              <a:rPr lang="zh-CN" altLang="en-US" dirty="0"/>
              <a:t>分析客户需求及竞争态势匹配我司</a:t>
            </a:r>
            <a:r>
              <a:rPr lang="en-GB" altLang="zh-CN" dirty="0"/>
              <a:t>USP</a:t>
            </a:r>
            <a:r>
              <a:rPr lang="en-US" altLang="zh-CN" dirty="0"/>
              <a:t>-</a:t>
            </a:r>
            <a:r>
              <a:rPr lang="zh-CN" altLang="en-US" dirty="0"/>
              <a:t>操作及主要变化点</a:t>
            </a:r>
            <a:endParaRPr lang="zh-CN" altLang="en-US" dirty="0"/>
          </a:p>
        </p:txBody>
      </p:sp>
      <p:sp>
        <p:nvSpPr>
          <p:cNvPr id="2" name="矩形 1"/>
          <p:cNvSpPr/>
          <p:nvPr/>
        </p:nvSpPr>
        <p:spPr>
          <a:xfrm>
            <a:off x="831574" y="962445"/>
            <a:ext cx="10916478" cy="422873"/>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solidFill>
                  <a:srgbClr val="1F2329"/>
                </a:solidFill>
                <a:latin typeface="微软雅黑" panose="020B0503020204020204" pitchFamily="34" charset="-122"/>
                <a:ea typeface="微软雅黑" panose="020B0503020204020204" pitchFamily="34" charset="-122"/>
              </a:rPr>
              <a:t>技术负责人根据了解到的需求及竞争信息，初步确定我司</a:t>
            </a:r>
            <a:r>
              <a:rPr lang="en-US" altLang="zh-CN" sz="1600" dirty="0">
                <a:solidFill>
                  <a:srgbClr val="1F2329"/>
                </a:solidFill>
                <a:latin typeface="微软雅黑" panose="020B0503020204020204" pitchFamily="34" charset="-122"/>
                <a:ea typeface="微软雅黑" panose="020B0503020204020204" pitchFamily="34" charset="-122"/>
              </a:rPr>
              <a:t>USP</a:t>
            </a:r>
            <a:r>
              <a:rPr lang="zh-CN" altLang="en-US" sz="1600" dirty="0">
                <a:solidFill>
                  <a:srgbClr val="1F2329"/>
                </a:solidFill>
                <a:latin typeface="微软雅黑" panose="020B0503020204020204" pitchFamily="34" charset="-122"/>
                <a:ea typeface="微软雅黑" panose="020B0503020204020204" pitchFamily="34" charset="-122"/>
              </a:rPr>
              <a:t>策略。</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478714"/>
            <a:ext cx="10916478" cy="1346907"/>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活动流操作要求：</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MANT+P</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信息，对客户需求先要有一个基本了解；</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与客户</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渠道等进行需求沟通，理清期望、需求，动机以及“人机料法环”，并判定客户需求是否有倾向；</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根据需求分析结论，逐一匹配我司产品、方案、服务等价值点，初步确定该项目我司的</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USP</a:t>
            </a:r>
            <a:r>
              <a:rPr lang="zh-CN" altLang="en-US" sz="1400" dirty="0">
                <a:solidFill>
                  <a:srgbClr val="000000"/>
                </a:solidFill>
                <a:latin typeface="微软雅黑" panose="020B0503020204020204" pitchFamily="34" charset="-122"/>
                <a:ea typeface="微软雅黑" panose="020B0503020204020204" pitchFamily="34" charset="-122"/>
              </a:rPr>
              <a:t>策略</a:t>
            </a:r>
            <a:r>
              <a:rPr lang="zh-CN" altLang="en-GB" sz="14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GB"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831574" y="3893258"/>
            <a:ext cx="10916478" cy="156235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关键点及标准</a:t>
            </a:r>
            <a:r>
              <a:rPr lang="zh-CN" altLang="en-US" sz="1400" dirty="0">
                <a:solidFill>
                  <a:srgbClr val="FF0000"/>
                </a:solidFill>
                <a:latin typeface="微软雅黑" panose="020B0503020204020204" pitchFamily="34" charset="-122"/>
                <a:ea typeface="微软雅黑" panose="020B0503020204020204" pitchFamily="34" charset="-122"/>
              </a:rPr>
              <a:t>：</a:t>
            </a:r>
            <a:endParaRPr lang="en-US" altLang="zh-CN" sz="1400" dirty="0">
              <a:solidFill>
                <a:srgbClr val="FF0000"/>
              </a:solidFill>
              <a:latin typeface="微软雅黑" panose="020B0503020204020204" pitchFamily="34" charset="-122"/>
              <a:ea typeface="微软雅黑" panose="020B0503020204020204" pitchFamily="34" charset="-122"/>
            </a:endParaRPr>
          </a:p>
          <a:p>
            <a:pPr marL="285750" indent="-285750" algn="l">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1.MANT+P</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信息；</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与客户</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渠道交流，获取需求；</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产品与解决方案的独特卖点</a:t>
            </a:r>
            <a:r>
              <a:rPr lang="zh-CN" altLang="en-US" sz="1400" dirty="0">
                <a:latin typeface="微软雅黑" panose="020B0503020204020204" pitchFamily="34" charset="-122"/>
                <a:ea typeface="微软雅黑" panose="020B0503020204020204" pitchFamily="34" charset="-122"/>
              </a:rPr>
              <a:t>等；</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需求与</a:t>
            </a:r>
            <a:r>
              <a:rPr lang="en-US" altLang="zh-CN" sz="1400" dirty="0">
                <a:latin typeface="微软雅黑" panose="020B0503020204020204" pitchFamily="34" charset="-122"/>
                <a:ea typeface="微软雅黑" panose="020B0503020204020204" pitchFamily="34" charset="-122"/>
              </a:rPr>
              <a:t>USP</a:t>
            </a:r>
            <a:r>
              <a:rPr lang="zh-CN" altLang="en-US" sz="1400" dirty="0">
                <a:latin typeface="微软雅黑" panose="020B0503020204020204" pitchFamily="34" charset="-122"/>
                <a:ea typeface="微软雅黑" panose="020B0503020204020204" pitchFamily="34" charset="-122"/>
              </a:rPr>
              <a:t>匹配清单；</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需求清晰且完整，</a:t>
            </a:r>
            <a:r>
              <a:rPr lang="en-US" altLang="zh-CN" sz="1400" dirty="0">
                <a:latin typeface="微软雅黑" panose="020B0503020204020204" pitchFamily="34" charset="-122"/>
                <a:ea typeface="微软雅黑" panose="020B0503020204020204" pitchFamily="34" charset="-122"/>
              </a:rPr>
              <a:t>UPS</a:t>
            </a:r>
            <a:r>
              <a:rPr lang="zh-CN" altLang="en-US" sz="1400" dirty="0">
                <a:latin typeface="微软雅黑" panose="020B0503020204020204" pitchFamily="34" charset="-122"/>
                <a:ea typeface="微软雅黑" panose="020B0503020204020204" pitchFamily="34" charset="-122"/>
              </a:rPr>
              <a:t>与需求一一匹配，且对比主要竞争对手有明显的差异化；</a:t>
            </a:r>
            <a:endParaRPr lang="en-US" altLang="zh-CN" sz="1400" dirty="0">
              <a:latin typeface="微软雅黑" panose="020B0503020204020204" pitchFamily="34" charset="-122"/>
              <a:ea typeface="微软雅黑" panose="020B0503020204020204" pitchFamily="34" charset="-122"/>
            </a:endParaRPr>
          </a:p>
          <a:p>
            <a:pPr>
              <a:lnSpc>
                <a:spcPct val="150000"/>
              </a:lnSpc>
            </a:pP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003</a:t>
            </a:r>
            <a:r>
              <a:rPr lang="zh-CN" altLang="en-US" dirty="0">
                <a:solidFill>
                  <a:srgbClr val="FF0000"/>
                </a:solidFill>
              </a:rPr>
              <a:t>客户关系负责人和技术负责人</a:t>
            </a:r>
            <a:r>
              <a:rPr lang="zh-CN" altLang="en-US" dirty="0"/>
              <a:t>拿</a:t>
            </a:r>
            <a:r>
              <a:rPr lang="en-GB" altLang="zh-CN" dirty="0"/>
              <a:t>USP</a:t>
            </a:r>
            <a:r>
              <a:rPr lang="zh-CN" altLang="en-GB" dirty="0"/>
              <a:t>策略</a:t>
            </a:r>
            <a:r>
              <a:rPr lang="zh-CN" altLang="en-US" dirty="0"/>
              <a:t>与客户逐条沟通</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首次与客户沟通是以需求与</a:t>
            </a:r>
            <a:r>
              <a:rPr lang="en-US" altLang="zh-CN" sz="1600" dirty="0">
                <a:latin typeface="微软雅黑" panose="020B0503020204020204" pitchFamily="34" charset="-122"/>
                <a:ea typeface="微软雅黑" panose="020B0503020204020204" pitchFamily="34" charset="-122"/>
              </a:rPr>
              <a:t>USP</a:t>
            </a:r>
            <a:r>
              <a:rPr lang="zh-CN" altLang="en-US" sz="1600" dirty="0">
                <a:latin typeface="微软雅黑" panose="020B0503020204020204" pitchFamily="34" charset="-122"/>
                <a:ea typeface="微软雅黑" panose="020B0503020204020204" pitchFamily="34" charset="-122"/>
              </a:rPr>
              <a:t>匹配度开始的，关键是再次确定客户需求及客户对我司</a:t>
            </a:r>
            <a:r>
              <a:rPr lang="en-US" altLang="zh-CN" sz="1600" dirty="0">
                <a:latin typeface="微软雅黑" panose="020B0503020204020204" pitchFamily="34" charset="-122"/>
                <a:ea typeface="微软雅黑" panose="020B0503020204020204" pitchFamily="34" charset="-122"/>
              </a:rPr>
              <a:t>USP</a:t>
            </a:r>
            <a:r>
              <a:rPr lang="zh-CN" altLang="en-US" sz="1600" dirty="0">
                <a:latin typeface="微软雅黑" panose="020B0503020204020204" pitchFamily="34" charset="-122"/>
                <a:ea typeface="微软雅黑" panose="020B0503020204020204" pitchFamily="34" charset="-122"/>
              </a:rPr>
              <a:t>的看法。</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0237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客户关系负责人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，邀约客户关键人进行需求沟通；</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，拿着需求与</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USP</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匹配清单与客户决策人逐条确认哪些</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USP</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是被认可的，为什么，以及哪些不认可的，为什么；</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3243653"/>
            <a:ext cx="10916478" cy="1239185"/>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gn="l">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需求与</a:t>
            </a:r>
            <a:r>
              <a:rPr lang="en-US" altLang="zh-CN" sz="1400" dirty="0">
                <a:latin typeface="微软雅黑" panose="020B0503020204020204" pitchFamily="34" charset="-122"/>
                <a:ea typeface="微软雅黑" panose="020B0503020204020204" pitchFamily="34" charset="-122"/>
              </a:rPr>
              <a:t>USP</a:t>
            </a:r>
            <a:r>
              <a:rPr lang="zh-CN" altLang="en-US" sz="1400" dirty="0">
                <a:latin typeface="微软雅黑" panose="020B0503020204020204" pitchFamily="34" charset="-122"/>
                <a:ea typeface="微软雅黑" panose="020B0503020204020204" pitchFamily="34" charset="-122"/>
              </a:rPr>
              <a:t>匹配清单；</a:t>
            </a:r>
            <a:r>
              <a:rPr lang="en-US" altLang="zh-CN" sz="1400" dirty="0">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获取到客户决策人的联系方式；</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具备基本的客情关系，彼此双方能够有效沟通；</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客户需求与我司</a:t>
            </a:r>
            <a:r>
              <a:rPr lang="en-US" altLang="zh-CN" sz="1400" dirty="0">
                <a:latin typeface="微软雅黑" panose="020B0503020204020204" pitchFamily="34" charset="-122"/>
                <a:ea typeface="微软雅黑" panose="020B0503020204020204" pitchFamily="34" charset="-122"/>
              </a:rPr>
              <a:t>UPS</a:t>
            </a:r>
            <a:r>
              <a:rPr lang="zh-CN" altLang="en-US" sz="1400" dirty="0">
                <a:latin typeface="微软雅黑" panose="020B0503020204020204" pitchFamily="34" charset="-122"/>
                <a:ea typeface="微软雅黑" panose="020B0503020204020204" pitchFamily="34" charset="-122"/>
              </a:rPr>
              <a:t>匹配实际情况；</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沟通对象尽量是决策者，能够清晰、完整的掌握客户需求，以及我司</a:t>
            </a:r>
            <a:r>
              <a:rPr lang="en-US" altLang="zh-CN" sz="1400" dirty="0">
                <a:latin typeface="微软雅黑" panose="020B0503020204020204" pitchFamily="34" charset="-122"/>
                <a:ea typeface="微软雅黑" panose="020B0503020204020204" pitchFamily="34" charset="-122"/>
              </a:rPr>
              <a:t>USP</a:t>
            </a:r>
            <a:r>
              <a:rPr lang="zh-CN" altLang="en-US" sz="1400" dirty="0">
                <a:latin typeface="微软雅黑" panose="020B0503020204020204" pitchFamily="34" charset="-122"/>
                <a:ea typeface="微软雅黑" panose="020B0503020204020204" pitchFamily="34" charset="-122"/>
              </a:rPr>
              <a:t>匹配情况。</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pPr algn="l"/>
            <a:r>
              <a:rPr lang="en-US" altLang="zh-CN" dirty="0"/>
              <a:t>How</a:t>
            </a:r>
            <a:r>
              <a:rPr lang="zh-CN" altLang="en-US" dirty="0"/>
              <a:t>： </a:t>
            </a:r>
            <a:r>
              <a:rPr lang="en-US" altLang="zh-CN" dirty="0"/>
              <a:t>004</a:t>
            </a:r>
            <a:r>
              <a:rPr lang="zh-CN" altLang="en-US" dirty="0">
                <a:solidFill>
                  <a:srgbClr val="FF0000"/>
                </a:solidFill>
              </a:rPr>
              <a:t>项目组成员</a:t>
            </a:r>
            <a:r>
              <a:rPr lang="zh-CN" altLang="en-US" dirty="0"/>
              <a:t>项目分析会</a:t>
            </a:r>
            <a:r>
              <a:rPr lang="en-US" altLang="zh-CN" dirty="0"/>
              <a:t>-</a:t>
            </a:r>
            <a:r>
              <a:rPr lang="zh-CN" altLang="en-US" dirty="0"/>
              <a:t>制定价值主张</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项目组成员根据项目信息与我司</a:t>
            </a:r>
            <a:r>
              <a:rPr lang="en-US" altLang="zh-CN" sz="1600" dirty="0">
                <a:latin typeface="微软雅黑" panose="020B0503020204020204" pitchFamily="34" charset="-122"/>
                <a:ea typeface="微软雅黑" panose="020B0503020204020204" pitchFamily="34" charset="-122"/>
              </a:rPr>
              <a:t>USP</a:t>
            </a:r>
            <a:r>
              <a:rPr lang="zh-CN" altLang="en-US" sz="1600" dirty="0">
                <a:latin typeface="微软雅黑" panose="020B0503020204020204" pitchFamily="34" charset="-122"/>
                <a:ea typeface="微软雅黑" panose="020B0503020204020204" pitchFamily="34" charset="-122"/>
              </a:rPr>
              <a:t>匹配情况，商讨制定本项目的价值主张。</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346907"/>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技术负责人，</a:t>
            </a:r>
            <a:r>
              <a:rPr lang="zh-CN" altLang="en-US" sz="1400" dirty="0">
                <a:latin typeface="微软雅黑" panose="020B0503020204020204" pitchFamily="34" charset="-122"/>
                <a:ea typeface="微软雅黑" panose="020B0503020204020204" pitchFamily="34" charset="-122"/>
              </a:rPr>
              <a:t>同步客户需求及认可的我司</a:t>
            </a:r>
            <a:r>
              <a:rPr lang="en-GB" altLang="zh-CN" sz="1400" dirty="0">
                <a:latin typeface="微软雅黑" panose="020B0503020204020204" pitchFamily="34" charset="-122"/>
                <a:ea typeface="微软雅黑" panose="020B0503020204020204" pitchFamily="34" charset="-122"/>
              </a:rPr>
              <a:t>USP</a:t>
            </a:r>
            <a:r>
              <a:rPr lang="zh-CN" altLang="en-GB" sz="1400" dirty="0">
                <a:latin typeface="微软雅黑" panose="020B0503020204020204" pitchFamily="34" charset="-122"/>
                <a:ea typeface="微软雅黑" panose="020B0503020204020204" pitchFamily="34" charset="-122"/>
              </a:rPr>
              <a:t>；</a:t>
            </a:r>
            <a:endParaRPr lang="zh-CN" altLang="en-GB" sz="1400" dirty="0">
              <a:latin typeface="微软雅黑" panose="020B0503020204020204" pitchFamily="34" charset="-122"/>
              <a:ea typeface="微软雅黑" panose="020B0503020204020204" pitchFamily="34" charset="-122"/>
            </a:endParaRPr>
          </a:p>
          <a:p>
            <a:pPr>
              <a:lnSpc>
                <a:spcPct val="150000"/>
              </a:lnSpc>
            </a:pPr>
            <a:r>
              <a:rPr lang="en-GB"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技术负责人，</a:t>
            </a:r>
            <a:r>
              <a:rPr lang="zh-CN" altLang="en-US" sz="1400" dirty="0">
                <a:latin typeface="微软雅黑" panose="020B0503020204020204" pitchFamily="34" charset="-122"/>
                <a:ea typeface="微软雅黑" panose="020B0503020204020204" pitchFamily="34" charset="-122"/>
              </a:rPr>
              <a:t>根据</a:t>
            </a:r>
            <a:r>
              <a:rPr lang="en-GB" altLang="zh-CN" sz="1400" dirty="0">
                <a:latin typeface="微软雅黑" panose="020B0503020204020204" pitchFamily="34" charset="-122"/>
                <a:ea typeface="微软雅黑" panose="020B0503020204020204" pitchFamily="34" charset="-122"/>
              </a:rPr>
              <a:t>USP</a:t>
            </a:r>
            <a:r>
              <a:rPr lang="zh-CN" altLang="en-US" sz="1400" dirty="0">
                <a:latin typeface="微软雅黑" panose="020B0503020204020204" pitchFamily="34" charset="-122"/>
                <a:ea typeface="微软雅黑" panose="020B0503020204020204" pitchFamily="34" charset="-122"/>
              </a:rPr>
              <a:t>提出初稿</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价值主张策略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项目组成员，</a:t>
            </a:r>
            <a:r>
              <a:rPr lang="zh-CN" altLang="en-US" sz="1400" dirty="0">
                <a:latin typeface="微软雅黑" panose="020B0503020204020204" pitchFamily="34" charset="-122"/>
                <a:ea typeface="微软雅黑" panose="020B0503020204020204" pitchFamily="34" charset="-122"/>
              </a:rPr>
              <a:t>对初稿</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价值主张策略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给与反馈意见并最终确定。</a:t>
            </a:r>
            <a:endParaRPr lang="zh-CN" altLang="en-US"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3370113"/>
            <a:ext cx="10916478" cy="135101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dirty="0">
                <a:latin typeface="微软雅黑" panose="020B0503020204020204" pitchFamily="34" charset="-122"/>
                <a:ea typeface="微软雅黑" panose="020B0503020204020204" pitchFamily="34" charset="-122"/>
              </a:rPr>
              <a:t>初稿</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价值主张策略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价值主张策略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参考</a:t>
            </a:r>
            <a:r>
              <a:rPr lang="zh-CN" altLang="en-US" sz="1400" i="0" u="none" strike="noStrike" dirty="0">
                <a:solidFill>
                  <a:srgbClr val="000000"/>
                </a:solidFill>
                <a:effectLst/>
                <a:latin typeface="微软雅黑" panose="020B0503020204020204" pitchFamily="34" charset="-122"/>
                <a:ea typeface="微软雅黑" panose="020B0503020204020204" pitchFamily="34" charset="-122"/>
              </a:rPr>
              <a:t>降龙十八掌</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大项目推进策略，明确面向客户决策者和主要竞争对手而制定</a:t>
            </a:r>
            <a:r>
              <a:rPr lang="zh-CN" altLang="en-US" sz="1400" dirty="0">
                <a:solidFill>
                  <a:srgbClr val="000000"/>
                </a:solidFill>
                <a:latin typeface="微软雅黑" panose="020B0503020204020204" pitchFamily="34" charset="-122"/>
                <a:ea typeface="微软雅黑" panose="020B0503020204020204" pitchFamily="34" charset="-122"/>
              </a:rPr>
              <a:t>的</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有效价值主张策略</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005</a:t>
            </a:r>
            <a:r>
              <a:rPr lang="zh-CN" altLang="en-US" dirty="0">
                <a:solidFill>
                  <a:srgbClr val="FF0000"/>
                </a:solidFill>
              </a:rPr>
              <a:t>技术负责人</a:t>
            </a:r>
            <a:r>
              <a:rPr lang="zh-CN" altLang="en-US" dirty="0"/>
              <a:t>确定方案制作思路并制作技术方案</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无。</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704680"/>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技术负责人</a:t>
            </a:r>
            <a:r>
              <a:rPr lang="zh-CN" altLang="en-US" sz="1400" dirty="0">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根据确定的</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价值主张策略</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dirty="0">
                <a:solidFill>
                  <a:srgbClr val="000000"/>
                </a:solidFill>
                <a:latin typeface="微软雅黑" panose="020B0503020204020204" pitchFamily="34" charset="-122"/>
                <a:ea typeface="微软雅黑" panose="020B0503020204020204" pitchFamily="34" charset="-122"/>
              </a:rPr>
              <a:t>确定方案制作的思路，并</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输出第一稿</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679448"/>
            <a:ext cx="10916478" cy="135101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价值主张</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第一稿</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技术方案</a:t>
            </a:r>
            <a:r>
              <a:rPr lang="en-US" altLang="zh-CN" sz="1400"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符合</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售前</a:t>
            </a:r>
            <a:r>
              <a:rPr lang="zh-CN" altLang="en-US" sz="1400" b="0" i="0" dirty="0">
                <a:effectLst/>
                <a:latin typeface="微软雅黑" panose="020B0503020204020204" pitchFamily="34" charset="-122"/>
                <a:ea typeface="微软雅黑" panose="020B0503020204020204" pitchFamily="34" charset="-122"/>
                <a:hlinkClick r:id="rId1"/>
              </a:rPr>
              <a:t>岗位工作标准化</a:t>
            </a:r>
            <a:r>
              <a:rPr lang="en-US" altLang="zh-CN" sz="1400" b="0" i="0" dirty="0">
                <a:effectLst/>
                <a:latin typeface="微软雅黑" panose="020B0503020204020204" pitchFamily="34" charset="-122"/>
                <a:ea typeface="微软雅黑" panose="020B0503020204020204" pitchFamily="34" charset="-122"/>
                <a:hlinkClick r:id="rId1"/>
              </a:rPr>
              <a:t>-</a:t>
            </a:r>
            <a:r>
              <a:rPr lang="en-GB" altLang="zh-CN" sz="1400" b="0" i="0" dirty="0">
                <a:effectLst/>
                <a:latin typeface="微软雅黑" panose="020B0503020204020204" pitchFamily="34" charset="-122"/>
                <a:ea typeface="微软雅黑" panose="020B0503020204020204" pitchFamily="34" charset="-122"/>
                <a:hlinkClick r:id="rId1"/>
              </a:rPr>
              <a:t>EBG</a:t>
            </a:r>
            <a:r>
              <a:rPr lang="zh-CN" altLang="en-US" sz="1400" b="0" i="0" dirty="0">
                <a:effectLst/>
                <a:latin typeface="微软雅黑" panose="020B0503020204020204" pitchFamily="34" charset="-122"/>
                <a:ea typeface="微软雅黑" panose="020B0503020204020204" pitchFamily="34" charset="-122"/>
                <a:hlinkClick r:id="rId1"/>
              </a:rPr>
              <a:t>售前工程师</a:t>
            </a:r>
            <a:r>
              <a:rPr lang="en-US" altLang="zh-CN" sz="1400" b="0" i="0" dirty="0">
                <a:effectLst/>
                <a:latin typeface="微软雅黑" panose="020B0503020204020204" pitchFamily="34" charset="-122"/>
                <a:ea typeface="微软雅黑" panose="020B0503020204020204" pitchFamily="34" charset="-122"/>
                <a:hlinkClick r:id="rId1"/>
              </a:rPr>
              <a:t>(</a:t>
            </a:r>
            <a:r>
              <a:rPr lang="zh-CN" altLang="en-US" sz="1400" b="0" i="0" dirty="0">
                <a:effectLst/>
                <a:latin typeface="微软雅黑" panose="020B0503020204020204" pitchFamily="34" charset="-122"/>
                <a:ea typeface="微软雅黑" panose="020B0503020204020204" pitchFamily="34" charset="-122"/>
                <a:hlinkClick r:id="rId1"/>
              </a:rPr>
              <a:t>汇总版</a:t>
            </a:r>
            <a:r>
              <a:rPr lang="en-US" altLang="zh-CN" sz="1400" b="0" i="0" dirty="0">
                <a:effectLst/>
                <a:latin typeface="微软雅黑" panose="020B0503020204020204" pitchFamily="34" charset="-122"/>
                <a:ea typeface="微软雅黑" panose="020B0503020204020204" pitchFamily="34" charset="-122"/>
                <a:hlinkClick r:id="rId1"/>
              </a:rPr>
              <a:t>) -20240612</a:t>
            </a:r>
            <a:r>
              <a:rPr lang="en-US" altLang="zh-CN" sz="1400" b="0" i="0" dirty="0">
                <a:effectLst/>
                <a:latin typeface="微软雅黑" panose="020B0503020204020204" pitchFamily="34" charset="-122"/>
                <a:ea typeface="微软雅黑" panose="020B0503020204020204" pitchFamily="34" charset="-122"/>
              </a:rPr>
              <a:t>》</a:t>
            </a:r>
            <a:r>
              <a:rPr lang="zh-CN" altLang="en-US" sz="1400" b="0" i="0" dirty="0">
                <a:effectLst/>
                <a:latin typeface="微软雅黑" panose="020B0503020204020204" pitchFamily="34" charset="-122"/>
                <a:ea typeface="微软雅黑" panose="020B0503020204020204" pitchFamily="34" charset="-122"/>
              </a:rPr>
              <a:t>中“</a:t>
            </a:r>
            <a:r>
              <a:rPr lang="en-US" altLang="zh-CN" sz="1400" b="0" i="0" dirty="0">
                <a:effectLst/>
                <a:latin typeface="微软雅黑" panose="020B0503020204020204" pitchFamily="34" charset="-122"/>
                <a:ea typeface="微软雅黑" panose="020B0503020204020204" pitchFamily="34" charset="-122"/>
              </a:rPr>
              <a:t>3</a:t>
            </a:r>
            <a:r>
              <a:rPr lang="zh-CN" altLang="en-US" sz="1400" b="0" i="0" dirty="0">
                <a:effectLst/>
                <a:latin typeface="微软雅黑" panose="020B0503020204020204" pitchFamily="34" charset="-122"/>
                <a:ea typeface="微软雅黑" panose="020B0503020204020204" pitchFamily="34" charset="-122"/>
              </a:rPr>
              <a:t>、设计解决方案并获得价值认可”指导书标准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006</a:t>
            </a:r>
            <a:r>
              <a:rPr lang="zh-CN" altLang="en-US" dirty="0">
                <a:solidFill>
                  <a:srgbClr val="FF0000"/>
                </a:solidFill>
              </a:rPr>
              <a:t>客户体验负责人</a:t>
            </a:r>
            <a:r>
              <a:rPr lang="zh-CN" altLang="en-US" dirty="0"/>
              <a:t>实施交付可行性评估</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客户体验负责人对初稿</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技术方案</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进行实施方案可行性评估。</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6309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r>
              <a:rPr lang="en-US" altLang="zh-CN" sz="1400" dirty="0">
                <a:latin typeface="微软雅黑" panose="020B0503020204020204" pitchFamily="34" charset="-122"/>
                <a:ea typeface="微软雅黑" panose="020B0503020204020204" pitchFamily="34" charset="-122"/>
              </a:rPr>
              <a:t>1</a:t>
            </a:r>
            <a:r>
              <a:rPr lang="zh-CN" altLang="en-US" sz="1400" b="1" dirty="0">
                <a:solidFill>
                  <a:srgbClr val="FF0000"/>
                </a:solidFill>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 客户体验部负责人，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对技术负责人提出的</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进行实施交付可行性评估，无风险给与通过，有风险的给出风险点及修订建议。</a:t>
            </a:r>
            <a:endParaRPr lang="en-US" altLang="zh-CN"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679448"/>
            <a:ext cx="10916478" cy="135101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技术方案</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无风险给与通过，有风险的给出风险点及修订建议</a:t>
            </a:r>
            <a:r>
              <a:rPr lang="zh-CN" altLang="en-US" sz="1400"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未上市的新产品</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方案，以及重大的</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AIGC</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项目高交付风险项目，需要产线及交付专家评估；</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007</a:t>
            </a:r>
            <a:r>
              <a:rPr lang="zh-CN" altLang="en-US" dirty="0">
                <a:solidFill>
                  <a:srgbClr val="FF0000"/>
                </a:solidFill>
              </a:rPr>
              <a:t>技术负责人</a:t>
            </a:r>
            <a:r>
              <a:rPr lang="zh-CN" altLang="en-US" dirty="0"/>
              <a:t>结合意见调整修改并最终确认解决方案</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技术负责人根据客户体验负责人给出的方案调整建议进行修订并最终确认解决方案。</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6309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如果</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实施交付可行性评估存在风险的，</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i="0" u="none" strike="noStrike" dirty="0">
                <a:effectLst/>
                <a:latin typeface="微软雅黑" panose="020B0503020204020204" pitchFamily="34" charset="-122"/>
                <a:ea typeface="微软雅黑" panose="020B0503020204020204" pitchFamily="34" charset="-122"/>
              </a:rPr>
              <a:t>需</a:t>
            </a:r>
            <a:r>
              <a:rPr lang="zh-CN" altLang="en-US" sz="1400" i="0" u="none" strike="noStrike" dirty="0">
                <a:solidFill>
                  <a:srgbClr val="000000"/>
                </a:solidFill>
                <a:effectLst/>
                <a:latin typeface="微软雅黑" panose="020B0503020204020204" pitchFamily="34" charset="-122"/>
                <a:ea typeface="微软雅黑" panose="020B0503020204020204" pitchFamily="34" charset="-122"/>
              </a:rPr>
              <a:t>根据</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客户体验负责人提出的建议进行调整并最终确定解决方案；</a:t>
            </a:r>
            <a:endParaRPr lang="en-US" altLang="zh-CN"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679448"/>
            <a:ext cx="10916478" cy="1346907"/>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dirty="0">
                <a:latin typeface="微软雅黑" panose="020B0503020204020204" pitchFamily="34" charset="-122"/>
                <a:ea typeface="微软雅黑" panose="020B0503020204020204" pitchFamily="34" charset="-122"/>
              </a:rPr>
              <a:t>客户体验部给到的修改建议；</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确定稿</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解决方案</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无；</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75538" y="274444"/>
            <a:ext cx="9406344" cy="303299"/>
          </a:xfrm>
        </p:spPr>
        <p:txBody>
          <a:bodyPr/>
          <a:lstStyle/>
          <a:p>
            <a:r>
              <a:rPr lang="en-US" altLang="zh-CN" dirty="0"/>
              <a:t>How</a:t>
            </a:r>
            <a:r>
              <a:rPr lang="zh-CN" altLang="en-US" dirty="0"/>
              <a:t>： </a:t>
            </a:r>
            <a:r>
              <a:rPr kumimoji="1" lang="en-US" altLang="zh-CN" dirty="0"/>
              <a:t>008</a:t>
            </a:r>
            <a:r>
              <a:rPr lang="zh-CN" altLang="en-US" dirty="0">
                <a:solidFill>
                  <a:srgbClr val="FF0000"/>
                </a:solidFill>
              </a:rPr>
              <a:t>评审委员会</a:t>
            </a:r>
            <a:r>
              <a:rPr kumimoji="1" lang="en-US" altLang="zh-CN" dirty="0"/>
              <a:t>-</a:t>
            </a:r>
            <a:r>
              <a:rPr kumimoji="1" lang="zh-CN" altLang="en-US" dirty="0"/>
              <a:t>解决方案评审（</a:t>
            </a:r>
            <a:r>
              <a:rPr kumimoji="1" lang="en-US" altLang="zh-CN" dirty="0"/>
              <a:t>KDP</a:t>
            </a:r>
            <a:r>
              <a:rPr kumimoji="1" lang="zh-CN" altLang="en-US" dirty="0"/>
              <a:t>）</a:t>
            </a:r>
            <a:r>
              <a:rPr kumimoji="1" lang="en-US" altLang="zh-CN" dirty="0"/>
              <a:t>-</a:t>
            </a:r>
            <a:r>
              <a:rPr kumimoji="1" lang="zh-CN" altLang="en-US" dirty="0"/>
              <a:t>操作及主要变化点</a:t>
            </a:r>
            <a:endParaRPr kumimoji="1" lang="zh-CN" altLang="en-US" dirty="0"/>
          </a:p>
        </p:txBody>
      </p:sp>
      <p:sp>
        <p:nvSpPr>
          <p:cNvPr id="5" name="矩形 4"/>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评审委员会根据</a:t>
            </a:r>
            <a:r>
              <a:rPr lang="en-US" altLang="zh-CN" sz="1600" dirty="0">
                <a:latin typeface="微软雅黑" panose="020B0503020204020204" pitchFamily="34" charset="-122"/>
                <a:ea typeface="微软雅黑" panose="020B0503020204020204" pitchFamily="34" charset="-122"/>
              </a:rPr>
              <a:t>KDP</a:t>
            </a:r>
            <a:r>
              <a:rPr lang="zh-CN" altLang="en-US" sz="1600" dirty="0">
                <a:latin typeface="微软雅黑" panose="020B0503020204020204" pitchFamily="34" charset="-122"/>
                <a:ea typeface="微软雅黑" panose="020B0503020204020204" pitchFamily="34" charset="-122"/>
              </a:rPr>
              <a:t>指导完成解决方案的评审。</a:t>
            </a:r>
            <a:endParaRPr lang="zh-CN" altLang="en-US" sz="16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831574" y="1519266"/>
            <a:ext cx="10916478" cy="1061829"/>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汇报</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、评委会对</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按照评审表进行反馈；</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、同意的，进入下一节点；不同意的，回到“流程</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005”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831574" y="2942096"/>
            <a:ext cx="10916478" cy="1346907"/>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技术方案</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评审意见；</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按照</a:t>
            </a:r>
            <a:r>
              <a:rPr lang="zh-CN" altLang="en-US" sz="1400" b="1" dirty="0">
                <a:latin typeface="微软雅黑" panose="020B0503020204020204" pitchFamily="34" charset="-122"/>
                <a:ea typeface="微软雅黑" panose="020B0503020204020204" pitchFamily="34" charset="-122"/>
              </a:rPr>
              <a:t>“</a:t>
            </a:r>
            <a:r>
              <a:rPr lang="zh-CN" altLang="en-US" sz="1400" dirty="0">
                <a:effectLst/>
                <a:latin typeface="微软雅黑" panose="020B0503020204020204" pitchFamily="34" charset="-122"/>
                <a:ea typeface="微软雅黑" panose="020B0503020204020204" pitchFamily="34" charset="-122"/>
              </a:rPr>
              <a:t>客户解决方案评审（</a:t>
            </a:r>
            <a:r>
              <a:rPr lang="en-GB" altLang="zh-CN" sz="1400" dirty="0">
                <a:effectLst/>
                <a:latin typeface="微软雅黑" panose="020B0503020204020204" pitchFamily="34" charset="-122"/>
                <a:ea typeface="微软雅黑" panose="020B0503020204020204" pitchFamily="34" charset="-122"/>
              </a:rPr>
              <a:t>KDP）</a:t>
            </a:r>
            <a:r>
              <a:rPr lang="zh-CN" altLang="en-US" sz="1400" dirty="0">
                <a:effectLst/>
                <a:latin typeface="微软雅黑" panose="020B0503020204020204" pitchFamily="34" charset="-122"/>
                <a:ea typeface="微软雅黑" panose="020B0503020204020204" pitchFamily="34" charset="-122"/>
              </a:rPr>
              <a:t>”执行</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673103" y="274443"/>
            <a:ext cx="4513632" cy="303299"/>
          </a:xfrm>
        </p:spPr>
        <p:txBody>
          <a:bodyPr/>
          <a:lstStyle/>
          <a:p>
            <a:r>
              <a:rPr lang="zh-CN" altLang="en-US" dirty="0"/>
              <a:t>关键节点</a:t>
            </a:r>
            <a:r>
              <a:rPr lang="en-US" altLang="zh-CN" dirty="0"/>
              <a:t>KCP</a:t>
            </a:r>
            <a:r>
              <a:rPr lang="zh-CN" altLang="en-US" dirty="0"/>
              <a:t>、</a:t>
            </a:r>
            <a:r>
              <a:rPr lang="en-US" altLang="zh-CN" dirty="0"/>
              <a:t>KDP</a:t>
            </a:r>
            <a:endParaRPr lang="zh-CN" altLang="en-US" dirty="0"/>
          </a:p>
        </p:txBody>
      </p:sp>
      <p:graphicFrame>
        <p:nvGraphicFramePr>
          <p:cNvPr id="3" name="表格 2"/>
          <p:cNvGraphicFramePr>
            <a:graphicFrameLocks noGrp="1"/>
          </p:cNvGraphicFramePr>
          <p:nvPr/>
        </p:nvGraphicFramePr>
        <p:xfrm>
          <a:off x="8249479" y="158633"/>
          <a:ext cx="3260036" cy="548494"/>
        </p:xfrm>
        <a:graphic>
          <a:graphicData uri="http://schemas.openxmlformats.org/drawingml/2006/table">
            <a:tbl>
              <a:tblPr/>
              <a:tblGrid>
                <a:gridCol w="2405270"/>
                <a:gridCol w="854766"/>
              </a:tblGrid>
              <a:tr h="270853">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文件编号</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fontAlgn="ctr"/>
                      <a:r>
                        <a:rPr lang="zh-CN" altLang="en-US" sz="1000" b="0" i="0" u="none" strike="noStrike" dirty="0">
                          <a:solidFill>
                            <a:srgbClr val="000000"/>
                          </a:solidFill>
                          <a:effectLst/>
                          <a:latin typeface="微软雅黑" panose="020B0503020204020204" pitchFamily="34" charset="-122"/>
                          <a:ea typeface="微软雅黑" panose="020B0503020204020204" pitchFamily="34" charset="-122"/>
                        </a:rPr>
                        <a:t>更新日期</a:t>
                      </a:r>
                      <a:endParaRPr lang="zh-CN" altLang="en-US" sz="10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277641">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dirty="0">
                          <a:latin typeface="微软雅黑" panose="020B0503020204020204" pitchFamily="34" charset="-122"/>
                          <a:ea typeface="微软雅黑" panose="020B0503020204020204" pitchFamily="34" charset="-122"/>
                        </a:rPr>
                        <a:t>MTCV-MO-M11.2-P-</a:t>
                      </a:r>
                      <a:r>
                        <a:rPr lang="zh-CN" altLang="en-US" sz="1000" b="0" dirty="0">
                          <a:latin typeface="微软雅黑" panose="020B0503020204020204" pitchFamily="34" charset="-122"/>
                          <a:ea typeface="微软雅黑" panose="020B0503020204020204" pitchFamily="34" charset="-122"/>
                        </a:rPr>
                        <a:t>推进商机</a:t>
                      </a:r>
                      <a:r>
                        <a:rPr lang="en-US" altLang="zh-CN" sz="1000" b="0" dirty="0">
                          <a:latin typeface="微软雅黑" panose="020B0503020204020204" pitchFamily="34" charset="-122"/>
                          <a:ea typeface="微软雅黑" panose="020B0503020204020204" pitchFamily="34" charset="-122"/>
                        </a:rPr>
                        <a:t>-V0.9</a:t>
                      </a:r>
                      <a:endParaRPr lang="en-US" altLang="zh-CN" sz="1000" b="0" dirty="0">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dirty="0">
                          <a:latin typeface="微软雅黑" panose="020B0503020204020204" pitchFamily="34" charset="-122"/>
                          <a:ea typeface="微软雅黑" panose="020B0503020204020204" pitchFamily="34" charset="-122"/>
                        </a:rPr>
                        <a:t>2025.4.23</a:t>
                      </a:r>
                      <a:endParaRPr lang="en-US" altLang="zh-CN" sz="1000" b="0" dirty="0">
                        <a:latin typeface="微软雅黑" panose="020B0503020204020204" pitchFamily="34" charset="-122"/>
                        <a:ea typeface="微软雅黑" panose="020B0503020204020204" pitchFamily="34" charset="-122"/>
                      </a:endParaRPr>
                    </a:p>
                  </a:txBody>
                  <a:tcPr marL="0" marR="0" marT="0" marB="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graphicFrame>
        <p:nvGraphicFramePr>
          <p:cNvPr id="4" name="表格 3"/>
          <p:cNvGraphicFramePr>
            <a:graphicFrameLocks noGrp="1"/>
          </p:cNvGraphicFramePr>
          <p:nvPr/>
        </p:nvGraphicFramePr>
        <p:xfrm>
          <a:off x="322729" y="1430773"/>
          <a:ext cx="11392349" cy="4746190"/>
        </p:xfrm>
        <a:graphic>
          <a:graphicData uri="http://schemas.openxmlformats.org/drawingml/2006/table">
            <a:tbl>
              <a:tblPr/>
              <a:tblGrid>
                <a:gridCol w="1292508"/>
                <a:gridCol w="1132370"/>
                <a:gridCol w="3276675"/>
                <a:gridCol w="4130937"/>
                <a:gridCol w="987955"/>
                <a:gridCol w="571904"/>
              </a:tblGrid>
              <a:tr h="309534">
                <a:tc>
                  <a:txBody>
                    <a:bodyPr/>
                    <a:lstStyle/>
                    <a:p>
                      <a:pPr algn="ctr" fontAlgn="t"/>
                      <a:r>
                        <a:rPr lang="zh-CN" altLang="en-US" sz="1200" b="1" dirty="0">
                          <a:effectLst/>
                          <a:latin typeface="微软雅黑" panose="020B0503020204020204" pitchFamily="34" charset="-122"/>
                          <a:ea typeface="微软雅黑" panose="020B0503020204020204" pitchFamily="34" charset="-122"/>
                        </a:rPr>
                        <a:t>关键节点</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t"/>
                      <a:r>
                        <a:rPr lang="zh-CN" altLang="en-US" sz="1200" b="1" dirty="0">
                          <a:effectLst/>
                          <a:latin typeface="微软雅黑" panose="020B0503020204020204" pitchFamily="34" charset="-122"/>
                          <a:ea typeface="微软雅黑" panose="020B0503020204020204" pitchFamily="34" charset="-122"/>
                        </a:rPr>
                        <a:t>控制点</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t"/>
                      <a:r>
                        <a:rPr lang="en-GB" sz="1200" b="1" dirty="0">
                          <a:effectLst/>
                          <a:latin typeface="微软雅黑" panose="020B0503020204020204" pitchFamily="34" charset="-122"/>
                          <a:ea typeface="微软雅黑" panose="020B0503020204020204" pitchFamily="34" charset="-122"/>
                        </a:rPr>
                        <a:t>KCP/KDP</a:t>
                      </a:r>
                      <a:r>
                        <a:rPr lang="zh-CN" altLang="en-US" sz="1200" b="1" dirty="0">
                          <a:effectLst/>
                          <a:latin typeface="微软雅黑" panose="020B0503020204020204" pitchFamily="34" charset="-122"/>
                          <a:ea typeface="微软雅黑" panose="020B0503020204020204" pitchFamily="34" charset="-122"/>
                        </a:rPr>
                        <a:t>说明</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t"/>
                      <a:r>
                        <a:rPr lang="en-GB" sz="1200" b="1" dirty="0">
                          <a:effectLst/>
                          <a:latin typeface="微软雅黑" panose="020B0503020204020204" pitchFamily="34" charset="-122"/>
                          <a:ea typeface="微软雅黑" panose="020B0503020204020204" pitchFamily="34" charset="-122"/>
                        </a:rPr>
                        <a:t>KCP/KDP</a:t>
                      </a:r>
                      <a:r>
                        <a:rPr lang="zh-CN" altLang="en-US" sz="1200" b="1" dirty="0">
                          <a:effectLst/>
                          <a:latin typeface="微软雅黑" panose="020B0503020204020204" pitchFamily="34" charset="-122"/>
                          <a:ea typeface="微软雅黑" panose="020B0503020204020204" pitchFamily="34" charset="-122"/>
                        </a:rPr>
                        <a:t>负责人</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fontAlgn="t"/>
                      <a:r>
                        <a:rPr lang="zh-CN" altLang="en-US" sz="1200" b="1" dirty="0">
                          <a:effectLst/>
                          <a:latin typeface="微软雅黑" panose="020B0503020204020204" pitchFamily="34" charset="-122"/>
                          <a:ea typeface="微软雅黑" panose="020B0503020204020204" pitchFamily="34" charset="-122"/>
                        </a:rPr>
                        <a:t>指导书</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l" fontAlgn="t"/>
                      <a:r>
                        <a:rPr lang="zh-CN" altLang="en-US" sz="1200" b="1" dirty="0">
                          <a:effectLst/>
                          <a:latin typeface="微软雅黑" panose="020B0503020204020204" pitchFamily="34" charset="-122"/>
                          <a:ea typeface="微软雅黑" panose="020B0503020204020204" pitchFamily="34" charset="-122"/>
                        </a:rPr>
                        <a:t>备注</a:t>
                      </a:r>
                      <a:endParaRPr lang="zh-CN" altLang="en-US" sz="1200" b="1"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4436656">
                <a:tc>
                  <a:txBody>
                    <a:bodyPr/>
                    <a:lstStyle/>
                    <a:p>
                      <a:pPr fontAlgn="ctr"/>
                      <a:r>
                        <a:rPr lang="en-GB" sz="1200">
                          <a:effectLst/>
                          <a:latin typeface="微软雅黑" panose="020B0503020204020204" pitchFamily="34" charset="-122"/>
                          <a:ea typeface="微软雅黑" panose="020B0503020204020204" pitchFamily="34" charset="-122"/>
                        </a:rPr>
                        <a:t>M11.2.2 </a:t>
                      </a:r>
                      <a:r>
                        <a:rPr lang="zh-CN" altLang="en-US" sz="1200">
                          <a:effectLst/>
                          <a:latin typeface="微软雅黑" panose="020B0503020204020204" pitchFamily="34" charset="-122"/>
                          <a:ea typeface="微软雅黑" panose="020B0503020204020204" pitchFamily="34" charset="-122"/>
                        </a:rPr>
                        <a:t>制定客户解决方案</a:t>
                      </a:r>
                      <a:endParaRPr lang="zh-CN" altLang="en-US" sz="120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CN" altLang="en-US" sz="1200" dirty="0">
                          <a:effectLst/>
                          <a:latin typeface="微软雅黑" panose="020B0503020204020204" pitchFamily="34" charset="-122"/>
                          <a:ea typeface="微软雅黑" panose="020B0503020204020204" pitchFamily="34" charset="-122"/>
                        </a:rPr>
                        <a:t>客户解决方案评审（</a:t>
                      </a:r>
                      <a:r>
                        <a:rPr lang="en-GB" sz="1200" dirty="0">
                          <a:effectLst/>
                          <a:latin typeface="微软雅黑" panose="020B0503020204020204" pitchFamily="34" charset="-122"/>
                          <a:ea typeface="微软雅黑" panose="020B0503020204020204" pitchFamily="34" charset="-122"/>
                        </a:rPr>
                        <a:t>KDP）</a:t>
                      </a:r>
                      <a:endParaRPr lang="en-GB" sz="1200"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200" b="1" dirty="0">
                          <a:effectLst/>
                          <a:latin typeface="微软雅黑" panose="020B0503020204020204" pitchFamily="34" charset="-122"/>
                          <a:ea typeface="微软雅黑" panose="020B0503020204020204" pitchFamily="34" charset="-122"/>
                        </a:rPr>
                        <a:t>评审要素：</a:t>
                      </a:r>
                      <a:endParaRPr lang="zh-CN" altLang="en-US" sz="1200" b="1"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方案价值点清晰明确，每个功能能够支撑解决客户问题，满足客户需求；</a:t>
                      </a:r>
                      <a:endParaRPr lang="zh-CN" altLang="en-US" sz="1200"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通过定性、定量的方式准确分析方案价值并进行升华；</a:t>
                      </a:r>
                      <a:endParaRPr lang="zh-CN" altLang="en-US" sz="1200"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基于客户决策链不同角色价值认可策略及达成目的清晰；</a:t>
                      </a:r>
                      <a:endParaRPr lang="zh-CN" altLang="en-US" sz="1200"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执行责任人及时间点明确，重点难度功能提前完成验证；</a:t>
                      </a:r>
                      <a:endParaRPr lang="zh-CN" altLang="en-US" sz="1200"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解决方案交付实施标准和建议明确清晰，能够牵引客户有效关注实施质量和要求；</a:t>
                      </a:r>
                      <a:endParaRPr lang="zh-CN" altLang="en-US" sz="1200" dirty="0">
                        <a:effectLst/>
                        <a:latin typeface="微软雅黑" panose="020B0503020204020204" pitchFamily="34" charset="-122"/>
                        <a:ea typeface="微软雅黑" panose="020B0503020204020204" pitchFamily="34" charset="-122"/>
                      </a:endParaRPr>
                    </a:p>
                    <a:p>
                      <a:pPr marL="228600" indent="-228600" fontAlgn="ctr">
                        <a:buFont typeface="+mj-ea"/>
                        <a:buAutoNum type="circleNumDbPlain"/>
                      </a:pPr>
                      <a:r>
                        <a:rPr lang="zh-CN" altLang="en-US" sz="1200" dirty="0">
                          <a:effectLst/>
                          <a:latin typeface="微软雅黑" panose="020B0503020204020204" pitchFamily="34" charset="-122"/>
                          <a:ea typeface="微软雅黑" panose="020B0503020204020204" pitchFamily="34" charset="-122"/>
                        </a:rPr>
                        <a:t>有明确客户或场景案例能够证明解决方案价值；</a:t>
                      </a:r>
                      <a:endParaRPr lang="zh-CN" altLang="en-US" sz="1200" dirty="0">
                        <a:effectLst/>
                        <a:latin typeface="微软雅黑" panose="020B0503020204020204" pitchFamily="34" charset="-122"/>
                        <a:ea typeface="微软雅黑" panose="020B0503020204020204" pitchFamily="34" charset="-122"/>
                      </a:endParaRPr>
                    </a:p>
                    <a:p>
                      <a:pPr fontAlgn="ctr"/>
                      <a:endParaRPr lang="en-US" altLang="zh-CN" sz="1200" dirty="0">
                        <a:effectLst/>
                        <a:latin typeface="微软雅黑" panose="020B0503020204020204" pitchFamily="34" charset="-122"/>
                        <a:ea typeface="微软雅黑" panose="020B0503020204020204" pitchFamily="34" charset="-122"/>
                      </a:endParaRPr>
                    </a:p>
                    <a:p>
                      <a:pPr fontAlgn="ctr"/>
                      <a:r>
                        <a:rPr lang="zh-CN" altLang="en-US" sz="1200" b="1" dirty="0">
                          <a:effectLst/>
                          <a:latin typeface="微软雅黑" panose="020B0503020204020204" pitchFamily="34" charset="-122"/>
                          <a:ea typeface="微软雅黑" panose="020B0503020204020204" pitchFamily="34" charset="-122"/>
                        </a:rPr>
                        <a:t>决策输出：</a:t>
                      </a:r>
                      <a:endParaRPr lang="zh-CN" altLang="en-US" sz="1200" b="1" dirty="0">
                        <a:effectLst/>
                        <a:latin typeface="微软雅黑" panose="020B0503020204020204" pitchFamily="34" charset="-122"/>
                        <a:ea typeface="微软雅黑" panose="020B0503020204020204" pitchFamily="34" charset="-122"/>
                      </a:endParaRPr>
                    </a:p>
                    <a:p>
                      <a:pPr fontAlgn="ctr"/>
                      <a:r>
                        <a:rPr lang="zh-CN" altLang="en-US" sz="1200" dirty="0">
                          <a:effectLst/>
                          <a:latin typeface="微软雅黑" panose="020B0503020204020204" pitchFamily="34" charset="-122"/>
                          <a:ea typeface="微软雅黑" panose="020B0503020204020204" pitchFamily="34" charset="-122"/>
                        </a:rPr>
                        <a:t>客户端解决方案是否提交、汇报</a:t>
                      </a:r>
                      <a:endParaRPr lang="zh-CN" altLang="en-US" sz="1200" dirty="0">
                        <a:effectLst/>
                        <a:latin typeface="微软雅黑" panose="020B0503020204020204" pitchFamily="34" charset="-122"/>
                        <a:ea typeface="微软雅黑" panose="020B0503020204020204" pitchFamily="34" charset="-122"/>
                      </a:endParaRPr>
                    </a:p>
                    <a:p>
                      <a:pPr fontAlgn="ctr"/>
                      <a:r>
                        <a:rPr lang="zh-CN" altLang="en-US" sz="1200" dirty="0">
                          <a:effectLst/>
                          <a:latin typeface="微软雅黑" panose="020B0503020204020204" pitchFamily="34" charset="-122"/>
                          <a:ea typeface="微软雅黑" panose="020B0503020204020204" pitchFamily="34" charset="-122"/>
                        </a:rPr>
                        <a:t>价值传递责任人分工</a:t>
                      </a:r>
                      <a:endParaRPr lang="zh-CN" altLang="en-US" sz="1200" dirty="0">
                        <a:effectLst/>
                        <a:latin typeface="微软雅黑" panose="020B0503020204020204" pitchFamily="34" charset="-122"/>
                        <a:ea typeface="微软雅黑" panose="020B0503020204020204" pitchFamily="34" charset="-122"/>
                      </a:endParaRPr>
                    </a:p>
                    <a:p>
                      <a:pPr fontAlgn="ctr"/>
                      <a:br>
                        <a:rPr lang="zh-CN" altLang="en-US" sz="1200" dirty="0">
                          <a:effectLst/>
                          <a:latin typeface="微软雅黑" panose="020B0503020204020204" pitchFamily="34" charset="-122"/>
                          <a:ea typeface="微软雅黑" panose="020B0503020204020204" pitchFamily="34" charset="-122"/>
                        </a:rPr>
                      </a:br>
                      <a:endParaRPr lang="zh-CN" altLang="en-US" sz="1200"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GB" sz="1200" b="1" dirty="0">
                          <a:effectLst/>
                          <a:latin typeface="微软雅黑" panose="020B0503020204020204" pitchFamily="34" charset="-122"/>
                          <a:ea typeface="微软雅黑" panose="020B0503020204020204" pitchFamily="34" charset="-122"/>
                        </a:rPr>
                        <a:t>BG</a:t>
                      </a:r>
                      <a:r>
                        <a:rPr lang="zh-CN" altLang="en-US" sz="1200" b="1" dirty="0">
                          <a:effectLst/>
                          <a:latin typeface="微软雅黑" panose="020B0503020204020204" pitchFamily="34" charset="-122"/>
                          <a:ea typeface="微软雅黑" panose="020B0503020204020204" pitchFamily="34" charset="-122"/>
                        </a:rPr>
                        <a:t>级：</a:t>
                      </a:r>
                      <a:r>
                        <a:rPr lang="en-GB" sz="1200" b="1" dirty="0">
                          <a:effectLst/>
                          <a:latin typeface="微软雅黑" panose="020B0503020204020204" pitchFamily="34" charset="-122"/>
                          <a:ea typeface="微软雅黑" panose="020B0503020204020204" pitchFamily="34" charset="-122"/>
                        </a:rPr>
                        <a:t>BG</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p>
                      <a:pPr fontAlgn="ctr"/>
                      <a:r>
                        <a:rPr lang="zh-CN" altLang="en-US" sz="1200" dirty="0">
                          <a:effectLst/>
                          <a:latin typeface="微软雅黑" panose="020B0503020204020204" pitchFamily="34" charset="-122"/>
                          <a:ea typeface="微软雅黑" panose="020B0503020204020204" pitchFamily="34" charset="-122"/>
                        </a:rPr>
                        <a:t>评审人：平台管理部总经理、系统总</a:t>
                      </a:r>
                      <a:r>
                        <a:rPr lang="en-US" altLang="zh-CN" sz="1200" dirty="0">
                          <a:effectLst/>
                          <a:latin typeface="微软雅黑" panose="020B0503020204020204" pitchFamily="34" charset="-122"/>
                          <a:ea typeface="微软雅黑" panose="020B0503020204020204" pitchFamily="34" charset="-122"/>
                        </a:rPr>
                        <a:t>&amp;</a:t>
                      </a:r>
                      <a:r>
                        <a:rPr lang="zh-CN" altLang="en-US" sz="1200" dirty="0">
                          <a:effectLst/>
                          <a:latin typeface="微软雅黑" panose="020B0503020204020204" pitchFamily="34" charset="-122"/>
                          <a:ea typeface="微软雅黑" panose="020B0503020204020204" pitchFamily="34" charset="-122"/>
                        </a:rPr>
                        <a:t>本部行业经理、产品</a:t>
                      </a:r>
                      <a:r>
                        <a:rPr lang="en-GB" sz="1200" dirty="0">
                          <a:effectLst/>
                          <a:latin typeface="微软雅黑" panose="020B0503020204020204" pitchFamily="34" charset="-122"/>
                          <a:ea typeface="微软雅黑" panose="020B0503020204020204" pitchFamily="34" charset="-122"/>
                        </a:rPr>
                        <a:t>BU</a:t>
                      </a:r>
                      <a:r>
                        <a:rPr lang="zh-CN" altLang="en-US" sz="1200" dirty="0">
                          <a:effectLst/>
                          <a:latin typeface="微软雅黑" panose="020B0503020204020204" pitchFamily="34" charset="-122"/>
                          <a:ea typeface="微软雅黑" panose="020B0503020204020204" pitchFamily="34" charset="-122"/>
                        </a:rPr>
                        <a:t>总、客户体验总、解决方案总、区域铁三角</a:t>
                      </a:r>
                      <a:endParaRPr lang="en-GB" sz="1200" dirty="0">
                        <a:effectLst/>
                        <a:latin typeface="微软雅黑" panose="020B0503020204020204" pitchFamily="34" charset="-122"/>
                        <a:ea typeface="微软雅黑" panose="020B0503020204020204" pitchFamily="34" charset="-122"/>
                      </a:endParaRPr>
                    </a:p>
                    <a:p>
                      <a:pPr fontAlgn="ctr"/>
                      <a:r>
                        <a:rPr lang="en-GB" sz="1200" b="1" dirty="0">
                          <a:effectLst/>
                          <a:latin typeface="微软雅黑" panose="020B0503020204020204" pitchFamily="34" charset="-122"/>
                          <a:ea typeface="微软雅黑" panose="020B0503020204020204" pitchFamily="34" charset="-122"/>
                        </a:rPr>
                        <a:t>BU</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p>
                      <a:pPr fontAlgn="ctr"/>
                      <a:r>
                        <a:rPr lang="zh-CN" altLang="en-US" sz="1200" dirty="0">
                          <a:effectLst/>
                          <a:latin typeface="微软雅黑" panose="020B0503020204020204" pitchFamily="34" charset="-122"/>
                          <a:ea typeface="微软雅黑" panose="020B0503020204020204" pitchFamily="34" charset="-122"/>
                        </a:rPr>
                        <a:t>评审人：系统总</a:t>
                      </a:r>
                      <a:r>
                        <a:rPr lang="en-US" altLang="zh-CN" sz="1200" dirty="0">
                          <a:effectLst/>
                          <a:latin typeface="微软雅黑" panose="020B0503020204020204" pitchFamily="34" charset="-122"/>
                          <a:ea typeface="微软雅黑" panose="020B0503020204020204" pitchFamily="34" charset="-122"/>
                        </a:rPr>
                        <a:t>&amp;</a:t>
                      </a:r>
                      <a:r>
                        <a:rPr lang="zh-CN" altLang="en-US" sz="1200" dirty="0">
                          <a:effectLst/>
                          <a:latin typeface="微软雅黑" panose="020B0503020204020204" pitchFamily="34" charset="-122"/>
                          <a:ea typeface="微软雅黑" panose="020B0503020204020204" pitchFamily="34" charset="-122"/>
                        </a:rPr>
                        <a:t>本部行业经理、营销总</a:t>
                      </a:r>
                      <a:r>
                        <a:rPr lang="en-US" altLang="zh-CN" sz="1200" dirty="0">
                          <a:effectLst/>
                          <a:latin typeface="微软雅黑" panose="020B0503020204020204" pitchFamily="34" charset="-122"/>
                          <a:ea typeface="微软雅黑" panose="020B0503020204020204" pitchFamily="34" charset="-122"/>
                        </a:rPr>
                        <a:t>&amp;</a:t>
                      </a:r>
                      <a:r>
                        <a:rPr lang="zh-CN" altLang="en-US" sz="1200" dirty="0">
                          <a:effectLst/>
                          <a:latin typeface="微软雅黑" panose="020B0503020204020204" pitchFamily="34" charset="-122"/>
                          <a:ea typeface="微软雅黑" panose="020B0503020204020204" pitchFamily="34" charset="-122"/>
                        </a:rPr>
                        <a:t>对应拓展、产品</a:t>
                      </a:r>
                      <a:r>
                        <a:rPr lang="en-GB" sz="1200" dirty="0">
                          <a:effectLst/>
                          <a:latin typeface="微软雅黑" panose="020B0503020204020204" pitchFamily="34" charset="-122"/>
                          <a:ea typeface="微软雅黑" panose="020B0503020204020204" pitchFamily="34" charset="-122"/>
                        </a:rPr>
                        <a:t>BU、 </a:t>
                      </a:r>
                      <a:r>
                        <a:rPr lang="zh-CN" altLang="en-US" sz="1200" dirty="0">
                          <a:effectLst/>
                          <a:latin typeface="微软雅黑" panose="020B0503020204020204" pitchFamily="34" charset="-122"/>
                          <a:ea typeface="微软雅黑" panose="020B0503020204020204" pitchFamily="34" charset="-122"/>
                        </a:rPr>
                        <a:t>客户体验部、解决方案行业总，区域铁三角</a:t>
                      </a:r>
                      <a:endParaRPr lang="zh-CN" altLang="en-US" sz="1200" dirty="0">
                        <a:effectLst/>
                        <a:latin typeface="微软雅黑" panose="020B0503020204020204" pitchFamily="34" charset="-122"/>
                        <a:ea typeface="微软雅黑" panose="020B0503020204020204" pitchFamily="34" charset="-122"/>
                      </a:endParaRPr>
                    </a:p>
                    <a:p>
                      <a:pPr fontAlgn="ctr"/>
                      <a:r>
                        <a:rPr lang="zh-CN" altLang="en-US" sz="1200" b="1" dirty="0">
                          <a:effectLst/>
                          <a:latin typeface="微软雅黑" panose="020B0503020204020204" pitchFamily="34" charset="-122"/>
                          <a:ea typeface="微软雅黑" panose="020B0503020204020204" pitchFamily="34" charset="-122"/>
                        </a:rPr>
                        <a:t>区域级：</a:t>
                      </a:r>
                      <a:endParaRPr lang="zh-CN" altLang="en-US" sz="1200" b="1" dirty="0">
                        <a:effectLst/>
                        <a:latin typeface="微软雅黑" panose="020B0503020204020204" pitchFamily="34" charset="-122"/>
                        <a:ea typeface="微软雅黑" panose="020B0503020204020204" pitchFamily="34" charset="-122"/>
                      </a:endParaRPr>
                    </a:p>
                    <a:p>
                      <a:pPr algn="l" fontAlgn="ctr"/>
                      <a:r>
                        <a:rPr lang="zh-CN" altLang="en-US" sz="1200" dirty="0">
                          <a:effectLst/>
                          <a:latin typeface="微软雅黑" panose="020B0503020204020204" pitchFamily="34" charset="-122"/>
                          <a:ea typeface="微软雅黑" panose="020B0503020204020204" pitchFamily="34" charset="-122"/>
                        </a:rPr>
                        <a:t>评审人：区域铁三角，区域行业经理、项目铁三角</a:t>
                      </a:r>
                      <a:endParaRPr lang="zh-CN" altLang="en-US" sz="1200" dirty="0">
                        <a:effectLst/>
                        <a:latin typeface="微软雅黑" panose="020B0503020204020204" pitchFamily="34" charset="-122"/>
                        <a:ea typeface="微软雅黑" panose="020B0503020204020204" pitchFamily="34" charset="-122"/>
                      </a:endParaRPr>
                    </a:p>
                    <a:p>
                      <a:pPr algn="l" fontAlgn="ctr"/>
                      <a:endParaRPr lang="en-GB" sz="1200" dirty="0">
                        <a:effectLst/>
                        <a:latin typeface="微软雅黑" panose="020B0503020204020204" pitchFamily="34" charset="-122"/>
                        <a:ea typeface="微软雅黑" panose="020B0503020204020204" pitchFamily="34" charset="-122"/>
                      </a:endParaRPr>
                    </a:p>
                    <a:p>
                      <a:pPr algn="l" fontAlgn="ctr"/>
                      <a:r>
                        <a:rPr lang="en-GB" sz="1200" b="1" dirty="0">
                          <a:effectLst/>
                          <a:latin typeface="微软雅黑" panose="020B0503020204020204" pitchFamily="34" charset="-122"/>
                          <a:ea typeface="微软雅黑" panose="020B0503020204020204" pitchFamily="34" charset="-122"/>
                        </a:rPr>
                        <a:t>BG</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p>
                      <a:pPr algn="l" fontAlgn="ctr"/>
                      <a:r>
                        <a:rPr lang="zh-CN" altLang="en-US" sz="1200" dirty="0">
                          <a:effectLst/>
                          <a:latin typeface="微软雅黑" panose="020B0503020204020204" pitchFamily="34" charset="-122"/>
                          <a:ea typeface="微软雅黑" panose="020B0503020204020204" pitchFamily="34" charset="-122"/>
                        </a:rPr>
                        <a:t>决策人：售前技术部总经理</a:t>
                      </a:r>
                      <a:endParaRPr lang="en-GB" sz="1200" dirty="0">
                        <a:effectLst/>
                        <a:latin typeface="微软雅黑" panose="020B0503020204020204" pitchFamily="34" charset="-122"/>
                        <a:ea typeface="微软雅黑" panose="020B0503020204020204" pitchFamily="34" charset="-122"/>
                      </a:endParaRPr>
                    </a:p>
                    <a:p>
                      <a:pPr algn="l" fontAlgn="ctr"/>
                      <a:r>
                        <a:rPr lang="en-GB" sz="1200" b="1" dirty="0">
                          <a:effectLst/>
                          <a:latin typeface="微软雅黑" panose="020B0503020204020204" pitchFamily="34" charset="-122"/>
                          <a:ea typeface="微软雅黑" panose="020B0503020204020204" pitchFamily="34" charset="-122"/>
                        </a:rPr>
                        <a:t>BU</a:t>
                      </a:r>
                      <a:r>
                        <a:rPr lang="zh-CN" altLang="en-US" sz="1200" b="1" dirty="0">
                          <a:effectLst/>
                          <a:latin typeface="微软雅黑" panose="020B0503020204020204" pitchFamily="34" charset="-122"/>
                          <a:ea typeface="微软雅黑" panose="020B0503020204020204" pitchFamily="34" charset="-122"/>
                        </a:rPr>
                        <a:t>级：</a:t>
                      </a:r>
                      <a:endParaRPr lang="zh-CN" altLang="en-US" sz="1200" b="1" dirty="0">
                        <a:effectLst/>
                        <a:latin typeface="微软雅黑" panose="020B0503020204020204" pitchFamily="34" charset="-122"/>
                        <a:ea typeface="微软雅黑" panose="020B0503020204020204" pitchFamily="34" charset="-122"/>
                      </a:endParaRPr>
                    </a:p>
                    <a:p>
                      <a:pPr algn="l" fontAlgn="ctr"/>
                      <a:r>
                        <a:rPr lang="zh-CN" altLang="en-US" sz="1200" dirty="0">
                          <a:effectLst/>
                          <a:latin typeface="微软雅黑" panose="020B0503020204020204" pitchFamily="34" charset="-122"/>
                          <a:ea typeface="微软雅黑" panose="020B0503020204020204" pitchFamily="34" charset="-122"/>
                        </a:rPr>
                        <a:t>决策人：大区节点经理</a:t>
                      </a:r>
                      <a:r>
                        <a:rPr lang="en-US" altLang="zh-CN" sz="1200" dirty="0">
                          <a:effectLst/>
                          <a:latin typeface="微软雅黑" panose="020B0503020204020204" pitchFamily="34" charset="-122"/>
                          <a:ea typeface="微软雅黑" panose="020B0503020204020204" pitchFamily="34" charset="-122"/>
                        </a:rPr>
                        <a:t>&amp;</a:t>
                      </a:r>
                      <a:r>
                        <a:rPr lang="zh-CN" altLang="en-US" sz="1200" dirty="0">
                          <a:effectLst/>
                          <a:latin typeface="微软雅黑" panose="020B0503020204020204" pitchFamily="34" charset="-122"/>
                          <a:ea typeface="微软雅黑" panose="020B0503020204020204" pitchFamily="34" charset="-122"/>
                        </a:rPr>
                        <a:t>系统部技术经理</a:t>
                      </a:r>
                      <a:endParaRPr lang="en-US" altLang="zh-CN" sz="1200" dirty="0">
                        <a:effectLst/>
                        <a:latin typeface="微软雅黑" panose="020B0503020204020204" pitchFamily="34" charset="-122"/>
                        <a:ea typeface="微软雅黑" panose="020B0503020204020204" pitchFamily="34" charset="-122"/>
                      </a:endParaRPr>
                    </a:p>
                    <a:p>
                      <a:pPr algn="l" fontAlgn="ctr"/>
                      <a:r>
                        <a:rPr lang="zh-CN" altLang="en-US" sz="1200" b="1" dirty="0">
                          <a:effectLst/>
                          <a:latin typeface="微软雅黑" panose="020B0503020204020204" pitchFamily="34" charset="-122"/>
                          <a:ea typeface="微软雅黑" panose="020B0503020204020204" pitchFamily="34" charset="-122"/>
                        </a:rPr>
                        <a:t>区域级：</a:t>
                      </a:r>
                      <a:endParaRPr lang="zh-CN" altLang="en-US" sz="1200" b="1" dirty="0">
                        <a:effectLst/>
                        <a:latin typeface="微软雅黑" panose="020B0503020204020204" pitchFamily="34" charset="-122"/>
                        <a:ea typeface="微软雅黑" panose="020B0503020204020204" pitchFamily="34" charset="-122"/>
                      </a:endParaRPr>
                    </a:p>
                    <a:p>
                      <a:pPr algn="l" fontAlgn="ctr"/>
                      <a:r>
                        <a:rPr lang="zh-CN" altLang="en-US" sz="1200" dirty="0">
                          <a:effectLst/>
                          <a:latin typeface="微软雅黑" panose="020B0503020204020204" pitchFamily="34" charset="-122"/>
                          <a:ea typeface="微软雅黑" panose="020B0503020204020204" pitchFamily="34" charset="-122"/>
                        </a:rPr>
                        <a:t>决策人：区域技术经理</a:t>
                      </a:r>
                      <a:endParaRPr lang="zh-CN" altLang="en-US" sz="1200"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GB" sz="1200" dirty="0">
                        <a:effectLst/>
                        <a:latin typeface="微软雅黑" panose="020B0503020204020204" pitchFamily="34" charset="-122"/>
                        <a:ea typeface="微软雅黑" panose="020B0503020204020204" pitchFamily="34" charset="-122"/>
                      </a:endParaRPr>
                    </a:p>
                    <a:p>
                      <a:pPr algn="l" fontAlgn="ctr"/>
                      <a:r>
                        <a:rPr lang="zh-CN" altLang="en-US" sz="1200" b="0" dirty="0">
                          <a:effectLst/>
                          <a:latin typeface="微软雅黑" panose="020B0503020204020204" pitchFamily="34" charset="-122"/>
                          <a:ea typeface="微软雅黑" panose="020B0503020204020204" pitchFamily="34" charset="-122"/>
                        </a:rPr>
                        <a:t>降龙十八掌</a:t>
                      </a:r>
                      <a:r>
                        <a:rPr lang="en-US" altLang="zh-CN" sz="1200" b="0" dirty="0">
                          <a:effectLst/>
                          <a:latin typeface="微软雅黑" panose="020B0503020204020204" pitchFamily="34" charset="-122"/>
                          <a:ea typeface="微软雅黑" panose="020B0503020204020204" pitchFamily="34" charset="-122"/>
                        </a:rPr>
                        <a:t>-</a:t>
                      </a:r>
                      <a:r>
                        <a:rPr lang="zh-CN" altLang="en-US" sz="1200" b="0" dirty="0">
                          <a:effectLst/>
                          <a:latin typeface="微软雅黑" panose="020B0503020204020204" pitchFamily="34" charset="-122"/>
                          <a:ea typeface="微软雅黑" panose="020B0503020204020204" pitchFamily="34" charset="-122"/>
                        </a:rPr>
                        <a:t>大项目推进策略</a:t>
                      </a:r>
                      <a:endParaRPr lang="zh-CN" altLang="en-US" sz="1200" b="0"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r>
                        <a:rPr lang="zh-CN" altLang="en-US" sz="1200" dirty="0">
                          <a:effectLst/>
                          <a:latin typeface="微软雅黑" panose="020B0503020204020204" pitchFamily="34" charset="-122"/>
                          <a:ea typeface="微软雅黑" panose="020B0503020204020204" pitchFamily="34" charset="-122"/>
                        </a:rPr>
                        <a:t>新增</a:t>
                      </a:r>
                      <a:endParaRPr lang="zh-CN" altLang="en-US" sz="1200" dirty="0">
                        <a:effectLst/>
                        <a:latin typeface="微软雅黑" panose="020B0503020204020204" pitchFamily="34" charset="-122"/>
                        <a:ea typeface="微软雅黑" panose="020B0503020204020204" pitchFamily="34" charset="-122"/>
                      </a:endParaRPr>
                    </a:p>
                  </a:txBody>
                  <a:tcPr marL="47297" marR="47297" marT="47297" marB="472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5" name="Rectangle 1"/>
          <p:cNvSpPr>
            <a:spLocks noChangeArrowheads="1"/>
          </p:cNvSpPr>
          <p:nvPr/>
        </p:nvSpPr>
        <p:spPr bwMode="auto">
          <a:xfrm>
            <a:off x="-13097195" y="1825625"/>
            <a:ext cx="4698651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009</a:t>
            </a:r>
            <a:r>
              <a:rPr lang="zh-CN" altLang="en-US" dirty="0">
                <a:solidFill>
                  <a:srgbClr val="FF0000"/>
                </a:solidFill>
              </a:rPr>
              <a:t>客户关系负责人和技术负责人</a:t>
            </a:r>
            <a:r>
              <a:rPr lang="zh-CN" altLang="en-US" dirty="0"/>
              <a:t>正式技术交流</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主要变化点：无。</a:t>
            </a:r>
            <a:endParaRPr lang="zh-CN" altLang="en-US" sz="1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346907"/>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客户关系负责人，</a:t>
            </a:r>
            <a:r>
              <a:rPr lang="zh-CN" altLang="en-US" sz="1400" dirty="0">
                <a:latin typeface="微软雅黑" panose="020B0503020204020204" pitchFamily="34" charset="-122"/>
                <a:ea typeface="微软雅黑" panose="020B0503020204020204" pitchFamily="34" charset="-122"/>
              </a:rPr>
              <a:t>邀请并确认客户决策人做正式的技术交流的时间、地点及注意事项；</a:t>
            </a:r>
            <a:endParaRPr lang="zh-CN" altLang="en-US" sz="1400" dirty="0">
              <a:latin typeface="微软雅黑" panose="020B0503020204020204" pitchFamily="34" charset="-122"/>
              <a:ea typeface="微软雅黑" panose="020B0503020204020204" pitchFamily="34" charset="-122"/>
            </a:endParaRPr>
          </a:p>
          <a:p>
            <a:pPr>
              <a:lnSpc>
                <a:spcPct val="150000"/>
              </a:lnSpc>
            </a:pP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客户关系负责人和技术负责人，</a:t>
            </a:r>
            <a:r>
              <a:rPr lang="zh-CN" altLang="en-US" sz="1400" dirty="0">
                <a:latin typeface="微软雅黑" panose="020B0503020204020204" pitchFamily="34" charset="-122"/>
                <a:ea typeface="微软雅黑" panose="020B0503020204020204" pitchFamily="34" charset="-122"/>
              </a:rPr>
              <a:t>需参照</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高质量技术交流</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开展。正式技术交流形式包括不限于：正式技术交流、体验中心</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总部参观、样板参观、技术沙龙、</a:t>
            </a:r>
            <a:r>
              <a:rPr lang="en-GB" altLang="zh-CN" sz="1400" dirty="0">
                <a:latin typeface="微软雅黑" panose="020B0503020204020204" pitchFamily="34" charset="-122"/>
                <a:ea typeface="微软雅黑" panose="020B0503020204020204" pitchFamily="34" charset="-122"/>
              </a:rPr>
              <a:t>POC</a:t>
            </a:r>
            <a:r>
              <a:rPr lang="zh-CN" altLang="en-US" sz="1400" dirty="0">
                <a:latin typeface="微软雅黑" panose="020B0503020204020204" pitchFamily="34" charset="-122"/>
                <a:ea typeface="微软雅黑" panose="020B0503020204020204" pitchFamily="34" charset="-122"/>
              </a:rPr>
              <a:t>等形式；</a:t>
            </a:r>
            <a:endParaRPr lang="zh-CN" altLang="en-US"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3107467"/>
            <a:ext cx="10916478" cy="1243289"/>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gn="l">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邀请到客户决策人；</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完成正式技术交流；</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参考</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高质量技术交流</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标准规范</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010</a:t>
            </a:r>
            <a:r>
              <a:rPr lang="zh-CN" altLang="en-US" dirty="0">
                <a:solidFill>
                  <a:srgbClr val="FF0000"/>
                </a:solidFill>
              </a:rPr>
              <a:t>客户关系负责人和技术负责人</a:t>
            </a:r>
            <a:r>
              <a:rPr lang="zh-CN" altLang="en-US" dirty="0"/>
              <a:t>进行测试引导并组织测试</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22873"/>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dirty="0">
                <a:latin typeface="微软雅黑" panose="020B0503020204020204" pitchFamily="34" charset="-122"/>
                <a:ea typeface="微软雅黑" panose="020B0503020204020204" pitchFamily="34" charset="-122"/>
              </a:rPr>
              <a:t>客户要求提供</a:t>
            </a:r>
            <a:r>
              <a:rPr lang="en-GB" altLang="zh-CN" sz="1600" dirty="0" err="1">
                <a:latin typeface="微软雅黑" panose="020B0503020204020204" pitchFamily="34" charset="-122"/>
                <a:ea typeface="微软雅黑" panose="020B0503020204020204" pitchFamily="34" charset="-122"/>
              </a:rPr>
              <a:t>poc</a:t>
            </a:r>
            <a:r>
              <a:rPr lang="zh-CN" altLang="en-US" sz="1600" dirty="0">
                <a:latin typeface="微软雅黑" panose="020B0503020204020204" pitchFamily="34" charset="-122"/>
                <a:ea typeface="微软雅黑" panose="020B0503020204020204" pitchFamily="34" charset="-122"/>
              </a:rPr>
              <a:t>现场测试的则进入该流程，如果没要求不强制。</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670073"/>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根据客户需求及我司价值主张策略，形成优势的测试指标条目，并与客户决策人进行沟通确认，争取按照锐捷提交的测试条目开展</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POC</a:t>
            </a:r>
            <a:r>
              <a:rPr lang="zh-CN" altLang="en-GB" sz="14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GB"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dirty="0">
                <a:solidFill>
                  <a:srgbClr val="000000"/>
                </a:solidFill>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客户关系负责人，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负责内部与外部人员的沟通，包括不限于：</a:t>
            </a:r>
            <a:r>
              <a:rPr lang="en-GB" altLang="zh-CN" sz="1400" b="0" i="0" u="none" strike="noStrike" dirty="0" err="1">
                <a:solidFill>
                  <a:srgbClr val="000000"/>
                </a:solidFill>
                <a:effectLst/>
                <a:latin typeface="微软雅黑" panose="020B0503020204020204" pitchFamily="34" charset="-122"/>
                <a:ea typeface="微软雅黑" panose="020B0503020204020204" pitchFamily="34" charset="-122"/>
              </a:rPr>
              <a:t>poc</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测试前中后与客户沟通、内部</a:t>
            </a:r>
            <a:r>
              <a:rPr lang="en-GB" altLang="zh-CN" sz="1400" b="0" i="0" u="none" strike="noStrike" dirty="0" err="1">
                <a:solidFill>
                  <a:srgbClr val="000000"/>
                </a:solidFill>
                <a:effectLst/>
                <a:latin typeface="微软雅黑" panose="020B0503020204020204" pitchFamily="34" charset="-122"/>
                <a:ea typeface="微软雅黑" panose="020B0503020204020204" pitchFamily="34" charset="-122"/>
              </a:rPr>
              <a:t>poc</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设备资源的协调；</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dirty="0">
                <a:solidFill>
                  <a:srgbClr val="000000"/>
                </a:solidFill>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客户体验负责人，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对技术负责人提出的测试方案进行评审，对测试条目</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3535484"/>
            <a:ext cx="10916478" cy="1239185"/>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gn="l">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技术方案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竞争分析；</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测试方案</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en-GB" altLang="zh-CN" sz="1400" b="0" i="0" u="none" strike="noStrike" dirty="0">
                <a:solidFill>
                  <a:srgbClr val="000000"/>
                </a:solidFill>
                <a:effectLst/>
                <a:latin typeface="微软雅黑" panose="020B0503020204020204" pitchFamily="34" charset="-122"/>
                <a:ea typeface="微软雅黑" panose="020B0503020204020204" pitchFamily="34" charset="-122"/>
              </a:rPr>
              <a:t> POC</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测试完成</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售前、售后、销售、解决方案部、产品部等彼此协同完成测试方案的准备及组织测试从而达成测试目标；</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011</a:t>
            </a:r>
            <a:r>
              <a:rPr lang="zh-CN" altLang="en-US" dirty="0">
                <a:solidFill>
                  <a:srgbClr val="FF0000"/>
                </a:solidFill>
              </a:rPr>
              <a:t>客户关系负责人</a:t>
            </a:r>
            <a:r>
              <a:rPr lang="zh-CN" altLang="en-US" dirty="0"/>
              <a:t>植入我司标底</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主要变化点：无。</a:t>
            </a:r>
            <a:endParaRPr lang="zh-CN" altLang="en-US" sz="1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0237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技术负责人和客户关系负责人，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共同确定项目控标策略，技术负责人完成标底参数的制定，客户关键负责人完成评分标准的制定；</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客户关系负责人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，与客户关键人沟通，将我司优势标底参数和评分指标植入预发布招标文件中；</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922644"/>
            <a:ext cx="10916478" cy="1346907"/>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产品控标参数及优势商务指标</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控标参数和评分指标植入到预招标文件中</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控标参数及商务指标需要项目组成员评审；</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012</a:t>
            </a:r>
            <a:r>
              <a:rPr lang="zh-CN" altLang="en-US" dirty="0">
                <a:solidFill>
                  <a:srgbClr val="FF0000"/>
                </a:solidFill>
              </a:rPr>
              <a:t>客户关系负责人</a:t>
            </a:r>
            <a:r>
              <a:rPr lang="zh-CN" altLang="en-US" dirty="0"/>
              <a:t>获取预发布招标文件</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18128"/>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主要变化点：无。</a:t>
            </a:r>
            <a:endParaRPr lang="zh-CN" altLang="en-US" sz="1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0237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客户关系负责人，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通过客户、渠道等多种途径获取预发布招标文件；</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对预发布招标文件进行分析，包括技术分析、商务分析和价格分析。</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835091"/>
            <a:ext cx="10916478" cy="135101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dirty="0">
                <a:latin typeface="微软雅黑" panose="020B0503020204020204" pitchFamily="34" charset="-122"/>
                <a:ea typeface="微软雅黑" panose="020B0503020204020204" pitchFamily="34" charset="-122"/>
              </a:rPr>
              <a:t>拿到预发布的招标文件；</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输出技术、商务和价格的分析</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获取的预发布招标文件是最新的且最完整的，分析结论全面，不限于：价格策略、商务策略和竞争分析。</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013</a:t>
            </a:r>
            <a:r>
              <a:rPr lang="zh-CN" altLang="en-US" dirty="0">
                <a:solidFill>
                  <a:srgbClr val="FF0000"/>
                </a:solidFill>
              </a:rPr>
              <a:t>项目组成员</a:t>
            </a:r>
            <a:r>
              <a:rPr lang="zh-CN" altLang="en-US" dirty="0"/>
              <a:t>项目分析会制定招标策略</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22873"/>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b="1"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项目组成员开项目分析会对预发布的招标文件制定清晰的行动策略，包括：技术、价格和商务等</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352165"/>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项目经理，</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根据项目采购阶段，客户内部形成预招标文件时，发起</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次项目分析会，邀请项目组成员进行招标策略分析；</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汇报预发布招标文件的分析，包括技术分析、商务分析和价格分析；</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项目组成员，</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会议需要根据竞争分析结论，确定价格策略及商务策略等；</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3126921"/>
            <a:ext cx="10916478" cy="1346907"/>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能够提前获取到预发布的招标文件</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solidFill>
                  <a:srgbClr val="000000"/>
                </a:solidFill>
                <a:latin typeface="微软雅黑" panose="020B0503020204020204" pitchFamily="34" charset="-122"/>
                <a:ea typeface="微软雅黑" panose="020B0503020204020204" pitchFamily="34" charset="-122"/>
              </a:rPr>
              <a:t>确定技术、商务和价格</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策略等</a:t>
            </a:r>
            <a:r>
              <a:rPr lang="zh-CN" altLang="en-US" sz="1400" b="1"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项目组成员共同商讨确定招标策略，</a:t>
            </a:r>
            <a:r>
              <a:rPr lang="zh-CN" altLang="en-US" sz="1400" dirty="0">
                <a:solidFill>
                  <a:srgbClr val="000000"/>
                </a:solidFill>
                <a:latin typeface="微软雅黑" panose="020B0503020204020204" pitchFamily="34" charset="-122"/>
                <a:ea typeface="微软雅黑" panose="020B0503020204020204" pitchFamily="34" charset="-122"/>
              </a:rPr>
              <a:t>包括</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招标策略：价格策略、商务策略和竞争策略等</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
          <p:cNvSpPr>
            <a:spLocks noGrp="1"/>
          </p:cNvSpPr>
          <p:nvPr>
            <p:ph type="body" sz="quarter" idx="13"/>
          </p:nvPr>
        </p:nvSpPr>
        <p:spPr>
          <a:xfrm>
            <a:off x="712860" y="280531"/>
            <a:ext cx="11479140" cy="426596"/>
          </a:xfrm>
        </p:spPr>
        <p:txBody>
          <a:bodyPr/>
          <a:lstStyle/>
          <a:p>
            <a:r>
              <a:rPr lang="en-US" altLang="zh-CN" dirty="0"/>
              <a:t>How</a:t>
            </a:r>
            <a:r>
              <a:rPr lang="zh-CN" altLang="en-US" dirty="0"/>
              <a:t>： </a:t>
            </a:r>
            <a:r>
              <a:rPr lang="en-US" altLang="zh-CN" dirty="0"/>
              <a:t>014</a:t>
            </a:r>
            <a:r>
              <a:rPr lang="zh-CN" altLang="en-US" dirty="0">
                <a:solidFill>
                  <a:srgbClr val="FF0000"/>
                </a:solidFill>
              </a:rPr>
              <a:t>技术负责人</a:t>
            </a:r>
            <a:r>
              <a:rPr lang="zh-CN" altLang="en-US" dirty="0"/>
              <a:t>执行招标策略</a:t>
            </a:r>
            <a:r>
              <a:rPr lang="en-US" altLang="zh-CN" dirty="0"/>
              <a:t>-</a:t>
            </a:r>
            <a:r>
              <a:rPr lang="zh-CN" altLang="en-US" dirty="0"/>
              <a:t>操作及主要变化点</a:t>
            </a:r>
            <a:endParaRPr lang="zh-CN" altLang="en-US" dirty="0"/>
          </a:p>
        </p:txBody>
      </p:sp>
      <p:sp>
        <p:nvSpPr>
          <p:cNvPr id="2" name="矩形 1"/>
          <p:cNvSpPr/>
          <p:nvPr/>
        </p:nvSpPr>
        <p:spPr>
          <a:xfrm>
            <a:off x="831574" y="964698"/>
            <a:ext cx="10916478" cy="422873"/>
          </a:xfrm>
          <a:prstGeom prst="rect">
            <a:avLst/>
          </a:prstGeom>
          <a:solidFill>
            <a:schemeClr val="accent5">
              <a:lumMod val="20000"/>
              <a:lumOff val="80000"/>
            </a:schemeClr>
          </a:solidFill>
          <a:ln>
            <a:solidFill>
              <a:schemeClr val="accent5"/>
            </a:solidFill>
          </a:ln>
        </p:spPr>
        <p:txBody>
          <a:bodyPr wrap="square">
            <a:spAutoFit/>
          </a:bodyPr>
          <a:lstStyle/>
          <a:p>
            <a:pPr marL="285750" indent="-285750">
              <a:lnSpc>
                <a:spcPct val="150000"/>
              </a:lnSpc>
              <a:buFont typeface="Arial" panose="020B0704020202020204" pitchFamily="34" charset="0"/>
              <a:buChar char="•"/>
            </a:pPr>
            <a:r>
              <a:rPr lang="zh-CN" altLang="en-US" sz="1600" b="1" dirty="0">
                <a:latin typeface="微软雅黑" panose="020B0503020204020204" pitchFamily="34" charset="-122"/>
                <a:ea typeface="微软雅黑" panose="020B0503020204020204" pitchFamily="34" charset="-122"/>
              </a:rPr>
              <a:t>主要变化点</a:t>
            </a:r>
            <a:r>
              <a:rPr lang="zh-CN" altLang="en-US" sz="1600" b="1"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技术负责人将项目分析会确定的招标策略植入到预发布的招标文件中</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831574" y="1519266"/>
            <a:ext cx="10916478" cy="1023742"/>
          </a:xfrm>
          <a:prstGeom prst="rect">
            <a:avLst/>
          </a:prstGeom>
          <a:noFill/>
          <a:ln>
            <a:solidFill>
              <a:schemeClr val="bg1">
                <a:lumMod val="50000"/>
              </a:schemeClr>
            </a:solidFill>
          </a:ln>
        </p:spPr>
        <p:txBody>
          <a:bodyPr wrap="square" rtlCol="0">
            <a:spAutoFit/>
          </a:bodyPr>
          <a:lstStyle/>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活动流：</a:t>
            </a:r>
            <a:endParaRPr lang="en-US" altLang="zh-CN" sz="1400" b="1" dirty="0">
              <a:latin typeface="微软雅黑" panose="020B0503020204020204" pitchFamily="34" charset="-122"/>
              <a:ea typeface="微软雅黑" panose="020B0503020204020204" pitchFamily="34" charset="-122"/>
            </a:endParaRPr>
          </a:p>
          <a:p>
            <a:pPr algn="l">
              <a:lnSpc>
                <a:spcPct val="150000"/>
              </a:lnSpc>
            </a:pP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技术负责人，</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将确定的招标策略更新到招标文件中；</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p>
            <a:pPr algn="l">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dirty="0">
                <a:solidFill>
                  <a:srgbClr val="FF0000"/>
                </a:solidFill>
                <a:effectLst/>
                <a:latin typeface="微软雅黑" panose="020B0503020204020204" pitchFamily="34" charset="-122"/>
                <a:ea typeface="微软雅黑" panose="020B0503020204020204" pitchFamily="34" charset="-122"/>
              </a:rPr>
              <a:t>客户关系负责人，</a:t>
            </a:r>
            <a:r>
              <a:rPr lang="zh-CN" altLang="en-US" sz="1400" i="0" u="none" strike="noStrike" dirty="0">
                <a:effectLst/>
                <a:latin typeface="微软雅黑" panose="020B0503020204020204" pitchFamily="34" charset="-122"/>
                <a:ea typeface="微软雅黑" panose="020B0503020204020204" pitchFamily="34" charset="-122"/>
              </a:rPr>
              <a:t>负责与</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客户决策人、背后枪手</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渠道沟通确保植入；</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31574" y="2903185"/>
            <a:ext cx="10916478" cy="1351011"/>
          </a:xfrm>
          <a:prstGeom prst="rect">
            <a:avLst/>
          </a:prstGeom>
          <a:noFill/>
          <a:ln>
            <a:solidFill>
              <a:schemeClr val="bg1">
                <a:lumMod val="50000"/>
              </a:schemeClr>
            </a:solidFill>
          </a:ln>
        </p:spPr>
        <p:txBody>
          <a:bodyPr wrap="squar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关键点及标准</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输入：</a:t>
            </a:r>
            <a:r>
              <a:rPr lang="zh-CN" altLang="en-US" sz="1400" dirty="0">
                <a:latin typeface="微软雅黑" panose="020B0503020204020204" pitchFamily="34" charset="-122"/>
                <a:ea typeface="微软雅黑" panose="020B0503020204020204" pitchFamily="34" charset="-122"/>
              </a:rPr>
              <a:t>项目分析会确定的招标策略；</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输出：</a:t>
            </a:r>
            <a:r>
              <a:rPr lang="zh-CN" altLang="en-US" sz="1400" dirty="0">
                <a:latin typeface="微软雅黑" panose="020B0503020204020204" pitchFamily="34" charset="-122"/>
                <a:ea typeface="微软雅黑" panose="020B0503020204020204" pitchFamily="34" charset="-122"/>
              </a:rPr>
              <a:t>正式发布的招标文件；</a:t>
            </a:r>
            <a:endParaRPr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704020202020204" pitchFamily="34" charset="0"/>
              <a:buChar char="•"/>
            </a:pPr>
            <a:r>
              <a:rPr lang="zh-CN" altLang="en-US" sz="1400" b="1" dirty="0">
                <a:latin typeface="微软雅黑" panose="020B0503020204020204" pitchFamily="34" charset="-122"/>
                <a:ea typeface="微软雅黑" panose="020B0503020204020204" pitchFamily="34" charset="-122"/>
              </a:rPr>
              <a:t>标准：</a:t>
            </a:r>
            <a:r>
              <a:rPr lang="zh-CN" altLang="en-US" sz="1400" dirty="0">
                <a:latin typeface="微软雅黑" panose="020B0503020204020204" pitchFamily="34" charset="-122"/>
                <a:ea typeface="微软雅黑" panose="020B0503020204020204" pitchFamily="34" charset="-122"/>
              </a:rPr>
              <a:t>发出的正式招标文件，在</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商务、技术和价格等维度中我司全面占优</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a:xfrm>
            <a:off x="396240" y="274320"/>
            <a:ext cx="8474710" cy="329565"/>
          </a:xfrm>
        </p:spPr>
        <p:txBody>
          <a:bodyPr/>
          <a:p>
            <a:r>
              <a:rPr lang="en-US" altLang="zh-CN">
                <a:sym typeface="+mn-ea"/>
              </a:rPr>
              <a:t>Do</a:t>
            </a:r>
            <a:r>
              <a:rPr>
                <a:sym typeface="+mn-ea"/>
              </a:rPr>
              <a:t>： </a:t>
            </a:r>
            <a:r>
              <a:rPr lang="en-US" altLang="zh-CN">
                <a:sym typeface="+mn-ea"/>
              </a:rPr>
              <a:t>IT</a:t>
            </a:r>
            <a:r>
              <a:rPr>
                <a:sym typeface="+mn-ea"/>
              </a:rPr>
              <a:t>化留痕</a:t>
            </a:r>
            <a:endParaRPr lang="zh-CN" altLang="en-US" dirty="0"/>
          </a:p>
          <a:p>
            <a:endParaRPr lang="zh-CN" altLang="en-US"/>
          </a:p>
        </p:txBody>
      </p:sp>
      <p:pic>
        <p:nvPicPr>
          <p:cNvPr id="5" name="图片 4"/>
          <p:cNvPicPr>
            <a:picLocks noChangeAspect="1"/>
          </p:cNvPicPr>
          <p:nvPr/>
        </p:nvPicPr>
        <p:blipFill>
          <a:blip r:embed="rId1"/>
          <a:stretch>
            <a:fillRect/>
          </a:stretch>
        </p:blipFill>
        <p:spPr>
          <a:xfrm>
            <a:off x="120015" y="855980"/>
            <a:ext cx="12192000" cy="56788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nvGraphicFramePr>
        <p:xfrm>
          <a:off x="673102" y="1006794"/>
          <a:ext cx="9976141" cy="5207001"/>
        </p:xfrm>
        <a:graphic>
          <a:graphicData uri="http://schemas.openxmlformats.org/drawingml/2006/table">
            <a:tbl>
              <a:tblPr firstRow="1" bandRow="1">
                <a:tableStyleId>{5C22544A-7EE6-4342-B048-85BDC9FD1C3A}</a:tableStyleId>
              </a:tblPr>
              <a:tblGrid>
                <a:gridCol w="2761301"/>
                <a:gridCol w="7214840"/>
              </a:tblGrid>
              <a:tr h="624303">
                <a:tc>
                  <a:txBody>
                    <a:bodyPr/>
                    <a:lstStyle/>
                    <a:p>
                      <a:pPr algn="ctr" fontAlgn="t"/>
                      <a:r>
                        <a:rPr lang="zh-CN" altLang="en-US" sz="1200" b="1" dirty="0">
                          <a:effectLst/>
                          <a:latin typeface="微软雅黑" panose="020B0503020204020204" pitchFamily="34" charset="-122"/>
                          <a:ea typeface="微软雅黑" panose="020B0503020204020204" pitchFamily="34" charset="-122"/>
                        </a:rPr>
                        <a:t>文件名称</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defRPr/>
                      </a:pPr>
                      <a:r>
                        <a:rPr lang="zh-CN" altLang="en-US" sz="1200" b="1" dirty="0">
                          <a:solidFill>
                            <a:schemeClr val="tx1"/>
                          </a:solidFill>
                          <a:latin typeface="微软雅黑" panose="020B0503020204020204" pitchFamily="34" charset="-122"/>
                          <a:ea typeface="微软雅黑" panose="020B0503020204020204" pitchFamily="34" charset="-122"/>
                        </a:rPr>
                        <a:t>推进商机流程说明文件</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marL="50800" marR="50800" marT="50800" marB="50800" anchor="ctr">
                    <a:solidFill>
                      <a:srgbClr val="E9ECF5"/>
                    </a:solidFill>
                  </a:tcPr>
                </a:tc>
              </a:tr>
              <a:tr h="624303">
                <a:tc>
                  <a:txBody>
                    <a:bodyPr/>
                    <a:lstStyle/>
                    <a:p>
                      <a:pPr marL="0" algn="ctr" defTabSz="914400" rtl="0" eaLnBrk="1" fontAlgn="t" latinLnBrk="0" hangingPunct="1">
                        <a:lnSpc>
                          <a:spcPct val="150000"/>
                        </a:lnSpc>
                      </a:pPr>
                      <a:r>
                        <a:rPr lang="zh-CN" altLang="en-US" sz="1200" b="1" kern="1200" dirty="0">
                          <a:solidFill>
                            <a:schemeClr val="lt1"/>
                          </a:solidFill>
                          <a:effectLst/>
                          <a:latin typeface="微软雅黑" panose="020B0503020204020204" pitchFamily="34" charset="-122"/>
                          <a:ea typeface="微软雅黑" panose="020B0503020204020204" pitchFamily="34" charset="-122"/>
                          <a:cs typeface="+mn-cs"/>
                        </a:rPr>
                        <a:t>文件编号</a:t>
                      </a:r>
                      <a:endParaRPr lang="zh-CN" altLang="en-US" sz="1200" b="1" kern="1200" dirty="0">
                        <a:solidFill>
                          <a:schemeClr val="lt1"/>
                        </a:solidFill>
                        <a:effectLst/>
                        <a:latin typeface="微软雅黑" panose="020B0503020204020204" pitchFamily="34" charset="-122"/>
                        <a:ea typeface="微软雅黑" panose="020B0503020204020204" pitchFamily="34" charset="-122"/>
                        <a:cs typeface="+mn-cs"/>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en-GB" altLang="zh-CN" sz="1200" b="1" dirty="0">
                          <a:latin typeface="微软雅黑" panose="020B0503020204020204" pitchFamily="34" charset="-122"/>
                          <a:ea typeface="微软雅黑" panose="020B0503020204020204" pitchFamily="34" charset="-122"/>
                        </a:rPr>
                        <a:t>MTCV-MO-M11.</a:t>
                      </a:r>
                      <a:r>
                        <a:rPr lang="en-US" altLang="zh-CN" sz="1200" b="1" dirty="0">
                          <a:latin typeface="微软雅黑" panose="020B0503020204020204" pitchFamily="34" charset="-122"/>
                          <a:ea typeface="微软雅黑" panose="020B0503020204020204" pitchFamily="34" charset="-122"/>
                        </a:rPr>
                        <a:t>2</a:t>
                      </a:r>
                      <a:r>
                        <a:rPr lang="en-GB" altLang="zh-CN" sz="1200" b="1" dirty="0">
                          <a:latin typeface="微软雅黑" panose="020B0503020204020204" pitchFamily="34" charset="-122"/>
                          <a:ea typeface="微软雅黑" panose="020B0503020204020204" pitchFamily="34" charset="-122"/>
                        </a:rPr>
                        <a:t>-P-</a:t>
                      </a:r>
                      <a:r>
                        <a:rPr lang="zh-CN" altLang="en-US" sz="1200" b="1" dirty="0">
                          <a:latin typeface="微软雅黑" panose="020B0503020204020204" pitchFamily="34" charset="-122"/>
                          <a:ea typeface="微软雅黑" panose="020B0503020204020204" pitchFamily="34" charset="-122"/>
                        </a:rPr>
                        <a:t>推进商机</a:t>
                      </a:r>
                      <a:r>
                        <a:rPr lang="en-US" altLang="zh-CN" sz="1200" b="1" dirty="0">
                          <a:latin typeface="微软雅黑" panose="020B0503020204020204" pitchFamily="34" charset="-122"/>
                          <a:ea typeface="微软雅黑" panose="020B0503020204020204" pitchFamily="34" charset="-122"/>
                        </a:rPr>
                        <a:t>-</a:t>
                      </a:r>
                      <a:r>
                        <a:rPr lang="en-GB" altLang="zh-CN" sz="1200" b="1" dirty="0">
                          <a:latin typeface="微软雅黑" panose="020B0503020204020204" pitchFamily="34" charset="-122"/>
                          <a:ea typeface="微软雅黑" panose="020B0503020204020204" pitchFamily="34" charset="-122"/>
                        </a:rPr>
                        <a:t>V0.9</a:t>
                      </a:r>
                      <a:endParaRPr lang="en-GB" altLang="zh-CN" sz="1200" b="1" dirty="0">
                        <a:latin typeface="微软雅黑" panose="020B0503020204020204" pitchFamily="34" charset="-122"/>
                        <a:ea typeface="微软雅黑" panose="020B0503020204020204" pitchFamily="34" charset="-122"/>
                      </a:endParaRPr>
                    </a:p>
                  </a:txBody>
                  <a:tcPr marL="50800" marR="50800" marT="50800" marB="50800" anchor="ctr"/>
                </a:tc>
              </a:tr>
              <a:tr h="624303">
                <a:tc>
                  <a:txBody>
                    <a:bodyPr/>
                    <a:lstStyle/>
                    <a:p>
                      <a:pPr algn="ctr" fontAlgn="t">
                        <a:lnSpc>
                          <a:spcPct val="150000"/>
                        </a:lnSpc>
                      </a:pPr>
                      <a:r>
                        <a:rPr lang="zh-CN" altLang="en-US" sz="1200" b="1" dirty="0">
                          <a:solidFill>
                            <a:schemeClr val="bg1"/>
                          </a:solidFill>
                          <a:effectLst/>
                          <a:latin typeface="微软雅黑" panose="020B0503020204020204" pitchFamily="34" charset="-122"/>
                          <a:ea typeface="微软雅黑" panose="020B0503020204020204" pitchFamily="34" charset="-122"/>
                        </a:rPr>
                        <a:t>版本</a:t>
                      </a:r>
                      <a:endParaRPr lang="zh-CN" altLang="en-US" sz="1200" b="1" dirty="0">
                        <a:solidFill>
                          <a:schemeClr val="bg1"/>
                        </a:solidFill>
                        <a:effectLst/>
                        <a:latin typeface="微软雅黑" panose="020B0503020204020204" pitchFamily="34" charset="-122"/>
                        <a:ea typeface="微软雅黑" panose="020B0503020204020204" pitchFamily="34" charset="-122"/>
                      </a:endParaRPr>
                    </a:p>
                  </a:txBody>
                  <a:tcPr marL="50800" marR="50800" marT="50800" marB="50800" anchor="ctr">
                    <a:solidFill>
                      <a:schemeClr val="accent1"/>
                    </a:solidFill>
                  </a:tcPr>
                </a:tc>
                <a:tc>
                  <a:txBody>
                    <a:bodyPr/>
                    <a:lstStyle/>
                    <a:p>
                      <a:pPr fontAlgn="t">
                        <a:lnSpc>
                          <a:spcPct val="150000"/>
                        </a:lnSpc>
                      </a:pPr>
                      <a:r>
                        <a:rPr lang="en-GB" altLang="zh-CN" sz="1200" b="1" dirty="0">
                          <a:latin typeface="微软雅黑" panose="020B0503020204020204" pitchFamily="34" charset="-122"/>
                          <a:ea typeface="微软雅黑" panose="020B0503020204020204" pitchFamily="34" charset="-122"/>
                        </a:rPr>
                        <a:t>V0.9</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r>
              <a:tr h="624303">
                <a:tc>
                  <a:txBody>
                    <a:bodyPr/>
                    <a:lstStyle/>
                    <a:p>
                      <a:pPr marL="0" algn="ctr" defTabSz="914400" rtl="0" eaLnBrk="1" fontAlgn="t" latinLnBrk="0" hangingPunct="1">
                        <a:lnSpc>
                          <a:spcPct val="150000"/>
                        </a:lnSpc>
                      </a:pPr>
                      <a:r>
                        <a:rPr lang="zh-CN" altLang="en-US" sz="1200" b="1" kern="1200" dirty="0">
                          <a:solidFill>
                            <a:schemeClr val="bg1"/>
                          </a:solidFill>
                          <a:effectLst/>
                          <a:latin typeface="微软雅黑" panose="020B0503020204020204" pitchFamily="34" charset="-122"/>
                          <a:ea typeface="微软雅黑" panose="020B0503020204020204" pitchFamily="34" charset="-122"/>
                          <a:cs typeface="+mn-cs"/>
                        </a:rPr>
                        <a:t>生效日期</a:t>
                      </a:r>
                      <a:endParaRPr lang="zh-CN" altLang="en-US" sz="1200" b="1" kern="1200" dirty="0">
                        <a:solidFill>
                          <a:schemeClr val="bg1"/>
                        </a:solidFill>
                        <a:effectLst/>
                        <a:latin typeface="微软雅黑" panose="020B0503020204020204" pitchFamily="34" charset="-122"/>
                        <a:ea typeface="微软雅黑" panose="020B0503020204020204" pitchFamily="34" charset="-122"/>
                        <a:cs typeface="+mn-cs"/>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en-US" altLang="zh-CN" sz="1200" b="1" dirty="0">
                          <a:latin typeface="微软雅黑" panose="020B0503020204020204" pitchFamily="34" charset="-122"/>
                          <a:ea typeface="微软雅黑" panose="020B0503020204020204" pitchFamily="34" charset="-122"/>
                        </a:rPr>
                        <a:t>2025/4/23</a:t>
                      </a:r>
                      <a:endParaRPr lang="zh-CN" altLang="en-US" sz="1200" b="1" dirty="0">
                        <a:latin typeface="微软雅黑" panose="020B0503020204020204" pitchFamily="34" charset="-122"/>
                        <a:ea typeface="微软雅黑" panose="020B0503020204020204" pitchFamily="34" charset="-122"/>
                      </a:endParaRPr>
                    </a:p>
                  </a:txBody>
                  <a:tcPr marL="50800" marR="50800" marT="50800" marB="50800" anchor="ctr"/>
                </a:tc>
              </a:tr>
              <a:tr h="624303">
                <a:tc>
                  <a:txBody>
                    <a:bodyPr/>
                    <a:lstStyle/>
                    <a:p>
                      <a:pPr marL="0" algn="ctr" defTabSz="914400" rtl="0" eaLnBrk="1" fontAlgn="t" latinLnBrk="0" hangingPunct="1">
                        <a:lnSpc>
                          <a:spcPct val="150000"/>
                        </a:lnSpc>
                      </a:pPr>
                      <a:r>
                        <a:rPr lang="zh-CN" altLang="en-US" sz="1200" b="1" kern="1200" dirty="0">
                          <a:solidFill>
                            <a:schemeClr val="bg1"/>
                          </a:solidFill>
                          <a:effectLst/>
                          <a:latin typeface="微软雅黑" panose="020B0503020204020204" pitchFamily="34" charset="-122"/>
                          <a:ea typeface="微软雅黑" panose="020B0503020204020204" pitchFamily="34" charset="-122"/>
                          <a:cs typeface="+mn-cs"/>
                        </a:rPr>
                        <a:t>适用范围</a:t>
                      </a:r>
                      <a:endParaRPr lang="zh-CN" altLang="en-US" sz="1200" b="1" kern="1200" dirty="0">
                        <a:solidFill>
                          <a:schemeClr val="bg1"/>
                        </a:solidFill>
                        <a:effectLst/>
                        <a:latin typeface="微软雅黑" panose="020B0503020204020204" pitchFamily="34" charset="-122"/>
                        <a:ea typeface="微软雅黑" panose="020B0503020204020204" pitchFamily="34" charset="-122"/>
                        <a:cs typeface="+mn-cs"/>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en-US" altLang="zh-CN" sz="1200" b="1" dirty="0">
                          <a:latin typeface="微软雅黑" panose="020B0503020204020204" pitchFamily="34" charset="-122"/>
                          <a:ea typeface="微软雅黑" panose="020B0503020204020204" pitchFamily="34" charset="-122"/>
                        </a:rPr>
                        <a:t>EBG</a:t>
                      </a:r>
                      <a:endParaRPr lang="zh-CN" altLang="en-US" sz="1200" b="1" dirty="0">
                        <a:latin typeface="微软雅黑" panose="020B0503020204020204" pitchFamily="34" charset="-122"/>
                        <a:ea typeface="微软雅黑" panose="020B0503020204020204" pitchFamily="34" charset="-122"/>
                      </a:endParaRPr>
                    </a:p>
                  </a:txBody>
                  <a:tcPr marL="50800" marR="50800" marT="50800" marB="50800" anchor="ctr"/>
                </a:tc>
              </a:tr>
              <a:tr h="624303">
                <a:tc>
                  <a:txBody>
                    <a:bodyPr/>
                    <a:lstStyle/>
                    <a:p>
                      <a:pPr algn="ctr" fontAlgn="t">
                        <a:lnSpc>
                          <a:spcPct val="150000"/>
                        </a:lnSpc>
                      </a:pPr>
                      <a:r>
                        <a:rPr lang="zh-CN" altLang="en-US" sz="1200" b="1" dirty="0">
                          <a:solidFill>
                            <a:schemeClr val="bg1"/>
                          </a:solidFill>
                          <a:effectLst/>
                          <a:latin typeface="微软雅黑" panose="020B0503020204020204" pitchFamily="34" charset="-122"/>
                          <a:ea typeface="微软雅黑" panose="020B0503020204020204" pitchFamily="34" charset="-122"/>
                        </a:rPr>
                        <a:t>重点反馈部门</a:t>
                      </a:r>
                      <a:r>
                        <a:rPr lang="en-US" altLang="zh-CN" sz="1200" b="1" dirty="0">
                          <a:solidFill>
                            <a:schemeClr val="bg1"/>
                          </a:solidFill>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latin typeface="微软雅黑" panose="020B0503020204020204" pitchFamily="34" charset="-122"/>
                          <a:ea typeface="微软雅黑" panose="020B0503020204020204" pitchFamily="34" charset="-122"/>
                        </a:rPr>
                        <a:t>区域</a:t>
                      </a:r>
                      <a:endParaRPr lang="zh-CN" altLang="en-US" sz="1200" b="1" dirty="0">
                        <a:solidFill>
                          <a:schemeClr val="bg1"/>
                        </a:solidFill>
                        <a:effectLst/>
                        <a:latin typeface="微软雅黑" panose="020B0503020204020204" pitchFamily="34" charset="-122"/>
                        <a:ea typeface="微软雅黑" panose="020B0503020204020204" pitchFamily="34" charset="-122"/>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zh-CN" altLang="en-US" sz="1200" b="1" dirty="0">
                          <a:effectLst/>
                          <a:latin typeface="微软雅黑" panose="020B0503020204020204" pitchFamily="34" charset="-122"/>
                          <a:ea typeface="微软雅黑" panose="020B0503020204020204" pitchFamily="34" charset="-122"/>
                        </a:rPr>
                        <a:t>教育系统部、政府交通系统部、江西区域、北京区域、辽宁区域，请严格遵照本流程开展业务实践，配合流程工作组要求，共创优秀实践。</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r>
              <a:tr h="971838">
                <a:tc>
                  <a:txBody>
                    <a:bodyPr/>
                    <a:lstStyle/>
                    <a:p>
                      <a:pPr algn="ctr" fontAlgn="t">
                        <a:lnSpc>
                          <a:spcPct val="150000"/>
                        </a:lnSpc>
                      </a:pPr>
                      <a:r>
                        <a:rPr lang="zh-CN" altLang="en-US" sz="1200" b="1" dirty="0">
                          <a:solidFill>
                            <a:schemeClr val="bg1"/>
                          </a:solidFill>
                          <a:effectLst/>
                          <a:latin typeface="微软雅黑" panose="020B0503020204020204" pitchFamily="34" charset="-122"/>
                          <a:ea typeface="微软雅黑" panose="020B0503020204020204" pitchFamily="34" charset="-122"/>
                        </a:rPr>
                        <a:t>重点反馈部门</a:t>
                      </a:r>
                      <a:r>
                        <a:rPr lang="en-US" altLang="zh-CN" sz="1200" b="1" dirty="0">
                          <a:solidFill>
                            <a:schemeClr val="bg1"/>
                          </a:solidFill>
                          <a:effectLst/>
                          <a:latin typeface="微软雅黑" panose="020B0503020204020204" pitchFamily="34" charset="-122"/>
                          <a:ea typeface="微软雅黑" panose="020B0503020204020204" pitchFamily="34" charset="-122"/>
                        </a:rPr>
                        <a:t>/</a:t>
                      </a:r>
                      <a:r>
                        <a:rPr lang="zh-CN" altLang="en-US" sz="1200" b="1" dirty="0">
                          <a:solidFill>
                            <a:schemeClr val="bg1"/>
                          </a:solidFill>
                          <a:effectLst/>
                          <a:latin typeface="微软雅黑" panose="020B0503020204020204" pitchFamily="34" charset="-122"/>
                          <a:ea typeface="微软雅黑" panose="020B0503020204020204" pitchFamily="34" charset="-122"/>
                        </a:rPr>
                        <a:t>区域</a:t>
                      </a:r>
                      <a:endParaRPr lang="en-US" altLang="zh-CN" sz="1200" b="1" dirty="0">
                        <a:solidFill>
                          <a:schemeClr val="bg1"/>
                        </a:solidFill>
                        <a:effectLst/>
                        <a:latin typeface="微软雅黑" panose="020B0503020204020204" pitchFamily="34" charset="-122"/>
                        <a:ea typeface="微软雅黑" panose="020B0503020204020204" pitchFamily="34" charset="-122"/>
                      </a:endParaRPr>
                    </a:p>
                    <a:p>
                      <a:pPr algn="ctr" fontAlgn="t">
                        <a:lnSpc>
                          <a:spcPct val="150000"/>
                        </a:lnSpc>
                      </a:pPr>
                      <a:r>
                        <a:rPr lang="zh-CN" altLang="en-US" sz="1200" b="1" dirty="0">
                          <a:solidFill>
                            <a:schemeClr val="bg1"/>
                          </a:solidFill>
                          <a:effectLst/>
                          <a:latin typeface="微软雅黑" panose="020B0503020204020204" pitchFamily="34" charset="-122"/>
                          <a:ea typeface="微软雅黑" panose="020B0503020204020204" pitchFamily="34" charset="-122"/>
                        </a:rPr>
                        <a:t>试点拉通时间</a:t>
                      </a:r>
                      <a:endParaRPr lang="zh-CN" altLang="en-US" sz="1200" b="1" dirty="0">
                        <a:solidFill>
                          <a:schemeClr val="bg1"/>
                        </a:solidFill>
                        <a:effectLst/>
                        <a:latin typeface="微软雅黑" panose="020B0503020204020204" pitchFamily="34" charset="-122"/>
                        <a:ea typeface="微软雅黑" panose="020B0503020204020204" pitchFamily="34" charset="-122"/>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zh-CN" altLang="en-US" sz="1200" b="1" dirty="0">
                          <a:effectLst/>
                          <a:latin typeface="微软雅黑" panose="020B0503020204020204" pitchFamily="34" charset="-122"/>
                          <a:ea typeface="微软雅黑" panose="020B0503020204020204" pitchFamily="34" charset="-122"/>
                        </a:rPr>
                        <a:t>后续通知</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r>
              <a:tr h="463408">
                <a:tc>
                  <a:txBody>
                    <a:bodyPr/>
                    <a:lstStyle/>
                    <a:p>
                      <a:pPr algn="ctr" fontAlgn="t">
                        <a:lnSpc>
                          <a:spcPct val="150000"/>
                        </a:lnSpc>
                      </a:pPr>
                      <a:r>
                        <a:rPr lang="zh-CN" altLang="en-US" sz="1200" b="1" dirty="0">
                          <a:solidFill>
                            <a:schemeClr val="bg1"/>
                          </a:solidFill>
                          <a:effectLst/>
                          <a:latin typeface="微软雅黑" panose="020B0503020204020204" pitchFamily="34" charset="-122"/>
                          <a:ea typeface="微软雅黑" panose="020B0503020204020204" pitchFamily="34" charset="-122"/>
                        </a:rPr>
                        <a:t>试点区域拉通机制</a:t>
                      </a:r>
                      <a:endParaRPr lang="zh-CN" altLang="en-US" sz="1200" b="1" dirty="0">
                        <a:solidFill>
                          <a:schemeClr val="bg1"/>
                        </a:solidFill>
                        <a:effectLst/>
                        <a:latin typeface="微软雅黑" panose="020B0503020204020204" pitchFamily="34" charset="-122"/>
                        <a:ea typeface="微软雅黑" panose="020B0503020204020204" pitchFamily="34" charset="-122"/>
                      </a:endParaRPr>
                    </a:p>
                  </a:txBody>
                  <a:tcPr marL="50800" marR="50800" marT="50800" marB="50800" anchor="ctr">
                    <a:solidFill>
                      <a:schemeClr val="accent1"/>
                    </a:solidFill>
                  </a:tcPr>
                </a:tc>
                <a:tc>
                  <a:txBody>
                    <a:bodyPr/>
                    <a:lstStyle/>
                    <a:p>
                      <a:pPr marL="0" marR="0" lvl="0" indent="0" algn="l" defTabSz="914400" rtl="0" eaLnBrk="1" fontAlgn="t" latinLnBrk="0" hangingPunct="1">
                        <a:lnSpc>
                          <a:spcPct val="150000"/>
                        </a:lnSpc>
                        <a:spcBef>
                          <a:spcPts val="0"/>
                        </a:spcBef>
                        <a:spcAft>
                          <a:spcPts val="0"/>
                        </a:spcAft>
                        <a:buClrTx/>
                        <a:buSzTx/>
                        <a:buFontTx/>
                        <a:buNone/>
                        <a:defRPr/>
                      </a:pPr>
                      <a:r>
                        <a:rPr lang="zh-CN" altLang="en-US" sz="1200" b="1" dirty="0">
                          <a:effectLst/>
                          <a:latin typeface="微软雅黑" panose="020B0503020204020204" pitchFamily="34" charset="-122"/>
                          <a:ea typeface="微软雅黑" panose="020B0503020204020204" pitchFamily="34" charset="-122"/>
                        </a:rPr>
                        <a:t>每周一下午</a:t>
                      </a:r>
                      <a:r>
                        <a:rPr lang="en-US" altLang="zh-CN" sz="1200" b="1" dirty="0">
                          <a:effectLst/>
                          <a:latin typeface="微软雅黑" panose="020B0503020204020204" pitchFamily="34" charset="-122"/>
                          <a:ea typeface="微软雅黑" panose="020B0503020204020204" pitchFamily="34" charset="-122"/>
                        </a:rPr>
                        <a:t>17</a:t>
                      </a:r>
                      <a:r>
                        <a:rPr lang="zh-CN" altLang="en-US" sz="1200" b="1" dirty="0">
                          <a:effectLst/>
                          <a:latin typeface="微软雅黑" panose="020B0503020204020204" pitchFamily="34" charset="-122"/>
                          <a:ea typeface="微软雅黑" panose="020B0503020204020204" pitchFamily="34" charset="-122"/>
                        </a:rPr>
                        <a:t>点</a:t>
                      </a:r>
                      <a:r>
                        <a:rPr lang="en-US" altLang="zh-CN" sz="1200" b="1" dirty="0">
                          <a:effectLst/>
                          <a:latin typeface="微软雅黑" panose="020B0503020204020204" pitchFamily="34" charset="-122"/>
                          <a:ea typeface="微软雅黑" panose="020B0503020204020204" pitchFamily="34" charset="-122"/>
                        </a:rPr>
                        <a:t>-18</a:t>
                      </a:r>
                      <a:r>
                        <a:rPr lang="zh-CN" altLang="en-US" sz="1200" b="1" dirty="0">
                          <a:effectLst/>
                          <a:latin typeface="微软雅黑" panose="020B0503020204020204" pitchFamily="34" charset="-122"/>
                          <a:ea typeface="微软雅黑" panose="020B0503020204020204" pitchFamily="34" charset="-122"/>
                        </a:rPr>
                        <a:t>点，拉通运转中发现的问题和建议</a:t>
                      </a:r>
                      <a:endParaRPr lang="zh-CN" altLang="en-US" sz="1200" b="1" dirty="0">
                        <a:effectLst/>
                        <a:latin typeface="微软雅黑" panose="020B0503020204020204" pitchFamily="34" charset="-122"/>
                        <a:ea typeface="微软雅黑" panose="020B0503020204020204" pitchFamily="34" charset="-122"/>
                      </a:endParaRPr>
                    </a:p>
                  </a:txBody>
                  <a:tcPr marL="50800" marR="50800" marT="50800" marB="50800"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endPar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7" name="图片 26"/>
          <p:cNvPicPr>
            <a:picLocks noChangeAspect="1"/>
          </p:cNvPicPr>
          <p:nvPr/>
        </p:nvPicPr>
        <p:blipFill>
          <a:blip r:embed="rId1"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PRESENTATIONDONOTDELETE" val="&lt;?xml version=&quot;1.0&quot; encoding=&quot;UTF-16&quot; standalone=&quot;yes&quot;?&gt;&lt;root reqver=&quot;28224&quot;&gt;&lt;version val=&quot;35245&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5&quot;&gt;&lt;elem m_fUsage=&quot;3.21346595926615030692E+00&quot;&gt;&lt;m_msothmcolidx val=&quot;0&quot;/&gt;&lt;m_rgb r=&quot;70&quot; g=&quot;D7&quot; b=&quot;FC&quot;/&gt;&lt;/elem&gt;&lt;elem m_fUsage=&quot;2.38804921707588224677E+00&quot;&gt;&lt;m_msothmcolidx val=&quot;0&quot;/&gt;&lt;m_rgb r=&quot;F9&quot; g=&quot;E3&quot; b=&quot;4B&quot;/&gt;&lt;/elem&gt;&lt;elem m_fUsage=&quot;1.52506687874713819930E+00&quot;&gt;&lt;m_msothmcolidx val=&quot;0&quot;/&gt;&lt;m_rgb r=&quot;28&quot; g=&quot;7D&quot; b=&quot;FF&quot;/&gt;&lt;/elem&gt;&lt;elem m_fUsage=&quot;1.43144100000000018547E+00&quot;&gt;&lt;m_msothmcolidx val=&quot;0&quot;/&gt;&lt;m_rgb r=&quot;FF&quot; g=&quot;CD&quot; b=&quot;1F&quot;/&gt;&lt;/elem&gt;&lt;elem m_fUsage=&quot;1.25949690859682461586E+00&quot;&gt;&lt;m_msothmcolidx val=&quot;0&quot;/&gt;&lt;m_rgb r=&quot;B9&quot; g=&quot;E3&quot; b=&quot;FF&quot;/&gt;&lt;/elem&gt;&lt;/m_vecMRU&gt;&lt;/m_mruColor&gt;&lt;m_eweekdayFirstOfWeek val=&quot;1&quot;/&gt;&lt;m_eweekdayFirstOfWorkweek val=&quot;2&quot;/&gt;&lt;m_eweekdayFirstOfWeekend val=&quot;7&quot;/&gt;&lt;/CPresentation&gt;&lt;/root&gt;"/>
  <p:tag name="THINKCELLUNDODONOTDELETE"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6710</Words>
  <Application>WPS 表格</Application>
  <PresentationFormat>宽屏</PresentationFormat>
  <Paragraphs>442</Paragraphs>
  <Slides>27</Slides>
  <Notes>4</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vt:i4>
      </vt:variant>
      <vt:variant>
        <vt:lpstr>幻灯片标题</vt:lpstr>
      </vt:variant>
      <vt:variant>
        <vt:i4>27</vt:i4>
      </vt:variant>
    </vt:vector>
  </HeadingPairs>
  <TitlesOfParts>
    <vt:vector size="45" baseType="lpstr">
      <vt:lpstr>Arial</vt:lpstr>
      <vt:lpstr>宋体</vt:lpstr>
      <vt:lpstr>Wingdings</vt:lpstr>
      <vt:lpstr>微软雅黑</vt:lpstr>
      <vt:lpstr>汉仪旗黑</vt:lpstr>
      <vt:lpstr>Calibri</vt:lpstr>
      <vt:lpstr>等线</vt:lpstr>
      <vt:lpstr>汉仪中等线KW</vt:lpstr>
      <vt:lpstr>宋体</vt:lpstr>
      <vt:lpstr>Arial Unicode MS</vt:lpstr>
      <vt:lpstr>Helvetica Neue</vt:lpstr>
      <vt:lpstr>汉仪书宋二KW</vt:lpstr>
      <vt:lpstr>Wingdings</vt:lpstr>
      <vt:lpstr>微软雅黑</vt:lpstr>
      <vt:lpstr>Office 主题​​</vt:lpstr>
      <vt:lpstr>1_Office 主题​​</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张宏涛</cp:lastModifiedBy>
  <cp:revision>3608</cp:revision>
  <cp:lastPrinted>2025-04-23T13:29:32Z</cp:lastPrinted>
  <dcterms:created xsi:type="dcterms:W3CDTF">2025-04-23T13:29:32Z</dcterms:created>
  <dcterms:modified xsi:type="dcterms:W3CDTF">2025-04-23T13:29:32Z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C30762F216ECBD163BEB08685C46B064_42</vt:lpwstr>
  </property>
  <property fmtid="{D5CDD505-2E9C-101B-9397-08002B2CF9AE}" pid="3" name="KSOProductBuildVer">
    <vt:lpwstr>2052-6.15.1.8935</vt:lpwstr>
  </property>
</Properties>
</file>