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66" r:id="rId2"/>
    <p:sldId id="364" r:id="rId3"/>
    <p:sldId id="365" r:id="rId4"/>
    <p:sldId id="371" r:id="rId5"/>
    <p:sldId id="370" r:id="rId6"/>
    <p:sldId id="3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8" autoAdjust="0"/>
    <p:restoredTop sz="88468"/>
  </p:normalViewPr>
  <p:slideViewPr>
    <p:cSldViewPr snapToGrid="0">
      <p:cViewPr varScale="1">
        <p:scale>
          <a:sx n="94" d="100"/>
          <a:sy n="94" d="100"/>
        </p:scale>
        <p:origin x="1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48403-C367-4ABF-81F1-33710BC87A6E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10A29-641C-4D6B-A48F-7D20550141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9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4498C-04FC-4C57-9267-2C30343E44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5623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87" y="1916780"/>
            <a:ext cx="10364190" cy="1010516"/>
          </a:xfrm>
        </p:spPr>
        <p:txBody>
          <a:bodyPr>
            <a:normAutofit/>
          </a:bodyPr>
          <a:lstStyle>
            <a:lvl1pPr algn="l">
              <a:defRPr sz="4233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1511" y="2924866"/>
            <a:ext cx="8535215" cy="550897"/>
          </a:xfrm>
        </p:spPr>
        <p:txBody>
          <a:bodyPr>
            <a:normAutofit/>
          </a:bodyPr>
          <a:lstStyle>
            <a:lvl1pPr marL="0" indent="0" algn="l">
              <a:buNone/>
              <a:defRPr sz="254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6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911512" y="4076962"/>
            <a:ext cx="4416912" cy="288024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7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697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62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159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4pPr>
            <a:lvl5pPr marL="182856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5pPr>
            <a:lvl6pPr marL="228621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6pPr>
            <a:lvl7pPr marL="274318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7pPr>
            <a:lvl8pPr marL="3200162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8pPr>
            <a:lvl9pPr marL="365780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911511" y="4364987"/>
            <a:ext cx="4416912" cy="288023"/>
          </a:xfrm>
        </p:spPr>
        <p:txBody>
          <a:bodyPr anchor="t" anchorCtr="0">
            <a:noAutofit/>
          </a:bodyPr>
          <a:lstStyle>
            <a:lvl1pPr marL="0" indent="0">
              <a:buNone/>
              <a:defRPr sz="127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697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62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159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4pPr>
            <a:lvl5pPr marL="182856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5pPr>
            <a:lvl6pPr marL="228621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6pPr>
            <a:lvl7pPr marL="274318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7pPr>
            <a:lvl8pPr marL="3200162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8pPr>
            <a:lvl9pPr marL="365780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</a:p>
        </p:txBody>
      </p:sp>
      <p:sp>
        <p:nvSpPr>
          <p:cNvPr id="6" name="任意多边形 1">
            <a:extLst>
              <a:ext uri="{FF2B5EF4-FFF2-40B4-BE49-F238E27FC236}">
                <a16:creationId xmlns:a16="http://schemas.microsoft.com/office/drawing/2014/main" id="{07906F8E-0241-472C-8FB0-6F8BF5EC9F07}"/>
              </a:ext>
            </a:extLst>
          </p:cNvPr>
          <p:cNvSpPr/>
          <p:nvPr/>
        </p:nvSpPr>
        <p:spPr>
          <a:xfrm>
            <a:off x="911376" y="0"/>
            <a:ext cx="1600284" cy="1418642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59A8D62-3FF1-4DA2-B1F5-93F9F2CF8EAC}"/>
              </a:ext>
            </a:extLst>
          </p:cNvPr>
          <p:cNvSpPr txBox="1">
            <a:spLocks/>
          </p:cNvSpPr>
          <p:nvPr/>
        </p:nvSpPr>
        <p:spPr>
          <a:xfrm>
            <a:off x="911376" y="323341"/>
            <a:ext cx="1603991" cy="714837"/>
          </a:xfrm>
          <a:prstGeom prst="rect">
            <a:avLst/>
          </a:prstGeom>
        </p:spPr>
        <p:txBody>
          <a:bodyPr vert="horz" lIns="96771" tIns="48386" rIns="96771" bIns="48386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与场景亲密接触</a:t>
            </a:r>
            <a:endParaRPr lang="en-US" altLang="zh-CN" sz="1482" dirty="0">
              <a:solidFill>
                <a:prstClr val="white"/>
              </a:solidFill>
            </a:endParaRPr>
          </a:p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做方案创新专家</a:t>
            </a:r>
          </a:p>
        </p:txBody>
      </p:sp>
      <p:pic>
        <p:nvPicPr>
          <p:cNvPr id="8" name="图片 7" descr="场景无限 智享物联 锐捷网络移动医疗解决方案2018-03">
            <a:extLst>
              <a:ext uri="{FF2B5EF4-FFF2-40B4-BE49-F238E27FC236}">
                <a16:creationId xmlns:a16="http://schemas.microsoft.com/office/drawing/2014/main" id="{45F7351C-87AE-49EC-8D22-94BABD2B2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912" y="476660"/>
            <a:ext cx="1903404" cy="32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5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58" y="274631"/>
            <a:ext cx="10973848" cy="634065"/>
          </a:xfrm>
        </p:spPr>
        <p:txBody>
          <a:bodyPr>
            <a:normAutofit/>
          </a:bodyPr>
          <a:lstStyle>
            <a:lvl1pPr algn="l">
              <a:defRPr sz="3201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58" y="1268725"/>
            <a:ext cx="10973848" cy="4857272"/>
          </a:xfrm>
        </p:spPr>
        <p:txBody>
          <a:bodyPr/>
          <a:lstStyle>
            <a:lvl1pPr>
              <a:defRPr sz="2799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2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598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2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ChangeArrowheads="1"/>
          </p:cNvSpPr>
          <p:nvPr/>
        </p:nvSpPr>
        <p:spPr bwMode="auto">
          <a:xfrm>
            <a:off x="964367" y="6214395"/>
            <a:ext cx="2208456" cy="28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1" b="1" i="1" dirty="0"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1" i="1" dirty="0" err="1"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1" i="1" dirty="0"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343311" y="6237910"/>
            <a:ext cx="636615" cy="240995"/>
          </a:xfrm>
          <a:prstGeom prst="rect">
            <a:avLst/>
          </a:prstGeom>
        </p:spPr>
        <p:txBody>
          <a:bodyPr anchor="ctr"/>
          <a:lstStyle>
            <a:lvl1pPr algn="r">
              <a:defRPr sz="1402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C1B161-4EA0-4354-A154-2430C001F00B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6" name="图片 5" descr="场景无限 智享物联 锐捷网络移动医疗解决方案2018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584" y="6195580"/>
            <a:ext cx="1903404" cy="32593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141703D-4598-4DAA-AEBE-57E253DC6C97}"/>
              </a:ext>
            </a:extLst>
          </p:cNvPr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7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ChangeArrowheads="1"/>
          </p:cNvSpPr>
          <p:nvPr/>
        </p:nvSpPr>
        <p:spPr bwMode="auto">
          <a:xfrm>
            <a:off x="964367" y="6214395"/>
            <a:ext cx="2208456" cy="28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1" b="1" i="1" dirty="0"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1" i="1" dirty="0" err="1"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1" i="1" dirty="0"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584" y="6195580"/>
            <a:ext cx="1903404" cy="325931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4940CF44-D124-4758-88F5-7D4428C3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58" y="274631"/>
            <a:ext cx="10973848" cy="634065"/>
          </a:xfrm>
        </p:spPr>
        <p:txBody>
          <a:bodyPr>
            <a:normAutofit/>
          </a:bodyPr>
          <a:lstStyle>
            <a:lvl1pPr algn="l">
              <a:defRPr sz="3201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0BE8DD-075B-4D30-8837-05D8E5367791}"/>
              </a:ext>
            </a:extLst>
          </p:cNvPr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prstClr val="white"/>
              </a:solidFill>
            </a:endParaRPr>
          </a:p>
        </p:txBody>
      </p:sp>
      <p:sp>
        <p:nvSpPr>
          <p:cNvPr id="9" name="灯片编号占位符 12">
            <a:extLst>
              <a:ext uri="{FF2B5EF4-FFF2-40B4-BE49-F238E27FC236}">
                <a16:creationId xmlns:a16="http://schemas.microsoft.com/office/drawing/2014/main" id="{ECF84B42-5C9D-44FD-B03E-4D14FEE379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43311" y="6237910"/>
            <a:ext cx="636615" cy="240995"/>
          </a:xfrm>
          <a:prstGeom prst="rect">
            <a:avLst/>
          </a:prstGeom>
        </p:spPr>
        <p:txBody>
          <a:bodyPr anchor="ctr"/>
          <a:lstStyle>
            <a:lvl1pPr algn="r">
              <a:defRPr sz="1402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C1B161-4EA0-4354-A154-2430C001F00B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10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尾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3D488143-D0E9-48C7-ADE6-55EE8CB06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0389" y="1935642"/>
            <a:ext cx="509928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srgbClr val="E60039"/>
                </a:solidFill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FCCDD36-53CB-4FA3-B0E3-7ADB8D79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0389" y="2610311"/>
            <a:ext cx="5260445" cy="14457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  <a:endParaRPr lang="en-US" altLang="zh-CN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地址：北京海淀区复兴路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29</a:t>
            </a: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号中意鹏奥大厦东塔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座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</a:t>
            </a: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层   邮编：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100036</a:t>
            </a:r>
            <a:endParaRPr lang="zh-CN" altLang="en-US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Office Tel: 010-5171 5999     Fax: 010-5171 5872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www.ruijie.com.cn </a:t>
            </a:r>
            <a:endParaRPr lang="zh-CN" altLang="en-US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" name="图片 6" descr="组 13 拷贝 2">
            <a:extLst>
              <a:ext uri="{FF2B5EF4-FFF2-40B4-BE49-F238E27FC236}">
                <a16:creationId xmlns:a16="http://schemas.microsoft.com/office/drawing/2014/main" id="{BBDAF6D9-AC80-4AF2-AD86-66EFF9529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0" y="1935428"/>
            <a:ext cx="5306276" cy="2930695"/>
          </a:xfrm>
          <a:prstGeom prst="rect">
            <a:avLst/>
          </a:prstGeom>
        </p:spPr>
      </p:pic>
      <p:pic>
        <p:nvPicPr>
          <p:cNvPr id="8" name="图片 7" descr="场景无限 智享物联 锐捷网络移动医疗解决方案2018-03">
            <a:extLst>
              <a:ext uri="{FF2B5EF4-FFF2-40B4-BE49-F238E27FC236}">
                <a16:creationId xmlns:a16="http://schemas.microsoft.com/office/drawing/2014/main" id="{0C0F3B56-D3C5-43AA-B574-FED3B357A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9912" y="476660"/>
            <a:ext cx="1903404" cy="325931"/>
          </a:xfrm>
          <a:prstGeom prst="rect">
            <a:avLst/>
          </a:prstGeom>
        </p:spPr>
      </p:pic>
      <p:sp>
        <p:nvSpPr>
          <p:cNvPr id="9" name="任意多边形 1">
            <a:extLst>
              <a:ext uri="{FF2B5EF4-FFF2-40B4-BE49-F238E27FC236}">
                <a16:creationId xmlns:a16="http://schemas.microsoft.com/office/drawing/2014/main" id="{E0B23E78-D7E2-4A4B-A829-AAD5F70F3CBF}"/>
              </a:ext>
            </a:extLst>
          </p:cNvPr>
          <p:cNvSpPr/>
          <p:nvPr/>
        </p:nvSpPr>
        <p:spPr>
          <a:xfrm>
            <a:off x="911376" y="-289"/>
            <a:ext cx="1600284" cy="1418642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F301BCD-0D77-486F-81D8-AF2646F6B7C9}"/>
              </a:ext>
            </a:extLst>
          </p:cNvPr>
          <p:cNvSpPr txBox="1">
            <a:spLocks/>
          </p:cNvSpPr>
          <p:nvPr/>
        </p:nvSpPr>
        <p:spPr>
          <a:xfrm>
            <a:off x="911376" y="323341"/>
            <a:ext cx="1603991" cy="714837"/>
          </a:xfrm>
          <a:prstGeom prst="rect">
            <a:avLst/>
          </a:prstGeom>
        </p:spPr>
        <p:txBody>
          <a:bodyPr vert="horz" lIns="96771" tIns="48386" rIns="96771" bIns="48386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与场景亲密接触</a:t>
            </a:r>
            <a:endParaRPr lang="en-US" altLang="zh-CN" sz="1482" dirty="0">
              <a:solidFill>
                <a:prstClr val="white"/>
              </a:solidFill>
            </a:endParaRPr>
          </a:p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做方案创新专家</a:t>
            </a:r>
          </a:p>
        </p:txBody>
      </p:sp>
    </p:spTree>
    <p:extLst>
      <p:ext uri="{BB962C8B-B14F-4D97-AF65-F5344CB8AC3E}">
        <p14:creationId xmlns:p14="http://schemas.microsoft.com/office/powerpoint/2010/main" val="381989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58" y="274630"/>
            <a:ext cx="10973848" cy="1142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58" y="1600157"/>
            <a:ext cx="10973848" cy="4525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9099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defTabSz="914620" rtl="0" eaLnBrk="1" latinLnBrk="0" hangingPunct="1"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30" indent="-342730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3255" indent="-285609" algn="l" defTabSz="914620" rtl="0" eaLnBrk="1" latinLnBrk="0" hangingPunct="1">
        <a:spcBef>
          <a:spcPct val="19000"/>
        </a:spcBef>
        <a:buFont typeface="Arial" panose="020B0604020202020204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3107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1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55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01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5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49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5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4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620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4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8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214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8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2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08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9094" y="1911661"/>
            <a:ext cx="4639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赢单项目复盘模板</a:t>
            </a:r>
          </a:p>
        </p:txBody>
      </p:sp>
      <p:pic>
        <p:nvPicPr>
          <p:cNvPr id="6" name="Picture 4" descr="printpic">
            <a:extLst>
              <a:ext uri="{FF2B5EF4-FFF2-40B4-BE49-F238E27FC236}">
                <a16:creationId xmlns:a16="http://schemas.microsoft.com/office/drawing/2014/main" id="{C0DB51EB-DF31-CB44-9482-F536D22E9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908" y="6426511"/>
            <a:ext cx="431465" cy="431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8115300" y="3474720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复盘人：***</a:t>
            </a:r>
            <a:endParaRPr kumimoji="1" lang="en-US" altLang="zh-CN" dirty="0"/>
          </a:p>
          <a:p>
            <a:r>
              <a:rPr kumimoji="1" lang="zh-CN" altLang="en-US" dirty="0"/>
              <a:t>复盘日期：**月**日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59094" y="5158740"/>
            <a:ext cx="3595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复盘目的：找到赢单原因，从成功走向成功</a:t>
            </a:r>
            <a:endParaRPr kumimoji="1" lang="en-US" altLang="zh-CN" sz="1400" dirty="0"/>
          </a:p>
          <a:p>
            <a:r>
              <a:rPr kumimoji="1" lang="zh-CN" altLang="en-US" sz="1400" dirty="0"/>
              <a:t>复盘原则：实事求是、客观反馈</a:t>
            </a:r>
          </a:p>
        </p:txBody>
      </p:sp>
    </p:spTree>
    <p:extLst>
      <p:ext uri="{BB962C8B-B14F-4D97-AF65-F5344CB8AC3E}">
        <p14:creationId xmlns:p14="http://schemas.microsoft.com/office/powerpoint/2010/main" val="889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项目概况简述</a:t>
            </a:r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8" y="1022292"/>
            <a:ext cx="10583836" cy="5255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项目名称：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***项目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项目预计下单金额：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701675" lvl="2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***万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项目类型：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701675" lvl="2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政府招投标、投融资、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ICT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、弱电、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ECP</a:t>
            </a:r>
          </a:p>
          <a:p>
            <a:pPr marL="323850" lvl="1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项目包含产品品类：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701675" lvl="2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基础网络、云桌面、运维、无线、安全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项目开标日期：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项目投标价格：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**万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项目跟进持续时间：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项目主要竞争对手：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025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**，**</a:t>
            </a:r>
            <a:endParaRPr lang="en-US" altLang="zh-CN" sz="1025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项目投标前预测类别：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优势、可能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+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、可能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9972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项目推进过程还原</a:t>
            </a:r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8" y="1452367"/>
            <a:ext cx="10583836" cy="413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请把从最初接触此项目，到最后丢标，整个时间段内，发生的所有事情做一个回顾还原。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务必做到真实客观的描述，不夸大，不隐瞒，实事求是的把客户的动作，我们的动作描述清楚。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描述过程中，如果有相关的文件、清单、分析、等过程性的材料，也以附件的形式附上。（比如客户预算、最终方案、竞争分析、友商报价、发标参数等）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此部分，请按照时间顺序来写，把项目推进过程中的关键环节发生的具体事情描述清楚即可，如果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1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页写不下，可以分多页来描述，尽量具体还原项目发生的全过程。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项目发展情况如何，客户做了什么动作，我们做来了什么动作，对手做了什么，结果如何。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项目发展情况如何，客户做了什么动作，我们做来了什么动作，对手做了什么，结果如何。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项目发展情况如何，客户做了什么动作，我们做来了什么动作，对手做了什么，结果如何。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项目发展情况如何，客户做了什么动作，我们做来了什么动作，对手做了什么，结果如何。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66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2327" y="338999"/>
            <a:ext cx="10515600" cy="49672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画出组织结构图</a:t>
            </a:r>
          </a:p>
        </p:txBody>
      </p:sp>
      <p:grpSp>
        <p:nvGrpSpPr>
          <p:cNvPr id="154" name="Group 5"/>
          <p:cNvGrpSpPr>
            <a:grpSpLocks/>
          </p:cNvGrpSpPr>
          <p:nvPr/>
        </p:nvGrpSpPr>
        <p:grpSpPr bwMode="auto">
          <a:xfrm>
            <a:off x="2734639" y="2000366"/>
            <a:ext cx="1255712" cy="627063"/>
            <a:chOff x="2146" y="904"/>
            <a:chExt cx="791" cy="395"/>
          </a:xfrm>
        </p:grpSpPr>
        <p:grpSp>
          <p:nvGrpSpPr>
            <p:cNvPr id="155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162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6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分管副局长</a:t>
              </a:r>
            </a:p>
          </p:txBody>
        </p:sp>
        <p:sp>
          <p:nvSpPr>
            <p:cNvPr id="158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7" name="Group 18"/>
          <p:cNvGrpSpPr>
            <a:grpSpLocks/>
          </p:cNvGrpSpPr>
          <p:nvPr/>
        </p:nvGrpSpPr>
        <p:grpSpPr bwMode="auto">
          <a:xfrm>
            <a:off x="5225914" y="3062052"/>
            <a:ext cx="1255713" cy="936625"/>
            <a:chOff x="703" y="1525"/>
            <a:chExt cx="791" cy="590"/>
          </a:xfrm>
        </p:grpSpPr>
        <p:sp>
          <p:nvSpPr>
            <p:cNvPr id="168" name="Text Box 1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9" name="Group 2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176" name="Rectangle 2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Rectangle 2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2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2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2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0" name="Text Box 2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Text Box 27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科技处处长</a:t>
              </a:r>
            </a:p>
          </p:txBody>
        </p:sp>
        <p:sp>
          <p:nvSpPr>
            <p:cNvPr id="172" name="Text Box 2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决</a:t>
              </a:r>
            </a:p>
          </p:txBody>
        </p:sp>
        <p:sp>
          <p:nvSpPr>
            <p:cNvPr id="173" name="Text Box 2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174" name="Text Box 3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175" name="Text Box 3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1" name="Group 32"/>
          <p:cNvGrpSpPr>
            <a:grpSpLocks/>
          </p:cNvGrpSpPr>
          <p:nvPr/>
        </p:nvGrpSpPr>
        <p:grpSpPr bwMode="auto">
          <a:xfrm>
            <a:off x="5152889" y="3925652"/>
            <a:ext cx="1425575" cy="936625"/>
            <a:chOff x="657" y="2069"/>
            <a:chExt cx="898" cy="590"/>
          </a:xfrm>
        </p:grpSpPr>
        <p:sp>
          <p:nvSpPr>
            <p:cNvPr id="182" name="Text Box 33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3" name="Group 34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190" name="Rectangle 35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Rectangle 36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37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Line 38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39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4" name="Text Box 40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Text Box 41"/>
            <p:cNvSpPr txBox="1">
              <a:spLocks noChangeArrowheads="1"/>
            </p:cNvSpPr>
            <p:nvPr/>
          </p:nvSpPr>
          <p:spPr bwMode="auto">
            <a:xfrm>
              <a:off x="657" y="2069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科技处副处长</a:t>
              </a:r>
            </a:p>
          </p:txBody>
        </p:sp>
        <p:sp>
          <p:nvSpPr>
            <p:cNvPr id="186" name="Text Box 42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187" name="Text Box 43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保</a:t>
              </a:r>
            </a:p>
          </p:txBody>
        </p:sp>
        <p:sp>
          <p:nvSpPr>
            <p:cNvPr id="188" name="Text Box 44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不</a:t>
              </a:r>
            </a:p>
          </p:txBody>
        </p:sp>
        <p:sp>
          <p:nvSpPr>
            <p:cNvPr id="189" name="Text Box 45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5" name="Group 46"/>
          <p:cNvGrpSpPr>
            <a:grpSpLocks/>
          </p:cNvGrpSpPr>
          <p:nvPr/>
        </p:nvGrpSpPr>
        <p:grpSpPr bwMode="auto">
          <a:xfrm>
            <a:off x="5152889" y="4741627"/>
            <a:ext cx="1284288" cy="936625"/>
            <a:chOff x="657" y="2069"/>
            <a:chExt cx="809" cy="590"/>
          </a:xfrm>
        </p:grpSpPr>
        <p:sp>
          <p:nvSpPr>
            <p:cNvPr id="196" name="Text Box 47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7" name="Group 48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204" name="Rectangle 49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Rectangle 50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Line 51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Line 52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Line 53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8" name="Text Box 54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Text Box 55"/>
            <p:cNvSpPr txBox="1">
              <a:spLocks noChangeArrowheads="1"/>
            </p:cNvSpPr>
            <p:nvPr/>
          </p:nvSpPr>
          <p:spPr bwMode="auto">
            <a:xfrm>
              <a:off x="657" y="2069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网络科科长</a:t>
              </a:r>
            </a:p>
          </p:txBody>
        </p:sp>
        <p:sp>
          <p:nvSpPr>
            <p:cNvPr id="200" name="Text Box 56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01" name="Text Box 57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202" name="Text Box 58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导</a:t>
              </a:r>
            </a:p>
          </p:txBody>
        </p:sp>
        <p:sp>
          <p:nvSpPr>
            <p:cNvPr id="203" name="Text Box 59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grpSp>
        <p:nvGrpSpPr>
          <p:cNvPr id="209" name="Group 60"/>
          <p:cNvGrpSpPr>
            <a:grpSpLocks/>
          </p:cNvGrpSpPr>
          <p:nvPr/>
        </p:nvGrpSpPr>
        <p:grpSpPr bwMode="auto">
          <a:xfrm>
            <a:off x="2761016" y="2904446"/>
            <a:ext cx="1255712" cy="936626"/>
            <a:chOff x="703" y="1525"/>
            <a:chExt cx="791" cy="590"/>
          </a:xfrm>
        </p:grpSpPr>
        <p:sp>
          <p:nvSpPr>
            <p:cNvPr id="210" name="Text Box 61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1" name="Group 62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18" name="Rectangle 63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Rectangle 64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Line 65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Line 66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Line 67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2" name="Text Box 68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Text Box 69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设备处处长</a:t>
              </a:r>
            </a:p>
          </p:txBody>
        </p:sp>
        <p:sp>
          <p:nvSpPr>
            <p:cNvPr id="214" name="Text Box 70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15" name="Text Box 71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Text Box 72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反</a:t>
              </a:r>
            </a:p>
          </p:txBody>
        </p:sp>
        <p:sp>
          <p:nvSpPr>
            <p:cNvPr id="217" name="Text Box 73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少</a:t>
              </a:r>
            </a:p>
          </p:txBody>
        </p:sp>
      </p:grpSp>
      <p:grpSp>
        <p:nvGrpSpPr>
          <p:cNvPr id="223" name="Group 74"/>
          <p:cNvGrpSpPr>
            <a:grpSpLocks/>
          </p:cNvGrpSpPr>
          <p:nvPr/>
        </p:nvGrpSpPr>
        <p:grpSpPr bwMode="auto">
          <a:xfrm>
            <a:off x="2761016" y="5624517"/>
            <a:ext cx="1236662" cy="936625"/>
            <a:chOff x="703" y="1525"/>
            <a:chExt cx="779" cy="590"/>
          </a:xfrm>
        </p:grpSpPr>
        <p:sp>
          <p:nvSpPr>
            <p:cNvPr id="224" name="Text Box 75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5" name="Group 76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32" name="Rectangle 7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Rectangle 7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4" name="Line 7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Line 8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Line 8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6" name="Text Box 82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Text Box 83"/>
            <p:cNvSpPr txBox="1">
              <a:spLocks noChangeArrowheads="1"/>
            </p:cNvSpPr>
            <p:nvPr/>
          </p:nvSpPr>
          <p:spPr bwMode="auto">
            <a:xfrm>
              <a:off x="726" y="1525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设备处科员</a:t>
              </a:r>
            </a:p>
          </p:txBody>
        </p:sp>
        <p:sp>
          <p:nvSpPr>
            <p:cNvPr id="228" name="Text Box 84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29" name="Text Box 85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230" name="Text Box 86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不</a:t>
              </a:r>
            </a:p>
          </p:txBody>
        </p:sp>
        <p:sp>
          <p:nvSpPr>
            <p:cNvPr id="231" name="Text Box 87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7" name="Group 88"/>
          <p:cNvGrpSpPr>
            <a:grpSpLocks/>
          </p:cNvGrpSpPr>
          <p:nvPr/>
        </p:nvGrpSpPr>
        <p:grpSpPr bwMode="auto">
          <a:xfrm>
            <a:off x="321026" y="2894418"/>
            <a:ext cx="1247776" cy="936626"/>
            <a:chOff x="703" y="1525"/>
            <a:chExt cx="786" cy="590"/>
          </a:xfrm>
        </p:grpSpPr>
        <p:sp>
          <p:nvSpPr>
            <p:cNvPr id="238" name="Text Box 8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9" name="Group 9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46" name="Rectangle 9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Rectangle 9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Line 9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9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9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0" name="Text Box 9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Text Box 97"/>
            <p:cNvSpPr txBox="1">
              <a:spLocks noChangeArrowheads="1"/>
            </p:cNvSpPr>
            <p:nvPr/>
          </p:nvSpPr>
          <p:spPr bwMode="auto">
            <a:xfrm>
              <a:off x="726" y="1525"/>
              <a:ext cx="76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设计院总工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Text Box 9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43" name="Text Box 9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Text Box 10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245" name="Text Box 10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1" name="Group 102"/>
          <p:cNvGrpSpPr>
            <a:grpSpLocks/>
          </p:cNvGrpSpPr>
          <p:nvPr/>
        </p:nvGrpSpPr>
        <p:grpSpPr bwMode="auto">
          <a:xfrm>
            <a:off x="5182107" y="5624516"/>
            <a:ext cx="1284288" cy="936625"/>
            <a:chOff x="657" y="2069"/>
            <a:chExt cx="809" cy="590"/>
          </a:xfrm>
        </p:grpSpPr>
        <p:sp>
          <p:nvSpPr>
            <p:cNvPr id="252" name="Text Box 103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3" name="Group 104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260" name="Rectangle 105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Rectangle 106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107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108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109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4" name="Text Box 110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Text Box 111"/>
            <p:cNvSpPr txBox="1">
              <a:spLocks noChangeArrowheads="1"/>
            </p:cNvSpPr>
            <p:nvPr/>
          </p:nvSpPr>
          <p:spPr bwMode="auto">
            <a:xfrm>
              <a:off x="657" y="2069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网络科科员</a:t>
              </a:r>
            </a:p>
          </p:txBody>
        </p:sp>
        <p:sp>
          <p:nvSpPr>
            <p:cNvPr id="256" name="Text Box 112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57" name="Text Box 113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前</a:t>
              </a:r>
            </a:p>
          </p:txBody>
        </p:sp>
        <p:sp>
          <p:nvSpPr>
            <p:cNvPr id="258" name="Text Box 114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259" name="Text Box 115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sp>
        <p:nvSpPr>
          <p:cNvPr id="265" name="Rectangle 116"/>
          <p:cNvSpPr>
            <a:spLocks noChangeArrowheads="1"/>
          </p:cNvSpPr>
          <p:nvPr/>
        </p:nvSpPr>
        <p:spPr bwMode="auto">
          <a:xfrm>
            <a:off x="9121455" y="2767922"/>
            <a:ext cx="1187450" cy="346075"/>
          </a:xfrm>
          <a:prstGeom prst="rect">
            <a:avLst/>
          </a:prstGeom>
          <a:solidFill>
            <a:srgbClr val="9A9180"/>
          </a:solidFill>
          <a:ln w="9525">
            <a:solidFill>
              <a:srgbClr val="BCB5A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Text Box 117"/>
          <p:cNvSpPr txBox="1">
            <a:spLocks noChangeArrowheads="1"/>
          </p:cNvSpPr>
          <p:nvPr/>
        </p:nvSpPr>
        <p:spPr bwMode="auto">
          <a:xfrm>
            <a:off x="9121455" y="2767922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kumimoji="0" lang="zh-CN" altLang="en-US" sz="18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Text Box 118"/>
          <p:cNvSpPr txBox="1">
            <a:spLocks noChangeArrowheads="1"/>
          </p:cNvSpPr>
          <p:nvPr/>
        </p:nvSpPr>
        <p:spPr bwMode="auto">
          <a:xfrm>
            <a:off x="9121455" y="2767922"/>
            <a:ext cx="1011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集成商甲</a:t>
            </a:r>
          </a:p>
        </p:txBody>
      </p:sp>
      <p:grpSp>
        <p:nvGrpSpPr>
          <p:cNvPr id="268" name="Group 119"/>
          <p:cNvGrpSpPr>
            <a:grpSpLocks/>
          </p:cNvGrpSpPr>
          <p:nvPr/>
        </p:nvGrpSpPr>
        <p:grpSpPr bwMode="auto">
          <a:xfrm>
            <a:off x="6997380" y="5360309"/>
            <a:ext cx="1236663" cy="936625"/>
            <a:chOff x="703" y="1525"/>
            <a:chExt cx="779" cy="590"/>
          </a:xfrm>
        </p:grpSpPr>
        <p:sp>
          <p:nvSpPr>
            <p:cNvPr id="269" name="Text Box 120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0" name="Group 121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77" name="Rectangle 122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Rectangle 123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Line 124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Line 125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Line 126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1" name="Text Box 127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Text Box 128"/>
            <p:cNvSpPr txBox="1">
              <a:spLocks noChangeArrowheads="1"/>
            </p:cNvSpPr>
            <p:nvPr/>
          </p:nvSpPr>
          <p:spPr bwMode="auto">
            <a:xfrm>
              <a:off x="726" y="1525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财务处科员</a:t>
              </a:r>
            </a:p>
          </p:txBody>
        </p:sp>
        <p:sp>
          <p:nvSpPr>
            <p:cNvPr id="273" name="Text Box 129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74" name="Text Box 130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275" name="Text Box 131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导</a:t>
              </a:r>
            </a:p>
          </p:txBody>
        </p:sp>
        <p:sp>
          <p:nvSpPr>
            <p:cNvPr id="276" name="Text Box 132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sp>
        <p:nvSpPr>
          <p:cNvPr id="282" name="Line 133"/>
          <p:cNvSpPr>
            <a:spLocks noChangeShapeType="1"/>
          </p:cNvSpPr>
          <p:nvPr/>
        </p:nvSpPr>
        <p:spPr bwMode="auto">
          <a:xfrm>
            <a:off x="3388078" y="2537735"/>
            <a:ext cx="0" cy="395288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3" name="Line 134"/>
          <p:cNvSpPr>
            <a:spLocks noChangeShapeType="1"/>
          </p:cNvSpPr>
          <p:nvPr/>
        </p:nvSpPr>
        <p:spPr bwMode="auto">
          <a:xfrm>
            <a:off x="5884727" y="2767922"/>
            <a:ext cx="1796255" cy="0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Line 135"/>
          <p:cNvSpPr>
            <a:spLocks noChangeShapeType="1"/>
          </p:cNvSpPr>
          <p:nvPr/>
        </p:nvSpPr>
        <p:spPr bwMode="auto">
          <a:xfrm flipH="1">
            <a:off x="5884727" y="2472683"/>
            <a:ext cx="9342" cy="576669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136"/>
          <p:cNvSpPr>
            <a:spLocks noChangeShapeType="1"/>
          </p:cNvSpPr>
          <p:nvPr/>
        </p:nvSpPr>
        <p:spPr bwMode="auto">
          <a:xfrm>
            <a:off x="7659308" y="2796940"/>
            <a:ext cx="0" cy="2524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Line 137"/>
          <p:cNvSpPr>
            <a:spLocks noChangeShapeType="1"/>
          </p:cNvSpPr>
          <p:nvPr/>
        </p:nvSpPr>
        <p:spPr bwMode="auto">
          <a:xfrm>
            <a:off x="5848214" y="3625615"/>
            <a:ext cx="0" cy="28733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" name="Line 138"/>
          <p:cNvSpPr>
            <a:spLocks noChangeShapeType="1"/>
          </p:cNvSpPr>
          <p:nvPr/>
        </p:nvSpPr>
        <p:spPr bwMode="auto">
          <a:xfrm>
            <a:off x="5848214" y="4489215"/>
            <a:ext cx="0" cy="2524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8" name="Line 139"/>
          <p:cNvSpPr>
            <a:spLocks noChangeShapeType="1"/>
          </p:cNvSpPr>
          <p:nvPr/>
        </p:nvSpPr>
        <p:spPr bwMode="auto">
          <a:xfrm>
            <a:off x="5848214" y="5316302"/>
            <a:ext cx="0" cy="252413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" name="Line 140"/>
          <p:cNvSpPr>
            <a:spLocks noChangeShapeType="1"/>
          </p:cNvSpPr>
          <p:nvPr/>
        </p:nvSpPr>
        <p:spPr bwMode="auto">
          <a:xfrm flipH="1">
            <a:off x="3364877" y="3468005"/>
            <a:ext cx="23202" cy="214266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0" name="Line 141"/>
          <p:cNvSpPr>
            <a:spLocks noChangeShapeType="1"/>
          </p:cNvSpPr>
          <p:nvPr/>
        </p:nvSpPr>
        <p:spPr bwMode="auto">
          <a:xfrm>
            <a:off x="7638730" y="3380697"/>
            <a:ext cx="3175" cy="19796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" name="Rectangle 146"/>
          <p:cNvSpPr>
            <a:spLocks noChangeArrowheads="1"/>
          </p:cNvSpPr>
          <p:nvPr/>
        </p:nvSpPr>
        <p:spPr bwMode="auto">
          <a:xfrm>
            <a:off x="9146855" y="3625172"/>
            <a:ext cx="1187450" cy="346075"/>
          </a:xfrm>
          <a:prstGeom prst="rect">
            <a:avLst/>
          </a:prstGeom>
          <a:solidFill>
            <a:srgbClr val="9A9180"/>
          </a:solidFill>
          <a:ln w="9525">
            <a:solidFill>
              <a:srgbClr val="BCB5A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2" name="Text Box 147"/>
          <p:cNvSpPr txBox="1">
            <a:spLocks noChangeArrowheads="1"/>
          </p:cNvSpPr>
          <p:nvPr/>
        </p:nvSpPr>
        <p:spPr bwMode="auto">
          <a:xfrm>
            <a:off x="9146855" y="3625172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kumimoji="0" lang="zh-CN" altLang="en-US" sz="18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3" name="Text Box 148"/>
          <p:cNvSpPr txBox="1">
            <a:spLocks noChangeArrowheads="1"/>
          </p:cNvSpPr>
          <p:nvPr/>
        </p:nvSpPr>
        <p:spPr bwMode="auto">
          <a:xfrm>
            <a:off x="9146855" y="3625172"/>
            <a:ext cx="1011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集成商乙</a:t>
            </a:r>
          </a:p>
        </p:txBody>
      </p:sp>
      <p:cxnSp>
        <p:nvCxnSpPr>
          <p:cNvPr id="294" name="曲线连接符 293"/>
          <p:cNvCxnSpPr>
            <a:endCxn id="332" idx="3"/>
          </p:cNvCxnSpPr>
          <p:nvPr/>
        </p:nvCxnSpPr>
        <p:spPr>
          <a:xfrm rot="16200000" flipV="1">
            <a:off x="5658664" y="3377066"/>
            <a:ext cx="2874287" cy="1092201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5" name="曲线连接符 294"/>
          <p:cNvCxnSpPr>
            <a:endCxn id="177" idx="3"/>
          </p:cNvCxnSpPr>
          <p:nvPr/>
        </p:nvCxnSpPr>
        <p:spPr>
          <a:xfrm rot="10800000">
            <a:off x="6449878" y="3523444"/>
            <a:ext cx="2696979" cy="304487"/>
          </a:xfrm>
          <a:prstGeom prst="curvedConnector3">
            <a:avLst>
              <a:gd name="adj1" fmla="val 97244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6" name="曲线连接符 295"/>
          <p:cNvCxnSpPr>
            <a:endCxn id="331" idx="3"/>
          </p:cNvCxnSpPr>
          <p:nvPr/>
        </p:nvCxnSpPr>
        <p:spPr>
          <a:xfrm rot="10800000">
            <a:off x="6549707" y="2197892"/>
            <a:ext cx="2571753" cy="743072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7" name="曲线连接符 296"/>
          <p:cNvCxnSpPr/>
          <p:nvPr/>
        </p:nvCxnSpPr>
        <p:spPr>
          <a:xfrm rot="16200000" flipV="1">
            <a:off x="4392081" y="4101468"/>
            <a:ext cx="1799431" cy="58737"/>
          </a:xfrm>
          <a:prstGeom prst="curvedConnector4">
            <a:avLst>
              <a:gd name="adj1" fmla="val 16718"/>
              <a:gd name="adj2" fmla="val 1594608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8" name="曲线连接符 297"/>
          <p:cNvCxnSpPr>
            <a:endCxn id="311" idx="1"/>
          </p:cNvCxnSpPr>
          <p:nvPr/>
        </p:nvCxnSpPr>
        <p:spPr>
          <a:xfrm rot="5400000" flipH="1" flipV="1">
            <a:off x="3204740" y="1948097"/>
            <a:ext cx="2057124" cy="460858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grpSp>
        <p:nvGrpSpPr>
          <p:cNvPr id="148" name="Group 88"/>
          <p:cNvGrpSpPr>
            <a:grpSpLocks/>
          </p:cNvGrpSpPr>
          <p:nvPr/>
        </p:nvGrpSpPr>
        <p:grpSpPr bwMode="auto">
          <a:xfrm>
            <a:off x="7165654" y="3026684"/>
            <a:ext cx="1255713" cy="936625"/>
            <a:chOff x="703" y="1525"/>
            <a:chExt cx="791" cy="590"/>
          </a:xfrm>
        </p:grpSpPr>
        <p:sp>
          <p:nvSpPr>
            <p:cNvPr id="149" name="Text Box 8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0" name="Group 9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302" name="Rectangle 9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Rectangle 9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9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Line 9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Line 9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1" name="Text Box 9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Text Box 97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财务处处长</a:t>
              </a:r>
            </a:p>
          </p:txBody>
        </p:sp>
        <p:sp>
          <p:nvSpPr>
            <p:cNvPr id="153" name="Text Box 9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99" name="Text Box 9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300" name="Text Box 10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301" name="Text Box 10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" name="Group 5"/>
          <p:cNvGrpSpPr>
            <a:grpSpLocks/>
          </p:cNvGrpSpPr>
          <p:nvPr/>
        </p:nvGrpSpPr>
        <p:grpSpPr bwMode="auto">
          <a:xfrm>
            <a:off x="4463731" y="692764"/>
            <a:ext cx="1223962" cy="627063"/>
            <a:chOff x="2146" y="904"/>
            <a:chExt cx="771" cy="395"/>
          </a:xfrm>
        </p:grpSpPr>
        <p:grpSp>
          <p:nvGrpSpPr>
            <p:cNvPr id="308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315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9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63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一把局长</a:t>
              </a:r>
            </a:p>
          </p:txBody>
        </p:sp>
        <p:sp>
          <p:nvSpPr>
            <p:cNvPr id="311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0" name="Line 133"/>
          <p:cNvSpPr>
            <a:spLocks noChangeShapeType="1"/>
          </p:cNvSpPr>
          <p:nvPr/>
        </p:nvSpPr>
        <p:spPr bwMode="auto">
          <a:xfrm>
            <a:off x="5089207" y="1269027"/>
            <a:ext cx="4761" cy="304653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1" name="Line 134"/>
          <p:cNvSpPr>
            <a:spLocks noChangeShapeType="1"/>
          </p:cNvSpPr>
          <p:nvPr/>
        </p:nvSpPr>
        <p:spPr bwMode="auto">
          <a:xfrm flipV="1">
            <a:off x="3388077" y="1575652"/>
            <a:ext cx="2629999" cy="2780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2" name="Line 133"/>
          <p:cNvSpPr>
            <a:spLocks noChangeShapeType="1"/>
          </p:cNvSpPr>
          <p:nvPr/>
        </p:nvSpPr>
        <p:spPr bwMode="auto">
          <a:xfrm flipH="1">
            <a:off x="5955980" y="1596892"/>
            <a:ext cx="1" cy="412484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3" name="Group 5"/>
          <p:cNvGrpSpPr>
            <a:grpSpLocks/>
          </p:cNvGrpSpPr>
          <p:nvPr/>
        </p:nvGrpSpPr>
        <p:grpSpPr bwMode="auto">
          <a:xfrm>
            <a:off x="5325744" y="2024632"/>
            <a:ext cx="1255712" cy="627063"/>
            <a:chOff x="2146" y="904"/>
            <a:chExt cx="791" cy="395"/>
          </a:xfrm>
        </p:grpSpPr>
        <p:grpSp>
          <p:nvGrpSpPr>
            <p:cNvPr id="324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331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5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分管副局长</a:t>
              </a:r>
            </a:p>
          </p:txBody>
        </p:sp>
        <p:sp>
          <p:nvSpPr>
            <p:cNvPr id="327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拍</a:t>
              </a:r>
            </a:p>
          </p:txBody>
        </p:sp>
        <p:sp>
          <p:nvSpPr>
            <p:cNvPr id="328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329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6" name="Line 133"/>
          <p:cNvSpPr>
            <a:spLocks noChangeShapeType="1"/>
          </p:cNvSpPr>
          <p:nvPr/>
        </p:nvSpPr>
        <p:spPr bwMode="auto">
          <a:xfrm>
            <a:off x="3388077" y="1609813"/>
            <a:ext cx="2211" cy="362054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8341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项目赢单原因总结</a:t>
            </a:r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8" y="1452367"/>
            <a:ext cx="8456850" cy="413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通过对前面项目整个流程的回顾，总结能赢的关键点（不超过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5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条）：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1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2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3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025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575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360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项目赢单原因总结</a:t>
            </a:r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7" y="1452367"/>
            <a:ext cx="8493399" cy="413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如果这个项目能重新来做一遍的话，你会做哪些之前该做却没做的事，可以把项目做的更好：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 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通过这个项目的赢单分析，对你未来的项目有什么启发和启示？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 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79837"/>
      </p:ext>
    </p:extLst>
  </p:cSld>
  <p:clrMapOvr>
    <a:masterClrMapping/>
  </p:clrMapOvr>
</p:sld>
</file>

<file path=ppt/theme/theme1.xml><?xml version="1.0" encoding="utf-8"?>
<a:theme xmlns:a="http://schemas.openxmlformats.org/drawingml/2006/main" name="锐捷2019白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锐捷2019白" id="{85AC704C-A430-4F18-8E00-59CC00326FF7}" vid="{4E182E14-EFF6-426A-8D0C-901A69A79F3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22142</TotalTime>
  <Words>690</Words>
  <Application>Microsoft Macintosh PowerPoint</Application>
  <PresentationFormat>宽屏</PresentationFormat>
  <Paragraphs>122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方正粗黑宋简体</vt:lpstr>
      <vt:lpstr>微软雅黑</vt:lpstr>
      <vt:lpstr>Arial</vt:lpstr>
      <vt:lpstr>Calibri</vt:lpstr>
      <vt:lpstr>Wingdings</vt:lpstr>
      <vt:lpstr>锐捷2019白</vt:lpstr>
      <vt:lpstr>PowerPoint 演示文稿</vt:lpstr>
      <vt:lpstr>项目概况简述</vt:lpstr>
      <vt:lpstr>项目推进过程还原</vt:lpstr>
      <vt:lpstr>画出组织结构图</vt:lpstr>
      <vt:lpstr>项目赢单原因总结</vt:lpstr>
      <vt:lpstr>项目赢单原因总结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“预见”未来的自己</dc:title>
  <dc:creator>黄海滨</dc:creator>
  <cp:lastModifiedBy>鑫旸 赵</cp:lastModifiedBy>
  <cp:revision>2007</cp:revision>
  <dcterms:created xsi:type="dcterms:W3CDTF">2020-09-22T08:15:27Z</dcterms:created>
  <dcterms:modified xsi:type="dcterms:W3CDTF">2025-03-02T15:29:29Z</dcterms:modified>
</cp:coreProperties>
</file>