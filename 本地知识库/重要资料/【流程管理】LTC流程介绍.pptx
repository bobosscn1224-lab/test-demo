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3686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645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jpe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eg"/><Relationship Id="rId13" Type="http://schemas.openxmlformats.org/officeDocument/2006/relationships/image" Target="../media/image92.jpeg"/><Relationship Id="rId3" Type="http://schemas.openxmlformats.org/officeDocument/2006/relationships/image" Target="../media/image82.jpeg"/><Relationship Id="rId7" Type="http://schemas.openxmlformats.org/officeDocument/2006/relationships/image" Target="../media/image86.png"/><Relationship Id="rId12" Type="http://schemas.openxmlformats.org/officeDocument/2006/relationships/image" Target="../media/image91.jpe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jpeg"/><Relationship Id="rId11" Type="http://schemas.openxmlformats.org/officeDocument/2006/relationships/image" Target="../media/image90.jpeg"/><Relationship Id="rId5" Type="http://schemas.openxmlformats.org/officeDocument/2006/relationships/image" Target="../media/image84.jpeg"/><Relationship Id="rId10" Type="http://schemas.openxmlformats.org/officeDocument/2006/relationships/image" Target="../media/image89.png"/><Relationship Id="rId4" Type="http://schemas.openxmlformats.org/officeDocument/2006/relationships/image" Target="../media/image83.jpeg"/><Relationship Id="rId9" Type="http://schemas.openxmlformats.org/officeDocument/2006/relationships/image" Target="../media/image88.png"/><Relationship Id="rId14" Type="http://schemas.openxmlformats.org/officeDocument/2006/relationships/image" Target="../media/image9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36875" y="3429000"/>
            <a:ext cx="49949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lang="zh-CN" altLang="en-US" sz="7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269491" y="1970531"/>
            <a:ext cx="7970519" cy="732790"/>
          </a:xfrm>
          <a:prstGeom prst="rect">
            <a:avLst/>
          </a:prstGeom>
          <a:solidFill>
            <a:srgbClr val="136B96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lang="en-US" altLang="en-US" sz="900" dirty="0"/>
          </a:p>
          <a:p>
            <a:pPr marL="358140" algn="l" rtl="0" eaLnBrk="0">
              <a:lnSpc>
                <a:spcPct val="97000"/>
              </a:lnSpc>
              <a:spcBef>
                <a:spcPts val="0"/>
              </a:spcBef>
            </a:pPr>
            <a:r>
              <a:rPr sz="2400" spc="-10" dirty="0">
                <a:ln w="6350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24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400" spc="0" dirty="0">
                <a:ln w="6350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问题的提出和解决思路</a:t>
            </a:r>
            <a:endParaRPr lang="en-US" altLang="en-US" sz="2400" dirty="0"/>
          </a:p>
        </p:txBody>
      </p:sp>
      <p:sp>
        <p:nvSpPr>
          <p:cNvPr id="3" name="textbox 3"/>
          <p:cNvSpPr/>
          <p:nvPr/>
        </p:nvSpPr>
        <p:spPr>
          <a:xfrm>
            <a:off x="595977" y="269576"/>
            <a:ext cx="11004550" cy="457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2000"/>
              </a:lnSpc>
              <a:tabLst>
                <a:tab pos="10991215" algn="l"/>
              </a:tabLst>
            </a:pPr>
            <a:r>
              <a:rPr sz="2700" u="sng" spc="-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2700" u="sng" spc="-6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r>
              <a:rPr sz="2700" u="sng" spc="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lang="en-US" altLang="en-US" sz="2700" dirty="0"/>
          </a:p>
        </p:txBody>
      </p:sp>
      <p:sp>
        <p:nvSpPr>
          <p:cNvPr id="4" name="textbox 4"/>
          <p:cNvSpPr/>
          <p:nvPr/>
        </p:nvSpPr>
        <p:spPr>
          <a:xfrm>
            <a:off x="1604307" y="3197764"/>
            <a:ext cx="2797175" cy="3790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业界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流程介绍</a:t>
            </a:r>
            <a:endParaRPr lang="en-US" altLang="en-US" sz="2400" dirty="0"/>
          </a:p>
        </p:txBody>
      </p:sp>
      <p:sp>
        <p:nvSpPr>
          <p:cNvPr id="5" name="textbox 5"/>
          <p:cNvSpPr/>
          <p:nvPr/>
        </p:nvSpPr>
        <p:spPr>
          <a:xfrm>
            <a:off x="1607968" y="4295425"/>
            <a:ext cx="1071244" cy="3860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目标</a:t>
            </a:r>
            <a:endParaRPr lang="en-US" altLang="en-US" sz="2400" dirty="0"/>
          </a:p>
        </p:txBody>
      </p:sp>
      <p:sp>
        <p:nvSpPr>
          <p:cNvPr id="6" name="textbox 6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/>
          <p:nvPr/>
        </p:nvSpPr>
        <p:spPr>
          <a:xfrm>
            <a:off x="9111562" y="3340405"/>
            <a:ext cx="2599054" cy="2176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98120" algn="l" rtl="0" eaLnBrk="0">
              <a:lnSpc>
                <a:spcPct val="98000"/>
              </a:lnSpc>
            </a:pPr>
            <a:r>
              <a:rPr sz="1800" spc="-16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团队管理：</a:t>
            </a:r>
            <a:r>
              <a:rPr sz="180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800" spc="-16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“部门墙</a:t>
            </a:r>
            <a:r>
              <a:rPr sz="1800" spc="-15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en-US" sz="1800" dirty="0"/>
          </a:p>
          <a:p>
            <a:pPr algn="l" rtl="0" eaLnBrk="0">
              <a:lnSpc>
                <a:spcPct val="107000"/>
              </a:lnSpc>
            </a:pPr>
            <a:endParaRPr lang="en-US" altLang="en-US" sz="1100" dirty="0"/>
          </a:p>
          <a:p>
            <a:pPr marL="172085" indent="-159385" algn="l" rtl="0" eaLnBrk="0">
              <a:lnSpc>
                <a:spcPct val="149000"/>
              </a:lnSpc>
              <a:spcBef>
                <a:spcPts val="5"/>
              </a:spcBef>
            </a:pPr>
            <a:r>
              <a:rPr sz="150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5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部门间各自为战，售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售后各唱各的戏，没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协调配合，缺乏充分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效的沟通与信息共享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缺少整体性的团队视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野</a:t>
            </a:r>
            <a:endParaRPr lang="en-US" altLang="en-US" sz="1500" dirty="0"/>
          </a:p>
        </p:txBody>
      </p:sp>
      <p:sp>
        <p:nvSpPr>
          <p:cNvPr id="10" name="textbox 10"/>
          <p:cNvSpPr/>
          <p:nvPr/>
        </p:nvSpPr>
        <p:spPr>
          <a:xfrm>
            <a:off x="729481" y="3340405"/>
            <a:ext cx="2239645" cy="21710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71755" algn="l" rtl="0" eaLnBrk="0">
              <a:lnSpc>
                <a:spcPct val="97000"/>
              </a:lnSpc>
            </a:pPr>
            <a:r>
              <a:rPr sz="1800" spc="-18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旧流程：</a:t>
            </a:r>
            <a:r>
              <a:rPr sz="180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800" spc="-18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“不匹配</a:t>
            </a:r>
            <a:r>
              <a:rPr sz="1800" spc="-1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en-US" sz="1800" dirty="0"/>
          </a:p>
          <a:p>
            <a:pPr marL="185420" indent="-158115" algn="l" rtl="0" eaLnBrk="0">
              <a:lnSpc>
                <a:spcPct val="161000"/>
              </a:lnSpc>
              <a:spcBef>
                <a:spcPts val="400"/>
              </a:spcBef>
            </a:pP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中国电子云业务刚刚</a:t>
            </a:r>
            <a:r>
              <a:rPr sz="15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步，摸着石头过河</a:t>
            </a:r>
            <a:r>
              <a:rPr sz="15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en-US" sz="1500" dirty="0"/>
          </a:p>
          <a:p>
            <a:pPr marL="12700" algn="l" rtl="0" eaLnBrk="0">
              <a:lnSpc>
                <a:spcPct val="94000"/>
              </a:lnSpc>
              <a:spcBef>
                <a:spcPts val="1040"/>
              </a:spcBef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公司的旧流程体系不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</a:t>
            </a:r>
            <a:endParaRPr lang="en-US" altLang="en-US" sz="1500" dirty="0"/>
          </a:p>
          <a:p>
            <a:pPr marL="183515" indent="-1270" algn="l" rtl="0" eaLnBrk="0">
              <a:lnSpc>
                <a:spcPct val="162000"/>
              </a:lnSpc>
              <a:spcBef>
                <a:spcPts val="30"/>
              </a:spcBef>
            </a:pPr>
            <a:r>
              <a:rPr sz="150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合云业务(“卖</a:t>
            </a:r>
            <a:r>
              <a:rPr sz="150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盒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子”— &gt;  “卖云”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1500" dirty="0"/>
          </a:p>
        </p:txBody>
      </p:sp>
      <p:sp>
        <p:nvSpPr>
          <p:cNvPr id="11" name="textbox 11"/>
          <p:cNvSpPr/>
          <p:nvPr/>
        </p:nvSpPr>
        <p:spPr>
          <a:xfrm>
            <a:off x="6145047" y="3340405"/>
            <a:ext cx="2651760" cy="18122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5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项目管理：</a:t>
            </a:r>
            <a:r>
              <a:rPr sz="180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800" spc="-15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“烟囱林立</a:t>
            </a:r>
            <a:r>
              <a:rPr sz="1800" spc="-6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en-US" sz="1800" dirty="0"/>
          </a:p>
          <a:p>
            <a:pPr marL="348615" indent="-160655" algn="l" rtl="0" eaLnBrk="0">
              <a:lnSpc>
                <a:spcPct val="161000"/>
              </a:lnSpc>
              <a:spcBef>
                <a:spcPts val="385"/>
              </a:spcBef>
            </a:pPr>
            <a:r>
              <a:rPr sz="150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5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不同项目/产品各自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     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立运作，经验教训很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传递，容易出现重复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犯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错、成本增加的情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况</a:t>
            </a:r>
            <a:endParaRPr lang="en-US" altLang="en-US" sz="1500" dirty="0"/>
          </a:p>
        </p:txBody>
      </p:sp>
      <p:sp>
        <p:nvSpPr>
          <p:cNvPr id="12" name="textbox 12"/>
          <p:cNvSpPr/>
          <p:nvPr/>
        </p:nvSpPr>
        <p:spPr>
          <a:xfrm>
            <a:off x="3457498" y="3340405"/>
            <a:ext cx="2282825" cy="18110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7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新流程：</a:t>
            </a:r>
            <a:r>
              <a:rPr sz="180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800" spc="-17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“打补丁</a:t>
            </a:r>
            <a:r>
              <a:rPr sz="1800" spc="-10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en-US" sz="1800" dirty="0"/>
          </a:p>
          <a:p>
            <a:pPr marL="244475" indent="-167640" algn="l" rtl="0" eaLnBrk="0">
              <a:lnSpc>
                <a:spcPct val="160000"/>
              </a:lnSpc>
              <a:spcBef>
                <a:spcPts val="430"/>
              </a:spcBef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管理还处于比较原始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阶段，缺少标准化的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程体系，主要通过“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文”、“立项”来推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</a:t>
            </a:r>
            <a:endParaRPr lang="en-US" altLang="en-US" sz="1500" dirty="0"/>
          </a:p>
        </p:txBody>
      </p:sp>
      <p:sp>
        <p:nvSpPr>
          <p:cNvPr id="13" name="textbox 13"/>
          <p:cNvSpPr/>
          <p:nvPr/>
        </p:nvSpPr>
        <p:spPr>
          <a:xfrm>
            <a:off x="3929265" y="1230351"/>
            <a:ext cx="4343400" cy="7797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534160" algn="l" rtl="0" eaLnBrk="0">
              <a:lnSpc>
                <a:spcPts val="2330"/>
              </a:lnSpc>
            </a:pPr>
            <a:r>
              <a:rPr sz="1900" spc="-12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</a:t>
            </a:r>
            <a:r>
              <a:rPr sz="1900" spc="-9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1900" dirty="0"/>
          </a:p>
          <a:p>
            <a:pPr algn="l" rtl="0" eaLnBrk="0">
              <a:lnSpc>
                <a:spcPct val="106000"/>
              </a:lnSpc>
            </a:pPr>
            <a:endParaRPr lang="en-US" altLang="en-US" sz="10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spc="-1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</a:t>
            </a:r>
            <a:r>
              <a:rPr sz="2000" spc="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合云业务的标准化流程管理体系缺失</a:t>
            </a:r>
            <a:endParaRPr lang="en-US" altLang="en-US" sz="2000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779" y="954023"/>
            <a:ext cx="1033272" cy="1158240"/>
          </a:xfrm>
          <a:prstGeom prst="rect">
            <a:avLst/>
          </a:prstGeom>
        </p:spPr>
      </p:pic>
      <p:sp>
        <p:nvSpPr>
          <p:cNvPr id="15" name="textbox 15"/>
          <p:cNvSpPr/>
          <p:nvPr/>
        </p:nvSpPr>
        <p:spPr>
          <a:xfrm>
            <a:off x="575737" y="269576"/>
            <a:ext cx="1780539" cy="439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问题的提</a:t>
            </a:r>
            <a:r>
              <a:rPr sz="2700" spc="3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</a:t>
            </a:r>
            <a:endParaRPr lang="en-US" altLang="en-US" sz="2700"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53071" y="2506979"/>
            <a:ext cx="769619" cy="69342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55064" y="2506979"/>
            <a:ext cx="704088" cy="691896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514088" y="2506980"/>
            <a:ext cx="675132" cy="679703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970007" y="2506979"/>
            <a:ext cx="690371" cy="629411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2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/>
          <p:nvPr/>
        </p:nvSpPr>
        <p:spPr>
          <a:xfrm>
            <a:off x="725905" y="4768094"/>
            <a:ext cx="10774044" cy="17570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50"/>
              </a:lnSpc>
            </a:pP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针对三大业务流，建立对应的三个系统，即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IPD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ITR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，  同时用流程</a:t>
            </a:r>
            <a:r>
              <a:rPr sz="1500" spc="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的方式进行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endParaRPr lang="en-US" altLang="en-US" sz="1500" dirty="0"/>
          </a:p>
          <a:p>
            <a:pPr marL="12700" algn="l" rtl="0" eaLnBrk="0">
              <a:lnSpc>
                <a:spcPts val="1850"/>
              </a:lnSpc>
              <a:spcBef>
                <a:spcPts val="1030"/>
              </a:spcBef>
            </a:pP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流程固化需落实到</a:t>
            </a:r>
            <a:r>
              <a:rPr sz="1500" spc="9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中，通过流程化组织建设来推倒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部门墙</a:t>
            </a:r>
            <a:endParaRPr lang="en-US" altLang="en-US" sz="1500" dirty="0"/>
          </a:p>
          <a:p>
            <a:pPr marL="12700" algn="l" rtl="0" eaLnBrk="0">
              <a:lnSpc>
                <a:spcPts val="1845"/>
              </a:lnSpc>
              <a:spcBef>
                <a:spcPts val="1030"/>
              </a:spcBef>
            </a:pP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管理不是发文，也不是立项。管理的核心是建体系，建系统。  流程是管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体系的核心</a:t>
            </a:r>
            <a:endParaRPr lang="en-US" altLang="en-US" sz="15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algn="r" rtl="0" eaLnBrk="0">
              <a:lnSpc>
                <a:spcPct val="88000"/>
              </a:lnSpc>
              <a:spcBef>
                <a:spcPts val="365"/>
              </a:spcBef>
            </a:pPr>
            <a:r>
              <a:rPr sz="12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 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IPD</a:t>
            </a:r>
            <a:r>
              <a:rPr sz="12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Integrated</a:t>
            </a:r>
            <a:r>
              <a:rPr sz="12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 Development)：集成产品开发</a:t>
            </a:r>
            <a:endParaRPr lang="en-US" altLang="en-US" sz="1200" dirty="0"/>
          </a:p>
          <a:p>
            <a:pPr marL="6756400" algn="l" rtl="0" eaLnBrk="0">
              <a:lnSpc>
                <a:spcPct val="102000"/>
              </a:lnSpc>
              <a:spcBef>
                <a:spcPts val="40"/>
              </a:spcBef>
            </a:pP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Lead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Cash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)：线索到回</a:t>
            </a:r>
            <a:r>
              <a:rPr sz="12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款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ITR</a:t>
            </a: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</a:t>
            </a: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</a:t>
            </a: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Resolution</a:t>
            </a: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)：问题到解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</a:t>
            </a:r>
            <a:endParaRPr lang="en-US" altLang="en-US" sz="1200" dirty="0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9390888" y="1162811"/>
            <a:ext cx="2281428" cy="3165347"/>
            <a:chOff x="0" y="0"/>
            <a:chExt cx="2281428" cy="3165347"/>
          </a:xfrm>
        </p:grpSpPr>
        <p:sp>
          <p:nvSpPr>
            <p:cNvPr id="25" name="path"/>
            <p:cNvSpPr/>
            <p:nvPr/>
          </p:nvSpPr>
          <p:spPr>
            <a:xfrm>
              <a:off x="0" y="0"/>
              <a:ext cx="2281428" cy="3165347"/>
            </a:xfrm>
            <a:custGeom>
              <a:avLst/>
              <a:gdLst/>
              <a:ahLst/>
              <a:cxnLst/>
              <a:rect l="0" t="0" r="0" b="0"/>
              <a:pathLst>
                <a:path w="3592" h="4984">
                  <a:moveTo>
                    <a:pt x="1796" y="1338"/>
                  </a:moveTo>
                  <a:lnTo>
                    <a:pt x="2415" y="0"/>
                  </a:lnTo>
                  <a:lnTo>
                    <a:pt x="2354" y="1228"/>
                  </a:lnTo>
                  <a:lnTo>
                    <a:pt x="3057" y="1028"/>
                  </a:lnTo>
                  <a:lnTo>
                    <a:pt x="2778" y="1688"/>
                  </a:lnTo>
                  <a:lnTo>
                    <a:pt x="3509" y="1877"/>
                  </a:lnTo>
                  <a:lnTo>
                    <a:pt x="2928" y="2417"/>
                  </a:lnTo>
                  <a:lnTo>
                    <a:pt x="3592" y="3066"/>
                  </a:lnTo>
                  <a:lnTo>
                    <a:pt x="2800" y="2986"/>
                  </a:lnTo>
                  <a:lnTo>
                    <a:pt x="3018" y="4176"/>
                  </a:lnTo>
                  <a:lnTo>
                    <a:pt x="2332" y="3336"/>
                  </a:lnTo>
                  <a:lnTo>
                    <a:pt x="2203" y="4554"/>
                  </a:lnTo>
                  <a:lnTo>
                    <a:pt x="1751" y="3446"/>
                  </a:lnTo>
                  <a:lnTo>
                    <a:pt x="1411" y="4984"/>
                  </a:lnTo>
                  <a:lnTo>
                    <a:pt x="1283" y="3606"/>
                  </a:lnTo>
                  <a:lnTo>
                    <a:pt x="792" y="4065"/>
                  </a:lnTo>
                  <a:lnTo>
                    <a:pt x="942" y="3216"/>
                  </a:lnTo>
                  <a:lnTo>
                    <a:pt x="22" y="3366"/>
                  </a:lnTo>
                  <a:lnTo>
                    <a:pt x="619" y="2717"/>
                  </a:lnTo>
                  <a:lnTo>
                    <a:pt x="0" y="1988"/>
                  </a:lnTo>
                  <a:lnTo>
                    <a:pt x="769" y="1757"/>
                  </a:lnTo>
                  <a:lnTo>
                    <a:pt x="61" y="529"/>
                  </a:lnTo>
                  <a:lnTo>
                    <a:pt x="1216" y="1458"/>
                  </a:lnTo>
                  <a:lnTo>
                    <a:pt x="1389" y="529"/>
                  </a:lnTo>
                  <a:lnTo>
                    <a:pt x="1796" y="1338"/>
                  </a:lnTo>
                  <a:close/>
                </a:path>
              </a:pathLst>
            </a:custGeom>
            <a:solidFill>
              <a:srgbClr val="E4CDC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" name="textbox 26"/>
            <p:cNvSpPr/>
            <p:nvPr/>
          </p:nvSpPr>
          <p:spPr>
            <a:xfrm>
              <a:off x="-12700" y="-12700"/>
              <a:ext cx="2306954" cy="319087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0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7000"/>
                </a:lnSpc>
              </a:pPr>
              <a:endParaRPr lang="en-US" altLang="en-US" sz="100" dirty="0"/>
            </a:p>
            <a:p>
              <a:pPr marL="584835" algn="l" rtl="0" eaLnBrk="0">
                <a:lnSpc>
                  <a:spcPct val="89000"/>
                </a:lnSpc>
              </a:pPr>
              <a:r>
                <a:rPr sz="15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流程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的核心是</a:t>
              </a:r>
              <a:endParaRPr lang="en-US" altLang="en-US" sz="1500" dirty="0"/>
            </a:p>
            <a:p>
              <a:pPr marL="585470" algn="l" rtl="0" eaLnBrk="0">
                <a:lnSpc>
                  <a:spcPts val="2160"/>
                </a:lnSpc>
              </a:pPr>
              <a:r>
                <a:rPr sz="15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要反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映业务的</a:t>
              </a:r>
              <a:endParaRPr lang="en-US" altLang="en-US" sz="1500" dirty="0"/>
            </a:p>
            <a:p>
              <a:pPr marL="585470" algn="l" rtl="0" eaLnBrk="0">
                <a:lnSpc>
                  <a:spcPts val="2160"/>
                </a:lnSpc>
              </a:pPr>
              <a:r>
                <a:rPr sz="15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本质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，还原以</a:t>
              </a:r>
              <a:endParaRPr lang="en-US" altLang="en-US" sz="1500" dirty="0"/>
            </a:p>
            <a:p>
              <a:pPr marL="584200" algn="l" rtl="0" eaLnBrk="0">
                <a:lnSpc>
                  <a:spcPct val="89000"/>
                </a:lnSpc>
                <a:spcBef>
                  <a:spcPts val="560"/>
                </a:spcBef>
              </a:pPr>
              <a:r>
                <a:rPr sz="15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</a:t>
              </a:r>
              <a:r>
                <a:rPr sz="15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，该是谁的</a:t>
              </a:r>
              <a:endParaRPr lang="en-US" altLang="en-US" sz="1500" dirty="0"/>
            </a:p>
            <a:p>
              <a:pPr marL="681990" algn="l" rtl="0" eaLnBrk="0">
                <a:lnSpc>
                  <a:spcPts val="2160"/>
                </a:lnSpc>
              </a:pPr>
              <a:r>
                <a:rPr sz="140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就是谁的</a:t>
              </a:r>
              <a:r>
                <a:rPr sz="1400" spc="-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en-US" altLang="en-US" sz="1400" dirty="0"/>
            </a:p>
          </p:txBody>
        </p:sp>
      </p:grpSp>
      <p:sp>
        <p:nvSpPr>
          <p:cNvPr id="27" name="textbox 27"/>
          <p:cNvSpPr/>
          <p:nvPr/>
        </p:nvSpPr>
        <p:spPr>
          <a:xfrm>
            <a:off x="559048" y="269576"/>
            <a:ext cx="7905115" cy="4400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60"/>
              </a:lnSpc>
            </a:pPr>
            <a:r>
              <a:rPr sz="2700" spc="-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推倒部门墙的三大流程再造体系：</a:t>
            </a:r>
            <a:r>
              <a:rPr sz="2700" spc="-7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-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IPD、</a:t>
            </a:r>
            <a:r>
              <a:rPr sz="2700" spc="-7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-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</a:t>
            </a:r>
            <a:r>
              <a:rPr sz="2700" spc="-4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sz="2700" spc="-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700" spc="-7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ITR</a:t>
            </a:r>
            <a:endParaRPr lang="en-US" altLang="en-US" sz="2700" dirty="0"/>
          </a:p>
        </p:txBody>
      </p:sp>
      <p:sp>
        <p:nvSpPr>
          <p:cNvPr id="28" name="textbox 28"/>
          <p:cNvSpPr/>
          <p:nvPr/>
        </p:nvSpPr>
        <p:spPr>
          <a:xfrm>
            <a:off x="2827020" y="2604515"/>
            <a:ext cx="4166870" cy="619125"/>
          </a:xfrm>
          <a:prstGeom prst="rect">
            <a:avLst/>
          </a:prstGeom>
          <a:solidFill>
            <a:srgbClr val="CBDECA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lang="en-US" altLang="en-US" sz="1000" dirty="0"/>
          </a:p>
          <a:p>
            <a:pPr marL="299720" algn="l" rtl="0" eaLnBrk="0">
              <a:lnSpc>
                <a:spcPct val="97000"/>
              </a:lnSpc>
              <a:spcBef>
                <a:spcPts val="0"/>
              </a:spcBef>
            </a:pPr>
            <a:r>
              <a:rPr sz="180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线索到回款，产品和服务变现：  L</a:t>
            </a: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en-US" altLang="en-US" sz="1800" dirty="0"/>
          </a:p>
        </p:txBody>
      </p:sp>
      <p:sp>
        <p:nvSpPr>
          <p:cNvPr id="29" name="textbox 29"/>
          <p:cNvSpPr/>
          <p:nvPr/>
        </p:nvSpPr>
        <p:spPr>
          <a:xfrm>
            <a:off x="2827020" y="1682496"/>
            <a:ext cx="4166870" cy="618490"/>
          </a:xfrm>
          <a:prstGeom prst="rect">
            <a:avLst/>
          </a:prstGeom>
          <a:solidFill>
            <a:srgbClr val="CBDECA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marL="981710" algn="l" rtl="0" eaLnBrk="0">
              <a:lnSpc>
                <a:spcPct val="98000"/>
              </a:lnSpc>
              <a:spcBef>
                <a:spcPts val="5"/>
              </a:spcBef>
            </a:pP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产品、解决方案：  IP</a:t>
            </a:r>
            <a:r>
              <a:rPr sz="180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altLang="en-US" sz="1800" dirty="0"/>
          </a:p>
        </p:txBody>
      </p:sp>
      <p:sp>
        <p:nvSpPr>
          <p:cNvPr id="30" name="textbox 30"/>
          <p:cNvSpPr/>
          <p:nvPr/>
        </p:nvSpPr>
        <p:spPr>
          <a:xfrm>
            <a:off x="2827020" y="3528060"/>
            <a:ext cx="4166870" cy="616584"/>
          </a:xfrm>
          <a:prstGeom prst="rect">
            <a:avLst/>
          </a:prstGeom>
          <a:solidFill>
            <a:srgbClr val="CBDECA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lang="en-US" altLang="en-US" sz="1000" dirty="0"/>
          </a:p>
          <a:p>
            <a:pPr marL="1239520" algn="l" rtl="0" eaLnBrk="0">
              <a:lnSpc>
                <a:spcPts val="2090"/>
              </a:lnSpc>
              <a:spcBef>
                <a:spcPts val="0"/>
              </a:spcBef>
            </a:pPr>
            <a:r>
              <a:rPr sz="17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问题到解决：  IT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endParaRPr lang="en-US" altLang="en-US" sz="1700" dirty="0"/>
          </a:p>
        </p:txBody>
      </p:sp>
      <p:sp>
        <p:nvSpPr>
          <p:cNvPr id="31" name="textbox 31"/>
          <p:cNvSpPr/>
          <p:nvPr/>
        </p:nvSpPr>
        <p:spPr>
          <a:xfrm>
            <a:off x="8389619" y="1684020"/>
            <a:ext cx="661669" cy="2464435"/>
          </a:xfrm>
          <a:prstGeom prst="rect">
            <a:avLst/>
          </a:prstGeom>
          <a:solidFill>
            <a:srgbClr val="95BEEA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104140" algn="l" rtl="0" eaLnBrk="0">
              <a:lnSpc>
                <a:spcPct val="97000"/>
              </a:lnSpc>
            </a:pP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户</a:t>
            </a:r>
            <a:endParaRPr lang="en-US" altLang="en-US" sz="1800" dirty="0"/>
          </a:p>
        </p:txBody>
      </p:sp>
      <p:sp>
        <p:nvSpPr>
          <p:cNvPr id="32" name="rect"/>
          <p:cNvSpPr/>
          <p:nvPr/>
        </p:nvSpPr>
        <p:spPr>
          <a:xfrm>
            <a:off x="789431" y="1682495"/>
            <a:ext cx="661416" cy="2439924"/>
          </a:xfrm>
          <a:prstGeom prst="rect">
            <a:avLst/>
          </a:prstGeom>
          <a:solidFill>
            <a:srgbClr val="95BEEA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" name="textbox 33"/>
          <p:cNvSpPr/>
          <p:nvPr/>
        </p:nvSpPr>
        <p:spPr>
          <a:xfrm>
            <a:off x="2969651" y="1176623"/>
            <a:ext cx="3835400" cy="3219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spc="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公司的三件大事，对应三大业务流</a:t>
            </a:r>
            <a:endParaRPr lang="en-US" altLang="en-US" sz="2000" dirty="0"/>
          </a:p>
        </p:txBody>
      </p:sp>
      <p:sp>
        <p:nvSpPr>
          <p:cNvPr id="34" name="textbox 34"/>
          <p:cNvSpPr/>
          <p:nvPr/>
        </p:nvSpPr>
        <p:spPr>
          <a:xfrm>
            <a:off x="725921" y="4401832"/>
            <a:ext cx="3951604" cy="2609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50"/>
              </a:lnSpc>
            </a:pP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以客户为中心，从客户中来，到客户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</a:t>
            </a:r>
            <a:endParaRPr lang="en-US" altLang="en-US" sz="1500" dirty="0"/>
          </a:p>
        </p:txBody>
      </p:sp>
      <p:sp>
        <p:nvSpPr>
          <p:cNvPr id="35" name="textbox 35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7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textbox 38"/>
          <p:cNvSpPr/>
          <p:nvPr/>
        </p:nvSpPr>
        <p:spPr>
          <a:xfrm>
            <a:off x="1674605" y="2551931"/>
            <a:ext cx="990600" cy="2330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索/机会点</a:t>
            </a:r>
            <a:endParaRPr lang="en-US" altLang="en-US" sz="1400" dirty="0"/>
          </a:p>
        </p:txBody>
      </p:sp>
      <p:sp>
        <p:nvSpPr>
          <p:cNvPr id="39" name="textbox 39"/>
          <p:cNvSpPr/>
          <p:nvPr/>
        </p:nvSpPr>
        <p:spPr>
          <a:xfrm>
            <a:off x="7289653" y="3648830"/>
            <a:ext cx="915035" cy="2343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解决、关闭</a:t>
            </a:r>
            <a:endParaRPr lang="en-US" altLang="en-US" sz="1400" dirty="0"/>
          </a:p>
        </p:txBody>
      </p:sp>
      <p:sp>
        <p:nvSpPr>
          <p:cNvPr id="40" name="path"/>
          <p:cNvSpPr/>
          <p:nvPr/>
        </p:nvSpPr>
        <p:spPr>
          <a:xfrm>
            <a:off x="1680972" y="1891284"/>
            <a:ext cx="708660" cy="236220"/>
          </a:xfrm>
          <a:custGeom>
            <a:avLst/>
            <a:gdLst/>
            <a:ahLst/>
            <a:cxnLst/>
            <a:rect l="0" t="0" r="0" b="0"/>
            <a:pathLst>
              <a:path w="1116" h="372">
                <a:moveTo>
                  <a:pt x="0" y="92"/>
                </a:moveTo>
                <a:lnTo>
                  <a:pt x="772" y="92"/>
                </a:lnTo>
                <a:lnTo>
                  <a:pt x="772" y="0"/>
                </a:lnTo>
                <a:lnTo>
                  <a:pt x="1116" y="185"/>
                </a:lnTo>
                <a:lnTo>
                  <a:pt x="772" y="372"/>
                </a:lnTo>
                <a:lnTo>
                  <a:pt x="772" y="278"/>
                </a:lnTo>
                <a:lnTo>
                  <a:pt x="0" y="278"/>
                </a:lnTo>
                <a:lnTo>
                  <a:pt x="0" y="92"/>
                </a:lnTo>
                <a:close/>
              </a:path>
            </a:pathLst>
          </a:cu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" name="path"/>
          <p:cNvSpPr/>
          <p:nvPr/>
        </p:nvSpPr>
        <p:spPr>
          <a:xfrm>
            <a:off x="1680972" y="2785872"/>
            <a:ext cx="708660" cy="236220"/>
          </a:xfrm>
          <a:custGeom>
            <a:avLst/>
            <a:gdLst/>
            <a:ahLst/>
            <a:cxnLst/>
            <a:rect l="0" t="0" r="0" b="0"/>
            <a:pathLst>
              <a:path w="1116" h="372">
                <a:moveTo>
                  <a:pt x="0" y="92"/>
                </a:moveTo>
                <a:lnTo>
                  <a:pt x="772" y="92"/>
                </a:lnTo>
                <a:lnTo>
                  <a:pt x="772" y="0"/>
                </a:lnTo>
                <a:lnTo>
                  <a:pt x="1116" y="185"/>
                </a:lnTo>
                <a:lnTo>
                  <a:pt x="772" y="372"/>
                </a:lnTo>
                <a:lnTo>
                  <a:pt x="772" y="278"/>
                </a:lnTo>
                <a:lnTo>
                  <a:pt x="0" y="278"/>
                </a:lnTo>
                <a:lnTo>
                  <a:pt x="0" y="92"/>
                </a:lnTo>
                <a:close/>
              </a:path>
            </a:pathLst>
          </a:cu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" name="path"/>
          <p:cNvSpPr/>
          <p:nvPr/>
        </p:nvSpPr>
        <p:spPr>
          <a:xfrm>
            <a:off x="1680972" y="3886200"/>
            <a:ext cx="708660" cy="236219"/>
          </a:xfrm>
          <a:custGeom>
            <a:avLst/>
            <a:gdLst/>
            <a:ahLst/>
            <a:cxnLst/>
            <a:rect l="0" t="0" r="0" b="0"/>
            <a:pathLst>
              <a:path w="1116" h="371">
                <a:moveTo>
                  <a:pt x="0" y="92"/>
                </a:moveTo>
                <a:lnTo>
                  <a:pt x="772" y="92"/>
                </a:lnTo>
                <a:lnTo>
                  <a:pt x="772" y="0"/>
                </a:lnTo>
                <a:lnTo>
                  <a:pt x="1116" y="185"/>
                </a:lnTo>
                <a:lnTo>
                  <a:pt x="772" y="371"/>
                </a:lnTo>
                <a:lnTo>
                  <a:pt x="772" y="278"/>
                </a:lnTo>
                <a:lnTo>
                  <a:pt x="0" y="278"/>
                </a:lnTo>
                <a:lnTo>
                  <a:pt x="0" y="92"/>
                </a:lnTo>
                <a:close/>
              </a:path>
            </a:pathLst>
          </a:cu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" name="path"/>
          <p:cNvSpPr/>
          <p:nvPr/>
        </p:nvSpPr>
        <p:spPr>
          <a:xfrm>
            <a:off x="7293864" y="1891284"/>
            <a:ext cx="707135" cy="236220"/>
          </a:xfrm>
          <a:custGeom>
            <a:avLst/>
            <a:gdLst/>
            <a:ahLst/>
            <a:cxnLst/>
            <a:rect l="0" t="0" r="0" b="0"/>
            <a:pathLst>
              <a:path w="1113" h="372">
                <a:moveTo>
                  <a:pt x="0" y="92"/>
                </a:moveTo>
                <a:lnTo>
                  <a:pt x="770" y="92"/>
                </a:lnTo>
                <a:lnTo>
                  <a:pt x="770" y="0"/>
                </a:lnTo>
                <a:lnTo>
                  <a:pt x="1113" y="185"/>
                </a:lnTo>
                <a:lnTo>
                  <a:pt x="770" y="372"/>
                </a:lnTo>
                <a:lnTo>
                  <a:pt x="770" y="278"/>
                </a:lnTo>
                <a:lnTo>
                  <a:pt x="0" y="278"/>
                </a:lnTo>
                <a:lnTo>
                  <a:pt x="0" y="92"/>
                </a:lnTo>
                <a:close/>
              </a:path>
            </a:pathLst>
          </a:cu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path"/>
          <p:cNvSpPr/>
          <p:nvPr/>
        </p:nvSpPr>
        <p:spPr>
          <a:xfrm>
            <a:off x="7293864" y="2784347"/>
            <a:ext cx="707135" cy="236220"/>
          </a:xfrm>
          <a:custGeom>
            <a:avLst/>
            <a:gdLst/>
            <a:ahLst/>
            <a:cxnLst/>
            <a:rect l="0" t="0" r="0" b="0"/>
            <a:pathLst>
              <a:path w="1113" h="372">
                <a:moveTo>
                  <a:pt x="0" y="92"/>
                </a:moveTo>
                <a:lnTo>
                  <a:pt x="770" y="92"/>
                </a:lnTo>
                <a:lnTo>
                  <a:pt x="770" y="0"/>
                </a:lnTo>
                <a:lnTo>
                  <a:pt x="1113" y="185"/>
                </a:lnTo>
                <a:lnTo>
                  <a:pt x="770" y="372"/>
                </a:lnTo>
                <a:lnTo>
                  <a:pt x="770" y="278"/>
                </a:lnTo>
                <a:lnTo>
                  <a:pt x="0" y="278"/>
                </a:lnTo>
                <a:lnTo>
                  <a:pt x="0" y="92"/>
                </a:lnTo>
                <a:close/>
              </a:path>
            </a:pathLst>
          </a:cu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" name="path"/>
          <p:cNvSpPr/>
          <p:nvPr/>
        </p:nvSpPr>
        <p:spPr>
          <a:xfrm>
            <a:off x="7293864" y="3889247"/>
            <a:ext cx="707135" cy="236219"/>
          </a:xfrm>
          <a:custGeom>
            <a:avLst/>
            <a:gdLst/>
            <a:ahLst/>
            <a:cxnLst/>
            <a:rect l="0" t="0" r="0" b="0"/>
            <a:pathLst>
              <a:path w="1113" h="371">
                <a:moveTo>
                  <a:pt x="0" y="92"/>
                </a:moveTo>
                <a:lnTo>
                  <a:pt x="770" y="92"/>
                </a:lnTo>
                <a:lnTo>
                  <a:pt x="770" y="0"/>
                </a:lnTo>
                <a:lnTo>
                  <a:pt x="1113" y="185"/>
                </a:lnTo>
                <a:lnTo>
                  <a:pt x="770" y="371"/>
                </a:lnTo>
                <a:lnTo>
                  <a:pt x="770" y="278"/>
                </a:lnTo>
                <a:lnTo>
                  <a:pt x="0" y="278"/>
                </a:lnTo>
                <a:lnTo>
                  <a:pt x="0" y="92"/>
                </a:lnTo>
                <a:close/>
              </a:path>
            </a:pathLst>
          </a:cu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1683520" y="3607682"/>
            <a:ext cx="905510" cy="2336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问题、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</a:t>
            </a:r>
            <a:endParaRPr lang="en-US" altLang="en-US" sz="1400" dirty="0"/>
          </a:p>
        </p:txBody>
      </p:sp>
      <p:sp>
        <p:nvSpPr>
          <p:cNvPr id="47" name="textbox 47"/>
          <p:cNvSpPr/>
          <p:nvPr/>
        </p:nvSpPr>
        <p:spPr>
          <a:xfrm>
            <a:off x="7269516" y="2545207"/>
            <a:ext cx="813435" cy="2336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产品/服务</a:t>
            </a:r>
            <a:endParaRPr lang="en-US" altLang="en-US" sz="1400" dirty="0"/>
          </a:p>
        </p:txBody>
      </p:sp>
      <p:sp>
        <p:nvSpPr>
          <p:cNvPr id="48" name="textbox 48"/>
          <p:cNvSpPr/>
          <p:nvPr/>
        </p:nvSpPr>
        <p:spPr>
          <a:xfrm>
            <a:off x="1672287" y="1662169"/>
            <a:ext cx="738505" cy="2330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户需求</a:t>
            </a:r>
            <a:endParaRPr lang="en-US" altLang="en-US" sz="1400" dirty="0"/>
          </a:p>
        </p:txBody>
      </p:sp>
      <p:sp>
        <p:nvSpPr>
          <p:cNvPr id="49" name="textbox 49"/>
          <p:cNvSpPr/>
          <p:nvPr/>
        </p:nvSpPr>
        <p:spPr>
          <a:xfrm>
            <a:off x="7291080" y="1662169"/>
            <a:ext cx="735330" cy="2336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求实现</a:t>
            </a:r>
            <a:endParaRPr lang="en-US" altLang="en-US" sz="1400" dirty="0"/>
          </a:p>
        </p:txBody>
      </p:sp>
      <p:sp>
        <p:nvSpPr>
          <p:cNvPr id="50" name="textbox 50"/>
          <p:cNvSpPr/>
          <p:nvPr/>
        </p:nvSpPr>
        <p:spPr>
          <a:xfrm>
            <a:off x="880059" y="2787193"/>
            <a:ext cx="482600" cy="2914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户</a:t>
            </a:r>
            <a:endParaRPr lang="en-US" altLang="en-US" sz="1800" dirty="0"/>
          </a:p>
        </p:txBody>
      </p:sp>
      <p:sp>
        <p:nvSpPr>
          <p:cNvPr id="51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2"/>
          <p:cNvSpPr/>
          <p:nvPr/>
        </p:nvSpPr>
        <p:spPr>
          <a:xfrm>
            <a:off x="1269491" y="3072383"/>
            <a:ext cx="7970519" cy="729615"/>
          </a:xfrm>
          <a:prstGeom prst="rect">
            <a:avLst/>
          </a:prstGeom>
          <a:solidFill>
            <a:srgbClr val="136B96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lang="en-US" altLang="en-US" sz="800" dirty="0"/>
          </a:p>
          <a:p>
            <a:pPr marL="345440" algn="l" rtl="0" eaLnBrk="0">
              <a:lnSpc>
                <a:spcPct val="97000"/>
              </a:lnSpc>
              <a:spcBef>
                <a:spcPts val="0"/>
              </a:spcBef>
            </a:pPr>
            <a:r>
              <a:rPr sz="2400" spc="10" dirty="0">
                <a:ln w="6350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24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400" spc="0" dirty="0">
                <a:ln w="6350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业界LTC流程介绍</a:t>
            </a:r>
            <a:endParaRPr lang="en-US" altLang="en-US" sz="2400" dirty="0"/>
          </a:p>
        </p:txBody>
      </p:sp>
      <p:sp>
        <p:nvSpPr>
          <p:cNvPr id="53" name="textbox 53"/>
          <p:cNvSpPr/>
          <p:nvPr/>
        </p:nvSpPr>
        <p:spPr>
          <a:xfrm>
            <a:off x="595977" y="269576"/>
            <a:ext cx="11004550" cy="457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2000"/>
              </a:lnSpc>
              <a:tabLst>
                <a:tab pos="10991215" algn="l"/>
              </a:tabLst>
            </a:pPr>
            <a:r>
              <a:rPr sz="2700" u="sng" spc="-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2700" u="sng" spc="-6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r>
              <a:rPr sz="2700" u="sng" spc="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lang="en-US" altLang="en-US" sz="2700" dirty="0"/>
          </a:p>
        </p:txBody>
      </p:sp>
      <p:sp>
        <p:nvSpPr>
          <p:cNvPr id="54" name="textbox 54"/>
          <p:cNvSpPr/>
          <p:nvPr/>
        </p:nvSpPr>
        <p:spPr>
          <a:xfrm>
            <a:off x="1618310" y="2100732"/>
            <a:ext cx="3499484" cy="3816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问题的提出和解决思路</a:t>
            </a:r>
            <a:endParaRPr lang="en-US" altLang="en-US" sz="2400" dirty="0"/>
          </a:p>
        </p:txBody>
      </p:sp>
      <p:sp>
        <p:nvSpPr>
          <p:cNvPr id="55" name="textbox 55"/>
          <p:cNvSpPr/>
          <p:nvPr/>
        </p:nvSpPr>
        <p:spPr>
          <a:xfrm>
            <a:off x="1607968" y="4295425"/>
            <a:ext cx="1071244" cy="3860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目标</a:t>
            </a:r>
            <a:endParaRPr lang="en-US" altLang="en-US" sz="2400" dirty="0"/>
          </a:p>
        </p:txBody>
      </p:sp>
      <p:sp>
        <p:nvSpPr>
          <p:cNvPr id="56" name="textbox 56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8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617219" y="1399032"/>
            <a:ext cx="3046476" cy="1831847"/>
            <a:chOff x="0" y="0"/>
            <a:chExt cx="3046476" cy="1831847"/>
          </a:xfrm>
        </p:grpSpPr>
        <p:sp>
          <p:nvSpPr>
            <p:cNvPr id="59" name="path"/>
            <p:cNvSpPr/>
            <p:nvPr/>
          </p:nvSpPr>
          <p:spPr>
            <a:xfrm>
              <a:off x="0" y="0"/>
              <a:ext cx="3046476" cy="1831847"/>
            </a:xfrm>
            <a:custGeom>
              <a:avLst/>
              <a:gdLst/>
              <a:ahLst/>
              <a:cxnLst/>
              <a:rect l="0" t="0" r="0" b="0"/>
              <a:pathLst>
                <a:path w="4797" h="2884">
                  <a:moveTo>
                    <a:pt x="0" y="0"/>
                  </a:moveTo>
                  <a:lnTo>
                    <a:pt x="3988" y="0"/>
                  </a:lnTo>
                  <a:lnTo>
                    <a:pt x="4797" y="1442"/>
                  </a:lnTo>
                  <a:lnTo>
                    <a:pt x="3988" y="2884"/>
                  </a:lnTo>
                  <a:lnTo>
                    <a:pt x="0" y="2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E6F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" name="textbox 60"/>
            <p:cNvSpPr/>
            <p:nvPr/>
          </p:nvSpPr>
          <p:spPr>
            <a:xfrm>
              <a:off x="-12700" y="-12700"/>
              <a:ext cx="3072129" cy="187832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</a:pPr>
              <a:endParaRPr lang="en-US" altLang="en-US" sz="600" dirty="0"/>
            </a:p>
            <a:p>
              <a:pPr marL="935355" algn="l" rtl="0" eaLnBrk="0">
                <a:lnSpc>
                  <a:spcPts val="1865"/>
                </a:lnSpc>
                <a:spcBef>
                  <a:spcPts val="0"/>
                </a:spcBef>
              </a:pPr>
              <a:r>
                <a:rPr sz="1500" spc="9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管理线</a:t>
              </a:r>
              <a:r>
                <a:rPr sz="1500" spc="8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索</a:t>
              </a:r>
              <a:endParaRPr lang="en-US" altLang="en-US" sz="1500" dirty="0"/>
            </a:p>
          </p:txBody>
        </p:sp>
      </p:grpSp>
      <p:sp>
        <p:nvSpPr>
          <p:cNvPr id="61" name="path"/>
          <p:cNvSpPr/>
          <p:nvPr/>
        </p:nvSpPr>
        <p:spPr>
          <a:xfrm>
            <a:off x="3357371" y="1399032"/>
            <a:ext cx="8225028" cy="1833371"/>
          </a:xfrm>
          <a:custGeom>
            <a:avLst/>
            <a:gdLst/>
            <a:ahLst/>
            <a:cxnLst/>
            <a:rect l="0" t="0" r="0" b="0"/>
            <a:pathLst>
              <a:path w="12952" h="2887">
                <a:moveTo>
                  <a:pt x="0" y="0"/>
                </a:moveTo>
                <a:lnTo>
                  <a:pt x="5780" y="0"/>
                </a:lnTo>
                <a:lnTo>
                  <a:pt x="6600" y="1442"/>
                </a:lnTo>
                <a:lnTo>
                  <a:pt x="5780" y="2884"/>
                </a:lnTo>
                <a:lnTo>
                  <a:pt x="0" y="2884"/>
                </a:lnTo>
                <a:lnTo>
                  <a:pt x="819" y="1442"/>
                </a:lnTo>
                <a:lnTo>
                  <a:pt x="0" y="0"/>
                </a:lnTo>
                <a:close/>
              </a:path>
              <a:path w="12952" h="2887">
                <a:moveTo>
                  <a:pt x="6163" y="2"/>
                </a:moveTo>
                <a:lnTo>
                  <a:pt x="12133" y="2"/>
                </a:lnTo>
                <a:lnTo>
                  <a:pt x="12952" y="1444"/>
                </a:lnTo>
                <a:lnTo>
                  <a:pt x="12133" y="2887"/>
                </a:lnTo>
                <a:lnTo>
                  <a:pt x="6163" y="2887"/>
                </a:lnTo>
                <a:lnTo>
                  <a:pt x="6982" y="1444"/>
                </a:lnTo>
                <a:lnTo>
                  <a:pt x="6163" y="2"/>
                </a:lnTo>
                <a:close/>
              </a:path>
            </a:pathLst>
          </a:custGeom>
          <a:solidFill>
            <a:srgbClr val="BEE6FB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617219" y="4549140"/>
            <a:ext cx="10965180" cy="1146047"/>
            <a:chOff x="0" y="0"/>
            <a:chExt cx="10965180" cy="1146047"/>
          </a:xfrm>
        </p:grpSpPr>
        <p:grpSp>
          <p:nvGrpSpPr>
            <p:cNvPr id="8" name="group 8"/>
            <p:cNvGrpSpPr/>
            <p:nvPr/>
          </p:nvGrpSpPr>
          <p:grpSpPr>
            <a:xfrm rot="21600000">
              <a:off x="0" y="0"/>
              <a:ext cx="10965180" cy="1146047"/>
              <a:chOff x="0" y="0"/>
              <a:chExt cx="10965180" cy="1146047"/>
            </a:xfrm>
          </p:grpSpPr>
          <p:sp>
            <p:nvSpPr>
              <p:cNvPr id="62" name="path"/>
              <p:cNvSpPr/>
              <p:nvPr/>
            </p:nvSpPr>
            <p:spPr>
              <a:xfrm>
                <a:off x="0" y="0"/>
                <a:ext cx="10965180" cy="1146047"/>
              </a:xfrm>
              <a:custGeom>
                <a:avLst/>
                <a:gdLst/>
                <a:ahLst/>
                <a:cxnLst/>
                <a:rect l="0" t="0" r="0" b="0"/>
                <a:pathLst>
                  <a:path w="17268" h="1804">
                    <a:moveTo>
                      <a:pt x="0" y="0"/>
                    </a:moveTo>
                    <a:lnTo>
                      <a:pt x="16761" y="0"/>
                    </a:lnTo>
                    <a:lnTo>
                      <a:pt x="17268" y="902"/>
                    </a:lnTo>
                    <a:lnTo>
                      <a:pt x="16761" y="1804"/>
                    </a:lnTo>
                    <a:lnTo>
                      <a:pt x="0" y="18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EE6FB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path"/>
              <p:cNvSpPr/>
              <p:nvPr/>
            </p:nvSpPr>
            <p:spPr>
              <a:xfrm>
                <a:off x="2653283" y="65531"/>
                <a:ext cx="7961376" cy="1014984"/>
              </a:xfrm>
              <a:custGeom>
                <a:avLst/>
                <a:gdLst/>
                <a:ahLst/>
                <a:cxnLst/>
                <a:rect l="0" t="0" r="0" b="0"/>
                <a:pathLst>
                  <a:path w="12537" h="1598">
                    <a:moveTo>
                      <a:pt x="9828" y="1596"/>
                    </a:moveTo>
                    <a:lnTo>
                      <a:pt x="12537" y="1596"/>
                    </a:lnTo>
                    <a:lnTo>
                      <a:pt x="12537" y="0"/>
                    </a:lnTo>
                    <a:lnTo>
                      <a:pt x="9828" y="0"/>
                    </a:lnTo>
                    <a:lnTo>
                      <a:pt x="9828" y="1596"/>
                    </a:lnTo>
                    <a:close/>
                  </a:path>
                  <a:path w="12537" h="1598">
                    <a:moveTo>
                      <a:pt x="0" y="1598"/>
                    </a:moveTo>
                    <a:lnTo>
                      <a:pt x="9321" y="1598"/>
                    </a:lnTo>
                    <a:lnTo>
                      <a:pt x="9321" y="0"/>
                    </a:lnTo>
                    <a:lnTo>
                      <a:pt x="0" y="0"/>
                    </a:lnTo>
                    <a:lnTo>
                      <a:pt x="0" y="15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4" name="textbox 64"/>
            <p:cNvSpPr/>
            <p:nvPr/>
          </p:nvSpPr>
          <p:spPr>
            <a:xfrm>
              <a:off x="8976004" y="121361"/>
              <a:ext cx="1464310" cy="95440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100000"/>
                </a:lnSpc>
              </a:pPr>
              <a:r>
                <a:rPr sz="12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TI</a:t>
              </a: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：立项决策</a:t>
              </a:r>
              <a:endParaRPr lang="en-US" altLang="en-US" sz="1200" dirty="0"/>
            </a:p>
            <a:p>
              <a:pPr marL="12700" algn="l" rtl="0" eaLnBrk="0">
                <a:lnSpc>
                  <a:spcPct val="100000"/>
                </a:lnSpc>
                <a:spcBef>
                  <a:spcPts val="5"/>
                </a:spcBef>
              </a:pPr>
              <a:r>
                <a:rPr sz="12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TB</a:t>
              </a: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：投标决策</a:t>
              </a:r>
              <a:endParaRPr lang="en-US" altLang="en-US" sz="1200" dirty="0"/>
            </a:p>
            <a:p>
              <a:pPr marL="12700" algn="l" rtl="0" eaLnBrk="0">
                <a:lnSpc>
                  <a:spcPct val="100000"/>
                </a:lnSpc>
              </a:pP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TC</a:t>
              </a:r>
              <a:r>
                <a:rPr sz="12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：签约决策</a:t>
              </a:r>
              <a:endParaRPr lang="en-US" altLang="en-US" sz="1200" dirty="0"/>
            </a:p>
            <a:p>
              <a:pPr marL="12700" algn="l" rtl="0" eaLnBrk="0">
                <a:lnSpc>
                  <a:spcPct val="100000"/>
                </a:lnSpc>
              </a:pPr>
              <a:r>
                <a:rPr sz="12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AT</a:t>
              </a: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</a:t>
              </a:r>
              <a:r>
                <a:rPr sz="12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：变更决策</a:t>
              </a:r>
              <a:endParaRPr lang="en-US" altLang="en-US" sz="1200" dirty="0"/>
            </a:p>
            <a:p>
              <a:pPr marL="12700" algn="l" rtl="0" eaLnBrk="0">
                <a:lnSpc>
                  <a:spcPts val="1550"/>
                </a:lnSpc>
              </a:pP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ATC</a:t>
              </a:r>
              <a:r>
                <a:rPr sz="12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</a:t>
              </a: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：关闭合同决策</a:t>
              </a:r>
              <a:endParaRPr lang="en-US" altLang="en-US" sz="1200" dirty="0"/>
            </a:p>
          </p:txBody>
        </p:sp>
        <p:grpSp>
          <p:nvGrpSpPr>
            <p:cNvPr id="10" name="group 10"/>
            <p:cNvGrpSpPr/>
            <p:nvPr/>
          </p:nvGrpSpPr>
          <p:grpSpPr>
            <a:xfrm rot="21600000">
              <a:off x="2759963" y="185928"/>
              <a:ext cx="428244" cy="533399"/>
              <a:chOff x="0" y="0"/>
              <a:chExt cx="428244" cy="533399"/>
            </a:xfrm>
          </p:grpSpPr>
          <p:sp>
            <p:nvSpPr>
              <p:cNvPr id="65" name="path"/>
              <p:cNvSpPr/>
              <p:nvPr/>
            </p:nvSpPr>
            <p:spPr>
              <a:xfrm>
                <a:off x="0" y="0"/>
                <a:ext cx="428244" cy="208788"/>
              </a:xfrm>
              <a:custGeom>
                <a:avLst/>
                <a:gdLst/>
                <a:ahLst/>
                <a:cxnLst/>
                <a:rect l="0" t="0" r="0" b="0"/>
                <a:pathLst>
                  <a:path w="674" h="328">
                    <a:moveTo>
                      <a:pt x="0" y="164"/>
                    </a:moveTo>
                    <a:lnTo>
                      <a:pt x="337" y="0"/>
                    </a:lnTo>
                    <a:lnTo>
                      <a:pt x="674" y="164"/>
                    </a:lnTo>
                    <a:lnTo>
                      <a:pt x="337" y="328"/>
                    </a:lnTo>
                    <a:lnTo>
                      <a:pt x="0" y="164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path"/>
              <p:cNvSpPr/>
              <p:nvPr/>
            </p:nvSpPr>
            <p:spPr>
              <a:xfrm>
                <a:off x="123444" y="208787"/>
                <a:ext cx="179832" cy="324612"/>
              </a:xfrm>
              <a:custGeom>
                <a:avLst/>
                <a:gdLst/>
                <a:ahLst/>
                <a:cxnLst/>
                <a:rect l="0" t="0" r="0" b="0"/>
                <a:pathLst>
                  <a:path w="283" h="511">
                    <a:moveTo>
                      <a:pt x="0" y="511"/>
                    </a:moveTo>
                    <a:lnTo>
                      <a:pt x="141" y="0"/>
                    </a:lnTo>
                    <a:lnTo>
                      <a:pt x="283" y="511"/>
                    </a:lnTo>
                    <a:lnTo>
                      <a:pt x="0" y="511"/>
                    </a:lnTo>
                    <a:close/>
                  </a:path>
                </a:pathLst>
              </a:custGeom>
              <a:solidFill>
                <a:srgbClr val="CD7E5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path"/>
            <p:cNvSpPr/>
            <p:nvPr/>
          </p:nvSpPr>
          <p:spPr>
            <a:xfrm>
              <a:off x="2883407" y="737616"/>
              <a:ext cx="179832" cy="324611"/>
            </a:xfrm>
            <a:custGeom>
              <a:avLst/>
              <a:gdLst/>
              <a:ahLst/>
              <a:cxnLst/>
              <a:rect l="0" t="0" r="0" b="0"/>
              <a:pathLst>
                <a:path w="283" h="511">
                  <a:moveTo>
                    <a:pt x="283" y="0"/>
                  </a:moveTo>
                  <a:lnTo>
                    <a:pt x="141" y="511"/>
                  </a:lnTo>
                  <a:lnTo>
                    <a:pt x="0" y="0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rgbClr val="00B05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617219" y="3430524"/>
            <a:ext cx="10965180" cy="917447"/>
            <a:chOff x="0" y="0"/>
            <a:chExt cx="10965180" cy="917447"/>
          </a:xfrm>
        </p:grpSpPr>
        <p:sp>
          <p:nvSpPr>
            <p:cNvPr id="68" name="path"/>
            <p:cNvSpPr/>
            <p:nvPr/>
          </p:nvSpPr>
          <p:spPr>
            <a:xfrm>
              <a:off x="0" y="0"/>
              <a:ext cx="10965180" cy="917447"/>
            </a:xfrm>
            <a:custGeom>
              <a:avLst/>
              <a:gdLst/>
              <a:ahLst/>
              <a:cxnLst/>
              <a:rect l="0" t="0" r="0" b="0"/>
              <a:pathLst>
                <a:path w="17268" h="1444">
                  <a:moveTo>
                    <a:pt x="0" y="0"/>
                  </a:moveTo>
                  <a:lnTo>
                    <a:pt x="16862" y="0"/>
                  </a:lnTo>
                  <a:lnTo>
                    <a:pt x="17268" y="722"/>
                  </a:lnTo>
                  <a:lnTo>
                    <a:pt x="16862" y="1444"/>
                  </a:lnTo>
                  <a:lnTo>
                    <a:pt x="0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E6F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9" name="path"/>
            <p:cNvSpPr/>
            <p:nvPr/>
          </p:nvSpPr>
          <p:spPr>
            <a:xfrm>
              <a:off x="7315200" y="53339"/>
              <a:ext cx="1470659" cy="810767"/>
            </a:xfrm>
            <a:custGeom>
              <a:avLst/>
              <a:gdLst/>
              <a:ahLst/>
              <a:cxnLst/>
              <a:rect l="0" t="0" r="0" b="0"/>
              <a:pathLst>
                <a:path w="2315" h="1276">
                  <a:moveTo>
                    <a:pt x="0" y="1276"/>
                  </a:moveTo>
                  <a:lnTo>
                    <a:pt x="2315" y="1276"/>
                  </a:lnTo>
                  <a:lnTo>
                    <a:pt x="2315" y="0"/>
                  </a:lnTo>
                  <a:lnTo>
                    <a:pt x="0" y="0"/>
                  </a:lnTo>
                  <a:lnTo>
                    <a:pt x="0" y="1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3756659" y="1740408"/>
            <a:ext cx="3444240" cy="1475232"/>
            <a:chOff x="0" y="0"/>
            <a:chExt cx="3444240" cy="1475232"/>
          </a:xfrm>
        </p:grpSpPr>
        <p:sp>
          <p:nvSpPr>
            <p:cNvPr id="70" name="path"/>
            <p:cNvSpPr/>
            <p:nvPr/>
          </p:nvSpPr>
          <p:spPr>
            <a:xfrm>
              <a:off x="0" y="0"/>
              <a:ext cx="3444240" cy="1310639"/>
            </a:xfrm>
            <a:custGeom>
              <a:avLst/>
              <a:gdLst/>
              <a:ahLst/>
              <a:cxnLst/>
              <a:rect l="0" t="0" r="0" b="0"/>
              <a:pathLst>
                <a:path w="5424" h="2063">
                  <a:moveTo>
                    <a:pt x="0" y="0"/>
                  </a:moveTo>
                  <a:lnTo>
                    <a:pt x="1150" y="0"/>
                  </a:lnTo>
                  <a:lnTo>
                    <a:pt x="1452" y="1028"/>
                  </a:lnTo>
                  <a:lnTo>
                    <a:pt x="1150" y="2056"/>
                  </a:lnTo>
                  <a:lnTo>
                    <a:pt x="0" y="2056"/>
                  </a:lnTo>
                  <a:lnTo>
                    <a:pt x="301" y="1028"/>
                  </a:lnTo>
                  <a:lnTo>
                    <a:pt x="0" y="0"/>
                  </a:lnTo>
                  <a:close/>
                </a:path>
                <a:path w="5424" h="2063">
                  <a:moveTo>
                    <a:pt x="1317" y="0"/>
                  </a:moveTo>
                  <a:lnTo>
                    <a:pt x="2467" y="0"/>
                  </a:lnTo>
                  <a:lnTo>
                    <a:pt x="2769" y="1028"/>
                  </a:lnTo>
                  <a:lnTo>
                    <a:pt x="2467" y="2056"/>
                  </a:lnTo>
                  <a:lnTo>
                    <a:pt x="1317" y="2056"/>
                  </a:lnTo>
                  <a:lnTo>
                    <a:pt x="1619" y="1028"/>
                  </a:lnTo>
                  <a:lnTo>
                    <a:pt x="1317" y="0"/>
                  </a:lnTo>
                  <a:close/>
                </a:path>
                <a:path w="5424" h="2063">
                  <a:moveTo>
                    <a:pt x="2630" y="0"/>
                  </a:moveTo>
                  <a:lnTo>
                    <a:pt x="3780" y="0"/>
                  </a:lnTo>
                  <a:lnTo>
                    <a:pt x="4082" y="1028"/>
                  </a:lnTo>
                  <a:lnTo>
                    <a:pt x="3780" y="2056"/>
                  </a:lnTo>
                  <a:lnTo>
                    <a:pt x="2630" y="2056"/>
                  </a:lnTo>
                  <a:lnTo>
                    <a:pt x="2932" y="1028"/>
                  </a:lnTo>
                  <a:lnTo>
                    <a:pt x="2630" y="0"/>
                  </a:lnTo>
                  <a:close/>
                </a:path>
                <a:path w="5424" h="2063">
                  <a:moveTo>
                    <a:pt x="3972" y="4"/>
                  </a:moveTo>
                  <a:lnTo>
                    <a:pt x="5122" y="4"/>
                  </a:lnTo>
                  <a:lnTo>
                    <a:pt x="5424" y="1034"/>
                  </a:lnTo>
                  <a:lnTo>
                    <a:pt x="5122" y="2063"/>
                  </a:lnTo>
                  <a:lnTo>
                    <a:pt x="3972" y="2063"/>
                  </a:lnTo>
                  <a:lnTo>
                    <a:pt x="4273" y="1034"/>
                  </a:lnTo>
                  <a:lnTo>
                    <a:pt x="3972" y="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1" name="path"/>
            <p:cNvSpPr/>
            <p:nvPr/>
          </p:nvSpPr>
          <p:spPr>
            <a:xfrm>
              <a:off x="27432" y="1147571"/>
              <a:ext cx="3174491" cy="327660"/>
            </a:xfrm>
            <a:custGeom>
              <a:avLst/>
              <a:gdLst/>
              <a:ahLst/>
              <a:cxnLst/>
              <a:rect l="0" t="0" r="0" b="0"/>
              <a:pathLst>
                <a:path w="4999" h="516">
                  <a:moveTo>
                    <a:pt x="0" y="250"/>
                  </a:moveTo>
                  <a:lnTo>
                    <a:pt x="522" y="0"/>
                  </a:lnTo>
                  <a:lnTo>
                    <a:pt x="1044" y="250"/>
                  </a:lnTo>
                  <a:lnTo>
                    <a:pt x="522" y="501"/>
                  </a:lnTo>
                  <a:lnTo>
                    <a:pt x="0" y="250"/>
                  </a:lnTo>
                  <a:close/>
                </a:path>
                <a:path w="4999" h="516">
                  <a:moveTo>
                    <a:pt x="2627" y="250"/>
                  </a:moveTo>
                  <a:lnTo>
                    <a:pt x="3150" y="0"/>
                  </a:lnTo>
                  <a:lnTo>
                    <a:pt x="3672" y="250"/>
                  </a:lnTo>
                  <a:lnTo>
                    <a:pt x="3150" y="501"/>
                  </a:lnTo>
                  <a:lnTo>
                    <a:pt x="2627" y="250"/>
                  </a:lnTo>
                  <a:close/>
                </a:path>
                <a:path w="4999" h="516">
                  <a:moveTo>
                    <a:pt x="3955" y="265"/>
                  </a:moveTo>
                  <a:lnTo>
                    <a:pt x="4477" y="14"/>
                  </a:lnTo>
                  <a:lnTo>
                    <a:pt x="4999" y="265"/>
                  </a:lnTo>
                  <a:lnTo>
                    <a:pt x="4477" y="516"/>
                  </a:lnTo>
                  <a:lnTo>
                    <a:pt x="3955" y="265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2" name="rect"/>
          <p:cNvSpPr/>
          <p:nvPr/>
        </p:nvSpPr>
        <p:spPr>
          <a:xfrm>
            <a:off x="617219" y="5871971"/>
            <a:ext cx="10965180" cy="463296"/>
          </a:xfrm>
          <a:prstGeom prst="rect">
            <a:avLst/>
          </a:prstGeom>
          <a:solidFill>
            <a:srgbClr val="BEE6FB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" name="textbox 73"/>
          <p:cNvSpPr/>
          <p:nvPr/>
        </p:nvSpPr>
        <p:spPr>
          <a:xfrm>
            <a:off x="3839465" y="4796738"/>
            <a:ext cx="5074920" cy="7524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3970" algn="l" rtl="0" eaLnBrk="0">
              <a:lnSpc>
                <a:spcPct val="97000"/>
              </a:lnSpc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/交付决策点：立项、投标、签约、变更、关闭</a:t>
            </a:r>
            <a:endParaRPr lang="en-US" altLang="en-US" sz="1200" dirty="0"/>
          </a:p>
          <a:p>
            <a:pPr marL="15875" algn="l" rtl="0" eaLnBrk="0">
              <a:lnSpc>
                <a:spcPct val="97000"/>
              </a:lnSpc>
              <a:spcBef>
                <a:spcPts val="765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专业/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综合评审点：立项、投标、合同、变更方案</a:t>
            </a:r>
            <a:endParaRPr lang="en-US" altLang="en-US" sz="1200" dirty="0"/>
          </a:p>
          <a:p>
            <a:pPr algn="l" rtl="0" eaLnBrk="0">
              <a:lnSpc>
                <a:spcPct val="107000"/>
              </a:lnSpc>
            </a:pPr>
            <a:endParaRPr lang="en-US" altLang="en-US" sz="600" dirty="0"/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量/风险控制点：合同签订、接收和确认合同/PO、签订合同/PO变更协议</a:t>
            </a:r>
            <a:endParaRPr lang="en-US" altLang="en-US" sz="1200" dirty="0"/>
          </a:p>
        </p:txBody>
      </p:sp>
      <p:sp>
        <p:nvSpPr>
          <p:cNvPr id="74" name="path"/>
          <p:cNvSpPr/>
          <p:nvPr/>
        </p:nvSpPr>
        <p:spPr>
          <a:xfrm>
            <a:off x="8641080" y="2087879"/>
            <a:ext cx="1589531" cy="960120"/>
          </a:xfrm>
          <a:custGeom>
            <a:avLst/>
            <a:gdLst/>
            <a:ahLst/>
            <a:cxnLst/>
            <a:rect l="0" t="0" r="0" b="0"/>
            <a:pathLst>
              <a:path w="2503" h="1512">
                <a:moveTo>
                  <a:pt x="0" y="0"/>
                </a:moveTo>
                <a:lnTo>
                  <a:pt x="2416" y="0"/>
                </a:lnTo>
                <a:lnTo>
                  <a:pt x="2503" y="208"/>
                </a:lnTo>
                <a:lnTo>
                  <a:pt x="2416" y="417"/>
                </a:lnTo>
                <a:lnTo>
                  <a:pt x="0" y="417"/>
                </a:lnTo>
                <a:lnTo>
                  <a:pt x="86" y="208"/>
                </a:lnTo>
                <a:lnTo>
                  <a:pt x="0" y="0"/>
                </a:lnTo>
                <a:close/>
              </a:path>
              <a:path w="2503" h="1512">
                <a:moveTo>
                  <a:pt x="0" y="547"/>
                </a:moveTo>
                <a:lnTo>
                  <a:pt x="2416" y="547"/>
                </a:lnTo>
                <a:lnTo>
                  <a:pt x="2503" y="755"/>
                </a:lnTo>
                <a:lnTo>
                  <a:pt x="2416" y="964"/>
                </a:lnTo>
                <a:lnTo>
                  <a:pt x="0" y="964"/>
                </a:lnTo>
                <a:lnTo>
                  <a:pt x="86" y="755"/>
                </a:lnTo>
                <a:lnTo>
                  <a:pt x="0" y="547"/>
                </a:lnTo>
                <a:close/>
              </a:path>
              <a:path w="2503" h="1512">
                <a:moveTo>
                  <a:pt x="0" y="1094"/>
                </a:moveTo>
                <a:lnTo>
                  <a:pt x="2416" y="1094"/>
                </a:lnTo>
                <a:lnTo>
                  <a:pt x="2503" y="1303"/>
                </a:lnTo>
                <a:lnTo>
                  <a:pt x="2416" y="1512"/>
                </a:lnTo>
                <a:lnTo>
                  <a:pt x="0" y="1512"/>
                </a:lnTo>
                <a:lnTo>
                  <a:pt x="86" y="1303"/>
                </a:lnTo>
                <a:lnTo>
                  <a:pt x="0" y="109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8641080" y="1711451"/>
            <a:ext cx="1589531" cy="307848"/>
            <a:chOff x="0" y="0"/>
            <a:chExt cx="1589531" cy="307848"/>
          </a:xfrm>
        </p:grpSpPr>
        <p:sp>
          <p:nvSpPr>
            <p:cNvPr id="75" name="path"/>
            <p:cNvSpPr/>
            <p:nvPr/>
          </p:nvSpPr>
          <p:spPr>
            <a:xfrm>
              <a:off x="0" y="28956"/>
              <a:ext cx="1589531" cy="265176"/>
            </a:xfrm>
            <a:custGeom>
              <a:avLst/>
              <a:gdLst/>
              <a:ahLst/>
              <a:cxnLst/>
              <a:rect l="0" t="0" r="0" b="0"/>
              <a:pathLst>
                <a:path w="2503" h="417">
                  <a:moveTo>
                    <a:pt x="0" y="0"/>
                  </a:moveTo>
                  <a:lnTo>
                    <a:pt x="2416" y="0"/>
                  </a:lnTo>
                  <a:lnTo>
                    <a:pt x="2503" y="208"/>
                  </a:lnTo>
                  <a:lnTo>
                    <a:pt x="2416" y="417"/>
                  </a:lnTo>
                  <a:lnTo>
                    <a:pt x="0" y="417"/>
                  </a:lnTo>
                  <a:lnTo>
                    <a:pt x="86" y="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" name="path"/>
            <p:cNvSpPr/>
            <p:nvPr/>
          </p:nvSpPr>
          <p:spPr>
            <a:xfrm>
              <a:off x="96011" y="0"/>
              <a:ext cx="163068" cy="281940"/>
            </a:xfrm>
            <a:custGeom>
              <a:avLst/>
              <a:gdLst/>
              <a:ahLst/>
              <a:cxnLst/>
              <a:rect l="0" t="0" r="0" b="0"/>
              <a:pathLst>
                <a:path w="256" h="444">
                  <a:moveTo>
                    <a:pt x="0" y="444"/>
                  </a:moveTo>
                  <a:lnTo>
                    <a:pt x="128" y="0"/>
                  </a:lnTo>
                  <a:lnTo>
                    <a:pt x="256" y="444"/>
                  </a:lnTo>
                  <a:lnTo>
                    <a:pt x="0" y="444"/>
                  </a:lnTo>
                  <a:close/>
                </a:path>
              </a:pathLst>
            </a:custGeom>
            <a:solidFill>
              <a:srgbClr val="CD7E5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7" name="path"/>
            <p:cNvSpPr/>
            <p:nvPr/>
          </p:nvSpPr>
          <p:spPr>
            <a:xfrm>
              <a:off x="1299971" y="25908"/>
              <a:ext cx="163068" cy="281940"/>
            </a:xfrm>
            <a:custGeom>
              <a:avLst/>
              <a:gdLst/>
              <a:ahLst/>
              <a:cxnLst/>
              <a:rect l="0" t="0" r="0" b="0"/>
              <a:pathLst>
                <a:path w="256" h="444">
                  <a:moveTo>
                    <a:pt x="256" y="0"/>
                  </a:moveTo>
                  <a:lnTo>
                    <a:pt x="128" y="444"/>
                  </a:lnTo>
                  <a:lnTo>
                    <a:pt x="0" y="0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00B05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10264140" y="1744979"/>
            <a:ext cx="922019" cy="1461516"/>
            <a:chOff x="0" y="0"/>
            <a:chExt cx="922019" cy="1461516"/>
          </a:xfrm>
        </p:grpSpPr>
        <p:sp>
          <p:nvSpPr>
            <p:cNvPr id="78" name="path"/>
            <p:cNvSpPr/>
            <p:nvPr/>
          </p:nvSpPr>
          <p:spPr>
            <a:xfrm>
              <a:off x="0" y="0"/>
              <a:ext cx="922019" cy="1306067"/>
            </a:xfrm>
            <a:custGeom>
              <a:avLst/>
              <a:gdLst/>
              <a:ahLst/>
              <a:cxnLst/>
              <a:rect l="0" t="0" r="0" b="0"/>
              <a:pathLst>
                <a:path w="1451" h="2056">
                  <a:moveTo>
                    <a:pt x="0" y="0"/>
                  </a:moveTo>
                  <a:lnTo>
                    <a:pt x="1150" y="0"/>
                  </a:lnTo>
                  <a:lnTo>
                    <a:pt x="1451" y="1028"/>
                  </a:lnTo>
                  <a:lnTo>
                    <a:pt x="1150" y="2056"/>
                  </a:lnTo>
                  <a:lnTo>
                    <a:pt x="0" y="2056"/>
                  </a:lnTo>
                  <a:lnTo>
                    <a:pt x="301" y="10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9" name="path"/>
            <p:cNvSpPr/>
            <p:nvPr/>
          </p:nvSpPr>
          <p:spPr>
            <a:xfrm>
              <a:off x="24383" y="1143000"/>
              <a:ext cx="844295" cy="318516"/>
            </a:xfrm>
            <a:custGeom>
              <a:avLst/>
              <a:gdLst/>
              <a:ahLst/>
              <a:cxnLst/>
              <a:rect l="0" t="0" r="0" b="0"/>
              <a:pathLst>
                <a:path w="1329" h="501">
                  <a:moveTo>
                    <a:pt x="0" y="250"/>
                  </a:moveTo>
                  <a:lnTo>
                    <a:pt x="664" y="0"/>
                  </a:lnTo>
                  <a:lnTo>
                    <a:pt x="1329" y="250"/>
                  </a:lnTo>
                  <a:lnTo>
                    <a:pt x="664" y="501"/>
                  </a:lnTo>
                  <a:lnTo>
                    <a:pt x="0" y="25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textbox 80"/>
          <p:cNvSpPr/>
          <p:nvPr/>
        </p:nvSpPr>
        <p:spPr>
          <a:xfrm>
            <a:off x="8679526" y="1479936"/>
            <a:ext cx="2236470" cy="16630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55"/>
              </a:lnSpc>
            </a:pPr>
            <a:r>
              <a:rPr sz="1500" spc="10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管理合同执</a:t>
            </a:r>
            <a:r>
              <a:rPr sz="1500" spc="4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endParaRPr lang="en-US" altLang="en-US" sz="1500" dirty="0"/>
          </a:p>
          <a:p>
            <a:pPr marL="384810" algn="l" rtl="0" eaLnBrk="0">
              <a:lnSpc>
                <a:spcPts val="1510"/>
              </a:lnSpc>
              <a:spcBef>
                <a:spcPts val="615"/>
              </a:spcBef>
            </a:pPr>
            <a:r>
              <a:rPr sz="12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管理交</a:t>
            </a: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</a:t>
            </a:r>
            <a:endParaRPr lang="en-US" altLang="en-US" sz="1200" dirty="0"/>
          </a:p>
          <a:p>
            <a:pPr marL="271780" algn="l" rtl="0" eaLnBrk="0">
              <a:lnSpc>
                <a:spcPct val="96000"/>
              </a:lnSpc>
              <a:spcBef>
                <a:spcPts val="1160"/>
              </a:spcBef>
            </a:pPr>
            <a:r>
              <a:rPr sz="12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管理开票回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款</a:t>
            </a:r>
            <a:endParaRPr lang="en-US" altLang="en-US" sz="1200" dirty="0"/>
          </a:p>
          <a:p>
            <a:pPr marL="434340" algn="l" rtl="0" eaLnBrk="0">
              <a:lnSpc>
                <a:spcPts val="2840"/>
              </a:lnSpc>
            </a:pPr>
            <a:r>
              <a:rPr sz="12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管理变</a:t>
            </a:r>
            <a:r>
              <a:rPr sz="12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</a:t>
            </a:r>
            <a:endParaRPr lang="en-US" altLang="en-US" sz="1200" dirty="0"/>
          </a:p>
          <a:p>
            <a:pPr marL="245745" algn="l" rtl="0" eaLnBrk="0">
              <a:lnSpc>
                <a:spcPct val="92000"/>
              </a:lnSpc>
              <a:spcBef>
                <a:spcPts val="1215"/>
              </a:spcBef>
            </a:pPr>
            <a:r>
              <a:rPr sz="12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管理风险争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议</a:t>
            </a:r>
            <a:endParaRPr lang="en-US" altLang="en-US" sz="1200" dirty="0"/>
          </a:p>
          <a:p>
            <a:pPr algn="r" rtl="0" eaLnBrk="0">
              <a:lnSpc>
                <a:spcPct val="82000"/>
              </a:lnSpc>
              <a:spcBef>
                <a:spcPts val="5"/>
              </a:spcBef>
            </a:pPr>
            <a:r>
              <a:rPr sz="100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ATC</a:t>
            </a:r>
            <a:r>
              <a:rPr sz="1000" spc="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endParaRPr lang="en-US" altLang="en-US" sz="1000" dirty="0"/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736092" y="1740408"/>
            <a:ext cx="2592323" cy="1306067"/>
            <a:chOff x="0" y="0"/>
            <a:chExt cx="2592323" cy="1306067"/>
          </a:xfrm>
        </p:grpSpPr>
        <p:sp>
          <p:nvSpPr>
            <p:cNvPr id="81" name="path"/>
            <p:cNvSpPr/>
            <p:nvPr/>
          </p:nvSpPr>
          <p:spPr>
            <a:xfrm>
              <a:off x="0" y="0"/>
              <a:ext cx="2592323" cy="1306067"/>
            </a:xfrm>
            <a:custGeom>
              <a:avLst/>
              <a:gdLst/>
              <a:ahLst/>
              <a:cxnLst/>
              <a:rect l="0" t="0" r="0" b="0"/>
              <a:pathLst>
                <a:path w="4082" h="2056">
                  <a:moveTo>
                    <a:pt x="0" y="0"/>
                  </a:moveTo>
                  <a:lnTo>
                    <a:pt x="1150" y="0"/>
                  </a:lnTo>
                  <a:lnTo>
                    <a:pt x="1451" y="1028"/>
                  </a:lnTo>
                  <a:lnTo>
                    <a:pt x="1150" y="2056"/>
                  </a:lnTo>
                  <a:lnTo>
                    <a:pt x="0" y="2056"/>
                  </a:lnTo>
                  <a:lnTo>
                    <a:pt x="301" y="1028"/>
                  </a:lnTo>
                  <a:lnTo>
                    <a:pt x="0" y="0"/>
                  </a:lnTo>
                  <a:close/>
                </a:path>
                <a:path w="4082" h="2056">
                  <a:moveTo>
                    <a:pt x="1317" y="0"/>
                  </a:moveTo>
                  <a:lnTo>
                    <a:pt x="2467" y="0"/>
                  </a:lnTo>
                  <a:lnTo>
                    <a:pt x="2769" y="1028"/>
                  </a:lnTo>
                  <a:lnTo>
                    <a:pt x="2467" y="2056"/>
                  </a:lnTo>
                  <a:lnTo>
                    <a:pt x="1317" y="2056"/>
                  </a:lnTo>
                  <a:lnTo>
                    <a:pt x="1619" y="1028"/>
                  </a:lnTo>
                  <a:lnTo>
                    <a:pt x="1317" y="0"/>
                  </a:lnTo>
                  <a:close/>
                </a:path>
                <a:path w="4082" h="2056">
                  <a:moveTo>
                    <a:pt x="2630" y="0"/>
                  </a:moveTo>
                  <a:lnTo>
                    <a:pt x="3780" y="0"/>
                  </a:lnTo>
                  <a:lnTo>
                    <a:pt x="4082" y="1028"/>
                  </a:lnTo>
                  <a:lnTo>
                    <a:pt x="3780" y="2056"/>
                  </a:lnTo>
                  <a:lnTo>
                    <a:pt x="2630" y="2056"/>
                  </a:lnTo>
                  <a:lnTo>
                    <a:pt x="2932" y="1028"/>
                  </a:lnTo>
                  <a:lnTo>
                    <a:pt x="263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2" name="textbox 82"/>
            <p:cNvSpPr/>
            <p:nvPr/>
          </p:nvSpPr>
          <p:spPr>
            <a:xfrm>
              <a:off x="1151353" y="269957"/>
              <a:ext cx="353695" cy="81343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ts val="1530"/>
                </a:lnSpc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验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证</a:t>
              </a:r>
              <a:endParaRPr lang="en-US" altLang="en-US" sz="1200" dirty="0"/>
            </a:p>
            <a:p>
              <a:pPr marL="13970" algn="l" rtl="0" eaLnBrk="0">
                <a:lnSpc>
                  <a:spcPts val="1505"/>
                </a:lnSpc>
                <a:spcBef>
                  <a:spcPts val="25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和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en-US" altLang="en-US" sz="1200" dirty="0"/>
            </a:p>
            <a:p>
              <a:pPr marL="13970" algn="l" rtl="0" eaLnBrk="0">
                <a:lnSpc>
                  <a:spcPts val="1505"/>
                </a:lnSpc>
                <a:spcBef>
                  <a:spcPts val="55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发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</a:t>
              </a:r>
              <a:endParaRPr lang="en-US" altLang="en-US" sz="1200" dirty="0"/>
            </a:p>
            <a:p>
              <a:pPr marL="96520" algn="l" rtl="0" eaLnBrk="0">
                <a:lnSpc>
                  <a:spcPts val="1525"/>
                </a:lnSpc>
                <a:spcBef>
                  <a:spcPts val="55"/>
                </a:spcBef>
              </a:pP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索</a:t>
              </a:r>
              <a:endParaRPr lang="en-US" altLang="en-US" sz="1200" dirty="0"/>
            </a:p>
          </p:txBody>
        </p:sp>
      </p:grpSp>
      <p:sp>
        <p:nvSpPr>
          <p:cNvPr id="83" name="textbox 83"/>
          <p:cNvSpPr/>
          <p:nvPr/>
        </p:nvSpPr>
        <p:spPr>
          <a:xfrm>
            <a:off x="560468" y="269576"/>
            <a:ext cx="6625590" cy="4273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2700" spc="2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保障商业成功的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sz="2700" spc="2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流程体系运作(华为</a:t>
            </a:r>
            <a:r>
              <a:rPr sz="2700" spc="19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2700" dirty="0"/>
          </a:p>
        </p:txBody>
      </p:sp>
      <p:sp>
        <p:nvSpPr>
          <p:cNvPr id="84" name="path"/>
          <p:cNvSpPr/>
          <p:nvPr/>
        </p:nvSpPr>
        <p:spPr>
          <a:xfrm>
            <a:off x="7671816" y="1740408"/>
            <a:ext cx="922019" cy="1307591"/>
          </a:xfrm>
          <a:custGeom>
            <a:avLst/>
            <a:gdLst/>
            <a:ahLst/>
            <a:cxnLst/>
            <a:rect l="0" t="0" r="0" b="0"/>
            <a:pathLst>
              <a:path w="1451" h="2059">
                <a:moveTo>
                  <a:pt x="0" y="0"/>
                </a:moveTo>
                <a:lnTo>
                  <a:pt x="1150" y="0"/>
                </a:lnTo>
                <a:lnTo>
                  <a:pt x="1451" y="1029"/>
                </a:lnTo>
                <a:lnTo>
                  <a:pt x="1150" y="2059"/>
                </a:lnTo>
                <a:lnTo>
                  <a:pt x="0" y="2059"/>
                </a:lnTo>
                <a:lnTo>
                  <a:pt x="301" y="10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5" name="textbox 85"/>
          <p:cNvSpPr/>
          <p:nvPr/>
        </p:nvSpPr>
        <p:spPr>
          <a:xfrm>
            <a:off x="1284648" y="4735836"/>
            <a:ext cx="1606550" cy="7493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indent="1270" algn="l" rtl="0" eaLnBrk="0">
              <a:lnSpc>
                <a:spcPct val="105000"/>
              </a:lnSpc>
            </a:pPr>
            <a:r>
              <a:rPr sz="1500" spc="-5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评审和决策机</a:t>
            </a:r>
            <a:r>
              <a:rPr sz="1500" spc="-4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r>
              <a:rPr sz="15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spc="-5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授权与监督规</a:t>
            </a:r>
            <a:r>
              <a:rPr sz="1500" spc="-3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</a:t>
            </a:r>
            <a:r>
              <a:rPr sz="15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lang="en-US" altLang="en-US" sz="1500" dirty="0"/>
          </a:p>
          <a:p>
            <a:pPr marL="317500" algn="l" rtl="0" eaLnBrk="0">
              <a:lnSpc>
                <a:spcPts val="1855"/>
              </a:lnSpc>
              <a:spcBef>
                <a:spcPts val="70"/>
              </a:spcBef>
            </a:pPr>
            <a:r>
              <a:rPr sz="1500" spc="10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流程控制</a:t>
            </a:r>
            <a:r>
              <a:rPr sz="1500" spc="5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en-US" altLang="en-US" sz="1500" dirty="0"/>
          </a:p>
        </p:txBody>
      </p:sp>
      <p:sp>
        <p:nvSpPr>
          <p:cNvPr id="86" name="textbox 86"/>
          <p:cNvSpPr/>
          <p:nvPr/>
        </p:nvSpPr>
        <p:spPr>
          <a:xfrm>
            <a:off x="4274482" y="1044670"/>
            <a:ext cx="3634104" cy="3143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2000" spc="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sz="2000" spc="4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spc="4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2000" spc="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Lead</a:t>
            </a:r>
            <a:r>
              <a:rPr sz="2000" spc="4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</a:t>
            </a:r>
            <a:r>
              <a:rPr sz="2000" spc="4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Cash</a:t>
            </a:r>
            <a:r>
              <a:rPr sz="2000" spc="4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sz="2000" spc="4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spc="4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流程总</a:t>
            </a:r>
            <a:r>
              <a:rPr sz="2000" spc="1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览</a:t>
            </a:r>
            <a:endParaRPr lang="en-US" altLang="en-US" sz="2000" dirty="0"/>
          </a:p>
        </p:txBody>
      </p:sp>
      <p:sp>
        <p:nvSpPr>
          <p:cNvPr id="87" name="textbox 87"/>
          <p:cNvSpPr/>
          <p:nvPr/>
        </p:nvSpPr>
        <p:spPr>
          <a:xfrm>
            <a:off x="291642" y="2052370"/>
            <a:ext cx="252729" cy="4208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800" spc="-3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</a:t>
            </a:r>
            <a:r>
              <a:rPr sz="180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spc="-3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endParaRPr lang="en-US" altLang="en-US" sz="1800" dirty="0"/>
          </a:p>
          <a:p>
            <a:pPr algn="l" rtl="0" eaLnBrk="0">
              <a:lnSpc>
                <a:spcPct val="116000"/>
              </a:lnSpc>
            </a:pPr>
            <a:endParaRPr lang="en-US" altLang="en-US" sz="1000" dirty="0"/>
          </a:p>
          <a:p>
            <a:pPr algn="l" rtl="0" eaLnBrk="0">
              <a:lnSpc>
                <a:spcPct val="116000"/>
              </a:lnSpc>
            </a:pP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marL="12700" indent="1905" algn="l" rtl="0" eaLnBrk="0">
              <a:lnSpc>
                <a:spcPct val="106000"/>
              </a:lnSpc>
              <a:spcBef>
                <a:spcPts val="545"/>
              </a:spcBef>
            </a:pPr>
            <a:r>
              <a:rPr sz="1800" spc="-3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</a:t>
            </a:r>
            <a:r>
              <a:rPr sz="180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spc="-2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</a:t>
            </a:r>
            <a:endParaRPr lang="en-US" altLang="en-US" sz="1800" dirty="0"/>
          </a:p>
          <a:p>
            <a:pPr algn="l" rtl="0" eaLnBrk="0">
              <a:lnSpc>
                <a:spcPct val="122000"/>
              </a:lnSpc>
            </a:pPr>
            <a:endParaRPr lang="en-US" altLang="en-US" sz="1000" dirty="0"/>
          </a:p>
          <a:p>
            <a:pPr algn="l" rtl="0" eaLnBrk="0">
              <a:lnSpc>
                <a:spcPct val="123000"/>
              </a:lnSpc>
            </a:pPr>
            <a:endParaRPr lang="en-US" altLang="en-US" sz="1000" dirty="0"/>
          </a:p>
          <a:p>
            <a:pPr marL="13335" indent="1270" algn="l" rtl="0" eaLnBrk="0">
              <a:lnSpc>
                <a:spcPct val="103000"/>
              </a:lnSpc>
              <a:spcBef>
                <a:spcPts val="545"/>
              </a:spcBef>
            </a:pPr>
            <a:r>
              <a:rPr sz="1800" spc="-4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</a:t>
            </a:r>
            <a:r>
              <a:rPr sz="180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spc="-3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r>
              <a:rPr sz="180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spc="-3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</a:t>
            </a:r>
            <a:r>
              <a:rPr sz="180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spc="-2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</a:t>
            </a:r>
            <a:endParaRPr lang="en-US" altLang="en-US" sz="1800" dirty="0"/>
          </a:p>
          <a:p>
            <a:pPr algn="l" rtl="0" eaLnBrk="0">
              <a:lnSpc>
                <a:spcPct val="151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400" dirty="0"/>
          </a:p>
          <a:p>
            <a:pPr marL="34925" algn="l" rtl="0" eaLnBrk="0">
              <a:lnSpc>
                <a:spcPct val="83000"/>
              </a:lnSpc>
              <a:spcBef>
                <a:spcPts val="0"/>
              </a:spcBef>
            </a:pPr>
            <a:r>
              <a:rPr sz="1800" spc="1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sz="1800" spc="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lang="en-US" altLang="en-US" sz="1800" dirty="0"/>
          </a:p>
        </p:txBody>
      </p:sp>
      <p:sp>
        <p:nvSpPr>
          <p:cNvPr id="88" name="textbox 88"/>
          <p:cNvSpPr/>
          <p:nvPr/>
        </p:nvSpPr>
        <p:spPr>
          <a:xfrm>
            <a:off x="1427156" y="3804037"/>
            <a:ext cx="4264659" cy="2597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45"/>
              </a:lnSpc>
            </a:pPr>
            <a:r>
              <a:rPr sz="1500" spc="10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sz="15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CC</a:t>
            </a:r>
            <a:r>
              <a:rPr sz="1500" spc="10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3为核心的项目团队，端到端负责项目运</a:t>
            </a:r>
            <a:r>
              <a:rPr sz="1500" spc="8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endParaRPr lang="en-US" altLang="en-US" sz="1500" dirty="0"/>
          </a:p>
        </p:txBody>
      </p:sp>
      <p:sp>
        <p:nvSpPr>
          <p:cNvPr id="89" name="path"/>
          <p:cNvSpPr/>
          <p:nvPr/>
        </p:nvSpPr>
        <p:spPr>
          <a:xfrm>
            <a:off x="6257544" y="3892296"/>
            <a:ext cx="627888" cy="306323"/>
          </a:xfrm>
          <a:custGeom>
            <a:avLst/>
            <a:gdLst/>
            <a:ahLst/>
            <a:cxnLst/>
            <a:rect l="0" t="0" r="0" b="0"/>
            <a:pathLst>
              <a:path w="988" h="482">
                <a:moveTo>
                  <a:pt x="0" y="241"/>
                </a:moveTo>
                <a:cubicBezTo>
                  <a:pt x="0" y="107"/>
                  <a:pt x="221" y="0"/>
                  <a:pt x="494" y="0"/>
                </a:cubicBezTo>
                <a:cubicBezTo>
                  <a:pt x="767" y="0"/>
                  <a:pt x="988" y="107"/>
                  <a:pt x="988" y="241"/>
                </a:cubicBezTo>
                <a:cubicBezTo>
                  <a:pt x="988" y="374"/>
                  <a:pt x="767" y="482"/>
                  <a:pt x="494" y="482"/>
                </a:cubicBezTo>
                <a:cubicBezTo>
                  <a:pt x="221" y="482"/>
                  <a:pt x="0" y="374"/>
                  <a:pt x="0" y="241"/>
                </a:cubicBezTo>
              </a:path>
            </a:pathLst>
          </a:cu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" name="path"/>
          <p:cNvSpPr/>
          <p:nvPr/>
        </p:nvSpPr>
        <p:spPr>
          <a:xfrm>
            <a:off x="7043927" y="3892296"/>
            <a:ext cx="627888" cy="306323"/>
          </a:xfrm>
          <a:custGeom>
            <a:avLst/>
            <a:gdLst/>
            <a:ahLst/>
            <a:cxnLst/>
            <a:rect l="0" t="0" r="0" b="0"/>
            <a:pathLst>
              <a:path w="988" h="482">
                <a:moveTo>
                  <a:pt x="0" y="241"/>
                </a:moveTo>
                <a:cubicBezTo>
                  <a:pt x="0" y="107"/>
                  <a:pt x="221" y="0"/>
                  <a:pt x="494" y="0"/>
                </a:cubicBezTo>
                <a:cubicBezTo>
                  <a:pt x="767" y="0"/>
                  <a:pt x="988" y="107"/>
                  <a:pt x="988" y="241"/>
                </a:cubicBezTo>
                <a:cubicBezTo>
                  <a:pt x="988" y="374"/>
                  <a:pt x="767" y="482"/>
                  <a:pt x="494" y="482"/>
                </a:cubicBezTo>
                <a:cubicBezTo>
                  <a:pt x="221" y="482"/>
                  <a:pt x="0" y="374"/>
                  <a:pt x="0" y="241"/>
                </a:cubicBezTo>
              </a:path>
            </a:pathLst>
          </a:cu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1" name="textbox 91"/>
          <p:cNvSpPr/>
          <p:nvPr/>
        </p:nvSpPr>
        <p:spPr>
          <a:xfrm>
            <a:off x="6336065" y="3670054"/>
            <a:ext cx="1257935" cy="4870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318135" algn="l" rtl="0" eaLnBrk="0">
              <a:lnSpc>
                <a:spcPct val="84000"/>
              </a:lnSpc>
              <a:tabLst>
                <a:tab pos="514350" algn="l"/>
              </a:tabLst>
            </a:pPr>
            <a:r>
              <a:rPr sz="1200" spc="0" dirty="0">
                <a:solidFill>
                  <a:srgbClr val="D9D9D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1200" spc="70" dirty="0">
                <a:solidFill>
                  <a:srgbClr val="D9D9D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200" spc="60" dirty="0">
                <a:solidFill>
                  <a:srgbClr val="D9D9D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</a:t>
            </a:r>
            <a:r>
              <a:rPr sz="1200" spc="0" dirty="0">
                <a:solidFill>
                  <a:srgbClr val="D9D9D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endParaRPr lang="en-US" altLang="en-US" sz="1200" dirty="0"/>
          </a:p>
          <a:p>
            <a:pPr algn="l" rtl="0" eaLnBrk="0">
              <a:lnSpc>
                <a:spcPct val="110000"/>
              </a:lnSpc>
            </a:pPr>
            <a:endParaRPr lang="en-US" altLang="en-US" sz="900" dirty="0"/>
          </a:p>
          <a:p>
            <a:pPr marL="128905" algn="l" rtl="0" eaLnBrk="0">
              <a:lnSpc>
                <a:spcPct val="85000"/>
              </a:lnSpc>
              <a:spcBef>
                <a:spcPts val="5"/>
              </a:spcBef>
            </a:pPr>
            <a:r>
              <a:rPr sz="12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SR</a:t>
            </a:r>
            <a:r>
              <a:rPr sz="1200" spc="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</a:t>
            </a:r>
            <a:r>
              <a:rPr sz="12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FR</a:t>
            </a:r>
            <a:endParaRPr lang="en-US" altLang="en-US" sz="1200" dirty="0"/>
          </a:p>
        </p:txBody>
      </p:sp>
      <p:sp>
        <p:nvSpPr>
          <p:cNvPr id="92" name="path"/>
          <p:cNvSpPr/>
          <p:nvPr/>
        </p:nvSpPr>
        <p:spPr>
          <a:xfrm>
            <a:off x="7276877" y="3735720"/>
            <a:ext cx="304103" cy="203422"/>
          </a:xfrm>
          <a:custGeom>
            <a:avLst/>
            <a:gdLst/>
            <a:ahLst/>
            <a:cxnLst/>
            <a:rect l="0" t="0" r="0" b="0"/>
            <a:pathLst>
              <a:path w="478" h="320">
                <a:moveTo>
                  <a:pt x="476" y="316"/>
                </a:moveTo>
                <a:lnTo>
                  <a:pt x="2" y="4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3" name="path"/>
          <p:cNvSpPr/>
          <p:nvPr/>
        </p:nvSpPr>
        <p:spPr>
          <a:xfrm>
            <a:off x="6348765" y="3735718"/>
            <a:ext cx="305236" cy="203428"/>
          </a:xfrm>
          <a:custGeom>
            <a:avLst/>
            <a:gdLst/>
            <a:ahLst/>
            <a:cxnLst/>
            <a:rect l="0" t="0" r="0" b="0"/>
            <a:pathLst>
              <a:path w="480" h="320">
                <a:moveTo>
                  <a:pt x="2" y="316"/>
                </a:moveTo>
                <a:lnTo>
                  <a:pt x="477" y="4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" name="textbox 94"/>
          <p:cNvSpPr/>
          <p:nvPr/>
        </p:nvSpPr>
        <p:spPr>
          <a:xfrm>
            <a:off x="8013725" y="3572078"/>
            <a:ext cx="1278255" cy="6788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</a:t>
            </a: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：客户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经理</a:t>
            </a:r>
            <a:endParaRPr lang="en-US" altLang="en-US" sz="1200" dirty="0"/>
          </a:p>
          <a:p>
            <a:pPr marL="20320" algn="l" rtl="0" eaLnBrk="0">
              <a:lnSpc>
                <a:spcPct val="97000"/>
              </a:lnSpc>
              <a:spcBef>
                <a:spcPts val="480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：解决方案专家</a:t>
            </a:r>
            <a:endParaRPr lang="en-US" altLang="en-US" sz="1200" dirty="0"/>
          </a:p>
          <a:p>
            <a:pPr algn="l" rtl="0" eaLnBrk="0">
              <a:lnSpc>
                <a:spcPct val="132000"/>
              </a:lnSpc>
            </a:pPr>
            <a:endParaRPr lang="en-US" altLang="en-US" sz="300" dirty="0"/>
          </a:p>
          <a:p>
            <a:pPr marL="26035" algn="l" rtl="0" eaLnBrk="0">
              <a:lnSpc>
                <a:spcPct val="97000"/>
              </a:lnSpc>
              <a:spcBef>
                <a:spcPts val="0"/>
              </a:spcBef>
            </a:pPr>
            <a:r>
              <a:rPr sz="12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：交付专家</a:t>
            </a:r>
            <a:endParaRPr lang="en-US" altLang="en-US" sz="1200" dirty="0"/>
          </a:p>
        </p:txBody>
      </p:sp>
      <p:sp>
        <p:nvSpPr>
          <p:cNvPr id="95" name="textbox 95"/>
          <p:cNvSpPr/>
          <p:nvPr/>
        </p:nvSpPr>
        <p:spPr>
          <a:xfrm>
            <a:off x="5129892" y="6001010"/>
            <a:ext cx="1824989" cy="2609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50"/>
              </a:lnSpc>
            </a:pPr>
            <a:r>
              <a:rPr sz="15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</a:t>
            </a:r>
            <a:r>
              <a:rPr sz="1500" spc="1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平台支撑高效运</a:t>
            </a:r>
            <a:r>
              <a:rPr sz="1500" spc="9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endParaRPr lang="en-US" altLang="en-US" sz="1500" dirty="0"/>
          </a:p>
        </p:txBody>
      </p:sp>
      <p:sp>
        <p:nvSpPr>
          <p:cNvPr id="96" name="textbox 96"/>
          <p:cNvSpPr/>
          <p:nvPr/>
        </p:nvSpPr>
        <p:spPr>
          <a:xfrm>
            <a:off x="7987920" y="1912575"/>
            <a:ext cx="408940" cy="10109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34290" algn="l" rtl="0" eaLnBrk="0">
              <a:lnSpc>
                <a:spcPts val="1510"/>
              </a:lnSpc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endParaRPr lang="en-US" altLang="en-US" sz="1200" dirty="0"/>
          </a:p>
          <a:p>
            <a:pPr marL="33655" algn="l" rtl="0" eaLnBrk="0">
              <a:lnSpc>
                <a:spcPts val="1505"/>
              </a:lnSpc>
              <a:spcBef>
                <a:spcPts val="45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1200" dirty="0"/>
          </a:p>
          <a:p>
            <a:pPr marL="12700" algn="l" rtl="0" eaLnBrk="0">
              <a:lnSpc>
                <a:spcPts val="1510"/>
              </a:lnSpc>
              <a:spcBef>
                <a:spcPts val="55"/>
              </a:spcBef>
            </a:pP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</a:t>
            </a:r>
            <a:r>
              <a:rPr sz="12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</a:t>
            </a:r>
            <a:endParaRPr lang="en-US" altLang="en-US" sz="1200" dirty="0"/>
          </a:p>
          <a:p>
            <a:pPr marL="37465" algn="l" rtl="0" eaLnBrk="0">
              <a:lnSpc>
                <a:spcPts val="1505"/>
              </a:lnSpc>
              <a:spcBef>
                <a:spcPts val="45"/>
              </a:spcBef>
            </a:pP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</a:t>
            </a: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</a:t>
            </a:r>
            <a:endParaRPr lang="en-US" altLang="en-US" sz="1200" dirty="0"/>
          </a:p>
          <a:p>
            <a:pPr marL="116205" algn="l" rtl="0" eaLnBrk="0">
              <a:lnSpc>
                <a:spcPts val="1515"/>
              </a:lnSpc>
              <a:spcBef>
                <a:spcPts val="60"/>
              </a:spcBef>
            </a:pPr>
            <a:r>
              <a:rPr sz="12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</a:t>
            </a:r>
            <a:endParaRPr lang="en-US" altLang="en-US" sz="1200" dirty="0"/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9756647" y="2427732"/>
            <a:ext cx="844295" cy="425196"/>
            <a:chOff x="0" y="0"/>
            <a:chExt cx="844295" cy="425196"/>
          </a:xfrm>
        </p:grpSpPr>
        <p:sp>
          <p:nvSpPr>
            <p:cNvPr id="97" name="path"/>
            <p:cNvSpPr/>
            <p:nvPr/>
          </p:nvSpPr>
          <p:spPr>
            <a:xfrm>
              <a:off x="184403" y="0"/>
              <a:ext cx="163068" cy="280415"/>
            </a:xfrm>
            <a:custGeom>
              <a:avLst/>
              <a:gdLst/>
              <a:ahLst/>
              <a:cxnLst/>
              <a:rect l="0" t="0" r="0" b="0"/>
              <a:pathLst>
                <a:path w="256" h="441">
                  <a:moveTo>
                    <a:pt x="256" y="0"/>
                  </a:moveTo>
                  <a:lnTo>
                    <a:pt x="128" y="441"/>
                  </a:lnTo>
                  <a:lnTo>
                    <a:pt x="0" y="0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00B05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" name="path"/>
            <p:cNvSpPr/>
            <p:nvPr/>
          </p:nvSpPr>
          <p:spPr>
            <a:xfrm>
              <a:off x="0" y="106679"/>
              <a:ext cx="844295" cy="318516"/>
            </a:xfrm>
            <a:custGeom>
              <a:avLst/>
              <a:gdLst/>
              <a:ahLst/>
              <a:cxnLst/>
              <a:rect l="0" t="0" r="0" b="0"/>
              <a:pathLst>
                <a:path w="1329" h="501">
                  <a:moveTo>
                    <a:pt x="0" y="250"/>
                  </a:moveTo>
                  <a:lnTo>
                    <a:pt x="664" y="0"/>
                  </a:lnTo>
                  <a:lnTo>
                    <a:pt x="1329" y="250"/>
                  </a:lnTo>
                  <a:lnTo>
                    <a:pt x="664" y="501"/>
                  </a:lnTo>
                  <a:lnTo>
                    <a:pt x="0" y="25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9" name="textbox 99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538211" y="116380"/>
            <a:ext cx="542121" cy="542633"/>
          </a:xfrm>
          <a:prstGeom prst="rect">
            <a:avLst/>
          </a:prstGeom>
        </p:spPr>
      </p:pic>
      <p:sp>
        <p:nvSpPr>
          <p:cNvPr id="101" name="textbox 101"/>
          <p:cNvSpPr/>
          <p:nvPr/>
        </p:nvSpPr>
        <p:spPr>
          <a:xfrm>
            <a:off x="1044888" y="2010365"/>
            <a:ext cx="353695" cy="8134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7780" algn="l" rtl="0" eaLnBrk="0">
              <a:lnSpc>
                <a:spcPts val="1510"/>
              </a:lnSpc>
            </a:pP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</a:t>
            </a: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</a:t>
            </a:r>
            <a:endParaRPr lang="en-US" altLang="en-US" sz="1200" dirty="0"/>
          </a:p>
          <a:p>
            <a:pPr marL="13335" algn="l" rtl="0" eaLnBrk="0">
              <a:lnSpc>
                <a:spcPts val="1505"/>
              </a:lnSpc>
              <a:spcBef>
                <a:spcPts val="50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</a:t>
            </a:r>
            <a:endParaRPr lang="en-US" altLang="en-US" sz="1200" dirty="0"/>
          </a:p>
          <a:p>
            <a:pPr marL="12700" algn="l" rtl="0" eaLnBrk="0">
              <a:lnSpc>
                <a:spcPts val="1505"/>
              </a:lnSpc>
              <a:spcBef>
                <a:spcPts val="55"/>
              </a:spcBef>
            </a:pPr>
            <a:r>
              <a:rPr sz="12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endParaRPr lang="en-US" altLang="en-US" sz="1200" dirty="0"/>
          </a:p>
          <a:p>
            <a:pPr marL="95885" algn="l" rtl="0" eaLnBrk="0">
              <a:lnSpc>
                <a:spcPts val="1525"/>
              </a:lnSpc>
              <a:spcBef>
                <a:spcPts val="55"/>
              </a:spcBef>
            </a:pPr>
            <a:r>
              <a:rPr sz="12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</a:t>
            </a:r>
            <a:endParaRPr lang="en-US" altLang="en-US" sz="1200" dirty="0"/>
          </a:p>
        </p:txBody>
      </p:sp>
      <p:sp>
        <p:nvSpPr>
          <p:cNvPr id="102" name="textbox 102"/>
          <p:cNvSpPr/>
          <p:nvPr/>
        </p:nvSpPr>
        <p:spPr>
          <a:xfrm>
            <a:off x="10608088" y="1983568"/>
            <a:ext cx="353059" cy="8140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4605" algn="l" rtl="0" eaLnBrk="0">
              <a:lnSpc>
                <a:spcPts val="1510"/>
              </a:lnSpc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</a:t>
            </a:r>
            <a:r>
              <a:rPr sz="12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</a:t>
            </a:r>
            <a:endParaRPr lang="en-US" altLang="en-US" sz="1200" dirty="0"/>
          </a:p>
          <a:p>
            <a:pPr marL="12700" algn="l" rtl="0" eaLnBrk="0">
              <a:lnSpc>
                <a:spcPts val="1505"/>
              </a:lnSpc>
              <a:spcBef>
                <a:spcPts val="55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</a:t>
            </a:r>
            <a:endParaRPr lang="en-US" altLang="en-US" sz="1200" dirty="0"/>
          </a:p>
          <a:p>
            <a:pPr marL="12700" algn="l" rtl="0" eaLnBrk="0">
              <a:lnSpc>
                <a:spcPts val="1500"/>
              </a:lnSpc>
              <a:spcBef>
                <a:spcPts val="55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endParaRPr lang="en-US" altLang="en-US" sz="1200" dirty="0"/>
          </a:p>
          <a:p>
            <a:pPr marL="106680" algn="l" rtl="0" eaLnBrk="0">
              <a:lnSpc>
                <a:spcPts val="1525"/>
              </a:lnSpc>
              <a:spcBef>
                <a:spcPts val="60"/>
              </a:spcBef>
            </a:pP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1200" dirty="0"/>
          </a:p>
        </p:txBody>
      </p:sp>
      <p:sp>
        <p:nvSpPr>
          <p:cNvPr id="103" name="textbox 103"/>
          <p:cNvSpPr/>
          <p:nvPr/>
        </p:nvSpPr>
        <p:spPr>
          <a:xfrm>
            <a:off x="6588829" y="2019255"/>
            <a:ext cx="353059" cy="8140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3335" algn="l" rtl="0" eaLnBrk="0">
              <a:lnSpc>
                <a:spcPts val="1505"/>
              </a:lnSpc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谈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</a:t>
            </a:r>
            <a:endParaRPr lang="en-US" altLang="en-US" sz="1200" dirty="0"/>
          </a:p>
          <a:p>
            <a:pPr marL="12700" algn="l" rtl="0" eaLnBrk="0">
              <a:lnSpc>
                <a:spcPts val="1505"/>
              </a:lnSpc>
              <a:spcBef>
                <a:spcPts val="55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</a:t>
            </a:r>
            <a:endParaRPr lang="en-US" altLang="en-US" sz="1200" dirty="0"/>
          </a:p>
          <a:p>
            <a:pPr marL="12700" algn="l" rtl="0" eaLnBrk="0">
              <a:lnSpc>
                <a:spcPts val="1505"/>
              </a:lnSpc>
              <a:spcBef>
                <a:spcPts val="55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endParaRPr lang="en-US" altLang="en-US" sz="1200" dirty="0"/>
          </a:p>
          <a:p>
            <a:pPr marL="106680" algn="l" rtl="0" eaLnBrk="0">
              <a:lnSpc>
                <a:spcPts val="1525"/>
              </a:lnSpc>
              <a:spcBef>
                <a:spcPts val="60"/>
              </a:spcBef>
            </a:pP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1200" dirty="0"/>
          </a:p>
        </p:txBody>
      </p:sp>
      <p:sp>
        <p:nvSpPr>
          <p:cNvPr id="104" name="textbox 104"/>
          <p:cNvSpPr/>
          <p:nvPr/>
        </p:nvSpPr>
        <p:spPr>
          <a:xfrm>
            <a:off x="2716600" y="2010365"/>
            <a:ext cx="353059" cy="8134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3335" algn="l" rtl="0" eaLnBrk="0">
              <a:lnSpc>
                <a:spcPts val="1505"/>
              </a:lnSpc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踪</a:t>
            </a:r>
            <a:endParaRPr lang="en-US" altLang="en-US" sz="1200" dirty="0"/>
          </a:p>
          <a:p>
            <a:pPr marL="12700" algn="l" rtl="0" eaLnBrk="0">
              <a:lnSpc>
                <a:spcPts val="1505"/>
              </a:lnSpc>
              <a:spcBef>
                <a:spcPts val="55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</a:t>
            </a:r>
            <a:endParaRPr lang="en-US" altLang="en-US" sz="1200" dirty="0"/>
          </a:p>
          <a:p>
            <a:pPr marL="15240" algn="l" rtl="0" eaLnBrk="0">
              <a:lnSpc>
                <a:spcPts val="1520"/>
              </a:lnSpc>
              <a:spcBef>
                <a:spcPts val="55"/>
              </a:spcBef>
            </a:pP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育</a:t>
            </a:r>
            <a:r>
              <a:rPr sz="12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endParaRPr lang="en-US" altLang="en-US" sz="1200" dirty="0"/>
          </a:p>
          <a:p>
            <a:pPr marL="95250" algn="l" rtl="0" eaLnBrk="0">
              <a:lnSpc>
                <a:spcPts val="1525"/>
              </a:lnSpc>
              <a:spcBef>
                <a:spcPts val="40"/>
              </a:spcBef>
            </a:pPr>
            <a:r>
              <a:rPr sz="12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</a:t>
            </a:r>
            <a:endParaRPr lang="en-US" altLang="en-US" sz="1200" dirty="0"/>
          </a:p>
        </p:txBody>
      </p:sp>
      <p:sp>
        <p:nvSpPr>
          <p:cNvPr id="105" name="textbox 105"/>
          <p:cNvSpPr/>
          <p:nvPr/>
        </p:nvSpPr>
        <p:spPr>
          <a:xfrm>
            <a:off x="5743621" y="2014435"/>
            <a:ext cx="352425" cy="8134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05"/>
              </a:lnSpc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</a:t>
            </a:r>
            <a:endParaRPr lang="en-US" altLang="en-US" sz="1200" dirty="0"/>
          </a:p>
          <a:p>
            <a:pPr marL="13335" algn="l" rtl="0" eaLnBrk="0">
              <a:lnSpc>
                <a:spcPts val="1505"/>
              </a:lnSpc>
              <a:spcBef>
                <a:spcPts val="55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</a:t>
            </a:r>
            <a:r>
              <a:rPr sz="12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</a:t>
            </a:r>
            <a:endParaRPr lang="en-US" altLang="en-US" sz="1200" dirty="0"/>
          </a:p>
          <a:p>
            <a:pPr marL="13335" algn="l" rtl="0" eaLnBrk="0">
              <a:lnSpc>
                <a:spcPts val="1510"/>
              </a:lnSpc>
              <a:spcBef>
                <a:spcPts val="55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</a:t>
            </a:r>
            <a:r>
              <a:rPr sz="12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</a:t>
            </a:r>
            <a:endParaRPr lang="en-US" altLang="en-US" sz="1200" dirty="0"/>
          </a:p>
          <a:p>
            <a:pPr marL="96520" algn="l" rtl="0" eaLnBrk="0">
              <a:lnSpc>
                <a:spcPts val="1515"/>
              </a:lnSpc>
              <a:spcBef>
                <a:spcPts val="50"/>
              </a:spcBef>
            </a:pP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</a:t>
            </a:r>
            <a:endParaRPr lang="en-US" altLang="en-US" sz="1200" dirty="0"/>
          </a:p>
        </p:txBody>
      </p:sp>
      <p:sp>
        <p:nvSpPr>
          <p:cNvPr id="106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7" name="textbox 107"/>
          <p:cNvSpPr/>
          <p:nvPr/>
        </p:nvSpPr>
        <p:spPr>
          <a:xfrm>
            <a:off x="4815043" y="1479936"/>
            <a:ext cx="1035685" cy="2603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50"/>
              </a:lnSpc>
            </a:pPr>
            <a:r>
              <a:rPr sz="1500" spc="10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管理机会</a:t>
            </a:r>
            <a:r>
              <a:rPr sz="1500" spc="5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en-US" altLang="en-US" sz="1500" dirty="0"/>
          </a:p>
        </p:txBody>
      </p:sp>
      <p:sp>
        <p:nvSpPr>
          <p:cNvPr id="108" name="textbox 108"/>
          <p:cNvSpPr/>
          <p:nvPr/>
        </p:nvSpPr>
        <p:spPr>
          <a:xfrm>
            <a:off x="4070829" y="2063705"/>
            <a:ext cx="354329" cy="6146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30"/>
              </a:lnSpc>
            </a:pPr>
            <a:r>
              <a:rPr sz="12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</a:t>
            </a:r>
            <a:endParaRPr lang="en-US" altLang="en-US" sz="1200" dirty="0"/>
          </a:p>
          <a:p>
            <a:pPr marL="13970" algn="l" rtl="0" eaLnBrk="0">
              <a:lnSpc>
                <a:spcPts val="1500"/>
              </a:lnSpc>
              <a:spcBef>
                <a:spcPts val="25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</a:t>
            </a:r>
            <a:endParaRPr lang="en-US" altLang="en-US" sz="1200" dirty="0"/>
          </a:p>
          <a:p>
            <a:pPr marL="96520" algn="l" rtl="0" eaLnBrk="0">
              <a:lnSpc>
                <a:spcPts val="1520"/>
              </a:lnSpc>
              <a:spcBef>
                <a:spcPts val="60"/>
              </a:spcBef>
            </a:pPr>
            <a:r>
              <a:rPr sz="12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en-US" altLang="en-US" sz="1200" dirty="0"/>
          </a:p>
        </p:txBody>
      </p:sp>
      <p:sp>
        <p:nvSpPr>
          <p:cNvPr id="109" name="textbox 109"/>
          <p:cNvSpPr/>
          <p:nvPr/>
        </p:nvSpPr>
        <p:spPr>
          <a:xfrm>
            <a:off x="4909635" y="2161621"/>
            <a:ext cx="353059" cy="415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22860" indent="-10160" algn="l" rtl="0" eaLnBrk="0">
              <a:lnSpc>
                <a:spcPct val="107000"/>
              </a:lnSpc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</a:t>
            </a:r>
            <a:r>
              <a:rPr sz="12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</a:t>
            </a:r>
            <a:endParaRPr lang="en-US" altLang="en-US" sz="1200" dirty="0"/>
          </a:p>
        </p:txBody>
      </p:sp>
      <p:sp>
        <p:nvSpPr>
          <p:cNvPr id="110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1" name="path"/>
          <p:cNvSpPr/>
          <p:nvPr/>
        </p:nvSpPr>
        <p:spPr>
          <a:xfrm>
            <a:off x="3855720" y="1711451"/>
            <a:ext cx="164591" cy="281940"/>
          </a:xfrm>
          <a:custGeom>
            <a:avLst/>
            <a:gdLst/>
            <a:ahLst/>
            <a:cxnLst/>
            <a:rect l="0" t="0" r="0" b="0"/>
            <a:pathLst>
              <a:path w="259" h="444">
                <a:moveTo>
                  <a:pt x="0" y="444"/>
                </a:moveTo>
                <a:lnTo>
                  <a:pt x="129" y="0"/>
                </a:lnTo>
                <a:lnTo>
                  <a:pt x="259" y="444"/>
                </a:lnTo>
                <a:lnTo>
                  <a:pt x="0" y="444"/>
                </a:lnTo>
                <a:close/>
              </a:path>
            </a:pathLst>
          </a:custGeom>
          <a:solidFill>
            <a:srgbClr val="CD7E5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path"/>
          <p:cNvSpPr/>
          <p:nvPr/>
        </p:nvSpPr>
        <p:spPr>
          <a:xfrm>
            <a:off x="8721852" y="2412491"/>
            <a:ext cx="163068" cy="281940"/>
          </a:xfrm>
          <a:custGeom>
            <a:avLst/>
            <a:gdLst/>
            <a:ahLst/>
            <a:cxnLst/>
            <a:rect l="0" t="0" r="0" b="0"/>
            <a:pathLst>
              <a:path w="256" h="444">
                <a:moveTo>
                  <a:pt x="0" y="444"/>
                </a:moveTo>
                <a:lnTo>
                  <a:pt x="128" y="0"/>
                </a:lnTo>
                <a:lnTo>
                  <a:pt x="256" y="444"/>
                </a:lnTo>
                <a:lnTo>
                  <a:pt x="0" y="444"/>
                </a:lnTo>
                <a:close/>
              </a:path>
            </a:pathLst>
          </a:custGeom>
          <a:solidFill>
            <a:srgbClr val="CD7E5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3" name="path"/>
          <p:cNvSpPr/>
          <p:nvPr/>
        </p:nvSpPr>
        <p:spPr>
          <a:xfrm>
            <a:off x="7769351" y="1737359"/>
            <a:ext cx="163068" cy="281940"/>
          </a:xfrm>
          <a:custGeom>
            <a:avLst/>
            <a:gdLst/>
            <a:ahLst/>
            <a:cxnLst/>
            <a:rect l="0" t="0" r="0" b="0"/>
            <a:pathLst>
              <a:path w="256" h="444">
                <a:moveTo>
                  <a:pt x="256" y="0"/>
                </a:moveTo>
                <a:lnTo>
                  <a:pt x="128" y="444"/>
                </a:lnTo>
                <a:lnTo>
                  <a:pt x="0" y="0"/>
                </a:lnTo>
                <a:lnTo>
                  <a:pt x="256" y="0"/>
                </a:lnTo>
                <a:close/>
              </a:path>
            </a:pathLst>
          </a:custGeom>
          <a:solidFill>
            <a:srgbClr val="00B05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" name="path"/>
          <p:cNvSpPr/>
          <p:nvPr/>
        </p:nvSpPr>
        <p:spPr>
          <a:xfrm>
            <a:off x="6806183" y="1737359"/>
            <a:ext cx="163068" cy="281940"/>
          </a:xfrm>
          <a:custGeom>
            <a:avLst/>
            <a:gdLst/>
            <a:ahLst/>
            <a:cxnLst/>
            <a:rect l="0" t="0" r="0" b="0"/>
            <a:pathLst>
              <a:path w="256" h="444">
                <a:moveTo>
                  <a:pt x="256" y="0"/>
                </a:moveTo>
                <a:lnTo>
                  <a:pt x="128" y="444"/>
                </a:lnTo>
                <a:lnTo>
                  <a:pt x="0" y="0"/>
                </a:lnTo>
                <a:lnTo>
                  <a:pt x="256" y="0"/>
                </a:lnTo>
                <a:close/>
              </a:path>
            </a:pathLst>
          </a:custGeom>
          <a:solidFill>
            <a:srgbClr val="00B05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5" name="path"/>
          <p:cNvSpPr/>
          <p:nvPr/>
        </p:nvSpPr>
        <p:spPr>
          <a:xfrm>
            <a:off x="6405371" y="1711451"/>
            <a:ext cx="163068" cy="281940"/>
          </a:xfrm>
          <a:custGeom>
            <a:avLst/>
            <a:gdLst/>
            <a:ahLst/>
            <a:cxnLst/>
            <a:rect l="0" t="0" r="0" b="0"/>
            <a:pathLst>
              <a:path w="256" h="444">
                <a:moveTo>
                  <a:pt x="0" y="444"/>
                </a:moveTo>
                <a:lnTo>
                  <a:pt x="128" y="0"/>
                </a:lnTo>
                <a:lnTo>
                  <a:pt x="256" y="444"/>
                </a:lnTo>
                <a:lnTo>
                  <a:pt x="0" y="444"/>
                </a:lnTo>
                <a:close/>
              </a:path>
            </a:pathLst>
          </a:custGeom>
          <a:solidFill>
            <a:srgbClr val="CD7E5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" name="path"/>
          <p:cNvSpPr/>
          <p:nvPr/>
        </p:nvSpPr>
        <p:spPr>
          <a:xfrm>
            <a:off x="5951220" y="1737359"/>
            <a:ext cx="163067" cy="281940"/>
          </a:xfrm>
          <a:custGeom>
            <a:avLst/>
            <a:gdLst/>
            <a:ahLst/>
            <a:cxnLst/>
            <a:rect l="0" t="0" r="0" b="0"/>
            <a:pathLst>
              <a:path w="256" h="444">
                <a:moveTo>
                  <a:pt x="256" y="0"/>
                </a:moveTo>
                <a:lnTo>
                  <a:pt x="128" y="444"/>
                </a:lnTo>
                <a:lnTo>
                  <a:pt x="0" y="0"/>
                </a:lnTo>
                <a:lnTo>
                  <a:pt x="256" y="0"/>
                </a:lnTo>
                <a:close/>
              </a:path>
            </a:pathLst>
          </a:custGeom>
          <a:solidFill>
            <a:srgbClr val="00B05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7" name="path"/>
          <p:cNvSpPr/>
          <p:nvPr/>
        </p:nvSpPr>
        <p:spPr>
          <a:xfrm>
            <a:off x="5567171" y="1711451"/>
            <a:ext cx="163067" cy="281940"/>
          </a:xfrm>
          <a:custGeom>
            <a:avLst/>
            <a:gdLst/>
            <a:ahLst/>
            <a:cxnLst/>
            <a:rect l="0" t="0" r="0" b="0"/>
            <a:pathLst>
              <a:path w="256" h="444">
                <a:moveTo>
                  <a:pt x="0" y="444"/>
                </a:moveTo>
                <a:lnTo>
                  <a:pt x="128" y="0"/>
                </a:lnTo>
                <a:lnTo>
                  <a:pt x="256" y="444"/>
                </a:lnTo>
                <a:lnTo>
                  <a:pt x="0" y="444"/>
                </a:lnTo>
                <a:close/>
              </a:path>
            </a:pathLst>
          </a:custGeom>
          <a:solidFill>
            <a:srgbClr val="CD7E5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8" name="textbox 118"/>
          <p:cNvSpPr/>
          <p:nvPr/>
        </p:nvSpPr>
        <p:spPr>
          <a:xfrm>
            <a:off x="9979914" y="2631222"/>
            <a:ext cx="399415" cy="1612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1000"/>
              </a:lnSpc>
            </a:pPr>
            <a:r>
              <a:rPr sz="110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TAC</a:t>
            </a:r>
            <a:endParaRPr lang="en-US" altLang="en-US" sz="1100" dirty="0"/>
          </a:p>
        </p:txBody>
      </p:sp>
      <p:sp>
        <p:nvSpPr>
          <p:cNvPr id="119" name="textbox 119"/>
          <p:cNvSpPr/>
          <p:nvPr/>
        </p:nvSpPr>
        <p:spPr>
          <a:xfrm>
            <a:off x="6474713" y="2993934"/>
            <a:ext cx="306704" cy="1612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1000"/>
              </a:lnSpc>
            </a:pPr>
            <a:r>
              <a:rPr sz="110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TC</a:t>
            </a:r>
            <a:endParaRPr lang="en-US" altLang="en-US" sz="1100" dirty="0"/>
          </a:p>
        </p:txBody>
      </p:sp>
      <p:sp>
        <p:nvSpPr>
          <p:cNvPr id="120" name="textbox 120"/>
          <p:cNvSpPr/>
          <p:nvPr/>
        </p:nvSpPr>
        <p:spPr>
          <a:xfrm>
            <a:off x="5636513" y="2986473"/>
            <a:ext cx="299084" cy="1593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0000"/>
              </a:lnSpc>
            </a:pPr>
            <a:r>
              <a:rPr sz="110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TB</a:t>
            </a:r>
            <a:endParaRPr lang="en-US" altLang="en-US" sz="1100" dirty="0"/>
          </a:p>
        </p:txBody>
      </p:sp>
      <p:sp>
        <p:nvSpPr>
          <p:cNvPr id="121" name="textbox 121"/>
          <p:cNvSpPr/>
          <p:nvPr/>
        </p:nvSpPr>
        <p:spPr>
          <a:xfrm>
            <a:off x="3993260" y="2986473"/>
            <a:ext cx="244475" cy="1593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0000"/>
              </a:lnSpc>
            </a:pPr>
            <a:r>
              <a:rPr sz="110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</a:t>
            </a:r>
            <a:endParaRPr lang="en-US" altLang="en-US" sz="1100" dirty="0"/>
          </a:p>
        </p:txBody>
      </p:sp>
      <p:sp>
        <p:nvSpPr>
          <p:cNvPr id="122" name="path"/>
          <p:cNvSpPr/>
          <p:nvPr/>
        </p:nvSpPr>
        <p:spPr>
          <a:xfrm>
            <a:off x="6571488" y="4195445"/>
            <a:ext cx="786510" cy="6350"/>
          </a:xfrm>
          <a:custGeom>
            <a:avLst/>
            <a:gdLst/>
            <a:ahLst/>
            <a:cxnLst/>
            <a:rect l="0" t="0" r="0" b="0"/>
            <a:pathLst>
              <a:path w="1238" h="10">
                <a:moveTo>
                  <a:pt x="0" y="5"/>
                </a:moveTo>
                <a:lnTo>
                  <a:pt x="123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4"/>
          <p:cNvGrpSpPr/>
          <p:nvPr/>
        </p:nvGrpSpPr>
        <p:grpSpPr>
          <a:xfrm rot="21600000">
            <a:off x="531984" y="1493311"/>
            <a:ext cx="1649844" cy="962511"/>
            <a:chOff x="0" y="0"/>
            <a:chExt cx="1649844" cy="962511"/>
          </a:xfrm>
        </p:grpSpPr>
        <p:sp>
          <p:nvSpPr>
            <p:cNvPr id="123" name="path"/>
            <p:cNvSpPr/>
            <p:nvPr/>
          </p:nvSpPr>
          <p:spPr>
            <a:xfrm>
              <a:off x="0" y="0"/>
              <a:ext cx="1649844" cy="962511"/>
            </a:xfrm>
            <a:custGeom>
              <a:avLst/>
              <a:gdLst/>
              <a:ahLst/>
              <a:cxnLst/>
              <a:rect l="0" t="0" r="0" b="0"/>
              <a:pathLst>
                <a:path w="2598" h="1515">
                  <a:moveTo>
                    <a:pt x="244" y="502"/>
                  </a:moveTo>
                  <a:cubicBezTo>
                    <a:pt x="214" y="328"/>
                    <a:pt x="368" y="168"/>
                    <a:pt x="588" y="144"/>
                  </a:cubicBezTo>
                  <a:cubicBezTo>
                    <a:pt x="678" y="134"/>
                    <a:pt x="768" y="149"/>
                    <a:pt x="846" y="185"/>
                  </a:cubicBezTo>
                  <a:cubicBezTo>
                    <a:pt x="929" y="62"/>
                    <a:pt x="1121" y="15"/>
                    <a:pt x="1276" y="81"/>
                  </a:cubicBezTo>
                  <a:cubicBezTo>
                    <a:pt x="1303" y="92"/>
                    <a:pt x="1328" y="106"/>
                    <a:pt x="1350" y="123"/>
                  </a:cubicBezTo>
                  <a:cubicBezTo>
                    <a:pt x="1414" y="22"/>
                    <a:pt x="1570" y="-19"/>
                    <a:pt x="1699" y="31"/>
                  </a:cubicBezTo>
                  <a:cubicBezTo>
                    <a:pt x="1735" y="45"/>
                    <a:pt x="1766" y="65"/>
                    <a:pt x="1790" y="90"/>
                  </a:cubicBezTo>
                  <a:cubicBezTo>
                    <a:pt x="1893" y="-5"/>
                    <a:pt x="2076" y="-17"/>
                    <a:pt x="2198" y="64"/>
                  </a:cubicBezTo>
                  <a:cubicBezTo>
                    <a:pt x="2249" y="98"/>
                    <a:pt x="2284" y="145"/>
                    <a:pt x="2296" y="198"/>
                  </a:cubicBezTo>
                  <a:cubicBezTo>
                    <a:pt x="2465" y="234"/>
                    <a:pt x="2565" y="372"/>
                    <a:pt x="2519" y="507"/>
                  </a:cubicBezTo>
                  <a:cubicBezTo>
                    <a:pt x="2515" y="518"/>
                    <a:pt x="2510" y="529"/>
                    <a:pt x="2504" y="540"/>
                  </a:cubicBezTo>
                  <a:cubicBezTo>
                    <a:pt x="2640" y="679"/>
                    <a:pt x="2607" y="880"/>
                    <a:pt x="2430" y="987"/>
                  </a:cubicBezTo>
                  <a:cubicBezTo>
                    <a:pt x="2375" y="1021"/>
                    <a:pt x="2310" y="1042"/>
                    <a:pt x="2241" y="1050"/>
                  </a:cubicBezTo>
                  <a:cubicBezTo>
                    <a:pt x="2240" y="1200"/>
                    <a:pt x="2084" y="1321"/>
                    <a:pt x="1894" y="1320"/>
                  </a:cubicBezTo>
                  <a:cubicBezTo>
                    <a:pt x="1830" y="1320"/>
                    <a:pt x="1768" y="1305"/>
                    <a:pt x="1714" y="1279"/>
                  </a:cubicBezTo>
                  <a:cubicBezTo>
                    <a:pt x="1649" y="1447"/>
                    <a:pt x="1425" y="1543"/>
                    <a:pt x="1212" y="1492"/>
                  </a:cubicBezTo>
                  <a:cubicBezTo>
                    <a:pt x="1123" y="1470"/>
                    <a:pt x="1046" y="1425"/>
                    <a:pt x="994" y="1364"/>
                  </a:cubicBezTo>
                  <a:cubicBezTo>
                    <a:pt x="776" y="1467"/>
                    <a:pt x="493" y="1412"/>
                    <a:pt x="362" y="1239"/>
                  </a:cubicBezTo>
                  <a:cubicBezTo>
                    <a:pt x="361" y="1237"/>
                    <a:pt x="359" y="1234"/>
                    <a:pt x="357" y="1232"/>
                  </a:cubicBezTo>
                  <a:cubicBezTo>
                    <a:pt x="215" y="1245"/>
                    <a:pt x="86" y="1165"/>
                    <a:pt x="69" y="1053"/>
                  </a:cubicBezTo>
                  <a:cubicBezTo>
                    <a:pt x="60" y="993"/>
                    <a:pt x="85" y="933"/>
                    <a:pt x="137" y="889"/>
                  </a:cubicBezTo>
                  <a:cubicBezTo>
                    <a:pt x="14" y="831"/>
                    <a:pt x="-27" y="705"/>
                    <a:pt x="45" y="607"/>
                  </a:cubicBezTo>
                  <a:cubicBezTo>
                    <a:pt x="86" y="551"/>
                    <a:pt x="160" y="513"/>
                    <a:pt x="242" y="507"/>
                  </a:cubicBezTo>
                  <a:lnTo>
                    <a:pt x="244" y="502"/>
                  </a:lnTo>
                  <a:close/>
                </a:path>
              </a:pathLst>
            </a:custGeom>
            <a:solidFill>
              <a:srgbClr val="1A8FC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4" name="textbox 124"/>
            <p:cNvSpPr/>
            <p:nvPr/>
          </p:nvSpPr>
          <p:spPr>
            <a:xfrm>
              <a:off x="-12700" y="-12700"/>
              <a:ext cx="1675764" cy="98806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6000"/>
                </a:lnSpc>
              </a:pPr>
              <a:endParaRPr lang="en-US" altLang="en-US" sz="1000" dirty="0"/>
            </a:p>
            <a:p>
              <a:pPr marL="537210" algn="l" rtl="0" eaLnBrk="0">
                <a:lnSpc>
                  <a:spcPct val="94000"/>
                </a:lnSpc>
                <a:spcBef>
                  <a:spcPts val="0"/>
                </a:spcBef>
              </a:pPr>
              <a:r>
                <a:rPr sz="150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高质</a:t>
              </a:r>
              <a:r>
                <a:rPr sz="150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量</a:t>
              </a:r>
              <a:endParaRPr lang="en-US" altLang="en-US" sz="1500" dirty="0"/>
            </a:p>
            <a:p>
              <a:pPr marL="544830" algn="l" rtl="0" eaLnBrk="0">
                <a:lnSpc>
                  <a:spcPts val="1920"/>
                </a:lnSpc>
              </a:pPr>
              <a:r>
                <a:rPr sz="150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的合</a:t>
              </a:r>
              <a:r>
                <a:rPr sz="150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同</a:t>
              </a:r>
              <a:endParaRPr lang="en-US" altLang="en-US" sz="1500" dirty="0"/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1578482" y="2043430"/>
            <a:ext cx="4789551" cy="3659631"/>
            <a:chOff x="0" y="0"/>
            <a:chExt cx="4789551" cy="3659631"/>
          </a:xfrm>
        </p:grpSpPr>
        <p:sp>
          <p:nvSpPr>
            <p:cNvPr id="125" name="path"/>
            <p:cNvSpPr/>
            <p:nvPr/>
          </p:nvSpPr>
          <p:spPr>
            <a:xfrm>
              <a:off x="0" y="538733"/>
              <a:ext cx="4789551" cy="589914"/>
            </a:xfrm>
            <a:custGeom>
              <a:avLst/>
              <a:gdLst/>
              <a:ahLst/>
              <a:cxnLst/>
              <a:rect l="0" t="0" r="0" b="0"/>
              <a:pathLst>
                <a:path w="7542" h="928">
                  <a:moveTo>
                    <a:pt x="6977" y="812"/>
                  </a:moveTo>
                  <a:cubicBezTo>
                    <a:pt x="6977" y="835"/>
                    <a:pt x="6959" y="854"/>
                    <a:pt x="6936" y="854"/>
                  </a:cubicBezTo>
                  <a:cubicBezTo>
                    <a:pt x="6913" y="854"/>
                    <a:pt x="6894" y="835"/>
                    <a:pt x="6894" y="812"/>
                  </a:cubicBezTo>
                  <a:cubicBezTo>
                    <a:pt x="6894" y="790"/>
                    <a:pt x="6913" y="771"/>
                    <a:pt x="6936" y="771"/>
                  </a:cubicBezTo>
                  <a:cubicBezTo>
                    <a:pt x="6959" y="771"/>
                    <a:pt x="6977" y="790"/>
                    <a:pt x="6977" y="812"/>
                  </a:cubicBezTo>
                </a:path>
                <a:path w="7542" h="928">
                  <a:moveTo>
                    <a:pt x="7236" y="502"/>
                  </a:moveTo>
                  <a:cubicBezTo>
                    <a:pt x="7236" y="548"/>
                    <a:pt x="7199" y="585"/>
                    <a:pt x="7153" y="585"/>
                  </a:cubicBezTo>
                  <a:cubicBezTo>
                    <a:pt x="7107" y="585"/>
                    <a:pt x="7070" y="548"/>
                    <a:pt x="7070" y="502"/>
                  </a:cubicBezTo>
                  <a:cubicBezTo>
                    <a:pt x="7070" y="456"/>
                    <a:pt x="7107" y="419"/>
                    <a:pt x="7153" y="419"/>
                  </a:cubicBezTo>
                  <a:cubicBezTo>
                    <a:pt x="7199" y="419"/>
                    <a:pt x="7236" y="456"/>
                    <a:pt x="7236" y="502"/>
                  </a:cubicBezTo>
                </a:path>
                <a:path w="7542" h="928">
                  <a:moveTo>
                    <a:pt x="7542" y="124"/>
                  </a:moveTo>
                  <a:cubicBezTo>
                    <a:pt x="7542" y="193"/>
                    <a:pt x="7486" y="249"/>
                    <a:pt x="7417" y="249"/>
                  </a:cubicBezTo>
                  <a:cubicBezTo>
                    <a:pt x="7349" y="249"/>
                    <a:pt x="7293" y="193"/>
                    <a:pt x="7293" y="124"/>
                  </a:cubicBezTo>
                  <a:cubicBezTo>
                    <a:pt x="7293" y="55"/>
                    <a:pt x="7349" y="0"/>
                    <a:pt x="7417" y="0"/>
                  </a:cubicBezTo>
                  <a:cubicBezTo>
                    <a:pt x="7486" y="0"/>
                    <a:pt x="7542" y="55"/>
                    <a:pt x="7542" y="124"/>
                  </a:cubicBezTo>
                </a:path>
                <a:path w="7542" h="928">
                  <a:moveTo>
                    <a:pt x="223" y="887"/>
                  </a:moveTo>
                  <a:cubicBezTo>
                    <a:pt x="223" y="910"/>
                    <a:pt x="204" y="928"/>
                    <a:pt x="181" y="928"/>
                  </a:cubicBezTo>
                  <a:cubicBezTo>
                    <a:pt x="158" y="928"/>
                    <a:pt x="140" y="910"/>
                    <a:pt x="140" y="887"/>
                  </a:cubicBezTo>
                  <a:cubicBezTo>
                    <a:pt x="140" y="864"/>
                    <a:pt x="158" y="845"/>
                    <a:pt x="181" y="845"/>
                  </a:cubicBezTo>
                  <a:cubicBezTo>
                    <a:pt x="204" y="845"/>
                    <a:pt x="223" y="864"/>
                    <a:pt x="223" y="887"/>
                  </a:cubicBezTo>
                </a:path>
                <a:path w="7542" h="928">
                  <a:moveTo>
                    <a:pt x="166" y="543"/>
                  </a:moveTo>
                  <a:cubicBezTo>
                    <a:pt x="166" y="589"/>
                    <a:pt x="128" y="626"/>
                    <a:pt x="83" y="626"/>
                  </a:cubicBezTo>
                  <a:cubicBezTo>
                    <a:pt x="37" y="626"/>
                    <a:pt x="0" y="589"/>
                    <a:pt x="0" y="543"/>
                  </a:cubicBezTo>
                  <a:cubicBezTo>
                    <a:pt x="0" y="497"/>
                    <a:pt x="37" y="460"/>
                    <a:pt x="83" y="460"/>
                  </a:cubicBezTo>
                  <a:cubicBezTo>
                    <a:pt x="128" y="460"/>
                    <a:pt x="166" y="497"/>
                    <a:pt x="166" y="543"/>
                  </a:cubicBezTo>
                </a:path>
              </a:pathLst>
            </a:custGeom>
            <a:solidFill>
              <a:srgbClr val="1A8FC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6" name="path"/>
            <p:cNvSpPr/>
            <p:nvPr/>
          </p:nvSpPr>
          <p:spPr>
            <a:xfrm>
              <a:off x="520064" y="207517"/>
              <a:ext cx="3573779" cy="3445764"/>
            </a:xfrm>
            <a:custGeom>
              <a:avLst/>
              <a:gdLst/>
              <a:ahLst/>
              <a:cxnLst/>
              <a:rect l="0" t="0" r="0" b="0"/>
              <a:pathLst>
                <a:path w="5627" h="5426">
                  <a:moveTo>
                    <a:pt x="0" y="2713"/>
                  </a:moveTo>
                  <a:cubicBezTo>
                    <a:pt x="0" y="1214"/>
                    <a:pt x="1259" y="0"/>
                    <a:pt x="2814" y="0"/>
                  </a:cubicBezTo>
                  <a:cubicBezTo>
                    <a:pt x="4368" y="0"/>
                    <a:pt x="5627" y="1214"/>
                    <a:pt x="5627" y="2713"/>
                  </a:cubicBezTo>
                  <a:cubicBezTo>
                    <a:pt x="5627" y="4211"/>
                    <a:pt x="4368" y="5426"/>
                    <a:pt x="2814" y="5426"/>
                  </a:cubicBezTo>
                  <a:cubicBezTo>
                    <a:pt x="1259" y="5426"/>
                    <a:pt x="0" y="4211"/>
                    <a:pt x="0" y="2713"/>
                  </a:cubicBezTo>
                  <a:moveTo>
                    <a:pt x="297" y="2713"/>
                  </a:moveTo>
                  <a:cubicBezTo>
                    <a:pt x="297" y="4047"/>
                    <a:pt x="1424" y="5128"/>
                    <a:pt x="2814" y="5128"/>
                  </a:cubicBezTo>
                  <a:cubicBezTo>
                    <a:pt x="4203" y="5128"/>
                    <a:pt x="5330" y="4047"/>
                    <a:pt x="5330" y="2713"/>
                  </a:cubicBezTo>
                  <a:cubicBezTo>
                    <a:pt x="5330" y="1379"/>
                    <a:pt x="4203" y="298"/>
                    <a:pt x="2814" y="298"/>
                  </a:cubicBezTo>
                  <a:cubicBezTo>
                    <a:pt x="1424" y="298"/>
                    <a:pt x="297" y="1379"/>
                    <a:pt x="297" y="2713"/>
                  </a:cubicBezTo>
                </a:path>
              </a:pathLst>
            </a:custGeom>
            <a:solidFill>
              <a:srgbClr val="A6A6A6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7" name="path"/>
            <p:cNvSpPr/>
            <p:nvPr/>
          </p:nvSpPr>
          <p:spPr>
            <a:xfrm>
              <a:off x="2018157" y="6350"/>
              <a:ext cx="576071" cy="576071"/>
            </a:xfrm>
            <a:custGeom>
              <a:avLst/>
              <a:gdLst/>
              <a:ahLst/>
              <a:cxnLst/>
              <a:rect l="0" t="0" r="0" b="0"/>
              <a:pathLst>
                <a:path w="907" h="907">
                  <a:moveTo>
                    <a:pt x="0" y="453"/>
                  </a:moveTo>
                  <a:cubicBezTo>
                    <a:pt x="0" y="202"/>
                    <a:pt x="202" y="0"/>
                    <a:pt x="453" y="0"/>
                  </a:cubicBezTo>
                  <a:cubicBezTo>
                    <a:pt x="704" y="0"/>
                    <a:pt x="907" y="202"/>
                    <a:pt x="907" y="453"/>
                  </a:cubicBezTo>
                  <a:cubicBezTo>
                    <a:pt x="907" y="704"/>
                    <a:pt x="704" y="907"/>
                    <a:pt x="453" y="907"/>
                  </a:cubicBezTo>
                  <a:cubicBezTo>
                    <a:pt x="202" y="907"/>
                    <a:pt x="0" y="704"/>
                    <a:pt x="0" y="453"/>
                  </a:cubicBezTo>
                </a:path>
              </a:pathLst>
            </a:custGeom>
            <a:solidFill>
              <a:srgbClr val="68C0E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8" name="path"/>
            <p:cNvSpPr/>
            <p:nvPr/>
          </p:nvSpPr>
          <p:spPr>
            <a:xfrm>
              <a:off x="2011807" y="0"/>
              <a:ext cx="588771" cy="588771"/>
            </a:xfrm>
            <a:custGeom>
              <a:avLst/>
              <a:gdLst/>
              <a:ahLst/>
              <a:cxnLst/>
              <a:rect l="0" t="0" r="0" b="0"/>
              <a:pathLst>
                <a:path w="927" h="927">
                  <a:moveTo>
                    <a:pt x="10" y="463"/>
                  </a:moveTo>
                  <a:cubicBezTo>
                    <a:pt x="10" y="212"/>
                    <a:pt x="212" y="10"/>
                    <a:pt x="463" y="10"/>
                  </a:cubicBezTo>
                  <a:cubicBezTo>
                    <a:pt x="714" y="10"/>
                    <a:pt x="917" y="212"/>
                    <a:pt x="917" y="463"/>
                  </a:cubicBezTo>
                  <a:cubicBezTo>
                    <a:pt x="917" y="714"/>
                    <a:pt x="714" y="917"/>
                    <a:pt x="463" y="917"/>
                  </a:cubicBezTo>
                  <a:cubicBezTo>
                    <a:pt x="212" y="917"/>
                    <a:pt x="10" y="714"/>
                    <a:pt x="10" y="463"/>
                  </a:cubicBezTo>
                </a:path>
              </a:pathLst>
            </a:custGeom>
            <a:noFill/>
            <a:ln w="12700" cap="flat">
              <a:solidFill>
                <a:srgbClr val="FFFFF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9" name="path"/>
            <p:cNvSpPr/>
            <p:nvPr/>
          </p:nvSpPr>
          <p:spPr>
            <a:xfrm>
              <a:off x="3345560" y="582421"/>
              <a:ext cx="576072" cy="576071"/>
            </a:xfrm>
            <a:custGeom>
              <a:avLst/>
              <a:gdLst/>
              <a:ahLst/>
              <a:cxnLst/>
              <a:rect l="0" t="0" r="0" b="0"/>
              <a:pathLst>
                <a:path w="907" h="907">
                  <a:moveTo>
                    <a:pt x="0" y="453"/>
                  </a:moveTo>
                  <a:cubicBezTo>
                    <a:pt x="0" y="202"/>
                    <a:pt x="202" y="0"/>
                    <a:pt x="453" y="0"/>
                  </a:cubicBezTo>
                  <a:cubicBezTo>
                    <a:pt x="704" y="0"/>
                    <a:pt x="907" y="202"/>
                    <a:pt x="907" y="453"/>
                  </a:cubicBezTo>
                  <a:cubicBezTo>
                    <a:pt x="907" y="704"/>
                    <a:pt x="704" y="907"/>
                    <a:pt x="453" y="907"/>
                  </a:cubicBezTo>
                  <a:cubicBezTo>
                    <a:pt x="202" y="907"/>
                    <a:pt x="0" y="704"/>
                    <a:pt x="0" y="453"/>
                  </a:cubicBezTo>
                </a:path>
              </a:pathLst>
            </a:custGeom>
            <a:solidFill>
              <a:srgbClr val="68C0E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0" name="path"/>
            <p:cNvSpPr/>
            <p:nvPr/>
          </p:nvSpPr>
          <p:spPr>
            <a:xfrm>
              <a:off x="3339210" y="576071"/>
              <a:ext cx="588772" cy="588771"/>
            </a:xfrm>
            <a:custGeom>
              <a:avLst/>
              <a:gdLst/>
              <a:ahLst/>
              <a:cxnLst/>
              <a:rect l="0" t="0" r="0" b="0"/>
              <a:pathLst>
                <a:path w="927" h="927">
                  <a:moveTo>
                    <a:pt x="10" y="463"/>
                  </a:moveTo>
                  <a:cubicBezTo>
                    <a:pt x="10" y="212"/>
                    <a:pt x="212" y="10"/>
                    <a:pt x="463" y="10"/>
                  </a:cubicBezTo>
                  <a:cubicBezTo>
                    <a:pt x="714" y="10"/>
                    <a:pt x="917" y="212"/>
                    <a:pt x="917" y="463"/>
                  </a:cubicBezTo>
                  <a:cubicBezTo>
                    <a:pt x="917" y="714"/>
                    <a:pt x="714" y="917"/>
                    <a:pt x="463" y="917"/>
                  </a:cubicBezTo>
                  <a:cubicBezTo>
                    <a:pt x="212" y="917"/>
                    <a:pt x="10" y="714"/>
                    <a:pt x="10" y="463"/>
                  </a:cubicBezTo>
                </a:path>
              </a:pathLst>
            </a:custGeom>
            <a:noFill/>
            <a:ln w="12700" cap="flat">
              <a:solidFill>
                <a:srgbClr val="FFFFF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1" name="path"/>
            <p:cNvSpPr/>
            <p:nvPr/>
          </p:nvSpPr>
          <p:spPr>
            <a:xfrm>
              <a:off x="2822829" y="3077209"/>
              <a:ext cx="576071" cy="576071"/>
            </a:xfrm>
            <a:custGeom>
              <a:avLst/>
              <a:gdLst/>
              <a:ahLst/>
              <a:cxnLst/>
              <a:rect l="0" t="0" r="0" b="0"/>
              <a:pathLst>
                <a:path w="907" h="907">
                  <a:moveTo>
                    <a:pt x="0" y="453"/>
                  </a:moveTo>
                  <a:cubicBezTo>
                    <a:pt x="0" y="202"/>
                    <a:pt x="202" y="0"/>
                    <a:pt x="453" y="0"/>
                  </a:cubicBezTo>
                  <a:cubicBezTo>
                    <a:pt x="704" y="0"/>
                    <a:pt x="907" y="202"/>
                    <a:pt x="907" y="453"/>
                  </a:cubicBezTo>
                  <a:cubicBezTo>
                    <a:pt x="907" y="704"/>
                    <a:pt x="704" y="907"/>
                    <a:pt x="453" y="907"/>
                  </a:cubicBezTo>
                  <a:cubicBezTo>
                    <a:pt x="202" y="907"/>
                    <a:pt x="0" y="704"/>
                    <a:pt x="0" y="453"/>
                  </a:cubicBezTo>
                </a:path>
              </a:pathLst>
            </a:custGeom>
            <a:solidFill>
              <a:srgbClr val="68C0E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2" name="path"/>
            <p:cNvSpPr/>
            <p:nvPr/>
          </p:nvSpPr>
          <p:spPr>
            <a:xfrm>
              <a:off x="2816479" y="3070859"/>
              <a:ext cx="588771" cy="588771"/>
            </a:xfrm>
            <a:custGeom>
              <a:avLst/>
              <a:gdLst/>
              <a:ahLst/>
              <a:cxnLst/>
              <a:rect l="0" t="0" r="0" b="0"/>
              <a:pathLst>
                <a:path w="927" h="927">
                  <a:moveTo>
                    <a:pt x="10" y="463"/>
                  </a:moveTo>
                  <a:cubicBezTo>
                    <a:pt x="10" y="212"/>
                    <a:pt x="212" y="10"/>
                    <a:pt x="463" y="10"/>
                  </a:cubicBezTo>
                  <a:cubicBezTo>
                    <a:pt x="714" y="10"/>
                    <a:pt x="917" y="212"/>
                    <a:pt x="917" y="463"/>
                  </a:cubicBezTo>
                  <a:cubicBezTo>
                    <a:pt x="917" y="714"/>
                    <a:pt x="714" y="917"/>
                    <a:pt x="463" y="917"/>
                  </a:cubicBezTo>
                  <a:cubicBezTo>
                    <a:pt x="212" y="917"/>
                    <a:pt x="10" y="714"/>
                    <a:pt x="10" y="463"/>
                  </a:cubicBezTo>
                </a:path>
              </a:pathLst>
            </a:custGeom>
            <a:noFill/>
            <a:ln w="12700" cap="flat">
              <a:solidFill>
                <a:srgbClr val="FFFFF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3" name="path"/>
            <p:cNvSpPr/>
            <p:nvPr/>
          </p:nvSpPr>
          <p:spPr>
            <a:xfrm>
              <a:off x="1307973" y="3077209"/>
              <a:ext cx="576072" cy="576071"/>
            </a:xfrm>
            <a:custGeom>
              <a:avLst/>
              <a:gdLst/>
              <a:ahLst/>
              <a:cxnLst/>
              <a:rect l="0" t="0" r="0" b="0"/>
              <a:pathLst>
                <a:path w="907" h="907">
                  <a:moveTo>
                    <a:pt x="0" y="453"/>
                  </a:moveTo>
                  <a:cubicBezTo>
                    <a:pt x="0" y="202"/>
                    <a:pt x="202" y="0"/>
                    <a:pt x="453" y="0"/>
                  </a:cubicBezTo>
                  <a:cubicBezTo>
                    <a:pt x="704" y="0"/>
                    <a:pt x="907" y="202"/>
                    <a:pt x="907" y="453"/>
                  </a:cubicBezTo>
                  <a:cubicBezTo>
                    <a:pt x="907" y="704"/>
                    <a:pt x="704" y="907"/>
                    <a:pt x="453" y="907"/>
                  </a:cubicBezTo>
                  <a:cubicBezTo>
                    <a:pt x="202" y="907"/>
                    <a:pt x="0" y="704"/>
                    <a:pt x="0" y="453"/>
                  </a:cubicBezTo>
                </a:path>
              </a:pathLst>
            </a:custGeom>
            <a:solidFill>
              <a:srgbClr val="68C0E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4" name="path"/>
            <p:cNvSpPr/>
            <p:nvPr/>
          </p:nvSpPr>
          <p:spPr>
            <a:xfrm>
              <a:off x="1301623" y="3070859"/>
              <a:ext cx="588772" cy="588771"/>
            </a:xfrm>
            <a:custGeom>
              <a:avLst/>
              <a:gdLst/>
              <a:ahLst/>
              <a:cxnLst/>
              <a:rect l="0" t="0" r="0" b="0"/>
              <a:pathLst>
                <a:path w="927" h="927">
                  <a:moveTo>
                    <a:pt x="10" y="463"/>
                  </a:moveTo>
                  <a:cubicBezTo>
                    <a:pt x="10" y="212"/>
                    <a:pt x="212" y="10"/>
                    <a:pt x="463" y="10"/>
                  </a:cubicBezTo>
                  <a:cubicBezTo>
                    <a:pt x="714" y="10"/>
                    <a:pt x="917" y="212"/>
                    <a:pt x="917" y="463"/>
                  </a:cubicBezTo>
                  <a:cubicBezTo>
                    <a:pt x="917" y="714"/>
                    <a:pt x="714" y="917"/>
                    <a:pt x="463" y="917"/>
                  </a:cubicBezTo>
                  <a:cubicBezTo>
                    <a:pt x="212" y="917"/>
                    <a:pt x="10" y="714"/>
                    <a:pt x="10" y="463"/>
                  </a:cubicBezTo>
                </a:path>
              </a:pathLst>
            </a:custGeom>
            <a:noFill/>
            <a:ln w="12700" cap="flat">
              <a:solidFill>
                <a:srgbClr val="FFFFF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5" name="path"/>
            <p:cNvSpPr/>
            <p:nvPr/>
          </p:nvSpPr>
          <p:spPr>
            <a:xfrm>
              <a:off x="396621" y="1943353"/>
              <a:ext cx="576072" cy="576071"/>
            </a:xfrm>
            <a:custGeom>
              <a:avLst/>
              <a:gdLst/>
              <a:ahLst/>
              <a:cxnLst/>
              <a:rect l="0" t="0" r="0" b="0"/>
              <a:pathLst>
                <a:path w="907" h="907">
                  <a:moveTo>
                    <a:pt x="0" y="453"/>
                  </a:moveTo>
                  <a:cubicBezTo>
                    <a:pt x="0" y="202"/>
                    <a:pt x="202" y="0"/>
                    <a:pt x="453" y="0"/>
                  </a:cubicBezTo>
                  <a:cubicBezTo>
                    <a:pt x="704" y="0"/>
                    <a:pt x="907" y="202"/>
                    <a:pt x="907" y="453"/>
                  </a:cubicBezTo>
                  <a:cubicBezTo>
                    <a:pt x="907" y="704"/>
                    <a:pt x="704" y="907"/>
                    <a:pt x="453" y="907"/>
                  </a:cubicBezTo>
                  <a:cubicBezTo>
                    <a:pt x="202" y="907"/>
                    <a:pt x="0" y="704"/>
                    <a:pt x="0" y="453"/>
                  </a:cubicBezTo>
                </a:path>
              </a:pathLst>
            </a:custGeom>
            <a:solidFill>
              <a:srgbClr val="68C0E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6" name="path"/>
            <p:cNvSpPr/>
            <p:nvPr/>
          </p:nvSpPr>
          <p:spPr>
            <a:xfrm>
              <a:off x="390271" y="1937003"/>
              <a:ext cx="588772" cy="588771"/>
            </a:xfrm>
            <a:custGeom>
              <a:avLst/>
              <a:gdLst/>
              <a:ahLst/>
              <a:cxnLst/>
              <a:rect l="0" t="0" r="0" b="0"/>
              <a:pathLst>
                <a:path w="927" h="927">
                  <a:moveTo>
                    <a:pt x="10" y="463"/>
                  </a:moveTo>
                  <a:cubicBezTo>
                    <a:pt x="10" y="212"/>
                    <a:pt x="212" y="10"/>
                    <a:pt x="463" y="10"/>
                  </a:cubicBezTo>
                  <a:cubicBezTo>
                    <a:pt x="714" y="10"/>
                    <a:pt x="917" y="212"/>
                    <a:pt x="917" y="463"/>
                  </a:cubicBezTo>
                  <a:cubicBezTo>
                    <a:pt x="917" y="714"/>
                    <a:pt x="714" y="917"/>
                    <a:pt x="463" y="917"/>
                  </a:cubicBezTo>
                  <a:cubicBezTo>
                    <a:pt x="212" y="917"/>
                    <a:pt x="10" y="714"/>
                    <a:pt x="10" y="463"/>
                  </a:cubicBezTo>
                </a:path>
              </a:pathLst>
            </a:custGeom>
            <a:noFill/>
            <a:ln w="12700" cap="flat">
              <a:solidFill>
                <a:srgbClr val="FFFFF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7" name="path"/>
            <p:cNvSpPr/>
            <p:nvPr/>
          </p:nvSpPr>
          <p:spPr>
            <a:xfrm>
              <a:off x="731901" y="582421"/>
              <a:ext cx="576072" cy="576071"/>
            </a:xfrm>
            <a:custGeom>
              <a:avLst/>
              <a:gdLst/>
              <a:ahLst/>
              <a:cxnLst/>
              <a:rect l="0" t="0" r="0" b="0"/>
              <a:pathLst>
                <a:path w="907" h="907">
                  <a:moveTo>
                    <a:pt x="0" y="453"/>
                  </a:moveTo>
                  <a:cubicBezTo>
                    <a:pt x="0" y="202"/>
                    <a:pt x="202" y="0"/>
                    <a:pt x="453" y="0"/>
                  </a:cubicBezTo>
                  <a:cubicBezTo>
                    <a:pt x="704" y="0"/>
                    <a:pt x="907" y="202"/>
                    <a:pt x="907" y="453"/>
                  </a:cubicBezTo>
                  <a:cubicBezTo>
                    <a:pt x="907" y="704"/>
                    <a:pt x="704" y="907"/>
                    <a:pt x="453" y="907"/>
                  </a:cubicBezTo>
                  <a:cubicBezTo>
                    <a:pt x="202" y="907"/>
                    <a:pt x="0" y="704"/>
                    <a:pt x="0" y="453"/>
                  </a:cubicBezTo>
                </a:path>
              </a:pathLst>
            </a:custGeom>
            <a:solidFill>
              <a:srgbClr val="68C0E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" name="path"/>
            <p:cNvSpPr/>
            <p:nvPr/>
          </p:nvSpPr>
          <p:spPr>
            <a:xfrm>
              <a:off x="725551" y="576071"/>
              <a:ext cx="588772" cy="588771"/>
            </a:xfrm>
            <a:custGeom>
              <a:avLst/>
              <a:gdLst/>
              <a:ahLst/>
              <a:cxnLst/>
              <a:rect l="0" t="0" r="0" b="0"/>
              <a:pathLst>
                <a:path w="927" h="927">
                  <a:moveTo>
                    <a:pt x="10" y="463"/>
                  </a:moveTo>
                  <a:cubicBezTo>
                    <a:pt x="10" y="212"/>
                    <a:pt x="212" y="10"/>
                    <a:pt x="463" y="10"/>
                  </a:cubicBezTo>
                  <a:cubicBezTo>
                    <a:pt x="714" y="10"/>
                    <a:pt x="917" y="212"/>
                    <a:pt x="917" y="463"/>
                  </a:cubicBezTo>
                  <a:cubicBezTo>
                    <a:pt x="917" y="714"/>
                    <a:pt x="714" y="917"/>
                    <a:pt x="463" y="917"/>
                  </a:cubicBezTo>
                  <a:cubicBezTo>
                    <a:pt x="212" y="917"/>
                    <a:pt x="10" y="714"/>
                    <a:pt x="10" y="463"/>
                  </a:cubicBezTo>
                </a:path>
              </a:pathLst>
            </a:custGeom>
            <a:noFill/>
            <a:ln w="12700" cap="flat">
              <a:solidFill>
                <a:srgbClr val="FFFFF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9" name="path"/>
            <p:cNvSpPr/>
            <p:nvPr/>
          </p:nvSpPr>
          <p:spPr>
            <a:xfrm>
              <a:off x="3738753" y="2025649"/>
              <a:ext cx="576071" cy="576072"/>
            </a:xfrm>
            <a:custGeom>
              <a:avLst/>
              <a:gdLst/>
              <a:ahLst/>
              <a:cxnLst/>
              <a:rect l="0" t="0" r="0" b="0"/>
              <a:pathLst>
                <a:path w="907" h="907">
                  <a:moveTo>
                    <a:pt x="0" y="453"/>
                  </a:moveTo>
                  <a:cubicBezTo>
                    <a:pt x="0" y="203"/>
                    <a:pt x="202" y="0"/>
                    <a:pt x="453" y="0"/>
                  </a:cubicBezTo>
                  <a:cubicBezTo>
                    <a:pt x="704" y="0"/>
                    <a:pt x="907" y="203"/>
                    <a:pt x="907" y="453"/>
                  </a:cubicBezTo>
                  <a:cubicBezTo>
                    <a:pt x="907" y="704"/>
                    <a:pt x="704" y="907"/>
                    <a:pt x="453" y="907"/>
                  </a:cubicBezTo>
                  <a:cubicBezTo>
                    <a:pt x="202" y="907"/>
                    <a:pt x="0" y="704"/>
                    <a:pt x="0" y="453"/>
                  </a:cubicBezTo>
                </a:path>
              </a:pathLst>
            </a:custGeom>
            <a:solidFill>
              <a:srgbClr val="68C0E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0" name="path"/>
            <p:cNvSpPr/>
            <p:nvPr/>
          </p:nvSpPr>
          <p:spPr>
            <a:xfrm>
              <a:off x="3732403" y="2019299"/>
              <a:ext cx="588771" cy="588772"/>
            </a:xfrm>
            <a:custGeom>
              <a:avLst/>
              <a:gdLst/>
              <a:ahLst/>
              <a:cxnLst/>
              <a:rect l="0" t="0" r="0" b="0"/>
              <a:pathLst>
                <a:path w="927" h="927">
                  <a:moveTo>
                    <a:pt x="10" y="463"/>
                  </a:moveTo>
                  <a:cubicBezTo>
                    <a:pt x="10" y="213"/>
                    <a:pt x="212" y="10"/>
                    <a:pt x="463" y="10"/>
                  </a:cubicBezTo>
                  <a:cubicBezTo>
                    <a:pt x="714" y="10"/>
                    <a:pt x="917" y="213"/>
                    <a:pt x="917" y="463"/>
                  </a:cubicBezTo>
                  <a:cubicBezTo>
                    <a:pt x="917" y="714"/>
                    <a:pt x="714" y="917"/>
                    <a:pt x="463" y="917"/>
                  </a:cubicBezTo>
                  <a:cubicBezTo>
                    <a:pt x="212" y="917"/>
                    <a:pt x="10" y="714"/>
                    <a:pt x="10" y="463"/>
                  </a:cubicBezTo>
                </a:path>
              </a:pathLst>
            </a:custGeom>
            <a:noFill/>
            <a:ln w="12700" cap="flat">
              <a:solidFill>
                <a:srgbClr val="FFFFF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1" name="path"/>
            <p:cNvSpPr/>
            <p:nvPr/>
          </p:nvSpPr>
          <p:spPr>
            <a:xfrm>
              <a:off x="1856612" y="1480057"/>
              <a:ext cx="900683" cy="900683"/>
            </a:xfrm>
            <a:custGeom>
              <a:avLst/>
              <a:gdLst/>
              <a:ahLst/>
              <a:cxnLst/>
              <a:rect l="0" t="0" r="0" b="0"/>
              <a:pathLst>
                <a:path w="1418" h="1418">
                  <a:moveTo>
                    <a:pt x="0" y="709"/>
                  </a:moveTo>
                  <a:cubicBezTo>
                    <a:pt x="0" y="317"/>
                    <a:pt x="317" y="0"/>
                    <a:pt x="709" y="0"/>
                  </a:cubicBezTo>
                  <a:cubicBezTo>
                    <a:pt x="1100" y="0"/>
                    <a:pt x="1418" y="317"/>
                    <a:pt x="1418" y="709"/>
                  </a:cubicBezTo>
                  <a:cubicBezTo>
                    <a:pt x="1418" y="1100"/>
                    <a:pt x="1100" y="1418"/>
                    <a:pt x="709" y="1418"/>
                  </a:cubicBezTo>
                  <a:cubicBezTo>
                    <a:pt x="317" y="1418"/>
                    <a:pt x="0" y="1100"/>
                    <a:pt x="0" y="709"/>
                  </a:cubicBezTo>
                </a:path>
              </a:pathLst>
            </a:custGeom>
            <a:solidFill>
              <a:srgbClr val="CD7E5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2" name="path"/>
            <p:cNvSpPr/>
            <p:nvPr/>
          </p:nvSpPr>
          <p:spPr>
            <a:xfrm>
              <a:off x="1850262" y="1473707"/>
              <a:ext cx="913383" cy="913383"/>
            </a:xfrm>
            <a:custGeom>
              <a:avLst/>
              <a:gdLst/>
              <a:ahLst/>
              <a:cxnLst/>
              <a:rect l="0" t="0" r="0" b="0"/>
              <a:pathLst>
                <a:path w="1438" h="1438">
                  <a:moveTo>
                    <a:pt x="10" y="719"/>
                  </a:moveTo>
                  <a:cubicBezTo>
                    <a:pt x="10" y="327"/>
                    <a:pt x="327" y="10"/>
                    <a:pt x="719" y="10"/>
                  </a:cubicBezTo>
                  <a:cubicBezTo>
                    <a:pt x="1110" y="10"/>
                    <a:pt x="1428" y="327"/>
                    <a:pt x="1428" y="719"/>
                  </a:cubicBezTo>
                  <a:cubicBezTo>
                    <a:pt x="1428" y="1110"/>
                    <a:pt x="1110" y="1428"/>
                    <a:pt x="719" y="1428"/>
                  </a:cubicBezTo>
                  <a:cubicBezTo>
                    <a:pt x="327" y="1428"/>
                    <a:pt x="10" y="1110"/>
                    <a:pt x="10" y="719"/>
                  </a:cubicBezTo>
                </a:path>
              </a:pathLst>
            </a:custGeom>
            <a:noFill/>
            <a:ln w="12700" cap="flat">
              <a:solidFill>
                <a:srgbClr val="FFFFF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3" name="path"/>
            <p:cNvSpPr/>
            <p:nvPr/>
          </p:nvSpPr>
          <p:spPr>
            <a:xfrm>
              <a:off x="979699" y="591566"/>
              <a:ext cx="2751057" cy="2520114"/>
            </a:xfrm>
            <a:custGeom>
              <a:avLst/>
              <a:gdLst/>
              <a:ahLst/>
              <a:cxnLst/>
              <a:rect l="0" t="0" r="0" b="0"/>
              <a:pathLst>
                <a:path w="4332" h="3968">
                  <a:moveTo>
                    <a:pt x="2619" y="1650"/>
                  </a:moveTo>
                  <a:lnTo>
                    <a:pt x="3866" y="743"/>
                  </a:lnTo>
                  <a:moveTo>
                    <a:pt x="2784" y="2198"/>
                  </a:moveTo>
                  <a:lnTo>
                    <a:pt x="4330" y="2652"/>
                  </a:lnTo>
                  <a:moveTo>
                    <a:pt x="2439" y="2719"/>
                  </a:moveTo>
                  <a:lnTo>
                    <a:pt x="3153" y="3966"/>
                  </a:lnTo>
                  <a:moveTo>
                    <a:pt x="1757" y="2719"/>
                  </a:moveTo>
                  <a:lnTo>
                    <a:pt x="1133" y="3966"/>
                  </a:lnTo>
                  <a:moveTo>
                    <a:pt x="1408" y="2255"/>
                  </a:moveTo>
                  <a:lnTo>
                    <a:pt x="0" y="2532"/>
                  </a:lnTo>
                  <a:moveTo>
                    <a:pt x="1573" y="1650"/>
                  </a:moveTo>
                  <a:lnTo>
                    <a:pt x="382" y="743"/>
                  </a:lnTo>
                  <a:moveTo>
                    <a:pt x="2091" y="1413"/>
                  </a:moveTo>
                  <a:lnTo>
                    <a:pt x="2091" y="0"/>
                  </a:lnTo>
                </a:path>
              </a:pathLst>
            </a:custGeom>
            <a:noFill/>
            <a:ln w="6350" cap="flat">
              <a:solidFill>
                <a:srgbClr val="205FA2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4" name="textbox 144"/>
          <p:cNvSpPr/>
          <p:nvPr/>
        </p:nvSpPr>
        <p:spPr>
          <a:xfrm>
            <a:off x="7706283" y="1733855"/>
            <a:ext cx="3912234" cy="42856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的核心是流程化组织建设</a:t>
            </a:r>
            <a:endParaRPr lang="en-US" altLang="en-US" sz="1800" dirty="0"/>
          </a:p>
          <a:p>
            <a:pPr algn="l" rtl="0" eaLnBrk="0">
              <a:lnSpc>
                <a:spcPct val="19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545"/>
              </a:spcBef>
            </a:pPr>
            <a:r>
              <a:rPr sz="180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8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唯上的本质其实是领导比流程厉害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en-US" sz="1800" dirty="0"/>
          </a:p>
          <a:p>
            <a:pPr marL="292735" indent="0" algn="l" rtl="0" eaLnBrk="0">
              <a:lnSpc>
                <a:spcPct val="199000"/>
              </a:lnSpc>
              <a:spcBef>
                <a:spcPts val="50"/>
              </a:spcBef>
            </a:pP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真正流程化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组织是反官僚化的，是   </a:t>
            </a:r>
            <a:r>
              <a:rPr sz="18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去部门墙的</a:t>
            </a:r>
            <a:r>
              <a:rPr sz="18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800" dirty="0"/>
          </a:p>
          <a:p>
            <a:pPr algn="l" rtl="0" eaLnBrk="0">
              <a:lnSpc>
                <a:spcPct val="189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550"/>
              </a:spcBef>
            </a:pPr>
            <a:r>
              <a:rPr sz="18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构建公司的流程体系就是构建公司</a:t>
            </a:r>
            <a:endParaRPr lang="en-US" altLang="en-US" sz="1800" dirty="0"/>
          </a:p>
          <a:p>
            <a:pPr marL="288290" indent="11430" algn="l" rtl="0" eaLnBrk="0">
              <a:lnSpc>
                <a:spcPct val="199000"/>
              </a:lnSpc>
              <a:spcBef>
                <a:spcPts val="65"/>
              </a:spcBef>
            </a:pPr>
            <a:r>
              <a:rPr sz="180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的运营系统，是要在流程中把质量</a:t>
            </a: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、内控、授权、财经等的要素   </a:t>
            </a:r>
            <a:r>
              <a:rPr sz="18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放到流程中去，一张皮运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作。</a:t>
            </a:r>
            <a:endParaRPr lang="en-US" altLang="en-US" sz="1800" dirty="0"/>
          </a:p>
        </p:txBody>
      </p:sp>
      <p:sp>
        <p:nvSpPr>
          <p:cNvPr id="145" name="textbox 145"/>
          <p:cNvSpPr/>
          <p:nvPr/>
        </p:nvSpPr>
        <p:spPr>
          <a:xfrm>
            <a:off x="2524661" y="5318734"/>
            <a:ext cx="2897504" cy="5873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591185" algn="l" rtl="0" eaLnBrk="0">
              <a:lnSpc>
                <a:spcPct val="80000"/>
              </a:lnSpc>
            </a:pPr>
            <a:r>
              <a:rPr sz="1800" b="1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80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8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</a:t>
            </a:r>
            <a:r>
              <a:rPr sz="1800" b="1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lang="en-US" altLang="en-US" sz="1800" dirty="0"/>
          </a:p>
          <a:p>
            <a:pPr marL="12700" algn="l" rtl="0" eaLnBrk="0">
              <a:lnSpc>
                <a:spcPts val="2340"/>
              </a:lnSpc>
              <a:spcBef>
                <a:spcPts val="360"/>
              </a:spcBef>
            </a:pPr>
            <a:r>
              <a:rPr sz="2700" spc="20" baseline="-400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</a:t>
            </a:r>
            <a:r>
              <a:rPr sz="1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</a:t>
            </a:r>
            <a:r>
              <a:rPr sz="17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700" spc="0" baseline="1100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</a:t>
            </a:r>
            <a:endParaRPr lang="en-US" altLang="en-US" sz="1755" dirty="0"/>
          </a:p>
        </p:txBody>
      </p:sp>
      <p:sp>
        <p:nvSpPr>
          <p:cNvPr id="146" name="textbox 146"/>
          <p:cNvSpPr/>
          <p:nvPr/>
        </p:nvSpPr>
        <p:spPr>
          <a:xfrm>
            <a:off x="3827805" y="2246731"/>
            <a:ext cx="2180589" cy="8178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0000"/>
              </a:lnSpc>
            </a:pPr>
            <a:r>
              <a:rPr sz="1800" b="1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altLang="en-US" sz="1800" dirty="0"/>
          </a:p>
          <a:p>
            <a:pPr algn="r" rtl="0" eaLnBrk="0">
              <a:lnSpc>
                <a:spcPct val="91000"/>
              </a:lnSpc>
              <a:spcBef>
                <a:spcPts val="1045"/>
              </a:spcBef>
            </a:pPr>
            <a:r>
              <a:rPr sz="1700" spc="9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</a:t>
            </a:r>
            <a:r>
              <a:rPr sz="1700" spc="7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态</a:t>
            </a:r>
            <a:endParaRPr lang="en-US" altLang="en-US" sz="1700" dirty="0"/>
          </a:p>
          <a:p>
            <a:pPr marL="1330960" algn="l" rtl="0" eaLnBrk="0">
              <a:lnSpc>
                <a:spcPct val="78000"/>
              </a:lnSpc>
              <a:spcBef>
                <a:spcPts val="20"/>
              </a:spcBef>
            </a:pPr>
            <a:r>
              <a:rPr sz="1700" b="1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endParaRPr lang="en-US" altLang="en-US" sz="1700" dirty="0"/>
          </a:p>
        </p:txBody>
      </p:sp>
      <p:grpSp>
        <p:nvGrpSpPr>
          <p:cNvPr id="28" name="group 28"/>
          <p:cNvGrpSpPr/>
          <p:nvPr/>
        </p:nvGrpSpPr>
        <p:grpSpPr>
          <a:xfrm rot="21600000">
            <a:off x="5910220" y="1546651"/>
            <a:ext cx="1648254" cy="962511"/>
            <a:chOff x="0" y="0"/>
            <a:chExt cx="1648254" cy="962511"/>
          </a:xfrm>
        </p:grpSpPr>
        <p:sp>
          <p:nvSpPr>
            <p:cNvPr id="147" name="path"/>
            <p:cNvSpPr/>
            <p:nvPr/>
          </p:nvSpPr>
          <p:spPr>
            <a:xfrm>
              <a:off x="0" y="0"/>
              <a:ext cx="1648254" cy="962511"/>
            </a:xfrm>
            <a:custGeom>
              <a:avLst/>
              <a:gdLst/>
              <a:ahLst/>
              <a:cxnLst/>
              <a:rect l="0" t="0" r="0" b="0"/>
              <a:pathLst>
                <a:path w="2595" h="1515">
                  <a:moveTo>
                    <a:pt x="243" y="502"/>
                  </a:moveTo>
                  <a:cubicBezTo>
                    <a:pt x="214" y="328"/>
                    <a:pt x="368" y="168"/>
                    <a:pt x="588" y="144"/>
                  </a:cubicBezTo>
                  <a:cubicBezTo>
                    <a:pt x="677" y="134"/>
                    <a:pt x="768" y="149"/>
                    <a:pt x="845" y="185"/>
                  </a:cubicBezTo>
                  <a:cubicBezTo>
                    <a:pt x="928" y="62"/>
                    <a:pt x="1120" y="15"/>
                    <a:pt x="1275" y="81"/>
                  </a:cubicBezTo>
                  <a:cubicBezTo>
                    <a:pt x="1302" y="92"/>
                    <a:pt x="1327" y="106"/>
                    <a:pt x="1349" y="123"/>
                  </a:cubicBezTo>
                  <a:cubicBezTo>
                    <a:pt x="1413" y="22"/>
                    <a:pt x="1569" y="-19"/>
                    <a:pt x="1697" y="31"/>
                  </a:cubicBezTo>
                  <a:cubicBezTo>
                    <a:pt x="1733" y="45"/>
                    <a:pt x="1764" y="65"/>
                    <a:pt x="1788" y="90"/>
                  </a:cubicBezTo>
                  <a:cubicBezTo>
                    <a:pt x="1891" y="-5"/>
                    <a:pt x="2074" y="-17"/>
                    <a:pt x="2196" y="64"/>
                  </a:cubicBezTo>
                  <a:cubicBezTo>
                    <a:pt x="2247" y="98"/>
                    <a:pt x="2281" y="145"/>
                    <a:pt x="2293" y="198"/>
                  </a:cubicBezTo>
                  <a:cubicBezTo>
                    <a:pt x="2463" y="234"/>
                    <a:pt x="2562" y="372"/>
                    <a:pt x="2516" y="507"/>
                  </a:cubicBezTo>
                  <a:cubicBezTo>
                    <a:pt x="2512" y="518"/>
                    <a:pt x="2508" y="529"/>
                    <a:pt x="2502" y="540"/>
                  </a:cubicBezTo>
                  <a:cubicBezTo>
                    <a:pt x="2637" y="679"/>
                    <a:pt x="2604" y="880"/>
                    <a:pt x="2427" y="987"/>
                  </a:cubicBezTo>
                  <a:cubicBezTo>
                    <a:pt x="2372" y="1021"/>
                    <a:pt x="2308" y="1042"/>
                    <a:pt x="2239" y="1050"/>
                  </a:cubicBezTo>
                  <a:cubicBezTo>
                    <a:pt x="2237" y="1200"/>
                    <a:pt x="2082" y="1321"/>
                    <a:pt x="1892" y="1320"/>
                  </a:cubicBezTo>
                  <a:cubicBezTo>
                    <a:pt x="1828" y="1320"/>
                    <a:pt x="1766" y="1305"/>
                    <a:pt x="1712" y="1279"/>
                  </a:cubicBezTo>
                  <a:cubicBezTo>
                    <a:pt x="1648" y="1447"/>
                    <a:pt x="1423" y="1543"/>
                    <a:pt x="1210" y="1492"/>
                  </a:cubicBezTo>
                  <a:cubicBezTo>
                    <a:pt x="1121" y="1470"/>
                    <a:pt x="1044" y="1425"/>
                    <a:pt x="993" y="1364"/>
                  </a:cubicBezTo>
                  <a:cubicBezTo>
                    <a:pt x="775" y="1467"/>
                    <a:pt x="493" y="1412"/>
                    <a:pt x="362" y="1239"/>
                  </a:cubicBezTo>
                  <a:cubicBezTo>
                    <a:pt x="360" y="1237"/>
                    <a:pt x="359" y="1234"/>
                    <a:pt x="357" y="1232"/>
                  </a:cubicBezTo>
                  <a:cubicBezTo>
                    <a:pt x="214" y="1245"/>
                    <a:pt x="85" y="1165"/>
                    <a:pt x="69" y="1053"/>
                  </a:cubicBezTo>
                  <a:cubicBezTo>
                    <a:pt x="60" y="993"/>
                    <a:pt x="85" y="933"/>
                    <a:pt x="137" y="889"/>
                  </a:cubicBezTo>
                  <a:cubicBezTo>
                    <a:pt x="14" y="831"/>
                    <a:pt x="-27" y="705"/>
                    <a:pt x="45" y="607"/>
                  </a:cubicBezTo>
                  <a:cubicBezTo>
                    <a:pt x="86" y="551"/>
                    <a:pt x="159" y="513"/>
                    <a:pt x="241" y="507"/>
                  </a:cubicBezTo>
                  <a:lnTo>
                    <a:pt x="243" y="502"/>
                  </a:lnTo>
                  <a:close/>
                </a:path>
              </a:pathLst>
            </a:custGeom>
            <a:solidFill>
              <a:srgbClr val="1A8FC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8" name="textbox 148"/>
            <p:cNvSpPr/>
            <p:nvPr/>
          </p:nvSpPr>
          <p:spPr>
            <a:xfrm>
              <a:off x="-12700" y="-12700"/>
              <a:ext cx="1673860" cy="98806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lang="en-US" altLang="en-US" sz="1000" dirty="0"/>
            </a:p>
            <a:p>
              <a:pPr marL="637540" algn="l" rtl="0" eaLnBrk="0">
                <a:lnSpc>
                  <a:spcPct val="94000"/>
                </a:lnSpc>
                <a:spcBef>
                  <a:spcPts val="0"/>
                </a:spcBef>
              </a:pPr>
              <a:r>
                <a:rPr sz="150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利</a:t>
              </a:r>
              <a:r>
                <a:rPr sz="150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润</a:t>
              </a:r>
              <a:endParaRPr lang="en-US" altLang="en-US" sz="1500" dirty="0"/>
            </a:p>
            <a:p>
              <a:pPr marL="641985" algn="l" rtl="0" eaLnBrk="0">
                <a:lnSpc>
                  <a:spcPts val="1920"/>
                </a:lnSpc>
              </a:pPr>
              <a:r>
                <a:rPr sz="150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收</a:t>
              </a:r>
              <a:r>
                <a:rPr sz="150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入</a:t>
              </a:r>
              <a:endParaRPr lang="en-US" altLang="en-US" sz="1500" dirty="0"/>
            </a:p>
            <a:p>
              <a:pPr marL="650240" algn="l" rtl="0" eaLnBrk="0">
                <a:lnSpc>
                  <a:spcPts val="1920"/>
                </a:lnSpc>
              </a:pPr>
              <a:r>
                <a:rPr sz="150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回</a:t>
              </a:r>
              <a:r>
                <a:rPr sz="150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款</a:t>
              </a:r>
              <a:endParaRPr lang="en-US" altLang="en-US" sz="1500" dirty="0"/>
            </a:p>
          </p:txBody>
        </p:sp>
      </p:grpSp>
      <p:sp>
        <p:nvSpPr>
          <p:cNvPr id="149" name="textbox 149"/>
          <p:cNvSpPr/>
          <p:nvPr/>
        </p:nvSpPr>
        <p:spPr>
          <a:xfrm>
            <a:off x="586035" y="269576"/>
            <a:ext cx="4163059" cy="439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55"/>
              </a:lnSpc>
            </a:pP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sz="2700" spc="9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需要跨部门的作战协</a:t>
            </a:r>
            <a:r>
              <a:rPr sz="2700" spc="2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2700" dirty="0"/>
          </a:p>
        </p:txBody>
      </p:sp>
      <p:sp>
        <p:nvSpPr>
          <p:cNvPr id="150" name="textbox 150"/>
          <p:cNvSpPr/>
          <p:nvPr/>
        </p:nvSpPr>
        <p:spPr>
          <a:xfrm>
            <a:off x="1929917" y="2345232"/>
            <a:ext cx="936625" cy="7226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18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en-US" altLang="en-US" sz="1800" dirty="0"/>
          </a:p>
          <a:p>
            <a:pPr algn="l" rtl="0" eaLnBrk="0">
              <a:lnSpc>
                <a:spcPct val="107000"/>
              </a:lnSpc>
            </a:pPr>
            <a:endParaRPr lang="en-US" altLang="en-US" sz="1300" dirty="0"/>
          </a:p>
          <a:p>
            <a:pPr marL="610870" algn="l" rtl="0" eaLnBrk="0">
              <a:lnSpc>
                <a:spcPct val="80000"/>
              </a:lnSpc>
            </a:pPr>
            <a:r>
              <a:rPr sz="1800" b="1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en-US" altLang="en-US" sz="1800" dirty="0"/>
          </a:p>
        </p:txBody>
      </p:sp>
      <p:sp>
        <p:nvSpPr>
          <p:cNvPr id="151" name="textbox 151"/>
          <p:cNvSpPr/>
          <p:nvPr/>
        </p:nvSpPr>
        <p:spPr>
          <a:xfrm>
            <a:off x="5539435" y="3997883"/>
            <a:ext cx="1223644" cy="5130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299720" algn="l" rtl="0" eaLnBrk="0">
              <a:lnSpc>
                <a:spcPct val="97000"/>
              </a:lnSpc>
            </a:pPr>
            <a:r>
              <a:rPr sz="18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技术服</a:t>
            </a:r>
            <a:r>
              <a:rPr sz="18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</a:t>
            </a:r>
            <a:endParaRPr lang="en-US" altLang="en-US" sz="1800" dirty="0"/>
          </a:p>
          <a:p>
            <a:pPr marL="12700" algn="l" rtl="0" eaLnBrk="0">
              <a:lnSpc>
                <a:spcPct val="80000"/>
              </a:lnSpc>
              <a:spcBef>
                <a:spcPts val="15"/>
              </a:spcBef>
            </a:pPr>
            <a:r>
              <a:rPr sz="1800" b="1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lang="en-US" altLang="en-US" sz="1800" dirty="0"/>
          </a:p>
        </p:txBody>
      </p:sp>
      <p:sp>
        <p:nvSpPr>
          <p:cNvPr id="152" name="textbox 152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54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5" name="textbox 155"/>
          <p:cNvSpPr/>
          <p:nvPr/>
        </p:nvSpPr>
        <p:spPr>
          <a:xfrm>
            <a:off x="6452869" y="1283893"/>
            <a:ext cx="480694" cy="2946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800" spc="-1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盈</a:t>
            </a:r>
            <a:r>
              <a:rPr sz="1800" spc="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</a:t>
            </a:r>
            <a:endParaRPr lang="en-US" altLang="en-US" sz="1800" dirty="0"/>
          </a:p>
        </p:txBody>
      </p:sp>
      <p:sp>
        <p:nvSpPr>
          <p:cNvPr id="156" name="textbox 156"/>
          <p:cNvSpPr/>
          <p:nvPr/>
        </p:nvSpPr>
        <p:spPr>
          <a:xfrm>
            <a:off x="1179677" y="1222298"/>
            <a:ext cx="480059" cy="2921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0" dirty="0">
                <a:ln w="3175" cap="flat" cmpd="sng">
                  <a:solidFill>
                    <a:srgbClr val="C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赢单</a:t>
            </a:r>
            <a:endParaRPr lang="en-US" altLang="en-US" sz="1800" dirty="0"/>
          </a:p>
        </p:txBody>
      </p:sp>
      <p:sp>
        <p:nvSpPr>
          <p:cNvPr id="157" name="textbox 157"/>
          <p:cNvSpPr/>
          <p:nvPr/>
        </p:nvSpPr>
        <p:spPr>
          <a:xfrm>
            <a:off x="1522602" y="3997883"/>
            <a:ext cx="479425" cy="2952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8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财经</a:t>
            </a:r>
            <a:endParaRPr lang="en-US" altLang="en-US" sz="1800" dirty="0"/>
          </a:p>
        </p:txBody>
      </p:sp>
      <p:sp>
        <p:nvSpPr>
          <p:cNvPr id="158" name="textbox 158"/>
          <p:cNvSpPr/>
          <p:nvPr/>
        </p:nvSpPr>
        <p:spPr>
          <a:xfrm>
            <a:off x="3649674" y="1741093"/>
            <a:ext cx="478155" cy="2940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8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</a:t>
            </a:r>
            <a:endParaRPr lang="en-US" altLang="en-US" sz="1800" dirty="0"/>
          </a:p>
        </p:txBody>
      </p:sp>
      <p:sp>
        <p:nvSpPr>
          <p:cNvPr id="159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0" name="textbox 160"/>
          <p:cNvSpPr/>
          <p:nvPr/>
        </p:nvSpPr>
        <p:spPr>
          <a:xfrm>
            <a:off x="3676472" y="3880815"/>
            <a:ext cx="436244" cy="2470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1000"/>
              </a:lnSpc>
            </a:pPr>
            <a:r>
              <a:rPr sz="1800" b="1" spc="-7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LT</a:t>
            </a:r>
            <a:r>
              <a:rPr sz="1800" b="1" spc="-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endParaRPr lang="en-US" altLang="en-US" sz="1800" dirty="0"/>
          </a:p>
        </p:txBody>
      </p:sp>
      <p:sp>
        <p:nvSpPr>
          <p:cNvPr id="161" name="path"/>
          <p:cNvSpPr/>
          <p:nvPr/>
        </p:nvSpPr>
        <p:spPr>
          <a:xfrm>
            <a:off x="1474850" y="2578861"/>
            <a:ext cx="158241" cy="158242"/>
          </a:xfrm>
          <a:custGeom>
            <a:avLst/>
            <a:gdLst/>
            <a:ahLst/>
            <a:cxnLst/>
            <a:rect l="0" t="0" r="0" b="0"/>
            <a:pathLst>
              <a:path w="249" h="249">
                <a:moveTo>
                  <a:pt x="249" y="124"/>
                </a:moveTo>
                <a:cubicBezTo>
                  <a:pt x="249" y="193"/>
                  <a:pt x="193" y="249"/>
                  <a:pt x="124" y="249"/>
                </a:cubicBezTo>
                <a:cubicBezTo>
                  <a:pt x="55" y="249"/>
                  <a:pt x="0" y="193"/>
                  <a:pt x="0" y="124"/>
                </a:cubicBezTo>
                <a:cubicBezTo>
                  <a:pt x="0" y="55"/>
                  <a:pt x="55" y="0"/>
                  <a:pt x="124" y="0"/>
                </a:cubicBezTo>
                <a:cubicBezTo>
                  <a:pt x="193" y="0"/>
                  <a:pt x="249" y="55"/>
                  <a:pt x="249" y="124"/>
                </a:cubicBezTo>
              </a:path>
            </a:pathLst>
          </a:custGeom>
          <a:solidFill>
            <a:srgbClr val="1A8FC8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" name="textbox 162"/>
          <p:cNvSpPr/>
          <p:nvPr/>
        </p:nvSpPr>
        <p:spPr>
          <a:xfrm>
            <a:off x="2196019" y="4184151"/>
            <a:ext cx="144145" cy="2451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0000"/>
              </a:lnSpc>
            </a:pPr>
            <a:r>
              <a:rPr sz="1800" b="1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picture 1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2188" y="2388108"/>
            <a:ext cx="4965191" cy="3400044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 rot="21600000">
            <a:off x="483108" y="1243584"/>
            <a:ext cx="11241023" cy="615696"/>
            <a:chOff x="0" y="0"/>
            <a:chExt cx="11241023" cy="615696"/>
          </a:xfrm>
        </p:grpSpPr>
        <p:pic>
          <p:nvPicPr>
            <p:cNvPr id="164" name="picture 16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1241023" cy="615696"/>
            </a:xfrm>
            <a:prstGeom prst="rect">
              <a:avLst/>
            </a:prstGeom>
          </p:spPr>
        </p:pic>
        <p:sp>
          <p:nvSpPr>
            <p:cNvPr id="165" name="textbox 165"/>
            <p:cNvSpPr/>
            <p:nvPr/>
          </p:nvSpPr>
          <p:spPr>
            <a:xfrm>
              <a:off x="8450250" y="192074"/>
              <a:ext cx="1393189" cy="29273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97000"/>
                </a:lnSpc>
              </a:pPr>
              <a:r>
                <a:rPr sz="1800" spc="-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管理合</a:t>
              </a:r>
              <a:r>
                <a:rPr sz="18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同执行</a:t>
              </a:r>
              <a:endParaRPr lang="en-US" altLang="en-US" sz="1800" dirty="0"/>
            </a:p>
          </p:txBody>
        </p:sp>
      </p:grpSp>
      <p:sp>
        <p:nvSpPr>
          <p:cNvPr id="166" name="textbox 166"/>
          <p:cNvSpPr/>
          <p:nvPr/>
        </p:nvSpPr>
        <p:spPr>
          <a:xfrm>
            <a:off x="6769277" y="3036246"/>
            <a:ext cx="3500754" cy="17564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概算：要花多少钱、要赚多少钱</a:t>
            </a:r>
            <a:endParaRPr lang="en-US" altLang="en-US" sz="18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545"/>
              </a:spcBef>
            </a:pPr>
            <a:r>
              <a:rPr sz="18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预算：能花多少钱、能赚多少钱</a:t>
            </a:r>
            <a:endParaRPr lang="en-US" altLang="en-US" sz="18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545"/>
              </a:spcBef>
            </a:pPr>
            <a:r>
              <a:rPr sz="18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核算：已花多少钱、已赚多少钱</a:t>
            </a:r>
            <a:endParaRPr lang="en-US" altLang="en-US" sz="18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400" dirty="0"/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18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决算：共花多少钱、共赚多少钱</a:t>
            </a:r>
            <a:endParaRPr lang="en-US" altLang="en-US" sz="1800" dirty="0"/>
          </a:p>
        </p:txBody>
      </p:sp>
      <p:sp>
        <p:nvSpPr>
          <p:cNvPr id="167" name="textbox 167"/>
          <p:cNvSpPr/>
          <p:nvPr/>
        </p:nvSpPr>
        <p:spPr>
          <a:xfrm>
            <a:off x="6134100" y="4965191"/>
            <a:ext cx="5207634" cy="944244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</a:pPr>
            <a:endParaRPr lang="en-US" altLang="en-US" sz="100" dirty="0"/>
          </a:p>
          <a:p>
            <a:pPr marL="95885" indent="-1270" algn="l" rtl="0" eaLnBrk="0">
              <a:lnSpc>
                <a:spcPct val="151000"/>
              </a:lnSpc>
              <a:spcBef>
                <a:spcPts val="0"/>
              </a:spcBef>
            </a:pP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经营围绕这四算，搞清楚各个阶段我们花的    </a:t>
            </a:r>
            <a:r>
              <a:rPr sz="1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钱和赚的钱，项目经营就明明白白、简</a:t>
            </a: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单单。</a:t>
            </a:r>
            <a:endParaRPr lang="en-US" altLang="en-US" sz="1800" dirty="0"/>
          </a:p>
        </p:txBody>
      </p:sp>
      <p:sp>
        <p:nvSpPr>
          <p:cNvPr id="168" name="textbox 168"/>
          <p:cNvSpPr/>
          <p:nvPr/>
        </p:nvSpPr>
        <p:spPr>
          <a:xfrm>
            <a:off x="559403" y="269576"/>
            <a:ext cx="7835900" cy="4368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0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基于项目的财务四算是价值创造和评价的统一</a:t>
            </a:r>
            <a:r>
              <a:rPr sz="2700" spc="9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言</a:t>
            </a:r>
            <a:endParaRPr lang="en-US" altLang="en-US" sz="2700" dirty="0"/>
          </a:p>
        </p:txBody>
      </p:sp>
      <p:sp>
        <p:nvSpPr>
          <p:cNvPr id="169" name="textbox 169"/>
          <p:cNvSpPr/>
          <p:nvPr/>
        </p:nvSpPr>
        <p:spPr>
          <a:xfrm>
            <a:off x="7862316" y="2026920"/>
            <a:ext cx="905510" cy="511809"/>
          </a:xfrm>
          <a:prstGeom prst="rect">
            <a:avLst/>
          </a:prstGeom>
          <a:solidFill>
            <a:srgbClr val="00B05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en-US" altLang="en-US" sz="900" dirty="0"/>
          </a:p>
          <a:p>
            <a:pPr marL="227965" algn="l" rtl="0" eaLnBrk="0">
              <a:lnSpc>
                <a:spcPct val="98000"/>
              </a:lnSpc>
              <a:spcBef>
                <a:spcPts val="5"/>
              </a:spcBef>
            </a:pPr>
            <a:r>
              <a:rPr sz="1800" spc="-10" dirty="0">
                <a:ln w="652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预算</a:t>
            </a:r>
            <a:endParaRPr lang="en-US" altLang="en-US" sz="1800" dirty="0"/>
          </a:p>
        </p:txBody>
      </p:sp>
      <p:sp>
        <p:nvSpPr>
          <p:cNvPr id="170" name="textbox 170"/>
          <p:cNvSpPr/>
          <p:nvPr/>
        </p:nvSpPr>
        <p:spPr>
          <a:xfrm>
            <a:off x="6478523" y="2026920"/>
            <a:ext cx="904239" cy="511809"/>
          </a:xfrm>
          <a:prstGeom prst="rect">
            <a:avLst/>
          </a:prstGeom>
          <a:solidFill>
            <a:srgbClr val="00B05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en-US" altLang="en-US" sz="900" dirty="0"/>
          </a:p>
          <a:p>
            <a:pPr marL="226695" algn="l" rtl="0" eaLnBrk="0">
              <a:lnSpc>
                <a:spcPct val="98000"/>
              </a:lnSpc>
              <a:spcBef>
                <a:spcPts val="5"/>
              </a:spcBef>
            </a:pPr>
            <a:r>
              <a:rPr sz="1800" spc="-10" dirty="0">
                <a:ln w="652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概算</a:t>
            </a:r>
            <a:endParaRPr lang="en-US" altLang="en-US" sz="1800" dirty="0"/>
          </a:p>
        </p:txBody>
      </p:sp>
      <p:sp>
        <p:nvSpPr>
          <p:cNvPr id="171" name="textbox 171"/>
          <p:cNvSpPr/>
          <p:nvPr/>
        </p:nvSpPr>
        <p:spPr>
          <a:xfrm>
            <a:off x="9247631" y="2026920"/>
            <a:ext cx="904239" cy="511809"/>
          </a:xfrm>
          <a:prstGeom prst="rect">
            <a:avLst/>
          </a:prstGeom>
          <a:solidFill>
            <a:srgbClr val="00B05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en-US" altLang="en-US" sz="900" dirty="0"/>
          </a:p>
          <a:p>
            <a:pPr marL="226695" algn="l" rtl="0" eaLnBrk="0">
              <a:lnSpc>
                <a:spcPct val="98000"/>
              </a:lnSpc>
              <a:spcBef>
                <a:spcPts val="5"/>
              </a:spcBef>
            </a:pPr>
            <a:r>
              <a:rPr sz="1800" spc="-10" dirty="0">
                <a:ln w="652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核算</a:t>
            </a:r>
            <a:endParaRPr lang="en-US" altLang="en-US" sz="1800" dirty="0"/>
          </a:p>
        </p:txBody>
      </p:sp>
      <p:sp>
        <p:nvSpPr>
          <p:cNvPr id="172" name="textbox 172"/>
          <p:cNvSpPr/>
          <p:nvPr/>
        </p:nvSpPr>
        <p:spPr>
          <a:xfrm>
            <a:off x="10631423" y="2026920"/>
            <a:ext cx="904239" cy="511809"/>
          </a:xfrm>
          <a:prstGeom prst="rect">
            <a:avLst/>
          </a:prstGeom>
          <a:solidFill>
            <a:srgbClr val="00B05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en-US" altLang="en-US" sz="900" dirty="0"/>
          </a:p>
          <a:p>
            <a:pPr marL="229235" algn="l" rtl="0" eaLnBrk="0">
              <a:lnSpc>
                <a:spcPct val="98000"/>
              </a:lnSpc>
              <a:spcBef>
                <a:spcPts val="5"/>
              </a:spcBef>
            </a:pPr>
            <a:r>
              <a:rPr sz="1800" spc="-20" dirty="0">
                <a:ln w="652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决</a:t>
            </a:r>
            <a:r>
              <a:rPr sz="1800" spc="-10" dirty="0">
                <a:ln w="652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算</a:t>
            </a:r>
            <a:endParaRPr lang="en-US" altLang="en-US" sz="1800" dirty="0"/>
          </a:p>
        </p:txBody>
      </p:sp>
      <p:sp>
        <p:nvSpPr>
          <p:cNvPr id="173" name="textbox 173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75" name="textbox 175"/>
          <p:cNvSpPr/>
          <p:nvPr/>
        </p:nvSpPr>
        <p:spPr>
          <a:xfrm>
            <a:off x="4941366" y="1435658"/>
            <a:ext cx="1164589" cy="2914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管理机</a:t>
            </a:r>
            <a:r>
              <a:rPr sz="18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会点</a:t>
            </a:r>
            <a:endParaRPr lang="en-US" altLang="en-US" sz="1800" dirty="0"/>
          </a:p>
        </p:txBody>
      </p:sp>
      <p:sp>
        <p:nvSpPr>
          <p:cNvPr id="176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7" name="textbox 177"/>
          <p:cNvSpPr/>
          <p:nvPr/>
        </p:nvSpPr>
        <p:spPr>
          <a:xfrm>
            <a:off x="1495856" y="1435658"/>
            <a:ext cx="935989" cy="2946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8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管理线</a:t>
            </a:r>
            <a:r>
              <a:rPr sz="18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</a:t>
            </a:r>
            <a:endParaRPr lang="en-US" altLang="en-US" sz="1800" dirty="0"/>
          </a:p>
        </p:txBody>
      </p:sp>
      <p:sp>
        <p:nvSpPr>
          <p:cNvPr id="178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9" name="path"/>
          <p:cNvSpPr/>
          <p:nvPr/>
        </p:nvSpPr>
        <p:spPr>
          <a:xfrm>
            <a:off x="7452359" y="2151888"/>
            <a:ext cx="294131" cy="236220"/>
          </a:xfrm>
          <a:custGeom>
            <a:avLst/>
            <a:gdLst/>
            <a:ahLst/>
            <a:cxnLst/>
            <a:rect l="0" t="0" r="0" b="0"/>
            <a:pathLst>
              <a:path w="463" h="372">
                <a:moveTo>
                  <a:pt x="0" y="92"/>
                </a:moveTo>
                <a:lnTo>
                  <a:pt x="292" y="92"/>
                </a:lnTo>
                <a:lnTo>
                  <a:pt x="292" y="0"/>
                </a:lnTo>
                <a:lnTo>
                  <a:pt x="463" y="185"/>
                </a:lnTo>
                <a:lnTo>
                  <a:pt x="292" y="372"/>
                </a:lnTo>
                <a:lnTo>
                  <a:pt x="292" y="278"/>
                </a:lnTo>
                <a:lnTo>
                  <a:pt x="0" y="278"/>
                </a:lnTo>
                <a:lnTo>
                  <a:pt x="0" y="92"/>
                </a:lnTo>
                <a:close/>
              </a:path>
            </a:pathLst>
          </a:cu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0" name="path"/>
          <p:cNvSpPr/>
          <p:nvPr/>
        </p:nvSpPr>
        <p:spPr>
          <a:xfrm>
            <a:off x="8849867" y="2151888"/>
            <a:ext cx="294131" cy="236220"/>
          </a:xfrm>
          <a:custGeom>
            <a:avLst/>
            <a:gdLst/>
            <a:ahLst/>
            <a:cxnLst/>
            <a:rect l="0" t="0" r="0" b="0"/>
            <a:pathLst>
              <a:path w="463" h="372">
                <a:moveTo>
                  <a:pt x="0" y="92"/>
                </a:moveTo>
                <a:lnTo>
                  <a:pt x="292" y="92"/>
                </a:lnTo>
                <a:lnTo>
                  <a:pt x="292" y="0"/>
                </a:lnTo>
                <a:lnTo>
                  <a:pt x="463" y="185"/>
                </a:lnTo>
                <a:lnTo>
                  <a:pt x="292" y="372"/>
                </a:lnTo>
                <a:lnTo>
                  <a:pt x="292" y="278"/>
                </a:lnTo>
                <a:lnTo>
                  <a:pt x="0" y="278"/>
                </a:lnTo>
                <a:lnTo>
                  <a:pt x="0" y="92"/>
                </a:lnTo>
                <a:close/>
              </a:path>
            </a:pathLst>
          </a:cu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1" name="path"/>
          <p:cNvSpPr/>
          <p:nvPr/>
        </p:nvSpPr>
        <p:spPr>
          <a:xfrm>
            <a:off x="10244327" y="2151888"/>
            <a:ext cx="294131" cy="236220"/>
          </a:xfrm>
          <a:custGeom>
            <a:avLst/>
            <a:gdLst/>
            <a:ahLst/>
            <a:cxnLst/>
            <a:rect l="0" t="0" r="0" b="0"/>
            <a:pathLst>
              <a:path w="463" h="372">
                <a:moveTo>
                  <a:pt x="0" y="92"/>
                </a:moveTo>
                <a:lnTo>
                  <a:pt x="292" y="92"/>
                </a:lnTo>
                <a:lnTo>
                  <a:pt x="292" y="0"/>
                </a:lnTo>
                <a:lnTo>
                  <a:pt x="463" y="185"/>
                </a:lnTo>
                <a:lnTo>
                  <a:pt x="292" y="372"/>
                </a:lnTo>
                <a:lnTo>
                  <a:pt x="292" y="278"/>
                </a:lnTo>
                <a:lnTo>
                  <a:pt x="0" y="278"/>
                </a:lnTo>
                <a:lnTo>
                  <a:pt x="0" y="92"/>
                </a:lnTo>
                <a:close/>
              </a:path>
            </a:pathLst>
          </a:cu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2" name="path"/>
          <p:cNvSpPr/>
          <p:nvPr/>
        </p:nvSpPr>
        <p:spPr>
          <a:xfrm>
            <a:off x="7778686" y="1994154"/>
            <a:ext cx="28575" cy="535304"/>
          </a:xfrm>
          <a:custGeom>
            <a:avLst/>
            <a:gdLst/>
            <a:ahLst/>
            <a:cxnLst/>
            <a:rect l="0" t="0" r="0" b="0"/>
            <a:pathLst>
              <a:path w="45" h="842">
                <a:moveTo>
                  <a:pt x="22" y="0"/>
                </a:moveTo>
                <a:lnTo>
                  <a:pt x="22" y="842"/>
                </a:lnTo>
              </a:path>
            </a:pathLst>
          </a:custGeom>
          <a:noFill/>
          <a:ln w="28575" cap="flat">
            <a:solidFill>
              <a:srgbClr val="FF0000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183"/>
          <p:cNvSpPr/>
          <p:nvPr/>
        </p:nvSpPr>
        <p:spPr>
          <a:xfrm>
            <a:off x="8513753" y="1878006"/>
            <a:ext cx="3346450" cy="4019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铁三角高效运作的关键</a:t>
            </a:r>
            <a:r>
              <a:rPr sz="18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1800" dirty="0"/>
          </a:p>
          <a:p>
            <a:pPr marL="15875" algn="l" rtl="0" eaLnBrk="0">
              <a:lnSpc>
                <a:spcPts val="1875"/>
              </a:lnSpc>
              <a:spcBef>
                <a:spcPts val="845"/>
              </a:spcBef>
            </a:pPr>
            <a:r>
              <a:rPr sz="1500" spc="170" dirty="0">
                <a:ln w="3175" cap="flat" cmpd="sng">
                  <a:solidFill>
                    <a:srgbClr val="CC866C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C866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一、共同</a:t>
            </a:r>
            <a:r>
              <a:rPr sz="1500" spc="130" dirty="0">
                <a:ln w="3175" cap="flat" cmpd="sng">
                  <a:solidFill>
                    <a:srgbClr val="CC866C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C866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500" spc="0" dirty="0">
                <a:ln w="3175" cap="flat" cmpd="sng">
                  <a:solidFill>
                    <a:srgbClr val="CC866C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C866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</a:t>
            </a:r>
            <a:endParaRPr lang="en-US" altLang="en-US" sz="1500" dirty="0"/>
          </a:p>
          <a:p>
            <a:pPr marL="18415" algn="l" rtl="0" eaLnBrk="0">
              <a:lnSpc>
                <a:spcPts val="1500"/>
              </a:lnSpc>
              <a:spcBef>
                <a:spcPts val="780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实现铁三角在端到端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流程中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协助</a:t>
            </a:r>
            <a:endParaRPr lang="en-US" altLang="en-US" sz="1200" dirty="0"/>
          </a:p>
          <a:p>
            <a:pPr marL="15875" algn="l" rtl="0" eaLnBrk="0">
              <a:lnSpc>
                <a:spcPts val="1855"/>
              </a:lnSpc>
              <a:spcBef>
                <a:spcPts val="870"/>
              </a:spcBef>
            </a:pPr>
            <a:r>
              <a:rPr sz="1500" spc="100" dirty="0">
                <a:ln w="3175" cap="flat" cmpd="sng">
                  <a:solidFill>
                    <a:srgbClr val="CC866C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C866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二、能力培育和管</a:t>
            </a:r>
            <a:r>
              <a:rPr sz="1500" spc="10" dirty="0">
                <a:ln w="3175" cap="flat" cmpd="sng">
                  <a:solidFill>
                    <a:srgbClr val="CC866C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C866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endParaRPr lang="en-US" altLang="en-US" sz="1500" dirty="0"/>
          </a:p>
          <a:p>
            <a:pPr marL="18415" algn="l" rtl="0" eaLnBrk="0">
              <a:lnSpc>
                <a:spcPts val="1500"/>
              </a:lnSpc>
              <a:spcBef>
                <a:spcPts val="800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铁三角的归属、招聘、培养、认证</a:t>
            </a:r>
            <a:r>
              <a:rPr sz="12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en-US" altLang="en-US" sz="1200" dirty="0"/>
          </a:p>
          <a:p>
            <a:pPr marL="18415" algn="l" rtl="0" eaLnBrk="0">
              <a:lnSpc>
                <a:spcPts val="1495"/>
              </a:lnSpc>
              <a:spcBef>
                <a:spcPts val="820"/>
              </a:spcBef>
            </a:pP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资源分配：能力等级和项目需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endParaRPr lang="en-US" altLang="en-US" sz="1200" dirty="0"/>
          </a:p>
          <a:p>
            <a:pPr marL="18415" algn="l" rtl="0" eaLnBrk="0">
              <a:lnSpc>
                <a:spcPts val="1495"/>
              </a:lnSpc>
              <a:spcBef>
                <a:spcPts val="820"/>
              </a:spcBef>
            </a:pP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铁三角绩效评价：项目绩效结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</a:t>
            </a:r>
            <a:endParaRPr lang="en-US" altLang="en-US" sz="1200" dirty="0"/>
          </a:p>
          <a:p>
            <a:pPr marL="15875" algn="l" rtl="0" eaLnBrk="0">
              <a:lnSpc>
                <a:spcPts val="1855"/>
              </a:lnSpc>
              <a:spcBef>
                <a:spcPts val="875"/>
              </a:spcBef>
            </a:pPr>
            <a:r>
              <a:rPr sz="1500" spc="90" dirty="0">
                <a:ln w="3175" cap="flat" cmpd="sng">
                  <a:solidFill>
                    <a:srgbClr val="CC866C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C866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三、授权与决</a:t>
            </a:r>
            <a:r>
              <a:rPr sz="1500" spc="80" dirty="0">
                <a:ln w="3175" cap="flat" cmpd="sng">
                  <a:solidFill>
                    <a:srgbClr val="CC866C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C866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</a:t>
            </a:r>
            <a:endParaRPr lang="en-US" altLang="en-US" sz="1500" dirty="0"/>
          </a:p>
          <a:p>
            <a:pPr marL="18415" algn="l" rtl="0" eaLnBrk="0">
              <a:lnSpc>
                <a:spcPts val="1495"/>
              </a:lnSpc>
              <a:spcBef>
                <a:spcPts val="800"/>
              </a:spcBef>
            </a:pP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项目发起人对铁三角</a:t>
            </a: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</a:t>
            </a:r>
            <a:endParaRPr lang="en-US" altLang="en-US" sz="1200" dirty="0"/>
          </a:p>
          <a:p>
            <a:pPr marL="18415" algn="l" rtl="0" eaLnBrk="0">
              <a:lnSpc>
                <a:spcPts val="1495"/>
              </a:lnSpc>
              <a:spcBef>
                <a:spcPts val="825"/>
              </a:spcBef>
            </a:pP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项目发起人解决铁三角的内部冲</a:t>
            </a:r>
            <a:r>
              <a:rPr sz="12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</a:t>
            </a:r>
            <a:endParaRPr lang="en-US" altLang="en-US" sz="1200" dirty="0"/>
          </a:p>
          <a:p>
            <a:pPr marL="22225" algn="l" rtl="0" eaLnBrk="0">
              <a:lnSpc>
                <a:spcPts val="1850"/>
              </a:lnSpc>
              <a:spcBef>
                <a:spcPts val="875"/>
              </a:spcBef>
            </a:pPr>
            <a:r>
              <a:rPr sz="1500" spc="90" dirty="0">
                <a:ln w="3175" cap="flat" cmpd="sng">
                  <a:solidFill>
                    <a:srgbClr val="CC866C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C866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四、人力成本核算和使用效</a:t>
            </a:r>
            <a:r>
              <a:rPr sz="1500" spc="70" dirty="0">
                <a:ln w="3175" cap="flat" cmpd="sng">
                  <a:solidFill>
                    <a:srgbClr val="CC866C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CC866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率</a:t>
            </a:r>
            <a:endParaRPr lang="en-US" altLang="en-US" sz="1500" dirty="0"/>
          </a:p>
          <a:p>
            <a:pPr marL="18415" algn="l" rtl="0" eaLnBrk="0">
              <a:lnSpc>
                <a:spcPts val="1500"/>
              </a:lnSpc>
              <a:spcBef>
                <a:spcPts val="810"/>
              </a:spcBef>
            </a:pP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人力的使用率和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</a:t>
            </a:r>
            <a:endParaRPr lang="en-US" altLang="en-US" sz="1200" dirty="0"/>
          </a:p>
          <a:p>
            <a:pPr algn="l" rtl="0" eaLnBrk="0">
              <a:lnSpc>
                <a:spcPct val="113000"/>
              </a:lnSpc>
            </a:pPr>
            <a:endParaRPr lang="en-US" altLang="en-US" sz="600" dirty="0"/>
          </a:p>
          <a:p>
            <a:pPr marL="18415" algn="l" rtl="0" eaLnBrk="0">
              <a:lnSpc>
                <a:spcPts val="1495"/>
              </a:lnSpc>
              <a:spcBef>
                <a:spcPts val="5"/>
              </a:spcBef>
            </a:pP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人力成本核算：项目和项目所属的商</a:t>
            </a:r>
            <a:r>
              <a:rPr sz="12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</a:t>
            </a:r>
            <a:endParaRPr lang="en-US" altLang="en-US" sz="1200" dirty="0"/>
          </a:p>
        </p:txBody>
      </p:sp>
      <p:graphicFrame>
        <p:nvGraphicFramePr>
          <p:cNvPr id="184" name="table 184"/>
          <p:cNvGraphicFramePr>
            <a:graphicFrameLocks noGrp="1"/>
          </p:cNvGraphicFramePr>
          <p:nvPr/>
        </p:nvGraphicFramePr>
        <p:xfrm>
          <a:off x="391373" y="4971249"/>
          <a:ext cx="7974329" cy="1286510"/>
        </p:xfrm>
        <a:graphic>
          <a:graphicData uri="http://schemas.openxmlformats.org/drawingml/2006/table">
            <a:tbl>
              <a:tblPr/>
              <a:tblGrid>
                <a:gridCol w="3819525"/>
                <a:gridCol w="4154804"/>
              </a:tblGrid>
              <a:tr h="128651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500"/>
                        </a:lnSpc>
                      </a:pPr>
                      <a:r>
                        <a:rPr sz="1200" spc="3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负责技术和服务解决</a:t>
                      </a:r>
                      <a:r>
                        <a:rPr sz="12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方案：</a:t>
                      </a:r>
                      <a:endParaRPr lang="en-US" altLang="en-US" sz="1200" dirty="0"/>
                    </a:p>
                    <a:p>
                      <a:pPr marL="5715" algn="l" rtl="0" eaLnBrk="0">
                        <a:lnSpc>
                          <a:spcPct val="97000"/>
                        </a:lnSpc>
                        <a:spcBef>
                          <a:spcPts val="800"/>
                        </a:spcBef>
                      </a:pP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解决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方案策略/规划/质量，标书总体质量及竞争力</a:t>
                      </a:r>
                      <a:endParaRPr lang="en-US" altLang="en-US" sz="1200" dirty="0"/>
                    </a:p>
                    <a:p>
                      <a:pPr marL="5715" algn="l" rtl="0" eaLnBrk="0">
                        <a:lnSpc>
                          <a:spcPct val="97000"/>
                        </a:lnSpc>
                        <a:spcBef>
                          <a:spcPts val="785"/>
                        </a:spcBef>
                      </a:pP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制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定并引导客户接受我方方案</a:t>
                      </a:r>
                      <a:endParaRPr lang="en-US" altLang="en-US" sz="1200" dirty="0"/>
                    </a:p>
                    <a:p>
                      <a:pPr marL="5715" algn="l" rtl="0" eaLnBrk="0">
                        <a:lnSpc>
                          <a:spcPct val="97000"/>
                        </a:lnSpc>
                        <a:spcBef>
                          <a:spcPts val="790"/>
                        </a:spcBef>
                      </a:pP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准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备报价清单，识别解决方案风险及规避措施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600" dirty="0"/>
                    </a:p>
                    <a:p>
                      <a:pPr marL="571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1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1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与客户共同解决有关技术和服务方案</a:t>
                      </a:r>
                      <a:r>
                        <a:rPr sz="11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</a:t>
                      </a:r>
                      <a:endParaRPr lang="en-US" altLang="en-US" sz="1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295275" algn="l" rtl="0" eaLnBrk="0">
                        <a:lnSpc>
                          <a:spcPts val="1500"/>
                        </a:lnSpc>
                      </a:pPr>
                      <a:r>
                        <a:rPr sz="1200" spc="3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负责客户满意度和合同履行</a:t>
                      </a:r>
                      <a:r>
                        <a:rPr sz="1200" spc="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endParaRPr lang="en-US" altLang="en-US" sz="1200" dirty="0"/>
                    </a:p>
                    <a:p>
                      <a:pPr marL="300990" algn="l" rtl="0" eaLnBrk="0">
                        <a:lnSpc>
                          <a:spcPct val="97000"/>
                        </a:lnSpc>
                        <a:spcBef>
                          <a:spcPts val="1090"/>
                        </a:spcBef>
                      </a:pP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组织和协同铁三角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，统一管理客户期望</a:t>
                      </a:r>
                      <a:endParaRPr lang="en-US" altLang="en-US" sz="1200" dirty="0"/>
                    </a:p>
                    <a:p>
                      <a:pPr marL="300990" algn="l" rtl="0" eaLnBrk="0">
                        <a:lnSpc>
                          <a:spcPct val="97000"/>
                        </a:lnSpc>
                        <a:spcBef>
                          <a:spcPts val="1070"/>
                        </a:spcBef>
                      </a:pP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售前阶段介入，保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证合同质量及交付性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900" dirty="0"/>
                    </a:p>
                    <a:p>
                      <a:pPr marL="300990" algn="l" rtl="0" eaLnBrk="0">
                        <a:lnSpc>
                          <a:spcPts val="1385"/>
                        </a:lnSpc>
                        <a:spcBef>
                          <a:spcPts val="0"/>
                        </a:spcBef>
                      </a:pPr>
                      <a:r>
                        <a:rPr sz="11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1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合同执行策略、相关风险识别和规避以及客户问题</a:t>
                      </a:r>
                      <a:r>
                        <a:rPr sz="11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</a:t>
                      </a:r>
                      <a:endParaRPr lang="en-US" altLang="en-US" sz="1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5" name="textbox 185"/>
          <p:cNvSpPr/>
          <p:nvPr/>
        </p:nvSpPr>
        <p:spPr>
          <a:xfrm>
            <a:off x="919911" y="1002588"/>
            <a:ext cx="10307955" cy="5657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5000"/>
              </a:lnSpc>
            </a:pPr>
            <a:endParaRPr lang="en-US" altLang="en-US" sz="100" dirty="0"/>
          </a:p>
          <a:p>
            <a:pPr marL="12700" indent="139700" algn="l" rtl="0" eaLnBrk="0">
              <a:lnSpc>
                <a:spcPct val="99000"/>
              </a:lnSpc>
            </a:pPr>
            <a:r>
              <a:rPr sz="1800" spc="-3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“铁三角”组织模式，打破部门壁垒，实现了组织内部及时高效的交互沟通，增强了组</a:t>
            </a:r>
            <a:r>
              <a:rPr sz="1800" spc="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织整体的市场敏 </a:t>
            </a:r>
            <a:r>
              <a:rPr sz="1800" spc="-1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感性和对</a:t>
            </a:r>
            <a:r>
              <a:rPr sz="1800" spc="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客户需求的快速响应能力</a:t>
            </a:r>
            <a:endParaRPr lang="en-US" altLang="en-US" sz="1800" dirty="0"/>
          </a:p>
        </p:txBody>
      </p:sp>
      <p:sp>
        <p:nvSpPr>
          <p:cNvPr id="186" name="path"/>
          <p:cNvSpPr/>
          <p:nvPr/>
        </p:nvSpPr>
        <p:spPr>
          <a:xfrm>
            <a:off x="2961974" y="2824977"/>
            <a:ext cx="2450431" cy="1803929"/>
          </a:xfrm>
          <a:custGeom>
            <a:avLst/>
            <a:gdLst/>
            <a:ahLst/>
            <a:cxnLst/>
            <a:rect l="0" t="0" r="0" b="0"/>
            <a:pathLst>
              <a:path w="3858" h="2840">
                <a:moveTo>
                  <a:pt x="8" y="2835"/>
                </a:moveTo>
                <a:lnTo>
                  <a:pt x="1929" y="5"/>
                </a:lnTo>
                <a:lnTo>
                  <a:pt x="3850" y="2835"/>
                </a:ln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7" name="textbox 187"/>
          <p:cNvSpPr/>
          <p:nvPr/>
        </p:nvSpPr>
        <p:spPr>
          <a:xfrm>
            <a:off x="1150422" y="1712677"/>
            <a:ext cx="3714750" cy="8458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00"/>
              </a:lnSpc>
            </a:pPr>
            <a:r>
              <a:rPr sz="1200" spc="4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负责总体客户关系和盈利性销售</a:t>
            </a:r>
            <a:r>
              <a:rPr sz="12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1200" dirty="0"/>
          </a:p>
          <a:p>
            <a:pPr marL="18415" algn="l" rtl="0" eaLnBrk="0">
              <a:lnSpc>
                <a:spcPct val="97000"/>
              </a:lnSpc>
              <a:spcBef>
                <a:spcPts val="1085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建立并维护客户关系，管理在各种机会点的客户期望</a:t>
            </a:r>
            <a:endParaRPr lang="en-US" altLang="en-US" sz="1200" dirty="0"/>
          </a:p>
          <a:p>
            <a:pPr algn="l" rtl="0" eaLnBrk="0">
              <a:lnSpc>
                <a:spcPct val="112000"/>
              </a:lnSpc>
            </a:pPr>
            <a:endParaRPr lang="en-US" altLang="en-US" sz="800" dirty="0"/>
          </a:p>
          <a:p>
            <a:pPr marL="18415" algn="l" rtl="0" eaLnBrk="0">
              <a:lnSpc>
                <a:spcPct val="97000"/>
              </a:lnSpc>
              <a:spcBef>
                <a:spcPts val="0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财务预算、定价和融资策略及相关风险识别</a:t>
            </a:r>
            <a:endParaRPr lang="en-US" altLang="en-US" sz="1200" dirty="0"/>
          </a:p>
        </p:txBody>
      </p:sp>
      <p:sp>
        <p:nvSpPr>
          <p:cNvPr id="188" name="textbox 188"/>
          <p:cNvSpPr/>
          <p:nvPr/>
        </p:nvSpPr>
        <p:spPr>
          <a:xfrm>
            <a:off x="559758" y="269576"/>
            <a:ext cx="3571875" cy="438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0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铁三角角色定义和管</a:t>
            </a:r>
            <a:r>
              <a:rPr sz="2700" spc="2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endParaRPr lang="en-US" altLang="en-US" sz="2700" dirty="0"/>
          </a:p>
        </p:txBody>
      </p:sp>
      <p:sp>
        <p:nvSpPr>
          <p:cNvPr id="189" name="rect"/>
          <p:cNvSpPr/>
          <p:nvPr/>
        </p:nvSpPr>
        <p:spPr>
          <a:xfrm>
            <a:off x="2967227" y="4618990"/>
            <a:ext cx="2439924" cy="12700"/>
          </a:xfrm>
          <a:prstGeom prst="rect">
            <a:avLst/>
          </a:pr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2226564" y="4429505"/>
            <a:ext cx="1581911" cy="458724"/>
            <a:chOff x="0" y="0"/>
            <a:chExt cx="1581911" cy="458724"/>
          </a:xfrm>
        </p:grpSpPr>
        <p:pic>
          <p:nvPicPr>
            <p:cNvPr id="190" name="picture 19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9050" y="0"/>
              <a:ext cx="1543811" cy="458724"/>
            </a:xfrm>
            <a:prstGeom prst="rect">
              <a:avLst/>
            </a:prstGeom>
          </p:spPr>
        </p:pic>
        <p:sp>
          <p:nvSpPr>
            <p:cNvPr id="191" name="textbox 191"/>
            <p:cNvSpPr/>
            <p:nvPr/>
          </p:nvSpPr>
          <p:spPr>
            <a:xfrm>
              <a:off x="218078" y="118243"/>
              <a:ext cx="1240789" cy="26098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ts val="1850"/>
                </a:lnSpc>
              </a:pPr>
              <a:r>
                <a:rPr sz="1500" spc="10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解决方案专</a:t>
              </a:r>
              <a:r>
                <a:rPr sz="1500" spc="6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家</a:t>
              </a:r>
              <a:endParaRPr lang="en-US" altLang="en-US" sz="1500" dirty="0"/>
            </a:p>
          </p:txBody>
        </p:sp>
        <p:sp>
          <p:nvSpPr>
            <p:cNvPr id="192" name="rect"/>
            <p:cNvSpPr/>
            <p:nvPr/>
          </p:nvSpPr>
          <p:spPr>
            <a:xfrm>
              <a:off x="0" y="76454"/>
              <a:ext cx="38100" cy="305816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3" name="path"/>
            <p:cNvSpPr/>
            <p:nvPr/>
          </p:nvSpPr>
          <p:spPr>
            <a:xfrm>
              <a:off x="1543811" y="76454"/>
              <a:ext cx="38100" cy="305816"/>
            </a:xfrm>
            <a:custGeom>
              <a:avLst/>
              <a:gdLst/>
              <a:ahLst/>
              <a:cxnLst/>
              <a:rect l="0" t="0" r="0" b="0"/>
              <a:pathLst>
                <a:path w="60" h="481">
                  <a:moveTo>
                    <a:pt x="30" y="0"/>
                  </a:moveTo>
                  <a:lnTo>
                    <a:pt x="30" y="481"/>
                  </a:ln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94" name="picture 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26564" y="4410455"/>
            <a:ext cx="1581911" cy="185927"/>
          </a:xfrm>
          <a:prstGeom prst="rect">
            <a:avLst/>
          </a:prstGeom>
        </p:spPr>
      </p:pic>
      <p:sp>
        <p:nvSpPr>
          <p:cNvPr id="195" name="rect"/>
          <p:cNvSpPr/>
          <p:nvPr/>
        </p:nvSpPr>
        <p:spPr>
          <a:xfrm>
            <a:off x="4600194" y="4429505"/>
            <a:ext cx="1543811" cy="458724"/>
          </a:xfrm>
          <a:prstGeom prst="rect">
            <a:avLst/>
          </a:prstGeom>
          <a:solidFill>
            <a:srgbClr val="008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96" name="picture 1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81144" y="4410455"/>
            <a:ext cx="1581911" cy="172211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 rot="21600000">
            <a:off x="3611625" y="3483610"/>
            <a:ext cx="1146555" cy="1009395"/>
            <a:chOff x="0" y="0"/>
            <a:chExt cx="1146555" cy="1009395"/>
          </a:xfrm>
        </p:grpSpPr>
        <p:sp>
          <p:nvSpPr>
            <p:cNvPr id="197" name="path"/>
            <p:cNvSpPr/>
            <p:nvPr/>
          </p:nvSpPr>
          <p:spPr>
            <a:xfrm>
              <a:off x="6350" y="6350"/>
              <a:ext cx="1133855" cy="996695"/>
            </a:xfrm>
            <a:custGeom>
              <a:avLst/>
              <a:gdLst/>
              <a:ahLst/>
              <a:cxnLst/>
              <a:rect l="0" t="0" r="0" b="0"/>
              <a:pathLst>
                <a:path w="1785" h="1569">
                  <a:moveTo>
                    <a:pt x="0" y="784"/>
                  </a:moveTo>
                  <a:cubicBezTo>
                    <a:pt x="0" y="351"/>
                    <a:pt x="399" y="0"/>
                    <a:pt x="892" y="0"/>
                  </a:cubicBezTo>
                  <a:cubicBezTo>
                    <a:pt x="1385" y="0"/>
                    <a:pt x="1785" y="351"/>
                    <a:pt x="1785" y="784"/>
                  </a:cubicBezTo>
                  <a:cubicBezTo>
                    <a:pt x="1785" y="1218"/>
                    <a:pt x="1385" y="1569"/>
                    <a:pt x="892" y="1569"/>
                  </a:cubicBezTo>
                  <a:cubicBezTo>
                    <a:pt x="399" y="1569"/>
                    <a:pt x="0" y="1218"/>
                    <a:pt x="0" y="784"/>
                  </a:cubicBezTo>
                </a:path>
              </a:pathLst>
            </a:custGeom>
            <a:solidFill>
              <a:srgbClr val="E4CDC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8" name="path"/>
            <p:cNvSpPr/>
            <p:nvPr/>
          </p:nvSpPr>
          <p:spPr>
            <a:xfrm>
              <a:off x="0" y="0"/>
              <a:ext cx="1146555" cy="1009395"/>
            </a:xfrm>
            <a:custGeom>
              <a:avLst/>
              <a:gdLst/>
              <a:ahLst/>
              <a:cxnLst/>
              <a:rect l="0" t="0" r="0" b="0"/>
              <a:pathLst>
                <a:path w="1805" h="1589">
                  <a:moveTo>
                    <a:pt x="10" y="794"/>
                  </a:moveTo>
                  <a:cubicBezTo>
                    <a:pt x="10" y="361"/>
                    <a:pt x="409" y="10"/>
                    <a:pt x="902" y="10"/>
                  </a:cubicBezTo>
                  <a:cubicBezTo>
                    <a:pt x="1395" y="10"/>
                    <a:pt x="1795" y="361"/>
                    <a:pt x="1795" y="794"/>
                  </a:cubicBezTo>
                  <a:cubicBezTo>
                    <a:pt x="1795" y="1228"/>
                    <a:pt x="1395" y="1579"/>
                    <a:pt x="902" y="1579"/>
                  </a:cubicBezTo>
                  <a:cubicBezTo>
                    <a:pt x="409" y="1579"/>
                    <a:pt x="10" y="1228"/>
                    <a:pt x="10" y="794"/>
                  </a:cubicBezTo>
                </a:path>
              </a:pathLst>
            </a:custGeom>
            <a:noFill/>
            <a:ln w="12700" cap="flat">
              <a:solidFill>
                <a:srgbClr val="CD7E57">
                  <a:alpha val="100000"/>
                </a:srgbClr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9" name="textbox 199"/>
          <p:cNvSpPr/>
          <p:nvPr/>
        </p:nvSpPr>
        <p:spPr>
          <a:xfrm>
            <a:off x="1156360" y="2669235"/>
            <a:ext cx="2185035" cy="5175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制定谈判策略，主导合同谈判</a:t>
            </a:r>
            <a:endParaRPr lang="en-US" altLang="en-US" sz="1200" dirty="0"/>
          </a:p>
          <a:p>
            <a:pPr algn="l" rtl="0" eaLnBrk="0">
              <a:lnSpc>
                <a:spcPct val="112000"/>
              </a:lnSpc>
            </a:pPr>
            <a:endParaRPr lang="en-US" altLang="en-US" sz="800" dirty="0"/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合同签署、回款及催收</a:t>
            </a:r>
            <a:endParaRPr lang="en-US" altLang="en-US" sz="1200" dirty="0"/>
          </a:p>
        </p:txBody>
      </p:sp>
      <p:grpSp>
        <p:nvGrpSpPr>
          <p:cNvPr id="36" name="group 36"/>
          <p:cNvGrpSpPr/>
          <p:nvPr/>
        </p:nvGrpSpPr>
        <p:grpSpPr>
          <a:xfrm rot="21600000">
            <a:off x="3381755" y="2759964"/>
            <a:ext cx="1583435" cy="495300"/>
            <a:chOff x="0" y="0"/>
            <a:chExt cx="1583435" cy="495300"/>
          </a:xfrm>
        </p:grpSpPr>
        <p:sp>
          <p:nvSpPr>
            <p:cNvPr id="200" name="rect"/>
            <p:cNvSpPr/>
            <p:nvPr/>
          </p:nvSpPr>
          <p:spPr>
            <a:xfrm>
              <a:off x="19050" y="19050"/>
              <a:ext cx="1545335" cy="457200"/>
            </a:xfrm>
            <a:prstGeom prst="rect">
              <a:avLst/>
            </a:prstGeom>
            <a:solidFill>
              <a:srgbClr val="FF66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01" name="picture 20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583435" cy="184403"/>
            </a:xfrm>
            <a:prstGeom prst="rect">
              <a:avLst/>
            </a:prstGeom>
          </p:spPr>
        </p:pic>
        <p:sp>
          <p:nvSpPr>
            <p:cNvPr id="202" name="path"/>
            <p:cNvSpPr/>
            <p:nvPr/>
          </p:nvSpPr>
          <p:spPr>
            <a:xfrm>
              <a:off x="0" y="381000"/>
              <a:ext cx="1583435" cy="114300"/>
            </a:xfrm>
            <a:custGeom>
              <a:avLst/>
              <a:gdLst/>
              <a:ahLst/>
              <a:cxnLst/>
              <a:rect l="0" t="0" r="0" b="0"/>
              <a:pathLst>
                <a:path w="2493" h="180">
                  <a:moveTo>
                    <a:pt x="2463" y="30"/>
                  </a:moveTo>
                  <a:cubicBezTo>
                    <a:pt x="2463" y="96"/>
                    <a:pt x="2409" y="150"/>
                    <a:pt x="2343" y="150"/>
                  </a:cubicBezTo>
                  <a:moveTo>
                    <a:pt x="150" y="150"/>
                  </a:moveTo>
                  <a:cubicBezTo>
                    <a:pt x="83" y="150"/>
                    <a:pt x="30" y="96"/>
                    <a:pt x="30" y="3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" name="textbox 203"/>
            <p:cNvSpPr/>
            <p:nvPr/>
          </p:nvSpPr>
          <p:spPr>
            <a:xfrm>
              <a:off x="357553" y="133355"/>
              <a:ext cx="835660" cy="26035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ts val="1850"/>
                </a:lnSpc>
              </a:pPr>
              <a:r>
                <a:rPr sz="1500" spc="10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客户经</a:t>
              </a:r>
              <a:r>
                <a:rPr sz="1500" spc="7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</a:t>
              </a:r>
              <a:endParaRPr lang="en-US" altLang="en-US" sz="1500" dirty="0"/>
            </a:p>
          </p:txBody>
        </p:sp>
        <p:sp>
          <p:nvSpPr>
            <p:cNvPr id="204" name="rect"/>
            <p:cNvSpPr/>
            <p:nvPr/>
          </p:nvSpPr>
          <p:spPr>
            <a:xfrm>
              <a:off x="95250" y="457200"/>
              <a:ext cx="1392935" cy="381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5" name="rect"/>
            <p:cNvSpPr/>
            <p:nvPr/>
          </p:nvSpPr>
          <p:spPr>
            <a:xfrm>
              <a:off x="1545335" y="95250"/>
              <a:ext cx="38100" cy="3048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6" name="path"/>
            <p:cNvSpPr/>
            <p:nvPr/>
          </p:nvSpPr>
          <p:spPr>
            <a:xfrm>
              <a:off x="0" y="95250"/>
              <a:ext cx="38100" cy="304800"/>
            </a:xfrm>
            <a:custGeom>
              <a:avLst/>
              <a:gdLst/>
              <a:ahLst/>
              <a:cxnLst/>
              <a:rect l="0" t="0" r="0" b="0"/>
              <a:pathLst>
                <a:path w="60" h="480">
                  <a:moveTo>
                    <a:pt x="30" y="480"/>
                  </a:moveTo>
                  <a:lnTo>
                    <a:pt x="30" y="0"/>
                  </a:lnTo>
                  <a:close/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7" name="textbox 207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09" name="rect"/>
          <p:cNvSpPr/>
          <p:nvPr/>
        </p:nvSpPr>
        <p:spPr>
          <a:xfrm>
            <a:off x="82296" y="115823"/>
            <a:ext cx="298704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" name="textbox 210"/>
          <p:cNvSpPr/>
          <p:nvPr/>
        </p:nvSpPr>
        <p:spPr>
          <a:xfrm>
            <a:off x="4961725" y="4551432"/>
            <a:ext cx="831850" cy="2609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50"/>
              </a:lnSpc>
            </a:pPr>
            <a:r>
              <a:rPr sz="1500" spc="90" dirty="0">
                <a:solidFill>
                  <a:srgbClr val="F8F8F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交付专</a:t>
            </a:r>
            <a:r>
              <a:rPr sz="1500" spc="70" dirty="0">
                <a:solidFill>
                  <a:srgbClr val="F8F8F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</a:t>
            </a:r>
            <a:endParaRPr lang="en-US" altLang="en-US" sz="1500" dirty="0"/>
          </a:p>
        </p:txBody>
      </p:sp>
      <p:sp>
        <p:nvSpPr>
          <p:cNvPr id="211" name="textbox 211"/>
          <p:cNvSpPr/>
          <p:nvPr/>
        </p:nvSpPr>
        <p:spPr>
          <a:xfrm>
            <a:off x="3954174" y="3856539"/>
            <a:ext cx="480059" cy="2921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0" dirty="0">
                <a:ln w="3175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endParaRPr lang="en-US" altLang="en-US" sz="1800" dirty="0"/>
          </a:p>
        </p:txBody>
      </p:sp>
      <p:sp>
        <p:nvSpPr>
          <p:cNvPr id="212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3" name="rect"/>
          <p:cNvSpPr/>
          <p:nvPr/>
        </p:nvSpPr>
        <p:spPr>
          <a:xfrm>
            <a:off x="4676647" y="4869180"/>
            <a:ext cx="1390904" cy="38100"/>
          </a:xfrm>
          <a:prstGeom prst="rect">
            <a:avLst/>
          </a:prstGeom>
          <a:solidFill>
            <a:srgbClr val="F8F8F8">
              <a:alpha val="69803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4" name="rect"/>
          <p:cNvSpPr/>
          <p:nvPr/>
        </p:nvSpPr>
        <p:spPr>
          <a:xfrm>
            <a:off x="2322068" y="4869180"/>
            <a:ext cx="1390904" cy="38100"/>
          </a:xfrm>
          <a:prstGeom prst="rect">
            <a:avLst/>
          </a:prstGeom>
          <a:solidFill>
            <a:srgbClr val="F8F8F8">
              <a:alpha val="69803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5" name="rect"/>
          <p:cNvSpPr/>
          <p:nvPr/>
        </p:nvSpPr>
        <p:spPr>
          <a:xfrm>
            <a:off x="0" y="115823"/>
            <a:ext cx="64007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path"/>
          <p:cNvSpPr/>
          <p:nvPr/>
        </p:nvSpPr>
        <p:spPr>
          <a:xfrm>
            <a:off x="2226564" y="4792726"/>
            <a:ext cx="114554" cy="114554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150" y="150"/>
                </a:moveTo>
                <a:cubicBezTo>
                  <a:pt x="83" y="150"/>
                  <a:pt x="30" y="96"/>
                  <a:pt x="30" y="30"/>
                </a:cubicBezTo>
              </a:path>
            </a:pathLst>
          </a:custGeom>
          <a:noFill/>
          <a:ln w="38100" cap="flat">
            <a:solidFill>
              <a:srgbClr val="F8F8F8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7" name="path"/>
          <p:cNvSpPr/>
          <p:nvPr/>
        </p:nvSpPr>
        <p:spPr>
          <a:xfrm>
            <a:off x="3693922" y="4792726"/>
            <a:ext cx="114553" cy="114554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150" y="30"/>
                </a:moveTo>
                <a:cubicBezTo>
                  <a:pt x="150" y="96"/>
                  <a:pt x="96" y="150"/>
                  <a:pt x="30" y="150"/>
                </a:cubicBezTo>
              </a:path>
            </a:pathLst>
          </a:custGeom>
          <a:noFill/>
          <a:ln w="38100" cap="flat">
            <a:solidFill>
              <a:srgbClr val="F8F8F8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8" name="path"/>
          <p:cNvSpPr/>
          <p:nvPr/>
        </p:nvSpPr>
        <p:spPr>
          <a:xfrm>
            <a:off x="6048502" y="4792726"/>
            <a:ext cx="114553" cy="114554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150" y="30"/>
                </a:moveTo>
                <a:cubicBezTo>
                  <a:pt x="150" y="96"/>
                  <a:pt x="96" y="150"/>
                  <a:pt x="30" y="150"/>
                </a:cubicBezTo>
              </a:path>
            </a:pathLst>
          </a:custGeom>
          <a:noFill/>
          <a:ln w="38100" cap="flat">
            <a:solidFill>
              <a:srgbClr val="F8F8F8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9" name="path"/>
          <p:cNvSpPr/>
          <p:nvPr/>
        </p:nvSpPr>
        <p:spPr>
          <a:xfrm>
            <a:off x="4581144" y="4792726"/>
            <a:ext cx="114553" cy="114554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150" y="150"/>
                </a:moveTo>
                <a:cubicBezTo>
                  <a:pt x="84" y="150"/>
                  <a:pt x="30" y="96"/>
                  <a:pt x="30" y="30"/>
                </a:cubicBezTo>
              </a:path>
            </a:pathLst>
          </a:custGeom>
          <a:noFill/>
          <a:ln w="38100" cap="flat">
            <a:solidFill>
              <a:srgbClr val="F8F8F8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" name="rect"/>
          <p:cNvSpPr/>
          <p:nvPr/>
        </p:nvSpPr>
        <p:spPr>
          <a:xfrm>
            <a:off x="4581144" y="4505959"/>
            <a:ext cx="38100" cy="305816"/>
          </a:xfrm>
          <a:prstGeom prst="rect">
            <a:avLst/>
          </a:prstGeom>
          <a:solidFill>
            <a:srgbClr val="F8F8F8">
              <a:alpha val="69803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1" name="rect"/>
          <p:cNvSpPr/>
          <p:nvPr/>
        </p:nvSpPr>
        <p:spPr>
          <a:xfrm>
            <a:off x="6124955" y="4505959"/>
            <a:ext cx="38100" cy="305816"/>
          </a:xfrm>
          <a:prstGeom prst="rect">
            <a:avLst/>
          </a:prstGeom>
          <a:solidFill>
            <a:srgbClr val="F8F8F8">
              <a:alpha val="69803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" name="table 222"/>
          <p:cNvGraphicFramePr>
            <a:graphicFrameLocks noGrp="1"/>
          </p:cNvGraphicFramePr>
          <p:nvPr/>
        </p:nvGraphicFramePr>
        <p:xfrm>
          <a:off x="2352801" y="5755894"/>
          <a:ext cx="8514715" cy="550544"/>
        </p:xfrm>
        <a:graphic>
          <a:graphicData uri="http://schemas.openxmlformats.org/drawingml/2006/table">
            <a:tbl>
              <a:tblPr/>
              <a:tblGrid>
                <a:gridCol w="1105535"/>
                <a:gridCol w="1383030"/>
                <a:gridCol w="1358900"/>
                <a:gridCol w="1722754"/>
                <a:gridCol w="1304289"/>
                <a:gridCol w="1640204"/>
              </a:tblGrid>
              <a:tr h="5505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1000" dirty="0"/>
                    </a:p>
                    <a:p>
                      <a:pPr marL="93345" algn="l" rtl="0" eaLnBrk="0">
                        <a:lnSpc>
                          <a:spcPts val="1885"/>
                        </a:lnSpc>
                        <a:spcBef>
                          <a:spcPts val="0"/>
                        </a:spcBef>
                      </a:pP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</a:t>
                      </a:r>
                      <a:endParaRPr lang="en-US" altLang="en-US" sz="15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1000" dirty="0"/>
                    </a:p>
                    <a:p>
                      <a:pPr marL="67310" algn="l" rtl="0" eaLnBrk="0">
                        <a:lnSpc>
                          <a:spcPts val="1850"/>
                        </a:lnSpc>
                        <a:spcBef>
                          <a:spcPts val="0"/>
                        </a:spcBef>
                      </a:pPr>
                      <a:r>
                        <a:rPr sz="15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较多参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endParaRPr lang="en-US" altLang="en-US" sz="15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1000" dirty="0"/>
                    </a:p>
                    <a:p>
                      <a:pPr marL="54610" algn="l" rtl="0" eaLnBrk="0">
                        <a:lnSpc>
                          <a:spcPts val="1850"/>
                        </a:lnSpc>
                        <a:spcBef>
                          <a:spcPts val="0"/>
                        </a:spcBef>
                      </a:pPr>
                      <a:r>
                        <a:rPr sz="15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较少参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endParaRPr lang="en-US" altLang="en-US" sz="15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23" name="picture 2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93391" y="1043940"/>
            <a:ext cx="9674352" cy="469391"/>
          </a:xfrm>
          <a:prstGeom prst="rect">
            <a:avLst/>
          </a:prstGeom>
        </p:spPr>
      </p:pic>
      <p:sp>
        <p:nvSpPr>
          <p:cNvPr id="224" name="textbox 224"/>
          <p:cNvSpPr/>
          <p:nvPr/>
        </p:nvSpPr>
        <p:spPr>
          <a:xfrm>
            <a:off x="586035" y="269576"/>
            <a:ext cx="5228590" cy="438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-2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</a:t>
            </a:r>
            <a:r>
              <a:rPr sz="2700" spc="-3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各个阶段，</a:t>
            </a:r>
            <a:r>
              <a:rPr sz="2700" spc="-3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-3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铁三角的戏份不同</a:t>
            </a:r>
            <a:endParaRPr lang="en-US" altLang="en-US" sz="2700" dirty="0"/>
          </a:p>
        </p:txBody>
      </p:sp>
      <p:sp>
        <p:nvSpPr>
          <p:cNvPr id="225" name="rect"/>
          <p:cNvSpPr/>
          <p:nvPr/>
        </p:nvSpPr>
        <p:spPr>
          <a:xfrm>
            <a:off x="333756" y="3806952"/>
            <a:ext cx="941831" cy="838200"/>
          </a:xfrm>
          <a:prstGeom prst="rect">
            <a:avLst/>
          </a:prstGeom>
          <a:solidFill>
            <a:srgbClr val="92D05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6" name="textbox 226"/>
          <p:cNvSpPr/>
          <p:nvPr/>
        </p:nvSpPr>
        <p:spPr>
          <a:xfrm>
            <a:off x="440706" y="3975480"/>
            <a:ext cx="2282189" cy="5689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62000"/>
              </a:lnSpc>
            </a:pPr>
            <a:endParaRPr lang="en-US" altLang="en-US" sz="1000" dirty="0"/>
          </a:p>
          <a:p>
            <a:pPr marL="101600" algn="l" rtl="0" eaLnBrk="0">
              <a:lnSpc>
                <a:spcPts val="2430"/>
              </a:lnSpc>
              <a:spcBef>
                <a:spcPts val="5"/>
              </a:spcBef>
            </a:pPr>
            <a:r>
              <a:rPr sz="2100" spc="-50" baseline="-1900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“戏份”</a:t>
            </a:r>
            <a:r>
              <a:rPr sz="2100" spc="-50" baseline="26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(解决方案专家</a:t>
            </a:r>
            <a:r>
              <a:rPr sz="2100" spc="0" baseline="26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sz="13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endParaRPr lang="en-US" altLang="en-US" sz="1300" dirty="0"/>
          </a:p>
        </p:txBody>
      </p:sp>
      <p:grpSp>
        <p:nvGrpSpPr>
          <p:cNvPr id="38" name="group 38"/>
          <p:cNvGrpSpPr/>
          <p:nvPr/>
        </p:nvGrpSpPr>
        <p:grpSpPr>
          <a:xfrm rot="21600000">
            <a:off x="2310383" y="3991355"/>
            <a:ext cx="396240" cy="396240"/>
            <a:chOff x="0" y="0"/>
            <a:chExt cx="396240" cy="396240"/>
          </a:xfrm>
        </p:grpSpPr>
        <p:sp>
          <p:nvSpPr>
            <p:cNvPr id="227" name="path"/>
            <p:cNvSpPr/>
            <p:nvPr/>
          </p:nvSpPr>
          <p:spPr>
            <a:xfrm>
              <a:off x="0" y="0"/>
              <a:ext cx="396239" cy="396240"/>
            </a:xfrm>
            <a:custGeom>
              <a:avLst/>
              <a:gdLst/>
              <a:ahLst/>
              <a:cxnLst/>
              <a:rect l="0" t="0" r="0" b="0"/>
              <a:pathLst>
                <a:path w="623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3" y="139"/>
                    <a:pt x="623" y="312"/>
                  </a:cubicBezTo>
                  <a:cubicBezTo>
                    <a:pt x="623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8" name="path"/>
            <p:cNvSpPr/>
            <p:nvPr/>
          </p:nvSpPr>
          <p:spPr>
            <a:xfrm>
              <a:off x="0" y="0"/>
              <a:ext cx="396239" cy="396240"/>
            </a:xfrm>
            <a:custGeom>
              <a:avLst/>
              <a:gdLst/>
              <a:ahLst/>
              <a:cxnLst/>
              <a:rect l="0" t="0" r="0" b="0"/>
              <a:pathLst>
                <a:path w="623" h="624">
                  <a:moveTo>
                    <a:pt x="623" y="312"/>
                  </a:moveTo>
                  <a:cubicBezTo>
                    <a:pt x="623" y="484"/>
                    <a:pt x="484" y="624"/>
                    <a:pt x="311" y="624"/>
                  </a:cubicBezTo>
                  <a:cubicBezTo>
                    <a:pt x="139" y="624"/>
                    <a:pt x="0" y="484"/>
                    <a:pt x="0" y="312"/>
                  </a:cubicBezTo>
                  <a:cubicBezTo>
                    <a:pt x="0" y="139"/>
                    <a:pt x="139" y="0"/>
                    <a:pt x="311" y="0"/>
                  </a:cubicBezTo>
                  <a:lnTo>
                    <a:pt x="311" y="312"/>
                  </a:lnTo>
                  <a:lnTo>
                    <a:pt x="623" y="312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29" name="path"/>
          <p:cNvSpPr/>
          <p:nvPr/>
        </p:nvSpPr>
        <p:spPr>
          <a:xfrm>
            <a:off x="2307208" y="3988180"/>
            <a:ext cx="402590" cy="402590"/>
          </a:xfrm>
          <a:custGeom>
            <a:avLst/>
            <a:gdLst/>
            <a:ahLst/>
            <a:cxnLst/>
            <a:rect l="0" t="0" r="0" b="0"/>
            <a:pathLst>
              <a:path w="634" h="634">
                <a:moveTo>
                  <a:pt x="5" y="317"/>
                </a:moveTo>
                <a:cubicBezTo>
                  <a:pt x="5" y="144"/>
                  <a:pt x="144" y="5"/>
                  <a:pt x="317" y="5"/>
                </a:cubicBezTo>
                <a:cubicBezTo>
                  <a:pt x="489" y="5"/>
                  <a:pt x="628" y="144"/>
                  <a:pt x="628" y="317"/>
                </a:cubicBezTo>
                <a:cubicBezTo>
                  <a:pt x="628" y="489"/>
                  <a:pt x="489" y="629"/>
                  <a:pt x="317" y="629"/>
                </a:cubicBezTo>
                <a:cubicBezTo>
                  <a:pt x="144" y="629"/>
                  <a:pt x="5" y="489"/>
                  <a:pt x="5" y="317"/>
                </a:cubicBezTo>
                <a:moveTo>
                  <a:pt x="629" y="317"/>
                </a:moveTo>
                <a:cubicBezTo>
                  <a:pt x="629" y="489"/>
                  <a:pt x="489" y="629"/>
                  <a:pt x="317" y="629"/>
                </a:cubicBezTo>
                <a:cubicBezTo>
                  <a:pt x="144" y="629"/>
                  <a:pt x="5" y="489"/>
                  <a:pt x="5" y="317"/>
                </a:cubicBezTo>
                <a:cubicBezTo>
                  <a:pt x="5" y="144"/>
                  <a:pt x="144" y="5"/>
                  <a:pt x="317" y="5"/>
                </a:cubicBezTo>
                <a:lnTo>
                  <a:pt x="317" y="317"/>
                </a:lnTo>
                <a:lnTo>
                  <a:pt x="629" y="317"/>
                </a:lnTo>
                <a:close/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0" name="textbox 230"/>
          <p:cNvSpPr/>
          <p:nvPr/>
        </p:nvSpPr>
        <p:spPr>
          <a:xfrm>
            <a:off x="333756" y="1783079"/>
            <a:ext cx="942339" cy="857885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600" dirty="0"/>
          </a:p>
          <a:p>
            <a:pPr marL="117475" indent="-1270" algn="l" rtl="0" eaLnBrk="0">
              <a:lnSpc>
                <a:spcPct val="151000"/>
              </a:lnSpc>
            </a:pPr>
            <a:r>
              <a:rPr sz="14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</a:t>
            </a:r>
            <a:r>
              <a:rPr sz="14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三角的</a:t>
            </a:r>
            <a:r>
              <a:rPr sz="14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主导</a:t>
            </a:r>
            <a:r>
              <a:rPr sz="14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</a:t>
            </a:r>
            <a:endParaRPr lang="en-US" altLang="en-US" sz="1400" dirty="0"/>
          </a:p>
        </p:txBody>
      </p:sp>
      <p:sp>
        <p:nvSpPr>
          <p:cNvPr id="231" name="textbox 231"/>
          <p:cNvSpPr/>
          <p:nvPr/>
        </p:nvSpPr>
        <p:spPr>
          <a:xfrm>
            <a:off x="1205205" y="4949794"/>
            <a:ext cx="1040764" cy="4318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01600" indent="330835" algn="l" rtl="0" eaLnBrk="0">
              <a:lnSpc>
                <a:spcPct val="95000"/>
              </a:lnSpc>
            </a:pPr>
            <a:r>
              <a:rPr sz="140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(交付专家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1400" dirty="0"/>
          </a:p>
        </p:txBody>
      </p:sp>
      <p:sp>
        <p:nvSpPr>
          <p:cNvPr id="232" name="textbox 232"/>
          <p:cNvSpPr/>
          <p:nvPr/>
        </p:nvSpPr>
        <p:spPr>
          <a:xfrm>
            <a:off x="1205205" y="3080331"/>
            <a:ext cx="1040764" cy="4311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01600" indent="300355" algn="l" rtl="0" eaLnBrk="0">
              <a:lnSpc>
                <a:spcPct val="95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(客户经理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1400" dirty="0"/>
          </a:p>
        </p:txBody>
      </p:sp>
      <p:sp>
        <p:nvSpPr>
          <p:cNvPr id="233" name="textbox 233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35" name="textbox 235"/>
          <p:cNvSpPr/>
          <p:nvPr/>
        </p:nvSpPr>
        <p:spPr>
          <a:xfrm>
            <a:off x="437064" y="4004605"/>
            <a:ext cx="1410969" cy="2374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400" spc="3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铁三角的</a:t>
            </a:r>
            <a:r>
              <a:rPr sz="140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140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</a:t>
            </a:r>
            <a:endParaRPr lang="en-US" altLang="en-US" sz="1400" dirty="0"/>
          </a:p>
        </p:txBody>
      </p:sp>
      <p:grpSp>
        <p:nvGrpSpPr>
          <p:cNvPr id="40" name="group 40"/>
          <p:cNvGrpSpPr/>
          <p:nvPr/>
        </p:nvGrpSpPr>
        <p:grpSpPr>
          <a:xfrm rot="21600000">
            <a:off x="2372614" y="1723389"/>
            <a:ext cx="600964" cy="422656"/>
            <a:chOff x="0" y="0"/>
            <a:chExt cx="600964" cy="422656"/>
          </a:xfrm>
        </p:grpSpPr>
        <p:grpSp>
          <p:nvGrpSpPr>
            <p:cNvPr id="42" name="group 42"/>
            <p:cNvGrpSpPr/>
            <p:nvPr/>
          </p:nvGrpSpPr>
          <p:grpSpPr>
            <a:xfrm rot="21600000">
              <a:off x="0" y="0"/>
              <a:ext cx="600964" cy="422656"/>
              <a:chOff x="0" y="0"/>
              <a:chExt cx="600964" cy="422656"/>
            </a:xfrm>
          </p:grpSpPr>
          <p:sp>
            <p:nvSpPr>
              <p:cNvPr id="236" name="path"/>
              <p:cNvSpPr/>
              <p:nvPr/>
            </p:nvSpPr>
            <p:spPr>
              <a:xfrm>
                <a:off x="6350" y="6350"/>
                <a:ext cx="588264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6" h="645">
                    <a:moveTo>
                      <a:pt x="0" y="322"/>
                    </a:moveTo>
                    <a:cubicBezTo>
                      <a:pt x="0" y="144"/>
                      <a:pt x="207" y="0"/>
                      <a:pt x="463" y="0"/>
                    </a:cubicBezTo>
                    <a:cubicBezTo>
                      <a:pt x="718" y="0"/>
                      <a:pt x="926" y="144"/>
                      <a:pt x="926" y="322"/>
                    </a:cubicBezTo>
                    <a:cubicBezTo>
                      <a:pt x="926" y="501"/>
                      <a:pt x="718" y="645"/>
                      <a:pt x="463" y="645"/>
                    </a:cubicBezTo>
                    <a:cubicBezTo>
                      <a:pt x="207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CD7E5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path"/>
              <p:cNvSpPr/>
              <p:nvPr/>
            </p:nvSpPr>
            <p:spPr>
              <a:xfrm>
                <a:off x="0" y="0"/>
                <a:ext cx="600964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6" h="665">
                    <a:moveTo>
                      <a:pt x="10" y="332"/>
                    </a:moveTo>
                    <a:cubicBezTo>
                      <a:pt x="10" y="154"/>
                      <a:pt x="217" y="10"/>
                      <a:pt x="473" y="10"/>
                    </a:cubicBezTo>
                    <a:cubicBezTo>
                      <a:pt x="728" y="10"/>
                      <a:pt x="936" y="154"/>
                      <a:pt x="936" y="332"/>
                    </a:cubicBezTo>
                    <a:cubicBezTo>
                      <a:pt x="936" y="511"/>
                      <a:pt x="728" y="655"/>
                      <a:pt x="473" y="655"/>
                    </a:cubicBezTo>
                    <a:cubicBezTo>
                      <a:pt x="217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8" name="textbox 238"/>
            <p:cNvSpPr/>
            <p:nvPr/>
          </p:nvSpPr>
          <p:spPr>
            <a:xfrm>
              <a:off x="-12700" y="-12700"/>
              <a:ext cx="626744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7000"/>
                </a:lnSpc>
              </a:pPr>
              <a:endParaRPr lang="en-US" altLang="en-US" sz="100" dirty="0"/>
            </a:p>
            <a:p>
              <a:pPr marL="207010" algn="l" rtl="0" eaLnBrk="0">
                <a:lnSpc>
                  <a:spcPct val="80000"/>
                </a:lnSpc>
              </a:pPr>
              <a:r>
                <a:rPr sz="120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AR</a:t>
              </a:r>
              <a:endParaRPr lang="en-US" altLang="en-US" sz="1200" dirty="0"/>
            </a:p>
          </p:txBody>
        </p:sp>
      </p:grpSp>
      <p:grpSp>
        <p:nvGrpSpPr>
          <p:cNvPr id="44" name="group 44"/>
          <p:cNvGrpSpPr/>
          <p:nvPr/>
        </p:nvGrpSpPr>
        <p:grpSpPr>
          <a:xfrm rot="21600000">
            <a:off x="2739897" y="2133346"/>
            <a:ext cx="600964" cy="422656"/>
            <a:chOff x="0" y="0"/>
            <a:chExt cx="600964" cy="422656"/>
          </a:xfrm>
        </p:grpSpPr>
        <p:grpSp>
          <p:nvGrpSpPr>
            <p:cNvPr id="46" name="group 46"/>
            <p:cNvGrpSpPr/>
            <p:nvPr/>
          </p:nvGrpSpPr>
          <p:grpSpPr>
            <a:xfrm rot="21600000">
              <a:off x="0" y="0"/>
              <a:ext cx="600964" cy="422656"/>
              <a:chOff x="0" y="0"/>
              <a:chExt cx="600964" cy="422656"/>
            </a:xfrm>
          </p:grpSpPr>
          <p:sp>
            <p:nvSpPr>
              <p:cNvPr id="239" name="path"/>
              <p:cNvSpPr/>
              <p:nvPr/>
            </p:nvSpPr>
            <p:spPr>
              <a:xfrm>
                <a:off x="6350" y="6350"/>
                <a:ext cx="588264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6" h="645">
                    <a:moveTo>
                      <a:pt x="0" y="322"/>
                    </a:moveTo>
                    <a:cubicBezTo>
                      <a:pt x="0" y="144"/>
                      <a:pt x="207" y="0"/>
                      <a:pt x="463" y="0"/>
                    </a:cubicBezTo>
                    <a:cubicBezTo>
                      <a:pt x="718" y="0"/>
                      <a:pt x="926" y="144"/>
                      <a:pt x="926" y="322"/>
                    </a:cubicBezTo>
                    <a:cubicBezTo>
                      <a:pt x="926" y="501"/>
                      <a:pt x="718" y="645"/>
                      <a:pt x="463" y="645"/>
                    </a:cubicBezTo>
                    <a:cubicBezTo>
                      <a:pt x="207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path"/>
              <p:cNvSpPr/>
              <p:nvPr/>
            </p:nvSpPr>
            <p:spPr>
              <a:xfrm>
                <a:off x="0" y="0"/>
                <a:ext cx="600964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6" h="665">
                    <a:moveTo>
                      <a:pt x="10" y="332"/>
                    </a:moveTo>
                    <a:cubicBezTo>
                      <a:pt x="10" y="154"/>
                      <a:pt x="217" y="10"/>
                      <a:pt x="473" y="10"/>
                    </a:cubicBezTo>
                    <a:cubicBezTo>
                      <a:pt x="728" y="10"/>
                      <a:pt x="936" y="154"/>
                      <a:pt x="936" y="332"/>
                    </a:cubicBezTo>
                    <a:cubicBezTo>
                      <a:pt x="936" y="511"/>
                      <a:pt x="728" y="655"/>
                      <a:pt x="473" y="655"/>
                    </a:cubicBezTo>
                    <a:cubicBezTo>
                      <a:pt x="217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1" name="textbox 241"/>
            <p:cNvSpPr/>
            <p:nvPr/>
          </p:nvSpPr>
          <p:spPr>
            <a:xfrm>
              <a:off x="-12700" y="-12700"/>
              <a:ext cx="626744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marL="224155" algn="l" rtl="0" eaLnBrk="0">
                <a:lnSpc>
                  <a:spcPct val="80000"/>
                </a:lnSpc>
                <a:spcBef>
                  <a:spcPts val="5"/>
                </a:spcBef>
              </a:pPr>
              <a:r>
                <a:rPr sz="120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</a:t>
              </a: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48" name="group 48"/>
          <p:cNvGrpSpPr/>
          <p:nvPr/>
        </p:nvGrpSpPr>
        <p:grpSpPr>
          <a:xfrm rot="21600000">
            <a:off x="5321553" y="2133346"/>
            <a:ext cx="600964" cy="422656"/>
            <a:chOff x="0" y="0"/>
            <a:chExt cx="600964" cy="422656"/>
          </a:xfrm>
        </p:grpSpPr>
        <p:grpSp>
          <p:nvGrpSpPr>
            <p:cNvPr id="50" name="group 50"/>
            <p:cNvGrpSpPr/>
            <p:nvPr/>
          </p:nvGrpSpPr>
          <p:grpSpPr>
            <a:xfrm rot="21600000">
              <a:off x="0" y="0"/>
              <a:ext cx="600964" cy="422656"/>
              <a:chOff x="0" y="0"/>
              <a:chExt cx="600964" cy="422656"/>
            </a:xfrm>
          </p:grpSpPr>
          <p:sp>
            <p:nvSpPr>
              <p:cNvPr id="242" name="path"/>
              <p:cNvSpPr/>
              <p:nvPr/>
            </p:nvSpPr>
            <p:spPr>
              <a:xfrm>
                <a:off x="6350" y="6350"/>
                <a:ext cx="588264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6" h="645">
                    <a:moveTo>
                      <a:pt x="0" y="322"/>
                    </a:moveTo>
                    <a:cubicBezTo>
                      <a:pt x="0" y="144"/>
                      <a:pt x="207" y="0"/>
                      <a:pt x="463" y="0"/>
                    </a:cubicBezTo>
                    <a:cubicBezTo>
                      <a:pt x="719" y="0"/>
                      <a:pt x="926" y="144"/>
                      <a:pt x="926" y="322"/>
                    </a:cubicBezTo>
                    <a:cubicBezTo>
                      <a:pt x="926" y="501"/>
                      <a:pt x="719" y="645"/>
                      <a:pt x="463" y="645"/>
                    </a:cubicBezTo>
                    <a:cubicBezTo>
                      <a:pt x="207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CD7E5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" name="path"/>
              <p:cNvSpPr/>
              <p:nvPr/>
            </p:nvSpPr>
            <p:spPr>
              <a:xfrm>
                <a:off x="0" y="0"/>
                <a:ext cx="600964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6" h="665">
                    <a:moveTo>
                      <a:pt x="10" y="332"/>
                    </a:moveTo>
                    <a:cubicBezTo>
                      <a:pt x="10" y="154"/>
                      <a:pt x="217" y="10"/>
                      <a:pt x="473" y="10"/>
                    </a:cubicBezTo>
                    <a:cubicBezTo>
                      <a:pt x="729" y="10"/>
                      <a:pt x="936" y="154"/>
                      <a:pt x="936" y="332"/>
                    </a:cubicBezTo>
                    <a:cubicBezTo>
                      <a:pt x="936" y="511"/>
                      <a:pt x="729" y="655"/>
                      <a:pt x="473" y="655"/>
                    </a:cubicBezTo>
                    <a:cubicBezTo>
                      <a:pt x="217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4" name="textbox 244"/>
            <p:cNvSpPr/>
            <p:nvPr/>
          </p:nvSpPr>
          <p:spPr>
            <a:xfrm>
              <a:off x="-12700" y="-12700"/>
              <a:ext cx="626744" cy="48323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lang="en-US" altLang="en-US" sz="1000" dirty="0"/>
            </a:p>
            <a:p>
              <a:pPr marL="213995" algn="l" rtl="0" eaLnBrk="0">
                <a:lnSpc>
                  <a:spcPct val="81000"/>
                </a:lnSpc>
                <a:spcBef>
                  <a:spcPts val="0"/>
                </a:spcBef>
              </a:pPr>
              <a:r>
                <a:rPr sz="120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</a:t>
              </a:r>
              <a:r>
                <a:rPr sz="120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52" name="group 52"/>
          <p:cNvGrpSpPr/>
          <p:nvPr/>
        </p:nvGrpSpPr>
        <p:grpSpPr>
          <a:xfrm rot="21600000">
            <a:off x="6057645" y="2133346"/>
            <a:ext cx="600964" cy="422656"/>
            <a:chOff x="0" y="0"/>
            <a:chExt cx="600964" cy="422656"/>
          </a:xfrm>
        </p:grpSpPr>
        <p:grpSp>
          <p:nvGrpSpPr>
            <p:cNvPr id="54" name="group 54"/>
            <p:cNvGrpSpPr/>
            <p:nvPr/>
          </p:nvGrpSpPr>
          <p:grpSpPr>
            <a:xfrm rot="21600000">
              <a:off x="0" y="0"/>
              <a:ext cx="600964" cy="422656"/>
              <a:chOff x="0" y="0"/>
              <a:chExt cx="600964" cy="422656"/>
            </a:xfrm>
          </p:grpSpPr>
          <p:sp>
            <p:nvSpPr>
              <p:cNvPr id="245" name="path"/>
              <p:cNvSpPr/>
              <p:nvPr/>
            </p:nvSpPr>
            <p:spPr>
              <a:xfrm>
                <a:off x="6350" y="6350"/>
                <a:ext cx="588264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6" h="645">
                    <a:moveTo>
                      <a:pt x="0" y="322"/>
                    </a:moveTo>
                    <a:cubicBezTo>
                      <a:pt x="0" y="144"/>
                      <a:pt x="207" y="0"/>
                      <a:pt x="463" y="0"/>
                    </a:cubicBezTo>
                    <a:cubicBezTo>
                      <a:pt x="719" y="0"/>
                      <a:pt x="926" y="144"/>
                      <a:pt x="926" y="322"/>
                    </a:cubicBezTo>
                    <a:cubicBezTo>
                      <a:pt x="926" y="501"/>
                      <a:pt x="719" y="645"/>
                      <a:pt x="463" y="645"/>
                    </a:cubicBezTo>
                    <a:cubicBezTo>
                      <a:pt x="207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path"/>
              <p:cNvSpPr/>
              <p:nvPr/>
            </p:nvSpPr>
            <p:spPr>
              <a:xfrm>
                <a:off x="0" y="0"/>
                <a:ext cx="600964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6" h="665">
                    <a:moveTo>
                      <a:pt x="10" y="332"/>
                    </a:moveTo>
                    <a:cubicBezTo>
                      <a:pt x="10" y="154"/>
                      <a:pt x="217" y="10"/>
                      <a:pt x="473" y="10"/>
                    </a:cubicBezTo>
                    <a:cubicBezTo>
                      <a:pt x="729" y="10"/>
                      <a:pt x="936" y="154"/>
                      <a:pt x="936" y="332"/>
                    </a:cubicBezTo>
                    <a:cubicBezTo>
                      <a:pt x="936" y="511"/>
                      <a:pt x="729" y="655"/>
                      <a:pt x="473" y="655"/>
                    </a:cubicBezTo>
                    <a:cubicBezTo>
                      <a:pt x="217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7" name="textbox 247"/>
            <p:cNvSpPr/>
            <p:nvPr/>
          </p:nvSpPr>
          <p:spPr>
            <a:xfrm>
              <a:off x="-12700" y="-12700"/>
              <a:ext cx="626744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marL="224155" algn="l" rtl="0" eaLnBrk="0">
                <a:lnSpc>
                  <a:spcPct val="80000"/>
                </a:lnSpc>
                <a:spcBef>
                  <a:spcPts val="5"/>
                </a:spcBef>
              </a:pPr>
              <a:r>
                <a:rPr sz="120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</a:t>
              </a: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56" name="group 56"/>
          <p:cNvGrpSpPr/>
          <p:nvPr/>
        </p:nvGrpSpPr>
        <p:grpSpPr>
          <a:xfrm rot="21600000">
            <a:off x="11033506" y="2133346"/>
            <a:ext cx="600964" cy="422656"/>
            <a:chOff x="0" y="0"/>
            <a:chExt cx="600964" cy="422656"/>
          </a:xfrm>
        </p:grpSpPr>
        <p:grpSp>
          <p:nvGrpSpPr>
            <p:cNvPr id="58" name="group 58"/>
            <p:cNvGrpSpPr/>
            <p:nvPr/>
          </p:nvGrpSpPr>
          <p:grpSpPr>
            <a:xfrm rot="21600000">
              <a:off x="0" y="0"/>
              <a:ext cx="600964" cy="422656"/>
              <a:chOff x="0" y="0"/>
              <a:chExt cx="600964" cy="422656"/>
            </a:xfrm>
          </p:grpSpPr>
          <p:sp>
            <p:nvSpPr>
              <p:cNvPr id="248" name="path"/>
              <p:cNvSpPr/>
              <p:nvPr/>
            </p:nvSpPr>
            <p:spPr>
              <a:xfrm>
                <a:off x="6350" y="6350"/>
                <a:ext cx="588264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6" h="645">
                    <a:moveTo>
                      <a:pt x="0" y="322"/>
                    </a:moveTo>
                    <a:cubicBezTo>
                      <a:pt x="0" y="144"/>
                      <a:pt x="207" y="0"/>
                      <a:pt x="463" y="0"/>
                    </a:cubicBezTo>
                    <a:cubicBezTo>
                      <a:pt x="719" y="0"/>
                      <a:pt x="926" y="144"/>
                      <a:pt x="926" y="322"/>
                    </a:cubicBezTo>
                    <a:cubicBezTo>
                      <a:pt x="926" y="501"/>
                      <a:pt x="719" y="645"/>
                      <a:pt x="463" y="645"/>
                    </a:cubicBezTo>
                    <a:cubicBezTo>
                      <a:pt x="207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path"/>
              <p:cNvSpPr/>
              <p:nvPr/>
            </p:nvSpPr>
            <p:spPr>
              <a:xfrm>
                <a:off x="0" y="0"/>
                <a:ext cx="600964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6" h="665">
                    <a:moveTo>
                      <a:pt x="10" y="332"/>
                    </a:moveTo>
                    <a:cubicBezTo>
                      <a:pt x="10" y="154"/>
                      <a:pt x="217" y="10"/>
                      <a:pt x="473" y="10"/>
                    </a:cubicBezTo>
                    <a:cubicBezTo>
                      <a:pt x="729" y="10"/>
                      <a:pt x="936" y="154"/>
                      <a:pt x="936" y="332"/>
                    </a:cubicBezTo>
                    <a:cubicBezTo>
                      <a:pt x="936" y="511"/>
                      <a:pt x="729" y="655"/>
                      <a:pt x="473" y="655"/>
                    </a:cubicBezTo>
                    <a:cubicBezTo>
                      <a:pt x="217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0" name="textbox 250"/>
            <p:cNvSpPr/>
            <p:nvPr/>
          </p:nvSpPr>
          <p:spPr>
            <a:xfrm>
              <a:off x="-12700" y="-12700"/>
              <a:ext cx="626744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marL="224790" algn="l" rtl="0" eaLnBrk="0">
                <a:lnSpc>
                  <a:spcPct val="80000"/>
                </a:lnSpc>
                <a:spcBef>
                  <a:spcPts val="5"/>
                </a:spcBef>
              </a:pPr>
              <a:r>
                <a:rPr sz="120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</a:t>
              </a: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60" name="group 60"/>
          <p:cNvGrpSpPr/>
          <p:nvPr/>
        </p:nvGrpSpPr>
        <p:grpSpPr>
          <a:xfrm rot="21600000">
            <a:off x="7348473" y="1723389"/>
            <a:ext cx="600964" cy="422656"/>
            <a:chOff x="0" y="0"/>
            <a:chExt cx="600964" cy="422656"/>
          </a:xfrm>
        </p:grpSpPr>
        <p:grpSp>
          <p:nvGrpSpPr>
            <p:cNvPr id="62" name="group 62"/>
            <p:cNvGrpSpPr/>
            <p:nvPr/>
          </p:nvGrpSpPr>
          <p:grpSpPr>
            <a:xfrm rot="21600000">
              <a:off x="0" y="0"/>
              <a:ext cx="600964" cy="422656"/>
              <a:chOff x="0" y="0"/>
              <a:chExt cx="600964" cy="422656"/>
            </a:xfrm>
          </p:grpSpPr>
          <p:sp>
            <p:nvSpPr>
              <p:cNvPr id="251" name="path"/>
              <p:cNvSpPr/>
              <p:nvPr/>
            </p:nvSpPr>
            <p:spPr>
              <a:xfrm>
                <a:off x="6350" y="6350"/>
                <a:ext cx="588264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6" h="645">
                    <a:moveTo>
                      <a:pt x="0" y="322"/>
                    </a:moveTo>
                    <a:cubicBezTo>
                      <a:pt x="0" y="144"/>
                      <a:pt x="207" y="0"/>
                      <a:pt x="463" y="0"/>
                    </a:cubicBezTo>
                    <a:cubicBezTo>
                      <a:pt x="719" y="0"/>
                      <a:pt x="926" y="144"/>
                      <a:pt x="926" y="322"/>
                    </a:cubicBezTo>
                    <a:cubicBezTo>
                      <a:pt x="926" y="501"/>
                      <a:pt x="719" y="645"/>
                      <a:pt x="463" y="645"/>
                    </a:cubicBezTo>
                    <a:cubicBezTo>
                      <a:pt x="207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CD7E5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" name="path"/>
              <p:cNvSpPr/>
              <p:nvPr/>
            </p:nvSpPr>
            <p:spPr>
              <a:xfrm>
                <a:off x="0" y="0"/>
                <a:ext cx="600964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6" h="665">
                    <a:moveTo>
                      <a:pt x="10" y="332"/>
                    </a:moveTo>
                    <a:cubicBezTo>
                      <a:pt x="10" y="154"/>
                      <a:pt x="217" y="10"/>
                      <a:pt x="473" y="10"/>
                    </a:cubicBezTo>
                    <a:cubicBezTo>
                      <a:pt x="729" y="10"/>
                      <a:pt x="936" y="154"/>
                      <a:pt x="936" y="332"/>
                    </a:cubicBezTo>
                    <a:cubicBezTo>
                      <a:pt x="936" y="511"/>
                      <a:pt x="729" y="655"/>
                      <a:pt x="473" y="655"/>
                    </a:cubicBezTo>
                    <a:cubicBezTo>
                      <a:pt x="217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3" name="textbox 253"/>
            <p:cNvSpPr/>
            <p:nvPr/>
          </p:nvSpPr>
          <p:spPr>
            <a:xfrm>
              <a:off x="-12700" y="-12700"/>
              <a:ext cx="626744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7000"/>
                </a:lnSpc>
              </a:pPr>
              <a:endParaRPr lang="en-US" altLang="en-US" sz="100" dirty="0"/>
            </a:p>
            <a:p>
              <a:pPr marL="207645" algn="l" rtl="0" eaLnBrk="0">
                <a:lnSpc>
                  <a:spcPct val="80000"/>
                </a:lnSpc>
              </a:pPr>
              <a:r>
                <a:rPr sz="120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AR</a:t>
              </a:r>
              <a:endParaRPr lang="en-US" altLang="en-US" sz="1200" dirty="0"/>
            </a:p>
          </p:txBody>
        </p:sp>
      </p:grpSp>
      <p:grpSp>
        <p:nvGrpSpPr>
          <p:cNvPr id="64" name="group 64"/>
          <p:cNvGrpSpPr/>
          <p:nvPr/>
        </p:nvGrpSpPr>
        <p:grpSpPr>
          <a:xfrm rot="21600000">
            <a:off x="7715757" y="2133346"/>
            <a:ext cx="600964" cy="422656"/>
            <a:chOff x="0" y="0"/>
            <a:chExt cx="600964" cy="422656"/>
          </a:xfrm>
        </p:grpSpPr>
        <p:grpSp>
          <p:nvGrpSpPr>
            <p:cNvPr id="66" name="group 66"/>
            <p:cNvGrpSpPr/>
            <p:nvPr/>
          </p:nvGrpSpPr>
          <p:grpSpPr>
            <a:xfrm rot="21600000">
              <a:off x="0" y="0"/>
              <a:ext cx="600964" cy="422656"/>
              <a:chOff x="0" y="0"/>
              <a:chExt cx="600964" cy="422656"/>
            </a:xfrm>
          </p:grpSpPr>
          <p:sp>
            <p:nvSpPr>
              <p:cNvPr id="254" name="path"/>
              <p:cNvSpPr/>
              <p:nvPr/>
            </p:nvSpPr>
            <p:spPr>
              <a:xfrm>
                <a:off x="6350" y="6350"/>
                <a:ext cx="588264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6" h="645">
                    <a:moveTo>
                      <a:pt x="0" y="322"/>
                    </a:moveTo>
                    <a:cubicBezTo>
                      <a:pt x="0" y="144"/>
                      <a:pt x="207" y="0"/>
                      <a:pt x="463" y="0"/>
                    </a:cubicBezTo>
                    <a:cubicBezTo>
                      <a:pt x="719" y="0"/>
                      <a:pt x="926" y="144"/>
                      <a:pt x="926" y="322"/>
                    </a:cubicBezTo>
                    <a:cubicBezTo>
                      <a:pt x="926" y="501"/>
                      <a:pt x="719" y="645"/>
                      <a:pt x="463" y="645"/>
                    </a:cubicBezTo>
                    <a:cubicBezTo>
                      <a:pt x="207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path"/>
              <p:cNvSpPr/>
              <p:nvPr/>
            </p:nvSpPr>
            <p:spPr>
              <a:xfrm>
                <a:off x="0" y="0"/>
                <a:ext cx="600964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6" h="665">
                    <a:moveTo>
                      <a:pt x="10" y="332"/>
                    </a:moveTo>
                    <a:cubicBezTo>
                      <a:pt x="10" y="154"/>
                      <a:pt x="217" y="10"/>
                      <a:pt x="473" y="10"/>
                    </a:cubicBezTo>
                    <a:cubicBezTo>
                      <a:pt x="729" y="10"/>
                      <a:pt x="936" y="154"/>
                      <a:pt x="936" y="332"/>
                    </a:cubicBezTo>
                    <a:cubicBezTo>
                      <a:pt x="936" y="511"/>
                      <a:pt x="729" y="655"/>
                      <a:pt x="473" y="655"/>
                    </a:cubicBezTo>
                    <a:cubicBezTo>
                      <a:pt x="217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6" name="textbox 256"/>
            <p:cNvSpPr/>
            <p:nvPr/>
          </p:nvSpPr>
          <p:spPr>
            <a:xfrm>
              <a:off x="-12700" y="-12700"/>
              <a:ext cx="626744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marL="224790" algn="l" rtl="0" eaLnBrk="0">
                <a:lnSpc>
                  <a:spcPct val="80000"/>
                </a:lnSpc>
                <a:spcBef>
                  <a:spcPts val="5"/>
                </a:spcBef>
              </a:pPr>
              <a:r>
                <a:rPr sz="120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</a:t>
              </a: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68" name="group 68"/>
          <p:cNvGrpSpPr/>
          <p:nvPr/>
        </p:nvGrpSpPr>
        <p:grpSpPr>
          <a:xfrm rot="21600000">
            <a:off x="10297414" y="2133346"/>
            <a:ext cx="600964" cy="422656"/>
            <a:chOff x="0" y="0"/>
            <a:chExt cx="600964" cy="422656"/>
          </a:xfrm>
        </p:grpSpPr>
        <p:grpSp>
          <p:nvGrpSpPr>
            <p:cNvPr id="70" name="group 70"/>
            <p:cNvGrpSpPr/>
            <p:nvPr/>
          </p:nvGrpSpPr>
          <p:grpSpPr>
            <a:xfrm rot="21600000">
              <a:off x="0" y="0"/>
              <a:ext cx="600964" cy="422656"/>
              <a:chOff x="0" y="0"/>
              <a:chExt cx="600964" cy="422656"/>
            </a:xfrm>
          </p:grpSpPr>
          <p:sp>
            <p:nvSpPr>
              <p:cNvPr id="257" name="path"/>
              <p:cNvSpPr/>
              <p:nvPr/>
            </p:nvSpPr>
            <p:spPr>
              <a:xfrm>
                <a:off x="6350" y="6350"/>
                <a:ext cx="588264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6" h="645">
                    <a:moveTo>
                      <a:pt x="0" y="322"/>
                    </a:moveTo>
                    <a:cubicBezTo>
                      <a:pt x="0" y="144"/>
                      <a:pt x="207" y="0"/>
                      <a:pt x="463" y="0"/>
                    </a:cubicBezTo>
                    <a:cubicBezTo>
                      <a:pt x="719" y="0"/>
                      <a:pt x="926" y="144"/>
                      <a:pt x="926" y="322"/>
                    </a:cubicBezTo>
                    <a:cubicBezTo>
                      <a:pt x="926" y="501"/>
                      <a:pt x="719" y="645"/>
                      <a:pt x="463" y="645"/>
                    </a:cubicBezTo>
                    <a:cubicBezTo>
                      <a:pt x="207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" name="path"/>
              <p:cNvSpPr/>
              <p:nvPr/>
            </p:nvSpPr>
            <p:spPr>
              <a:xfrm>
                <a:off x="0" y="0"/>
                <a:ext cx="600964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6" h="665">
                    <a:moveTo>
                      <a:pt x="10" y="332"/>
                    </a:moveTo>
                    <a:cubicBezTo>
                      <a:pt x="10" y="154"/>
                      <a:pt x="217" y="10"/>
                      <a:pt x="473" y="10"/>
                    </a:cubicBezTo>
                    <a:cubicBezTo>
                      <a:pt x="729" y="10"/>
                      <a:pt x="936" y="154"/>
                      <a:pt x="936" y="332"/>
                    </a:cubicBezTo>
                    <a:cubicBezTo>
                      <a:pt x="936" y="511"/>
                      <a:pt x="729" y="655"/>
                      <a:pt x="473" y="655"/>
                    </a:cubicBezTo>
                    <a:cubicBezTo>
                      <a:pt x="217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9" name="textbox 259"/>
            <p:cNvSpPr/>
            <p:nvPr/>
          </p:nvSpPr>
          <p:spPr>
            <a:xfrm>
              <a:off x="-12700" y="-12700"/>
              <a:ext cx="626744" cy="48323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lang="en-US" altLang="en-US" sz="1000" dirty="0"/>
            </a:p>
            <a:p>
              <a:pPr marL="214630" algn="l" rtl="0" eaLnBrk="0">
                <a:lnSpc>
                  <a:spcPct val="81000"/>
                </a:lnSpc>
                <a:spcBef>
                  <a:spcPts val="0"/>
                </a:spcBef>
              </a:pP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</a:t>
              </a:r>
              <a:r>
                <a:rPr sz="120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72" name="group 72"/>
          <p:cNvGrpSpPr/>
          <p:nvPr/>
        </p:nvGrpSpPr>
        <p:grpSpPr>
          <a:xfrm rot="21600000">
            <a:off x="4032250" y="1723389"/>
            <a:ext cx="599440" cy="422656"/>
            <a:chOff x="0" y="0"/>
            <a:chExt cx="599440" cy="422656"/>
          </a:xfrm>
        </p:grpSpPr>
        <p:grpSp>
          <p:nvGrpSpPr>
            <p:cNvPr id="74" name="group 74"/>
            <p:cNvGrpSpPr/>
            <p:nvPr/>
          </p:nvGrpSpPr>
          <p:grpSpPr>
            <a:xfrm rot="21600000">
              <a:off x="0" y="0"/>
              <a:ext cx="599440" cy="422656"/>
              <a:chOff x="0" y="0"/>
              <a:chExt cx="599440" cy="422656"/>
            </a:xfrm>
          </p:grpSpPr>
          <p:sp>
            <p:nvSpPr>
              <p:cNvPr id="260" name="path"/>
              <p:cNvSpPr/>
              <p:nvPr/>
            </p:nvSpPr>
            <p:spPr>
              <a:xfrm>
                <a:off x="6350" y="6350"/>
                <a:ext cx="586740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4" h="645">
                    <a:moveTo>
                      <a:pt x="0" y="322"/>
                    </a:moveTo>
                    <a:cubicBezTo>
                      <a:pt x="0" y="144"/>
                      <a:pt x="206" y="0"/>
                      <a:pt x="462" y="0"/>
                    </a:cubicBezTo>
                    <a:cubicBezTo>
                      <a:pt x="717" y="0"/>
                      <a:pt x="924" y="144"/>
                      <a:pt x="924" y="322"/>
                    </a:cubicBezTo>
                    <a:cubicBezTo>
                      <a:pt x="924" y="501"/>
                      <a:pt x="717" y="645"/>
                      <a:pt x="462" y="645"/>
                    </a:cubicBezTo>
                    <a:cubicBezTo>
                      <a:pt x="206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CD7E5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" name="path"/>
              <p:cNvSpPr/>
              <p:nvPr/>
            </p:nvSpPr>
            <p:spPr>
              <a:xfrm>
                <a:off x="0" y="0"/>
                <a:ext cx="599440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4" h="665">
                    <a:moveTo>
                      <a:pt x="10" y="332"/>
                    </a:moveTo>
                    <a:cubicBezTo>
                      <a:pt x="10" y="154"/>
                      <a:pt x="216" y="10"/>
                      <a:pt x="472" y="10"/>
                    </a:cubicBezTo>
                    <a:cubicBezTo>
                      <a:pt x="727" y="10"/>
                      <a:pt x="934" y="154"/>
                      <a:pt x="934" y="332"/>
                    </a:cubicBezTo>
                    <a:cubicBezTo>
                      <a:pt x="934" y="511"/>
                      <a:pt x="727" y="655"/>
                      <a:pt x="472" y="655"/>
                    </a:cubicBezTo>
                    <a:cubicBezTo>
                      <a:pt x="216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2" name="textbox 262"/>
            <p:cNvSpPr/>
            <p:nvPr/>
          </p:nvSpPr>
          <p:spPr>
            <a:xfrm>
              <a:off x="-12700" y="-12700"/>
              <a:ext cx="625475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7000"/>
                </a:lnSpc>
              </a:pPr>
              <a:endParaRPr lang="en-US" altLang="en-US" sz="100" dirty="0"/>
            </a:p>
            <a:p>
              <a:pPr marL="206375" algn="l" rtl="0" eaLnBrk="0">
                <a:lnSpc>
                  <a:spcPct val="80000"/>
                </a:lnSpc>
              </a:pPr>
              <a:r>
                <a:rPr sz="120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AR</a:t>
              </a:r>
              <a:endParaRPr lang="en-US" altLang="en-US" sz="1200" dirty="0"/>
            </a:p>
          </p:txBody>
        </p:sp>
      </p:grpSp>
      <p:grpSp>
        <p:nvGrpSpPr>
          <p:cNvPr id="76" name="group 76"/>
          <p:cNvGrpSpPr/>
          <p:nvPr/>
        </p:nvGrpSpPr>
        <p:grpSpPr>
          <a:xfrm rot="21600000">
            <a:off x="4399533" y="2133346"/>
            <a:ext cx="599440" cy="422656"/>
            <a:chOff x="0" y="0"/>
            <a:chExt cx="599440" cy="422656"/>
          </a:xfrm>
        </p:grpSpPr>
        <p:grpSp>
          <p:nvGrpSpPr>
            <p:cNvPr id="78" name="group 78"/>
            <p:cNvGrpSpPr/>
            <p:nvPr/>
          </p:nvGrpSpPr>
          <p:grpSpPr>
            <a:xfrm rot="21600000">
              <a:off x="0" y="0"/>
              <a:ext cx="599440" cy="422656"/>
              <a:chOff x="0" y="0"/>
              <a:chExt cx="599440" cy="422656"/>
            </a:xfrm>
          </p:grpSpPr>
          <p:sp>
            <p:nvSpPr>
              <p:cNvPr id="263" name="path"/>
              <p:cNvSpPr/>
              <p:nvPr/>
            </p:nvSpPr>
            <p:spPr>
              <a:xfrm>
                <a:off x="6350" y="6350"/>
                <a:ext cx="586740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4" h="645">
                    <a:moveTo>
                      <a:pt x="0" y="322"/>
                    </a:moveTo>
                    <a:cubicBezTo>
                      <a:pt x="0" y="144"/>
                      <a:pt x="206" y="0"/>
                      <a:pt x="462" y="0"/>
                    </a:cubicBezTo>
                    <a:cubicBezTo>
                      <a:pt x="717" y="0"/>
                      <a:pt x="924" y="144"/>
                      <a:pt x="924" y="322"/>
                    </a:cubicBezTo>
                    <a:cubicBezTo>
                      <a:pt x="924" y="501"/>
                      <a:pt x="717" y="645"/>
                      <a:pt x="462" y="645"/>
                    </a:cubicBezTo>
                    <a:cubicBezTo>
                      <a:pt x="206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" name="path"/>
              <p:cNvSpPr/>
              <p:nvPr/>
            </p:nvSpPr>
            <p:spPr>
              <a:xfrm>
                <a:off x="0" y="0"/>
                <a:ext cx="599440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4" h="665">
                    <a:moveTo>
                      <a:pt x="10" y="332"/>
                    </a:moveTo>
                    <a:cubicBezTo>
                      <a:pt x="10" y="154"/>
                      <a:pt x="216" y="10"/>
                      <a:pt x="472" y="10"/>
                    </a:cubicBezTo>
                    <a:cubicBezTo>
                      <a:pt x="727" y="10"/>
                      <a:pt x="934" y="154"/>
                      <a:pt x="934" y="332"/>
                    </a:cubicBezTo>
                    <a:cubicBezTo>
                      <a:pt x="934" y="511"/>
                      <a:pt x="727" y="655"/>
                      <a:pt x="472" y="655"/>
                    </a:cubicBezTo>
                    <a:cubicBezTo>
                      <a:pt x="216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5" name="textbox 265"/>
            <p:cNvSpPr/>
            <p:nvPr/>
          </p:nvSpPr>
          <p:spPr>
            <a:xfrm>
              <a:off x="-12700" y="-12700"/>
              <a:ext cx="625475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marL="223520" algn="l" rtl="0" eaLnBrk="0">
                <a:lnSpc>
                  <a:spcPct val="80000"/>
                </a:lnSpc>
                <a:spcBef>
                  <a:spcPts val="5"/>
                </a:spcBef>
              </a:pPr>
              <a:r>
                <a:rPr sz="120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</a:t>
              </a: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80" name="group 80"/>
          <p:cNvGrpSpPr/>
          <p:nvPr/>
        </p:nvGrpSpPr>
        <p:grpSpPr>
          <a:xfrm rot="21600000">
            <a:off x="3663441" y="2133346"/>
            <a:ext cx="599440" cy="422656"/>
            <a:chOff x="0" y="0"/>
            <a:chExt cx="599440" cy="422656"/>
          </a:xfrm>
        </p:grpSpPr>
        <p:grpSp>
          <p:nvGrpSpPr>
            <p:cNvPr id="82" name="group 82"/>
            <p:cNvGrpSpPr/>
            <p:nvPr/>
          </p:nvGrpSpPr>
          <p:grpSpPr>
            <a:xfrm rot="21600000">
              <a:off x="0" y="0"/>
              <a:ext cx="599440" cy="422656"/>
              <a:chOff x="0" y="0"/>
              <a:chExt cx="599440" cy="422656"/>
            </a:xfrm>
          </p:grpSpPr>
          <p:sp>
            <p:nvSpPr>
              <p:cNvPr id="266" name="path"/>
              <p:cNvSpPr/>
              <p:nvPr/>
            </p:nvSpPr>
            <p:spPr>
              <a:xfrm>
                <a:off x="6350" y="6350"/>
                <a:ext cx="586740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4" h="645">
                    <a:moveTo>
                      <a:pt x="0" y="322"/>
                    </a:moveTo>
                    <a:cubicBezTo>
                      <a:pt x="0" y="144"/>
                      <a:pt x="206" y="0"/>
                      <a:pt x="462" y="0"/>
                    </a:cubicBezTo>
                    <a:cubicBezTo>
                      <a:pt x="717" y="0"/>
                      <a:pt x="924" y="144"/>
                      <a:pt x="924" y="322"/>
                    </a:cubicBezTo>
                    <a:cubicBezTo>
                      <a:pt x="924" y="501"/>
                      <a:pt x="717" y="645"/>
                      <a:pt x="462" y="645"/>
                    </a:cubicBezTo>
                    <a:cubicBezTo>
                      <a:pt x="206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" name="path"/>
              <p:cNvSpPr/>
              <p:nvPr/>
            </p:nvSpPr>
            <p:spPr>
              <a:xfrm>
                <a:off x="0" y="0"/>
                <a:ext cx="599440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4" h="665">
                    <a:moveTo>
                      <a:pt x="10" y="332"/>
                    </a:moveTo>
                    <a:cubicBezTo>
                      <a:pt x="10" y="154"/>
                      <a:pt x="216" y="10"/>
                      <a:pt x="472" y="10"/>
                    </a:cubicBezTo>
                    <a:cubicBezTo>
                      <a:pt x="727" y="10"/>
                      <a:pt x="934" y="154"/>
                      <a:pt x="934" y="332"/>
                    </a:cubicBezTo>
                    <a:cubicBezTo>
                      <a:pt x="934" y="511"/>
                      <a:pt x="727" y="655"/>
                      <a:pt x="472" y="655"/>
                    </a:cubicBezTo>
                    <a:cubicBezTo>
                      <a:pt x="216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8" name="textbox 268"/>
            <p:cNvSpPr/>
            <p:nvPr/>
          </p:nvSpPr>
          <p:spPr>
            <a:xfrm>
              <a:off x="-12700" y="-12700"/>
              <a:ext cx="625475" cy="48323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lang="en-US" altLang="en-US" sz="1000" dirty="0"/>
            </a:p>
            <a:p>
              <a:pPr marL="213360" algn="l" rtl="0" eaLnBrk="0">
                <a:lnSpc>
                  <a:spcPct val="81000"/>
                </a:lnSpc>
                <a:spcBef>
                  <a:spcPts val="0"/>
                </a:spcBef>
              </a:pP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</a:t>
              </a:r>
              <a:r>
                <a:rPr sz="120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84" name="group 84"/>
          <p:cNvGrpSpPr/>
          <p:nvPr/>
        </p:nvGrpSpPr>
        <p:grpSpPr>
          <a:xfrm rot="21600000">
            <a:off x="5690361" y="1723389"/>
            <a:ext cx="599440" cy="422656"/>
            <a:chOff x="0" y="0"/>
            <a:chExt cx="599440" cy="422656"/>
          </a:xfrm>
        </p:grpSpPr>
        <p:grpSp>
          <p:nvGrpSpPr>
            <p:cNvPr id="86" name="group 86"/>
            <p:cNvGrpSpPr/>
            <p:nvPr/>
          </p:nvGrpSpPr>
          <p:grpSpPr>
            <a:xfrm rot="21600000">
              <a:off x="0" y="0"/>
              <a:ext cx="599440" cy="422656"/>
              <a:chOff x="0" y="0"/>
              <a:chExt cx="599440" cy="422656"/>
            </a:xfrm>
          </p:grpSpPr>
          <p:sp>
            <p:nvSpPr>
              <p:cNvPr id="269" name="path"/>
              <p:cNvSpPr/>
              <p:nvPr/>
            </p:nvSpPr>
            <p:spPr>
              <a:xfrm>
                <a:off x="6350" y="6350"/>
                <a:ext cx="586740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4" h="645">
                    <a:moveTo>
                      <a:pt x="0" y="322"/>
                    </a:moveTo>
                    <a:cubicBezTo>
                      <a:pt x="0" y="144"/>
                      <a:pt x="206" y="0"/>
                      <a:pt x="462" y="0"/>
                    </a:cubicBezTo>
                    <a:cubicBezTo>
                      <a:pt x="717" y="0"/>
                      <a:pt x="924" y="144"/>
                      <a:pt x="924" y="322"/>
                    </a:cubicBezTo>
                    <a:cubicBezTo>
                      <a:pt x="924" y="501"/>
                      <a:pt x="717" y="645"/>
                      <a:pt x="462" y="645"/>
                    </a:cubicBezTo>
                    <a:cubicBezTo>
                      <a:pt x="206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" name="path"/>
              <p:cNvSpPr/>
              <p:nvPr/>
            </p:nvSpPr>
            <p:spPr>
              <a:xfrm>
                <a:off x="0" y="0"/>
                <a:ext cx="599440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4" h="665">
                    <a:moveTo>
                      <a:pt x="10" y="332"/>
                    </a:moveTo>
                    <a:cubicBezTo>
                      <a:pt x="10" y="154"/>
                      <a:pt x="216" y="10"/>
                      <a:pt x="472" y="10"/>
                    </a:cubicBezTo>
                    <a:cubicBezTo>
                      <a:pt x="727" y="10"/>
                      <a:pt x="934" y="154"/>
                      <a:pt x="934" y="332"/>
                    </a:cubicBezTo>
                    <a:cubicBezTo>
                      <a:pt x="934" y="511"/>
                      <a:pt x="727" y="655"/>
                      <a:pt x="472" y="655"/>
                    </a:cubicBezTo>
                    <a:cubicBezTo>
                      <a:pt x="216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1" name="textbox 271"/>
            <p:cNvSpPr/>
            <p:nvPr/>
          </p:nvSpPr>
          <p:spPr>
            <a:xfrm>
              <a:off x="-12700" y="-12700"/>
              <a:ext cx="625475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7000"/>
                </a:lnSpc>
              </a:pPr>
              <a:endParaRPr lang="en-US" altLang="en-US" sz="100" dirty="0"/>
            </a:p>
            <a:p>
              <a:pPr marL="207010" algn="l" rtl="0" eaLnBrk="0">
                <a:lnSpc>
                  <a:spcPct val="80000"/>
                </a:lnSpc>
              </a:pP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AR</a:t>
              </a:r>
              <a:endParaRPr lang="en-US" altLang="en-US" sz="1200" dirty="0"/>
            </a:p>
          </p:txBody>
        </p:sp>
      </p:grpSp>
      <p:grpSp>
        <p:nvGrpSpPr>
          <p:cNvPr id="88" name="group 88"/>
          <p:cNvGrpSpPr/>
          <p:nvPr/>
        </p:nvGrpSpPr>
        <p:grpSpPr>
          <a:xfrm rot="21600000">
            <a:off x="8639302" y="2133346"/>
            <a:ext cx="599440" cy="422656"/>
            <a:chOff x="0" y="0"/>
            <a:chExt cx="599440" cy="422656"/>
          </a:xfrm>
        </p:grpSpPr>
        <p:grpSp>
          <p:nvGrpSpPr>
            <p:cNvPr id="90" name="group 90"/>
            <p:cNvGrpSpPr/>
            <p:nvPr/>
          </p:nvGrpSpPr>
          <p:grpSpPr>
            <a:xfrm rot="21600000">
              <a:off x="0" y="0"/>
              <a:ext cx="599440" cy="422656"/>
              <a:chOff x="0" y="0"/>
              <a:chExt cx="599440" cy="422656"/>
            </a:xfrm>
          </p:grpSpPr>
          <p:sp>
            <p:nvSpPr>
              <p:cNvPr id="272" name="path"/>
              <p:cNvSpPr/>
              <p:nvPr/>
            </p:nvSpPr>
            <p:spPr>
              <a:xfrm>
                <a:off x="6350" y="6350"/>
                <a:ext cx="586740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4" h="645">
                    <a:moveTo>
                      <a:pt x="0" y="322"/>
                    </a:moveTo>
                    <a:cubicBezTo>
                      <a:pt x="0" y="144"/>
                      <a:pt x="206" y="0"/>
                      <a:pt x="461" y="0"/>
                    </a:cubicBezTo>
                    <a:cubicBezTo>
                      <a:pt x="717" y="0"/>
                      <a:pt x="924" y="144"/>
                      <a:pt x="924" y="322"/>
                    </a:cubicBezTo>
                    <a:cubicBezTo>
                      <a:pt x="924" y="501"/>
                      <a:pt x="717" y="645"/>
                      <a:pt x="461" y="645"/>
                    </a:cubicBezTo>
                    <a:cubicBezTo>
                      <a:pt x="206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" name="path"/>
              <p:cNvSpPr/>
              <p:nvPr/>
            </p:nvSpPr>
            <p:spPr>
              <a:xfrm>
                <a:off x="0" y="0"/>
                <a:ext cx="599440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4" h="665">
                    <a:moveTo>
                      <a:pt x="10" y="332"/>
                    </a:moveTo>
                    <a:cubicBezTo>
                      <a:pt x="10" y="154"/>
                      <a:pt x="216" y="10"/>
                      <a:pt x="471" y="10"/>
                    </a:cubicBezTo>
                    <a:cubicBezTo>
                      <a:pt x="727" y="10"/>
                      <a:pt x="934" y="154"/>
                      <a:pt x="934" y="332"/>
                    </a:cubicBezTo>
                    <a:cubicBezTo>
                      <a:pt x="934" y="511"/>
                      <a:pt x="727" y="655"/>
                      <a:pt x="471" y="655"/>
                    </a:cubicBezTo>
                    <a:cubicBezTo>
                      <a:pt x="216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4" name="textbox 274"/>
            <p:cNvSpPr/>
            <p:nvPr/>
          </p:nvSpPr>
          <p:spPr>
            <a:xfrm>
              <a:off x="-12700" y="-12700"/>
              <a:ext cx="625475" cy="48323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lang="en-US" altLang="en-US" sz="1000" dirty="0"/>
            </a:p>
            <a:p>
              <a:pPr marL="213995" algn="l" rtl="0" eaLnBrk="0">
                <a:lnSpc>
                  <a:spcPct val="81000"/>
                </a:lnSpc>
                <a:spcBef>
                  <a:spcPts val="0"/>
                </a:spcBef>
              </a:pP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</a:t>
              </a:r>
              <a:r>
                <a:rPr sz="120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92" name="group 92"/>
          <p:cNvGrpSpPr/>
          <p:nvPr/>
        </p:nvGrpSpPr>
        <p:grpSpPr>
          <a:xfrm rot="21600000">
            <a:off x="10666221" y="1723389"/>
            <a:ext cx="599440" cy="422656"/>
            <a:chOff x="0" y="0"/>
            <a:chExt cx="599440" cy="422656"/>
          </a:xfrm>
        </p:grpSpPr>
        <p:grpSp>
          <p:nvGrpSpPr>
            <p:cNvPr id="94" name="group 94"/>
            <p:cNvGrpSpPr/>
            <p:nvPr/>
          </p:nvGrpSpPr>
          <p:grpSpPr>
            <a:xfrm rot="21600000">
              <a:off x="0" y="0"/>
              <a:ext cx="599440" cy="422656"/>
              <a:chOff x="0" y="0"/>
              <a:chExt cx="599440" cy="422656"/>
            </a:xfrm>
          </p:grpSpPr>
          <p:sp>
            <p:nvSpPr>
              <p:cNvPr id="275" name="path"/>
              <p:cNvSpPr/>
              <p:nvPr/>
            </p:nvSpPr>
            <p:spPr>
              <a:xfrm>
                <a:off x="6350" y="6350"/>
                <a:ext cx="586740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4" h="645">
                    <a:moveTo>
                      <a:pt x="0" y="322"/>
                    </a:moveTo>
                    <a:cubicBezTo>
                      <a:pt x="0" y="144"/>
                      <a:pt x="206" y="0"/>
                      <a:pt x="461" y="0"/>
                    </a:cubicBezTo>
                    <a:cubicBezTo>
                      <a:pt x="717" y="0"/>
                      <a:pt x="924" y="144"/>
                      <a:pt x="924" y="322"/>
                    </a:cubicBezTo>
                    <a:cubicBezTo>
                      <a:pt x="924" y="501"/>
                      <a:pt x="717" y="645"/>
                      <a:pt x="461" y="645"/>
                    </a:cubicBezTo>
                    <a:cubicBezTo>
                      <a:pt x="206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CD7E5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" name="path"/>
              <p:cNvSpPr/>
              <p:nvPr/>
            </p:nvSpPr>
            <p:spPr>
              <a:xfrm>
                <a:off x="0" y="0"/>
                <a:ext cx="599440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4" h="665">
                    <a:moveTo>
                      <a:pt x="10" y="332"/>
                    </a:moveTo>
                    <a:cubicBezTo>
                      <a:pt x="10" y="154"/>
                      <a:pt x="216" y="10"/>
                      <a:pt x="471" y="10"/>
                    </a:cubicBezTo>
                    <a:cubicBezTo>
                      <a:pt x="727" y="10"/>
                      <a:pt x="934" y="154"/>
                      <a:pt x="934" y="332"/>
                    </a:cubicBezTo>
                    <a:cubicBezTo>
                      <a:pt x="934" y="511"/>
                      <a:pt x="727" y="655"/>
                      <a:pt x="471" y="655"/>
                    </a:cubicBezTo>
                    <a:cubicBezTo>
                      <a:pt x="216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7" name="textbox 277"/>
            <p:cNvSpPr/>
            <p:nvPr/>
          </p:nvSpPr>
          <p:spPr>
            <a:xfrm>
              <a:off x="-12700" y="-12700"/>
              <a:ext cx="625475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7000"/>
                </a:lnSpc>
              </a:pPr>
              <a:endParaRPr lang="en-US" altLang="en-US" sz="100" dirty="0"/>
            </a:p>
            <a:p>
              <a:pPr marL="207645" algn="l" rtl="0" eaLnBrk="0">
                <a:lnSpc>
                  <a:spcPct val="80000"/>
                </a:lnSpc>
              </a:pPr>
              <a:r>
                <a:rPr sz="120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AR</a:t>
              </a:r>
              <a:endParaRPr lang="en-US" altLang="en-US" sz="1200" dirty="0"/>
            </a:p>
          </p:txBody>
        </p:sp>
      </p:grpSp>
      <p:grpSp>
        <p:nvGrpSpPr>
          <p:cNvPr id="96" name="group 96"/>
          <p:cNvGrpSpPr/>
          <p:nvPr/>
        </p:nvGrpSpPr>
        <p:grpSpPr>
          <a:xfrm rot="21600000">
            <a:off x="9375394" y="2133346"/>
            <a:ext cx="599440" cy="422656"/>
            <a:chOff x="0" y="0"/>
            <a:chExt cx="599440" cy="422656"/>
          </a:xfrm>
        </p:grpSpPr>
        <p:grpSp>
          <p:nvGrpSpPr>
            <p:cNvPr id="98" name="group 98"/>
            <p:cNvGrpSpPr/>
            <p:nvPr/>
          </p:nvGrpSpPr>
          <p:grpSpPr>
            <a:xfrm rot="21600000">
              <a:off x="0" y="0"/>
              <a:ext cx="599440" cy="422656"/>
              <a:chOff x="0" y="0"/>
              <a:chExt cx="599440" cy="422656"/>
            </a:xfrm>
          </p:grpSpPr>
          <p:sp>
            <p:nvSpPr>
              <p:cNvPr id="278" name="path"/>
              <p:cNvSpPr/>
              <p:nvPr/>
            </p:nvSpPr>
            <p:spPr>
              <a:xfrm>
                <a:off x="6350" y="6350"/>
                <a:ext cx="586740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4" h="645">
                    <a:moveTo>
                      <a:pt x="0" y="322"/>
                    </a:moveTo>
                    <a:cubicBezTo>
                      <a:pt x="0" y="144"/>
                      <a:pt x="206" y="0"/>
                      <a:pt x="461" y="0"/>
                    </a:cubicBezTo>
                    <a:cubicBezTo>
                      <a:pt x="717" y="0"/>
                      <a:pt x="924" y="144"/>
                      <a:pt x="924" y="322"/>
                    </a:cubicBezTo>
                    <a:cubicBezTo>
                      <a:pt x="924" y="501"/>
                      <a:pt x="717" y="645"/>
                      <a:pt x="461" y="645"/>
                    </a:cubicBezTo>
                    <a:cubicBezTo>
                      <a:pt x="206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CD7E5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" name="path"/>
              <p:cNvSpPr/>
              <p:nvPr/>
            </p:nvSpPr>
            <p:spPr>
              <a:xfrm>
                <a:off x="0" y="0"/>
                <a:ext cx="599440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4" h="665">
                    <a:moveTo>
                      <a:pt x="10" y="332"/>
                    </a:moveTo>
                    <a:cubicBezTo>
                      <a:pt x="10" y="154"/>
                      <a:pt x="216" y="10"/>
                      <a:pt x="471" y="10"/>
                    </a:cubicBezTo>
                    <a:cubicBezTo>
                      <a:pt x="727" y="10"/>
                      <a:pt x="934" y="154"/>
                      <a:pt x="934" y="332"/>
                    </a:cubicBezTo>
                    <a:cubicBezTo>
                      <a:pt x="934" y="511"/>
                      <a:pt x="727" y="655"/>
                      <a:pt x="471" y="655"/>
                    </a:cubicBezTo>
                    <a:cubicBezTo>
                      <a:pt x="216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0" name="textbox 280"/>
            <p:cNvSpPr/>
            <p:nvPr/>
          </p:nvSpPr>
          <p:spPr>
            <a:xfrm>
              <a:off x="-12700" y="-12700"/>
              <a:ext cx="625475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marL="223520" algn="l" rtl="0" eaLnBrk="0">
                <a:lnSpc>
                  <a:spcPct val="80000"/>
                </a:lnSpc>
                <a:spcBef>
                  <a:spcPts val="5"/>
                </a:spcBef>
              </a:pPr>
              <a:r>
                <a:rPr sz="1200" spc="-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</a:t>
              </a:r>
              <a:r>
                <a:rPr sz="120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100" name="group 100"/>
          <p:cNvGrpSpPr/>
          <p:nvPr/>
        </p:nvGrpSpPr>
        <p:grpSpPr>
          <a:xfrm rot="21600000">
            <a:off x="6981190" y="2133346"/>
            <a:ext cx="599440" cy="422656"/>
            <a:chOff x="0" y="0"/>
            <a:chExt cx="599440" cy="422656"/>
          </a:xfrm>
        </p:grpSpPr>
        <p:grpSp>
          <p:nvGrpSpPr>
            <p:cNvPr id="102" name="group 102"/>
            <p:cNvGrpSpPr/>
            <p:nvPr/>
          </p:nvGrpSpPr>
          <p:grpSpPr>
            <a:xfrm rot="21600000">
              <a:off x="0" y="0"/>
              <a:ext cx="599440" cy="422656"/>
              <a:chOff x="0" y="0"/>
              <a:chExt cx="599440" cy="422656"/>
            </a:xfrm>
          </p:grpSpPr>
          <p:sp>
            <p:nvSpPr>
              <p:cNvPr id="281" name="path"/>
              <p:cNvSpPr/>
              <p:nvPr/>
            </p:nvSpPr>
            <p:spPr>
              <a:xfrm>
                <a:off x="6350" y="6350"/>
                <a:ext cx="586740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4" h="645">
                    <a:moveTo>
                      <a:pt x="0" y="322"/>
                    </a:moveTo>
                    <a:cubicBezTo>
                      <a:pt x="0" y="144"/>
                      <a:pt x="206" y="0"/>
                      <a:pt x="461" y="0"/>
                    </a:cubicBezTo>
                    <a:cubicBezTo>
                      <a:pt x="717" y="0"/>
                      <a:pt x="924" y="144"/>
                      <a:pt x="924" y="322"/>
                    </a:cubicBezTo>
                    <a:cubicBezTo>
                      <a:pt x="924" y="501"/>
                      <a:pt x="717" y="645"/>
                      <a:pt x="461" y="645"/>
                    </a:cubicBezTo>
                    <a:cubicBezTo>
                      <a:pt x="206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path"/>
              <p:cNvSpPr/>
              <p:nvPr/>
            </p:nvSpPr>
            <p:spPr>
              <a:xfrm>
                <a:off x="0" y="0"/>
                <a:ext cx="599440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4" h="665">
                    <a:moveTo>
                      <a:pt x="10" y="332"/>
                    </a:moveTo>
                    <a:cubicBezTo>
                      <a:pt x="10" y="154"/>
                      <a:pt x="216" y="10"/>
                      <a:pt x="471" y="10"/>
                    </a:cubicBezTo>
                    <a:cubicBezTo>
                      <a:pt x="727" y="10"/>
                      <a:pt x="934" y="154"/>
                      <a:pt x="934" y="332"/>
                    </a:cubicBezTo>
                    <a:cubicBezTo>
                      <a:pt x="934" y="511"/>
                      <a:pt x="727" y="655"/>
                      <a:pt x="471" y="655"/>
                    </a:cubicBezTo>
                    <a:cubicBezTo>
                      <a:pt x="216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3" name="textbox 283"/>
            <p:cNvSpPr/>
            <p:nvPr/>
          </p:nvSpPr>
          <p:spPr>
            <a:xfrm>
              <a:off x="-12700" y="-12700"/>
              <a:ext cx="625475" cy="48323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lang="en-US" altLang="en-US" sz="1000" dirty="0"/>
            </a:p>
            <a:p>
              <a:pPr marL="213360" algn="l" rtl="0" eaLnBrk="0">
                <a:lnSpc>
                  <a:spcPct val="81000"/>
                </a:lnSpc>
                <a:spcBef>
                  <a:spcPts val="0"/>
                </a:spcBef>
              </a:pP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</a:t>
              </a:r>
              <a:r>
                <a:rPr sz="120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grpSp>
        <p:nvGrpSpPr>
          <p:cNvPr id="104" name="group 104"/>
          <p:cNvGrpSpPr/>
          <p:nvPr/>
        </p:nvGrpSpPr>
        <p:grpSpPr>
          <a:xfrm rot="21600000">
            <a:off x="9008109" y="1723389"/>
            <a:ext cx="599440" cy="422656"/>
            <a:chOff x="0" y="0"/>
            <a:chExt cx="599440" cy="422656"/>
          </a:xfrm>
        </p:grpSpPr>
        <p:grpSp>
          <p:nvGrpSpPr>
            <p:cNvPr id="106" name="group 106"/>
            <p:cNvGrpSpPr/>
            <p:nvPr/>
          </p:nvGrpSpPr>
          <p:grpSpPr>
            <a:xfrm rot="21600000">
              <a:off x="0" y="0"/>
              <a:ext cx="599440" cy="422656"/>
              <a:chOff x="0" y="0"/>
              <a:chExt cx="599440" cy="422656"/>
            </a:xfrm>
          </p:grpSpPr>
          <p:sp>
            <p:nvSpPr>
              <p:cNvPr id="284" name="path"/>
              <p:cNvSpPr/>
              <p:nvPr/>
            </p:nvSpPr>
            <p:spPr>
              <a:xfrm>
                <a:off x="6350" y="6350"/>
                <a:ext cx="586740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4" h="645">
                    <a:moveTo>
                      <a:pt x="0" y="322"/>
                    </a:moveTo>
                    <a:cubicBezTo>
                      <a:pt x="0" y="144"/>
                      <a:pt x="206" y="0"/>
                      <a:pt x="461" y="0"/>
                    </a:cubicBezTo>
                    <a:cubicBezTo>
                      <a:pt x="717" y="0"/>
                      <a:pt x="924" y="144"/>
                      <a:pt x="924" y="322"/>
                    </a:cubicBezTo>
                    <a:cubicBezTo>
                      <a:pt x="924" y="501"/>
                      <a:pt x="717" y="645"/>
                      <a:pt x="461" y="645"/>
                    </a:cubicBezTo>
                    <a:cubicBezTo>
                      <a:pt x="206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" name="path"/>
              <p:cNvSpPr/>
              <p:nvPr/>
            </p:nvSpPr>
            <p:spPr>
              <a:xfrm>
                <a:off x="0" y="0"/>
                <a:ext cx="599440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4" h="665">
                    <a:moveTo>
                      <a:pt x="10" y="332"/>
                    </a:moveTo>
                    <a:cubicBezTo>
                      <a:pt x="10" y="154"/>
                      <a:pt x="216" y="10"/>
                      <a:pt x="471" y="10"/>
                    </a:cubicBezTo>
                    <a:cubicBezTo>
                      <a:pt x="727" y="10"/>
                      <a:pt x="934" y="154"/>
                      <a:pt x="934" y="332"/>
                    </a:cubicBezTo>
                    <a:cubicBezTo>
                      <a:pt x="934" y="511"/>
                      <a:pt x="727" y="655"/>
                      <a:pt x="471" y="655"/>
                    </a:cubicBezTo>
                    <a:cubicBezTo>
                      <a:pt x="216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6" name="textbox 286"/>
            <p:cNvSpPr/>
            <p:nvPr/>
          </p:nvSpPr>
          <p:spPr>
            <a:xfrm>
              <a:off x="-12700" y="-12700"/>
              <a:ext cx="625475" cy="48514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7000"/>
                </a:lnSpc>
              </a:pPr>
              <a:endParaRPr lang="en-US" altLang="en-US" sz="100" dirty="0"/>
            </a:p>
            <a:p>
              <a:pPr marL="207010" algn="l" rtl="0" eaLnBrk="0">
                <a:lnSpc>
                  <a:spcPct val="80000"/>
                </a:lnSpc>
              </a:pP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AR</a:t>
              </a:r>
              <a:endParaRPr lang="en-US" altLang="en-US" sz="1200" dirty="0"/>
            </a:p>
          </p:txBody>
        </p:sp>
      </p:grpSp>
      <p:grpSp>
        <p:nvGrpSpPr>
          <p:cNvPr id="108" name="group 108"/>
          <p:cNvGrpSpPr/>
          <p:nvPr/>
        </p:nvGrpSpPr>
        <p:grpSpPr>
          <a:xfrm rot="21600000">
            <a:off x="2005329" y="2133346"/>
            <a:ext cx="599439" cy="422656"/>
            <a:chOff x="0" y="0"/>
            <a:chExt cx="599439" cy="422656"/>
          </a:xfrm>
        </p:grpSpPr>
        <p:grpSp>
          <p:nvGrpSpPr>
            <p:cNvPr id="110" name="group 110"/>
            <p:cNvGrpSpPr/>
            <p:nvPr/>
          </p:nvGrpSpPr>
          <p:grpSpPr>
            <a:xfrm rot="21600000">
              <a:off x="0" y="0"/>
              <a:ext cx="599439" cy="422656"/>
              <a:chOff x="0" y="0"/>
              <a:chExt cx="599439" cy="422656"/>
            </a:xfrm>
          </p:grpSpPr>
          <p:sp>
            <p:nvSpPr>
              <p:cNvPr id="287" name="path"/>
              <p:cNvSpPr/>
              <p:nvPr/>
            </p:nvSpPr>
            <p:spPr>
              <a:xfrm>
                <a:off x="6350" y="6350"/>
                <a:ext cx="586739" cy="409956"/>
              </a:xfrm>
              <a:custGeom>
                <a:avLst/>
                <a:gdLst/>
                <a:ahLst/>
                <a:cxnLst/>
                <a:rect l="0" t="0" r="0" b="0"/>
                <a:pathLst>
                  <a:path w="923" h="645">
                    <a:moveTo>
                      <a:pt x="0" y="322"/>
                    </a:moveTo>
                    <a:cubicBezTo>
                      <a:pt x="0" y="144"/>
                      <a:pt x="206" y="0"/>
                      <a:pt x="462" y="0"/>
                    </a:cubicBezTo>
                    <a:cubicBezTo>
                      <a:pt x="717" y="0"/>
                      <a:pt x="923" y="144"/>
                      <a:pt x="923" y="322"/>
                    </a:cubicBezTo>
                    <a:cubicBezTo>
                      <a:pt x="923" y="501"/>
                      <a:pt x="717" y="645"/>
                      <a:pt x="462" y="645"/>
                    </a:cubicBezTo>
                    <a:cubicBezTo>
                      <a:pt x="206" y="645"/>
                      <a:pt x="0" y="501"/>
                      <a:pt x="0" y="322"/>
                    </a:cubicBezTo>
                  </a:path>
                </a:pathLst>
              </a:custGeom>
              <a:solidFill>
                <a:srgbClr val="DEF3F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" name="path"/>
              <p:cNvSpPr/>
              <p:nvPr/>
            </p:nvSpPr>
            <p:spPr>
              <a:xfrm>
                <a:off x="0" y="0"/>
                <a:ext cx="599439" cy="422656"/>
              </a:xfrm>
              <a:custGeom>
                <a:avLst/>
                <a:gdLst/>
                <a:ahLst/>
                <a:cxnLst/>
                <a:rect l="0" t="0" r="0" b="0"/>
                <a:pathLst>
                  <a:path w="943" h="665">
                    <a:moveTo>
                      <a:pt x="10" y="332"/>
                    </a:moveTo>
                    <a:cubicBezTo>
                      <a:pt x="10" y="154"/>
                      <a:pt x="216" y="10"/>
                      <a:pt x="472" y="10"/>
                    </a:cubicBezTo>
                    <a:cubicBezTo>
                      <a:pt x="727" y="10"/>
                      <a:pt x="933" y="154"/>
                      <a:pt x="933" y="332"/>
                    </a:cubicBezTo>
                    <a:cubicBezTo>
                      <a:pt x="933" y="511"/>
                      <a:pt x="727" y="655"/>
                      <a:pt x="472" y="655"/>
                    </a:cubicBezTo>
                    <a:cubicBezTo>
                      <a:pt x="216" y="655"/>
                      <a:pt x="10" y="511"/>
                      <a:pt x="10" y="332"/>
                    </a:cubicBezTo>
                  </a:path>
                </a:pathLst>
              </a:custGeom>
              <a:noFill/>
              <a:ln w="12700" cap="flat">
                <a:solidFill>
                  <a:srgbClr val="7F7F7F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9" name="textbox 289"/>
            <p:cNvSpPr/>
            <p:nvPr/>
          </p:nvSpPr>
          <p:spPr>
            <a:xfrm>
              <a:off x="-12700" y="-12700"/>
              <a:ext cx="624840" cy="48323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lang="en-US" altLang="en-US" sz="1000" dirty="0"/>
            </a:p>
            <a:p>
              <a:pPr marL="212725" algn="l" rtl="0" eaLnBrk="0">
                <a:lnSpc>
                  <a:spcPct val="81000"/>
                </a:lnSpc>
                <a:spcBef>
                  <a:spcPts val="0"/>
                </a:spcBef>
              </a:pPr>
              <a:r>
                <a:rPr sz="12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</a:t>
              </a:r>
              <a:r>
                <a:rPr sz="120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endParaRPr lang="en-US" altLang="en-US" sz="1200" dirty="0"/>
            </a:p>
          </p:txBody>
        </p:sp>
      </p:grpSp>
      <p:sp>
        <p:nvSpPr>
          <p:cNvPr id="290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12" name="group 112"/>
          <p:cNvGrpSpPr/>
          <p:nvPr/>
        </p:nvGrpSpPr>
        <p:grpSpPr>
          <a:xfrm rot="21600000">
            <a:off x="10835512" y="3988180"/>
            <a:ext cx="402590" cy="402590"/>
            <a:chOff x="0" y="0"/>
            <a:chExt cx="402590" cy="402590"/>
          </a:xfrm>
        </p:grpSpPr>
        <p:sp>
          <p:nvSpPr>
            <p:cNvPr id="291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1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1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2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6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6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3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624" y="312"/>
                  </a:move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  <a:cubicBezTo>
                    <a:pt x="0" y="139"/>
                    <a:pt x="139" y="0"/>
                    <a:pt x="312" y="0"/>
                  </a:cubicBezTo>
                  <a:lnTo>
                    <a:pt x="312" y="312"/>
                  </a:lnTo>
                  <a:lnTo>
                    <a:pt x="624" y="312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4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629" y="317"/>
                  </a:move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  <a:cubicBezTo>
                    <a:pt x="5" y="144"/>
                    <a:pt x="144" y="5"/>
                    <a:pt x="317" y="5"/>
                  </a:cubicBezTo>
                  <a:lnTo>
                    <a:pt x="317" y="317"/>
                  </a:lnTo>
                  <a:lnTo>
                    <a:pt x="629" y="317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4" name="group 114"/>
          <p:cNvGrpSpPr/>
          <p:nvPr/>
        </p:nvGrpSpPr>
        <p:grpSpPr>
          <a:xfrm rot="21600000">
            <a:off x="10835512" y="4939157"/>
            <a:ext cx="402590" cy="402590"/>
            <a:chOff x="0" y="0"/>
            <a:chExt cx="402590" cy="402590"/>
          </a:xfrm>
        </p:grpSpPr>
        <p:sp>
          <p:nvSpPr>
            <p:cNvPr id="295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1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1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6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6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6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7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624" y="312"/>
                  </a:move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  <a:cubicBezTo>
                    <a:pt x="0" y="139"/>
                    <a:pt x="139" y="0"/>
                    <a:pt x="312" y="0"/>
                  </a:cubicBezTo>
                  <a:lnTo>
                    <a:pt x="312" y="312"/>
                  </a:lnTo>
                  <a:lnTo>
                    <a:pt x="624" y="312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8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629" y="317"/>
                  </a:move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  <a:cubicBezTo>
                    <a:pt x="5" y="144"/>
                    <a:pt x="144" y="5"/>
                    <a:pt x="317" y="5"/>
                  </a:cubicBezTo>
                  <a:lnTo>
                    <a:pt x="317" y="317"/>
                  </a:lnTo>
                  <a:lnTo>
                    <a:pt x="629" y="317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6" name="group 116"/>
          <p:cNvGrpSpPr/>
          <p:nvPr/>
        </p:nvGrpSpPr>
        <p:grpSpPr>
          <a:xfrm rot="21600000">
            <a:off x="4012564" y="3988180"/>
            <a:ext cx="402590" cy="402590"/>
            <a:chOff x="0" y="0"/>
            <a:chExt cx="402590" cy="402590"/>
          </a:xfrm>
        </p:grpSpPr>
        <p:sp>
          <p:nvSpPr>
            <p:cNvPr id="299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0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7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1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624" y="312"/>
                  </a:move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  <a:cubicBezTo>
                    <a:pt x="0" y="139"/>
                    <a:pt x="139" y="0"/>
                    <a:pt x="312" y="0"/>
                  </a:cubicBezTo>
                  <a:lnTo>
                    <a:pt x="312" y="312"/>
                  </a:lnTo>
                  <a:lnTo>
                    <a:pt x="624" y="312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2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629" y="317"/>
                  </a:move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  <a:cubicBezTo>
                    <a:pt x="5" y="144"/>
                    <a:pt x="144" y="5"/>
                    <a:pt x="317" y="5"/>
                  </a:cubicBezTo>
                  <a:lnTo>
                    <a:pt x="317" y="317"/>
                  </a:lnTo>
                  <a:lnTo>
                    <a:pt x="629" y="317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group 118"/>
          <p:cNvGrpSpPr/>
          <p:nvPr/>
        </p:nvGrpSpPr>
        <p:grpSpPr>
          <a:xfrm rot="21600000">
            <a:off x="5719444" y="3087496"/>
            <a:ext cx="402590" cy="402590"/>
            <a:chOff x="0" y="0"/>
            <a:chExt cx="402590" cy="402590"/>
          </a:xfrm>
        </p:grpSpPr>
        <p:sp>
          <p:nvSpPr>
            <p:cNvPr id="303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4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7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5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624" y="312"/>
                  </a:move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  <a:cubicBezTo>
                    <a:pt x="0" y="139"/>
                    <a:pt x="139" y="0"/>
                    <a:pt x="312" y="0"/>
                  </a:cubicBezTo>
                  <a:lnTo>
                    <a:pt x="312" y="312"/>
                  </a:lnTo>
                  <a:lnTo>
                    <a:pt x="624" y="312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6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629" y="317"/>
                  </a:move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  <a:cubicBezTo>
                    <a:pt x="5" y="144"/>
                    <a:pt x="144" y="5"/>
                    <a:pt x="317" y="5"/>
                  </a:cubicBezTo>
                  <a:lnTo>
                    <a:pt x="317" y="317"/>
                  </a:lnTo>
                  <a:lnTo>
                    <a:pt x="629" y="317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0" name="group 120"/>
          <p:cNvGrpSpPr/>
          <p:nvPr/>
        </p:nvGrpSpPr>
        <p:grpSpPr>
          <a:xfrm rot="21600000">
            <a:off x="5719444" y="4939157"/>
            <a:ext cx="402590" cy="402590"/>
            <a:chOff x="0" y="0"/>
            <a:chExt cx="402590" cy="402590"/>
          </a:xfrm>
        </p:grpSpPr>
        <p:sp>
          <p:nvSpPr>
            <p:cNvPr id="307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8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7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9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624" y="312"/>
                  </a:move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  <a:cubicBezTo>
                    <a:pt x="0" y="139"/>
                    <a:pt x="139" y="0"/>
                    <a:pt x="312" y="0"/>
                  </a:cubicBezTo>
                  <a:lnTo>
                    <a:pt x="312" y="312"/>
                  </a:lnTo>
                  <a:lnTo>
                    <a:pt x="624" y="312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0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629" y="317"/>
                  </a:move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  <a:cubicBezTo>
                    <a:pt x="5" y="144"/>
                    <a:pt x="144" y="5"/>
                    <a:pt x="317" y="5"/>
                  </a:cubicBezTo>
                  <a:lnTo>
                    <a:pt x="317" y="317"/>
                  </a:lnTo>
                  <a:lnTo>
                    <a:pt x="629" y="317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2" name="group 122"/>
          <p:cNvGrpSpPr/>
          <p:nvPr/>
        </p:nvGrpSpPr>
        <p:grpSpPr>
          <a:xfrm rot="21600000">
            <a:off x="9130156" y="3988180"/>
            <a:ext cx="402590" cy="402590"/>
            <a:chOff x="0" y="0"/>
            <a:chExt cx="402590" cy="402590"/>
          </a:xfrm>
        </p:grpSpPr>
        <p:sp>
          <p:nvSpPr>
            <p:cNvPr id="311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1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1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2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6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6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3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624" y="312"/>
                  </a:move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  <a:cubicBezTo>
                    <a:pt x="0" y="139"/>
                    <a:pt x="139" y="0"/>
                    <a:pt x="312" y="0"/>
                  </a:cubicBezTo>
                  <a:lnTo>
                    <a:pt x="312" y="312"/>
                  </a:lnTo>
                  <a:lnTo>
                    <a:pt x="624" y="312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4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629" y="317"/>
                  </a:move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  <a:cubicBezTo>
                    <a:pt x="5" y="144"/>
                    <a:pt x="144" y="5"/>
                    <a:pt x="317" y="5"/>
                  </a:cubicBezTo>
                  <a:lnTo>
                    <a:pt x="317" y="317"/>
                  </a:lnTo>
                  <a:lnTo>
                    <a:pt x="629" y="317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4" name="group 124"/>
          <p:cNvGrpSpPr/>
          <p:nvPr/>
        </p:nvGrpSpPr>
        <p:grpSpPr>
          <a:xfrm rot="21600000">
            <a:off x="9130156" y="3087496"/>
            <a:ext cx="402590" cy="402590"/>
            <a:chOff x="0" y="0"/>
            <a:chExt cx="402590" cy="402590"/>
          </a:xfrm>
        </p:grpSpPr>
        <p:sp>
          <p:nvSpPr>
            <p:cNvPr id="315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1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1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6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6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6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7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624" y="312"/>
                  </a:move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  <a:cubicBezTo>
                    <a:pt x="0" y="139"/>
                    <a:pt x="139" y="0"/>
                    <a:pt x="312" y="0"/>
                  </a:cubicBezTo>
                  <a:lnTo>
                    <a:pt x="312" y="312"/>
                  </a:lnTo>
                  <a:lnTo>
                    <a:pt x="624" y="312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8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629" y="317"/>
                  </a:move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  <a:cubicBezTo>
                    <a:pt x="5" y="144"/>
                    <a:pt x="144" y="5"/>
                    <a:pt x="317" y="5"/>
                  </a:cubicBezTo>
                  <a:lnTo>
                    <a:pt x="317" y="317"/>
                  </a:lnTo>
                  <a:lnTo>
                    <a:pt x="629" y="317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6" name="group 126"/>
          <p:cNvGrpSpPr/>
          <p:nvPr/>
        </p:nvGrpSpPr>
        <p:grpSpPr>
          <a:xfrm rot="21600000">
            <a:off x="7424801" y="3087496"/>
            <a:ext cx="402590" cy="402590"/>
            <a:chOff x="0" y="0"/>
            <a:chExt cx="402590" cy="402590"/>
          </a:xfrm>
        </p:grpSpPr>
        <p:sp>
          <p:nvSpPr>
            <p:cNvPr id="319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1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1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0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6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6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8" name="group 128"/>
          <p:cNvGrpSpPr/>
          <p:nvPr/>
        </p:nvGrpSpPr>
        <p:grpSpPr>
          <a:xfrm rot="21600000">
            <a:off x="5719445" y="3988180"/>
            <a:ext cx="402590" cy="402590"/>
            <a:chOff x="0" y="0"/>
            <a:chExt cx="402590" cy="402590"/>
          </a:xfrm>
        </p:grpSpPr>
        <p:sp>
          <p:nvSpPr>
            <p:cNvPr id="321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2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7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30" name="group 130"/>
          <p:cNvGrpSpPr/>
          <p:nvPr/>
        </p:nvGrpSpPr>
        <p:grpSpPr>
          <a:xfrm rot="21600000">
            <a:off x="7424801" y="3988180"/>
            <a:ext cx="402590" cy="402590"/>
            <a:chOff x="0" y="0"/>
            <a:chExt cx="402590" cy="402590"/>
          </a:xfrm>
        </p:grpSpPr>
        <p:sp>
          <p:nvSpPr>
            <p:cNvPr id="323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1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1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4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6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6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5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624" y="312"/>
                  </a:move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  <a:cubicBezTo>
                    <a:pt x="0" y="139"/>
                    <a:pt x="139" y="0"/>
                    <a:pt x="312" y="0"/>
                  </a:cubicBezTo>
                  <a:lnTo>
                    <a:pt x="312" y="312"/>
                  </a:lnTo>
                  <a:lnTo>
                    <a:pt x="624" y="312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6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629" y="317"/>
                  </a:move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  <a:cubicBezTo>
                    <a:pt x="5" y="144"/>
                    <a:pt x="144" y="5"/>
                    <a:pt x="317" y="5"/>
                  </a:cubicBezTo>
                  <a:lnTo>
                    <a:pt x="317" y="317"/>
                  </a:lnTo>
                  <a:lnTo>
                    <a:pt x="629" y="317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group 132"/>
          <p:cNvGrpSpPr/>
          <p:nvPr/>
        </p:nvGrpSpPr>
        <p:grpSpPr>
          <a:xfrm rot="21600000">
            <a:off x="4012565" y="3087496"/>
            <a:ext cx="402590" cy="402590"/>
            <a:chOff x="0" y="0"/>
            <a:chExt cx="402590" cy="402590"/>
          </a:xfrm>
        </p:grpSpPr>
        <p:sp>
          <p:nvSpPr>
            <p:cNvPr id="327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8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7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34" name="group 134"/>
          <p:cNvGrpSpPr/>
          <p:nvPr/>
        </p:nvGrpSpPr>
        <p:grpSpPr>
          <a:xfrm rot="21600000">
            <a:off x="10835513" y="3087496"/>
            <a:ext cx="402590" cy="402590"/>
            <a:chOff x="0" y="0"/>
            <a:chExt cx="402590" cy="402590"/>
          </a:xfrm>
        </p:grpSpPr>
        <p:sp>
          <p:nvSpPr>
            <p:cNvPr id="329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1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1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0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6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6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36" name="group 136"/>
          <p:cNvGrpSpPr/>
          <p:nvPr/>
        </p:nvGrpSpPr>
        <p:grpSpPr>
          <a:xfrm rot="21600000">
            <a:off x="7424801" y="4939157"/>
            <a:ext cx="402590" cy="402590"/>
            <a:chOff x="0" y="0"/>
            <a:chExt cx="402590" cy="402590"/>
          </a:xfrm>
        </p:grpSpPr>
        <p:sp>
          <p:nvSpPr>
            <p:cNvPr id="331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1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1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2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6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6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3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624" y="312"/>
                  </a:move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  <a:cubicBezTo>
                    <a:pt x="0" y="139"/>
                    <a:pt x="139" y="0"/>
                    <a:pt x="312" y="0"/>
                  </a:cubicBezTo>
                  <a:lnTo>
                    <a:pt x="312" y="312"/>
                  </a:lnTo>
                  <a:lnTo>
                    <a:pt x="624" y="312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4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629" y="317"/>
                  </a:move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  <a:cubicBezTo>
                    <a:pt x="5" y="144"/>
                    <a:pt x="144" y="5"/>
                    <a:pt x="317" y="5"/>
                  </a:cubicBezTo>
                  <a:lnTo>
                    <a:pt x="317" y="317"/>
                  </a:lnTo>
                  <a:lnTo>
                    <a:pt x="629" y="317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38" name="group 138"/>
          <p:cNvGrpSpPr/>
          <p:nvPr/>
        </p:nvGrpSpPr>
        <p:grpSpPr>
          <a:xfrm rot="21600000">
            <a:off x="4012565" y="4939157"/>
            <a:ext cx="402590" cy="402590"/>
            <a:chOff x="0" y="0"/>
            <a:chExt cx="402590" cy="402590"/>
          </a:xfrm>
        </p:grpSpPr>
        <p:sp>
          <p:nvSpPr>
            <p:cNvPr id="335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6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7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7" name="path"/>
            <p:cNvSpPr/>
            <p:nvPr/>
          </p:nvSpPr>
          <p:spPr>
            <a:xfrm>
              <a:off x="201294" y="201295"/>
              <a:ext cx="198120" cy="198119"/>
            </a:xfrm>
            <a:custGeom>
              <a:avLst/>
              <a:gdLst/>
              <a:ahLst/>
              <a:cxnLst/>
              <a:rect l="0" t="0" r="0" b="0"/>
              <a:pathLst>
                <a:path w="312" h="311">
                  <a:moveTo>
                    <a:pt x="312" y="0"/>
                  </a:moveTo>
                  <a:cubicBezTo>
                    <a:pt x="312" y="172"/>
                    <a:pt x="172" y="311"/>
                    <a:pt x="0" y="311"/>
                  </a:cubicBezTo>
                  <a:lnTo>
                    <a:pt x="0" y="0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8" name="path"/>
            <p:cNvSpPr/>
            <p:nvPr/>
          </p:nvSpPr>
          <p:spPr>
            <a:xfrm>
              <a:off x="198119" y="198120"/>
              <a:ext cx="204470" cy="204469"/>
            </a:xfrm>
            <a:custGeom>
              <a:avLst/>
              <a:gdLst/>
              <a:ahLst/>
              <a:cxnLst/>
              <a:rect l="0" t="0" r="0" b="0"/>
              <a:pathLst>
                <a:path w="322" h="321">
                  <a:moveTo>
                    <a:pt x="317" y="5"/>
                  </a:moveTo>
                  <a:cubicBezTo>
                    <a:pt x="317" y="177"/>
                    <a:pt x="177" y="316"/>
                    <a:pt x="5" y="316"/>
                  </a:cubicBezTo>
                  <a:lnTo>
                    <a:pt x="5" y="5"/>
                  </a:lnTo>
                  <a:lnTo>
                    <a:pt x="317" y="5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0" name="group 140"/>
          <p:cNvGrpSpPr/>
          <p:nvPr/>
        </p:nvGrpSpPr>
        <p:grpSpPr>
          <a:xfrm rot="21600000">
            <a:off x="2307208" y="4939157"/>
            <a:ext cx="402590" cy="402590"/>
            <a:chOff x="0" y="0"/>
            <a:chExt cx="402590" cy="402590"/>
          </a:xfrm>
        </p:grpSpPr>
        <p:sp>
          <p:nvSpPr>
            <p:cNvPr id="339" name="path"/>
            <p:cNvSpPr/>
            <p:nvPr/>
          </p:nvSpPr>
          <p:spPr>
            <a:xfrm>
              <a:off x="3175" y="3175"/>
              <a:ext cx="396239" cy="396240"/>
            </a:xfrm>
            <a:custGeom>
              <a:avLst/>
              <a:gdLst/>
              <a:ahLst/>
              <a:cxnLst/>
              <a:rect l="0" t="0" r="0" b="0"/>
              <a:pathLst>
                <a:path w="623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3" y="139"/>
                    <a:pt x="623" y="312"/>
                  </a:cubicBezTo>
                  <a:cubicBezTo>
                    <a:pt x="623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0" name="path"/>
            <p:cNvSpPr/>
            <p:nvPr/>
          </p:nvSpPr>
          <p:spPr>
            <a:xfrm>
              <a:off x="0" y="0"/>
              <a:ext cx="402589" cy="402590"/>
            </a:xfrm>
            <a:custGeom>
              <a:avLst/>
              <a:gdLst/>
              <a:ahLst/>
              <a:cxnLst/>
              <a:rect l="0" t="0" r="0" b="0"/>
              <a:pathLst>
                <a:path w="633" h="634">
                  <a:moveTo>
                    <a:pt x="5" y="317"/>
                  </a:moveTo>
                  <a:cubicBezTo>
                    <a:pt x="5" y="144"/>
                    <a:pt x="144" y="5"/>
                    <a:pt x="317" y="5"/>
                  </a:cubicBezTo>
                  <a:cubicBezTo>
                    <a:pt x="489" y="5"/>
                    <a:pt x="628" y="144"/>
                    <a:pt x="628" y="317"/>
                  </a:cubicBezTo>
                  <a:cubicBezTo>
                    <a:pt x="628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1" name="path"/>
            <p:cNvSpPr/>
            <p:nvPr/>
          </p:nvSpPr>
          <p:spPr>
            <a:xfrm>
              <a:off x="201295" y="201295"/>
              <a:ext cx="198120" cy="198119"/>
            </a:xfrm>
            <a:custGeom>
              <a:avLst/>
              <a:gdLst/>
              <a:ahLst/>
              <a:cxnLst/>
              <a:rect l="0" t="0" r="0" b="0"/>
              <a:pathLst>
                <a:path w="312" h="311">
                  <a:moveTo>
                    <a:pt x="312" y="0"/>
                  </a:moveTo>
                  <a:cubicBezTo>
                    <a:pt x="312" y="172"/>
                    <a:pt x="172" y="311"/>
                    <a:pt x="0" y="311"/>
                  </a:cubicBezTo>
                  <a:lnTo>
                    <a:pt x="0" y="0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2" name="path"/>
            <p:cNvSpPr/>
            <p:nvPr/>
          </p:nvSpPr>
          <p:spPr>
            <a:xfrm>
              <a:off x="198120" y="198120"/>
              <a:ext cx="204470" cy="204469"/>
            </a:xfrm>
            <a:custGeom>
              <a:avLst/>
              <a:gdLst/>
              <a:ahLst/>
              <a:cxnLst/>
              <a:rect l="0" t="0" r="0" b="0"/>
              <a:pathLst>
                <a:path w="322" h="321">
                  <a:moveTo>
                    <a:pt x="317" y="5"/>
                  </a:moveTo>
                  <a:cubicBezTo>
                    <a:pt x="317" y="177"/>
                    <a:pt x="177" y="316"/>
                    <a:pt x="5" y="316"/>
                  </a:cubicBezTo>
                  <a:lnTo>
                    <a:pt x="5" y="5"/>
                  </a:lnTo>
                  <a:lnTo>
                    <a:pt x="317" y="5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2" name="group 142"/>
          <p:cNvGrpSpPr/>
          <p:nvPr/>
        </p:nvGrpSpPr>
        <p:grpSpPr>
          <a:xfrm rot="21600000">
            <a:off x="9130156" y="4939157"/>
            <a:ext cx="402590" cy="402590"/>
            <a:chOff x="0" y="0"/>
            <a:chExt cx="402590" cy="402590"/>
          </a:xfrm>
        </p:grpSpPr>
        <p:sp>
          <p:nvSpPr>
            <p:cNvPr id="343" name="path"/>
            <p:cNvSpPr/>
            <p:nvPr/>
          </p:nvSpPr>
          <p:spPr>
            <a:xfrm>
              <a:off x="3175" y="3175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1" y="0"/>
                  </a:cubicBezTo>
                  <a:cubicBezTo>
                    <a:pt x="484" y="0"/>
                    <a:pt x="624" y="139"/>
                    <a:pt x="624" y="312"/>
                  </a:cubicBezTo>
                  <a:cubicBezTo>
                    <a:pt x="624" y="484"/>
                    <a:pt x="484" y="624"/>
                    <a:pt x="311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4" name="path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0" t="0" r="0" b="0"/>
              <a:pathLst>
                <a:path w="634" h="634">
                  <a:moveTo>
                    <a:pt x="5" y="317"/>
                  </a:moveTo>
                  <a:cubicBezTo>
                    <a:pt x="5" y="144"/>
                    <a:pt x="144" y="5"/>
                    <a:pt x="316" y="5"/>
                  </a:cubicBezTo>
                  <a:cubicBezTo>
                    <a:pt x="489" y="5"/>
                    <a:pt x="629" y="144"/>
                    <a:pt x="629" y="317"/>
                  </a:cubicBezTo>
                  <a:cubicBezTo>
                    <a:pt x="629" y="489"/>
                    <a:pt x="489" y="629"/>
                    <a:pt x="316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4" name="group 144"/>
          <p:cNvGrpSpPr/>
          <p:nvPr/>
        </p:nvGrpSpPr>
        <p:grpSpPr>
          <a:xfrm rot="21600000">
            <a:off x="2307208" y="3087496"/>
            <a:ext cx="402589" cy="402590"/>
            <a:chOff x="0" y="0"/>
            <a:chExt cx="402589" cy="402590"/>
          </a:xfrm>
        </p:grpSpPr>
        <p:sp>
          <p:nvSpPr>
            <p:cNvPr id="345" name="path"/>
            <p:cNvSpPr/>
            <p:nvPr/>
          </p:nvSpPr>
          <p:spPr>
            <a:xfrm>
              <a:off x="3175" y="3175"/>
              <a:ext cx="396239" cy="396240"/>
            </a:xfrm>
            <a:custGeom>
              <a:avLst/>
              <a:gdLst/>
              <a:ahLst/>
              <a:cxnLst/>
              <a:rect l="0" t="0" r="0" b="0"/>
              <a:pathLst>
                <a:path w="623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3" y="139"/>
                    <a:pt x="623" y="312"/>
                  </a:cubicBezTo>
                  <a:cubicBezTo>
                    <a:pt x="623" y="484"/>
                    <a:pt x="484" y="624"/>
                    <a:pt x="312" y="624"/>
                  </a:cubicBezTo>
                  <a:cubicBezTo>
                    <a:pt x="139" y="624"/>
                    <a:pt x="0" y="484"/>
                    <a:pt x="0" y="312"/>
                  </a:cubicBezTo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6" name="path"/>
            <p:cNvSpPr/>
            <p:nvPr/>
          </p:nvSpPr>
          <p:spPr>
            <a:xfrm>
              <a:off x="0" y="0"/>
              <a:ext cx="402589" cy="402590"/>
            </a:xfrm>
            <a:custGeom>
              <a:avLst/>
              <a:gdLst/>
              <a:ahLst/>
              <a:cxnLst/>
              <a:rect l="0" t="0" r="0" b="0"/>
              <a:pathLst>
                <a:path w="633" h="634">
                  <a:moveTo>
                    <a:pt x="5" y="317"/>
                  </a:moveTo>
                  <a:cubicBezTo>
                    <a:pt x="5" y="144"/>
                    <a:pt x="144" y="5"/>
                    <a:pt x="317" y="5"/>
                  </a:cubicBezTo>
                  <a:cubicBezTo>
                    <a:pt x="489" y="5"/>
                    <a:pt x="628" y="144"/>
                    <a:pt x="628" y="317"/>
                  </a:cubicBezTo>
                  <a:cubicBezTo>
                    <a:pt x="628" y="489"/>
                    <a:pt x="489" y="629"/>
                    <a:pt x="317" y="629"/>
                  </a:cubicBezTo>
                  <a:cubicBezTo>
                    <a:pt x="144" y="629"/>
                    <a:pt x="5" y="489"/>
                    <a:pt x="5" y="317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6" name="group 146"/>
          <p:cNvGrpSpPr/>
          <p:nvPr/>
        </p:nvGrpSpPr>
        <p:grpSpPr>
          <a:xfrm rot="21600000">
            <a:off x="5730113" y="5838316"/>
            <a:ext cx="402590" cy="402589"/>
            <a:chOff x="0" y="0"/>
            <a:chExt cx="402590" cy="402589"/>
          </a:xfrm>
        </p:grpSpPr>
        <p:sp>
          <p:nvSpPr>
            <p:cNvPr id="347" name="path"/>
            <p:cNvSpPr/>
            <p:nvPr/>
          </p:nvSpPr>
          <p:spPr>
            <a:xfrm>
              <a:off x="3175" y="3175"/>
              <a:ext cx="396240" cy="396239"/>
            </a:xfrm>
            <a:custGeom>
              <a:avLst/>
              <a:gdLst/>
              <a:ahLst/>
              <a:cxnLst/>
              <a:rect l="0" t="0" r="0" b="0"/>
              <a:pathLst>
                <a:path w="624" h="623">
                  <a:moveTo>
                    <a:pt x="0" y="311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4" y="139"/>
                    <a:pt x="624" y="311"/>
                  </a:cubicBezTo>
                  <a:cubicBezTo>
                    <a:pt x="624" y="484"/>
                    <a:pt x="484" y="623"/>
                    <a:pt x="312" y="623"/>
                  </a:cubicBezTo>
                  <a:cubicBezTo>
                    <a:pt x="139" y="623"/>
                    <a:pt x="0" y="484"/>
                    <a:pt x="0" y="311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8" name="path"/>
            <p:cNvSpPr/>
            <p:nvPr/>
          </p:nvSpPr>
          <p:spPr>
            <a:xfrm>
              <a:off x="0" y="0"/>
              <a:ext cx="402590" cy="402589"/>
            </a:xfrm>
            <a:custGeom>
              <a:avLst/>
              <a:gdLst/>
              <a:ahLst/>
              <a:cxnLst/>
              <a:rect l="0" t="0" r="0" b="0"/>
              <a:pathLst>
                <a:path w="634" h="633">
                  <a:moveTo>
                    <a:pt x="5" y="316"/>
                  </a:moveTo>
                  <a:cubicBezTo>
                    <a:pt x="5" y="144"/>
                    <a:pt x="144" y="5"/>
                    <a:pt x="317" y="5"/>
                  </a:cubicBezTo>
                  <a:cubicBezTo>
                    <a:pt x="489" y="5"/>
                    <a:pt x="629" y="144"/>
                    <a:pt x="629" y="316"/>
                  </a:cubicBezTo>
                  <a:cubicBezTo>
                    <a:pt x="629" y="489"/>
                    <a:pt x="489" y="628"/>
                    <a:pt x="317" y="628"/>
                  </a:cubicBezTo>
                  <a:cubicBezTo>
                    <a:pt x="144" y="628"/>
                    <a:pt x="5" y="489"/>
                    <a:pt x="5" y="316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9" name="path"/>
            <p:cNvSpPr/>
            <p:nvPr/>
          </p:nvSpPr>
          <p:spPr>
            <a:xfrm>
              <a:off x="3175" y="3175"/>
              <a:ext cx="396240" cy="396239"/>
            </a:xfrm>
            <a:custGeom>
              <a:avLst/>
              <a:gdLst/>
              <a:ahLst/>
              <a:cxnLst/>
              <a:rect l="0" t="0" r="0" b="0"/>
              <a:pathLst>
                <a:path w="624" h="623">
                  <a:moveTo>
                    <a:pt x="624" y="311"/>
                  </a:moveTo>
                  <a:cubicBezTo>
                    <a:pt x="624" y="484"/>
                    <a:pt x="484" y="623"/>
                    <a:pt x="312" y="623"/>
                  </a:cubicBezTo>
                  <a:cubicBezTo>
                    <a:pt x="139" y="623"/>
                    <a:pt x="0" y="484"/>
                    <a:pt x="0" y="311"/>
                  </a:cubicBezTo>
                  <a:cubicBezTo>
                    <a:pt x="0" y="139"/>
                    <a:pt x="139" y="0"/>
                    <a:pt x="312" y="0"/>
                  </a:cubicBezTo>
                  <a:lnTo>
                    <a:pt x="312" y="311"/>
                  </a:lnTo>
                  <a:lnTo>
                    <a:pt x="624" y="311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0" name="path"/>
            <p:cNvSpPr/>
            <p:nvPr/>
          </p:nvSpPr>
          <p:spPr>
            <a:xfrm>
              <a:off x="0" y="0"/>
              <a:ext cx="402590" cy="402589"/>
            </a:xfrm>
            <a:custGeom>
              <a:avLst/>
              <a:gdLst/>
              <a:ahLst/>
              <a:cxnLst/>
              <a:rect l="0" t="0" r="0" b="0"/>
              <a:pathLst>
                <a:path w="634" h="633">
                  <a:moveTo>
                    <a:pt x="629" y="316"/>
                  </a:moveTo>
                  <a:cubicBezTo>
                    <a:pt x="629" y="489"/>
                    <a:pt x="489" y="628"/>
                    <a:pt x="317" y="628"/>
                  </a:cubicBezTo>
                  <a:cubicBezTo>
                    <a:pt x="144" y="628"/>
                    <a:pt x="5" y="489"/>
                    <a:pt x="5" y="316"/>
                  </a:cubicBezTo>
                  <a:cubicBezTo>
                    <a:pt x="5" y="144"/>
                    <a:pt x="144" y="5"/>
                    <a:pt x="317" y="5"/>
                  </a:cubicBezTo>
                  <a:lnTo>
                    <a:pt x="317" y="316"/>
                  </a:lnTo>
                  <a:lnTo>
                    <a:pt x="629" y="316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8" name="group 148"/>
          <p:cNvGrpSpPr/>
          <p:nvPr/>
        </p:nvGrpSpPr>
        <p:grpSpPr>
          <a:xfrm rot="21600000">
            <a:off x="8770492" y="5838316"/>
            <a:ext cx="402590" cy="402589"/>
            <a:chOff x="0" y="0"/>
            <a:chExt cx="402590" cy="402589"/>
          </a:xfrm>
        </p:grpSpPr>
        <p:sp>
          <p:nvSpPr>
            <p:cNvPr id="351" name="path"/>
            <p:cNvSpPr/>
            <p:nvPr/>
          </p:nvSpPr>
          <p:spPr>
            <a:xfrm>
              <a:off x="3175" y="3175"/>
              <a:ext cx="396240" cy="396239"/>
            </a:xfrm>
            <a:custGeom>
              <a:avLst/>
              <a:gdLst/>
              <a:ahLst/>
              <a:cxnLst/>
              <a:rect l="0" t="0" r="0" b="0"/>
              <a:pathLst>
                <a:path w="624" h="623">
                  <a:moveTo>
                    <a:pt x="0" y="311"/>
                  </a:moveTo>
                  <a:cubicBezTo>
                    <a:pt x="0" y="139"/>
                    <a:pt x="139" y="0"/>
                    <a:pt x="311" y="0"/>
                  </a:cubicBezTo>
                  <a:cubicBezTo>
                    <a:pt x="484" y="0"/>
                    <a:pt x="624" y="139"/>
                    <a:pt x="624" y="311"/>
                  </a:cubicBezTo>
                  <a:cubicBezTo>
                    <a:pt x="624" y="484"/>
                    <a:pt x="484" y="623"/>
                    <a:pt x="311" y="623"/>
                  </a:cubicBezTo>
                  <a:cubicBezTo>
                    <a:pt x="139" y="623"/>
                    <a:pt x="0" y="484"/>
                    <a:pt x="0" y="311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2" name="path"/>
            <p:cNvSpPr/>
            <p:nvPr/>
          </p:nvSpPr>
          <p:spPr>
            <a:xfrm>
              <a:off x="0" y="0"/>
              <a:ext cx="402590" cy="402589"/>
            </a:xfrm>
            <a:custGeom>
              <a:avLst/>
              <a:gdLst/>
              <a:ahLst/>
              <a:cxnLst/>
              <a:rect l="0" t="0" r="0" b="0"/>
              <a:pathLst>
                <a:path w="634" h="633">
                  <a:moveTo>
                    <a:pt x="5" y="316"/>
                  </a:moveTo>
                  <a:cubicBezTo>
                    <a:pt x="5" y="144"/>
                    <a:pt x="144" y="5"/>
                    <a:pt x="316" y="5"/>
                  </a:cubicBezTo>
                  <a:cubicBezTo>
                    <a:pt x="489" y="5"/>
                    <a:pt x="629" y="144"/>
                    <a:pt x="629" y="316"/>
                  </a:cubicBezTo>
                  <a:cubicBezTo>
                    <a:pt x="629" y="489"/>
                    <a:pt x="489" y="628"/>
                    <a:pt x="316" y="628"/>
                  </a:cubicBezTo>
                  <a:cubicBezTo>
                    <a:pt x="144" y="628"/>
                    <a:pt x="5" y="489"/>
                    <a:pt x="5" y="316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3" name="path"/>
            <p:cNvSpPr/>
            <p:nvPr/>
          </p:nvSpPr>
          <p:spPr>
            <a:xfrm>
              <a:off x="201295" y="201294"/>
              <a:ext cx="198119" cy="198119"/>
            </a:xfrm>
            <a:custGeom>
              <a:avLst/>
              <a:gdLst/>
              <a:ahLst/>
              <a:cxnLst/>
              <a:rect l="0" t="0" r="0" b="0"/>
              <a:pathLst>
                <a:path w="311" h="311">
                  <a:moveTo>
                    <a:pt x="311" y="0"/>
                  </a:moveTo>
                  <a:cubicBezTo>
                    <a:pt x="311" y="172"/>
                    <a:pt x="172" y="311"/>
                    <a:pt x="0" y="311"/>
                  </a:cubicBezTo>
                  <a:lnTo>
                    <a:pt x="0" y="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4" name="path"/>
            <p:cNvSpPr/>
            <p:nvPr/>
          </p:nvSpPr>
          <p:spPr>
            <a:xfrm>
              <a:off x="198120" y="198119"/>
              <a:ext cx="204469" cy="204469"/>
            </a:xfrm>
            <a:custGeom>
              <a:avLst/>
              <a:gdLst/>
              <a:ahLst/>
              <a:cxnLst/>
              <a:rect l="0" t="0" r="0" b="0"/>
              <a:pathLst>
                <a:path w="321" h="321">
                  <a:moveTo>
                    <a:pt x="316" y="5"/>
                  </a:moveTo>
                  <a:cubicBezTo>
                    <a:pt x="316" y="177"/>
                    <a:pt x="177" y="316"/>
                    <a:pt x="5" y="316"/>
                  </a:cubicBezTo>
                  <a:lnTo>
                    <a:pt x="5" y="5"/>
                  </a:lnTo>
                  <a:lnTo>
                    <a:pt x="316" y="5"/>
                  </a:lnTo>
                  <a:close/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50" name="group 150"/>
          <p:cNvGrpSpPr/>
          <p:nvPr/>
        </p:nvGrpSpPr>
        <p:grpSpPr>
          <a:xfrm rot="21600000">
            <a:off x="2962529" y="5838316"/>
            <a:ext cx="402589" cy="402589"/>
            <a:chOff x="0" y="0"/>
            <a:chExt cx="402589" cy="402589"/>
          </a:xfrm>
        </p:grpSpPr>
        <p:sp>
          <p:nvSpPr>
            <p:cNvPr id="355" name="path"/>
            <p:cNvSpPr/>
            <p:nvPr/>
          </p:nvSpPr>
          <p:spPr>
            <a:xfrm>
              <a:off x="3175" y="3175"/>
              <a:ext cx="396239" cy="396239"/>
            </a:xfrm>
            <a:custGeom>
              <a:avLst/>
              <a:gdLst/>
              <a:ahLst/>
              <a:cxnLst/>
              <a:rect l="0" t="0" r="0" b="0"/>
              <a:pathLst>
                <a:path w="623" h="623">
                  <a:moveTo>
                    <a:pt x="0" y="311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4" y="0"/>
                    <a:pt x="623" y="139"/>
                    <a:pt x="623" y="311"/>
                  </a:cubicBezTo>
                  <a:cubicBezTo>
                    <a:pt x="623" y="484"/>
                    <a:pt x="484" y="623"/>
                    <a:pt x="312" y="623"/>
                  </a:cubicBezTo>
                  <a:cubicBezTo>
                    <a:pt x="139" y="623"/>
                    <a:pt x="0" y="484"/>
                    <a:pt x="0" y="311"/>
                  </a:cubicBezTo>
                </a:path>
              </a:pathLst>
            </a:custGeom>
            <a:solidFill>
              <a:srgbClr val="205FA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6" name="path"/>
            <p:cNvSpPr/>
            <p:nvPr/>
          </p:nvSpPr>
          <p:spPr>
            <a:xfrm>
              <a:off x="0" y="0"/>
              <a:ext cx="402589" cy="402589"/>
            </a:xfrm>
            <a:custGeom>
              <a:avLst/>
              <a:gdLst/>
              <a:ahLst/>
              <a:cxnLst/>
              <a:rect l="0" t="0" r="0" b="0"/>
              <a:pathLst>
                <a:path w="633" h="633">
                  <a:moveTo>
                    <a:pt x="5" y="316"/>
                  </a:moveTo>
                  <a:cubicBezTo>
                    <a:pt x="5" y="144"/>
                    <a:pt x="144" y="5"/>
                    <a:pt x="317" y="5"/>
                  </a:cubicBezTo>
                  <a:cubicBezTo>
                    <a:pt x="489" y="5"/>
                    <a:pt x="628" y="144"/>
                    <a:pt x="628" y="316"/>
                  </a:cubicBezTo>
                  <a:cubicBezTo>
                    <a:pt x="628" y="489"/>
                    <a:pt x="489" y="628"/>
                    <a:pt x="317" y="628"/>
                  </a:cubicBezTo>
                  <a:cubicBezTo>
                    <a:pt x="144" y="628"/>
                    <a:pt x="5" y="489"/>
                    <a:pt x="5" y="316"/>
                  </a:cubicBezTo>
                </a:path>
              </a:pathLst>
            </a:custGeom>
            <a:noFill/>
            <a:ln w="6350" cap="flat">
              <a:solidFill>
                <a:srgbClr val="7F7F7F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57" name="textbox 357"/>
          <p:cNvSpPr/>
          <p:nvPr/>
        </p:nvSpPr>
        <p:spPr>
          <a:xfrm>
            <a:off x="4004290" y="1185411"/>
            <a:ext cx="736600" cy="2336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4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</a:t>
            </a:r>
            <a:r>
              <a:rPr sz="14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实商机</a:t>
            </a:r>
            <a:endParaRPr lang="en-US" altLang="en-US" sz="1400" dirty="0"/>
          </a:p>
        </p:txBody>
      </p:sp>
      <p:sp>
        <p:nvSpPr>
          <p:cNvPr id="358" name="textbox 358"/>
          <p:cNvSpPr/>
          <p:nvPr/>
        </p:nvSpPr>
        <p:spPr>
          <a:xfrm>
            <a:off x="2330914" y="1185411"/>
            <a:ext cx="736600" cy="2336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4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</a:t>
            </a:r>
            <a:r>
              <a:rPr sz="14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在商机</a:t>
            </a:r>
            <a:endParaRPr lang="en-US" altLang="en-US" sz="1400" dirty="0"/>
          </a:p>
        </p:txBody>
      </p:sp>
      <p:sp>
        <p:nvSpPr>
          <p:cNvPr id="359" name="textbox 359"/>
          <p:cNvSpPr/>
          <p:nvPr/>
        </p:nvSpPr>
        <p:spPr>
          <a:xfrm>
            <a:off x="5732685" y="1185411"/>
            <a:ext cx="558165" cy="234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4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</a:t>
            </a:r>
            <a:r>
              <a:rPr sz="14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</a:t>
            </a:r>
            <a:endParaRPr lang="en-US" altLang="en-US" sz="1400" dirty="0"/>
          </a:p>
        </p:txBody>
      </p:sp>
      <p:sp>
        <p:nvSpPr>
          <p:cNvPr id="360" name="path"/>
          <p:cNvSpPr/>
          <p:nvPr/>
        </p:nvSpPr>
        <p:spPr>
          <a:xfrm>
            <a:off x="8728826" y="1933161"/>
            <a:ext cx="286787" cy="268923"/>
          </a:xfrm>
          <a:custGeom>
            <a:avLst/>
            <a:gdLst/>
            <a:ahLst/>
            <a:cxnLst/>
            <a:rect l="0" t="0" r="0" b="0"/>
            <a:pathLst>
              <a:path w="451" h="423">
                <a:moveTo>
                  <a:pt x="3" y="419"/>
                </a:moveTo>
                <a:lnTo>
                  <a:pt x="448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1" name="path"/>
          <p:cNvSpPr/>
          <p:nvPr/>
        </p:nvSpPr>
        <p:spPr>
          <a:xfrm>
            <a:off x="7070714" y="1933161"/>
            <a:ext cx="286787" cy="268923"/>
          </a:xfrm>
          <a:custGeom>
            <a:avLst/>
            <a:gdLst/>
            <a:ahLst/>
            <a:cxnLst/>
            <a:rect l="0" t="0" r="0" b="0"/>
            <a:pathLst>
              <a:path w="451" h="423">
                <a:moveTo>
                  <a:pt x="3" y="419"/>
                </a:moveTo>
                <a:lnTo>
                  <a:pt x="448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2" name="path"/>
          <p:cNvSpPr/>
          <p:nvPr/>
        </p:nvSpPr>
        <p:spPr>
          <a:xfrm>
            <a:off x="10388462" y="1933161"/>
            <a:ext cx="286787" cy="268923"/>
          </a:xfrm>
          <a:custGeom>
            <a:avLst/>
            <a:gdLst/>
            <a:ahLst/>
            <a:cxnLst/>
            <a:rect l="0" t="0" r="0" b="0"/>
            <a:pathLst>
              <a:path w="451" h="423">
                <a:moveTo>
                  <a:pt x="3" y="419"/>
                </a:moveTo>
                <a:lnTo>
                  <a:pt x="448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3" name="path"/>
          <p:cNvSpPr/>
          <p:nvPr/>
        </p:nvSpPr>
        <p:spPr>
          <a:xfrm>
            <a:off x="5412602" y="1933161"/>
            <a:ext cx="286786" cy="268923"/>
          </a:xfrm>
          <a:custGeom>
            <a:avLst/>
            <a:gdLst/>
            <a:ahLst/>
            <a:cxnLst/>
            <a:rect l="0" t="0" r="0" b="0"/>
            <a:pathLst>
              <a:path w="451" h="423">
                <a:moveTo>
                  <a:pt x="3" y="419"/>
                </a:moveTo>
                <a:lnTo>
                  <a:pt x="448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4" name="path"/>
          <p:cNvSpPr/>
          <p:nvPr/>
        </p:nvSpPr>
        <p:spPr>
          <a:xfrm>
            <a:off x="3752966" y="1933161"/>
            <a:ext cx="286786" cy="268923"/>
          </a:xfrm>
          <a:custGeom>
            <a:avLst/>
            <a:gdLst/>
            <a:ahLst/>
            <a:cxnLst/>
            <a:rect l="0" t="0" r="0" b="0"/>
            <a:pathLst>
              <a:path w="451" h="423">
                <a:moveTo>
                  <a:pt x="3" y="419"/>
                </a:moveTo>
                <a:lnTo>
                  <a:pt x="448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5" name="path"/>
          <p:cNvSpPr/>
          <p:nvPr/>
        </p:nvSpPr>
        <p:spPr>
          <a:xfrm>
            <a:off x="2094854" y="1933161"/>
            <a:ext cx="286786" cy="268923"/>
          </a:xfrm>
          <a:custGeom>
            <a:avLst/>
            <a:gdLst/>
            <a:ahLst/>
            <a:cxnLst/>
            <a:rect l="0" t="0" r="0" b="0"/>
            <a:pathLst>
              <a:path w="451" h="423">
                <a:moveTo>
                  <a:pt x="3" y="419"/>
                </a:moveTo>
                <a:lnTo>
                  <a:pt x="448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6" name="path"/>
          <p:cNvSpPr/>
          <p:nvPr/>
        </p:nvSpPr>
        <p:spPr>
          <a:xfrm>
            <a:off x="11257138" y="1933166"/>
            <a:ext cx="285653" cy="268914"/>
          </a:xfrm>
          <a:custGeom>
            <a:avLst/>
            <a:gdLst/>
            <a:ahLst/>
            <a:cxnLst/>
            <a:rect l="0" t="0" r="0" b="0"/>
            <a:pathLst>
              <a:path w="449" h="423">
                <a:moveTo>
                  <a:pt x="446" y="419"/>
                </a:moveTo>
                <a:lnTo>
                  <a:pt x="3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7" name="path"/>
          <p:cNvSpPr/>
          <p:nvPr/>
        </p:nvSpPr>
        <p:spPr>
          <a:xfrm>
            <a:off x="7940914" y="1933166"/>
            <a:ext cx="285653" cy="268914"/>
          </a:xfrm>
          <a:custGeom>
            <a:avLst/>
            <a:gdLst/>
            <a:ahLst/>
            <a:cxnLst/>
            <a:rect l="0" t="0" r="0" b="0"/>
            <a:pathLst>
              <a:path w="449" h="423">
                <a:moveTo>
                  <a:pt x="446" y="419"/>
                </a:moveTo>
                <a:lnTo>
                  <a:pt x="3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8" name="path"/>
          <p:cNvSpPr/>
          <p:nvPr/>
        </p:nvSpPr>
        <p:spPr>
          <a:xfrm>
            <a:off x="9599025" y="1933166"/>
            <a:ext cx="285653" cy="268914"/>
          </a:xfrm>
          <a:custGeom>
            <a:avLst/>
            <a:gdLst/>
            <a:ahLst/>
            <a:cxnLst/>
            <a:rect l="0" t="0" r="0" b="0"/>
            <a:pathLst>
              <a:path w="449" h="423">
                <a:moveTo>
                  <a:pt x="446" y="419"/>
                </a:moveTo>
                <a:lnTo>
                  <a:pt x="3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9" name="path"/>
          <p:cNvSpPr/>
          <p:nvPr/>
        </p:nvSpPr>
        <p:spPr>
          <a:xfrm>
            <a:off x="6281278" y="1933166"/>
            <a:ext cx="285653" cy="268914"/>
          </a:xfrm>
          <a:custGeom>
            <a:avLst/>
            <a:gdLst/>
            <a:ahLst/>
            <a:cxnLst/>
            <a:rect l="0" t="0" r="0" b="0"/>
            <a:pathLst>
              <a:path w="449" h="423">
                <a:moveTo>
                  <a:pt x="446" y="419"/>
                </a:moveTo>
                <a:lnTo>
                  <a:pt x="3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0" name="path"/>
          <p:cNvSpPr/>
          <p:nvPr/>
        </p:nvSpPr>
        <p:spPr>
          <a:xfrm>
            <a:off x="2965053" y="1933166"/>
            <a:ext cx="285652" cy="268914"/>
          </a:xfrm>
          <a:custGeom>
            <a:avLst/>
            <a:gdLst/>
            <a:ahLst/>
            <a:cxnLst/>
            <a:rect l="0" t="0" r="0" b="0"/>
            <a:pathLst>
              <a:path w="449" h="423">
                <a:moveTo>
                  <a:pt x="446" y="419"/>
                </a:moveTo>
                <a:lnTo>
                  <a:pt x="3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1" name="path"/>
          <p:cNvSpPr/>
          <p:nvPr/>
        </p:nvSpPr>
        <p:spPr>
          <a:xfrm>
            <a:off x="4623165" y="1933166"/>
            <a:ext cx="285652" cy="268914"/>
          </a:xfrm>
          <a:custGeom>
            <a:avLst/>
            <a:gdLst/>
            <a:ahLst/>
            <a:cxnLst/>
            <a:rect l="0" t="0" r="0" b="0"/>
            <a:pathLst>
              <a:path w="449" h="423">
                <a:moveTo>
                  <a:pt x="446" y="419"/>
                </a:moveTo>
                <a:lnTo>
                  <a:pt x="3" y="3"/>
                </a:ln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2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3" name="textbox 373"/>
          <p:cNvSpPr/>
          <p:nvPr/>
        </p:nvSpPr>
        <p:spPr>
          <a:xfrm>
            <a:off x="9102427" y="1185411"/>
            <a:ext cx="379729" cy="234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4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</a:t>
            </a:r>
            <a:r>
              <a:rPr sz="14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</a:t>
            </a:r>
            <a:endParaRPr lang="en-US" altLang="en-US" sz="1400" dirty="0"/>
          </a:p>
        </p:txBody>
      </p:sp>
      <p:sp>
        <p:nvSpPr>
          <p:cNvPr id="374" name="textbox 374"/>
          <p:cNvSpPr/>
          <p:nvPr/>
        </p:nvSpPr>
        <p:spPr>
          <a:xfrm>
            <a:off x="7462603" y="1185411"/>
            <a:ext cx="379729" cy="2336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4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r>
              <a:rPr sz="14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lang="en-US" altLang="en-US" sz="1400" dirty="0"/>
          </a:p>
        </p:txBody>
      </p:sp>
      <p:sp>
        <p:nvSpPr>
          <p:cNvPr id="375" name="textbox 375"/>
          <p:cNvSpPr/>
          <p:nvPr/>
        </p:nvSpPr>
        <p:spPr>
          <a:xfrm>
            <a:off x="10750631" y="1185411"/>
            <a:ext cx="371475" cy="2343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400" spc="-2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回款</a:t>
            </a:r>
            <a:endParaRPr lang="en-US" altLang="en-US" sz="1400" dirty="0"/>
          </a:p>
        </p:txBody>
      </p:sp>
      <p:sp>
        <p:nvSpPr>
          <p:cNvPr id="376" name="rect"/>
          <p:cNvSpPr/>
          <p:nvPr/>
        </p:nvSpPr>
        <p:spPr>
          <a:xfrm>
            <a:off x="10597896" y="2546476"/>
            <a:ext cx="735965" cy="6350"/>
          </a:xfrm>
          <a:prstGeom prst="rect">
            <a:avLst/>
          </a:pr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7" name="rect"/>
          <p:cNvSpPr/>
          <p:nvPr/>
        </p:nvSpPr>
        <p:spPr>
          <a:xfrm>
            <a:off x="3963923" y="2546476"/>
            <a:ext cx="735965" cy="6350"/>
          </a:xfrm>
          <a:prstGeom prst="rect">
            <a:avLst/>
          </a:pr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8" name="rect"/>
          <p:cNvSpPr/>
          <p:nvPr/>
        </p:nvSpPr>
        <p:spPr>
          <a:xfrm>
            <a:off x="5622035" y="2546476"/>
            <a:ext cx="735965" cy="6350"/>
          </a:xfrm>
          <a:prstGeom prst="rect">
            <a:avLst/>
          </a:pr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9" name="rect"/>
          <p:cNvSpPr/>
          <p:nvPr/>
        </p:nvSpPr>
        <p:spPr>
          <a:xfrm>
            <a:off x="8939784" y="2546476"/>
            <a:ext cx="735965" cy="6350"/>
          </a:xfrm>
          <a:prstGeom prst="rect">
            <a:avLst/>
          </a:pr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0" name="rect"/>
          <p:cNvSpPr/>
          <p:nvPr/>
        </p:nvSpPr>
        <p:spPr>
          <a:xfrm>
            <a:off x="7280147" y="2546476"/>
            <a:ext cx="735965" cy="6350"/>
          </a:xfrm>
          <a:prstGeom prst="rect">
            <a:avLst/>
          </a:pr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1" name="rect"/>
          <p:cNvSpPr/>
          <p:nvPr/>
        </p:nvSpPr>
        <p:spPr>
          <a:xfrm>
            <a:off x="2304287" y="2546476"/>
            <a:ext cx="735964" cy="6350"/>
          </a:xfrm>
          <a:prstGeom prst="rect">
            <a:avLst/>
          </a:pr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2"/>
          <p:cNvGrpSpPr/>
          <p:nvPr/>
        </p:nvGrpSpPr>
        <p:grpSpPr>
          <a:xfrm rot="21600000">
            <a:off x="373379" y="2121408"/>
            <a:ext cx="2766060" cy="2441447"/>
            <a:chOff x="0" y="0"/>
            <a:chExt cx="2766060" cy="2441447"/>
          </a:xfrm>
        </p:grpSpPr>
        <p:pic>
          <p:nvPicPr>
            <p:cNvPr id="382" name="picture 38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66060" cy="2441447"/>
            </a:xfrm>
            <a:prstGeom prst="rect">
              <a:avLst/>
            </a:prstGeom>
          </p:spPr>
        </p:pic>
        <p:sp>
          <p:nvSpPr>
            <p:cNvPr id="383" name="textbox 383"/>
            <p:cNvSpPr/>
            <p:nvPr/>
          </p:nvSpPr>
          <p:spPr>
            <a:xfrm>
              <a:off x="158872" y="304778"/>
              <a:ext cx="845185" cy="200406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99695" algn="l" rtl="0" eaLnBrk="0">
                <a:lnSpc>
                  <a:spcPts val="1515"/>
                </a:lnSpc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收集线</a:t>
              </a:r>
              <a:r>
                <a:rPr sz="1200" spc="5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索</a:t>
              </a:r>
              <a:endParaRPr lang="en-US" altLang="en-US" sz="1200" dirty="0"/>
            </a:p>
            <a:p>
              <a:pPr algn="l" rtl="0" eaLnBrk="0">
                <a:lnSpc>
                  <a:spcPct val="100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0000"/>
                </a:lnSpc>
              </a:pPr>
              <a:endParaRPr lang="en-US" altLang="en-US" sz="1000" dirty="0"/>
            </a:p>
            <a:p>
              <a:pPr marL="95885" algn="l" rtl="0" eaLnBrk="0">
                <a:lnSpc>
                  <a:spcPts val="1515"/>
                </a:lnSpc>
                <a:spcBef>
                  <a:spcPts val="37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生成线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索</a:t>
              </a:r>
              <a:endParaRPr lang="en-US" altLang="en-US" sz="1200" dirty="0"/>
            </a:p>
            <a:p>
              <a:pPr algn="l" rtl="0" eaLnBrk="0">
                <a:lnSpc>
                  <a:spcPct val="145000"/>
                </a:lnSpc>
              </a:pPr>
              <a:endParaRPr lang="en-US" altLang="en-US" sz="1000" dirty="0"/>
            </a:p>
            <a:p>
              <a:pPr marL="12700" algn="l" rtl="0" eaLnBrk="0">
                <a:lnSpc>
                  <a:spcPts val="1515"/>
                </a:lnSpc>
                <a:spcBef>
                  <a:spcPts val="370"/>
                </a:spcBef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验证及分</a:t>
              </a:r>
              <a:r>
                <a:rPr sz="1200" spc="5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发</a:t>
              </a:r>
              <a:endParaRPr lang="en-US" altLang="en-US" sz="1200" dirty="0"/>
            </a:p>
            <a:p>
              <a:pPr marL="259715" algn="l" rtl="0" eaLnBrk="0">
                <a:lnSpc>
                  <a:spcPts val="1525"/>
                </a:lnSpc>
                <a:spcBef>
                  <a:spcPts val="6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线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索</a:t>
              </a:r>
              <a:endParaRPr lang="en-US" altLang="en-US" sz="12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9000"/>
                </a:lnSpc>
              </a:pPr>
              <a:endParaRPr lang="en-US" altLang="en-US" sz="100" dirty="0"/>
            </a:p>
            <a:p>
              <a:pPr marL="259715" indent="-246380" algn="l" rtl="0" eaLnBrk="0">
                <a:lnSpc>
                  <a:spcPct val="114000"/>
                </a:lnSpc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跟踪与培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育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 </a:t>
              </a: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线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索</a:t>
              </a:r>
              <a:endParaRPr lang="en-US" altLang="en-US" sz="1200" dirty="0"/>
            </a:p>
          </p:txBody>
        </p:sp>
        <p:pic>
          <p:nvPicPr>
            <p:cNvPr id="384" name="picture 38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148967" y="562355"/>
              <a:ext cx="76200" cy="200025"/>
            </a:xfrm>
            <a:prstGeom prst="rect">
              <a:avLst/>
            </a:prstGeom>
          </p:spPr>
        </p:pic>
        <p:pic>
          <p:nvPicPr>
            <p:cNvPr id="385" name="picture 38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144267" y="1118616"/>
              <a:ext cx="76200" cy="199390"/>
            </a:xfrm>
            <a:prstGeom prst="rect">
              <a:avLst/>
            </a:prstGeom>
          </p:spPr>
        </p:pic>
        <p:pic>
          <p:nvPicPr>
            <p:cNvPr id="386" name="picture 38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542709" y="562355"/>
              <a:ext cx="76123" cy="184150"/>
            </a:xfrm>
            <a:prstGeom prst="rect">
              <a:avLst/>
            </a:prstGeom>
          </p:spPr>
        </p:pic>
        <p:pic>
          <p:nvPicPr>
            <p:cNvPr id="387" name="picture 38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542709" y="1104900"/>
              <a:ext cx="76123" cy="184150"/>
            </a:xfrm>
            <a:prstGeom prst="rect">
              <a:avLst/>
            </a:prstGeom>
          </p:spPr>
        </p:pic>
        <p:pic>
          <p:nvPicPr>
            <p:cNvPr id="388" name="picture 38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542709" y="1685544"/>
              <a:ext cx="76123" cy="184150"/>
            </a:xfrm>
            <a:prstGeom prst="rect">
              <a:avLst/>
            </a:prstGeom>
          </p:spPr>
        </p:pic>
      </p:grpSp>
      <p:grpSp>
        <p:nvGrpSpPr>
          <p:cNvPr id="154" name="group 154"/>
          <p:cNvGrpSpPr/>
          <p:nvPr/>
        </p:nvGrpSpPr>
        <p:grpSpPr>
          <a:xfrm rot="21600000">
            <a:off x="7164323" y="2136647"/>
            <a:ext cx="1577340" cy="4136135"/>
            <a:chOff x="0" y="0"/>
            <a:chExt cx="1577340" cy="4136135"/>
          </a:xfrm>
        </p:grpSpPr>
        <p:grpSp>
          <p:nvGrpSpPr>
            <p:cNvPr id="156" name="group 156"/>
            <p:cNvGrpSpPr/>
            <p:nvPr/>
          </p:nvGrpSpPr>
          <p:grpSpPr>
            <a:xfrm rot="21600000">
              <a:off x="0" y="0"/>
              <a:ext cx="1577340" cy="4136135"/>
              <a:chOff x="0" y="0"/>
              <a:chExt cx="1577340" cy="4136135"/>
            </a:xfrm>
          </p:grpSpPr>
          <p:sp>
            <p:nvSpPr>
              <p:cNvPr id="389" name="path"/>
              <p:cNvSpPr/>
              <p:nvPr/>
            </p:nvSpPr>
            <p:spPr>
              <a:xfrm>
                <a:off x="0" y="0"/>
                <a:ext cx="1577340" cy="4136135"/>
              </a:xfrm>
              <a:custGeom>
                <a:avLst/>
                <a:gdLst/>
                <a:ahLst/>
                <a:cxnLst/>
                <a:rect l="0" t="0" r="0" b="0"/>
                <a:pathLst>
                  <a:path w="2484" h="6513">
                    <a:moveTo>
                      <a:pt x="0" y="6513"/>
                    </a:moveTo>
                    <a:lnTo>
                      <a:pt x="2484" y="6513"/>
                    </a:lnTo>
                    <a:lnTo>
                      <a:pt x="2484" y="0"/>
                    </a:lnTo>
                    <a:lnTo>
                      <a:pt x="0" y="0"/>
                    </a:lnTo>
                    <a:lnTo>
                      <a:pt x="0" y="6513"/>
                    </a:lnTo>
                    <a:close/>
                  </a:path>
                </a:pathLst>
              </a:custGeom>
              <a:solidFill>
                <a:srgbClr val="95BEEA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" name="path"/>
              <p:cNvSpPr/>
              <p:nvPr/>
            </p:nvSpPr>
            <p:spPr>
              <a:xfrm>
                <a:off x="103632" y="208788"/>
                <a:ext cx="1379219" cy="3814572"/>
              </a:xfrm>
              <a:custGeom>
                <a:avLst/>
                <a:gdLst/>
                <a:ahLst/>
                <a:cxnLst/>
                <a:rect l="0" t="0" r="0" b="0"/>
                <a:pathLst>
                  <a:path w="2171" h="6007">
                    <a:moveTo>
                      <a:pt x="0" y="624"/>
                    </a:moveTo>
                    <a:lnTo>
                      <a:pt x="2171" y="624"/>
                    </a:lnTo>
                    <a:lnTo>
                      <a:pt x="2171" y="0"/>
                    </a:lnTo>
                    <a:lnTo>
                      <a:pt x="0" y="0"/>
                    </a:lnTo>
                    <a:lnTo>
                      <a:pt x="0" y="624"/>
                    </a:lnTo>
                    <a:close/>
                  </a:path>
                  <a:path w="2171" h="6007">
                    <a:moveTo>
                      <a:pt x="0" y="1384"/>
                    </a:moveTo>
                    <a:lnTo>
                      <a:pt x="2171" y="1384"/>
                    </a:lnTo>
                    <a:lnTo>
                      <a:pt x="2171" y="818"/>
                    </a:lnTo>
                    <a:lnTo>
                      <a:pt x="0" y="818"/>
                    </a:lnTo>
                    <a:lnTo>
                      <a:pt x="0" y="1384"/>
                    </a:lnTo>
                    <a:close/>
                  </a:path>
                  <a:path w="2171" h="6007">
                    <a:moveTo>
                      <a:pt x="0" y="2145"/>
                    </a:moveTo>
                    <a:lnTo>
                      <a:pt x="2171" y="2145"/>
                    </a:lnTo>
                    <a:lnTo>
                      <a:pt x="2171" y="1579"/>
                    </a:lnTo>
                    <a:lnTo>
                      <a:pt x="0" y="1579"/>
                    </a:lnTo>
                    <a:lnTo>
                      <a:pt x="0" y="2145"/>
                    </a:lnTo>
                    <a:close/>
                  </a:path>
                  <a:path w="2171" h="6007">
                    <a:moveTo>
                      <a:pt x="0" y="2906"/>
                    </a:moveTo>
                    <a:lnTo>
                      <a:pt x="2171" y="2906"/>
                    </a:lnTo>
                    <a:lnTo>
                      <a:pt x="2171" y="2340"/>
                    </a:lnTo>
                    <a:lnTo>
                      <a:pt x="0" y="2340"/>
                    </a:lnTo>
                    <a:lnTo>
                      <a:pt x="0" y="2906"/>
                    </a:lnTo>
                    <a:close/>
                  </a:path>
                  <a:path w="2171" h="6007">
                    <a:moveTo>
                      <a:pt x="0" y="3724"/>
                    </a:moveTo>
                    <a:lnTo>
                      <a:pt x="2171" y="3724"/>
                    </a:lnTo>
                    <a:lnTo>
                      <a:pt x="2171" y="3103"/>
                    </a:lnTo>
                    <a:lnTo>
                      <a:pt x="0" y="3103"/>
                    </a:lnTo>
                    <a:lnTo>
                      <a:pt x="0" y="3724"/>
                    </a:lnTo>
                    <a:close/>
                  </a:path>
                  <a:path w="2171" h="6007">
                    <a:moveTo>
                      <a:pt x="0" y="4485"/>
                    </a:moveTo>
                    <a:lnTo>
                      <a:pt x="2171" y="4485"/>
                    </a:lnTo>
                    <a:lnTo>
                      <a:pt x="2171" y="3919"/>
                    </a:lnTo>
                    <a:lnTo>
                      <a:pt x="0" y="3919"/>
                    </a:lnTo>
                    <a:lnTo>
                      <a:pt x="0" y="4485"/>
                    </a:lnTo>
                    <a:close/>
                  </a:path>
                  <a:path w="2171" h="6007">
                    <a:moveTo>
                      <a:pt x="0" y="5246"/>
                    </a:moveTo>
                    <a:lnTo>
                      <a:pt x="2171" y="5246"/>
                    </a:lnTo>
                    <a:lnTo>
                      <a:pt x="2171" y="4680"/>
                    </a:lnTo>
                    <a:lnTo>
                      <a:pt x="0" y="4680"/>
                    </a:lnTo>
                    <a:lnTo>
                      <a:pt x="0" y="5246"/>
                    </a:lnTo>
                    <a:close/>
                  </a:path>
                  <a:path w="2171" h="6007">
                    <a:moveTo>
                      <a:pt x="0" y="6007"/>
                    </a:moveTo>
                    <a:lnTo>
                      <a:pt x="2171" y="6007"/>
                    </a:lnTo>
                    <a:lnTo>
                      <a:pt x="2171" y="5443"/>
                    </a:lnTo>
                    <a:lnTo>
                      <a:pt x="0" y="5443"/>
                    </a:lnTo>
                    <a:lnTo>
                      <a:pt x="0" y="600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1" name="textbox 391"/>
            <p:cNvSpPr/>
            <p:nvPr/>
          </p:nvSpPr>
          <p:spPr>
            <a:xfrm>
              <a:off x="187234" y="220458"/>
              <a:ext cx="1219200" cy="375729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000"/>
                </a:lnSpc>
              </a:pPr>
              <a:endParaRPr lang="en-US" altLang="en-US" sz="100" dirty="0"/>
            </a:p>
            <a:p>
              <a:pPr marL="447040" indent="-412750" algn="l" rtl="0" eaLnBrk="0">
                <a:lnSpc>
                  <a:spcPct val="107000"/>
                </a:lnSpc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确定谈判策略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与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 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计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划</a:t>
              </a:r>
              <a:endParaRPr lang="en-US" altLang="en-US" sz="1200" dirty="0"/>
            </a:p>
            <a:p>
              <a:pPr algn="l" rtl="0" eaLnBrk="0">
                <a:lnSpc>
                  <a:spcPct val="107000"/>
                </a:lnSpc>
              </a:pPr>
              <a:endParaRPr lang="en-US" altLang="en-US" sz="1000" dirty="0"/>
            </a:p>
            <a:p>
              <a:pPr marL="116840" algn="l" rtl="0" eaLnBrk="0">
                <a:lnSpc>
                  <a:spcPts val="1515"/>
                </a:lnSpc>
                <a:spcBef>
                  <a:spcPts val="370"/>
                </a:spcBef>
              </a:pPr>
              <a:r>
                <a:rPr sz="1200" spc="100" dirty="0">
                  <a:solidFill>
                    <a:srgbClr val="FF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成立谈判团</a:t>
              </a:r>
              <a:r>
                <a:rPr sz="1200" spc="50" dirty="0">
                  <a:solidFill>
                    <a:srgbClr val="FF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队</a:t>
              </a:r>
              <a:endParaRPr lang="en-US" altLang="en-US" sz="1200" dirty="0"/>
            </a:p>
            <a:p>
              <a:pPr algn="l" rtl="0" eaLnBrk="0">
                <a:lnSpc>
                  <a:spcPct val="161000"/>
                </a:lnSpc>
              </a:pPr>
              <a:endParaRPr lang="en-US" altLang="en-US" sz="1000" dirty="0"/>
            </a:p>
            <a:p>
              <a:pPr marL="34290" algn="l" rtl="0" eaLnBrk="0">
                <a:lnSpc>
                  <a:spcPts val="1510"/>
                </a:lnSpc>
                <a:spcBef>
                  <a:spcPts val="360"/>
                </a:spcBef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确定和更新授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权</a:t>
              </a:r>
              <a:endParaRPr lang="en-US" altLang="en-US" sz="1200" dirty="0"/>
            </a:p>
            <a:p>
              <a:pPr algn="l" rtl="0" eaLnBrk="0">
                <a:lnSpc>
                  <a:spcPct val="161000"/>
                </a:lnSpc>
              </a:pPr>
              <a:endParaRPr lang="en-US" altLang="en-US" sz="1000" dirty="0"/>
            </a:p>
            <a:p>
              <a:pPr marL="281940" algn="l" rtl="0" eaLnBrk="0">
                <a:lnSpc>
                  <a:spcPts val="1515"/>
                </a:lnSpc>
                <a:spcBef>
                  <a:spcPts val="36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执行谈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判</a:t>
              </a:r>
              <a:endParaRPr lang="en-US" altLang="en-US" sz="1200" dirty="0"/>
            </a:p>
            <a:p>
              <a:pPr marL="283210" indent="-270510" algn="l" rtl="0" eaLnBrk="0">
                <a:lnSpc>
                  <a:spcPct val="112000"/>
                </a:lnSpc>
                <a:spcBef>
                  <a:spcPts val="1495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制定</a:t>
              </a: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/</a:t>
              </a: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修改合同</a:t>
              </a:r>
              <a:r>
                <a:rPr sz="1200" spc="3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草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 </a:t>
              </a: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案与预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算</a:t>
              </a:r>
              <a:endParaRPr lang="en-US" altLang="en-US" sz="1200" dirty="0"/>
            </a:p>
            <a:p>
              <a:pPr algn="l" rtl="0" eaLnBrk="0">
                <a:lnSpc>
                  <a:spcPct val="108000"/>
                </a:lnSpc>
              </a:pPr>
              <a:endParaRPr lang="en-US" altLang="en-US" sz="1000" dirty="0"/>
            </a:p>
            <a:p>
              <a:pPr marL="281940" algn="l" rtl="0" eaLnBrk="0">
                <a:lnSpc>
                  <a:spcPts val="1515"/>
                </a:lnSpc>
                <a:spcBef>
                  <a:spcPts val="365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评审合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同</a:t>
              </a:r>
              <a:endParaRPr lang="en-US" altLang="en-US" sz="1200" dirty="0"/>
            </a:p>
            <a:p>
              <a:pPr algn="l" rtl="0" eaLnBrk="0">
                <a:lnSpc>
                  <a:spcPct val="160000"/>
                </a:lnSpc>
              </a:pPr>
              <a:endParaRPr lang="en-US" altLang="en-US" sz="1000" dirty="0"/>
            </a:p>
            <a:p>
              <a:pPr marL="117475" algn="l" rtl="0" eaLnBrk="0">
                <a:lnSpc>
                  <a:spcPts val="1515"/>
                </a:lnSpc>
                <a:spcBef>
                  <a:spcPts val="370"/>
                </a:spcBef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进行签约决</a:t>
              </a:r>
              <a:r>
                <a:rPr sz="1200" spc="5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策</a:t>
              </a:r>
              <a:endParaRPr lang="en-US" altLang="en-US" sz="1200" dirty="0"/>
            </a:p>
            <a:p>
              <a:pPr algn="l" rtl="0" eaLnBrk="0">
                <a:lnSpc>
                  <a:spcPct val="160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3000"/>
                </a:lnSpc>
              </a:pPr>
              <a:endParaRPr lang="en-US" altLang="en-US" sz="300" dirty="0"/>
            </a:p>
            <a:p>
              <a:pPr marL="281940" algn="l" rtl="0" eaLnBrk="0">
                <a:lnSpc>
                  <a:spcPts val="1515"/>
                </a:lnSpc>
                <a:spcBef>
                  <a:spcPts val="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签订合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同</a:t>
              </a:r>
              <a:endParaRPr lang="en-US" altLang="en-US" sz="1200" dirty="0"/>
            </a:p>
          </p:txBody>
        </p:sp>
        <p:pic>
          <p:nvPicPr>
            <p:cNvPr id="392" name="picture 39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757555" y="3532568"/>
              <a:ext cx="76200" cy="123888"/>
            </a:xfrm>
            <a:prstGeom prst="rect">
              <a:avLst/>
            </a:prstGeom>
          </p:spPr>
        </p:pic>
        <p:pic>
          <p:nvPicPr>
            <p:cNvPr id="393" name="picture 39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757555" y="1080516"/>
              <a:ext cx="76200" cy="123825"/>
            </a:xfrm>
            <a:prstGeom prst="rect">
              <a:avLst/>
            </a:prstGeom>
          </p:spPr>
        </p:pic>
        <p:pic>
          <p:nvPicPr>
            <p:cNvPr id="394" name="picture 39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757555" y="1563624"/>
              <a:ext cx="76200" cy="123825"/>
            </a:xfrm>
            <a:prstGeom prst="rect">
              <a:avLst/>
            </a:prstGeom>
          </p:spPr>
        </p:pic>
        <p:pic>
          <p:nvPicPr>
            <p:cNvPr id="395" name="picture 39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757555" y="2046732"/>
              <a:ext cx="76200" cy="123825"/>
            </a:xfrm>
            <a:prstGeom prst="rect">
              <a:avLst/>
            </a:prstGeom>
          </p:spPr>
        </p:pic>
        <p:pic>
          <p:nvPicPr>
            <p:cNvPr id="396" name="picture 39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757555" y="3049524"/>
              <a:ext cx="76200" cy="123825"/>
            </a:xfrm>
            <a:prstGeom prst="rect">
              <a:avLst/>
            </a:prstGeom>
          </p:spPr>
        </p:pic>
        <p:pic>
          <p:nvPicPr>
            <p:cNvPr id="397" name="picture 39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757555" y="597408"/>
              <a:ext cx="76200" cy="123825"/>
            </a:xfrm>
            <a:prstGeom prst="rect">
              <a:avLst/>
            </a:prstGeom>
          </p:spPr>
        </p:pic>
        <p:pic>
          <p:nvPicPr>
            <p:cNvPr id="398" name="picture 39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757555" y="2566416"/>
              <a:ext cx="76200" cy="123825"/>
            </a:xfrm>
            <a:prstGeom prst="rect">
              <a:avLst/>
            </a:prstGeom>
          </p:spPr>
        </p:pic>
      </p:grpSp>
      <p:grpSp>
        <p:nvGrpSpPr>
          <p:cNvPr id="158" name="group 158"/>
          <p:cNvGrpSpPr/>
          <p:nvPr/>
        </p:nvGrpSpPr>
        <p:grpSpPr>
          <a:xfrm rot="21600000">
            <a:off x="3541775" y="2122932"/>
            <a:ext cx="1395984" cy="3364991"/>
            <a:chOff x="0" y="0"/>
            <a:chExt cx="1395984" cy="3364991"/>
          </a:xfrm>
        </p:grpSpPr>
        <p:grpSp>
          <p:nvGrpSpPr>
            <p:cNvPr id="160" name="group 160"/>
            <p:cNvGrpSpPr/>
            <p:nvPr/>
          </p:nvGrpSpPr>
          <p:grpSpPr>
            <a:xfrm rot="21600000">
              <a:off x="0" y="0"/>
              <a:ext cx="1395984" cy="3364991"/>
              <a:chOff x="0" y="0"/>
              <a:chExt cx="1395984" cy="3364991"/>
            </a:xfrm>
          </p:grpSpPr>
          <p:sp>
            <p:nvSpPr>
              <p:cNvPr id="399" name="path"/>
              <p:cNvSpPr/>
              <p:nvPr/>
            </p:nvSpPr>
            <p:spPr>
              <a:xfrm>
                <a:off x="0" y="0"/>
                <a:ext cx="1395984" cy="3364991"/>
              </a:xfrm>
              <a:custGeom>
                <a:avLst/>
                <a:gdLst/>
                <a:ahLst/>
                <a:cxnLst/>
                <a:rect l="0" t="0" r="0" b="0"/>
                <a:pathLst>
                  <a:path w="2198" h="5299">
                    <a:moveTo>
                      <a:pt x="0" y="5299"/>
                    </a:moveTo>
                    <a:lnTo>
                      <a:pt x="2198" y="5299"/>
                    </a:lnTo>
                    <a:lnTo>
                      <a:pt x="2198" y="0"/>
                    </a:lnTo>
                    <a:lnTo>
                      <a:pt x="0" y="0"/>
                    </a:lnTo>
                    <a:lnTo>
                      <a:pt x="0" y="5299"/>
                    </a:lnTo>
                    <a:close/>
                  </a:path>
                </a:pathLst>
              </a:custGeom>
              <a:solidFill>
                <a:srgbClr val="95BEEA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" name="path"/>
              <p:cNvSpPr/>
              <p:nvPr/>
            </p:nvSpPr>
            <p:spPr>
              <a:xfrm>
                <a:off x="76200" y="208787"/>
                <a:ext cx="1213103" cy="3076956"/>
              </a:xfrm>
              <a:custGeom>
                <a:avLst/>
                <a:gdLst/>
                <a:ahLst/>
                <a:cxnLst/>
                <a:rect l="0" t="0" r="0" b="0"/>
                <a:pathLst>
                  <a:path w="1910" h="4845">
                    <a:moveTo>
                      <a:pt x="0" y="624"/>
                    </a:moveTo>
                    <a:lnTo>
                      <a:pt x="1910" y="624"/>
                    </a:lnTo>
                    <a:lnTo>
                      <a:pt x="1910" y="0"/>
                    </a:lnTo>
                    <a:lnTo>
                      <a:pt x="0" y="0"/>
                    </a:lnTo>
                    <a:lnTo>
                      <a:pt x="0" y="624"/>
                    </a:lnTo>
                    <a:close/>
                  </a:path>
                  <a:path w="1910" h="4845">
                    <a:moveTo>
                      <a:pt x="0" y="1432"/>
                    </a:moveTo>
                    <a:lnTo>
                      <a:pt x="1910" y="1432"/>
                    </a:lnTo>
                    <a:lnTo>
                      <a:pt x="1910" y="868"/>
                    </a:lnTo>
                    <a:lnTo>
                      <a:pt x="0" y="868"/>
                    </a:lnTo>
                    <a:lnTo>
                      <a:pt x="0" y="1432"/>
                    </a:lnTo>
                    <a:close/>
                  </a:path>
                  <a:path w="1910" h="4845">
                    <a:moveTo>
                      <a:pt x="0" y="2244"/>
                    </a:moveTo>
                    <a:lnTo>
                      <a:pt x="1910" y="2244"/>
                    </a:lnTo>
                    <a:lnTo>
                      <a:pt x="1910" y="1677"/>
                    </a:lnTo>
                    <a:lnTo>
                      <a:pt x="0" y="1677"/>
                    </a:lnTo>
                    <a:lnTo>
                      <a:pt x="0" y="2244"/>
                    </a:lnTo>
                    <a:close/>
                  </a:path>
                  <a:path w="1910" h="4845">
                    <a:moveTo>
                      <a:pt x="0" y="3110"/>
                    </a:moveTo>
                    <a:lnTo>
                      <a:pt x="1910" y="3110"/>
                    </a:lnTo>
                    <a:lnTo>
                      <a:pt x="1910" y="2488"/>
                    </a:lnTo>
                    <a:lnTo>
                      <a:pt x="0" y="2488"/>
                    </a:lnTo>
                    <a:lnTo>
                      <a:pt x="0" y="3110"/>
                    </a:lnTo>
                    <a:close/>
                  </a:path>
                  <a:path w="1910" h="4845">
                    <a:moveTo>
                      <a:pt x="0" y="3976"/>
                    </a:moveTo>
                    <a:lnTo>
                      <a:pt x="1910" y="3976"/>
                    </a:lnTo>
                    <a:lnTo>
                      <a:pt x="1910" y="3355"/>
                    </a:lnTo>
                    <a:lnTo>
                      <a:pt x="0" y="3355"/>
                    </a:lnTo>
                    <a:lnTo>
                      <a:pt x="0" y="3976"/>
                    </a:lnTo>
                    <a:close/>
                  </a:path>
                  <a:path w="1910" h="4845">
                    <a:moveTo>
                      <a:pt x="0" y="4845"/>
                    </a:moveTo>
                    <a:lnTo>
                      <a:pt x="1910" y="4845"/>
                    </a:lnTo>
                    <a:lnTo>
                      <a:pt x="1910" y="4221"/>
                    </a:lnTo>
                    <a:lnTo>
                      <a:pt x="0" y="4221"/>
                    </a:lnTo>
                    <a:lnTo>
                      <a:pt x="0" y="4845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01" name="textbox 401"/>
            <p:cNvSpPr/>
            <p:nvPr/>
          </p:nvSpPr>
          <p:spPr>
            <a:xfrm>
              <a:off x="179904" y="220704"/>
              <a:ext cx="1009650" cy="309880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lang="en-US" altLang="en-US" sz="100" dirty="0"/>
            </a:p>
            <a:p>
              <a:pPr marL="178435" indent="-163195" algn="l" rtl="0" eaLnBrk="0">
                <a:lnSpc>
                  <a:spcPct val="107000"/>
                </a:lnSpc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掌握客户的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痛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 </a:t>
              </a: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点与关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切</a:t>
              </a:r>
              <a:endParaRPr lang="en-US" altLang="en-US" sz="1200" dirty="0"/>
            </a:p>
            <a:p>
              <a:pPr algn="l" rtl="0" eaLnBrk="0">
                <a:lnSpc>
                  <a:spcPct val="128000"/>
                </a:lnSpc>
              </a:pPr>
              <a:endParaRPr lang="en-US" altLang="en-US" sz="1000" dirty="0"/>
            </a:p>
            <a:p>
              <a:pPr marL="26670" algn="l" rtl="0" eaLnBrk="0">
                <a:lnSpc>
                  <a:spcPts val="1515"/>
                </a:lnSpc>
                <a:spcBef>
                  <a:spcPts val="365"/>
                </a:spcBef>
              </a:pP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匹配买点卖</a:t>
              </a:r>
              <a:r>
                <a:rPr sz="1200" spc="3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点</a:t>
              </a:r>
              <a:endParaRPr lang="en-US" altLang="en-US" sz="1200" dirty="0"/>
            </a:p>
            <a:p>
              <a:pPr algn="l" rtl="0" eaLnBrk="0">
                <a:lnSpc>
                  <a:spcPct val="181000"/>
                </a:lnSpc>
              </a:pPr>
              <a:endParaRPr lang="en-US" altLang="en-US" sz="1000" dirty="0"/>
            </a:p>
            <a:p>
              <a:pPr marL="13335" algn="l" rtl="0" eaLnBrk="0">
                <a:lnSpc>
                  <a:spcPts val="1515"/>
                </a:lnSpc>
                <a:spcBef>
                  <a:spcPts val="365"/>
                </a:spcBef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巩固客户关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系</a:t>
              </a:r>
              <a:endParaRPr lang="en-US" altLang="en-US" sz="1200" dirty="0"/>
            </a:p>
            <a:p>
              <a:pPr algn="l" rtl="0" eaLnBrk="0">
                <a:lnSpc>
                  <a:spcPct val="113000"/>
                </a:lnSpc>
              </a:pPr>
              <a:endParaRPr lang="en-US" altLang="en-US" sz="1000" dirty="0"/>
            </a:p>
            <a:p>
              <a:pPr marL="261620" indent="-247650" algn="l" rtl="0" eaLnBrk="0">
                <a:lnSpc>
                  <a:spcPct val="113000"/>
                </a:lnSpc>
                <a:spcBef>
                  <a:spcPts val="36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制定并执行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竞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 </a:t>
              </a: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争策</a:t>
              </a:r>
              <a:r>
                <a:rPr sz="1200" spc="6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略</a:t>
              </a:r>
              <a:endParaRPr lang="en-US" altLang="en-US" sz="1200" dirty="0"/>
            </a:p>
            <a:p>
              <a:pPr marL="102235" indent="-89535" algn="l" rtl="0" eaLnBrk="0">
                <a:lnSpc>
                  <a:spcPct val="114000"/>
                </a:lnSpc>
                <a:spcBef>
                  <a:spcPts val="1055"/>
                </a:spcBef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提出客户认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同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 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的价值主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张</a:t>
              </a:r>
              <a:endParaRPr lang="en-US" altLang="en-US" sz="1200" dirty="0"/>
            </a:p>
            <a:p>
              <a:pPr algn="l" rtl="0" eaLnBrk="0">
                <a:lnSpc>
                  <a:spcPct val="100000"/>
                </a:lnSpc>
              </a:pPr>
              <a:endParaRPr lang="en-US" altLang="en-US" sz="900" dirty="0"/>
            </a:p>
            <a:p>
              <a:pPr marL="341630" indent="-327660" algn="l" rtl="0" eaLnBrk="0">
                <a:lnSpc>
                  <a:spcPct val="113000"/>
                </a:lnSpc>
                <a:spcBef>
                  <a:spcPts val="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影响客户选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择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 </a:t>
              </a: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标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准</a:t>
              </a:r>
              <a:endParaRPr lang="en-US" altLang="en-US" sz="1200" dirty="0"/>
            </a:p>
          </p:txBody>
        </p:sp>
        <p:pic>
          <p:nvPicPr>
            <p:cNvPr id="402" name="picture 40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641604" y="2174747"/>
              <a:ext cx="76200" cy="173354"/>
            </a:xfrm>
            <a:prstGeom prst="rect">
              <a:avLst/>
            </a:prstGeom>
          </p:spPr>
        </p:pic>
        <p:pic>
          <p:nvPicPr>
            <p:cNvPr id="403" name="picture 403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646303" y="1110996"/>
              <a:ext cx="76200" cy="154940"/>
            </a:xfrm>
            <a:prstGeom prst="rect">
              <a:avLst/>
            </a:prstGeom>
          </p:spPr>
        </p:pic>
        <p:pic>
          <p:nvPicPr>
            <p:cNvPr id="404" name="picture 40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646303" y="595884"/>
              <a:ext cx="76200" cy="154940"/>
            </a:xfrm>
            <a:prstGeom prst="rect">
              <a:avLst/>
            </a:prstGeom>
          </p:spPr>
        </p:pic>
        <p:pic>
          <p:nvPicPr>
            <p:cNvPr id="405" name="picture 405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646303" y="1624583"/>
              <a:ext cx="76200" cy="154939"/>
            </a:xfrm>
            <a:prstGeom prst="rect">
              <a:avLst/>
            </a:prstGeom>
          </p:spPr>
        </p:pic>
        <p:pic>
          <p:nvPicPr>
            <p:cNvPr id="406" name="picture 406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646303" y="2726435"/>
              <a:ext cx="76200" cy="154939"/>
            </a:xfrm>
            <a:prstGeom prst="rect">
              <a:avLst/>
            </a:prstGeom>
          </p:spPr>
        </p:pic>
      </p:grpSp>
      <p:grpSp>
        <p:nvGrpSpPr>
          <p:cNvPr id="162" name="group 162"/>
          <p:cNvGrpSpPr/>
          <p:nvPr/>
        </p:nvGrpSpPr>
        <p:grpSpPr>
          <a:xfrm rot="21600000">
            <a:off x="5327903" y="2121407"/>
            <a:ext cx="1469136" cy="2830068"/>
            <a:chOff x="0" y="0"/>
            <a:chExt cx="1469136" cy="2830068"/>
          </a:xfrm>
        </p:grpSpPr>
        <p:grpSp>
          <p:nvGrpSpPr>
            <p:cNvPr id="164" name="group 164"/>
            <p:cNvGrpSpPr/>
            <p:nvPr/>
          </p:nvGrpSpPr>
          <p:grpSpPr>
            <a:xfrm rot="21600000">
              <a:off x="0" y="0"/>
              <a:ext cx="1469136" cy="2830068"/>
              <a:chOff x="0" y="0"/>
              <a:chExt cx="1469136" cy="2830068"/>
            </a:xfrm>
          </p:grpSpPr>
          <p:sp>
            <p:nvSpPr>
              <p:cNvPr id="407" name="path"/>
              <p:cNvSpPr/>
              <p:nvPr/>
            </p:nvSpPr>
            <p:spPr>
              <a:xfrm>
                <a:off x="0" y="0"/>
                <a:ext cx="1469136" cy="2830068"/>
              </a:xfrm>
              <a:custGeom>
                <a:avLst/>
                <a:gdLst/>
                <a:ahLst/>
                <a:cxnLst/>
                <a:rect l="0" t="0" r="0" b="0"/>
                <a:pathLst>
                  <a:path w="2313" h="4456">
                    <a:moveTo>
                      <a:pt x="0" y="4456"/>
                    </a:moveTo>
                    <a:lnTo>
                      <a:pt x="2313" y="4456"/>
                    </a:lnTo>
                    <a:lnTo>
                      <a:pt x="2313" y="0"/>
                    </a:lnTo>
                    <a:lnTo>
                      <a:pt x="0" y="0"/>
                    </a:lnTo>
                    <a:lnTo>
                      <a:pt x="0" y="4456"/>
                    </a:lnTo>
                    <a:close/>
                  </a:path>
                </a:pathLst>
              </a:custGeom>
              <a:solidFill>
                <a:srgbClr val="95BEEA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path"/>
              <p:cNvSpPr/>
              <p:nvPr/>
            </p:nvSpPr>
            <p:spPr>
              <a:xfrm>
                <a:off x="76200" y="210311"/>
                <a:ext cx="1275587" cy="2449068"/>
              </a:xfrm>
              <a:custGeom>
                <a:avLst/>
                <a:gdLst/>
                <a:ahLst/>
                <a:cxnLst/>
                <a:rect l="0" t="0" r="0" b="0"/>
                <a:pathLst>
                  <a:path w="2008" h="3856">
                    <a:moveTo>
                      <a:pt x="0" y="624"/>
                    </a:moveTo>
                    <a:lnTo>
                      <a:pt x="2008" y="624"/>
                    </a:lnTo>
                    <a:lnTo>
                      <a:pt x="2008" y="0"/>
                    </a:lnTo>
                    <a:lnTo>
                      <a:pt x="0" y="0"/>
                    </a:lnTo>
                    <a:lnTo>
                      <a:pt x="0" y="624"/>
                    </a:lnTo>
                    <a:close/>
                  </a:path>
                  <a:path w="2008" h="3856">
                    <a:moveTo>
                      <a:pt x="0" y="1473"/>
                    </a:moveTo>
                    <a:lnTo>
                      <a:pt x="2008" y="1473"/>
                    </a:lnTo>
                    <a:lnTo>
                      <a:pt x="2008" y="852"/>
                    </a:lnTo>
                    <a:lnTo>
                      <a:pt x="0" y="852"/>
                    </a:lnTo>
                    <a:lnTo>
                      <a:pt x="0" y="1473"/>
                    </a:lnTo>
                    <a:close/>
                  </a:path>
                  <a:path w="2008" h="3856">
                    <a:moveTo>
                      <a:pt x="0" y="2268"/>
                    </a:moveTo>
                    <a:lnTo>
                      <a:pt x="2008" y="2268"/>
                    </a:lnTo>
                    <a:lnTo>
                      <a:pt x="2008" y="1701"/>
                    </a:lnTo>
                    <a:lnTo>
                      <a:pt x="0" y="1701"/>
                    </a:lnTo>
                    <a:lnTo>
                      <a:pt x="0" y="2268"/>
                    </a:lnTo>
                    <a:close/>
                  </a:path>
                  <a:path w="2008" h="3856">
                    <a:moveTo>
                      <a:pt x="0" y="3062"/>
                    </a:moveTo>
                    <a:lnTo>
                      <a:pt x="2008" y="3062"/>
                    </a:lnTo>
                    <a:lnTo>
                      <a:pt x="2008" y="2496"/>
                    </a:lnTo>
                    <a:lnTo>
                      <a:pt x="0" y="2496"/>
                    </a:lnTo>
                    <a:lnTo>
                      <a:pt x="0" y="3062"/>
                    </a:lnTo>
                    <a:close/>
                  </a:path>
                  <a:path w="2008" h="3856">
                    <a:moveTo>
                      <a:pt x="0" y="3856"/>
                    </a:moveTo>
                    <a:lnTo>
                      <a:pt x="2008" y="3856"/>
                    </a:lnTo>
                    <a:lnTo>
                      <a:pt x="2008" y="3290"/>
                    </a:lnTo>
                    <a:lnTo>
                      <a:pt x="0" y="3290"/>
                    </a:lnTo>
                    <a:lnTo>
                      <a:pt x="0" y="3856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09" name="textbox 409"/>
            <p:cNvSpPr/>
            <p:nvPr/>
          </p:nvSpPr>
          <p:spPr>
            <a:xfrm>
              <a:off x="211101" y="222229"/>
              <a:ext cx="1009650" cy="239013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0"/>
                </a:lnSpc>
              </a:pPr>
              <a:endParaRPr lang="en-US" altLang="en-US" sz="100" dirty="0"/>
            </a:p>
            <a:p>
              <a:pPr marL="178435" indent="-165735" algn="l" rtl="0" eaLnBrk="0">
                <a:lnSpc>
                  <a:spcPct val="107000"/>
                </a:lnSpc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确定解决方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案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 </a:t>
              </a: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总体策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略</a:t>
              </a:r>
              <a:endParaRPr lang="en-US" altLang="en-US" sz="1200" dirty="0"/>
            </a:p>
            <a:p>
              <a:pPr marL="13335" algn="l" rtl="0" eaLnBrk="0">
                <a:lnSpc>
                  <a:spcPct val="113000"/>
                </a:lnSpc>
                <a:spcBef>
                  <a:spcPts val="995"/>
                </a:spcBef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组织解决方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案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 </a:t>
              </a: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及概算的制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定</a:t>
              </a:r>
              <a:endParaRPr lang="en-US" altLang="en-US" sz="1200" dirty="0"/>
            </a:p>
            <a:p>
              <a:pPr algn="l" rtl="0" eaLnBrk="0">
                <a:lnSpc>
                  <a:spcPct val="122000"/>
                </a:lnSpc>
              </a:pPr>
              <a:endParaRPr lang="en-US" altLang="en-US" sz="1000" dirty="0"/>
            </a:p>
            <a:p>
              <a:pPr marL="13335" algn="l" rtl="0" eaLnBrk="0">
                <a:lnSpc>
                  <a:spcPts val="1515"/>
                </a:lnSpc>
                <a:spcBef>
                  <a:spcPts val="360"/>
                </a:spcBef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评审解决方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案</a:t>
              </a:r>
              <a:endParaRPr lang="en-US" altLang="en-US" sz="1200" dirty="0"/>
            </a:p>
            <a:p>
              <a:pPr algn="l" rtl="0" eaLnBrk="0">
                <a:lnSpc>
                  <a:spcPct val="174000"/>
                </a:lnSpc>
              </a:pPr>
              <a:endParaRPr lang="en-US" altLang="en-US" sz="1000" dirty="0"/>
            </a:p>
            <a:p>
              <a:pPr marL="13335" algn="l" rtl="0" eaLnBrk="0">
                <a:lnSpc>
                  <a:spcPts val="1515"/>
                </a:lnSpc>
                <a:spcBef>
                  <a:spcPts val="370"/>
                </a:spcBef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进行投标决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策</a:t>
              </a:r>
              <a:endParaRPr lang="en-US" altLang="en-US" sz="1200" dirty="0"/>
            </a:p>
            <a:p>
              <a:pPr algn="l" rtl="0" eaLnBrk="0">
                <a:lnSpc>
                  <a:spcPct val="174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2000"/>
                </a:lnSpc>
              </a:pPr>
              <a:endParaRPr lang="en-US" altLang="en-US" sz="300" dirty="0"/>
            </a:p>
            <a:p>
              <a:pPr marL="12700" algn="l" rtl="0" eaLnBrk="0">
                <a:lnSpc>
                  <a:spcPts val="1515"/>
                </a:lnSpc>
                <a:spcBef>
                  <a:spcPts val="0"/>
                </a:spcBef>
              </a:pPr>
              <a:r>
                <a:rPr sz="1200" spc="10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提交解决方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案</a:t>
              </a:r>
              <a:endParaRPr lang="en-US" altLang="en-US" sz="1200" dirty="0"/>
            </a:p>
          </p:txBody>
        </p:sp>
        <p:pic>
          <p:nvPicPr>
            <p:cNvPr id="410" name="picture 41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678307" y="597408"/>
              <a:ext cx="76200" cy="685800"/>
            </a:xfrm>
            <a:prstGeom prst="rect">
              <a:avLst/>
            </a:prstGeom>
          </p:spPr>
        </p:pic>
        <p:pic>
          <p:nvPicPr>
            <p:cNvPr id="411" name="picture 411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678307" y="1642872"/>
              <a:ext cx="76200" cy="144779"/>
            </a:xfrm>
            <a:prstGeom prst="rect">
              <a:avLst/>
            </a:prstGeom>
          </p:spPr>
        </p:pic>
        <p:pic>
          <p:nvPicPr>
            <p:cNvPr id="412" name="picture 412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678307" y="2147316"/>
              <a:ext cx="76200" cy="144779"/>
            </a:xfrm>
            <a:prstGeom prst="rect">
              <a:avLst/>
            </a:prstGeom>
          </p:spPr>
        </p:pic>
      </p:grpSp>
      <p:grpSp>
        <p:nvGrpSpPr>
          <p:cNvPr id="166" name="group 166"/>
          <p:cNvGrpSpPr/>
          <p:nvPr/>
        </p:nvGrpSpPr>
        <p:grpSpPr>
          <a:xfrm rot="21600000">
            <a:off x="469138" y="970870"/>
            <a:ext cx="4611796" cy="801541"/>
            <a:chOff x="0" y="0"/>
            <a:chExt cx="4611796" cy="801541"/>
          </a:xfrm>
        </p:grpSpPr>
        <p:sp>
          <p:nvSpPr>
            <p:cNvPr id="413" name="path"/>
            <p:cNvSpPr/>
            <p:nvPr/>
          </p:nvSpPr>
          <p:spPr>
            <a:xfrm>
              <a:off x="6350" y="4490"/>
              <a:ext cx="4600955" cy="463295"/>
            </a:xfrm>
            <a:custGeom>
              <a:avLst/>
              <a:gdLst/>
              <a:ahLst/>
              <a:cxnLst/>
              <a:rect l="0" t="0" r="0" b="0"/>
              <a:pathLst>
                <a:path w="7245" h="729">
                  <a:moveTo>
                    <a:pt x="0" y="182"/>
                  </a:moveTo>
                  <a:lnTo>
                    <a:pt x="6880" y="182"/>
                  </a:lnTo>
                  <a:lnTo>
                    <a:pt x="6880" y="0"/>
                  </a:lnTo>
                  <a:lnTo>
                    <a:pt x="7245" y="364"/>
                  </a:lnTo>
                  <a:lnTo>
                    <a:pt x="6880" y="729"/>
                  </a:lnTo>
                  <a:lnTo>
                    <a:pt x="6880" y="547"/>
                  </a:lnTo>
                  <a:lnTo>
                    <a:pt x="0" y="547"/>
                  </a:lnTo>
                  <a:lnTo>
                    <a:pt x="0" y="182"/>
                  </a:lnTo>
                  <a:close/>
                </a:path>
              </a:pathLst>
            </a:custGeom>
            <a:solidFill>
              <a:srgbClr val="1F4E7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4" name="rect"/>
            <p:cNvSpPr/>
            <p:nvPr/>
          </p:nvSpPr>
          <p:spPr>
            <a:xfrm>
              <a:off x="3744721" y="550081"/>
              <a:ext cx="216408" cy="251459"/>
            </a:xfrm>
            <a:prstGeom prst="rect">
              <a:avLst/>
            </a:prstGeom>
            <a:solidFill>
              <a:srgbClr val="CD7E5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5" name="textbox 415"/>
            <p:cNvSpPr/>
            <p:nvPr/>
          </p:nvSpPr>
          <p:spPr>
            <a:xfrm>
              <a:off x="-12700" y="107613"/>
              <a:ext cx="4401184" cy="67881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4000"/>
                </a:lnSpc>
              </a:pPr>
              <a:endParaRPr lang="en-US" altLang="en-US" sz="200" dirty="0"/>
            </a:p>
            <a:p>
              <a:pPr marL="25400" algn="l" rtl="0" eaLnBrk="0">
                <a:lnSpc>
                  <a:spcPct val="98000"/>
                </a:lnSpc>
                <a:spcBef>
                  <a:spcPts val="0"/>
                </a:spcBef>
                <a:tabLst>
                  <a:tab pos="1880870" algn="l"/>
                  <a:tab pos="4387850" algn="l"/>
                </a:tabLst>
              </a:pPr>
              <a:r>
                <a:rPr sz="1500" u="sng" spc="0" dirty="0">
                  <a:solidFill>
                    <a:srgbClr val="FFFFFF">
                      <a:alpha val="100000"/>
                    </a:srgbClr>
                  </a:solidFill>
                  <a:uFill>
                    <a:solidFill>
                      <a:srgbClr val="1F4E79"/>
                    </a:solidFill>
                  </a:u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	</a:t>
              </a:r>
              <a:r>
                <a:rPr sz="1500" u="sng" spc="10" dirty="0">
                  <a:ln w="5448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10"/>
                  </a:ln>
                  <a:solidFill>
                    <a:srgbClr val="FFFFFF">
                      <a:alpha val="100000"/>
                    </a:srgbClr>
                  </a:solidFill>
                  <a:uFill>
                    <a:solidFill>
                      <a:srgbClr val="1F4E79"/>
                    </a:solidFill>
                  </a:u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建</a:t>
              </a:r>
              <a:r>
                <a:rPr sz="1500" u="sng" spc="0" dirty="0">
                  <a:ln w="5448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10"/>
                  </a:ln>
                  <a:solidFill>
                    <a:srgbClr val="FFFFFF">
                      <a:alpha val="100000"/>
                    </a:srgbClr>
                  </a:solidFill>
                  <a:uFill>
                    <a:solidFill>
                      <a:srgbClr val="1F4E79"/>
                    </a:solidFill>
                  </a:u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立关系</a:t>
              </a:r>
              <a:r>
                <a:rPr sz="1500" u="sng" spc="0" dirty="0">
                  <a:solidFill>
                    <a:srgbClr val="FFFFFF">
                      <a:alpha val="100000"/>
                    </a:srgbClr>
                  </a:solidFill>
                  <a:uFill>
                    <a:solidFill>
                      <a:srgbClr val="1F4E79"/>
                    </a:solidFill>
                  </a:u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	</a:t>
              </a:r>
              <a:endParaRPr lang="en-US" altLang="en-US" sz="1500" dirty="0"/>
            </a:p>
            <a:p>
              <a:pPr algn="l" rtl="0" eaLnBrk="0">
                <a:lnSpc>
                  <a:spcPct val="128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2000"/>
                </a:lnSpc>
              </a:pPr>
              <a:endParaRPr lang="en-US" altLang="en-US" sz="300" dirty="0"/>
            </a:p>
            <a:p>
              <a:pPr marL="3825875" algn="l" rtl="0" eaLnBrk="0">
                <a:lnSpc>
                  <a:spcPct val="85000"/>
                </a:lnSpc>
                <a:spcBef>
                  <a:spcPts val="5"/>
                </a:spcBef>
              </a:pPr>
              <a:r>
                <a:rPr sz="1200" b="1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altLang="en-US" sz="1200" dirty="0"/>
            </a:p>
          </p:txBody>
        </p:sp>
        <p:sp>
          <p:nvSpPr>
            <p:cNvPr id="416" name="path"/>
            <p:cNvSpPr/>
            <p:nvPr/>
          </p:nvSpPr>
          <p:spPr>
            <a:xfrm>
              <a:off x="0" y="120313"/>
              <a:ext cx="12700" cy="231647"/>
            </a:xfrm>
            <a:custGeom>
              <a:avLst/>
              <a:gdLst/>
              <a:ahLst/>
              <a:cxnLst/>
              <a:rect l="0" t="0" r="0" b="0"/>
              <a:pathLst>
                <a:path w="20" h="364">
                  <a:moveTo>
                    <a:pt x="10" y="364"/>
                  </a:moveTo>
                  <a:lnTo>
                    <a:pt x="10" y="0"/>
                  </a:lnTo>
                  <a:close/>
                </a:path>
              </a:pathLst>
            </a:custGeom>
            <a:noFill/>
            <a:ln w="12700" cap="flat">
              <a:solidFill>
                <a:srgbClr val="1F4E79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7" name="path"/>
            <p:cNvSpPr/>
            <p:nvPr/>
          </p:nvSpPr>
          <p:spPr>
            <a:xfrm>
              <a:off x="4371168" y="0"/>
              <a:ext cx="240627" cy="472276"/>
            </a:xfrm>
            <a:custGeom>
              <a:avLst/>
              <a:gdLst/>
              <a:ahLst/>
              <a:cxnLst/>
              <a:rect l="0" t="0" r="0" b="0"/>
              <a:pathLst>
                <a:path w="378" h="743">
                  <a:moveTo>
                    <a:pt x="7" y="7"/>
                  </a:moveTo>
                  <a:lnTo>
                    <a:pt x="371" y="371"/>
                  </a:lnTo>
                  <a:lnTo>
                    <a:pt x="7" y="736"/>
                  </a:lnTo>
                </a:path>
              </a:pathLst>
            </a:custGeom>
            <a:noFill/>
            <a:ln w="12700" cap="flat">
              <a:solidFill>
                <a:srgbClr val="1F4E79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8" name="rect"/>
            <p:cNvSpPr/>
            <p:nvPr/>
          </p:nvSpPr>
          <p:spPr>
            <a:xfrm>
              <a:off x="385825" y="550081"/>
              <a:ext cx="216408" cy="251459"/>
            </a:xfrm>
            <a:prstGeom prst="rect">
              <a:avLst/>
            </a:prstGeom>
            <a:solidFill>
              <a:srgbClr val="CD7E5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9" name="rect"/>
            <p:cNvSpPr/>
            <p:nvPr/>
          </p:nvSpPr>
          <p:spPr>
            <a:xfrm>
              <a:off x="2011933" y="550081"/>
              <a:ext cx="216407" cy="251459"/>
            </a:xfrm>
            <a:prstGeom prst="rect">
              <a:avLst/>
            </a:prstGeom>
            <a:solidFill>
              <a:srgbClr val="CD7E5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0" name="rect"/>
            <p:cNvSpPr/>
            <p:nvPr/>
          </p:nvSpPr>
          <p:spPr>
            <a:xfrm>
              <a:off x="4369308" y="4490"/>
              <a:ext cx="12700" cy="115823"/>
            </a:xfrm>
            <a:prstGeom prst="rect">
              <a:avLst/>
            </a:prstGeom>
            <a:solidFill>
              <a:srgbClr val="1F4E7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1" name="rect"/>
            <p:cNvSpPr/>
            <p:nvPr/>
          </p:nvSpPr>
          <p:spPr>
            <a:xfrm>
              <a:off x="4369308" y="351961"/>
              <a:ext cx="12700" cy="115823"/>
            </a:xfrm>
            <a:prstGeom prst="rect">
              <a:avLst/>
            </a:prstGeom>
            <a:solidFill>
              <a:srgbClr val="1F4E7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22" name="path"/>
          <p:cNvSpPr/>
          <p:nvPr/>
        </p:nvSpPr>
        <p:spPr>
          <a:xfrm>
            <a:off x="5186171" y="975360"/>
            <a:ext cx="6655308" cy="463295"/>
          </a:xfrm>
          <a:custGeom>
            <a:avLst/>
            <a:gdLst/>
            <a:ahLst/>
            <a:cxnLst/>
            <a:rect l="0" t="0" r="0" b="0"/>
            <a:pathLst>
              <a:path w="10480" h="729">
                <a:moveTo>
                  <a:pt x="0" y="182"/>
                </a:moveTo>
                <a:lnTo>
                  <a:pt x="2364" y="182"/>
                </a:lnTo>
                <a:lnTo>
                  <a:pt x="2364" y="0"/>
                </a:lnTo>
                <a:lnTo>
                  <a:pt x="2728" y="364"/>
                </a:lnTo>
                <a:lnTo>
                  <a:pt x="2364" y="729"/>
                </a:lnTo>
                <a:lnTo>
                  <a:pt x="2364" y="547"/>
                </a:lnTo>
                <a:lnTo>
                  <a:pt x="0" y="547"/>
                </a:lnTo>
                <a:lnTo>
                  <a:pt x="0" y="182"/>
                </a:lnTo>
                <a:close/>
              </a:path>
              <a:path w="10480" h="729">
                <a:moveTo>
                  <a:pt x="2781" y="182"/>
                </a:moveTo>
                <a:lnTo>
                  <a:pt x="4946" y="182"/>
                </a:lnTo>
                <a:lnTo>
                  <a:pt x="4946" y="0"/>
                </a:lnTo>
                <a:lnTo>
                  <a:pt x="5311" y="364"/>
                </a:lnTo>
                <a:lnTo>
                  <a:pt x="4946" y="729"/>
                </a:lnTo>
                <a:lnTo>
                  <a:pt x="4946" y="547"/>
                </a:lnTo>
                <a:lnTo>
                  <a:pt x="2781" y="547"/>
                </a:lnTo>
                <a:lnTo>
                  <a:pt x="2781" y="182"/>
                </a:lnTo>
                <a:close/>
              </a:path>
              <a:path w="10480" h="729">
                <a:moveTo>
                  <a:pt x="5366" y="182"/>
                </a:moveTo>
                <a:lnTo>
                  <a:pt x="7531" y="182"/>
                </a:lnTo>
                <a:lnTo>
                  <a:pt x="7531" y="0"/>
                </a:lnTo>
                <a:lnTo>
                  <a:pt x="7895" y="364"/>
                </a:lnTo>
                <a:lnTo>
                  <a:pt x="7531" y="729"/>
                </a:lnTo>
                <a:lnTo>
                  <a:pt x="7531" y="547"/>
                </a:lnTo>
                <a:lnTo>
                  <a:pt x="5366" y="547"/>
                </a:lnTo>
                <a:lnTo>
                  <a:pt x="5366" y="182"/>
                </a:lnTo>
                <a:close/>
              </a:path>
              <a:path w="10480" h="729">
                <a:moveTo>
                  <a:pt x="7951" y="182"/>
                </a:moveTo>
                <a:lnTo>
                  <a:pt x="10116" y="182"/>
                </a:lnTo>
                <a:lnTo>
                  <a:pt x="10116" y="0"/>
                </a:lnTo>
                <a:lnTo>
                  <a:pt x="10480" y="364"/>
                </a:lnTo>
                <a:lnTo>
                  <a:pt x="10116" y="729"/>
                </a:lnTo>
                <a:lnTo>
                  <a:pt x="10116" y="547"/>
                </a:lnTo>
                <a:lnTo>
                  <a:pt x="7951" y="547"/>
                </a:lnTo>
                <a:lnTo>
                  <a:pt x="7951" y="182"/>
                </a:lnTo>
                <a:close/>
              </a:path>
            </a:pathLst>
          </a:custGeom>
          <a:solidFill>
            <a:srgbClr val="1F4E7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68" name="group 168"/>
          <p:cNvGrpSpPr/>
          <p:nvPr/>
        </p:nvGrpSpPr>
        <p:grpSpPr>
          <a:xfrm rot="21600000">
            <a:off x="9125711" y="2121408"/>
            <a:ext cx="1161288" cy="2441447"/>
            <a:chOff x="0" y="0"/>
            <a:chExt cx="1161288" cy="2441447"/>
          </a:xfrm>
        </p:grpSpPr>
        <p:grpSp>
          <p:nvGrpSpPr>
            <p:cNvPr id="170" name="group 170"/>
            <p:cNvGrpSpPr/>
            <p:nvPr/>
          </p:nvGrpSpPr>
          <p:grpSpPr>
            <a:xfrm rot="21600000">
              <a:off x="0" y="0"/>
              <a:ext cx="1161288" cy="2441447"/>
              <a:chOff x="0" y="0"/>
              <a:chExt cx="1161288" cy="2441447"/>
            </a:xfrm>
          </p:grpSpPr>
          <p:sp>
            <p:nvSpPr>
              <p:cNvPr id="423" name="path"/>
              <p:cNvSpPr/>
              <p:nvPr/>
            </p:nvSpPr>
            <p:spPr>
              <a:xfrm>
                <a:off x="0" y="0"/>
                <a:ext cx="1161288" cy="2441447"/>
              </a:xfrm>
              <a:custGeom>
                <a:avLst/>
                <a:gdLst/>
                <a:ahLst/>
                <a:cxnLst/>
                <a:rect l="0" t="0" r="0" b="0"/>
                <a:pathLst>
                  <a:path w="1828" h="3844">
                    <a:moveTo>
                      <a:pt x="0" y="3844"/>
                    </a:moveTo>
                    <a:lnTo>
                      <a:pt x="1828" y="3844"/>
                    </a:lnTo>
                    <a:lnTo>
                      <a:pt x="1828" y="0"/>
                    </a:lnTo>
                    <a:lnTo>
                      <a:pt x="0" y="0"/>
                    </a:lnTo>
                    <a:lnTo>
                      <a:pt x="0" y="3844"/>
                    </a:lnTo>
                    <a:close/>
                  </a:path>
                </a:pathLst>
              </a:custGeom>
              <a:solidFill>
                <a:srgbClr val="95BEEA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" name="path"/>
              <p:cNvSpPr/>
              <p:nvPr/>
            </p:nvSpPr>
            <p:spPr>
              <a:xfrm>
                <a:off x="76200" y="210311"/>
                <a:ext cx="1008888" cy="2023872"/>
              </a:xfrm>
              <a:custGeom>
                <a:avLst/>
                <a:gdLst/>
                <a:ahLst/>
                <a:cxnLst/>
                <a:rect l="0" t="0" r="0" b="0"/>
                <a:pathLst>
                  <a:path w="1588" h="3187">
                    <a:moveTo>
                      <a:pt x="0" y="566"/>
                    </a:moveTo>
                    <a:lnTo>
                      <a:pt x="1588" y="566"/>
                    </a:lnTo>
                    <a:lnTo>
                      <a:pt x="1588" y="0"/>
                    </a:lnTo>
                    <a:lnTo>
                      <a:pt x="0" y="0"/>
                    </a:lnTo>
                    <a:lnTo>
                      <a:pt x="0" y="566"/>
                    </a:lnTo>
                    <a:close/>
                  </a:path>
                  <a:path w="1588" h="3187">
                    <a:moveTo>
                      <a:pt x="0" y="1468"/>
                    </a:moveTo>
                    <a:lnTo>
                      <a:pt x="1588" y="1468"/>
                    </a:lnTo>
                    <a:lnTo>
                      <a:pt x="1588" y="902"/>
                    </a:lnTo>
                    <a:lnTo>
                      <a:pt x="0" y="902"/>
                    </a:lnTo>
                    <a:lnTo>
                      <a:pt x="0" y="1468"/>
                    </a:lnTo>
                    <a:close/>
                  </a:path>
                  <a:path w="1588" h="3187">
                    <a:moveTo>
                      <a:pt x="0" y="2327"/>
                    </a:moveTo>
                    <a:lnTo>
                      <a:pt x="1588" y="2327"/>
                    </a:lnTo>
                    <a:lnTo>
                      <a:pt x="1588" y="1761"/>
                    </a:lnTo>
                    <a:lnTo>
                      <a:pt x="0" y="1761"/>
                    </a:lnTo>
                    <a:lnTo>
                      <a:pt x="0" y="2327"/>
                    </a:lnTo>
                    <a:close/>
                  </a:path>
                  <a:path w="1588" h="3187">
                    <a:moveTo>
                      <a:pt x="0" y="3187"/>
                    </a:moveTo>
                    <a:lnTo>
                      <a:pt x="1588" y="3187"/>
                    </a:lnTo>
                    <a:lnTo>
                      <a:pt x="1588" y="2620"/>
                    </a:lnTo>
                    <a:lnTo>
                      <a:pt x="0" y="2620"/>
                    </a:lnTo>
                    <a:lnTo>
                      <a:pt x="0" y="318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25" name="textbox 425"/>
            <p:cNvSpPr/>
            <p:nvPr/>
          </p:nvSpPr>
          <p:spPr>
            <a:xfrm>
              <a:off x="-12700" y="-12700"/>
              <a:ext cx="1186814" cy="248475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8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7000"/>
                </a:lnSpc>
              </a:pPr>
              <a:endParaRPr lang="en-US" altLang="en-US" sz="100" dirty="0"/>
            </a:p>
            <a:p>
              <a:pPr marL="186690" algn="l" rtl="0" eaLnBrk="0">
                <a:lnSpc>
                  <a:spcPts val="1515"/>
                </a:lnSpc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传递和签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收</a:t>
              </a:r>
              <a:endParaRPr lang="en-US" altLang="en-US" sz="1200" dirty="0"/>
            </a:p>
            <a:p>
              <a:pPr algn="l" rtl="0" eaLnBrk="0">
                <a:lnSpc>
                  <a:spcPct val="110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10000"/>
                </a:lnSpc>
              </a:pPr>
              <a:endParaRPr lang="en-US" altLang="en-US" sz="1000" dirty="0"/>
            </a:p>
            <a:p>
              <a:pPr marL="271145" algn="l" rtl="0" eaLnBrk="0">
                <a:lnSpc>
                  <a:spcPts val="1515"/>
                </a:lnSpc>
                <a:spcBef>
                  <a:spcPts val="36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开交接</a:t>
              </a:r>
              <a:r>
                <a:rPr sz="1200" spc="6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会</a:t>
              </a:r>
              <a:endParaRPr lang="en-US" altLang="en-US" sz="1200" dirty="0"/>
            </a:p>
            <a:p>
              <a:pPr algn="l" rtl="0" eaLnBrk="0">
                <a:lnSpc>
                  <a:spcPct val="100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1000"/>
                </a:lnSpc>
              </a:pPr>
              <a:endParaRPr lang="en-US" altLang="en-US" sz="1000" dirty="0"/>
            </a:p>
            <a:p>
              <a:pPr marL="270510" algn="l" rtl="0" eaLnBrk="0">
                <a:lnSpc>
                  <a:spcPts val="1515"/>
                </a:lnSpc>
                <a:spcBef>
                  <a:spcPts val="365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交接合</a:t>
              </a:r>
              <a:r>
                <a:rPr sz="1200" spc="6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同</a:t>
              </a:r>
              <a:endParaRPr lang="en-US" altLang="en-US" sz="1200" dirty="0"/>
            </a:p>
            <a:p>
              <a:pPr algn="l" rtl="0" eaLnBrk="0">
                <a:lnSpc>
                  <a:spcPct val="10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0000"/>
                </a:lnSpc>
              </a:pPr>
              <a:endParaRPr lang="en-US" altLang="en-US" sz="300" dirty="0"/>
            </a:p>
            <a:p>
              <a:pPr marL="269875" algn="l" rtl="0" eaLnBrk="0">
                <a:lnSpc>
                  <a:spcPts val="1515"/>
                </a:lnSpc>
                <a:spcBef>
                  <a:spcPts val="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履行合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同</a:t>
              </a:r>
              <a:endParaRPr lang="en-US" altLang="en-US" sz="1200" dirty="0"/>
            </a:p>
          </p:txBody>
        </p:sp>
        <p:pic>
          <p:nvPicPr>
            <p:cNvPr id="426" name="picture 426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544195" y="562355"/>
              <a:ext cx="76200" cy="213359"/>
            </a:xfrm>
            <a:prstGeom prst="rect">
              <a:avLst/>
            </a:prstGeom>
          </p:spPr>
        </p:pic>
        <p:pic>
          <p:nvPicPr>
            <p:cNvPr id="427" name="picture 427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544195" y="1679447"/>
              <a:ext cx="76200" cy="186054"/>
            </a:xfrm>
            <a:prstGeom prst="rect">
              <a:avLst/>
            </a:prstGeom>
          </p:spPr>
        </p:pic>
        <p:pic>
          <p:nvPicPr>
            <p:cNvPr id="428" name="picture 428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544195" y="1135379"/>
              <a:ext cx="76200" cy="184784"/>
            </a:xfrm>
            <a:prstGeom prst="rect">
              <a:avLst/>
            </a:prstGeom>
          </p:spPr>
        </p:pic>
      </p:grpSp>
      <p:grpSp>
        <p:nvGrpSpPr>
          <p:cNvPr id="172" name="group 172"/>
          <p:cNvGrpSpPr/>
          <p:nvPr/>
        </p:nvGrpSpPr>
        <p:grpSpPr>
          <a:xfrm rot="21600000">
            <a:off x="10681716" y="2122931"/>
            <a:ext cx="1159764" cy="2439924"/>
            <a:chOff x="0" y="0"/>
            <a:chExt cx="1159764" cy="2439924"/>
          </a:xfrm>
        </p:grpSpPr>
        <p:grpSp>
          <p:nvGrpSpPr>
            <p:cNvPr id="174" name="group 174"/>
            <p:cNvGrpSpPr/>
            <p:nvPr/>
          </p:nvGrpSpPr>
          <p:grpSpPr>
            <a:xfrm rot="21600000">
              <a:off x="0" y="0"/>
              <a:ext cx="1159764" cy="2439924"/>
              <a:chOff x="0" y="0"/>
              <a:chExt cx="1159764" cy="2439924"/>
            </a:xfrm>
          </p:grpSpPr>
          <p:sp>
            <p:nvSpPr>
              <p:cNvPr id="429" name="path"/>
              <p:cNvSpPr/>
              <p:nvPr/>
            </p:nvSpPr>
            <p:spPr>
              <a:xfrm>
                <a:off x="0" y="0"/>
                <a:ext cx="1159764" cy="2439924"/>
              </a:xfrm>
              <a:custGeom>
                <a:avLst/>
                <a:gdLst/>
                <a:ahLst/>
                <a:cxnLst/>
                <a:rect l="0" t="0" r="0" b="0"/>
                <a:pathLst>
                  <a:path w="1826" h="3842">
                    <a:moveTo>
                      <a:pt x="0" y="3842"/>
                    </a:moveTo>
                    <a:lnTo>
                      <a:pt x="1826" y="3842"/>
                    </a:lnTo>
                    <a:lnTo>
                      <a:pt x="1826" y="0"/>
                    </a:lnTo>
                    <a:lnTo>
                      <a:pt x="0" y="0"/>
                    </a:lnTo>
                    <a:lnTo>
                      <a:pt x="0" y="3842"/>
                    </a:lnTo>
                    <a:close/>
                  </a:path>
                </a:pathLst>
              </a:custGeom>
              <a:solidFill>
                <a:srgbClr val="95BEEA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" name="path"/>
              <p:cNvSpPr/>
              <p:nvPr/>
            </p:nvSpPr>
            <p:spPr>
              <a:xfrm>
                <a:off x="76200" y="208788"/>
                <a:ext cx="1007364" cy="934211"/>
              </a:xfrm>
              <a:custGeom>
                <a:avLst/>
                <a:gdLst/>
                <a:ahLst/>
                <a:cxnLst/>
                <a:rect l="0" t="0" r="0" b="0"/>
                <a:pathLst>
                  <a:path w="1586" h="1471">
                    <a:moveTo>
                      <a:pt x="0" y="568"/>
                    </a:moveTo>
                    <a:lnTo>
                      <a:pt x="1586" y="568"/>
                    </a:lnTo>
                    <a:lnTo>
                      <a:pt x="1586" y="0"/>
                    </a:lnTo>
                    <a:lnTo>
                      <a:pt x="0" y="0"/>
                    </a:lnTo>
                    <a:lnTo>
                      <a:pt x="0" y="568"/>
                    </a:lnTo>
                    <a:close/>
                  </a:path>
                  <a:path w="1586" h="1471">
                    <a:moveTo>
                      <a:pt x="0" y="1471"/>
                    </a:moveTo>
                    <a:lnTo>
                      <a:pt x="1586" y="1471"/>
                    </a:lnTo>
                    <a:lnTo>
                      <a:pt x="1586" y="904"/>
                    </a:lnTo>
                    <a:lnTo>
                      <a:pt x="0" y="904"/>
                    </a:lnTo>
                    <a:lnTo>
                      <a:pt x="0" y="1471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1" name="textbox 431"/>
            <p:cNvSpPr/>
            <p:nvPr/>
          </p:nvSpPr>
          <p:spPr>
            <a:xfrm>
              <a:off x="-12700" y="-12700"/>
              <a:ext cx="1185544" cy="248348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8000"/>
                </a:lnSpc>
              </a:pPr>
              <a:endParaRPr lang="en-US" altLang="en-US" sz="1000" dirty="0"/>
            </a:p>
            <a:p>
              <a:pPr marL="432435" algn="l" rtl="0" eaLnBrk="0">
                <a:lnSpc>
                  <a:spcPts val="1520"/>
                </a:lnSpc>
                <a:spcBef>
                  <a:spcPts val="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运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营</a:t>
              </a:r>
              <a:endParaRPr lang="en-US" altLang="en-US" sz="1200" dirty="0"/>
            </a:p>
            <a:p>
              <a:pPr algn="l" rtl="0" eaLnBrk="0">
                <a:lnSpc>
                  <a:spcPct val="109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10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1000"/>
                </a:lnSpc>
              </a:pPr>
              <a:endParaRPr lang="en-US" altLang="en-US" sz="300" dirty="0"/>
            </a:p>
            <a:p>
              <a:pPr marL="432435" algn="l" rtl="0" eaLnBrk="0">
                <a:lnSpc>
                  <a:spcPts val="1520"/>
                </a:lnSpc>
                <a:spcBef>
                  <a:spcPts val="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运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维</a:t>
              </a:r>
              <a:endParaRPr lang="en-US" altLang="en-US" sz="1200" dirty="0"/>
            </a:p>
          </p:txBody>
        </p:sp>
        <p:pic>
          <p:nvPicPr>
            <p:cNvPr id="432" name="picture 43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537971" y="559308"/>
              <a:ext cx="76200" cy="245109"/>
            </a:xfrm>
            <a:prstGeom prst="rect">
              <a:avLst/>
            </a:prstGeom>
          </p:spPr>
        </p:pic>
      </p:grpSp>
      <p:sp>
        <p:nvSpPr>
          <p:cNvPr id="433" name="textbox 433"/>
          <p:cNvSpPr/>
          <p:nvPr/>
        </p:nvSpPr>
        <p:spPr>
          <a:xfrm>
            <a:off x="559676" y="1832228"/>
            <a:ext cx="11114405" cy="2635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75"/>
              </a:lnSpc>
            </a:pPr>
            <a:r>
              <a:rPr sz="1500" spc="10" dirty="0">
                <a:ln w="544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管理线索</a:t>
            </a:r>
            <a:r>
              <a:rPr sz="1500" spc="10" dirty="0"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           </a:t>
            </a:r>
            <a:r>
              <a:rPr sz="1500" spc="10" dirty="0">
                <a:ln w="544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项目立项</a:t>
            </a:r>
            <a:r>
              <a:rPr sz="1500" spc="10" dirty="0"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                </a:t>
            </a:r>
            <a:r>
              <a:rPr sz="1500" spc="10" dirty="0">
                <a:ln w="544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引导客户</a:t>
            </a:r>
            <a:r>
              <a:rPr sz="1500" spc="10" dirty="0"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        </a:t>
            </a:r>
            <a:r>
              <a:rPr sz="1500" spc="10" dirty="0">
                <a:ln w="544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制定并提交解决方案</a:t>
            </a:r>
            <a:r>
              <a:rPr sz="1500" spc="10" dirty="0"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   </a:t>
            </a:r>
            <a:r>
              <a:rPr sz="1500" spc="10" dirty="0">
                <a:ln w="544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谈判与签订合同</a:t>
            </a:r>
            <a:r>
              <a:rPr sz="1500" spc="10" dirty="0"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           </a:t>
            </a:r>
            <a:r>
              <a:rPr sz="1500" spc="10" dirty="0">
                <a:ln w="544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交付验</a:t>
            </a:r>
            <a:r>
              <a:rPr sz="1500" spc="0" dirty="0">
                <a:ln w="544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收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             </a:t>
            </a:r>
            <a:r>
              <a:rPr sz="1500" spc="0" dirty="0">
                <a:ln w="544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运营运维</a:t>
            </a:r>
            <a:endParaRPr lang="en-US" altLang="en-US" sz="1500" dirty="0"/>
          </a:p>
        </p:txBody>
      </p:sp>
      <p:pic>
        <p:nvPicPr>
          <p:cNvPr id="434" name="picture 43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8647176" y="2473452"/>
            <a:ext cx="554355" cy="3513454"/>
          </a:xfrm>
          <a:prstGeom prst="rect">
            <a:avLst/>
          </a:prstGeom>
        </p:spPr>
      </p:pic>
      <p:pic>
        <p:nvPicPr>
          <p:cNvPr id="435" name="picture 43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4831079" y="2491740"/>
            <a:ext cx="572770" cy="2724784"/>
          </a:xfrm>
          <a:prstGeom prst="rect">
            <a:avLst/>
          </a:prstGeom>
        </p:spPr>
      </p:pic>
      <p:pic>
        <p:nvPicPr>
          <p:cNvPr id="436" name="picture 43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679692" y="2505455"/>
            <a:ext cx="588644" cy="2101850"/>
          </a:xfrm>
          <a:prstGeom prst="rect">
            <a:avLst/>
          </a:prstGeom>
        </p:spPr>
      </p:pic>
      <p:pic>
        <p:nvPicPr>
          <p:cNvPr id="437" name="picture 43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0210800" y="2464308"/>
            <a:ext cx="547369" cy="1708150"/>
          </a:xfrm>
          <a:prstGeom prst="rect">
            <a:avLst/>
          </a:prstGeom>
        </p:spPr>
      </p:pic>
      <p:sp>
        <p:nvSpPr>
          <p:cNvPr id="438" name="textbox 438"/>
          <p:cNvSpPr/>
          <p:nvPr/>
        </p:nvSpPr>
        <p:spPr>
          <a:xfrm>
            <a:off x="586035" y="269576"/>
            <a:ext cx="2140585" cy="439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55"/>
              </a:lnSpc>
            </a:pP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sz="2700" spc="7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spc="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主要流</a:t>
            </a:r>
            <a:r>
              <a:rPr sz="2700" spc="3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endParaRPr lang="en-US" altLang="en-US" sz="2700" dirty="0"/>
          </a:p>
        </p:txBody>
      </p:sp>
      <p:pic>
        <p:nvPicPr>
          <p:cNvPr id="439" name="picture 43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063239" y="2481072"/>
            <a:ext cx="554989" cy="1163954"/>
          </a:xfrm>
          <a:prstGeom prst="rect">
            <a:avLst/>
          </a:prstGeom>
        </p:spPr>
      </p:pic>
      <p:sp>
        <p:nvSpPr>
          <p:cNvPr id="440" name="textbox 440"/>
          <p:cNvSpPr/>
          <p:nvPr/>
        </p:nvSpPr>
        <p:spPr>
          <a:xfrm>
            <a:off x="5167121" y="1078484"/>
            <a:ext cx="1533525" cy="2933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42000"/>
              </a:lnSpc>
            </a:pPr>
            <a:endParaRPr lang="en-US" altLang="en-US" sz="200" dirty="0"/>
          </a:p>
          <a:p>
            <a:pPr marL="25400" algn="l" rtl="0" eaLnBrk="0">
              <a:lnSpc>
                <a:spcPct val="98000"/>
              </a:lnSpc>
              <a:spcBef>
                <a:spcPts val="0"/>
              </a:spcBef>
              <a:tabLst>
                <a:tab pos="447675" algn="l"/>
                <a:tab pos="1519555" algn="l"/>
              </a:tabLst>
            </a:pPr>
            <a:r>
              <a:rPr sz="1500" u="sng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	</a:t>
            </a:r>
            <a:r>
              <a:rPr sz="1500" u="sng" spc="0" dirty="0">
                <a:ln w="544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构建方案</a:t>
            </a:r>
            <a:r>
              <a:rPr sz="1500" u="sng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	</a:t>
            </a:r>
            <a:endParaRPr lang="en-US" altLang="en-US" sz="1500" dirty="0"/>
          </a:p>
        </p:txBody>
      </p:sp>
      <p:sp>
        <p:nvSpPr>
          <p:cNvPr id="441" name="path"/>
          <p:cNvSpPr/>
          <p:nvPr/>
        </p:nvSpPr>
        <p:spPr>
          <a:xfrm>
            <a:off x="5179821" y="1091184"/>
            <a:ext cx="12700" cy="231647"/>
          </a:xfrm>
          <a:custGeom>
            <a:avLst/>
            <a:gdLst/>
            <a:ahLst/>
            <a:cxnLst/>
            <a:rect l="0" t="0" r="0" b="0"/>
            <a:pathLst>
              <a:path w="20" h="364">
                <a:moveTo>
                  <a:pt x="10" y="364"/>
                </a:moveTo>
                <a:lnTo>
                  <a:pt x="10" y="0"/>
                </a:lnTo>
                <a:close/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2" name="textbox 442"/>
          <p:cNvSpPr/>
          <p:nvPr/>
        </p:nvSpPr>
        <p:spPr>
          <a:xfrm>
            <a:off x="6933438" y="1078484"/>
            <a:ext cx="1406525" cy="2940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45000"/>
              </a:lnSpc>
            </a:pPr>
            <a:endParaRPr lang="en-US" altLang="en-US" sz="200" dirty="0"/>
          </a:p>
          <a:p>
            <a:pPr marL="25400" algn="l" rtl="0" eaLnBrk="0">
              <a:lnSpc>
                <a:spcPct val="98000"/>
              </a:lnSpc>
              <a:spcBef>
                <a:spcPts val="0"/>
              </a:spcBef>
              <a:tabLst>
                <a:tab pos="387350" algn="l"/>
                <a:tab pos="1392555" algn="l"/>
              </a:tabLst>
            </a:pPr>
            <a:r>
              <a:rPr sz="1500" u="sng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	</a:t>
            </a:r>
            <a:r>
              <a:rPr sz="1500" u="sng" spc="-10" dirty="0">
                <a:ln w="544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签</a:t>
            </a:r>
            <a:r>
              <a:rPr sz="1500" u="sng" spc="0" dirty="0">
                <a:ln w="544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署合约</a:t>
            </a:r>
            <a:r>
              <a:rPr sz="1500" u="sng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	</a:t>
            </a:r>
            <a:endParaRPr lang="en-US" altLang="en-US" sz="1500" dirty="0"/>
          </a:p>
        </p:txBody>
      </p:sp>
      <p:sp>
        <p:nvSpPr>
          <p:cNvPr id="443" name="path"/>
          <p:cNvSpPr/>
          <p:nvPr/>
        </p:nvSpPr>
        <p:spPr>
          <a:xfrm>
            <a:off x="6946138" y="1091184"/>
            <a:ext cx="12700" cy="231647"/>
          </a:xfrm>
          <a:custGeom>
            <a:avLst/>
            <a:gdLst/>
            <a:ahLst/>
            <a:cxnLst/>
            <a:rect l="0" t="0" r="0" b="0"/>
            <a:pathLst>
              <a:path w="20" h="364">
                <a:moveTo>
                  <a:pt x="10" y="364"/>
                </a:moveTo>
                <a:lnTo>
                  <a:pt x="10" y="0"/>
                </a:lnTo>
                <a:close/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4" name="textbox 444"/>
          <p:cNvSpPr/>
          <p:nvPr/>
        </p:nvSpPr>
        <p:spPr>
          <a:xfrm>
            <a:off x="8574785" y="1078484"/>
            <a:ext cx="1406525" cy="2940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45000"/>
              </a:lnSpc>
            </a:pPr>
            <a:endParaRPr lang="en-US" altLang="en-US" sz="200" dirty="0"/>
          </a:p>
          <a:p>
            <a:pPr marL="25400" algn="l" rtl="0" eaLnBrk="0">
              <a:lnSpc>
                <a:spcPct val="98000"/>
              </a:lnSpc>
              <a:spcBef>
                <a:spcPts val="0"/>
              </a:spcBef>
              <a:tabLst>
                <a:tab pos="388620" algn="l"/>
                <a:tab pos="1392555" algn="l"/>
              </a:tabLst>
            </a:pPr>
            <a:r>
              <a:rPr sz="1500" u="sng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	</a:t>
            </a:r>
            <a:r>
              <a:rPr sz="1500" u="sng" spc="-10" dirty="0">
                <a:ln w="544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交付</a:t>
            </a:r>
            <a:r>
              <a:rPr sz="1500" u="sng" spc="0" dirty="0">
                <a:ln w="544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验收</a:t>
            </a:r>
            <a:r>
              <a:rPr sz="1500" u="sng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	</a:t>
            </a:r>
            <a:endParaRPr lang="en-US" altLang="en-US" sz="1500" dirty="0"/>
          </a:p>
        </p:txBody>
      </p:sp>
      <p:sp>
        <p:nvSpPr>
          <p:cNvPr id="445" name="path"/>
          <p:cNvSpPr/>
          <p:nvPr/>
        </p:nvSpPr>
        <p:spPr>
          <a:xfrm>
            <a:off x="8587485" y="1091184"/>
            <a:ext cx="12700" cy="231647"/>
          </a:xfrm>
          <a:custGeom>
            <a:avLst/>
            <a:gdLst/>
            <a:ahLst/>
            <a:cxnLst/>
            <a:rect l="0" t="0" r="0" b="0"/>
            <a:pathLst>
              <a:path w="20" h="364">
                <a:moveTo>
                  <a:pt x="10" y="364"/>
                </a:moveTo>
                <a:lnTo>
                  <a:pt x="10" y="0"/>
                </a:lnTo>
                <a:close/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6" name="textbox 446"/>
          <p:cNvSpPr/>
          <p:nvPr/>
        </p:nvSpPr>
        <p:spPr>
          <a:xfrm>
            <a:off x="10216134" y="1078484"/>
            <a:ext cx="1406525" cy="2940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45000"/>
              </a:lnSpc>
            </a:pPr>
            <a:endParaRPr lang="en-US" altLang="en-US" sz="200" dirty="0"/>
          </a:p>
          <a:p>
            <a:pPr marL="25400" algn="l" rtl="0" eaLnBrk="0">
              <a:lnSpc>
                <a:spcPct val="98000"/>
              </a:lnSpc>
              <a:spcBef>
                <a:spcPts val="0"/>
              </a:spcBef>
              <a:tabLst>
                <a:tab pos="385445" algn="l"/>
                <a:tab pos="1392555" algn="l"/>
              </a:tabLst>
            </a:pPr>
            <a:r>
              <a:rPr sz="1500" u="sng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	</a:t>
            </a:r>
            <a:r>
              <a:rPr sz="1500" u="sng" spc="10" dirty="0">
                <a:ln w="544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运</a:t>
            </a:r>
            <a:r>
              <a:rPr sz="1500" u="sng" spc="0" dirty="0">
                <a:ln w="544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10"/>
                </a:ln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营运维</a:t>
            </a:r>
            <a:r>
              <a:rPr sz="1500" u="sng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1F4E79"/>
                  </a:solidFill>
                </a:u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	</a:t>
            </a:r>
            <a:endParaRPr lang="en-US" altLang="en-US" sz="1500" dirty="0"/>
          </a:p>
        </p:txBody>
      </p:sp>
      <p:sp>
        <p:nvSpPr>
          <p:cNvPr id="447" name="path"/>
          <p:cNvSpPr/>
          <p:nvPr/>
        </p:nvSpPr>
        <p:spPr>
          <a:xfrm>
            <a:off x="10228834" y="1091184"/>
            <a:ext cx="12700" cy="231647"/>
          </a:xfrm>
          <a:custGeom>
            <a:avLst/>
            <a:gdLst/>
            <a:ahLst/>
            <a:cxnLst/>
            <a:rect l="0" t="0" r="0" b="0"/>
            <a:pathLst>
              <a:path w="20" h="364">
                <a:moveTo>
                  <a:pt x="10" y="364"/>
                </a:moveTo>
                <a:lnTo>
                  <a:pt x="10" y="0"/>
                </a:lnTo>
                <a:close/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8" name="textbox 448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49" name="textbox 449"/>
          <p:cNvSpPr/>
          <p:nvPr/>
        </p:nvSpPr>
        <p:spPr>
          <a:xfrm>
            <a:off x="2138730" y="3463141"/>
            <a:ext cx="844550" cy="4178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15570" indent="-102870" algn="l" rtl="0" eaLnBrk="0">
              <a:lnSpc>
                <a:spcPct val="107000"/>
              </a:lnSpc>
            </a:pPr>
            <a:r>
              <a:rPr sz="1200" spc="90" dirty="0">
                <a:solidFill>
                  <a:srgbClr val="FF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销售立项</a:t>
            </a:r>
            <a:r>
              <a:rPr sz="1200" spc="80" dirty="0">
                <a:solidFill>
                  <a:srgbClr val="FF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项</a:t>
            </a:r>
            <a:r>
              <a:rPr sz="1200" spc="0" dirty="0">
                <a:solidFill>
                  <a:srgbClr val="FF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</a:t>
            </a:r>
            <a:r>
              <a:rPr sz="1200" spc="50" dirty="0">
                <a:solidFill>
                  <a:srgbClr val="FF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目组任</a:t>
            </a:r>
            <a:r>
              <a:rPr sz="1200" spc="30" dirty="0">
                <a:solidFill>
                  <a:srgbClr val="FF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命</a:t>
            </a:r>
            <a:endParaRPr lang="en-US" altLang="en-US" sz="1200" dirty="0"/>
          </a:p>
        </p:txBody>
      </p:sp>
      <p:sp>
        <p:nvSpPr>
          <p:cNvPr id="451" name="rect"/>
          <p:cNvSpPr/>
          <p:nvPr/>
        </p:nvSpPr>
        <p:spPr>
          <a:xfrm>
            <a:off x="82296" y="115823"/>
            <a:ext cx="298704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2" name="textbox 452"/>
          <p:cNvSpPr/>
          <p:nvPr/>
        </p:nvSpPr>
        <p:spPr>
          <a:xfrm>
            <a:off x="2138243" y="2985629"/>
            <a:ext cx="845185" cy="2184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15"/>
              </a:lnSpc>
            </a:pPr>
            <a:r>
              <a:rPr sz="1200" spc="100" dirty="0"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验证及评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估</a:t>
            </a:r>
            <a:endParaRPr lang="en-US" altLang="en-US" sz="1200" dirty="0"/>
          </a:p>
        </p:txBody>
      </p:sp>
      <p:sp>
        <p:nvSpPr>
          <p:cNvPr id="453" name="path"/>
          <p:cNvSpPr/>
          <p:nvPr/>
        </p:nvSpPr>
        <p:spPr>
          <a:xfrm>
            <a:off x="9963993" y="970870"/>
            <a:ext cx="240628" cy="472276"/>
          </a:xfrm>
          <a:custGeom>
            <a:avLst/>
            <a:gdLst/>
            <a:ahLst/>
            <a:cxnLst/>
            <a:rect l="0" t="0" r="0" b="0"/>
            <a:pathLst>
              <a:path w="378" h="743">
                <a:moveTo>
                  <a:pt x="7" y="7"/>
                </a:moveTo>
                <a:lnTo>
                  <a:pt x="371" y="371"/>
                </a:lnTo>
                <a:lnTo>
                  <a:pt x="7" y="736"/>
                </a:lnTo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4" name="path"/>
          <p:cNvSpPr/>
          <p:nvPr/>
        </p:nvSpPr>
        <p:spPr>
          <a:xfrm>
            <a:off x="8322645" y="970870"/>
            <a:ext cx="240628" cy="472276"/>
          </a:xfrm>
          <a:custGeom>
            <a:avLst/>
            <a:gdLst/>
            <a:ahLst/>
            <a:cxnLst/>
            <a:rect l="0" t="0" r="0" b="0"/>
            <a:pathLst>
              <a:path w="378" h="743">
                <a:moveTo>
                  <a:pt x="7" y="7"/>
                </a:moveTo>
                <a:lnTo>
                  <a:pt x="371" y="371"/>
                </a:lnTo>
                <a:lnTo>
                  <a:pt x="7" y="736"/>
                </a:lnTo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5" name="path"/>
          <p:cNvSpPr/>
          <p:nvPr/>
        </p:nvSpPr>
        <p:spPr>
          <a:xfrm>
            <a:off x="6682821" y="970870"/>
            <a:ext cx="240627" cy="472276"/>
          </a:xfrm>
          <a:custGeom>
            <a:avLst/>
            <a:gdLst/>
            <a:ahLst/>
            <a:cxnLst/>
            <a:rect l="0" t="0" r="0" b="0"/>
            <a:pathLst>
              <a:path w="378" h="743">
                <a:moveTo>
                  <a:pt x="7" y="7"/>
                </a:moveTo>
                <a:lnTo>
                  <a:pt x="371" y="371"/>
                </a:lnTo>
                <a:lnTo>
                  <a:pt x="7" y="736"/>
                </a:lnTo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6" name="path"/>
          <p:cNvSpPr/>
          <p:nvPr/>
        </p:nvSpPr>
        <p:spPr>
          <a:xfrm>
            <a:off x="11605342" y="970870"/>
            <a:ext cx="240627" cy="472276"/>
          </a:xfrm>
          <a:custGeom>
            <a:avLst/>
            <a:gdLst/>
            <a:ahLst/>
            <a:cxnLst/>
            <a:rect l="0" t="0" r="0" b="0"/>
            <a:pathLst>
              <a:path w="378" h="743">
                <a:moveTo>
                  <a:pt x="7" y="7"/>
                </a:moveTo>
                <a:lnTo>
                  <a:pt x="371" y="371"/>
                </a:lnTo>
                <a:lnTo>
                  <a:pt x="7" y="736"/>
                </a:lnTo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7" name="textbox 457"/>
          <p:cNvSpPr/>
          <p:nvPr/>
        </p:nvSpPr>
        <p:spPr>
          <a:xfrm>
            <a:off x="2235675" y="2426186"/>
            <a:ext cx="665480" cy="2178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10"/>
              </a:lnSpc>
            </a:pP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申请立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项</a:t>
            </a:r>
            <a:endParaRPr lang="en-US" altLang="en-US" sz="1200" dirty="0"/>
          </a:p>
        </p:txBody>
      </p:sp>
      <p:sp>
        <p:nvSpPr>
          <p:cNvPr id="458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9" name="path"/>
          <p:cNvSpPr/>
          <p:nvPr/>
        </p:nvSpPr>
        <p:spPr>
          <a:xfrm>
            <a:off x="475488" y="1084834"/>
            <a:ext cx="4369308" cy="12700"/>
          </a:xfrm>
          <a:custGeom>
            <a:avLst/>
            <a:gdLst/>
            <a:ahLst/>
            <a:cxnLst/>
            <a:rect l="0" t="0" r="0" b="0"/>
            <a:pathLst>
              <a:path w="6880" h="20">
                <a:moveTo>
                  <a:pt x="0" y="10"/>
                </a:moveTo>
                <a:lnTo>
                  <a:pt x="6880" y="10"/>
                </a:lnTo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0" name="textbox 460"/>
          <p:cNvSpPr/>
          <p:nvPr/>
        </p:nvSpPr>
        <p:spPr>
          <a:xfrm>
            <a:off x="7839456" y="1534668"/>
            <a:ext cx="216534" cy="286384"/>
          </a:xfrm>
          <a:prstGeom prst="rect">
            <a:avLst/>
          </a:prstGeom>
          <a:solidFill>
            <a:srgbClr val="CD7E57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400" dirty="0"/>
          </a:p>
          <a:p>
            <a:pPr marL="70485" algn="l" rtl="0" eaLnBrk="0">
              <a:lnSpc>
                <a:spcPct val="84000"/>
              </a:lnSpc>
              <a:spcBef>
                <a:spcPts val="0"/>
              </a:spcBef>
            </a:pPr>
            <a:r>
              <a:rPr sz="1200" b="1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lang="en-US" altLang="en-US" sz="1200" dirty="0"/>
          </a:p>
        </p:txBody>
      </p:sp>
      <p:sp>
        <p:nvSpPr>
          <p:cNvPr id="461" name="textbox 461"/>
          <p:cNvSpPr/>
          <p:nvPr/>
        </p:nvSpPr>
        <p:spPr>
          <a:xfrm>
            <a:off x="11152631" y="1520952"/>
            <a:ext cx="216534" cy="288290"/>
          </a:xfrm>
          <a:prstGeom prst="rect">
            <a:avLst/>
          </a:prstGeom>
          <a:solidFill>
            <a:srgbClr val="CD7E57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400" dirty="0"/>
          </a:p>
          <a:p>
            <a:pPr marL="71120" algn="l" rtl="0" eaLnBrk="0">
              <a:lnSpc>
                <a:spcPct val="84000"/>
              </a:lnSpc>
            </a:pPr>
            <a:r>
              <a:rPr sz="1200" b="1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endParaRPr lang="en-US" altLang="en-US" sz="1200" dirty="0"/>
          </a:p>
        </p:txBody>
      </p:sp>
      <p:sp>
        <p:nvSpPr>
          <p:cNvPr id="462" name="textbox 462"/>
          <p:cNvSpPr/>
          <p:nvPr/>
        </p:nvSpPr>
        <p:spPr>
          <a:xfrm>
            <a:off x="5974079" y="1520952"/>
            <a:ext cx="215265" cy="288290"/>
          </a:xfrm>
          <a:prstGeom prst="rect">
            <a:avLst/>
          </a:prstGeom>
          <a:solidFill>
            <a:srgbClr val="CD7E57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lang="en-US" altLang="en-US" sz="400" dirty="0"/>
          </a:p>
          <a:p>
            <a:pPr marL="65405" algn="l" rtl="0" eaLnBrk="0">
              <a:lnSpc>
                <a:spcPct val="85000"/>
              </a:lnSpc>
            </a:pPr>
            <a:r>
              <a:rPr sz="1200" b="1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altLang="en-US" sz="1200" dirty="0"/>
          </a:p>
        </p:txBody>
      </p:sp>
      <p:sp>
        <p:nvSpPr>
          <p:cNvPr id="463" name="textbox 463"/>
          <p:cNvSpPr/>
          <p:nvPr/>
        </p:nvSpPr>
        <p:spPr>
          <a:xfrm>
            <a:off x="9607296" y="1520952"/>
            <a:ext cx="215265" cy="286384"/>
          </a:xfrm>
          <a:prstGeom prst="rect">
            <a:avLst/>
          </a:prstGeom>
          <a:solidFill>
            <a:srgbClr val="CD7E57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lang="en-US" altLang="en-US" sz="400" dirty="0"/>
          </a:p>
          <a:p>
            <a:pPr marL="69850" algn="l" rtl="0" eaLnBrk="0">
              <a:lnSpc>
                <a:spcPct val="85000"/>
              </a:lnSpc>
              <a:spcBef>
                <a:spcPts val="5"/>
              </a:spcBef>
            </a:pPr>
            <a:r>
              <a:rPr sz="1200" b="1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lang="en-US" altLang="en-US" sz="1200" dirty="0"/>
          </a:p>
        </p:txBody>
      </p:sp>
      <p:sp>
        <p:nvSpPr>
          <p:cNvPr id="464" name="rect"/>
          <p:cNvSpPr/>
          <p:nvPr/>
        </p:nvSpPr>
        <p:spPr>
          <a:xfrm>
            <a:off x="0" y="115823"/>
            <a:ext cx="64007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5" name="path"/>
          <p:cNvSpPr/>
          <p:nvPr/>
        </p:nvSpPr>
        <p:spPr>
          <a:xfrm>
            <a:off x="5186171" y="1084834"/>
            <a:ext cx="1501140" cy="12700"/>
          </a:xfrm>
          <a:custGeom>
            <a:avLst/>
            <a:gdLst/>
            <a:ahLst/>
            <a:cxnLst/>
            <a:rect l="0" t="0" r="0" b="0"/>
            <a:pathLst>
              <a:path w="2364" h="20">
                <a:moveTo>
                  <a:pt x="0" y="10"/>
                </a:moveTo>
                <a:lnTo>
                  <a:pt x="2364" y="10"/>
                </a:lnTo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6" name="path"/>
          <p:cNvSpPr/>
          <p:nvPr/>
        </p:nvSpPr>
        <p:spPr>
          <a:xfrm>
            <a:off x="10235184" y="1084834"/>
            <a:ext cx="1374647" cy="12700"/>
          </a:xfrm>
          <a:custGeom>
            <a:avLst/>
            <a:gdLst/>
            <a:ahLst/>
            <a:cxnLst/>
            <a:rect l="0" t="0" r="0" b="0"/>
            <a:pathLst>
              <a:path w="2164" h="20">
                <a:moveTo>
                  <a:pt x="0" y="10"/>
                </a:moveTo>
                <a:lnTo>
                  <a:pt x="2164" y="10"/>
                </a:lnTo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7" name="path"/>
          <p:cNvSpPr/>
          <p:nvPr/>
        </p:nvSpPr>
        <p:spPr>
          <a:xfrm>
            <a:off x="8593835" y="1084834"/>
            <a:ext cx="1374647" cy="12700"/>
          </a:xfrm>
          <a:custGeom>
            <a:avLst/>
            <a:gdLst/>
            <a:ahLst/>
            <a:cxnLst/>
            <a:rect l="0" t="0" r="0" b="0"/>
            <a:pathLst>
              <a:path w="2164" h="20">
                <a:moveTo>
                  <a:pt x="0" y="10"/>
                </a:moveTo>
                <a:lnTo>
                  <a:pt x="2164" y="10"/>
                </a:lnTo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8" name="path"/>
          <p:cNvSpPr/>
          <p:nvPr/>
        </p:nvSpPr>
        <p:spPr>
          <a:xfrm>
            <a:off x="6952488" y="1084834"/>
            <a:ext cx="1374647" cy="12700"/>
          </a:xfrm>
          <a:custGeom>
            <a:avLst/>
            <a:gdLst/>
            <a:ahLst/>
            <a:cxnLst/>
            <a:rect l="0" t="0" r="0" b="0"/>
            <a:pathLst>
              <a:path w="2164" h="20">
                <a:moveTo>
                  <a:pt x="0" y="10"/>
                </a:moveTo>
                <a:lnTo>
                  <a:pt x="2164" y="10"/>
                </a:lnTo>
              </a:path>
            </a:pathLst>
          </a:custGeom>
          <a:noFill/>
          <a:ln w="12700" cap="flat">
            <a:solidFill>
              <a:srgbClr val="1F4E7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9" name="textbox 469"/>
          <p:cNvSpPr/>
          <p:nvPr/>
        </p:nvSpPr>
        <p:spPr>
          <a:xfrm>
            <a:off x="2534716" y="1576473"/>
            <a:ext cx="113029" cy="1803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sz="1200" b="1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en-US" altLang="en-US" sz="1200" dirty="0"/>
          </a:p>
        </p:txBody>
      </p:sp>
      <p:sp>
        <p:nvSpPr>
          <p:cNvPr id="470" name="textbox 470"/>
          <p:cNvSpPr/>
          <p:nvPr/>
        </p:nvSpPr>
        <p:spPr>
          <a:xfrm>
            <a:off x="917141" y="1576473"/>
            <a:ext cx="104139" cy="1803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sz="1200" b="1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altLang="en-US" sz="1200" dirty="0"/>
          </a:p>
        </p:txBody>
      </p:sp>
      <p:sp>
        <p:nvSpPr>
          <p:cNvPr id="471" name="rect"/>
          <p:cNvSpPr/>
          <p:nvPr/>
        </p:nvSpPr>
        <p:spPr>
          <a:xfrm>
            <a:off x="6680961" y="975360"/>
            <a:ext cx="12700" cy="115823"/>
          </a:xfrm>
          <a:prstGeom prst="rect">
            <a:avLst/>
          </a:prstGeom>
          <a:solidFill>
            <a:srgbClr val="1F4E7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2" name="rect"/>
          <p:cNvSpPr/>
          <p:nvPr/>
        </p:nvSpPr>
        <p:spPr>
          <a:xfrm>
            <a:off x="11603482" y="1322832"/>
            <a:ext cx="12700" cy="115823"/>
          </a:xfrm>
          <a:prstGeom prst="rect">
            <a:avLst/>
          </a:prstGeom>
          <a:solidFill>
            <a:srgbClr val="1F4E7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3" name="rect"/>
          <p:cNvSpPr/>
          <p:nvPr/>
        </p:nvSpPr>
        <p:spPr>
          <a:xfrm>
            <a:off x="11603482" y="975360"/>
            <a:ext cx="12700" cy="115823"/>
          </a:xfrm>
          <a:prstGeom prst="rect">
            <a:avLst/>
          </a:prstGeom>
          <a:solidFill>
            <a:srgbClr val="1F4E7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4" name="rect"/>
          <p:cNvSpPr/>
          <p:nvPr/>
        </p:nvSpPr>
        <p:spPr>
          <a:xfrm>
            <a:off x="9962133" y="1322832"/>
            <a:ext cx="12700" cy="115823"/>
          </a:xfrm>
          <a:prstGeom prst="rect">
            <a:avLst/>
          </a:prstGeom>
          <a:solidFill>
            <a:srgbClr val="1F4E7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5" name="rect"/>
          <p:cNvSpPr/>
          <p:nvPr/>
        </p:nvSpPr>
        <p:spPr>
          <a:xfrm>
            <a:off x="9962133" y="975360"/>
            <a:ext cx="12700" cy="115823"/>
          </a:xfrm>
          <a:prstGeom prst="rect">
            <a:avLst/>
          </a:prstGeom>
          <a:solidFill>
            <a:srgbClr val="1F4E7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6" name="rect"/>
          <p:cNvSpPr/>
          <p:nvPr/>
        </p:nvSpPr>
        <p:spPr>
          <a:xfrm>
            <a:off x="8320785" y="1322832"/>
            <a:ext cx="12700" cy="115823"/>
          </a:xfrm>
          <a:prstGeom prst="rect">
            <a:avLst/>
          </a:prstGeom>
          <a:solidFill>
            <a:srgbClr val="1F4E7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7" name="rect"/>
          <p:cNvSpPr/>
          <p:nvPr/>
        </p:nvSpPr>
        <p:spPr>
          <a:xfrm>
            <a:off x="8320785" y="975360"/>
            <a:ext cx="12700" cy="115823"/>
          </a:xfrm>
          <a:prstGeom prst="rect">
            <a:avLst/>
          </a:prstGeom>
          <a:solidFill>
            <a:srgbClr val="1F4E7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8" name="rect"/>
          <p:cNvSpPr/>
          <p:nvPr/>
        </p:nvSpPr>
        <p:spPr>
          <a:xfrm>
            <a:off x="6680961" y="1322832"/>
            <a:ext cx="12700" cy="115823"/>
          </a:xfrm>
          <a:prstGeom prst="rect">
            <a:avLst/>
          </a:prstGeom>
          <a:solidFill>
            <a:srgbClr val="1F4E7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extbox 479"/>
          <p:cNvSpPr/>
          <p:nvPr/>
        </p:nvSpPr>
        <p:spPr>
          <a:xfrm>
            <a:off x="1019276" y="4837862"/>
            <a:ext cx="10227944" cy="11150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lang="en-US" altLang="en-US" sz="100" dirty="0"/>
          </a:p>
          <a:p>
            <a:pPr marL="299720" indent="-287020" algn="l" rtl="0" eaLnBrk="0">
              <a:lnSpc>
                <a:spcPct val="124000"/>
              </a:lnSpc>
            </a:pPr>
            <a:r>
              <a:rPr sz="18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线索是机会点的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源泉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，更是合同/订单的源泉，要想对客户不断地销售、销售得更多，必须重视源头 </a:t>
            </a: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的管理线索，扩大销售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管道的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喇叭口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，同时提高每个阶段的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转化率</a:t>
            </a:r>
            <a:endParaRPr lang="en-US" altLang="en-US" sz="1800" dirty="0"/>
          </a:p>
          <a:p>
            <a:pPr algn="l" rtl="0" eaLnBrk="0">
              <a:lnSpc>
                <a:spcPct val="106000"/>
              </a:lnSpc>
            </a:pPr>
            <a:endParaRPr lang="en-US" altLang="en-US" sz="900" dirty="0"/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18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管理线索的根本目标就是发掘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可参与的商业机会</a:t>
            </a:r>
            <a:endParaRPr lang="en-US" altLang="en-US" sz="1800" dirty="0"/>
          </a:p>
        </p:txBody>
      </p:sp>
      <p:sp>
        <p:nvSpPr>
          <p:cNvPr id="480" name="textbox 480"/>
          <p:cNvSpPr/>
          <p:nvPr/>
        </p:nvSpPr>
        <p:spPr>
          <a:xfrm>
            <a:off x="266700" y="2249423"/>
            <a:ext cx="2237739" cy="2029460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76000"/>
              </a:lnSpc>
            </a:pPr>
            <a:endParaRPr lang="en-US" altLang="en-US" sz="100" dirty="0"/>
          </a:p>
          <a:p>
            <a:pPr marL="100965" indent="10160" algn="l" rtl="0" eaLnBrk="0">
              <a:lnSpc>
                <a:spcPct val="151000"/>
              </a:lnSpc>
              <a:spcBef>
                <a:spcPts val="0"/>
              </a:spcBef>
            </a:pPr>
            <a:r>
              <a:rPr sz="1400" spc="-2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目前线索管理</a:t>
            </a:r>
            <a:r>
              <a:rPr sz="14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容易出现的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spc="-7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sz="1400" spc="-6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1400" dirty="0"/>
          </a:p>
          <a:p>
            <a:pPr marL="100330" algn="l" rtl="0" eaLnBrk="0">
              <a:lnSpc>
                <a:spcPct val="98000"/>
              </a:lnSpc>
              <a:spcBef>
                <a:spcPts val="880"/>
              </a:spcBef>
            </a:pPr>
            <a:r>
              <a:rPr sz="140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4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线索储备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量少</a:t>
            </a:r>
            <a:endParaRPr lang="en-US" altLang="en-US" sz="1400" dirty="0"/>
          </a:p>
          <a:p>
            <a:pPr marL="243205" indent="-142875" algn="l" rtl="0" eaLnBrk="0">
              <a:lnSpc>
                <a:spcPct val="124000"/>
              </a:lnSpc>
              <a:spcBef>
                <a:spcPts val="865"/>
              </a:spcBef>
            </a:pPr>
            <a:r>
              <a:rPr sz="14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4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对非刚需产品</a:t>
            </a: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索不够   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</a:t>
            </a:r>
            <a:endParaRPr lang="en-US" altLang="en-US" sz="1400" dirty="0"/>
          </a:p>
          <a:p>
            <a:pPr algn="l" rtl="0" eaLnBrk="0">
              <a:lnSpc>
                <a:spcPct val="106000"/>
              </a:lnSpc>
            </a:pPr>
            <a:endParaRPr lang="en-US" altLang="en-US" sz="700" dirty="0"/>
          </a:p>
          <a:p>
            <a:pPr marL="100330" algn="l" rtl="0" eaLnBrk="0">
              <a:lnSpc>
                <a:spcPct val="97000"/>
              </a:lnSpc>
              <a:spcBef>
                <a:spcPts val="0"/>
              </a:spcBef>
            </a:pPr>
            <a:r>
              <a:rPr sz="14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4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线索到机会点</a:t>
            </a: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化率低</a:t>
            </a:r>
            <a:endParaRPr lang="en-US" altLang="en-US" sz="1400" dirty="0"/>
          </a:p>
        </p:txBody>
      </p:sp>
      <p:sp>
        <p:nvSpPr>
          <p:cNvPr id="481" name="rect"/>
          <p:cNvSpPr/>
          <p:nvPr/>
        </p:nvSpPr>
        <p:spPr>
          <a:xfrm>
            <a:off x="6352032" y="3325367"/>
            <a:ext cx="630936" cy="312420"/>
          </a:xfrm>
          <a:prstGeom prst="rect">
            <a:avLst/>
          </a:prstGeom>
          <a:solidFill>
            <a:srgbClr val="B2D2D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82" name="table 482"/>
          <p:cNvGraphicFramePr>
            <a:graphicFrameLocks noGrp="1"/>
          </p:cNvGraphicFramePr>
          <p:nvPr/>
        </p:nvGraphicFramePr>
        <p:xfrm>
          <a:off x="6347269" y="2915221"/>
          <a:ext cx="640080" cy="727075"/>
        </p:xfrm>
        <a:graphic>
          <a:graphicData uri="http://schemas.openxmlformats.org/drawingml/2006/table">
            <a:tbl>
              <a:tblPr/>
              <a:tblGrid>
                <a:gridCol w="640080"/>
              </a:tblGrid>
              <a:tr h="3187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2D2DE"/>
                    </a:solidFill>
                  </a:tcPr>
                </a:tc>
              </a:tr>
              <a:tr h="4083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83" name="rect"/>
          <p:cNvSpPr/>
          <p:nvPr/>
        </p:nvSpPr>
        <p:spPr>
          <a:xfrm>
            <a:off x="6352032" y="3229165"/>
            <a:ext cx="630936" cy="9525"/>
          </a:xfrm>
          <a:prstGeom prst="rect">
            <a:avLst/>
          </a:pr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4" name="rect"/>
          <p:cNvSpPr/>
          <p:nvPr/>
        </p:nvSpPr>
        <p:spPr>
          <a:xfrm>
            <a:off x="5666232" y="3031235"/>
            <a:ext cx="1572767" cy="541020"/>
          </a:xfrm>
          <a:prstGeom prst="rect">
            <a:avLst/>
          </a:prstGeom>
          <a:solidFill>
            <a:srgbClr val="FFFFFF">
              <a:alpha val="49803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85" name="table 485"/>
          <p:cNvGraphicFramePr>
            <a:graphicFrameLocks noGrp="1"/>
          </p:cNvGraphicFramePr>
          <p:nvPr/>
        </p:nvGraphicFramePr>
        <p:xfrm>
          <a:off x="4747069" y="2883217"/>
          <a:ext cx="641350" cy="368934"/>
        </p:xfrm>
        <a:graphic>
          <a:graphicData uri="http://schemas.openxmlformats.org/drawingml/2006/table">
            <a:tbl>
              <a:tblPr/>
              <a:tblGrid>
                <a:gridCol w="641350"/>
              </a:tblGrid>
              <a:tr h="359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86" name="rect"/>
          <p:cNvSpPr/>
          <p:nvPr/>
        </p:nvSpPr>
        <p:spPr>
          <a:xfrm>
            <a:off x="4751832" y="2887979"/>
            <a:ext cx="632459" cy="359664"/>
          </a:xfrm>
          <a:prstGeom prst="rect">
            <a:avLst/>
          </a:prstGeom>
          <a:solidFill>
            <a:srgbClr val="B2D2D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87" name="table 487"/>
          <p:cNvGraphicFramePr>
            <a:graphicFrameLocks noGrp="1"/>
          </p:cNvGraphicFramePr>
          <p:nvPr/>
        </p:nvGraphicFramePr>
        <p:xfrm>
          <a:off x="4747069" y="3348037"/>
          <a:ext cx="641350" cy="368935"/>
        </p:xfrm>
        <a:graphic>
          <a:graphicData uri="http://schemas.openxmlformats.org/drawingml/2006/table">
            <a:tbl>
              <a:tblPr/>
              <a:tblGrid>
                <a:gridCol w="641350"/>
              </a:tblGrid>
              <a:tr h="3594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88" name="rect"/>
          <p:cNvSpPr/>
          <p:nvPr/>
        </p:nvSpPr>
        <p:spPr>
          <a:xfrm>
            <a:off x="4751832" y="3352800"/>
            <a:ext cx="632459" cy="359663"/>
          </a:xfrm>
          <a:prstGeom prst="rect">
            <a:avLst/>
          </a:prstGeom>
          <a:solidFill>
            <a:srgbClr val="B2D2D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89" name="table 489"/>
          <p:cNvGraphicFramePr>
            <a:graphicFrameLocks noGrp="1"/>
          </p:cNvGraphicFramePr>
          <p:nvPr/>
        </p:nvGraphicFramePr>
        <p:xfrm>
          <a:off x="3223069" y="2651569"/>
          <a:ext cx="641985" cy="1292225"/>
        </p:xfrm>
        <a:graphic>
          <a:graphicData uri="http://schemas.openxmlformats.org/drawingml/2006/table">
            <a:tbl>
              <a:tblPr/>
              <a:tblGrid>
                <a:gridCol w="641984"/>
              </a:tblGrid>
              <a:tr h="3625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2D2DE"/>
                    </a:solidFill>
                  </a:tcPr>
                </a:tc>
              </a:tr>
              <a:tr h="5670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25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2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0" name="table 490"/>
          <p:cNvGraphicFramePr>
            <a:graphicFrameLocks noGrp="1"/>
          </p:cNvGraphicFramePr>
          <p:nvPr/>
        </p:nvGraphicFramePr>
        <p:xfrm>
          <a:off x="2994469" y="3009709"/>
          <a:ext cx="4248785" cy="628015"/>
        </p:xfrm>
        <a:graphic>
          <a:graphicData uri="http://schemas.openxmlformats.org/drawingml/2006/table">
            <a:tbl>
              <a:tblPr/>
              <a:tblGrid>
                <a:gridCol w="233045"/>
                <a:gridCol w="632459"/>
                <a:gridCol w="610234"/>
                <a:gridCol w="1195705"/>
                <a:gridCol w="354965"/>
                <a:gridCol w="330834"/>
                <a:gridCol w="299720"/>
                <a:gridCol w="330834"/>
                <a:gridCol w="260984"/>
              </a:tblGrid>
              <a:tr h="31559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6" name="group 176"/>
          <p:cNvGrpSpPr/>
          <p:nvPr/>
        </p:nvGrpSpPr>
        <p:grpSpPr>
          <a:xfrm rot="21600000">
            <a:off x="7154989" y="2404681"/>
            <a:ext cx="485013" cy="1751457"/>
            <a:chOff x="0" y="0"/>
            <a:chExt cx="485013" cy="1751457"/>
          </a:xfrm>
        </p:grpSpPr>
        <p:sp>
          <p:nvSpPr>
            <p:cNvPr id="491" name="path"/>
            <p:cNvSpPr/>
            <p:nvPr/>
          </p:nvSpPr>
          <p:spPr>
            <a:xfrm>
              <a:off x="4762" y="4762"/>
              <a:ext cx="312419" cy="1741932"/>
            </a:xfrm>
            <a:custGeom>
              <a:avLst/>
              <a:gdLst/>
              <a:ahLst/>
              <a:cxnLst/>
              <a:rect l="0" t="0" r="0" b="0"/>
              <a:pathLst>
                <a:path w="491" h="2743">
                  <a:moveTo>
                    <a:pt x="0" y="1371"/>
                  </a:moveTo>
                  <a:cubicBezTo>
                    <a:pt x="0" y="614"/>
                    <a:pt x="110" y="0"/>
                    <a:pt x="245" y="0"/>
                  </a:cubicBezTo>
                  <a:cubicBezTo>
                    <a:pt x="381" y="0"/>
                    <a:pt x="491" y="614"/>
                    <a:pt x="491" y="1371"/>
                  </a:cubicBezTo>
                  <a:cubicBezTo>
                    <a:pt x="491" y="2129"/>
                    <a:pt x="381" y="2743"/>
                    <a:pt x="245" y="2743"/>
                  </a:cubicBezTo>
                  <a:cubicBezTo>
                    <a:pt x="110" y="2743"/>
                    <a:pt x="0" y="2129"/>
                    <a:pt x="0" y="1371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2" name="path"/>
            <p:cNvSpPr/>
            <p:nvPr/>
          </p:nvSpPr>
          <p:spPr>
            <a:xfrm>
              <a:off x="0" y="0"/>
              <a:ext cx="321944" cy="1751457"/>
            </a:xfrm>
            <a:custGeom>
              <a:avLst/>
              <a:gdLst/>
              <a:ahLst/>
              <a:cxnLst/>
              <a:rect l="0" t="0" r="0" b="0"/>
              <a:pathLst>
                <a:path w="506" h="2758">
                  <a:moveTo>
                    <a:pt x="7" y="1379"/>
                  </a:moveTo>
                  <a:cubicBezTo>
                    <a:pt x="7" y="621"/>
                    <a:pt x="117" y="7"/>
                    <a:pt x="253" y="7"/>
                  </a:cubicBezTo>
                  <a:cubicBezTo>
                    <a:pt x="389" y="7"/>
                    <a:pt x="499" y="621"/>
                    <a:pt x="499" y="1379"/>
                  </a:cubicBezTo>
                  <a:cubicBezTo>
                    <a:pt x="499" y="2136"/>
                    <a:pt x="389" y="2750"/>
                    <a:pt x="253" y="2750"/>
                  </a:cubicBezTo>
                  <a:cubicBezTo>
                    <a:pt x="117" y="2750"/>
                    <a:pt x="7" y="2136"/>
                    <a:pt x="7" y="1379"/>
                  </a:cubicBezTo>
                </a:path>
              </a:pathLst>
            </a:custGeom>
            <a:noFill/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3" name="path"/>
            <p:cNvSpPr/>
            <p:nvPr/>
          </p:nvSpPr>
          <p:spPr>
            <a:xfrm>
              <a:off x="167830" y="4762"/>
              <a:ext cx="312420" cy="1728216"/>
            </a:xfrm>
            <a:custGeom>
              <a:avLst/>
              <a:gdLst/>
              <a:ahLst/>
              <a:cxnLst/>
              <a:rect l="0" t="0" r="0" b="0"/>
              <a:pathLst>
                <a:path w="492" h="2721">
                  <a:moveTo>
                    <a:pt x="0" y="2721"/>
                  </a:moveTo>
                  <a:lnTo>
                    <a:pt x="328" y="2721"/>
                  </a:lnTo>
                  <a:lnTo>
                    <a:pt x="328" y="0"/>
                  </a:lnTo>
                  <a:lnTo>
                    <a:pt x="0" y="0"/>
                  </a:lnTo>
                  <a:lnTo>
                    <a:pt x="0" y="2721"/>
                  </a:lnTo>
                  <a:close/>
                </a:path>
                <a:path w="492" h="2721">
                  <a:moveTo>
                    <a:pt x="187" y="1371"/>
                  </a:moveTo>
                  <a:cubicBezTo>
                    <a:pt x="187" y="773"/>
                    <a:pt x="255" y="287"/>
                    <a:pt x="339" y="287"/>
                  </a:cubicBezTo>
                  <a:cubicBezTo>
                    <a:pt x="423" y="287"/>
                    <a:pt x="492" y="773"/>
                    <a:pt x="492" y="1371"/>
                  </a:cubicBezTo>
                  <a:cubicBezTo>
                    <a:pt x="492" y="1969"/>
                    <a:pt x="423" y="2455"/>
                    <a:pt x="339" y="2455"/>
                  </a:cubicBezTo>
                  <a:cubicBezTo>
                    <a:pt x="255" y="2455"/>
                    <a:pt x="187" y="1969"/>
                    <a:pt x="187" y="1371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4" name="path"/>
            <p:cNvSpPr/>
            <p:nvPr/>
          </p:nvSpPr>
          <p:spPr>
            <a:xfrm>
              <a:off x="281940" y="182880"/>
              <a:ext cx="203072" cy="1385696"/>
            </a:xfrm>
            <a:custGeom>
              <a:avLst/>
              <a:gdLst/>
              <a:ahLst/>
              <a:cxnLst/>
              <a:rect l="0" t="0" r="0" b="0"/>
              <a:pathLst>
                <a:path w="319" h="2182">
                  <a:moveTo>
                    <a:pt x="7" y="1091"/>
                  </a:moveTo>
                  <a:cubicBezTo>
                    <a:pt x="7" y="492"/>
                    <a:pt x="75" y="7"/>
                    <a:pt x="159" y="7"/>
                  </a:cubicBezTo>
                  <a:cubicBezTo>
                    <a:pt x="244" y="7"/>
                    <a:pt x="312" y="492"/>
                    <a:pt x="312" y="1091"/>
                  </a:cubicBezTo>
                  <a:cubicBezTo>
                    <a:pt x="312" y="1689"/>
                    <a:pt x="244" y="2174"/>
                    <a:pt x="159" y="2174"/>
                  </a:cubicBezTo>
                  <a:cubicBezTo>
                    <a:pt x="75" y="2174"/>
                    <a:pt x="7" y="1689"/>
                    <a:pt x="7" y="1091"/>
                  </a:cubicBezTo>
                </a:path>
              </a:pathLst>
            </a:custGeom>
            <a:noFill/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78" name="group 178"/>
          <p:cNvGrpSpPr/>
          <p:nvPr/>
        </p:nvGrpSpPr>
        <p:grpSpPr>
          <a:xfrm rot="21600000">
            <a:off x="4061269" y="2037397"/>
            <a:ext cx="486536" cy="2447925"/>
            <a:chOff x="0" y="0"/>
            <a:chExt cx="486536" cy="2447925"/>
          </a:xfrm>
        </p:grpSpPr>
        <p:sp>
          <p:nvSpPr>
            <p:cNvPr id="495" name="path"/>
            <p:cNvSpPr/>
            <p:nvPr/>
          </p:nvSpPr>
          <p:spPr>
            <a:xfrm>
              <a:off x="4762" y="4762"/>
              <a:ext cx="313944" cy="2438400"/>
            </a:xfrm>
            <a:custGeom>
              <a:avLst/>
              <a:gdLst/>
              <a:ahLst/>
              <a:cxnLst/>
              <a:rect l="0" t="0" r="0" b="0"/>
              <a:pathLst>
                <a:path w="494" h="3840">
                  <a:moveTo>
                    <a:pt x="0" y="1920"/>
                  </a:moveTo>
                  <a:cubicBezTo>
                    <a:pt x="0" y="859"/>
                    <a:pt x="110" y="0"/>
                    <a:pt x="247" y="0"/>
                  </a:cubicBezTo>
                  <a:cubicBezTo>
                    <a:pt x="383" y="0"/>
                    <a:pt x="494" y="859"/>
                    <a:pt x="494" y="1920"/>
                  </a:cubicBezTo>
                  <a:cubicBezTo>
                    <a:pt x="494" y="2980"/>
                    <a:pt x="383" y="3840"/>
                    <a:pt x="247" y="3840"/>
                  </a:cubicBezTo>
                  <a:cubicBezTo>
                    <a:pt x="110" y="3840"/>
                    <a:pt x="0" y="2980"/>
                    <a:pt x="0" y="192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6" name="path"/>
            <p:cNvSpPr/>
            <p:nvPr/>
          </p:nvSpPr>
          <p:spPr>
            <a:xfrm>
              <a:off x="0" y="0"/>
              <a:ext cx="323469" cy="2447925"/>
            </a:xfrm>
            <a:custGeom>
              <a:avLst/>
              <a:gdLst/>
              <a:ahLst/>
              <a:cxnLst/>
              <a:rect l="0" t="0" r="0" b="0"/>
              <a:pathLst>
                <a:path w="509" h="3855">
                  <a:moveTo>
                    <a:pt x="7" y="1927"/>
                  </a:moveTo>
                  <a:cubicBezTo>
                    <a:pt x="7" y="867"/>
                    <a:pt x="118" y="7"/>
                    <a:pt x="254" y="7"/>
                  </a:cubicBezTo>
                  <a:cubicBezTo>
                    <a:pt x="391" y="7"/>
                    <a:pt x="501" y="867"/>
                    <a:pt x="501" y="1927"/>
                  </a:cubicBezTo>
                  <a:cubicBezTo>
                    <a:pt x="501" y="2987"/>
                    <a:pt x="391" y="3847"/>
                    <a:pt x="254" y="3847"/>
                  </a:cubicBezTo>
                  <a:cubicBezTo>
                    <a:pt x="118" y="3847"/>
                    <a:pt x="7" y="2987"/>
                    <a:pt x="7" y="1927"/>
                  </a:cubicBezTo>
                </a:path>
              </a:pathLst>
            </a:custGeom>
            <a:noFill/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7" name="path"/>
            <p:cNvSpPr/>
            <p:nvPr/>
          </p:nvSpPr>
          <p:spPr>
            <a:xfrm>
              <a:off x="169354" y="4762"/>
              <a:ext cx="312419" cy="2418587"/>
            </a:xfrm>
            <a:custGeom>
              <a:avLst/>
              <a:gdLst/>
              <a:ahLst/>
              <a:cxnLst/>
              <a:rect l="0" t="0" r="0" b="0"/>
              <a:pathLst>
                <a:path w="491" h="3808">
                  <a:moveTo>
                    <a:pt x="0" y="3808"/>
                  </a:moveTo>
                  <a:lnTo>
                    <a:pt x="328" y="3808"/>
                  </a:lnTo>
                  <a:lnTo>
                    <a:pt x="328" y="0"/>
                  </a:lnTo>
                  <a:lnTo>
                    <a:pt x="0" y="0"/>
                  </a:lnTo>
                  <a:lnTo>
                    <a:pt x="0" y="3808"/>
                  </a:lnTo>
                  <a:close/>
                </a:path>
                <a:path w="491" h="3808">
                  <a:moveTo>
                    <a:pt x="187" y="1917"/>
                  </a:moveTo>
                  <a:cubicBezTo>
                    <a:pt x="187" y="1079"/>
                    <a:pt x="255" y="400"/>
                    <a:pt x="339" y="400"/>
                  </a:cubicBezTo>
                  <a:cubicBezTo>
                    <a:pt x="423" y="400"/>
                    <a:pt x="491" y="1079"/>
                    <a:pt x="491" y="1917"/>
                  </a:cubicBezTo>
                  <a:cubicBezTo>
                    <a:pt x="491" y="2755"/>
                    <a:pt x="423" y="3434"/>
                    <a:pt x="339" y="3434"/>
                  </a:cubicBezTo>
                  <a:cubicBezTo>
                    <a:pt x="255" y="3434"/>
                    <a:pt x="187" y="2755"/>
                    <a:pt x="187" y="1917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8" name="path"/>
            <p:cNvSpPr/>
            <p:nvPr/>
          </p:nvSpPr>
          <p:spPr>
            <a:xfrm>
              <a:off x="165888" y="19784"/>
              <a:ext cx="320648" cy="2426250"/>
            </a:xfrm>
            <a:custGeom>
              <a:avLst/>
              <a:gdLst/>
              <a:ahLst/>
              <a:cxnLst/>
              <a:rect l="0" t="0" r="0" b="0"/>
              <a:pathLst>
                <a:path w="504" h="3820">
                  <a:moveTo>
                    <a:pt x="192" y="1893"/>
                  </a:moveTo>
                  <a:cubicBezTo>
                    <a:pt x="192" y="1056"/>
                    <a:pt x="260" y="377"/>
                    <a:pt x="345" y="377"/>
                  </a:cubicBezTo>
                  <a:cubicBezTo>
                    <a:pt x="429" y="377"/>
                    <a:pt x="497" y="1056"/>
                    <a:pt x="497" y="1893"/>
                  </a:cubicBezTo>
                  <a:cubicBezTo>
                    <a:pt x="497" y="2731"/>
                    <a:pt x="429" y="3410"/>
                    <a:pt x="345" y="3410"/>
                  </a:cubicBezTo>
                  <a:cubicBezTo>
                    <a:pt x="260" y="3410"/>
                    <a:pt x="192" y="2731"/>
                    <a:pt x="192" y="1893"/>
                  </a:cubicBezTo>
                  <a:moveTo>
                    <a:pt x="358" y="379"/>
                  </a:moveTo>
                  <a:lnTo>
                    <a:pt x="5" y="5"/>
                  </a:lnTo>
                  <a:moveTo>
                    <a:pt x="334" y="3413"/>
                  </a:moveTo>
                  <a:lnTo>
                    <a:pt x="29" y="3816"/>
                  </a:lnTo>
                </a:path>
              </a:pathLst>
            </a:custGeom>
            <a:noFill/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99" name="path"/>
          <p:cNvSpPr/>
          <p:nvPr/>
        </p:nvSpPr>
        <p:spPr>
          <a:xfrm>
            <a:off x="7319966" y="2419346"/>
            <a:ext cx="229734" cy="175266"/>
          </a:xfrm>
          <a:custGeom>
            <a:avLst/>
            <a:gdLst/>
            <a:ahLst/>
            <a:cxnLst/>
            <a:rect l="0" t="0" r="0" b="0"/>
            <a:pathLst>
              <a:path w="361" h="276">
                <a:moveTo>
                  <a:pt x="357" y="270"/>
                </a:moveTo>
                <a:lnTo>
                  <a:pt x="4" y="6"/>
                </a:lnTo>
              </a:path>
            </a:pathLst>
          </a:custGeom>
          <a:noFill/>
          <a:ln w="9525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00" name="table 500"/>
          <p:cNvGraphicFramePr>
            <a:graphicFrameLocks noGrp="1"/>
          </p:cNvGraphicFramePr>
          <p:nvPr/>
        </p:nvGraphicFramePr>
        <p:xfrm>
          <a:off x="3223069" y="2189797"/>
          <a:ext cx="641350" cy="367665"/>
        </p:xfrm>
        <a:graphic>
          <a:graphicData uri="http://schemas.openxmlformats.org/drawingml/2006/table">
            <a:tbl>
              <a:tblPr/>
              <a:tblGrid>
                <a:gridCol w="641350"/>
              </a:tblGrid>
              <a:tr h="3581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1" name="rect"/>
          <p:cNvSpPr/>
          <p:nvPr/>
        </p:nvSpPr>
        <p:spPr>
          <a:xfrm>
            <a:off x="3227832" y="2194559"/>
            <a:ext cx="632459" cy="358140"/>
          </a:xfrm>
          <a:prstGeom prst="rect">
            <a:avLst/>
          </a:prstGeom>
          <a:solidFill>
            <a:srgbClr val="B2D2D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02" name="table 502"/>
          <p:cNvGraphicFramePr>
            <a:graphicFrameLocks noGrp="1"/>
          </p:cNvGraphicFramePr>
          <p:nvPr/>
        </p:nvGraphicFramePr>
        <p:xfrm>
          <a:off x="6347269" y="2511361"/>
          <a:ext cx="640079" cy="321945"/>
        </p:xfrm>
        <a:graphic>
          <a:graphicData uri="http://schemas.openxmlformats.org/drawingml/2006/table">
            <a:tbl>
              <a:tblPr/>
              <a:tblGrid>
                <a:gridCol w="640079"/>
              </a:tblGrid>
              <a:tr h="3124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3" name="rect"/>
          <p:cNvSpPr/>
          <p:nvPr/>
        </p:nvSpPr>
        <p:spPr>
          <a:xfrm>
            <a:off x="6352032" y="2516123"/>
            <a:ext cx="630936" cy="312420"/>
          </a:xfrm>
          <a:prstGeom prst="rect">
            <a:avLst/>
          </a:prstGeom>
          <a:solidFill>
            <a:srgbClr val="B2D2D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4" name="path"/>
          <p:cNvSpPr/>
          <p:nvPr/>
        </p:nvSpPr>
        <p:spPr>
          <a:xfrm>
            <a:off x="2998678" y="1883505"/>
            <a:ext cx="6017859" cy="713548"/>
          </a:xfrm>
          <a:custGeom>
            <a:avLst/>
            <a:gdLst/>
            <a:ahLst/>
            <a:cxnLst/>
            <a:rect l="0" t="0" r="0" b="0"/>
            <a:pathLst>
              <a:path w="9476" h="1123">
                <a:moveTo>
                  <a:pt x="9476" y="1116"/>
                </a:moveTo>
                <a:lnTo>
                  <a:pt x="0" y="7"/>
                </a:lnTo>
              </a:path>
            </a:pathLst>
          </a:custGeom>
          <a:noFill/>
          <a:ln w="9525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05" name="table 505"/>
          <p:cNvGraphicFramePr>
            <a:graphicFrameLocks noGrp="1"/>
          </p:cNvGraphicFramePr>
          <p:nvPr/>
        </p:nvGraphicFramePr>
        <p:xfrm>
          <a:off x="6347269" y="3725989"/>
          <a:ext cx="640079" cy="321945"/>
        </p:xfrm>
        <a:graphic>
          <a:graphicData uri="http://schemas.openxmlformats.org/drawingml/2006/table">
            <a:tbl>
              <a:tblPr/>
              <a:tblGrid>
                <a:gridCol w="640079"/>
              </a:tblGrid>
              <a:tr h="3124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6" name="rect"/>
          <p:cNvSpPr/>
          <p:nvPr/>
        </p:nvSpPr>
        <p:spPr>
          <a:xfrm>
            <a:off x="6352032" y="3730752"/>
            <a:ext cx="630936" cy="312420"/>
          </a:xfrm>
          <a:prstGeom prst="rect">
            <a:avLst/>
          </a:prstGeom>
          <a:solidFill>
            <a:srgbClr val="B2D2D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07" name="table 507"/>
          <p:cNvGraphicFramePr>
            <a:graphicFrameLocks noGrp="1"/>
          </p:cNvGraphicFramePr>
          <p:nvPr/>
        </p:nvGraphicFramePr>
        <p:xfrm>
          <a:off x="3223069" y="4038409"/>
          <a:ext cx="641350" cy="367029"/>
        </p:xfrm>
        <a:graphic>
          <a:graphicData uri="http://schemas.openxmlformats.org/drawingml/2006/table">
            <a:tbl>
              <a:tblPr/>
              <a:tblGrid>
                <a:gridCol w="641350"/>
              </a:tblGrid>
              <a:tr h="3575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8" name="rect"/>
          <p:cNvSpPr/>
          <p:nvPr/>
        </p:nvSpPr>
        <p:spPr>
          <a:xfrm>
            <a:off x="3227832" y="4043172"/>
            <a:ext cx="632459" cy="358139"/>
          </a:xfrm>
          <a:prstGeom prst="rect">
            <a:avLst/>
          </a:prstGeom>
          <a:solidFill>
            <a:srgbClr val="B2D2D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9" name="path"/>
          <p:cNvSpPr/>
          <p:nvPr/>
        </p:nvSpPr>
        <p:spPr>
          <a:xfrm>
            <a:off x="7334788" y="3965034"/>
            <a:ext cx="200090" cy="189803"/>
          </a:xfrm>
          <a:custGeom>
            <a:avLst/>
            <a:gdLst/>
            <a:ahLst/>
            <a:cxnLst/>
            <a:rect l="0" t="0" r="0" b="0"/>
            <a:pathLst>
              <a:path w="315" h="298">
                <a:moveTo>
                  <a:pt x="309" y="5"/>
                </a:moveTo>
                <a:lnTo>
                  <a:pt x="5" y="293"/>
                </a:lnTo>
              </a:path>
            </a:pathLst>
          </a:custGeom>
          <a:noFill/>
          <a:ln w="9525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0" name="path"/>
          <p:cNvSpPr/>
          <p:nvPr/>
        </p:nvSpPr>
        <p:spPr>
          <a:xfrm>
            <a:off x="2998706" y="3959190"/>
            <a:ext cx="6019325" cy="676978"/>
          </a:xfrm>
          <a:custGeom>
            <a:avLst/>
            <a:gdLst/>
            <a:ahLst/>
            <a:cxnLst/>
            <a:rect l="0" t="0" r="0" b="0"/>
            <a:pathLst>
              <a:path w="9479" h="1066">
                <a:moveTo>
                  <a:pt x="9478" y="7"/>
                </a:moveTo>
                <a:lnTo>
                  <a:pt x="0" y="1058"/>
                </a:lnTo>
              </a:path>
            </a:pathLst>
          </a:custGeom>
          <a:noFill/>
          <a:ln w="9525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1" name="textbox 511"/>
          <p:cNvSpPr/>
          <p:nvPr/>
        </p:nvSpPr>
        <p:spPr>
          <a:xfrm>
            <a:off x="715086" y="1062024"/>
            <a:ext cx="10538459" cy="2914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线索是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特定客户在一定的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时间窗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中对特定产品或服务的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潜在购买意愿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，其最终将可能为我司带来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商业机会</a:t>
            </a:r>
            <a:endParaRPr lang="en-US" altLang="en-US" sz="1800" dirty="0"/>
          </a:p>
        </p:txBody>
      </p:sp>
      <p:sp>
        <p:nvSpPr>
          <p:cNvPr id="512" name="textbox 512"/>
          <p:cNvSpPr/>
          <p:nvPr/>
        </p:nvSpPr>
        <p:spPr>
          <a:xfrm>
            <a:off x="587810" y="269576"/>
            <a:ext cx="5058409" cy="438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0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1.1管理线索：线索是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sz="2700" spc="10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的源</a:t>
            </a:r>
            <a:r>
              <a:rPr sz="2700" spc="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头</a:t>
            </a:r>
            <a:endParaRPr lang="en-US" altLang="en-US" sz="2700" dirty="0"/>
          </a:p>
        </p:txBody>
      </p:sp>
      <p:grpSp>
        <p:nvGrpSpPr>
          <p:cNvPr id="180" name="group 180"/>
          <p:cNvGrpSpPr/>
          <p:nvPr/>
        </p:nvGrpSpPr>
        <p:grpSpPr>
          <a:xfrm rot="21600000">
            <a:off x="7987284" y="3140773"/>
            <a:ext cx="632459" cy="323469"/>
            <a:chOff x="0" y="0"/>
            <a:chExt cx="632459" cy="323469"/>
          </a:xfrm>
        </p:grpSpPr>
        <p:sp>
          <p:nvSpPr>
            <p:cNvPr id="513" name="path"/>
            <p:cNvSpPr/>
            <p:nvPr/>
          </p:nvSpPr>
          <p:spPr>
            <a:xfrm>
              <a:off x="0" y="4762"/>
              <a:ext cx="632459" cy="313944"/>
            </a:xfrm>
            <a:custGeom>
              <a:avLst/>
              <a:gdLst/>
              <a:ahLst/>
              <a:cxnLst/>
              <a:rect l="0" t="0" r="0" b="0"/>
              <a:pathLst>
                <a:path w="995" h="494">
                  <a:moveTo>
                    <a:pt x="0" y="494"/>
                  </a:moveTo>
                  <a:lnTo>
                    <a:pt x="995" y="494"/>
                  </a:lnTo>
                  <a:lnTo>
                    <a:pt x="995" y="0"/>
                  </a:lnTo>
                  <a:lnTo>
                    <a:pt x="0" y="0"/>
                  </a:lnTo>
                  <a:lnTo>
                    <a:pt x="0" y="494"/>
                  </a:lnTo>
                  <a:close/>
                </a:path>
              </a:pathLst>
            </a:custGeom>
            <a:solidFill>
              <a:srgbClr val="B2D2DE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14" name="path"/>
            <p:cNvSpPr/>
            <p:nvPr/>
          </p:nvSpPr>
          <p:spPr>
            <a:xfrm>
              <a:off x="0" y="0"/>
              <a:ext cx="632459" cy="323469"/>
            </a:xfrm>
            <a:custGeom>
              <a:avLst/>
              <a:gdLst/>
              <a:ahLst/>
              <a:cxnLst/>
              <a:rect l="0" t="0" r="0" b="0"/>
              <a:pathLst>
                <a:path w="995" h="509">
                  <a:moveTo>
                    <a:pt x="0" y="501"/>
                  </a:moveTo>
                  <a:lnTo>
                    <a:pt x="995" y="501"/>
                  </a:lnTo>
                  <a:moveTo>
                    <a:pt x="995" y="7"/>
                  </a:moveTo>
                  <a:lnTo>
                    <a:pt x="0" y="7"/>
                  </a:lnTo>
                </a:path>
              </a:pathLst>
            </a:custGeom>
            <a:noFill/>
            <a:ln w="9525" cap="flat">
              <a:solidFill>
                <a:srgbClr val="366B7E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15" name="rect"/>
          <p:cNvSpPr/>
          <p:nvPr/>
        </p:nvSpPr>
        <p:spPr>
          <a:xfrm>
            <a:off x="7987284" y="3546157"/>
            <a:ext cx="632459" cy="9525"/>
          </a:xfrm>
          <a:prstGeom prst="rect">
            <a:avLst/>
          </a:pr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6" name="rect"/>
          <p:cNvSpPr/>
          <p:nvPr/>
        </p:nvSpPr>
        <p:spPr>
          <a:xfrm>
            <a:off x="7987284" y="3049333"/>
            <a:ext cx="632459" cy="9525"/>
          </a:xfrm>
          <a:prstGeom prst="rect">
            <a:avLst/>
          </a:pr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7" name="textbox 517"/>
          <p:cNvSpPr/>
          <p:nvPr/>
        </p:nvSpPr>
        <p:spPr>
          <a:xfrm>
            <a:off x="7540752" y="3031235"/>
            <a:ext cx="1571625" cy="564515"/>
          </a:xfrm>
          <a:prstGeom prst="rect">
            <a:avLst/>
          </a:prstGeom>
          <a:solidFill>
            <a:srgbClr val="FFFFFF">
              <a:alpha val="49803"/>
            </a:srgbClr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000"/>
              </a:lnSpc>
            </a:pPr>
            <a:endParaRPr lang="en-US" altLang="en-US" sz="100" dirty="0"/>
          </a:p>
          <a:p>
            <a:pPr marL="209550" algn="l" rtl="0" eaLnBrk="0">
              <a:lnSpc>
                <a:spcPct val="97000"/>
              </a:lnSpc>
            </a:pP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/订单</a:t>
            </a:r>
            <a:endParaRPr lang="en-US" altLang="en-US" sz="1800" dirty="0"/>
          </a:p>
        </p:txBody>
      </p:sp>
      <p:grpSp>
        <p:nvGrpSpPr>
          <p:cNvPr id="182" name="group 182"/>
          <p:cNvGrpSpPr/>
          <p:nvPr/>
        </p:nvGrpSpPr>
        <p:grpSpPr>
          <a:xfrm rot="21600000">
            <a:off x="8884729" y="2590609"/>
            <a:ext cx="485012" cy="1379601"/>
            <a:chOff x="0" y="0"/>
            <a:chExt cx="485012" cy="1379601"/>
          </a:xfrm>
        </p:grpSpPr>
        <p:sp>
          <p:nvSpPr>
            <p:cNvPr id="518" name="path"/>
            <p:cNvSpPr/>
            <p:nvPr/>
          </p:nvSpPr>
          <p:spPr>
            <a:xfrm>
              <a:off x="4762" y="4762"/>
              <a:ext cx="312419" cy="1370076"/>
            </a:xfrm>
            <a:custGeom>
              <a:avLst/>
              <a:gdLst/>
              <a:ahLst/>
              <a:cxnLst/>
              <a:rect l="0" t="0" r="0" b="0"/>
              <a:pathLst>
                <a:path w="491" h="2157">
                  <a:moveTo>
                    <a:pt x="0" y="1078"/>
                  </a:moveTo>
                  <a:cubicBezTo>
                    <a:pt x="0" y="482"/>
                    <a:pt x="110" y="0"/>
                    <a:pt x="245" y="0"/>
                  </a:cubicBezTo>
                  <a:cubicBezTo>
                    <a:pt x="381" y="0"/>
                    <a:pt x="491" y="482"/>
                    <a:pt x="491" y="1078"/>
                  </a:cubicBezTo>
                  <a:cubicBezTo>
                    <a:pt x="491" y="1674"/>
                    <a:pt x="381" y="2157"/>
                    <a:pt x="245" y="2157"/>
                  </a:cubicBezTo>
                  <a:cubicBezTo>
                    <a:pt x="110" y="2157"/>
                    <a:pt x="0" y="1674"/>
                    <a:pt x="0" y="107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19" name="path"/>
            <p:cNvSpPr/>
            <p:nvPr/>
          </p:nvSpPr>
          <p:spPr>
            <a:xfrm>
              <a:off x="0" y="0"/>
              <a:ext cx="321944" cy="1379601"/>
            </a:xfrm>
            <a:custGeom>
              <a:avLst/>
              <a:gdLst/>
              <a:ahLst/>
              <a:cxnLst/>
              <a:rect l="0" t="0" r="0" b="0"/>
              <a:pathLst>
                <a:path w="506" h="2172">
                  <a:moveTo>
                    <a:pt x="7" y="1086"/>
                  </a:moveTo>
                  <a:cubicBezTo>
                    <a:pt x="7" y="490"/>
                    <a:pt x="117" y="7"/>
                    <a:pt x="253" y="7"/>
                  </a:cubicBezTo>
                  <a:cubicBezTo>
                    <a:pt x="389" y="7"/>
                    <a:pt x="499" y="490"/>
                    <a:pt x="499" y="1086"/>
                  </a:cubicBezTo>
                  <a:cubicBezTo>
                    <a:pt x="499" y="1682"/>
                    <a:pt x="389" y="2165"/>
                    <a:pt x="253" y="2165"/>
                  </a:cubicBezTo>
                  <a:cubicBezTo>
                    <a:pt x="117" y="2165"/>
                    <a:pt x="7" y="1682"/>
                    <a:pt x="7" y="1086"/>
                  </a:cubicBezTo>
                </a:path>
              </a:pathLst>
            </a:custGeom>
            <a:noFill/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0" name="path"/>
            <p:cNvSpPr/>
            <p:nvPr/>
          </p:nvSpPr>
          <p:spPr>
            <a:xfrm>
              <a:off x="167830" y="4762"/>
              <a:ext cx="312419" cy="1359408"/>
            </a:xfrm>
            <a:custGeom>
              <a:avLst/>
              <a:gdLst/>
              <a:ahLst/>
              <a:cxnLst/>
              <a:rect l="0" t="0" r="0" b="0"/>
              <a:pathLst>
                <a:path w="491" h="2140">
                  <a:moveTo>
                    <a:pt x="0" y="2140"/>
                  </a:moveTo>
                  <a:lnTo>
                    <a:pt x="328" y="2140"/>
                  </a:lnTo>
                  <a:lnTo>
                    <a:pt x="328" y="0"/>
                  </a:lnTo>
                  <a:lnTo>
                    <a:pt x="0" y="0"/>
                  </a:lnTo>
                  <a:lnTo>
                    <a:pt x="0" y="2140"/>
                  </a:lnTo>
                  <a:close/>
                </a:path>
                <a:path w="491" h="2140">
                  <a:moveTo>
                    <a:pt x="187" y="1078"/>
                  </a:moveTo>
                  <a:cubicBezTo>
                    <a:pt x="187" y="607"/>
                    <a:pt x="255" y="225"/>
                    <a:pt x="339" y="225"/>
                  </a:cubicBezTo>
                  <a:cubicBezTo>
                    <a:pt x="423" y="225"/>
                    <a:pt x="491" y="607"/>
                    <a:pt x="491" y="1078"/>
                  </a:cubicBezTo>
                  <a:cubicBezTo>
                    <a:pt x="491" y="1550"/>
                    <a:pt x="423" y="1932"/>
                    <a:pt x="339" y="1932"/>
                  </a:cubicBezTo>
                  <a:cubicBezTo>
                    <a:pt x="255" y="1932"/>
                    <a:pt x="187" y="1550"/>
                    <a:pt x="187" y="107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1" name="path"/>
            <p:cNvSpPr/>
            <p:nvPr/>
          </p:nvSpPr>
          <p:spPr>
            <a:xfrm>
              <a:off x="165417" y="11325"/>
              <a:ext cx="319595" cy="1367330"/>
            </a:xfrm>
            <a:custGeom>
              <a:avLst/>
              <a:gdLst/>
              <a:ahLst/>
              <a:cxnLst/>
              <a:rect l="0" t="0" r="0" b="0"/>
              <a:pathLst>
                <a:path w="503" h="2153">
                  <a:moveTo>
                    <a:pt x="190" y="1068"/>
                  </a:moveTo>
                  <a:cubicBezTo>
                    <a:pt x="190" y="597"/>
                    <a:pt x="259" y="215"/>
                    <a:pt x="343" y="215"/>
                  </a:cubicBezTo>
                  <a:cubicBezTo>
                    <a:pt x="427" y="215"/>
                    <a:pt x="495" y="597"/>
                    <a:pt x="495" y="1068"/>
                  </a:cubicBezTo>
                  <a:cubicBezTo>
                    <a:pt x="495" y="1539"/>
                    <a:pt x="427" y="1921"/>
                    <a:pt x="343" y="1921"/>
                  </a:cubicBezTo>
                  <a:cubicBezTo>
                    <a:pt x="259" y="1921"/>
                    <a:pt x="190" y="1539"/>
                    <a:pt x="190" y="1068"/>
                  </a:cubicBezTo>
                  <a:moveTo>
                    <a:pt x="359" y="215"/>
                  </a:moveTo>
                  <a:lnTo>
                    <a:pt x="3" y="6"/>
                  </a:lnTo>
                  <a:moveTo>
                    <a:pt x="332" y="1921"/>
                  </a:moveTo>
                  <a:lnTo>
                    <a:pt x="30" y="2147"/>
                  </a:lnTo>
                </a:path>
              </a:pathLst>
            </a:custGeom>
            <a:noFill/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22" name="table 522"/>
          <p:cNvGraphicFramePr>
            <a:graphicFrameLocks noGrp="1"/>
          </p:cNvGraphicFramePr>
          <p:nvPr/>
        </p:nvGraphicFramePr>
        <p:xfrm>
          <a:off x="7535989" y="2736913"/>
          <a:ext cx="1580515" cy="1130935"/>
        </p:xfrm>
        <a:graphic>
          <a:graphicData uri="http://schemas.openxmlformats.org/drawingml/2006/table">
            <a:tbl>
              <a:tblPr/>
              <a:tblGrid>
                <a:gridCol w="451484"/>
                <a:gridCol w="632459"/>
                <a:gridCol w="496569"/>
              </a:tblGrid>
              <a:tr h="2940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2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600" dirty="0"/>
                    </a:p>
                    <a:p>
                      <a:pPr marL="281940" indent="63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500" spc="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履</a:t>
                      </a:r>
                      <a:r>
                        <a:rPr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</a:t>
                      </a:r>
                      <a:endParaRPr lang="en-US" altLang="en-US" sz="15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9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2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184" name="group 184"/>
          <p:cNvGrpSpPr/>
          <p:nvPr/>
        </p:nvGrpSpPr>
        <p:grpSpPr>
          <a:xfrm rot="21600000">
            <a:off x="5661469" y="2189797"/>
            <a:ext cx="486536" cy="2143125"/>
            <a:chOff x="0" y="0"/>
            <a:chExt cx="486536" cy="2143125"/>
          </a:xfrm>
        </p:grpSpPr>
        <p:sp>
          <p:nvSpPr>
            <p:cNvPr id="523" name="path"/>
            <p:cNvSpPr/>
            <p:nvPr/>
          </p:nvSpPr>
          <p:spPr>
            <a:xfrm>
              <a:off x="4762" y="4762"/>
              <a:ext cx="313944" cy="2133600"/>
            </a:xfrm>
            <a:custGeom>
              <a:avLst/>
              <a:gdLst/>
              <a:ahLst/>
              <a:cxnLst/>
              <a:rect l="0" t="0" r="0" b="0"/>
              <a:pathLst>
                <a:path w="494" h="3360">
                  <a:moveTo>
                    <a:pt x="0" y="1680"/>
                  </a:moveTo>
                  <a:cubicBezTo>
                    <a:pt x="0" y="752"/>
                    <a:pt x="110" y="0"/>
                    <a:pt x="247" y="0"/>
                  </a:cubicBezTo>
                  <a:cubicBezTo>
                    <a:pt x="383" y="0"/>
                    <a:pt x="494" y="752"/>
                    <a:pt x="494" y="1680"/>
                  </a:cubicBezTo>
                  <a:cubicBezTo>
                    <a:pt x="494" y="2607"/>
                    <a:pt x="383" y="3360"/>
                    <a:pt x="247" y="3360"/>
                  </a:cubicBezTo>
                  <a:cubicBezTo>
                    <a:pt x="110" y="3360"/>
                    <a:pt x="0" y="2607"/>
                    <a:pt x="0" y="168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4" name="path"/>
            <p:cNvSpPr/>
            <p:nvPr/>
          </p:nvSpPr>
          <p:spPr>
            <a:xfrm>
              <a:off x="0" y="0"/>
              <a:ext cx="323469" cy="2143125"/>
            </a:xfrm>
            <a:custGeom>
              <a:avLst/>
              <a:gdLst/>
              <a:ahLst/>
              <a:cxnLst/>
              <a:rect l="0" t="0" r="0" b="0"/>
              <a:pathLst>
                <a:path w="509" h="3375">
                  <a:moveTo>
                    <a:pt x="7" y="1687"/>
                  </a:moveTo>
                  <a:cubicBezTo>
                    <a:pt x="7" y="759"/>
                    <a:pt x="118" y="7"/>
                    <a:pt x="254" y="7"/>
                  </a:cubicBezTo>
                  <a:cubicBezTo>
                    <a:pt x="391" y="7"/>
                    <a:pt x="501" y="759"/>
                    <a:pt x="501" y="1687"/>
                  </a:cubicBezTo>
                  <a:cubicBezTo>
                    <a:pt x="501" y="2615"/>
                    <a:pt x="391" y="3367"/>
                    <a:pt x="254" y="3367"/>
                  </a:cubicBezTo>
                  <a:cubicBezTo>
                    <a:pt x="118" y="3367"/>
                    <a:pt x="7" y="2615"/>
                    <a:pt x="7" y="1687"/>
                  </a:cubicBezTo>
                </a:path>
              </a:pathLst>
            </a:custGeom>
            <a:noFill/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5" name="path"/>
            <p:cNvSpPr/>
            <p:nvPr/>
          </p:nvSpPr>
          <p:spPr>
            <a:xfrm>
              <a:off x="169354" y="4762"/>
              <a:ext cx="312419" cy="2115312"/>
            </a:xfrm>
            <a:custGeom>
              <a:avLst/>
              <a:gdLst/>
              <a:ahLst/>
              <a:cxnLst/>
              <a:rect l="0" t="0" r="0" b="0"/>
              <a:pathLst>
                <a:path w="491" h="3331">
                  <a:moveTo>
                    <a:pt x="0" y="3331"/>
                  </a:moveTo>
                  <a:lnTo>
                    <a:pt x="328" y="3331"/>
                  </a:lnTo>
                  <a:lnTo>
                    <a:pt x="328" y="0"/>
                  </a:lnTo>
                  <a:lnTo>
                    <a:pt x="0" y="0"/>
                  </a:lnTo>
                  <a:lnTo>
                    <a:pt x="0" y="3331"/>
                  </a:lnTo>
                  <a:close/>
                </a:path>
                <a:path w="491" h="3331">
                  <a:moveTo>
                    <a:pt x="187" y="1678"/>
                  </a:moveTo>
                  <a:cubicBezTo>
                    <a:pt x="187" y="945"/>
                    <a:pt x="255" y="350"/>
                    <a:pt x="339" y="350"/>
                  </a:cubicBezTo>
                  <a:cubicBezTo>
                    <a:pt x="423" y="350"/>
                    <a:pt x="491" y="945"/>
                    <a:pt x="491" y="1678"/>
                  </a:cubicBezTo>
                  <a:cubicBezTo>
                    <a:pt x="491" y="2412"/>
                    <a:pt x="423" y="3007"/>
                    <a:pt x="339" y="3007"/>
                  </a:cubicBezTo>
                  <a:cubicBezTo>
                    <a:pt x="255" y="3007"/>
                    <a:pt x="187" y="2412"/>
                    <a:pt x="187" y="167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6" name="path"/>
            <p:cNvSpPr/>
            <p:nvPr/>
          </p:nvSpPr>
          <p:spPr>
            <a:xfrm>
              <a:off x="166133" y="18019"/>
              <a:ext cx="320403" cy="2123457"/>
            </a:xfrm>
            <a:custGeom>
              <a:avLst/>
              <a:gdLst/>
              <a:ahLst/>
              <a:cxnLst/>
              <a:rect l="0" t="0" r="0" b="0"/>
              <a:pathLst>
                <a:path w="504" h="3344">
                  <a:moveTo>
                    <a:pt x="192" y="1657"/>
                  </a:moveTo>
                  <a:cubicBezTo>
                    <a:pt x="192" y="924"/>
                    <a:pt x="260" y="329"/>
                    <a:pt x="344" y="329"/>
                  </a:cubicBezTo>
                  <a:cubicBezTo>
                    <a:pt x="428" y="329"/>
                    <a:pt x="497" y="924"/>
                    <a:pt x="497" y="1657"/>
                  </a:cubicBezTo>
                  <a:cubicBezTo>
                    <a:pt x="497" y="2391"/>
                    <a:pt x="428" y="2986"/>
                    <a:pt x="344" y="2986"/>
                  </a:cubicBezTo>
                  <a:cubicBezTo>
                    <a:pt x="260" y="2986"/>
                    <a:pt x="192" y="2391"/>
                    <a:pt x="192" y="1657"/>
                  </a:cubicBezTo>
                  <a:moveTo>
                    <a:pt x="357" y="329"/>
                  </a:moveTo>
                  <a:lnTo>
                    <a:pt x="5" y="5"/>
                  </a:lnTo>
                  <a:moveTo>
                    <a:pt x="333" y="2986"/>
                  </a:moveTo>
                  <a:lnTo>
                    <a:pt x="29" y="3339"/>
                  </a:lnTo>
                </a:path>
              </a:pathLst>
            </a:custGeom>
            <a:noFill/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27" name="textbox 527"/>
          <p:cNvSpPr/>
          <p:nvPr/>
        </p:nvSpPr>
        <p:spPr>
          <a:xfrm>
            <a:off x="4693081" y="2644371"/>
            <a:ext cx="1198880" cy="12858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984885" indent="4445" algn="l" rtl="0" eaLnBrk="0">
              <a:lnSpc>
                <a:spcPct val="92000"/>
              </a:lnSpc>
            </a:pPr>
            <a:r>
              <a:rPr sz="1500" spc="5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</a:t>
            </a:r>
            <a:r>
              <a:rPr sz="15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en-US" altLang="en-US" sz="1500" dirty="0"/>
          </a:p>
          <a:p>
            <a:pPr algn="r" rtl="0" eaLnBrk="0">
              <a:lnSpc>
                <a:spcPct val="92000"/>
              </a:lnSpc>
              <a:spcBef>
                <a:spcPts val="10"/>
              </a:spcBef>
            </a:pPr>
            <a:r>
              <a:rPr sz="1300" spc="13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</a:t>
            </a:r>
            <a:endParaRPr lang="en-US" altLang="en-US" sz="1300" dirty="0"/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150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机会点     </a:t>
            </a:r>
            <a:r>
              <a:rPr sz="2100" spc="110" baseline="-20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</a:t>
            </a:r>
            <a:endParaRPr lang="en-US" altLang="en-US" sz="1365" dirty="0"/>
          </a:p>
          <a:p>
            <a:pPr marL="984885" indent="1905" algn="l" rtl="0" eaLnBrk="0">
              <a:lnSpc>
                <a:spcPct val="94000"/>
              </a:lnSpc>
              <a:spcBef>
                <a:spcPts val="25"/>
              </a:spcBef>
            </a:pPr>
            <a:r>
              <a:rPr sz="150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</a:t>
            </a:r>
            <a:r>
              <a:rPr sz="15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</a:t>
            </a:r>
            <a:endParaRPr lang="en-US" altLang="en-US" sz="1500" dirty="0"/>
          </a:p>
        </p:txBody>
      </p:sp>
      <p:graphicFrame>
        <p:nvGraphicFramePr>
          <p:cNvPr id="528" name="table 528"/>
          <p:cNvGraphicFramePr>
            <a:graphicFrameLocks noGrp="1"/>
          </p:cNvGraphicFramePr>
          <p:nvPr/>
        </p:nvGraphicFramePr>
        <p:xfrm>
          <a:off x="10224072" y="2110295"/>
          <a:ext cx="753109" cy="1818639"/>
        </p:xfrm>
        <a:graphic>
          <a:graphicData uri="http://schemas.openxmlformats.org/drawingml/2006/table">
            <a:tbl>
              <a:tblPr/>
              <a:tblGrid>
                <a:gridCol w="753109"/>
              </a:tblGrid>
              <a:tr h="18091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29" name="picture 5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33659" y="2119883"/>
            <a:ext cx="734568" cy="1799844"/>
          </a:xfrm>
          <a:prstGeom prst="rect">
            <a:avLst/>
          </a:prstGeom>
        </p:spPr>
      </p:pic>
      <p:grpSp>
        <p:nvGrpSpPr>
          <p:cNvPr id="186" name="group 186"/>
          <p:cNvGrpSpPr/>
          <p:nvPr/>
        </p:nvGrpSpPr>
        <p:grpSpPr>
          <a:xfrm rot="21600000">
            <a:off x="9288589" y="2694432"/>
            <a:ext cx="702754" cy="1214627"/>
            <a:chOff x="0" y="0"/>
            <a:chExt cx="702754" cy="1214627"/>
          </a:xfrm>
        </p:grpSpPr>
        <p:sp>
          <p:nvSpPr>
            <p:cNvPr id="530" name="path"/>
            <p:cNvSpPr/>
            <p:nvPr/>
          </p:nvSpPr>
          <p:spPr>
            <a:xfrm>
              <a:off x="4762" y="0"/>
              <a:ext cx="697992" cy="1214627"/>
            </a:xfrm>
            <a:custGeom>
              <a:avLst/>
              <a:gdLst/>
              <a:ahLst/>
              <a:cxnLst/>
              <a:rect l="0" t="0" r="0" b="0"/>
              <a:pathLst>
                <a:path w="1099" h="1912">
                  <a:moveTo>
                    <a:pt x="0" y="541"/>
                  </a:moveTo>
                  <a:lnTo>
                    <a:pt x="555" y="541"/>
                  </a:lnTo>
                  <a:lnTo>
                    <a:pt x="555" y="0"/>
                  </a:lnTo>
                  <a:lnTo>
                    <a:pt x="1099" y="956"/>
                  </a:lnTo>
                  <a:lnTo>
                    <a:pt x="555" y="1912"/>
                  </a:lnTo>
                  <a:lnTo>
                    <a:pt x="555" y="1370"/>
                  </a:lnTo>
                  <a:lnTo>
                    <a:pt x="0" y="1370"/>
                  </a:lnTo>
                  <a:lnTo>
                    <a:pt x="0" y="541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31" name="path"/>
            <p:cNvSpPr/>
            <p:nvPr/>
          </p:nvSpPr>
          <p:spPr>
            <a:xfrm>
              <a:off x="0" y="0"/>
              <a:ext cx="361950" cy="1214627"/>
            </a:xfrm>
            <a:custGeom>
              <a:avLst/>
              <a:gdLst/>
              <a:ahLst/>
              <a:cxnLst/>
              <a:rect l="0" t="0" r="0" b="0"/>
              <a:pathLst>
                <a:path w="570" h="1912">
                  <a:moveTo>
                    <a:pt x="7" y="541"/>
                  </a:moveTo>
                  <a:lnTo>
                    <a:pt x="562" y="541"/>
                  </a:lnTo>
                  <a:lnTo>
                    <a:pt x="562" y="0"/>
                  </a:lnTo>
                  <a:moveTo>
                    <a:pt x="562" y="1912"/>
                  </a:moveTo>
                  <a:lnTo>
                    <a:pt x="562" y="1370"/>
                  </a:lnTo>
                  <a:lnTo>
                    <a:pt x="7" y="1370"/>
                  </a:lnTo>
                  <a:lnTo>
                    <a:pt x="7" y="541"/>
                  </a:lnTo>
                  <a:close/>
                </a:path>
              </a:pathLst>
            </a:custGeom>
            <a:noFill/>
            <a:ln w="9525" cap="flat">
              <a:solidFill>
                <a:srgbClr val="366B7E">
                  <a:alpha val="100000"/>
                </a:srgbClr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32" name="textbox 532"/>
          <p:cNvSpPr/>
          <p:nvPr/>
        </p:nvSpPr>
        <p:spPr>
          <a:xfrm>
            <a:off x="5490185" y="1659788"/>
            <a:ext cx="2357120" cy="3822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400" spc="-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</a:t>
            </a:r>
            <a:r>
              <a:rPr sz="2400" spc="-2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sz="2400" spc="-30" dirty="0"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流程销售管道</a:t>
            </a:r>
            <a:endParaRPr lang="en-US" altLang="en-US" sz="2400" dirty="0"/>
          </a:p>
        </p:txBody>
      </p:sp>
      <p:pic>
        <p:nvPicPr>
          <p:cNvPr id="533" name="picture 5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219944" y="3483864"/>
            <a:ext cx="760476" cy="993648"/>
          </a:xfrm>
          <a:prstGeom prst="rect">
            <a:avLst/>
          </a:prstGeom>
        </p:spPr>
      </p:pic>
      <p:sp>
        <p:nvSpPr>
          <p:cNvPr id="534" name="path"/>
          <p:cNvSpPr/>
          <p:nvPr/>
        </p:nvSpPr>
        <p:spPr>
          <a:xfrm>
            <a:off x="9641637" y="2692076"/>
            <a:ext cx="353845" cy="1219338"/>
          </a:xfrm>
          <a:custGeom>
            <a:avLst/>
            <a:gdLst/>
            <a:ahLst/>
            <a:cxnLst/>
            <a:rect l="0" t="0" r="0" b="0"/>
            <a:pathLst>
              <a:path w="557" h="1920">
                <a:moveTo>
                  <a:pt x="6" y="3"/>
                </a:moveTo>
                <a:lnTo>
                  <a:pt x="550" y="960"/>
                </a:lnTo>
                <a:lnTo>
                  <a:pt x="6" y="1916"/>
                </a:lnTo>
              </a:path>
            </a:pathLst>
          </a:custGeom>
          <a:noFill/>
          <a:ln w="9525" cap="flat">
            <a:solidFill>
              <a:srgbClr val="366B7E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5" name="textbox 535"/>
          <p:cNvSpPr/>
          <p:nvPr/>
        </p:nvSpPr>
        <p:spPr>
          <a:xfrm>
            <a:off x="4042983" y="2581915"/>
            <a:ext cx="246379" cy="1660525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500" spc="1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机会点申报及评</a:t>
            </a:r>
            <a:r>
              <a:rPr sz="150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</a:t>
            </a:r>
            <a:endParaRPr lang="en-US" altLang="en-US" sz="1500" dirty="0"/>
          </a:p>
        </p:txBody>
      </p:sp>
      <p:sp>
        <p:nvSpPr>
          <p:cNvPr id="536" name="textbox 536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38" name="textbox 538"/>
          <p:cNvSpPr/>
          <p:nvPr/>
        </p:nvSpPr>
        <p:spPr>
          <a:xfrm>
            <a:off x="7127840" y="2751969"/>
            <a:ext cx="247015" cy="1256664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500" spc="1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引导客户阶</a:t>
            </a:r>
            <a:r>
              <a:rPr sz="1500" spc="9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</a:t>
            </a:r>
            <a:endParaRPr lang="en-US" altLang="en-US" sz="1500" dirty="0"/>
          </a:p>
        </p:txBody>
      </p:sp>
      <p:graphicFrame>
        <p:nvGraphicFramePr>
          <p:cNvPr id="539" name="table 539"/>
          <p:cNvGraphicFramePr>
            <a:graphicFrameLocks noGrp="1"/>
          </p:cNvGraphicFramePr>
          <p:nvPr/>
        </p:nvGraphicFramePr>
        <p:xfrm>
          <a:off x="4747069" y="2418397"/>
          <a:ext cx="641350" cy="368934"/>
        </p:xfrm>
        <a:graphic>
          <a:graphicData uri="http://schemas.openxmlformats.org/drawingml/2006/table">
            <a:tbl>
              <a:tblPr/>
              <a:tblGrid>
                <a:gridCol w="641350"/>
              </a:tblGrid>
              <a:tr h="359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40" name="table 540"/>
          <p:cNvGraphicFramePr>
            <a:graphicFrameLocks noGrp="1"/>
          </p:cNvGraphicFramePr>
          <p:nvPr/>
        </p:nvGraphicFramePr>
        <p:xfrm>
          <a:off x="4747069" y="3812857"/>
          <a:ext cx="641350" cy="368935"/>
        </p:xfrm>
        <a:graphic>
          <a:graphicData uri="http://schemas.openxmlformats.org/drawingml/2006/table">
            <a:tbl>
              <a:tblPr/>
              <a:tblGrid>
                <a:gridCol w="641350"/>
              </a:tblGrid>
              <a:tr h="3594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6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1" name="rect"/>
          <p:cNvSpPr/>
          <p:nvPr/>
        </p:nvSpPr>
        <p:spPr>
          <a:xfrm>
            <a:off x="4751832" y="2423160"/>
            <a:ext cx="632459" cy="359664"/>
          </a:xfrm>
          <a:prstGeom prst="rect">
            <a:avLst/>
          </a:prstGeom>
          <a:solidFill>
            <a:srgbClr val="B2D2D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2" name="rect"/>
          <p:cNvSpPr/>
          <p:nvPr/>
        </p:nvSpPr>
        <p:spPr>
          <a:xfrm>
            <a:off x="4751832" y="3817620"/>
            <a:ext cx="632459" cy="359663"/>
          </a:xfrm>
          <a:prstGeom prst="rect">
            <a:avLst/>
          </a:prstGeom>
          <a:solidFill>
            <a:srgbClr val="B2D2D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3" name="textbox 543"/>
          <p:cNvSpPr/>
          <p:nvPr/>
        </p:nvSpPr>
        <p:spPr>
          <a:xfrm>
            <a:off x="3227832" y="3118103"/>
            <a:ext cx="632459" cy="385445"/>
          </a:xfrm>
          <a:prstGeom prst="rect">
            <a:avLst/>
          </a:prstGeom>
          <a:solidFill>
            <a:srgbClr val="B2D2DE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600" dirty="0"/>
          </a:p>
          <a:p>
            <a:pPr marL="5080" algn="l" rtl="0" eaLnBrk="0">
              <a:lnSpc>
                <a:spcPct val="99000"/>
              </a:lnSpc>
              <a:spcBef>
                <a:spcPts val="0"/>
              </a:spcBef>
            </a:pP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 索</a:t>
            </a:r>
            <a:endParaRPr lang="en-US" altLang="en-US" sz="1800" dirty="0"/>
          </a:p>
        </p:txBody>
      </p:sp>
      <p:sp>
        <p:nvSpPr>
          <p:cNvPr id="544" name="rect"/>
          <p:cNvSpPr/>
          <p:nvPr/>
        </p:nvSpPr>
        <p:spPr>
          <a:xfrm>
            <a:off x="82296" y="115823"/>
            <a:ext cx="298704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5" name="textbox 545"/>
          <p:cNvSpPr/>
          <p:nvPr/>
        </p:nvSpPr>
        <p:spPr>
          <a:xfrm>
            <a:off x="6423202" y="3196234"/>
            <a:ext cx="47688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18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</a:t>
            </a:r>
            <a:r>
              <a:rPr sz="1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en-US" altLang="en-US" sz="1800" dirty="0"/>
          </a:p>
        </p:txBody>
      </p:sp>
      <p:sp>
        <p:nvSpPr>
          <p:cNvPr id="546" name="textbox 546"/>
          <p:cNvSpPr/>
          <p:nvPr/>
        </p:nvSpPr>
        <p:spPr>
          <a:xfrm>
            <a:off x="10398942" y="1636579"/>
            <a:ext cx="480059" cy="2946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现金</a:t>
            </a:r>
            <a:endParaRPr lang="en-US" altLang="en-US" sz="1800" dirty="0"/>
          </a:p>
        </p:txBody>
      </p:sp>
      <p:sp>
        <p:nvSpPr>
          <p:cNvPr id="547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8" name="rect"/>
          <p:cNvSpPr/>
          <p:nvPr/>
        </p:nvSpPr>
        <p:spPr>
          <a:xfrm>
            <a:off x="0" y="115823"/>
            <a:ext cx="64007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9" name="table 549"/>
          <p:cNvGraphicFramePr>
            <a:graphicFrameLocks noGrp="1"/>
          </p:cNvGraphicFramePr>
          <p:nvPr/>
        </p:nvGraphicFramePr>
        <p:xfrm>
          <a:off x="6618731" y="1444625"/>
          <a:ext cx="4957445" cy="4464050"/>
        </p:xfrm>
        <a:graphic>
          <a:graphicData uri="http://schemas.openxmlformats.org/drawingml/2006/table">
            <a:tbl>
              <a:tblPr/>
              <a:tblGrid>
                <a:gridCol w="1071880"/>
                <a:gridCol w="2482214"/>
                <a:gridCol w="191770"/>
                <a:gridCol w="1211580"/>
              </a:tblGrid>
              <a:tr h="6419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lang="en-US" altLang="en-US" sz="1000" dirty="0"/>
                    </a:p>
                    <a:p>
                      <a:pPr marL="121285" algn="l" rtl="0" eaLnBrk="0">
                        <a:lnSpc>
                          <a:spcPct val="97000"/>
                        </a:lnSpc>
                      </a:pPr>
                      <a:r>
                        <a:rPr sz="18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线索</a:t>
                      </a:r>
                      <a:r>
                        <a:rPr sz="18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分类</a:t>
                      </a:r>
                      <a:endParaRPr lang="en-US" altLang="en-US" sz="1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986790" algn="l" rtl="0" eaLnBrk="0">
                        <a:lnSpc>
                          <a:spcPct val="98000"/>
                        </a:lnSpc>
                      </a:pPr>
                      <a:r>
                        <a:rPr sz="18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特点</a:t>
                      </a:r>
                      <a:endParaRPr lang="en-US" altLang="en-US" sz="1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1000" dirty="0"/>
                    </a:p>
                    <a:p>
                      <a:pPr marL="48196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对策</a:t>
                      </a:r>
                      <a:endParaRPr lang="en-US" altLang="en-US" sz="1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49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121920" algn="l" rtl="0" eaLnBrk="0">
                        <a:lnSpc>
                          <a:spcPct val="97000"/>
                        </a:lnSpc>
                      </a:pPr>
                      <a:r>
                        <a:rPr sz="1800" spc="-10" dirty="0">
                          <a:ln w="3175" cap="flat" cmpd="sng">
                            <a:solidFill>
                              <a:srgbClr val="0000E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E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冷线</a:t>
                      </a:r>
                      <a:r>
                        <a:rPr sz="1800" spc="0" dirty="0">
                          <a:ln w="3175" cap="flat" cmpd="sng">
                            <a:solidFill>
                              <a:srgbClr val="0000E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E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索</a:t>
                      </a:r>
                      <a:endParaRPr lang="en-US" altLang="en-US" sz="1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marL="45085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客户需求迫切性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较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</a:t>
                      </a:r>
                      <a:endParaRPr lang="en-US" altLang="en-US" sz="1200" dirty="0"/>
                    </a:p>
                    <a:p>
                      <a:pPr marL="45085" algn="l" rtl="0" eaLnBrk="0">
                        <a:lnSpc>
                          <a:spcPts val="1505"/>
                        </a:lnSpc>
                        <a:spcBef>
                          <a:spcPts val="60"/>
                        </a:spcBef>
                      </a:pP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没有成熟的设计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案</a:t>
                      </a:r>
                      <a:endParaRPr lang="en-US" altLang="en-US" sz="1200" dirty="0"/>
                    </a:p>
                    <a:p>
                      <a:pPr marL="45085" algn="l" rtl="0" eaLnBrk="0">
                        <a:lnSpc>
                          <a:spcPts val="1500"/>
                        </a:lnSpc>
                        <a:spcBef>
                          <a:spcPts val="55"/>
                        </a:spcBef>
                      </a:pP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客户内部意见有较大分</a:t>
                      </a:r>
                      <a:r>
                        <a:rPr sz="12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歧</a:t>
                      </a:r>
                      <a:endParaRPr lang="en-US" altLang="en-US" sz="1200" dirty="0"/>
                    </a:p>
                    <a:p>
                      <a:pPr marL="222885" indent="-177800" algn="l" rtl="0" eaLnBrk="0">
                        <a:lnSpc>
                          <a:spcPct val="106000"/>
                        </a:lnSpc>
                        <a:spcBef>
                          <a:spcPts val="75"/>
                        </a:spcBef>
                      </a:pP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6个月或更长时间内不会</a:t>
                      </a:r>
                      <a:r>
                        <a:rPr sz="12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进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</a:t>
                      </a: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入执行采购程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序</a:t>
                      </a:r>
                      <a:endParaRPr lang="en-US" altLang="en-US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marL="192405" indent="1270" algn="l" rtl="0" eaLnBrk="0">
                        <a:lnSpc>
                          <a:spcPct val="103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注、定期      </a:t>
                      </a:r>
                      <a:r>
                        <a:rPr sz="140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交流，松土</a:t>
                      </a:r>
                      <a:r>
                        <a:rPr sz="14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</a:t>
                      </a: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培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育</a:t>
                      </a:r>
                      <a:endParaRPr lang="en-US" altLang="en-US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79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lang="en-US" altLang="en-US" sz="100" dirty="0"/>
                    </a:p>
                    <a:p>
                      <a:pPr marL="121920" algn="l" rtl="0" eaLnBrk="0">
                        <a:lnSpc>
                          <a:spcPct val="98000"/>
                        </a:lnSpc>
                      </a:pPr>
                      <a:r>
                        <a:rPr sz="1800" spc="-10" dirty="0">
                          <a:ln w="3175" cap="flat" cmpd="sng">
                            <a:solidFill>
                              <a:srgbClr val="DAAB9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DAAB9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温线</a:t>
                      </a:r>
                      <a:r>
                        <a:rPr sz="1800" spc="0" dirty="0">
                          <a:ln w="3175" cap="flat" cmpd="sng">
                            <a:solidFill>
                              <a:srgbClr val="DAAB9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DAAB9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索</a:t>
                      </a:r>
                      <a:endParaRPr lang="en-US" altLang="en-US" sz="1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marL="45085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客户有一定的需求迫切</a:t>
                      </a:r>
                      <a:r>
                        <a:rPr sz="12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性</a:t>
                      </a:r>
                      <a:endParaRPr lang="en-US" altLang="en-US" sz="1200" dirty="0"/>
                    </a:p>
                    <a:p>
                      <a:pPr marL="45085" algn="l" rtl="0" eaLnBrk="0">
                        <a:lnSpc>
                          <a:spcPts val="1505"/>
                        </a:lnSpc>
                        <a:spcBef>
                          <a:spcPts val="60"/>
                        </a:spcBef>
                      </a:pP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解决方案趋于</a:t>
                      </a:r>
                      <a:r>
                        <a:rPr sz="12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善</a:t>
                      </a:r>
                      <a:endParaRPr lang="en-US" altLang="en-US" sz="1200" dirty="0"/>
                    </a:p>
                    <a:p>
                      <a:pPr marL="224155" indent="-179070" algn="l" rtl="0" eaLnBrk="0">
                        <a:lnSpc>
                          <a:spcPct val="107000"/>
                        </a:lnSpc>
                        <a:spcBef>
                          <a:spcPts val="40"/>
                        </a:spcBef>
                      </a:pP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客户持续关注和讨论，内</a:t>
                      </a: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</a:t>
                      </a: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意见趋于一</a:t>
                      </a:r>
                      <a:r>
                        <a:rPr sz="12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致</a:t>
                      </a:r>
                      <a:endParaRPr lang="en-US" altLang="en-US" sz="1200" dirty="0"/>
                    </a:p>
                    <a:p>
                      <a:pPr marL="45085" algn="l" rtl="0" eaLnBrk="0">
                        <a:lnSpc>
                          <a:spcPts val="1650"/>
                        </a:lnSpc>
                        <a:spcBef>
                          <a:spcPts val="55"/>
                        </a:spcBef>
                      </a:pP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3-6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内会进入执行采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购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程序</a:t>
                      </a:r>
                      <a:endParaRPr lang="en-US" altLang="en-US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lang="en-US" altLang="en-US" sz="1000" dirty="0"/>
                    </a:p>
                    <a:p>
                      <a:pPr marL="313690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强化培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育</a:t>
                      </a:r>
                      <a:endParaRPr lang="en-US" altLang="en-US" sz="1400" dirty="0"/>
                    </a:p>
                    <a:p>
                      <a:pPr marL="309880" algn="l" rtl="0" eaLnBrk="0">
                        <a:lnSpc>
                          <a:spcPts val="1680"/>
                        </a:lnSpc>
                      </a:pPr>
                      <a:r>
                        <a:rPr sz="130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和引导</a:t>
                      </a:r>
                      <a:r>
                        <a:rPr sz="130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en-US" altLang="en-US" sz="1300" dirty="0"/>
                    </a:p>
                    <a:p>
                      <a:pPr marL="307975" algn="l" rtl="0" eaLnBrk="0">
                        <a:lnSpc>
                          <a:spcPct val="100000"/>
                        </a:lnSpc>
                      </a:pPr>
                      <a:r>
                        <a:rPr sz="14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大跟踪</a:t>
                      </a:r>
                      <a:endParaRPr lang="en-US" altLang="en-US" sz="1400" dirty="0"/>
                    </a:p>
                    <a:p>
                      <a:pPr marL="311150" algn="l" rtl="0" eaLnBrk="0">
                        <a:lnSpc>
                          <a:spcPts val="1825"/>
                        </a:lnSpc>
                      </a:pP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力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</a:t>
                      </a:r>
                      <a:endParaRPr lang="en-US" altLang="en-US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92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marL="123190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800" spc="-1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热线索</a:t>
                      </a:r>
                      <a:endParaRPr lang="en-US" altLang="en-US" sz="1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700" dirty="0"/>
                    </a:p>
                    <a:p>
                      <a:pPr marL="45085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客户需求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急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迫</a:t>
                      </a:r>
                      <a:endParaRPr lang="en-US" altLang="en-US" sz="1200" dirty="0"/>
                    </a:p>
                    <a:p>
                      <a:pPr marL="221615" indent="-176530" algn="l" rtl="0" eaLnBrk="0">
                        <a:lnSpc>
                          <a:spcPct val="106000"/>
                        </a:lnSpc>
                        <a:spcBef>
                          <a:spcPts val="65"/>
                        </a:spcBef>
                      </a:pP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有成熟的方案及产品且高度</a:t>
                      </a:r>
                      <a:r>
                        <a:rPr sz="12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   </a:t>
                      </a: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客户需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求</a:t>
                      </a:r>
                      <a:endParaRPr lang="en-US" altLang="en-US" sz="1200" dirty="0"/>
                    </a:p>
                    <a:p>
                      <a:pPr marL="224155" indent="-179070" algn="l" rtl="0" eaLnBrk="0">
                        <a:lnSpc>
                          <a:spcPct val="106000"/>
                        </a:lnSpc>
                        <a:spcBef>
                          <a:spcPts val="75"/>
                        </a:spcBef>
                      </a:pP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客户短期收益很高且明确客</a:t>
                      </a:r>
                      <a:r>
                        <a:rPr sz="12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户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   </a:t>
                      </a: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部已达成一致意</a:t>
                      </a:r>
                      <a:r>
                        <a:rPr sz="12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见</a:t>
                      </a:r>
                      <a:endParaRPr lang="en-US" altLang="en-US" sz="1200" dirty="0"/>
                    </a:p>
                    <a:p>
                      <a:pPr marL="45085" algn="l" rtl="0" eaLnBrk="0">
                        <a:lnSpc>
                          <a:spcPts val="1505"/>
                        </a:lnSpc>
                        <a:spcBef>
                          <a:spcPts val="55"/>
                        </a:spcBef>
                      </a:pP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即将或已经进入执行采购</a:t>
                      </a: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序</a:t>
                      </a:r>
                      <a:endParaRPr lang="en-US" altLang="en-US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48000"/>
                        </a:lnSpc>
                      </a:pPr>
                      <a:endParaRPr lang="en-US" altLang="en-US" sz="1000" dirty="0"/>
                    </a:p>
                    <a:p>
                      <a:pPr marL="152400" indent="2540" algn="l" rtl="0" eaLnBrk="0">
                        <a:lnSpc>
                          <a:spcPct val="104000"/>
                        </a:lnSpc>
                        <a:spcBef>
                          <a:spcPts val="0"/>
                        </a:spcBef>
                      </a:pP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立即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转化为   </a:t>
                      </a: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机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会点</a:t>
                      </a:r>
                      <a:endParaRPr lang="en-US" altLang="en-US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88" name="group 188"/>
          <p:cNvGrpSpPr/>
          <p:nvPr/>
        </p:nvGrpSpPr>
        <p:grpSpPr>
          <a:xfrm rot="21600000">
            <a:off x="473963" y="1447800"/>
            <a:ext cx="5803391" cy="2031491"/>
            <a:chOff x="0" y="0"/>
            <a:chExt cx="5803391" cy="2031491"/>
          </a:xfrm>
        </p:grpSpPr>
        <p:sp>
          <p:nvSpPr>
            <p:cNvPr id="550" name="path"/>
            <p:cNvSpPr/>
            <p:nvPr/>
          </p:nvSpPr>
          <p:spPr>
            <a:xfrm>
              <a:off x="0" y="0"/>
              <a:ext cx="5803391" cy="2031491"/>
            </a:xfrm>
            <a:custGeom>
              <a:avLst/>
              <a:gdLst/>
              <a:ahLst/>
              <a:cxnLst/>
              <a:rect l="0" t="0" r="0" b="0"/>
              <a:pathLst>
                <a:path w="9139" h="3199">
                  <a:moveTo>
                    <a:pt x="0" y="0"/>
                  </a:moveTo>
                  <a:lnTo>
                    <a:pt x="8242" y="0"/>
                  </a:lnTo>
                  <a:lnTo>
                    <a:pt x="9139" y="1599"/>
                  </a:lnTo>
                  <a:lnTo>
                    <a:pt x="8242" y="3199"/>
                  </a:lnTo>
                  <a:lnTo>
                    <a:pt x="0" y="3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E6F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1" name="path"/>
            <p:cNvSpPr/>
            <p:nvPr/>
          </p:nvSpPr>
          <p:spPr>
            <a:xfrm>
              <a:off x="41148" y="466344"/>
              <a:ext cx="5533643" cy="1449323"/>
            </a:xfrm>
            <a:custGeom>
              <a:avLst/>
              <a:gdLst/>
              <a:ahLst/>
              <a:cxnLst/>
              <a:rect l="0" t="0" r="0" b="0"/>
              <a:pathLst>
                <a:path w="8714" h="2282">
                  <a:moveTo>
                    <a:pt x="0" y="0"/>
                  </a:moveTo>
                  <a:lnTo>
                    <a:pt x="2623" y="0"/>
                  </a:lnTo>
                  <a:lnTo>
                    <a:pt x="3098" y="1141"/>
                  </a:lnTo>
                  <a:lnTo>
                    <a:pt x="2623" y="2282"/>
                  </a:lnTo>
                  <a:lnTo>
                    <a:pt x="0" y="2282"/>
                  </a:lnTo>
                  <a:lnTo>
                    <a:pt x="474" y="1141"/>
                  </a:lnTo>
                  <a:lnTo>
                    <a:pt x="0" y="0"/>
                  </a:lnTo>
                  <a:close/>
                </a:path>
                <a:path w="8714" h="2282">
                  <a:moveTo>
                    <a:pt x="2812" y="0"/>
                  </a:moveTo>
                  <a:lnTo>
                    <a:pt x="5436" y="0"/>
                  </a:lnTo>
                  <a:lnTo>
                    <a:pt x="5911" y="1141"/>
                  </a:lnTo>
                  <a:lnTo>
                    <a:pt x="5436" y="2282"/>
                  </a:lnTo>
                  <a:lnTo>
                    <a:pt x="2812" y="2282"/>
                  </a:lnTo>
                  <a:lnTo>
                    <a:pt x="3287" y="1141"/>
                  </a:lnTo>
                  <a:lnTo>
                    <a:pt x="2812" y="0"/>
                  </a:lnTo>
                  <a:close/>
                </a:path>
                <a:path w="8714" h="2282">
                  <a:moveTo>
                    <a:pt x="5615" y="0"/>
                  </a:moveTo>
                  <a:lnTo>
                    <a:pt x="8240" y="0"/>
                  </a:lnTo>
                  <a:lnTo>
                    <a:pt x="8714" y="1141"/>
                  </a:lnTo>
                  <a:lnTo>
                    <a:pt x="8240" y="2282"/>
                  </a:lnTo>
                  <a:lnTo>
                    <a:pt x="5615" y="2282"/>
                  </a:lnTo>
                  <a:lnTo>
                    <a:pt x="6090" y="1141"/>
                  </a:lnTo>
                  <a:lnTo>
                    <a:pt x="561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2" name="textbox 552"/>
            <p:cNvSpPr/>
            <p:nvPr/>
          </p:nvSpPr>
          <p:spPr>
            <a:xfrm>
              <a:off x="2071965" y="89757"/>
              <a:ext cx="1381760" cy="165353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lang="en-US" altLang="en-US" sz="100" dirty="0"/>
            </a:p>
            <a:p>
              <a:pPr marL="142240" algn="l" rtl="0" eaLnBrk="0">
                <a:lnSpc>
                  <a:spcPct val="98000"/>
                </a:lnSpc>
              </a:pPr>
              <a:r>
                <a:rPr sz="2000" spc="-1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管理</a:t>
              </a:r>
              <a:r>
                <a:rPr sz="2000" spc="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线索</a:t>
              </a:r>
              <a:endParaRPr lang="en-US" altLang="en-US" sz="2000" dirty="0"/>
            </a:p>
            <a:p>
              <a:pPr algn="l" rtl="0" eaLnBrk="0">
                <a:lnSpc>
                  <a:spcPct val="115000"/>
                </a:lnSpc>
              </a:pPr>
              <a:endParaRPr lang="en-US" altLang="en-US" sz="1000" dirty="0"/>
            </a:p>
            <a:p>
              <a:pPr marL="121920" algn="l" rtl="0" eaLnBrk="0">
                <a:lnSpc>
                  <a:spcPct val="98000"/>
                </a:lnSpc>
                <a:spcBef>
                  <a:spcPts val="425"/>
                </a:spcBef>
              </a:pPr>
              <a:r>
                <a:rPr sz="1400" spc="1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验</a:t>
              </a:r>
              <a:r>
                <a:rPr sz="1400" spc="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证和分发线索</a:t>
              </a:r>
              <a:endParaRPr lang="en-US" altLang="en-US" sz="1400" dirty="0"/>
            </a:p>
            <a:p>
              <a:pPr marL="12700" algn="l" rtl="0" eaLnBrk="0">
                <a:lnSpc>
                  <a:spcPts val="1520"/>
                </a:lnSpc>
                <a:spcBef>
                  <a:spcPts val="825"/>
                </a:spcBef>
              </a:pPr>
              <a:r>
                <a:rPr sz="120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120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验证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索</a:t>
              </a:r>
              <a:endParaRPr lang="en-US" altLang="en-US" sz="1200" dirty="0"/>
            </a:p>
            <a:p>
              <a:pPr marL="12700" algn="l" rtl="0" eaLnBrk="0">
                <a:lnSpc>
                  <a:spcPts val="1510"/>
                </a:lnSpc>
                <a:spcBef>
                  <a:spcPts val="815"/>
                </a:spcBef>
              </a:pPr>
              <a:r>
                <a:rPr sz="120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120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筛选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索</a:t>
              </a:r>
              <a:endParaRPr lang="en-US" altLang="en-US" sz="1200" dirty="0"/>
            </a:p>
            <a:p>
              <a:pPr algn="l" rtl="0" eaLnBrk="0">
                <a:lnSpc>
                  <a:spcPct val="116000"/>
                </a:lnSpc>
              </a:pPr>
              <a:endParaRPr lang="en-US" altLang="en-US" sz="600" dirty="0"/>
            </a:p>
            <a:p>
              <a:pPr marL="12700" algn="l" rtl="0" eaLnBrk="0">
                <a:lnSpc>
                  <a:spcPts val="1500"/>
                </a:lnSpc>
                <a:spcBef>
                  <a:spcPts val="0"/>
                </a:spcBef>
              </a:pP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120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明确线</a:t>
              </a:r>
              <a:r>
                <a:rPr sz="120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索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Owner</a:t>
              </a:r>
              <a:endParaRPr lang="en-US" altLang="en-US" sz="1200" dirty="0"/>
            </a:p>
          </p:txBody>
        </p:sp>
      </p:grpSp>
      <p:grpSp>
        <p:nvGrpSpPr>
          <p:cNvPr id="190" name="group 190"/>
          <p:cNvGrpSpPr/>
          <p:nvPr/>
        </p:nvGrpSpPr>
        <p:grpSpPr>
          <a:xfrm rot="21600000">
            <a:off x="3369563" y="4346435"/>
            <a:ext cx="2732532" cy="1574304"/>
            <a:chOff x="0" y="0"/>
            <a:chExt cx="2732532" cy="1574304"/>
          </a:xfrm>
        </p:grpSpPr>
        <p:pic>
          <p:nvPicPr>
            <p:cNvPr id="553" name="picture 55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32532" cy="1574304"/>
            </a:xfrm>
            <a:prstGeom prst="rect">
              <a:avLst/>
            </a:prstGeom>
          </p:spPr>
        </p:pic>
        <p:sp>
          <p:nvSpPr>
            <p:cNvPr id="554" name="textbox 554"/>
            <p:cNvSpPr/>
            <p:nvPr/>
          </p:nvSpPr>
          <p:spPr>
            <a:xfrm>
              <a:off x="-12700" y="-12700"/>
              <a:ext cx="2758439" cy="161543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lang="en-US" altLang="en-US" sz="600" dirty="0"/>
            </a:p>
            <a:p>
              <a:pPr marL="732155" algn="l" rtl="0" eaLnBrk="0">
                <a:lnSpc>
                  <a:spcPct val="97000"/>
                </a:lnSpc>
                <a:spcBef>
                  <a:spcPts val="5"/>
                </a:spcBef>
              </a:pPr>
              <a:r>
                <a:rPr sz="14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机会点评判标准</a:t>
              </a:r>
              <a:endParaRPr lang="en-US" altLang="en-US" sz="14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1000" dirty="0"/>
            </a:p>
            <a:p>
              <a:pPr marL="113030" algn="l" rtl="0" eaLnBrk="0">
                <a:lnSpc>
                  <a:spcPts val="1500"/>
                </a:lnSpc>
                <a:spcBef>
                  <a:spcPts val="360"/>
                </a:spcBef>
              </a:pP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客户已进入执行购买流</a:t>
              </a:r>
              <a:r>
                <a:rPr sz="12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程</a:t>
              </a:r>
              <a:endParaRPr lang="en-US" altLang="en-US" sz="1200" dirty="0"/>
            </a:p>
            <a:p>
              <a:pPr marL="113030" algn="l" rtl="0" eaLnBrk="0">
                <a:lnSpc>
                  <a:spcPts val="1500"/>
                </a:lnSpc>
                <a:spcBef>
                  <a:spcPts val="840"/>
                </a:spcBef>
              </a:pP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120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客户有明确的投资计划与</a:t>
              </a:r>
              <a:r>
                <a:rPr sz="12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算</a:t>
              </a:r>
              <a:endParaRPr lang="en-US" altLang="en-US" sz="1200" dirty="0"/>
            </a:p>
            <a:p>
              <a:pPr algn="l" rtl="0" eaLnBrk="0">
                <a:lnSpc>
                  <a:spcPct val="100000"/>
                </a:lnSpc>
              </a:pPr>
              <a:endParaRPr lang="en-US" altLang="en-US" sz="700" dirty="0"/>
            </a:p>
            <a:p>
              <a:pPr marL="113030" algn="l" rtl="0" eaLnBrk="0">
                <a:lnSpc>
                  <a:spcPts val="1500"/>
                </a:lnSpc>
                <a:spcBef>
                  <a:spcPts val="5"/>
                </a:spcBef>
              </a:pPr>
              <a:r>
                <a:rPr sz="120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120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我公司可</a:t>
              </a:r>
              <a:r>
                <a:rPr sz="120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</a:t>
              </a:r>
              <a:endParaRPr lang="en-US" altLang="en-US" sz="1200" dirty="0"/>
            </a:p>
          </p:txBody>
        </p:sp>
      </p:grpSp>
      <p:grpSp>
        <p:nvGrpSpPr>
          <p:cNvPr id="192" name="group 192"/>
          <p:cNvGrpSpPr/>
          <p:nvPr/>
        </p:nvGrpSpPr>
        <p:grpSpPr>
          <a:xfrm rot="21600000">
            <a:off x="473963" y="4341863"/>
            <a:ext cx="2563367" cy="1568208"/>
            <a:chOff x="0" y="0"/>
            <a:chExt cx="2563367" cy="1568208"/>
          </a:xfrm>
        </p:grpSpPr>
        <p:pic>
          <p:nvPicPr>
            <p:cNvPr id="555" name="picture 55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563367" cy="1568208"/>
            </a:xfrm>
            <a:prstGeom prst="rect">
              <a:avLst/>
            </a:prstGeom>
          </p:spPr>
        </p:pic>
        <p:sp>
          <p:nvSpPr>
            <p:cNvPr id="556" name="textbox 556"/>
            <p:cNvSpPr/>
            <p:nvPr/>
          </p:nvSpPr>
          <p:spPr>
            <a:xfrm>
              <a:off x="-12700" y="-12700"/>
              <a:ext cx="2588895" cy="160908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lang="en-US" altLang="en-US" sz="600" dirty="0"/>
            </a:p>
            <a:p>
              <a:pPr marL="862965" algn="l" rtl="0" eaLnBrk="0">
                <a:lnSpc>
                  <a:spcPct val="98000"/>
                </a:lnSpc>
                <a:spcBef>
                  <a:spcPts val="0"/>
                </a:spcBef>
              </a:pPr>
              <a:r>
                <a:rPr sz="14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线索评判标准</a:t>
              </a:r>
              <a:endParaRPr lang="en-US" altLang="en-US" sz="1400" dirty="0"/>
            </a:p>
            <a:p>
              <a:pPr algn="l" rtl="0" eaLnBrk="0">
                <a:lnSpc>
                  <a:spcPct val="102000"/>
                </a:lnSpc>
              </a:pPr>
              <a:endParaRPr lang="en-US" altLang="en-US" sz="1000" dirty="0"/>
            </a:p>
            <a:p>
              <a:pPr marL="112395" algn="l" rtl="0" eaLnBrk="0">
                <a:lnSpc>
                  <a:spcPts val="1500"/>
                </a:lnSpc>
                <a:spcBef>
                  <a:spcPts val="370"/>
                </a:spcBef>
              </a:pPr>
              <a:r>
                <a:rPr sz="120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120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特定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</a:t>
              </a:r>
              <a:r>
                <a:rPr sz="12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户</a:t>
              </a:r>
              <a:endParaRPr lang="en-US" altLang="en-US" sz="1200" dirty="0"/>
            </a:p>
            <a:p>
              <a:pPr marL="112395" algn="l" rtl="0" eaLnBrk="0">
                <a:lnSpc>
                  <a:spcPts val="1500"/>
                </a:lnSpc>
                <a:spcBef>
                  <a:spcPts val="840"/>
                </a:spcBef>
              </a:pP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客户具备潜在的购买意</a:t>
              </a:r>
              <a:r>
                <a:rPr sz="120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愿</a:t>
              </a:r>
              <a:endParaRPr lang="en-US" altLang="en-US" sz="1200" dirty="0"/>
            </a:p>
            <a:p>
              <a:pPr algn="l" rtl="0" eaLnBrk="0">
                <a:lnSpc>
                  <a:spcPct val="116000"/>
                </a:lnSpc>
              </a:pPr>
              <a:endParaRPr lang="en-US" altLang="en-US" sz="600" dirty="0"/>
            </a:p>
            <a:p>
              <a:pPr marL="112395" algn="l" rtl="0" eaLnBrk="0">
                <a:lnSpc>
                  <a:spcPts val="1505"/>
                </a:lnSpc>
                <a:spcBef>
                  <a:spcPts val="5"/>
                </a:spcBef>
              </a:pP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120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我公司具有潜在的参与可</a:t>
              </a:r>
              <a:r>
                <a:rPr sz="120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</a:t>
              </a:r>
              <a:endParaRPr lang="en-US" altLang="en-US" sz="1200" dirty="0"/>
            </a:p>
          </p:txBody>
        </p:sp>
      </p:grpSp>
      <p:sp>
        <p:nvSpPr>
          <p:cNvPr id="557" name="textbox 557"/>
          <p:cNvSpPr/>
          <p:nvPr/>
        </p:nvSpPr>
        <p:spPr>
          <a:xfrm>
            <a:off x="587810" y="269576"/>
            <a:ext cx="5505450" cy="438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0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1.2管理线索：线索管理流程和</a:t>
            </a:r>
            <a:r>
              <a:rPr sz="2700" spc="3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endParaRPr lang="en-US" altLang="en-US" sz="2700" dirty="0"/>
          </a:p>
        </p:txBody>
      </p:sp>
      <p:sp>
        <p:nvSpPr>
          <p:cNvPr id="558" name="textbox 558"/>
          <p:cNvSpPr/>
          <p:nvPr/>
        </p:nvSpPr>
        <p:spPr>
          <a:xfrm>
            <a:off x="796732" y="2042915"/>
            <a:ext cx="1339850" cy="1123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80010" algn="l" rtl="0" eaLnBrk="0">
              <a:lnSpc>
                <a:spcPct val="98000"/>
              </a:lnSpc>
            </a:pPr>
            <a:r>
              <a:rPr sz="1400" spc="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</a:t>
            </a:r>
            <a:r>
              <a:rPr sz="14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集和生成线索</a:t>
            </a:r>
            <a:endParaRPr lang="en-US" altLang="en-US" sz="1400" dirty="0"/>
          </a:p>
          <a:p>
            <a:pPr marL="12700" algn="l" rtl="0" eaLnBrk="0">
              <a:lnSpc>
                <a:spcPts val="1510"/>
              </a:lnSpc>
              <a:spcBef>
                <a:spcPts val="825"/>
              </a:spcBef>
            </a:pP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</a:t>
            </a:r>
            <a:r>
              <a:rPr sz="12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息</a:t>
            </a:r>
            <a:endParaRPr lang="en-US" altLang="en-US" sz="1200" dirty="0"/>
          </a:p>
          <a:p>
            <a:pPr marL="12700" algn="l" rtl="0" eaLnBrk="0">
              <a:lnSpc>
                <a:spcPts val="1505"/>
              </a:lnSpc>
              <a:spcBef>
                <a:spcPts val="830"/>
              </a:spcBef>
            </a:pP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r>
              <a:rPr sz="12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息</a:t>
            </a:r>
            <a:endParaRPr lang="en-US" altLang="en-US" sz="1200" dirty="0"/>
          </a:p>
          <a:p>
            <a:pPr algn="l" rtl="0" eaLnBrk="0">
              <a:lnSpc>
                <a:spcPct val="116000"/>
              </a:lnSpc>
            </a:pPr>
            <a:endParaRPr lang="en-US" altLang="en-US" sz="600" dirty="0"/>
          </a:p>
          <a:p>
            <a:pPr marL="12700" algn="l" rtl="0" eaLnBrk="0">
              <a:lnSpc>
                <a:spcPts val="1500"/>
              </a:lnSpc>
              <a:spcBef>
                <a:spcPts val="5"/>
              </a:spcBef>
            </a:pP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形成初步线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</a:t>
            </a:r>
            <a:endParaRPr lang="en-US" altLang="en-US" sz="1200" dirty="0"/>
          </a:p>
        </p:txBody>
      </p:sp>
      <p:sp>
        <p:nvSpPr>
          <p:cNvPr id="559" name="textbox 559"/>
          <p:cNvSpPr/>
          <p:nvPr/>
        </p:nvSpPr>
        <p:spPr>
          <a:xfrm>
            <a:off x="4426926" y="2078475"/>
            <a:ext cx="1294130" cy="8255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36195" algn="l" rtl="0" eaLnBrk="0">
              <a:lnSpc>
                <a:spcPct val="98000"/>
              </a:lnSpc>
            </a:pPr>
            <a:r>
              <a:rPr sz="14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跟踪和培育线索</a:t>
            </a:r>
            <a:endParaRPr lang="en-US" altLang="en-US" sz="1400" dirty="0"/>
          </a:p>
          <a:p>
            <a:pPr marL="12700" algn="l" rtl="0" eaLnBrk="0">
              <a:lnSpc>
                <a:spcPts val="1500"/>
              </a:lnSpc>
              <a:spcBef>
                <a:spcPts val="825"/>
              </a:spcBef>
            </a:pP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</a:t>
            </a:r>
            <a:endParaRPr lang="en-US" altLang="en-US" sz="1200" dirty="0"/>
          </a:p>
          <a:p>
            <a:pPr algn="l" rtl="0" eaLnBrk="0">
              <a:lnSpc>
                <a:spcPct val="100000"/>
              </a:lnSpc>
            </a:pPr>
            <a:endParaRPr lang="en-US" altLang="en-US" sz="700" dirty="0"/>
          </a:p>
          <a:p>
            <a:pPr marL="12700" algn="l" rtl="0" eaLnBrk="0">
              <a:lnSpc>
                <a:spcPts val="1495"/>
              </a:lnSpc>
            </a:pPr>
            <a:r>
              <a:rPr sz="120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移交线</a:t>
            </a:r>
            <a:r>
              <a:rPr sz="12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</a:t>
            </a:r>
            <a:endParaRPr lang="en-US" altLang="en-US" sz="1200" dirty="0"/>
          </a:p>
        </p:txBody>
      </p:sp>
      <p:sp>
        <p:nvSpPr>
          <p:cNvPr id="560" name="textbox 560"/>
          <p:cNvSpPr/>
          <p:nvPr/>
        </p:nvSpPr>
        <p:spPr>
          <a:xfrm>
            <a:off x="1995428" y="3953605"/>
            <a:ext cx="2313939" cy="3219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spc="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r>
              <a:rPr sz="20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索与机会点的差异</a:t>
            </a:r>
            <a:endParaRPr lang="en-US" altLang="en-US" sz="2000" dirty="0"/>
          </a:p>
        </p:txBody>
      </p:sp>
      <p:sp>
        <p:nvSpPr>
          <p:cNvPr id="561" name="textbox 561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63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4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ath"/>
          <p:cNvSpPr/>
          <p:nvPr/>
        </p:nvSpPr>
        <p:spPr>
          <a:xfrm>
            <a:off x="1020826" y="2573782"/>
            <a:ext cx="9459467" cy="3379215"/>
          </a:xfrm>
          <a:custGeom>
            <a:avLst/>
            <a:gdLst/>
            <a:ahLst/>
            <a:cxnLst/>
            <a:rect l="0" t="0" r="0" b="0"/>
            <a:pathLst>
              <a:path w="14896" h="5321">
                <a:moveTo>
                  <a:pt x="893" y="10"/>
                </a:moveTo>
                <a:lnTo>
                  <a:pt x="14896" y="10"/>
                </a:lnTo>
                <a:moveTo>
                  <a:pt x="14896" y="5311"/>
                </a:moveTo>
                <a:lnTo>
                  <a:pt x="893" y="5311"/>
                </a:lnTo>
                <a:moveTo>
                  <a:pt x="10" y="4427"/>
                </a:moveTo>
                <a:lnTo>
                  <a:pt x="10" y="893"/>
                </a:lnTo>
                <a:close/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6" name="textbox 566"/>
          <p:cNvSpPr/>
          <p:nvPr/>
        </p:nvSpPr>
        <p:spPr>
          <a:xfrm>
            <a:off x="1380820" y="1300022"/>
            <a:ext cx="9116694" cy="6807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线索源于客户痛点/期望，管理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线索就是发现、挖掘和分析这些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痛点/期望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，据此推荐我公司</a:t>
            </a:r>
            <a:endParaRPr lang="en-US" altLang="en-US" sz="1800" dirty="0"/>
          </a:p>
          <a:p>
            <a:pPr marL="13335" algn="l" rtl="0" eaLnBrk="0">
              <a:lnSpc>
                <a:spcPts val="3240"/>
              </a:lnSpc>
            </a:pP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可参与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解决构想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，并通过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客户关系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的支撑和运作，最终引导客户形成</a:t>
            </a:r>
            <a:r>
              <a:rPr sz="18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投资计划和预算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800" dirty="0"/>
          </a:p>
        </p:txBody>
      </p:sp>
      <p:sp>
        <p:nvSpPr>
          <p:cNvPr id="567" name="path"/>
          <p:cNvSpPr/>
          <p:nvPr/>
        </p:nvSpPr>
        <p:spPr>
          <a:xfrm>
            <a:off x="1020826" y="5379211"/>
            <a:ext cx="573786" cy="573785"/>
          </a:xfrm>
          <a:custGeom>
            <a:avLst/>
            <a:gdLst/>
            <a:ahLst/>
            <a:cxnLst/>
            <a:rect l="0" t="0" r="0" b="0"/>
            <a:pathLst>
              <a:path w="903" h="903">
                <a:moveTo>
                  <a:pt x="893" y="893"/>
                </a:moveTo>
                <a:cubicBezTo>
                  <a:pt x="405" y="893"/>
                  <a:pt x="10" y="497"/>
                  <a:pt x="10" y="10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8" name="path"/>
          <p:cNvSpPr/>
          <p:nvPr/>
        </p:nvSpPr>
        <p:spPr>
          <a:xfrm>
            <a:off x="10473943" y="5379211"/>
            <a:ext cx="573786" cy="573785"/>
          </a:xfrm>
          <a:custGeom>
            <a:avLst/>
            <a:gdLst/>
            <a:ahLst/>
            <a:cxnLst/>
            <a:rect l="0" t="0" r="0" b="0"/>
            <a:pathLst>
              <a:path w="903" h="903">
                <a:moveTo>
                  <a:pt x="893" y="10"/>
                </a:moveTo>
                <a:cubicBezTo>
                  <a:pt x="893" y="497"/>
                  <a:pt x="498" y="893"/>
                  <a:pt x="10" y="893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9" name="textbox 569"/>
          <p:cNvSpPr/>
          <p:nvPr/>
        </p:nvSpPr>
        <p:spPr>
          <a:xfrm>
            <a:off x="1278636" y="5234940"/>
            <a:ext cx="9470390" cy="556259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900" dirty="0"/>
          </a:p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marL="100965" algn="l" rtl="0" eaLnBrk="0">
              <a:lnSpc>
                <a:spcPct val="97000"/>
              </a:lnSpc>
            </a:pP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重点引导和维系好潜在的投资主导者、关键决策者，  其他关键利益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干系人</a:t>
            </a:r>
            <a:endParaRPr lang="en-US" altLang="en-US" sz="1400" dirty="0"/>
          </a:p>
        </p:txBody>
      </p:sp>
      <p:sp>
        <p:nvSpPr>
          <p:cNvPr id="570" name="textbox 570"/>
          <p:cNvSpPr/>
          <p:nvPr/>
        </p:nvSpPr>
        <p:spPr>
          <a:xfrm>
            <a:off x="4468367" y="3334511"/>
            <a:ext cx="2920364" cy="1227455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lang="en-US" altLang="en-US" sz="900" dirty="0"/>
          </a:p>
          <a:p>
            <a:pPr marL="101600" algn="l" rtl="0" eaLnBrk="0">
              <a:lnSpc>
                <a:spcPct val="98000"/>
              </a:lnSpc>
              <a:spcBef>
                <a:spcPts val="0"/>
              </a:spcBef>
            </a:pP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单产品/组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合产品/解决方案</a:t>
            </a:r>
            <a:endParaRPr lang="en-US" altLang="en-US" sz="1400" dirty="0"/>
          </a:p>
          <a:p>
            <a:pPr marL="101600" algn="l" rtl="0" eaLnBrk="0">
              <a:lnSpc>
                <a:spcPct val="97000"/>
              </a:lnSpc>
              <a:spcBef>
                <a:spcPts val="885"/>
              </a:spcBef>
            </a:pP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与客户痛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/期望的匹配度</a:t>
            </a:r>
            <a:endParaRPr lang="en-US" altLang="en-US" sz="1400" dirty="0"/>
          </a:p>
          <a:p>
            <a:pPr algn="l" rtl="0" eaLnBrk="0">
              <a:lnSpc>
                <a:spcPct val="104000"/>
              </a:lnSpc>
            </a:pPr>
            <a:endParaRPr lang="en-US" altLang="en-US" sz="700" dirty="0"/>
          </a:p>
          <a:p>
            <a:pPr marL="101600" algn="l" rtl="0" eaLnBrk="0">
              <a:lnSpc>
                <a:spcPct val="98000"/>
              </a:lnSpc>
              <a:spcBef>
                <a:spcPts val="5"/>
              </a:spcBef>
            </a:pPr>
            <a:r>
              <a:rPr sz="14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争性</a:t>
            </a:r>
            <a:endParaRPr lang="en-US" altLang="en-US" sz="1400" dirty="0"/>
          </a:p>
        </p:txBody>
      </p:sp>
      <p:sp>
        <p:nvSpPr>
          <p:cNvPr id="571" name="textbox 571"/>
          <p:cNvSpPr/>
          <p:nvPr/>
        </p:nvSpPr>
        <p:spPr>
          <a:xfrm>
            <a:off x="7840980" y="3334511"/>
            <a:ext cx="2920364" cy="1226819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900" dirty="0"/>
          </a:p>
          <a:p>
            <a:pPr marL="101600" algn="l" rtl="0" eaLnBrk="0">
              <a:lnSpc>
                <a:spcPct val="97000"/>
              </a:lnSpc>
              <a:spcBef>
                <a:spcPts val="5"/>
              </a:spcBef>
            </a:pP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可量化的客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户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收益与价值主张</a:t>
            </a:r>
            <a:endParaRPr lang="en-US" altLang="en-US" sz="1400" dirty="0"/>
          </a:p>
          <a:p>
            <a:pPr marL="101600" algn="l" rtl="0" eaLnBrk="0">
              <a:lnSpc>
                <a:spcPct val="98000"/>
              </a:lnSpc>
              <a:spcBef>
                <a:spcPts val="880"/>
              </a:spcBef>
            </a:pP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投资计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</a:t>
            </a:r>
            <a:endParaRPr lang="en-US" altLang="en-US" sz="1400" dirty="0"/>
          </a:p>
          <a:p>
            <a:pPr algn="l" rtl="0" eaLnBrk="0">
              <a:lnSpc>
                <a:spcPct val="105000"/>
              </a:lnSpc>
            </a:pPr>
            <a:endParaRPr lang="en-US" altLang="en-US" sz="700" dirty="0"/>
          </a:p>
          <a:p>
            <a:pPr marL="101600" algn="l" rtl="0" eaLnBrk="0">
              <a:lnSpc>
                <a:spcPct val="97000"/>
              </a:lnSpc>
              <a:spcBef>
                <a:spcPts val="5"/>
              </a:spcBef>
            </a:pPr>
            <a:r>
              <a:rPr sz="14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</a:t>
            </a:r>
            <a:endParaRPr lang="en-US" altLang="en-US" sz="1400" dirty="0"/>
          </a:p>
        </p:txBody>
      </p:sp>
      <p:sp>
        <p:nvSpPr>
          <p:cNvPr id="572" name="textbox 572"/>
          <p:cNvSpPr/>
          <p:nvPr/>
        </p:nvSpPr>
        <p:spPr>
          <a:xfrm>
            <a:off x="1278636" y="3329940"/>
            <a:ext cx="2741929" cy="1228725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900" dirty="0"/>
          </a:p>
          <a:p>
            <a:pPr marL="100965" algn="l" rtl="0" eaLnBrk="0">
              <a:lnSpc>
                <a:spcPct val="97000"/>
              </a:lnSpc>
              <a:spcBef>
                <a:spcPts val="0"/>
              </a:spcBef>
            </a:pP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客户痛点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/期望</a:t>
            </a:r>
            <a:endParaRPr lang="en-US" altLang="en-US" sz="1400" dirty="0"/>
          </a:p>
          <a:p>
            <a:pPr marL="100965" algn="l" rtl="0" eaLnBrk="0">
              <a:lnSpc>
                <a:spcPct val="98000"/>
              </a:lnSpc>
              <a:spcBef>
                <a:spcPts val="880"/>
              </a:spcBef>
            </a:pP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痛苦链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影响度</a:t>
            </a:r>
            <a:endParaRPr lang="en-US" altLang="en-US" sz="1400" dirty="0"/>
          </a:p>
          <a:p>
            <a:pPr algn="l" rtl="0" eaLnBrk="0">
              <a:lnSpc>
                <a:spcPct val="105000"/>
              </a:lnSpc>
            </a:pPr>
            <a:endParaRPr lang="en-US" altLang="en-US" sz="700" dirty="0"/>
          </a:p>
          <a:p>
            <a:pPr marL="100965" algn="l" rtl="0" eaLnBrk="0">
              <a:lnSpc>
                <a:spcPct val="98000"/>
              </a:lnSpc>
              <a:spcBef>
                <a:spcPts val="0"/>
              </a:spcBef>
            </a:pPr>
            <a:r>
              <a:rPr sz="14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</a:t>
            </a:r>
            <a:endParaRPr lang="en-US" altLang="en-US" sz="1400" dirty="0"/>
          </a:p>
        </p:txBody>
      </p:sp>
      <p:sp>
        <p:nvSpPr>
          <p:cNvPr id="573" name="textbox 573"/>
          <p:cNvSpPr/>
          <p:nvPr/>
        </p:nvSpPr>
        <p:spPr>
          <a:xfrm>
            <a:off x="1278636" y="4876800"/>
            <a:ext cx="9482455" cy="394970"/>
          </a:xfrm>
          <a:prstGeom prst="rect">
            <a:avLst/>
          </a:prstGeom>
          <a:solidFill>
            <a:srgbClr val="CC866C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500" dirty="0"/>
          </a:p>
          <a:p>
            <a:pPr marL="4175125" algn="l" rtl="0" eaLnBrk="0">
              <a:lnSpc>
                <a:spcPct val="87000"/>
              </a:lnSpc>
              <a:spcBef>
                <a:spcPts val="0"/>
              </a:spcBef>
            </a:pPr>
            <a:r>
              <a:rPr sz="1500" spc="7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en-US" sz="1500" dirty="0"/>
          </a:p>
        </p:txBody>
      </p:sp>
      <p:sp>
        <p:nvSpPr>
          <p:cNvPr id="574" name="textbox 574"/>
          <p:cNvSpPr/>
          <p:nvPr/>
        </p:nvSpPr>
        <p:spPr>
          <a:xfrm>
            <a:off x="587810" y="269576"/>
            <a:ext cx="3375025" cy="439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55"/>
              </a:lnSpc>
            </a:pPr>
            <a:r>
              <a:rPr sz="2700" spc="9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1.3管理线索：四要</a:t>
            </a:r>
            <a:r>
              <a:rPr sz="2700" spc="5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</a:t>
            </a:r>
            <a:endParaRPr lang="en-US" altLang="en-US" sz="2700" dirty="0"/>
          </a:p>
        </p:txBody>
      </p:sp>
      <p:sp>
        <p:nvSpPr>
          <p:cNvPr id="575" name="rect"/>
          <p:cNvSpPr/>
          <p:nvPr/>
        </p:nvSpPr>
        <p:spPr>
          <a:xfrm>
            <a:off x="4608575" y="2389632"/>
            <a:ext cx="2723387" cy="399288"/>
          </a:xfrm>
          <a:prstGeom prst="rect">
            <a:avLst/>
          </a:pr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6" name="path"/>
          <p:cNvSpPr/>
          <p:nvPr/>
        </p:nvSpPr>
        <p:spPr>
          <a:xfrm>
            <a:off x="10473943" y="2573782"/>
            <a:ext cx="573786" cy="573785"/>
          </a:xfrm>
          <a:custGeom>
            <a:avLst/>
            <a:gdLst/>
            <a:ahLst/>
            <a:cxnLst/>
            <a:rect l="0" t="0" r="0" b="0"/>
            <a:pathLst>
              <a:path w="903" h="903">
                <a:moveTo>
                  <a:pt x="10" y="10"/>
                </a:moveTo>
                <a:cubicBezTo>
                  <a:pt x="498" y="10"/>
                  <a:pt x="893" y="405"/>
                  <a:pt x="893" y="893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7" name="textbox 577"/>
          <p:cNvSpPr/>
          <p:nvPr/>
        </p:nvSpPr>
        <p:spPr>
          <a:xfrm>
            <a:off x="7840980" y="2976371"/>
            <a:ext cx="2923539" cy="368300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lang="en-US" altLang="en-US" sz="400" dirty="0"/>
          </a:p>
          <a:p>
            <a:pPr marL="605790" algn="l" rtl="0" eaLnBrk="0">
              <a:lnSpc>
                <a:spcPts val="1850"/>
              </a:lnSpc>
              <a:spcBef>
                <a:spcPts val="0"/>
              </a:spcBef>
            </a:pPr>
            <a:r>
              <a:rPr sz="1500" spc="9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3、投资计划和预</a:t>
            </a:r>
            <a:r>
              <a:rPr sz="15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</a:t>
            </a:r>
            <a:endParaRPr lang="en-US" altLang="en-US" sz="1500" dirty="0"/>
          </a:p>
        </p:txBody>
      </p:sp>
      <p:sp>
        <p:nvSpPr>
          <p:cNvPr id="578" name="textbox 578"/>
          <p:cNvSpPr/>
          <p:nvPr/>
        </p:nvSpPr>
        <p:spPr>
          <a:xfrm>
            <a:off x="4468367" y="2976371"/>
            <a:ext cx="2923539" cy="368300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lang="en-US" altLang="en-US" sz="400" dirty="0"/>
          </a:p>
          <a:p>
            <a:pPr marL="600075" algn="l" rtl="0" eaLnBrk="0">
              <a:lnSpc>
                <a:spcPts val="1850"/>
              </a:lnSpc>
              <a:spcBef>
                <a:spcPts val="0"/>
              </a:spcBef>
            </a:pPr>
            <a:r>
              <a:rPr sz="1500" spc="9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2、机会点评判标</a:t>
            </a:r>
            <a:r>
              <a:rPr sz="1500" spc="3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</a:t>
            </a:r>
            <a:endParaRPr lang="en-US" altLang="en-US" sz="1500" dirty="0"/>
          </a:p>
        </p:txBody>
      </p:sp>
      <p:sp>
        <p:nvSpPr>
          <p:cNvPr id="579" name="path"/>
          <p:cNvSpPr/>
          <p:nvPr/>
        </p:nvSpPr>
        <p:spPr>
          <a:xfrm>
            <a:off x="1020826" y="2573782"/>
            <a:ext cx="573786" cy="573785"/>
          </a:xfrm>
          <a:custGeom>
            <a:avLst/>
            <a:gdLst/>
            <a:ahLst/>
            <a:cxnLst/>
            <a:rect l="0" t="0" r="0" b="0"/>
            <a:pathLst>
              <a:path w="903" h="903">
                <a:moveTo>
                  <a:pt x="10" y="893"/>
                </a:moveTo>
                <a:cubicBezTo>
                  <a:pt x="10" y="405"/>
                  <a:pt x="405" y="10"/>
                  <a:pt x="893" y="10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0" name="textbox 580"/>
          <p:cNvSpPr/>
          <p:nvPr/>
        </p:nvSpPr>
        <p:spPr>
          <a:xfrm>
            <a:off x="1278636" y="2980944"/>
            <a:ext cx="2731135" cy="368300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lang="en-US" altLang="en-US" sz="400" dirty="0"/>
          </a:p>
          <a:p>
            <a:pPr marL="767715" algn="l" rtl="0" eaLnBrk="0">
              <a:lnSpc>
                <a:spcPts val="1850"/>
              </a:lnSpc>
              <a:spcBef>
                <a:spcPts val="5"/>
              </a:spcBef>
            </a:pPr>
            <a:r>
              <a:rPr sz="1500" spc="8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1、痛点/期</a:t>
            </a:r>
            <a:r>
              <a:rPr sz="1500" spc="7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望</a:t>
            </a:r>
            <a:endParaRPr lang="en-US" altLang="en-US" sz="1500" dirty="0"/>
          </a:p>
        </p:txBody>
      </p:sp>
      <p:sp>
        <p:nvSpPr>
          <p:cNvPr id="581" name="textbox 581"/>
          <p:cNvSpPr/>
          <p:nvPr/>
        </p:nvSpPr>
        <p:spPr>
          <a:xfrm>
            <a:off x="4692531" y="2461101"/>
            <a:ext cx="2566670" cy="3225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线索管理的核心四要素</a:t>
            </a:r>
            <a:endParaRPr lang="en-US" altLang="en-US" sz="2000" dirty="0"/>
          </a:p>
        </p:txBody>
      </p:sp>
      <p:pic>
        <p:nvPicPr>
          <p:cNvPr id="582" name="picture 5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21808" y="4850892"/>
            <a:ext cx="396989" cy="454913"/>
          </a:xfrm>
          <a:prstGeom prst="rect">
            <a:avLst/>
          </a:prstGeom>
        </p:spPr>
      </p:pic>
      <p:grpSp>
        <p:nvGrpSpPr>
          <p:cNvPr id="194" name="group 194"/>
          <p:cNvGrpSpPr/>
          <p:nvPr/>
        </p:nvGrpSpPr>
        <p:grpSpPr>
          <a:xfrm rot="21600000">
            <a:off x="5446775" y="4850892"/>
            <a:ext cx="1285494" cy="454913"/>
            <a:chOff x="0" y="0"/>
            <a:chExt cx="1285494" cy="454913"/>
          </a:xfrm>
        </p:grpSpPr>
        <p:pic>
          <p:nvPicPr>
            <p:cNvPr id="583" name="picture 58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85494" cy="454913"/>
            </a:xfrm>
            <a:prstGeom prst="rect">
              <a:avLst/>
            </a:prstGeom>
          </p:spPr>
        </p:pic>
        <p:sp>
          <p:nvSpPr>
            <p:cNvPr id="584" name="textbox 584"/>
            <p:cNvSpPr/>
            <p:nvPr/>
          </p:nvSpPr>
          <p:spPr>
            <a:xfrm>
              <a:off x="-12700" y="-12700"/>
              <a:ext cx="1311275" cy="49974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lang="en-US" altLang="en-US" sz="700" dirty="0"/>
            </a:p>
            <a:p>
              <a:pPr marL="148590" algn="l" rtl="0" eaLnBrk="0">
                <a:lnSpc>
                  <a:spcPts val="1850"/>
                </a:lnSpc>
                <a:spcBef>
                  <a:spcPts val="5"/>
                </a:spcBef>
              </a:pPr>
              <a:r>
                <a:rPr sz="1500" spc="8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、客户关</a:t>
              </a:r>
              <a:r>
                <a:rPr sz="1500" spc="7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</a:t>
              </a:r>
              <a:endParaRPr lang="en-US" altLang="en-US" sz="1500" dirty="0"/>
            </a:p>
          </p:txBody>
        </p:sp>
      </p:grpSp>
      <p:sp>
        <p:nvSpPr>
          <p:cNvPr id="585" name="textbox 585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87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8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9" name="rect"/>
          <p:cNvSpPr/>
          <p:nvPr/>
        </p:nvSpPr>
        <p:spPr>
          <a:xfrm>
            <a:off x="11035030" y="3141217"/>
            <a:ext cx="12700" cy="2244344"/>
          </a:xfrm>
          <a:prstGeom prst="rect">
            <a:avLst/>
          </a:pr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196"/>
          <p:cNvGrpSpPr/>
          <p:nvPr/>
        </p:nvGrpSpPr>
        <p:grpSpPr>
          <a:xfrm rot="21600000">
            <a:off x="4977000" y="3815805"/>
            <a:ext cx="1020846" cy="296947"/>
            <a:chOff x="0" y="0"/>
            <a:chExt cx="1020846" cy="296947"/>
          </a:xfrm>
        </p:grpSpPr>
        <p:sp>
          <p:nvSpPr>
            <p:cNvPr id="590" name="path"/>
            <p:cNvSpPr/>
            <p:nvPr/>
          </p:nvSpPr>
          <p:spPr>
            <a:xfrm>
              <a:off x="1566" y="1246"/>
              <a:ext cx="1017713" cy="294455"/>
            </a:xfrm>
            <a:custGeom>
              <a:avLst/>
              <a:gdLst/>
              <a:ahLst/>
              <a:cxnLst/>
              <a:rect l="0" t="0" r="0" b="0"/>
              <a:pathLst>
                <a:path w="1602" h="463">
                  <a:moveTo>
                    <a:pt x="291" y="463"/>
                  </a:moveTo>
                  <a:lnTo>
                    <a:pt x="1311" y="463"/>
                  </a:lnTo>
                  <a:cubicBezTo>
                    <a:pt x="1472" y="463"/>
                    <a:pt x="1602" y="360"/>
                    <a:pt x="1602" y="231"/>
                  </a:cubicBezTo>
                  <a:cubicBezTo>
                    <a:pt x="1602" y="103"/>
                    <a:pt x="1472" y="0"/>
                    <a:pt x="1311" y="0"/>
                  </a:cubicBezTo>
                  <a:cubicBezTo>
                    <a:pt x="1311" y="0"/>
                    <a:pt x="1311" y="0"/>
                    <a:pt x="1311" y="0"/>
                  </a:cubicBezTo>
                  <a:lnTo>
                    <a:pt x="1311" y="0"/>
                  </a:lnTo>
                  <a:lnTo>
                    <a:pt x="291" y="0"/>
                  </a:lnTo>
                  <a:cubicBezTo>
                    <a:pt x="130" y="0"/>
                    <a:pt x="0" y="103"/>
                    <a:pt x="0" y="231"/>
                  </a:cubicBezTo>
                  <a:cubicBezTo>
                    <a:pt x="0" y="360"/>
                    <a:pt x="130" y="463"/>
                    <a:pt x="291" y="463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1" name="path"/>
            <p:cNvSpPr/>
            <p:nvPr/>
          </p:nvSpPr>
          <p:spPr>
            <a:xfrm>
              <a:off x="0" y="0"/>
              <a:ext cx="1020846" cy="296947"/>
            </a:xfrm>
            <a:custGeom>
              <a:avLst/>
              <a:gdLst/>
              <a:ahLst/>
              <a:cxnLst/>
              <a:rect l="0" t="0" r="0" b="0"/>
              <a:pathLst>
                <a:path w="1607" h="467">
                  <a:moveTo>
                    <a:pt x="293" y="465"/>
                  </a:moveTo>
                  <a:lnTo>
                    <a:pt x="1313" y="465"/>
                  </a:lnTo>
                  <a:cubicBezTo>
                    <a:pt x="1474" y="465"/>
                    <a:pt x="1605" y="361"/>
                    <a:pt x="1605" y="233"/>
                  </a:cubicBezTo>
                  <a:cubicBezTo>
                    <a:pt x="1605" y="105"/>
                    <a:pt x="1474" y="1"/>
                    <a:pt x="1313" y="1"/>
                  </a:cubicBezTo>
                  <a:cubicBezTo>
                    <a:pt x="1313" y="1"/>
                    <a:pt x="1313" y="1"/>
                    <a:pt x="1313" y="1"/>
                  </a:cubicBezTo>
                  <a:lnTo>
                    <a:pt x="1313" y="1"/>
                  </a:lnTo>
                  <a:lnTo>
                    <a:pt x="293" y="1"/>
                  </a:lnTo>
                  <a:cubicBezTo>
                    <a:pt x="133" y="1"/>
                    <a:pt x="2" y="105"/>
                    <a:pt x="2" y="233"/>
                  </a:cubicBezTo>
                  <a:cubicBezTo>
                    <a:pt x="2" y="361"/>
                    <a:pt x="133" y="465"/>
                    <a:pt x="293" y="465"/>
                  </a:cubicBezTo>
                </a:path>
              </a:pathLst>
            </a:custGeom>
            <a:noFill/>
            <a:ln w="281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98" name="group 198"/>
          <p:cNvGrpSpPr/>
          <p:nvPr/>
        </p:nvGrpSpPr>
        <p:grpSpPr>
          <a:xfrm rot="21600000">
            <a:off x="6272284" y="3168108"/>
            <a:ext cx="1187441" cy="473620"/>
            <a:chOff x="0" y="0"/>
            <a:chExt cx="1187441" cy="473620"/>
          </a:xfrm>
        </p:grpSpPr>
        <p:sp>
          <p:nvSpPr>
            <p:cNvPr id="592" name="path"/>
            <p:cNvSpPr/>
            <p:nvPr/>
          </p:nvSpPr>
          <p:spPr>
            <a:xfrm>
              <a:off x="1566" y="1246"/>
              <a:ext cx="1184307" cy="471128"/>
            </a:xfrm>
            <a:custGeom>
              <a:avLst/>
              <a:gdLst/>
              <a:ahLst/>
              <a:cxnLst/>
              <a:rect l="0" t="0" r="0" b="0"/>
              <a:pathLst>
                <a:path w="1865" h="741">
                  <a:moveTo>
                    <a:pt x="0" y="370"/>
                  </a:moveTo>
                  <a:lnTo>
                    <a:pt x="932" y="0"/>
                  </a:lnTo>
                  <a:lnTo>
                    <a:pt x="1865" y="370"/>
                  </a:lnTo>
                  <a:lnTo>
                    <a:pt x="932" y="741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3" name="path"/>
            <p:cNvSpPr/>
            <p:nvPr/>
          </p:nvSpPr>
          <p:spPr>
            <a:xfrm>
              <a:off x="0" y="0"/>
              <a:ext cx="1187441" cy="473620"/>
            </a:xfrm>
            <a:custGeom>
              <a:avLst/>
              <a:gdLst/>
              <a:ahLst/>
              <a:cxnLst/>
              <a:rect l="0" t="0" r="0" b="0"/>
              <a:pathLst>
                <a:path w="1869" h="745">
                  <a:moveTo>
                    <a:pt x="2" y="372"/>
                  </a:moveTo>
                  <a:lnTo>
                    <a:pt x="935" y="1"/>
                  </a:lnTo>
                  <a:lnTo>
                    <a:pt x="1867" y="372"/>
                  </a:lnTo>
                  <a:lnTo>
                    <a:pt x="935" y="743"/>
                  </a:lnTo>
                  <a:lnTo>
                    <a:pt x="2" y="372"/>
                  </a:lnTo>
                  <a:close/>
                </a:path>
              </a:pathLst>
            </a:custGeom>
            <a:noFill/>
            <a:ln w="281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94" name="path"/>
          <p:cNvSpPr/>
          <p:nvPr/>
        </p:nvSpPr>
        <p:spPr>
          <a:xfrm>
            <a:off x="7772806" y="5642486"/>
            <a:ext cx="925146" cy="441630"/>
          </a:xfrm>
          <a:custGeom>
            <a:avLst/>
            <a:gdLst/>
            <a:ahLst/>
            <a:cxnLst/>
            <a:rect l="0" t="0" r="0" b="0"/>
            <a:pathLst>
              <a:path w="1456" h="695">
                <a:moveTo>
                  <a:pt x="291" y="695"/>
                </a:moveTo>
                <a:lnTo>
                  <a:pt x="1165" y="695"/>
                </a:lnTo>
                <a:lnTo>
                  <a:pt x="1456" y="347"/>
                </a:lnTo>
                <a:lnTo>
                  <a:pt x="1165" y="0"/>
                </a:lnTo>
                <a:lnTo>
                  <a:pt x="291" y="0"/>
                </a:lnTo>
                <a:lnTo>
                  <a:pt x="0" y="347"/>
                </a:lnTo>
                <a:lnTo>
                  <a:pt x="291" y="69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00" name="group 200"/>
          <p:cNvGrpSpPr/>
          <p:nvPr/>
        </p:nvGrpSpPr>
        <p:grpSpPr>
          <a:xfrm rot="21600000">
            <a:off x="6272284" y="5052413"/>
            <a:ext cx="1187441" cy="473558"/>
            <a:chOff x="0" y="0"/>
            <a:chExt cx="1187441" cy="473558"/>
          </a:xfrm>
        </p:grpSpPr>
        <p:sp>
          <p:nvSpPr>
            <p:cNvPr id="595" name="path"/>
            <p:cNvSpPr/>
            <p:nvPr/>
          </p:nvSpPr>
          <p:spPr>
            <a:xfrm>
              <a:off x="1566" y="1246"/>
              <a:ext cx="1184307" cy="471066"/>
            </a:xfrm>
            <a:custGeom>
              <a:avLst/>
              <a:gdLst/>
              <a:ahLst/>
              <a:cxnLst/>
              <a:rect l="0" t="0" r="0" b="0"/>
              <a:pathLst>
                <a:path w="1865" h="741">
                  <a:moveTo>
                    <a:pt x="0" y="370"/>
                  </a:moveTo>
                  <a:lnTo>
                    <a:pt x="932" y="0"/>
                  </a:lnTo>
                  <a:lnTo>
                    <a:pt x="1865" y="370"/>
                  </a:lnTo>
                  <a:lnTo>
                    <a:pt x="932" y="741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6" name="path"/>
            <p:cNvSpPr/>
            <p:nvPr/>
          </p:nvSpPr>
          <p:spPr>
            <a:xfrm>
              <a:off x="0" y="0"/>
              <a:ext cx="1187441" cy="473558"/>
            </a:xfrm>
            <a:custGeom>
              <a:avLst/>
              <a:gdLst/>
              <a:ahLst/>
              <a:cxnLst/>
              <a:rect l="0" t="0" r="0" b="0"/>
              <a:pathLst>
                <a:path w="1869" h="745">
                  <a:moveTo>
                    <a:pt x="2" y="372"/>
                  </a:moveTo>
                  <a:lnTo>
                    <a:pt x="935" y="1"/>
                  </a:lnTo>
                  <a:lnTo>
                    <a:pt x="1867" y="372"/>
                  </a:lnTo>
                  <a:lnTo>
                    <a:pt x="935" y="743"/>
                  </a:lnTo>
                  <a:lnTo>
                    <a:pt x="2" y="372"/>
                  </a:lnTo>
                  <a:close/>
                </a:path>
              </a:pathLst>
            </a:custGeom>
            <a:noFill/>
            <a:ln w="281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2" name="group 202"/>
          <p:cNvGrpSpPr/>
          <p:nvPr/>
        </p:nvGrpSpPr>
        <p:grpSpPr>
          <a:xfrm rot="21600000">
            <a:off x="2164338" y="1902106"/>
            <a:ext cx="1114079" cy="355865"/>
            <a:chOff x="0" y="0"/>
            <a:chExt cx="1114079" cy="355865"/>
          </a:xfrm>
        </p:grpSpPr>
        <p:sp>
          <p:nvSpPr>
            <p:cNvPr id="597" name="path"/>
            <p:cNvSpPr/>
            <p:nvPr/>
          </p:nvSpPr>
          <p:spPr>
            <a:xfrm>
              <a:off x="1566" y="1246"/>
              <a:ext cx="1110945" cy="354618"/>
            </a:xfrm>
            <a:custGeom>
              <a:avLst/>
              <a:gdLst/>
              <a:ahLst/>
              <a:cxnLst/>
              <a:rect l="0" t="0" r="0" b="0"/>
              <a:pathLst>
                <a:path w="1749" h="558">
                  <a:moveTo>
                    <a:pt x="0" y="486"/>
                  </a:moveTo>
                  <a:lnTo>
                    <a:pt x="0" y="0"/>
                  </a:lnTo>
                  <a:lnTo>
                    <a:pt x="1749" y="0"/>
                  </a:lnTo>
                  <a:lnTo>
                    <a:pt x="1749" y="486"/>
                  </a:lnTo>
                  <a:cubicBezTo>
                    <a:pt x="1469" y="394"/>
                    <a:pt x="1154" y="394"/>
                    <a:pt x="874" y="486"/>
                  </a:cubicBezTo>
                  <a:cubicBezTo>
                    <a:pt x="594" y="579"/>
                    <a:pt x="279" y="579"/>
                    <a:pt x="0" y="486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8" name="path"/>
            <p:cNvSpPr/>
            <p:nvPr/>
          </p:nvSpPr>
          <p:spPr>
            <a:xfrm>
              <a:off x="0" y="0"/>
              <a:ext cx="1114079" cy="355865"/>
            </a:xfrm>
            <a:custGeom>
              <a:avLst/>
              <a:gdLst/>
              <a:ahLst/>
              <a:cxnLst/>
              <a:rect l="0" t="0" r="0" b="0"/>
              <a:pathLst>
                <a:path w="1754" h="560">
                  <a:moveTo>
                    <a:pt x="2" y="488"/>
                  </a:moveTo>
                  <a:lnTo>
                    <a:pt x="2" y="1"/>
                  </a:lnTo>
                  <a:lnTo>
                    <a:pt x="1751" y="1"/>
                  </a:lnTo>
                  <a:lnTo>
                    <a:pt x="1751" y="488"/>
                  </a:lnTo>
                  <a:cubicBezTo>
                    <a:pt x="1471" y="396"/>
                    <a:pt x="1157" y="396"/>
                    <a:pt x="877" y="488"/>
                  </a:cubicBezTo>
                  <a:cubicBezTo>
                    <a:pt x="597" y="581"/>
                    <a:pt x="282" y="581"/>
                    <a:pt x="2" y="488"/>
                  </a:cubicBezTo>
                </a:path>
              </a:pathLst>
            </a:custGeom>
            <a:noFill/>
            <a:ln w="281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4" name="group 204"/>
          <p:cNvGrpSpPr/>
          <p:nvPr/>
        </p:nvGrpSpPr>
        <p:grpSpPr>
          <a:xfrm rot="21600000">
            <a:off x="9121750" y="2491016"/>
            <a:ext cx="1114066" cy="428751"/>
            <a:chOff x="0" y="0"/>
            <a:chExt cx="1114066" cy="428751"/>
          </a:xfrm>
        </p:grpSpPr>
        <p:sp>
          <p:nvSpPr>
            <p:cNvPr id="599" name="path"/>
            <p:cNvSpPr/>
            <p:nvPr/>
          </p:nvSpPr>
          <p:spPr>
            <a:xfrm>
              <a:off x="1566" y="1246"/>
              <a:ext cx="1110932" cy="427505"/>
            </a:xfrm>
            <a:custGeom>
              <a:avLst/>
              <a:gdLst/>
              <a:ahLst/>
              <a:cxnLst/>
              <a:rect l="0" t="0" r="0" b="0"/>
              <a:pathLst>
                <a:path w="1749" h="673">
                  <a:moveTo>
                    <a:pt x="0" y="587"/>
                  </a:moveTo>
                  <a:lnTo>
                    <a:pt x="0" y="0"/>
                  </a:lnTo>
                  <a:lnTo>
                    <a:pt x="1749" y="0"/>
                  </a:lnTo>
                  <a:lnTo>
                    <a:pt x="1749" y="587"/>
                  </a:lnTo>
                  <a:cubicBezTo>
                    <a:pt x="1474" y="475"/>
                    <a:pt x="1149" y="475"/>
                    <a:pt x="874" y="587"/>
                  </a:cubicBezTo>
                  <a:cubicBezTo>
                    <a:pt x="599" y="699"/>
                    <a:pt x="274" y="699"/>
                    <a:pt x="0" y="587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0" name="path"/>
            <p:cNvSpPr/>
            <p:nvPr/>
          </p:nvSpPr>
          <p:spPr>
            <a:xfrm>
              <a:off x="0" y="0"/>
              <a:ext cx="1114066" cy="428751"/>
            </a:xfrm>
            <a:custGeom>
              <a:avLst/>
              <a:gdLst/>
              <a:ahLst/>
              <a:cxnLst/>
              <a:rect l="0" t="0" r="0" b="0"/>
              <a:pathLst>
                <a:path w="1754" h="675">
                  <a:moveTo>
                    <a:pt x="2" y="589"/>
                  </a:moveTo>
                  <a:lnTo>
                    <a:pt x="2" y="1"/>
                  </a:lnTo>
                  <a:lnTo>
                    <a:pt x="1751" y="1"/>
                  </a:lnTo>
                  <a:lnTo>
                    <a:pt x="1751" y="589"/>
                  </a:lnTo>
                  <a:cubicBezTo>
                    <a:pt x="1477" y="477"/>
                    <a:pt x="1151" y="477"/>
                    <a:pt x="877" y="589"/>
                  </a:cubicBezTo>
                  <a:cubicBezTo>
                    <a:pt x="602" y="701"/>
                    <a:pt x="276" y="701"/>
                    <a:pt x="2" y="589"/>
                  </a:cubicBezTo>
                </a:path>
              </a:pathLst>
            </a:custGeom>
            <a:noFill/>
            <a:ln w="281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601" name="table 601"/>
          <p:cNvGraphicFramePr>
            <a:graphicFrameLocks noGrp="1"/>
          </p:cNvGraphicFramePr>
          <p:nvPr/>
        </p:nvGraphicFramePr>
        <p:xfrm>
          <a:off x="1702561" y="1048279"/>
          <a:ext cx="8654415" cy="5130165"/>
        </p:xfrm>
        <a:graphic>
          <a:graphicData uri="http://schemas.openxmlformats.org/drawingml/2006/table">
            <a:tbl>
              <a:tblPr/>
              <a:tblGrid>
                <a:gridCol w="371475"/>
                <a:gridCol w="1310639"/>
                <a:gridCol w="196214"/>
                <a:gridCol w="518159"/>
                <a:gridCol w="518159"/>
                <a:gridCol w="189864"/>
                <a:gridCol w="208279"/>
                <a:gridCol w="518159"/>
                <a:gridCol w="518159"/>
                <a:gridCol w="151764"/>
                <a:gridCol w="1337310"/>
                <a:gridCol w="139700"/>
                <a:gridCol w="554990"/>
                <a:gridCol w="554990"/>
                <a:gridCol w="218440"/>
                <a:gridCol w="1348105"/>
              </a:tblGrid>
              <a:tr h="290194">
                <a:tc gridSpan="16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400" dirty="0"/>
                    </a:p>
                    <a:p>
                      <a:pPr marL="3937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1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管理线</a:t>
                      </a: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索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</a:tr>
              <a:tr h="375284">
                <a:tc rowSpan="1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504190" algn="l" rtl="0" eaLnBrk="0">
                        <a:lnSpc>
                          <a:spcPts val="1105"/>
                        </a:lnSpc>
                      </a:pP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90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入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8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327660" algn="l" rtl="0" eaLnBrk="0">
                        <a:lnSpc>
                          <a:spcPts val="1105"/>
                        </a:lnSpc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线索收集</a:t>
                      </a:r>
                      <a:r>
                        <a:rPr sz="9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158115" algn="l" rtl="0" eaLnBrk="0">
                        <a:lnSpc>
                          <a:spcPts val="1105"/>
                        </a:lnSpc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线索管理责任</a:t>
                      </a:r>
                      <a:r>
                        <a:rPr sz="90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207010" algn="l" rtl="0" eaLnBrk="0">
                        <a:lnSpc>
                          <a:spcPts val="1100"/>
                        </a:lnSpc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线索评估小</a:t>
                      </a:r>
                      <a:r>
                        <a:rPr sz="90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组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42000"/>
                        </a:lnSpc>
                      </a:pPr>
                      <a:endParaRPr lang="en-US" altLang="en-US" sz="100" dirty="0"/>
                    </a:p>
                    <a:p>
                      <a:pPr marL="510540" indent="-316865" algn="l" rtl="0" eaLnBrk="0">
                        <a:lnSpc>
                          <a:spcPct val="124000"/>
                        </a:lnSpc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线索跟踪与培</a:t>
                      </a:r>
                      <a:r>
                        <a:rPr sz="90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育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90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责任</a:t>
                      </a:r>
                      <a:r>
                        <a:rPr sz="9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522605" algn="l" rtl="0" eaLnBrk="0">
                        <a:lnSpc>
                          <a:spcPts val="1105"/>
                        </a:lnSpc>
                      </a:pP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90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</a:tr>
              <a:tr h="1981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l" rtl="0" eaLnBrk="0">
                        <a:lnSpc>
                          <a:spcPct val="16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marL="341630" algn="l" rtl="0" eaLnBrk="0">
                        <a:lnSpc>
                          <a:spcPts val="1110"/>
                        </a:lnSpc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客户痛</a:t>
                      </a:r>
                      <a:r>
                        <a:rPr sz="9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8"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8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8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8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1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marL="286385" algn="l" rtl="0" eaLnBrk="0">
                        <a:lnSpc>
                          <a:spcPts val="1105"/>
                        </a:lnSpc>
                        <a:spcBef>
                          <a:spcPts val="5"/>
                        </a:spcBef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线索管理</a:t>
                      </a:r>
                      <a:r>
                        <a:rPr sz="9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40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500" dirty="0"/>
                    </a:p>
                    <a:p>
                      <a:pPr marL="213360" algn="l" rtl="0" eaLnBrk="0">
                        <a:lnSpc>
                          <a:spcPts val="1105"/>
                        </a:lnSpc>
                        <a:spcBef>
                          <a:spcPts val="5"/>
                        </a:spcBef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线索收</a:t>
                      </a:r>
                      <a:r>
                        <a:rPr sz="9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集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870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0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1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600" dirty="0"/>
                    </a:p>
                    <a:p>
                      <a:pPr marL="212725" algn="l" rtl="0" eaLnBrk="0">
                        <a:lnSpc>
                          <a:spcPts val="1110"/>
                        </a:lnSpc>
                        <a:spcBef>
                          <a:spcPts val="5"/>
                        </a:spcBef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线索生</a:t>
                      </a:r>
                      <a:r>
                        <a:rPr sz="9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0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1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altLang="en-US" sz="1000" dirty="0"/>
                    </a:p>
                    <a:p>
                      <a:pPr marL="276225" algn="l" rtl="0" eaLnBrk="0">
                        <a:lnSpc>
                          <a:spcPts val="1110"/>
                        </a:lnSpc>
                        <a:spcBef>
                          <a:spcPts val="5"/>
                        </a:spcBef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验证与分</a:t>
                      </a:r>
                      <a:r>
                        <a:rPr sz="90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gridSpan="4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300" dirty="0"/>
                    </a:p>
                    <a:p>
                      <a:pPr marL="681990" algn="l" rtl="0" eaLnBrk="0">
                        <a:lnSpc>
                          <a:spcPts val="1110"/>
                        </a:lnSpc>
                        <a:spcBef>
                          <a:spcPts val="0"/>
                        </a:spcBef>
                        <a:tabLst>
                          <a:tab pos="1011555" algn="l"/>
                        </a:tabLst>
                      </a:pP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90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7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200" dirty="0"/>
                    </a:p>
                    <a:p>
                      <a:pPr marL="533400" algn="l" rtl="0" eaLnBrk="0">
                        <a:lnSpc>
                          <a:spcPts val="1105"/>
                        </a:lnSpc>
                        <a:spcBef>
                          <a:spcPts val="0"/>
                        </a:spcBef>
                      </a:pPr>
                      <a:r>
                        <a:rPr sz="90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</a:t>
                      </a:r>
                      <a:r>
                        <a:rPr sz="9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束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1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400" dirty="0"/>
                    </a:p>
                    <a:p>
                      <a:pPr marL="944880" algn="l" rtl="0" eaLnBrk="0">
                        <a:lnSpc>
                          <a:spcPts val="1125"/>
                        </a:lnSpc>
                        <a:spcBef>
                          <a:spcPts val="0"/>
                        </a:spcBef>
                      </a:pPr>
                      <a:r>
                        <a:rPr sz="9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200" dirty="0"/>
                    </a:p>
                    <a:p>
                      <a:pPr marL="207645" algn="l" rtl="0" eaLnBrk="0">
                        <a:lnSpc>
                          <a:spcPts val="1110"/>
                        </a:lnSpc>
                        <a:spcBef>
                          <a:spcPts val="0"/>
                        </a:spcBef>
                      </a:pPr>
                      <a:r>
                        <a:rPr sz="90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600" dirty="0"/>
                    </a:p>
                    <a:p>
                      <a:pPr marL="66675" algn="l" rtl="0" eaLnBrk="0">
                        <a:lnSpc>
                          <a:spcPts val="1105"/>
                        </a:lnSpc>
                        <a:spcBef>
                          <a:spcPts val="5"/>
                        </a:spcBef>
                        <a:tabLst>
                          <a:tab pos="222250" algn="l"/>
                        </a:tabLst>
                      </a:pP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90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跟踪与培</a:t>
                      </a:r>
                      <a:r>
                        <a:rPr sz="90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育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279400" algn="l" rtl="0" eaLnBrk="0">
                        <a:lnSpc>
                          <a:spcPct val="91000"/>
                        </a:lnSpc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是否符合</a:t>
                      </a:r>
                      <a:r>
                        <a:rPr sz="9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机</a:t>
                      </a:r>
                      <a:endParaRPr lang="en-US" altLang="en-US" sz="900" dirty="0"/>
                    </a:p>
                    <a:p>
                      <a:pPr marL="276225" algn="l" rtl="0" eaLnBrk="0">
                        <a:lnSpc>
                          <a:spcPts val="1265"/>
                        </a:lnSpc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会转换条</a:t>
                      </a:r>
                      <a:r>
                        <a:rPr sz="90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件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60"/>
                        </a:lnSpc>
                      </a:pP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001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lang="en-US" altLang="en-US" sz="1000" dirty="0"/>
                    </a:p>
                    <a:p>
                      <a:pPr marL="163195" algn="l" rtl="0" eaLnBrk="0">
                        <a:lnSpc>
                          <a:spcPts val="1125"/>
                        </a:lnSpc>
                        <a:spcBef>
                          <a:spcPts val="5"/>
                        </a:spcBef>
                      </a:pPr>
                      <a:r>
                        <a:rPr sz="9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lang="en-US" altLang="en-US" sz="1000" dirty="0"/>
                    </a:p>
                    <a:p>
                      <a:pPr marL="464820" algn="l" rtl="0" eaLnBrk="0">
                        <a:lnSpc>
                          <a:spcPct val="91000"/>
                        </a:lnSpc>
                        <a:spcBef>
                          <a:spcPts val="270"/>
                        </a:spcBef>
                      </a:pP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验证</a:t>
                      </a:r>
                      <a:r>
                        <a:rPr sz="90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机</a:t>
                      </a:r>
                      <a:endParaRPr lang="en-US" altLang="en-US" sz="900" dirty="0"/>
                    </a:p>
                    <a:p>
                      <a:pPr marL="542925" algn="l" rtl="0" eaLnBrk="0">
                        <a:lnSpc>
                          <a:spcPts val="1265"/>
                        </a:lnSpc>
                      </a:pP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会</a:t>
                      </a:r>
                      <a:r>
                        <a:rPr sz="90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02" name="path"/>
          <p:cNvSpPr/>
          <p:nvPr/>
        </p:nvSpPr>
        <p:spPr>
          <a:xfrm>
            <a:off x="7680451" y="4612755"/>
            <a:ext cx="66964" cy="57333"/>
          </a:xfrm>
          <a:custGeom>
            <a:avLst/>
            <a:gdLst/>
            <a:ahLst/>
            <a:cxnLst/>
            <a:rect l="0" t="0" r="0" b="0"/>
            <a:pathLst>
              <a:path w="105" h="90">
                <a:moveTo>
                  <a:pt x="0" y="0"/>
                </a:moveTo>
                <a:lnTo>
                  <a:pt x="105" y="45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3" name="path"/>
          <p:cNvSpPr/>
          <p:nvPr/>
        </p:nvSpPr>
        <p:spPr>
          <a:xfrm>
            <a:off x="5485922" y="3404764"/>
            <a:ext cx="3133" cy="363367"/>
          </a:xfrm>
          <a:custGeom>
            <a:avLst/>
            <a:gdLst/>
            <a:ahLst/>
            <a:cxnLst/>
            <a:rect l="0" t="0" r="0" b="0"/>
            <a:pathLst>
              <a:path w="4" h="572">
                <a:moveTo>
                  <a:pt x="2" y="1"/>
                </a:moveTo>
                <a:lnTo>
                  <a:pt x="2" y="570"/>
                </a:lnTo>
              </a:path>
            </a:pathLst>
          </a:custGeom>
          <a:noFill/>
          <a:ln w="2804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4" name="textbox 604"/>
          <p:cNvSpPr/>
          <p:nvPr/>
        </p:nvSpPr>
        <p:spPr>
          <a:xfrm>
            <a:off x="587810" y="269576"/>
            <a:ext cx="3729990" cy="4400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60"/>
              </a:lnSpc>
            </a:pPr>
            <a:r>
              <a:rPr sz="2700" spc="9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1.4管理线索：操作流</a:t>
            </a:r>
            <a:r>
              <a:rPr sz="2700" spc="6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endParaRPr lang="en-US" altLang="en-US" sz="2700" dirty="0"/>
          </a:p>
        </p:txBody>
      </p:sp>
      <p:sp>
        <p:nvSpPr>
          <p:cNvPr id="605" name="textbox 605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07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8" name="path"/>
          <p:cNvSpPr/>
          <p:nvPr/>
        </p:nvSpPr>
        <p:spPr>
          <a:xfrm>
            <a:off x="6864502" y="5523479"/>
            <a:ext cx="1372444" cy="70087"/>
          </a:xfrm>
          <a:custGeom>
            <a:avLst/>
            <a:gdLst/>
            <a:ahLst/>
            <a:cxnLst/>
            <a:rect l="0" t="0" r="0" b="0"/>
            <a:pathLst>
              <a:path w="2161" h="110">
                <a:moveTo>
                  <a:pt x="2" y="1"/>
                </a:moveTo>
                <a:lnTo>
                  <a:pt x="2" y="71"/>
                </a:lnTo>
                <a:lnTo>
                  <a:pt x="2158" y="71"/>
                </a:lnTo>
                <a:lnTo>
                  <a:pt x="2158" y="108"/>
                </a:lnTo>
              </a:path>
            </a:pathLst>
          </a:custGeom>
          <a:noFill/>
          <a:ln w="2813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9" name="path"/>
          <p:cNvSpPr/>
          <p:nvPr/>
        </p:nvSpPr>
        <p:spPr>
          <a:xfrm>
            <a:off x="6133498" y="4640176"/>
            <a:ext cx="141918" cy="650263"/>
          </a:xfrm>
          <a:custGeom>
            <a:avLst/>
            <a:gdLst/>
            <a:ahLst/>
            <a:cxnLst/>
            <a:rect l="0" t="0" r="0" b="0"/>
            <a:pathLst>
              <a:path w="223" h="1024">
                <a:moveTo>
                  <a:pt x="221" y="1022"/>
                </a:moveTo>
                <a:lnTo>
                  <a:pt x="2" y="1022"/>
                </a:lnTo>
                <a:lnTo>
                  <a:pt x="2" y="1"/>
                </a:lnTo>
              </a:path>
            </a:pathLst>
          </a:custGeom>
          <a:noFill/>
          <a:ln w="2813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0" name="path"/>
          <p:cNvSpPr/>
          <p:nvPr/>
        </p:nvSpPr>
        <p:spPr>
          <a:xfrm>
            <a:off x="7771240" y="5641240"/>
            <a:ext cx="188136" cy="444123"/>
          </a:xfrm>
          <a:custGeom>
            <a:avLst/>
            <a:gdLst/>
            <a:ahLst/>
            <a:cxnLst/>
            <a:rect l="0" t="0" r="0" b="0"/>
            <a:pathLst>
              <a:path w="296" h="699">
                <a:moveTo>
                  <a:pt x="293" y="1"/>
                </a:moveTo>
                <a:lnTo>
                  <a:pt x="2" y="349"/>
                </a:lnTo>
                <a:lnTo>
                  <a:pt x="293" y="697"/>
                </a:lnTo>
                <a:close/>
              </a:path>
            </a:pathLst>
          </a:custGeom>
          <a:noFill/>
          <a:ln w="2813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1" name="path"/>
          <p:cNvSpPr/>
          <p:nvPr/>
        </p:nvSpPr>
        <p:spPr>
          <a:xfrm>
            <a:off x="8511383" y="5641240"/>
            <a:ext cx="188136" cy="444123"/>
          </a:xfrm>
          <a:custGeom>
            <a:avLst/>
            <a:gdLst/>
            <a:ahLst/>
            <a:cxnLst/>
            <a:rect l="0" t="0" r="0" b="0"/>
            <a:pathLst>
              <a:path w="296" h="699">
                <a:moveTo>
                  <a:pt x="2" y="697"/>
                </a:moveTo>
                <a:lnTo>
                  <a:pt x="293" y="349"/>
                </a:lnTo>
                <a:lnTo>
                  <a:pt x="2" y="1"/>
                </a:lnTo>
              </a:path>
            </a:pathLst>
          </a:custGeom>
          <a:noFill/>
          <a:ln w="2813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2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3" name="rect"/>
          <p:cNvSpPr/>
          <p:nvPr/>
        </p:nvSpPr>
        <p:spPr>
          <a:xfrm>
            <a:off x="6864502" y="4897863"/>
            <a:ext cx="3133" cy="106876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4" name="path"/>
          <p:cNvSpPr/>
          <p:nvPr/>
        </p:nvSpPr>
        <p:spPr>
          <a:xfrm>
            <a:off x="6830034" y="4996326"/>
            <a:ext cx="72069" cy="57333"/>
          </a:xfrm>
          <a:custGeom>
            <a:avLst/>
            <a:gdLst/>
            <a:ahLst/>
            <a:cxnLst/>
            <a:rect l="0" t="0" r="0" b="0"/>
            <a:pathLst>
              <a:path w="113" h="90">
                <a:moveTo>
                  <a:pt x="113" y="0"/>
                </a:moveTo>
                <a:lnTo>
                  <a:pt x="56" y="90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5" name="path"/>
          <p:cNvSpPr/>
          <p:nvPr/>
        </p:nvSpPr>
        <p:spPr>
          <a:xfrm>
            <a:off x="8199346" y="5585153"/>
            <a:ext cx="72069" cy="57333"/>
          </a:xfrm>
          <a:custGeom>
            <a:avLst/>
            <a:gdLst/>
            <a:ahLst/>
            <a:cxnLst/>
            <a:rect l="0" t="0" r="0" b="0"/>
            <a:pathLst>
              <a:path w="113" h="90">
                <a:moveTo>
                  <a:pt x="113" y="0"/>
                </a:moveTo>
                <a:lnTo>
                  <a:pt x="56" y="90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6" name="rect"/>
          <p:cNvSpPr/>
          <p:nvPr/>
        </p:nvSpPr>
        <p:spPr>
          <a:xfrm>
            <a:off x="6864503" y="2925272"/>
            <a:ext cx="3133" cy="195160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7" name="path"/>
          <p:cNvSpPr/>
          <p:nvPr/>
        </p:nvSpPr>
        <p:spPr>
          <a:xfrm>
            <a:off x="6830034" y="3112020"/>
            <a:ext cx="72069" cy="57332"/>
          </a:xfrm>
          <a:custGeom>
            <a:avLst/>
            <a:gdLst/>
            <a:ahLst/>
            <a:cxnLst/>
            <a:rect l="0" t="0" r="0" b="0"/>
            <a:pathLst>
              <a:path w="113" h="90">
                <a:moveTo>
                  <a:pt x="113" y="0"/>
                </a:moveTo>
                <a:lnTo>
                  <a:pt x="56" y="90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8" name="path"/>
          <p:cNvSpPr/>
          <p:nvPr/>
        </p:nvSpPr>
        <p:spPr>
          <a:xfrm>
            <a:off x="5451454" y="3759718"/>
            <a:ext cx="72068" cy="57333"/>
          </a:xfrm>
          <a:custGeom>
            <a:avLst/>
            <a:gdLst/>
            <a:ahLst/>
            <a:cxnLst/>
            <a:rect l="0" t="0" r="0" b="0"/>
            <a:pathLst>
              <a:path w="113" h="90">
                <a:moveTo>
                  <a:pt x="113" y="0"/>
                </a:moveTo>
                <a:lnTo>
                  <a:pt x="56" y="90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9" name="rect"/>
          <p:cNvSpPr/>
          <p:nvPr/>
        </p:nvSpPr>
        <p:spPr>
          <a:xfrm>
            <a:off x="6864502" y="4897863"/>
            <a:ext cx="1372444" cy="2492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0" name="rect"/>
          <p:cNvSpPr/>
          <p:nvPr/>
        </p:nvSpPr>
        <p:spPr>
          <a:xfrm>
            <a:off x="7956243" y="5641240"/>
            <a:ext cx="558273" cy="2492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1" name="rect"/>
          <p:cNvSpPr/>
          <p:nvPr/>
        </p:nvSpPr>
        <p:spPr>
          <a:xfrm>
            <a:off x="7956243" y="6082871"/>
            <a:ext cx="558273" cy="2492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2" name="rect"/>
          <p:cNvSpPr/>
          <p:nvPr/>
        </p:nvSpPr>
        <p:spPr>
          <a:xfrm>
            <a:off x="6864502" y="3639236"/>
            <a:ext cx="3133" cy="112900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3" name="path"/>
          <p:cNvSpPr/>
          <p:nvPr/>
        </p:nvSpPr>
        <p:spPr>
          <a:xfrm>
            <a:off x="8233813" y="4787455"/>
            <a:ext cx="3133" cy="112900"/>
          </a:xfrm>
          <a:custGeom>
            <a:avLst/>
            <a:gdLst/>
            <a:ahLst/>
            <a:cxnLst/>
            <a:rect l="0" t="0" r="0" b="0"/>
            <a:pathLst>
              <a:path w="4" h="177">
                <a:moveTo>
                  <a:pt x="2" y="1"/>
                </a:moveTo>
                <a:lnTo>
                  <a:pt x="2" y="175"/>
                </a:lnTo>
              </a:path>
            </a:pathLst>
          </a:custGeom>
          <a:noFill/>
          <a:ln w="2813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oup 206"/>
          <p:cNvGrpSpPr/>
          <p:nvPr/>
        </p:nvGrpSpPr>
        <p:grpSpPr>
          <a:xfrm rot="21600000">
            <a:off x="608076" y="3855720"/>
            <a:ext cx="2913887" cy="1926335"/>
            <a:chOff x="0" y="0"/>
            <a:chExt cx="2913887" cy="1926335"/>
          </a:xfrm>
        </p:grpSpPr>
        <p:pic>
          <p:nvPicPr>
            <p:cNvPr id="624" name="picture 6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913887" cy="1926335"/>
            </a:xfrm>
            <a:prstGeom prst="rect">
              <a:avLst/>
            </a:prstGeom>
          </p:spPr>
        </p:pic>
        <p:sp>
          <p:nvSpPr>
            <p:cNvPr id="625" name="textbox 625"/>
            <p:cNvSpPr/>
            <p:nvPr/>
          </p:nvSpPr>
          <p:spPr>
            <a:xfrm>
              <a:off x="-12700" y="-12700"/>
              <a:ext cx="2939414" cy="197040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lang="en-US" altLang="en-US" sz="900" dirty="0"/>
            </a:p>
            <a:p>
              <a:pPr marL="554990" algn="l" rtl="0" eaLnBrk="0">
                <a:lnSpc>
                  <a:spcPts val="1850"/>
                </a:lnSpc>
                <a:spcBef>
                  <a:spcPts val="0"/>
                </a:spcBef>
              </a:pPr>
              <a:r>
                <a:rPr sz="1500" spc="10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如何做好机会点管</a:t>
              </a:r>
              <a:r>
                <a:rPr sz="1500" spc="3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</a:t>
              </a:r>
              <a:endParaRPr lang="en-US" altLang="en-US" sz="1500" dirty="0"/>
            </a:p>
            <a:p>
              <a:pPr algn="l" rtl="0" eaLnBrk="0">
                <a:lnSpc>
                  <a:spcPct val="116000"/>
                </a:lnSpc>
              </a:pPr>
              <a:endParaRPr lang="en-US" altLang="en-US" sz="400" dirty="0"/>
            </a:p>
            <a:p>
              <a:pPr marL="290830" indent="-177800" algn="l" rtl="0" eaLnBrk="0">
                <a:lnSpc>
                  <a:spcPct val="151000"/>
                </a:lnSpc>
                <a:spcBef>
                  <a:spcPts val="0"/>
                </a:spcBef>
              </a:pPr>
              <a:r>
                <a:rPr sz="140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</a:t>
              </a:r>
              <a:r>
                <a:rPr sz="14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客户经理作为机会点跟进的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责任   </a:t>
              </a:r>
              <a:r>
                <a:rPr sz="14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主体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，负责机会点信息的跟踪和   </a:t>
              </a:r>
              <a:r>
                <a:rPr sz="14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完善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，并不断的更新。营销经理   </a:t>
              </a:r>
              <a:r>
                <a:rPr sz="14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及时给予协助和</a:t>
              </a: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导。</a:t>
              </a:r>
              <a:endParaRPr lang="en-US" altLang="en-US" sz="1400" dirty="0"/>
            </a:p>
          </p:txBody>
        </p:sp>
      </p:grpSp>
      <p:grpSp>
        <p:nvGrpSpPr>
          <p:cNvPr id="208" name="group 208"/>
          <p:cNvGrpSpPr/>
          <p:nvPr/>
        </p:nvGrpSpPr>
        <p:grpSpPr>
          <a:xfrm rot="21600000">
            <a:off x="608076" y="1391411"/>
            <a:ext cx="2903220" cy="1927859"/>
            <a:chOff x="0" y="0"/>
            <a:chExt cx="2903220" cy="1927859"/>
          </a:xfrm>
        </p:grpSpPr>
        <p:grpSp>
          <p:nvGrpSpPr>
            <p:cNvPr id="210" name="group 210"/>
            <p:cNvGrpSpPr/>
            <p:nvPr/>
          </p:nvGrpSpPr>
          <p:grpSpPr>
            <a:xfrm rot="21600000">
              <a:off x="0" y="0"/>
              <a:ext cx="2903220" cy="1927859"/>
              <a:chOff x="0" y="0"/>
              <a:chExt cx="2903220" cy="1927859"/>
            </a:xfrm>
          </p:grpSpPr>
          <p:sp>
            <p:nvSpPr>
              <p:cNvPr id="626" name="path"/>
              <p:cNvSpPr/>
              <p:nvPr/>
            </p:nvSpPr>
            <p:spPr>
              <a:xfrm>
                <a:off x="0" y="411479"/>
                <a:ext cx="2903220" cy="1516379"/>
              </a:xfrm>
              <a:custGeom>
                <a:avLst/>
                <a:gdLst/>
                <a:ahLst/>
                <a:cxnLst/>
                <a:rect l="0" t="0" r="0" b="0"/>
                <a:pathLst>
                  <a:path w="4572" h="2387">
                    <a:moveTo>
                      <a:pt x="0" y="2387"/>
                    </a:moveTo>
                    <a:lnTo>
                      <a:pt x="4572" y="2387"/>
                    </a:lnTo>
                    <a:lnTo>
                      <a:pt x="4572" y="0"/>
                    </a:lnTo>
                    <a:lnTo>
                      <a:pt x="0" y="0"/>
                    </a:lnTo>
                    <a:lnTo>
                      <a:pt x="0" y="2387"/>
                    </a:lnTo>
                    <a:close/>
                  </a:path>
                </a:pathLst>
              </a:custGeom>
              <a:solidFill>
                <a:srgbClr val="E6E6E6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7" name="path"/>
              <p:cNvSpPr/>
              <p:nvPr/>
            </p:nvSpPr>
            <p:spPr>
              <a:xfrm>
                <a:off x="0" y="0"/>
                <a:ext cx="2901695" cy="437388"/>
              </a:xfrm>
              <a:custGeom>
                <a:avLst/>
                <a:gdLst/>
                <a:ahLst/>
                <a:cxnLst/>
                <a:rect l="0" t="0" r="0" b="0"/>
                <a:pathLst>
                  <a:path w="4569" h="688">
                    <a:moveTo>
                      <a:pt x="0" y="688"/>
                    </a:moveTo>
                    <a:lnTo>
                      <a:pt x="4569" y="688"/>
                    </a:lnTo>
                    <a:lnTo>
                      <a:pt x="4569" y="0"/>
                    </a:lnTo>
                    <a:lnTo>
                      <a:pt x="0" y="0"/>
                    </a:lnTo>
                    <a:lnTo>
                      <a:pt x="0" y="688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28" name="textbox 628"/>
            <p:cNvSpPr/>
            <p:nvPr/>
          </p:nvSpPr>
          <p:spPr>
            <a:xfrm>
              <a:off x="-12700" y="-12700"/>
              <a:ext cx="2929254" cy="197103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lang="en-US" altLang="en-US" sz="900" dirty="0"/>
            </a:p>
            <a:p>
              <a:pPr marL="249555" algn="l" rtl="0" eaLnBrk="0">
                <a:lnSpc>
                  <a:spcPts val="1850"/>
                </a:lnSpc>
                <a:spcBef>
                  <a:spcPts val="0"/>
                </a:spcBef>
              </a:pPr>
              <a:r>
                <a:rPr sz="1500" spc="10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验证机会点容易出现的问</a:t>
              </a:r>
              <a:r>
                <a:rPr sz="1500" spc="3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题</a:t>
              </a:r>
              <a:endParaRPr lang="en-US" altLang="en-US" sz="1500" dirty="0"/>
            </a:p>
            <a:p>
              <a:pPr marL="113030" algn="l" rtl="0" eaLnBrk="0">
                <a:lnSpc>
                  <a:spcPct val="97000"/>
                </a:lnSpc>
                <a:spcBef>
                  <a:spcPts val="1505"/>
                </a:spcBef>
              </a:pPr>
              <a:r>
                <a:rPr sz="140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</a:t>
              </a:r>
              <a:r>
                <a:rPr sz="140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机会点信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息不准确</a:t>
              </a:r>
              <a:endParaRPr lang="en-US" altLang="en-US" sz="1400" dirty="0"/>
            </a:p>
            <a:p>
              <a:pPr marL="113030" algn="l" rtl="0" eaLnBrk="0">
                <a:lnSpc>
                  <a:spcPct val="97000"/>
                </a:lnSpc>
                <a:spcBef>
                  <a:spcPts val="890"/>
                </a:spcBef>
              </a:pPr>
              <a:r>
                <a:rPr sz="140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</a:t>
              </a:r>
              <a:r>
                <a:rPr sz="140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客户资信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信息缺失</a:t>
              </a:r>
              <a:endParaRPr lang="en-US" altLang="en-US" sz="1400" dirty="0"/>
            </a:p>
            <a:p>
              <a:pPr marL="113030" algn="l" rtl="0" eaLnBrk="0">
                <a:lnSpc>
                  <a:spcPct val="97000"/>
                </a:lnSpc>
                <a:spcBef>
                  <a:spcPts val="890"/>
                </a:spcBef>
              </a:pPr>
              <a:r>
                <a:rPr sz="140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</a:t>
              </a:r>
              <a:r>
                <a:rPr sz="140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立项不</a:t>
              </a:r>
              <a:r>
                <a:rPr sz="14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及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时</a:t>
              </a:r>
              <a:endParaRPr lang="en-US" altLang="en-US" sz="14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700" dirty="0"/>
            </a:p>
            <a:p>
              <a:pPr marL="113030" algn="l" rtl="0" eaLnBrk="0">
                <a:lnSpc>
                  <a:spcPct val="97000"/>
                </a:lnSpc>
                <a:spcBef>
                  <a:spcPts val="5"/>
                </a:spcBef>
              </a:pPr>
              <a:r>
                <a:rPr sz="140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</a:t>
              </a:r>
              <a:r>
                <a:rPr sz="140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突发机会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点比率较高</a:t>
              </a:r>
              <a:endParaRPr lang="en-US" altLang="en-US" sz="1400" dirty="0"/>
            </a:p>
          </p:txBody>
        </p:sp>
      </p:grpSp>
      <p:sp>
        <p:nvSpPr>
          <p:cNvPr id="629" name="rect"/>
          <p:cNvSpPr/>
          <p:nvPr/>
        </p:nvSpPr>
        <p:spPr>
          <a:xfrm>
            <a:off x="7225284" y="4628388"/>
            <a:ext cx="1143000" cy="76200"/>
          </a:xfrm>
          <a:prstGeom prst="rect">
            <a:avLst/>
          </a:prstGeom>
          <a:solidFill>
            <a:srgbClr val="B2B2B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0" name="path"/>
          <p:cNvSpPr/>
          <p:nvPr/>
        </p:nvSpPr>
        <p:spPr>
          <a:xfrm>
            <a:off x="6596301" y="2058606"/>
            <a:ext cx="959260" cy="727582"/>
          </a:xfrm>
          <a:custGeom>
            <a:avLst/>
            <a:gdLst/>
            <a:ahLst/>
            <a:cxnLst/>
            <a:rect l="0" t="0" r="0" b="0"/>
            <a:pathLst>
              <a:path w="1510" h="1145">
                <a:moveTo>
                  <a:pt x="35" y="1097"/>
                </a:moveTo>
                <a:lnTo>
                  <a:pt x="1475" y="48"/>
                </a:lnTo>
              </a:path>
            </a:pathLst>
          </a:custGeom>
          <a:noFill/>
          <a:ln w="76200" cap="flat">
            <a:solidFill>
              <a:srgbClr val="B2B2B2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31" name="picture 6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612891" y="2386583"/>
            <a:ext cx="1658112" cy="2825496"/>
          </a:xfrm>
          <a:prstGeom prst="rect">
            <a:avLst/>
          </a:prstGeom>
        </p:spPr>
      </p:pic>
      <p:sp>
        <p:nvSpPr>
          <p:cNvPr id="632" name="textbox 632"/>
          <p:cNvSpPr/>
          <p:nvPr/>
        </p:nvSpPr>
        <p:spPr>
          <a:xfrm>
            <a:off x="573607" y="269576"/>
            <a:ext cx="7463790" cy="4368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0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2.1项目立项/验证机会点：把握机会，赢得竞</a:t>
            </a:r>
            <a:r>
              <a:rPr sz="2700" spc="9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争</a:t>
            </a:r>
            <a:endParaRPr lang="en-US" altLang="en-US" sz="2700" dirty="0"/>
          </a:p>
        </p:txBody>
      </p:sp>
      <p:grpSp>
        <p:nvGrpSpPr>
          <p:cNvPr id="212" name="group 212"/>
          <p:cNvGrpSpPr/>
          <p:nvPr/>
        </p:nvGrpSpPr>
        <p:grpSpPr>
          <a:xfrm rot="21600000">
            <a:off x="8337804" y="3311188"/>
            <a:ext cx="987552" cy="1894795"/>
            <a:chOff x="0" y="0"/>
            <a:chExt cx="987552" cy="1894795"/>
          </a:xfrm>
        </p:grpSpPr>
        <p:sp>
          <p:nvSpPr>
            <p:cNvPr id="633" name="path"/>
            <p:cNvSpPr/>
            <p:nvPr/>
          </p:nvSpPr>
          <p:spPr>
            <a:xfrm>
              <a:off x="470030" y="0"/>
              <a:ext cx="433061" cy="1050962"/>
            </a:xfrm>
            <a:custGeom>
              <a:avLst/>
              <a:gdLst/>
              <a:ahLst/>
              <a:cxnLst/>
              <a:rect l="0" t="0" r="0" b="0"/>
              <a:pathLst>
                <a:path w="681" h="1655">
                  <a:moveTo>
                    <a:pt x="625" y="19"/>
                  </a:moveTo>
                  <a:lnTo>
                    <a:pt x="56" y="1635"/>
                  </a:lnTo>
                </a:path>
              </a:pathLst>
            </a:custGeom>
            <a:noFill/>
            <a:ln w="76200" cap="flat">
              <a:solidFill>
                <a:srgbClr val="B2B2B2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4" name="path"/>
            <p:cNvSpPr/>
            <p:nvPr/>
          </p:nvSpPr>
          <p:spPr>
            <a:xfrm>
              <a:off x="38100" y="1015447"/>
              <a:ext cx="911352" cy="841248"/>
            </a:xfrm>
            <a:custGeom>
              <a:avLst/>
              <a:gdLst/>
              <a:ahLst/>
              <a:cxnLst/>
              <a:rect l="0" t="0" r="0" b="0"/>
              <a:pathLst>
                <a:path w="1435" h="1324">
                  <a:moveTo>
                    <a:pt x="0" y="506"/>
                  </a:moveTo>
                  <a:lnTo>
                    <a:pt x="717" y="0"/>
                  </a:lnTo>
                  <a:lnTo>
                    <a:pt x="1435" y="506"/>
                  </a:lnTo>
                  <a:lnTo>
                    <a:pt x="1161" y="1324"/>
                  </a:lnTo>
                  <a:lnTo>
                    <a:pt x="274" y="1324"/>
                  </a:lnTo>
                  <a:lnTo>
                    <a:pt x="0" y="506"/>
                  </a:lnTo>
                  <a:close/>
                </a:path>
              </a:pathLst>
            </a:custGeom>
            <a:solidFill>
              <a:srgbClr val="339966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5" name="path"/>
            <p:cNvSpPr/>
            <p:nvPr/>
          </p:nvSpPr>
          <p:spPr>
            <a:xfrm>
              <a:off x="0" y="977347"/>
              <a:ext cx="987552" cy="917448"/>
            </a:xfrm>
            <a:custGeom>
              <a:avLst/>
              <a:gdLst/>
              <a:ahLst/>
              <a:cxnLst/>
              <a:rect l="0" t="0" r="0" b="0"/>
              <a:pathLst>
                <a:path w="1555" h="1444">
                  <a:moveTo>
                    <a:pt x="60" y="566"/>
                  </a:moveTo>
                  <a:lnTo>
                    <a:pt x="777" y="60"/>
                  </a:lnTo>
                  <a:lnTo>
                    <a:pt x="1495" y="566"/>
                  </a:lnTo>
                  <a:lnTo>
                    <a:pt x="1221" y="1384"/>
                  </a:lnTo>
                  <a:lnTo>
                    <a:pt x="334" y="1384"/>
                  </a:lnTo>
                  <a:lnTo>
                    <a:pt x="60" y="566"/>
                  </a:lnTo>
                  <a:close/>
                </a:path>
              </a:pathLst>
            </a:custGeom>
            <a:noFill/>
            <a:ln w="76200" cap="flat">
              <a:solidFill>
                <a:srgbClr val="008000">
                  <a:alpha val="100000"/>
                </a:srgbClr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6" name="path"/>
            <p:cNvSpPr/>
            <p:nvPr/>
          </p:nvSpPr>
          <p:spPr>
            <a:xfrm>
              <a:off x="302513" y="1252429"/>
              <a:ext cx="408431" cy="472439"/>
            </a:xfrm>
            <a:custGeom>
              <a:avLst/>
              <a:gdLst/>
              <a:ahLst/>
              <a:cxnLst/>
              <a:rect l="0" t="0" r="0" b="0"/>
              <a:pathLst>
                <a:path w="643" h="743">
                  <a:moveTo>
                    <a:pt x="0" y="743"/>
                  </a:moveTo>
                  <a:lnTo>
                    <a:pt x="643" y="743"/>
                  </a:lnTo>
                  <a:lnTo>
                    <a:pt x="643" y="0"/>
                  </a:lnTo>
                  <a:lnTo>
                    <a:pt x="0" y="0"/>
                  </a:lnTo>
                  <a:lnTo>
                    <a:pt x="0" y="743"/>
                  </a:lnTo>
                  <a:close/>
                </a:path>
              </a:pathLst>
            </a:custGeom>
            <a:solidFill>
              <a:srgbClr val="292929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7" name="path"/>
            <p:cNvSpPr/>
            <p:nvPr/>
          </p:nvSpPr>
          <p:spPr>
            <a:xfrm>
              <a:off x="292988" y="1242904"/>
              <a:ext cx="427481" cy="491489"/>
            </a:xfrm>
            <a:custGeom>
              <a:avLst/>
              <a:gdLst/>
              <a:ahLst/>
              <a:cxnLst/>
              <a:rect l="0" t="0" r="0" b="0"/>
              <a:pathLst>
                <a:path w="673" h="773">
                  <a:moveTo>
                    <a:pt x="15" y="758"/>
                  </a:moveTo>
                  <a:lnTo>
                    <a:pt x="658" y="758"/>
                  </a:lnTo>
                  <a:lnTo>
                    <a:pt x="658" y="15"/>
                  </a:lnTo>
                  <a:lnTo>
                    <a:pt x="15" y="15"/>
                  </a:lnTo>
                  <a:lnTo>
                    <a:pt x="15" y="758"/>
                  </a:lnTo>
                  <a:close/>
                </a:path>
              </a:pathLst>
            </a:custGeom>
            <a:noFill/>
            <a:ln w="190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8" name="path"/>
            <p:cNvSpPr/>
            <p:nvPr/>
          </p:nvSpPr>
          <p:spPr>
            <a:xfrm>
              <a:off x="453390" y="1237189"/>
              <a:ext cx="106680" cy="100584"/>
            </a:xfrm>
            <a:custGeom>
              <a:avLst/>
              <a:gdLst/>
              <a:ahLst/>
              <a:cxnLst/>
              <a:rect l="0" t="0" r="0" b="0"/>
              <a:pathLst>
                <a:path w="168" h="158">
                  <a:moveTo>
                    <a:pt x="0" y="79"/>
                  </a:moveTo>
                  <a:cubicBezTo>
                    <a:pt x="0" y="35"/>
                    <a:pt x="37" y="0"/>
                    <a:pt x="84" y="0"/>
                  </a:cubicBezTo>
                  <a:cubicBezTo>
                    <a:pt x="130" y="0"/>
                    <a:pt x="168" y="35"/>
                    <a:pt x="168" y="79"/>
                  </a:cubicBezTo>
                  <a:cubicBezTo>
                    <a:pt x="168" y="123"/>
                    <a:pt x="130" y="158"/>
                    <a:pt x="84" y="158"/>
                  </a:cubicBezTo>
                  <a:cubicBezTo>
                    <a:pt x="37" y="158"/>
                    <a:pt x="0" y="123"/>
                    <a:pt x="0" y="79"/>
                  </a:cubicBezTo>
                </a:path>
              </a:pathLst>
            </a:custGeom>
            <a:solidFill>
              <a:srgbClr val="292929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9" name="path"/>
            <p:cNvSpPr/>
            <p:nvPr/>
          </p:nvSpPr>
          <p:spPr>
            <a:xfrm>
              <a:off x="443865" y="1227664"/>
              <a:ext cx="125730" cy="119634"/>
            </a:xfrm>
            <a:custGeom>
              <a:avLst/>
              <a:gdLst/>
              <a:ahLst/>
              <a:cxnLst/>
              <a:rect l="0" t="0" r="0" b="0"/>
              <a:pathLst>
                <a:path w="198" h="188">
                  <a:moveTo>
                    <a:pt x="15" y="94"/>
                  </a:moveTo>
                  <a:cubicBezTo>
                    <a:pt x="15" y="50"/>
                    <a:pt x="52" y="15"/>
                    <a:pt x="99" y="15"/>
                  </a:cubicBezTo>
                  <a:cubicBezTo>
                    <a:pt x="145" y="15"/>
                    <a:pt x="183" y="50"/>
                    <a:pt x="183" y="94"/>
                  </a:cubicBezTo>
                  <a:cubicBezTo>
                    <a:pt x="183" y="138"/>
                    <a:pt x="145" y="173"/>
                    <a:pt x="99" y="173"/>
                  </a:cubicBezTo>
                  <a:cubicBezTo>
                    <a:pt x="52" y="173"/>
                    <a:pt x="15" y="138"/>
                    <a:pt x="15" y="94"/>
                  </a:cubicBezTo>
                </a:path>
              </a:pathLst>
            </a:custGeom>
            <a:noFill/>
            <a:ln w="190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40" name="textbox 640"/>
          <p:cNvSpPr/>
          <p:nvPr/>
        </p:nvSpPr>
        <p:spPr>
          <a:xfrm>
            <a:off x="3976551" y="3078219"/>
            <a:ext cx="1428114" cy="13011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53000"/>
              </a:lnSpc>
            </a:pPr>
            <a:endParaRPr lang="en-US" altLang="en-US" sz="100" dirty="0"/>
          </a:p>
          <a:p>
            <a:pPr marL="346075" indent="-333375" algn="l" rtl="0" eaLnBrk="0">
              <a:lnSpc>
                <a:spcPct val="100000"/>
              </a:lnSpc>
            </a:pP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    分析机会点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否符合公司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略及其带来 </a:t>
            </a:r>
            <a:r>
              <a:rPr sz="140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的价值大小</a:t>
            </a: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定关注力度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投入规模</a:t>
            </a:r>
            <a:endParaRPr lang="en-US" altLang="en-US" sz="1400" dirty="0"/>
          </a:p>
        </p:txBody>
      </p:sp>
      <p:sp>
        <p:nvSpPr>
          <p:cNvPr id="641" name="textbox 641"/>
          <p:cNvSpPr/>
          <p:nvPr/>
        </p:nvSpPr>
        <p:spPr>
          <a:xfrm>
            <a:off x="4043634" y="4998205"/>
            <a:ext cx="1807210" cy="87439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lang="en-US" altLang="en-US" sz="100" dirty="0"/>
          </a:p>
          <a:p>
            <a:pPr marL="12700" indent="10795" algn="l" rtl="0" eaLnBrk="0">
              <a:lnSpc>
                <a:spcPct val="99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3、识别赢得项目及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要弥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补的能力差距，以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便制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定和实施有针对性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改进/提升计划</a:t>
            </a:r>
            <a:endParaRPr lang="en-US" altLang="en-US" sz="1400" dirty="0"/>
          </a:p>
        </p:txBody>
      </p:sp>
      <p:sp>
        <p:nvSpPr>
          <p:cNvPr id="642" name="textbox 642"/>
          <p:cNvSpPr/>
          <p:nvPr/>
        </p:nvSpPr>
        <p:spPr>
          <a:xfrm>
            <a:off x="10195413" y="3039865"/>
            <a:ext cx="1372869" cy="10877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53000"/>
              </a:lnSpc>
            </a:pPr>
            <a:endParaRPr lang="en-US" altLang="en-US" sz="100" dirty="0"/>
          </a:p>
          <a:p>
            <a:pPr marL="12700" indent="12700" algn="l" rtl="0" eaLnBrk="0">
              <a:lnSpc>
                <a:spcPct val="100000"/>
              </a:lnSpc>
            </a:pP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5、配置适当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的资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，建立基于项  </a:t>
            </a:r>
            <a:r>
              <a:rPr sz="14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目的销售团队</a:t>
            </a: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确任务、分工 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</a:t>
            </a:r>
            <a:endParaRPr lang="en-US" altLang="en-US" sz="1400" dirty="0"/>
          </a:p>
        </p:txBody>
      </p:sp>
      <p:sp>
        <p:nvSpPr>
          <p:cNvPr id="643" name="path"/>
          <p:cNvSpPr/>
          <p:nvPr/>
        </p:nvSpPr>
        <p:spPr>
          <a:xfrm>
            <a:off x="8071342" y="2058746"/>
            <a:ext cx="958119" cy="734922"/>
          </a:xfrm>
          <a:custGeom>
            <a:avLst/>
            <a:gdLst/>
            <a:ahLst/>
            <a:cxnLst/>
            <a:rect l="0" t="0" r="0" b="0"/>
            <a:pathLst>
              <a:path w="1508" h="1157">
                <a:moveTo>
                  <a:pt x="1473" y="1109"/>
                </a:moveTo>
                <a:lnTo>
                  <a:pt x="35" y="48"/>
                </a:lnTo>
              </a:path>
            </a:pathLst>
          </a:custGeom>
          <a:noFill/>
          <a:ln w="76200" cap="flat">
            <a:solidFill>
              <a:srgbClr val="B2B2B2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14" name="group 214"/>
          <p:cNvGrpSpPr/>
          <p:nvPr/>
        </p:nvGrpSpPr>
        <p:grpSpPr>
          <a:xfrm rot="21600000">
            <a:off x="8961119" y="2394203"/>
            <a:ext cx="1034795" cy="958596"/>
            <a:chOff x="0" y="0"/>
            <a:chExt cx="1034795" cy="958596"/>
          </a:xfrm>
        </p:grpSpPr>
        <p:sp>
          <p:nvSpPr>
            <p:cNvPr id="644" name="path"/>
            <p:cNvSpPr/>
            <p:nvPr/>
          </p:nvSpPr>
          <p:spPr>
            <a:xfrm>
              <a:off x="38100" y="38100"/>
              <a:ext cx="958595" cy="882396"/>
            </a:xfrm>
            <a:custGeom>
              <a:avLst/>
              <a:gdLst/>
              <a:ahLst/>
              <a:cxnLst/>
              <a:rect l="0" t="0" r="0" b="0"/>
              <a:pathLst>
                <a:path w="1509" h="1389">
                  <a:moveTo>
                    <a:pt x="0" y="530"/>
                  </a:moveTo>
                  <a:lnTo>
                    <a:pt x="754" y="0"/>
                  </a:lnTo>
                  <a:lnTo>
                    <a:pt x="1509" y="530"/>
                  </a:lnTo>
                  <a:lnTo>
                    <a:pt x="1221" y="1389"/>
                  </a:lnTo>
                  <a:lnTo>
                    <a:pt x="288" y="1389"/>
                  </a:lnTo>
                  <a:lnTo>
                    <a:pt x="0" y="530"/>
                  </a:lnTo>
                  <a:close/>
                </a:path>
              </a:pathLst>
            </a:custGeom>
            <a:solidFill>
              <a:srgbClr val="333399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5" name="path"/>
            <p:cNvSpPr/>
            <p:nvPr/>
          </p:nvSpPr>
          <p:spPr>
            <a:xfrm>
              <a:off x="0" y="0"/>
              <a:ext cx="1034795" cy="958596"/>
            </a:xfrm>
            <a:custGeom>
              <a:avLst/>
              <a:gdLst/>
              <a:ahLst/>
              <a:cxnLst/>
              <a:rect l="0" t="0" r="0" b="0"/>
              <a:pathLst>
                <a:path w="1629" h="1509">
                  <a:moveTo>
                    <a:pt x="60" y="590"/>
                  </a:moveTo>
                  <a:lnTo>
                    <a:pt x="814" y="60"/>
                  </a:lnTo>
                  <a:lnTo>
                    <a:pt x="1569" y="590"/>
                  </a:lnTo>
                  <a:lnTo>
                    <a:pt x="1281" y="1449"/>
                  </a:lnTo>
                  <a:lnTo>
                    <a:pt x="348" y="1449"/>
                  </a:lnTo>
                  <a:lnTo>
                    <a:pt x="60" y="590"/>
                  </a:lnTo>
                  <a:close/>
                </a:path>
              </a:pathLst>
            </a:custGeom>
            <a:noFill/>
            <a:ln w="76200" cap="flat">
              <a:solidFill>
                <a:srgbClr val="333399">
                  <a:alpha val="100000"/>
                </a:srgbClr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6" name="path"/>
            <p:cNvSpPr/>
            <p:nvPr/>
          </p:nvSpPr>
          <p:spPr>
            <a:xfrm>
              <a:off x="276606" y="363473"/>
              <a:ext cx="498347" cy="362711"/>
            </a:xfrm>
            <a:custGeom>
              <a:avLst/>
              <a:gdLst/>
              <a:ahLst/>
              <a:cxnLst/>
              <a:rect l="0" t="0" r="0" b="0"/>
              <a:pathLst>
                <a:path w="784" h="571">
                  <a:moveTo>
                    <a:pt x="0" y="95"/>
                  </a:moveTo>
                  <a:moveTo>
                    <a:pt x="0" y="95"/>
                  </a:moveTo>
                  <a:cubicBezTo>
                    <a:pt x="0" y="42"/>
                    <a:pt x="42" y="0"/>
                    <a:pt x="95" y="0"/>
                  </a:cubicBezTo>
                  <a:lnTo>
                    <a:pt x="689" y="0"/>
                  </a:lnTo>
                  <a:cubicBezTo>
                    <a:pt x="742" y="0"/>
                    <a:pt x="784" y="42"/>
                    <a:pt x="784" y="95"/>
                  </a:cubicBezTo>
                  <a:lnTo>
                    <a:pt x="784" y="476"/>
                  </a:lnTo>
                  <a:cubicBezTo>
                    <a:pt x="784" y="528"/>
                    <a:pt x="742" y="571"/>
                    <a:pt x="689" y="571"/>
                  </a:cubicBezTo>
                  <a:lnTo>
                    <a:pt x="95" y="571"/>
                  </a:lnTo>
                  <a:cubicBezTo>
                    <a:pt x="42" y="571"/>
                    <a:pt x="0" y="528"/>
                    <a:pt x="0" y="476"/>
                  </a:cubicBezTo>
                  <a:lnTo>
                    <a:pt x="0" y="95"/>
                  </a:lnTo>
                  <a:close/>
                </a:path>
              </a:pathLst>
            </a:custGeom>
            <a:solidFill>
              <a:srgbClr val="292929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7" name="path"/>
            <p:cNvSpPr/>
            <p:nvPr/>
          </p:nvSpPr>
          <p:spPr>
            <a:xfrm>
              <a:off x="267081" y="353948"/>
              <a:ext cx="517397" cy="381761"/>
            </a:xfrm>
            <a:custGeom>
              <a:avLst/>
              <a:gdLst/>
              <a:ahLst/>
              <a:cxnLst/>
              <a:rect l="0" t="0" r="0" b="0"/>
              <a:pathLst>
                <a:path w="814" h="601">
                  <a:moveTo>
                    <a:pt x="15" y="110"/>
                  </a:moveTo>
                  <a:cubicBezTo>
                    <a:pt x="15" y="57"/>
                    <a:pt x="57" y="15"/>
                    <a:pt x="110" y="15"/>
                  </a:cubicBezTo>
                  <a:lnTo>
                    <a:pt x="704" y="15"/>
                  </a:lnTo>
                  <a:cubicBezTo>
                    <a:pt x="757" y="15"/>
                    <a:pt x="799" y="57"/>
                    <a:pt x="799" y="110"/>
                  </a:cubicBezTo>
                  <a:lnTo>
                    <a:pt x="799" y="491"/>
                  </a:lnTo>
                  <a:cubicBezTo>
                    <a:pt x="799" y="543"/>
                    <a:pt x="757" y="586"/>
                    <a:pt x="704" y="586"/>
                  </a:cubicBezTo>
                  <a:lnTo>
                    <a:pt x="110" y="586"/>
                  </a:lnTo>
                  <a:cubicBezTo>
                    <a:pt x="57" y="586"/>
                    <a:pt x="15" y="543"/>
                    <a:pt x="15" y="491"/>
                  </a:cubicBezTo>
                  <a:lnTo>
                    <a:pt x="15" y="110"/>
                  </a:lnTo>
                  <a:close/>
                </a:path>
              </a:pathLst>
            </a:custGeom>
            <a:noFill/>
            <a:ln w="190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8" name="path"/>
            <p:cNvSpPr/>
            <p:nvPr/>
          </p:nvSpPr>
          <p:spPr>
            <a:xfrm>
              <a:off x="426720" y="268224"/>
              <a:ext cx="184404" cy="166115"/>
            </a:xfrm>
            <a:custGeom>
              <a:avLst/>
              <a:gdLst/>
              <a:ahLst/>
              <a:cxnLst/>
              <a:rect l="0" t="0" r="0" b="0"/>
              <a:pathLst>
                <a:path w="290" h="261">
                  <a:moveTo>
                    <a:pt x="0" y="261"/>
                  </a:moveTo>
                  <a:lnTo>
                    <a:pt x="290" y="261"/>
                  </a:lnTo>
                  <a:lnTo>
                    <a:pt x="290" y="0"/>
                  </a:lnTo>
                  <a:lnTo>
                    <a:pt x="0" y="0"/>
                  </a:lnTo>
                  <a:lnTo>
                    <a:pt x="0" y="261"/>
                  </a:lnTo>
                  <a:close/>
                </a:path>
              </a:pathLst>
            </a:custGeom>
            <a:solidFill>
              <a:srgbClr val="292929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9" name="path"/>
            <p:cNvSpPr/>
            <p:nvPr/>
          </p:nvSpPr>
          <p:spPr>
            <a:xfrm>
              <a:off x="420370" y="261874"/>
              <a:ext cx="197104" cy="178815"/>
            </a:xfrm>
            <a:custGeom>
              <a:avLst/>
              <a:gdLst/>
              <a:ahLst/>
              <a:cxnLst/>
              <a:rect l="0" t="0" r="0" b="0"/>
              <a:pathLst>
                <a:path w="310" h="281">
                  <a:moveTo>
                    <a:pt x="10" y="271"/>
                  </a:moveTo>
                  <a:lnTo>
                    <a:pt x="300" y="271"/>
                  </a:lnTo>
                  <a:lnTo>
                    <a:pt x="300" y="10"/>
                  </a:lnTo>
                  <a:lnTo>
                    <a:pt x="10" y="10"/>
                  </a:lnTo>
                  <a:lnTo>
                    <a:pt x="10" y="271"/>
                  </a:lnTo>
                  <a:close/>
                </a:path>
              </a:pathLst>
            </a:custGeom>
            <a:noFill/>
            <a:ln w="1270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0" name="path"/>
            <p:cNvSpPr/>
            <p:nvPr/>
          </p:nvSpPr>
          <p:spPr>
            <a:xfrm>
              <a:off x="888182" y="687723"/>
              <a:ext cx="65136" cy="232245"/>
            </a:xfrm>
            <a:custGeom>
              <a:avLst/>
              <a:gdLst/>
              <a:ahLst/>
              <a:cxnLst/>
              <a:rect l="0" t="0" r="0" b="0"/>
              <a:pathLst>
                <a:path w="102" h="365">
                  <a:moveTo>
                    <a:pt x="95" y="363"/>
                  </a:moveTo>
                  <a:lnTo>
                    <a:pt x="7" y="1"/>
                  </a:lnTo>
                </a:path>
              </a:pathLst>
            </a:custGeom>
            <a:noFill/>
            <a:ln w="9525" cap="flat">
              <a:solidFill>
                <a:srgbClr val="333399">
                  <a:alpha val="100000"/>
                </a:srgbClr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51" name="textbox 651"/>
          <p:cNvSpPr/>
          <p:nvPr/>
        </p:nvSpPr>
        <p:spPr>
          <a:xfrm>
            <a:off x="9753248" y="5201532"/>
            <a:ext cx="1615439" cy="6616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lang="en-US" altLang="en-US" sz="100" dirty="0"/>
          </a:p>
          <a:p>
            <a:pPr marL="356235" indent="-343535" algn="l" rtl="0" eaLnBrk="0">
              <a:lnSpc>
                <a:spcPct val="99000"/>
              </a:lnSpc>
            </a:pPr>
            <a:r>
              <a:rPr sz="140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4、   初步识别项目</a:t>
            </a:r>
            <a:r>
              <a:rPr sz="14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蕴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藏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的风险，开启 全程风险管理</a:t>
            </a:r>
            <a:endParaRPr lang="en-US" altLang="en-US" sz="1400" dirty="0"/>
          </a:p>
        </p:txBody>
      </p:sp>
      <p:sp>
        <p:nvSpPr>
          <p:cNvPr id="652" name="rect"/>
          <p:cNvSpPr/>
          <p:nvPr/>
        </p:nvSpPr>
        <p:spPr>
          <a:xfrm>
            <a:off x="6776784" y="1331785"/>
            <a:ext cx="9525" cy="771525"/>
          </a:xfrm>
          <a:prstGeom prst="rect">
            <a:avLst/>
          </a:prstGeom>
          <a:solidFill>
            <a:srgbClr val="99CC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3" name="path"/>
          <p:cNvSpPr/>
          <p:nvPr/>
        </p:nvSpPr>
        <p:spPr>
          <a:xfrm>
            <a:off x="6776784" y="1446085"/>
            <a:ext cx="630555" cy="174878"/>
          </a:xfrm>
          <a:custGeom>
            <a:avLst/>
            <a:gdLst/>
            <a:ahLst/>
            <a:cxnLst/>
            <a:rect l="0" t="0" r="0" b="0"/>
            <a:pathLst>
              <a:path w="993" h="275">
                <a:moveTo>
                  <a:pt x="7" y="52"/>
                </a:moveTo>
                <a:lnTo>
                  <a:pt x="511" y="7"/>
                </a:lnTo>
                <a:lnTo>
                  <a:pt x="985" y="267"/>
                </a:lnTo>
              </a:path>
            </a:pathLst>
          </a:custGeom>
          <a:noFill/>
          <a:ln w="9525" cap="flat">
            <a:solidFill>
              <a:srgbClr val="99CC00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16" name="group 216"/>
          <p:cNvGrpSpPr/>
          <p:nvPr/>
        </p:nvGrpSpPr>
        <p:grpSpPr>
          <a:xfrm rot="21600000">
            <a:off x="7353300" y="1222247"/>
            <a:ext cx="995171" cy="928115"/>
            <a:chOff x="0" y="0"/>
            <a:chExt cx="995171" cy="928115"/>
          </a:xfrm>
        </p:grpSpPr>
        <p:sp>
          <p:nvSpPr>
            <p:cNvPr id="654" name="path"/>
            <p:cNvSpPr/>
            <p:nvPr/>
          </p:nvSpPr>
          <p:spPr>
            <a:xfrm>
              <a:off x="281177" y="408051"/>
              <a:ext cx="295275" cy="280034"/>
            </a:xfrm>
            <a:custGeom>
              <a:avLst/>
              <a:gdLst/>
              <a:ahLst/>
              <a:cxnLst/>
              <a:rect l="0" t="0" r="0" b="0"/>
              <a:pathLst>
                <a:path w="465" h="440">
                  <a:moveTo>
                    <a:pt x="0" y="440"/>
                  </a:moveTo>
                  <a:lnTo>
                    <a:pt x="465" y="440"/>
                  </a:lnTo>
                  <a:lnTo>
                    <a:pt x="465" y="0"/>
                  </a:lnTo>
                  <a:lnTo>
                    <a:pt x="0" y="0"/>
                  </a:lnTo>
                  <a:lnTo>
                    <a:pt x="0" y="440"/>
                  </a:lnTo>
                  <a:close/>
                </a:path>
              </a:pathLst>
            </a:custGeom>
            <a:solidFill>
              <a:srgbClr val="292929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5" name="path"/>
            <p:cNvSpPr/>
            <p:nvPr/>
          </p:nvSpPr>
          <p:spPr>
            <a:xfrm>
              <a:off x="576453" y="314705"/>
              <a:ext cx="93344" cy="373379"/>
            </a:xfrm>
            <a:custGeom>
              <a:avLst/>
              <a:gdLst/>
              <a:ahLst/>
              <a:cxnLst/>
              <a:rect l="0" t="0" r="0" b="0"/>
              <a:pathLst>
                <a:path w="146" h="587">
                  <a:moveTo>
                    <a:pt x="0" y="147"/>
                  </a:moveTo>
                  <a:lnTo>
                    <a:pt x="146" y="0"/>
                  </a:lnTo>
                  <a:lnTo>
                    <a:pt x="146" y="441"/>
                  </a:lnTo>
                  <a:lnTo>
                    <a:pt x="0" y="587"/>
                  </a:lnTo>
                  <a:lnTo>
                    <a:pt x="0" y="147"/>
                  </a:lnTo>
                  <a:close/>
                </a:path>
              </a:pathLst>
            </a:custGeom>
            <a:solidFill>
              <a:srgbClr val="212121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6" name="path"/>
            <p:cNvSpPr/>
            <p:nvPr/>
          </p:nvSpPr>
          <p:spPr>
            <a:xfrm>
              <a:off x="281177" y="314705"/>
              <a:ext cx="388619" cy="93345"/>
            </a:xfrm>
            <a:custGeom>
              <a:avLst/>
              <a:gdLst/>
              <a:ahLst/>
              <a:cxnLst/>
              <a:rect l="0" t="0" r="0" b="0"/>
              <a:pathLst>
                <a:path w="611" h="147">
                  <a:moveTo>
                    <a:pt x="0" y="147"/>
                  </a:moveTo>
                  <a:lnTo>
                    <a:pt x="146" y="0"/>
                  </a:lnTo>
                  <a:lnTo>
                    <a:pt x="611" y="0"/>
                  </a:lnTo>
                  <a:lnTo>
                    <a:pt x="465" y="147"/>
                  </a:lnTo>
                  <a:lnTo>
                    <a:pt x="0" y="147"/>
                  </a:lnTo>
                  <a:close/>
                </a:path>
              </a:pathLst>
            </a:custGeom>
            <a:solidFill>
              <a:srgbClr val="535353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7" name="path"/>
            <p:cNvSpPr/>
            <p:nvPr/>
          </p:nvSpPr>
          <p:spPr>
            <a:xfrm>
              <a:off x="271652" y="305180"/>
              <a:ext cx="407669" cy="392429"/>
            </a:xfrm>
            <a:custGeom>
              <a:avLst/>
              <a:gdLst/>
              <a:ahLst/>
              <a:cxnLst/>
              <a:rect l="0" t="0" r="0" b="0"/>
              <a:pathLst>
                <a:path w="641" h="617">
                  <a:moveTo>
                    <a:pt x="15" y="162"/>
                  </a:moveTo>
                  <a:lnTo>
                    <a:pt x="161" y="15"/>
                  </a:lnTo>
                  <a:lnTo>
                    <a:pt x="626" y="15"/>
                  </a:lnTo>
                  <a:lnTo>
                    <a:pt x="626" y="456"/>
                  </a:lnTo>
                  <a:lnTo>
                    <a:pt x="480" y="602"/>
                  </a:lnTo>
                  <a:lnTo>
                    <a:pt x="15" y="602"/>
                  </a:lnTo>
                  <a:lnTo>
                    <a:pt x="15" y="162"/>
                  </a:lnTo>
                  <a:close/>
                  <a:moveTo>
                    <a:pt x="15" y="162"/>
                  </a:moveTo>
                  <a:lnTo>
                    <a:pt x="480" y="162"/>
                  </a:lnTo>
                  <a:lnTo>
                    <a:pt x="626" y="15"/>
                  </a:lnTo>
                  <a:moveTo>
                    <a:pt x="480" y="162"/>
                  </a:moveTo>
                  <a:lnTo>
                    <a:pt x="480" y="602"/>
                  </a:lnTo>
                </a:path>
              </a:pathLst>
            </a:custGeom>
            <a:noFill/>
            <a:ln w="19050" cap="flat">
              <a:solidFill>
                <a:srgbClr val="FFFFFF">
                  <a:alpha val="100000"/>
                </a:srgbClr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8" name="path"/>
            <p:cNvSpPr/>
            <p:nvPr/>
          </p:nvSpPr>
          <p:spPr>
            <a:xfrm>
              <a:off x="38100" y="38100"/>
              <a:ext cx="918971" cy="851915"/>
            </a:xfrm>
            <a:custGeom>
              <a:avLst/>
              <a:gdLst/>
              <a:ahLst/>
              <a:cxnLst/>
              <a:rect l="0" t="0" r="0" b="0"/>
              <a:pathLst>
                <a:path w="1447" h="1341">
                  <a:moveTo>
                    <a:pt x="0" y="512"/>
                  </a:moveTo>
                  <a:lnTo>
                    <a:pt x="723" y="0"/>
                  </a:lnTo>
                  <a:lnTo>
                    <a:pt x="1447" y="512"/>
                  </a:lnTo>
                  <a:lnTo>
                    <a:pt x="1170" y="1341"/>
                  </a:lnTo>
                  <a:lnTo>
                    <a:pt x="276" y="1341"/>
                  </a:lnTo>
                  <a:lnTo>
                    <a:pt x="0" y="512"/>
                  </a:lnTo>
                  <a:close/>
                </a:path>
              </a:pathLst>
            </a:custGeom>
            <a:solidFill>
              <a:srgbClr val="0099CC">
                <a:alpha val="50196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9" name="path"/>
            <p:cNvSpPr/>
            <p:nvPr/>
          </p:nvSpPr>
          <p:spPr>
            <a:xfrm>
              <a:off x="0" y="0"/>
              <a:ext cx="995171" cy="928115"/>
            </a:xfrm>
            <a:custGeom>
              <a:avLst/>
              <a:gdLst/>
              <a:ahLst/>
              <a:cxnLst/>
              <a:rect l="0" t="0" r="0" b="0"/>
              <a:pathLst>
                <a:path w="1567" h="1461">
                  <a:moveTo>
                    <a:pt x="60" y="572"/>
                  </a:moveTo>
                  <a:lnTo>
                    <a:pt x="783" y="60"/>
                  </a:lnTo>
                  <a:lnTo>
                    <a:pt x="1507" y="572"/>
                  </a:lnTo>
                  <a:lnTo>
                    <a:pt x="1230" y="1401"/>
                  </a:lnTo>
                  <a:lnTo>
                    <a:pt x="336" y="1401"/>
                  </a:lnTo>
                  <a:lnTo>
                    <a:pt x="60" y="572"/>
                  </a:lnTo>
                  <a:close/>
                </a:path>
              </a:pathLst>
            </a:custGeom>
            <a:noFill/>
            <a:ln w="76200" cap="flat">
              <a:solidFill>
                <a:srgbClr val="0099CC">
                  <a:alpha val="100000"/>
                </a:srgbClr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60" name="textbox 660"/>
          <p:cNvSpPr/>
          <p:nvPr/>
        </p:nvSpPr>
        <p:spPr>
          <a:xfrm>
            <a:off x="5127754" y="1410963"/>
            <a:ext cx="1465580" cy="6604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338455" indent="-325755" algn="l" rtl="0" eaLnBrk="0">
              <a:lnSpc>
                <a:spcPct val="99000"/>
              </a:lnSpc>
            </a:pPr>
            <a:r>
              <a:rPr sz="140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    将项目信息</a:t>
            </a:r>
            <a:r>
              <a:rPr sz="14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营销项目管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，规范运作</a:t>
            </a:r>
            <a:endParaRPr lang="en-US" altLang="en-US" sz="1400" dirty="0"/>
          </a:p>
        </p:txBody>
      </p:sp>
      <p:sp>
        <p:nvSpPr>
          <p:cNvPr id="661" name="textbox 661"/>
          <p:cNvSpPr/>
          <p:nvPr/>
        </p:nvSpPr>
        <p:spPr>
          <a:xfrm>
            <a:off x="7312539" y="3075781"/>
            <a:ext cx="1040130" cy="7537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握机会</a:t>
            </a:r>
            <a:endParaRPr lang="en-US" altLang="en-US" sz="2000" dirty="0"/>
          </a:p>
          <a:p>
            <a:pPr marL="13335" algn="l" rtl="0" eaLnBrk="0">
              <a:lnSpc>
                <a:spcPts val="3600"/>
              </a:lnSpc>
            </a:pP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赢得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竞争</a:t>
            </a:r>
            <a:endParaRPr lang="en-US" altLang="en-US" sz="2000" dirty="0"/>
          </a:p>
        </p:txBody>
      </p:sp>
      <p:sp>
        <p:nvSpPr>
          <p:cNvPr id="662" name="textbox 662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64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5" name="path"/>
          <p:cNvSpPr/>
          <p:nvPr/>
        </p:nvSpPr>
        <p:spPr>
          <a:xfrm>
            <a:off x="6074854" y="5067109"/>
            <a:ext cx="274383" cy="687705"/>
          </a:xfrm>
          <a:custGeom>
            <a:avLst/>
            <a:gdLst/>
            <a:ahLst/>
            <a:cxnLst/>
            <a:rect l="0" t="0" r="0" b="0"/>
            <a:pathLst>
              <a:path w="432" h="1083">
                <a:moveTo>
                  <a:pt x="7" y="7"/>
                </a:moveTo>
                <a:lnTo>
                  <a:pt x="7" y="1075"/>
                </a:lnTo>
                <a:lnTo>
                  <a:pt x="7" y="7"/>
                </a:lnTo>
                <a:close/>
                <a:moveTo>
                  <a:pt x="7" y="207"/>
                </a:moveTo>
                <a:lnTo>
                  <a:pt x="432" y="207"/>
                </a:lnTo>
              </a:path>
            </a:pathLst>
          </a:custGeom>
          <a:noFill/>
          <a:ln w="9525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6" name="path"/>
          <p:cNvSpPr/>
          <p:nvPr/>
        </p:nvSpPr>
        <p:spPr>
          <a:xfrm>
            <a:off x="9292335" y="5221033"/>
            <a:ext cx="297116" cy="571880"/>
          </a:xfrm>
          <a:custGeom>
            <a:avLst/>
            <a:gdLst/>
            <a:ahLst/>
            <a:cxnLst/>
            <a:rect l="0" t="0" r="0" b="0"/>
            <a:pathLst>
              <a:path w="467" h="900">
                <a:moveTo>
                  <a:pt x="460" y="7"/>
                </a:moveTo>
                <a:lnTo>
                  <a:pt x="460" y="893"/>
                </a:lnTo>
                <a:lnTo>
                  <a:pt x="460" y="7"/>
                </a:lnTo>
                <a:close/>
                <a:moveTo>
                  <a:pt x="460" y="173"/>
                </a:moveTo>
                <a:lnTo>
                  <a:pt x="0" y="173"/>
                </a:lnTo>
              </a:path>
            </a:pathLst>
          </a:custGeom>
          <a:noFill/>
          <a:ln w="9525" cap="flat">
            <a:solidFill>
              <a:srgbClr val="009999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7" name="path"/>
          <p:cNvSpPr/>
          <p:nvPr/>
        </p:nvSpPr>
        <p:spPr>
          <a:xfrm>
            <a:off x="9909809" y="3160585"/>
            <a:ext cx="135953" cy="797433"/>
          </a:xfrm>
          <a:custGeom>
            <a:avLst/>
            <a:gdLst/>
            <a:ahLst/>
            <a:cxnLst/>
            <a:rect l="0" t="0" r="0" b="0"/>
            <a:pathLst>
              <a:path w="214" h="1255">
                <a:moveTo>
                  <a:pt x="206" y="7"/>
                </a:moveTo>
                <a:lnTo>
                  <a:pt x="206" y="1248"/>
                </a:lnTo>
                <a:lnTo>
                  <a:pt x="206" y="7"/>
                </a:lnTo>
                <a:close/>
                <a:moveTo>
                  <a:pt x="206" y="240"/>
                </a:moveTo>
                <a:lnTo>
                  <a:pt x="0" y="240"/>
                </a:lnTo>
              </a:path>
            </a:pathLst>
          </a:custGeom>
          <a:noFill/>
          <a:ln w="9525" cap="flat">
            <a:solidFill>
              <a:srgbClr val="333399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8" name="path"/>
          <p:cNvSpPr/>
          <p:nvPr/>
        </p:nvSpPr>
        <p:spPr>
          <a:xfrm>
            <a:off x="5549328" y="3419665"/>
            <a:ext cx="141922" cy="568833"/>
          </a:xfrm>
          <a:custGeom>
            <a:avLst/>
            <a:gdLst/>
            <a:ahLst/>
            <a:cxnLst/>
            <a:rect l="0" t="0" r="0" b="0"/>
            <a:pathLst>
              <a:path w="223" h="895">
                <a:moveTo>
                  <a:pt x="7" y="7"/>
                </a:moveTo>
                <a:lnTo>
                  <a:pt x="7" y="888"/>
                </a:lnTo>
                <a:lnTo>
                  <a:pt x="7" y="7"/>
                </a:lnTo>
                <a:close/>
                <a:moveTo>
                  <a:pt x="7" y="172"/>
                </a:moveTo>
                <a:lnTo>
                  <a:pt x="223" y="172"/>
                </a:lnTo>
              </a:path>
            </a:pathLst>
          </a:custGeom>
          <a:noFill/>
          <a:ln w="9525" cap="flat">
            <a:solidFill>
              <a:srgbClr val="BBE0E3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9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0" name="path"/>
          <p:cNvSpPr/>
          <p:nvPr/>
        </p:nvSpPr>
        <p:spPr>
          <a:xfrm>
            <a:off x="8981253" y="5139683"/>
            <a:ext cx="313555" cy="195593"/>
          </a:xfrm>
          <a:custGeom>
            <a:avLst/>
            <a:gdLst/>
            <a:ahLst/>
            <a:cxnLst/>
            <a:rect l="0" t="0" r="0" b="0"/>
            <a:pathLst>
              <a:path w="493" h="308">
                <a:moveTo>
                  <a:pt x="489" y="301"/>
                </a:moveTo>
                <a:lnTo>
                  <a:pt x="3" y="6"/>
                </a:lnTo>
              </a:path>
            </a:pathLst>
          </a:custGeom>
          <a:noFill/>
          <a:ln w="9525" cap="flat">
            <a:solidFill>
              <a:srgbClr val="009999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1" name="table 671"/>
          <p:cNvGraphicFramePr>
            <a:graphicFrameLocks noGrp="1"/>
          </p:cNvGraphicFramePr>
          <p:nvPr/>
        </p:nvGraphicFramePr>
        <p:xfrm>
          <a:off x="1038860" y="1454150"/>
          <a:ext cx="10086340" cy="1891665"/>
        </p:xfrm>
        <a:graphic>
          <a:graphicData uri="http://schemas.openxmlformats.org/drawingml/2006/table">
            <a:tbl>
              <a:tblPr/>
              <a:tblGrid>
                <a:gridCol w="2214880"/>
                <a:gridCol w="1908810"/>
                <a:gridCol w="2080895"/>
                <a:gridCol w="1860550"/>
                <a:gridCol w="2021204"/>
              </a:tblGrid>
              <a:tr h="372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700" dirty="0"/>
                    </a:p>
                    <a:p>
                      <a:pPr marL="933450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400" spc="-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</a:t>
                      </a:r>
                      <a:r>
                        <a:rPr sz="14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FA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700" dirty="0"/>
                    </a:p>
                    <a:p>
                      <a:pPr marL="90233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400" spc="2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FA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10007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FA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8864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FA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700" dirty="0"/>
                    </a:p>
                    <a:p>
                      <a:pPr marL="9709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FA2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337185" algn="l" rtl="0" eaLnBrk="0">
                        <a:lnSpc>
                          <a:spcPts val="1505"/>
                        </a:lnSpc>
                        <a:spcBef>
                          <a:spcPts val="0"/>
                        </a:spcBef>
                      </a:pP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公司/产品品牌认同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381000" algn="l" rtl="0" eaLnBrk="0">
                        <a:lnSpc>
                          <a:spcPts val="1505"/>
                        </a:lnSpc>
                        <a:spcBef>
                          <a:spcPts val="0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按公司方案上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878205" algn="l" rtl="0" eaLnBrk="0">
                        <a:lnSpc>
                          <a:spcPts val="1515"/>
                        </a:lnSpc>
                        <a:spcBef>
                          <a:spcPts val="0"/>
                        </a:spcBef>
                      </a:pP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认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605790" algn="l" rtl="0" eaLnBrk="0">
                        <a:lnSpc>
                          <a:spcPts val="1495"/>
                        </a:lnSpc>
                        <a:spcBef>
                          <a:spcPts val="0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无倾向</a:t>
                      </a: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性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762635" algn="l" rtl="0" eaLnBrk="0">
                        <a:lnSpc>
                          <a:spcPts val="1505"/>
                        </a:lnSpc>
                        <a:spcBef>
                          <a:spcPts val="0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不认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</a:tr>
              <a:tr h="3962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800" dirty="0"/>
                    </a:p>
                    <a:p>
                      <a:pPr marL="699770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客户成熟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800" dirty="0"/>
                    </a:p>
                    <a:p>
                      <a:pPr marL="465455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长期合作客</a:t>
                      </a:r>
                      <a:r>
                        <a:rPr sz="12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户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800" dirty="0"/>
                    </a:p>
                    <a:p>
                      <a:pPr marL="137160" algn="l" rtl="0" eaLnBrk="0">
                        <a:lnSpc>
                          <a:spcPts val="1505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有过合同且有过合作关</a:t>
                      </a:r>
                      <a:r>
                        <a:rPr sz="12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800" dirty="0"/>
                    </a:p>
                    <a:p>
                      <a:pPr marL="110490" algn="l" rtl="0" eaLnBrk="0">
                        <a:lnSpc>
                          <a:spcPts val="1505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有过合同或有合作关</a:t>
                      </a: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800" dirty="0"/>
                    </a:p>
                    <a:p>
                      <a:pPr marL="683895" algn="l" rtl="0" eaLnBrk="0">
                        <a:lnSpc>
                          <a:spcPts val="1505"/>
                        </a:lnSpc>
                        <a:spcBef>
                          <a:spcPts val="5"/>
                        </a:spcBef>
                      </a:pP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首次接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</a:tr>
              <a:tr h="3854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700" dirty="0"/>
                    </a:p>
                    <a:p>
                      <a:pPr marL="291465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主要竞争对手参与比</a:t>
                      </a:r>
                      <a:r>
                        <a:rPr sz="12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700" dirty="0"/>
                    </a:p>
                    <a:p>
                      <a:pPr marL="716280" algn="l" rtl="0" eaLnBrk="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(0,10%</a:t>
                      </a:r>
                      <a:r>
                        <a:rPr sz="12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]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700" dirty="0"/>
                    </a:p>
                    <a:p>
                      <a:pPr marL="680085" algn="l" rtl="0" eaLnBrk="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(10%,40%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]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700" dirty="0"/>
                    </a:p>
                    <a:p>
                      <a:pPr marL="571500" algn="l" rtl="0" eaLnBrk="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(40%,70%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]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700" dirty="0"/>
                    </a:p>
                    <a:p>
                      <a:pPr marL="600710" algn="l" rtl="0" eaLnBrk="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(70%,100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%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]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</a:tr>
              <a:tr h="372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701040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价格竞争</a:t>
                      </a: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力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792480" algn="l" rtl="0" eaLnBrk="0">
                        <a:lnSpc>
                          <a:spcPts val="1505"/>
                        </a:lnSpc>
                        <a:spcBef>
                          <a:spcPts val="5"/>
                        </a:spcBef>
                      </a:pP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很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963930" algn="l" rtl="0" eaLnBrk="0">
                        <a:lnSpc>
                          <a:spcPts val="1505"/>
                        </a:lnSpc>
                        <a:spcBef>
                          <a:spcPts val="5"/>
                        </a:spcBef>
                      </a:pP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marL="770255" algn="l" rtl="0" eaLnBrk="0">
                        <a:lnSpc>
                          <a:spcPts val="1510"/>
                        </a:lnSpc>
                        <a:spcBef>
                          <a:spcPts val="5"/>
                        </a:spcBef>
                      </a:pP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般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600" dirty="0"/>
                    </a:p>
                    <a:p>
                      <a:pPr marL="927100" algn="l" rtl="0" eaLnBrk="0">
                        <a:lnSpc>
                          <a:spcPct val="98000"/>
                        </a:lnSpc>
                      </a:pP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差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2" name="table 672"/>
          <p:cNvGraphicFramePr>
            <a:graphicFrameLocks noGrp="1"/>
          </p:cNvGraphicFramePr>
          <p:nvPr/>
        </p:nvGraphicFramePr>
        <p:xfrm>
          <a:off x="1038860" y="4277994"/>
          <a:ext cx="10086340" cy="1891664"/>
        </p:xfrm>
        <a:graphic>
          <a:graphicData uri="http://schemas.openxmlformats.org/drawingml/2006/table">
            <a:tbl>
              <a:tblPr/>
              <a:tblGrid>
                <a:gridCol w="2214880"/>
                <a:gridCol w="1908810"/>
                <a:gridCol w="2063114"/>
                <a:gridCol w="1878329"/>
                <a:gridCol w="2021204"/>
              </a:tblGrid>
              <a:tr h="372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933450" algn="l" rtl="0" eaLnBrk="0">
                        <a:lnSpc>
                          <a:spcPct val="98000"/>
                        </a:lnSpc>
                      </a:pPr>
                      <a:r>
                        <a:rPr sz="1400" spc="-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</a:t>
                      </a:r>
                      <a:r>
                        <a:rPr sz="14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FA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marL="90233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400" spc="2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FA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lang="en-US" altLang="en-US" sz="700" dirty="0"/>
                    </a:p>
                    <a:p>
                      <a:pPr marL="98996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FA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lang="en-US" altLang="en-US" sz="700" dirty="0"/>
                    </a:p>
                    <a:p>
                      <a:pPr marL="8947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FA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700" dirty="0"/>
                    </a:p>
                    <a:p>
                      <a:pPr marL="9709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5FA2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617220" algn="l" rtl="0" eaLnBrk="0">
                        <a:lnSpc>
                          <a:spcPts val="1500"/>
                        </a:lnSpc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客户企业性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质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215900" algn="l" rtl="0" eaLnBrk="0">
                        <a:lnSpc>
                          <a:spcPts val="1505"/>
                        </a:lnSpc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政府部门、大型央</a:t>
                      </a: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企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292735" algn="l" rtl="0" eaLnBrk="0">
                        <a:lnSpc>
                          <a:spcPts val="1505"/>
                        </a:lnSpc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地方国企、上市公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司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448310" algn="l" rtl="0" eaLnBrk="0">
                        <a:lnSpc>
                          <a:spcPts val="1505"/>
                        </a:lnSpc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大型民营企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693420" algn="l" rtl="0" eaLnBrk="0">
                        <a:lnSpc>
                          <a:spcPts val="1505"/>
                        </a:lnSpc>
                      </a:pP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民营企</a:t>
                      </a: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800" dirty="0"/>
                    </a:p>
                    <a:p>
                      <a:pPr marL="617220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客户财务状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况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800" dirty="0"/>
                    </a:p>
                    <a:p>
                      <a:pPr marL="792480" algn="l" rtl="0" eaLnBrk="0">
                        <a:lnSpc>
                          <a:spcPts val="1505"/>
                        </a:lnSpc>
                        <a:spcBef>
                          <a:spcPts val="5"/>
                        </a:spcBef>
                      </a:pP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很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好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800" dirty="0"/>
                    </a:p>
                    <a:p>
                      <a:pPr marL="953135" algn="l" rtl="0" eaLnBrk="0">
                        <a:lnSpc>
                          <a:spcPts val="1530"/>
                        </a:lnSpc>
                        <a:spcBef>
                          <a:spcPts val="5"/>
                        </a:spcBef>
                      </a:pP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好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800" dirty="0"/>
                    </a:p>
                    <a:p>
                      <a:pPr marL="777875" algn="l" rtl="0" eaLnBrk="0">
                        <a:lnSpc>
                          <a:spcPts val="1510"/>
                        </a:lnSpc>
                        <a:spcBef>
                          <a:spcPts val="5"/>
                        </a:spcBef>
                      </a:pP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般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marL="92710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差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</a:tr>
              <a:tr h="3854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marL="617220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客户付款历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史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marL="463550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无坏账无延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期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marL="541655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无坏账有延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期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marL="695960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无合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marL="763270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有坏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账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0"/>
                    </a:solidFill>
                  </a:tcPr>
                </a:tc>
              </a:tr>
              <a:tr h="372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619760" algn="l" rtl="0" eaLnBrk="0">
                        <a:lnSpc>
                          <a:spcPts val="151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行业盈利能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力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546735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高速发展</a:t>
                      </a:r>
                      <a:r>
                        <a:rPr sz="12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期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788035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发展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期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694055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稳定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期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763905" algn="l" rtl="0" eaLnBrk="0">
                        <a:lnSpc>
                          <a:spcPts val="1500"/>
                        </a:lnSpc>
                        <a:spcBef>
                          <a:spcPts val="5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衰退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期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0"/>
                    </a:solidFill>
                  </a:tcPr>
                </a:tc>
              </a:tr>
            </a:tbl>
          </a:graphicData>
        </a:graphic>
      </p:graphicFrame>
      <p:sp>
        <p:nvSpPr>
          <p:cNvPr id="673" name="textbox 673"/>
          <p:cNvSpPr/>
          <p:nvPr/>
        </p:nvSpPr>
        <p:spPr>
          <a:xfrm>
            <a:off x="573607" y="269576"/>
            <a:ext cx="6042659" cy="4368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2.2项目立项/验证机会点：机会点</a:t>
            </a:r>
            <a:r>
              <a:rPr sz="2700" spc="3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</a:t>
            </a:r>
            <a:endParaRPr lang="en-US" altLang="en-US" sz="2700" dirty="0"/>
          </a:p>
        </p:txBody>
      </p:sp>
      <p:sp>
        <p:nvSpPr>
          <p:cNvPr id="674" name="textbox 674"/>
          <p:cNvSpPr/>
          <p:nvPr/>
        </p:nvSpPr>
        <p:spPr>
          <a:xfrm>
            <a:off x="1266596" y="3885996"/>
            <a:ext cx="2733039" cy="2844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18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客户付款能力模</a:t>
            </a:r>
            <a:r>
              <a:rPr sz="1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(示例)</a:t>
            </a:r>
            <a:endParaRPr lang="en-US" altLang="en-US" sz="1800" dirty="0"/>
          </a:p>
        </p:txBody>
      </p:sp>
      <p:sp>
        <p:nvSpPr>
          <p:cNvPr id="675" name="textbox 675"/>
          <p:cNvSpPr/>
          <p:nvPr/>
        </p:nvSpPr>
        <p:spPr>
          <a:xfrm>
            <a:off x="1267282" y="1061770"/>
            <a:ext cx="2275204" cy="2844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180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成功概率估算(示例</a:t>
            </a:r>
            <a:r>
              <a:rPr sz="18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1800" dirty="0"/>
          </a:p>
        </p:txBody>
      </p:sp>
      <p:sp>
        <p:nvSpPr>
          <p:cNvPr id="676" name="textbox 676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78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9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picture 6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88863" y="1584947"/>
            <a:ext cx="4292346" cy="4235970"/>
          </a:xfrm>
          <a:prstGeom prst="rect">
            <a:avLst/>
          </a:prstGeom>
        </p:spPr>
      </p:pic>
      <p:grpSp>
        <p:nvGrpSpPr>
          <p:cNvPr id="218" name="group 218"/>
          <p:cNvGrpSpPr/>
          <p:nvPr/>
        </p:nvGrpSpPr>
        <p:grpSpPr>
          <a:xfrm rot="21600000">
            <a:off x="4089722" y="2784347"/>
            <a:ext cx="4504875" cy="1849374"/>
            <a:chOff x="0" y="0"/>
            <a:chExt cx="4504875" cy="1849374"/>
          </a:xfrm>
        </p:grpSpPr>
        <p:pic>
          <p:nvPicPr>
            <p:cNvPr id="681" name="picture 68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373560" y="0"/>
              <a:ext cx="2131314" cy="1849374"/>
            </a:xfrm>
            <a:prstGeom prst="rect">
              <a:avLst/>
            </a:prstGeom>
          </p:spPr>
        </p:pic>
        <p:sp>
          <p:nvSpPr>
            <p:cNvPr id="682" name="textbox 682"/>
            <p:cNvSpPr/>
            <p:nvPr/>
          </p:nvSpPr>
          <p:spPr>
            <a:xfrm>
              <a:off x="-12700" y="3168"/>
              <a:ext cx="3947159" cy="181927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lang="en-US" altLang="en-US" sz="100" dirty="0"/>
            </a:p>
            <a:p>
              <a:pPr marL="393065" indent="-335280" algn="l" rtl="0" eaLnBrk="0">
                <a:lnSpc>
                  <a:spcPct val="99000"/>
                </a:lnSpc>
              </a:pP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6、制定项目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目标                                                </a:t>
              </a: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及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成功标准</a:t>
              </a:r>
              <a:endParaRPr lang="en-US" altLang="en-US" sz="1400" dirty="0"/>
            </a:p>
            <a:p>
              <a:pPr algn="l" rtl="0" eaLnBrk="0">
                <a:lnSpc>
                  <a:spcPct val="145000"/>
                </a:lnSpc>
              </a:pPr>
              <a:endParaRPr lang="en-US" altLang="en-US" sz="1000" dirty="0"/>
            </a:p>
            <a:p>
              <a:pPr algn="r" rtl="0" eaLnBrk="0">
                <a:lnSpc>
                  <a:spcPct val="97000"/>
                </a:lnSpc>
                <a:spcBef>
                  <a:spcPts val="600"/>
                </a:spcBef>
              </a:pPr>
              <a:r>
                <a:rPr sz="2000" spc="0" dirty="0">
                  <a:solidFill>
                    <a:srgbClr val="1C1C1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项目章程</a:t>
              </a:r>
              <a:endParaRPr lang="en-US" altLang="en-US" sz="2000" dirty="0"/>
            </a:p>
            <a:p>
              <a:pPr algn="l" rtl="0" eaLnBrk="0">
                <a:lnSpc>
                  <a:spcPct val="198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19000"/>
                </a:lnSpc>
              </a:pPr>
              <a:endParaRPr lang="en-US" altLang="en-US" sz="300" dirty="0"/>
            </a:p>
            <a:p>
              <a:pPr marL="343535" indent="-330835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5、制定项目业绩及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                                 奖金分配方案</a:t>
              </a:r>
              <a:endParaRPr lang="en-US" altLang="en-US" sz="1400" dirty="0"/>
            </a:p>
          </p:txBody>
        </p:sp>
        <p:pic>
          <p:nvPicPr>
            <p:cNvPr id="683" name="picture 68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396677" y="187452"/>
              <a:ext cx="864108" cy="76200"/>
            </a:xfrm>
            <a:prstGeom prst="rect">
              <a:avLst/>
            </a:prstGeom>
          </p:spPr>
        </p:pic>
        <p:pic>
          <p:nvPicPr>
            <p:cNvPr id="684" name="picture 68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424109" y="1606296"/>
              <a:ext cx="864108" cy="76200"/>
            </a:xfrm>
            <a:prstGeom prst="rect">
              <a:avLst/>
            </a:prstGeom>
          </p:spPr>
        </p:pic>
      </p:grpSp>
      <p:grpSp>
        <p:nvGrpSpPr>
          <p:cNvPr id="220" name="group 220"/>
          <p:cNvGrpSpPr/>
          <p:nvPr/>
        </p:nvGrpSpPr>
        <p:grpSpPr>
          <a:xfrm rot="21600000">
            <a:off x="920496" y="1575815"/>
            <a:ext cx="2741676" cy="1571244"/>
            <a:chOff x="0" y="0"/>
            <a:chExt cx="2741676" cy="1571244"/>
          </a:xfrm>
        </p:grpSpPr>
        <p:grpSp>
          <p:nvGrpSpPr>
            <p:cNvPr id="222" name="group 222"/>
            <p:cNvGrpSpPr/>
            <p:nvPr/>
          </p:nvGrpSpPr>
          <p:grpSpPr>
            <a:xfrm rot="21600000">
              <a:off x="0" y="0"/>
              <a:ext cx="2741676" cy="1571244"/>
              <a:chOff x="0" y="0"/>
              <a:chExt cx="2741676" cy="1571244"/>
            </a:xfrm>
          </p:grpSpPr>
          <p:sp>
            <p:nvSpPr>
              <p:cNvPr id="685" name="path"/>
              <p:cNvSpPr/>
              <p:nvPr/>
            </p:nvSpPr>
            <p:spPr>
              <a:xfrm>
                <a:off x="0" y="348996"/>
                <a:ext cx="2741676" cy="1222247"/>
              </a:xfrm>
              <a:custGeom>
                <a:avLst/>
                <a:gdLst/>
                <a:ahLst/>
                <a:cxnLst/>
                <a:rect l="0" t="0" r="0" b="0"/>
                <a:pathLst>
                  <a:path w="4317" h="1924">
                    <a:moveTo>
                      <a:pt x="0" y="1924"/>
                    </a:moveTo>
                    <a:lnTo>
                      <a:pt x="4317" y="1924"/>
                    </a:lnTo>
                    <a:lnTo>
                      <a:pt x="4317" y="0"/>
                    </a:lnTo>
                    <a:lnTo>
                      <a:pt x="0" y="0"/>
                    </a:lnTo>
                    <a:lnTo>
                      <a:pt x="0" y="1924"/>
                    </a:lnTo>
                    <a:close/>
                  </a:path>
                </a:pathLst>
              </a:custGeom>
              <a:solidFill>
                <a:srgbClr val="E6E6E6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6" name="path"/>
              <p:cNvSpPr/>
              <p:nvPr/>
            </p:nvSpPr>
            <p:spPr>
              <a:xfrm>
                <a:off x="0" y="0"/>
                <a:ext cx="2729483" cy="348996"/>
              </a:xfrm>
              <a:custGeom>
                <a:avLst/>
                <a:gdLst/>
                <a:ahLst/>
                <a:cxnLst/>
                <a:rect l="0" t="0" r="0" b="0"/>
                <a:pathLst>
                  <a:path w="4298" h="549">
                    <a:moveTo>
                      <a:pt x="0" y="549"/>
                    </a:moveTo>
                    <a:lnTo>
                      <a:pt x="4298" y="549"/>
                    </a:lnTo>
                    <a:lnTo>
                      <a:pt x="4298" y="0"/>
                    </a:lnTo>
                    <a:lnTo>
                      <a:pt x="0" y="0"/>
                    </a:lnTo>
                    <a:lnTo>
                      <a:pt x="0" y="549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87" name="textbox 687"/>
            <p:cNvSpPr/>
            <p:nvPr/>
          </p:nvSpPr>
          <p:spPr>
            <a:xfrm>
              <a:off x="-12700" y="-12700"/>
              <a:ext cx="2767329" cy="161543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lang="en-US" altLang="en-US" sz="500" dirty="0"/>
            </a:p>
            <a:p>
              <a:pPr marL="93980" algn="l" rtl="0" eaLnBrk="0">
                <a:lnSpc>
                  <a:spcPts val="1850"/>
                </a:lnSpc>
                <a:spcBef>
                  <a:spcPts val="5"/>
                </a:spcBef>
              </a:pPr>
              <a:r>
                <a:rPr sz="1500" spc="10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分客户类</a:t>
              </a:r>
              <a:r>
                <a:rPr sz="1500" spc="6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型</a:t>
              </a:r>
              <a:endParaRPr lang="en-US" altLang="en-US" sz="1500" dirty="0"/>
            </a:p>
            <a:p>
              <a:pPr marL="113030" algn="l" rtl="0" eaLnBrk="0">
                <a:lnSpc>
                  <a:spcPct val="98000"/>
                </a:lnSpc>
                <a:spcBef>
                  <a:spcPts val="900"/>
                </a:spcBef>
              </a:pPr>
              <a:r>
                <a:rPr sz="140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</a:t>
              </a:r>
              <a:r>
                <a:rPr sz="14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政府</a:t>
              </a:r>
              <a:r>
                <a:rPr sz="140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</a:t>
              </a:r>
              <a:endParaRPr lang="en-US" altLang="en-US" sz="1400" dirty="0"/>
            </a:p>
            <a:p>
              <a:pPr marL="113030" algn="l" rtl="0" eaLnBrk="0">
                <a:lnSpc>
                  <a:spcPct val="98000"/>
                </a:lnSpc>
                <a:spcBef>
                  <a:spcPts val="40"/>
                </a:spcBef>
              </a:pPr>
              <a:r>
                <a:rPr sz="140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</a:t>
              </a:r>
              <a:r>
                <a:rPr sz="14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国企央</a:t>
              </a:r>
              <a:r>
                <a:rPr sz="14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企</a:t>
              </a:r>
              <a:endParaRPr lang="en-US" altLang="en-US" sz="1400" dirty="0"/>
            </a:p>
            <a:p>
              <a:pPr marL="113030" algn="l" rtl="0" eaLnBrk="0">
                <a:lnSpc>
                  <a:spcPct val="97000"/>
                </a:lnSpc>
                <a:spcBef>
                  <a:spcPts val="40"/>
                </a:spcBef>
              </a:pPr>
              <a:r>
                <a:rPr sz="140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</a:t>
              </a:r>
              <a:r>
                <a:rPr sz="14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大型集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团客户</a:t>
              </a:r>
              <a:endParaRPr lang="en-US" altLang="en-US" sz="1400" dirty="0"/>
            </a:p>
            <a:p>
              <a:pPr marL="113030" algn="l" rtl="0" eaLnBrk="0">
                <a:lnSpc>
                  <a:spcPct val="98000"/>
                </a:lnSpc>
                <a:spcBef>
                  <a:spcPts val="45"/>
                </a:spcBef>
              </a:pPr>
              <a:r>
                <a:rPr sz="140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</a:t>
              </a:r>
              <a:r>
                <a:rPr sz="14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上市</a:t>
              </a:r>
              <a:r>
                <a:rPr sz="140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公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司</a:t>
              </a:r>
              <a:endParaRPr lang="en-US" altLang="en-US" sz="1400" dirty="0"/>
            </a:p>
            <a:p>
              <a:pPr marL="113030" algn="l" rtl="0" eaLnBrk="0">
                <a:lnSpc>
                  <a:spcPct val="98000"/>
                </a:lnSpc>
                <a:spcBef>
                  <a:spcPts val="30"/>
                </a:spcBef>
              </a:pP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</a:t>
              </a: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中小企业 …</a:t>
              </a: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…</a:t>
              </a:r>
              <a:endParaRPr lang="en-US" altLang="en-US" sz="1400" dirty="0"/>
            </a:p>
          </p:txBody>
        </p:sp>
      </p:grpSp>
      <p:grpSp>
        <p:nvGrpSpPr>
          <p:cNvPr id="224" name="group 224"/>
          <p:cNvGrpSpPr/>
          <p:nvPr/>
        </p:nvGrpSpPr>
        <p:grpSpPr>
          <a:xfrm rot="21600000">
            <a:off x="920496" y="4860035"/>
            <a:ext cx="2741676" cy="1365503"/>
            <a:chOff x="0" y="0"/>
            <a:chExt cx="2741676" cy="1365503"/>
          </a:xfrm>
        </p:grpSpPr>
        <p:grpSp>
          <p:nvGrpSpPr>
            <p:cNvPr id="226" name="group 226"/>
            <p:cNvGrpSpPr/>
            <p:nvPr/>
          </p:nvGrpSpPr>
          <p:grpSpPr>
            <a:xfrm rot="21600000">
              <a:off x="0" y="0"/>
              <a:ext cx="2741676" cy="1365503"/>
              <a:chOff x="0" y="0"/>
              <a:chExt cx="2741676" cy="1365503"/>
            </a:xfrm>
          </p:grpSpPr>
          <p:sp>
            <p:nvSpPr>
              <p:cNvPr id="688" name="path"/>
              <p:cNvSpPr/>
              <p:nvPr/>
            </p:nvSpPr>
            <p:spPr>
              <a:xfrm>
                <a:off x="0" y="348995"/>
                <a:ext cx="2741676" cy="1016507"/>
              </a:xfrm>
              <a:custGeom>
                <a:avLst/>
                <a:gdLst/>
                <a:ahLst/>
                <a:cxnLst/>
                <a:rect l="0" t="0" r="0" b="0"/>
                <a:pathLst>
                  <a:path w="4317" h="1600">
                    <a:moveTo>
                      <a:pt x="0" y="1600"/>
                    </a:moveTo>
                    <a:lnTo>
                      <a:pt x="4317" y="1600"/>
                    </a:lnTo>
                    <a:lnTo>
                      <a:pt x="4317" y="0"/>
                    </a:lnTo>
                    <a:lnTo>
                      <a:pt x="0" y="0"/>
                    </a:lnTo>
                    <a:lnTo>
                      <a:pt x="0" y="1600"/>
                    </a:lnTo>
                    <a:close/>
                  </a:path>
                </a:pathLst>
              </a:custGeom>
              <a:solidFill>
                <a:srgbClr val="E6E6E6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9" name="path"/>
              <p:cNvSpPr/>
              <p:nvPr/>
            </p:nvSpPr>
            <p:spPr>
              <a:xfrm>
                <a:off x="0" y="0"/>
                <a:ext cx="2731007" cy="348995"/>
              </a:xfrm>
              <a:custGeom>
                <a:avLst/>
                <a:gdLst/>
                <a:ahLst/>
                <a:cxnLst/>
                <a:rect l="0" t="0" r="0" b="0"/>
                <a:pathLst>
                  <a:path w="4300" h="549">
                    <a:moveTo>
                      <a:pt x="0" y="549"/>
                    </a:moveTo>
                    <a:lnTo>
                      <a:pt x="4300" y="549"/>
                    </a:lnTo>
                    <a:lnTo>
                      <a:pt x="4300" y="0"/>
                    </a:lnTo>
                    <a:lnTo>
                      <a:pt x="0" y="0"/>
                    </a:lnTo>
                    <a:lnTo>
                      <a:pt x="0" y="549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90" name="textbox 690"/>
            <p:cNvSpPr/>
            <p:nvPr/>
          </p:nvSpPr>
          <p:spPr>
            <a:xfrm>
              <a:off x="-12700" y="-12700"/>
              <a:ext cx="2767329" cy="143192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lang="en-US" altLang="en-US" sz="500" dirty="0"/>
            </a:p>
            <a:p>
              <a:pPr marL="94615" algn="l" rtl="0" eaLnBrk="0">
                <a:lnSpc>
                  <a:spcPts val="1850"/>
                </a:lnSpc>
              </a:pPr>
              <a:r>
                <a:rPr sz="1500" spc="10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按规模和价</a:t>
              </a:r>
              <a:r>
                <a:rPr sz="1500" spc="5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值</a:t>
              </a:r>
              <a:endParaRPr lang="en-US" altLang="en-US" sz="1500" dirty="0"/>
            </a:p>
            <a:p>
              <a:pPr marL="107315" algn="l" rtl="0" eaLnBrk="0">
                <a:lnSpc>
                  <a:spcPct val="89000"/>
                </a:lnSpc>
                <a:spcBef>
                  <a:spcPts val="900"/>
                </a:spcBef>
              </a:pP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一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般项目</a:t>
              </a:r>
              <a:endParaRPr lang="en-US" altLang="en-US" sz="1400" dirty="0"/>
            </a:p>
            <a:p>
              <a:pPr marL="107950" algn="l" rtl="0" eaLnBrk="0">
                <a:lnSpc>
                  <a:spcPts val="1815"/>
                </a:lnSpc>
              </a:pP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大项目</a:t>
              </a:r>
              <a:endParaRPr lang="en-US" altLang="en-US" sz="1400" dirty="0"/>
            </a:p>
            <a:p>
              <a:pPr marL="104775" algn="l" rtl="0" eaLnBrk="0">
                <a:lnSpc>
                  <a:spcPct val="97000"/>
                </a:lnSpc>
                <a:spcBef>
                  <a:spcPts val="50"/>
                </a:spcBef>
              </a:pPr>
              <a:r>
                <a:rPr sz="14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特别重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大的战略项目</a:t>
              </a:r>
              <a:endParaRPr lang="en-US" altLang="en-US" sz="1400" dirty="0"/>
            </a:p>
            <a:p>
              <a:pPr algn="l" rtl="0" eaLnBrk="0">
                <a:lnSpc>
                  <a:spcPct val="107000"/>
                </a:lnSpc>
              </a:pPr>
              <a:endParaRPr lang="en-US" altLang="en-US" sz="800" dirty="0"/>
            </a:p>
            <a:p>
              <a:pPr marL="117475" algn="l" rtl="0" eaLnBrk="0">
                <a:lnSpc>
                  <a:spcPts val="495"/>
                </a:lnSpc>
                <a:spcBef>
                  <a:spcPts val="0"/>
                </a:spcBef>
              </a:pPr>
              <a:r>
                <a:rPr sz="14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…</a:t>
              </a: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…</a:t>
              </a:r>
              <a:endParaRPr lang="en-US" altLang="en-US" sz="1400" dirty="0"/>
            </a:p>
          </p:txBody>
        </p:sp>
      </p:grpSp>
      <p:grpSp>
        <p:nvGrpSpPr>
          <p:cNvPr id="228" name="group 228"/>
          <p:cNvGrpSpPr/>
          <p:nvPr/>
        </p:nvGrpSpPr>
        <p:grpSpPr>
          <a:xfrm rot="21600000">
            <a:off x="909827" y="3363467"/>
            <a:ext cx="2740151" cy="1365504"/>
            <a:chOff x="0" y="0"/>
            <a:chExt cx="2740151" cy="1365504"/>
          </a:xfrm>
        </p:grpSpPr>
        <p:grpSp>
          <p:nvGrpSpPr>
            <p:cNvPr id="230" name="group 230"/>
            <p:cNvGrpSpPr/>
            <p:nvPr/>
          </p:nvGrpSpPr>
          <p:grpSpPr>
            <a:xfrm rot="21600000">
              <a:off x="0" y="0"/>
              <a:ext cx="2740151" cy="1365504"/>
              <a:chOff x="0" y="0"/>
              <a:chExt cx="2740151" cy="1365504"/>
            </a:xfrm>
          </p:grpSpPr>
          <p:sp>
            <p:nvSpPr>
              <p:cNvPr id="691" name="path"/>
              <p:cNvSpPr/>
              <p:nvPr/>
            </p:nvSpPr>
            <p:spPr>
              <a:xfrm>
                <a:off x="0" y="348996"/>
                <a:ext cx="2740151" cy="1016507"/>
              </a:xfrm>
              <a:custGeom>
                <a:avLst/>
                <a:gdLst/>
                <a:ahLst/>
                <a:cxnLst/>
                <a:rect l="0" t="0" r="0" b="0"/>
                <a:pathLst>
                  <a:path w="4315" h="1600">
                    <a:moveTo>
                      <a:pt x="0" y="1600"/>
                    </a:moveTo>
                    <a:lnTo>
                      <a:pt x="4315" y="1600"/>
                    </a:lnTo>
                    <a:lnTo>
                      <a:pt x="4315" y="0"/>
                    </a:lnTo>
                    <a:lnTo>
                      <a:pt x="0" y="0"/>
                    </a:lnTo>
                    <a:lnTo>
                      <a:pt x="0" y="1600"/>
                    </a:lnTo>
                    <a:close/>
                  </a:path>
                </a:pathLst>
              </a:custGeom>
              <a:solidFill>
                <a:srgbClr val="E6E6E6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2" name="path"/>
              <p:cNvSpPr/>
              <p:nvPr/>
            </p:nvSpPr>
            <p:spPr>
              <a:xfrm>
                <a:off x="0" y="0"/>
                <a:ext cx="2729483" cy="348995"/>
              </a:xfrm>
              <a:custGeom>
                <a:avLst/>
                <a:gdLst/>
                <a:ahLst/>
                <a:cxnLst/>
                <a:rect l="0" t="0" r="0" b="0"/>
                <a:pathLst>
                  <a:path w="4298" h="549">
                    <a:moveTo>
                      <a:pt x="0" y="549"/>
                    </a:moveTo>
                    <a:lnTo>
                      <a:pt x="4298" y="549"/>
                    </a:lnTo>
                    <a:lnTo>
                      <a:pt x="4298" y="0"/>
                    </a:lnTo>
                    <a:lnTo>
                      <a:pt x="0" y="0"/>
                    </a:lnTo>
                    <a:lnTo>
                      <a:pt x="0" y="549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93" name="textbox 693"/>
            <p:cNvSpPr/>
            <p:nvPr/>
          </p:nvSpPr>
          <p:spPr>
            <a:xfrm>
              <a:off x="-12700" y="-12700"/>
              <a:ext cx="2766060" cy="143192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lang="en-US" altLang="en-US" sz="500" dirty="0"/>
            </a:p>
            <a:p>
              <a:pPr marL="93980" algn="l" rtl="0" eaLnBrk="0">
                <a:lnSpc>
                  <a:spcPts val="1850"/>
                </a:lnSpc>
                <a:spcBef>
                  <a:spcPts val="0"/>
                </a:spcBef>
              </a:pPr>
              <a:r>
                <a:rPr sz="1500" spc="10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分产品类</a:t>
              </a:r>
              <a:r>
                <a:rPr sz="1500" spc="6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型</a:t>
              </a:r>
              <a:endParaRPr lang="en-US" altLang="en-US" sz="1500" dirty="0"/>
            </a:p>
            <a:p>
              <a:pPr marL="107315" algn="l" rtl="0" eaLnBrk="0">
                <a:lnSpc>
                  <a:spcPct val="98000"/>
                </a:lnSpc>
                <a:spcBef>
                  <a:spcPts val="900"/>
                </a:spcBef>
              </a:pP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单产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</a:t>
              </a:r>
              <a:endParaRPr lang="en-US" altLang="en-US" sz="1400" dirty="0"/>
            </a:p>
            <a:p>
              <a:pPr marL="106045" algn="l" rtl="0" eaLnBrk="0">
                <a:lnSpc>
                  <a:spcPct val="89000"/>
                </a:lnSpc>
                <a:spcBef>
                  <a:spcPts val="40"/>
                </a:spcBef>
              </a:pP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解决方案</a:t>
              </a:r>
              <a:endParaRPr lang="en-US" altLang="en-US" sz="1400" dirty="0"/>
            </a:p>
            <a:p>
              <a:pPr marL="104775" algn="l" rtl="0" eaLnBrk="0">
                <a:lnSpc>
                  <a:spcPts val="1825"/>
                </a:lnSpc>
              </a:pPr>
              <a:r>
                <a:rPr sz="14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三方合作</a:t>
              </a:r>
              <a:endParaRPr lang="en-US" altLang="en-US" sz="14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800" dirty="0"/>
            </a:p>
            <a:p>
              <a:pPr marL="116840" algn="l" rtl="0" eaLnBrk="0">
                <a:lnSpc>
                  <a:spcPts val="495"/>
                </a:lnSpc>
                <a:spcBef>
                  <a:spcPts val="0"/>
                </a:spcBef>
              </a:pPr>
              <a:r>
                <a:rPr sz="14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…</a:t>
              </a: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…</a:t>
              </a:r>
              <a:endParaRPr lang="en-US" altLang="en-US" sz="1400" dirty="0"/>
            </a:p>
          </p:txBody>
        </p:sp>
      </p:grpSp>
      <p:sp>
        <p:nvSpPr>
          <p:cNvPr id="694" name="textbox 694"/>
          <p:cNvSpPr/>
          <p:nvPr/>
        </p:nvSpPr>
        <p:spPr>
          <a:xfrm>
            <a:off x="573607" y="269576"/>
            <a:ext cx="6397625" cy="4368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2.3项目立项/验证机会点：制定项目</a:t>
            </a:r>
            <a:r>
              <a:rPr sz="2700" spc="2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endParaRPr lang="en-US" altLang="en-US" sz="2700" dirty="0"/>
          </a:p>
        </p:txBody>
      </p:sp>
      <p:sp>
        <p:nvSpPr>
          <p:cNvPr id="695" name="textbox 695"/>
          <p:cNvSpPr/>
          <p:nvPr/>
        </p:nvSpPr>
        <p:spPr>
          <a:xfrm>
            <a:off x="5164484" y="5408162"/>
            <a:ext cx="2055495" cy="6616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lang="en-US" altLang="en-US" sz="100" dirty="0"/>
          </a:p>
          <a:p>
            <a:pPr marL="356235" indent="-343535" algn="l" rtl="0" eaLnBrk="0">
              <a:lnSpc>
                <a:spcPct val="99000"/>
              </a:lnSpc>
            </a:pP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4、制定项目里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程碑计划；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初步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识别并评估项目 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</a:t>
            </a:r>
            <a:endParaRPr lang="en-US" altLang="en-US" sz="1400" dirty="0"/>
          </a:p>
        </p:txBody>
      </p:sp>
      <p:sp>
        <p:nvSpPr>
          <p:cNvPr id="696" name="textbox 696"/>
          <p:cNvSpPr/>
          <p:nvPr/>
        </p:nvSpPr>
        <p:spPr>
          <a:xfrm>
            <a:off x="9414184" y="3135623"/>
            <a:ext cx="1901189" cy="4464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348615" indent="-335915" algn="l" rtl="0" eaLnBrk="0">
              <a:lnSpc>
                <a:spcPct val="99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2、制定初步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项目预算及 预算使用方案</a:t>
            </a:r>
            <a:endParaRPr lang="en-US" altLang="en-US" sz="1400" dirty="0"/>
          </a:p>
        </p:txBody>
      </p:sp>
      <p:sp>
        <p:nvSpPr>
          <p:cNvPr id="697" name="textbox 697"/>
          <p:cNvSpPr/>
          <p:nvPr/>
        </p:nvSpPr>
        <p:spPr>
          <a:xfrm>
            <a:off x="8526274" y="1983988"/>
            <a:ext cx="1891664" cy="4464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350520" indent="-337820" algn="l" rtl="0" eaLnBrk="0">
              <a:lnSpc>
                <a:spcPct val="99000"/>
              </a:lnSpc>
            </a:pP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1、组建项目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队成员并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明确团队成员分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</a:t>
            </a:r>
            <a:endParaRPr lang="en-US" altLang="en-US" sz="1400" dirty="0"/>
          </a:p>
        </p:txBody>
      </p:sp>
      <p:sp>
        <p:nvSpPr>
          <p:cNvPr id="698" name="textbox 698"/>
          <p:cNvSpPr/>
          <p:nvPr/>
        </p:nvSpPr>
        <p:spPr>
          <a:xfrm>
            <a:off x="9504969" y="4579360"/>
            <a:ext cx="1544319" cy="4464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346075" indent="-333375" algn="l" rtl="0" eaLnBrk="0">
              <a:lnSpc>
                <a:spcPct val="99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3、确定项目沟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通机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及沟通频率</a:t>
            </a:r>
            <a:endParaRPr lang="en-US" altLang="en-US" sz="1400" dirty="0"/>
          </a:p>
        </p:txBody>
      </p:sp>
      <p:sp>
        <p:nvSpPr>
          <p:cNvPr id="699" name="textbox 699"/>
          <p:cNvSpPr/>
          <p:nvPr/>
        </p:nvSpPr>
        <p:spPr>
          <a:xfrm>
            <a:off x="1515366" y="1100423"/>
            <a:ext cx="1553210" cy="3213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项目类型</a:t>
            </a:r>
            <a:endParaRPr lang="en-US" altLang="en-US" sz="2000" dirty="0"/>
          </a:p>
        </p:txBody>
      </p:sp>
      <p:sp>
        <p:nvSpPr>
          <p:cNvPr id="700" name="textbox 700"/>
          <p:cNvSpPr/>
          <p:nvPr/>
        </p:nvSpPr>
        <p:spPr>
          <a:xfrm>
            <a:off x="6767585" y="1100423"/>
            <a:ext cx="1548130" cy="3213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项目章程</a:t>
            </a:r>
            <a:endParaRPr lang="en-US" altLang="en-US" sz="2000" dirty="0"/>
          </a:p>
        </p:txBody>
      </p:sp>
      <p:sp>
        <p:nvSpPr>
          <p:cNvPr id="701" name="textbox 701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03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04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05" name="picture 70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816340" y="2988564"/>
            <a:ext cx="865631" cy="76200"/>
          </a:xfrm>
          <a:prstGeom prst="rect">
            <a:avLst/>
          </a:prstGeom>
        </p:spPr>
      </p:pic>
      <p:pic>
        <p:nvPicPr>
          <p:cNvPr id="706" name="picture 7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816340" y="4360164"/>
            <a:ext cx="865631" cy="76200"/>
          </a:xfrm>
          <a:prstGeom prst="rect">
            <a:avLst/>
          </a:prstGeom>
        </p:spPr>
      </p:pic>
      <p:pic>
        <p:nvPicPr>
          <p:cNvPr id="707" name="picture 70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87996" y="2136647"/>
            <a:ext cx="864107" cy="76200"/>
          </a:xfrm>
          <a:prstGeom prst="rect">
            <a:avLst/>
          </a:prstGeom>
        </p:spPr>
      </p:pic>
      <p:pic>
        <p:nvPicPr>
          <p:cNvPr id="708" name="picture 7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629400" y="5254752"/>
            <a:ext cx="864107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9" name="table 709"/>
          <p:cNvGraphicFramePr>
            <a:graphicFrameLocks noGrp="1"/>
          </p:cNvGraphicFramePr>
          <p:nvPr/>
        </p:nvGraphicFramePr>
        <p:xfrm>
          <a:off x="868680" y="1664970"/>
          <a:ext cx="10483214" cy="1871345"/>
        </p:xfrm>
        <a:graphic>
          <a:graphicData uri="http://schemas.openxmlformats.org/drawingml/2006/table">
            <a:tbl>
              <a:tblPr/>
              <a:tblGrid>
                <a:gridCol w="1751329"/>
                <a:gridCol w="1745614"/>
                <a:gridCol w="1742439"/>
                <a:gridCol w="1745614"/>
                <a:gridCol w="1883410"/>
                <a:gridCol w="1614805"/>
              </a:tblGrid>
              <a:tr h="485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marL="52387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</a:t>
                      </a:r>
                      <a:r>
                        <a:rPr sz="14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目级别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3F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marL="42989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4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项目发起人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3F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marL="51689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</a:t>
                      </a:r>
                      <a:r>
                        <a:rPr sz="14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目经理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3F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518160" algn="l" rtl="0" eaLnBrk="0">
                        <a:lnSpc>
                          <a:spcPct val="97000"/>
                        </a:lnSpc>
                      </a:pPr>
                      <a:r>
                        <a:rPr sz="14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</a:t>
                      </a:r>
                      <a:r>
                        <a:rPr sz="14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户经理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3F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marL="409575" algn="l" rtl="0" eaLnBrk="0">
                        <a:lnSpc>
                          <a:spcPct val="97000"/>
                        </a:lnSpc>
                      </a:pPr>
                      <a:r>
                        <a:rPr sz="14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解决方案专家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3F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marL="451485" algn="l" rtl="0" eaLnBrk="0">
                        <a:lnSpc>
                          <a:spcPct val="97000"/>
                        </a:lnSpc>
                      </a:pPr>
                      <a:r>
                        <a:rPr sz="14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</a:t>
                      </a:r>
                      <a:r>
                        <a:rPr sz="14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付专家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3FD"/>
                    </a:solidFill>
                  </a:tcPr>
                </a:tc>
              </a:tr>
              <a:tr h="344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600" dirty="0"/>
                    </a:p>
                    <a:p>
                      <a:pPr marL="52387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般项目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600" dirty="0"/>
                    </a:p>
                    <a:p>
                      <a:pPr marL="549910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级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领导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600" dirty="0"/>
                    </a:p>
                    <a:p>
                      <a:pPr marL="524510" algn="l" rtl="0" eaLnBrk="0">
                        <a:lnSpc>
                          <a:spcPct val="97000"/>
                        </a:lnSpc>
                        <a:spcBef>
                          <a:spcPts val="0"/>
                        </a:spcBef>
                      </a:pP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要项目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600" dirty="0"/>
                    </a:p>
                    <a:p>
                      <a:pPr marL="54991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级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领导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600" dirty="0"/>
                    </a:p>
                    <a:p>
                      <a:pPr marL="52451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大项目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600" dirty="0"/>
                    </a:p>
                    <a:p>
                      <a:pPr marL="549910" algn="l" rtl="0" eaLnBrk="0">
                        <a:lnSpc>
                          <a:spcPct val="98000"/>
                        </a:lnSpc>
                      </a:pP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级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领导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7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600" dirty="0"/>
                    </a:p>
                    <a:p>
                      <a:pPr marL="34353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4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别重大项目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600" dirty="0"/>
                    </a:p>
                    <a:p>
                      <a:pPr marL="54991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级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领导</a:t>
                      </a:r>
                      <a:endParaRPr lang="en-US" altLang="en-US" sz="14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32" name="group 232"/>
          <p:cNvGrpSpPr/>
          <p:nvPr/>
        </p:nvGrpSpPr>
        <p:grpSpPr>
          <a:xfrm rot="21600000">
            <a:off x="801623" y="4081271"/>
            <a:ext cx="2959608" cy="1877567"/>
            <a:chOff x="0" y="0"/>
            <a:chExt cx="2959608" cy="1877567"/>
          </a:xfrm>
        </p:grpSpPr>
        <p:grpSp>
          <p:nvGrpSpPr>
            <p:cNvPr id="234" name="group 234"/>
            <p:cNvGrpSpPr/>
            <p:nvPr/>
          </p:nvGrpSpPr>
          <p:grpSpPr>
            <a:xfrm rot="21600000">
              <a:off x="0" y="0"/>
              <a:ext cx="2959608" cy="1877567"/>
              <a:chOff x="0" y="0"/>
              <a:chExt cx="2959608" cy="1877567"/>
            </a:xfrm>
          </p:grpSpPr>
          <p:sp>
            <p:nvSpPr>
              <p:cNvPr id="710" name="path"/>
              <p:cNvSpPr/>
              <p:nvPr/>
            </p:nvSpPr>
            <p:spPr>
              <a:xfrm>
                <a:off x="0" y="348995"/>
                <a:ext cx="2959608" cy="1528572"/>
              </a:xfrm>
              <a:custGeom>
                <a:avLst/>
                <a:gdLst/>
                <a:ahLst/>
                <a:cxnLst/>
                <a:rect l="0" t="0" r="0" b="0"/>
                <a:pathLst>
                  <a:path w="4660" h="2407">
                    <a:moveTo>
                      <a:pt x="0" y="2407"/>
                    </a:moveTo>
                    <a:lnTo>
                      <a:pt x="4660" y="2407"/>
                    </a:lnTo>
                    <a:lnTo>
                      <a:pt x="4660" y="0"/>
                    </a:lnTo>
                    <a:lnTo>
                      <a:pt x="0" y="0"/>
                    </a:lnTo>
                    <a:lnTo>
                      <a:pt x="0" y="2407"/>
                    </a:lnTo>
                    <a:close/>
                  </a:path>
                </a:pathLst>
              </a:custGeom>
              <a:solidFill>
                <a:srgbClr val="E6E6E6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path"/>
              <p:cNvSpPr/>
              <p:nvPr/>
            </p:nvSpPr>
            <p:spPr>
              <a:xfrm>
                <a:off x="0" y="0"/>
                <a:ext cx="2959608" cy="348995"/>
              </a:xfrm>
              <a:custGeom>
                <a:avLst/>
                <a:gdLst/>
                <a:ahLst/>
                <a:cxnLst/>
                <a:rect l="0" t="0" r="0" b="0"/>
                <a:pathLst>
                  <a:path w="4660" h="549">
                    <a:moveTo>
                      <a:pt x="0" y="549"/>
                    </a:moveTo>
                    <a:lnTo>
                      <a:pt x="4660" y="549"/>
                    </a:lnTo>
                    <a:lnTo>
                      <a:pt x="4660" y="0"/>
                    </a:lnTo>
                    <a:lnTo>
                      <a:pt x="0" y="0"/>
                    </a:lnTo>
                    <a:lnTo>
                      <a:pt x="0" y="549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12" name="textbox 712"/>
            <p:cNvSpPr/>
            <p:nvPr/>
          </p:nvSpPr>
          <p:spPr>
            <a:xfrm>
              <a:off x="-12700" y="-12700"/>
              <a:ext cx="2985135" cy="192023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lang="en-US" altLang="en-US" sz="500" dirty="0"/>
            </a:p>
            <a:p>
              <a:pPr marL="94615" algn="l" rtl="0" eaLnBrk="0">
                <a:lnSpc>
                  <a:spcPts val="1845"/>
                </a:lnSpc>
                <a:spcBef>
                  <a:spcPts val="5"/>
                </a:spcBef>
              </a:pPr>
              <a:r>
                <a:rPr sz="1500" spc="10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项目发起</a:t>
              </a:r>
              <a:r>
                <a:rPr sz="1500" spc="5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</a:t>
              </a:r>
              <a:endParaRPr lang="en-US" altLang="en-US" sz="1500" dirty="0"/>
            </a:p>
            <a:p>
              <a:pPr marL="275590" indent="-153035" algn="l" rtl="0" eaLnBrk="0">
                <a:lnSpc>
                  <a:spcPct val="114000"/>
                </a:lnSpc>
                <a:spcBef>
                  <a:spcPts val="1195"/>
                </a:spcBef>
              </a:pPr>
              <a:r>
                <a:rPr sz="14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制定项目要求，帮</a:t>
              </a: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助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项目经理获    </a:t>
              </a:r>
              <a:r>
                <a:rPr sz="14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取资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金及人员等资源支持；</a:t>
              </a:r>
              <a:endParaRPr lang="en-US" altLang="en-US" sz="1400" dirty="0"/>
            </a:p>
            <a:p>
              <a:pPr marL="114300" algn="l" rtl="0" eaLnBrk="0">
                <a:lnSpc>
                  <a:spcPct val="97000"/>
                </a:lnSpc>
                <a:spcBef>
                  <a:spcPts val="550"/>
                </a:spcBef>
              </a:pPr>
              <a:r>
                <a:rPr sz="14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审核项目奖金</a:t>
              </a: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配</a:t>
              </a:r>
              <a:endParaRPr lang="en-US" altLang="en-US" sz="1400" dirty="0"/>
            </a:p>
            <a:p>
              <a:pPr marL="116840" algn="l" rtl="0" eaLnBrk="0">
                <a:lnSpc>
                  <a:spcPct val="97000"/>
                </a:lnSpc>
                <a:spcBef>
                  <a:spcPts val="555"/>
                </a:spcBef>
              </a:pPr>
              <a:r>
                <a:rPr sz="14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 审定项目成员绩</a:t>
              </a: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效</a:t>
              </a:r>
              <a:endParaRPr lang="en-US" altLang="en-US" sz="1400" dirty="0"/>
            </a:p>
            <a:p>
              <a:pPr algn="l" rtl="0" eaLnBrk="0">
                <a:lnSpc>
                  <a:spcPct val="115000"/>
                </a:lnSpc>
              </a:pPr>
              <a:endParaRPr lang="en-US" altLang="en-US" sz="400" dirty="0"/>
            </a:p>
            <a:p>
              <a:pPr marL="105410" algn="l" rtl="0" eaLnBrk="0">
                <a:lnSpc>
                  <a:spcPct val="97000"/>
                </a:lnSpc>
                <a:spcBef>
                  <a:spcPts val="5"/>
                </a:spcBef>
              </a:pP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4. 审定项目销售费</a:t>
              </a: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预算方案</a:t>
              </a:r>
              <a:endParaRPr lang="en-US" altLang="en-US" sz="1400" dirty="0"/>
            </a:p>
          </p:txBody>
        </p:sp>
      </p:grpSp>
      <p:grpSp>
        <p:nvGrpSpPr>
          <p:cNvPr id="236" name="group 236"/>
          <p:cNvGrpSpPr/>
          <p:nvPr/>
        </p:nvGrpSpPr>
        <p:grpSpPr>
          <a:xfrm rot="21600000">
            <a:off x="8386571" y="4081271"/>
            <a:ext cx="2959607" cy="1877567"/>
            <a:chOff x="0" y="0"/>
            <a:chExt cx="2959607" cy="1877567"/>
          </a:xfrm>
        </p:grpSpPr>
        <p:grpSp>
          <p:nvGrpSpPr>
            <p:cNvPr id="238" name="group 238"/>
            <p:cNvGrpSpPr/>
            <p:nvPr/>
          </p:nvGrpSpPr>
          <p:grpSpPr>
            <a:xfrm rot="21600000">
              <a:off x="0" y="0"/>
              <a:ext cx="2959607" cy="1877567"/>
              <a:chOff x="0" y="0"/>
              <a:chExt cx="2959607" cy="1877567"/>
            </a:xfrm>
          </p:grpSpPr>
          <p:sp>
            <p:nvSpPr>
              <p:cNvPr id="713" name="path"/>
              <p:cNvSpPr/>
              <p:nvPr/>
            </p:nvSpPr>
            <p:spPr>
              <a:xfrm>
                <a:off x="0" y="348995"/>
                <a:ext cx="2959607" cy="1528572"/>
              </a:xfrm>
              <a:custGeom>
                <a:avLst/>
                <a:gdLst/>
                <a:ahLst/>
                <a:cxnLst/>
                <a:rect l="0" t="0" r="0" b="0"/>
                <a:pathLst>
                  <a:path w="4660" h="2407">
                    <a:moveTo>
                      <a:pt x="0" y="2407"/>
                    </a:moveTo>
                    <a:lnTo>
                      <a:pt x="4660" y="2407"/>
                    </a:lnTo>
                    <a:lnTo>
                      <a:pt x="4660" y="0"/>
                    </a:lnTo>
                    <a:lnTo>
                      <a:pt x="0" y="0"/>
                    </a:lnTo>
                    <a:lnTo>
                      <a:pt x="0" y="2407"/>
                    </a:lnTo>
                    <a:close/>
                  </a:path>
                </a:pathLst>
              </a:custGeom>
              <a:solidFill>
                <a:srgbClr val="E6E6E6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path"/>
              <p:cNvSpPr/>
              <p:nvPr/>
            </p:nvSpPr>
            <p:spPr>
              <a:xfrm>
                <a:off x="0" y="0"/>
                <a:ext cx="2959607" cy="348995"/>
              </a:xfrm>
              <a:custGeom>
                <a:avLst/>
                <a:gdLst/>
                <a:ahLst/>
                <a:cxnLst/>
                <a:rect l="0" t="0" r="0" b="0"/>
                <a:pathLst>
                  <a:path w="4660" h="549">
                    <a:moveTo>
                      <a:pt x="0" y="549"/>
                    </a:moveTo>
                    <a:lnTo>
                      <a:pt x="4660" y="549"/>
                    </a:lnTo>
                    <a:lnTo>
                      <a:pt x="4660" y="0"/>
                    </a:lnTo>
                    <a:lnTo>
                      <a:pt x="0" y="0"/>
                    </a:lnTo>
                    <a:lnTo>
                      <a:pt x="0" y="549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15" name="textbox 715"/>
            <p:cNvSpPr/>
            <p:nvPr/>
          </p:nvSpPr>
          <p:spPr>
            <a:xfrm>
              <a:off x="-12700" y="-12700"/>
              <a:ext cx="2985135" cy="192023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lang="en-US" altLang="en-US" sz="500" dirty="0"/>
            </a:p>
            <a:p>
              <a:pPr marL="96520" algn="l" rtl="0" eaLnBrk="0">
                <a:lnSpc>
                  <a:spcPts val="1845"/>
                </a:lnSpc>
                <a:spcBef>
                  <a:spcPts val="5"/>
                </a:spcBef>
              </a:pPr>
              <a:r>
                <a:rPr sz="1500" spc="10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项目组核心成</a:t>
              </a:r>
              <a:r>
                <a:rPr sz="1500" spc="4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员</a:t>
              </a:r>
              <a:endParaRPr lang="en-US" altLang="en-US" sz="1500" dirty="0"/>
            </a:p>
            <a:p>
              <a:pPr marL="124460" algn="l" rtl="0" eaLnBrk="0">
                <a:lnSpc>
                  <a:spcPct val="85000"/>
                </a:lnSpc>
                <a:spcBef>
                  <a:spcPts val="1255"/>
                </a:spcBef>
              </a:pPr>
              <a:r>
                <a:rPr sz="140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A</a:t>
              </a:r>
              <a:r>
                <a:rPr sz="140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</a:t>
              </a:r>
              <a:endParaRPr lang="en-US" altLang="en-US" sz="1400" dirty="0"/>
            </a:p>
            <a:p>
              <a:pPr marL="116205" algn="l" rtl="0" eaLnBrk="0">
                <a:lnSpc>
                  <a:spcPct val="84000"/>
                </a:lnSpc>
                <a:spcBef>
                  <a:spcPts val="775"/>
                </a:spcBef>
              </a:pPr>
              <a:r>
                <a:rPr sz="140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S</a:t>
              </a:r>
              <a:r>
                <a:rPr sz="14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</a:t>
              </a:r>
              <a:endParaRPr lang="en-US" altLang="en-US" sz="1400" dirty="0"/>
            </a:p>
            <a:p>
              <a:pPr marL="118110" algn="l" rtl="0" eaLnBrk="0">
                <a:lnSpc>
                  <a:spcPct val="84000"/>
                </a:lnSpc>
                <a:spcBef>
                  <a:spcPts val="775"/>
                </a:spcBef>
              </a:pPr>
              <a:r>
                <a:rPr sz="140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 F</a:t>
              </a:r>
              <a:r>
                <a:rPr sz="14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</a:t>
              </a:r>
              <a:endParaRPr lang="en-US" altLang="en-US" sz="1400" dirty="0"/>
            </a:p>
            <a:p>
              <a:pPr algn="l" rtl="0" eaLnBrk="0">
                <a:lnSpc>
                  <a:spcPct val="115000"/>
                </a:lnSpc>
              </a:pPr>
              <a:endParaRPr lang="en-US" altLang="en-US" sz="500" dirty="0"/>
            </a:p>
            <a:p>
              <a:pPr marL="276225" indent="-168910" algn="l" rtl="0" eaLnBrk="0">
                <a:lnSpc>
                  <a:spcPct val="114000"/>
                </a:lnSpc>
                <a:spcBef>
                  <a:spcPts val="5"/>
                </a:spcBef>
              </a:pP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4. 项目组成员在项</a:t>
              </a: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运作过程中对    </a:t>
              </a:r>
              <a:r>
                <a:rPr sz="140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项目经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理分配任务负责</a:t>
              </a:r>
              <a:endParaRPr lang="en-US" altLang="en-US" sz="1400" dirty="0"/>
            </a:p>
          </p:txBody>
        </p:sp>
      </p:grpSp>
      <p:grpSp>
        <p:nvGrpSpPr>
          <p:cNvPr id="240" name="group 240"/>
          <p:cNvGrpSpPr/>
          <p:nvPr/>
        </p:nvGrpSpPr>
        <p:grpSpPr>
          <a:xfrm rot="21600000">
            <a:off x="4594859" y="4081271"/>
            <a:ext cx="2958083" cy="1877567"/>
            <a:chOff x="0" y="0"/>
            <a:chExt cx="2958083" cy="1877567"/>
          </a:xfrm>
        </p:grpSpPr>
        <p:grpSp>
          <p:nvGrpSpPr>
            <p:cNvPr id="242" name="group 242"/>
            <p:cNvGrpSpPr/>
            <p:nvPr/>
          </p:nvGrpSpPr>
          <p:grpSpPr>
            <a:xfrm rot="21600000">
              <a:off x="0" y="0"/>
              <a:ext cx="2958083" cy="1877567"/>
              <a:chOff x="0" y="0"/>
              <a:chExt cx="2958083" cy="1877567"/>
            </a:xfrm>
          </p:grpSpPr>
          <p:sp>
            <p:nvSpPr>
              <p:cNvPr id="716" name="path"/>
              <p:cNvSpPr/>
              <p:nvPr/>
            </p:nvSpPr>
            <p:spPr>
              <a:xfrm>
                <a:off x="0" y="348995"/>
                <a:ext cx="2958083" cy="1528572"/>
              </a:xfrm>
              <a:custGeom>
                <a:avLst/>
                <a:gdLst/>
                <a:ahLst/>
                <a:cxnLst/>
                <a:rect l="0" t="0" r="0" b="0"/>
                <a:pathLst>
                  <a:path w="4658" h="2407">
                    <a:moveTo>
                      <a:pt x="0" y="2407"/>
                    </a:moveTo>
                    <a:lnTo>
                      <a:pt x="4658" y="2407"/>
                    </a:lnTo>
                    <a:lnTo>
                      <a:pt x="4658" y="0"/>
                    </a:lnTo>
                    <a:lnTo>
                      <a:pt x="0" y="0"/>
                    </a:lnTo>
                    <a:lnTo>
                      <a:pt x="0" y="2407"/>
                    </a:lnTo>
                    <a:close/>
                  </a:path>
                </a:pathLst>
              </a:custGeom>
              <a:solidFill>
                <a:srgbClr val="E6E6E6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7" name="path"/>
              <p:cNvSpPr/>
              <p:nvPr/>
            </p:nvSpPr>
            <p:spPr>
              <a:xfrm>
                <a:off x="0" y="0"/>
                <a:ext cx="2958083" cy="348995"/>
              </a:xfrm>
              <a:custGeom>
                <a:avLst/>
                <a:gdLst/>
                <a:ahLst/>
                <a:cxnLst/>
                <a:rect l="0" t="0" r="0" b="0"/>
                <a:pathLst>
                  <a:path w="4658" h="549">
                    <a:moveTo>
                      <a:pt x="0" y="549"/>
                    </a:moveTo>
                    <a:lnTo>
                      <a:pt x="4658" y="549"/>
                    </a:lnTo>
                    <a:lnTo>
                      <a:pt x="4658" y="0"/>
                    </a:lnTo>
                    <a:lnTo>
                      <a:pt x="0" y="0"/>
                    </a:lnTo>
                    <a:lnTo>
                      <a:pt x="0" y="549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18" name="textbox 718"/>
            <p:cNvSpPr/>
            <p:nvPr/>
          </p:nvSpPr>
          <p:spPr>
            <a:xfrm>
              <a:off x="-12700" y="-12700"/>
              <a:ext cx="2983864" cy="192023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lang="en-US" altLang="en-US" sz="500" dirty="0"/>
            </a:p>
            <a:p>
              <a:pPr marL="94615" algn="l" rtl="0" eaLnBrk="0">
                <a:lnSpc>
                  <a:spcPts val="1845"/>
                </a:lnSpc>
                <a:spcBef>
                  <a:spcPts val="5"/>
                </a:spcBef>
              </a:pPr>
              <a:r>
                <a:rPr sz="1500" spc="10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项目经</a:t>
              </a:r>
              <a:r>
                <a:rPr sz="1500" spc="6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</a:t>
              </a:r>
              <a:endParaRPr lang="en-US" altLang="en-US" sz="1500" dirty="0"/>
            </a:p>
            <a:p>
              <a:pPr marL="122555" algn="l" rtl="0" eaLnBrk="0">
                <a:lnSpc>
                  <a:spcPct val="97000"/>
                </a:lnSpc>
                <a:spcBef>
                  <a:spcPts val="1460"/>
                </a:spcBef>
              </a:pPr>
              <a:r>
                <a:rPr sz="1400" spc="-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对项目的成功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负责</a:t>
              </a:r>
              <a:endParaRPr lang="en-US" altLang="en-US" sz="1400" dirty="0"/>
            </a:p>
            <a:p>
              <a:pPr marL="114300" algn="l" rtl="0" eaLnBrk="0">
                <a:lnSpc>
                  <a:spcPct val="97000"/>
                </a:lnSpc>
                <a:spcBef>
                  <a:spcPts val="890"/>
                </a:spcBef>
              </a:pPr>
              <a:r>
                <a:rPr sz="14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制定项目奖金</a:t>
              </a: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配方案</a:t>
              </a:r>
              <a:endParaRPr lang="en-US" altLang="en-US" sz="1400" dirty="0"/>
            </a:p>
            <a:p>
              <a:pPr marL="116840" algn="l" rtl="0" eaLnBrk="0">
                <a:lnSpc>
                  <a:spcPct val="97000"/>
                </a:lnSpc>
                <a:spcBef>
                  <a:spcPts val="895"/>
                </a:spcBef>
              </a:pPr>
              <a:r>
                <a:rPr sz="140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 制定项目组成员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绩效评估</a:t>
              </a:r>
              <a:endParaRPr lang="en-US" altLang="en-US" sz="14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700" dirty="0"/>
            </a:p>
            <a:p>
              <a:pPr marL="105410" algn="l" rtl="0" eaLnBrk="0">
                <a:lnSpc>
                  <a:spcPct val="97000"/>
                </a:lnSpc>
              </a:pPr>
              <a:r>
                <a:rPr sz="140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4. 制定项目销售费</a:t>
              </a:r>
              <a:r>
                <a:rPr sz="140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</a:t>
              </a:r>
              <a:r>
                <a:rPr sz="14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预算方案</a:t>
              </a:r>
              <a:endParaRPr lang="en-US" altLang="en-US" sz="1400" dirty="0"/>
            </a:p>
          </p:txBody>
        </p:sp>
      </p:grpSp>
      <p:sp>
        <p:nvSpPr>
          <p:cNvPr id="719" name="textbox 719"/>
          <p:cNvSpPr/>
          <p:nvPr/>
        </p:nvSpPr>
        <p:spPr>
          <a:xfrm>
            <a:off x="573607" y="269576"/>
            <a:ext cx="6398259" cy="4368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2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2.4项目立项/验证机会点：</a:t>
            </a:r>
            <a:r>
              <a:rPr sz="2700" spc="2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2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基本成员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构成</a:t>
            </a:r>
            <a:endParaRPr lang="en-US" altLang="en-US" sz="2700" dirty="0"/>
          </a:p>
        </p:txBody>
      </p:sp>
      <p:sp>
        <p:nvSpPr>
          <p:cNvPr id="720" name="textbox 720"/>
          <p:cNvSpPr/>
          <p:nvPr/>
        </p:nvSpPr>
        <p:spPr>
          <a:xfrm>
            <a:off x="1090933" y="1225645"/>
            <a:ext cx="3585209" cy="3213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组基本成员构成及对应角色</a:t>
            </a:r>
            <a:endParaRPr lang="en-US" altLang="en-US" sz="2000" dirty="0"/>
          </a:p>
        </p:txBody>
      </p:sp>
      <p:sp>
        <p:nvSpPr>
          <p:cNvPr id="721" name="textbox 721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23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4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roup 244"/>
          <p:cNvGrpSpPr/>
          <p:nvPr/>
        </p:nvGrpSpPr>
        <p:grpSpPr>
          <a:xfrm rot="21600000">
            <a:off x="2514822" y="2134763"/>
            <a:ext cx="1258265" cy="423248"/>
            <a:chOff x="0" y="0"/>
            <a:chExt cx="1258265" cy="423248"/>
          </a:xfrm>
        </p:grpSpPr>
        <p:sp>
          <p:nvSpPr>
            <p:cNvPr id="725" name="path"/>
            <p:cNvSpPr/>
            <p:nvPr/>
          </p:nvSpPr>
          <p:spPr>
            <a:xfrm>
              <a:off x="1769" y="1482"/>
              <a:ext cx="1254725" cy="421765"/>
            </a:xfrm>
            <a:custGeom>
              <a:avLst/>
              <a:gdLst/>
              <a:ahLst/>
              <a:cxnLst/>
              <a:rect l="0" t="0" r="0" b="0"/>
              <a:pathLst>
                <a:path w="1975" h="664">
                  <a:moveTo>
                    <a:pt x="0" y="579"/>
                  </a:moveTo>
                  <a:lnTo>
                    <a:pt x="0" y="0"/>
                  </a:lnTo>
                  <a:lnTo>
                    <a:pt x="1975" y="0"/>
                  </a:lnTo>
                  <a:lnTo>
                    <a:pt x="1975" y="579"/>
                  </a:lnTo>
                  <a:cubicBezTo>
                    <a:pt x="1659" y="468"/>
                    <a:pt x="1304" y="468"/>
                    <a:pt x="988" y="579"/>
                  </a:cubicBezTo>
                  <a:cubicBezTo>
                    <a:pt x="671" y="689"/>
                    <a:pt x="316" y="689"/>
                    <a:pt x="0" y="579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6" name="path"/>
            <p:cNvSpPr/>
            <p:nvPr/>
          </p:nvSpPr>
          <p:spPr>
            <a:xfrm>
              <a:off x="0" y="0"/>
              <a:ext cx="1258265" cy="423248"/>
            </a:xfrm>
            <a:custGeom>
              <a:avLst/>
              <a:gdLst/>
              <a:ahLst/>
              <a:cxnLst/>
              <a:rect l="0" t="0" r="0" b="0"/>
              <a:pathLst>
                <a:path w="1981" h="666">
                  <a:moveTo>
                    <a:pt x="2" y="581"/>
                  </a:moveTo>
                  <a:lnTo>
                    <a:pt x="2" y="2"/>
                  </a:lnTo>
                  <a:lnTo>
                    <a:pt x="1978" y="2"/>
                  </a:lnTo>
                  <a:lnTo>
                    <a:pt x="1978" y="581"/>
                  </a:lnTo>
                  <a:cubicBezTo>
                    <a:pt x="1662" y="471"/>
                    <a:pt x="1306" y="471"/>
                    <a:pt x="990" y="581"/>
                  </a:cubicBezTo>
                  <a:cubicBezTo>
                    <a:pt x="674" y="691"/>
                    <a:pt x="318" y="691"/>
                    <a:pt x="2" y="581"/>
                  </a:cubicBezTo>
                </a:path>
              </a:pathLst>
            </a:custGeom>
            <a:noFill/>
            <a:ln w="3252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46" name="group 246"/>
          <p:cNvGrpSpPr/>
          <p:nvPr/>
        </p:nvGrpSpPr>
        <p:grpSpPr>
          <a:xfrm rot="21600000">
            <a:off x="8784203" y="2134763"/>
            <a:ext cx="1258309" cy="510085"/>
            <a:chOff x="0" y="0"/>
            <a:chExt cx="1258309" cy="510085"/>
          </a:xfrm>
        </p:grpSpPr>
        <p:sp>
          <p:nvSpPr>
            <p:cNvPr id="727" name="path"/>
            <p:cNvSpPr/>
            <p:nvPr/>
          </p:nvSpPr>
          <p:spPr>
            <a:xfrm>
              <a:off x="1769" y="1482"/>
              <a:ext cx="1254769" cy="508602"/>
            </a:xfrm>
            <a:custGeom>
              <a:avLst/>
              <a:gdLst/>
              <a:ahLst/>
              <a:cxnLst/>
              <a:rect l="0" t="0" r="0" b="0"/>
              <a:pathLst>
                <a:path w="1976" h="800">
                  <a:moveTo>
                    <a:pt x="0" y="698"/>
                  </a:moveTo>
                  <a:lnTo>
                    <a:pt x="0" y="0"/>
                  </a:lnTo>
                  <a:lnTo>
                    <a:pt x="1976" y="0"/>
                  </a:lnTo>
                  <a:lnTo>
                    <a:pt x="1976" y="698"/>
                  </a:lnTo>
                  <a:cubicBezTo>
                    <a:pt x="1665" y="565"/>
                    <a:pt x="1298" y="565"/>
                    <a:pt x="987" y="698"/>
                  </a:cubicBezTo>
                  <a:cubicBezTo>
                    <a:pt x="677" y="831"/>
                    <a:pt x="310" y="831"/>
                    <a:pt x="0" y="69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8" name="path"/>
            <p:cNvSpPr/>
            <p:nvPr/>
          </p:nvSpPr>
          <p:spPr>
            <a:xfrm>
              <a:off x="0" y="0"/>
              <a:ext cx="1258309" cy="510085"/>
            </a:xfrm>
            <a:custGeom>
              <a:avLst/>
              <a:gdLst/>
              <a:ahLst/>
              <a:cxnLst/>
              <a:rect l="0" t="0" r="0" b="0"/>
              <a:pathLst>
                <a:path w="1981" h="803">
                  <a:moveTo>
                    <a:pt x="2" y="701"/>
                  </a:moveTo>
                  <a:lnTo>
                    <a:pt x="2" y="2"/>
                  </a:lnTo>
                  <a:lnTo>
                    <a:pt x="1978" y="2"/>
                  </a:lnTo>
                  <a:lnTo>
                    <a:pt x="1978" y="701"/>
                  </a:lnTo>
                  <a:cubicBezTo>
                    <a:pt x="1668" y="568"/>
                    <a:pt x="1300" y="568"/>
                    <a:pt x="990" y="701"/>
                  </a:cubicBezTo>
                  <a:cubicBezTo>
                    <a:pt x="680" y="834"/>
                    <a:pt x="313" y="834"/>
                    <a:pt x="2" y="701"/>
                  </a:cubicBezTo>
                </a:path>
              </a:pathLst>
            </a:custGeom>
            <a:noFill/>
            <a:ln w="3252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48" name="group 248"/>
          <p:cNvGrpSpPr/>
          <p:nvPr/>
        </p:nvGrpSpPr>
        <p:grpSpPr>
          <a:xfrm rot="21600000">
            <a:off x="8784203" y="5287124"/>
            <a:ext cx="1258309" cy="510122"/>
            <a:chOff x="0" y="0"/>
            <a:chExt cx="1258309" cy="510122"/>
          </a:xfrm>
        </p:grpSpPr>
        <p:sp>
          <p:nvSpPr>
            <p:cNvPr id="729" name="path"/>
            <p:cNvSpPr/>
            <p:nvPr/>
          </p:nvSpPr>
          <p:spPr>
            <a:xfrm>
              <a:off x="1769" y="1482"/>
              <a:ext cx="1254769" cy="508639"/>
            </a:xfrm>
            <a:custGeom>
              <a:avLst/>
              <a:gdLst/>
              <a:ahLst/>
              <a:cxnLst/>
              <a:rect l="0" t="0" r="0" b="0"/>
              <a:pathLst>
                <a:path w="1976" h="801">
                  <a:moveTo>
                    <a:pt x="0" y="698"/>
                  </a:moveTo>
                  <a:lnTo>
                    <a:pt x="0" y="0"/>
                  </a:lnTo>
                  <a:lnTo>
                    <a:pt x="1976" y="0"/>
                  </a:lnTo>
                  <a:lnTo>
                    <a:pt x="1976" y="698"/>
                  </a:lnTo>
                  <a:cubicBezTo>
                    <a:pt x="1665" y="565"/>
                    <a:pt x="1298" y="565"/>
                    <a:pt x="987" y="698"/>
                  </a:cubicBezTo>
                  <a:cubicBezTo>
                    <a:pt x="677" y="831"/>
                    <a:pt x="310" y="831"/>
                    <a:pt x="0" y="69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0" name="path"/>
            <p:cNvSpPr/>
            <p:nvPr/>
          </p:nvSpPr>
          <p:spPr>
            <a:xfrm>
              <a:off x="0" y="0"/>
              <a:ext cx="1258309" cy="510122"/>
            </a:xfrm>
            <a:custGeom>
              <a:avLst/>
              <a:gdLst/>
              <a:ahLst/>
              <a:cxnLst/>
              <a:rect l="0" t="0" r="0" b="0"/>
              <a:pathLst>
                <a:path w="1981" h="803">
                  <a:moveTo>
                    <a:pt x="2" y="701"/>
                  </a:moveTo>
                  <a:lnTo>
                    <a:pt x="2" y="2"/>
                  </a:lnTo>
                  <a:lnTo>
                    <a:pt x="1978" y="2"/>
                  </a:lnTo>
                  <a:lnTo>
                    <a:pt x="1978" y="701"/>
                  </a:lnTo>
                  <a:cubicBezTo>
                    <a:pt x="1668" y="568"/>
                    <a:pt x="1300" y="568"/>
                    <a:pt x="990" y="701"/>
                  </a:cubicBezTo>
                  <a:cubicBezTo>
                    <a:pt x="680" y="834"/>
                    <a:pt x="313" y="834"/>
                    <a:pt x="2" y="701"/>
                  </a:cubicBezTo>
                </a:path>
              </a:pathLst>
            </a:custGeom>
            <a:noFill/>
            <a:ln w="3252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50" name="group 250"/>
          <p:cNvGrpSpPr/>
          <p:nvPr/>
        </p:nvGrpSpPr>
        <p:grpSpPr>
          <a:xfrm rot="21600000">
            <a:off x="8784940" y="3185455"/>
            <a:ext cx="1258309" cy="510209"/>
            <a:chOff x="0" y="0"/>
            <a:chExt cx="1258309" cy="510209"/>
          </a:xfrm>
        </p:grpSpPr>
        <p:sp>
          <p:nvSpPr>
            <p:cNvPr id="731" name="path"/>
            <p:cNvSpPr/>
            <p:nvPr/>
          </p:nvSpPr>
          <p:spPr>
            <a:xfrm>
              <a:off x="1769" y="1482"/>
              <a:ext cx="1254769" cy="508726"/>
            </a:xfrm>
            <a:custGeom>
              <a:avLst/>
              <a:gdLst/>
              <a:ahLst/>
              <a:cxnLst/>
              <a:rect l="0" t="0" r="0" b="0"/>
              <a:pathLst>
                <a:path w="1976" h="801">
                  <a:moveTo>
                    <a:pt x="0" y="698"/>
                  </a:moveTo>
                  <a:lnTo>
                    <a:pt x="0" y="0"/>
                  </a:lnTo>
                  <a:lnTo>
                    <a:pt x="1976" y="0"/>
                  </a:lnTo>
                  <a:lnTo>
                    <a:pt x="1976" y="698"/>
                  </a:lnTo>
                  <a:cubicBezTo>
                    <a:pt x="1665" y="565"/>
                    <a:pt x="1298" y="565"/>
                    <a:pt x="988" y="698"/>
                  </a:cubicBezTo>
                  <a:cubicBezTo>
                    <a:pt x="677" y="832"/>
                    <a:pt x="310" y="832"/>
                    <a:pt x="0" y="69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2" name="path"/>
            <p:cNvSpPr/>
            <p:nvPr/>
          </p:nvSpPr>
          <p:spPr>
            <a:xfrm>
              <a:off x="0" y="0"/>
              <a:ext cx="1258309" cy="510209"/>
            </a:xfrm>
            <a:custGeom>
              <a:avLst/>
              <a:gdLst/>
              <a:ahLst/>
              <a:cxnLst/>
              <a:rect l="0" t="0" r="0" b="0"/>
              <a:pathLst>
                <a:path w="1981" h="803">
                  <a:moveTo>
                    <a:pt x="2" y="701"/>
                  </a:moveTo>
                  <a:lnTo>
                    <a:pt x="2" y="2"/>
                  </a:lnTo>
                  <a:lnTo>
                    <a:pt x="1978" y="2"/>
                  </a:lnTo>
                  <a:lnTo>
                    <a:pt x="1978" y="701"/>
                  </a:lnTo>
                  <a:cubicBezTo>
                    <a:pt x="1668" y="568"/>
                    <a:pt x="1300" y="568"/>
                    <a:pt x="990" y="701"/>
                  </a:cubicBezTo>
                  <a:cubicBezTo>
                    <a:pt x="680" y="834"/>
                    <a:pt x="313" y="834"/>
                    <a:pt x="2" y="701"/>
                  </a:cubicBezTo>
                </a:path>
              </a:pathLst>
            </a:custGeom>
            <a:noFill/>
            <a:ln w="3252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52" name="group 252"/>
          <p:cNvGrpSpPr/>
          <p:nvPr/>
        </p:nvGrpSpPr>
        <p:grpSpPr>
          <a:xfrm rot="21600000">
            <a:off x="5649859" y="3150486"/>
            <a:ext cx="1341183" cy="563342"/>
            <a:chOff x="0" y="0"/>
            <a:chExt cx="1341183" cy="563342"/>
          </a:xfrm>
        </p:grpSpPr>
        <p:sp>
          <p:nvSpPr>
            <p:cNvPr id="733" name="path"/>
            <p:cNvSpPr/>
            <p:nvPr/>
          </p:nvSpPr>
          <p:spPr>
            <a:xfrm>
              <a:off x="1769" y="1482"/>
              <a:ext cx="1337644" cy="560377"/>
            </a:xfrm>
            <a:custGeom>
              <a:avLst/>
              <a:gdLst/>
              <a:ahLst/>
              <a:cxnLst/>
              <a:rect l="0" t="0" r="0" b="0"/>
              <a:pathLst>
                <a:path w="2106" h="882">
                  <a:moveTo>
                    <a:pt x="0" y="441"/>
                  </a:moveTo>
                  <a:lnTo>
                    <a:pt x="1053" y="0"/>
                  </a:lnTo>
                  <a:lnTo>
                    <a:pt x="2106" y="441"/>
                  </a:lnTo>
                  <a:lnTo>
                    <a:pt x="1053" y="882"/>
                  </a:lnTo>
                  <a:lnTo>
                    <a:pt x="0" y="4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4" name="path"/>
            <p:cNvSpPr/>
            <p:nvPr/>
          </p:nvSpPr>
          <p:spPr>
            <a:xfrm>
              <a:off x="0" y="0"/>
              <a:ext cx="1341183" cy="563342"/>
            </a:xfrm>
            <a:custGeom>
              <a:avLst/>
              <a:gdLst/>
              <a:ahLst/>
              <a:cxnLst/>
              <a:rect l="0" t="0" r="0" b="0"/>
              <a:pathLst>
                <a:path w="2112" h="887">
                  <a:moveTo>
                    <a:pt x="2" y="443"/>
                  </a:moveTo>
                  <a:lnTo>
                    <a:pt x="1056" y="2"/>
                  </a:lnTo>
                  <a:lnTo>
                    <a:pt x="2109" y="443"/>
                  </a:lnTo>
                  <a:lnTo>
                    <a:pt x="1056" y="884"/>
                  </a:lnTo>
                  <a:lnTo>
                    <a:pt x="2" y="443"/>
                  </a:lnTo>
                  <a:close/>
                </a:path>
              </a:pathLst>
            </a:custGeom>
            <a:noFill/>
            <a:ln w="3252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54" name="group 254"/>
          <p:cNvGrpSpPr/>
          <p:nvPr/>
        </p:nvGrpSpPr>
        <p:grpSpPr>
          <a:xfrm rot="21600000">
            <a:off x="8784203" y="4411490"/>
            <a:ext cx="1258309" cy="510085"/>
            <a:chOff x="0" y="0"/>
            <a:chExt cx="1258309" cy="510085"/>
          </a:xfrm>
        </p:grpSpPr>
        <p:sp>
          <p:nvSpPr>
            <p:cNvPr id="735" name="path"/>
            <p:cNvSpPr/>
            <p:nvPr/>
          </p:nvSpPr>
          <p:spPr>
            <a:xfrm>
              <a:off x="1769" y="1482"/>
              <a:ext cx="1254769" cy="508602"/>
            </a:xfrm>
            <a:custGeom>
              <a:avLst/>
              <a:gdLst/>
              <a:ahLst/>
              <a:cxnLst/>
              <a:rect l="0" t="0" r="0" b="0"/>
              <a:pathLst>
                <a:path w="1976" h="800">
                  <a:moveTo>
                    <a:pt x="0" y="698"/>
                  </a:moveTo>
                  <a:lnTo>
                    <a:pt x="0" y="0"/>
                  </a:lnTo>
                  <a:lnTo>
                    <a:pt x="1976" y="0"/>
                  </a:lnTo>
                  <a:lnTo>
                    <a:pt x="1976" y="698"/>
                  </a:lnTo>
                  <a:cubicBezTo>
                    <a:pt x="1665" y="565"/>
                    <a:pt x="1298" y="565"/>
                    <a:pt x="987" y="698"/>
                  </a:cubicBezTo>
                  <a:cubicBezTo>
                    <a:pt x="677" y="831"/>
                    <a:pt x="310" y="831"/>
                    <a:pt x="0" y="69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6" name="path"/>
            <p:cNvSpPr/>
            <p:nvPr/>
          </p:nvSpPr>
          <p:spPr>
            <a:xfrm>
              <a:off x="0" y="0"/>
              <a:ext cx="1258309" cy="510085"/>
            </a:xfrm>
            <a:custGeom>
              <a:avLst/>
              <a:gdLst/>
              <a:ahLst/>
              <a:cxnLst/>
              <a:rect l="0" t="0" r="0" b="0"/>
              <a:pathLst>
                <a:path w="1981" h="803">
                  <a:moveTo>
                    <a:pt x="2" y="701"/>
                  </a:moveTo>
                  <a:lnTo>
                    <a:pt x="2" y="2"/>
                  </a:lnTo>
                  <a:lnTo>
                    <a:pt x="1978" y="2"/>
                  </a:lnTo>
                  <a:lnTo>
                    <a:pt x="1978" y="701"/>
                  </a:lnTo>
                  <a:cubicBezTo>
                    <a:pt x="1668" y="568"/>
                    <a:pt x="1300" y="568"/>
                    <a:pt x="990" y="701"/>
                  </a:cubicBezTo>
                  <a:cubicBezTo>
                    <a:pt x="680" y="834"/>
                    <a:pt x="313" y="834"/>
                    <a:pt x="2" y="701"/>
                  </a:cubicBezTo>
                </a:path>
              </a:pathLst>
            </a:custGeom>
            <a:noFill/>
            <a:ln w="3252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56" name="group 256"/>
          <p:cNvGrpSpPr/>
          <p:nvPr/>
        </p:nvGrpSpPr>
        <p:grpSpPr>
          <a:xfrm rot="21600000">
            <a:off x="4165931" y="3886081"/>
            <a:ext cx="1153019" cy="353155"/>
            <a:chOff x="0" y="0"/>
            <a:chExt cx="1153019" cy="353155"/>
          </a:xfrm>
        </p:grpSpPr>
        <p:sp>
          <p:nvSpPr>
            <p:cNvPr id="737" name="path"/>
            <p:cNvSpPr/>
            <p:nvPr/>
          </p:nvSpPr>
          <p:spPr>
            <a:xfrm>
              <a:off x="1769" y="1482"/>
              <a:ext cx="1149480" cy="350189"/>
            </a:xfrm>
            <a:custGeom>
              <a:avLst/>
              <a:gdLst/>
              <a:ahLst/>
              <a:cxnLst/>
              <a:rect l="0" t="0" r="0" b="0"/>
              <a:pathLst>
                <a:path w="1810" h="551">
                  <a:moveTo>
                    <a:pt x="329" y="551"/>
                  </a:moveTo>
                  <a:lnTo>
                    <a:pt x="1481" y="551"/>
                  </a:lnTo>
                  <a:cubicBezTo>
                    <a:pt x="1662" y="551"/>
                    <a:pt x="1810" y="428"/>
                    <a:pt x="1810" y="275"/>
                  </a:cubicBezTo>
                  <a:cubicBezTo>
                    <a:pt x="1810" y="123"/>
                    <a:pt x="1662" y="0"/>
                    <a:pt x="1481" y="0"/>
                  </a:cubicBezTo>
                  <a:cubicBezTo>
                    <a:pt x="1481" y="0"/>
                    <a:pt x="1481" y="0"/>
                    <a:pt x="1481" y="0"/>
                  </a:cubicBezTo>
                  <a:lnTo>
                    <a:pt x="1481" y="0"/>
                  </a:lnTo>
                  <a:lnTo>
                    <a:pt x="329" y="0"/>
                  </a:lnTo>
                  <a:cubicBezTo>
                    <a:pt x="147" y="0"/>
                    <a:pt x="0" y="123"/>
                    <a:pt x="0" y="275"/>
                  </a:cubicBezTo>
                  <a:cubicBezTo>
                    <a:pt x="0" y="428"/>
                    <a:pt x="147" y="551"/>
                    <a:pt x="329" y="551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8" name="path"/>
            <p:cNvSpPr/>
            <p:nvPr/>
          </p:nvSpPr>
          <p:spPr>
            <a:xfrm>
              <a:off x="0" y="0"/>
              <a:ext cx="1153019" cy="353155"/>
            </a:xfrm>
            <a:custGeom>
              <a:avLst/>
              <a:gdLst/>
              <a:ahLst/>
              <a:cxnLst/>
              <a:rect l="0" t="0" r="0" b="0"/>
              <a:pathLst>
                <a:path w="1815" h="556">
                  <a:moveTo>
                    <a:pt x="332" y="553"/>
                  </a:moveTo>
                  <a:lnTo>
                    <a:pt x="1483" y="553"/>
                  </a:lnTo>
                  <a:cubicBezTo>
                    <a:pt x="1665" y="553"/>
                    <a:pt x="1812" y="430"/>
                    <a:pt x="1812" y="278"/>
                  </a:cubicBezTo>
                  <a:cubicBezTo>
                    <a:pt x="1812" y="125"/>
                    <a:pt x="1665" y="2"/>
                    <a:pt x="1483" y="2"/>
                  </a:cubicBezTo>
                  <a:cubicBezTo>
                    <a:pt x="1483" y="2"/>
                    <a:pt x="1483" y="2"/>
                    <a:pt x="1483" y="2"/>
                  </a:cubicBezTo>
                  <a:lnTo>
                    <a:pt x="1483" y="2"/>
                  </a:lnTo>
                  <a:lnTo>
                    <a:pt x="332" y="2"/>
                  </a:lnTo>
                  <a:cubicBezTo>
                    <a:pt x="150" y="2"/>
                    <a:pt x="2" y="125"/>
                    <a:pt x="2" y="278"/>
                  </a:cubicBezTo>
                  <a:cubicBezTo>
                    <a:pt x="2" y="430"/>
                    <a:pt x="150" y="553"/>
                    <a:pt x="332" y="553"/>
                  </a:cubicBezTo>
                </a:path>
              </a:pathLst>
            </a:custGeom>
            <a:noFill/>
            <a:ln w="3252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39" name="rect"/>
          <p:cNvSpPr/>
          <p:nvPr/>
        </p:nvSpPr>
        <p:spPr>
          <a:xfrm>
            <a:off x="7823476" y="4936898"/>
            <a:ext cx="3539" cy="381081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0" name="path"/>
          <p:cNvSpPr/>
          <p:nvPr/>
        </p:nvSpPr>
        <p:spPr>
          <a:xfrm>
            <a:off x="7198229" y="5376179"/>
            <a:ext cx="1254031" cy="525408"/>
          </a:xfrm>
          <a:custGeom>
            <a:avLst/>
            <a:gdLst/>
            <a:ahLst/>
            <a:cxnLst/>
            <a:rect l="0" t="0" r="0" b="0"/>
            <a:pathLst>
              <a:path w="1974" h="827">
                <a:moveTo>
                  <a:pt x="329" y="827"/>
                </a:moveTo>
                <a:lnTo>
                  <a:pt x="1645" y="827"/>
                </a:lnTo>
                <a:lnTo>
                  <a:pt x="1974" y="413"/>
                </a:lnTo>
                <a:lnTo>
                  <a:pt x="1645" y="0"/>
                </a:lnTo>
                <a:lnTo>
                  <a:pt x="329" y="0"/>
                </a:lnTo>
                <a:lnTo>
                  <a:pt x="0" y="413"/>
                </a:lnTo>
                <a:lnTo>
                  <a:pt x="329" y="82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41" name="table 741"/>
          <p:cNvGraphicFramePr>
            <a:graphicFrameLocks noGrp="1"/>
          </p:cNvGraphicFramePr>
          <p:nvPr/>
        </p:nvGraphicFramePr>
        <p:xfrm>
          <a:off x="2035078" y="1118965"/>
          <a:ext cx="8111489" cy="5081269"/>
        </p:xfrm>
        <a:graphic>
          <a:graphicData uri="http://schemas.openxmlformats.org/drawingml/2006/table">
            <a:tbl>
              <a:tblPr/>
              <a:tblGrid>
                <a:gridCol w="419734"/>
                <a:gridCol w="1480820"/>
                <a:gridCol w="1605914"/>
                <a:gridCol w="1510665"/>
                <a:gridCol w="187960"/>
                <a:gridCol w="584834"/>
                <a:gridCol w="585469"/>
                <a:gridCol w="218440"/>
                <a:gridCol w="1517650"/>
              </a:tblGrid>
              <a:tr h="345439">
                <a:tc gridSpan="9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500" dirty="0"/>
                    </a:p>
                    <a:p>
                      <a:pPr marL="3873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3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验证机会点流</a:t>
                      </a:r>
                      <a:r>
                        <a:rPr sz="130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lang="en-US" altLang="en-US" sz="13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</a:tr>
              <a:tr h="452755"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900" dirty="0"/>
                    </a:p>
                    <a:p>
                      <a:pPr marL="569595" algn="l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11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入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200" dirty="0"/>
                    </a:p>
                    <a:p>
                      <a:pPr marL="549910" indent="-357505" algn="l" rtl="0" eaLnBrk="0">
                        <a:lnSpc>
                          <a:spcPct val="111000"/>
                        </a:lnSpc>
                        <a:spcBef>
                          <a:spcPts val="0"/>
                        </a:spcBef>
                      </a:pP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线索跟踪与培</a:t>
                      </a:r>
                      <a:r>
                        <a:rPr sz="11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育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10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责任</a:t>
                      </a:r>
                      <a:r>
                        <a:rPr sz="110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900" dirty="0"/>
                    </a:p>
                    <a:p>
                      <a:pPr marL="142240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机会点评估小</a:t>
                      </a:r>
                      <a:r>
                        <a:rPr sz="110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组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900" dirty="0"/>
                    </a:p>
                    <a:p>
                      <a:pPr marL="355600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项目发起</a:t>
                      </a:r>
                      <a:r>
                        <a:rPr sz="110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900" dirty="0"/>
                    </a:p>
                    <a:p>
                      <a:pPr marL="587375" algn="l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11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</a:tr>
              <a:tr h="7099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254000" algn="l" rtl="0" eaLnBrk="0">
                        <a:lnSpc>
                          <a:spcPct val="100000"/>
                        </a:lnSpc>
                      </a:pP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立项申请</a:t>
                      </a:r>
                      <a:r>
                        <a:rPr sz="11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612775" indent="-353060" algn="l" rtl="0" eaLnBrk="0">
                        <a:lnSpc>
                          <a:spcPct val="118000"/>
                        </a:lnSpc>
                      </a:pP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批准的立项</a:t>
                      </a:r>
                      <a:r>
                        <a:rPr sz="110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请</a:t>
                      </a:r>
                      <a:r>
                        <a:rPr sz="11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lang="en-US" altLang="en-US" sz="1000" dirty="0"/>
                    </a:p>
                    <a:p>
                      <a:pPr marL="350520" algn="l" rtl="0" eaLnBrk="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风险管理</a:t>
                      </a:r>
                      <a:r>
                        <a:rPr sz="11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marL="263525" algn="l" rtl="0" eaLnBrk="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项目组任命</a:t>
                      </a:r>
                      <a:r>
                        <a:rPr sz="110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书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8000"/>
                        </a:lnSpc>
                      </a:pPr>
                      <a:endParaRPr lang="en-US" altLang="en-US" sz="200" dirty="0"/>
                    </a:p>
                    <a:p>
                      <a:pPr marL="440055" algn="l" rtl="0" eaLnBrk="0">
                        <a:lnSpc>
                          <a:spcPct val="100000"/>
                        </a:lnSpc>
                      </a:pPr>
                      <a:r>
                        <a:rPr sz="110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项目章</a:t>
                      </a:r>
                      <a:r>
                        <a:rPr sz="11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54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marL="342900" algn="l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验证及评</a:t>
                      </a:r>
                      <a:r>
                        <a:rPr sz="110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估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41000"/>
                        </a:lnSpc>
                      </a:pPr>
                      <a:endParaRPr lang="en-US" altLang="en-US" sz="200" dirty="0"/>
                    </a:p>
                    <a:p>
                      <a:pPr marL="888365" algn="l" rtl="0" eaLnBrk="0">
                        <a:lnSpc>
                          <a:spcPts val="1345"/>
                        </a:lnSpc>
                        <a:spcBef>
                          <a:spcPts val="0"/>
                        </a:spcBef>
                      </a:pPr>
                      <a:r>
                        <a:rPr sz="110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7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600" dirty="0"/>
                    </a:p>
                    <a:p>
                      <a:pPr marL="80835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992505" algn="l"/>
                        </a:tabLst>
                      </a:pP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110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15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8000"/>
                        </a:lnSpc>
                      </a:pPr>
                      <a:endParaRPr lang="en-US" altLang="en-US" sz="200" dirty="0"/>
                    </a:p>
                    <a:p>
                      <a:pPr marL="641350" algn="l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</a:t>
                      </a:r>
                      <a:r>
                        <a:rPr sz="110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束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4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2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lang="en-US" altLang="en-US" sz="100" dirty="0"/>
                    </a:p>
                    <a:p>
                      <a:pPr marL="152400" indent="85725" algn="l" rtl="0" eaLnBrk="0">
                        <a:lnSpc>
                          <a:spcPct val="121000"/>
                        </a:lnSpc>
                      </a:pP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销售立</a:t>
                      </a:r>
                      <a:r>
                        <a:rPr sz="110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项目组任</a:t>
                      </a:r>
                      <a:r>
                        <a:rPr sz="110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命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23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439420" algn="l" rtl="0" eaLnBrk="0">
                        <a:lnSpc>
                          <a:spcPct val="100000"/>
                        </a:lnSpc>
                      </a:pPr>
                      <a:r>
                        <a:rPr sz="110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引导客</a:t>
                      </a:r>
                      <a:r>
                        <a:rPr sz="110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户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2" name="path"/>
          <p:cNvSpPr/>
          <p:nvPr/>
        </p:nvSpPr>
        <p:spPr>
          <a:xfrm>
            <a:off x="4740745" y="3431635"/>
            <a:ext cx="3538" cy="397728"/>
          </a:xfrm>
          <a:custGeom>
            <a:avLst/>
            <a:gdLst/>
            <a:ahLst/>
            <a:cxnLst/>
            <a:rect l="0" t="0" r="0" b="0"/>
            <a:pathLst>
              <a:path w="5" h="626">
                <a:moveTo>
                  <a:pt x="2" y="2"/>
                </a:moveTo>
                <a:lnTo>
                  <a:pt x="2" y="624"/>
                </a:lnTo>
              </a:path>
            </a:pathLst>
          </a:custGeom>
          <a:noFill/>
          <a:ln w="3245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3" name="textbox 743"/>
          <p:cNvSpPr/>
          <p:nvPr/>
        </p:nvSpPr>
        <p:spPr>
          <a:xfrm>
            <a:off x="573607" y="271100"/>
            <a:ext cx="5687695" cy="4368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2.5项目立项/验证机会点：操作</a:t>
            </a:r>
            <a:r>
              <a:rPr sz="2700" spc="5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endParaRPr lang="en-US" altLang="en-US" sz="2700" dirty="0"/>
          </a:p>
        </p:txBody>
      </p:sp>
      <p:graphicFrame>
        <p:nvGraphicFramePr>
          <p:cNvPr id="744" name="table 744"/>
          <p:cNvGraphicFramePr>
            <a:graphicFrameLocks noGrp="1"/>
          </p:cNvGraphicFramePr>
          <p:nvPr/>
        </p:nvGraphicFramePr>
        <p:xfrm>
          <a:off x="4155313" y="2144450"/>
          <a:ext cx="1173479" cy="353059"/>
        </p:xfrm>
        <a:graphic>
          <a:graphicData uri="http://schemas.openxmlformats.org/drawingml/2006/table">
            <a:tbl>
              <a:tblPr/>
              <a:tblGrid>
                <a:gridCol w="1173479"/>
              </a:tblGrid>
              <a:tr h="3498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600" dirty="0"/>
                    </a:p>
                    <a:p>
                      <a:pPr marL="262890" algn="l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申请立</a:t>
                      </a:r>
                      <a:r>
                        <a:rPr sz="110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5" name="textbox 745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47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8" name="path"/>
          <p:cNvSpPr/>
          <p:nvPr/>
        </p:nvSpPr>
        <p:spPr>
          <a:xfrm>
            <a:off x="7196459" y="5374697"/>
            <a:ext cx="212642" cy="528373"/>
          </a:xfrm>
          <a:custGeom>
            <a:avLst/>
            <a:gdLst/>
            <a:ahLst/>
            <a:cxnLst/>
            <a:rect l="0" t="0" r="0" b="0"/>
            <a:pathLst>
              <a:path w="334" h="832">
                <a:moveTo>
                  <a:pt x="332" y="2"/>
                </a:moveTo>
                <a:lnTo>
                  <a:pt x="2" y="416"/>
                </a:lnTo>
                <a:lnTo>
                  <a:pt x="332" y="829"/>
                </a:lnTo>
                <a:close/>
              </a:path>
            </a:pathLst>
          </a:custGeom>
          <a:noFill/>
          <a:ln w="3252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9" name="path"/>
          <p:cNvSpPr/>
          <p:nvPr/>
        </p:nvSpPr>
        <p:spPr>
          <a:xfrm>
            <a:off x="8241535" y="5374697"/>
            <a:ext cx="212495" cy="528373"/>
          </a:xfrm>
          <a:custGeom>
            <a:avLst/>
            <a:gdLst/>
            <a:ahLst/>
            <a:cxnLst/>
            <a:rect l="0" t="0" r="0" b="0"/>
            <a:pathLst>
              <a:path w="334" h="832">
                <a:moveTo>
                  <a:pt x="2" y="829"/>
                </a:moveTo>
                <a:lnTo>
                  <a:pt x="331" y="416"/>
                </a:lnTo>
                <a:lnTo>
                  <a:pt x="2" y="2"/>
                </a:lnTo>
              </a:path>
            </a:pathLst>
          </a:custGeom>
          <a:noFill/>
          <a:ln w="3252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0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1" name="path"/>
          <p:cNvSpPr/>
          <p:nvPr/>
        </p:nvSpPr>
        <p:spPr>
          <a:xfrm>
            <a:off x="4701814" y="3819356"/>
            <a:ext cx="81400" cy="68209"/>
          </a:xfrm>
          <a:custGeom>
            <a:avLst/>
            <a:gdLst/>
            <a:ahLst/>
            <a:cxnLst/>
            <a:rect l="0" t="0" r="0" b="0"/>
            <a:pathLst>
              <a:path w="128" h="107">
                <a:moveTo>
                  <a:pt x="128" y="0"/>
                </a:moveTo>
                <a:lnTo>
                  <a:pt x="64" y="107"/>
                </a:lnTo>
                <a:lnTo>
                  <a:pt x="0" y="0"/>
                </a:lnTo>
                <a:lnTo>
                  <a:pt x="128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2" name="rect"/>
          <p:cNvSpPr/>
          <p:nvPr/>
        </p:nvSpPr>
        <p:spPr>
          <a:xfrm>
            <a:off x="6318755" y="2626066"/>
            <a:ext cx="3539" cy="467702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3" name="path"/>
          <p:cNvSpPr/>
          <p:nvPr/>
        </p:nvSpPr>
        <p:spPr>
          <a:xfrm>
            <a:off x="6279825" y="3083759"/>
            <a:ext cx="81400" cy="68209"/>
          </a:xfrm>
          <a:custGeom>
            <a:avLst/>
            <a:gdLst/>
            <a:ahLst/>
            <a:cxnLst/>
            <a:rect l="0" t="0" r="0" b="0"/>
            <a:pathLst>
              <a:path w="128" h="107">
                <a:moveTo>
                  <a:pt x="128" y="0"/>
                </a:moveTo>
                <a:lnTo>
                  <a:pt x="64" y="107"/>
                </a:lnTo>
                <a:lnTo>
                  <a:pt x="0" y="0"/>
                </a:lnTo>
                <a:lnTo>
                  <a:pt x="128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4" name="rect"/>
          <p:cNvSpPr/>
          <p:nvPr/>
        </p:nvSpPr>
        <p:spPr>
          <a:xfrm>
            <a:off x="7405563" y="5374697"/>
            <a:ext cx="839511" cy="2965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5" name="path"/>
          <p:cNvSpPr/>
          <p:nvPr/>
        </p:nvSpPr>
        <p:spPr>
          <a:xfrm>
            <a:off x="7784545" y="5307970"/>
            <a:ext cx="81399" cy="68209"/>
          </a:xfrm>
          <a:custGeom>
            <a:avLst/>
            <a:gdLst/>
            <a:ahLst/>
            <a:cxnLst/>
            <a:rect l="0" t="0" r="0" b="0"/>
            <a:pathLst>
              <a:path w="128" h="107">
                <a:moveTo>
                  <a:pt x="128" y="0"/>
                </a:moveTo>
                <a:lnTo>
                  <a:pt x="64" y="107"/>
                </a:lnTo>
                <a:lnTo>
                  <a:pt x="0" y="0"/>
                </a:lnTo>
                <a:lnTo>
                  <a:pt x="128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6" name="rect"/>
          <p:cNvSpPr/>
          <p:nvPr/>
        </p:nvSpPr>
        <p:spPr>
          <a:xfrm>
            <a:off x="7405563" y="5900104"/>
            <a:ext cx="839511" cy="2965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7" name="rect"/>
          <p:cNvSpPr/>
          <p:nvPr/>
        </p:nvSpPr>
        <p:spPr>
          <a:xfrm>
            <a:off x="4740597" y="2494714"/>
            <a:ext cx="3539" cy="134317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8" name="rect"/>
          <p:cNvSpPr/>
          <p:nvPr/>
        </p:nvSpPr>
        <p:spPr>
          <a:xfrm>
            <a:off x="6318755" y="3710863"/>
            <a:ext cx="3539" cy="134317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textbox 759"/>
          <p:cNvSpPr/>
          <p:nvPr/>
        </p:nvSpPr>
        <p:spPr>
          <a:xfrm>
            <a:off x="5709360" y="3111505"/>
            <a:ext cx="4678045" cy="28213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50"/>
              </a:lnSpc>
            </a:pP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全面、准确地掌握客户痛点与关注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en-US" altLang="en-US" sz="1500" dirty="0"/>
          </a:p>
          <a:p>
            <a:pPr marL="12700" algn="l" rtl="0" eaLnBrk="0">
              <a:lnSpc>
                <a:spcPts val="1850"/>
              </a:lnSpc>
              <a:spcBef>
                <a:spcPts val="1030"/>
              </a:spcBef>
            </a:pP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匹配客户买点和我公司卖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en-US" altLang="en-US" sz="1500" dirty="0"/>
          </a:p>
          <a:p>
            <a:pPr marL="205740" indent="-193040" algn="l" rtl="0" eaLnBrk="0">
              <a:lnSpc>
                <a:spcPct val="132000"/>
              </a:lnSpc>
              <a:spcBef>
                <a:spcPts val="1015"/>
              </a:spcBef>
            </a:pP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分析和掌握竞争态势，制定恰当的竞争策略，发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掘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和曝光竞争对手弱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en-US" altLang="en-US" sz="1500" dirty="0"/>
          </a:p>
          <a:p>
            <a:pPr marL="214630" indent="-201930" algn="l" rtl="0" eaLnBrk="0">
              <a:lnSpc>
                <a:spcPct val="132000"/>
              </a:lnSpc>
              <a:spcBef>
                <a:spcPts val="1005"/>
              </a:spcBef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提出客户认同的方案，为客户带来有别于竞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争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对手 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的价值溢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</a:t>
            </a:r>
            <a:endParaRPr lang="en-US" altLang="en-US" sz="1500" dirty="0"/>
          </a:p>
          <a:p>
            <a:pPr marL="12700" algn="l" rtl="0" eaLnBrk="0">
              <a:lnSpc>
                <a:spcPts val="1850"/>
              </a:lnSpc>
              <a:spcBef>
                <a:spcPts val="1030"/>
              </a:spcBef>
            </a:pP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巩固客户关系，深化客户信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</a:t>
            </a:r>
            <a:endParaRPr lang="en-US" altLang="en-US" sz="1500" dirty="0"/>
          </a:p>
          <a:p>
            <a:pPr algn="l" rtl="0" eaLnBrk="0">
              <a:lnSpc>
                <a:spcPct val="107000"/>
              </a:lnSpc>
            </a:pPr>
            <a:endParaRPr lang="en-US" altLang="en-US" sz="800" dirty="0"/>
          </a:p>
          <a:p>
            <a:pPr marL="12700" algn="l" rtl="0" eaLnBrk="0">
              <a:lnSpc>
                <a:spcPts val="1850"/>
              </a:lnSpc>
              <a:spcBef>
                <a:spcPts val="5"/>
              </a:spcBef>
            </a:pP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获得客户的价值认同，才可能成功销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</a:t>
            </a:r>
            <a:endParaRPr lang="en-US" altLang="en-US" sz="1500" dirty="0"/>
          </a:p>
        </p:txBody>
      </p:sp>
      <p:pic>
        <p:nvPicPr>
          <p:cNvPr id="760" name="picture 7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5068" y="3253740"/>
            <a:ext cx="2759964" cy="2345435"/>
          </a:xfrm>
          <a:prstGeom prst="rect">
            <a:avLst/>
          </a:prstGeom>
        </p:spPr>
      </p:pic>
      <p:sp>
        <p:nvSpPr>
          <p:cNvPr id="761" name="textbox 761"/>
          <p:cNvSpPr/>
          <p:nvPr/>
        </p:nvSpPr>
        <p:spPr>
          <a:xfrm>
            <a:off x="874342" y="1389049"/>
            <a:ext cx="3509645" cy="13893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4605" algn="l" rtl="0" eaLnBrk="0">
              <a:lnSpc>
                <a:spcPct val="97000"/>
              </a:lnSpc>
            </a:pPr>
            <a:r>
              <a:rPr sz="1800" spc="-9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引导客户阶段容易出现的问题</a:t>
            </a:r>
            <a:r>
              <a:rPr sz="18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1800" dirty="0"/>
          </a:p>
          <a:p>
            <a:pPr marL="12700" algn="l" rtl="0" eaLnBrk="0">
              <a:lnSpc>
                <a:spcPts val="1845"/>
              </a:lnSpc>
              <a:spcBef>
                <a:spcPts val="1035"/>
              </a:spcBef>
            </a:pP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项目分工不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</a:t>
            </a:r>
            <a:endParaRPr lang="en-US" altLang="en-US" sz="1500" dirty="0"/>
          </a:p>
          <a:p>
            <a:pPr marL="12700" algn="l" rtl="0" eaLnBrk="0">
              <a:lnSpc>
                <a:spcPts val="1845"/>
              </a:lnSpc>
              <a:spcBef>
                <a:spcPts val="1040"/>
              </a:spcBef>
            </a:pP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项目跟踪不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endParaRPr lang="en-US" altLang="en-US" sz="1500" dirty="0"/>
          </a:p>
          <a:p>
            <a:pPr algn="l" rtl="0" eaLnBrk="0">
              <a:lnSpc>
                <a:spcPct val="107000"/>
              </a:lnSpc>
            </a:pPr>
            <a:endParaRPr lang="en-US" altLang="en-US" sz="800" dirty="0"/>
          </a:p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45"/>
              </a:lnSpc>
            </a:pP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客户关系薄弱，不足以支撑项目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</a:t>
            </a:r>
            <a:endParaRPr lang="en-US" altLang="en-US" sz="1500" dirty="0"/>
          </a:p>
        </p:txBody>
      </p:sp>
      <p:pic>
        <p:nvPicPr>
          <p:cNvPr id="762" name="picture 7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54896" y="978408"/>
            <a:ext cx="2052828" cy="1880615"/>
          </a:xfrm>
          <a:prstGeom prst="rect">
            <a:avLst/>
          </a:prstGeom>
        </p:spPr>
      </p:pic>
      <p:sp>
        <p:nvSpPr>
          <p:cNvPr id="763" name="textbox 763"/>
          <p:cNvSpPr/>
          <p:nvPr/>
        </p:nvSpPr>
        <p:spPr>
          <a:xfrm>
            <a:off x="582484" y="271100"/>
            <a:ext cx="4090034" cy="4375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0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3.1引导客户：问题和</a:t>
            </a:r>
            <a:r>
              <a:rPr sz="2700" spc="8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endParaRPr lang="en-US" altLang="en-US" sz="2700" dirty="0"/>
          </a:p>
        </p:txBody>
      </p:sp>
      <p:sp>
        <p:nvSpPr>
          <p:cNvPr id="764" name="textbox 764"/>
          <p:cNvSpPr/>
          <p:nvPr/>
        </p:nvSpPr>
        <p:spPr>
          <a:xfrm>
            <a:off x="5701131" y="2714040"/>
            <a:ext cx="1815464" cy="2927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4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解决问题的关键</a:t>
            </a:r>
            <a:r>
              <a:rPr sz="1800" spc="-8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1800" dirty="0"/>
          </a:p>
        </p:txBody>
      </p:sp>
      <p:sp>
        <p:nvSpPr>
          <p:cNvPr id="765" name="textbox 765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67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8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textbox 769"/>
          <p:cNvSpPr/>
          <p:nvPr/>
        </p:nvSpPr>
        <p:spPr>
          <a:xfrm>
            <a:off x="7547281" y="1412544"/>
            <a:ext cx="4071620" cy="43707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917575" algn="l" rtl="0" eaLnBrk="0">
              <a:lnSpc>
                <a:spcPct val="97000"/>
              </a:lnSpc>
            </a:pPr>
            <a:r>
              <a:rPr sz="1800" spc="-14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项目会议的作用</a:t>
            </a:r>
            <a:r>
              <a:rPr sz="1800" spc="-9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1800" dirty="0"/>
          </a:p>
          <a:p>
            <a:pPr algn="l" rtl="0" eaLnBrk="0">
              <a:lnSpc>
                <a:spcPct val="182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430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项目会议是一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项很重要的项目管理工具，它为项</a:t>
            </a:r>
            <a:endParaRPr lang="en-US" altLang="en-US" sz="1400" dirty="0"/>
          </a:p>
          <a:p>
            <a:pPr marL="184150" indent="24130" algn="l" rtl="0" eaLnBrk="0">
              <a:lnSpc>
                <a:spcPct val="199000"/>
              </a:lnSpc>
              <a:spcBef>
                <a:spcPts val="45"/>
              </a:spcBef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目成员提供了一种正式沟通的渠道；是分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享项目   </a:t>
            </a:r>
            <a:r>
              <a:rPr sz="140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信息、落实行动计划和增加团队协作的有效</a:t>
            </a:r>
            <a:r>
              <a:rPr sz="14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式。</a:t>
            </a:r>
            <a:endParaRPr lang="en-US" altLang="en-US" sz="1400" dirty="0"/>
          </a:p>
          <a:p>
            <a:pPr algn="l" rtl="0" eaLnBrk="0">
              <a:lnSpc>
                <a:spcPct val="15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430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帮助项目经理全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面了解项目的进度、预算、工作</a:t>
            </a:r>
            <a:endParaRPr lang="en-US" altLang="en-US" sz="1400" dirty="0"/>
          </a:p>
          <a:p>
            <a:pPr marL="184150" indent="-635" algn="l" rtl="0" eaLnBrk="0">
              <a:lnSpc>
                <a:spcPct val="199000"/>
              </a:lnSpc>
              <a:spcBef>
                <a:spcPts val="45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务的完成状况，以及团队成员的表现以及项目 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过程中暴露的问题和出现的冲突</a:t>
            </a:r>
            <a:endParaRPr lang="en-US" altLang="en-US" sz="1400" dirty="0"/>
          </a:p>
          <a:p>
            <a:pPr algn="l" rtl="0" eaLnBrk="0">
              <a:lnSpc>
                <a:spcPct val="149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430"/>
              </a:spcBef>
            </a:pP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集思广益，博采众长，充分听取各方面意见，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为</a:t>
            </a:r>
            <a:endParaRPr lang="en-US" altLang="en-US" sz="1400" dirty="0"/>
          </a:p>
          <a:p>
            <a:pPr marL="184150" indent="0" algn="l" rtl="0" eaLnBrk="0">
              <a:lnSpc>
                <a:spcPct val="199000"/>
              </a:lnSpc>
              <a:spcBef>
                <a:spcPts val="30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升项目团队士气、进行项目决策、解决项目问  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题、推进项目成功提供有效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的途径。</a:t>
            </a:r>
            <a:endParaRPr lang="en-US" altLang="en-US" sz="1400" dirty="0"/>
          </a:p>
        </p:txBody>
      </p:sp>
      <p:pic>
        <p:nvPicPr>
          <p:cNvPr id="770" name="picture 7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48328" y="2142744"/>
            <a:ext cx="3255263" cy="2863595"/>
          </a:xfrm>
          <a:prstGeom prst="rect">
            <a:avLst/>
          </a:prstGeom>
        </p:spPr>
      </p:pic>
      <p:sp>
        <p:nvSpPr>
          <p:cNvPr id="771" name="textbox 771"/>
          <p:cNvSpPr/>
          <p:nvPr/>
        </p:nvSpPr>
        <p:spPr>
          <a:xfrm>
            <a:off x="723544" y="3747947"/>
            <a:ext cx="3096260" cy="15843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项目专题会议又可分为</a:t>
            </a:r>
            <a:r>
              <a:rPr sz="18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18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marL="19050" algn="l" rtl="0" eaLnBrk="0">
              <a:lnSpc>
                <a:spcPct val="97000"/>
              </a:lnSpc>
              <a:spcBef>
                <a:spcPts val="430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1400" spc="1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启动会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、项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1400" spc="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计划会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、项目</a:t>
            </a:r>
            <a:r>
              <a:rPr sz="1400" spc="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终止</a:t>
            </a:r>
            <a:endParaRPr lang="en-US" altLang="en-US" sz="1400" dirty="0"/>
          </a:p>
          <a:p>
            <a:pPr marL="190500" indent="-6350" algn="l" rtl="0" eaLnBrk="0">
              <a:lnSpc>
                <a:spcPct val="198000"/>
              </a:lnSpc>
              <a:spcBef>
                <a:spcPts val="70"/>
              </a:spcBef>
            </a:pPr>
            <a:r>
              <a:rPr sz="1400" spc="-1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/暂停评审会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1400" spc="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标前会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 spc="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报价会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 </a:t>
            </a:r>
            <a:r>
              <a:rPr sz="1400" spc="1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r>
              <a:rPr sz="1400" spc="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同谈判预备会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、项目</a:t>
            </a:r>
            <a:r>
              <a:rPr sz="1400" spc="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复盘会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400" dirty="0"/>
          </a:p>
        </p:txBody>
      </p:sp>
      <p:sp>
        <p:nvSpPr>
          <p:cNvPr id="772" name="textbox 772"/>
          <p:cNvSpPr/>
          <p:nvPr/>
        </p:nvSpPr>
        <p:spPr>
          <a:xfrm>
            <a:off x="723548" y="1857305"/>
            <a:ext cx="2760979" cy="78549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800" spc="-15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项目会议类型：</a:t>
            </a:r>
            <a:endParaRPr lang="en-US" altLang="en-US" sz="1800" dirty="0"/>
          </a:p>
          <a:p>
            <a:pPr algn="l" rtl="0" eaLnBrk="0">
              <a:lnSpc>
                <a:spcPct val="132000"/>
              </a:lnSpc>
            </a:pPr>
            <a:endParaRPr lang="en-US" altLang="en-US" sz="1000" dirty="0"/>
          </a:p>
          <a:p>
            <a:pPr algn="l" rtl="0" eaLnBrk="0">
              <a:lnSpc>
                <a:spcPct val="125000"/>
              </a:lnSpc>
            </a:pPr>
            <a:endParaRPr lang="en-US" altLang="en-US" sz="300" dirty="0"/>
          </a:p>
          <a:p>
            <a:pPr marL="19050" algn="l" rtl="0" eaLnBrk="0">
              <a:lnSpc>
                <a:spcPts val="1850"/>
              </a:lnSpc>
              <a:spcBef>
                <a:spcPts val="5"/>
              </a:spcBef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1500" spc="-10" dirty="0">
                <a:ln w="3175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专题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会议和项目</a:t>
            </a:r>
            <a:r>
              <a:rPr sz="1500" spc="-10" dirty="0">
                <a:ln w="3175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会议。</a:t>
            </a:r>
            <a:endParaRPr lang="en-US" altLang="en-US" sz="1400" dirty="0"/>
          </a:p>
        </p:txBody>
      </p:sp>
      <p:sp>
        <p:nvSpPr>
          <p:cNvPr id="773" name="textbox 773"/>
          <p:cNvSpPr/>
          <p:nvPr/>
        </p:nvSpPr>
        <p:spPr>
          <a:xfrm>
            <a:off x="582484" y="271100"/>
            <a:ext cx="4090670" cy="4368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0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3.2引导客户</a:t>
            </a:r>
            <a:r>
              <a:rPr sz="2700" b="1" spc="100" dirty="0">
                <a:solidFill>
                  <a:srgbClr val="205FA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700" spc="10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2700" spc="9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议</a:t>
            </a:r>
            <a:endParaRPr lang="en-US" altLang="en-US" sz="2700" dirty="0"/>
          </a:p>
        </p:txBody>
      </p:sp>
      <p:sp>
        <p:nvSpPr>
          <p:cNvPr id="774" name="textbox 774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76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77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ath"/>
          <p:cNvSpPr/>
          <p:nvPr/>
        </p:nvSpPr>
        <p:spPr>
          <a:xfrm>
            <a:off x="7290049" y="5449980"/>
            <a:ext cx="1180719" cy="433662"/>
          </a:xfrm>
          <a:custGeom>
            <a:avLst/>
            <a:gdLst/>
            <a:ahLst/>
            <a:cxnLst/>
            <a:rect l="0" t="0" r="0" b="0"/>
            <a:pathLst>
              <a:path w="1859" h="682">
                <a:moveTo>
                  <a:pt x="332" y="682"/>
                </a:moveTo>
                <a:lnTo>
                  <a:pt x="1527" y="682"/>
                </a:lnTo>
                <a:lnTo>
                  <a:pt x="1859" y="341"/>
                </a:lnTo>
                <a:lnTo>
                  <a:pt x="1527" y="0"/>
                </a:lnTo>
                <a:lnTo>
                  <a:pt x="332" y="0"/>
                </a:lnTo>
                <a:lnTo>
                  <a:pt x="0" y="341"/>
                </a:lnTo>
                <a:lnTo>
                  <a:pt x="332" y="68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79" name="rect"/>
          <p:cNvSpPr/>
          <p:nvPr/>
        </p:nvSpPr>
        <p:spPr>
          <a:xfrm>
            <a:off x="7878698" y="5130710"/>
            <a:ext cx="3570" cy="271233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0" name="path"/>
          <p:cNvSpPr/>
          <p:nvPr/>
        </p:nvSpPr>
        <p:spPr>
          <a:xfrm>
            <a:off x="7839424" y="5393692"/>
            <a:ext cx="82116" cy="56288"/>
          </a:xfrm>
          <a:custGeom>
            <a:avLst/>
            <a:gdLst/>
            <a:ahLst/>
            <a:cxnLst/>
            <a:rect l="0" t="0" r="0" b="0"/>
            <a:pathLst>
              <a:path w="129" h="88">
                <a:moveTo>
                  <a:pt x="129" y="0"/>
                </a:moveTo>
                <a:lnTo>
                  <a:pt x="64" y="88"/>
                </a:lnTo>
                <a:lnTo>
                  <a:pt x="0" y="0"/>
                </a:lnTo>
                <a:lnTo>
                  <a:pt x="129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1" name="rect"/>
          <p:cNvSpPr/>
          <p:nvPr/>
        </p:nvSpPr>
        <p:spPr>
          <a:xfrm>
            <a:off x="7499208" y="5448756"/>
            <a:ext cx="762551" cy="2447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58" name="group 258"/>
          <p:cNvGrpSpPr/>
          <p:nvPr/>
        </p:nvGrpSpPr>
        <p:grpSpPr>
          <a:xfrm rot="21600000">
            <a:off x="2564671" y="2590641"/>
            <a:ext cx="1269351" cy="456967"/>
            <a:chOff x="0" y="0"/>
            <a:chExt cx="1269351" cy="456967"/>
          </a:xfrm>
        </p:grpSpPr>
        <p:sp>
          <p:nvSpPr>
            <p:cNvPr id="782" name="path"/>
            <p:cNvSpPr/>
            <p:nvPr/>
          </p:nvSpPr>
          <p:spPr>
            <a:xfrm>
              <a:off x="1785" y="1223"/>
              <a:ext cx="1265781" cy="455743"/>
            </a:xfrm>
            <a:custGeom>
              <a:avLst/>
              <a:gdLst/>
              <a:ahLst/>
              <a:cxnLst/>
              <a:rect l="0" t="0" r="0" b="0"/>
              <a:pathLst>
                <a:path w="1993" h="717">
                  <a:moveTo>
                    <a:pt x="0" y="626"/>
                  </a:moveTo>
                  <a:lnTo>
                    <a:pt x="0" y="0"/>
                  </a:lnTo>
                  <a:lnTo>
                    <a:pt x="1993" y="0"/>
                  </a:lnTo>
                  <a:lnTo>
                    <a:pt x="1993" y="626"/>
                  </a:lnTo>
                  <a:cubicBezTo>
                    <a:pt x="1683" y="507"/>
                    <a:pt x="1306" y="507"/>
                    <a:pt x="996" y="626"/>
                  </a:cubicBezTo>
                  <a:cubicBezTo>
                    <a:pt x="687" y="745"/>
                    <a:pt x="309" y="745"/>
                    <a:pt x="0" y="626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83" name="path"/>
            <p:cNvSpPr/>
            <p:nvPr/>
          </p:nvSpPr>
          <p:spPr>
            <a:xfrm>
              <a:off x="0" y="0"/>
              <a:ext cx="1269351" cy="456967"/>
            </a:xfrm>
            <a:custGeom>
              <a:avLst/>
              <a:gdLst/>
              <a:ahLst/>
              <a:cxnLst/>
              <a:rect l="0" t="0" r="0" b="0"/>
              <a:pathLst>
                <a:path w="1998" h="719">
                  <a:moveTo>
                    <a:pt x="2" y="628"/>
                  </a:moveTo>
                  <a:lnTo>
                    <a:pt x="2" y="1"/>
                  </a:lnTo>
                  <a:lnTo>
                    <a:pt x="1996" y="1"/>
                  </a:lnTo>
                  <a:lnTo>
                    <a:pt x="1996" y="628"/>
                  </a:lnTo>
                  <a:cubicBezTo>
                    <a:pt x="1686" y="508"/>
                    <a:pt x="1308" y="508"/>
                    <a:pt x="999" y="628"/>
                  </a:cubicBezTo>
                  <a:cubicBezTo>
                    <a:pt x="690" y="747"/>
                    <a:pt x="312" y="747"/>
                    <a:pt x="2" y="628"/>
                  </a:cubicBezTo>
                </a:path>
              </a:pathLst>
            </a:custGeom>
            <a:noFill/>
            <a:ln w="3009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60" name="group 260"/>
          <p:cNvGrpSpPr/>
          <p:nvPr/>
        </p:nvGrpSpPr>
        <p:grpSpPr>
          <a:xfrm rot="21600000">
            <a:off x="2522884" y="1921687"/>
            <a:ext cx="1269336" cy="457044"/>
            <a:chOff x="0" y="0"/>
            <a:chExt cx="1269336" cy="457044"/>
          </a:xfrm>
        </p:grpSpPr>
        <p:sp>
          <p:nvSpPr>
            <p:cNvPr id="784" name="path"/>
            <p:cNvSpPr/>
            <p:nvPr/>
          </p:nvSpPr>
          <p:spPr>
            <a:xfrm>
              <a:off x="1785" y="1223"/>
              <a:ext cx="1265766" cy="455820"/>
            </a:xfrm>
            <a:custGeom>
              <a:avLst/>
              <a:gdLst/>
              <a:ahLst/>
              <a:cxnLst/>
              <a:rect l="0" t="0" r="0" b="0"/>
              <a:pathLst>
                <a:path w="1993" h="717">
                  <a:moveTo>
                    <a:pt x="0" y="626"/>
                  </a:moveTo>
                  <a:lnTo>
                    <a:pt x="0" y="0"/>
                  </a:lnTo>
                  <a:lnTo>
                    <a:pt x="1993" y="0"/>
                  </a:lnTo>
                  <a:lnTo>
                    <a:pt x="1993" y="626"/>
                  </a:lnTo>
                  <a:cubicBezTo>
                    <a:pt x="1683" y="507"/>
                    <a:pt x="1306" y="507"/>
                    <a:pt x="996" y="626"/>
                  </a:cubicBezTo>
                  <a:cubicBezTo>
                    <a:pt x="687" y="745"/>
                    <a:pt x="309" y="745"/>
                    <a:pt x="0" y="626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85" name="path"/>
            <p:cNvSpPr/>
            <p:nvPr/>
          </p:nvSpPr>
          <p:spPr>
            <a:xfrm>
              <a:off x="0" y="0"/>
              <a:ext cx="1269336" cy="457044"/>
            </a:xfrm>
            <a:custGeom>
              <a:avLst/>
              <a:gdLst/>
              <a:ahLst/>
              <a:cxnLst/>
              <a:rect l="0" t="0" r="0" b="0"/>
              <a:pathLst>
                <a:path w="1998" h="719">
                  <a:moveTo>
                    <a:pt x="2" y="628"/>
                  </a:moveTo>
                  <a:lnTo>
                    <a:pt x="2" y="1"/>
                  </a:lnTo>
                  <a:lnTo>
                    <a:pt x="1996" y="1"/>
                  </a:lnTo>
                  <a:lnTo>
                    <a:pt x="1996" y="628"/>
                  </a:lnTo>
                  <a:cubicBezTo>
                    <a:pt x="1686" y="508"/>
                    <a:pt x="1308" y="508"/>
                    <a:pt x="999" y="628"/>
                  </a:cubicBezTo>
                  <a:cubicBezTo>
                    <a:pt x="690" y="747"/>
                    <a:pt x="312" y="747"/>
                    <a:pt x="2" y="628"/>
                  </a:cubicBezTo>
                </a:path>
              </a:pathLst>
            </a:custGeom>
            <a:noFill/>
            <a:ln w="3009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62" name="group 262"/>
          <p:cNvGrpSpPr/>
          <p:nvPr/>
        </p:nvGrpSpPr>
        <p:grpSpPr>
          <a:xfrm rot="21600000">
            <a:off x="8777514" y="3389226"/>
            <a:ext cx="1269381" cy="421015"/>
            <a:chOff x="0" y="0"/>
            <a:chExt cx="1269381" cy="421015"/>
          </a:xfrm>
        </p:grpSpPr>
        <p:sp>
          <p:nvSpPr>
            <p:cNvPr id="786" name="path"/>
            <p:cNvSpPr/>
            <p:nvPr/>
          </p:nvSpPr>
          <p:spPr>
            <a:xfrm>
              <a:off x="1785" y="1223"/>
              <a:ext cx="1265811" cy="419792"/>
            </a:xfrm>
            <a:custGeom>
              <a:avLst/>
              <a:gdLst/>
              <a:ahLst/>
              <a:cxnLst/>
              <a:rect l="0" t="0" r="0" b="0"/>
              <a:pathLst>
                <a:path w="1993" h="661">
                  <a:moveTo>
                    <a:pt x="0" y="576"/>
                  </a:moveTo>
                  <a:lnTo>
                    <a:pt x="0" y="0"/>
                  </a:lnTo>
                  <a:lnTo>
                    <a:pt x="1993" y="0"/>
                  </a:lnTo>
                  <a:lnTo>
                    <a:pt x="1993" y="576"/>
                  </a:lnTo>
                  <a:cubicBezTo>
                    <a:pt x="1680" y="466"/>
                    <a:pt x="1309" y="466"/>
                    <a:pt x="996" y="576"/>
                  </a:cubicBezTo>
                  <a:cubicBezTo>
                    <a:pt x="683" y="686"/>
                    <a:pt x="312" y="686"/>
                    <a:pt x="0" y="576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87" name="path"/>
            <p:cNvSpPr/>
            <p:nvPr/>
          </p:nvSpPr>
          <p:spPr>
            <a:xfrm>
              <a:off x="0" y="0"/>
              <a:ext cx="1269381" cy="421015"/>
            </a:xfrm>
            <a:custGeom>
              <a:avLst/>
              <a:gdLst/>
              <a:ahLst/>
              <a:cxnLst/>
              <a:rect l="0" t="0" r="0" b="0"/>
              <a:pathLst>
                <a:path w="1999" h="663">
                  <a:moveTo>
                    <a:pt x="2" y="578"/>
                  </a:moveTo>
                  <a:lnTo>
                    <a:pt x="2" y="1"/>
                  </a:lnTo>
                  <a:lnTo>
                    <a:pt x="1996" y="1"/>
                  </a:lnTo>
                  <a:lnTo>
                    <a:pt x="1996" y="578"/>
                  </a:lnTo>
                  <a:cubicBezTo>
                    <a:pt x="1683" y="468"/>
                    <a:pt x="1312" y="468"/>
                    <a:pt x="999" y="578"/>
                  </a:cubicBezTo>
                  <a:cubicBezTo>
                    <a:pt x="686" y="688"/>
                    <a:pt x="315" y="688"/>
                    <a:pt x="2" y="578"/>
                  </a:cubicBezTo>
                </a:path>
              </a:pathLst>
            </a:custGeom>
            <a:noFill/>
            <a:ln w="3009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64" name="group 264"/>
          <p:cNvGrpSpPr/>
          <p:nvPr/>
        </p:nvGrpSpPr>
        <p:grpSpPr>
          <a:xfrm rot="21600000">
            <a:off x="8777514" y="4025237"/>
            <a:ext cx="1269381" cy="421015"/>
            <a:chOff x="0" y="0"/>
            <a:chExt cx="1269381" cy="421015"/>
          </a:xfrm>
        </p:grpSpPr>
        <p:sp>
          <p:nvSpPr>
            <p:cNvPr id="788" name="path"/>
            <p:cNvSpPr/>
            <p:nvPr/>
          </p:nvSpPr>
          <p:spPr>
            <a:xfrm>
              <a:off x="1785" y="1223"/>
              <a:ext cx="1265811" cy="419792"/>
            </a:xfrm>
            <a:custGeom>
              <a:avLst/>
              <a:gdLst/>
              <a:ahLst/>
              <a:cxnLst/>
              <a:rect l="0" t="0" r="0" b="0"/>
              <a:pathLst>
                <a:path w="1993" h="661">
                  <a:moveTo>
                    <a:pt x="0" y="576"/>
                  </a:moveTo>
                  <a:lnTo>
                    <a:pt x="0" y="0"/>
                  </a:lnTo>
                  <a:lnTo>
                    <a:pt x="1993" y="0"/>
                  </a:lnTo>
                  <a:lnTo>
                    <a:pt x="1993" y="576"/>
                  </a:lnTo>
                  <a:cubicBezTo>
                    <a:pt x="1680" y="466"/>
                    <a:pt x="1309" y="466"/>
                    <a:pt x="996" y="576"/>
                  </a:cubicBezTo>
                  <a:cubicBezTo>
                    <a:pt x="683" y="686"/>
                    <a:pt x="312" y="686"/>
                    <a:pt x="0" y="576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89" name="path"/>
            <p:cNvSpPr/>
            <p:nvPr/>
          </p:nvSpPr>
          <p:spPr>
            <a:xfrm>
              <a:off x="0" y="0"/>
              <a:ext cx="1269381" cy="421015"/>
            </a:xfrm>
            <a:custGeom>
              <a:avLst/>
              <a:gdLst/>
              <a:ahLst/>
              <a:cxnLst/>
              <a:rect l="0" t="0" r="0" b="0"/>
              <a:pathLst>
                <a:path w="1999" h="663">
                  <a:moveTo>
                    <a:pt x="2" y="578"/>
                  </a:moveTo>
                  <a:lnTo>
                    <a:pt x="2" y="1"/>
                  </a:lnTo>
                  <a:lnTo>
                    <a:pt x="1996" y="1"/>
                  </a:lnTo>
                  <a:lnTo>
                    <a:pt x="1996" y="578"/>
                  </a:lnTo>
                  <a:cubicBezTo>
                    <a:pt x="1683" y="468"/>
                    <a:pt x="1312" y="468"/>
                    <a:pt x="999" y="578"/>
                  </a:cubicBezTo>
                  <a:cubicBezTo>
                    <a:pt x="686" y="688"/>
                    <a:pt x="315" y="688"/>
                    <a:pt x="2" y="578"/>
                  </a:cubicBezTo>
                </a:path>
              </a:pathLst>
            </a:custGeom>
            <a:noFill/>
            <a:ln w="3009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66" name="group 266"/>
          <p:cNvGrpSpPr/>
          <p:nvPr/>
        </p:nvGrpSpPr>
        <p:grpSpPr>
          <a:xfrm rot="21600000">
            <a:off x="8777217" y="1950550"/>
            <a:ext cx="1269381" cy="493964"/>
            <a:chOff x="0" y="0"/>
            <a:chExt cx="1269381" cy="493964"/>
          </a:xfrm>
        </p:grpSpPr>
        <p:sp>
          <p:nvSpPr>
            <p:cNvPr id="790" name="path"/>
            <p:cNvSpPr/>
            <p:nvPr/>
          </p:nvSpPr>
          <p:spPr>
            <a:xfrm>
              <a:off x="1785" y="1223"/>
              <a:ext cx="1265811" cy="492740"/>
            </a:xfrm>
            <a:custGeom>
              <a:avLst/>
              <a:gdLst/>
              <a:ahLst/>
              <a:cxnLst/>
              <a:rect l="0" t="0" r="0" b="0"/>
              <a:pathLst>
                <a:path w="1993" h="775">
                  <a:moveTo>
                    <a:pt x="0" y="677"/>
                  </a:moveTo>
                  <a:lnTo>
                    <a:pt x="0" y="0"/>
                  </a:lnTo>
                  <a:lnTo>
                    <a:pt x="1993" y="0"/>
                  </a:lnTo>
                  <a:lnTo>
                    <a:pt x="1993" y="677"/>
                  </a:lnTo>
                  <a:cubicBezTo>
                    <a:pt x="1687" y="548"/>
                    <a:pt x="1302" y="548"/>
                    <a:pt x="996" y="677"/>
                  </a:cubicBezTo>
                  <a:cubicBezTo>
                    <a:pt x="691" y="806"/>
                    <a:pt x="305" y="806"/>
                    <a:pt x="0" y="677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91" name="path"/>
            <p:cNvSpPr/>
            <p:nvPr/>
          </p:nvSpPr>
          <p:spPr>
            <a:xfrm>
              <a:off x="0" y="0"/>
              <a:ext cx="1269381" cy="493964"/>
            </a:xfrm>
            <a:custGeom>
              <a:avLst/>
              <a:gdLst/>
              <a:ahLst/>
              <a:cxnLst/>
              <a:rect l="0" t="0" r="0" b="0"/>
              <a:pathLst>
                <a:path w="1999" h="777">
                  <a:moveTo>
                    <a:pt x="2" y="679"/>
                  </a:moveTo>
                  <a:lnTo>
                    <a:pt x="2" y="1"/>
                  </a:lnTo>
                  <a:lnTo>
                    <a:pt x="1996" y="1"/>
                  </a:lnTo>
                  <a:lnTo>
                    <a:pt x="1996" y="679"/>
                  </a:lnTo>
                  <a:cubicBezTo>
                    <a:pt x="1690" y="550"/>
                    <a:pt x="1305" y="550"/>
                    <a:pt x="999" y="679"/>
                  </a:cubicBezTo>
                  <a:cubicBezTo>
                    <a:pt x="693" y="808"/>
                    <a:pt x="308" y="808"/>
                    <a:pt x="2" y="679"/>
                  </a:cubicBezTo>
                </a:path>
              </a:pathLst>
            </a:custGeom>
            <a:noFill/>
            <a:ln w="3009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68" name="group 268"/>
          <p:cNvGrpSpPr/>
          <p:nvPr/>
        </p:nvGrpSpPr>
        <p:grpSpPr>
          <a:xfrm rot="21600000">
            <a:off x="8764275" y="2586562"/>
            <a:ext cx="1269381" cy="436186"/>
            <a:chOff x="0" y="0"/>
            <a:chExt cx="1269381" cy="436186"/>
          </a:xfrm>
        </p:grpSpPr>
        <p:sp>
          <p:nvSpPr>
            <p:cNvPr id="792" name="path"/>
            <p:cNvSpPr/>
            <p:nvPr/>
          </p:nvSpPr>
          <p:spPr>
            <a:xfrm>
              <a:off x="1785" y="1223"/>
              <a:ext cx="1265811" cy="434962"/>
            </a:xfrm>
            <a:custGeom>
              <a:avLst/>
              <a:gdLst/>
              <a:ahLst/>
              <a:cxnLst/>
              <a:rect l="0" t="0" r="0" b="0"/>
              <a:pathLst>
                <a:path w="1993" h="684">
                  <a:moveTo>
                    <a:pt x="0" y="597"/>
                  </a:moveTo>
                  <a:lnTo>
                    <a:pt x="0" y="0"/>
                  </a:lnTo>
                  <a:lnTo>
                    <a:pt x="1993" y="0"/>
                  </a:lnTo>
                  <a:lnTo>
                    <a:pt x="1993" y="597"/>
                  </a:lnTo>
                  <a:cubicBezTo>
                    <a:pt x="1681" y="483"/>
                    <a:pt x="1308" y="483"/>
                    <a:pt x="996" y="597"/>
                  </a:cubicBezTo>
                  <a:cubicBezTo>
                    <a:pt x="685" y="711"/>
                    <a:pt x="311" y="711"/>
                    <a:pt x="0" y="597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93" name="path"/>
            <p:cNvSpPr/>
            <p:nvPr/>
          </p:nvSpPr>
          <p:spPr>
            <a:xfrm>
              <a:off x="0" y="0"/>
              <a:ext cx="1269381" cy="436186"/>
            </a:xfrm>
            <a:custGeom>
              <a:avLst/>
              <a:gdLst/>
              <a:ahLst/>
              <a:cxnLst/>
              <a:rect l="0" t="0" r="0" b="0"/>
              <a:pathLst>
                <a:path w="1999" h="686">
                  <a:moveTo>
                    <a:pt x="2" y="599"/>
                  </a:moveTo>
                  <a:lnTo>
                    <a:pt x="2" y="1"/>
                  </a:lnTo>
                  <a:lnTo>
                    <a:pt x="1996" y="1"/>
                  </a:lnTo>
                  <a:lnTo>
                    <a:pt x="1996" y="599"/>
                  </a:lnTo>
                  <a:cubicBezTo>
                    <a:pt x="1684" y="485"/>
                    <a:pt x="1310" y="485"/>
                    <a:pt x="999" y="599"/>
                  </a:cubicBezTo>
                  <a:cubicBezTo>
                    <a:pt x="687" y="713"/>
                    <a:pt x="314" y="713"/>
                    <a:pt x="2" y="599"/>
                  </a:cubicBezTo>
                </a:path>
              </a:pathLst>
            </a:custGeom>
            <a:noFill/>
            <a:ln w="3009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70" name="group 270"/>
          <p:cNvGrpSpPr/>
          <p:nvPr/>
        </p:nvGrpSpPr>
        <p:grpSpPr>
          <a:xfrm rot="21600000">
            <a:off x="8777961" y="4752326"/>
            <a:ext cx="1269381" cy="525420"/>
            <a:chOff x="0" y="0"/>
            <a:chExt cx="1269381" cy="525420"/>
          </a:xfrm>
        </p:grpSpPr>
        <p:sp>
          <p:nvSpPr>
            <p:cNvPr id="794" name="path"/>
            <p:cNvSpPr/>
            <p:nvPr/>
          </p:nvSpPr>
          <p:spPr>
            <a:xfrm>
              <a:off x="1785" y="1223"/>
              <a:ext cx="1265811" cy="524196"/>
            </a:xfrm>
            <a:custGeom>
              <a:avLst/>
              <a:gdLst/>
              <a:ahLst/>
              <a:cxnLst/>
              <a:rect l="0" t="0" r="0" b="0"/>
              <a:pathLst>
                <a:path w="1993" h="825">
                  <a:moveTo>
                    <a:pt x="0" y="720"/>
                  </a:moveTo>
                  <a:lnTo>
                    <a:pt x="0" y="0"/>
                  </a:lnTo>
                  <a:lnTo>
                    <a:pt x="1993" y="0"/>
                  </a:lnTo>
                  <a:lnTo>
                    <a:pt x="1993" y="720"/>
                  </a:lnTo>
                  <a:cubicBezTo>
                    <a:pt x="1691" y="583"/>
                    <a:pt x="1298" y="583"/>
                    <a:pt x="996" y="720"/>
                  </a:cubicBezTo>
                  <a:cubicBezTo>
                    <a:pt x="694" y="857"/>
                    <a:pt x="301" y="857"/>
                    <a:pt x="0" y="72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95" name="path"/>
            <p:cNvSpPr/>
            <p:nvPr/>
          </p:nvSpPr>
          <p:spPr>
            <a:xfrm>
              <a:off x="0" y="0"/>
              <a:ext cx="1269381" cy="525420"/>
            </a:xfrm>
            <a:custGeom>
              <a:avLst/>
              <a:gdLst/>
              <a:ahLst/>
              <a:cxnLst/>
              <a:rect l="0" t="0" r="0" b="0"/>
              <a:pathLst>
                <a:path w="1999" h="827">
                  <a:moveTo>
                    <a:pt x="2" y="722"/>
                  </a:moveTo>
                  <a:lnTo>
                    <a:pt x="2" y="1"/>
                  </a:lnTo>
                  <a:lnTo>
                    <a:pt x="1996" y="1"/>
                  </a:lnTo>
                  <a:lnTo>
                    <a:pt x="1996" y="722"/>
                  </a:lnTo>
                  <a:cubicBezTo>
                    <a:pt x="1694" y="585"/>
                    <a:pt x="1301" y="585"/>
                    <a:pt x="999" y="722"/>
                  </a:cubicBezTo>
                  <a:cubicBezTo>
                    <a:pt x="697" y="859"/>
                    <a:pt x="304" y="859"/>
                    <a:pt x="2" y="722"/>
                  </a:cubicBezTo>
                </a:path>
              </a:pathLst>
            </a:custGeom>
            <a:noFill/>
            <a:ln w="3009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796" name="table 796"/>
          <p:cNvGraphicFramePr>
            <a:graphicFrameLocks noGrp="1"/>
          </p:cNvGraphicFramePr>
          <p:nvPr/>
        </p:nvGraphicFramePr>
        <p:xfrm>
          <a:off x="1997117" y="1112129"/>
          <a:ext cx="8187690" cy="5032375"/>
        </p:xfrm>
        <a:graphic>
          <a:graphicData uri="http://schemas.openxmlformats.org/drawingml/2006/table">
            <a:tbl>
              <a:tblPr/>
              <a:tblGrid>
                <a:gridCol w="423544"/>
                <a:gridCol w="1493519"/>
                <a:gridCol w="218439"/>
                <a:gridCol w="585469"/>
                <a:gridCol w="587375"/>
                <a:gridCol w="25400"/>
                <a:gridCol w="215900"/>
                <a:gridCol w="195580"/>
                <a:gridCol w="590550"/>
                <a:gridCol w="590550"/>
                <a:gridCol w="214629"/>
                <a:gridCol w="164464"/>
                <a:gridCol w="590550"/>
                <a:gridCol w="589915"/>
                <a:gridCol w="178435"/>
                <a:gridCol w="1536064"/>
              </a:tblGrid>
              <a:tr h="285114">
                <a:tc gridSpan="16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400" dirty="0"/>
                    </a:p>
                    <a:p>
                      <a:pPr marL="55245" algn="l" rtl="0" eaLnBrk="0">
                        <a:lnSpc>
                          <a:spcPct val="97000"/>
                        </a:lnSpc>
                        <a:spcBef>
                          <a:spcPts val="0"/>
                        </a:spcBef>
                      </a:pPr>
                      <a:r>
                        <a:rPr sz="1100" spc="5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引导客户流</a:t>
                      </a:r>
                      <a:r>
                        <a:rPr sz="11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</a:tr>
              <a:tr h="366395">
                <a:tc rowSpan="1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574675" algn="l" rtl="0" eaLnBrk="0">
                        <a:lnSpc>
                          <a:spcPts val="1090"/>
                        </a:lnSpc>
                      </a:pPr>
                      <a:r>
                        <a:rPr sz="90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900" spc="4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入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700" dirty="0"/>
                    </a:p>
                    <a:p>
                      <a:pPr marL="281940" algn="l" rtl="0" eaLnBrk="0">
                        <a:lnSpc>
                          <a:spcPts val="1095"/>
                        </a:lnSpc>
                        <a:spcBef>
                          <a:spcPts val="5"/>
                        </a:spcBef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销售项目经</a:t>
                      </a:r>
                      <a:r>
                        <a:rPr sz="90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266700" algn="l" rtl="0" eaLnBrk="0">
                        <a:lnSpc>
                          <a:spcPts val="1090"/>
                        </a:lnSpc>
                      </a:pPr>
                      <a:r>
                        <a:rPr sz="900" spc="5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解决方案代</a:t>
                      </a:r>
                      <a:r>
                        <a:rPr sz="900" spc="4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413385" algn="l" rtl="0" eaLnBrk="0">
                        <a:lnSpc>
                          <a:spcPts val="1090"/>
                        </a:lnSpc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客户代</a:t>
                      </a:r>
                      <a:r>
                        <a:rPr sz="900" spc="4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595630" algn="l" rtl="0" eaLnBrk="0">
                        <a:lnSpc>
                          <a:spcPts val="1090"/>
                        </a:lnSpc>
                      </a:pPr>
                      <a:r>
                        <a:rPr sz="90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900" spc="4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</a:tr>
              <a:tr h="1587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900" dirty="0"/>
                    </a:p>
                    <a:p>
                      <a:pPr marL="567690" indent="-358140" algn="l" rtl="0" eaLnBrk="0">
                        <a:lnSpc>
                          <a:spcPct val="120000"/>
                        </a:lnSpc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客户的痛点</a:t>
                      </a:r>
                      <a:r>
                        <a:rPr sz="9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sz="900" spc="4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关</a:t>
                      </a:r>
                      <a:r>
                        <a:rPr sz="900" spc="4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切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3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200" dirty="0"/>
                    </a:p>
                    <a:p>
                      <a:pPr marL="340360" algn="l" rtl="0" eaLnBrk="0">
                        <a:lnSpc>
                          <a:spcPts val="1090"/>
                        </a:lnSpc>
                        <a:spcBef>
                          <a:spcPts val="0"/>
                        </a:spcBef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风险管理</a:t>
                      </a:r>
                      <a:r>
                        <a:rPr sz="9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1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1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1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marL="680720" indent="-438785" algn="l" rtl="0" eaLnBrk="0">
                        <a:lnSpc>
                          <a:spcPct val="119000"/>
                        </a:lnSpc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买点卖点匹</a:t>
                      </a:r>
                      <a:r>
                        <a:rPr sz="900" spc="4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配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sz="900" spc="4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65000"/>
                        </a:lnSpc>
                      </a:pPr>
                      <a:endParaRPr lang="en-US" altLang="en-US" sz="1000" dirty="0"/>
                    </a:p>
                    <a:p>
                      <a:pPr marL="580390" indent="-356870" algn="l" rtl="0" eaLnBrk="0">
                        <a:lnSpc>
                          <a:spcPct val="120000"/>
                        </a:lnSpc>
                        <a:spcBef>
                          <a:spcPts val="270"/>
                        </a:spcBef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更新的风险</a:t>
                      </a:r>
                      <a:r>
                        <a:rPr sz="900" spc="4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管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sz="9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</a:t>
                      </a:r>
                      <a:r>
                        <a:rPr sz="900" spc="4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lang="en-US" altLang="en-US" sz="1000" dirty="0"/>
                    </a:p>
                    <a:p>
                      <a:pPr marL="415925" algn="l" rtl="0" eaLnBrk="0">
                        <a:lnSpc>
                          <a:spcPts val="1090"/>
                        </a:lnSpc>
                        <a:spcBef>
                          <a:spcPts val="275"/>
                        </a:spcBef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竞争策</a:t>
                      </a:r>
                      <a:r>
                        <a:rPr sz="900" spc="4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marL="502920" indent="-266065" algn="l" rtl="0" eaLnBrk="0">
                        <a:lnSpc>
                          <a:spcPct val="120000"/>
                        </a:lnSpc>
                        <a:spcBef>
                          <a:spcPts val="275"/>
                        </a:spcBef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客户认同的</a:t>
                      </a:r>
                      <a:r>
                        <a:rPr sz="9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值主</a:t>
                      </a:r>
                      <a:r>
                        <a:rPr sz="900" spc="4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张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lang="en-US" altLang="en-US" sz="200" dirty="0"/>
                    </a:p>
                    <a:p>
                      <a:pPr marL="504190" indent="-267335" algn="l" rtl="0" eaLnBrk="0">
                        <a:lnSpc>
                          <a:spcPct val="119000"/>
                        </a:lnSpc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经过植入的</a:t>
                      </a:r>
                      <a:r>
                        <a:rPr sz="9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招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sz="90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标文</a:t>
                      </a:r>
                      <a:r>
                        <a:rPr sz="9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件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5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lang="en-US" altLang="en-US" sz="100" dirty="0"/>
                    </a:p>
                    <a:p>
                      <a:pPr marL="254635" indent="-182880" algn="l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掌握客户的</a:t>
                      </a:r>
                      <a:r>
                        <a:rPr sz="900" spc="4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痛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点与关</a:t>
                      </a:r>
                      <a:r>
                        <a:rPr sz="900" spc="4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切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5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35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600" dirty="0"/>
                    </a:p>
                    <a:p>
                      <a:pPr marL="114300" algn="l" rtl="0" eaLnBrk="0">
                        <a:lnSpc>
                          <a:spcPts val="1000"/>
                        </a:lnSpc>
                        <a:spcBef>
                          <a:spcPts val="5"/>
                        </a:spcBef>
                      </a:pPr>
                      <a:r>
                        <a:rPr sz="8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匹配买点卖</a:t>
                      </a:r>
                      <a:r>
                        <a:rPr sz="800" spc="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</a:t>
                      </a:r>
                      <a:endParaRPr lang="en-US" altLang="en-US" sz="8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55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4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85"/>
                        </a:lnSpc>
                      </a:pP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85"/>
                        </a:lnSpc>
                      </a:pP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" dirty="0"/>
                    </a:p>
                    <a:p>
                      <a:pPr marL="327660" indent="-270510" algn="l" rtl="0" eaLnBrk="0">
                        <a:lnSpc>
                          <a:spcPct val="104000"/>
                        </a:lnSpc>
                        <a:spcBef>
                          <a:spcPts val="0"/>
                        </a:spcBef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制定并执行</a:t>
                      </a:r>
                      <a:r>
                        <a:rPr sz="90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竞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争策</a:t>
                      </a:r>
                      <a:r>
                        <a:rPr sz="900" spc="4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855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55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15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algn="l" rtl="0" eaLnBrk="0">
                        <a:lnSpc>
                          <a:spcPct val="55000"/>
                        </a:lnSpc>
                      </a:pPr>
                      <a:endParaRPr lang="en-US" altLang="en-US" sz="100" dirty="0"/>
                    </a:p>
                    <a:p>
                      <a:pPr marL="361315" indent="-102870" algn="l" rtl="0" eaLnBrk="0">
                        <a:lnSpc>
                          <a:spcPct val="112000"/>
                        </a:lnSpc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提出客户认</a:t>
                      </a:r>
                      <a:r>
                        <a:rPr sz="90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的价值主</a:t>
                      </a:r>
                      <a:r>
                        <a:rPr sz="900" spc="4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张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7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1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</a:pPr>
                      <a:endParaRPr lang="en-US" altLang="en-US" sz="100" dirty="0"/>
                    </a:p>
                    <a:p>
                      <a:pPr marL="419100" indent="-357505" algn="l" rtl="0" eaLnBrk="0">
                        <a:lnSpc>
                          <a:spcPct val="112000"/>
                        </a:lnSpc>
                        <a:spcBef>
                          <a:spcPts val="0"/>
                        </a:spcBef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影响客户选</a:t>
                      </a:r>
                      <a:r>
                        <a:rPr sz="90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择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标</a:t>
                      </a:r>
                      <a:r>
                        <a:rPr sz="900" spc="4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准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2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marL="49466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制定</a:t>
                      </a:r>
                      <a:r>
                        <a:rPr sz="90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并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100" dirty="0"/>
                    </a:p>
                    <a:p>
                      <a:pPr marL="37401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498475" algn="l"/>
                        </a:tabLst>
                      </a:pPr>
                      <a:r>
                        <a:rPr sz="900" u="sng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900" u="sng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决方</a:t>
                      </a:r>
                      <a:r>
                        <a:rPr sz="900" u="sng" spc="4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案</a:t>
                      </a:r>
                      <a:r>
                        <a:rPr sz="900" u="sng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97" name="path"/>
          <p:cNvSpPr/>
          <p:nvPr/>
        </p:nvSpPr>
        <p:spPr>
          <a:xfrm>
            <a:off x="8258188" y="5666812"/>
            <a:ext cx="214365" cy="218055"/>
          </a:xfrm>
          <a:custGeom>
            <a:avLst/>
            <a:gdLst/>
            <a:ahLst/>
            <a:cxnLst/>
            <a:rect l="0" t="0" r="0" b="0"/>
            <a:pathLst>
              <a:path w="337" h="343">
                <a:moveTo>
                  <a:pt x="2" y="341"/>
                </a:moveTo>
                <a:lnTo>
                  <a:pt x="334" y="1"/>
                </a:lnTo>
              </a:path>
            </a:pathLst>
          </a:custGeom>
          <a:noFill/>
          <a:ln w="2992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8" name="path"/>
          <p:cNvSpPr/>
          <p:nvPr/>
        </p:nvSpPr>
        <p:spPr>
          <a:xfrm>
            <a:off x="8258188" y="5448731"/>
            <a:ext cx="214365" cy="218080"/>
          </a:xfrm>
          <a:custGeom>
            <a:avLst/>
            <a:gdLst/>
            <a:ahLst/>
            <a:cxnLst/>
            <a:rect l="0" t="0" r="0" b="0"/>
            <a:pathLst>
              <a:path w="337" h="343">
                <a:moveTo>
                  <a:pt x="334" y="341"/>
                </a:moveTo>
                <a:lnTo>
                  <a:pt x="2" y="1"/>
                </a:lnTo>
              </a:path>
            </a:pathLst>
          </a:custGeom>
          <a:noFill/>
          <a:ln w="2992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9" name="textbox 799"/>
          <p:cNvSpPr/>
          <p:nvPr/>
        </p:nvSpPr>
        <p:spPr>
          <a:xfrm>
            <a:off x="582484" y="271100"/>
            <a:ext cx="3735070" cy="4375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0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3.3引导客户：操作</a:t>
            </a:r>
            <a:r>
              <a:rPr sz="2700" spc="9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endParaRPr lang="en-US" altLang="en-US" sz="2700" dirty="0"/>
          </a:p>
        </p:txBody>
      </p:sp>
      <p:graphicFrame>
        <p:nvGraphicFramePr>
          <p:cNvPr id="800" name="table 800"/>
          <p:cNvGraphicFramePr>
            <a:graphicFrameLocks noGrp="1"/>
          </p:cNvGraphicFramePr>
          <p:nvPr/>
        </p:nvGraphicFramePr>
        <p:xfrm>
          <a:off x="7309388" y="2810635"/>
          <a:ext cx="1162684" cy="493395"/>
        </p:xfrm>
        <a:graphic>
          <a:graphicData uri="http://schemas.openxmlformats.org/drawingml/2006/table">
            <a:tbl>
              <a:tblPr/>
              <a:tblGrid>
                <a:gridCol w="1162684"/>
              </a:tblGrid>
              <a:tr h="4902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53975" algn="l" rtl="0" eaLnBrk="0">
                        <a:lnSpc>
                          <a:spcPts val="1095"/>
                        </a:lnSpc>
                      </a:pPr>
                      <a:r>
                        <a:rPr sz="90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巩固客户关</a:t>
                      </a:r>
                      <a:r>
                        <a:rPr sz="90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1" name="textbox 801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03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4" name="path"/>
          <p:cNvSpPr/>
          <p:nvPr/>
        </p:nvSpPr>
        <p:spPr>
          <a:xfrm>
            <a:off x="7288264" y="5448756"/>
            <a:ext cx="214514" cy="436110"/>
          </a:xfrm>
          <a:custGeom>
            <a:avLst/>
            <a:gdLst/>
            <a:ahLst/>
            <a:cxnLst/>
            <a:rect l="0" t="0" r="0" b="0"/>
            <a:pathLst>
              <a:path w="337" h="686">
                <a:moveTo>
                  <a:pt x="335" y="1"/>
                </a:moveTo>
                <a:lnTo>
                  <a:pt x="2" y="343"/>
                </a:lnTo>
                <a:lnTo>
                  <a:pt x="335" y="684"/>
                </a:lnTo>
                <a:close/>
              </a:path>
            </a:pathLst>
          </a:custGeom>
          <a:noFill/>
          <a:ln w="3009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5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6" name="textbox 806"/>
          <p:cNvSpPr/>
          <p:nvPr/>
        </p:nvSpPr>
        <p:spPr>
          <a:xfrm>
            <a:off x="7607555" y="5578388"/>
            <a:ext cx="554355" cy="1644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095"/>
              </a:lnSpc>
            </a:pPr>
            <a:r>
              <a:rPr sz="900" spc="4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提交</a:t>
            </a:r>
            <a:r>
              <a:rPr sz="900" spc="4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</a:t>
            </a:r>
            <a:endParaRPr lang="en-US" altLang="en-US" sz="900" dirty="0"/>
          </a:p>
        </p:txBody>
      </p:sp>
      <p:grpSp>
        <p:nvGrpSpPr>
          <p:cNvPr id="272" name="group 272"/>
          <p:cNvGrpSpPr/>
          <p:nvPr/>
        </p:nvGrpSpPr>
        <p:grpSpPr>
          <a:xfrm rot="21600000">
            <a:off x="7849986" y="2810635"/>
            <a:ext cx="82116" cy="95258"/>
            <a:chOff x="0" y="0"/>
            <a:chExt cx="82116" cy="95258"/>
          </a:xfrm>
        </p:grpSpPr>
        <p:sp>
          <p:nvSpPr>
            <p:cNvPr id="807" name="path"/>
            <p:cNvSpPr/>
            <p:nvPr/>
          </p:nvSpPr>
          <p:spPr>
            <a:xfrm>
              <a:off x="39272" y="0"/>
              <a:ext cx="3571" cy="47221"/>
            </a:xfrm>
            <a:custGeom>
              <a:avLst/>
              <a:gdLst/>
              <a:ahLst/>
              <a:cxnLst/>
              <a:rect l="0" t="0" r="0" b="0"/>
              <a:pathLst>
                <a:path w="5" h="74">
                  <a:moveTo>
                    <a:pt x="2" y="1"/>
                  </a:moveTo>
                  <a:lnTo>
                    <a:pt x="2" y="72"/>
                  </a:lnTo>
                </a:path>
              </a:pathLst>
            </a:custGeom>
            <a:noFill/>
            <a:ln w="3009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8" name="path"/>
            <p:cNvSpPr/>
            <p:nvPr/>
          </p:nvSpPr>
          <p:spPr>
            <a:xfrm>
              <a:off x="0" y="38960"/>
              <a:ext cx="82116" cy="56298"/>
            </a:xfrm>
            <a:custGeom>
              <a:avLst/>
              <a:gdLst/>
              <a:ahLst/>
              <a:cxnLst/>
              <a:rect l="0" t="0" r="0" b="0"/>
              <a:pathLst>
                <a:path w="129" h="88">
                  <a:moveTo>
                    <a:pt x="129" y="0"/>
                  </a:moveTo>
                  <a:lnTo>
                    <a:pt x="64" y="88"/>
                  </a:lnTo>
                  <a:lnTo>
                    <a:pt x="0" y="0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09" name="path"/>
          <p:cNvSpPr/>
          <p:nvPr/>
        </p:nvSpPr>
        <p:spPr>
          <a:xfrm>
            <a:off x="7839424" y="4699801"/>
            <a:ext cx="82116" cy="56298"/>
          </a:xfrm>
          <a:custGeom>
            <a:avLst/>
            <a:gdLst/>
            <a:ahLst/>
            <a:cxnLst/>
            <a:rect l="0" t="0" r="0" b="0"/>
            <a:pathLst>
              <a:path w="129" h="88">
                <a:moveTo>
                  <a:pt x="129" y="0"/>
                </a:moveTo>
                <a:lnTo>
                  <a:pt x="64" y="88"/>
                </a:lnTo>
                <a:lnTo>
                  <a:pt x="0" y="0"/>
                </a:lnTo>
                <a:lnTo>
                  <a:pt x="129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0" name="path"/>
          <p:cNvSpPr/>
          <p:nvPr/>
        </p:nvSpPr>
        <p:spPr>
          <a:xfrm>
            <a:off x="7889260" y="3193710"/>
            <a:ext cx="3570" cy="110863"/>
          </a:xfrm>
          <a:custGeom>
            <a:avLst/>
            <a:gdLst/>
            <a:ahLst/>
            <a:cxnLst/>
            <a:rect l="0" t="0" r="0" b="0"/>
            <a:pathLst>
              <a:path w="5" h="174">
                <a:moveTo>
                  <a:pt x="2" y="1"/>
                </a:moveTo>
                <a:lnTo>
                  <a:pt x="2" y="172"/>
                </a:lnTo>
              </a:path>
            </a:pathLst>
          </a:custGeom>
          <a:noFill/>
          <a:ln w="3009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1" name="table 811"/>
          <p:cNvGraphicFramePr>
            <a:graphicFrameLocks noGrp="1"/>
          </p:cNvGraphicFramePr>
          <p:nvPr/>
        </p:nvGraphicFramePr>
        <p:xfrm>
          <a:off x="5590032" y="2049780"/>
          <a:ext cx="5510529" cy="4013834"/>
        </p:xfrm>
        <a:graphic>
          <a:graphicData uri="http://schemas.openxmlformats.org/drawingml/2006/table">
            <a:tbl>
              <a:tblPr/>
              <a:tblGrid>
                <a:gridCol w="1654810"/>
                <a:gridCol w="3855719"/>
              </a:tblGrid>
              <a:tr h="40138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12" name="textbox 812"/>
          <p:cNvSpPr/>
          <p:nvPr/>
        </p:nvSpPr>
        <p:spPr>
          <a:xfrm>
            <a:off x="987763" y="2913983"/>
            <a:ext cx="2821304" cy="30333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lang="en-US" altLang="en-US" sz="100" dirty="0"/>
          </a:p>
          <a:p>
            <a:pPr marL="12700" indent="635" algn="l" rtl="0" eaLnBrk="0">
              <a:lnSpc>
                <a:spcPct val="99000"/>
              </a:lnSpc>
            </a:pPr>
            <a:r>
              <a:rPr sz="20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制定并提交解决方案阶段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</a:t>
            </a:r>
            <a:r>
              <a:rPr sz="20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易出现的问题</a:t>
            </a:r>
            <a:endParaRPr lang="en-US" altLang="en-US" sz="2000" dirty="0"/>
          </a:p>
          <a:p>
            <a:pPr algn="l" rtl="0" eaLnBrk="0">
              <a:lnSpc>
                <a:spcPct val="191000"/>
              </a:lnSpc>
            </a:pPr>
            <a:endParaRPr lang="en-US" altLang="en-US" sz="1000" dirty="0"/>
          </a:p>
          <a:p>
            <a:pPr marL="169545" algn="l" rtl="0" eaLnBrk="0">
              <a:lnSpc>
                <a:spcPct val="97000"/>
              </a:lnSpc>
              <a:spcBef>
                <a:spcPts val="425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客户内部无支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持者</a:t>
            </a:r>
            <a:endParaRPr lang="en-US" altLang="en-US" sz="1400" dirty="0"/>
          </a:p>
          <a:p>
            <a:pPr marL="340995" indent="-171450" algn="l" rtl="0" eaLnBrk="0">
              <a:lnSpc>
                <a:spcPct val="124000"/>
              </a:lnSpc>
              <a:spcBef>
                <a:spcPts val="1365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客户决策链不清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楚，关键决策 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客户关系提升不到位</a:t>
            </a:r>
            <a:endParaRPr lang="en-US" altLang="en-US" sz="1400" dirty="0"/>
          </a:p>
          <a:p>
            <a:pPr marL="169545" algn="l" rtl="0" eaLnBrk="0">
              <a:lnSpc>
                <a:spcPct val="97000"/>
              </a:lnSpc>
              <a:spcBef>
                <a:spcPts val="1395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项目风险未被识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</a:t>
            </a:r>
            <a:endParaRPr lang="en-US" altLang="en-US" sz="1400" dirty="0"/>
          </a:p>
          <a:p>
            <a:pPr marL="169545" algn="l" rtl="0" eaLnBrk="0">
              <a:lnSpc>
                <a:spcPct val="97000"/>
              </a:lnSpc>
              <a:spcBef>
                <a:spcPts val="1400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投标方案不被客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户接受</a:t>
            </a:r>
            <a:endParaRPr lang="en-US" altLang="en-US" sz="1400" dirty="0"/>
          </a:p>
          <a:p>
            <a:pPr algn="l" rtl="0" eaLnBrk="0">
              <a:lnSpc>
                <a:spcPct val="103000"/>
              </a:lnSpc>
            </a:pPr>
            <a:endParaRPr lang="en-US" altLang="en-US" sz="1100" dirty="0"/>
          </a:p>
          <a:p>
            <a:pPr algn="l" rtl="0" eaLnBrk="0">
              <a:lnSpc>
                <a:spcPct val="10000"/>
              </a:lnSpc>
            </a:pPr>
            <a:endParaRPr lang="en-US" altLang="en-US" sz="100" dirty="0"/>
          </a:p>
          <a:p>
            <a:pPr marL="169545" algn="l" rtl="0" eaLnBrk="0">
              <a:lnSpc>
                <a:spcPct val="98000"/>
              </a:lnSpc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投标资料不完整导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致废标</a:t>
            </a:r>
            <a:endParaRPr lang="en-US" altLang="en-US" sz="1400" dirty="0"/>
          </a:p>
        </p:txBody>
      </p:sp>
      <p:pic>
        <p:nvPicPr>
          <p:cNvPr id="813" name="picture 8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90087" y="1075944"/>
            <a:ext cx="1921764" cy="1403603"/>
          </a:xfrm>
          <a:prstGeom prst="rect">
            <a:avLst/>
          </a:prstGeom>
        </p:spPr>
      </p:pic>
      <p:pic>
        <p:nvPicPr>
          <p:cNvPr id="814" name="picture 8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5255" y="1115568"/>
            <a:ext cx="1761744" cy="1324355"/>
          </a:xfrm>
          <a:prstGeom prst="rect">
            <a:avLst/>
          </a:prstGeom>
        </p:spPr>
      </p:pic>
      <p:sp>
        <p:nvSpPr>
          <p:cNvPr id="815" name="textbox 815"/>
          <p:cNvSpPr/>
          <p:nvPr/>
        </p:nvSpPr>
        <p:spPr>
          <a:xfrm>
            <a:off x="7316723" y="2051304"/>
            <a:ext cx="3784600" cy="629284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600" dirty="0"/>
          </a:p>
          <a:p>
            <a:pPr marL="81280" indent="1270" algn="l" rtl="0" eaLnBrk="0">
              <a:lnSpc>
                <a:spcPct val="104000"/>
              </a:lnSpc>
              <a:spcBef>
                <a:spcPts val="5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项目特点、前期工作了解到的客户关注点  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做有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针对性的标书</a:t>
            </a:r>
            <a:endParaRPr lang="en-US" altLang="en-US" sz="1400" dirty="0"/>
          </a:p>
        </p:txBody>
      </p:sp>
      <p:sp>
        <p:nvSpPr>
          <p:cNvPr id="816" name="textbox 816"/>
          <p:cNvSpPr/>
          <p:nvPr/>
        </p:nvSpPr>
        <p:spPr>
          <a:xfrm>
            <a:off x="7316723" y="2901696"/>
            <a:ext cx="3784600" cy="629284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lang="en-US" altLang="en-US" sz="600" dirty="0"/>
          </a:p>
          <a:p>
            <a:pPr marL="86995" indent="-1905" algn="l" rtl="0" eaLnBrk="0">
              <a:lnSpc>
                <a:spcPct val="104000"/>
              </a:lnSpc>
              <a:spcBef>
                <a:spcPts val="0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期输出为依据，结合竞争对手、项目详情作  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定价依据，做有竞争力的报价。</a:t>
            </a:r>
            <a:endParaRPr lang="en-US" altLang="en-US" sz="1400" dirty="0"/>
          </a:p>
        </p:txBody>
      </p:sp>
      <p:sp>
        <p:nvSpPr>
          <p:cNvPr id="817" name="textbox 817"/>
          <p:cNvSpPr/>
          <p:nvPr/>
        </p:nvSpPr>
        <p:spPr>
          <a:xfrm>
            <a:off x="7318247" y="3752088"/>
            <a:ext cx="3782695" cy="629284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</a:pPr>
            <a:endParaRPr lang="en-US" altLang="en-US" sz="1000" dirty="0"/>
          </a:p>
          <a:p>
            <a:pPr marL="81915" algn="l" rtl="0" eaLnBrk="0">
              <a:lnSpc>
                <a:spcPct val="97000"/>
              </a:lnSpc>
              <a:spcBef>
                <a:spcPts val="5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、商务差异处理策略-透过现象看本质</a:t>
            </a:r>
            <a:endParaRPr lang="en-US" altLang="en-US" sz="1400" dirty="0"/>
          </a:p>
        </p:txBody>
      </p:sp>
      <p:sp>
        <p:nvSpPr>
          <p:cNvPr id="818" name="textbox 818"/>
          <p:cNvSpPr/>
          <p:nvPr/>
        </p:nvSpPr>
        <p:spPr>
          <a:xfrm>
            <a:off x="7318247" y="5451347"/>
            <a:ext cx="3782695" cy="628650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600" dirty="0"/>
          </a:p>
          <a:p>
            <a:pPr marL="81915" indent="0" algn="l" rtl="0" eaLnBrk="0">
              <a:lnSpc>
                <a:spcPct val="103000"/>
              </a:lnSpc>
              <a:spcBef>
                <a:spcPts val="5"/>
              </a:spcBef>
            </a:pPr>
            <a:r>
              <a:rPr sz="14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对项目过程复盘，作为组织过程遗产，  提</a:t>
            </a: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  续项目操作效率</a:t>
            </a:r>
            <a:endParaRPr lang="en-US" altLang="en-US" sz="1400" dirty="0"/>
          </a:p>
        </p:txBody>
      </p:sp>
      <p:sp>
        <p:nvSpPr>
          <p:cNvPr id="819" name="textbox 819"/>
          <p:cNvSpPr/>
          <p:nvPr/>
        </p:nvSpPr>
        <p:spPr>
          <a:xfrm>
            <a:off x="7318247" y="4602479"/>
            <a:ext cx="3782695" cy="628015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</a:pPr>
            <a:endParaRPr lang="en-US" altLang="en-US" sz="1000" dirty="0"/>
          </a:p>
          <a:p>
            <a:pPr marL="83185" algn="l" rtl="0" eaLnBrk="0">
              <a:lnSpc>
                <a:spcPct val="97000"/>
              </a:lnSpc>
              <a:spcBef>
                <a:spcPts val="5"/>
              </a:spcBef>
            </a:pP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标过程瞬息万变-现场随机应变</a:t>
            </a:r>
            <a:endParaRPr lang="en-US" altLang="en-US" sz="1400" dirty="0"/>
          </a:p>
        </p:txBody>
      </p:sp>
      <p:sp>
        <p:nvSpPr>
          <p:cNvPr id="820" name="textbox 820"/>
          <p:cNvSpPr/>
          <p:nvPr/>
        </p:nvSpPr>
        <p:spPr>
          <a:xfrm>
            <a:off x="560823" y="271100"/>
            <a:ext cx="5887720" cy="4387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1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4.1制定并提交解决方案：核心关</a:t>
            </a:r>
            <a:r>
              <a:rPr sz="2700" spc="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en-US" altLang="en-US" sz="2700" dirty="0"/>
          </a:p>
        </p:txBody>
      </p:sp>
      <p:sp>
        <p:nvSpPr>
          <p:cNvPr id="821" name="textbox 821"/>
          <p:cNvSpPr/>
          <p:nvPr/>
        </p:nvSpPr>
        <p:spPr>
          <a:xfrm>
            <a:off x="5590032" y="4600955"/>
            <a:ext cx="1583689" cy="632459"/>
          </a:xfrm>
          <a:prstGeom prst="rect">
            <a:avLst/>
          </a:prstGeom>
          <a:solidFill>
            <a:srgbClr val="CADFF5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2000"/>
              </a:lnSpc>
            </a:pPr>
            <a:endParaRPr lang="en-US" altLang="en-US" sz="1000" dirty="0"/>
          </a:p>
          <a:p>
            <a:pPr marL="83820" algn="l" rtl="0" eaLnBrk="0">
              <a:lnSpc>
                <a:spcPts val="1855"/>
              </a:lnSpc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开标过程把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</a:t>
            </a:r>
            <a:endParaRPr lang="en-US" altLang="en-US" sz="1500" dirty="0"/>
          </a:p>
        </p:txBody>
      </p:sp>
      <p:sp>
        <p:nvSpPr>
          <p:cNvPr id="822" name="textbox 822"/>
          <p:cNvSpPr/>
          <p:nvPr/>
        </p:nvSpPr>
        <p:spPr>
          <a:xfrm>
            <a:off x="5590032" y="5451347"/>
            <a:ext cx="1583689" cy="633730"/>
          </a:xfrm>
          <a:prstGeom prst="rect">
            <a:avLst/>
          </a:prstGeom>
          <a:solidFill>
            <a:srgbClr val="CADFF5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2000"/>
              </a:lnSpc>
            </a:pPr>
            <a:endParaRPr lang="en-US" altLang="en-US" sz="1000" dirty="0"/>
          </a:p>
          <a:p>
            <a:pPr marL="82550" algn="l" rtl="0" eaLnBrk="0">
              <a:lnSpc>
                <a:spcPts val="1860"/>
              </a:lnSpc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标后总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</a:t>
            </a:r>
            <a:endParaRPr lang="en-US" altLang="en-US" sz="1500" dirty="0"/>
          </a:p>
        </p:txBody>
      </p:sp>
      <p:sp>
        <p:nvSpPr>
          <p:cNvPr id="823" name="textbox 823"/>
          <p:cNvSpPr/>
          <p:nvPr/>
        </p:nvSpPr>
        <p:spPr>
          <a:xfrm>
            <a:off x="5590032" y="2049780"/>
            <a:ext cx="1583689" cy="632459"/>
          </a:xfrm>
          <a:prstGeom prst="rect">
            <a:avLst/>
          </a:prstGeom>
          <a:solidFill>
            <a:srgbClr val="CADFF5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lang="en-US" altLang="en-US" sz="400" dirty="0"/>
          </a:p>
          <a:p>
            <a:pPr marL="82550" indent="635" algn="l" rtl="0" eaLnBrk="0">
              <a:lnSpc>
                <a:spcPct val="110000"/>
              </a:lnSpc>
              <a:spcBef>
                <a:spcPts val="5"/>
              </a:spcBef>
            </a:pP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投标决策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标书制作要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endParaRPr lang="en-US" altLang="en-US" sz="1500" dirty="0"/>
          </a:p>
        </p:txBody>
      </p:sp>
      <p:sp>
        <p:nvSpPr>
          <p:cNvPr id="824" name="textbox 824"/>
          <p:cNvSpPr/>
          <p:nvPr/>
        </p:nvSpPr>
        <p:spPr>
          <a:xfrm>
            <a:off x="5590032" y="2901696"/>
            <a:ext cx="1583689" cy="630555"/>
          </a:xfrm>
          <a:prstGeom prst="rect">
            <a:avLst/>
          </a:prstGeom>
          <a:solidFill>
            <a:srgbClr val="CADFF5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0000"/>
              </a:lnSpc>
            </a:pPr>
            <a:endParaRPr lang="en-US" altLang="en-US" sz="1000" dirty="0"/>
          </a:p>
          <a:p>
            <a:pPr algn="l" rtl="0" eaLnBrk="0">
              <a:lnSpc>
                <a:spcPct val="9000"/>
              </a:lnSpc>
            </a:pPr>
            <a:endParaRPr lang="en-US" altLang="en-US" sz="100" dirty="0"/>
          </a:p>
          <a:p>
            <a:pPr marL="83185" algn="l" rtl="0" eaLnBrk="0">
              <a:lnSpc>
                <a:spcPts val="1850"/>
              </a:lnSpc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报价策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略</a:t>
            </a:r>
            <a:endParaRPr lang="en-US" altLang="en-US" sz="1500" dirty="0"/>
          </a:p>
        </p:txBody>
      </p:sp>
      <p:sp>
        <p:nvSpPr>
          <p:cNvPr id="825" name="textbox 825"/>
          <p:cNvSpPr/>
          <p:nvPr/>
        </p:nvSpPr>
        <p:spPr>
          <a:xfrm>
            <a:off x="5590032" y="3752088"/>
            <a:ext cx="1583689" cy="630555"/>
          </a:xfrm>
          <a:prstGeom prst="rect">
            <a:avLst/>
          </a:prstGeom>
          <a:solidFill>
            <a:srgbClr val="CADFF5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0000"/>
              </a:lnSpc>
            </a:pPr>
            <a:endParaRPr lang="en-US" altLang="en-US" sz="1000" dirty="0"/>
          </a:p>
          <a:p>
            <a:pPr algn="l" rtl="0" eaLnBrk="0">
              <a:lnSpc>
                <a:spcPct val="9000"/>
              </a:lnSpc>
            </a:pPr>
            <a:endParaRPr lang="en-US" altLang="en-US" sz="100" dirty="0"/>
          </a:p>
          <a:p>
            <a:pPr marL="82550" algn="l" rtl="0" eaLnBrk="0">
              <a:lnSpc>
                <a:spcPts val="1850"/>
              </a:lnSpc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技术&amp;商务差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</a:t>
            </a:r>
            <a:endParaRPr lang="en-US" altLang="en-US" sz="1500" dirty="0"/>
          </a:p>
        </p:txBody>
      </p:sp>
      <p:sp>
        <p:nvSpPr>
          <p:cNvPr id="826" name="textbox 826"/>
          <p:cNvSpPr/>
          <p:nvPr/>
        </p:nvSpPr>
        <p:spPr>
          <a:xfrm>
            <a:off x="6490217" y="1348835"/>
            <a:ext cx="3586479" cy="3219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spc="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制定并</a:t>
            </a:r>
            <a:r>
              <a:rPr sz="20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提交解决方案阶段关键点</a:t>
            </a:r>
            <a:endParaRPr lang="en-US" altLang="en-US" sz="2000" dirty="0"/>
          </a:p>
        </p:txBody>
      </p:sp>
      <p:sp>
        <p:nvSpPr>
          <p:cNvPr id="827" name="textbox 827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29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0" name="textbox 830"/>
          <p:cNvSpPr/>
          <p:nvPr/>
        </p:nvSpPr>
        <p:spPr>
          <a:xfrm>
            <a:off x="5193791" y="3750564"/>
            <a:ext cx="330834" cy="655955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lang="en-US" altLang="en-US" sz="1000" dirty="0"/>
          </a:p>
          <a:p>
            <a:pPr algn="l" rtl="0" eaLnBrk="0">
              <a:lnSpc>
                <a:spcPct val="9000"/>
              </a:lnSpc>
            </a:pPr>
            <a:endParaRPr lang="en-US" altLang="en-US" sz="100" dirty="0"/>
          </a:p>
          <a:p>
            <a:pPr marL="121285" algn="l" rtl="0" eaLnBrk="0">
              <a:lnSpc>
                <a:spcPct val="88000"/>
              </a:lnSpc>
            </a:pPr>
            <a:r>
              <a:rPr sz="15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en-US" sz="1500" dirty="0"/>
          </a:p>
        </p:txBody>
      </p:sp>
      <p:sp>
        <p:nvSpPr>
          <p:cNvPr id="831" name="textbox 831"/>
          <p:cNvSpPr/>
          <p:nvPr/>
        </p:nvSpPr>
        <p:spPr>
          <a:xfrm>
            <a:off x="5193791" y="4600955"/>
            <a:ext cx="330834" cy="658494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9000"/>
              </a:lnSpc>
            </a:pPr>
            <a:endParaRPr lang="en-US" altLang="en-US" sz="1000" dirty="0"/>
          </a:p>
          <a:p>
            <a:pPr marL="109220" algn="l" rtl="0" eaLnBrk="0">
              <a:lnSpc>
                <a:spcPct val="87000"/>
              </a:lnSpc>
              <a:spcBef>
                <a:spcPts val="5"/>
              </a:spcBef>
            </a:pPr>
            <a:r>
              <a:rPr sz="150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en-US" sz="1500" dirty="0"/>
          </a:p>
        </p:txBody>
      </p:sp>
      <p:sp>
        <p:nvSpPr>
          <p:cNvPr id="832" name="textbox 832"/>
          <p:cNvSpPr/>
          <p:nvPr/>
        </p:nvSpPr>
        <p:spPr>
          <a:xfrm>
            <a:off x="5193791" y="5451347"/>
            <a:ext cx="330834" cy="655955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9000"/>
              </a:lnSpc>
            </a:pPr>
            <a:endParaRPr lang="en-US" altLang="en-US" sz="1000" dirty="0"/>
          </a:p>
          <a:p>
            <a:pPr marL="124460" algn="l" rtl="0" eaLnBrk="0">
              <a:lnSpc>
                <a:spcPct val="87000"/>
              </a:lnSpc>
              <a:spcBef>
                <a:spcPts val="5"/>
              </a:spcBef>
            </a:pPr>
            <a:r>
              <a:rPr sz="15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en-US" altLang="en-US" sz="1500" dirty="0"/>
          </a:p>
        </p:txBody>
      </p:sp>
      <p:sp>
        <p:nvSpPr>
          <p:cNvPr id="833" name="textbox 833"/>
          <p:cNvSpPr/>
          <p:nvPr/>
        </p:nvSpPr>
        <p:spPr>
          <a:xfrm>
            <a:off x="5193791" y="2049780"/>
            <a:ext cx="330834" cy="658494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6000"/>
              </a:lnSpc>
            </a:pPr>
            <a:endParaRPr lang="en-US" altLang="en-US" sz="1000" dirty="0"/>
          </a:p>
          <a:p>
            <a:pPr marL="128270" algn="l" rtl="0" eaLnBrk="0">
              <a:lnSpc>
                <a:spcPct val="89000"/>
              </a:lnSpc>
              <a:spcBef>
                <a:spcPts val="0"/>
              </a:spcBef>
            </a:pPr>
            <a:r>
              <a:rPr sz="15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en-US" sz="1500" dirty="0"/>
          </a:p>
        </p:txBody>
      </p:sp>
      <p:sp>
        <p:nvSpPr>
          <p:cNvPr id="834" name="textbox 834"/>
          <p:cNvSpPr/>
          <p:nvPr/>
        </p:nvSpPr>
        <p:spPr>
          <a:xfrm>
            <a:off x="5193791" y="2900172"/>
            <a:ext cx="330834" cy="658494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lang="en-US" altLang="en-US" sz="10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119380" algn="l" rtl="0" eaLnBrk="0">
              <a:lnSpc>
                <a:spcPct val="88000"/>
              </a:lnSpc>
            </a:pPr>
            <a:r>
              <a:rPr sz="15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en-US" sz="1500" dirty="0"/>
          </a:p>
        </p:txBody>
      </p:sp>
      <p:sp>
        <p:nvSpPr>
          <p:cNvPr id="835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6" name="table 836"/>
          <p:cNvGraphicFramePr>
            <a:graphicFrameLocks noGrp="1"/>
          </p:cNvGraphicFramePr>
          <p:nvPr/>
        </p:nvGraphicFramePr>
        <p:xfrm>
          <a:off x="519455" y="3371087"/>
          <a:ext cx="4276090" cy="2557145"/>
        </p:xfrm>
        <a:graphic>
          <a:graphicData uri="http://schemas.openxmlformats.org/drawingml/2006/table">
            <a:tbl>
              <a:tblPr/>
              <a:tblGrid>
                <a:gridCol w="870585"/>
                <a:gridCol w="350520"/>
                <a:gridCol w="3054985"/>
              </a:tblGrid>
              <a:tr h="25571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marL="55880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8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投标</a:t>
                      </a:r>
                      <a:r>
                        <a:rPr sz="18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否</a:t>
                      </a:r>
                      <a:endParaRPr lang="en-US" altLang="en-US" sz="1800" dirty="0"/>
                    </a:p>
                    <a:p>
                      <a:pPr algn="l" rtl="0" eaLnBrk="0">
                        <a:lnSpc>
                          <a:spcPct val="98000"/>
                        </a:lnSpc>
                        <a:spcBef>
                          <a:spcPts val="1125"/>
                        </a:spcBef>
                      </a:pPr>
                      <a:r>
                        <a:rPr sz="1800" spc="3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决条</a:t>
                      </a:r>
                      <a:r>
                        <a:rPr sz="1800" spc="2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件</a:t>
                      </a:r>
                      <a:r>
                        <a:rPr sz="18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endParaRPr lang="en-US" altLang="en-US" sz="18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900" dirty="0"/>
                    </a:p>
                    <a:p>
                      <a:pPr marL="169545" algn="l" rtl="0" eaLnBrk="0">
                        <a:lnSpc>
                          <a:spcPct val="98000"/>
                        </a:lnSpc>
                      </a:pPr>
                      <a:r>
                        <a:rPr sz="18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endParaRPr lang="en-US" altLang="en-US" sz="1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837" name="table 837"/>
          <p:cNvGraphicFramePr>
            <a:graphicFrameLocks noGrp="1"/>
          </p:cNvGraphicFramePr>
          <p:nvPr/>
        </p:nvGraphicFramePr>
        <p:xfrm>
          <a:off x="6545326" y="1652016"/>
          <a:ext cx="4357369" cy="1699259"/>
        </p:xfrm>
        <a:graphic>
          <a:graphicData uri="http://schemas.openxmlformats.org/drawingml/2006/table">
            <a:tbl>
              <a:tblPr/>
              <a:tblGrid>
                <a:gridCol w="4357369"/>
              </a:tblGrid>
              <a:tr h="16865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marL="163893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销售服</a:t>
                      </a:r>
                      <a:r>
                        <a:rPr sz="1800" spc="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务部</a:t>
                      </a:r>
                      <a:endParaRPr lang="en-US" altLang="en-US" sz="1800" dirty="0"/>
                    </a:p>
                    <a:p>
                      <a:pPr marL="63500" algn="l" rtl="0" eaLnBrk="0">
                        <a:lnSpc>
                          <a:spcPts val="1500"/>
                        </a:lnSpc>
                        <a:spcBef>
                          <a:spcPts val="1185"/>
                        </a:spcBef>
                      </a:pPr>
                      <a:r>
                        <a:rPr sz="1200" spc="6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6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营销/客户经理解读招标文件，  </a:t>
                      </a:r>
                      <a:r>
                        <a:rPr sz="12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明确技术及商务差</a:t>
                      </a: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条款</a:t>
                      </a:r>
                      <a:endParaRPr lang="en-US" altLang="en-US" sz="1200" dirty="0"/>
                    </a:p>
                    <a:p>
                      <a:pPr marL="63500" algn="l" rtl="0" eaLnBrk="0">
                        <a:lnSpc>
                          <a:spcPts val="1500"/>
                        </a:lnSpc>
                        <a:spcBef>
                          <a:spcPts val="375"/>
                        </a:spcBef>
                      </a:pPr>
                      <a:r>
                        <a:rPr sz="1200" spc="9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9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铁三角针对差异点进充分沟通，作出有竞争力的答</a:t>
                      </a:r>
                      <a:r>
                        <a:rPr sz="1200" spc="1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</a:t>
                      </a:r>
                      <a:r>
                        <a:rPr sz="1200" spc="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略</a:t>
                      </a:r>
                      <a:endParaRPr lang="en-US" altLang="en-US" sz="1200" dirty="0"/>
                    </a:p>
                    <a:p>
                      <a:pPr marL="63500" algn="l" rtl="0" eaLnBrk="0">
                        <a:lnSpc>
                          <a:spcPts val="1495"/>
                        </a:lnSpc>
                        <a:spcBef>
                          <a:spcPts val="370"/>
                        </a:spcBef>
                      </a:pP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营销经理需结合项目实际情况及沟通好的标书制作</a:t>
                      </a: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求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300" dirty="0"/>
                    </a:p>
                    <a:p>
                      <a:pPr marL="248920" algn="l" rtl="0" eaLnBrk="0">
                        <a:lnSpc>
                          <a:spcPts val="1505"/>
                        </a:lnSpc>
                        <a:spcBef>
                          <a:spcPts val="0"/>
                        </a:spcBef>
                      </a:pP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对标书进行点检及终</a:t>
                      </a:r>
                      <a:r>
                        <a:rPr sz="12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审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38" name="table 838"/>
          <p:cNvGraphicFramePr>
            <a:graphicFrameLocks noGrp="1"/>
          </p:cNvGraphicFramePr>
          <p:nvPr/>
        </p:nvGraphicFramePr>
        <p:xfrm>
          <a:off x="8619490" y="3575050"/>
          <a:ext cx="3044825" cy="2273935"/>
        </p:xfrm>
        <a:graphic>
          <a:graphicData uri="http://schemas.openxmlformats.org/drawingml/2006/table">
            <a:tbl>
              <a:tblPr/>
              <a:tblGrid>
                <a:gridCol w="3044825"/>
              </a:tblGrid>
              <a:tr h="22612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marL="1235710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800" spc="-1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标书</a:t>
                      </a:r>
                      <a:r>
                        <a:rPr sz="1800" spc="0" dirty="0">
                          <a:solidFill>
                            <a:srgbClr val="1C1C1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科</a:t>
                      </a:r>
                      <a:endParaRPr lang="en-US" altLang="en-US" sz="1800" dirty="0"/>
                    </a:p>
                    <a:p>
                      <a:pPr marL="85725" algn="l" rtl="0" eaLnBrk="0">
                        <a:lnSpc>
                          <a:spcPts val="1500"/>
                        </a:lnSpc>
                        <a:spcBef>
                          <a:spcPts val="565"/>
                        </a:spcBef>
                      </a:pP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识别公司无法满足的资质及文件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差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</a:t>
                      </a:r>
                      <a:endParaRPr lang="en-US" altLang="en-US" sz="1200" dirty="0"/>
                    </a:p>
                    <a:p>
                      <a:pPr marL="266065" indent="-180975" algn="l" rtl="0" eaLnBrk="0">
                        <a:lnSpc>
                          <a:spcPct val="121000"/>
                        </a:lnSpc>
                        <a:spcBef>
                          <a:spcPts val="390"/>
                        </a:spcBef>
                      </a:pP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对所有的应答项进行点检，包括</a:t>
                      </a:r>
                      <a:r>
                        <a:rPr sz="12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术、  </a:t>
                      </a: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商务中所有表格的应答，招标文件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   </a:t>
                      </a: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求逐条承诺的内容是否逐条承</a:t>
                      </a:r>
                      <a:r>
                        <a:rPr sz="12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诺</a:t>
                      </a:r>
                      <a:endParaRPr lang="en-US" altLang="en-US" sz="1200" dirty="0"/>
                    </a:p>
                    <a:p>
                      <a:pPr marL="264160" indent="-179070" algn="l" rtl="0" eaLnBrk="0">
                        <a:lnSpc>
                          <a:spcPct val="117000"/>
                        </a:lnSpc>
                        <a:spcBef>
                          <a:spcPts val="380"/>
                        </a:spcBef>
                      </a:pP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标书要求附带文件是否完整，确</a:t>
                      </a:r>
                      <a:r>
                        <a:rPr sz="12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认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   </a:t>
                      </a:r>
                      <a:r>
                        <a:rPr sz="12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件、复印件内容符合要</a:t>
                      </a:r>
                      <a:r>
                        <a:rPr sz="12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求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300" dirty="0"/>
                    </a:p>
                    <a:p>
                      <a:pPr marL="85725" algn="l" rtl="0" eaLnBrk="0">
                        <a:lnSpc>
                          <a:spcPts val="1500"/>
                        </a:lnSpc>
                        <a:spcBef>
                          <a:spcPts val="0"/>
                        </a:spcBef>
                      </a:pP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</a:t>
                      </a:r>
                      <a:r>
                        <a:rPr sz="12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所有的承诺内容是否盖章、</a:t>
                      </a:r>
                      <a:r>
                        <a:rPr sz="12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签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39" name="table 839"/>
          <p:cNvGraphicFramePr>
            <a:graphicFrameLocks noGrp="1"/>
          </p:cNvGraphicFramePr>
          <p:nvPr/>
        </p:nvGraphicFramePr>
        <p:xfrm>
          <a:off x="518921" y="1301495"/>
          <a:ext cx="4364990" cy="1431925"/>
        </p:xfrm>
        <a:graphic>
          <a:graphicData uri="http://schemas.openxmlformats.org/drawingml/2006/table">
            <a:tbl>
              <a:tblPr/>
              <a:tblGrid>
                <a:gridCol w="1953895"/>
                <a:gridCol w="803909"/>
                <a:gridCol w="1607185"/>
              </a:tblGrid>
              <a:tr h="1431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80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跟踪了 =必须投标</a:t>
                      </a:r>
                      <a:r>
                        <a:rPr sz="180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？</a:t>
                      </a:r>
                      <a:endParaRPr lang="en-US" altLang="en-US" sz="1800" dirty="0"/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400" dirty="0"/>
                    </a:p>
                    <a:p>
                      <a:pPr marL="63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跟踪了</a:t>
                      </a: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+投标决策</a:t>
                      </a:r>
                      <a:endParaRPr lang="en-US" altLang="en-US" sz="1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marL="9334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800" spc="1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及时有效止</a:t>
                      </a:r>
                      <a:r>
                        <a:rPr sz="1800" spc="0" dirty="0">
                          <a:ln w="3175" cap="flat" cmpd="sng">
                            <a:solidFill>
                              <a:srgbClr val="FF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损!</a:t>
                      </a:r>
                      <a:endParaRPr lang="en-US" altLang="en-US" sz="1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40" name="path"/>
          <p:cNvSpPr/>
          <p:nvPr/>
        </p:nvSpPr>
        <p:spPr>
          <a:xfrm>
            <a:off x="5778626" y="3575050"/>
            <a:ext cx="2413254" cy="2274315"/>
          </a:xfrm>
          <a:custGeom>
            <a:avLst/>
            <a:gdLst/>
            <a:ahLst/>
            <a:cxnLst/>
            <a:rect l="0" t="0" r="0" b="0"/>
            <a:pathLst>
              <a:path w="3800" h="3581">
                <a:moveTo>
                  <a:pt x="0" y="10"/>
                </a:moveTo>
                <a:lnTo>
                  <a:pt x="3800" y="10"/>
                </a:lnTo>
                <a:moveTo>
                  <a:pt x="3800" y="3571"/>
                </a:moveTo>
                <a:lnTo>
                  <a:pt x="0" y="3571"/>
                </a:ln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1" name="textbox 841"/>
          <p:cNvSpPr/>
          <p:nvPr/>
        </p:nvSpPr>
        <p:spPr>
          <a:xfrm>
            <a:off x="5768300" y="3742747"/>
            <a:ext cx="2338070" cy="18084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663575" algn="l" rtl="0" eaLnBrk="0">
              <a:lnSpc>
                <a:spcPct val="98000"/>
              </a:lnSpc>
            </a:pPr>
            <a:r>
              <a:rPr sz="1800" spc="-1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r>
              <a:rPr sz="1800" spc="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方案部</a:t>
            </a:r>
            <a:endParaRPr lang="en-US" altLang="en-US" sz="1800" dirty="0"/>
          </a:p>
          <a:p>
            <a:pPr marL="186690" indent="-173990" algn="l" rtl="0" eaLnBrk="0">
              <a:lnSpc>
                <a:spcPct val="122000"/>
              </a:lnSpc>
              <a:spcBef>
                <a:spcPts val="1060"/>
              </a:spcBef>
            </a:pPr>
            <a:r>
              <a:rPr sz="1200" spc="100" dirty="0">
                <a:solidFill>
                  <a:srgbClr val="1C1C1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10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识别技术差异，提供给营销</a:t>
            </a:r>
            <a:r>
              <a:rPr sz="1200" spc="2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</a:t>
            </a:r>
            <a:r>
              <a:rPr sz="1200" spc="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理，由营销经理反馈差异应</a:t>
            </a:r>
            <a:r>
              <a:rPr sz="1200" spc="4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sz="1200" spc="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</a:t>
            </a:r>
            <a:r>
              <a:rPr sz="1200" spc="8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略</a:t>
            </a:r>
            <a:endParaRPr lang="en-US" altLang="en-US" sz="1200" dirty="0"/>
          </a:p>
          <a:p>
            <a:pPr algn="l" rtl="0" eaLnBrk="0">
              <a:lnSpc>
                <a:spcPct val="103000"/>
              </a:lnSpc>
            </a:pPr>
            <a:endParaRPr lang="en-US" altLang="en-US" sz="300" dirty="0"/>
          </a:p>
          <a:p>
            <a:pPr marL="186690" indent="-173990" algn="l" rtl="0" eaLnBrk="0">
              <a:lnSpc>
                <a:spcPct val="121000"/>
              </a:lnSpc>
              <a:spcBef>
                <a:spcPts val="5"/>
              </a:spcBef>
            </a:pPr>
            <a:r>
              <a:rPr sz="1200" spc="100" dirty="0">
                <a:solidFill>
                  <a:srgbClr val="1C1C1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10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结合营销反馈的差异解决策</a:t>
            </a:r>
            <a:r>
              <a:rPr sz="1200" spc="2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略</a:t>
            </a:r>
            <a:r>
              <a:rPr sz="1200" spc="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进行技术标书制作，过程需</a:t>
            </a:r>
            <a:r>
              <a:rPr sz="1200" spc="3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sz="1200" spc="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参数表及方案进行点</a:t>
            </a:r>
            <a:r>
              <a:rPr sz="1200" spc="40" dirty="0">
                <a:solidFill>
                  <a:srgbClr val="1C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</a:t>
            </a:r>
            <a:endParaRPr lang="en-US" altLang="en-US" sz="1200" dirty="0"/>
          </a:p>
        </p:txBody>
      </p:sp>
      <p:sp>
        <p:nvSpPr>
          <p:cNvPr id="842" name="textbox 842"/>
          <p:cNvSpPr/>
          <p:nvPr/>
        </p:nvSpPr>
        <p:spPr>
          <a:xfrm>
            <a:off x="560823" y="271100"/>
            <a:ext cx="7308850" cy="439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55"/>
              </a:lnSpc>
            </a:pPr>
            <a:r>
              <a:rPr sz="2700" spc="1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4.2制定并提交解决方案：投标决策与标书</a:t>
            </a:r>
            <a:r>
              <a:rPr sz="2700" spc="3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endParaRPr lang="en-US" altLang="en-US" sz="2700" dirty="0"/>
          </a:p>
        </p:txBody>
      </p:sp>
      <p:sp>
        <p:nvSpPr>
          <p:cNvPr id="843" name="textbox 843"/>
          <p:cNvSpPr/>
          <p:nvPr/>
        </p:nvSpPr>
        <p:spPr>
          <a:xfrm>
            <a:off x="1818132" y="3371087"/>
            <a:ext cx="2978150" cy="626109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2000"/>
              </a:lnSpc>
            </a:pPr>
            <a:endParaRPr lang="en-US" altLang="en-US" sz="1000" dirty="0"/>
          </a:p>
          <a:p>
            <a:pPr marL="107950" algn="l" rtl="0" eaLnBrk="0">
              <a:lnSpc>
                <a:spcPct val="100000"/>
              </a:lnSpc>
            </a:pPr>
            <a:r>
              <a:rPr sz="150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客户明确拒绝我方产品(方案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1500" dirty="0"/>
          </a:p>
        </p:txBody>
      </p:sp>
      <p:sp>
        <p:nvSpPr>
          <p:cNvPr id="844" name="textbox 844"/>
          <p:cNvSpPr/>
          <p:nvPr/>
        </p:nvSpPr>
        <p:spPr>
          <a:xfrm>
            <a:off x="1818132" y="5315711"/>
            <a:ext cx="2978150" cy="632459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lang="en-US" altLang="en-US" sz="1000" dirty="0"/>
          </a:p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marL="108585" algn="l" rtl="0" eaLnBrk="0">
              <a:lnSpc>
                <a:spcPts val="1855"/>
              </a:lnSpc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不符合公司产品销售策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略</a:t>
            </a:r>
            <a:endParaRPr lang="en-US" altLang="en-US" sz="1500" dirty="0"/>
          </a:p>
        </p:txBody>
      </p:sp>
      <p:sp>
        <p:nvSpPr>
          <p:cNvPr id="845" name="textbox 845"/>
          <p:cNvSpPr/>
          <p:nvPr/>
        </p:nvSpPr>
        <p:spPr>
          <a:xfrm>
            <a:off x="1818132" y="4343400"/>
            <a:ext cx="2978150" cy="632459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lang="en-US" altLang="en-US" sz="1000" dirty="0"/>
          </a:p>
          <a:p>
            <a:pPr algn="l" rtl="0" eaLnBrk="0">
              <a:lnSpc>
                <a:spcPct val="9000"/>
              </a:lnSpc>
            </a:pPr>
            <a:endParaRPr lang="en-US" altLang="en-US" sz="100" dirty="0"/>
          </a:p>
          <a:p>
            <a:pPr marL="122555" algn="l" rtl="0" eaLnBrk="0">
              <a:lnSpc>
                <a:spcPts val="1850"/>
              </a:lnSpc>
            </a:pP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明确无产品需</a:t>
            </a:r>
            <a:r>
              <a:rPr sz="15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endParaRPr lang="en-US" altLang="en-US" sz="1500" dirty="0"/>
          </a:p>
        </p:txBody>
      </p:sp>
      <p:pic>
        <p:nvPicPr>
          <p:cNvPr id="846" name="picture 8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9083" y="1301495"/>
            <a:ext cx="1545335" cy="1121664"/>
          </a:xfrm>
          <a:prstGeom prst="rect">
            <a:avLst/>
          </a:prstGeom>
        </p:spPr>
      </p:pic>
      <p:sp>
        <p:nvSpPr>
          <p:cNvPr id="847" name="path"/>
          <p:cNvSpPr/>
          <p:nvPr/>
        </p:nvSpPr>
        <p:spPr>
          <a:xfrm>
            <a:off x="10814685" y="3263265"/>
            <a:ext cx="88264" cy="88265"/>
          </a:xfrm>
          <a:custGeom>
            <a:avLst/>
            <a:gdLst/>
            <a:ahLst/>
            <a:cxnLst/>
            <a:rect l="0" t="0" r="0" b="0"/>
            <a:pathLst>
              <a:path w="138" h="139">
                <a:moveTo>
                  <a:pt x="128" y="10"/>
                </a:moveTo>
                <a:cubicBezTo>
                  <a:pt x="128" y="75"/>
                  <a:pt x="75" y="129"/>
                  <a:pt x="10" y="129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8" name="path"/>
          <p:cNvSpPr/>
          <p:nvPr/>
        </p:nvSpPr>
        <p:spPr>
          <a:xfrm>
            <a:off x="11536680" y="3575050"/>
            <a:ext cx="128269" cy="128270"/>
          </a:xfrm>
          <a:custGeom>
            <a:avLst/>
            <a:gdLst/>
            <a:ahLst/>
            <a:cxnLst/>
            <a:rect l="0" t="0" r="0" b="0"/>
            <a:pathLst>
              <a:path w="201" h="202">
                <a:moveTo>
                  <a:pt x="10" y="10"/>
                </a:moveTo>
                <a:cubicBezTo>
                  <a:pt x="110" y="10"/>
                  <a:pt x="191" y="91"/>
                  <a:pt x="191" y="192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49" name="picture 8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66119" y="3076955"/>
            <a:ext cx="792480" cy="967739"/>
          </a:xfrm>
          <a:prstGeom prst="rect">
            <a:avLst/>
          </a:prstGeom>
        </p:spPr>
      </p:pic>
      <p:sp>
        <p:nvSpPr>
          <p:cNvPr id="850" name="path"/>
          <p:cNvSpPr/>
          <p:nvPr/>
        </p:nvSpPr>
        <p:spPr>
          <a:xfrm>
            <a:off x="5675121" y="3678554"/>
            <a:ext cx="12700" cy="2067318"/>
          </a:xfrm>
          <a:custGeom>
            <a:avLst/>
            <a:gdLst/>
            <a:ahLst/>
            <a:cxnLst/>
            <a:rect l="0" t="0" r="0" b="0"/>
            <a:pathLst>
              <a:path w="20" h="3255">
                <a:moveTo>
                  <a:pt x="10" y="3255"/>
                </a:moveTo>
                <a:lnTo>
                  <a:pt x="10" y="0"/>
                </a:lnTo>
                <a:close/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51" name="path"/>
          <p:cNvSpPr/>
          <p:nvPr/>
        </p:nvSpPr>
        <p:spPr>
          <a:xfrm>
            <a:off x="5675121" y="3575050"/>
            <a:ext cx="109854" cy="109854"/>
          </a:xfrm>
          <a:custGeom>
            <a:avLst/>
            <a:gdLst/>
            <a:ahLst/>
            <a:cxnLst/>
            <a:rect l="0" t="0" r="0" b="0"/>
            <a:pathLst>
              <a:path w="172" h="172">
                <a:moveTo>
                  <a:pt x="10" y="162"/>
                </a:moveTo>
                <a:cubicBezTo>
                  <a:pt x="10" y="78"/>
                  <a:pt x="78" y="10"/>
                  <a:pt x="162" y="10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52" name="picture 8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51348" y="3459479"/>
            <a:ext cx="932688" cy="577595"/>
          </a:xfrm>
          <a:prstGeom prst="rect">
            <a:avLst/>
          </a:prstGeom>
        </p:spPr>
      </p:pic>
      <p:sp>
        <p:nvSpPr>
          <p:cNvPr id="853" name="path"/>
          <p:cNvSpPr/>
          <p:nvPr/>
        </p:nvSpPr>
        <p:spPr>
          <a:xfrm>
            <a:off x="1467485" y="3578225"/>
            <a:ext cx="196850" cy="2110994"/>
          </a:xfrm>
          <a:custGeom>
            <a:avLst/>
            <a:gdLst/>
            <a:ahLst/>
            <a:cxnLst/>
            <a:rect l="0" t="0" r="0" b="0"/>
            <a:pathLst>
              <a:path w="310" h="3324">
                <a:moveTo>
                  <a:pt x="305" y="3319"/>
                </a:moveTo>
                <a:cubicBezTo>
                  <a:pt x="222" y="3319"/>
                  <a:pt x="155" y="3251"/>
                  <a:pt x="155" y="3167"/>
                </a:cubicBezTo>
                <a:lnTo>
                  <a:pt x="155" y="1814"/>
                </a:lnTo>
                <a:cubicBezTo>
                  <a:pt x="155" y="1730"/>
                  <a:pt x="87" y="1662"/>
                  <a:pt x="5" y="1662"/>
                </a:cubicBezTo>
                <a:cubicBezTo>
                  <a:pt x="87" y="1662"/>
                  <a:pt x="155" y="1594"/>
                  <a:pt x="155" y="1510"/>
                </a:cubicBezTo>
                <a:lnTo>
                  <a:pt x="155" y="157"/>
                </a:lnTo>
                <a:cubicBezTo>
                  <a:pt x="155" y="73"/>
                  <a:pt x="222" y="5"/>
                  <a:pt x="305" y="5"/>
                </a:cubicBezTo>
              </a:path>
            </a:pathLst>
          </a:custGeom>
          <a:noFill/>
          <a:ln w="6350" cap="flat">
            <a:solidFill>
              <a:srgbClr val="7F7F7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54" name="picture 8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41464" y="1652016"/>
            <a:ext cx="541019" cy="609600"/>
          </a:xfrm>
          <a:prstGeom prst="rect">
            <a:avLst/>
          </a:prstGeom>
        </p:spPr>
      </p:pic>
      <p:sp>
        <p:nvSpPr>
          <p:cNvPr id="855" name="textbox 855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57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58" name="textbox 858"/>
          <p:cNvSpPr/>
          <p:nvPr/>
        </p:nvSpPr>
        <p:spPr>
          <a:xfrm>
            <a:off x="8275167" y="1261668"/>
            <a:ext cx="937894" cy="2940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8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标书</a:t>
            </a:r>
            <a:r>
              <a:rPr sz="18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制作</a:t>
            </a:r>
            <a:endParaRPr lang="en-US" altLang="en-US" sz="1800" dirty="0"/>
          </a:p>
        </p:txBody>
      </p:sp>
      <p:sp>
        <p:nvSpPr>
          <p:cNvPr id="859" name="path"/>
          <p:cNvSpPr/>
          <p:nvPr/>
        </p:nvSpPr>
        <p:spPr>
          <a:xfrm>
            <a:off x="2554224" y="1562100"/>
            <a:ext cx="661416" cy="312420"/>
          </a:xfrm>
          <a:custGeom>
            <a:avLst/>
            <a:gdLst/>
            <a:ahLst/>
            <a:cxnLst/>
            <a:rect l="0" t="0" r="0" b="0"/>
            <a:pathLst>
              <a:path w="1041" h="492">
                <a:moveTo>
                  <a:pt x="0" y="122"/>
                </a:moveTo>
                <a:lnTo>
                  <a:pt x="494" y="122"/>
                </a:lnTo>
                <a:lnTo>
                  <a:pt x="494" y="0"/>
                </a:lnTo>
                <a:lnTo>
                  <a:pt x="1041" y="245"/>
                </a:lnTo>
                <a:lnTo>
                  <a:pt x="494" y="492"/>
                </a:lnTo>
                <a:lnTo>
                  <a:pt x="494" y="368"/>
                </a:lnTo>
                <a:lnTo>
                  <a:pt x="0" y="368"/>
                </a:lnTo>
                <a:lnTo>
                  <a:pt x="0" y="122"/>
                </a:lnTo>
                <a:close/>
              </a:path>
            </a:pathLst>
          </a:custGeom>
          <a:solidFill>
            <a:srgbClr val="75B2F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0" name="path"/>
          <p:cNvSpPr/>
          <p:nvPr/>
        </p:nvSpPr>
        <p:spPr>
          <a:xfrm>
            <a:off x="2554224" y="2290572"/>
            <a:ext cx="661416" cy="310895"/>
          </a:xfrm>
          <a:custGeom>
            <a:avLst/>
            <a:gdLst/>
            <a:ahLst/>
            <a:cxnLst/>
            <a:rect l="0" t="0" r="0" b="0"/>
            <a:pathLst>
              <a:path w="1041" h="489">
                <a:moveTo>
                  <a:pt x="0" y="122"/>
                </a:moveTo>
                <a:lnTo>
                  <a:pt x="496" y="122"/>
                </a:lnTo>
                <a:lnTo>
                  <a:pt x="496" y="0"/>
                </a:lnTo>
                <a:lnTo>
                  <a:pt x="1041" y="244"/>
                </a:lnTo>
                <a:lnTo>
                  <a:pt x="496" y="489"/>
                </a:lnTo>
                <a:lnTo>
                  <a:pt x="496" y="367"/>
                </a:lnTo>
                <a:lnTo>
                  <a:pt x="0" y="367"/>
                </a:lnTo>
                <a:lnTo>
                  <a:pt x="0" y="122"/>
                </a:lnTo>
                <a:close/>
              </a:path>
            </a:pathLst>
          </a:custGeom>
          <a:solidFill>
            <a:srgbClr val="75B2F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1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2" name="rect"/>
          <p:cNvSpPr/>
          <p:nvPr/>
        </p:nvSpPr>
        <p:spPr>
          <a:xfrm>
            <a:off x="8282685" y="3678554"/>
            <a:ext cx="12700" cy="2067318"/>
          </a:xfrm>
          <a:prstGeom prst="rect">
            <a:avLst/>
          </a:prstGeom>
          <a:solidFill>
            <a:srgbClr val="7F7F7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3" name="path"/>
          <p:cNvSpPr/>
          <p:nvPr/>
        </p:nvSpPr>
        <p:spPr>
          <a:xfrm>
            <a:off x="8619490" y="3575050"/>
            <a:ext cx="128269" cy="128270"/>
          </a:xfrm>
          <a:custGeom>
            <a:avLst/>
            <a:gdLst/>
            <a:ahLst/>
            <a:cxnLst/>
            <a:rect l="0" t="0" r="0" b="0"/>
            <a:pathLst>
              <a:path w="201" h="202">
                <a:moveTo>
                  <a:pt x="10" y="192"/>
                </a:moveTo>
                <a:cubicBezTo>
                  <a:pt x="10" y="91"/>
                  <a:pt x="91" y="10"/>
                  <a:pt x="191" y="10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4" name="path"/>
          <p:cNvSpPr/>
          <p:nvPr/>
        </p:nvSpPr>
        <p:spPr>
          <a:xfrm>
            <a:off x="8619490" y="5721121"/>
            <a:ext cx="128269" cy="128244"/>
          </a:xfrm>
          <a:custGeom>
            <a:avLst/>
            <a:gdLst/>
            <a:ahLst/>
            <a:cxnLst/>
            <a:rect l="0" t="0" r="0" b="0"/>
            <a:pathLst>
              <a:path w="201" h="201">
                <a:moveTo>
                  <a:pt x="191" y="191"/>
                </a:moveTo>
                <a:cubicBezTo>
                  <a:pt x="91" y="191"/>
                  <a:pt x="10" y="110"/>
                  <a:pt x="10" y="10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5" name="path"/>
          <p:cNvSpPr/>
          <p:nvPr/>
        </p:nvSpPr>
        <p:spPr>
          <a:xfrm>
            <a:off x="11536680" y="5721121"/>
            <a:ext cx="128269" cy="128244"/>
          </a:xfrm>
          <a:custGeom>
            <a:avLst/>
            <a:gdLst/>
            <a:ahLst/>
            <a:cxnLst/>
            <a:rect l="0" t="0" r="0" b="0"/>
            <a:pathLst>
              <a:path w="201" h="201">
                <a:moveTo>
                  <a:pt x="191" y="10"/>
                </a:moveTo>
                <a:cubicBezTo>
                  <a:pt x="191" y="110"/>
                  <a:pt x="110" y="191"/>
                  <a:pt x="10" y="191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6" name="path"/>
          <p:cNvSpPr/>
          <p:nvPr/>
        </p:nvSpPr>
        <p:spPr>
          <a:xfrm>
            <a:off x="8185531" y="3575050"/>
            <a:ext cx="109854" cy="109854"/>
          </a:xfrm>
          <a:custGeom>
            <a:avLst/>
            <a:gdLst/>
            <a:ahLst/>
            <a:cxnLst/>
            <a:rect l="0" t="0" r="0" b="0"/>
            <a:pathLst>
              <a:path w="172" h="172">
                <a:moveTo>
                  <a:pt x="10" y="10"/>
                </a:moveTo>
                <a:cubicBezTo>
                  <a:pt x="94" y="10"/>
                  <a:pt x="162" y="78"/>
                  <a:pt x="162" y="162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7" name="path"/>
          <p:cNvSpPr/>
          <p:nvPr/>
        </p:nvSpPr>
        <p:spPr>
          <a:xfrm>
            <a:off x="5675121" y="5739523"/>
            <a:ext cx="109854" cy="109842"/>
          </a:xfrm>
          <a:custGeom>
            <a:avLst/>
            <a:gdLst/>
            <a:ahLst/>
            <a:cxnLst/>
            <a:rect l="0" t="0" r="0" b="0"/>
            <a:pathLst>
              <a:path w="172" h="172">
                <a:moveTo>
                  <a:pt x="162" y="162"/>
                </a:moveTo>
                <a:cubicBezTo>
                  <a:pt x="78" y="162"/>
                  <a:pt x="10" y="94"/>
                  <a:pt x="10" y="10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8" name="path"/>
          <p:cNvSpPr/>
          <p:nvPr/>
        </p:nvSpPr>
        <p:spPr>
          <a:xfrm>
            <a:off x="8185531" y="5739523"/>
            <a:ext cx="109854" cy="109842"/>
          </a:xfrm>
          <a:custGeom>
            <a:avLst/>
            <a:gdLst/>
            <a:ahLst/>
            <a:cxnLst/>
            <a:rect l="0" t="0" r="0" b="0"/>
            <a:pathLst>
              <a:path w="172" h="172">
                <a:moveTo>
                  <a:pt x="162" y="10"/>
                </a:moveTo>
                <a:cubicBezTo>
                  <a:pt x="162" y="94"/>
                  <a:pt x="94" y="162"/>
                  <a:pt x="10" y="162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9" name="path"/>
          <p:cNvSpPr/>
          <p:nvPr/>
        </p:nvSpPr>
        <p:spPr>
          <a:xfrm>
            <a:off x="6545326" y="1811782"/>
            <a:ext cx="88265" cy="88265"/>
          </a:xfrm>
          <a:custGeom>
            <a:avLst/>
            <a:gdLst/>
            <a:ahLst/>
            <a:cxnLst/>
            <a:rect l="0" t="0" r="0" b="0"/>
            <a:pathLst>
              <a:path w="139" h="139">
                <a:moveTo>
                  <a:pt x="10" y="129"/>
                </a:moveTo>
                <a:cubicBezTo>
                  <a:pt x="10" y="63"/>
                  <a:pt x="63" y="10"/>
                  <a:pt x="129" y="10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0" name="path"/>
          <p:cNvSpPr/>
          <p:nvPr/>
        </p:nvSpPr>
        <p:spPr>
          <a:xfrm>
            <a:off x="6545326" y="3263265"/>
            <a:ext cx="88265" cy="88265"/>
          </a:xfrm>
          <a:custGeom>
            <a:avLst/>
            <a:gdLst/>
            <a:ahLst/>
            <a:cxnLst/>
            <a:rect l="0" t="0" r="0" b="0"/>
            <a:pathLst>
              <a:path w="139" h="139">
                <a:moveTo>
                  <a:pt x="129" y="129"/>
                </a:moveTo>
                <a:cubicBezTo>
                  <a:pt x="63" y="129"/>
                  <a:pt x="10" y="75"/>
                  <a:pt x="10" y="10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1" name="path"/>
          <p:cNvSpPr/>
          <p:nvPr/>
        </p:nvSpPr>
        <p:spPr>
          <a:xfrm>
            <a:off x="10814685" y="1811782"/>
            <a:ext cx="88264" cy="88265"/>
          </a:xfrm>
          <a:custGeom>
            <a:avLst/>
            <a:gdLst/>
            <a:ahLst/>
            <a:cxnLst/>
            <a:rect l="0" t="0" r="0" b="0"/>
            <a:pathLst>
              <a:path w="138" h="139">
                <a:moveTo>
                  <a:pt x="10" y="10"/>
                </a:moveTo>
                <a:cubicBezTo>
                  <a:pt x="75" y="10"/>
                  <a:pt x="128" y="63"/>
                  <a:pt x="128" y="129"/>
                </a:cubicBezTo>
              </a:path>
            </a:pathLst>
          </a:custGeom>
          <a:noFill/>
          <a:ln w="12700" cap="flat">
            <a:solidFill>
              <a:srgbClr val="7F7F7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textbox 872"/>
          <p:cNvSpPr/>
          <p:nvPr/>
        </p:nvSpPr>
        <p:spPr>
          <a:xfrm>
            <a:off x="2793794" y="3295910"/>
            <a:ext cx="4893945" cy="26663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5000"/>
              </a:lnSpc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客户代表对客户进行回访，反馈失标原因及进一步了</a:t>
            </a:r>
            <a:r>
              <a:rPr sz="15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客户需求，为后续项目合作做铺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垫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500" dirty="0"/>
          </a:p>
          <a:p>
            <a:pPr algn="l" rtl="0" eaLnBrk="0">
              <a:lnSpc>
                <a:spcPct val="127000"/>
              </a:lnSpc>
            </a:pPr>
            <a:endParaRPr lang="en-US" altLang="en-US" sz="1000" dirty="0"/>
          </a:p>
          <a:p>
            <a:pPr algn="l" rtl="0" eaLnBrk="0">
              <a:lnSpc>
                <a:spcPct val="127000"/>
              </a:lnSpc>
            </a:pPr>
            <a:endParaRPr lang="en-US" altLang="en-US" sz="1000" dirty="0"/>
          </a:p>
          <a:p>
            <a:pPr marL="14605" algn="l" rtl="0" eaLnBrk="0">
              <a:lnSpc>
                <a:spcPct val="109000"/>
              </a:lnSpc>
              <a:spcBef>
                <a:spcPts val="450"/>
              </a:spcBef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在评标结果确定未中标后，客户代表负责做失标后销</a:t>
            </a:r>
            <a:r>
              <a:rPr sz="15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公关工作，对失标项目进行挽回努力，不到最后， 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一切 </a:t>
            </a:r>
            <a:r>
              <a:rPr sz="15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皆有可能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500" dirty="0"/>
          </a:p>
          <a:p>
            <a:pPr algn="l" rtl="0" eaLnBrk="0">
              <a:lnSpc>
                <a:spcPct val="134000"/>
              </a:lnSpc>
            </a:pPr>
            <a:endParaRPr lang="en-US" altLang="en-US" sz="1000" dirty="0"/>
          </a:p>
          <a:p>
            <a:pPr algn="l" rtl="0" eaLnBrk="0">
              <a:lnSpc>
                <a:spcPct val="135000"/>
              </a:lnSpc>
            </a:pPr>
            <a:endParaRPr lang="en-US" altLang="en-US" sz="1000" dirty="0"/>
          </a:p>
          <a:p>
            <a:pPr algn="l" rtl="0" eaLnBrk="0">
              <a:lnSpc>
                <a:spcPct val="127000"/>
              </a:lnSpc>
            </a:pPr>
            <a:endParaRPr lang="en-US" altLang="en-US" sz="300" dirty="0"/>
          </a:p>
          <a:p>
            <a:pPr marL="13335" indent="1270" algn="l" rtl="0" eaLnBrk="0">
              <a:lnSpc>
                <a:spcPct val="110000"/>
              </a:lnSpc>
            </a:pPr>
            <a:r>
              <a:rPr sz="1500" spc="100" dirty="0">
                <a:solidFill>
                  <a:srgbClr val="08080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解决方案代表收到投标反馈表后完成标后总结，作为</a:t>
            </a:r>
            <a:r>
              <a:rPr sz="1500" spc="10" dirty="0">
                <a:solidFill>
                  <a:srgbClr val="08080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</a:t>
            </a:r>
            <a:r>
              <a:rPr sz="1500" spc="0" dirty="0">
                <a:solidFill>
                  <a:srgbClr val="08080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90" dirty="0">
                <a:solidFill>
                  <a:srgbClr val="08080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程遗产，供后续项目借鉴</a:t>
            </a:r>
            <a:r>
              <a:rPr sz="15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500" dirty="0"/>
          </a:p>
        </p:txBody>
      </p:sp>
      <p:pic>
        <p:nvPicPr>
          <p:cNvPr id="873" name="picture 8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293607" y="3468623"/>
            <a:ext cx="2939795" cy="2654808"/>
          </a:xfrm>
          <a:prstGeom prst="rect">
            <a:avLst/>
          </a:prstGeom>
        </p:spPr>
      </p:pic>
      <p:pic>
        <p:nvPicPr>
          <p:cNvPr id="874" name="picture 8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293607" y="1235964"/>
            <a:ext cx="2953511" cy="1834895"/>
          </a:xfrm>
          <a:prstGeom prst="rect">
            <a:avLst/>
          </a:prstGeom>
        </p:spPr>
      </p:pic>
      <p:sp>
        <p:nvSpPr>
          <p:cNvPr id="875" name="textbox 875"/>
          <p:cNvSpPr/>
          <p:nvPr/>
        </p:nvSpPr>
        <p:spPr>
          <a:xfrm>
            <a:off x="2794808" y="2197741"/>
            <a:ext cx="4891404" cy="5054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indent="2540" algn="l" rtl="0" eaLnBrk="0">
              <a:lnSpc>
                <a:spcPct val="105000"/>
              </a:lnSpc>
            </a:pP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开标现场瞬息万变，客户代表需及时反馈现场信息</a:t>
            </a:r>
            <a:r>
              <a:rPr sz="15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</a:t>
            </a:r>
            <a:r>
              <a:rPr sz="15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便作出针对性的应对策</a:t>
            </a:r>
            <a:r>
              <a:rPr sz="15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略</a:t>
            </a:r>
            <a:endParaRPr lang="en-US" altLang="en-US" sz="1500" dirty="0"/>
          </a:p>
        </p:txBody>
      </p:sp>
      <p:sp>
        <p:nvSpPr>
          <p:cNvPr id="876" name="textbox 876"/>
          <p:cNvSpPr/>
          <p:nvPr/>
        </p:nvSpPr>
        <p:spPr>
          <a:xfrm>
            <a:off x="560823" y="271100"/>
            <a:ext cx="5532120" cy="439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55"/>
              </a:lnSpc>
            </a:pPr>
            <a:r>
              <a:rPr sz="2700" spc="1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4.3制定并提交解决方案：开标</a:t>
            </a:r>
            <a:r>
              <a:rPr sz="2700" spc="9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endParaRPr lang="en-US" altLang="en-US" sz="2700" dirty="0"/>
          </a:p>
        </p:txBody>
      </p:sp>
      <p:grpSp>
        <p:nvGrpSpPr>
          <p:cNvPr id="274" name="group 274"/>
          <p:cNvGrpSpPr/>
          <p:nvPr/>
        </p:nvGrpSpPr>
        <p:grpSpPr>
          <a:xfrm rot="21600000">
            <a:off x="755904" y="4294631"/>
            <a:ext cx="1772411" cy="649224"/>
            <a:chOff x="0" y="0"/>
            <a:chExt cx="1772411" cy="649224"/>
          </a:xfrm>
        </p:grpSpPr>
        <p:pic>
          <p:nvPicPr>
            <p:cNvPr id="877" name="picture 87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9050" y="19050"/>
              <a:ext cx="1734311" cy="611124"/>
            </a:xfrm>
            <a:prstGeom prst="rect">
              <a:avLst/>
            </a:prstGeom>
          </p:spPr>
        </p:pic>
        <p:sp>
          <p:nvSpPr>
            <p:cNvPr id="878" name="path"/>
            <p:cNvSpPr/>
            <p:nvPr/>
          </p:nvSpPr>
          <p:spPr>
            <a:xfrm>
              <a:off x="0" y="0"/>
              <a:ext cx="1772411" cy="139954"/>
            </a:xfrm>
            <a:custGeom>
              <a:avLst/>
              <a:gdLst/>
              <a:ahLst/>
              <a:cxnLst/>
              <a:rect l="0" t="0" r="0" b="0"/>
              <a:pathLst>
                <a:path w="2791" h="220">
                  <a:moveTo>
                    <a:pt x="30" y="190"/>
                  </a:moveTo>
                  <a:cubicBezTo>
                    <a:pt x="30" y="101"/>
                    <a:pt x="101" y="30"/>
                    <a:pt x="190" y="30"/>
                  </a:cubicBezTo>
                  <a:moveTo>
                    <a:pt x="2600" y="30"/>
                  </a:moveTo>
                  <a:cubicBezTo>
                    <a:pt x="2689" y="30"/>
                    <a:pt x="2761" y="101"/>
                    <a:pt x="2761" y="19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879" name="picture 87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76199" y="39624"/>
              <a:ext cx="1621536" cy="202692"/>
            </a:xfrm>
            <a:prstGeom prst="rect">
              <a:avLst/>
            </a:prstGeom>
          </p:spPr>
        </p:pic>
        <p:sp>
          <p:nvSpPr>
            <p:cNvPr id="880" name="path"/>
            <p:cNvSpPr/>
            <p:nvPr/>
          </p:nvSpPr>
          <p:spPr>
            <a:xfrm>
              <a:off x="0" y="509270"/>
              <a:ext cx="1772411" cy="139954"/>
            </a:xfrm>
            <a:custGeom>
              <a:avLst/>
              <a:gdLst/>
              <a:ahLst/>
              <a:cxnLst/>
              <a:rect l="0" t="0" r="0" b="0"/>
              <a:pathLst>
                <a:path w="2791" h="220">
                  <a:moveTo>
                    <a:pt x="2761" y="30"/>
                  </a:moveTo>
                  <a:cubicBezTo>
                    <a:pt x="2761" y="118"/>
                    <a:pt x="2689" y="190"/>
                    <a:pt x="2600" y="190"/>
                  </a:cubicBezTo>
                  <a:moveTo>
                    <a:pt x="190" y="190"/>
                  </a:moveTo>
                  <a:cubicBezTo>
                    <a:pt x="101" y="190"/>
                    <a:pt x="30" y="118"/>
                    <a:pt x="30" y="3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1" name="textbox 881"/>
            <p:cNvSpPr/>
            <p:nvPr/>
          </p:nvSpPr>
          <p:spPr>
            <a:xfrm>
              <a:off x="447743" y="220478"/>
              <a:ext cx="833119" cy="26162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ts val="1855"/>
                </a:lnSpc>
              </a:pPr>
              <a:r>
                <a:rPr sz="1500" spc="9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失标挽</a:t>
              </a:r>
              <a:r>
                <a:rPr sz="1500" spc="8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回</a:t>
              </a:r>
              <a:endParaRPr lang="en-US" altLang="en-US" sz="1500" dirty="0"/>
            </a:p>
          </p:txBody>
        </p:sp>
        <p:sp>
          <p:nvSpPr>
            <p:cNvPr id="882" name="rect"/>
            <p:cNvSpPr/>
            <p:nvPr/>
          </p:nvSpPr>
          <p:spPr>
            <a:xfrm>
              <a:off x="120904" y="0"/>
              <a:ext cx="1530603" cy="381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3" name="rect"/>
            <p:cNvSpPr/>
            <p:nvPr/>
          </p:nvSpPr>
          <p:spPr>
            <a:xfrm>
              <a:off x="120904" y="611124"/>
              <a:ext cx="1530603" cy="381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4" name="rect"/>
            <p:cNvSpPr/>
            <p:nvPr/>
          </p:nvSpPr>
          <p:spPr>
            <a:xfrm>
              <a:off x="0" y="120904"/>
              <a:ext cx="38100" cy="407416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5" name="rect"/>
            <p:cNvSpPr/>
            <p:nvPr/>
          </p:nvSpPr>
          <p:spPr>
            <a:xfrm>
              <a:off x="1734311" y="120904"/>
              <a:ext cx="38100" cy="407416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76" name="group 276"/>
          <p:cNvGrpSpPr/>
          <p:nvPr/>
        </p:nvGrpSpPr>
        <p:grpSpPr>
          <a:xfrm rot="21600000">
            <a:off x="755904" y="1051560"/>
            <a:ext cx="1772411" cy="649223"/>
            <a:chOff x="0" y="0"/>
            <a:chExt cx="1772411" cy="649223"/>
          </a:xfrm>
        </p:grpSpPr>
        <p:pic>
          <p:nvPicPr>
            <p:cNvPr id="886" name="picture 88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9050" y="19050"/>
              <a:ext cx="1734311" cy="611123"/>
            </a:xfrm>
            <a:prstGeom prst="rect">
              <a:avLst/>
            </a:prstGeom>
          </p:spPr>
        </p:pic>
        <p:sp>
          <p:nvSpPr>
            <p:cNvPr id="887" name="path"/>
            <p:cNvSpPr/>
            <p:nvPr/>
          </p:nvSpPr>
          <p:spPr>
            <a:xfrm>
              <a:off x="1632457" y="0"/>
              <a:ext cx="139954" cy="139953"/>
            </a:xfrm>
            <a:custGeom>
              <a:avLst/>
              <a:gdLst/>
              <a:ahLst/>
              <a:cxnLst/>
              <a:rect l="0" t="0" r="0" b="0"/>
              <a:pathLst>
                <a:path w="220" h="220">
                  <a:moveTo>
                    <a:pt x="30" y="30"/>
                  </a:moveTo>
                  <a:cubicBezTo>
                    <a:pt x="118" y="30"/>
                    <a:pt x="190" y="101"/>
                    <a:pt x="190" y="19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8" name="path"/>
            <p:cNvSpPr/>
            <p:nvPr/>
          </p:nvSpPr>
          <p:spPr>
            <a:xfrm>
              <a:off x="0" y="0"/>
              <a:ext cx="139954" cy="139953"/>
            </a:xfrm>
            <a:custGeom>
              <a:avLst/>
              <a:gdLst/>
              <a:ahLst/>
              <a:cxnLst/>
              <a:rect l="0" t="0" r="0" b="0"/>
              <a:pathLst>
                <a:path w="220" h="220">
                  <a:moveTo>
                    <a:pt x="30" y="190"/>
                  </a:moveTo>
                  <a:cubicBezTo>
                    <a:pt x="30" y="101"/>
                    <a:pt x="101" y="30"/>
                    <a:pt x="190" y="3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889" name="picture 88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79247" y="38099"/>
              <a:ext cx="1623060" cy="202691"/>
            </a:xfrm>
            <a:prstGeom prst="rect">
              <a:avLst/>
            </a:prstGeom>
          </p:spPr>
        </p:pic>
        <p:sp>
          <p:nvSpPr>
            <p:cNvPr id="890" name="path"/>
            <p:cNvSpPr/>
            <p:nvPr/>
          </p:nvSpPr>
          <p:spPr>
            <a:xfrm>
              <a:off x="0" y="509270"/>
              <a:ext cx="1772411" cy="139953"/>
            </a:xfrm>
            <a:custGeom>
              <a:avLst/>
              <a:gdLst/>
              <a:ahLst/>
              <a:cxnLst/>
              <a:rect l="0" t="0" r="0" b="0"/>
              <a:pathLst>
                <a:path w="2791" h="220">
                  <a:moveTo>
                    <a:pt x="2761" y="30"/>
                  </a:moveTo>
                  <a:cubicBezTo>
                    <a:pt x="2761" y="118"/>
                    <a:pt x="2689" y="190"/>
                    <a:pt x="2600" y="190"/>
                  </a:cubicBezTo>
                  <a:moveTo>
                    <a:pt x="190" y="190"/>
                  </a:moveTo>
                  <a:cubicBezTo>
                    <a:pt x="101" y="190"/>
                    <a:pt x="30" y="118"/>
                    <a:pt x="30" y="3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91" name="textbox 891"/>
            <p:cNvSpPr/>
            <p:nvPr/>
          </p:nvSpPr>
          <p:spPr>
            <a:xfrm>
              <a:off x="464609" y="222001"/>
              <a:ext cx="833755" cy="26162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ts val="1855"/>
                </a:lnSpc>
              </a:pPr>
              <a:r>
                <a:rPr sz="1500" spc="10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投标答</a:t>
              </a:r>
              <a:r>
                <a:rPr sz="1500" spc="6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疑</a:t>
              </a:r>
              <a:endParaRPr lang="en-US" altLang="en-US" sz="1500" dirty="0"/>
            </a:p>
          </p:txBody>
        </p:sp>
        <p:sp>
          <p:nvSpPr>
            <p:cNvPr id="892" name="rect"/>
            <p:cNvSpPr/>
            <p:nvPr/>
          </p:nvSpPr>
          <p:spPr>
            <a:xfrm>
              <a:off x="120904" y="0"/>
              <a:ext cx="1530603" cy="381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93" name="rect"/>
            <p:cNvSpPr/>
            <p:nvPr/>
          </p:nvSpPr>
          <p:spPr>
            <a:xfrm>
              <a:off x="120904" y="611123"/>
              <a:ext cx="1530603" cy="381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94" name="rect"/>
            <p:cNvSpPr/>
            <p:nvPr/>
          </p:nvSpPr>
          <p:spPr>
            <a:xfrm>
              <a:off x="0" y="120903"/>
              <a:ext cx="38100" cy="407416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95" name="rect"/>
            <p:cNvSpPr/>
            <p:nvPr/>
          </p:nvSpPr>
          <p:spPr>
            <a:xfrm>
              <a:off x="1734311" y="120903"/>
              <a:ext cx="38100" cy="407416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78" name="group 278"/>
          <p:cNvGrpSpPr/>
          <p:nvPr/>
        </p:nvGrpSpPr>
        <p:grpSpPr>
          <a:xfrm rot="21600000">
            <a:off x="755904" y="2129028"/>
            <a:ext cx="1772411" cy="649223"/>
            <a:chOff x="0" y="0"/>
            <a:chExt cx="1772411" cy="649223"/>
          </a:xfrm>
        </p:grpSpPr>
        <p:pic>
          <p:nvPicPr>
            <p:cNvPr id="896" name="picture 89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9050" y="19050"/>
              <a:ext cx="1734311" cy="611123"/>
            </a:xfrm>
            <a:prstGeom prst="rect">
              <a:avLst/>
            </a:prstGeom>
          </p:spPr>
        </p:pic>
        <p:sp>
          <p:nvSpPr>
            <p:cNvPr id="897" name="path"/>
            <p:cNvSpPr/>
            <p:nvPr/>
          </p:nvSpPr>
          <p:spPr>
            <a:xfrm>
              <a:off x="0" y="0"/>
              <a:ext cx="1772411" cy="139953"/>
            </a:xfrm>
            <a:custGeom>
              <a:avLst/>
              <a:gdLst/>
              <a:ahLst/>
              <a:cxnLst/>
              <a:rect l="0" t="0" r="0" b="0"/>
              <a:pathLst>
                <a:path w="2791" h="220">
                  <a:moveTo>
                    <a:pt x="30" y="190"/>
                  </a:moveTo>
                  <a:cubicBezTo>
                    <a:pt x="30" y="101"/>
                    <a:pt x="101" y="30"/>
                    <a:pt x="190" y="30"/>
                  </a:cubicBezTo>
                  <a:moveTo>
                    <a:pt x="2600" y="30"/>
                  </a:moveTo>
                  <a:cubicBezTo>
                    <a:pt x="2689" y="30"/>
                    <a:pt x="2761" y="101"/>
                    <a:pt x="2761" y="19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898" name="picture 89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74676" y="38100"/>
              <a:ext cx="1623060" cy="202691"/>
            </a:xfrm>
            <a:prstGeom prst="rect">
              <a:avLst/>
            </a:prstGeom>
          </p:spPr>
        </p:pic>
        <p:sp>
          <p:nvSpPr>
            <p:cNvPr id="899" name="path"/>
            <p:cNvSpPr/>
            <p:nvPr/>
          </p:nvSpPr>
          <p:spPr>
            <a:xfrm>
              <a:off x="0" y="509269"/>
              <a:ext cx="1772411" cy="139954"/>
            </a:xfrm>
            <a:custGeom>
              <a:avLst/>
              <a:gdLst/>
              <a:ahLst/>
              <a:cxnLst/>
              <a:rect l="0" t="0" r="0" b="0"/>
              <a:pathLst>
                <a:path w="2791" h="220">
                  <a:moveTo>
                    <a:pt x="2761" y="30"/>
                  </a:moveTo>
                  <a:cubicBezTo>
                    <a:pt x="2761" y="118"/>
                    <a:pt x="2689" y="190"/>
                    <a:pt x="2600" y="190"/>
                  </a:cubicBezTo>
                  <a:moveTo>
                    <a:pt x="190" y="190"/>
                  </a:moveTo>
                  <a:cubicBezTo>
                    <a:pt x="101" y="190"/>
                    <a:pt x="30" y="118"/>
                    <a:pt x="30" y="3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0" name="textbox 900"/>
            <p:cNvSpPr/>
            <p:nvPr/>
          </p:nvSpPr>
          <p:spPr>
            <a:xfrm>
              <a:off x="445001" y="222891"/>
              <a:ext cx="835025" cy="26098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ts val="1855"/>
                </a:lnSpc>
              </a:pPr>
              <a:r>
                <a:rPr sz="1500" spc="10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信息反</a:t>
              </a:r>
              <a:r>
                <a:rPr sz="1500" spc="7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馈</a:t>
              </a:r>
              <a:endParaRPr lang="en-US" altLang="en-US" sz="1500" dirty="0"/>
            </a:p>
          </p:txBody>
        </p:sp>
        <p:sp>
          <p:nvSpPr>
            <p:cNvPr id="901" name="rect"/>
            <p:cNvSpPr/>
            <p:nvPr/>
          </p:nvSpPr>
          <p:spPr>
            <a:xfrm>
              <a:off x="120904" y="0"/>
              <a:ext cx="1530603" cy="381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2" name="rect"/>
            <p:cNvSpPr/>
            <p:nvPr/>
          </p:nvSpPr>
          <p:spPr>
            <a:xfrm>
              <a:off x="120904" y="611123"/>
              <a:ext cx="1530603" cy="381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3" name="rect"/>
            <p:cNvSpPr/>
            <p:nvPr/>
          </p:nvSpPr>
          <p:spPr>
            <a:xfrm>
              <a:off x="0" y="120903"/>
              <a:ext cx="38100" cy="407415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4" name="rect"/>
            <p:cNvSpPr/>
            <p:nvPr/>
          </p:nvSpPr>
          <p:spPr>
            <a:xfrm>
              <a:off x="1734311" y="120903"/>
              <a:ext cx="38100" cy="407415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80" name="group 280"/>
          <p:cNvGrpSpPr/>
          <p:nvPr/>
        </p:nvGrpSpPr>
        <p:grpSpPr>
          <a:xfrm rot="21600000">
            <a:off x="755904" y="3217164"/>
            <a:ext cx="1772411" cy="649223"/>
            <a:chOff x="0" y="0"/>
            <a:chExt cx="1772411" cy="649223"/>
          </a:xfrm>
        </p:grpSpPr>
        <p:sp>
          <p:nvSpPr>
            <p:cNvPr id="905" name="rect"/>
            <p:cNvSpPr/>
            <p:nvPr/>
          </p:nvSpPr>
          <p:spPr>
            <a:xfrm>
              <a:off x="19050" y="19050"/>
              <a:ext cx="1734311" cy="611123"/>
            </a:xfrm>
            <a:prstGeom prst="rect">
              <a:avLst/>
            </a:prstGeom>
            <a:solidFill>
              <a:srgbClr val="FF66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6" name="path"/>
            <p:cNvSpPr/>
            <p:nvPr/>
          </p:nvSpPr>
          <p:spPr>
            <a:xfrm>
              <a:off x="0" y="0"/>
              <a:ext cx="1772411" cy="139953"/>
            </a:xfrm>
            <a:custGeom>
              <a:avLst/>
              <a:gdLst/>
              <a:ahLst/>
              <a:cxnLst/>
              <a:rect l="0" t="0" r="0" b="0"/>
              <a:pathLst>
                <a:path w="2791" h="220">
                  <a:moveTo>
                    <a:pt x="30" y="190"/>
                  </a:moveTo>
                  <a:cubicBezTo>
                    <a:pt x="30" y="101"/>
                    <a:pt x="101" y="30"/>
                    <a:pt x="190" y="30"/>
                  </a:cubicBezTo>
                  <a:moveTo>
                    <a:pt x="2600" y="30"/>
                  </a:moveTo>
                  <a:cubicBezTo>
                    <a:pt x="2689" y="30"/>
                    <a:pt x="2761" y="101"/>
                    <a:pt x="2761" y="19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907" name="picture 90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76199" y="39623"/>
              <a:ext cx="1621536" cy="202691"/>
            </a:xfrm>
            <a:prstGeom prst="rect">
              <a:avLst/>
            </a:prstGeom>
          </p:spPr>
        </p:pic>
        <p:sp>
          <p:nvSpPr>
            <p:cNvPr id="908" name="path"/>
            <p:cNvSpPr/>
            <p:nvPr/>
          </p:nvSpPr>
          <p:spPr>
            <a:xfrm>
              <a:off x="0" y="509269"/>
              <a:ext cx="1772411" cy="139954"/>
            </a:xfrm>
            <a:custGeom>
              <a:avLst/>
              <a:gdLst/>
              <a:ahLst/>
              <a:cxnLst/>
              <a:rect l="0" t="0" r="0" b="0"/>
              <a:pathLst>
                <a:path w="2791" h="220">
                  <a:moveTo>
                    <a:pt x="2761" y="30"/>
                  </a:moveTo>
                  <a:cubicBezTo>
                    <a:pt x="2761" y="118"/>
                    <a:pt x="2689" y="190"/>
                    <a:pt x="2600" y="190"/>
                  </a:cubicBezTo>
                  <a:moveTo>
                    <a:pt x="190" y="190"/>
                  </a:moveTo>
                  <a:cubicBezTo>
                    <a:pt x="101" y="190"/>
                    <a:pt x="30" y="118"/>
                    <a:pt x="30" y="3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9" name="textbox 909"/>
            <p:cNvSpPr/>
            <p:nvPr/>
          </p:nvSpPr>
          <p:spPr>
            <a:xfrm>
              <a:off x="449882" y="216794"/>
              <a:ext cx="835660" cy="26035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ts val="1850"/>
                </a:lnSpc>
              </a:pPr>
              <a:r>
                <a:rPr sz="1500" spc="10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客户回</a:t>
              </a:r>
              <a:r>
                <a:rPr sz="1500" spc="7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访</a:t>
              </a:r>
              <a:endParaRPr lang="en-US" altLang="en-US" sz="1500" dirty="0"/>
            </a:p>
          </p:txBody>
        </p:sp>
        <p:sp>
          <p:nvSpPr>
            <p:cNvPr id="910" name="rect"/>
            <p:cNvSpPr/>
            <p:nvPr/>
          </p:nvSpPr>
          <p:spPr>
            <a:xfrm>
              <a:off x="120904" y="0"/>
              <a:ext cx="1530603" cy="381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1" name="rect"/>
            <p:cNvSpPr/>
            <p:nvPr/>
          </p:nvSpPr>
          <p:spPr>
            <a:xfrm>
              <a:off x="120904" y="611123"/>
              <a:ext cx="1530603" cy="381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2" name="rect"/>
            <p:cNvSpPr/>
            <p:nvPr/>
          </p:nvSpPr>
          <p:spPr>
            <a:xfrm>
              <a:off x="0" y="120903"/>
              <a:ext cx="38100" cy="407416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3" name="path"/>
            <p:cNvSpPr/>
            <p:nvPr/>
          </p:nvSpPr>
          <p:spPr>
            <a:xfrm>
              <a:off x="1734311" y="120903"/>
              <a:ext cx="38100" cy="407416"/>
            </a:xfrm>
            <a:custGeom>
              <a:avLst/>
              <a:gdLst/>
              <a:ahLst/>
              <a:cxnLst/>
              <a:rect l="0" t="0" r="0" b="0"/>
              <a:pathLst>
                <a:path w="60" h="641">
                  <a:moveTo>
                    <a:pt x="30" y="0"/>
                  </a:moveTo>
                  <a:lnTo>
                    <a:pt x="30" y="641"/>
                  </a:ln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82" name="group 282"/>
          <p:cNvGrpSpPr/>
          <p:nvPr/>
        </p:nvGrpSpPr>
        <p:grpSpPr>
          <a:xfrm rot="21600000">
            <a:off x="755904" y="5372100"/>
            <a:ext cx="1772411" cy="649223"/>
            <a:chOff x="0" y="0"/>
            <a:chExt cx="1772411" cy="649223"/>
          </a:xfrm>
        </p:grpSpPr>
        <p:sp>
          <p:nvSpPr>
            <p:cNvPr id="914" name="rect"/>
            <p:cNvSpPr/>
            <p:nvPr/>
          </p:nvSpPr>
          <p:spPr>
            <a:xfrm>
              <a:off x="19050" y="19050"/>
              <a:ext cx="1734311" cy="611123"/>
            </a:xfrm>
            <a:prstGeom prst="rect">
              <a:avLst/>
            </a:prstGeom>
            <a:solidFill>
              <a:srgbClr val="008000">
                <a:alpha val="99215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915" name="picture 9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772411" cy="222503"/>
            </a:xfrm>
            <a:prstGeom prst="rect">
              <a:avLst/>
            </a:prstGeom>
          </p:spPr>
        </p:pic>
        <p:sp>
          <p:nvSpPr>
            <p:cNvPr id="916" name="path"/>
            <p:cNvSpPr/>
            <p:nvPr/>
          </p:nvSpPr>
          <p:spPr>
            <a:xfrm>
              <a:off x="0" y="509269"/>
              <a:ext cx="1772411" cy="139953"/>
            </a:xfrm>
            <a:custGeom>
              <a:avLst/>
              <a:gdLst/>
              <a:ahLst/>
              <a:cxnLst/>
              <a:rect l="0" t="0" r="0" b="0"/>
              <a:pathLst>
                <a:path w="2791" h="220">
                  <a:moveTo>
                    <a:pt x="2761" y="30"/>
                  </a:moveTo>
                  <a:cubicBezTo>
                    <a:pt x="2761" y="118"/>
                    <a:pt x="2689" y="190"/>
                    <a:pt x="2600" y="190"/>
                  </a:cubicBezTo>
                  <a:moveTo>
                    <a:pt x="190" y="190"/>
                  </a:moveTo>
                  <a:cubicBezTo>
                    <a:pt x="101" y="190"/>
                    <a:pt x="30" y="118"/>
                    <a:pt x="30" y="30"/>
                  </a:cubicBezTo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7" name="textbox 917"/>
            <p:cNvSpPr/>
            <p:nvPr/>
          </p:nvSpPr>
          <p:spPr>
            <a:xfrm>
              <a:off x="453333" y="214991"/>
              <a:ext cx="833755" cy="26225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ts val="1860"/>
                </a:lnSpc>
              </a:pPr>
              <a:r>
                <a:rPr sz="1500" spc="10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标后总</a:t>
              </a:r>
              <a:r>
                <a:rPr sz="1500" spc="60" dirty="0">
                  <a:solidFill>
                    <a:srgbClr val="F8F8F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</a:t>
              </a:r>
              <a:endParaRPr lang="en-US" altLang="en-US" sz="1500" dirty="0"/>
            </a:p>
          </p:txBody>
        </p:sp>
        <p:sp>
          <p:nvSpPr>
            <p:cNvPr id="918" name="rect"/>
            <p:cNvSpPr/>
            <p:nvPr/>
          </p:nvSpPr>
          <p:spPr>
            <a:xfrm>
              <a:off x="120904" y="611123"/>
              <a:ext cx="1530603" cy="38100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9" name="path"/>
            <p:cNvSpPr/>
            <p:nvPr/>
          </p:nvSpPr>
          <p:spPr>
            <a:xfrm>
              <a:off x="0" y="120903"/>
              <a:ext cx="38100" cy="407416"/>
            </a:xfrm>
            <a:custGeom>
              <a:avLst/>
              <a:gdLst/>
              <a:ahLst/>
              <a:cxnLst/>
              <a:rect l="0" t="0" r="0" b="0"/>
              <a:pathLst>
                <a:path w="60" h="641">
                  <a:moveTo>
                    <a:pt x="30" y="641"/>
                  </a:moveTo>
                  <a:lnTo>
                    <a:pt x="30" y="0"/>
                  </a:lnTo>
                  <a:close/>
                </a:path>
              </a:pathLst>
            </a:custGeom>
            <a:noFill/>
            <a:ln w="38100" cap="flat">
              <a:solidFill>
                <a:srgbClr val="F8F8F8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0" name="rect"/>
            <p:cNvSpPr/>
            <p:nvPr/>
          </p:nvSpPr>
          <p:spPr>
            <a:xfrm>
              <a:off x="1734311" y="120903"/>
              <a:ext cx="38100" cy="407416"/>
            </a:xfrm>
            <a:prstGeom prst="rect">
              <a:avLst/>
            </a:prstGeom>
            <a:solidFill>
              <a:srgbClr val="F8F8F8">
                <a:alpha val="6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21" name="textbox 921"/>
          <p:cNvSpPr/>
          <p:nvPr/>
        </p:nvSpPr>
        <p:spPr>
          <a:xfrm>
            <a:off x="2796024" y="1265306"/>
            <a:ext cx="3602990" cy="2597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45"/>
              </a:lnSpc>
            </a:pPr>
            <a:r>
              <a:rPr sz="15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投标答疑包括： 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1.项目澄清，  2.二次报价</a:t>
            </a:r>
            <a:endParaRPr lang="en-US" altLang="en-US" sz="1500" dirty="0"/>
          </a:p>
        </p:txBody>
      </p:sp>
      <p:sp>
        <p:nvSpPr>
          <p:cNvPr id="922" name="textbox 922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24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5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oup 284"/>
          <p:cNvGrpSpPr/>
          <p:nvPr/>
        </p:nvGrpSpPr>
        <p:grpSpPr>
          <a:xfrm rot="21600000">
            <a:off x="9283604" y="4426227"/>
            <a:ext cx="1138874" cy="414845"/>
            <a:chOff x="0" y="0"/>
            <a:chExt cx="1138874" cy="414845"/>
          </a:xfrm>
        </p:grpSpPr>
        <p:sp>
          <p:nvSpPr>
            <p:cNvPr id="926" name="path"/>
            <p:cNvSpPr/>
            <p:nvPr/>
          </p:nvSpPr>
          <p:spPr>
            <a:xfrm>
              <a:off x="1601" y="1205"/>
              <a:ext cx="1135670" cy="413639"/>
            </a:xfrm>
            <a:custGeom>
              <a:avLst/>
              <a:gdLst/>
              <a:ahLst/>
              <a:cxnLst/>
              <a:rect l="0" t="0" r="0" b="0"/>
              <a:pathLst>
                <a:path w="1788" h="651">
                  <a:moveTo>
                    <a:pt x="0" y="568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568"/>
                  </a:lnTo>
                  <a:cubicBezTo>
                    <a:pt x="1507" y="460"/>
                    <a:pt x="1174" y="460"/>
                    <a:pt x="894" y="568"/>
                  </a:cubicBezTo>
                  <a:cubicBezTo>
                    <a:pt x="613" y="676"/>
                    <a:pt x="280" y="676"/>
                    <a:pt x="0" y="56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7" name="path"/>
            <p:cNvSpPr/>
            <p:nvPr/>
          </p:nvSpPr>
          <p:spPr>
            <a:xfrm>
              <a:off x="0" y="0"/>
              <a:ext cx="1138874" cy="414845"/>
            </a:xfrm>
            <a:custGeom>
              <a:avLst/>
              <a:gdLst/>
              <a:ahLst/>
              <a:cxnLst/>
              <a:rect l="0" t="0" r="0" b="0"/>
              <a:pathLst>
                <a:path w="1793" h="653">
                  <a:moveTo>
                    <a:pt x="2" y="570"/>
                  </a:moveTo>
                  <a:lnTo>
                    <a:pt x="2" y="1"/>
                  </a:lnTo>
                  <a:lnTo>
                    <a:pt x="1790" y="1"/>
                  </a:lnTo>
                  <a:lnTo>
                    <a:pt x="1790" y="570"/>
                  </a:lnTo>
                  <a:cubicBezTo>
                    <a:pt x="1510" y="461"/>
                    <a:pt x="1177" y="461"/>
                    <a:pt x="896" y="570"/>
                  </a:cubicBezTo>
                  <a:cubicBezTo>
                    <a:pt x="616" y="678"/>
                    <a:pt x="283" y="678"/>
                    <a:pt x="2" y="570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86" name="group 286"/>
          <p:cNvGrpSpPr/>
          <p:nvPr/>
        </p:nvGrpSpPr>
        <p:grpSpPr>
          <a:xfrm rot="21600000">
            <a:off x="9283604" y="2432194"/>
            <a:ext cx="1138874" cy="414845"/>
            <a:chOff x="0" y="0"/>
            <a:chExt cx="1138874" cy="414845"/>
          </a:xfrm>
        </p:grpSpPr>
        <p:sp>
          <p:nvSpPr>
            <p:cNvPr id="928" name="path"/>
            <p:cNvSpPr/>
            <p:nvPr/>
          </p:nvSpPr>
          <p:spPr>
            <a:xfrm>
              <a:off x="1601" y="1205"/>
              <a:ext cx="1135670" cy="413640"/>
            </a:xfrm>
            <a:custGeom>
              <a:avLst/>
              <a:gdLst/>
              <a:ahLst/>
              <a:cxnLst/>
              <a:rect l="0" t="0" r="0" b="0"/>
              <a:pathLst>
                <a:path w="1788" h="651">
                  <a:moveTo>
                    <a:pt x="0" y="568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568"/>
                  </a:lnTo>
                  <a:cubicBezTo>
                    <a:pt x="1507" y="460"/>
                    <a:pt x="1174" y="460"/>
                    <a:pt x="894" y="568"/>
                  </a:cubicBezTo>
                  <a:cubicBezTo>
                    <a:pt x="613" y="676"/>
                    <a:pt x="280" y="676"/>
                    <a:pt x="0" y="56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9" name="path"/>
            <p:cNvSpPr/>
            <p:nvPr/>
          </p:nvSpPr>
          <p:spPr>
            <a:xfrm>
              <a:off x="0" y="0"/>
              <a:ext cx="1138874" cy="414845"/>
            </a:xfrm>
            <a:custGeom>
              <a:avLst/>
              <a:gdLst/>
              <a:ahLst/>
              <a:cxnLst/>
              <a:rect l="0" t="0" r="0" b="0"/>
              <a:pathLst>
                <a:path w="1793" h="653">
                  <a:moveTo>
                    <a:pt x="2" y="570"/>
                  </a:moveTo>
                  <a:lnTo>
                    <a:pt x="2" y="1"/>
                  </a:lnTo>
                  <a:lnTo>
                    <a:pt x="1790" y="1"/>
                  </a:lnTo>
                  <a:lnTo>
                    <a:pt x="1790" y="570"/>
                  </a:lnTo>
                  <a:cubicBezTo>
                    <a:pt x="1510" y="461"/>
                    <a:pt x="1177" y="461"/>
                    <a:pt x="896" y="570"/>
                  </a:cubicBezTo>
                  <a:cubicBezTo>
                    <a:pt x="616" y="678"/>
                    <a:pt x="283" y="678"/>
                    <a:pt x="2" y="570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88" name="group 288"/>
          <p:cNvGrpSpPr/>
          <p:nvPr/>
        </p:nvGrpSpPr>
        <p:grpSpPr>
          <a:xfrm rot="21600000">
            <a:off x="9321375" y="3714115"/>
            <a:ext cx="1138874" cy="414845"/>
            <a:chOff x="0" y="0"/>
            <a:chExt cx="1138874" cy="414845"/>
          </a:xfrm>
        </p:grpSpPr>
        <p:sp>
          <p:nvSpPr>
            <p:cNvPr id="930" name="path"/>
            <p:cNvSpPr/>
            <p:nvPr/>
          </p:nvSpPr>
          <p:spPr>
            <a:xfrm>
              <a:off x="1601" y="1205"/>
              <a:ext cx="1135670" cy="413639"/>
            </a:xfrm>
            <a:custGeom>
              <a:avLst/>
              <a:gdLst/>
              <a:ahLst/>
              <a:cxnLst/>
              <a:rect l="0" t="0" r="0" b="0"/>
              <a:pathLst>
                <a:path w="1788" h="651">
                  <a:moveTo>
                    <a:pt x="0" y="568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568"/>
                  </a:lnTo>
                  <a:cubicBezTo>
                    <a:pt x="1507" y="460"/>
                    <a:pt x="1174" y="460"/>
                    <a:pt x="894" y="568"/>
                  </a:cubicBezTo>
                  <a:cubicBezTo>
                    <a:pt x="613" y="676"/>
                    <a:pt x="280" y="676"/>
                    <a:pt x="0" y="56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1" name="path"/>
            <p:cNvSpPr/>
            <p:nvPr/>
          </p:nvSpPr>
          <p:spPr>
            <a:xfrm>
              <a:off x="0" y="0"/>
              <a:ext cx="1138874" cy="414845"/>
            </a:xfrm>
            <a:custGeom>
              <a:avLst/>
              <a:gdLst/>
              <a:ahLst/>
              <a:cxnLst/>
              <a:rect l="0" t="0" r="0" b="0"/>
              <a:pathLst>
                <a:path w="1793" h="653">
                  <a:moveTo>
                    <a:pt x="2" y="570"/>
                  </a:moveTo>
                  <a:lnTo>
                    <a:pt x="2" y="1"/>
                  </a:lnTo>
                  <a:lnTo>
                    <a:pt x="1790" y="1"/>
                  </a:lnTo>
                  <a:lnTo>
                    <a:pt x="1790" y="570"/>
                  </a:lnTo>
                  <a:cubicBezTo>
                    <a:pt x="1510" y="461"/>
                    <a:pt x="1177" y="461"/>
                    <a:pt x="896" y="570"/>
                  </a:cubicBezTo>
                  <a:cubicBezTo>
                    <a:pt x="616" y="678"/>
                    <a:pt x="283" y="678"/>
                    <a:pt x="2" y="570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90" name="group 290"/>
          <p:cNvGrpSpPr/>
          <p:nvPr/>
        </p:nvGrpSpPr>
        <p:grpSpPr>
          <a:xfrm rot="21600000">
            <a:off x="9321375" y="5123566"/>
            <a:ext cx="1138874" cy="414886"/>
            <a:chOff x="0" y="0"/>
            <a:chExt cx="1138874" cy="414886"/>
          </a:xfrm>
        </p:grpSpPr>
        <p:sp>
          <p:nvSpPr>
            <p:cNvPr id="932" name="path"/>
            <p:cNvSpPr/>
            <p:nvPr/>
          </p:nvSpPr>
          <p:spPr>
            <a:xfrm>
              <a:off x="1601" y="1205"/>
              <a:ext cx="1135670" cy="413680"/>
            </a:xfrm>
            <a:custGeom>
              <a:avLst/>
              <a:gdLst/>
              <a:ahLst/>
              <a:cxnLst/>
              <a:rect l="0" t="0" r="0" b="0"/>
              <a:pathLst>
                <a:path w="1788" h="651">
                  <a:moveTo>
                    <a:pt x="0" y="568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568"/>
                  </a:lnTo>
                  <a:cubicBezTo>
                    <a:pt x="1507" y="460"/>
                    <a:pt x="1174" y="460"/>
                    <a:pt x="894" y="568"/>
                  </a:cubicBezTo>
                  <a:cubicBezTo>
                    <a:pt x="613" y="676"/>
                    <a:pt x="280" y="676"/>
                    <a:pt x="0" y="56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3" name="path"/>
            <p:cNvSpPr/>
            <p:nvPr/>
          </p:nvSpPr>
          <p:spPr>
            <a:xfrm>
              <a:off x="0" y="0"/>
              <a:ext cx="1138874" cy="414886"/>
            </a:xfrm>
            <a:custGeom>
              <a:avLst/>
              <a:gdLst/>
              <a:ahLst/>
              <a:cxnLst/>
              <a:rect l="0" t="0" r="0" b="0"/>
              <a:pathLst>
                <a:path w="1793" h="653">
                  <a:moveTo>
                    <a:pt x="2" y="570"/>
                  </a:moveTo>
                  <a:lnTo>
                    <a:pt x="2" y="1"/>
                  </a:lnTo>
                  <a:lnTo>
                    <a:pt x="1790" y="1"/>
                  </a:lnTo>
                  <a:lnTo>
                    <a:pt x="1790" y="570"/>
                  </a:lnTo>
                  <a:cubicBezTo>
                    <a:pt x="1510" y="462"/>
                    <a:pt x="1177" y="462"/>
                    <a:pt x="896" y="570"/>
                  </a:cubicBezTo>
                  <a:cubicBezTo>
                    <a:pt x="616" y="678"/>
                    <a:pt x="283" y="678"/>
                    <a:pt x="2" y="570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92" name="group 292"/>
          <p:cNvGrpSpPr/>
          <p:nvPr/>
        </p:nvGrpSpPr>
        <p:grpSpPr>
          <a:xfrm rot="21600000">
            <a:off x="9322042" y="5757110"/>
            <a:ext cx="1138874" cy="414876"/>
            <a:chOff x="0" y="0"/>
            <a:chExt cx="1138874" cy="414876"/>
          </a:xfrm>
        </p:grpSpPr>
        <p:sp>
          <p:nvSpPr>
            <p:cNvPr id="934" name="path"/>
            <p:cNvSpPr/>
            <p:nvPr/>
          </p:nvSpPr>
          <p:spPr>
            <a:xfrm>
              <a:off x="1601" y="1205"/>
              <a:ext cx="1135670" cy="413670"/>
            </a:xfrm>
            <a:custGeom>
              <a:avLst/>
              <a:gdLst/>
              <a:ahLst/>
              <a:cxnLst/>
              <a:rect l="0" t="0" r="0" b="0"/>
              <a:pathLst>
                <a:path w="1788" h="651">
                  <a:moveTo>
                    <a:pt x="0" y="568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568"/>
                  </a:lnTo>
                  <a:cubicBezTo>
                    <a:pt x="1507" y="460"/>
                    <a:pt x="1174" y="460"/>
                    <a:pt x="894" y="568"/>
                  </a:cubicBezTo>
                  <a:cubicBezTo>
                    <a:pt x="613" y="676"/>
                    <a:pt x="280" y="676"/>
                    <a:pt x="0" y="56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5" name="path"/>
            <p:cNvSpPr/>
            <p:nvPr/>
          </p:nvSpPr>
          <p:spPr>
            <a:xfrm>
              <a:off x="0" y="0"/>
              <a:ext cx="1138874" cy="414876"/>
            </a:xfrm>
            <a:custGeom>
              <a:avLst/>
              <a:gdLst/>
              <a:ahLst/>
              <a:cxnLst/>
              <a:rect l="0" t="0" r="0" b="0"/>
              <a:pathLst>
                <a:path w="1793" h="653">
                  <a:moveTo>
                    <a:pt x="2" y="570"/>
                  </a:moveTo>
                  <a:lnTo>
                    <a:pt x="2" y="1"/>
                  </a:lnTo>
                  <a:lnTo>
                    <a:pt x="1790" y="1"/>
                  </a:lnTo>
                  <a:lnTo>
                    <a:pt x="1790" y="570"/>
                  </a:lnTo>
                  <a:cubicBezTo>
                    <a:pt x="1510" y="461"/>
                    <a:pt x="1177" y="461"/>
                    <a:pt x="896" y="570"/>
                  </a:cubicBezTo>
                  <a:cubicBezTo>
                    <a:pt x="616" y="678"/>
                    <a:pt x="283" y="678"/>
                    <a:pt x="2" y="570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94" name="group 294"/>
          <p:cNvGrpSpPr/>
          <p:nvPr/>
        </p:nvGrpSpPr>
        <p:grpSpPr>
          <a:xfrm rot="21600000">
            <a:off x="9306826" y="3065718"/>
            <a:ext cx="1138874" cy="414845"/>
            <a:chOff x="0" y="0"/>
            <a:chExt cx="1138874" cy="414845"/>
          </a:xfrm>
        </p:grpSpPr>
        <p:sp>
          <p:nvSpPr>
            <p:cNvPr id="936" name="path"/>
            <p:cNvSpPr/>
            <p:nvPr/>
          </p:nvSpPr>
          <p:spPr>
            <a:xfrm>
              <a:off x="1601" y="1205"/>
              <a:ext cx="1135670" cy="413640"/>
            </a:xfrm>
            <a:custGeom>
              <a:avLst/>
              <a:gdLst/>
              <a:ahLst/>
              <a:cxnLst/>
              <a:rect l="0" t="0" r="0" b="0"/>
              <a:pathLst>
                <a:path w="1788" h="651">
                  <a:moveTo>
                    <a:pt x="0" y="568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568"/>
                  </a:lnTo>
                  <a:cubicBezTo>
                    <a:pt x="1507" y="460"/>
                    <a:pt x="1174" y="460"/>
                    <a:pt x="894" y="568"/>
                  </a:cubicBezTo>
                  <a:cubicBezTo>
                    <a:pt x="613" y="676"/>
                    <a:pt x="280" y="676"/>
                    <a:pt x="0" y="56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7" name="path"/>
            <p:cNvSpPr/>
            <p:nvPr/>
          </p:nvSpPr>
          <p:spPr>
            <a:xfrm>
              <a:off x="0" y="0"/>
              <a:ext cx="1138874" cy="414845"/>
            </a:xfrm>
            <a:custGeom>
              <a:avLst/>
              <a:gdLst/>
              <a:ahLst/>
              <a:cxnLst/>
              <a:rect l="0" t="0" r="0" b="0"/>
              <a:pathLst>
                <a:path w="1793" h="653">
                  <a:moveTo>
                    <a:pt x="2" y="570"/>
                  </a:moveTo>
                  <a:lnTo>
                    <a:pt x="2" y="1"/>
                  </a:lnTo>
                  <a:lnTo>
                    <a:pt x="1790" y="1"/>
                  </a:lnTo>
                  <a:lnTo>
                    <a:pt x="1790" y="570"/>
                  </a:lnTo>
                  <a:cubicBezTo>
                    <a:pt x="1510" y="461"/>
                    <a:pt x="1177" y="461"/>
                    <a:pt x="896" y="570"/>
                  </a:cubicBezTo>
                  <a:cubicBezTo>
                    <a:pt x="616" y="678"/>
                    <a:pt x="283" y="678"/>
                    <a:pt x="2" y="570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96" name="group 296"/>
          <p:cNvGrpSpPr/>
          <p:nvPr/>
        </p:nvGrpSpPr>
        <p:grpSpPr>
          <a:xfrm rot="21600000">
            <a:off x="7755673" y="3912293"/>
            <a:ext cx="1213882" cy="486700"/>
            <a:chOff x="0" y="0"/>
            <a:chExt cx="1213882" cy="486700"/>
          </a:xfrm>
        </p:grpSpPr>
        <p:sp>
          <p:nvSpPr>
            <p:cNvPr id="938" name="path"/>
            <p:cNvSpPr/>
            <p:nvPr/>
          </p:nvSpPr>
          <p:spPr>
            <a:xfrm>
              <a:off x="1601" y="1205"/>
              <a:ext cx="1210679" cy="484288"/>
            </a:xfrm>
            <a:custGeom>
              <a:avLst/>
              <a:gdLst/>
              <a:ahLst/>
              <a:cxnLst/>
              <a:rect l="0" t="0" r="0" b="0"/>
              <a:pathLst>
                <a:path w="1906" h="762">
                  <a:moveTo>
                    <a:pt x="0" y="381"/>
                  </a:moveTo>
                  <a:lnTo>
                    <a:pt x="953" y="0"/>
                  </a:lnTo>
                  <a:lnTo>
                    <a:pt x="1906" y="381"/>
                  </a:lnTo>
                  <a:lnTo>
                    <a:pt x="953" y="762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9" name="path"/>
            <p:cNvSpPr/>
            <p:nvPr/>
          </p:nvSpPr>
          <p:spPr>
            <a:xfrm>
              <a:off x="0" y="0"/>
              <a:ext cx="1213882" cy="486700"/>
            </a:xfrm>
            <a:custGeom>
              <a:avLst/>
              <a:gdLst/>
              <a:ahLst/>
              <a:cxnLst/>
              <a:rect l="0" t="0" r="0" b="0"/>
              <a:pathLst>
                <a:path w="1911" h="766">
                  <a:moveTo>
                    <a:pt x="2" y="383"/>
                  </a:moveTo>
                  <a:lnTo>
                    <a:pt x="955" y="1"/>
                  </a:lnTo>
                  <a:lnTo>
                    <a:pt x="1909" y="383"/>
                  </a:lnTo>
                  <a:lnTo>
                    <a:pt x="955" y="764"/>
                  </a:lnTo>
                  <a:lnTo>
                    <a:pt x="2" y="383"/>
                  </a:lnTo>
                  <a:close/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40" name="path"/>
          <p:cNvSpPr/>
          <p:nvPr/>
        </p:nvSpPr>
        <p:spPr>
          <a:xfrm>
            <a:off x="3519961" y="5537246"/>
            <a:ext cx="1135003" cy="427307"/>
          </a:xfrm>
          <a:custGeom>
            <a:avLst/>
            <a:gdLst/>
            <a:ahLst/>
            <a:cxnLst/>
            <a:rect l="0" t="0" r="0" b="0"/>
            <a:pathLst>
              <a:path w="1787" h="672">
                <a:moveTo>
                  <a:pt x="297" y="672"/>
                </a:moveTo>
                <a:lnTo>
                  <a:pt x="1489" y="672"/>
                </a:lnTo>
                <a:lnTo>
                  <a:pt x="1787" y="336"/>
                </a:lnTo>
                <a:lnTo>
                  <a:pt x="1489" y="0"/>
                </a:lnTo>
                <a:lnTo>
                  <a:pt x="297" y="0"/>
                </a:lnTo>
                <a:lnTo>
                  <a:pt x="0" y="336"/>
                </a:lnTo>
                <a:lnTo>
                  <a:pt x="297" y="67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98" name="group 298"/>
          <p:cNvGrpSpPr/>
          <p:nvPr/>
        </p:nvGrpSpPr>
        <p:grpSpPr>
          <a:xfrm rot="21600000">
            <a:off x="2118544" y="1832738"/>
            <a:ext cx="1138888" cy="344222"/>
            <a:chOff x="0" y="0"/>
            <a:chExt cx="1138888" cy="344222"/>
          </a:xfrm>
        </p:grpSpPr>
        <p:sp>
          <p:nvSpPr>
            <p:cNvPr id="941" name="path"/>
            <p:cNvSpPr/>
            <p:nvPr/>
          </p:nvSpPr>
          <p:spPr>
            <a:xfrm>
              <a:off x="1601" y="1206"/>
              <a:ext cx="1135684" cy="343016"/>
            </a:xfrm>
            <a:custGeom>
              <a:avLst/>
              <a:gdLst/>
              <a:ahLst/>
              <a:cxnLst/>
              <a:rect l="0" t="0" r="0" b="0"/>
              <a:pathLst>
                <a:path w="1788" h="540">
                  <a:moveTo>
                    <a:pt x="0" y="470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470"/>
                  </a:lnTo>
                  <a:cubicBezTo>
                    <a:pt x="1502" y="381"/>
                    <a:pt x="1180" y="381"/>
                    <a:pt x="894" y="470"/>
                  </a:cubicBezTo>
                  <a:cubicBezTo>
                    <a:pt x="608" y="560"/>
                    <a:pt x="286" y="560"/>
                    <a:pt x="0" y="47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2" name="path"/>
            <p:cNvSpPr/>
            <p:nvPr/>
          </p:nvSpPr>
          <p:spPr>
            <a:xfrm>
              <a:off x="0" y="0"/>
              <a:ext cx="1138888" cy="344222"/>
            </a:xfrm>
            <a:custGeom>
              <a:avLst/>
              <a:gdLst/>
              <a:ahLst/>
              <a:cxnLst/>
              <a:rect l="0" t="0" r="0" b="0"/>
              <a:pathLst>
                <a:path w="1793" h="542">
                  <a:moveTo>
                    <a:pt x="2" y="472"/>
                  </a:moveTo>
                  <a:lnTo>
                    <a:pt x="2" y="1"/>
                  </a:lnTo>
                  <a:lnTo>
                    <a:pt x="1791" y="1"/>
                  </a:lnTo>
                  <a:lnTo>
                    <a:pt x="1791" y="472"/>
                  </a:lnTo>
                  <a:cubicBezTo>
                    <a:pt x="1504" y="383"/>
                    <a:pt x="1182" y="383"/>
                    <a:pt x="896" y="472"/>
                  </a:cubicBezTo>
                  <a:cubicBezTo>
                    <a:pt x="610" y="562"/>
                    <a:pt x="288" y="562"/>
                    <a:pt x="2" y="472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00" name="group 300"/>
          <p:cNvGrpSpPr/>
          <p:nvPr/>
        </p:nvGrpSpPr>
        <p:grpSpPr>
          <a:xfrm rot="21600000">
            <a:off x="2117850" y="3399564"/>
            <a:ext cx="1138914" cy="344222"/>
            <a:chOff x="0" y="0"/>
            <a:chExt cx="1138914" cy="344222"/>
          </a:xfrm>
        </p:grpSpPr>
        <p:sp>
          <p:nvSpPr>
            <p:cNvPr id="943" name="path"/>
            <p:cNvSpPr/>
            <p:nvPr/>
          </p:nvSpPr>
          <p:spPr>
            <a:xfrm>
              <a:off x="1601" y="1206"/>
              <a:ext cx="1135711" cy="343016"/>
            </a:xfrm>
            <a:custGeom>
              <a:avLst/>
              <a:gdLst/>
              <a:ahLst/>
              <a:cxnLst/>
              <a:rect l="0" t="0" r="0" b="0"/>
              <a:pathLst>
                <a:path w="1788" h="540">
                  <a:moveTo>
                    <a:pt x="0" y="470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470"/>
                  </a:lnTo>
                  <a:cubicBezTo>
                    <a:pt x="1502" y="381"/>
                    <a:pt x="1180" y="381"/>
                    <a:pt x="894" y="470"/>
                  </a:cubicBezTo>
                  <a:cubicBezTo>
                    <a:pt x="608" y="560"/>
                    <a:pt x="286" y="560"/>
                    <a:pt x="0" y="47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4" name="path"/>
            <p:cNvSpPr/>
            <p:nvPr/>
          </p:nvSpPr>
          <p:spPr>
            <a:xfrm>
              <a:off x="0" y="0"/>
              <a:ext cx="1138914" cy="344222"/>
            </a:xfrm>
            <a:custGeom>
              <a:avLst/>
              <a:gdLst/>
              <a:ahLst/>
              <a:cxnLst/>
              <a:rect l="0" t="0" r="0" b="0"/>
              <a:pathLst>
                <a:path w="1793" h="542">
                  <a:moveTo>
                    <a:pt x="2" y="472"/>
                  </a:moveTo>
                  <a:lnTo>
                    <a:pt x="2" y="1"/>
                  </a:lnTo>
                  <a:lnTo>
                    <a:pt x="1791" y="1"/>
                  </a:lnTo>
                  <a:lnTo>
                    <a:pt x="1791" y="472"/>
                  </a:lnTo>
                  <a:cubicBezTo>
                    <a:pt x="1504" y="383"/>
                    <a:pt x="1182" y="383"/>
                    <a:pt x="896" y="472"/>
                  </a:cubicBezTo>
                  <a:cubicBezTo>
                    <a:pt x="610" y="562"/>
                    <a:pt x="288" y="562"/>
                    <a:pt x="2" y="472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02" name="group 302"/>
          <p:cNvGrpSpPr/>
          <p:nvPr/>
        </p:nvGrpSpPr>
        <p:grpSpPr>
          <a:xfrm rot="21600000">
            <a:off x="2118531" y="2829755"/>
            <a:ext cx="1138901" cy="429719"/>
            <a:chOff x="0" y="0"/>
            <a:chExt cx="1138901" cy="429719"/>
          </a:xfrm>
        </p:grpSpPr>
        <p:sp>
          <p:nvSpPr>
            <p:cNvPr id="945" name="path"/>
            <p:cNvSpPr/>
            <p:nvPr/>
          </p:nvSpPr>
          <p:spPr>
            <a:xfrm>
              <a:off x="1601" y="1205"/>
              <a:ext cx="1135697" cy="428513"/>
            </a:xfrm>
            <a:custGeom>
              <a:avLst/>
              <a:gdLst/>
              <a:ahLst/>
              <a:cxnLst/>
              <a:rect l="0" t="0" r="0" b="0"/>
              <a:pathLst>
                <a:path w="1788" h="674">
                  <a:moveTo>
                    <a:pt x="0" y="588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588"/>
                  </a:lnTo>
                  <a:cubicBezTo>
                    <a:pt x="1508" y="476"/>
                    <a:pt x="1173" y="476"/>
                    <a:pt x="894" y="588"/>
                  </a:cubicBezTo>
                  <a:cubicBezTo>
                    <a:pt x="614" y="700"/>
                    <a:pt x="279" y="700"/>
                    <a:pt x="0" y="58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6" name="path"/>
            <p:cNvSpPr/>
            <p:nvPr/>
          </p:nvSpPr>
          <p:spPr>
            <a:xfrm>
              <a:off x="0" y="0"/>
              <a:ext cx="1138901" cy="429719"/>
            </a:xfrm>
            <a:custGeom>
              <a:avLst/>
              <a:gdLst/>
              <a:ahLst/>
              <a:cxnLst/>
              <a:rect l="0" t="0" r="0" b="0"/>
              <a:pathLst>
                <a:path w="1793" h="676">
                  <a:moveTo>
                    <a:pt x="2" y="590"/>
                  </a:moveTo>
                  <a:lnTo>
                    <a:pt x="2" y="1"/>
                  </a:lnTo>
                  <a:lnTo>
                    <a:pt x="1791" y="1"/>
                  </a:lnTo>
                  <a:lnTo>
                    <a:pt x="1791" y="590"/>
                  </a:lnTo>
                  <a:cubicBezTo>
                    <a:pt x="1511" y="478"/>
                    <a:pt x="1176" y="478"/>
                    <a:pt x="896" y="590"/>
                  </a:cubicBezTo>
                  <a:cubicBezTo>
                    <a:pt x="617" y="702"/>
                    <a:pt x="281" y="702"/>
                    <a:pt x="2" y="590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04" name="group 304"/>
          <p:cNvGrpSpPr/>
          <p:nvPr/>
        </p:nvGrpSpPr>
        <p:grpSpPr>
          <a:xfrm rot="21600000">
            <a:off x="2118531" y="2345467"/>
            <a:ext cx="1138901" cy="344323"/>
            <a:chOff x="0" y="0"/>
            <a:chExt cx="1138901" cy="344323"/>
          </a:xfrm>
        </p:grpSpPr>
        <p:sp>
          <p:nvSpPr>
            <p:cNvPr id="947" name="path"/>
            <p:cNvSpPr/>
            <p:nvPr/>
          </p:nvSpPr>
          <p:spPr>
            <a:xfrm>
              <a:off x="1601" y="1205"/>
              <a:ext cx="1135697" cy="343117"/>
            </a:xfrm>
            <a:custGeom>
              <a:avLst/>
              <a:gdLst/>
              <a:ahLst/>
              <a:cxnLst/>
              <a:rect l="0" t="0" r="0" b="0"/>
              <a:pathLst>
                <a:path w="1788" h="540">
                  <a:moveTo>
                    <a:pt x="0" y="471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471"/>
                  </a:lnTo>
                  <a:cubicBezTo>
                    <a:pt x="1502" y="381"/>
                    <a:pt x="1180" y="381"/>
                    <a:pt x="894" y="471"/>
                  </a:cubicBezTo>
                  <a:cubicBezTo>
                    <a:pt x="608" y="560"/>
                    <a:pt x="286" y="560"/>
                    <a:pt x="0" y="471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8" name="path"/>
            <p:cNvSpPr/>
            <p:nvPr/>
          </p:nvSpPr>
          <p:spPr>
            <a:xfrm>
              <a:off x="0" y="0"/>
              <a:ext cx="1138901" cy="344323"/>
            </a:xfrm>
            <a:custGeom>
              <a:avLst/>
              <a:gdLst/>
              <a:ahLst/>
              <a:cxnLst/>
              <a:rect l="0" t="0" r="0" b="0"/>
              <a:pathLst>
                <a:path w="1793" h="542">
                  <a:moveTo>
                    <a:pt x="2" y="473"/>
                  </a:moveTo>
                  <a:lnTo>
                    <a:pt x="2" y="1"/>
                  </a:lnTo>
                  <a:lnTo>
                    <a:pt x="1791" y="1"/>
                  </a:lnTo>
                  <a:lnTo>
                    <a:pt x="1791" y="473"/>
                  </a:lnTo>
                  <a:cubicBezTo>
                    <a:pt x="1504" y="383"/>
                    <a:pt x="1182" y="383"/>
                    <a:pt x="896" y="473"/>
                  </a:cubicBezTo>
                  <a:cubicBezTo>
                    <a:pt x="610" y="562"/>
                    <a:pt x="288" y="562"/>
                    <a:pt x="2" y="473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06" name="group 306"/>
          <p:cNvGrpSpPr/>
          <p:nvPr/>
        </p:nvGrpSpPr>
        <p:grpSpPr>
          <a:xfrm rot="21600000">
            <a:off x="9284938" y="1832738"/>
            <a:ext cx="1138874" cy="414845"/>
            <a:chOff x="0" y="0"/>
            <a:chExt cx="1138874" cy="414845"/>
          </a:xfrm>
        </p:grpSpPr>
        <p:sp>
          <p:nvSpPr>
            <p:cNvPr id="949" name="path"/>
            <p:cNvSpPr/>
            <p:nvPr/>
          </p:nvSpPr>
          <p:spPr>
            <a:xfrm>
              <a:off x="1601" y="1205"/>
              <a:ext cx="1135670" cy="413640"/>
            </a:xfrm>
            <a:custGeom>
              <a:avLst/>
              <a:gdLst/>
              <a:ahLst/>
              <a:cxnLst/>
              <a:rect l="0" t="0" r="0" b="0"/>
              <a:pathLst>
                <a:path w="1788" h="651">
                  <a:moveTo>
                    <a:pt x="0" y="568"/>
                  </a:moveTo>
                  <a:lnTo>
                    <a:pt x="0" y="0"/>
                  </a:lnTo>
                  <a:lnTo>
                    <a:pt x="1788" y="0"/>
                  </a:lnTo>
                  <a:lnTo>
                    <a:pt x="1788" y="568"/>
                  </a:lnTo>
                  <a:cubicBezTo>
                    <a:pt x="1507" y="460"/>
                    <a:pt x="1174" y="460"/>
                    <a:pt x="894" y="568"/>
                  </a:cubicBezTo>
                  <a:cubicBezTo>
                    <a:pt x="613" y="676"/>
                    <a:pt x="280" y="676"/>
                    <a:pt x="0" y="56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0" name="path"/>
            <p:cNvSpPr/>
            <p:nvPr/>
          </p:nvSpPr>
          <p:spPr>
            <a:xfrm>
              <a:off x="0" y="0"/>
              <a:ext cx="1138874" cy="414845"/>
            </a:xfrm>
            <a:custGeom>
              <a:avLst/>
              <a:gdLst/>
              <a:ahLst/>
              <a:cxnLst/>
              <a:rect l="0" t="0" r="0" b="0"/>
              <a:pathLst>
                <a:path w="1793" h="653">
                  <a:moveTo>
                    <a:pt x="2" y="570"/>
                  </a:moveTo>
                  <a:lnTo>
                    <a:pt x="2" y="1"/>
                  </a:lnTo>
                  <a:lnTo>
                    <a:pt x="1790" y="1"/>
                  </a:lnTo>
                  <a:lnTo>
                    <a:pt x="1790" y="570"/>
                  </a:lnTo>
                  <a:cubicBezTo>
                    <a:pt x="1510" y="461"/>
                    <a:pt x="1177" y="461"/>
                    <a:pt x="896" y="570"/>
                  </a:cubicBezTo>
                  <a:cubicBezTo>
                    <a:pt x="616" y="678"/>
                    <a:pt x="283" y="678"/>
                    <a:pt x="2" y="570"/>
                  </a:cubicBezTo>
                </a:path>
              </a:pathLst>
            </a:custGeom>
            <a:noFill/>
            <a:ln w="2807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51" name="table 951"/>
          <p:cNvGraphicFramePr>
            <a:graphicFrameLocks noGrp="1"/>
          </p:cNvGraphicFramePr>
          <p:nvPr/>
        </p:nvGraphicFramePr>
        <p:xfrm>
          <a:off x="1646484" y="1006604"/>
          <a:ext cx="8888730" cy="5243829"/>
        </p:xfrm>
        <a:graphic>
          <a:graphicData uri="http://schemas.openxmlformats.org/drawingml/2006/table">
            <a:tbl>
              <a:tblPr/>
              <a:tblGrid>
                <a:gridCol w="379729"/>
                <a:gridCol w="1340485"/>
                <a:gridCol w="720725"/>
                <a:gridCol w="730250"/>
                <a:gridCol w="177800"/>
                <a:gridCol w="529590"/>
                <a:gridCol w="529590"/>
                <a:gridCol w="131445"/>
                <a:gridCol w="701040"/>
                <a:gridCol w="718819"/>
                <a:gridCol w="1551305"/>
                <a:gridCol w="1377950"/>
              </a:tblGrid>
              <a:tr h="280669">
                <a:tc gridSpan="1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400" dirty="0"/>
                    </a:p>
                    <a:p>
                      <a:pPr marL="3619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100" spc="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制定并提交解决方案流</a:t>
                      </a:r>
                      <a:r>
                        <a:rPr sz="110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lang="en-US" altLang="en-US" sz="11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</a:tr>
              <a:tr h="363219">
                <a:tc rowSpan="1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515620" algn="l" rtl="0" eaLnBrk="0">
                        <a:lnSpc>
                          <a:spcPct val="100000"/>
                        </a:lnSpc>
                      </a:pPr>
                      <a:r>
                        <a:rPr sz="90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入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marL="251460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销售项目经</a:t>
                      </a: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209550" algn="l" rtl="0" eaLnBrk="0">
                        <a:lnSpc>
                          <a:spcPct val="100000"/>
                        </a:lnSpc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解决方案代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lang="en-US" altLang="en-US" sz="200" dirty="0"/>
                    </a:p>
                    <a:p>
                      <a:pPr marL="35623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方案/合</a:t>
                      </a:r>
                      <a:r>
                        <a:rPr sz="90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</a:t>
                      </a:r>
                      <a:endParaRPr lang="en-US" altLang="en-US" sz="900" dirty="0"/>
                    </a:p>
                    <a:p>
                      <a:pPr marL="474980" algn="l" rtl="0" eaLnBrk="0">
                        <a:lnSpc>
                          <a:spcPts val="1140"/>
                        </a:lnSpc>
                      </a:pPr>
                      <a:r>
                        <a:rPr sz="90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评审</a:t>
                      </a:r>
                      <a:r>
                        <a:rPr sz="900" spc="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301625" algn="l" rtl="0" eaLnBrk="0">
                        <a:lnSpc>
                          <a:spcPct val="100000"/>
                        </a:lnSpc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销售决策团</a:t>
                      </a: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队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7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533400" algn="l" rtl="0" eaLnBrk="0">
                        <a:lnSpc>
                          <a:spcPct val="100000"/>
                        </a:lnSpc>
                      </a:pPr>
                      <a:r>
                        <a:rPr sz="90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</a:tr>
              <a:tr h="1917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</a:pPr>
                      <a:endParaRPr lang="en-US" altLang="en-US" sz="1000" dirty="0"/>
                    </a:p>
                    <a:p>
                      <a:pPr marL="18859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客户招标要</a:t>
                      </a: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求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marL="349885" algn="l" rtl="0" eaLnBrk="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竞争策</a:t>
                      </a:r>
                      <a:r>
                        <a:rPr sz="900" spc="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51000"/>
                        </a:lnSpc>
                      </a:pPr>
                      <a:endParaRPr lang="en-US" altLang="en-US" sz="1000" dirty="0"/>
                    </a:p>
                    <a:p>
                      <a:pPr marL="427990" indent="-238760" algn="l" rtl="0" eaLnBrk="0">
                        <a:lnSpc>
                          <a:spcPct val="118000"/>
                        </a:lnSpc>
                        <a:spcBef>
                          <a:spcPts val="275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客户认同的</a:t>
                      </a: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90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值主</a:t>
                      </a:r>
                      <a:r>
                        <a:rPr sz="900" spc="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张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9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200" dirty="0"/>
                    </a:p>
                    <a:p>
                      <a:pPr marL="267335" algn="l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风险管理</a:t>
                      </a: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marL="544195" indent="-321945" algn="l" rtl="0" eaLnBrk="0">
                        <a:lnSpc>
                          <a:spcPct val="118000"/>
                        </a:lnSpc>
                        <a:spcBef>
                          <a:spcPts val="0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解决方案整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体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900" spc="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策</a:t>
                      </a: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58000"/>
                        </a:lnSpc>
                      </a:pPr>
                      <a:endParaRPr lang="en-US" altLang="en-US" sz="1000" dirty="0"/>
                    </a:p>
                    <a:p>
                      <a:pPr marL="543560" indent="-320040" algn="l" rtl="0" eaLnBrk="0">
                        <a:lnSpc>
                          <a:spcPct val="118000"/>
                        </a:lnSpc>
                        <a:spcBef>
                          <a:spcPts val="280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更新的风险</a:t>
                      </a:r>
                      <a:r>
                        <a:rPr sz="90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管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900" spc="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</a:t>
                      </a: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lang="en-US" altLang="en-US" sz="1000" dirty="0"/>
                    </a:p>
                    <a:p>
                      <a:pPr marL="485140" algn="l" rtl="0" eaLnBrk="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概算</a:t>
                      </a:r>
                      <a:r>
                        <a:rPr sz="900" spc="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marL="583565" indent="-325120" algn="l" rtl="0" eaLnBrk="0">
                        <a:lnSpc>
                          <a:spcPct val="118000"/>
                        </a:lnSpc>
                        <a:spcBef>
                          <a:spcPts val="275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解决方案评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审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意</a:t>
                      </a:r>
                      <a:r>
                        <a:rPr sz="90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见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marL="223520" algn="l" rtl="0" eaLnBrk="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投标决策意</a:t>
                      </a:r>
                      <a:r>
                        <a:rPr sz="90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见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marL="421640" algn="l" rtl="0" eaLnBrk="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投标文</a:t>
                      </a:r>
                      <a:r>
                        <a:rPr sz="900" spc="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件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200" dirty="0"/>
                    </a:p>
                    <a:p>
                      <a:pPr marL="342265" algn="l" rtl="0" eaLnBrk="0">
                        <a:lnSpc>
                          <a:spcPct val="100000"/>
                        </a:lnSpc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投标反馈</a:t>
                      </a:r>
                      <a:r>
                        <a:rPr sz="90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300" dirty="0"/>
                    </a:p>
                    <a:p>
                      <a:pPr marL="37465" indent="-4445" algn="l" rtl="0" eaLnBrk="0">
                        <a:lnSpc>
                          <a:spcPct val="111000"/>
                        </a:lnSpc>
                        <a:spcBef>
                          <a:spcPts val="5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确定解决方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案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总体策</a:t>
                      </a: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3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marL="32385" indent="2540" algn="l" rtl="0" eaLnBrk="0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组织解决方</a:t>
                      </a:r>
                      <a:r>
                        <a:rPr sz="90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案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及概算的制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定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1236980" algn="l" rtl="0" eaLnBrk="0">
                        <a:lnSpc>
                          <a:spcPct val="100000"/>
                        </a:lnSpc>
                      </a:pPr>
                      <a:r>
                        <a:rPr sz="90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endParaRPr lang="en-US" altLang="en-US" sz="900" dirty="0"/>
                    </a:p>
                    <a:p>
                      <a:pPr marL="361315" algn="l" rtl="0" eaLnBrk="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进行投标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决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endParaRPr lang="en-US" altLang="en-US" sz="900" dirty="0"/>
                    </a:p>
                    <a:p>
                      <a:pPr marL="683895" algn="l" rtl="0" eaLnBrk="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策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840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40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25"/>
                        </a:lnSpc>
                      </a:pPr>
                      <a:endParaRPr lang="en-US" altLang="en-US" sz="6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22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00" dirty="0"/>
                    </a:p>
                    <a:p>
                      <a:pPr marL="838200" algn="l" rtl="0" eaLnBrk="0">
                        <a:lnSpc>
                          <a:spcPts val="1095"/>
                        </a:lnSpc>
                        <a:spcBef>
                          <a:spcPts val="5"/>
                        </a:spcBef>
                      </a:pPr>
                      <a:r>
                        <a:rPr sz="90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98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marL="40576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谈判与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签</a:t>
                      </a:r>
                      <a:endParaRPr lang="en-US" altLang="en-US" sz="900" dirty="0"/>
                    </a:p>
                    <a:p>
                      <a:pPr marL="488315" algn="l" rtl="0" eaLnBrk="0">
                        <a:lnSpc>
                          <a:spcPts val="1225"/>
                        </a:lnSpc>
                      </a:pPr>
                      <a:r>
                        <a:rPr sz="90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订合</a:t>
                      </a: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52" name="textbox 952"/>
          <p:cNvSpPr/>
          <p:nvPr/>
        </p:nvSpPr>
        <p:spPr>
          <a:xfrm>
            <a:off x="560823" y="271100"/>
            <a:ext cx="5532120" cy="439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55"/>
              </a:lnSpc>
            </a:pPr>
            <a:r>
              <a:rPr sz="2700" spc="1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4.4制定并提交解决方案：操作</a:t>
            </a:r>
            <a:r>
              <a:rPr sz="2700" spc="9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endParaRPr lang="en-US" altLang="en-US" sz="2700" dirty="0"/>
          </a:p>
        </p:txBody>
      </p:sp>
      <p:graphicFrame>
        <p:nvGraphicFramePr>
          <p:cNvPr id="953" name="table 953"/>
          <p:cNvGraphicFramePr>
            <a:graphicFrameLocks noGrp="1"/>
          </p:cNvGraphicFramePr>
          <p:nvPr/>
        </p:nvGraphicFramePr>
        <p:xfrm>
          <a:off x="3556131" y="4823828"/>
          <a:ext cx="1062354" cy="421639"/>
        </p:xfrm>
        <a:graphic>
          <a:graphicData uri="http://schemas.openxmlformats.org/drawingml/2006/table">
            <a:tbl>
              <a:tblPr/>
              <a:tblGrid>
                <a:gridCol w="1062354"/>
              </a:tblGrid>
              <a:tr h="4216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9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57785" algn="l" rtl="0" eaLnBrk="0">
                        <a:lnSpc>
                          <a:spcPct val="100000"/>
                        </a:lnSpc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提交解决方</a:t>
                      </a:r>
                      <a:r>
                        <a:rPr sz="90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案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54" name="table 954"/>
          <p:cNvGraphicFramePr>
            <a:graphicFrameLocks noGrp="1"/>
          </p:cNvGraphicFramePr>
          <p:nvPr/>
        </p:nvGraphicFramePr>
        <p:xfrm>
          <a:off x="6355870" y="3189770"/>
          <a:ext cx="1062354" cy="421639"/>
        </p:xfrm>
        <a:graphic>
          <a:graphicData uri="http://schemas.openxmlformats.org/drawingml/2006/table">
            <a:tbl>
              <a:tblPr/>
              <a:tblGrid>
                <a:gridCol w="1062354"/>
              </a:tblGrid>
              <a:tr h="4216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900" dirty="0"/>
                    </a:p>
                    <a:p>
                      <a:pPr marL="56515" algn="l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90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评审解决方</a:t>
                      </a:r>
                      <a:r>
                        <a:rPr sz="90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案</a:t>
                      </a:r>
                      <a:endParaRPr lang="en-US" alt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55" name="textbox 955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57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8" name="path"/>
          <p:cNvSpPr/>
          <p:nvPr/>
        </p:nvSpPr>
        <p:spPr>
          <a:xfrm>
            <a:off x="4464241" y="5536041"/>
            <a:ext cx="192326" cy="429719"/>
          </a:xfrm>
          <a:custGeom>
            <a:avLst/>
            <a:gdLst/>
            <a:ahLst/>
            <a:cxnLst/>
            <a:rect l="0" t="0" r="0" b="0"/>
            <a:pathLst>
              <a:path w="302" h="676">
                <a:moveTo>
                  <a:pt x="2" y="674"/>
                </a:moveTo>
                <a:lnTo>
                  <a:pt x="300" y="338"/>
                </a:lnTo>
                <a:lnTo>
                  <a:pt x="2" y="1"/>
                </a:lnTo>
              </a:path>
            </a:pathLst>
          </a:custGeom>
          <a:noFill/>
          <a:ln w="2807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9" name="path"/>
          <p:cNvSpPr/>
          <p:nvPr/>
        </p:nvSpPr>
        <p:spPr>
          <a:xfrm>
            <a:off x="3518360" y="5536041"/>
            <a:ext cx="192325" cy="429719"/>
          </a:xfrm>
          <a:custGeom>
            <a:avLst/>
            <a:gdLst/>
            <a:ahLst/>
            <a:cxnLst/>
            <a:rect l="0" t="0" r="0" b="0"/>
            <a:pathLst>
              <a:path w="302" h="676">
                <a:moveTo>
                  <a:pt x="300" y="1"/>
                </a:moveTo>
                <a:lnTo>
                  <a:pt x="2" y="338"/>
                </a:lnTo>
                <a:lnTo>
                  <a:pt x="300" y="674"/>
                </a:lnTo>
                <a:close/>
              </a:path>
            </a:pathLst>
          </a:custGeom>
          <a:noFill/>
          <a:ln w="2807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0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1" name="rect"/>
          <p:cNvSpPr/>
          <p:nvPr/>
        </p:nvSpPr>
        <p:spPr>
          <a:xfrm>
            <a:off x="9065918" y="2762523"/>
            <a:ext cx="3203" cy="1394275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2" name="rect"/>
          <p:cNvSpPr/>
          <p:nvPr/>
        </p:nvSpPr>
        <p:spPr>
          <a:xfrm>
            <a:off x="3707483" y="5536041"/>
            <a:ext cx="759961" cy="2411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3" name="rect"/>
          <p:cNvSpPr/>
          <p:nvPr/>
        </p:nvSpPr>
        <p:spPr>
          <a:xfrm>
            <a:off x="4085862" y="5243257"/>
            <a:ext cx="3202" cy="246656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4" name="path"/>
          <p:cNvSpPr/>
          <p:nvPr/>
        </p:nvSpPr>
        <p:spPr>
          <a:xfrm>
            <a:off x="4050627" y="5481773"/>
            <a:ext cx="73673" cy="55473"/>
          </a:xfrm>
          <a:custGeom>
            <a:avLst/>
            <a:gdLst/>
            <a:ahLst/>
            <a:cxnLst/>
            <a:rect l="0" t="0" r="0" b="0"/>
            <a:pathLst>
              <a:path w="116" h="87">
                <a:moveTo>
                  <a:pt x="116" y="0"/>
                </a:moveTo>
                <a:lnTo>
                  <a:pt x="58" y="87"/>
                </a:lnTo>
                <a:lnTo>
                  <a:pt x="0" y="0"/>
                </a:lnTo>
                <a:lnTo>
                  <a:pt x="116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5" name="path"/>
          <p:cNvSpPr/>
          <p:nvPr/>
        </p:nvSpPr>
        <p:spPr>
          <a:xfrm>
            <a:off x="8325711" y="3858025"/>
            <a:ext cx="73673" cy="55473"/>
          </a:xfrm>
          <a:custGeom>
            <a:avLst/>
            <a:gdLst/>
            <a:ahLst/>
            <a:cxnLst/>
            <a:rect l="0" t="0" r="0" b="0"/>
            <a:pathLst>
              <a:path w="116" h="87">
                <a:moveTo>
                  <a:pt x="116" y="0"/>
                </a:moveTo>
                <a:lnTo>
                  <a:pt x="58" y="87"/>
                </a:lnTo>
                <a:lnTo>
                  <a:pt x="0" y="0"/>
                </a:lnTo>
                <a:lnTo>
                  <a:pt x="116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6" name="rect"/>
          <p:cNvSpPr/>
          <p:nvPr/>
        </p:nvSpPr>
        <p:spPr>
          <a:xfrm>
            <a:off x="6885468" y="3716025"/>
            <a:ext cx="1478681" cy="2411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7" name="rect"/>
          <p:cNvSpPr/>
          <p:nvPr/>
        </p:nvSpPr>
        <p:spPr>
          <a:xfrm>
            <a:off x="3707483" y="5963348"/>
            <a:ext cx="759961" cy="2411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8" name="rect"/>
          <p:cNvSpPr/>
          <p:nvPr/>
        </p:nvSpPr>
        <p:spPr>
          <a:xfrm>
            <a:off x="8360946" y="3716025"/>
            <a:ext cx="3203" cy="150140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9" name="path"/>
          <p:cNvSpPr/>
          <p:nvPr/>
        </p:nvSpPr>
        <p:spPr>
          <a:xfrm>
            <a:off x="6885468" y="3609198"/>
            <a:ext cx="3202" cy="109238"/>
          </a:xfrm>
          <a:custGeom>
            <a:avLst/>
            <a:gdLst/>
            <a:ahLst/>
            <a:cxnLst/>
            <a:rect l="0" t="0" r="0" b="0"/>
            <a:pathLst>
              <a:path w="5" h="172">
                <a:moveTo>
                  <a:pt x="2" y="1"/>
                </a:moveTo>
                <a:lnTo>
                  <a:pt x="2" y="170"/>
                </a:lnTo>
              </a:path>
            </a:pathLst>
          </a:custGeom>
          <a:noFill/>
          <a:ln w="2807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0" name="path"/>
          <p:cNvSpPr/>
          <p:nvPr/>
        </p:nvSpPr>
        <p:spPr>
          <a:xfrm>
            <a:off x="8360946" y="4396581"/>
            <a:ext cx="3202" cy="109238"/>
          </a:xfrm>
          <a:custGeom>
            <a:avLst/>
            <a:gdLst/>
            <a:ahLst/>
            <a:cxnLst/>
            <a:rect l="0" t="0" r="0" b="0"/>
            <a:pathLst>
              <a:path w="5" h="172">
                <a:moveTo>
                  <a:pt x="2" y="1"/>
                </a:moveTo>
                <a:lnTo>
                  <a:pt x="2" y="170"/>
                </a:lnTo>
              </a:path>
            </a:pathLst>
          </a:custGeom>
          <a:noFill/>
          <a:ln w="2807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roup 308"/>
          <p:cNvGrpSpPr/>
          <p:nvPr/>
        </p:nvGrpSpPr>
        <p:grpSpPr>
          <a:xfrm rot="21600000">
            <a:off x="7835208" y="4136414"/>
            <a:ext cx="1154236" cy="315151"/>
            <a:chOff x="0" y="0"/>
            <a:chExt cx="1154236" cy="315151"/>
          </a:xfrm>
        </p:grpSpPr>
        <p:sp>
          <p:nvSpPr>
            <p:cNvPr id="971" name="path"/>
            <p:cNvSpPr/>
            <p:nvPr/>
          </p:nvSpPr>
          <p:spPr>
            <a:xfrm>
              <a:off x="1571" y="752"/>
              <a:ext cx="1151092" cy="313645"/>
            </a:xfrm>
            <a:custGeom>
              <a:avLst/>
              <a:gdLst/>
              <a:ahLst/>
              <a:cxnLst/>
              <a:rect l="0" t="0" r="0" b="0"/>
              <a:pathLst>
                <a:path w="1812" h="493">
                  <a:moveTo>
                    <a:pt x="0" y="246"/>
                  </a:moveTo>
                  <a:lnTo>
                    <a:pt x="906" y="0"/>
                  </a:lnTo>
                  <a:lnTo>
                    <a:pt x="1812" y="246"/>
                  </a:lnTo>
                  <a:lnTo>
                    <a:pt x="906" y="493"/>
                  </a:lnTo>
                  <a:lnTo>
                    <a:pt x="0" y="2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2" name="path"/>
            <p:cNvSpPr/>
            <p:nvPr/>
          </p:nvSpPr>
          <p:spPr>
            <a:xfrm>
              <a:off x="0" y="0"/>
              <a:ext cx="1154236" cy="315151"/>
            </a:xfrm>
            <a:custGeom>
              <a:avLst/>
              <a:gdLst/>
              <a:ahLst/>
              <a:cxnLst/>
              <a:rect l="0" t="0" r="0" b="0"/>
              <a:pathLst>
                <a:path w="1817" h="496">
                  <a:moveTo>
                    <a:pt x="2" y="248"/>
                  </a:moveTo>
                  <a:lnTo>
                    <a:pt x="908" y="1"/>
                  </a:lnTo>
                  <a:lnTo>
                    <a:pt x="1815" y="248"/>
                  </a:lnTo>
                  <a:lnTo>
                    <a:pt x="908" y="495"/>
                  </a:lnTo>
                  <a:lnTo>
                    <a:pt x="2" y="248"/>
                  </a:lnTo>
                  <a:close/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10" name="group 310"/>
          <p:cNvGrpSpPr/>
          <p:nvPr/>
        </p:nvGrpSpPr>
        <p:grpSpPr>
          <a:xfrm rot="21600000">
            <a:off x="5161509" y="5240134"/>
            <a:ext cx="912935" cy="197094"/>
            <a:chOff x="0" y="0"/>
            <a:chExt cx="912935" cy="197094"/>
          </a:xfrm>
        </p:grpSpPr>
        <p:sp>
          <p:nvSpPr>
            <p:cNvPr id="973" name="path"/>
            <p:cNvSpPr/>
            <p:nvPr/>
          </p:nvSpPr>
          <p:spPr>
            <a:xfrm>
              <a:off x="1571" y="752"/>
              <a:ext cx="909791" cy="195589"/>
            </a:xfrm>
            <a:custGeom>
              <a:avLst/>
              <a:gdLst/>
              <a:ahLst/>
              <a:cxnLst/>
              <a:rect l="0" t="0" r="0" b="0"/>
              <a:pathLst>
                <a:path w="1432" h="308">
                  <a:moveTo>
                    <a:pt x="321" y="308"/>
                  </a:moveTo>
                  <a:lnTo>
                    <a:pt x="1111" y="308"/>
                  </a:lnTo>
                  <a:cubicBezTo>
                    <a:pt x="1288" y="308"/>
                    <a:pt x="1432" y="239"/>
                    <a:pt x="1432" y="154"/>
                  </a:cubicBezTo>
                  <a:cubicBezTo>
                    <a:pt x="1432" y="68"/>
                    <a:pt x="1288" y="0"/>
                    <a:pt x="1111" y="0"/>
                  </a:cubicBezTo>
                  <a:cubicBezTo>
                    <a:pt x="1111" y="0"/>
                    <a:pt x="1111" y="0"/>
                    <a:pt x="1111" y="0"/>
                  </a:cubicBezTo>
                  <a:lnTo>
                    <a:pt x="1111" y="0"/>
                  </a:lnTo>
                  <a:lnTo>
                    <a:pt x="321" y="0"/>
                  </a:lnTo>
                  <a:cubicBezTo>
                    <a:pt x="143" y="0"/>
                    <a:pt x="0" y="68"/>
                    <a:pt x="0" y="154"/>
                  </a:cubicBezTo>
                  <a:cubicBezTo>
                    <a:pt x="0" y="239"/>
                    <a:pt x="143" y="308"/>
                    <a:pt x="321" y="308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4" name="path"/>
            <p:cNvSpPr/>
            <p:nvPr/>
          </p:nvSpPr>
          <p:spPr>
            <a:xfrm>
              <a:off x="0" y="0"/>
              <a:ext cx="912935" cy="197094"/>
            </a:xfrm>
            <a:custGeom>
              <a:avLst/>
              <a:gdLst/>
              <a:ahLst/>
              <a:cxnLst/>
              <a:rect l="0" t="0" r="0" b="0"/>
              <a:pathLst>
                <a:path w="1437" h="310">
                  <a:moveTo>
                    <a:pt x="324" y="309"/>
                  </a:moveTo>
                  <a:lnTo>
                    <a:pt x="1113" y="309"/>
                  </a:lnTo>
                  <a:cubicBezTo>
                    <a:pt x="1291" y="309"/>
                    <a:pt x="1435" y="240"/>
                    <a:pt x="1435" y="155"/>
                  </a:cubicBezTo>
                  <a:cubicBezTo>
                    <a:pt x="1435" y="70"/>
                    <a:pt x="1291" y="1"/>
                    <a:pt x="1113" y="1"/>
                  </a:cubicBezTo>
                  <a:cubicBezTo>
                    <a:pt x="1113" y="1"/>
                    <a:pt x="1113" y="1"/>
                    <a:pt x="1113" y="1"/>
                  </a:cubicBezTo>
                  <a:lnTo>
                    <a:pt x="1113" y="1"/>
                  </a:lnTo>
                  <a:lnTo>
                    <a:pt x="324" y="1"/>
                  </a:lnTo>
                  <a:cubicBezTo>
                    <a:pt x="146" y="1"/>
                    <a:pt x="2" y="70"/>
                    <a:pt x="2" y="155"/>
                  </a:cubicBezTo>
                  <a:cubicBezTo>
                    <a:pt x="2" y="240"/>
                    <a:pt x="146" y="309"/>
                    <a:pt x="324" y="309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12" name="group 312"/>
          <p:cNvGrpSpPr/>
          <p:nvPr/>
        </p:nvGrpSpPr>
        <p:grpSpPr>
          <a:xfrm rot="21600000">
            <a:off x="9246335" y="5792934"/>
            <a:ext cx="1117818" cy="258964"/>
            <a:chOff x="0" y="0"/>
            <a:chExt cx="1117818" cy="258964"/>
          </a:xfrm>
        </p:grpSpPr>
        <p:sp>
          <p:nvSpPr>
            <p:cNvPr id="975" name="path"/>
            <p:cNvSpPr/>
            <p:nvPr/>
          </p:nvSpPr>
          <p:spPr>
            <a:xfrm>
              <a:off x="1571" y="752"/>
              <a:ext cx="1114674" cy="258211"/>
            </a:xfrm>
            <a:custGeom>
              <a:avLst/>
              <a:gdLst/>
              <a:ahLst/>
              <a:cxnLst/>
              <a:rect l="0" t="0" r="0" b="0"/>
              <a:pathLst>
                <a:path w="1755" h="406">
                  <a:moveTo>
                    <a:pt x="0" y="354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354"/>
                  </a:lnTo>
                  <a:cubicBezTo>
                    <a:pt x="1479" y="287"/>
                    <a:pt x="1153" y="287"/>
                    <a:pt x="877" y="354"/>
                  </a:cubicBezTo>
                  <a:cubicBezTo>
                    <a:pt x="601" y="422"/>
                    <a:pt x="275" y="422"/>
                    <a:pt x="0" y="354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6" name="path"/>
            <p:cNvSpPr/>
            <p:nvPr/>
          </p:nvSpPr>
          <p:spPr>
            <a:xfrm>
              <a:off x="0" y="0"/>
              <a:ext cx="1117818" cy="258964"/>
            </a:xfrm>
            <a:custGeom>
              <a:avLst/>
              <a:gdLst/>
              <a:ahLst/>
              <a:cxnLst/>
              <a:rect l="0" t="0" r="0" b="0"/>
              <a:pathLst>
                <a:path w="1760" h="407">
                  <a:moveTo>
                    <a:pt x="2" y="355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355"/>
                  </a:lnTo>
                  <a:cubicBezTo>
                    <a:pt x="1482" y="288"/>
                    <a:pt x="1155" y="288"/>
                    <a:pt x="880" y="355"/>
                  </a:cubicBezTo>
                  <a:cubicBezTo>
                    <a:pt x="604" y="423"/>
                    <a:pt x="277" y="423"/>
                    <a:pt x="2" y="355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14" name="group 314"/>
          <p:cNvGrpSpPr/>
          <p:nvPr/>
        </p:nvGrpSpPr>
        <p:grpSpPr>
          <a:xfrm rot="21600000">
            <a:off x="9245548" y="5250233"/>
            <a:ext cx="1117818" cy="258945"/>
            <a:chOff x="0" y="0"/>
            <a:chExt cx="1117818" cy="258945"/>
          </a:xfrm>
        </p:grpSpPr>
        <p:sp>
          <p:nvSpPr>
            <p:cNvPr id="977" name="path"/>
            <p:cNvSpPr/>
            <p:nvPr/>
          </p:nvSpPr>
          <p:spPr>
            <a:xfrm>
              <a:off x="1571" y="752"/>
              <a:ext cx="1114674" cy="258193"/>
            </a:xfrm>
            <a:custGeom>
              <a:avLst/>
              <a:gdLst/>
              <a:ahLst/>
              <a:cxnLst/>
              <a:rect l="0" t="0" r="0" b="0"/>
              <a:pathLst>
                <a:path w="1755" h="406">
                  <a:moveTo>
                    <a:pt x="0" y="354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354"/>
                  </a:lnTo>
                  <a:cubicBezTo>
                    <a:pt x="1479" y="287"/>
                    <a:pt x="1153" y="287"/>
                    <a:pt x="877" y="354"/>
                  </a:cubicBezTo>
                  <a:cubicBezTo>
                    <a:pt x="602" y="422"/>
                    <a:pt x="275" y="422"/>
                    <a:pt x="0" y="354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8" name="path"/>
            <p:cNvSpPr/>
            <p:nvPr/>
          </p:nvSpPr>
          <p:spPr>
            <a:xfrm>
              <a:off x="0" y="0"/>
              <a:ext cx="1117818" cy="258945"/>
            </a:xfrm>
            <a:custGeom>
              <a:avLst/>
              <a:gdLst/>
              <a:ahLst/>
              <a:cxnLst/>
              <a:rect l="0" t="0" r="0" b="0"/>
              <a:pathLst>
                <a:path w="1760" h="407">
                  <a:moveTo>
                    <a:pt x="2" y="355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355"/>
                  </a:lnTo>
                  <a:cubicBezTo>
                    <a:pt x="1482" y="288"/>
                    <a:pt x="1155" y="288"/>
                    <a:pt x="880" y="355"/>
                  </a:cubicBezTo>
                  <a:cubicBezTo>
                    <a:pt x="604" y="423"/>
                    <a:pt x="278" y="423"/>
                    <a:pt x="2" y="355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16" name="group 316"/>
          <p:cNvGrpSpPr/>
          <p:nvPr/>
        </p:nvGrpSpPr>
        <p:grpSpPr>
          <a:xfrm rot="21600000">
            <a:off x="9246334" y="4676952"/>
            <a:ext cx="1117818" cy="258946"/>
            <a:chOff x="0" y="0"/>
            <a:chExt cx="1117818" cy="258946"/>
          </a:xfrm>
        </p:grpSpPr>
        <p:sp>
          <p:nvSpPr>
            <p:cNvPr id="979" name="path"/>
            <p:cNvSpPr/>
            <p:nvPr/>
          </p:nvSpPr>
          <p:spPr>
            <a:xfrm>
              <a:off x="1571" y="752"/>
              <a:ext cx="1114674" cy="258193"/>
            </a:xfrm>
            <a:custGeom>
              <a:avLst/>
              <a:gdLst/>
              <a:ahLst/>
              <a:cxnLst/>
              <a:rect l="0" t="0" r="0" b="0"/>
              <a:pathLst>
                <a:path w="1755" h="406">
                  <a:moveTo>
                    <a:pt x="0" y="354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354"/>
                  </a:lnTo>
                  <a:cubicBezTo>
                    <a:pt x="1479" y="287"/>
                    <a:pt x="1153" y="287"/>
                    <a:pt x="877" y="354"/>
                  </a:cubicBezTo>
                  <a:cubicBezTo>
                    <a:pt x="601" y="422"/>
                    <a:pt x="275" y="422"/>
                    <a:pt x="0" y="354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0" name="path"/>
            <p:cNvSpPr/>
            <p:nvPr/>
          </p:nvSpPr>
          <p:spPr>
            <a:xfrm>
              <a:off x="0" y="0"/>
              <a:ext cx="1117818" cy="258946"/>
            </a:xfrm>
            <a:custGeom>
              <a:avLst/>
              <a:gdLst/>
              <a:ahLst/>
              <a:cxnLst/>
              <a:rect l="0" t="0" r="0" b="0"/>
              <a:pathLst>
                <a:path w="1760" h="407">
                  <a:moveTo>
                    <a:pt x="2" y="355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355"/>
                  </a:lnTo>
                  <a:cubicBezTo>
                    <a:pt x="1482" y="288"/>
                    <a:pt x="1155" y="288"/>
                    <a:pt x="880" y="355"/>
                  </a:cubicBezTo>
                  <a:cubicBezTo>
                    <a:pt x="604" y="423"/>
                    <a:pt x="277" y="423"/>
                    <a:pt x="2" y="355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18" name="group 318"/>
          <p:cNvGrpSpPr/>
          <p:nvPr/>
        </p:nvGrpSpPr>
        <p:grpSpPr>
          <a:xfrm rot="21600000">
            <a:off x="9246334" y="4232453"/>
            <a:ext cx="1117818" cy="258946"/>
            <a:chOff x="0" y="0"/>
            <a:chExt cx="1117818" cy="258946"/>
          </a:xfrm>
        </p:grpSpPr>
        <p:sp>
          <p:nvSpPr>
            <p:cNvPr id="981" name="path"/>
            <p:cNvSpPr/>
            <p:nvPr/>
          </p:nvSpPr>
          <p:spPr>
            <a:xfrm>
              <a:off x="1571" y="752"/>
              <a:ext cx="1114674" cy="258193"/>
            </a:xfrm>
            <a:custGeom>
              <a:avLst/>
              <a:gdLst/>
              <a:ahLst/>
              <a:cxnLst/>
              <a:rect l="0" t="0" r="0" b="0"/>
              <a:pathLst>
                <a:path w="1755" h="406">
                  <a:moveTo>
                    <a:pt x="0" y="354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354"/>
                  </a:lnTo>
                  <a:cubicBezTo>
                    <a:pt x="1479" y="287"/>
                    <a:pt x="1153" y="287"/>
                    <a:pt x="877" y="354"/>
                  </a:cubicBezTo>
                  <a:cubicBezTo>
                    <a:pt x="601" y="422"/>
                    <a:pt x="275" y="422"/>
                    <a:pt x="0" y="354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2" name="path"/>
            <p:cNvSpPr/>
            <p:nvPr/>
          </p:nvSpPr>
          <p:spPr>
            <a:xfrm>
              <a:off x="0" y="0"/>
              <a:ext cx="1117818" cy="258946"/>
            </a:xfrm>
            <a:custGeom>
              <a:avLst/>
              <a:gdLst/>
              <a:ahLst/>
              <a:cxnLst/>
              <a:rect l="0" t="0" r="0" b="0"/>
              <a:pathLst>
                <a:path w="1760" h="407">
                  <a:moveTo>
                    <a:pt x="2" y="355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355"/>
                  </a:lnTo>
                  <a:cubicBezTo>
                    <a:pt x="1482" y="288"/>
                    <a:pt x="1155" y="288"/>
                    <a:pt x="880" y="355"/>
                  </a:cubicBezTo>
                  <a:cubicBezTo>
                    <a:pt x="604" y="423"/>
                    <a:pt x="277" y="423"/>
                    <a:pt x="2" y="355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83" name="path"/>
          <p:cNvSpPr/>
          <p:nvPr/>
        </p:nvSpPr>
        <p:spPr>
          <a:xfrm>
            <a:off x="3492183" y="5827648"/>
            <a:ext cx="1076815" cy="266724"/>
          </a:xfrm>
          <a:custGeom>
            <a:avLst/>
            <a:gdLst/>
            <a:ahLst/>
            <a:cxnLst/>
            <a:rect l="0" t="0" r="0" b="0"/>
            <a:pathLst>
              <a:path w="1695" h="420">
                <a:moveTo>
                  <a:pt x="292" y="420"/>
                </a:moveTo>
                <a:lnTo>
                  <a:pt x="1403" y="420"/>
                </a:lnTo>
                <a:lnTo>
                  <a:pt x="1695" y="210"/>
                </a:lnTo>
                <a:lnTo>
                  <a:pt x="1403" y="0"/>
                </a:lnTo>
                <a:lnTo>
                  <a:pt x="292" y="0"/>
                </a:lnTo>
                <a:lnTo>
                  <a:pt x="0" y="210"/>
                </a:lnTo>
                <a:lnTo>
                  <a:pt x="292" y="4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20" name="group 320"/>
          <p:cNvGrpSpPr/>
          <p:nvPr/>
        </p:nvGrpSpPr>
        <p:grpSpPr>
          <a:xfrm rot="21600000">
            <a:off x="2190874" y="1950555"/>
            <a:ext cx="1117779" cy="268214"/>
            <a:chOff x="0" y="0"/>
            <a:chExt cx="1117779" cy="268214"/>
          </a:xfrm>
        </p:grpSpPr>
        <p:sp>
          <p:nvSpPr>
            <p:cNvPr id="984" name="path"/>
            <p:cNvSpPr/>
            <p:nvPr/>
          </p:nvSpPr>
          <p:spPr>
            <a:xfrm>
              <a:off x="1571" y="752"/>
              <a:ext cx="1114635" cy="267461"/>
            </a:xfrm>
            <a:custGeom>
              <a:avLst/>
              <a:gdLst/>
              <a:ahLst/>
              <a:cxnLst/>
              <a:rect l="0" t="0" r="0" b="0"/>
              <a:pathLst>
                <a:path w="1755" h="421">
                  <a:moveTo>
                    <a:pt x="0" y="367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367"/>
                  </a:lnTo>
                  <a:cubicBezTo>
                    <a:pt x="1481" y="297"/>
                    <a:pt x="1151" y="297"/>
                    <a:pt x="877" y="367"/>
                  </a:cubicBezTo>
                  <a:cubicBezTo>
                    <a:pt x="603" y="437"/>
                    <a:pt x="274" y="437"/>
                    <a:pt x="0" y="367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5" name="path"/>
            <p:cNvSpPr/>
            <p:nvPr/>
          </p:nvSpPr>
          <p:spPr>
            <a:xfrm>
              <a:off x="0" y="0"/>
              <a:ext cx="1117779" cy="268214"/>
            </a:xfrm>
            <a:custGeom>
              <a:avLst/>
              <a:gdLst/>
              <a:ahLst/>
              <a:cxnLst/>
              <a:rect l="0" t="0" r="0" b="0"/>
              <a:pathLst>
                <a:path w="1760" h="422">
                  <a:moveTo>
                    <a:pt x="2" y="368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368"/>
                  </a:lnTo>
                  <a:cubicBezTo>
                    <a:pt x="1483" y="298"/>
                    <a:pt x="1154" y="298"/>
                    <a:pt x="880" y="368"/>
                  </a:cubicBezTo>
                  <a:cubicBezTo>
                    <a:pt x="605" y="438"/>
                    <a:pt x="276" y="438"/>
                    <a:pt x="2" y="368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22" name="group 322"/>
          <p:cNvGrpSpPr/>
          <p:nvPr/>
        </p:nvGrpSpPr>
        <p:grpSpPr>
          <a:xfrm rot="21600000">
            <a:off x="2190206" y="5826896"/>
            <a:ext cx="1117792" cy="268226"/>
            <a:chOff x="0" y="0"/>
            <a:chExt cx="1117792" cy="268226"/>
          </a:xfrm>
        </p:grpSpPr>
        <p:sp>
          <p:nvSpPr>
            <p:cNvPr id="986" name="path"/>
            <p:cNvSpPr/>
            <p:nvPr/>
          </p:nvSpPr>
          <p:spPr>
            <a:xfrm>
              <a:off x="1571" y="752"/>
              <a:ext cx="1114648" cy="267473"/>
            </a:xfrm>
            <a:custGeom>
              <a:avLst/>
              <a:gdLst/>
              <a:ahLst/>
              <a:cxnLst/>
              <a:rect l="0" t="0" r="0" b="0"/>
              <a:pathLst>
                <a:path w="1755" h="421">
                  <a:moveTo>
                    <a:pt x="0" y="367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367"/>
                  </a:lnTo>
                  <a:cubicBezTo>
                    <a:pt x="1481" y="297"/>
                    <a:pt x="1151" y="297"/>
                    <a:pt x="877" y="367"/>
                  </a:cubicBezTo>
                  <a:cubicBezTo>
                    <a:pt x="603" y="437"/>
                    <a:pt x="274" y="437"/>
                    <a:pt x="0" y="367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7" name="path"/>
            <p:cNvSpPr/>
            <p:nvPr/>
          </p:nvSpPr>
          <p:spPr>
            <a:xfrm>
              <a:off x="0" y="0"/>
              <a:ext cx="1117792" cy="268226"/>
            </a:xfrm>
            <a:custGeom>
              <a:avLst/>
              <a:gdLst/>
              <a:ahLst/>
              <a:cxnLst/>
              <a:rect l="0" t="0" r="0" b="0"/>
              <a:pathLst>
                <a:path w="1760" h="422">
                  <a:moveTo>
                    <a:pt x="2" y="368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368"/>
                  </a:lnTo>
                  <a:cubicBezTo>
                    <a:pt x="1483" y="298"/>
                    <a:pt x="1154" y="298"/>
                    <a:pt x="880" y="368"/>
                  </a:cubicBezTo>
                  <a:cubicBezTo>
                    <a:pt x="605" y="438"/>
                    <a:pt x="276" y="438"/>
                    <a:pt x="2" y="368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24" name="group 324"/>
          <p:cNvGrpSpPr/>
          <p:nvPr/>
        </p:nvGrpSpPr>
        <p:grpSpPr>
          <a:xfrm rot="21600000">
            <a:off x="2190205" y="2323919"/>
            <a:ext cx="1117792" cy="214925"/>
            <a:chOff x="0" y="0"/>
            <a:chExt cx="1117792" cy="214925"/>
          </a:xfrm>
        </p:grpSpPr>
        <p:sp>
          <p:nvSpPr>
            <p:cNvPr id="988" name="path"/>
            <p:cNvSpPr/>
            <p:nvPr/>
          </p:nvSpPr>
          <p:spPr>
            <a:xfrm>
              <a:off x="1571" y="752"/>
              <a:ext cx="1114648" cy="214172"/>
            </a:xfrm>
            <a:custGeom>
              <a:avLst/>
              <a:gdLst/>
              <a:ahLst/>
              <a:cxnLst/>
              <a:rect l="0" t="0" r="0" b="0"/>
              <a:pathLst>
                <a:path w="1755" h="337">
                  <a:moveTo>
                    <a:pt x="0" y="294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294"/>
                  </a:lnTo>
                  <a:cubicBezTo>
                    <a:pt x="1474" y="238"/>
                    <a:pt x="1158" y="238"/>
                    <a:pt x="877" y="294"/>
                  </a:cubicBezTo>
                  <a:cubicBezTo>
                    <a:pt x="596" y="350"/>
                    <a:pt x="280" y="350"/>
                    <a:pt x="0" y="294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9" name="path"/>
            <p:cNvSpPr/>
            <p:nvPr/>
          </p:nvSpPr>
          <p:spPr>
            <a:xfrm>
              <a:off x="0" y="0"/>
              <a:ext cx="1117792" cy="214925"/>
            </a:xfrm>
            <a:custGeom>
              <a:avLst/>
              <a:gdLst/>
              <a:ahLst/>
              <a:cxnLst/>
              <a:rect l="0" t="0" r="0" b="0"/>
              <a:pathLst>
                <a:path w="1760" h="338">
                  <a:moveTo>
                    <a:pt x="2" y="295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295"/>
                  </a:lnTo>
                  <a:cubicBezTo>
                    <a:pt x="1477" y="239"/>
                    <a:pt x="1161" y="239"/>
                    <a:pt x="880" y="295"/>
                  </a:cubicBezTo>
                  <a:cubicBezTo>
                    <a:pt x="599" y="351"/>
                    <a:pt x="283" y="351"/>
                    <a:pt x="2" y="295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26" name="group 326"/>
          <p:cNvGrpSpPr/>
          <p:nvPr/>
        </p:nvGrpSpPr>
        <p:grpSpPr>
          <a:xfrm rot="21600000">
            <a:off x="2190205" y="1648264"/>
            <a:ext cx="1117792" cy="214862"/>
            <a:chOff x="0" y="0"/>
            <a:chExt cx="1117792" cy="214862"/>
          </a:xfrm>
        </p:grpSpPr>
        <p:sp>
          <p:nvSpPr>
            <p:cNvPr id="990" name="path"/>
            <p:cNvSpPr/>
            <p:nvPr/>
          </p:nvSpPr>
          <p:spPr>
            <a:xfrm>
              <a:off x="1571" y="752"/>
              <a:ext cx="1114648" cy="214110"/>
            </a:xfrm>
            <a:custGeom>
              <a:avLst/>
              <a:gdLst/>
              <a:ahLst/>
              <a:cxnLst/>
              <a:rect l="0" t="0" r="0" b="0"/>
              <a:pathLst>
                <a:path w="1755" h="337">
                  <a:moveTo>
                    <a:pt x="0" y="293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293"/>
                  </a:lnTo>
                  <a:cubicBezTo>
                    <a:pt x="1474" y="237"/>
                    <a:pt x="1158" y="237"/>
                    <a:pt x="877" y="293"/>
                  </a:cubicBezTo>
                  <a:cubicBezTo>
                    <a:pt x="596" y="349"/>
                    <a:pt x="280" y="349"/>
                    <a:pt x="0" y="293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1" name="path"/>
            <p:cNvSpPr/>
            <p:nvPr/>
          </p:nvSpPr>
          <p:spPr>
            <a:xfrm>
              <a:off x="0" y="0"/>
              <a:ext cx="1117792" cy="214862"/>
            </a:xfrm>
            <a:custGeom>
              <a:avLst/>
              <a:gdLst/>
              <a:ahLst/>
              <a:cxnLst/>
              <a:rect l="0" t="0" r="0" b="0"/>
              <a:pathLst>
                <a:path w="1760" h="338">
                  <a:moveTo>
                    <a:pt x="2" y="295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295"/>
                  </a:lnTo>
                  <a:cubicBezTo>
                    <a:pt x="1477" y="239"/>
                    <a:pt x="1161" y="239"/>
                    <a:pt x="880" y="295"/>
                  </a:cubicBezTo>
                  <a:cubicBezTo>
                    <a:pt x="599" y="351"/>
                    <a:pt x="283" y="351"/>
                    <a:pt x="2" y="295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28" name="group 328"/>
          <p:cNvGrpSpPr/>
          <p:nvPr/>
        </p:nvGrpSpPr>
        <p:grpSpPr>
          <a:xfrm rot="21600000">
            <a:off x="2190205" y="2679593"/>
            <a:ext cx="1117792" cy="214862"/>
            <a:chOff x="0" y="0"/>
            <a:chExt cx="1117792" cy="214862"/>
          </a:xfrm>
        </p:grpSpPr>
        <p:sp>
          <p:nvSpPr>
            <p:cNvPr id="992" name="path"/>
            <p:cNvSpPr/>
            <p:nvPr/>
          </p:nvSpPr>
          <p:spPr>
            <a:xfrm>
              <a:off x="1571" y="752"/>
              <a:ext cx="1114648" cy="214110"/>
            </a:xfrm>
            <a:custGeom>
              <a:avLst/>
              <a:gdLst/>
              <a:ahLst/>
              <a:cxnLst/>
              <a:rect l="0" t="0" r="0" b="0"/>
              <a:pathLst>
                <a:path w="1755" h="337">
                  <a:moveTo>
                    <a:pt x="0" y="293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293"/>
                  </a:lnTo>
                  <a:cubicBezTo>
                    <a:pt x="1474" y="237"/>
                    <a:pt x="1158" y="237"/>
                    <a:pt x="877" y="293"/>
                  </a:cubicBezTo>
                  <a:cubicBezTo>
                    <a:pt x="596" y="349"/>
                    <a:pt x="280" y="349"/>
                    <a:pt x="0" y="293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3" name="path"/>
            <p:cNvSpPr/>
            <p:nvPr/>
          </p:nvSpPr>
          <p:spPr>
            <a:xfrm>
              <a:off x="0" y="0"/>
              <a:ext cx="1117792" cy="214862"/>
            </a:xfrm>
            <a:custGeom>
              <a:avLst/>
              <a:gdLst/>
              <a:ahLst/>
              <a:cxnLst/>
              <a:rect l="0" t="0" r="0" b="0"/>
              <a:pathLst>
                <a:path w="1760" h="338">
                  <a:moveTo>
                    <a:pt x="2" y="295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295"/>
                  </a:lnTo>
                  <a:cubicBezTo>
                    <a:pt x="1477" y="239"/>
                    <a:pt x="1161" y="239"/>
                    <a:pt x="880" y="295"/>
                  </a:cubicBezTo>
                  <a:cubicBezTo>
                    <a:pt x="599" y="351"/>
                    <a:pt x="283" y="351"/>
                    <a:pt x="2" y="295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30" name="group 330"/>
          <p:cNvGrpSpPr/>
          <p:nvPr/>
        </p:nvGrpSpPr>
        <p:grpSpPr>
          <a:xfrm rot="21600000">
            <a:off x="9339081" y="1630449"/>
            <a:ext cx="1117818" cy="276776"/>
            <a:chOff x="0" y="0"/>
            <a:chExt cx="1117818" cy="276776"/>
          </a:xfrm>
        </p:grpSpPr>
        <p:sp>
          <p:nvSpPr>
            <p:cNvPr id="994" name="path"/>
            <p:cNvSpPr/>
            <p:nvPr/>
          </p:nvSpPr>
          <p:spPr>
            <a:xfrm>
              <a:off x="1571" y="752"/>
              <a:ext cx="1114674" cy="276023"/>
            </a:xfrm>
            <a:custGeom>
              <a:avLst/>
              <a:gdLst/>
              <a:ahLst/>
              <a:cxnLst/>
              <a:rect l="0" t="0" r="0" b="0"/>
              <a:pathLst>
                <a:path w="1755" h="434">
                  <a:moveTo>
                    <a:pt x="0" y="379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379"/>
                  </a:lnTo>
                  <a:cubicBezTo>
                    <a:pt x="1482" y="307"/>
                    <a:pt x="1150" y="307"/>
                    <a:pt x="877" y="379"/>
                  </a:cubicBezTo>
                  <a:cubicBezTo>
                    <a:pt x="604" y="451"/>
                    <a:pt x="273" y="451"/>
                    <a:pt x="0" y="379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5" name="path"/>
            <p:cNvSpPr/>
            <p:nvPr/>
          </p:nvSpPr>
          <p:spPr>
            <a:xfrm>
              <a:off x="0" y="0"/>
              <a:ext cx="1117818" cy="276776"/>
            </a:xfrm>
            <a:custGeom>
              <a:avLst/>
              <a:gdLst/>
              <a:ahLst/>
              <a:cxnLst/>
              <a:rect l="0" t="0" r="0" b="0"/>
              <a:pathLst>
                <a:path w="1760" h="435">
                  <a:moveTo>
                    <a:pt x="2" y="380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380"/>
                  </a:lnTo>
                  <a:cubicBezTo>
                    <a:pt x="1484" y="308"/>
                    <a:pt x="1153" y="308"/>
                    <a:pt x="880" y="380"/>
                  </a:cubicBezTo>
                  <a:cubicBezTo>
                    <a:pt x="607" y="452"/>
                    <a:pt x="275" y="452"/>
                    <a:pt x="2" y="380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32" name="group 332"/>
          <p:cNvGrpSpPr/>
          <p:nvPr/>
        </p:nvGrpSpPr>
        <p:grpSpPr>
          <a:xfrm rot="21600000">
            <a:off x="9339081" y="2003875"/>
            <a:ext cx="1117818" cy="258945"/>
            <a:chOff x="0" y="0"/>
            <a:chExt cx="1117818" cy="258945"/>
          </a:xfrm>
        </p:grpSpPr>
        <p:sp>
          <p:nvSpPr>
            <p:cNvPr id="996" name="path"/>
            <p:cNvSpPr/>
            <p:nvPr/>
          </p:nvSpPr>
          <p:spPr>
            <a:xfrm>
              <a:off x="1571" y="752"/>
              <a:ext cx="1114674" cy="258193"/>
            </a:xfrm>
            <a:custGeom>
              <a:avLst/>
              <a:gdLst/>
              <a:ahLst/>
              <a:cxnLst/>
              <a:rect l="0" t="0" r="0" b="0"/>
              <a:pathLst>
                <a:path w="1755" h="406">
                  <a:moveTo>
                    <a:pt x="0" y="354"/>
                  </a:moveTo>
                  <a:lnTo>
                    <a:pt x="0" y="0"/>
                  </a:lnTo>
                  <a:lnTo>
                    <a:pt x="1755" y="0"/>
                  </a:lnTo>
                  <a:lnTo>
                    <a:pt x="1755" y="354"/>
                  </a:lnTo>
                  <a:cubicBezTo>
                    <a:pt x="1479" y="287"/>
                    <a:pt x="1153" y="287"/>
                    <a:pt x="877" y="354"/>
                  </a:cubicBezTo>
                  <a:cubicBezTo>
                    <a:pt x="602" y="422"/>
                    <a:pt x="275" y="422"/>
                    <a:pt x="0" y="354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7" name="path"/>
            <p:cNvSpPr/>
            <p:nvPr/>
          </p:nvSpPr>
          <p:spPr>
            <a:xfrm>
              <a:off x="0" y="0"/>
              <a:ext cx="1117818" cy="258945"/>
            </a:xfrm>
            <a:custGeom>
              <a:avLst/>
              <a:gdLst/>
              <a:ahLst/>
              <a:cxnLst/>
              <a:rect l="0" t="0" r="0" b="0"/>
              <a:pathLst>
                <a:path w="1760" h="407">
                  <a:moveTo>
                    <a:pt x="2" y="355"/>
                  </a:moveTo>
                  <a:lnTo>
                    <a:pt x="2" y="1"/>
                  </a:lnTo>
                  <a:lnTo>
                    <a:pt x="1757" y="1"/>
                  </a:lnTo>
                  <a:lnTo>
                    <a:pt x="1757" y="355"/>
                  </a:lnTo>
                  <a:cubicBezTo>
                    <a:pt x="1482" y="288"/>
                    <a:pt x="1155" y="288"/>
                    <a:pt x="880" y="355"/>
                  </a:cubicBezTo>
                  <a:cubicBezTo>
                    <a:pt x="604" y="423"/>
                    <a:pt x="278" y="423"/>
                    <a:pt x="2" y="355"/>
                  </a:cubicBezTo>
                </a:path>
              </a:pathLst>
            </a:custGeom>
            <a:noFill/>
            <a:ln w="232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98" name="table 998"/>
          <p:cNvGraphicFramePr>
            <a:graphicFrameLocks noGrp="1"/>
          </p:cNvGraphicFramePr>
          <p:nvPr/>
        </p:nvGraphicFramePr>
        <p:xfrm>
          <a:off x="1690416" y="1132580"/>
          <a:ext cx="8859519" cy="5051425"/>
        </p:xfrm>
        <a:graphic>
          <a:graphicData uri="http://schemas.openxmlformats.org/drawingml/2006/table">
            <a:tbl>
              <a:tblPr/>
              <a:tblGrid>
                <a:gridCol w="372745"/>
                <a:gridCol w="1315085"/>
                <a:gridCol w="132080"/>
                <a:gridCol w="37465"/>
                <a:gridCol w="501015"/>
                <a:gridCol w="501015"/>
                <a:gridCol w="37465"/>
                <a:gridCol w="187325"/>
                <a:gridCol w="202564"/>
                <a:gridCol w="161925"/>
                <a:gridCol w="358140"/>
                <a:gridCol w="520065"/>
                <a:gridCol w="184150"/>
                <a:gridCol w="1492885"/>
                <a:gridCol w="1446530"/>
                <a:gridCol w="1409064"/>
              </a:tblGrid>
              <a:tr h="175260">
                <a:tc gridSpan="16"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</a:pPr>
                      <a:endParaRPr lang="en-US" altLang="en-US" sz="200" dirty="0"/>
                    </a:p>
                    <a:p>
                      <a:pPr marL="34290" algn="l" rtl="0" eaLnBrk="0">
                        <a:lnSpc>
                          <a:spcPts val="775"/>
                        </a:lnSpc>
                      </a:pPr>
                      <a:r>
                        <a:rPr sz="600" spc="8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谈判与签订合同流</a:t>
                      </a:r>
                      <a:r>
                        <a:rPr sz="600" spc="7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lang="en-US" altLang="en-US" sz="6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</a:tr>
              <a:tr h="226694">
                <a:tc rowSpan="2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400" dirty="0"/>
                    </a:p>
                    <a:p>
                      <a:pPr marL="506095" algn="l" rtl="0" eaLnBrk="0">
                        <a:lnSpc>
                          <a:spcPts val="665"/>
                        </a:lnSpc>
                        <a:spcBef>
                          <a:spcPts val="0"/>
                        </a:spcBef>
                      </a:pP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入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400" dirty="0"/>
                    </a:p>
                    <a:p>
                      <a:pPr marL="233680" algn="l" rtl="0" eaLnBrk="0">
                        <a:lnSpc>
                          <a:spcPts val="665"/>
                        </a:lnSpc>
                        <a:spcBef>
                          <a:spcPts val="0"/>
                        </a:spcBef>
                      </a:pPr>
                      <a:r>
                        <a:rPr sz="500" spc="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销售项目经</a:t>
                      </a:r>
                      <a:r>
                        <a:rPr sz="500" spc="6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lang="en-US" altLang="en-US" sz="400" dirty="0"/>
                    </a:p>
                    <a:p>
                      <a:pPr marL="485140" algn="l" rtl="0" eaLnBrk="0">
                        <a:lnSpc>
                          <a:spcPts val="665"/>
                        </a:lnSpc>
                        <a:spcBef>
                          <a:spcPts val="5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主谈</a:t>
                      </a:r>
                      <a:r>
                        <a:rPr sz="500" spc="7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400" dirty="0"/>
                    </a:p>
                    <a:p>
                      <a:pPr marL="163830" algn="l" rtl="0" eaLnBrk="0">
                        <a:lnSpc>
                          <a:spcPts val="665"/>
                        </a:lnSpc>
                        <a:spcBef>
                          <a:spcPts val="0"/>
                        </a:spcBef>
                      </a:pP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方案/合同评审</a:t>
                      </a:r>
                      <a:r>
                        <a:rPr sz="500" spc="6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lang="en-US" altLang="en-US" sz="400" dirty="0"/>
                    </a:p>
                    <a:p>
                      <a:pPr marL="258445" algn="l" rtl="0" eaLnBrk="0">
                        <a:lnSpc>
                          <a:spcPts val="665"/>
                        </a:lnSpc>
                        <a:spcBef>
                          <a:spcPts val="5"/>
                        </a:spcBef>
                      </a:pPr>
                      <a:r>
                        <a:rPr sz="500" spc="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销售决策团</a:t>
                      </a:r>
                      <a:r>
                        <a:rPr sz="500" spc="6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队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lang="en-US" altLang="en-US" sz="400" dirty="0"/>
                    </a:p>
                    <a:p>
                      <a:pPr marL="552450" algn="l" rtl="0" eaLnBrk="0">
                        <a:lnSpc>
                          <a:spcPts val="665"/>
                        </a:lnSpc>
                        <a:spcBef>
                          <a:spcPts val="5"/>
                        </a:spcBef>
                      </a:pP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F1"/>
                    </a:solidFill>
                  </a:tcPr>
                </a:tc>
              </a:tr>
              <a:tr h="1181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marL="379730" algn="l" rtl="0" eaLnBrk="0">
                        <a:lnSpc>
                          <a:spcPts val="665"/>
                        </a:lnSpc>
                        <a:spcBef>
                          <a:spcPts val="5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投标文</a:t>
                      </a:r>
                      <a:r>
                        <a:rPr sz="500" spc="7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件</a:t>
                      </a:r>
                      <a:endParaRPr lang="en-US" altLang="en-US" sz="500" dirty="0"/>
                    </a:p>
                    <a:p>
                      <a:pPr marL="457200" indent="-234315" algn="l" rtl="0" eaLnBrk="0">
                        <a:lnSpc>
                          <a:spcPct val="132000"/>
                        </a:lnSpc>
                        <a:spcBef>
                          <a:spcPts val="1310"/>
                        </a:spcBef>
                      </a:pPr>
                      <a:r>
                        <a:rPr sz="500" spc="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客户认同的</a:t>
                      </a:r>
                      <a:r>
                        <a:rPr sz="500" spc="6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</a:t>
                      </a:r>
                      <a:r>
                        <a:rPr sz="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值主</a:t>
                      </a: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张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34000"/>
                        </a:lnSpc>
                      </a:pPr>
                      <a:endParaRPr lang="en-US" altLang="en-US" sz="1000" dirty="0"/>
                    </a:p>
                    <a:p>
                      <a:pPr marL="299720" algn="l" rtl="0" eaLnBrk="0">
                        <a:lnSpc>
                          <a:spcPts val="665"/>
                        </a:lnSpc>
                        <a:spcBef>
                          <a:spcPts val="155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风险管理</a:t>
                      </a: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65000"/>
                        </a:lnSpc>
                      </a:pPr>
                      <a:endParaRPr lang="en-US" altLang="en-US" sz="1000" dirty="0"/>
                    </a:p>
                    <a:p>
                      <a:pPr marL="456565" algn="l" rtl="0" eaLnBrk="0">
                        <a:lnSpc>
                          <a:spcPts val="665"/>
                        </a:lnSpc>
                        <a:spcBef>
                          <a:spcPts val="155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概算</a:t>
                      </a: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lang="en-US" altLang="en-US" sz="100" dirty="0"/>
                    </a:p>
                    <a:p>
                      <a:pPr marL="313690" algn="l" rtl="0" eaLnBrk="0">
                        <a:lnSpc>
                          <a:spcPts val="660"/>
                        </a:lnSpc>
                      </a:pP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中标通知</a:t>
                      </a: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书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30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6"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2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lang="en-US" altLang="en-US" sz="500" dirty="0"/>
                    </a:p>
                    <a:p>
                      <a:pPr marL="684530" indent="-393065" algn="l" rtl="0" eaLnBrk="0">
                        <a:lnSpc>
                          <a:spcPct val="132000"/>
                        </a:lnSpc>
                        <a:spcBef>
                          <a:spcPts val="0"/>
                        </a:spcBef>
                      </a:pPr>
                      <a:r>
                        <a:rPr sz="500" spc="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谈判策略与</a:t>
                      </a: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计</a:t>
                      </a:r>
                      <a:r>
                        <a:rPr sz="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</a:t>
                      </a: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划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42000"/>
                        </a:lnSpc>
                      </a:pPr>
                      <a:endParaRPr lang="en-US" altLang="en-US" sz="1000" dirty="0"/>
                    </a:p>
                    <a:p>
                      <a:pPr marL="528955" algn="l" rtl="0" eaLnBrk="0">
                        <a:lnSpc>
                          <a:spcPts val="665"/>
                        </a:lnSpc>
                        <a:spcBef>
                          <a:spcPts val="160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预算</a:t>
                      </a:r>
                      <a:r>
                        <a:rPr sz="500" spc="7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marL="356870" algn="l" rtl="0" eaLnBrk="0">
                        <a:lnSpc>
                          <a:spcPts val="665"/>
                        </a:lnSpc>
                        <a:spcBef>
                          <a:spcPts val="160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技术协</a:t>
                      </a: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议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marL="356870" algn="l" rtl="0" eaLnBrk="0">
                        <a:lnSpc>
                          <a:spcPts val="665"/>
                        </a:lnSpc>
                        <a:spcBef>
                          <a:spcPts val="160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销售合</a:t>
                      </a: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1000" dirty="0"/>
                    </a:p>
                    <a:p>
                      <a:pPr marL="434975" indent="-237490" algn="l" rtl="0" eaLnBrk="0">
                        <a:lnSpc>
                          <a:spcPct val="131000"/>
                        </a:lnSpc>
                        <a:spcBef>
                          <a:spcPts val="160"/>
                        </a:spcBef>
                      </a:pPr>
                      <a:r>
                        <a:rPr sz="500" spc="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机会点得失</a:t>
                      </a: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分</a:t>
                      </a:r>
                      <a:r>
                        <a:rPr sz="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析报</a:t>
                      </a:r>
                      <a:r>
                        <a:rPr sz="500" spc="7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告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100" dirty="0"/>
                    </a:p>
                    <a:p>
                      <a:pPr marL="514985" indent="-314325" algn="l" rtl="0" eaLnBrk="0">
                        <a:lnSpc>
                          <a:spcPct val="132000"/>
                        </a:lnSpc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更新的风险</a:t>
                      </a: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管</a:t>
                      </a:r>
                      <a:r>
                        <a:rPr sz="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</a:t>
                      </a:r>
                      <a:r>
                        <a:rPr sz="500" spc="7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lang="en-US" altLang="en-US" sz="100" dirty="0"/>
                    </a:p>
                    <a:p>
                      <a:pPr marL="293370" indent="-238760" algn="l" rtl="0" eaLnBrk="0">
                        <a:lnSpc>
                          <a:spcPct val="132000"/>
                        </a:lnSpc>
                        <a:spcBef>
                          <a:spcPts val="0"/>
                        </a:spcBef>
                      </a:pPr>
                      <a:r>
                        <a:rPr sz="500" spc="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确定谈判策</a:t>
                      </a: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略</a:t>
                      </a:r>
                      <a:r>
                        <a:rPr sz="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与计</a:t>
                      </a:r>
                      <a:r>
                        <a:rPr sz="500" spc="7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划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55245" algn="l" rtl="0" eaLnBrk="0">
                        <a:lnSpc>
                          <a:spcPts val="665"/>
                        </a:lnSpc>
                        <a:spcBef>
                          <a:spcPts val="0"/>
                        </a:spcBef>
                      </a:pPr>
                      <a:r>
                        <a:rPr sz="500" spc="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成立谈判团</a:t>
                      </a:r>
                      <a:r>
                        <a:rPr sz="500" spc="6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队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8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lang="en-US" altLang="en-US" sz="100" dirty="0"/>
                    </a:p>
                    <a:p>
                      <a:pPr marL="447040" indent="-392430" algn="l" rtl="0" eaLnBrk="0">
                        <a:lnSpc>
                          <a:spcPct val="132000"/>
                        </a:lnSpc>
                      </a:pPr>
                      <a:r>
                        <a:rPr sz="500" spc="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确认和更新</a:t>
                      </a: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授</a:t>
                      </a:r>
                      <a:r>
                        <a:rPr sz="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权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30"/>
                        </a:lnSpc>
                      </a:pPr>
                      <a:endParaRPr lang="en-US" altLang="en-US" sz="8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8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30"/>
                        </a:lnSpc>
                      </a:pPr>
                      <a:endParaRPr lang="en-US" altLang="en-US" sz="8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grid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40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400" dirty="0"/>
                    </a:p>
                    <a:p>
                      <a:pPr marL="212090" algn="l" rtl="0" eaLnBrk="0">
                        <a:lnSpc>
                          <a:spcPts val="665"/>
                        </a:lnSpc>
                        <a:spcBef>
                          <a:spcPts val="5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执行谈</a:t>
                      </a: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判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40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8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lang="en-US" altLang="en-US" sz="1000" dirty="0"/>
                    </a:p>
                    <a:p>
                      <a:pPr marL="1184275" indent="3175" algn="l" rtl="0" eaLnBrk="0">
                        <a:lnSpc>
                          <a:spcPct val="122000"/>
                        </a:lnSpc>
                        <a:spcBef>
                          <a:spcPts val="0"/>
                        </a:spcBef>
                      </a:pPr>
                      <a:r>
                        <a:rPr sz="500" spc="6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</a:t>
                      </a:r>
                      <a:r>
                        <a:rPr sz="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批</a:t>
                      </a:r>
                      <a:r>
                        <a:rPr sz="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准</a:t>
                      </a:r>
                      <a:endParaRPr lang="en-US" altLang="en-US" sz="500" dirty="0"/>
                    </a:p>
                    <a:p>
                      <a:pPr marL="330200" algn="l" rtl="0" eaLnBrk="0">
                        <a:lnSpc>
                          <a:spcPct val="99000"/>
                        </a:lnSpc>
                        <a:spcBef>
                          <a:spcPts val="1215"/>
                        </a:spcBef>
                      </a:pPr>
                      <a:r>
                        <a:rPr sz="500" spc="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进行签约</a:t>
                      </a:r>
                      <a:r>
                        <a:rPr sz="500" spc="7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决</a:t>
                      </a:r>
                      <a:endParaRPr lang="en-US" altLang="en-US" sz="500" dirty="0"/>
                    </a:p>
                    <a:p>
                      <a:pPr marL="646430" algn="l" rtl="0" eaLnBrk="0">
                        <a:lnSpc>
                          <a:spcPts val="710"/>
                        </a:lnSpc>
                      </a:pPr>
                      <a:r>
                        <a:rPr sz="500" spc="6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策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8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65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982345" algn="l" rtl="0" eaLnBrk="0">
                        <a:lnSpc>
                          <a:spcPts val="665"/>
                        </a:lnSpc>
                      </a:pP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批</a:t>
                      </a: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准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3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6" gridSpan="2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000" dirty="0"/>
                    </a:p>
                    <a:p>
                      <a:pPr marL="34925" algn="l" rtl="0" eaLnBrk="0">
                        <a:lnSpc>
                          <a:spcPts val="665"/>
                        </a:lnSpc>
                        <a:spcBef>
                          <a:spcPts val="5"/>
                        </a:spcBef>
                      </a:pP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丢</a:t>
                      </a:r>
                      <a:r>
                        <a:rPr sz="500" spc="7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标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gridSpan="3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331470" algn="l" rtl="0" eaLnBrk="0">
                        <a:lnSpc>
                          <a:spcPts val="665"/>
                        </a:lnSpc>
                      </a:pP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</a:t>
                      </a:r>
                      <a:r>
                        <a:rPr sz="50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束</a:t>
                      </a:r>
                      <a:endParaRPr lang="en-US" altLang="en-US" sz="500" dirty="0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212090" algn="l" rtl="0" eaLnBrk="0">
                        <a:lnSpc>
                          <a:spcPts val="670"/>
                        </a:lnSpc>
                        <a:spcBef>
                          <a:spcPts val="5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签订合</a:t>
                      </a: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7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algn="l" rtl="0" eaLnBrk="0">
                        <a:lnSpc>
                          <a:spcPct val="30000"/>
                        </a:lnSpc>
                      </a:pPr>
                      <a:endParaRPr lang="en-US" altLang="en-US" sz="100" dirty="0"/>
                    </a:p>
                    <a:p>
                      <a:pPr marL="451485" indent="-394970" algn="l" rtl="0" eaLnBrk="0">
                        <a:lnSpc>
                          <a:spcPct val="132000"/>
                        </a:lnSpc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分析机会点</a:t>
                      </a: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得</a:t>
                      </a:r>
                      <a:r>
                        <a:rPr sz="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spc="6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失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10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10"/>
                        </a:lnSpc>
                      </a:pPr>
                      <a:endParaRPr lang="en-US" altLang="en-US" sz="7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2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marL="798830" algn="l" rtl="0" eaLnBrk="0">
                        <a:lnSpc>
                          <a:spcPts val="665"/>
                        </a:lnSpc>
                      </a:pP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赢</a:t>
                      </a:r>
                      <a:r>
                        <a:rPr sz="500" spc="7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标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marL="344805" algn="l" rtl="0" eaLnBrk="0">
                        <a:lnSpc>
                          <a:spcPct val="99000"/>
                        </a:lnSpc>
                        <a:spcBef>
                          <a:spcPts val="160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移交与</a:t>
                      </a: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</a:t>
                      </a:r>
                      <a:endParaRPr lang="en-US" altLang="en-US" sz="500" dirty="0"/>
                    </a:p>
                    <a:p>
                      <a:pPr marL="422275" algn="l" rtl="0" eaLnBrk="0">
                        <a:lnSpc>
                          <a:spcPts val="765"/>
                        </a:lnSpc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布合</a:t>
                      </a:r>
                      <a:r>
                        <a:rPr sz="500" spc="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99" name="textbox 999"/>
          <p:cNvSpPr/>
          <p:nvPr/>
        </p:nvSpPr>
        <p:spPr>
          <a:xfrm>
            <a:off x="584970" y="269576"/>
            <a:ext cx="4688204" cy="439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2700" spc="8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2700" spc="8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8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谈判与签订合同：操作流</a:t>
            </a:r>
            <a:r>
              <a:rPr sz="2700" spc="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endParaRPr lang="en-US" altLang="en-US" sz="2700" dirty="0"/>
          </a:p>
        </p:txBody>
      </p:sp>
      <p:pic>
        <p:nvPicPr>
          <p:cNvPr id="1000" name="picture 1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721340" y="775716"/>
            <a:ext cx="1470659" cy="1051559"/>
          </a:xfrm>
          <a:prstGeom prst="rect">
            <a:avLst/>
          </a:prstGeom>
        </p:spPr>
      </p:pic>
      <p:sp>
        <p:nvSpPr>
          <p:cNvPr id="1001" name="textbox 1001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03" name="table 1003"/>
          <p:cNvGraphicFramePr>
            <a:graphicFrameLocks noGrp="1"/>
          </p:cNvGraphicFramePr>
          <p:nvPr/>
        </p:nvGraphicFramePr>
        <p:xfrm>
          <a:off x="3527683" y="3384380"/>
          <a:ext cx="1042670" cy="262889"/>
        </p:xfrm>
        <a:graphic>
          <a:graphicData uri="http://schemas.openxmlformats.org/drawingml/2006/table">
            <a:tbl>
              <a:tblPr/>
              <a:tblGrid>
                <a:gridCol w="1042670"/>
              </a:tblGrid>
              <a:tr h="2597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</a:pPr>
                      <a:endParaRPr lang="en-US" altLang="en-US" sz="100" dirty="0"/>
                    </a:p>
                    <a:p>
                      <a:pPr marL="372110" indent="-337185" algn="l" rtl="0" eaLnBrk="0">
                        <a:lnSpc>
                          <a:spcPct val="131000"/>
                        </a:lnSpc>
                      </a:pPr>
                      <a:r>
                        <a:rPr sz="500" spc="6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制定</a:t>
                      </a:r>
                      <a:r>
                        <a:rPr sz="500" spc="6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500" spc="6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修订合</a:t>
                      </a:r>
                      <a:r>
                        <a:rPr sz="500" spc="6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</a:t>
                      </a:r>
                      <a:r>
                        <a:rPr sz="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草</a:t>
                      </a:r>
                      <a:r>
                        <a:rPr sz="500" spc="7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案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004" name="table 1004"/>
          <p:cNvGraphicFramePr>
            <a:graphicFrameLocks noGrp="1"/>
          </p:cNvGraphicFramePr>
          <p:nvPr/>
        </p:nvGraphicFramePr>
        <p:xfrm>
          <a:off x="6387009" y="3785721"/>
          <a:ext cx="1042670" cy="262889"/>
        </p:xfrm>
        <a:graphic>
          <a:graphicData uri="http://schemas.openxmlformats.org/drawingml/2006/table">
            <a:tbl>
              <a:tblPr/>
              <a:tblGrid>
                <a:gridCol w="1042670"/>
              </a:tblGrid>
              <a:tr h="262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600" dirty="0"/>
                    </a:p>
                    <a:p>
                      <a:pPr marL="212090" algn="l" rtl="0" eaLnBrk="0">
                        <a:lnSpc>
                          <a:spcPts val="665"/>
                        </a:lnSpc>
                        <a:spcBef>
                          <a:spcPts val="0"/>
                        </a:spcBef>
                      </a:pPr>
                      <a:r>
                        <a:rPr sz="50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评审合</a:t>
                      </a:r>
                      <a:r>
                        <a:rPr sz="50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</a:t>
                      </a:r>
                      <a:endParaRPr lang="en-US" altLang="en-US" sz="5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05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6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7" name="path"/>
          <p:cNvSpPr/>
          <p:nvPr/>
        </p:nvSpPr>
        <p:spPr>
          <a:xfrm>
            <a:off x="3490611" y="5826896"/>
            <a:ext cx="188770" cy="268229"/>
          </a:xfrm>
          <a:custGeom>
            <a:avLst/>
            <a:gdLst/>
            <a:ahLst/>
            <a:cxnLst/>
            <a:rect l="0" t="0" r="0" b="0"/>
            <a:pathLst>
              <a:path w="297" h="422">
                <a:moveTo>
                  <a:pt x="294" y="1"/>
                </a:moveTo>
                <a:lnTo>
                  <a:pt x="2" y="211"/>
                </a:lnTo>
                <a:lnTo>
                  <a:pt x="294" y="421"/>
                </a:lnTo>
                <a:close/>
              </a:path>
            </a:pathLst>
          </a:custGeom>
          <a:noFill/>
          <a:ln w="2324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8" name="path"/>
          <p:cNvSpPr/>
          <p:nvPr/>
        </p:nvSpPr>
        <p:spPr>
          <a:xfrm>
            <a:off x="4381800" y="5826896"/>
            <a:ext cx="188770" cy="268229"/>
          </a:xfrm>
          <a:custGeom>
            <a:avLst/>
            <a:gdLst/>
            <a:ahLst/>
            <a:cxnLst/>
            <a:rect l="0" t="0" r="0" b="0"/>
            <a:pathLst>
              <a:path w="297" h="422">
                <a:moveTo>
                  <a:pt x="2" y="421"/>
                </a:moveTo>
                <a:lnTo>
                  <a:pt x="294" y="211"/>
                </a:lnTo>
                <a:lnTo>
                  <a:pt x="2" y="1"/>
                </a:lnTo>
              </a:path>
            </a:pathLst>
          </a:custGeom>
          <a:noFill/>
          <a:ln w="2324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9" name="path"/>
          <p:cNvSpPr/>
          <p:nvPr/>
        </p:nvSpPr>
        <p:spPr>
          <a:xfrm>
            <a:off x="4031507" y="2062589"/>
            <a:ext cx="72311" cy="34626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113" y="0"/>
                </a:moveTo>
                <a:lnTo>
                  <a:pt x="56" y="54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0" name="path"/>
          <p:cNvSpPr/>
          <p:nvPr/>
        </p:nvSpPr>
        <p:spPr>
          <a:xfrm>
            <a:off x="4031507" y="2508343"/>
            <a:ext cx="72311" cy="34626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113" y="0"/>
                </a:moveTo>
                <a:lnTo>
                  <a:pt x="56" y="54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1" name="path"/>
          <p:cNvSpPr/>
          <p:nvPr/>
        </p:nvSpPr>
        <p:spPr>
          <a:xfrm>
            <a:off x="5461236" y="2948011"/>
            <a:ext cx="72311" cy="34626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113" y="0"/>
                </a:moveTo>
                <a:lnTo>
                  <a:pt x="56" y="54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path"/>
          <p:cNvSpPr/>
          <p:nvPr/>
        </p:nvSpPr>
        <p:spPr>
          <a:xfrm>
            <a:off x="3994435" y="4642137"/>
            <a:ext cx="72311" cy="34626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113" y="0"/>
                </a:moveTo>
                <a:lnTo>
                  <a:pt x="56" y="54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3" name="rect"/>
          <p:cNvSpPr/>
          <p:nvPr/>
        </p:nvSpPr>
        <p:spPr>
          <a:xfrm>
            <a:off x="8410819" y="3916612"/>
            <a:ext cx="3143" cy="191010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4" name="path"/>
          <p:cNvSpPr/>
          <p:nvPr/>
        </p:nvSpPr>
        <p:spPr>
          <a:xfrm>
            <a:off x="8376236" y="4102541"/>
            <a:ext cx="72311" cy="34626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113" y="0"/>
                </a:moveTo>
                <a:lnTo>
                  <a:pt x="56" y="54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5" name="path"/>
          <p:cNvSpPr/>
          <p:nvPr/>
        </p:nvSpPr>
        <p:spPr>
          <a:xfrm>
            <a:off x="6316269" y="3900051"/>
            <a:ext cx="72311" cy="34626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0" y="0"/>
                </a:moveTo>
                <a:lnTo>
                  <a:pt x="113" y="27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6" name="path"/>
          <p:cNvSpPr/>
          <p:nvPr/>
        </p:nvSpPr>
        <p:spPr>
          <a:xfrm>
            <a:off x="3994435" y="5188445"/>
            <a:ext cx="72311" cy="34626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113" y="0"/>
                </a:moveTo>
                <a:lnTo>
                  <a:pt x="56" y="54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7" name="path"/>
          <p:cNvSpPr/>
          <p:nvPr/>
        </p:nvSpPr>
        <p:spPr>
          <a:xfrm>
            <a:off x="5090770" y="5321368"/>
            <a:ext cx="72311" cy="34626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0" y="0"/>
                </a:moveTo>
                <a:lnTo>
                  <a:pt x="113" y="27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8" name="rect"/>
          <p:cNvSpPr/>
          <p:nvPr/>
        </p:nvSpPr>
        <p:spPr>
          <a:xfrm>
            <a:off x="3676237" y="5826896"/>
            <a:ext cx="708707" cy="1505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9" name="rect"/>
          <p:cNvSpPr/>
          <p:nvPr/>
        </p:nvSpPr>
        <p:spPr>
          <a:xfrm>
            <a:off x="4029019" y="5453476"/>
            <a:ext cx="3143" cy="344627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0" name="path"/>
          <p:cNvSpPr/>
          <p:nvPr/>
        </p:nvSpPr>
        <p:spPr>
          <a:xfrm>
            <a:off x="3994435" y="5793022"/>
            <a:ext cx="72311" cy="34626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113" y="0"/>
                </a:moveTo>
                <a:lnTo>
                  <a:pt x="56" y="54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1" name="rect"/>
          <p:cNvSpPr/>
          <p:nvPr/>
        </p:nvSpPr>
        <p:spPr>
          <a:xfrm>
            <a:off x="4047620" y="3088525"/>
            <a:ext cx="3144" cy="267100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2" name="path"/>
          <p:cNvSpPr/>
          <p:nvPr/>
        </p:nvSpPr>
        <p:spPr>
          <a:xfrm>
            <a:off x="4013037" y="3350544"/>
            <a:ext cx="72180" cy="34626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113" y="0"/>
                </a:moveTo>
                <a:lnTo>
                  <a:pt x="56" y="54"/>
                </a:ln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3" name="path"/>
          <p:cNvSpPr/>
          <p:nvPr/>
        </p:nvSpPr>
        <p:spPr>
          <a:xfrm>
            <a:off x="4568998" y="3498773"/>
            <a:ext cx="72311" cy="34563"/>
          </a:xfrm>
          <a:custGeom>
            <a:avLst/>
            <a:gdLst/>
            <a:ahLst/>
            <a:cxnLst/>
            <a:rect l="0" t="0" r="0" b="0"/>
            <a:pathLst>
              <a:path w="113" h="54">
                <a:moveTo>
                  <a:pt x="113" y="54"/>
                </a:moveTo>
                <a:lnTo>
                  <a:pt x="0" y="27"/>
                </a:lnTo>
                <a:lnTo>
                  <a:pt x="113" y="0"/>
                </a:lnTo>
                <a:lnTo>
                  <a:pt x="113" y="5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4" name="rect"/>
          <p:cNvSpPr/>
          <p:nvPr/>
        </p:nvSpPr>
        <p:spPr>
          <a:xfrm>
            <a:off x="9085336" y="3515333"/>
            <a:ext cx="3143" cy="779409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5" name="rect"/>
          <p:cNvSpPr/>
          <p:nvPr/>
        </p:nvSpPr>
        <p:spPr>
          <a:xfrm>
            <a:off x="3676237" y="6093620"/>
            <a:ext cx="708707" cy="1505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6" name="rect"/>
          <p:cNvSpPr/>
          <p:nvPr/>
        </p:nvSpPr>
        <p:spPr>
          <a:xfrm>
            <a:off x="8410819" y="4450060"/>
            <a:ext cx="3143" cy="68186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7" name="rect"/>
          <p:cNvSpPr/>
          <p:nvPr/>
        </p:nvSpPr>
        <p:spPr>
          <a:xfrm>
            <a:off x="8986300" y="4293237"/>
            <a:ext cx="102179" cy="1505"/>
          </a:xfrm>
          <a:prstGeom prst="rect">
            <a:avLst/>
          </a:prstGeom>
          <a:solidFill>
            <a:srgbClr val="0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10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01711" y="3064763"/>
            <a:ext cx="3874007" cy="1229868"/>
          </a:xfrm>
          <a:prstGeom prst="rect">
            <a:avLst/>
          </a:prstGeom>
        </p:spPr>
      </p:pic>
      <p:pic>
        <p:nvPicPr>
          <p:cNvPr id="1029" name="picture 10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01711" y="4370832"/>
            <a:ext cx="3874007" cy="1228343"/>
          </a:xfrm>
          <a:prstGeom prst="rect">
            <a:avLst/>
          </a:prstGeom>
        </p:spPr>
      </p:pic>
      <p:pic>
        <p:nvPicPr>
          <p:cNvPr id="1030" name="picture 10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601711" y="1703832"/>
            <a:ext cx="3874007" cy="1228344"/>
          </a:xfrm>
          <a:prstGeom prst="rect">
            <a:avLst/>
          </a:prstGeom>
        </p:spPr>
      </p:pic>
      <p:graphicFrame>
        <p:nvGraphicFramePr>
          <p:cNvPr id="1031" name="table 1031"/>
          <p:cNvGraphicFramePr>
            <a:graphicFrameLocks noGrp="1"/>
          </p:cNvGraphicFramePr>
          <p:nvPr/>
        </p:nvGraphicFramePr>
        <p:xfrm>
          <a:off x="7531989" y="1542669"/>
          <a:ext cx="4037330" cy="4209415"/>
        </p:xfrm>
        <a:graphic>
          <a:graphicData uri="http://schemas.openxmlformats.org/drawingml/2006/table">
            <a:tbl>
              <a:tblPr/>
              <a:tblGrid>
                <a:gridCol w="4037330"/>
              </a:tblGrid>
              <a:tr h="41903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lang="en-US" altLang="en-US" sz="1000" dirty="0"/>
                    </a:p>
                    <a:p>
                      <a:pPr marL="735965" indent="-1270" algn="l" rtl="0" eaLnBrk="0">
                        <a:lnSpc>
                          <a:spcPct val="151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合同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交接是销售团队和履约团队的</a:t>
                      </a:r>
                      <a:r>
                        <a:rPr sz="14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握手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    </a:t>
                      </a:r>
                      <a:r>
                        <a:rPr sz="14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而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不是分手。其价值在于“把客户的声     </a:t>
                      </a:r>
                      <a:r>
                        <a:rPr sz="14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音完整、准确地传递给所有履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约的人”</a:t>
                      </a:r>
                      <a:endParaRPr lang="en-US" altLang="en-US" sz="1400" dirty="0"/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marL="794385" indent="635" algn="l" rtl="0" eaLnBrk="0">
                        <a:lnSpc>
                          <a:spcPct val="151000"/>
                        </a:lnSpc>
                        <a:spcBef>
                          <a:spcPts val="425"/>
                        </a:spcBef>
                      </a:pPr>
                      <a:r>
                        <a:rPr sz="14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理合同执行的目的是确保完全</a:t>
                      </a:r>
                      <a:r>
                        <a:rPr sz="14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履行       </a:t>
                      </a:r>
                      <a:r>
                        <a:rPr sz="140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对客户的合同</a:t>
                      </a:r>
                      <a:r>
                        <a:rPr sz="1400" spc="-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承诺</a:t>
                      </a:r>
                      <a:r>
                        <a:rPr sz="140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，并最终获得</a:t>
                      </a:r>
                      <a:r>
                        <a:rPr sz="1400" spc="-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回款</a:t>
                      </a:r>
                      <a:r>
                        <a:rPr sz="14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endParaRPr lang="en-US" altLang="en-US" sz="1400" dirty="0"/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300" dirty="0"/>
                    </a:p>
                    <a:p>
                      <a:pPr marL="802005" indent="-6985" algn="l" rtl="0" eaLnBrk="0">
                        <a:lnSpc>
                          <a:spcPct val="151000"/>
                        </a:lnSpc>
                      </a:pPr>
                      <a:r>
                        <a:rPr sz="14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</a:t>
                      </a:r>
                      <a:r>
                        <a:rPr sz="14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理合同履约，是发现更多销售线索       </a:t>
                      </a:r>
                      <a:r>
                        <a:rPr sz="14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的过</a:t>
                      </a:r>
                      <a:r>
                        <a:rPr sz="14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</a:t>
                      </a:r>
                      <a:endParaRPr lang="en-US" altLang="en-US" sz="14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34" name="group 334"/>
          <p:cNvGrpSpPr/>
          <p:nvPr/>
        </p:nvGrpSpPr>
        <p:grpSpPr>
          <a:xfrm rot="21600000">
            <a:off x="5415153" y="1466469"/>
            <a:ext cx="2015490" cy="4438650"/>
            <a:chOff x="0" y="0"/>
            <a:chExt cx="2015490" cy="4438650"/>
          </a:xfrm>
        </p:grpSpPr>
        <p:pic>
          <p:nvPicPr>
            <p:cNvPr id="1032" name="picture 10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9525" y="9525"/>
              <a:ext cx="1996440" cy="4419600"/>
            </a:xfrm>
            <a:prstGeom prst="rect">
              <a:avLst/>
            </a:prstGeom>
          </p:spPr>
        </p:pic>
        <p:sp>
          <p:nvSpPr>
            <p:cNvPr id="1033" name="path"/>
            <p:cNvSpPr/>
            <p:nvPr/>
          </p:nvSpPr>
          <p:spPr>
            <a:xfrm>
              <a:off x="0" y="0"/>
              <a:ext cx="1195705" cy="4438650"/>
            </a:xfrm>
            <a:custGeom>
              <a:avLst/>
              <a:gdLst/>
              <a:ahLst/>
              <a:cxnLst/>
              <a:rect l="0" t="0" r="0" b="0"/>
              <a:pathLst>
                <a:path w="1883" h="6990">
                  <a:moveTo>
                    <a:pt x="15" y="1310"/>
                  </a:moveTo>
                  <a:lnTo>
                    <a:pt x="1868" y="1310"/>
                  </a:lnTo>
                  <a:lnTo>
                    <a:pt x="1868" y="15"/>
                  </a:lnTo>
                  <a:moveTo>
                    <a:pt x="1868" y="6975"/>
                  </a:moveTo>
                  <a:lnTo>
                    <a:pt x="1868" y="5680"/>
                  </a:lnTo>
                  <a:lnTo>
                    <a:pt x="15" y="5680"/>
                  </a:lnTo>
                  <a:lnTo>
                    <a:pt x="15" y="1310"/>
                  </a:lnTo>
                  <a:close/>
                </a:path>
              </a:pathLst>
            </a:custGeom>
            <a:noFill/>
            <a:ln w="19050" cap="rnd">
              <a:solidFill>
                <a:srgbClr val="808080">
                  <a:alpha val="100000"/>
                </a:srgbClr>
              </a:solidFill>
              <a:prstDash val="dash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34" name="path"/>
            <p:cNvSpPr/>
            <p:nvPr/>
          </p:nvSpPr>
          <p:spPr>
            <a:xfrm>
              <a:off x="1176655" y="0"/>
              <a:ext cx="838834" cy="4438650"/>
            </a:xfrm>
            <a:custGeom>
              <a:avLst/>
              <a:gdLst/>
              <a:ahLst/>
              <a:cxnLst/>
              <a:rect l="0" t="0" r="0" b="0"/>
              <a:pathLst>
                <a:path w="1320" h="6990">
                  <a:moveTo>
                    <a:pt x="15" y="15"/>
                  </a:moveTo>
                  <a:lnTo>
                    <a:pt x="1305" y="3495"/>
                  </a:lnTo>
                  <a:lnTo>
                    <a:pt x="15" y="6975"/>
                  </a:lnTo>
                </a:path>
              </a:pathLst>
            </a:custGeom>
            <a:noFill/>
            <a:ln w="19050" cap="rnd">
              <a:solidFill>
                <a:srgbClr val="808080">
                  <a:alpha val="100000"/>
                </a:srgbClr>
              </a:solidFill>
              <a:prstDash val="dash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35" name="textbox 1035"/>
            <p:cNvSpPr/>
            <p:nvPr/>
          </p:nvSpPr>
          <p:spPr>
            <a:xfrm>
              <a:off x="91436" y="1379606"/>
              <a:ext cx="1644014" cy="172338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lang="en-US" altLang="en-US" sz="100" dirty="0"/>
            </a:p>
            <a:p>
              <a:pPr marL="15240" algn="l" rtl="0" eaLnBrk="0">
                <a:lnSpc>
                  <a:spcPct val="94000"/>
                </a:lnSpc>
              </a:pPr>
              <a:r>
                <a:rPr sz="1500" spc="100" dirty="0">
                  <a:ln w="3175" cap="flat" cmpd="sng">
                    <a:solidFill>
                      <a:srgbClr val="1C1C1C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1C1C1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完美的履约</a:t>
              </a:r>
              <a:r>
                <a:rPr sz="1500" spc="60" dirty="0">
                  <a:ln w="3175" cap="flat" cmpd="sng">
                    <a:solidFill>
                      <a:srgbClr val="1C1C1C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1C1C1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endParaRPr lang="en-US" altLang="en-US" sz="1500" dirty="0"/>
            </a:p>
            <a:p>
              <a:pPr marL="12700" algn="l" rtl="0" eaLnBrk="0">
                <a:lnSpc>
                  <a:spcPts val="2880"/>
                </a:lnSpc>
              </a:pPr>
              <a:r>
                <a:rPr sz="1500" spc="100" dirty="0">
                  <a:ln w="3175" cap="flat" cmpd="sng">
                    <a:solidFill>
                      <a:srgbClr val="1C1C1C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1C1C1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最好的推销手</a:t>
              </a:r>
              <a:r>
                <a:rPr sz="1500" spc="50" dirty="0">
                  <a:ln w="3175" cap="flat" cmpd="sng">
                    <a:solidFill>
                      <a:srgbClr val="1C1C1C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1C1C1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段</a:t>
              </a:r>
              <a:endParaRPr lang="en-US" altLang="en-US" sz="1500" dirty="0"/>
            </a:p>
            <a:p>
              <a:pPr algn="l" rtl="0" eaLnBrk="0">
                <a:lnSpc>
                  <a:spcPct val="105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27000"/>
                </a:lnSpc>
              </a:pPr>
              <a:endParaRPr lang="en-US" altLang="en-US" sz="300" dirty="0"/>
            </a:p>
            <a:p>
              <a:pPr marL="15240" indent="-1905" algn="l" rtl="0" eaLnBrk="0">
                <a:lnSpc>
                  <a:spcPct val="161000"/>
                </a:lnSpc>
                <a:spcBef>
                  <a:spcPts val="0"/>
                </a:spcBef>
              </a:pPr>
              <a:r>
                <a:rPr sz="1500" spc="90" dirty="0">
                  <a:ln w="3175" cap="flat" cmpd="sng">
                    <a:solidFill>
                      <a:srgbClr val="1C1C1C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1C1C1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管理合同履约</a:t>
              </a:r>
              <a:r>
                <a:rPr sz="1500" spc="50" dirty="0">
                  <a:ln w="3175" cap="flat" cmpd="sng">
                    <a:solidFill>
                      <a:srgbClr val="1C1C1C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1C1C1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sz="1500" spc="0" dirty="0">
                  <a:solidFill>
                    <a:srgbClr val="1C1C1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</a:t>
              </a:r>
              <a:r>
                <a:rPr sz="1500" spc="100" dirty="0">
                  <a:ln w="3175" cap="flat" cmpd="sng">
                    <a:solidFill>
                      <a:srgbClr val="1C1C1C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1C1C1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实现项目完美闭</a:t>
              </a:r>
              <a:r>
                <a:rPr sz="1500" spc="20" dirty="0">
                  <a:ln w="3175" cap="flat" cmpd="sng">
                    <a:solidFill>
                      <a:srgbClr val="1C1C1C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1C1C1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环</a:t>
              </a:r>
              <a:endParaRPr lang="en-US" altLang="en-US" sz="1500" dirty="0"/>
            </a:p>
          </p:txBody>
        </p:sp>
      </p:grpSp>
      <p:pic>
        <p:nvPicPr>
          <p:cNvPr id="1036" name="picture 10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9892" y="1552955"/>
            <a:ext cx="4572000" cy="1790700"/>
          </a:xfrm>
          <a:prstGeom prst="rect">
            <a:avLst/>
          </a:prstGeom>
        </p:spPr>
      </p:pic>
      <p:sp>
        <p:nvSpPr>
          <p:cNvPr id="1037" name="textbox 1037"/>
          <p:cNvSpPr/>
          <p:nvPr/>
        </p:nvSpPr>
        <p:spPr>
          <a:xfrm>
            <a:off x="1018057" y="3807637"/>
            <a:ext cx="3500754" cy="15271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lang="en-US" altLang="en-US" sz="100" dirty="0"/>
          </a:p>
          <a:p>
            <a:pPr marL="290195" indent="-277495" algn="l" rtl="0" eaLnBrk="0">
              <a:lnSpc>
                <a:spcPct val="123000"/>
              </a:lnSpc>
            </a:pPr>
            <a:r>
              <a:rPr sz="180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8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合同签定后的首要任务：  </a:t>
            </a:r>
            <a:r>
              <a:rPr sz="1800" spc="-2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r>
              <a:rPr sz="1800" spc="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同交</a:t>
            </a:r>
            <a:r>
              <a:rPr sz="1800" spc="0" dirty="0"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spc="-1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</a:t>
            </a:r>
            <a:r>
              <a:rPr sz="1800" spc="0" dirty="0">
                <a:ln w="3175" cap="flat" cmpd="sng">
                  <a:solidFill>
                    <a:srgbClr val="1A8FC8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A8FC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会-项目指挥权转移</a:t>
            </a:r>
            <a:endParaRPr lang="en-US" altLang="en-US" sz="1800" dirty="0"/>
          </a:p>
          <a:p>
            <a:pPr algn="l" rtl="0" eaLnBrk="0">
              <a:lnSpc>
                <a:spcPct val="104000"/>
              </a:lnSpc>
            </a:pPr>
            <a:endParaRPr lang="en-US" altLang="en-US" sz="900" dirty="0"/>
          </a:p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marL="290195" indent="-277495" algn="l" rtl="0" eaLnBrk="0">
              <a:lnSpc>
                <a:spcPct val="124000"/>
              </a:lnSpc>
            </a:pPr>
            <a:r>
              <a:rPr sz="180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合同交底会不限于会议，邮件传 </a:t>
            </a:r>
            <a:r>
              <a:rPr sz="1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递、文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档共享也是其中的方式</a:t>
            </a:r>
            <a:endParaRPr lang="en-US" altLang="en-US" sz="1800" dirty="0"/>
          </a:p>
        </p:txBody>
      </p:sp>
      <p:sp>
        <p:nvSpPr>
          <p:cNvPr id="1038" name="textbox 1038"/>
          <p:cNvSpPr/>
          <p:nvPr/>
        </p:nvSpPr>
        <p:spPr>
          <a:xfrm>
            <a:off x="574317" y="269576"/>
            <a:ext cx="11026140" cy="4521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  <a:tabLst>
                <a:tab pos="11012805" algn="l"/>
              </a:tabLst>
            </a:pPr>
            <a:r>
              <a:rPr sz="2700" u="sng" spc="-5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2700" u="sng" spc="-5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u="sng" spc="-5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交付验收、</a:t>
            </a:r>
            <a:r>
              <a:rPr sz="2700" u="sng" spc="-5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u="sng" spc="-5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合同履</a:t>
            </a:r>
            <a:r>
              <a:rPr sz="2700" u="sng" spc="-2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sz="2700" u="sng" spc="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lang="en-US" altLang="en-US" sz="2700" dirty="0"/>
          </a:p>
        </p:txBody>
      </p:sp>
      <p:sp>
        <p:nvSpPr>
          <p:cNvPr id="1039" name="textbox 1039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41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ath"/>
          <p:cNvSpPr/>
          <p:nvPr/>
        </p:nvSpPr>
        <p:spPr>
          <a:xfrm>
            <a:off x="1631188" y="4266946"/>
            <a:ext cx="9501885" cy="1601469"/>
          </a:xfrm>
          <a:custGeom>
            <a:avLst/>
            <a:gdLst/>
            <a:ahLst/>
            <a:cxnLst/>
            <a:rect l="0" t="0" r="0" b="0"/>
            <a:pathLst>
              <a:path w="14963" h="2521">
                <a:moveTo>
                  <a:pt x="0" y="10"/>
                </a:moveTo>
                <a:lnTo>
                  <a:pt x="14451" y="10"/>
                </a:lnTo>
                <a:moveTo>
                  <a:pt x="14953" y="512"/>
                </a:moveTo>
                <a:lnTo>
                  <a:pt x="14953" y="2521"/>
                </a:lnTo>
              </a:path>
            </a:pathLst>
          </a:custGeom>
          <a:noFill/>
          <a:ln w="12700" cap="flat">
            <a:solidFill>
              <a:srgbClr val="144476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3" name="textbox 1043"/>
          <p:cNvSpPr/>
          <p:nvPr/>
        </p:nvSpPr>
        <p:spPr>
          <a:xfrm>
            <a:off x="2762152" y="1432680"/>
            <a:ext cx="3423284" cy="20472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244475" indent="-214630" algn="l" rtl="0" eaLnBrk="0">
              <a:lnSpc>
                <a:spcPct val="134000"/>
              </a:lnSpc>
            </a:pPr>
            <a:r>
              <a:rPr sz="1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项目计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划清晰、明确、可实施、可监控、  </a:t>
            </a: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能规避或应对风</a:t>
            </a:r>
            <a:r>
              <a:rPr sz="1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en-US" sz="1400" dirty="0"/>
          </a:p>
          <a:p>
            <a:pPr marL="21590" algn="l" rtl="0" eaLnBrk="0">
              <a:lnSpc>
                <a:spcPct val="97000"/>
              </a:lnSpc>
              <a:spcBef>
                <a:spcPts val="1225"/>
              </a:spcBef>
            </a:pPr>
            <a:r>
              <a:rPr sz="14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对客户需求的准确理解和决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策链分析；</a:t>
            </a:r>
            <a:endParaRPr lang="en-US" altLang="en-US" sz="1400" dirty="0"/>
          </a:p>
          <a:p>
            <a:pPr marL="23495" algn="l" rtl="0" eaLnBrk="0">
              <a:lnSpc>
                <a:spcPct val="98000"/>
              </a:lnSpc>
              <a:spcBef>
                <a:spcPts val="1215"/>
              </a:spcBef>
            </a:pP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有针对性、有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竞争力的解决方案</a:t>
            </a:r>
            <a:endParaRPr lang="en-US" altLang="en-US" sz="1400" dirty="0"/>
          </a:p>
          <a:p>
            <a:pPr marL="12700" algn="l" rtl="0" eaLnBrk="0">
              <a:lnSpc>
                <a:spcPct val="97000"/>
              </a:lnSpc>
              <a:spcBef>
                <a:spcPts val="1220"/>
              </a:spcBef>
            </a:pP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选择有团队合作精神的</a:t>
            </a:r>
            <a:r>
              <a:rPr sz="14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格组员</a:t>
            </a:r>
            <a:endParaRPr lang="en-US" altLang="en-US" sz="1400" dirty="0"/>
          </a:p>
          <a:p>
            <a:pPr algn="l" rtl="0" eaLnBrk="0">
              <a:lnSpc>
                <a:spcPct val="102000"/>
              </a:lnSpc>
            </a:pPr>
            <a:endParaRPr lang="en-US" altLang="en-US" sz="1000" dirty="0"/>
          </a:p>
          <a:p>
            <a:pPr marL="26670" algn="l" rtl="0" eaLnBrk="0">
              <a:lnSpc>
                <a:spcPct val="97000"/>
              </a:lnSpc>
              <a:spcBef>
                <a:spcPts val="5"/>
              </a:spcBef>
            </a:pPr>
            <a:r>
              <a:rPr sz="14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全面而有力</a:t>
            </a:r>
            <a:r>
              <a:rPr sz="1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的客户关系支撑</a:t>
            </a:r>
            <a:endParaRPr lang="en-US" altLang="en-US" sz="1400" dirty="0"/>
          </a:p>
        </p:txBody>
      </p:sp>
      <p:grpSp>
        <p:nvGrpSpPr>
          <p:cNvPr id="336" name="group 336"/>
          <p:cNvGrpSpPr/>
          <p:nvPr/>
        </p:nvGrpSpPr>
        <p:grpSpPr>
          <a:xfrm rot="21600000">
            <a:off x="297179" y="1235964"/>
            <a:ext cx="2247900" cy="2178178"/>
            <a:chOff x="0" y="0"/>
            <a:chExt cx="2247900" cy="2178178"/>
          </a:xfrm>
        </p:grpSpPr>
        <p:pic>
          <p:nvPicPr>
            <p:cNvPr id="1044" name="picture 10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247900" cy="2095500"/>
            </a:xfrm>
            <a:prstGeom prst="rect">
              <a:avLst/>
            </a:prstGeom>
          </p:spPr>
        </p:pic>
        <p:sp>
          <p:nvSpPr>
            <p:cNvPr id="1045" name="textbox 1045"/>
            <p:cNvSpPr/>
            <p:nvPr/>
          </p:nvSpPr>
          <p:spPr>
            <a:xfrm>
              <a:off x="641915" y="1894427"/>
              <a:ext cx="1294764" cy="32321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98000"/>
                </a:lnSpc>
              </a:pPr>
              <a:r>
                <a:rPr sz="2000" spc="-1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</a:t>
              </a:r>
              <a:r>
                <a:rPr sz="2000" spc="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功的关键</a:t>
              </a:r>
              <a:endParaRPr lang="en-US" altLang="en-US" sz="2000" dirty="0"/>
            </a:p>
          </p:txBody>
        </p:sp>
      </p:grpSp>
      <p:graphicFrame>
        <p:nvGraphicFramePr>
          <p:cNvPr id="1046" name="table 1046"/>
          <p:cNvGraphicFramePr>
            <a:graphicFrameLocks noGrp="1"/>
          </p:cNvGraphicFramePr>
          <p:nvPr/>
        </p:nvGraphicFramePr>
        <p:xfrm>
          <a:off x="8980805" y="1685416"/>
          <a:ext cx="2170430" cy="1842770"/>
        </p:xfrm>
        <a:graphic>
          <a:graphicData uri="http://schemas.openxmlformats.org/drawingml/2006/table">
            <a:tbl>
              <a:tblPr/>
              <a:tblGrid>
                <a:gridCol w="2170430"/>
              </a:tblGrid>
              <a:tr h="18364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9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104140" algn="l" rtl="0" eaLnBrk="0">
                        <a:lnSpc>
                          <a:spcPct val="97000"/>
                        </a:lnSpc>
                      </a:pPr>
                      <a:r>
                        <a:rPr sz="12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项目分层分级管理性</a:t>
                      </a:r>
                      <a:endParaRPr lang="en-US" altLang="en-US" sz="1200" dirty="0"/>
                    </a:p>
                    <a:p>
                      <a:pPr marL="104140" algn="l" rtl="0" eaLnBrk="0">
                        <a:lnSpc>
                          <a:spcPct val="97000"/>
                        </a:lnSpc>
                        <a:spcBef>
                          <a:spcPts val="905"/>
                        </a:spcBef>
                      </a:pPr>
                      <a:r>
                        <a:rPr sz="12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销售项目周例会</a:t>
                      </a:r>
                      <a:endParaRPr lang="en-US" altLang="en-US" sz="1200" dirty="0"/>
                    </a:p>
                    <a:p>
                      <a:pPr marL="104140" algn="l" rtl="0" eaLnBrk="0">
                        <a:lnSpc>
                          <a:spcPct val="97000"/>
                        </a:lnSpc>
                        <a:spcBef>
                          <a:spcPts val="920"/>
                        </a:spcBef>
                      </a:pPr>
                      <a:r>
                        <a:rPr sz="12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销售例行工作检查表</a:t>
                      </a:r>
                      <a:endParaRPr lang="en-US" altLang="en-US" sz="1200" dirty="0"/>
                    </a:p>
                    <a:p>
                      <a:pPr marL="104140" algn="l" rtl="0" eaLnBrk="0">
                        <a:lnSpc>
                          <a:spcPct val="98000"/>
                        </a:lnSpc>
                        <a:spcBef>
                          <a:spcPts val="895"/>
                        </a:spcBef>
                      </a:pPr>
                      <a:r>
                        <a:rPr sz="12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销售简报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700" dirty="0"/>
                    </a:p>
                    <a:p>
                      <a:pPr marL="335915" indent="-231775" algn="l" rtl="0" eaLnBrk="0">
                        <a:lnSpc>
                          <a:spcPct val="129000"/>
                        </a:lnSpc>
                      </a:pPr>
                      <a:r>
                        <a:rPr sz="12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项目求助、风险、问题的    </a:t>
                      </a:r>
                      <a:r>
                        <a:rPr sz="12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闭环管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</a:t>
                      </a:r>
                      <a:endParaRPr lang="en-US" alt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47" name="table 1047"/>
          <p:cNvGraphicFramePr>
            <a:graphicFrameLocks noGrp="1"/>
          </p:cNvGraphicFramePr>
          <p:nvPr/>
        </p:nvGraphicFramePr>
        <p:xfrm>
          <a:off x="6513448" y="1680845"/>
          <a:ext cx="2119630" cy="1847215"/>
        </p:xfrm>
        <a:graphic>
          <a:graphicData uri="http://schemas.openxmlformats.org/drawingml/2006/table">
            <a:tbl>
              <a:tblPr/>
              <a:tblGrid>
                <a:gridCol w="2119630"/>
              </a:tblGrid>
              <a:tr h="1840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marL="10350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销售项目立项管理</a:t>
                      </a:r>
                      <a:endParaRPr lang="en-US" altLang="en-US" sz="1200" dirty="0"/>
                    </a:p>
                    <a:p>
                      <a:pPr marL="103505" algn="l" rtl="0" eaLnBrk="0">
                        <a:lnSpc>
                          <a:spcPct val="97000"/>
                        </a:lnSpc>
                        <a:spcBef>
                          <a:spcPts val="1195"/>
                        </a:spcBef>
                      </a:pP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 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销售项目开工会/分析会</a:t>
                      </a:r>
                      <a:endParaRPr lang="en-US" altLang="en-US" sz="1200" dirty="0"/>
                    </a:p>
                    <a:p>
                      <a:pPr marL="103505" algn="l" rtl="0" eaLnBrk="0">
                        <a:lnSpc>
                          <a:spcPct val="97000"/>
                        </a:lnSpc>
                        <a:spcBef>
                          <a:spcPts val="1195"/>
                        </a:spcBef>
                      </a:pPr>
                      <a:r>
                        <a:rPr sz="12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销售项目信息及时刷新</a:t>
                      </a:r>
                      <a:endParaRPr lang="en-US" altLang="en-US" sz="1200" dirty="0"/>
                    </a:p>
                    <a:p>
                      <a:pPr marL="103505" algn="l" rtl="0" eaLnBrk="0">
                        <a:lnSpc>
                          <a:spcPct val="97000"/>
                        </a:lnSpc>
                        <a:spcBef>
                          <a:spcPts val="1195"/>
                        </a:spcBef>
                      </a:pPr>
                      <a:r>
                        <a:rPr sz="12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销售项目决策会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lang="en-US" altLang="en-US" sz="9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103505" algn="l" rtl="0" eaLnBrk="0">
                        <a:lnSpc>
                          <a:spcPct val="97000"/>
                        </a:lnSpc>
                      </a:pPr>
                      <a:r>
                        <a:rPr sz="12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12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项目总结经验教训</a:t>
                      </a:r>
                      <a:endParaRPr lang="en-US" alt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" name="textbox 1048"/>
          <p:cNvSpPr/>
          <p:nvPr/>
        </p:nvSpPr>
        <p:spPr>
          <a:xfrm>
            <a:off x="4514088" y="4660392"/>
            <a:ext cx="1979929" cy="1429385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</a:pPr>
            <a:endParaRPr lang="en-US" altLang="en-US" sz="500" dirty="0"/>
          </a:p>
          <a:p>
            <a:pPr marL="100330" algn="l" rtl="0" eaLnBrk="0">
              <a:lnSpc>
                <a:spcPct val="97000"/>
              </a:lnSpc>
              <a:spcBef>
                <a:spcPts val="5"/>
              </a:spcBef>
            </a:pP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机会点分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析</a:t>
            </a:r>
            <a:endParaRPr lang="en-US" altLang="en-US" sz="1200" dirty="0"/>
          </a:p>
          <a:p>
            <a:pPr marL="100330" algn="l" rtl="0" eaLnBrk="0">
              <a:lnSpc>
                <a:spcPct val="97000"/>
              </a:lnSpc>
              <a:spcBef>
                <a:spcPts val="50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目标一致</a:t>
            </a:r>
            <a:endParaRPr lang="en-US" altLang="en-US" sz="1200" dirty="0"/>
          </a:p>
          <a:p>
            <a:pPr marL="100330" algn="l" rtl="0" eaLnBrk="0">
              <a:lnSpc>
                <a:spcPct val="97000"/>
              </a:lnSpc>
              <a:spcBef>
                <a:spcPts val="45"/>
              </a:spcBef>
            </a:pP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拓展策略</a:t>
            </a:r>
            <a:r>
              <a:rPr sz="12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</a:t>
            </a:r>
            <a:endParaRPr lang="en-US" altLang="en-US" sz="1200" dirty="0"/>
          </a:p>
          <a:p>
            <a:pPr marL="100330" algn="l" rtl="0" eaLnBrk="0">
              <a:lnSpc>
                <a:spcPct val="97000"/>
              </a:lnSpc>
              <a:spcBef>
                <a:spcPts val="35"/>
              </a:spcBef>
            </a:pP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关键成员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到位</a:t>
            </a:r>
            <a:endParaRPr lang="en-US" altLang="en-US" sz="1200" dirty="0"/>
          </a:p>
          <a:p>
            <a:pPr marL="100330" algn="l" rtl="0" eaLnBrk="0">
              <a:lnSpc>
                <a:spcPct val="97000"/>
              </a:lnSpc>
              <a:spcBef>
                <a:spcPts val="45"/>
              </a:spcBef>
            </a:pP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武器装备</a:t>
            </a:r>
            <a:r>
              <a:rPr sz="12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否到位</a:t>
            </a:r>
            <a:endParaRPr lang="en-US" altLang="en-US" sz="1200" dirty="0"/>
          </a:p>
          <a:p>
            <a:pPr marL="100330" algn="l" rtl="0" eaLnBrk="0">
              <a:lnSpc>
                <a:spcPct val="98000"/>
              </a:lnSpc>
              <a:spcBef>
                <a:spcPts val="35"/>
              </a:spcBef>
            </a:pP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主管责任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endParaRPr lang="en-US" altLang="en-US" sz="1200" dirty="0"/>
          </a:p>
          <a:p>
            <a:pPr marL="100330" algn="l" rtl="0" eaLnBrk="0">
              <a:lnSpc>
                <a:spcPct val="98000"/>
              </a:lnSpc>
              <a:spcBef>
                <a:spcPts val="30"/>
              </a:spcBef>
            </a:pPr>
            <a:r>
              <a:rPr sz="120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sz="12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endParaRPr lang="en-US" altLang="en-US" sz="1200" dirty="0"/>
          </a:p>
        </p:txBody>
      </p:sp>
      <p:sp>
        <p:nvSpPr>
          <p:cNvPr id="1049" name="textbox 1049"/>
          <p:cNvSpPr/>
          <p:nvPr/>
        </p:nvSpPr>
        <p:spPr>
          <a:xfrm>
            <a:off x="8763000" y="4680204"/>
            <a:ext cx="1979929" cy="1407794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72000"/>
              </a:lnSpc>
            </a:pPr>
            <a:endParaRPr lang="en-US" altLang="en-US" sz="10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96520" algn="l" rtl="0" eaLnBrk="0">
              <a:lnSpc>
                <a:spcPct val="89000"/>
              </a:lnSpc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财务、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交付、法务</a:t>
            </a:r>
            <a:endParaRPr lang="en-US" altLang="en-US" sz="1200" dirty="0"/>
          </a:p>
          <a:p>
            <a:pPr marL="96520" algn="l" rtl="0" eaLnBrk="0">
              <a:lnSpc>
                <a:spcPct val="100000"/>
              </a:lnSpc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商务、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风险控制</a:t>
            </a:r>
            <a:endParaRPr lang="en-US" altLang="en-US" sz="1200" dirty="0"/>
          </a:p>
          <a:p>
            <a:pPr marL="95250" algn="l" rtl="0" eaLnBrk="0">
              <a:lnSpc>
                <a:spcPts val="1565"/>
              </a:lnSpc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方案合理</a:t>
            </a:r>
            <a:endParaRPr lang="en-US" altLang="en-US" sz="1200" dirty="0"/>
          </a:p>
          <a:p>
            <a:pPr marL="95250" algn="l" rtl="0" eaLnBrk="0">
              <a:lnSpc>
                <a:spcPct val="97000"/>
              </a:lnSpc>
              <a:spcBef>
                <a:spcPts val="40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有竞争力</a:t>
            </a:r>
            <a:endParaRPr lang="en-US" altLang="en-US" sz="1200" dirty="0"/>
          </a:p>
          <a:p>
            <a:pPr marL="93980" algn="l" rtl="0" eaLnBrk="0">
              <a:lnSpc>
                <a:spcPct val="97000"/>
              </a:lnSpc>
              <a:spcBef>
                <a:spcPts val="35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目盈利</a:t>
            </a:r>
            <a:endParaRPr lang="en-US" altLang="en-US" sz="1200" dirty="0"/>
          </a:p>
        </p:txBody>
      </p:sp>
      <p:sp>
        <p:nvSpPr>
          <p:cNvPr id="1050" name="textbox 1050"/>
          <p:cNvSpPr/>
          <p:nvPr/>
        </p:nvSpPr>
        <p:spPr>
          <a:xfrm>
            <a:off x="2378964" y="4680204"/>
            <a:ext cx="1758950" cy="1409064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lang="en-US" altLang="en-US" sz="10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99695" algn="l" rtl="0" eaLnBrk="0">
              <a:lnSpc>
                <a:spcPct val="97000"/>
              </a:lnSpc>
            </a:pP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季度机</a:t>
            </a:r>
            <a:r>
              <a:rPr sz="12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点扫描</a:t>
            </a:r>
            <a:endParaRPr lang="en-US" altLang="en-US" sz="1200" dirty="0"/>
          </a:p>
          <a:p>
            <a:pPr marL="99695" algn="l" rtl="0" eaLnBrk="0">
              <a:lnSpc>
                <a:spcPct val="97000"/>
              </a:lnSpc>
              <a:spcBef>
                <a:spcPts val="475"/>
              </a:spcBef>
            </a:pP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客户投</a:t>
            </a:r>
            <a:r>
              <a:rPr sz="12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</a:t>
            </a:r>
            <a:endParaRPr lang="en-US" altLang="en-US" sz="1200" dirty="0"/>
          </a:p>
          <a:p>
            <a:pPr marL="99695" algn="l" rtl="0" eaLnBrk="0">
              <a:lnSpc>
                <a:spcPct val="97000"/>
              </a:lnSpc>
              <a:spcBef>
                <a:spcPts val="480"/>
              </a:spcBef>
            </a:pP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竞争变</a:t>
            </a:r>
            <a:r>
              <a:rPr sz="12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endParaRPr lang="en-US" altLang="en-US" sz="1200" dirty="0"/>
          </a:p>
          <a:p>
            <a:pPr marL="99695" algn="l" rtl="0" eaLnBrk="0">
              <a:lnSpc>
                <a:spcPct val="98000"/>
              </a:lnSpc>
              <a:spcBef>
                <a:spcPts val="460"/>
              </a:spcBef>
            </a:pPr>
            <a:r>
              <a:rPr sz="120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</a:t>
            </a:r>
            <a:r>
              <a:rPr sz="12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</a:t>
            </a:r>
            <a:endParaRPr lang="en-US" altLang="en-US" sz="1200" dirty="0"/>
          </a:p>
          <a:p>
            <a:pPr algn="l" rtl="0" eaLnBrk="0">
              <a:lnSpc>
                <a:spcPct val="131000"/>
              </a:lnSpc>
            </a:pPr>
            <a:endParaRPr lang="en-US" altLang="en-US" sz="300" dirty="0"/>
          </a:p>
          <a:p>
            <a:pPr marL="99695" algn="l" rtl="0" eaLnBrk="0">
              <a:lnSpc>
                <a:spcPct val="97000"/>
              </a:lnSpc>
              <a:spcBef>
                <a:spcPts val="0"/>
              </a:spcBef>
            </a:pP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2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</a:t>
            </a:r>
            <a:r>
              <a:rPr sz="12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</a:t>
            </a:r>
            <a:endParaRPr lang="en-US" altLang="en-US" sz="1200" dirty="0"/>
          </a:p>
        </p:txBody>
      </p:sp>
      <p:sp>
        <p:nvSpPr>
          <p:cNvPr id="1051" name="textbox 1051"/>
          <p:cNvSpPr/>
          <p:nvPr/>
        </p:nvSpPr>
        <p:spPr>
          <a:xfrm>
            <a:off x="6870192" y="4671059"/>
            <a:ext cx="1517014" cy="1419860"/>
          </a:xfrm>
          <a:prstGeom prst="rect">
            <a:avLst/>
          </a:prstGeom>
          <a:solidFill>
            <a:srgbClr val="DEF3FD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lang="en-US" altLang="en-US" sz="1000" dirty="0"/>
          </a:p>
          <a:p>
            <a:pPr marL="93345" algn="l" rtl="0" eaLnBrk="0">
              <a:lnSpc>
                <a:spcPct val="89000"/>
              </a:lnSpc>
              <a:spcBef>
                <a:spcPts val="0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户需求</a:t>
            </a:r>
            <a:endParaRPr lang="en-US" altLang="en-US" sz="1200" dirty="0"/>
          </a:p>
          <a:p>
            <a:pPr marL="95250" algn="l" rtl="0" eaLnBrk="0">
              <a:lnSpc>
                <a:spcPts val="1575"/>
              </a:lnSpc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争</a:t>
            </a:r>
            <a:endParaRPr lang="en-US" altLang="en-US" sz="1200" dirty="0"/>
          </a:p>
          <a:p>
            <a:pPr marL="95250" algn="l" rtl="0" eaLnBrk="0">
              <a:lnSpc>
                <a:spcPct val="89000"/>
              </a:lnSpc>
              <a:spcBef>
                <a:spcPts val="25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endParaRPr lang="en-US" altLang="en-US" sz="1200" dirty="0"/>
          </a:p>
          <a:p>
            <a:pPr marL="94615" algn="l" rtl="0" eaLnBrk="0">
              <a:lnSpc>
                <a:spcPct val="100000"/>
              </a:lnSpc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en-US" altLang="en-US" sz="1200" dirty="0"/>
          </a:p>
          <a:p>
            <a:pPr marL="96520" algn="l" rtl="0" eaLnBrk="0">
              <a:lnSpc>
                <a:spcPts val="1560"/>
              </a:lnSpc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商务</a:t>
            </a:r>
            <a:endParaRPr lang="en-US" altLang="en-US" sz="1200" dirty="0"/>
          </a:p>
          <a:p>
            <a:pPr marL="94615" algn="l" rtl="0" eaLnBrk="0">
              <a:lnSpc>
                <a:spcPct val="98000"/>
              </a:lnSpc>
              <a:spcBef>
                <a:spcPts val="45"/>
              </a:spcBef>
            </a:pP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</a:t>
            </a:r>
            <a:endParaRPr lang="en-US" altLang="en-US" sz="1200" dirty="0"/>
          </a:p>
        </p:txBody>
      </p:sp>
      <p:sp>
        <p:nvSpPr>
          <p:cNvPr id="1052" name="textbox 1052"/>
          <p:cNvSpPr/>
          <p:nvPr/>
        </p:nvSpPr>
        <p:spPr>
          <a:xfrm>
            <a:off x="560113" y="269576"/>
            <a:ext cx="3835400" cy="439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55"/>
              </a:lnSpc>
            </a:pPr>
            <a:r>
              <a:rPr sz="2700" spc="-5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</a:t>
            </a:r>
            <a:r>
              <a:rPr sz="2700" spc="-5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spc="-5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sz="2700" spc="-5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流程管理要点</a:t>
            </a:r>
            <a:endParaRPr lang="en-US" altLang="en-US" sz="2700" dirty="0"/>
          </a:p>
        </p:txBody>
      </p:sp>
      <p:sp>
        <p:nvSpPr>
          <p:cNvPr id="1053" name="rect"/>
          <p:cNvSpPr/>
          <p:nvPr/>
        </p:nvSpPr>
        <p:spPr>
          <a:xfrm>
            <a:off x="1305813" y="4592320"/>
            <a:ext cx="12700" cy="1276096"/>
          </a:xfrm>
          <a:prstGeom prst="rect">
            <a:avLst/>
          </a:prstGeom>
          <a:solidFill>
            <a:srgbClr val="144476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054" name="table 1054"/>
          <p:cNvGraphicFramePr>
            <a:graphicFrameLocks noGrp="1"/>
          </p:cNvGraphicFramePr>
          <p:nvPr/>
        </p:nvGraphicFramePr>
        <p:xfrm>
          <a:off x="435673" y="4948237"/>
          <a:ext cx="1805940" cy="654050"/>
        </p:xfrm>
        <a:graphic>
          <a:graphicData uri="http://schemas.openxmlformats.org/drawingml/2006/table">
            <a:tbl>
              <a:tblPr/>
              <a:tblGrid>
                <a:gridCol w="1805940"/>
              </a:tblGrid>
              <a:tr h="644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lang="en-US" altLang="en-US" sz="300" dirty="0"/>
                    </a:p>
                    <a:p>
                      <a:pPr marL="220345" indent="172720" algn="l" rtl="0" eaLnBrk="0">
                        <a:lnSpc>
                          <a:spcPct val="104000"/>
                        </a:lnSpc>
                        <a:spcBef>
                          <a:spcPts val="0"/>
                        </a:spcBef>
                      </a:pPr>
                      <a:r>
                        <a:rPr sz="180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LT</a:t>
                      </a:r>
                      <a:r>
                        <a:rPr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r>
                        <a:rPr sz="180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各阶段</a:t>
                      </a: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</a:t>
                      </a:r>
                      <a:r>
                        <a:rPr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管理关</a:t>
                      </a: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键要素</a:t>
                      </a:r>
                      <a:endParaRPr lang="en-US" altLang="en-US" sz="18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5" name="textbox 1055"/>
          <p:cNvSpPr/>
          <p:nvPr/>
        </p:nvSpPr>
        <p:spPr>
          <a:xfrm>
            <a:off x="8763000" y="4358640"/>
            <a:ext cx="1979929" cy="286384"/>
          </a:xfrm>
          <a:prstGeom prst="rect">
            <a:avLst/>
          </a:prstGeom>
          <a:solidFill>
            <a:srgbClr val="205FA2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lang="en-US" altLang="en-US" sz="300" dirty="0"/>
          </a:p>
          <a:p>
            <a:pPr marL="611505" algn="l" rtl="0" eaLnBrk="0">
              <a:lnSpc>
                <a:spcPct val="97000"/>
              </a:lnSpc>
              <a:spcBef>
                <a:spcPts val="0"/>
              </a:spcBef>
            </a:pPr>
            <a:r>
              <a:rPr sz="15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</a:t>
            </a:r>
            <a:r>
              <a:rPr sz="15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</a:t>
            </a:r>
            <a:endParaRPr lang="en-US" altLang="en-US" sz="1500" dirty="0"/>
          </a:p>
        </p:txBody>
      </p:sp>
      <p:sp>
        <p:nvSpPr>
          <p:cNvPr id="1056" name="textbox 1056"/>
          <p:cNvSpPr/>
          <p:nvPr/>
        </p:nvSpPr>
        <p:spPr>
          <a:xfrm>
            <a:off x="4514088" y="4358640"/>
            <a:ext cx="1978660" cy="285115"/>
          </a:xfrm>
          <a:prstGeom prst="rect">
            <a:avLst/>
          </a:prstGeom>
          <a:solidFill>
            <a:srgbClr val="205FA2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300" dirty="0"/>
          </a:p>
          <a:p>
            <a:pPr marL="610870" algn="l" rtl="0" eaLnBrk="0">
              <a:lnSpc>
                <a:spcPct val="97000"/>
              </a:lnSpc>
              <a:spcBef>
                <a:spcPts val="0"/>
              </a:spcBef>
            </a:pPr>
            <a:r>
              <a:rPr sz="15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15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立项</a:t>
            </a:r>
            <a:endParaRPr lang="en-US" altLang="en-US" sz="1500" dirty="0"/>
          </a:p>
        </p:txBody>
      </p:sp>
      <p:sp>
        <p:nvSpPr>
          <p:cNvPr id="1057" name="textbox 1057"/>
          <p:cNvSpPr/>
          <p:nvPr/>
        </p:nvSpPr>
        <p:spPr>
          <a:xfrm>
            <a:off x="2378964" y="4358640"/>
            <a:ext cx="1758950" cy="285750"/>
          </a:xfrm>
          <a:prstGeom prst="rect">
            <a:avLst/>
          </a:prstGeom>
          <a:solidFill>
            <a:srgbClr val="205FA2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lang="en-US" altLang="en-US" sz="300" dirty="0"/>
          </a:p>
          <a:p>
            <a:pPr marL="405130" algn="l" rtl="0" eaLnBrk="0">
              <a:lnSpc>
                <a:spcPct val="97000"/>
              </a:lnSpc>
              <a:spcBef>
                <a:spcPts val="0"/>
              </a:spcBef>
            </a:pPr>
            <a:r>
              <a:rPr sz="15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</a:t>
            </a:r>
            <a:r>
              <a:rPr sz="15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点管理</a:t>
            </a:r>
            <a:endParaRPr lang="en-US" altLang="en-US" sz="1500" dirty="0"/>
          </a:p>
        </p:txBody>
      </p:sp>
      <p:sp>
        <p:nvSpPr>
          <p:cNvPr id="1058" name="textbox 1058"/>
          <p:cNvSpPr/>
          <p:nvPr/>
        </p:nvSpPr>
        <p:spPr>
          <a:xfrm>
            <a:off x="6870192" y="4358640"/>
            <a:ext cx="1515110" cy="287654"/>
          </a:xfrm>
          <a:prstGeom prst="rect">
            <a:avLst/>
          </a:prstGeom>
          <a:solidFill>
            <a:srgbClr val="205FA2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300" dirty="0"/>
          </a:p>
          <a:p>
            <a:pPr marL="380365" algn="l" rtl="0" eaLnBrk="0">
              <a:lnSpc>
                <a:spcPct val="98000"/>
              </a:lnSpc>
              <a:spcBef>
                <a:spcPts val="0"/>
              </a:spcBef>
            </a:pPr>
            <a:r>
              <a:rPr sz="15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</a:t>
            </a:r>
            <a:r>
              <a:rPr sz="15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运作</a:t>
            </a:r>
            <a:endParaRPr lang="en-US" altLang="en-US" sz="1500" dirty="0"/>
          </a:p>
        </p:txBody>
      </p:sp>
      <p:sp>
        <p:nvSpPr>
          <p:cNvPr id="1059" name="textbox 1059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61" name="textbox 1061"/>
          <p:cNvSpPr/>
          <p:nvPr/>
        </p:nvSpPr>
        <p:spPr>
          <a:xfrm>
            <a:off x="6909816" y="1323975"/>
            <a:ext cx="1356360" cy="2470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5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15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过程可见性</a:t>
            </a:r>
            <a:endParaRPr lang="en-US" altLang="en-US" sz="1500" dirty="0"/>
          </a:p>
        </p:txBody>
      </p:sp>
      <p:sp>
        <p:nvSpPr>
          <p:cNvPr id="1062" name="textbox 1062"/>
          <p:cNvSpPr/>
          <p:nvPr/>
        </p:nvSpPr>
        <p:spPr>
          <a:xfrm>
            <a:off x="9381490" y="1323975"/>
            <a:ext cx="1356360" cy="2470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5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15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运作规范性</a:t>
            </a:r>
            <a:endParaRPr lang="en-US" altLang="en-US" sz="1500" dirty="0"/>
          </a:p>
        </p:txBody>
      </p:sp>
      <p:sp>
        <p:nvSpPr>
          <p:cNvPr id="1063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4" name="rect"/>
          <p:cNvSpPr/>
          <p:nvPr/>
        </p:nvSpPr>
        <p:spPr>
          <a:xfrm>
            <a:off x="1631188" y="6181090"/>
            <a:ext cx="9176511" cy="12700"/>
          </a:xfrm>
          <a:prstGeom prst="rect">
            <a:avLst/>
          </a:prstGeom>
          <a:solidFill>
            <a:srgbClr val="144476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5" name="path"/>
          <p:cNvSpPr/>
          <p:nvPr/>
        </p:nvSpPr>
        <p:spPr>
          <a:xfrm>
            <a:off x="1305813" y="4266946"/>
            <a:ext cx="331724" cy="331723"/>
          </a:xfrm>
          <a:custGeom>
            <a:avLst/>
            <a:gdLst/>
            <a:ahLst/>
            <a:cxnLst/>
            <a:rect l="0" t="0" r="0" b="0"/>
            <a:pathLst>
              <a:path w="522" h="522">
                <a:moveTo>
                  <a:pt x="10" y="512"/>
                </a:moveTo>
                <a:cubicBezTo>
                  <a:pt x="10" y="235"/>
                  <a:pt x="235" y="10"/>
                  <a:pt x="512" y="10"/>
                </a:cubicBezTo>
              </a:path>
            </a:pathLst>
          </a:custGeom>
          <a:noFill/>
          <a:ln w="12700" cap="flat">
            <a:solidFill>
              <a:srgbClr val="144476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6" name="path"/>
          <p:cNvSpPr/>
          <p:nvPr/>
        </p:nvSpPr>
        <p:spPr>
          <a:xfrm>
            <a:off x="1305813" y="5862066"/>
            <a:ext cx="331724" cy="331723"/>
          </a:xfrm>
          <a:custGeom>
            <a:avLst/>
            <a:gdLst/>
            <a:ahLst/>
            <a:cxnLst/>
            <a:rect l="0" t="0" r="0" b="0"/>
            <a:pathLst>
              <a:path w="522" h="522">
                <a:moveTo>
                  <a:pt x="512" y="512"/>
                </a:moveTo>
                <a:cubicBezTo>
                  <a:pt x="235" y="512"/>
                  <a:pt x="10" y="287"/>
                  <a:pt x="10" y="10"/>
                </a:cubicBezTo>
              </a:path>
            </a:pathLst>
          </a:custGeom>
          <a:noFill/>
          <a:ln w="12700" cap="flat">
            <a:solidFill>
              <a:srgbClr val="144476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7" name="path"/>
          <p:cNvSpPr/>
          <p:nvPr/>
        </p:nvSpPr>
        <p:spPr>
          <a:xfrm>
            <a:off x="10801350" y="4266946"/>
            <a:ext cx="331723" cy="331723"/>
          </a:xfrm>
          <a:custGeom>
            <a:avLst/>
            <a:gdLst/>
            <a:ahLst/>
            <a:cxnLst/>
            <a:rect l="0" t="0" r="0" b="0"/>
            <a:pathLst>
              <a:path w="522" h="522">
                <a:moveTo>
                  <a:pt x="10" y="10"/>
                </a:moveTo>
                <a:cubicBezTo>
                  <a:pt x="287" y="10"/>
                  <a:pt x="512" y="235"/>
                  <a:pt x="512" y="512"/>
                </a:cubicBezTo>
              </a:path>
            </a:pathLst>
          </a:custGeom>
          <a:noFill/>
          <a:ln w="12700" cap="flat">
            <a:solidFill>
              <a:srgbClr val="144476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8" name="path"/>
          <p:cNvSpPr/>
          <p:nvPr/>
        </p:nvSpPr>
        <p:spPr>
          <a:xfrm>
            <a:off x="10801350" y="5862066"/>
            <a:ext cx="331723" cy="331723"/>
          </a:xfrm>
          <a:custGeom>
            <a:avLst/>
            <a:gdLst/>
            <a:ahLst/>
            <a:cxnLst/>
            <a:rect l="0" t="0" r="0" b="0"/>
            <a:pathLst>
              <a:path w="522" h="522">
                <a:moveTo>
                  <a:pt x="512" y="10"/>
                </a:moveTo>
                <a:cubicBezTo>
                  <a:pt x="512" y="287"/>
                  <a:pt x="287" y="512"/>
                  <a:pt x="10" y="512"/>
                </a:cubicBezTo>
              </a:path>
            </a:pathLst>
          </a:custGeom>
          <a:noFill/>
          <a:ln w="12700" cap="flat">
            <a:solidFill>
              <a:srgbClr val="144476">
                <a:alpha val="100000"/>
              </a:srgbClr>
            </a:solidFill>
            <a:prstDash val="dash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9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textbox 1070"/>
          <p:cNvSpPr/>
          <p:nvPr/>
        </p:nvSpPr>
        <p:spPr>
          <a:xfrm>
            <a:off x="1269491" y="4174235"/>
            <a:ext cx="7970519" cy="735330"/>
          </a:xfrm>
          <a:prstGeom prst="rect">
            <a:avLst/>
          </a:prstGeom>
          <a:solidFill>
            <a:srgbClr val="136B96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lang="en-US" altLang="en-US" sz="800" dirty="0"/>
          </a:p>
          <a:p>
            <a:pPr marL="353060" algn="l" rtl="0" eaLnBrk="0">
              <a:lnSpc>
                <a:spcPct val="98000"/>
              </a:lnSpc>
              <a:spcBef>
                <a:spcPts val="0"/>
              </a:spcBef>
            </a:pPr>
            <a:r>
              <a:rPr sz="2400" spc="30" dirty="0">
                <a:ln w="6350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240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400" spc="20" dirty="0">
                <a:ln w="6350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2400" spc="0" dirty="0">
                <a:ln w="6350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</a:t>
            </a:r>
            <a:endParaRPr lang="en-US" altLang="en-US" sz="2400" dirty="0"/>
          </a:p>
        </p:txBody>
      </p:sp>
      <p:sp>
        <p:nvSpPr>
          <p:cNvPr id="1071" name="textbox 1071"/>
          <p:cNvSpPr/>
          <p:nvPr/>
        </p:nvSpPr>
        <p:spPr>
          <a:xfrm>
            <a:off x="595977" y="269576"/>
            <a:ext cx="11004550" cy="457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2000"/>
              </a:lnSpc>
              <a:tabLst>
                <a:tab pos="10991215" algn="l"/>
              </a:tabLst>
            </a:pPr>
            <a:r>
              <a:rPr sz="2700" u="sng" spc="-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2700" u="sng" spc="-6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r>
              <a:rPr sz="2700" u="sng" spc="0" dirty="0"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lang="en-US" altLang="en-US" sz="2700" dirty="0"/>
          </a:p>
        </p:txBody>
      </p:sp>
      <p:sp>
        <p:nvSpPr>
          <p:cNvPr id="1072" name="textbox 1072"/>
          <p:cNvSpPr/>
          <p:nvPr/>
        </p:nvSpPr>
        <p:spPr>
          <a:xfrm>
            <a:off x="1618310" y="2100732"/>
            <a:ext cx="3499484" cy="3816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问题的提出和解决思路</a:t>
            </a:r>
            <a:endParaRPr lang="en-US" altLang="en-US" sz="2400" dirty="0"/>
          </a:p>
        </p:txBody>
      </p:sp>
      <p:sp>
        <p:nvSpPr>
          <p:cNvPr id="1073" name="textbox 1073"/>
          <p:cNvSpPr/>
          <p:nvPr/>
        </p:nvSpPr>
        <p:spPr>
          <a:xfrm>
            <a:off x="1604307" y="3197764"/>
            <a:ext cx="2797175" cy="3790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业界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LTC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流程介绍</a:t>
            </a:r>
            <a:endParaRPr lang="en-US" altLang="en-US" sz="2400" dirty="0"/>
          </a:p>
        </p:txBody>
      </p:sp>
      <p:sp>
        <p:nvSpPr>
          <p:cNvPr id="1074" name="textbox 1074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76" name="rect"/>
          <p:cNvSpPr/>
          <p:nvPr/>
        </p:nvSpPr>
        <p:spPr>
          <a:xfrm>
            <a:off x="0" y="115823"/>
            <a:ext cx="381000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ath"/>
          <p:cNvSpPr/>
          <p:nvPr/>
        </p:nvSpPr>
        <p:spPr>
          <a:xfrm>
            <a:off x="4923790" y="3195573"/>
            <a:ext cx="2416047" cy="2425192"/>
          </a:xfrm>
          <a:custGeom>
            <a:avLst/>
            <a:gdLst/>
            <a:ahLst/>
            <a:cxnLst/>
            <a:rect l="0" t="0" r="0" b="0"/>
            <a:pathLst>
              <a:path w="3804" h="3819">
                <a:moveTo>
                  <a:pt x="10" y="1909"/>
                </a:moveTo>
                <a:cubicBezTo>
                  <a:pt x="10" y="860"/>
                  <a:pt x="857" y="10"/>
                  <a:pt x="1902" y="10"/>
                </a:cubicBezTo>
                <a:cubicBezTo>
                  <a:pt x="2947" y="10"/>
                  <a:pt x="3794" y="860"/>
                  <a:pt x="3794" y="1909"/>
                </a:cubicBezTo>
                <a:cubicBezTo>
                  <a:pt x="3794" y="2958"/>
                  <a:pt x="2947" y="3809"/>
                  <a:pt x="1902" y="3809"/>
                </a:cubicBezTo>
                <a:cubicBezTo>
                  <a:pt x="857" y="3809"/>
                  <a:pt x="10" y="2958"/>
                  <a:pt x="10" y="1909"/>
                </a:cubicBezTo>
              </a:path>
            </a:pathLst>
          </a:custGeom>
          <a:noFill/>
          <a:ln w="12700" cap="flat">
            <a:solidFill>
              <a:srgbClr val="E16734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078" name="table 1078"/>
          <p:cNvGraphicFramePr>
            <a:graphicFrameLocks noGrp="1"/>
          </p:cNvGraphicFramePr>
          <p:nvPr/>
        </p:nvGraphicFramePr>
        <p:xfrm>
          <a:off x="4134358" y="2140966"/>
          <a:ext cx="3944620" cy="3892550"/>
        </p:xfrm>
        <a:graphic>
          <a:graphicData uri="http://schemas.openxmlformats.org/drawingml/2006/table">
            <a:tbl>
              <a:tblPr/>
              <a:tblGrid>
                <a:gridCol w="3944620"/>
              </a:tblGrid>
              <a:tr h="3879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000" dirty="0"/>
                    </a:p>
                    <a:p>
                      <a:pPr marL="1722120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500" spc="7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1.流</a:t>
                      </a:r>
                      <a:r>
                        <a:rPr sz="1500" spc="3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</a:t>
                      </a:r>
                      <a:endParaRPr lang="en-US" altLang="en-US" sz="15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r" rtl="0" eaLnBrk="0">
                        <a:lnSpc>
                          <a:spcPts val="1855"/>
                        </a:lnSpc>
                        <a:spcBef>
                          <a:spcPts val="455"/>
                        </a:spcBef>
                      </a:pPr>
                      <a:r>
                        <a:rPr sz="1500" spc="12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5.所需的</a:t>
                      </a:r>
                      <a:r>
                        <a:rPr sz="15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IT</a:t>
                      </a:r>
                      <a:r>
                        <a:rPr sz="1500" spc="12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</a:t>
                      </a:r>
                      <a:r>
                        <a:rPr sz="1500" spc="6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撑</a:t>
                      </a:r>
                      <a:endParaRPr lang="en-US" altLang="en-US" sz="15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300" dirty="0"/>
                    </a:p>
                    <a:p>
                      <a:pPr marL="469900" algn="l" rtl="0" eaLnBrk="0">
                        <a:lnSpc>
                          <a:spcPts val="1850"/>
                        </a:lnSpc>
                        <a:spcBef>
                          <a:spcPts val="0"/>
                        </a:spcBef>
                      </a:pPr>
                      <a:r>
                        <a:rPr sz="1500" spc="8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3.角色定</a:t>
                      </a:r>
                      <a:r>
                        <a:rPr sz="1500" spc="6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义</a:t>
                      </a:r>
                      <a:endParaRPr lang="en-US" altLang="en-US" sz="15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79" name="table 1079"/>
          <p:cNvGraphicFramePr>
            <a:graphicFrameLocks noGrp="1"/>
          </p:cNvGraphicFramePr>
          <p:nvPr/>
        </p:nvGraphicFramePr>
        <p:xfrm>
          <a:off x="400558" y="2140966"/>
          <a:ext cx="3423284" cy="3892550"/>
        </p:xfrm>
        <a:graphic>
          <a:graphicData uri="http://schemas.openxmlformats.org/drawingml/2006/table">
            <a:tbl>
              <a:tblPr/>
              <a:tblGrid>
                <a:gridCol w="3423284"/>
              </a:tblGrid>
              <a:tr h="3879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marL="12001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</a:t>
                      </a: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    </a:t>
                      </a:r>
                      <a:r>
                        <a:rPr sz="1800" spc="-2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建立关系</a:t>
                      </a:r>
                      <a:endParaRPr lang="en-US" altLang="en-US" sz="1800" dirty="0"/>
                    </a:p>
                    <a:p>
                      <a:pPr marL="213360" algn="l" rtl="0" eaLnBrk="0">
                        <a:lnSpc>
                          <a:spcPts val="4590"/>
                        </a:lnSpc>
                        <a:tabLst>
                          <a:tab pos="432435" algn="l"/>
                        </a:tabLst>
                      </a:pPr>
                      <a:r>
                        <a:rPr sz="1700" strike="sngStrike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2700" spc="0" baseline="-35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</a:t>
                      </a:r>
                      <a:r>
                        <a:rPr sz="2700" spc="10" baseline="-35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sz="17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400" spc="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</a:t>
                      </a:r>
                      <a:r>
                        <a:rPr sz="14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理线索</a:t>
                      </a:r>
                      <a:endParaRPr lang="en-US" altLang="en-US" sz="1400" dirty="0"/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lang="en-US" altLang="en-US" sz="1000" dirty="0"/>
                    </a:p>
                    <a:p>
                      <a:pPr marL="1259840" algn="l" rtl="0" eaLnBrk="0">
                        <a:lnSpc>
                          <a:spcPts val="1510"/>
                        </a:lnSpc>
                        <a:spcBef>
                          <a:spcPts val="360"/>
                        </a:spcBef>
                      </a:pPr>
                      <a:r>
                        <a:rPr sz="1200" spc="10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收集线</a:t>
                      </a:r>
                      <a:r>
                        <a:rPr sz="1200" spc="6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索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34000"/>
                        </a:lnSpc>
                      </a:pPr>
                      <a:endParaRPr lang="en-US" altLang="en-US" sz="1000" dirty="0"/>
                    </a:p>
                    <a:p>
                      <a:pPr marL="1260475" algn="l" rtl="0" eaLnBrk="0">
                        <a:lnSpc>
                          <a:spcPct val="95000"/>
                        </a:lnSpc>
                        <a:spcBef>
                          <a:spcPts val="370"/>
                        </a:spcBef>
                      </a:pPr>
                      <a:r>
                        <a:rPr sz="1200" spc="10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生成线</a:t>
                      </a:r>
                      <a:r>
                        <a:rPr sz="1200" spc="6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索</a:t>
                      </a:r>
                      <a:endParaRPr lang="en-US" altLang="en-US" sz="1200" dirty="0"/>
                    </a:p>
                    <a:p>
                      <a:pPr marL="52768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>
                          <a:tab pos="815975" algn="l"/>
                        </a:tabLst>
                      </a:pPr>
                      <a:r>
                        <a:rPr sz="1700" strike="sngStrike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7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</a:t>
                      </a:r>
                      <a:r>
                        <a:rPr sz="17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lang="en-US" altLang="en-US" sz="1700" dirty="0"/>
                    </a:p>
                    <a:p>
                      <a:pPr marL="1259205" algn="l" rtl="0" eaLnBrk="0">
                        <a:lnSpc>
                          <a:spcPct val="96000"/>
                        </a:lnSpc>
                        <a:spcBef>
                          <a:spcPts val="445"/>
                        </a:spcBef>
                      </a:pPr>
                      <a:r>
                        <a:rPr sz="1200" spc="10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验证及分发线</a:t>
                      </a:r>
                      <a:r>
                        <a:rPr sz="1200" spc="5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索</a:t>
                      </a:r>
                      <a:endParaRPr lang="en-US" altLang="en-US" sz="1200" dirty="0"/>
                    </a:p>
                    <a:p>
                      <a:pPr marL="1259840" algn="l" rtl="0" eaLnBrk="0">
                        <a:lnSpc>
                          <a:spcPts val="3715"/>
                        </a:lnSpc>
                      </a:pPr>
                      <a:r>
                        <a:rPr sz="1200" spc="10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跟踪与培育线</a:t>
                      </a:r>
                      <a:r>
                        <a:rPr sz="1200" spc="4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索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400" dirty="0"/>
                    </a:p>
                    <a:p>
                      <a:pPr marL="15360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2700" spc="0" baseline="-4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</a:t>
                      </a:r>
                      <a:r>
                        <a:rPr sz="2700" spc="80" baseline="-4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sz="17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200" spc="8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</a:t>
                      </a:r>
                      <a:r>
                        <a:rPr sz="12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</a:t>
                      </a:r>
                      <a:r>
                        <a:rPr sz="1200" spc="8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2进一步细</a:t>
                      </a:r>
                      <a:r>
                        <a:rPr sz="1200" spc="3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化</a:t>
                      </a:r>
                      <a:endParaRPr lang="en-US" alt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80" name="table 1080"/>
          <p:cNvGraphicFramePr>
            <a:graphicFrameLocks noGrp="1"/>
          </p:cNvGraphicFramePr>
          <p:nvPr/>
        </p:nvGraphicFramePr>
        <p:xfrm>
          <a:off x="8328406" y="2140966"/>
          <a:ext cx="3423284" cy="3892550"/>
        </p:xfrm>
        <a:graphic>
          <a:graphicData uri="http://schemas.openxmlformats.org/drawingml/2006/table">
            <a:tbl>
              <a:tblPr/>
              <a:tblGrid>
                <a:gridCol w="3423284"/>
              </a:tblGrid>
              <a:tr h="3879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lang="en-US" altLang="en-US" sz="1000" dirty="0"/>
                    </a:p>
                    <a:p>
                      <a:pPr marL="477520" algn="l" rtl="0" eaLnBrk="0">
                        <a:lnSpc>
                          <a:spcPts val="1855"/>
                        </a:lnSpc>
                        <a:spcBef>
                          <a:spcPts val="5"/>
                        </a:spcBef>
                      </a:pPr>
                      <a:r>
                        <a:rPr sz="1500" spc="7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</a:t>
                      </a:r>
                      <a:r>
                        <a:rPr sz="15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7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</a:t>
                      </a:r>
                      <a:r>
                        <a:rPr sz="1500" spc="2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库</a:t>
                      </a:r>
                      <a:endParaRPr lang="en-US" altLang="en-US" sz="15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marL="469265" algn="l" rtl="0" eaLnBrk="0">
                        <a:lnSpc>
                          <a:spcPts val="1855"/>
                        </a:lnSpc>
                        <a:spcBef>
                          <a:spcPts val="460"/>
                        </a:spcBef>
                      </a:pPr>
                      <a:r>
                        <a:rPr sz="1500" spc="8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</a:t>
                      </a:r>
                      <a:r>
                        <a:rPr sz="15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8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培训课</a:t>
                      </a:r>
                      <a:r>
                        <a:rPr sz="1500" spc="5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</a:t>
                      </a:r>
                      <a:endParaRPr lang="en-US" altLang="en-US" sz="1500" dirty="0"/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300" dirty="0"/>
                    </a:p>
                    <a:p>
                      <a:pPr marL="447040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500" spc="6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6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流程</a:t>
                      </a:r>
                      <a:r>
                        <a:rPr sz="15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IT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spc="6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5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CRM</a:t>
                      </a:r>
                      <a:r>
                        <a:rPr sz="1500" spc="6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5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OA)</a:t>
                      </a:r>
                      <a:endParaRPr lang="en-US" altLang="en-US" sz="15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81" name="picture 10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9631" y="4910327"/>
            <a:ext cx="1615440" cy="806196"/>
          </a:xfrm>
          <a:prstGeom prst="rect">
            <a:avLst/>
          </a:prstGeom>
        </p:spPr>
      </p:pic>
      <p:sp>
        <p:nvSpPr>
          <p:cNvPr id="1082" name="textbox 1082"/>
          <p:cNvSpPr/>
          <p:nvPr/>
        </p:nvSpPr>
        <p:spPr>
          <a:xfrm>
            <a:off x="561889" y="269576"/>
            <a:ext cx="3061970" cy="4273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2700" spc="51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做什么？(</a:t>
            </a:r>
            <a:r>
              <a:rPr sz="2700" spc="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What</a:t>
            </a:r>
            <a:r>
              <a:rPr sz="2700" spc="470" dirty="0">
                <a:ln w="6350" cap="flat" cmpd="sng">
                  <a:solidFill>
                    <a:srgbClr val="205FA2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05FA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2700" dirty="0"/>
          </a:p>
        </p:txBody>
      </p:sp>
      <p:pic>
        <p:nvPicPr>
          <p:cNvPr id="1083" name="picture 10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94776" y="5017008"/>
            <a:ext cx="1370076" cy="664463"/>
          </a:xfrm>
          <a:prstGeom prst="rect">
            <a:avLst/>
          </a:prstGeom>
        </p:spPr>
      </p:pic>
      <p:pic>
        <p:nvPicPr>
          <p:cNvPr id="1084" name="picture 10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0979" y="847343"/>
            <a:ext cx="897636" cy="902208"/>
          </a:xfrm>
          <a:prstGeom prst="rect">
            <a:avLst/>
          </a:prstGeom>
        </p:spPr>
      </p:pic>
      <p:pic>
        <p:nvPicPr>
          <p:cNvPr id="1085" name="picture 108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430256" y="3537203"/>
            <a:ext cx="1007364" cy="662940"/>
          </a:xfrm>
          <a:prstGeom prst="rect">
            <a:avLst/>
          </a:prstGeom>
        </p:spPr>
      </p:pic>
      <p:pic>
        <p:nvPicPr>
          <p:cNvPr id="1086" name="picture 108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581131" y="2490215"/>
            <a:ext cx="876300" cy="752855"/>
          </a:xfrm>
          <a:prstGeom prst="rect">
            <a:avLst/>
          </a:prstGeom>
        </p:spPr>
      </p:pic>
      <p:pic>
        <p:nvPicPr>
          <p:cNvPr id="1087" name="picture 108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07464" y="4599432"/>
            <a:ext cx="505460" cy="1125220"/>
          </a:xfrm>
          <a:prstGeom prst="rect">
            <a:avLst/>
          </a:prstGeom>
        </p:spPr>
      </p:pic>
      <p:pic>
        <p:nvPicPr>
          <p:cNvPr id="1088" name="picture 108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991100" y="5045964"/>
            <a:ext cx="742188" cy="719327"/>
          </a:xfrm>
          <a:prstGeom prst="rect">
            <a:avLst/>
          </a:prstGeom>
        </p:spPr>
      </p:pic>
      <p:pic>
        <p:nvPicPr>
          <p:cNvPr id="1089" name="picture 108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10997" y="2756916"/>
            <a:ext cx="320294" cy="1658238"/>
          </a:xfrm>
          <a:prstGeom prst="rect">
            <a:avLst/>
          </a:prstGeom>
        </p:spPr>
      </p:pic>
      <p:pic>
        <p:nvPicPr>
          <p:cNvPr id="1090" name="picture 109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935160" y="3851211"/>
            <a:ext cx="738758" cy="698627"/>
          </a:xfrm>
          <a:prstGeom prst="rect">
            <a:avLst/>
          </a:prstGeom>
        </p:spPr>
      </p:pic>
      <p:pic>
        <p:nvPicPr>
          <p:cNvPr id="1091" name="picture 109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772911" y="2740151"/>
            <a:ext cx="717803" cy="635508"/>
          </a:xfrm>
          <a:prstGeom prst="rect">
            <a:avLst/>
          </a:prstGeom>
        </p:spPr>
      </p:pic>
      <p:pic>
        <p:nvPicPr>
          <p:cNvPr id="1092" name="picture 109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803135" y="5099303"/>
            <a:ext cx="623316" cy="623316"/>
          </a:xfrm>
          <a:prstGeom prst="rect">
            <a:avLst/>
          </a:prstGeom>
        </p:spPr>
      </p:pic>
      <p:pic>
        <p:nvPicPr>
          <p:cNvPr id="1093" name="picture 109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031735" y="3837432"/>
            <a:ext cx="568452" cy="559307"/>
          </a:xfrm>
          <a:prstGeom prst="rect">
            <a:avLst/>
          </a:prstGeom>
        </p:spPr>
      </p:pic>
      <p:pic>
        <p:nvPicPr>
          <p:cNvPr id="1094" name="picture 109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698491" y="3721607"/>
            <a:ext cx="563879" cy="560832"/>
          </a:xfrm>
          <a:prstGeom prst="rect">
            <a:avLst/>
          </a:prstGeom>
        </p:spPr>
      </p:pic>
      <p:sp>
        <p:nvSpPr>
          <p:cNvPr id="1095" name="textbox 1095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97" name="textbox 1097"/>
          <p:cNvSpPr/>
          <p:nvPr/>
        </p:nvSpPr>
        <p:spPr>
          <a:xfrm>
            <a:off x="1748311" y="1772596"/>
            <a:ext cx="937894" cy="2933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8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sz="18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lang="en-US" altLang="en-US" sz="1800" dirty="0"/>
          </a:p>
        </p:txBody>
      </p:sp>
      <p:sp>
        <p:nvSpPr>
          <p:cNvPr id="1098" name="textbox 1098"/>
          <p:cNvSpPr/>
          <p:nvPr/>
        </p:nvSpPr>
        <p:spPr>
          <a:xfrm>
            <a:off x="9549031" y="1772596"/>
            <a:ext cx="937260" cy="2933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8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</a:t>
            </a:r>
            <a:r>
              <a:rPr sz="18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展现</a:t>
            </a:r>
            <a:endParaRPr lang="en-US" altLang="en-US" sz="1800" dirty="0"/>
          </a:p>
        </p:txBody>
      </p:sp>
      <p:sp>
        <p:nvSpPr>
          <p:cNvPr id="1099" name="textbox 1099"/>
          <p:cNvSpPr/>
          <p:nvPr/>
        </p:nvSpPr>
        <p:spPr>
          <a:xfrm>
            <a:off x="5544443" y="1772596"/>
            <a:ext cx="937260" cy="2933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8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</a:t>
            </a:r>
            <a:r>
              <a:rPr sz="18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要素</a:t>
            </a:r>
            <a:endParaRPr lang="en-US" altLang="en-US" sz="1800" dirty="0"/>
          </a:p>
        </p:txBody>
      </p:sp>
      <p:sp>
        <p:nvSpPr>
          <p:cNvPr id="1100" name="rect"/>
          <p:cNvSpPr/>
          <p:nvPr/>
        </p:nvSpPr>
        <p:spPr>
          <a:xfrm>
            <a:off x="82296" y="115823"/>
            <a:ext cx="298704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1" name="textbox 1101"/>
          <p:cNvSpPr/>
          <p:nvPr/>
        </p:nvSpPr>
        <p:spPr>
          <a:xfrm>
            <a:off x="6820861" y="4854460"/>
            <a:ext cx="610869" cy="2622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60"/>
              </a:lnSpc>
            </a:pPr>
            <a:r>
              <a:rPr sz="1500" spc="10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4.模</a:t>
            </a:r>
            <a:r>
              <a:rPr sz="1500" spc="6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</a:t>
            </a:r>
            <a:endParaRPr lang="en-US" altLang="en-US" sz="1500" dirty="0"/>
          </a:p>
        </p:txBody>
      </p:sp>
      <p:sp>
        <p:nvSpPr>
          <p:cNvPr id="1102" name="textbox 1102"/>
          <p:cNvSpPr/>
          <p:nvPr/>
        </p:nvSpPr>
        <p:spPr>
          <a:xfrm>
            <a:off x="4436998" y="3441579"/>
            <a:ext cx="603884" cy="2609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850"/>
              </a:lnSpc>
            </a:pPr>
            <a:r>
              <a:rPr sz="1500" spc="8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2.规</a:t>
            </a:r>
            <a:r>
              <a:rPr sz="1500" spc="7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</a:t>
            </a:r>
            <a:endParaRPr lang="en-US" altLang="en-US" sz="1500" dirty="0"/>
          </a:p>
        </p:txBody>
      </p:sp>
      <p:sp>
        <p:nvSpPr>
          <p:cNvPr id="1103" name="path"/>
          <p:cNvSpPr/>
          <p:nvPr/>
        </p:nvSpPr>
        <p:spPr>
          <a:xfrm>
            <a:off x="571500" y="743584"/>
            <a:ext cx="11016234" cy="6350"/>
          </a:xfrm>
          <a:custGeom>
            <a:avLst/>
            <a:gdLst/>
            <a:ahLst/>
            <a:cxnLst/>
            <a:rect l="0" t="0" r="0" b="0"/>
            <a:pathLst>
              <a:path w="17348" h="10">
                <a:moveTo>
                  <a:pt x="0" y="5"/>
                </a:moveTo>
                <a:lnTo>
                  <a:pt x="17348" y="5"/>
                </a:lnTo>
              </a:path>
            </a:pathLst>
          </a:custGeom>
          <a:noFill/>
          <a:ln w="6350" cap="flat">
            <a:solidFill>
              <a:srgbClr val="205FA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4" name="rect"/>
          <p:cNvSpPr/>
          <p:nvPr/>
        </p:nvSpPr>
        <p:spPr>
          <a:xfrm>
            <a:off x="0" y="115823"/>
            <a:ext cx="64007" cy="630935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textbox 1105"/>
          <p:cNvSpPr/>
          <p:nvPr/>
        </p:nvSpPr>
        <p:spPr>
          <a:xfrm>
            <a:off x="531676" y="2077066"/>
            <a:ext cx="3368675" cy="20440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5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6600" spc="-20" dirty="0"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</a:t>
            </a:r>
            <a:endParaRPr lang="en-US" altLang="en-US" sz="6600" dirty="0"/>
          </a:p>
          <a:p>
            <a:pPr marL="13335" algn="l" rtl="0" eaLnBrk="0">
              <a:lnSpc>
                <a:spcPct val="98000"/>
              </a:lnSpc>
              <a:spcBef>
                <a:spcPts val="250"/>
              </a:spcBef>
            </a:pPr>
            <a:r>
              <a:rPr sz="6600" spc="-20" dirty="0"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您的观</a:t>
            </a:r>
            <a:r>
              <a:rPr sz="6600" spc="-10" dirty="0">
                <a:ln w="190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</a:t>
            </a:r>
            <a:endParaRPr lang="en-US" altLang="en-US" sz="6600" dirty="0"/>
          </a:p>
        </p:txBody>
      </p:sp>
      <p:pic>
        <p:nvPicPr>
          <p:cNvPr id="1106" name="picture 1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024371"/>
            <a:ext cx="12192000" cy="140258"/>
          </a:xfrm>
          <a:prstGeom prst="rect">
            <a:avLst/>
          </a:prstGeom>
        </p:spPr>
      </p:pic>
      <p:sp>
        <p:nvSpPr>
          <p:cNvPr id="1107" name="path"/>
          <p:cNvSpPr/>
          <p:nvPr/>
        </p:nvSpPr>
        <p:spPr>
          <a:xfrm>
            <a:off x="546861" y="4137405"/>
            <a:ext cx="3347211" cy="245872"/>
          </a:xfrm>
          <a:custGeom>
            <a:avLst/>
            <a:gdLst/>
            <a:ahLst/>
            <a:cxnLst/>
            <a:rect l="0" t="0" r="0" b="0"/>
            <a:pathLst>
              <a:path w="5271" h="387">
                <a:moveTo>
                  <a:pt x="5231" y="40"/>
                </a:moveTo>
                <a:lnTo>
                  <a:pt x="719" y="41"/>
                </a:lnTo>
                <a:lnTo>
                  <a:pt x="348" y="347"/>
                </a:lnTo>
                <a:cubicBezTo>
                  <a:pt x="349" y="244"/>
                  <a:pt x="344" y="144"/>
                  <a:pt x="345" y="41"/>
                </a:cubicBezTo>
                <a:lnTo>
                  <a:pt x="40" y="41"/>
                </a:lnTo>
              </a:path>
            </a:pathLst>
          </a:custGeom>
          <a:noFill/>
          <a:ln w="50800" cap="flat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8" name="rect"/>
          <p:cNvSpPr/>
          <p:nvPr/>
        </p:nvSpPr>
        <p:spPr>
          <a:xfrm>
            <a:off x="761" y="6039611"/>
            <a:ext cx="12191238" cy="38100"/>
          </a:xfrm>
          <a:prstGeom prst="rect">
            <a:avLst/>
          </a:prstGeom>
          <a:solidFill>
            <a:srgbClr val="205FA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9" name="textbox 1109"/>
          <p:cNvSpPr/>
          <p:nvPr/>
        </p:nvSpPr>
        <p:spPr>
          <a:xfrm>
            <a:off x="5102148" y="6570692"/>
            <a:ext cx="207391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endParaRPr sz="1200" spc="-10" dirty="0">
              <a:solidFill>
                <a:srgbClr val="4054FF">
                  <a:alpha val="10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4faf129-e372-4945-8b86-d1da23f948f2"/>
  <p:tag name="COMMONDATA" val="eyJoZGlkIjoiODY0YjQ4MDdlMmRjMThiZDMzZjU4ZTZlZjVhZjE1Y2Y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1857</Words>
  <Application>Microsoft Office PowerPoint</Application>
  <PresentationFormat>宽屏</PresentationFormat>
  <Paragraphs>1606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华文中宋</vt:lpstr>
      <vt:lpstr>宋体</vt:lpstr>
      <vt:lpstr>微软雅黑</vt:lpstr>
      <vt:lpstr>微软雅黑 Light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bobosscn</dc:creator>
  <cp:lastModifiedBy>Lenovo</cp:lastModifiedBy>
  <cp:revision>4</cp:revision>
  <dcterms:created xsi:type="dcterms:W3CDTF">2023-04-26T12:09:08Z</dcterms:created>
  <dcterms:modified xsi:type="dcterms:W3CDTF">2025-06-05T06:45:45Z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2023-04-26T20:06:53Z</vt:filetime>
  </property>
  <property fmtid="{D5CDD505-2E9C-101B-9397-08002B2CF9AE}" pid="4" name="ICV">
    <vt:lpwstr>69FD842ABBE246A085920C4BA105D4D9_12</vt:lpwstr>
  </property>
  <property fmtid="{D5CDD505-2E9C-101B-9397-08002B2CF9AE}" pid="5" name="KSOProductBuildVer">
    <vt:lpwstr>2052-11.1.0.14036</vt:lpwstr>
  </property>
</Properties>
</file>